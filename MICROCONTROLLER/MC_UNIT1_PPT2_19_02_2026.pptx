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Override1.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notesMasterIdLst>
    <p:notesMasterId r:id="rId22"/>
  </p:notesMasterIdLst>
  <p:handoutMasterIdLst>
    <p:handoutMasterId r:id="rId23"/>
  </p:handoutMasterIdLst>
  <p:sldIdLst>
    <p:sldId id="256" r:id="rId2"/>
    <p:sldId id="257" r:id="rId3"/>
    <p:sldId id="258" r:id="rId4"/>
    <p:sldId id="259" r:id="rId5"/>
    <p:sldId id="260" r:id="rId6"/>
    <p:sldId id="261" r:id="rId7"/>
    <p:sldId id="262" r:id="rId8"/>
    <p:sldId id="263" r:id="rId9"/>
    <p:sldId id="264" r:id="rId10"/>
    <p:sldId id="265" r:id="rId11"/>
    <p:sldId id="277" r:id="rId12"/>
    <p:sldId id="266" r:id="rId13"/>
    <p:sldId id="267" r:id="rId14"/>
    <p:sldId id="268" r:id="rId15"/>
    <p:sldId id="269" r:id="rId16"/>
    <p:sldId id="270" r:id="rId17"/>
    <p:sldId id="271" r:id="rId18"/>
    <p:sldId id="272" r:id="rId19"/>
    <p:sldId id="273" r:id="rId20"/>
    <p:sldId id="275"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6" d="100"/>
          <a:sy n="66" d="100"/>
        </p:scale>
        <p:origin x="792"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BE8E0C0-147D-4A54-BF67-12493B631B42}" type="datetimeFigureOut">
              <a:rPr lang="en-IN" smtClean="0"/>
              <a:t>23-02-2026</a:t>
            </a:fld>
            <a:endParaRPr lang="en-IN"/>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D4276AC-7553-4A62-A519-49BC0613D0C2}" type="slidenum">
              <a:rPr lang="en-IN" smtClean="0"/>
              <a:t>‹#›</a:t>
            </a:fld>
            <a:endParaRPr lang="en-IN"/>
          </a:p>
        </p:txBody>
      </p:sp>
    </p:spTree>
    <p:extLst>
      <p:ext uri="{BB962C8B-B14F-4D97-AF65-F5344CB8AC3E}">
        <p14:creationId xmlns:p14="http://schemas.microsoft.com/office/powerpoint/2010/main" val="350067528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EB329B7-69C0-448A-AAEB-91DA4D9D63BD}" type="datetimeFigureOut">
              <a:rPr lang="en-IN" smtClean="0"/>
              <a:t>23-02-2026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145FD95-6E9C-4BE4-BA21-923F0E6600E7}" type="slidenum">
              <a:rPr lang="en-IN" smtClean="0"/>
              <a:t>‹#›</a:t>
            </a:fld>
            <a:endParaRPr lang="en-IN"/>
          </a:p>
        </p:txBody>
      </p:sp>
    </p:spTree>
    <p:extLst>
      <p:ext uri="{BB962C8B-B14F-4D97-AF65-F5344CB8AC3E}">
        <p14:creationId xmlns:p14="http://schemas.microsoft.com/office/powerpoint/2010/main" val="31398690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smtClean="0"/>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882EB1BD-DD0B-43AC-9825-B6F92598E275}" type="datetime1">
              <a:rPr lang="en-IN" smtClean="0"/>
              <a:t>23-02-2026</a:t>
            </a:fld>
            <a:endParaRPr lang="en-IN"/>
          </a:p>
        </p:txBody>
      </p:sp>
      <p:sp>
        <p:nvSpPr>
          <p:cNvPr id="5" name="Footer Placeholder 4"/>
          <p:cNvSpPr>
            <a:spLocks noGrp="1"/>
          </p:cNvSpPr>
          <p:nvPr>
            <p:ph type="ftr" sz="quarter" idx="11"/>
          </p:nvPr>
        </p:nvSpPr>
        <p:spPr>
          <a:xfrm>
            <a:off x="2416500" y="329307"/>
            <a:ext cx="4973915" cy="309201"/>
          </a:xfrm>
        </p:spPr>
        <p:txBody>
          <a:bodyPr/>
          <a:lstStyle/>
          <a:p>
            <a:r>
              <a:rPr lang="en-IN" smtClean="0"/>
              <a:t>PRASHANTH KAMBLI, Dept. of ISE, RIT, Bangalore</a:t>
            </a:r>
            <a:endParaRPr lang="en-IN"/>
          </a:p>
        </p:txBody>
      </p:sp>
      <p:sp>
        <p:nvSpPr>
          <p:cNvPr id="6" name="Slide Number Placeholder 5"/>
          <p:cNvSpPr>
            <a:spLocks noGrp="1"/>
          </p:cNvSpPr>
          <p:nvPr>
            <p:ph type="sldNum" sz="quarter" idx="12"/>
          </p:nvPr>
        </p:nvSpPr>
        <p:spPr>
          <a:xfrm>
            <a:off x="1437664" y="798973"/>
            <a:ext cx="811019" cy="503578"/>
          </a:xfrm>
        </p:spPr>
        <p:txBody>
          <a:bodyPr/>
          <a:lstStyle/>
          <a:p>
            <a:fld id="{373D9D93-F85F-4316-89A8-9DBFDF02D954}" type="slidenum">
              <a:rPr lang="en-IN" smtClean="0"/>
              <a:t>‹#›</a:t>
            </a:fld>
            <a:endParaRPr lang="en-IN"/>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4752515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FD650224-748E-4A77-8151-DC822A43FEBB}" type="datetime1">
              <a:rPr lang="en-IN" smtClean="0"/>
              <a:t>23-02-2026</a:t>
            </a:fld>
            <a:endParaRPr lang="en-IN"/>
          </a:p>
        </p:txBody>
      </p:sp>
      <p:sp>
        <p:nvSpPr>
          <p:cNvPr id="5" name="Footer Placeholder 4"/>
          <p:cNvSpPr>
            <a:spLocks noGrp="1"/>
          </p:cNvSpPr>
          <p:nvPr>
            <p:ph type="ftr" sz="quarter" idx="11"/>
          </p:nvPr>
        </p:nvSpPr>
        <p:spPr/>
        <p:txBody>
          <a:bodyPr/>
          <a:lstStyle/>
          <a:p>
            <a:r>
              <a:rPr lang="en-IN" smtClean="0"/>
              <a:t>PRASHANTH KAMBLI, Dept. of ISE, RIT, Bangalore</a:t>
            </a:r>
            <a:endParaRPr lang="en-IN"/>
          </a:p>
        </p:txBody>
      </p:sp>
      <p:sp>
        <p:nvSpPr>
          <p:cNvPr id="6" name="Slide Number Placeholder 5"/>
          <p:cNvSpPr>
            <a:spLocks noGrp="1"/>
          </p:cNvSpPr>
          <p:nvPr>
            <p:ph type="sldNum" sz="quarter" idx="12"/>
          </p:nvPr>
        </p:nvSpPr>
        <p:spPr/>
        <p:txBody>
          <a:bodyPr/>
          <a:lstStyle/>
          <a:p>
            <a:fld id="{373D9D93-F85F-4316-89A8-9DBFDF02D954}" type="slidenum">
              <a:rPr lang="en-IN" smtClean="0"/>
              <a:t>‹#›</a:t>
            </a:fld>
            <a:endParaRPr lang="en-IN"/>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3755368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smtClean="0"/>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FC185D90-4C51-47DB-A815-ADB6803EEA60}" type="datetime1">
              <a:rPr lang="en-IN" smtClean="0"/>
              <a:t>23-02-2026</a:t>
            </a:fld>
            <a:endParaRPr lang="en-IN"/>
          </a:p>
        </p:txBody>
      </p:sp>
      <p:sp>
        <p:nvSpPr>
          <p:cNvPr id="5" name="Footer Placeholder 4"/>
          <p:cNvSpPr>
            <a:spLocks noGrp="1"/>
          </p:cNvSpPr>
          <p:nvPr>
            <p:ph type="ftr" sz="quarter" idx="11"/>
          </p:nvPr>
        </p:nvSpPr>
        <p:spPr/>
        <p:txBody>
          <a:bodyPr/>
          <a:lstStyle/>
          <a:p>
            <a:r>
              <a:rPr lang="en-IN" smtClean="0"/>
              <a:t>PRASHANTH KAMBLI, Dept. of ISE, RIT, Bangalore</a:t>
            </a:r>
            <a:endParaRPr lang="en-IN"/>
          </a:p>
        </p:txBody>
      </p:sp>
      <p:sp>
        <p:nvSpPr>
          <p:cNvPr id="6" name="Slide Number Placeholder 5"/>
          <p:cNvSpPr>
            <a:spLocks noGrp="1"/>
          </p:cNvSpPr>
          <p:nvPr>
            <p:ph type="sldNum" sz="quarter" idx="12"/>
          </p:nvPr>
        </p:nvSpPr>
        <p:spPr/>
        <p:txBody>
          <a:bodyPr/>
          <a:lstStyle/>
          <a:p>
            <a:fld id="{373D9D93-F85F-4316-89A8-9DBFDF02D954}" type="slidenum">
              <a:rPr lang="en-IN" smtClean="0"/>
              <a:t>‹#›</a:t>
            </a:fld>
            <a:endParaRPr lang="en-IN"/>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579041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8CA12DEF-43B8-41BF-959C-38E87CC36E50}" type="datetime1">
              <a:rPr lang="en-IN" smtClean="0"/>
              <a:t>23-02-2026</a:t>
            </a:fld>
            <a:endParaRPr lang="en-IN"/>
          </a:p>
        </p:txBody>
      </p:sp>
      <p:sp>
        <p:nvSpPr>
          <p:cNvPr id="6" name="Footer Placeholder 5"/>
          <p:cNvSpPr>
            <a:spLocks noGrp="1"/>
          </p:cNvSpPr>
          <p:nvPr>
            <p:ph type="ftr" sz="quarter" idx="11"/>
          </p:nvPr>
        </p:nvSpPr>
        <p:spPr/>
        <p:txBody>
          <a:bodyPr/>
          <a:lstStyle/>
          <a:p>
            <a:r>
              <a:rPr lang="en-IN" smtClean="0"/>
              <a:t>PRASHANTH KAMBLI, Dept. of ISE, RIT, Bangalore</a:t>
            </a:r>
            <a:endParaRPr lang="en-IN"/>
          </a:p>
        </p:txBody>
      </p:sp>
      <p:sp>
        <p:nvSpPr>
          <p:cNvPr id="7" name="Slide Number Placeholder 6"/>
          <p:cNvSpPr>
            <a:spLocks noGrp="1"/>
          </p:cNvSpPr>
          <p:nvPr>
            <p:ph type="sldNum" sz="quarter" idx="12"/>
          </p:nvPr>
        </p:nvSpPr>
        <p:spPr/>
        <p:txBody>
          <a:bodyPr/>
          <a:lstStyle/>
          <a:p>
            <a:fld id="{373D9D93-F85F-4316-89A8-9DBFDF02D954}" type="slidenum">
              <a:rPr lang="en-IN" smtClean="0"/>
              <a:t>‹#›</a:t>
            </a:fld>
            <a:endParaRPr lang="en-IN"/>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2343066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75ACCBF6-EE0A-4552-AB23-74345280AA2E}" type="datetime1">
              <a:rPr lang="en-IN" smtClean="0"/>
              <a:t>23-02-2026</a:t>
            </a:fld>
            <a:endParaRPr lang="en-IN"/>
          </a:p>
        </p:txBody>
      </p:sp>
      <p:sp>
        <p:nvSpPr>
          <p:cNvPr id="8" name="Footer Placeholder 7"/>
          <p:cNvSpPr>
            <a:spLocks noGrp="1"/>
          </p:cNvSpPr>
          <p:nvPr>
            <p:ph type="ftr" sz="quarter" idx="11"/>
          </p:nvPr>
        </p:nvSpPr>
        <p:spPr/>
        <p:txBody>
          <a:bodyPr/>
          <a:lstStyle/>
          <a:p>
            <a:r>
              <a:rPr lang="en-IN" smtClean="0"/>
              <a:t>PRASHANTH KAMBLI, Dept. of ISE, RIT, Bangalore</a:t>
            </a:r>
            <a:endParaRPr lang="en-IN"/>
          </a:p>
        </p:txBody>
      </p:sp>
      <p:sp>
        <p:nvSpPr>
          <p:cNvPr id="9" name="Slide Number Placeholder 8"/>
          <p:cNvSpPr>
            <a:spLocks noGrp="1"/>
          </p:cNvSpPr>
          <p:nvPr>
            <p:ph type="sldNum" sz="quarter" idx="12"/>
          </p:nvPr>
        </p:nvSpPr>
        <p:spPr/>
        <p:txBody>
          <a:bodyPr/>
          <a:lstStyle/>
          <a:p>
            <a:fld id="{373D9D93-F85F-4316-89A8-9DBFDF02D954}" type="slidenum">
              <a:rPr lang="en-IN" smtClean="0"/>
              <a:t>‹#›</a:t>
            </a:fld>
            <a:endParaRPr lang="en-IN"/>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1148590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78931DB9-CB01-4B33-88E6-A179C23BFA22}" type="datetime1">
              <a:rPr lang="en-IN" smtClean="0"/>
              <a:t>23-02-2026</a:t>
            </a:fld>
            <a:endParaRPr lang="en-IN"/>
          </a:p>
        </p:txBody>
      </p:sp>
      <p:sp>
        <p:nvSpPr>
          <p:cNvPr id="4" name="Footer Placeholder 3"/>
          <p:cNvSpPr>
            <a:spLocks noGrp="1"/>
          </p:cNvSpPr>
          <p:nvPr>
            <p:ph type="ftr" sz="quarter" idx="11"/>
          </p:nvPr>
        </p:nvSpPr>
        <p:spPr/>
        <p:txBody>
          <a:bodyPr/>
          <a:lstStyle/>
          <a:p>
            <a:r>
              <a:rPr lang="en-IN" smtClean="0"/>
              <a:t>PRASHANTH KAMBLI, Dept. of ISE, RIT, Bangalore</a:t>
            </a:r>
            <a:endParaRPr lang="en-IN"/>
          </a:p>
        </p:txBody>
      </p:sp>
      <p:sp>
        <p:nvSpPr>
          <p:cNvPr id="5" name="Slide Number Placeholder 4"/>
          <p:cNvSpPr>
            <a:spLocks noGrp="1"/>
          </p:cNvSpPr>
          <p:nvPr>
            <p:ph type="sldNum" sz="quarter" idx="12"/>
          </p:nvPr>
        </p:nvSpPr>
        <p:spPr/>
        <p:txBody>
          <a:bodyPr/>
          <a:lstStyle/>
          <a:p>
            <a:fld id="{373D9D93-F85F-4316-89A8-9DBFDF02D954}" type="slidenum">
              <a:rPr lang="en-IN" smtClean="0"/>
              <a:t>‹#›</a:t>
            </a:fld>
            <a:endParaRPr lang="en-IN"/>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1596526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B97E700-04CE-4E95-89D1-5DC058AD6367}" type="datetime1">
              <a:rPr lang="en-IN" smtClean="0"/>
              <a:t>23-02-2026</a:t>
            </a:fld>
            <a:endParaRPr lang="en-IN"/>
          </a:p>
        </p:txBody>
      </p:sp>
      <p:sp>
        <p:nvSpPr>
          <p:cNvPr id="3" name="Footer Placeholder 2"/>
          <p:cNvSpPr>
            <a:spLocks noGrp="1"/>
          </p:cNvSpPr>
          <p:nvPr>
            <p:ph type="ftr" sz="quarter" idx="11"/>
          </p:nvPr>
        </p:nvSpPr>
        <p:spPr/>
        <p:txBody>
          <a:bodyPr/>
          <a:lstStyle/>
          <a:p>
            <a:r>
              <a:rPr lang="en-IN" smtClean="0"/>
              <a:t>PRASHANTH KAMBLI, Dept. of ISE, RIT, Bangalore</a:t>
            </a:r>
            <a:endParaRPr lang="en-IN"/>
          </a:p>
        </p:txBody>
      </p:sp>
      <p:sp>
        <p:nvSpPr>
          <p:cNvPr id="4" name="Slide Number Placeholder 3"/>
          <p:cNvSpPr>
            <a:spLocks noGrp="1"/>
          </p:cNvSpPr>
          <p:nvPr>
            <p:ph type="sldNum" sz="quarter" idx="12"/>
          </p:nvPr>
        </p:nvSpPr>
        <p:spPr/>
        <p:txBody>
          <a:bodyPr/>
          <a:lstStyle/>
          <a:p>
            <a:fld id="{373D9D93-F85F-4316-89A8-9DBFDF02D954}" type="slidenum">
              <a:rPr lang="en-IN" smtClean="0"/>
              <a:t>‹#›</a:t>
            </a:fld>
            <a:endParaRPr lang="en-IN"/>
          </a:p>
        </p:txBody>
      </p:sp>
    </p:spTree>
    <p:extLst>
      <p:ext uri="{BB962C8B-B14F-4D97-AF65-F5344CB8AC3E}">
        <p14:creationId xmlns:p14="http://schemas.microsoft.com/office/powerpoint/2010/main" val="9983034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smtClean="0"/>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1F54BFAC-D05B-46FE-B3A4-BE7FFD0E857B}" type="datetime1">
              <a:rPr lang="en-IN" smtClean="0"/>
              <a:t>23-02-2026</a:t>
            </a:fld>
            <a:endParaRPr lang="en-IN"/>
          </a:p>
        </p:txBody>
      </p:sp>
      <p:sp>
        <p:nvSpPr>
          <p:cNvPr id="6" name="Footer Placeholder 5"/>
          <p:cNvSpPr>
            <a:spLocks noGrp="1"/>
          </p:cNvSpPr>
          <p:nvPr>
            <p:ph type="ftr" sz="quarter" idx="11"/>
          </p:nvPr>
        </p:nvSpPr>
        <p:spPr/>
        <p:txBody>
          <a:bodyPr/>
          <a:lstStyle/>
          <a:p>
            <a:r>
              <a:rPr lang="en-IN" smtClean="0"/>
              <a:t>PRASHANTH KAMBLI, Dept. of ISE, RIT, Bangalore</a:t>
            </a:r>
            <a:endParaRPr lang="en-IN"/>
          </a:p>
        </p:txBody>
      </p:sp>
      <p:sp>
        <p:nvSpPr>
          <p:cNvPr id="7" name="Slide Number Placeholder 6"/>
          <p:cNvSpPr>
            <a:spLocks noGrp="1"/>
          </p:cNvSpPr>
          <p:nvPr>
            <p:ph type="sldNum" sz="quarter" idx="12"/>
          </p:nvPr>
        </p:nvSpPr>
        <p:spPr/>
        <p:txBody>
          <a:bodyPr/>
          <a:lstStyle/>
          <a:p>
            <a:fld id="{373D9D93-F85F-4316-89A8-9DBFDF02D954}" type="slidenum">
              <a:rPr lang="en-IN" smtClean="0"/>
              <a:t>‹#›</a:t>
            </a:fld>
            <a:endParaRPr lang="en-IN"/>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6990590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2D793014-52F7-4EED-AB42-B1A9A2724503}" type="datetime1">
              <a:rPr lang="en-IN" smtClean="0"/>
              <a:t>23-02-2026</a:t>
            </a:fld>
            <a:endParaRPr lang="en-IN"/>
          </a:p>
        </p:txBody>
      </p:sp>
      <p:sp>
        <p:nvSpPr>
          <p:cNvPr id="6" name="Footer Placeholder 5"/>
          <p:cNvSpPr>
            <a:spLocks noGrp="1"/>
          </p:cNvSpPr>
          <p:nvPr>
            <p:ph type="ftr" sz="quarter" idx="11"/>
          </p:nvPr>
        </p:nvSpPr>
        <p:spPr>
          <a:xfrm>
            <a:off x="1447382" y="318640"/>
            <a:ext cx="5541004" cy="320931"/>
          </a:xfrm>
        </p:spPr>
        <p:txBody>
          <a:bodyPr/>
          <a:lstStyle/>
          <a:p>
            <a:r>
              <a:rPr lang="en-IN" smtClean="0"/>
              <a:t>PRASHANTH KAMBLI, Dept. of ISE, RIT, Bangalore</a:t>
            </a:r>
            <a:endParaRPr lang="en-IN"/>
          </a:p>
        </p:txBody>
      </p:sp>
      <p:sp>
        <p:nvSpPr>
          <p:cNvPr id="7" name="Slide Number Placeholder 6"/>
          <p:cNvSpPr>
            <a:spLocks noGrp="1"/>
          </p:cNvSpPr>
          <p:nvPr>
            <p:ph type="sldNum" sz="quarter" idx="12"/>
          </p:nvPr>
        </p:nvSpPr>
        <p:spPr/>
        <p:txBody>
          <a:bodyPr/>
          <a:lstStyle/>
          <a:p>
            <a:fld id="{373D9D93-F85F-4316-89A8-9DBFDF02D954}" type="slidenum">
              <a:rPr lang="en-IN" smtClean="0"/>
              <a:t>‹#›</a:t>
            </a:fld>
            <a:endParaRPr lang="en-IN"/>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0505968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B6CCD38-6C17-4EFC-94CE-A57731D2CA7D}" type="datetime1">
              <a:rPr lang="en-IN" smtClean="0"/>
              <a:t>23-02-2026</a:t>
            </a:fld>
            <a:endParaRPr lang="en-IN"/>
          </a:p>
        </p:txBody>
      </p:sp>
      <p:sp>
        <p:nvSpPr>
          <p:cNvPr id="5" name="Footer Placeholder 4"/>
          <p:cNvSpPr>
            <a:spLocks noGrp="1"/>
          </p:cNvSpPr>
          <p:nvPr>
            <p:ph type="ftr" sz="quarter" idx="11"/>
          </p:nvPr>
        </p:nvSpPr>
        <p:spPr/>
        <p:txBody>
          <a:bodyPr/>
          <a:lstStyle/>
          <a:p>
            <a:r>
              <a:rPr lang="en-IN" smtClean="0"/>
              <a:t>PRASHANTH KAMBLI, Dept. of ISE, RIT, Bangalore</a:t>
            </a:r>
            <a:endParaRPr lang="en-IN"/>
          </a:p>
        </p:txBody>
      </p:sp>
      <p:sp>
        <p:nvSpPr>
          <p:cNvPr id="6" name="Slide Number Placeholder 5"/>
          <p:cNvSpPr>
            <a:spLocks noGrp="1"/>
          </p:cNvSpPr>
          <p:nvPr>
            <p:ph type="sldNum" sz="quarter" idx="12"/>
          </p:nvPr>
        </p:nvSpPr>
        <p:spPr/>
        <p:txBody>
          <a:bodyPr/>
          <a:lstStyle/>
          <a:p>
            <a:fld id="{373D9D93-F85F-4316-89A8-9DBFDF02D954}" type="slidenum">
              <a:rPr lang="en-IN" smtClean="0"/>
              <a:t>‹#›</a:t>
            </a:fld>
            <a:endParaRPr lang="en-IN"/>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9696772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C7472164-4849-4C9C-BA22-E70FE513A999}" type="datetime1">
              <a:rPr lang="en-IN" smtClean="0"/>
              <a:t>23-02-2026</a:t>
            </a:fld>
            <a:endParaRPr lang="en-IN"/>
          </a:p>
        </p:txBody>
      </p:sp>
      <p:sp>
        <p:nvSpPr>
          <p:cNvPr id="5" name="Footer Placeholder 4"/>
          <p:cNvSpPr>
            <a:spLocks noGrp="1"/>
          </p:cNvSpPr>
          <p:nvPr>
            <p:ph type="ftr" sz="quarter" idx="11"/>
          </p:nvPr>
        </p:nvSpPr>
        <p:spPr/>
        <p:txBody>
          <a:bodyPr/>
          <a:lstStyle/>
          <a:p>
            <a:r>
              <a:rPr lang="en-IN" smtClean="0"/>
              <a:t>PRASHANTH KAMBLI, Dept. of ISE, RIT, Bangalore</a:t>
            </a:r>
            <a:endParaRPr lang="en-IN"/>
          </a:p>
        </p:txBody>
      </p:sp>
      <p:sp>
        <p:nvSpPr>
          <p:cNvPr id="6" name="Slide Number Placeholder 5"/>
          <p:cNvSpPr>
            <a:spLocks noGrp="1"/>
          </p:cNvSpPr>
          <p:nvPr>
            <p:ph type="sldNum" sz="quarter" idx="12"/>
          </p:nvPr>
        </p:nvSpPr>
        <p:spPr/>
        <p:txBody>
          <a:bodyPr/>
          <a:lstStyle/>
          <a:p>
            <a:fld id="{373D9D93-F85F-4316-89A8-9DBFDF02D954}" type="slidenum">
              <a:rPr lang="en-IN" smtClean="0"/>
              <a:t>‹#›</a:t>
            </a:fld>
            <a:endParaRPr lang="en-IN"/>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5054427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1C7F84DC-6E71-444C-9CD5-5A1E698A590F}" type="datetime1">
              <a:rPr lang="en-IN" smtClean="0"/>
              <a:t>23-02-2026</a:t>
            </a:fld>
            <a:endParaRPr lang="en-IN"/>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r>
              <a:rPr lang="en-IN" smtClean="0"/>
              <a:t>PRASHANTH KAMBLI, Dept. of ISE, RIT, Bangalore</a:t>
            </a:r>
            <a:endParaRPr lang="en-IN"/>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373D9D93-F85F-4316-89A8-9DBFDF02D954}" type="slidenum">
              <a:rPr lang="en-IN" smtClean="0"/>
              <a:t>‹#›</a:t>
            </a:fld>
            <a:endParaRPr lang="en-IN"/>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10510314"/>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Lst>
  <p:hf sldNum="0" hdr="0"/>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002972" y="1963443"/>
            <a:ext cx="9051881" cy="2535988"/>
          </a:xfrm>
        </p:spPr>
        <p:txBody>
          <a:bodyPr/>
          <a:lstStyle/>
          <a:p>
            <a:r>
              <a:rPr lang="en-IN" dirty="0" smtClean="0">
                <a:solidFill>
                  <a:schemeClr val="accent4">
                    <a:lumMod val="50000"/>
                  </a:schemeClr>
                </a:solidFill>
              </a:rPr>
              <a:t>Embedded Systems - </a:t>
            </a:r>
            <a:br>
              <a:rPr lang="en-IN" dirty="0" smtClean="0">
                <a:solidFill>
                  <a:schemeClr val="accent4">
                    <a:lumMod val="50000"/>
                  </a:schemeClr>
                </a:solidFill>
              </a:rPr>
            </a:br>
            <a:r>
              <a:rPr lang="en-IN" dirty="0" smtClean="0">
                <a:solidFill>
                  <a:srgbClr val="FF0000"/>
                </a:solidFill>
              </a:rPr>
              <a:t>An Introduction</a:t>
            </a:r>
            <a:endParaRPr lang="en-IN" dirty="0">
              <a:solidFill>
                <a:srgbClr val="FF0000"/>
              </a:solidFill>
            </a:endParaRPr>
          </a:p>
        </p:txBody>
      </p:sp>
    </p:spTree>
    <p:extLst>
      <p:ext uri="{BB962C8B-B14F-4D97-AF65-F5344CB8AC3E}">
        <p14:creationId xmlns:p14="http://schemas.microsoft.com/office/powerpoint/2010/main" val="367058621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88705" y="1111640"/>
            <a:ext cx="9603275" cy="1049235"/>
          </a:xfrm>
        </p:spPr>
        <p:txBody>
          <a:bodyPr>
            <a:normAutofit/>
          </a:bodyPr>
          <a:lstStyle/>
          <a:p>
            <a:r>
              <a:rPr lang="en-IN" sz="4400" dirty="0" smtClean="0">
                <a:solidFill>
                  <a:srgbClr val="FF0000"/>
                </a:solidFill>
              </a:rPr>
              <a:t>1. Introduction </a:t>
            </a:r>
            <a:endParaRPr lang="en-IN" sz="4400" dirty="0">
              <a:solidFill>
                <a:srgbClr val="FF0000"/>
              </a:solidFill>
            </a:endParaRPr>
          </a:p>
        </p:txBody>
      </p:sp>
      <p:sp>
        <p:nvSpPr>
          <p:cNvPr id="3" name="Content Placeholder 2"/>
          <p:cNvSpPr>
            <a:spLocks noGrp="1"/>
          </p:cNvSpPr>
          <p:nvPr>
            <p:ph idx="1"/>
          </p:nvPr>
        </p:nvSpPr>
        <p:spPr>
          <a:xfrm>
            <a:off x="304800" y="2015733"/>
            <a:ext cx="11451771" cy="3760954"/>
          </a:xfrm>
        </p:spPr>
        <p:txBody>
          <a:bodyPr>
            <a:normAutofit/>
          </a:bodyPr>
          <a:lstStyle/>
          <a:p>
            <a:pPr marL="0" indent="0" algn="just">
              <a:buNone/>
            </a:pPr>
            <a:endParaRPr lang="en-IN" sz="2400" dirty="0">
              <a:solidFill>
                <a:srgbClr val="7030A0"/>
              </a:solidFill>
            </a:endParaRPr>
          </a:p>
          <a:p>
            <a:pPr algn="just"/>
            <a:r>
              <a:rPr lang="en-IN" sz="2400" dirty="0" smtClean="0">
                <a:solidFill>
                  <a:srgbClr val="7030A0"/>
                </a:solidFill>
              </a:rPr>
              <a:t>Today’s world </a:t>
            </a:r>
            <a:r>
              <a:rPr lang="en-IN" sz="2400" dirty="0">
                <a:solidFill>
                  <a:srgbClr val="7030A0"/>
                </a:solidFill>
              </a:rPr>
              <a:t>is becoming more and more technology enabled and so the word “Embedded Systems” becoming more familiar and widely used.</a:t>
            </a:r>
          </a:p>
          <a:p>
            <a:pPr algn="just"/>
            <a:r>
              <a:rPr lang="en-IN" sz="2400" dirty="0" smtClean="0">
                <a:solidFill>
                  <a:srgbClr val="7030A0"/>
                </a:solidFill>
              </a:rPr>
              <a:t> </a:t>
            </a:r>
            <a:r>
              <a:rPr lang="en-IN" sz="2400" dirty="0">
                <a:solidFill>
                  <a:srgbClr val="7030A0"/>
                </a:solidFill>
              </a:rPr>
              <a:t>Embedded systems are the one that uses electronics along with sensors and actuators.</a:t>
            </a:r>
          </a:p>
          <a:p>
            <a:pPr algn="just"/>
            <a:r>
              <a:rPr lang="en-IN" sz="2400" dirty="0" smtClean="0">
                <a:solidFill>
                  <a:srgbClr val="7030A0"/>
                </a:solidFill>
              </a:rPr>
              <a:t>We </a:t>
            </a:r>
            <a:r>
              <a:rPr lang="en-IN" sz="2400" dirty="0">
                <a:solidFill>
                  <a:srgbClr val="7030A0"/>
                </a:solidFill>
              </a:rPr>
              <a:t>can even say, any high-end machinery that has electronics control is considered to be part of </a:t>
            </a:r>
            <a:r>
              <a:rPr lang="en-IN" sz="2400" dirty="0" smtClean="0">
                <a:solidFill>
                  <a:srgbClr val="7030A0"/>
                </a:solidFill>
              </a:rPr>
              <a:t>the </a:t>
            </a:r>
            <a:r>
              <a:rPr lang="en-IN" sz="2400" dirty="0">
                <a:solidFill>
                  <a:srgbClr val="7030A0"/>
                </a:solidFill>
              </a:rPr>
              <a:t>embedded systems, just as a small hand-held electronic device. </a:t>
            </a:r>
          </a:p>
        </p:txBody>
      </p:sp>
      <p:sp>
        <p:nvSpPr>
          <p:cNvPr id="4" name="Date Placeholder 3"/>
          <p:cNvSpPr>
            <a:spLocks noGrp="1"/>
          </p:cNvSpPr>
          <p:nvPr>
            <p:ph type="dt" sz="half" idx="10"/>
          </p:nvPr>
        </p:nvSpPr>
        <p:spPr/>
        <p:txBody>
          <a:bodyPr/>
          <a:lstStyle/>
          <a:p>
            <a:fld id="{7F1DD38F-CEFA-47D6-8EAC-DD6823480541}" type="datetime1">
              <a:rPr lang="en-IN" smtClean="0"/>
              <a:t>23-02-2026</a:t>
            </a:fld>
            <a:endParaRPr lang="en-IN"/>
          </a:p>
        </p:txBody>
      </p:sp>
    </p:spTree>
    <p:extLst>
      <p:ext uri="{BB962C8B-B14F-4D97-AF65-F5344CB8AC3E}">
        <p14:creationId xmlns:p14="http://schemas.microsoft.com/office/powerpoint/2010/main" val="153175637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51579" y="1097125"/>
            <a:ext cx="9603275" cy="1049235"/>
          </a:xfrm>
        </p:spPr>
        <p:txBody>
          <a:bodyPr>
            <a:normAutofit/>
          </a:bodyPr>
          <a:lstStyle/>
          <a:p>
            <a:r>
              <a:rPr lang="en-IN" sz="4400" dirty="0">
                <a:solidFill>
                  <a:srgbClr val="FF0000"/>
                </a:solidFill>
              </a:rPr>
              <a:t>Definition of embedded systems</a:t>
            </a:r>
          </a:p>
        </p:txBody>
      </p:sp>
      <p:sp>
        <p:nvSpPr>
          <p:cNvPr id="3" name="Content Placeholder 2"/>
          <p:cNvSpPr>
            <a:spLocks noGrp="1"/>
          </p:cNvSpPr>
          <p:nvPr>
            <p:ph idx="1"/>
          </p:nvPr>
        </p:nvSpPr>
        <p:spPr>
          <a:xfrm>
            <a:off x="798286" y="1914131"/>
            <a:ext cx="10827657" cy="3450613"/>
          </a:xfrm>
        </p:spPr>
        <p:txBody>
          <a:bodyPr>
            <a:normAutofit/>
          </a:bodyPr>
          <a:lstStyle/>
          <a:p>
            <a:pPr marL="0" indent="0" algn="just">
              <a:buNone/>
            </a:pPr>
            <a:r>
              <a:rPr lang="en-IN" sz="3200" dirty="0">
                <a:solidFill>
                  <a:srgbClr val="7030A0"/>
                </a:solidFill>
              </a:rPr>
              <a:t>Embedded system i</a:t>
            </a:r>
            <a:r>
              <a:rPr lang="en-IN" sz="3200" dirty="0" smtClean="0">
                <a:solidFill>
                  <a:srgbClr val="7030A0"/>
                </a:solidFill>
              </a:rPr>
              <a:t>s an </a:t>
            </a:r>
            <a:r>
              <a:rPr lang="en-IN" sz="3200" dirty="0">
                <a:solidFill>
                  <a:srgbClr val="7030A0"/>
                </a:solidFill>
              </a:rPr>
              <a:t>electronic-based system which takes in information through sensors, </a:t>
            </a:r>
            <a:r>
              <a:rPr lang="en-IN" sz="3200" dirty="0" smtClean="0">
                <a:solidFill>
                  <a:srgbClr val="7030A0"/>
                </a:solidFill>
              </a:rPr>
              <a:t>process it and </a:t>
            </a:r>
            <a:r>
              <a:rPr lang="en-IN" sz="3200" dirty="0">
                <a:solidFill>
                  <a:srgbClr val="7030A0"/>
                </a:solidFill>
              </a:rPr>
              <a:t>produces an output actuation. </a:t>
            </a:r>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35710" y="3280229"/>
            <a:ext cx="6219144" cy="257153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Rectangle 4"/>
          <p:cNvSpPr/>
          <p:nvPr/>
        </p:nvSpPr>
        <p:spPr>
          <a:xfrm>
            <a:off x="5647116" y="5783761"/>
            <a:ext cx="3895169" cy="369332"/>
          </a:xfrm>
          <a:prstGeom prst="rect">
            <a:avLst/>
          </a:prstGeom>
        </p:spPr>
        <p:txBody>
          <a:bodyPr wrap="none">
            <a:spAutoFit/>
          </a:bodyPr>
          <a:lstStyle/>
          <a:p>
            <a:r>
              <a:rPr lang="en-US" dirty="0" smtClean="0"/>
              <a:t>MODEL OF AN EMBEDDED SYSTEM</a:t>
            </a:r>
            <a:endParaRPr lang="en-US" dirty="0"/>
          </a:p>
        </p:txBody>
      </p:sp>
      <p:sp>
        <p:nvSpPr>
          <p:cNvPr id="6" name="Date Placeholder 5"/>
          <p:cNvSpPr>
            <a:spLocks noGrp="1"/>
          </p:cNvSpPr>
          <p:nvPr>
            <p:ph type="dt" sz="half" idx="10"/>
          </p:nvPr>
        </p:nvSpPr>
        <p:spPr/>
        <p:txBody>
          <a:bodyPr/>
          <a:lstStyle/>
          <a:p>
            <a:fld id="{C2CE4622-7877-4FD3-9170-7D49D7B01AB8}" type="datetime1">
              <a:rPr lang="en-IN" smtClean="0"/>
              <a:t>23-02-2026</a:t>
            </a:fld>
            <a:endParaRPr lang="en-IN"/>
          </a:p>
        </p:txBody>
      </p:sp>
    </p:spTree>
    <p:extLst>
      <p:ext uri="{BB962C8B-B14F-4D97-AF65-F5344CB8AC3E}">
        <p14:creationId xmlns:p14="http://schemas.microsoft.com/office/powerpoint/2010/main" val="165402845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9655" y="1919620"/>
            <a:ext cx="11829143" cy="4092991"/>
          </a:xfrm>
        </p:spPr>
        <p:txBody>
          <a:bodyPr>
            <a:noAutofit/>
          </a:bodyPr>
          <a:lstStyle/>
          <a:p>
            <a:pPr marL="457200" indent="-457200" algn="just">
              <a:buFont typeface="+mj-lt"/>
              <a:buAutoNum type="arabicPeriod"/>
            </a:pPr>
            <a:r>
              <a:rPr lang="en-IN" sz="2200" dirty="0" smtClean="0">
                <a:solidFill>
                  <a:srgbClr val="7030A0"/>
                </a:solidFill>
              </a:rPr>
              <a:t>Each system </a:t>
            </a:r>
            <a:r>
              <a:rPr lang="en-IN" sz="2200" dirty="0">
                <a:solidFill>
                  <a:srgbClr val="7030A0"/>
                </a:solidFill>
              </a:rPr>
              <a:t>is meant for a particular task or set of tasks. This task set is not alterable later.</a:t>
            </a:r>
          </a:p>
          <a:p>
            <a:pPr marL="457200" indent="-457200" algn="just">
              <a:buFont typeface="+mj-lt"/>
              <a:buAutoNum type="arabicPeriod"/>
            </a:pPr>
            <a:r>
              <a:rPr lang="en-IN" sz="2200" dirty="0">
                <a:solidFill>
                  <a:srgbClr val="7030A0"/>
                </a:solidFill>
              </a:rPr>
              <a:t>Any electronic device of now has a processing unit which takes in sensor data, process it and then produces signals, which does some actuation. The “processing” is usually done by software. </a:t>
            </a:r>
          </a:p>
          <a:p>
            <a:pPr marL="457200" indent="-457200" algn="just">
              <a:buFont typeface="+mj-lt"/>
              <a:buAutoNum type="arabicPeriod"/>
            </a:pPr>
            <a:r>
              <a:rPr lang="en-IN" sz="2200" dirty="0" smtClean="0">
                <a:solidFill>
                  <a:srgbClr val="7030A0"/>
                </a:solidFill>
              </a:rPr>
              <a:t>An </a:t>
            </a:r>
            <a:r>
              <a:rPr lang="en-IN" sz="2200" dirty="0">
                <a:solidFill>
                  <a:srgbClr val="7030A0"/>
                </a:solidFill>
              </a:rPr>
              <a:t>embedded system has an electronics hardware with software embedded into it. This makes the processing unit to be a microprocessor.</a:t>
            </a:r>
          </a:p>
          <a:p>
            <a:pPr marL="457200" indent="-457200" algn="just">
              <a:buFont typeface="+mj-lt"/>
              <a:buAutoNum type="arabicPeriod"/>
            </a:pPr>
            <a:r>
              <a:rPr lang="en-IN" sz="2200" dirty="0">
                <a:solidFill>
                  <a:srgbClr val="7030A0"/>
                </a:solidFill>
              </a:rPr>
              <a:t> To get the sensor data,  input peripherals are needed, and for output actuation, output peripherals are needed. Adding such peripherals to a microprocessor, makes the processing unit to become a Microcontroller unit (MCU). We also use as </a:t>
            </a:r>
            <a:r>
              <a:rPr lang="en-IN" sz="2200" dirty="0" err="1">
                <a:solidFill>
                  <a:srgbClr val="7030A0"/>
                </a:solidFill>
              </a:rPr>
              <a:t>SoC</a:t>
            </a:r>
            <a:r>
              <a:rPr lang="en-IN" sz="2200" dirty="0">
                <a:solidFill>
                  <a:srgbClr val="7030A0"/>
                </a:solidFill>
              </a:rPr>
              <a:t> (System on Chip).</a:t>
            </a:r>
          </a:p>
        </p:txBody>
      </p:sp>
      <p:sp>
        <p:nvSpPr>
          <p:cNvPr id="2" name="Title 1"/>
          <p:cNvSpPr>
            <a:spLocks noGrp="1"/>
          </p:cNvSpPr>
          <p:nvPr>
            <p:ph type="title"/>
          </p:nvPr>
        </p:nvSpPr>
        <p:spPr>
          <a:xfrm>
            <a:off x="341159" y="801970"/>
            <a:ext cx="11466136" cy="1049235"/>
          </a:xfrm>
        </p:spPr>
        <p:txBody>
          <a:bodyPr>
            <a:noAutofit/>
          </a:bodyPr>
          <a:lstStyle/>
          <a:p>
            <a:r>
              <a:rPr lang="en-IN" sz="3600" dirty="0">
                <a:solidFill>
                  <a:srgbClr val="FF0000"/>
                </a:solidFill>
              </a:rPr>
              <a:t>Characteristics of embedded systems</a:t>
            </a:r>
          </a:p>
        </p:txBody>
      </p:sp>
      <p:sp>
        <p:nvSpPr>
          <p:cNvPr id="4" name="Date Placeholder 3"/>
          <p:cNvSpPr>
            <a:spLocks noGrp="1"/>
          </p:cNvSpPr>
          <p:nvPr>
            <p:ph type="dt" sz="half" idx="10"/>
          </p:nvPr>
        </p:nvSpPr>
        <p:spPr/>
        <p:txBody>
          <a:bodyPr/>
          <a:lstStyle/>
          <a:p>
            <a:fld id="{FD650224-748E-4A77-8151-DC822A43FEBB}" type="datetime1">
              <a:rPr lang="en-IN" smtClean="0"/>
              <a:t>23-02-2026</a:t>
            </a:fld>
            <a:endParaRPr lang="en-IN"/>
          </a:p>
        </p:txBody>
      </p:sp>
    </p:spTree>
    <p:extLst>
      <p:ext uri="{BB962C8B-B14F-4D97-AF65-F5344CB8AC3E}">
        <p14:creationId xmlns:p14="http://schemas.microsoft.com/office/powerpoint/2010/main" val="28052766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3143" y="1298005"/>
            <a:ext cx="11190514" cy="1049235"/>
          </a:xfrm>
        </p:spPr>
        <p:txBody>
          <a:bodyPr/>
          <a:lstStyle/>
          <a:p>
            <a:r>
              <a:rPr lang="en-IN" sz="2400" dirty="0">
                <a:solidFill>
                  <a:srgbClr val="FF0000"/>
                </a:solidFill>
              </a:rPr>
              <a:t>Characteristics of embedded </a:t>
            </a:r>
            <a:r>
              <a:rPr lang="en-IN" sz="2400" dirty="0" smtClean="0">
                <a:solidFill>
                  <a:srgbClr val="FF0000"/>
                </a:solidFill>
              </a:rPr>
              <a:t>systems </a:t>
            </a:r>
            <a:r>
              <a:rPr lang="en-IN" sz="2400" dirty="0" smtClean="0"/>
              <a:t>Continued </a:t>
            </a:r>
            <a:r>
              <a:rPr lang="en-IN" dirty="0" smtClean="0"/>
              <a:t>…</a:t>
            </a:r>
            <a:endParaRPr lang="en-IN" dirty="0"/>
          </a:p>
        </p:txBody>
      </p:sp>
      <p:sp>
        <p:nvSpPr>
          <p:cNvPr id="3" name="Content Placeholder 2"/>
          <p:cNvSpPr>
            <a:spLocks noGrp="1"/>
          </p:cNvSpPr>
          <p:nvPr>
            <p:ph idx="1"/>
          </p:nvPr>
        </p:nvSpPr>
        <p:spPr>
          <a:xfrm>
            <a:off x="391886" y="2015732"/>
            <a:ext cx="11132458" cy="3920611"/>
          </a:xfrm>
        </p:spPr>
        <p:txBody>
          <a:bodyPr>
            <a:noAutofit/>
          </a:bodyPr>
          <a:lstStyle/>
          <a:p>
            <a:pPr marL="457200" indent="-457200" algn="just">
              <a:buFont typeface="+mj-lt"/>
              <a:buAutoNum type="arabicPeriod" startAt="5"/>
            </a:pPr>
            <a:r>
              <a:rPr lang="en-IN" sz="2400" dirty="0" smtClean="0">
                <a:solidFill>
                  <a:srgbClr val="7030A0"/>
                </a:solidFill>
              </a:rPr>
              <a:t>Many embedded systems are </a:t>
            </a:r>
            <a:r>
              <a:rPr lang="en-IN" sz="2400" dirty="0">
                <a:solidFill>
                  <a:srgbClr val="7030A0"/>
                </a:solidFill>
              </a:rPr>
              <a:t>part of a bigger systems- for example, washing machines, refrigerators, automobiles etc. are all controlled by embedded electronics. </a:t>
            </a:r>
          </a:p>
          <a:p>
            <a:pPr marL="457200" indent="-457200" algn="just">
              <a:buFont typeface="+mj-lt"/>
              <a:buAutoNum type="arabicPeriod" startAt="5"/>
            </a:pPr>
            <a:r>
              <a:rPr lang="en-IN" sz="2400" dirty="0">
                <a:solidFill>
                  <a:srgbClr val="7030A0"/>
                </a:solidFill>
              </a:rPr>
              <a:t>Many of them have to operate and produce results within a stipulated time. Thus, we say that some of them need to do time critical computations. </a:t>
            </a:r>
          </a:p>
          <a:p>
            <a:pPr marL="457200" indent="-457200" algn="just">
              <a:buFont typeface="+mj-lt"/>
              <a:buAutoNum type="arabicPeriod" startAt="5"/>
            </a:pPr>
            <a:r>
              <a:rPr lang="en-IN" sz="2400" dirty="0">
                <a:solidFill>
                  <a:srgbClr val="7030A0"/>
                </a:solidFill>
              </a:rPr>
              <a:t>Application wise- the domain is very fast. Some of them are placed in inaccessible areas, such as forests, some in extreme climatic conditions like </a:t>
            </a:r>
            <a:r>
              <a:rPr lang="en-IN" sz="2400" dirty="0" smtClean="0">
                <a:solidFill>
                  <a:srgbClr val="7030A0"/>
                </a:solidFill>
              </a:rPr>
              <a:t>in case </a:t>
            </a:r>
            <a:r>
              <a:rPr lang="en-IN" sz="2400" dirty="0">
                <a:solidFill>
                  <a:srgbClr val="7030A0"/>
                </a:solidFill>
              </a:rPr>
              <a:t>of military and space applications. Some will be very simple, as Temperature sensors, pedometers etc..</a:t>
            </a:r>
          </a:p>
        </p:txBody>
      </p:sp>
      <p:sp>
        <p:nvSpPr>
          <p:cNvPr id="4" name="Date Placeholder 3"/>
          <p:cNvSpPr>
            <a:spLocks noGrp="1"/>
          </p:cNvSpPr>
          <p:nvPr>
            <p:ph type="dt" sz="half" idx="10"/>
          </p:nvPr>
        </p:nvSpPr>
        <p:spPr/>
        <p:txBody>
          <a:bodyPr/>
          <a:lstStyle/>
          <a:p>
            <a:fld id="{FD650224-748E-4A77-8151-DC822A43FEBB}" type="datetime1">
              <a:rPr lang="en-IN" smtClean="0"/>
              <a:t>23-02-2026</a:t>
            </a:fld>
            <a:endParaRPr lang="en-IN"/>
          </a:p>
        </p:txBody>
      </p:sp>
    </p:spTree>
    <p:extLst>
      <p:ext uri="{BB962C8B-B14F-4D97-AF65-F5344CB8AC3E}">
        <p14:creationId xmlns:p14="http://schemas.microsoft.com/office/powerpoint/2010/main" val="31315826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51579" y="1239947"/>
            <a:ext cx="9603275" cy="1049235"/>
          </a:xfrm>
        </p:spPr>
        <p:txBody>
          <a:bodyPr>
            <a:normAutofit/>
          </a:bodyPr>
          <a:lstStyle/>
          <a:p>
            <a:r>
              <a:rPr lang="en-IN" sz="4400" dirty="0">
                <a:solidFill>
                  <a:srgbClr val="FF0000"/>
                </a:solidFill>
              </a:rPr>
              <a:t>II. Design of an embedded system</a:t>
            </a:r>
          </a:p>
        </p:txBody>
      </p:sp>
      <p:sp>
        <p:nvSpPr>
          <p:cNvPr id="3" name="Content Placeholder 2"/>
          <p:cNvSpPr>
            <a:spLocks noGrp="1"/>
          </p:cNvSpPr>
          <p:nvPr>
            <p:ph idx="1"/>
          </p:nvPr>
        </p:nvSpPr>
        <p:spPr>
          <a:xfrm>
            <a:off x="333829" y="2015732"/>
            <a:ext cx="10721025" cy="3450613"/>
          </a:xfrm>
        </p:spPr>
        <p:txBody>
          <a:bodyPr>
            <a:normAutofit lnSpcReduction="10000"/>
          </a:bodyPr>
          <a:lstStyle/>
          <a:p>
            <a:pPr marL="0" indent="0">
              <a:buNone/>
            </a:pPr>
            <a:r>
              <a:rPr lang="en-IN" sz="2400" dirty="0" smtClean="0">
                <a:solidFill>
                  <a:srgbClr val="7030A0"/>
                </a:solidFill>
              </a:rPr>
              <a:t> </a:t>
            </a:r>
            <a:r>
              <a:rPr lang="en-IN" sz="2400" dirty="0">
                <a:solidFill>
                  <a:srgbClr val="7030A0"/>
                </a:solidFill>
              </a:rPr>
              <a:t>The embedded system design may be constrained by the following factors</a:t>
            </a:r>
            <a:r>
              <a:rPr lang="en-IN" sz="2400" dirty="0" smtClean="0">
                <a:solidFill>
                  <a:srgbClr val="7030A0"/>
                </a:solidFill>
              </a:rPr>
              <a:t>:</a:t>
            </a:r>
          </a:p>
          <a:p>
            <a:pPr marL="457200" indent="-7938">
              <a:buFont typeface="+mj-lt"/>
              <a:buAutoNum type="arabicParenR"/>
            </a:pPr>
            <a:r>
              <a:rPr lang="en-IN" sz="2400" dirty="0" smtClean="0">
                <a:solidFill>
                  <a:srgbClr val="7030A0"/>
                </a:solidFill>
              </a:rPr>
              <a:t>  </a:t>
            </a:r>
            <a:r>
              <a:rPr lang="en-IN" sz="2400" dirty="0">
                <a:solidFill>
                  <a:srgbClr val="7030A0"/>
                </a:solidFill>
              </a:rPr>
              <a:t>The computing capability of the MCU used.</a:t>
            </a:r>
          </a:p>
          <a:p>
            <a:pPr marL="457200" indent="-7938">
              <a:buFont typeface="+mj-lt"/>
              <a:buAutoNum type="arabicParenR"/>
            </a:pPr>
            <a:r>
              <a:rPr lang="en-IN" sz="2400" dirty="0">
                <a:solidFill>
                  <a:srgbClr val="7030A0"/>
                </a:solidFill>
              </a:rPr>
              <a:t> The power dissipation allowed </a:t>
            </a:r>
            <a:r>
              <a:rPr lang="en-IN" sz="2400" dirty="0" err="1" smtClean="0">
                <a:solidFill>
                  <a:srgbClr val="7030A0"/>
                </a:solidFill>
              </a:rPr>
              <a:t>i.e</a:t>
            </a:r>
            <a:r>
              <a:rPr lang="en-IN" sz="2400" dirty="0" smtClean="0">
                <a:solidFill>
                  <a:srgbClr val="7030A0"/>
                </a:solidFill>
              </a:rPr>
              <a:t> </a:t>
            </a:r>
            <a:r>
              <a:rPr lang="en-US" sz="2400" dirty="0">
                <a:solidFill>
                  <a:srgbClr val="7030A0"/>
                </a:solidFill>
              </a:rPr>
              <a:t>refers to the maximum amount of power (in watts) that a device or component can safely dissipate as heat without being </a:t>
            </a:r>
            <a:r>
              <a:rPr lang="en-US" sz="2400" dirty="0" smtClean="0">
                <a:solidFill>
                  <a:srgbClr val="7030A0"/>
                </a:solidFill>
              </a:rPr>
              <a:t>damaged.</a:t>
            </a:r>
            <a:endParaRPr lang="en-IN" sz="2400" dirty="0">
              <a:solidFill>
                <a:srgbClr val="7030A0"/>
              </a:solidFill>
            </a:endParaRPr>
          </a:p>
          <a:p>
            <a:pPr marL="457200" indent="-7938">
              <a:buFont typeface="+mj-lt"/>
              <a:buAutoNum type="arabicParenR"/>
            </a:pPr>
            <a:r>
              <a:rPr lang="en-IN" sz="2400" dirty="0">
                <a:solidFill>
                  <a:srgbClr val="7030A0"/>
                </a:solidFill>
              </a:rPr>
              <a:t> The size of the </a:t>
            </a:r>
            <a:r>
              <a:rPr lang="en-IN" sz="2400" dirty="0" smtClean="0">
                <a:solidFill>
                  <a:srgbClr val="7030A0"/>
                </a:solidFill>
              </a:rPr>
              <a:t>device.</a:t>
            </a:r>
            <a:endParaRPr lang="en-IN" sz="2400" dirty="0">
              <a:solidFill>
                <a:srgbClr val="7030A0"/>
              </a:solidFill>
            </a:endParaRPr>
          </a:p>
          <a:p>
            <a:pPr marL="457200" indent="-7938">
              <a:buFont typeface="+mj-lt"/>
              <a:buAutoNum type="arabicParenR"/>
            </a:pPr>
            <a:r>
              <a:rPr lang="en-IN" sz="2400" dirty="0">
                <a:solidFill>
                  <a:srgbClr val="7030A0"/>
                </a:solidFill>
              </a:rPr>
              <a:t> The memory ( RAM and ROM) capacity of the MCU.</a:t>
            </a:r>
          </a:p>
        </p:txBody>
      </p:sp>
      <p:sp>
        <p:nvSpPr>
          <p:cNvPr id="4" name="Date Placeholder 3"/>
          <p:cNvSpPr>
            <a:spLocks noGrp="1"/>
          </p:cNvSpPr>
          <p:nvPr>
            <p:ph type="dt" sz="half" idx="10"/>
          </p:nvPr>
        </p:nvSpPr>
        <p:spPr/>
        <p:txBody>
          <a:bodyPr/>
          <a:lstStyle/>
          <a:p>
            <a:fld id="{FD650224-748E-4A77-8151-DC822A43FEBB}" type="datetime1">
              <a:rPr lang="en-IN" smtClean="0"/>
              <a:t>23-02-2026</a:t>
            </a:fld>
            <a:endParaRPr lang="en-IN"/>
          </a:p>
        </p:txBody>
      </p:sp>
    </p:spTree>
    <p:extLst>
      <p:ext uri="{BB962C8B-B14F-4D97-AF65-F5344CB8AC3E}">
        <p14:creationId xmlns:p14="http://schemas.microsoft.com/office/powerpoint/2010/main" val="22377720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06401" y="1827050"/>
            <a:ext cx="11567886" cy="4022211"/>
          </a:xfrm>
        </p:spPr>
        <p:txBody>
          <a:bodyPr>
            <a:normAutofit/>
          </a:bodyPr>
          <a:lstStyle/>
          <a:p>
            <a:pPr algn="just"/>
            <a:r>
              <a:rPr lang="en-IN" dirty="0" smtClean="0"/>
              <a:t> </a:t>
            </a:r>
            <a:r>
              <a:rPr lang="en-IN" sz="2400" dirty="0">
                <a:solidFill>
                  <a:srgbClr val="7030A0"/>
                </a:solidFill>
              </a:rPr>
              <a:t>In view of design constraints involved, the smart phone is considered to be an embedded system as it is designed under the limited computing capacity of its </a:t>
            </a:r>
            <a:r>
              <a:rPr lang="en-IN" sz="2400" dirty="0" err="1" smtClean="0">
                <a:solidFill>
                  <a:srgbClr val="7030A0"/>
                </a:solidFill>
              </a:rPr>
              <a:t>processor.Very</a:t>
            </a:r>
            <a:r>
              <a:rPr lang="en-IN" sz="2400" dirty="0" smtClean="0">
                <a:solidFill>
                  <a:srgbClr val="7030A0"/>
                </a:solidFill>
              </a:rPr>
              <a:t> </a:t>
            </a:r>
            <a:r>
              <a:rPr lang="en-IN" sz="2400" dirty="0">
                <a:solidFill>
                  <a:srgbClr val="7030A0"/>
                </a:solidFill>
              </a:rPr>
              <a:t>low power dissipation allowed, small size and limited size of memory.</a:t>
            </a:r>
          </a:p>
          <a:p>
            <a:pPr marL="0" indent="0" algn="just">
              <a:buNone/>
            </a:pPr>
            <a:endParaRPr lang="en-IN" sz="2400" dirty="0">
              <a:solidFill>
                <a:srgbClr val="7030A0"/>
              </a:solidFill>
            </a:endParaRPr>
          </a:p>
        </p:txBody>
      </p:sp>
      <p:sp>
        <p:nvSpPr>
          <p:cNvPr id="4" name="Date Placeholder 3"/>
          <p:cNvSpPr>
            <a:spLocks noGrp="1"/>
          </p:cNvSpPr>
          <p:nvPr>
            <p:ph type="dt" sz="half" idx="10"/>
          </p:nvPr>
        </p:nvSpPr>
        <p:spPr/>
        <p:txBody>
          <a:bodyPr/>
          <a:lstStyle/>
          <a:p>
            <a:fld id="{FD650224-748E-4A77-8151-DC822A43FEBB}" type="datetime1">
              <a:rPr lang="en-IN" smtClean="0"/>
              <a:t>23-02-2026</a:t>
            </a:fld>
            <a:endParaRPr lang="en-IN"/>
          </a:p>
        </p:txBody>
      </p:sp>
    </p:spTree>
    <p:extLst>
      <p:ext uri="{BB962C8B-B14F-4D97-AF65-F5344CB8AC3E}">
        <p14:creationId xmlns:p14="http://schemas.microsoft.com/office/powerpoint/2010/main" val="29328523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51578" y="1153998"/>
            <a:ext cx="9603275" cy="1049235"/>
          </a:xfrm>
        </p:spPr>
        <p:txBody>
          <a:bodyPr>
            <a:normAutofit/>
          </a:bodyPr>
          <a:lstStyle/>
          <a:p>
            <a:r>
              <a:rPr lang="en-IN" sz="4400" dirty="0">
                <a:solidFill>
                  <a:srgbClr val="FF0000"/>
                </a:solidFill>
              </a:rPr>
              <a:t>III. </a:t>
            </a:r>
            <a:r>
              <a:rPr lang="en-IN" sz="4400" dirty="0" smtClean="0">
                <a:solidFill>
                  <a:srgbClr val="FF0000"/>
                </a:solidFill>
              </a:rPr>
              <a:t> Applications</a:t>
            </a:r>
            <a:endParaRPr lang="en-IN" sz="4400" dirty="0">
              <a:solidFill>
                <a:srgbClr val="FF0000"/>
              </a:solidFill>
            </a:endParaRPr>
          </a:p>
        </p:txBody>
      </p:sp>
      <p:sp>
        <p:nvSpPr>
          <p:cNvPr id="3" name="Content Placeholder 2"/>
          <p:cNvSpPr>
            <a:spLocks noGrp="1"/>
          </p:cNvSpPr>
          <p:nvPr>
            <p:ph idx="1"/>
          </p:nvPr>
        </p:nvSpPr>
        <p:spPr>
          <a:xfrm>
            <a:off x="537179" y="1943161"/>
            <a:ext cx="10682364" cy="3978668"/>
          </a:xfrm>
        </p:spPr>
        <p:txBody>
          <a:bodyPr/>
          <a:lstStyle/>
          <a:p>
            <a:pPr marL="0" indent="0" algn="just">
              <a:buNone/>
            </a:pPr>
            <a:r>
              <a:rPr lang="en-IN" dirty="0" smtClean="0"/>
              <a:t> </a:t>
            </a:r>
            <a:r>
              <a:rPr lang="en-IN" sz="2400" dirty="0" smtClean="0"/>
              <a:t>Lets have some few applications for Embedded Systems</a:t>
            </a:r>
          </a:p>
          <a:p>
            <a:pPr marL="457200" indent="-195263" algn="just">
              <a:buFont typeface="+mj-lt"/>
              <a:buAutoNum type="arabicPeriod"/>
            </a:pPr>
            <a:r>
              <a:rPr lang="en-IN" sz="2400" dirty="0">
                <a:solidFill>
                  <a:schemeClr val="accent1"/>
                </a:solidFill>
              </a:rPr>
              <a:t> Mobile Phones &amp; Tablets: </a:t>
            </a:r>
            <a:r>
              <a:rPr lang="en-IN" sz="2400" dirty="0">
                <a:solidFill>
                  <a:srgbClr val="7030A0"/>
                </a:solidFill>
              </a:rPr>
              <a:t>The range of smartphones and tablets available in the market is very large. The design of these devices satisfy all the criteria for being labelled as embedded </a:t>
            </a:r>
            <a:r>
              <a:rPr lang="en-IN" sz="2400" dirty="0" smtClean="0">
                <a:solidFill>
                  <a:srgbClr val="7030A0"/>
                </a:solidFill>
              </a:rPr>
              <a:t>systems</a:t>
            </a:r>
          </a:p>
          <a:p>
            <a:pPr marL="457200" indent="-195263" algn="just">
              <a:buFont typeface="+mj-lt"/>
              <a:buAutoNum type="arabicPeriod"/>
            </a:pPr>
            <a:r>
              <a:rPr lang="en-IN" sz="2400" dirty="0" smtClean="0">
                <a:solidFill>
                  <a:srgbClr val="7030A0"/>
                </a:solidFill>
              </a:rPr>
              <a:t> </a:t>
            </a:r>
            <a:r>
              <a:rPr lang="en-IN" sz="2400" dirty="0">
                <a:solidFill>
                  <a:schemeClr val="accent1"/>
                </a:solidFill>
              </a:rPr>
              <a:t>Consumer electronics and Household Appliances: </a:t>
            </a:r>
            <a:r>
              <a:rPr lang="en-IN" sz="2400" dirty="0">
                <a:solidFill>
                  <a:srgbClr val="7030A0"/>
                </a:solidFill>
              </a:rPr>
              <a:t>This is also a very important category. Cameras, Music Players, DVD players, remote controls, washing machines, refrigerators and many more. </a:t>
            </a:r>
          </a:p>
        </p:txBody>
      </p:sp>
      <p:sp>
        <p:nvSpPr>
          <p:cNvPr id="4" name="Date Placeholder 3"/>
          <p:cNvSpPr>
            <a:spLocks noGrp="1"/>
          </p:cNvSpPr>
          <p:nvPr>
            <p:ph type="dt" sz="half" idx="10"/>
          </p:nvPr>
        </p:nvSpPr>
        <p:spPr/>
        <p:txBody>
          <a:bodyPr/>
          <a:lstStyle/>
          <a:p>
            <a:fld id="{FD650224-748E-4A77-8151-DC822A43FEBB}" type="datetime1">
              <a:rPr lang="en-IN" smtClean="0"/>
              <a:t>23-02-2026</a:t>
            </a:fld>
            <a:endParaRPr lang="en-IN"/>
          </a:p>
        </p:txBody>
      </p:sp>
    </p:spTree>
    <p:extLst>
      <p:ext uri="{BB962C8B-B14F-4D97-AF65-F5344CB8AC3E}">
        <p14:creationId xmlns:p14="http://schemas.microsoft.com/office/powerpoint/2010/main" val="296673043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51579" y="1320800"/>
            <a:ext cx="9603275" cy="532954"/>
          </a:xfrm>
        </p:spPr>
        <p:txBody>
          <a:bodyPr/>
          <a:lstStyle/>
          <a:p>
            <a:r>
              <a:rPr lang="en-IN" dirty="0" smtClean="0">
                <a:solidFill>
                  <a:srgbClr val="FF0000"/>
                </a:solidFill>
              </a:rPr>
              <a:t>Applications </a:t>
            </a:r>
            <a:r>
              <a:rPr lang="en-IN" dirty="0" err="1" smtClean="0">
                <a:solidFill>
                  <a:srgbClr val="FF0000"/>
                </a:solidFill>
              </a:rPr>
              <a:t>Contd</a:t>
            </a:r>
            <a:r>
              <a:rPr lang="en-IN" dirty="0" smtClean="0">
                <a:solidFill>
                  <a:srgbClr val="FF0000"/>
                </a:solidFill>
              </a:rPr>
              <a:t>….</a:t>
            </a:r>
            <a:endParaRPr lang="en-IN" dirty="0"/>
          </a:p>
        </p:txBody>
      </p:sp>
      <p:sp>
        <p:nvSpPr>
          <p:cNvPr id="3" name="Content Placeholder 2"/>
          <p:cNvSpPr>
            <a:spLocks noGrp="1"/>
          </p:cNvSpPr>
          <p:nvPr>
            <p:ph idx="1"/>
          </p:nvPr>
        </p:nvSpPr>
        <p:spPr>
          <a:xfrm>
            <a:off x="609601" y="2218932"/>
            <a:ext cx="10755085" cy="3450613"/>
          </a:xfrm>
        </p:spPr>
        <p:txBody>
          <a:bodyPr/>
          <a:lstStyle/>
          <a:p>
            <a:pPr marL="457200" indent="-195263" algn="just">
              <a:buFont typeface="+mj-lt"/>
              <a:buAutoNum type="arabicPeriod" startAt="3"/>
            </a:pPr>
            <a:r>
              <a:rPr lang="en-IN" sz="2400" dirty="0">
                <a:solidFill>
                  <a:schemeClr val="accent1"/>
                </a:solidFill>
              </a:rPr>
              <a:t> Automotive Controls: </a:t>
            </a:r>
            <a:r>
              <a:rPr lang="en-IN" sz="2400" dirty="0">
                <a:solidFill>
                  <a:srgbClr val="7030A0"/>
                </a:solidFill>
              </a:rPr>
              <a:t>This is the largest application field for embedded systems. It has electronic controls for engine, fuel system, windows, door, etc..  More advanced automobiles have navigation, parking assistance, cruise control, driverless cars. </a:t>
            </a:r>
            <a:endParaRPr lang="en-IN" sz="2400" dirty="0" smtClean="0">
              <a:solidFill>
                <a:srgbClr val="7030A0"/>
              </a:solidFill>
            </a:endParaRPr>
          </a:p>
          <a:p>
            <a:pPr marL="457200" indent="-195263" algn="just">
              <a:buFont typeface="+mj-lt"/>
              <a:buAutoNum type="arabicPeriod" startAt="3"/>
            </a:pPr>
            <a:r>
              <a:rPr lang="en-IN" sz="2400" dirty="0">
                <a:solidFill>
                  <a:srgbClr val="7030A0"/>
                </a:solidFill>
              </a:rPr>
              <a:t> </a:t>
            </a:r>
            <a:r>
              <a:rPr lang="en-IN" sz="2400" dirty="0">
                <a:solidFill>
                  <a:schemeClr val="accent1"/>
                </a:solidFill>
              </a:rPr>
              <a:t>Other fields </a:t>
            </a:r>
            <a:r>
              <a:rPr lang="en-IN" sz="2400" dirty="0" smtClean="0">
                <a:solidFill>
                  <a:srgbClr val="7030A0"/>
                </a:solidFill>
              </a:rPr>
              <a:t>applications are banking (ATMs, Currency Counters) Aviation and Military, Toys and Robotics. </a:t>
            </a:r>
            <a:endParaRPr lang="en-IN" sz="2400" dirty="0">
              <a:solidFill>
                <a:srgbClr val="7030A0"/>
              </a:solidFill>
            </a:endParaRPr>
          </a:p>
        </p:txBody>
      </p:sp>
      <p:sp>
        <p:nvSpPr>
          <p:cNvPr id="4" name="Date Placeholder 3"/>
          <p:cNvSpPr>
            <a:spLocks noGrp="1"/>
          </p:cNvSpPr>
          <p:nvPr>
            <p:ph type="dt" sz="half" idx="10"/>
          </p:nvPr>
        </p:nvSpPr>
        <p:spPr/>
        <p:txBody>
          <a:bodyPr/>
          <a:lstStyle/>
          <a:p>
            <a:fld id="{FD650224-748E-4A77-8151-DC822A43FEBB}" type="datetime1">
              <a:rPr lang="en-IN" smtClean="0"/>
              <a:t>23-02-2026</a:t>
            </a:fld>
            <a:endParaRPr lang="en-IN"/>
          </a:p>
        </p:txBody>
      </p:sp>
    </p:spTree>
    <p:extLst>
      <p:ext uri="{BB962C8B-B14F-4D97-AF65-F5344CB8AC3E}">
        <p14:creationId xmlns:p14="http://schemas.microsoft.com/office/powerpoint/2010/main" val="250838798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1922" y="1210919"/>
            <a:ext cx="9603275" cy="1049235"/>
          </a:xfrm>
        </p:spPr>
        <p:txBody>
          <a:bodyPr>
            <a:normAutofit/>
          </a:bodyPr>
          <a:lstStyle/>
          <a:p>
            <a:r>
              <a:rPr lang="en-IN" sz="4400" dirty="0">
                <a:solidFill>
                  <a:srgbClr val="FF0000"/>
                </a:solidFill>
              </a:rPr>
              <a:t>1V.  Embedded processors </a:t>
            </a:r>
          </a:p>
        </p:txBody>
      </p:sp>
      <p:sp>
        <p:nvSpPr>
          <p:cNvPr id="3" name="Content Placeholder 2"/>
          <p:cNvSpPr>
            <a:spLocks noGrp="1"/>
          </p:cNvSpPr>
          <p:nvPr>
            <p:ph idx="1"/>
          </p:nvPr>
        </p:nvSpPr>
        <p:spPr>
          <a:xfrm>
            <a:off x="667656" y="2044761"/>
            <a:ext cx="11016344" cy="4007697"/>
          </a:xfrm>
        </p:spPr>
        <p:txBody>
          <a:bodyPr/>
          <a:lstStyle/>
          <a:p>
            <a:pPr algn="just"/>
            <a:r>
              <a:rPr lang="en-IN" sz="2400" dirty="0" smtClean="0">
                <a:solidFill>
                  <a:srgbClr val="7030A0"/>
                </a:solidFill>
              </a:rPr>
              <a:t>The </a:t>
            </a:r>
            <a:r>
              <a:rPr lang="en-IN" sz="2400" dirty="0">
                <a:solidFill>
                  <a:srgbClr val="7030A0"/>
                </a:solidFill>
              </a:rPr>
              <a:t>important component of Embedded </a:t>
            </a:r>
            <a:r>
              <a:rPr lang="en-IN" sz="2400" dirty="0" smtClean="0">
                <a:solidFill>
                  <a:srgbClr val="7030A0"/>
                </a:solidFill>
              </a:rPr>
              <a:t>system is the embedded processor.</a:t>
            </a:r>
          </a:p>
          <a:p>
            <a:pPr algn="just"/>
            <a:r>
              <a:rPr lang="en-IN" sz="2400" dirty="0">
                <a:solidFill>
                  <a:srgbClr val="7030A0"/>
                </a:solidFill>
              </a:rPr>
              <a:t> </a:t>
            </a:r>
            <a:r>
              <a:rPr lang="en-IN" sz="2400" dirty="0" smtClean="0">
                <a:solidFill>
                  <a:srgbClr val="7030A0"/>
                </a:solidFill>
              </a:rPr>
              <a:t>When peripherals are integrated into the same package, the processing unit is usually called as </a:t>
            </a:r>
            <a:r>
              <a:rPr lang="en-IN" sz="2400" dirty="0" smtClean="0">
                <a:solidFill>
                  <a:schemeClr val="accent1"/>
                </a:solidFill>
              </a:rPr>
              <a:t>MCU (Microcontroller Control Unit). </a:t>
            </a:r>
            <a:r>
              <a:rPr lang="en-IN" sz="2400" dirty="0" smtClean="0">
                <a:solidFill>
                  <a:srgbClr val="7030A0"/>
                </a:solidFill>
              </a:rPr>
              <a:t> </a:t>
            </a:r>
          </a:p>
          <a:p>
            <a:pPr algn="just"/>
            <a:r>
              <a:rPr lang="en-IN" sz="2400" dirty="0">
                <a:solidFill>
                  <a:srgbClr val="7030A0"/>
                </a:solidFill>
              </a:rPr>
              <a:t> </a:t>
            </a:r>
            <a:r>
              <a:rPr lang="en-IN" sz="2400" dirty="0" smtClean="0">
                <a:solidFill>
                  <a:srgbClr val="7030A0"/>
                </a:solidFill>
              </a:rPr>
              <a:t>Many MCU’s are available that are classified based on their data bus widths.</a:t>
            </a:r>
          </a:p>
          <a:p>
            <a:pPr algn="just"/>
            <a:r>
              <a:rPr lang="en-IN" sz="2400" dirty="0">
                <a:solidFill>
                  <a:srgbClr val="7030A0"/>
                </a:solidFill>
              </a:rPr>
              <a:t> </a:t>
            </a:r>
            <a:r>
              <a:rPr lang="en-IN" sz="2400" dirty="0" smtClean="0">
                <a:solidFill>
                  <a:srgbClr val="7030A0"/>
                </a:solidFill>
              </a:rPr>
              <a:t>Some of the MCU names will be discussed based on their usage of specific applications and few are mentioned here.</a:t>
            </a:r>
            <a:endParaRPr lang="en-IN" sz="2400" dirty="0">
              <a:solidFill>
                <a:srgbClr val="7030A0"/>
              </a:solidFill>
            </a:endParaRPr>
          </a:p>
          <a:p>
            <a:pPr algn="just"/>
            <a:endParaRPr lang="en-IN" dirty="0"/>
          </a:p>
        </p:txBody>
      </p:sp>
      <p:sp>
        <p:nvSpPr>
          <p:cNvPr id="4" name="Date Placeholder 3"/>
          <p:cNvSpPr>
            <a:spLocks noGrp="1"/>
          </p:cNvSpPr>
          <p:nvPr>
            <p:ph type="dt" sz="half" idx="10"/>
          </p:nvPr>
        </p:nvSpPr>
        <p:spPr/>
        <p:txBody>
          <a:bodyPr/>
          <a:lstStyle/>
          <a:p>
            <a:fld id="{FD650224-748E-4A77-8151-DC822A43FEBB}" type="datetime1">
              <a:rPr lang="en-IN" smtClean="0"/>
              <a:t>23-02-2026</a:t>
            </a:fld>
            <a:endParaRPr lang="en-IN"/>
          </a:p>
        </p:txBody>
      </p:sp>
    </p:spTree>
    <p:extLst>
      <p:ext uri="{BB962C8B-B14F-4D97-AF65-F5344CB8AC3E}">
        <p14:creationId xmlns:p14="http://schemas.microsoft.com/office/powerpoint/2010/main" val="219010300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35430" y="1333559"/>
            <a:ext cx="11408228" cy="4106659"/>
          </a:xfrm>
        </p:spPr>
        <p:txBody>
          <a:bodyPr>
            <a:normAutofit/>
          </a:bodyPr>
          <a:lstStyle/>
          <a:p>
            <a:pPr marL="0" indent="0">
              <a:buNone/>
            </a:pPr>
            <a:r>
              <a:rPr lang="en-IN" sz="2400" dirty="0"/>
              <a:t>MCUs named are:</a:t>
            </a:r>
          </a:p>
          <a:p>
            <a:pPr marL="0" indent="0">
              <a:buNone/>
            </a:pPr>
            <a:r>
              <a:rPr lang="en-IN" dirty="0"/>
              <a:t> </a:t>
            </a:r>
            <a:r>
              <a:rPr lang="en-IN" sz="2400" dirty="0">
                <a:solidFill>
                  <a:schemeClr val="accent1"/>
                </a:solidFill>
              </a:rPr>
              <a:t>*</a:t>
            </a:r>
            <a:r>
              <a:rPr lang="en-IN" sz="2400" dirty="0" smtClean="0">
                <a:solidFill>
                  <a:schemeClr val="accent1"/>
                </a:solidFill>
              </a:rPr>
              <a:t> </a:t>
            </a:r>
            <a:r>
              <a:rPr lang="en-IN" sz="2400" dirty="0">
                <a:solidFill>
                  <a:schemeClr val="accent1"/>
                </a:solidFill>
              </a:rPr>
              <a:t>8 </a:t>
            </a:r>
            <a:r>
              <a:rPr lang="en-IN" sz="2400" dirty="0" smtClean="0">
                <a:solidFill>
                  <a:schemeClr val="accent1"/>
                </a:solidFill>
              </a:rPr>
              <a:t>Bit : </a:t>
            </a:r>
            <a:r>
              <a:rPr lang="en-IN" sz="2400" dirty="0">
                <a:solidFill>
                  <a:srgbClr val="7030A0"/>
                </a:solidFill>
              </a:rPr>
              <a:t>8051, </a:t>
            </a:r>
            <a:r>
              <a:rPr lang="en-IN" sz="2400" dirty="0" smtClean="0">
                <a:solidFill>
                  <a:srgbClr val="7030A0"/>
                </a:solidFill>
              </a:rPr>
              <a:t>PIC</a:t>
            </a:r>
            <a:r>
              <a:rPr lang="en-IN" sz="2400" dirty="0"/>
              <a:t> </a:t>
            </a:r>
            <a:r>
              <a:rPr lang="en-IN" sz="2400" dirty="0" smtClean="0"/>
              <a:t>(Peripheral </a:t>
            </a:r>
            <a:r>
              <a:rPr lang="en-IN" sz="2400" dirty="0"/>
              <a:t>Interface </a:t>
            </a:r>
            <a:r>
              <a:rPr lang="en-IN" sz="2400" dirty="0" smtClean="0"/>
              <a:t>Controller)</a:t>
            </a:r>
            <a:r>
              <a:rPr lang="en-IN" sz="2400" dirty="0" smtClean="0">
                <a:solidFill>
                  <a:srgbClr val="7030A0"/>
                </a:solidFill>
              </a:rPr>
              <a:t> </a:t>
            </a:r>
            <a:r>
              <a:rPr lang="en-IN" sz="2400" dirty="0">
                <a:solidFill>
                  <a:srgbClr val="7030A0"/>
                </a:solidFill>
              </a:rPr>
              <a:t>and the </a:t>
            </a:r>
            <a:r>
              <a:rPr lang="en-IN" sz="2400" dirty="0" smtClean="0">
                <a:solidFill>
                  <a:srgbClr val="7030A0"/>
                </a:solidFill>
              </a:rPr>
              <a:t>AVR(</a:t>
            </a:r>
            <a:r>
              <a:rPr lang="en-US" sz="2400" dirty="0"/>
              <a:t>Alf and Vegard’s RISC </a:t>
            </a:r>
            <a:r>
              <a:rPr lang="en-US" sz="2400" dirty="0" smtClean="0"/>
              <a:t>processor)</a:t>
            </a:r>
            <a:r>
              <a:rPr lang="en-IN" sz="2400" dirty="0" smtClean="0">
                <a:solidFill>
                  <a:srgbClr val="7030A0"/>
                </a:solidFill>
              </a:rPr>
              <a:t> </a:t>
            </a:r>
            <a:r>
              <a:rPr lang="en-IN" sz="2400" dirty="0">
                <a:solidFill>
                  <a:srgbClr val="7030A0"/>
                </a:solidFill>
              </a:rPr>
              <a:t>series are a few of the MCUs with 8-bit data bus width. </a:t>
            </a:r>
            <a:r>
              <a:rPr lang="en-IN" sz="2400" dirty="0" smtClean="0">
                <a:solidFill>
                  <a:srgbClr val="7030A0"/>
                </a:solidFill>
              </a:rPr>
              <a:t> They are popular in the academic field and for applications which do not need high-level computations.</a:t>
            </a:r>
          </a:p>
          <a:p>
            <a:pPr marL="0" indent="0">
              <a:buNone/>
            </a:pPr>
            <a:endParaRPr lang="en-IN" sz="2400" dirty="0" smtClean="0">
              <a:solidFill>
                <a:srgbClr val="7030A0"/>
              </a:solidFill>
            </a:endParaRPr>
          </a:p>
          <a:p>
            <a:pPr marL="0" indent="0">
              <a:buNone/>
            </a:pPr>
            <a:r>
              <a:rPr lang="en-IN" sz="2400" dirty="0">
                <a:solidFill>
                  <a:schemeClr val="accent1"/>
                </a:solidFill>
              </a:rPr>
              <a:t>* </a:t>
            </a:r>
            <a:r>
              <a:rPr lang="en-IN" sz="2400" dirty="0" smtClean="0">
                <a:solidFill>
                  <a:schemeClr val="accent1"/>
                </a:solidFill>
              </a:rPr>
              <a:t>16 </a:t>
            </a:r>
            <a:r>
              <a:rPr lang="en-IN" sz="2400" dirty="0">
                <a:solidFill>
                  <a:schemeClr val="accent1"/>
                </a:solidFill>
              </a:rPr>
              <a:t>Bit : </a:t>
            </a:r>
            <a:r>
              <a:rPr lang="en-IN" sz="2400" dirty="0">
                <a:solidFill>
                  <a:srgbClr val="7030A0"/>
                </a:solidFill>
              </a:rPr>
              <a:t>PIC and AVR series have 16-Bit chips as well. A very low power 16-Bits MCU is the MSP 430 which has become very popular in medical and other low power devices</a:t>
            </a:r>
            <a:r>
              <a:rPr lang="en-IN" sz="2400" dirty="0" smtClean="0">
                <a:solidFill>
                  <a:srgbClr val="7030A0"/>
                </a:solidFill>
              </a:rPr>
              <a:t>.</a:t>
            </a:r>
            <a:endParaRPr lang="en-IN" sz="2400" dirty="0">
              <a:solidFill>
                <a:srgbClr val="7030A0"/>
              </a:solidFill>
            </a:endParaRPr>
          </a:p>
        </p:txBody>
      </p:sp>
      <p:sp>
        <p:nvSpPr>
          <p:cNvPr id="4" name="Date Placeholder 3"/>
          <p:cNvSpPr>
            <a:spLocks noGrp="1"/>
          </p:cNvSpPr>
          <p:nvPr>
            <p:ph type="dt" sz="half" idx="10"/>
          </p:nvPr>
        </p:nvSpPr>
        <p:spPr/>
        <p:txBody>
          <a:bodyPr/>
          <a:lstStyle/>
          <a:p>
            <a:fld id="{FD650224-748E-4A77-8151-DC822A43FEBB}" type="datetime1">
              <a:rPr lang="en-IN" smtClean="0"/>
              <a:t>23-02-2026</a:t>
            </a:fld>
            <a:endParaRPr lang="en-IN"/>
          </a:p>
        </p:txBody>
      </p:sp>
    </p:spTree>
    <p:extLst>
      <p:ext uri="{BB962C8B-B14F-4D97-AF65-F5344CB8AC3E}">
        <p14:creationId xmlns:p14="http://schemas.microsoft.com/office/powerpoint/2010/main" val="297686728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35430" y="1333559"/>
            <a:ext cx="11408228" cy="4835012"/>
          </a:xfrm>
        </p:spPr>
        <p:txBody>
          <a:bodyPr>
            <a:normAutofit/>
          </a:bodyPr>
          <a:lstStyle/>
          <a:p>
            <a:pPr marL="0" indent="0">
              <a:buNone/>
            </a:pPr>
            <a:r>
              <a:rPr lang="en-IN" sz="2400" dirty="0"/>
              <a:t>MCUs named are:</a:t>
            </a:r>
          </a:p>
          <a:p>
            <a:pPr marL="0" indent="0">
              <a:buNone/>
            </a:pPr>
            <a:r>
              <a:rPr lang="en-IN" sz="2400" dirty="0" smtClean="0">
                <a:solidFill>
                  <a:schemeClr val="accent1"/>
                </a:solidFill>
              </a:rPr>
              <a:t>* 32 and 64 Bit:  </a:t>
            </a:r>
            <a:r>
              <a:rPr lang="en-IN" sz="2400" dirty="0" smtClean="0">
                <a:solidFill>
                  <a:srgbClr val="7030A0"/>
                </a:solidFill>
              </a:rPr>
              <a:t>ARM </a:t>
            </a:r>
            <a:r>
              <a:rPr lang="en-IN" sz="2400" dirty="0">
                <a:solidFill>
                  <a:srgbClr val="7030A0"/>
                </a:solidFill>
              </a:rPr>
              <a:t>is the most popular of the 32-bit MCUs, though there are many 32 PIC versions as well. Newest version of ARM for </a:t>
            </a:r>
            <a:r>
              <a:rPr lang="en-IN" sz="2400" dirty="0" smtClean="0">
                <a:solidFill>
                  <a:srgbClr val="7030A0"/>
                </a:solidFill>
              </a:rPr>
              <a:t>advanced </a:t>
            </a:r>
            <a:r>
              <a:rPr lang="en-IN" sz="2400" dirty="0">
                <a:solidFill>
                  <a:srgbClr val="7030A0"/>
                </a:solidFill>
              </a:rPr>
              <a:t>applications are all 64 bit. Intel has developed 32 and 64 bit Atom and Quark processors that have started incorporating embedded systems. </a:t>
            </a:r>
          </a:p>
        </p:txBody>
      </p:sp>
      <p:sp>
        <p:nvSpPr>
          <p:cNvPr id="4" name="Date Placeholder 3"/>
          <p:cNvSpPr>
            <a:spLocks noGrp="1"/>
          </p:cNvSpPr>
          <p:nvPr>
            <p:ph type="dt" sz="half" idx="10"/>
          </p:nvPr>
        </p:nvSpPr>
        <p:spPr/>
        <p:txBody>
          <a:bodyPr/>
          <a:lstStyle/>
          <a:p>
            <a:fld id="{FD650224-748E-4A77-8151-DC822A43FEBB}" type="datetime1">
              <a:rPr lang="en-IN" smtClean="0"/>
              <a:t>23-02-2026</a:t>
            </a:fld>
            <a:endParaRPr lang="en-IN"/>
          </a:p>
        </p:txBody>
      </p:sp>
    </p:spTree>
    <p:extLst>
      <p:ext uri="{BB962C8B-B14F-4D97-AF65-F5344CB8AC3E}">
        <p14:creationId xmlns:p14="http://schemas.microsoft.com/office/powerpoint/2010/main" val="223702001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51579" y="1167376"/>
            <a:ext cx="9603275" cy="1049235"/>
          </a:xfrm>
        </p:spPr>
        <p:txBody>
          <a:bodyPr>
            <a:normAutofit/>
          </a:bodyPr>
          <a:lstStyle/>
          <a:p>
            <a:r>
              <a:rPr lang="en-IN" sz="4400" dirty="0">
                <a:solidFill>
                  <a:srgbClr val="FF0000"/>
                </a:solidFill>
              </a:rPr>
              <a:t>V. Operating </a:t>
            </a:r>
            <a:r>
              <a:rPr lang="en-IN" sz="4400" dirty="0" smtClean="0">
                <a:solidFill>
                  <a:srgbClr val="FF0000"/>
                </a:solidFill>
              </a:rPr>
              <a:t>system (OS)</a:t>
            </a:r>
            <a:endParaRPr lang="en-IN" sz="4400" dirty="0">
              <a:solidFill>
                <a:srgbClr val="FF0000"/>
              </a:solidFill>
            </a:endParaRPr>
          </a:p>
        </p:txBody>
      </p:sp>
      <p:sp>
        <p:nvSpPr>
          <p:cNvPr id="3" name="Content Placeholder 2"/>
          <p:cNvSpPr>
            <a:spLocks noGrp="1"/>
          </p:cNvSpPr>
          <p:nvPr>
            <p:ph idx="1"/>
          </p:nvPr>
        </p:nvSpPr>
        <p:spPr>
          <a:xfrm>
            <a:off x="377371" y="1914129"/>
            <a:ext cx="11524343" cy="3978668"/>
          </a:xfrm>
        </p:spPr>
        <p:txBody>
          <a:bodyPr>
            <a:normAutofit/>
          </a:bodyPr>
          <a:lstStyle/>
          <a:p>
            <a:r>
              <a:rPr lang="en-US" sz="2400" dirty="0" smtClean="0">
                <a:solidFill>
                  <a:srgbClr val="7030A0"/>
                </a:solidFill>
              </a:rPr>
              <a:t>An </a:t>
            </a:r>
            <a:r>
              <a:rPr lang="en-US" sz="2400" dirty="0">
                <a:solidFill>
                  <a:srgbClr val="7030A0"/>
                </a:solidFill>
              </a:rPr>
              <a:t>Operating System (OS) is </a:t>
            </a:r>
            <a:r>
              <a:rPr lang="en-US" sz="2400" dirty="0" smtClean="0">
                <a:solidFill>
                  <a:srgbClr val="7030A0"/>
                </a:solidFill>
              </a:rPr>
              <a:t>a system </a:t>
            </a:r>
            <a:r>
              <a:rPr lang="en-US" sz="2400" dirty="0">
                <a:solidFill>
                  <a:srgbClr val="7030A0"/>
                </a:solidFill>
              </a:rPr>
              <a:t>software that acts as an interface between the user and computer hardware.</a:t>
            </a:r>
            <a:endParaRPr lang="en-IN" sz="2400" dirty="0">
              <a:solidFill>
                <a:srgbClr val="7030A0"/>
              </a:solidFill>
            </a:endParaRPr>
          </a:p>
          <a:p>
            <a:r>
              <a:rPr lang="en-IN" sz="2400" dirty="0" smtClean="0">
                <a:solidFill>
                  <a:srgbClr val="7030A0"/>
                </a:solidFill>
              </a:rPr>
              <a:t>An OS is </a:t>
            </a:r>
            <a:r>
              <a:rPr lang="en-IN" sz="2400" dirty="0">
                <a:solidFill>
                  <a:srgbClr val="7030A0"/>
                </a:solidFill>
              </a:rPr>
              <a:t>a</a:t>
            </a:r>
            <a:r>
              <a:rPr lang="en-IN" sz="2400" dirty="0" smtClean="0">
                <a:solidFill>
                  <a:srgbClr val="7030A0"/>
                </a:solidFill>
              </a:rPr>
              <a:t> software which acts as the manager of the system. </a:t>
            </a:r>
          </a:p>
          <a:p>
            <a:r>
              <a:rPr lang="en-IN" sz="2400" dirty="0">
                <a:solidFill>
                  <a:srgbClr val="7030A0"/>
                </a:solidFill>
              </a:rPr>
              <a:t> </a:t>
            </a:r>
            <a:r>
              <a:rPr lang="en-IN" sz="2400" dirty="0" smtClean="0">
                <a:solidFill>
                  <a:srgbClr val="7030A0"/>
                </a:solidFill>
              </a:rPr>
              <a:t>As phone does many tasks, managing the task set efficiently by assigning priorities where necessary and avoiding conflicts is the role of the manager and OS does this efficiently.</a:t>
            </a:r>
          </a:p>
          <a:p>
            <a:r>
              <a:rPr lang="en-IN" sz="2400" dirty="0">
                <a:solidFill>
                  <a:srgbClr val="7030A0"/>
                </a:solidFill>
              </a:rPr>
              <a:t> </a:t>
            </a:r>
            <a:r>
              <a:rPr lang="en-IN" sz="2400" dirty="0" smtClean="0">
                <a:solidFill>
                  <a:srgbClr val="7030A0"/>
                </a:solidFill>
              </a:rPr>
              <a:t>Such OS are embedded Operating Systems and they have to be small enough to reside inside the small ROM space available in the device. </a:t>
            </a:r>
            <a:endParaRPr lang="en-IN" sz="2400" dirty="0">
              <a:solidFill>
                <a:srgbClr val="7030A0"/>
              </a:solidFill>
            </a:endParaRPr>
          </a:p>
        </p:txBody>
      </p:sp>
      <p:sp>
        <p:nvSpPr>
          <p:cNvPr id="4" name="Date Placeholder 3"/>
          <p:cNvSpPr>
            <a:spLocks noGrp="1"/>
          </p:cNvSpPr>
          <p:nvPr>
            <p:ph type="dt" sz="half" idx="10"/>
          </p:nvPr>
        </p:nvSpPr>
        <p:spPr/>
        <p:txBody>
          <a:bodyPr/>
          <a:lstStyle/>
          <a:p>
            <a:fld id="{FD650224-748E-4A77-8151-DC822A43FEBB}" type="datetime1">
              <a:rPr lang="en-IN" smtClean="0"/>
              <a:t>23-02-2026</a:t>
            </a:fld>
            <a:endParaRPr lang="en-IN"/>
          </a:p>
        </p:txBody>
      </p:sp>
    </p:spTree>
    <p:extLst>
      <p:ext uri="{BB962C8B-B14F-4D97-AF65-F5344CB8AC3E}">
        <p14:creationId xmlns:p14="http://schemas.microsoft.com/office/powerpoint/2010/main" val="202103412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88686" y="1812536"/>
            <a:ext cx="11785600" cy="4254435"/>
          </a:xfrm>
        </p:spPr>
        <p:txBody>
          <a:bodyPr>
            <a:normAutofit fontScale="92500"/>
          </a:bodyPr>
          <a:lstStyle/>
          <a:p>
            <a:r>
              <a:rPr lang="en-IN" dirty="0" smtClean="0"/>
              <a:t> </a:t>
            </a:r>
            <a:r>
              <a:rPr lang="en-IN" sz="2400" dirty="0">
                <a:solidFill>
                  <a:srgbClr val="7030A0"/>
                </a:solidFill>
              </a:rPr>
              <a:t>Some embedded applications are time critical, such as ABS (</a:t>
            </a:r>
            <a:r>
              <a:rPr lang="en-IN" sz="2400" dirty="0" smtClean="0">
                <a:solidFill>
                  <a:srgbClr val="7030A0"/>
                </a:solidFill>
              </a:rPr>
              <a:t>Anti-lock Braking </a:t>
            </a:r>
            <a:r>
              <a:rPr lang="en-IN" sz="2400" dirty="0">
                <a:solidFill>
                  <a:srgbClr val="7030A0"/>
                </a:solidFill>
              </a:rPr>
              <a:t>System) in cars. </a:t>
            </a:r>
            <a:endParaRPr lang="en-IN" sz="2400" dirty="0" smtClean="0">
              <a:solidFill>
                <a:srgbClr val="7030A0"/>
              </a:solidFill>
            </a:endParaRPr>
          </a:p>
          <a:p>
            <a:r>
              <a:rPr lang="en-IN" sz="2400" dirty="0">
                <a:solidFill>
                  <a:srgbClr val="7030A0"/>
                </a:solidFill>
              </a:rPr>
              <a:t> </a:t>
            </a:r>
            <a:r>
              <a:rPr lang="en-IN" sz="2400" dirty="0" smtClean="0">
                <a:solidFill>
                  <a:srgbClr val="7030A0"/>
                </a:solidFill>
              </a:rPr>
              <a:t>Even soft drink vending machine works on deadline, which the application has to produce the correct result.</a:t>
            </a:r>
          </a:p>
          <a:p>
            <a:r>
              <a:rPr lang="en-IN" sz="2400" dirty="0">
                <a:solidFill>
                  <a:srgbClr val="7030A0"/>
                </a:solidFill>
              </a:rPr>
              <a:t> </a:t>
            </a:r>
            <a:r>
              <a:rPr lang="en-IN" sz="2400" dirty="0" smtClean="0">
                <a:solidFill>
                  <a:srgbClr val="7030A0"/>
                </a:solidFill>
              </a:rPr>
              <a:t>If not, we say that the system failure has occurred.</a:t>
            </a:r>
          </a:p>
          <a:p>
            <a:r>
              <a:rPr lang="en-IN" sz="2400" dirty="0">
                <a:solidFill>
                  <a:srgbClr val="7030A0"/>
                </a:solidFill>
              </a:rPr>
              <a:t> </a:t>
            </a:r>
            <a:r>
              <a:rPr lang="en-IN" sz="2400" dirty="0" smtClean="0">
                <a:solidFill>
                  <a:srgbClr val="7030A0"/>
                </a:solidFill>
              </a:rPr>
              <a:t>In order to manage that, it needs RTOS (Real Time Operating System) which imposes and ensures the timing criterion. </a:t>
            </a:r>
          </a:p>
          <a:p>
            <a:r>
              <a:rPr lang="en-IN" sz="2400" dirty="0" smtClean="0">
                <a:solidFill>
                  <a:srgbClr val="7030A0"/>
                </a:solidFill>
              </a:rPr>
              <a:t>An RTOS uses deadline-based task scheduling algorithm. </a:t>
            </a:r>
          </a:p>
          <a:p>
            <a:r>
              <a:rPr lang="en-IN" sz="2400" dirty="0" smtClean="0">
                <a:solidFill>
                  <a:srgbClr val="7030A0"/>
                </a:solidFill>
              </a:rPr>
              <a:t>So, most of the embedded systems around us is managed and controlled by RTOS. </a:t>
            </a:r>
            <a:endParaRPr lang="en-IN" sz="2400" dirty="0">
              <a:solidFill>
                <a:srgbClr val="7030A0"/>
              </a:solidFill>
            </a:endParaRPr>
          </a:p>
        </p:txBody>
      </p:sp>
      <p:sp>
        <p:nvSpPr>
          <p:cNvPr id="4" name="Date Placeholder 3"/>
          <p:cNvSpPr>
            <a:spLocks noGrp="1"/>
          </p:cNvSpPr>
          <p:nvPr>
            <p:ph type="dt" sz="half" idx="10"/>
          </p:nvPr>
        </p:nvSpPr>
        <p:spPr/>
        <p:txBody>
          <a:bodyPr/>
          <a:lstStyle/>
          <a:p>
            <a:fld id="{FD650224-748E-4A77-8151-DC822A43FEBB}" type="datetime1">
              <a:rPr lang="en-IN" smtClean="0"/>
              <a:t>23-02-2026</a:t>
            </a:fld>
            <a:endParaRPr lang="en-IN"/>
          </a:p>
        </p:txBody>
      </p:sp>
    </p:spTree>
    <p:extLst>
      <p:ext uri="{BB962C8B-B14F-4D97-AF65-F5344CB8AC3E}">
        <p14:creationId xmlns:p14="http://schemas.microsoft.com/office/powerpoint/2010/main" val="286234710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51578" y="1196405"/>
            <a:ext cx="9603275" cy="1049235"/>
          </a:xfrm>
        </p:spPr>
        <p:txBody>
          <a:bodyPr>
            <a:normAutofit/>
          </a:bodyPr>
          <a:lstStyle/>
          <a:p>
            <a:r>
              <a:rPr lang="en-IN" sz="4400" dirty="0">
                <a:solidFill>
                  <a:srgbClr val="FF0000"/>
                </a:solidFill>
              </a:rPr>
              <a:t>VI. Connectivity </a:t>
            </a:r>
          </a:p>
        </p:txBody>
      </p:sp>
      <p:sp>
        <p:nvSpPr>
          <p:cNvPr id="3" name="Content Placeholder 2"/>
          <p:cNvSpPr>
            <a:spLocks noGrp="1"/>
          </p:cNvSpPr>
          <p:nvPr>
            <p:ph idx="1"/>
          </p:nvPr>
        </p:nvSpPr>
        <p:spPr>
          <a:xfrm>
            <a:off x="89729" y="1899618"/>
            <a:ext cx="7300686" cy="3354553"/>
          </a:xfrm>
        </p:spPr>
        <p:txBody>
          <a:bodyPr>
            <a:normAutofit/>
          </a:bodyPr>
          <a:lstStyle/>
          <a:p>
            <a:pPr algn="just"/>
            <a:r>
              <a:rPr lang="en-IN" dirty="0" smtClean="0"/>
              <a:t> </a:t>
            </a:r>
            <a:r>
              <a:rPr lang="en-IN" sz="2400" dirty="0" smtClean="0">
                <a:solidFill>
                  <a:srgbClr val="7030A0"/>
                </a:solidFill>
              </a:rPr>
              <a:t>We </a:t>
            </a:r>
            <a:r>
              <a:rPr lang="en-IN" sz="2400" dirty="0">
                <a:solidFill>
                  <a:srgbClr val="7030A0"/>
                </a:solidFill>
              </a:rPr>
              <a:t>use various protocols for communications. </a:t>
            </a:r>
          </a:p>
          <a:p>
            <a:pPr algn="just"/>
            <a:r>
              <a:rPr lang="en-IN" sz="2400" dirty="0" smtClean="0">
                <a:solidFill>
                  <a:srgbClr val="7030A0"/>
                </a:solidFill>
              </a:rPr>
              <a:t>The </a:t>
            </a:r>
            <a:r>
              <a:rPr lang="en-IN" sz="2400" dirty="0">
                <a:solidFill>
                  <a:srgbClr val="7030A0"/>
                </a:solidFill>
              </a:rPr>
              <a:t>idea of connectivity between devices without human intervention. </a:t>
            </a:r>
          </a:p>
          <a:p>
            <a:pPr algn="just"/>
            <a:r>
              <a:rPr lang="en-IN" sz="2400" dirty="0">
                <a:solidFill>
                  <a:srgbClr val="7030A0"/>
                </a:solidFill>
              </a:rPr>
              <a:t> The expectation is </a:t>
            </a:r>
            <a:r>
              <a:rPr lang="en-IN" sz="2400" dirty="0" smtClean="0">
                <a:solidFill>
                  <a:srgbClr val="7030A0"/>
                </a:solidFill>
              </a:rPr>
              <a:t>all </a:t>
            </a:r>
            <a:r>
              <a:rPr lang="en-IN" sz="2400" dirty="0">
                <a:solidFill>
                  <a:srgbClr val="7030A0"/>
                </a:solidFill>
              </a:rPr>
              <a:t>devices will be connected through the internet and that many functions will be able to function efficiently without human intervention. </a:t>
            </a:r>
          </a:p>
          <a:p>
            <a:endParaRPr lang="en-IN" dirty="0"/>
          </a:p>
        </p:txBody>
      </p:sp>
      <p:sp>
        <p:nvSpPr>
          <p:cNvPr id="4" name="Date Placeholder 3"/>
          <p:cNvSpPr>
            <a:spLocks noGrp="1"/>
          </p:cNvSpPr>
          <p:nvPr>
            <p:ph type="dt" sz="half" idx="10"/>
          </p:nvPr>
        </p:nvSpPr>
        <p:spPr/>
        <p:txBody>
          <a:bodyPr/>
          <a:lstStyle/>
          <a:p>
            <a:fld id="{FD650224-748E-4A77-8151-DC822A43FEBB}" type="datetime1">
              <a:rPr lang="en-IN" smtClean="0"/>
              <a:t>23-02-2026</a:t>
            </a:fld>
            <a:endParaRPr lang="en-IN"/>
          </a:p>
        </p:txBody>
      </p:sp>
      <p:pic>
        <p:nvPicPr>
          <p:cNvPr id="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90415" y="2026292"/>
            <a:ext cx="4717143" cy="296091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TextBox 6"/>
          <p:cNvSpPr txBox="1"/>
          <p:nvPr/>
        </p:nvSpPr>
        <p:spPr>
          <a:xfrm>
            <a:off x="89729" y="5254171"/>
            <a:ext cx="12102271" cy="523220"/>
          </a:xfrm>
          <a:prstGeom prst="rect">
            <a:avLst/>
          </a:prstGeom>
          <a:noFill/>
        </p:spPr>
        <p:txBody>
          <a:bodyPr wrap="square" rtlCol="0">
            <a:spAutoFit/>
          </a:bodyPr>
          <a:lstStyle/>
          <a:p>
            <a:r>
              <a:rPr lang="en-IN" sz="2800" dirty="0" smtClean="0">
                <a:solidFill>
                  <a:srgbClr val="0070C0"/>
                </a:solidFill>
              </a:rPr>
              <a:t>This expectation  is the motivation behind the idea named </a:t>
            </a:r>
            <a:r>
              <a:rPr lang="en-IN" sz="2800" dirty="0" smtClean="0">
                <a:solidFill>
                  <a:schemeClr val="accent1">
                    <a:lumMod val="50000"/>
                  </a:schemeClr>
                </a:solidFill>
              </a:rPr>
              <a:t>Internet of Things (</a:t>
            </a:r>
            <a:r>
              <a:rPr lang="en-IN" sz="2800" dirty="0" err="1" smtClean="0">
                <a:solidFill>
                  <a:schemeClr val="accent1">
                    <a:lumMod val="50000"/>
                  </a:schemeClr>
                </a:solidFill>
              </a:rPr>
              <a:t>IoT</a:t>
            </a:r>
            <a:r>
              <a:rPr lang="en-IN" sz="2800" dirty="0" smtClean="0">
                <a:solidFill>
                  <a:schemeClr val="accent1">
                    <a:lumMod val="50000"/>
                  </a:schemeClr>
                </a:solidFill>
              </a:rPr>
              <a:t>)</a:t>
            </a:r>
            <a:endParaRPr lang="en-IN" sz="2800" dirty="0">
              <a:solidFill>
                <a:schemeClr val="accent1">
                  <a:lumMod val="50000"/>
                </a:schemeClr>
              </a:solidFill>
            </a:endParaRPr>
          </a:p>
        </p:txBody>
      </p:sp>
    </p:spTree>
    <p:extLst>
      <p:ext uri="{BB962C8B-B14F-4D97-AF65-F5344CB8AC3E}">
        <p14:creationId xmlns:p14="http://schemas.microsoft.com/office/powerpoint/2010/main" val="258856099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51579" y="1298005"/>
            <a:ext cx="9603275" cy="1049235"/>
          </a:xfrm>
        </p:spPr>
        <p:txBody>
          <a:bodyPr>
            <a:normAutofit/>
          </a:bodyPr>
          <a:lstStyle/>
          <a:p>
            <a:r>
              <a:rPr lang="en-IN" sz="2800" dirty="0" smtClean="0">
                <a:solidFill>
                  <a:srgbClr val="C00000"/>
                </a:solidFill>
              </a:rPr>
              <a:t>Internet of things (</a:t>
            </a:r>
            <a:r>
              <a:rPr lang="en-IN" sz="2800" dirty="0" err="1" smtClean="0">
                <a:solidFill>
                  <a:srgbClr val="C00000"/>
                </a:solidFill>
              </a:rPr>
              <a:t>IoT</a:t>
            </a:r>
            <a:r>
              <a:rPr lang="en-IN" sz="2800" dirty="0" smtClean="0">
                <a:solidFill>
                  <a:srgbClr val="C00000"/>
                </a:solidFill>
              </a:rPr>
              <a:t>)</a:t>
            </a:r>
            <a:endParaRPr lang="en-IN" sz="2800" dirty="0">
              <a:solidFill>
                <a:srgbClr val="C00000"/>
              </a:solidFill>
            </a:endParaRPr>
          </a:p>
        </p:txBody>
      </p:sp>
      <p:sp>
        <p:nvSpPr>
          <p:cNvPr id="3" name="Content Placeholder 2"/>
          <p:cNvSpPr>
            <a:spLocks noGrp="1"/>
          </p:cNvSpPr>
          <p:nvPr>
            <p:ph idx="1"/>
          </p:nvPr>
        </p:nvSpPr>
        <p:spPr>
          <a:xfrm>
            <a:off x="246743" y="2015732"/>
            <a:ext cx="11785600" cy="3935125"/>
          </a:xfrm>
        </p:spPr>
        <p:txBody>
          <a:bodyPr/>
          <a:lstStyle/>
          <a:p>
            <a:r>
              <a:rPr lang="en-IN" dirty="0" smtClean="0"/>
              <a:t> </a:t>
            </a:r>
            <a:r>
              <a:rPr lang="en-IN" sz="2400" dirty="0" err="1">
                <a:solidFill>
                  <a:srgbClr val="7030A0"/>
                </a:solidFill>
              </a:rPr>
              <a:t>IoT</a:t>
            </a:r>
            <a:r>
              <a:rPr lang="en-IN" sz="2400" dirty="0">
                <a:solidFill>
                  <a:srgbClr val="7030A0"/>
                </a:solidFill>
              </a:rPr>
              <a:t> is the scheme of things where devices are connected to the internet and sensor data may be uploaded to the web</a:t>
            </a:r>
            <a:r>
              <a:rPr lang="en-IN" sz="2400" dirty="0" smtClean="0">
                <a:solidFill>
                  <a:srgbClr val="7030A0"/>
                </a:solidFill>
              </a:rPr>
              <a:t>.</a:t>
            </a:r>
          </a:p>
          <a:p>
            <a:r>
              <a:rPr lang="en-IN" sz="2400" dirty="0" smtClean="0">
                <a:solidFill>
                  <a:srgbClr val="7030A0"/>
                </a:solidFill>
              </a:rPr>
              <a:t>Later these data can be used by the system to make actuations, ideally, without human intervention.</a:t>
            </a:r>
          </a:p>
          <a:p>
            <a:r>
              <a:rPr lang="en-IN" sz="2400" dirty="0" smtClean="0">
                <a:solidFill>
                  <a:srgbClr val="7030A0"/>
                </a:solidFill>
              </a:rPr>
              <a:t>Smart homes, smart cities, smart cars, smart factories etc. are some of the examples </a:t>
            </a:r>
            <a:r>
              <a:rPr lang="en-IN" sz="2400" dirty="0" err="1" smtClean="0">
                <a:solidFill>
                  <a:srgbClr val="7030A0"/>
                </a:solidFill>
              </a:rPr>
              <a:t>IoT</a:t>
            </a:r>
            <a:endParaRPr lang="en-IN" sz="2400" dirty="0" smtClean="0">
              <a:solidFill>
                <a:srgbClr val="7030A0"/>
              </a:solidFill>
            </a:endParaRPr>
          </a:p>
          <a:p>
            <a:r>
              <a:rPr lang="en-IN" sz="2400" dirty="0" smtClean="0">
                <a:solidFill>
                  <a:srgbClr val="7030A0"/>
                </a:solidFill>
              </a:rPr>
              <a:t>All the </a:t>
            </a:r>
            <a:r>
              <a:rPr lang="en-IN" sz="2400" dirty="0" err="1" smtClean="0">
                <a:solidFill>
                  <a:srgbClr val="7030A0"/>
                </a:solidFill>
              </a:rPr>
              <a:t>IoT</a:t>
            </a:r>
            <a:r>
              <a:rPr lang="en-IN" sz="2400" dirty="0" smtClean="0">
                <a:solidFill>
                  <a:srgbClr val="7030A0"/>
                </a:solidFill>
              </a:rPr>
              <a:t> based devices need  internet connectivity and so Wi-Fi and/or Ethernet protocols will become necessity. </a:t>
            </a:r>
            <a:endParaRPr lang="en-IN" sz="2400" dirty="0">
              <a:solidFill>
                <a:srgbClr val="7030A0"/>
              </a:solidFill>
            </a:endParaRPr>
          </a:p>
        </p:txBody>
      </p:sp>
      <p:sp>
        <p:nvSpPr>
          <p:cNvPr id="4" name="Date Placeholder 3"/>
          <p:cNvSpPr>
            <a:spLocks noGrp="1"/>
          </p:cNvSpPr>
          <p:nvPr>
            <p:ph type="dt" sz="half" idx="10"/>
          </p:nvPr>
        </p:nvSpPr>
        <p:spPr/>
        <p:txBody>
          <a:bodyPr/>
          <a:lstStyle/>
          <a:p>
            <a:fld id="{FD650224-748E-4A77-8151-DC822A43FEBB}" type="datetime1">
              <a:rPr lang="en-IN" smtClean="0"/>
              <a:t>23-02-2026</a:t>
            </a:fld>
            <a:endParaRPr lang="en-IN"/>
          </a:p>
        </p:txBody>
      </p:sp>
    </p:spTree>
    <p:extLst>
      <p:ext uri="{BB962C8B-B14F-4D97-AF65-F5344CB8AC3E}">
        <p14:creationId xmlns:p14="http://schemas.microsoft.com/office/powerpoint/2010/main" val="129267676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7372" y="1268976"/>
            <a:ext cx="11132457" cy="1049235"/>
          </a:xfrm>
        </p:spPr>
        <p:txBody>
          <a:bodyPr>
            <a:normAutofit/>
          </a:bodyPr>
          <a:lstStyle/>
          <a:p>
            <a:r>
              <a:rPr lang="en-IN" sz="2400" dirty="0" smtClean="0"/>
              <a:t>The most important features of </a:t>
            </a:r>
            <a:r>
              <a:rPr lang="en-IN" sz="2400" dirty="0" err="1" smtClean="0"/>
              <a:t>iot</a:t>
            </a:r>
            <a:r>
              <a:rPr lang="en-IN" sz="2400" dirty="0" smtClean="0"/>
              <a:t>-based systems may be listed as:</a:t>
            </a:r>
            <a:endParaRPr lang="en-IN" sz="2400" dirty="0"/>
          </a:p>
        </p:txBody>
      </p:sp>
      <p:sp>
        <p:nvSpPr>
          <p:cNvPr id="3" name="Content Placeholder 2"/>
          <p:cNvSpPr>
            <a:spLocks noGrp="1"/>
          </p:cNvSpPr>
          <p:nvPr>
            <p:ph idx="1"/>
          </p:nvPr>
        </p:nvSpPr>
        <p:spPr>
          <a:xfrm>
            <a:off x="812800" y="2015732"/>
            <a:ext cx="6197600" cy="3450613"/>
          </a:xfrm>
        </p:spPr>
        <p:txBody>
          <a:bodyPr/>
          <a:lstStyle/>
          <a:p>
            <a:r>
              <a:rPr lang="en-IN" dirty="0" smtClean="0"/>
              <a:t> </a:t>
            </a:r>
            <a:r>
              <a:rPr lang="en-IN" sz="2400" dirty="0">
                <a:solidFill>
                  <a:srgbClr val="7030A0"/>
                </a:solidFill>
              </a:rPr>
              <a:t>Sensing &amp; Monitoring</a:t>
            </a:r>
          </a:p>
          <a:p>
            <a:r>
              <a:rPr lang="en-IN" sz="2400" dirty="0">
                <a:solidFill>
                  <a:srgbClr val="7030A0"/>
                </a:solidFill>
              </a:rPr>
              <a:t> Decision making based on input data from many sensors</a:t>
            </a:r>
          </a:p>
          <a:p>
            <a:r>
              <a:rPr lang="en-IN" sz="2400" dirty="0">
                <a:solidFill>
                  <a:srgbClr val="7030A0"/>
                </a:solidFill>
              </a:rPr>
              <a:t>Network connectivity</a:t>
            </a:r>
          </a:p>
          <a:p>
            <a:r>
              <a:rPr lang="en-IN" sz="2400" dirty="0">
                <a:solidFill>
                  <a:srgbClr val="7030A0"/>
                </a:solidFill>
              </a:rPr>
              <a:t>Data storage and computation in the ‘cloud’</a:t>
            </a:r>
          </a:p>
        </p:txBody>
      </p:sp>
      <p:sp>
        <p:nvSpPr>
          <p:cNvPr id="4" name="Date Placeholder 3"/>
          <p:cNvSpPr>
            <a:spLocks noGrp="1"/>
          </p:cNvSpPr>
          <p:nvPr>
            <p:ph type="dt" sz="half" idx="10"/>
          </p:nvPr>
        </p:nvSpPr>
        <p:spPr/>
        <p:txBody>
          <a:bodyPr/>
          <a:lstStyle/>
          <a:p>
            <a:fld id="{FD650224-748E-4A77-8151-DC822A43FEBB}" type="datetime1">
              <a:rPr lang="en-IN" smtClean="0"/>
              <a:t>23-02-2026</a:t>
            </a:fld>
            <a:endParaRPr lang="en-IN"/>
          </a:p>
        </p:txBody>
      </p:sp>
      <p:pic>
        <p:nvPicPr>
          <p:cNvPr id="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71658" y="2015732"/>
            <a:ext cx="4775200" cy="381901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42574247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261407" y="3323772"/>
            <a:ext cx="11930593" cy="2809173"/>
          </a:xfrm>
        </p:spPr>
        <p:txBody>
          <a:bodyPr>
            <a:normAutofit lnSpcReduction="10000"/>
          </a:bodyPr>
          <a:lstStyle/>
          <a:p>
            <a:r>
              <a:rPr lang="en-IN" dirty="0" smtClean="0"/>
              <a:t> </a:t>
            </a:r>
            <a:r>
              <a:rPr lang="en-IN" sz="2400" dirty="0" smtClean="0">
                <a:solidFill>
                  <a:srgbClr val="7030A0"/>
                </a:solidFill>
              </a:rPr>
              <a:t>Fig</a:t>
            </a:r>
            <a:r>
              <a:rPr lang="en-IN" dirty="0" smtClean="0"/>
              <a:t> </a:t>
            </a:r>
            <a:r>
              <a:rPr lang="en-IN" sz="2400" dirty="0">
                <a:solidFill>
                  <a:srgbClr val="7030A0"/>
                </a:solidFill>
              </a:rPr>
              <a:t>s</a:t>
            </a:r>
            <a:r>
              <a:rPr lang="en-IN" sz="2400" dirty="0" smtClean="0">
                <a:solidFill>
                  <a:srgbClr val="7030A0"/>
                </a:solidFill>
              </a:rPr>
              <a:t>hows </a:t>
            </a:r>
            <a:r>
              <a:rPr lang="en-IN" sz="2400" dirty="0">
                <a:solidFill>
                  <a:srgbClr val="7030A0"/>
                </a:solidFill>
              </a:rPr>
              <a:t>components of a ‘smart home ‘ in which many appliances and facilities may be automated by the </a:t>
            </a:r>
            <a:r>
              <a:rPr lang="en-IN" sz="2400" dirty="0" err="1">
                <a:solidFill>
                  <a:srgbClr val="7030A0"/>
                </a:solidFill>
              </a:rPr>
              <a:t>IoT</a:t>
            </a:r>
            <a:r>
              <a:rPr lang="en-IN" sz="2400" dirty="0">
                <a:solidFill>
                  <a:srgbClr val="7030A0"/>
                </a:solidFill>
              </a:rPr>
              <a:t> </a:t>
            </a:r>
            <a:r>
              <a:rPr lang="en-IN" sz="2400" dirty="0" smtClean="0">
                <a:solidFill>
                  <a:srgbClr val="7030A0"/>
                </a:solidFill>
              </a:rPr>
              <a:t>concept.</a:t>
            </a:r>
          </a:p>
          <a:p>
            <a:r>
              <a:rPr lang="en-IN" sz="2400" dirty="0" smtClean="0">
                <a:solidFill>
                  <a:srgbClr val="7030A0"/>
                </a:solidFill>
              </a:rPr>
              <a:t>Besides Internet protocols, other short range protocols like: Bluetooth classic, BLE (Bluetooth Low Energy), </a:t>
            </a:r>
            <a:r>
              <a:rPr lang="en-IN" sz="2400" dirty="0" err="1" smtClean="0">
                <a:solidFill>
                  <a:srgbClr val="7030A0"/>
                </a:solidFill>
              </a:rPr>
              <a:t>Zigbee</a:t>
            </a:r>
            <a:r>
              <a:rPr lang="en-IN" sz="2400" dirty="0" smtClean="0">
                <a:solidFill>
                  <a:srgbClr val="7030A0"/>
                </a:solidFill>
              </a:rPr>
              <a:t>, NFC (Near Field Communication) etc. are also accessories in the </a:t>
            </a:r>
            <a:r>
              <a:rPr lang="en-IN" sz="2400" dirty="0" err="1" smtClean="0">
                <a:solidFill>
                  <a:srgbClr val="7030A0"/>
                </a:solidFill>
              </a:rPr>
              <a:t>IoT</a:t>
            </a:r>
            <a:r>
              <a:rPr lang="en-IN" sz="2400" dirty="0" smtClean="0">
                <a:solidFill>
                  <a:srgbClr val="7030A0"/>
                </a:solidFill>
              </a:rPr>
              <a:t> revolution.  </a:t>
            </a:r>
          </a:p>
          <a:p>
            <a:r>
              <a:rPr lang="en-US" sz="2400" dirty="0" smtClean="0">
                <a:solidFill>
                  <a:srgbClr val="7030A0"/>
                </a:solidFill>
              </a:rPr>
              <a:t>Cloud </a:t>
            </a:r>
            <a:r>
              <a:rPr lang="en-US" sz="2400" dirty="0">
                <a:solidFill>
                  <a:srgbClr val="7030A0"/>
                </a:solidFill>
              </a:rPr>
              <a:t>computing needs to be more widely adopted to make the </a:t>
            </a:r>
            <a:r>
              <a:rPr lang="en-US" sz="2400" dirty="0" err="1">
                <a:solidFill>
                  <a:srgbClr val="7030A0"/>
                </a:solidFill>
              </a:rPr>
              <a:t>IoT</a:t>
            </a:r>
            <a:r>
              <a:rPr lang="en-US" sz="2400" dirty="0">
                <a:solidFill>
                  <a:srgbClr val="7030A0"/>
                </a:solidFill>
              </a:rPr>
              <a:t> dream a reality.</a:t>
            </a:r>
            <a:endParaRPr lang="en-IN" sz="2400" dirty="0">
              <a:solidFill>
                <a:srgbClr val="7030A0"/>
              </a:solidFill>
            </a:endParaRPr>
          </a:p>
        </p:txBody>
      </p:sp>
      <p:sp>
        <p:nvSpPr>
          <p:cNvPr id="4" name="Date Placeholder 3"/>
          <p:cNvSpPr>
            <a:spLocks noGrp="1"/>
          </p:cNvSpPr>
          <p:nvPr>
            <p:ph type="dt" sz="half" idx="10"/>
          </p:nvPr>
        </p:nvSpPr>
        <p:spPr/>
        <p:txBody>
          <a:bodyPr/>
          <a:lstStyle/>
          <a:p>
            <a:fld id="{FD650224-748E-4A77-8151-DC822A43FEBB}" type="datetime1">
              <a:rPr lang="en-IN" smtClean="0"/>
              <a:t>23-02-2026</a:t>
            </a:fld>
            <a:endParaRPr lang="en-IN"/>
          </a:p>
        </p:txBody>
      </p:sp>
      <p:pic>
        <p:nvPicPr>
          <p:cNvPr id="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09371" y="172418"/>
            <a:ext cx="6531429" cy="29125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850961726"/>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51579" y="1327034"/>
            <a:ext cx="9603275" cy="1049235"/>
          </a:xfrm>
        </p:spPr>
        <p:txBody>
          <a:bodyPr>
            <a:normAutofit/>
          </a:bodyPr>
          <a:lstStyle/>
          <a:p>
            <a:r>
              <a:rPr lang="en-IN" sz="2800" dirty="0">
                <a:solidFill>
                  <a:srgbClr val="C00000"/>
                </a:solidFill>
              </a:rPr>
              <a:t>Cloud &amp; its Realization</a:t>
            </a:r>
          </a:p>
        </p:txBody>
      </p:sp>
      <p:sp>
        <p:nvSpPr>
          <p:cNvPr id="3" name="Content Placeholder 2"/>
          <p:cNvSpPr>
            <a:spLocks noGrp="1"/>
          </p:cNvSpPr>
          <p:nvPr>
            <p:ph idx="1"/>
          </p:nvPr>
        </p:nvSpPr>
        <p:spPr>
          <a:xfrm>
            <a:off x="261257" y="2757605"/>
            <a:ext cx="10793596" cy="3108358"/>
          </a:xfrm>
        </p:spPr>
        <p:txBody>
          <a:bodyPr>
            <a:normAutofit/>
          </a:bodyPr>
          <a:lstStyle/>
          <a:p>
            <a:r>
              <a:rPr lang="en-IN" sz="2400" dirty="0">
                <a:solidFill>
                  <a:srgbClr val="7030A0"/>
                </a:solidFill>
              </a:rPr>
              <a:t>During the talk of </a:t>
            </a:r>
            <a:r>
              <a:rPr lang="en-IN" sz="2400" dirty="0" err="1">
                <a:solidFill>
                  <a:srgbClr val="7030A0"/>
                </a:solidFill>
              </a:rPr>
              <a:t>IoT</a:t>
            </a:r>
            <a:r>
              <a:rPr lang="en-IN" sz="2400" dirty="0">
                <a:solidFill>
                  <a:srgbClr val="7030A0"/>
                </a:solidFill>
              </a:rPr>
              <a:t>, we could see that an immense amount of data is generated from the sensors that are deployed.</a:t>
            </a:r>
          </a:p>
          <a:p>
            <a:r>
              <a:rPr lang="en-IN" sz="2400" dirty="0">
                <a:solidFill>
                  <a:srgbClr val="7030A0"/>
                </a:solidFill>
              </a:rPr>
              <a:t>Where could all this data be stored ?</a:t>
            </a:r>
          </a:p>
          <a:p>
            <a:r>
              <a:rPr lang="en-IN" sz="2400" dirty="0">
                <a:solidFill>
                  <a:srgbClr val="7030A0"/>
                </a:solidFill>
              </a:rPr>
              <a:t>Where could computation and analytics using this data be done </a:t>
            </a:r>
            <a:r>
              <a:rPr lang="en-IN" sz="2400" dirty="0" smtClean="0">
                <a:solidFill>
                  <a:srgbClr val="7030A0"/>
                </a:solidFill>
              </a:rPr>
              <a:t>?</a:t>
            </a:r>
          </a:p>
          <a:p>
            <a:r>
              <a:rPr lang="en-IN" sz="2400" dirty="0" smtClean="0">
                <a:solidFill>
                  <a:srgbClr val="7030A0"/>
                </a:solidFill>
              </a:rPr>
              <a:t>For all this, its none other than ‘ Cloud’.</a:t>
            </a:r>
          </a:p>
          <a:p>
            <a:pPr marL="0" indent="0">
              <a:buNone/>
            </a:pPr>
            <a:endParaRPr lang="en-IN" sz="2400" dirty="0" smtClean="0">
              <a:solidFill>
                <a:srgbClr val="7030A0"/>
              </a:solidFill>
            </a:endParaRPr>
          </a:p>
          <a:p>
            <a:endParaRPr lang="en-IN" sz="2400" dirty="0">
              <a:solidFill>
                <a:srgbClr val="7030A0"/>
              </a:solidFill>
            </a:endParaRPr>
          </a:p>
        </p:txBody>
      </p:sp>
      <p:sp>
        <p:nvSpPr>
          <p:cNvPr id="4" name="Date Placeholder 3"/>
          <p:cNvSpPr>
            <a:spLocks noGrp="1"/>
          </p:cNvSpPr>
          <p:nvPr>
            <p:ph type="dt" sz="half" idx="10"/>
          </p:nvPr>
        </p:nvSpPr>
        <p:spPr/>
        <p:txBody>
          <a:bodyPr/>
          <a:lstStyle/>
          <a:p>
            <a:fld id="{FD650224-748E-4A77-8151-DC822A43FEBB}" type="datetime1">
              <a:rPr lang="en-IN" smtClean="0"/>
              <a:t>23-02-2026</a:t>
            </a:fld>
            <a:endParaRPr lang="en-IN"/>
          </a:p>
        </p:txBody>
      </p:sp>
      <p:pic>
        <p:nvPicPr>
          <p:cNvPr id="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7231" y="639571"/>
            <a:ext cx="5471886" cy="20341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62133302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0629" y="2015732"/>
            <a:ext cx="11684000" cy="3964154"/>
          </a:xfrm>
        </p:spPr>
        <p:txBody>
          <a:bodyPr/>
          <a:lstStyle/>
          <a:p>
            <a:r>
              <a:rPr lang="en-IN" dirty="0" smtClean="0"/>
              <a:t> </a:t>
            </a:r>
            <a:r>
              <a:rPr lang="en-IN" sz="2400" dirty="0">
                <a:solidFill>
                  <a:srgbClr val="7030A0"/>
                </a:solidFill>
              </a:rPr>
              <a:t>The cloud is a ‘storage and computational ‘ support provided by an array of networked computers. </a:t>
            </a:r>
            <a:endParaRPr lang="en-IN" sz="2400" dirty="0" smtClean="0">
              <a:solidFill>
                <a:srgbClr val="7030A0"/>
              </a:solidFill>
            </a:endParaRPr>
          </a:p>
          <a:p>
            <a:r>
              <a:rPr lang="en-IN" sz="2400" dirty="0" smtClean="0">
                <a:solidFill>
                  <a:srgbClr val="7030A0"/>
                </a:solidFill>
              </a:rPr>
              <a:t>If our local system does not have enough storage space, we save it in ‘cloud’</a:t>
            </a:r>
          </a:p>
          <a:p>
            <a:r>
              <a:rPr lang="en-IN" sz="2400" dirty="0" smtClean="0">
                <a:solidFill>
                  <a:srgbClr val="7030A0"/>
                </a:solidFill>
              </a:rPr>
              <a:t>Likewise, if our local computing device does not have enough computational capability, we can use the service of the ‘Cloud Computing Platform’.</a:t>
            </a:r>
          </a:p>
          <a:p>
            <a:r>
              <a:rPr lang="en-IN" sz="2400" dirty="0" smtClean="0">
                <a:solidFill>
                  <a:srgbClr val="7030A0"/>
                </a:solidFill>
              </a:rPr>
              <a:t>Thus providing computational platform.</a:t>
            </a:r>
          </a:p>
          <a:p>
            <a:r>
              <a:rPr lang="en-IN" sz="2400" dirty="0" smtClean="0">
                <a:solidFill>
                  <a:srgbClr val="7030A0"/>
                </a:solidFill>
              </a:rPr>
              <a:t>So cloud provides both Computational &amp; Storage space support.</a:t>
            </a:r>
            <a:endParaRPr lang="en-IN" sz="2400" dirty="0">
              <a:solidFill>
                <a:srgbClr val="7030A0"/>
              </a:solidFill>
            </a:endParaRPr>
          </a:p>
        </p:txBody>
      </p:sp>
      <p:sp>
        <p:nvSpPr>
          <p:cNvPr id="4" name="Date Placeholder 3"/>
          <p:cNvSpPr>
            <a:spLocks noGrp="1"/>
          </p:cNvSpPr>
          <p:nvPr>
            <p:ph type="dt" sz="half" idx="10"/>
          </p:nvPr>
        </p:nvSpPr>
        <p:spPr/>
        <p:txBody>
          <a:bodyPr/>
          <a:lstStyle/>
          <a:p>
            <a:fld id="{FD650224-748E-4A77-8151-DC822A43FEBB}" type="datetime1">
              <a:rPr lang="en-IN" smtClean="0"/>
              <a:t>23-02-2026</a:t>
            </a:fld>
            <a:endParaRPr lang="en-IN"/>
          </a:p>
        </p:txBody>
      </p:sp>
    </p:spTree>
    <p:extLst>
      <p:ext uri="{BB962C8B-B14F-4D97-AF65-F5344CB8AC3E}">
        <p14:creationId xmlns:p14="http://schemas.microsoft.com/office/powerpoint/2010/main" val="3589704031"/>
      </p:ext>
    </p:extLst>
  </p:cSld>
  <p:clrMapOvr>
    <a:masterClrMapping/>
  </p:clrMapOvr>
  <p:timing>
    <p:tnLst>
      <p:par>
        <p:cTn id="1" dur="indefinite" restart="never" nodeType="tmRoot"/>
      </p:par>
    </p:tnLst>
  </p:timing>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themeOverride>
</file>

<file path=docProps/app.xml><?xml version="1.0" encoding="utf-8"?>
<Properties xmlns="http://schemas.openxmlformats.org/officeDocument/2006/extended-properties" xmlns:vt="http://schemas.openxmlformats.org/officeDocument/2006/docPropsVTypes">
  <Template/>
  <TotalTime>880</TotalTime>
  <Words>1469</Words>
  <Application>Microsoft Office PowerPoint</Application>
  <PresentationFormat>Widescreen</PresentationFormat>
  <Paragraphs>101</Paragraphs>
  <Slides>20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Gill Sans MT</vt:lpstr>
      <vt:lpstr>Gallery</vt:lpstr>
      <vt:lpstr>Embedded Systems -  An Introduction</vt:lpstr>
      <vt:lpstr>1. Introduction </vt:lpstr>
      <vt:lpstr>Definition of embedded systems</vt:lpstr>
      <vt:lpstr>Characteristics of embedded systems</vt:lpstr>
      <vt:lpstr>Characteristics of embedded systems Continued …</vt:lpstr>
      <vt:lpstr>II. Design of an embedded system</vt:lpstr>
      <vt:lpstr>PowerPoint Presentation</vt:lpstr>
      <vt:lpstr>III.  Applications</vt:lpstr>
      <vt:lpstr>Applications Contd….</vt:lpstr>
      <vt:lpstr>1V.  Embedded processors </vt:lpstr>
      <vt:lpstr>PowerPoint Presentation</vt:lpstr>
      <vt:lpstr>PowerPoint Presentation</vt:lpstr>
      <vt:lpstr>V. Operating system (OS)</vt:lpstr>
      <vt:lpstr>PowerPoint Presentation</vt:lpstr>
      <vt:lpstr>VI. Connectivity </vt:lpstr>
      <vt:lpstr>Internet of things (IoT)</vt:lpstr>
      <vt:lpstr>The most important features of iot-based systems may be listed as:</vt:lpstr>
      <vt:lpstr>PowerPoint Presentation</vt:lpstr>
      <vt:lpstr>Cloud &amp; its Realization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Embedded Systems -  An Introduction</dc:title>
  <dc:creator>Admin</dc:creator>
  <cp:lastModifiedBy>Admin</cp:lastModifiedBy>
  <cp:revision>70</cp:revision>
  <dcterms:created xsi:type="dcterms:W3CDTF">2020-02-03T05:30:59Z</dcterms:created>
  <dcterms:modified xsi:type="dcterms:W3CDTF">2026-02-23T10:24:36Z</dcterms:modified>
</cp:coreProperties>
</file>