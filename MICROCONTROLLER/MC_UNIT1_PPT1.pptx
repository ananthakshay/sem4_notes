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74" r:id="rId2"/>
    <p:sldId id="288" r:id="rId3"/>
    <p:sldId id="289" r:id="rId4"/>
    <p:sldId id="257" r:id="rId5"/>
    <p:sldId id="276" r:id="rId6"/>
    <p:sldId id="258" r:id="rId7"/>
    <p:sldId id="279" r:id="rId8"/>
    <p:sldId id="290" r:id="rId9"/>
    <p:sldId id="291" r:id="rId10"/>
    <p:sldId id="259" r:id="rId11"/>
    <p:sldId id="260" r:id="rId12"/>
    <p:sldId id="261" r:id="rId13"/>
    <p:sldId id="281" r:id="rId14"/>
    <p:sldId id="262" r:id="rId15"/>
    <p:sldId id="280" r:id="rId16"/>
    <p:sldId id="282" r:id="rId17"/>
    <p:sldId id="263" r:id="rId18"/>
    <p:sldId id="264" r:id="rId19"/>
    <p:sldId id="283" r:id="rId20"/>
    <p:sldId id="265" r:id="rId21"/>
    <p:sldId id="266" r:id="rId22"/>
    <p:sldId id="285" r:id="rId23"/>
    <p:sldId id="286" r:id="rId24"/>
    <p:sldId id="287" r:id="rId25"/>
    <p:sldId id="267"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422" y="1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1D8BD707-D9CF-40AE-B4C6-C98DA3205C09}" type="datetimeFigureOut">
              <a:rPr lang="en-US" smtClean="0"/>
              <a:pPr/>
              <a:t>2/19/2026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2/19/2026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133600"/>
            <a:ext cx="8534400" cy="1295400"/>
          </a:xfrm>
        </p:spPr>
        <p:txBody>
          <a:bodyPr>
            <a:normAutofit fontScale="90000"/>
          </a:bodyPr>
          <a:lstStyle/>
          <a:p>
            <a:pPr algn="ctr"/>
            <a:r>
              <a:rPr lang="en-IN" sz="8000" dirty="0" smtClean="0">
                <a:solidFill>
                  <a:srgbClr val="C00000"/>
                </a:solidFill>
              </a:rPr>
              <a:t/>
            </a:r>
            <a:br>
              <a:rPr lang="en-IN" sz="8000" dirty="0" smtClean="0">
                <a:solidFill>
                  <a:srgbClr val="C00000"/>
                </a:solidFill>
              </a:rPr>
            </a:br>
            <a:r>
              <a:rPr lang="en-IN" sz="8000" dirty="0" smtClean="0">
                <a:solidFill>
                  <a:srgbClr val="C00000"/>
                </a:solidFill>
              </a:rPr>
              <a:t>Chapter </a:t>
            </a:r>
            <a:r>
              <a:rPr lang="en-IN" sz="8000" dirty="0">
                <a:solidFill>
                  <a:srgbClr val="C00000"/>
                </a:solidFill>
              </a:rPr>
              <a:t>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nvPr>
        </p:nvGraphicFramePr>
        <p:xfrm>
          <a:off x="457201" y="990600"/>
          <a:ext cx="8229600" cy="5795645"/>
        </p:xfrm>
        <a:graphic>
          <a:graphicData uri="http://schemas.openxmlformats.org/drawingml/2006/table">
            <a:tbl>
              <a:tblPr firstRow="1" firstCol="1" bandRow="1">
                <a:tableStyleId>{5C22544A-7EE6-4342-B048-85BDC9FD1C3A}</a:tableStyleId>
              </a:tblPr>
              <a:tblGrid>
                <a:gridCol w="642596">
                  <a:extLst>
                    <a:ext uri="{9D8B030D-6E8A-4147-A177-3AD203B41FA5}">
                      <a16:colId xmlns:a16="http://schemas.microsoft.com/office/drawing/2014/main" val="2623953539"/>
                    </a:ext>
                  </a:extLst>
                </a:gridCol>
                <a:gridCol w="3364497">
                  <a:extLst>
                    <a:ext uri="{9D8B030D-6E8A-4147-A177-3AD203B41FA5}">
                      <a16:colId xmlns:a16="http://schemas.microsoft.com/office/drawing/2014/main" val="2287380742"/>
                    </a:ext>
                  </a:extLst>
                </a:gridCol>
                <a:gridCol w="4222507">
                  <a:extLst>
                    <a:ext uri="{9D8B030D-6E8A-4147-A177-3AD203B41FA5}">
                      <a16:colId xmlns:a16="http://schemas.microsoft.com/office/drawing/2014/main" val="3212948850"/>
                    </a:ext>
                  </a:extLst>
                </a:gridCol>
              </a:tblGrid>
              <a:tr h="360681">
                <a:tc>
                  <a:txBody>
                    <a:bodyPr/>
                    <a:lstStyle/>
                    <a:p>
                      <a:pPr>
                        <a:lnSpc>
                          <a:spcPct val="107000"/>
                        </a:lnSpc>
                        <a:spcAft>
                          <a:spcPts val="0"/>
                        </a:spcAft>
                      </a:pPr>
                      <a:r>
                        <a:rPr lang="en-IN" sz="1100">
                          <a:effectLst/>
                        </a:rPr>
                        <a:t>Sl No</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350">
                          <a:effectLst/>
                        </a:rPr>
                        <a:t>Microprocessor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350">
                          <a:effectLst/>
                        </a:rPr>
                        <a:t>Microcontroller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94073862"/>
                  </a:ext>
                </a:extLst>
              </a:tr>
              <a:tr h="1082040">
                <a:tc>
                  <a:txBody>
                    <a:bodyPr/>
                    <a:lstStyle/>
                    <a:p>
                      <a:pPr>
                        <a:lnSpc>
                          <a:spcPct val="107000"/>
                        </a:lnSpc>
                        <a:spcAft>
                          <a:spcPts val="0"/>
                        </a:spcAft>
                      </a:pPr>
                      <a:r>
                        <a:rPr lang="en-IN" sz="1100">
                          <a:effectLst/>
                        </a:rPr>
                        <a:t>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Microprocessors can be understood as the heart of a computer system.</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Microcontrollers can be understood as the heart of an embedded system.</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2459118"/>
                  </a:ext>
                </a:extLst>
              </a:tr>
              <a:tr h="1442719">
                <a:tc>
                  <a:txBody>
                    <a:bodyPr/>
                    <a:lstStyle/>
                    <a:p>
                      <a:pPr>
                        <a:lnSpc>
                          <a:spcPct val="107000"/>
                        </a:lnSpc>
                        <a:spcAft>
                          <a:spcPts val="0"/>
                        </a:spcAft>
                      </a:pPr>
                      <a:r>
                        <a:rPr lang="en-IN" sz="1100">
                          <a:effectLst/>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A microprocessor is a processor where the memory and I/O component are connected externally.</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A microcontroller is a controlling device wherein the memory and I/O output component are present internally.</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18468943"/>
                  </a:ext>
                </a:extLst>
              </a:tr>
              <a:tr h="721360">
                <a:tc>
                  <a:txBody>
                    <a:bodyPr/>
                    <a:lstStyle/>
                    <a:p>
                      <a:pPr>
                        <a:lnSpc>
                          <a:spcPct val="107000"/>
                        </a:lnSpc>
                        <a:spcAft>
                          <a:spcPts val="0"/>
                        </a:spcAft>
                      </a:pPr>
                      <a:r>
                        <a:rPr lang="en-IN" sz="1100">
                          <a:effectLst/>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The circuit is complex due to external connection.</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Microcontrollers are present on chip memory. The circuit is less complex.</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19071970"/>
                  </a:ext>
                </a:extLst>
              </a:tr>
              <a:tr h="721360">
                <a:tc>
                  <a:txBody>
                    <a:bodyPr/>
                    <a:lstStyle/>
                    <a:p>
                      <a:pPr>
                        <a:lnSpc>
                          <a:spcPct val="107000"/>
                        </a:lnSpc>
                        <a:spcAft>
                          <a:spcPts val="0"/>
                        </a:spcAft>
                      </a:pPr>
                      <a:r>
                        <a:rPr lang="en-IN" sz="1100">
                          <a:effectLst/>
                        </a:rPr>
                        <a:t>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The memory and I/O components are to be connected externally.</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The memory and I/O components are available.</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06918752"/>
                  </a:ext>
                </a:extLst>
              </a:tr>
              <a:tr h="721360">
                <a:tc>
                  <a:txBody>
                    <a:bodyPr/>
                    <a:lstStyle/>
                    <a:p>
                      <a:pPr>
                        <a:lnSpc>
                          <a:spcPct val="107000"/>
                        </a:lnSpc>
                        <a:spcAft>
                          <a:spcPts val="0"/>
                        </a:spcAft>
                      </a:pPr>
                      <a:r>
                        <a:rPr lang="en-IN" sz="1100">
                          <a:effectLst/>
                        </a:rPr>
                        <a:t>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Microprocessors can’t be used in compact system.</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Microcontrollers can be used with a compact system.</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7600037"/>
                  </a:ext>
                </a:extLst>
              </a:tr>
              <a:tr h="360681">
                <a:tc>
                  <a:txBody>
                    <a:bodyPr/>
                    <a:lstStyle/>
                    <a:p>
                      <a:pPr>
                        <a:lnSpc>
                          <a:spcPct val="107000"/>
                        </a:lnSpc>
                        <a:spcAft>
                          <a:spcPts val="0"/>
                        </a:spcAft>
                      </a:pPr>
                      <a:r>
                        <a:rPr lang="en-IN" sz="1100">
                          <a:effectLst/>
                        </a:rPr>
                        <a:t>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Microprocessors are not efficient.</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Microcontrollers are efficient.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0223315"/>
                  </a:ext>
                </a:extLst>
              </a:tr>
            </a:tbl>
          </a:graphicData>
        </a:graphic>
      </p:graphicFrame>
      <p:sp>
        <p:nvSpPr>
          <p:cNvPr id="6" name="Title 1">
            <a:extLst>
              <a:ext uri="{FF2B5EF4-FFF2-40B4-BE49-F238E27FC236}">
                <a16:creationId xmlns:a16="http://schemas.microsoft.com/office/drawing/2014/main" id="{A6585980-4D88-1DC2-8C0C-B44B1D2AF38E}"/>
              </a:ext>
            </a:extLst>
          </p:cNvPr>
          <p:cNvSpPr>
            <a:spLocks noGrp="1"/>
          </p:cNvSpPr>
          <p:nvPr>
            <p:ph type="title"/>
          </p:nvPr>
        </p:nvSpPr>
        <p:spPr>
          <a:xfrm>
            <a:off x="457200" y="76200"/>
            <a:ext cx="8229600" cy="609600"/>
          </a:xfrm>
        </p:spPr>
        <p:txBody>
          <a:bodyPr>
            <a:normAutofit/>
          </a:bodyPr>
          <a:lstStyle/>
          <a:p>
            <a:r>
              <a:rPr lang="en-US" sz="2400" dirty="0"/>
              <a:t>Differences between </a:t>
            </a:r>
            <a:r>
              <a:rPr lang="en-US" sz="2400" dirty="0" smtClean="0"/>
              <a:t>Microprocessor and Microcontroller</a:t>
            </a:r>
            <a:endParaRPr lang="en-US" sz="2400" dirty="0"/>
          </a:p>
        </p:txBody>
      </p:sp>
    </p:spTree>
    <p:extLst>
      <p:ext uri="{BB962C8B-B14F-4D97-AF65-F5344CB8AC3E}">
        <p14:creationId xmlns:p14="http://schemas.microsoft.com/office/powerpoint/2010/main" val="2449890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nvPr>
        </p:nvGraphicFramePr>
        <p:xfrm>
          <a:off x="457199" y="990602"/>
          <a:ext cx="8382001" cy="5410197"/>
        </p:xfrm>
        <a:graphic>
          <a:graphicData uri="http://schemas.openxmlformats.org/drawingml/2006/table">
            <a:tbl>
              <a:tblPr firstRow="1" firstCol="1" bandRow="1">
                <a:tableStyleId>{5C22544A-7EE6-4342-B048-85BDC9FD1C3A}</a:tableStyleId>
              </a:tblPr>
              <a:tblGrid>
                <a:gridCol w="654496">
                  <a:extLst>
                    <a:ext uri="{9D8B030D-6E8A-4147-A177-3AD203B41FA5}">
                      <a16:colId xmlns:a16="http://schemas.microsoft.com/office/drawing/2014/main" val="2182013920"/>
                    </a:ext>
                  </a:extLst>
                </a:gridCol>
                <a:gridCol w="3426803">
                  <a:extLst>
                    <a:ext uri="{9D8B030D-6E8A-4147-A177-3AD203B41FA5}">
                      <a16:colId xmlns:a16="http://schemas.microsoft.com/office/drawing/2014/main" val="2196630141"/>
                    </a:ext>
                  </a:extLst>
                </a:gridCol>
                <a:gridCol w="4300702">
                  <a:extLst>
                    <a:ext uri="{9D8B030D-6E8A-4147-A177-3AD203B41FA5}">
                      <a16:colId xmlns:a16="http://schemas.microsoft.com/office/drawing/2014/main" val="2918397750"/>
                    </a:ext>
                  </a:extLst>
                </a:gridCol>
              </a:tblGrid>
              <a:tr h="633970">
                <a:tc>
                  <a:txBody>
                    <a:bodyPr/>
                    <a:lstStyle/>
                    <a:p>
                      <a:pPr>
                        <a:lnSpc>
                          <a:spcPct val="107000"/>
                        </a:lnSpc>
                        <a:spcAft>
                          <a:spcPts val="0"/>
                        </a:spcAft>
                      </a:pPr>
                      <a:r>
                        <a:rPr lang="en-IN" sz="1600">
                          <a:effectLst/>
                        </a:rPr>
                        <a:t>7</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600">
                          <a:effectLst/>
                        </a:rPr>
                        <a:t>Microprocessors have less number of registers.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600">
                          <a:effectLst/>
                        </a:rPr>
                        <a:t>Microcontrollers have more number of registers.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2878205"/>
                  </a:ext>
                </a:extLst>
              </a:tr>
              <a:tr h="958107">
                <a:tc>
                  <a:txBody>
                    <a:bodyPr/>
                    <a:lstStyle/>
                    <a:p>
                      <a:pPr>
                        <a:lnSpc>
                          <a:spcPct val="107000"/>
                        </a:lnSpc>
                        <a:spcAft>
                          <a:spcPts val="0"/>
                        </a:spcAft>
                      </a:pPr>
                      <a:r>
                        <a:rPr lang="en-IN" sz="1600">
                          <a:effectLst/>
                        </a:rPr>
                        <a:t>8</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600">
                          <a:effectLst/>
                        </a:rPr>
                        <a:t>Microprocessors are generally used in personal computers.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600">
                          <a:effectLst/>
                        </a:rPr>
                        <a:t>Microcontrollers are generally used in washing machines, and air conditioners.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99787085"/>
                  </a:ext>
                </a:extLst>
              </a:tr>
              <a:tr h="309832">
                <a:tc>
                  <a:txBody>
                    <a:bodyPr/>
                    <a:lstStyle/>
                    <a:p>
                      <a:pPr>
                        <a:lnSpc>
                          <a:spcPct val="107000"/>
                        </a:lnSpc>
                        <a:spcAft>
                          <a:spcPts val="0"/>
                        </a:spcAft>
                      </a:pPr>
                      <a:r>
                        <a:rPr lang="en-IN" sz="1600">
                          <a:effectLst/>
                        </a:rPr>
                        <a:t>9</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600">
                          <a:effectLst/>
                        </a:rPr>
                        <a:t>Cost is high</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IN" sz="1600">
                          <a:effectLst/>
                        </a:rPr>
                        <a:t>Cost is low</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94153305"/>
                  </a:ext>
                </a:extLst>
              </a:tr>
              <a:tr h="633970">
                <a:tc>
                  <a:txBody>
                    <a:bodyPr/>
                    <a:lstStyle/>
                    <a:p>
                      <a:pPr>
                        <a:lnSpc>
                          <a:spcPct val="107000"/>
                        </a:lnSpc>
                        <a:spcAft>
                          <a:spcPts val="0"/>
                        </a:spcAft>
                      </a:pPr>
                      <a:r>
                        <a:rPr lang="en-IN" sz="1600">
                          <a:effectLst/>
                        </a:rPr>
                        <a:t>10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600">
                          <a:effectLst/>
                        </a:rPr>
                        <a:t>Do not have power saving mode.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IN" sz="1600">
                          <a:effectLst/>
                        </a:rPr>
                        <a:t>Have a power-saving mode.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45981997"/>
                  </a:ext>
                </a:extLst>
              </a:tr>
              <a:tr h="309832">
                <a:tc>
                  <a:txBody>
                    <a:bodyPr/>
                    <a:lstStyle/>
                    <a:p>
                      <a:pPr>
                        <a:lnSpc>
                          <a:spcPct val="107000"/>
                        </a:lnSpc>
                        <a:spcAft>
                          <a:spcPts val="0"/>
                        </a:spcAft>
                      </a:pPr>
                      <a:r>
                        <a:rPr lang="en-IN" sz="1600">
                          <a:effectLst/>
                        </a:rPr>
                        <a:t>11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600">
                          <a:effectLst/>
                        </a:rPr>
                        <a:t>Uses an external bus.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IN" sz="1600">
                          <a:effectLst/>
                        </a:rPr>
                        <a:t>Uses an internal controlling bus.</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95463938"/>
                  </a:ext>
                </a:extLst>
              </a:tr>
              <a:tr h="309832">
                <a:tc>
                  <a:txBody>
                    <a:bodyPr/>
                    <a:lstStyle/>
                    <a:p>
                      <a:pPr>
                        <a:lnSpc>
                          <a:spcPct val="107000"/>
                        </a:lnSpc>
                        <a:spcAft>
                          <a:spcPts val="0"/>
                        </a:spcAft>
                      </a:pPr>
                      <a:r>
                        <a:rPr lang="en-IN" sz="1600">
                          <a:effectLst/>
                        </a:rPr>
                        <a:t>12</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600">
                          <a:effectLst/>
                        </a:rPr>
                        <a:t>Can run at a very high speed.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IN" sz="1600">
                          <a:effectLst/>
                        </a:rPr>
                        <a:t>Can run up to 200MHz or more.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7676939"/>
                  </a:ext>
                </a:extLst>
              </a:tr>
              <a:tr h="2254654">
                <a:tc>
                  <a:txBody>
                    <a:bodyPr/>
                    <a:lstStyle/>
                    <a:p>
                      <a:pPr>
                        <a:lnSpc>
                          <a:spcPct val="107000"/>
                        </a:lnSpc>
                        <a:spcAft>
                          <a:spcPts val="0"/>
                        </a:spcAft>
                      </a:pPr>
                      <a:r>
                        <a:rPr lang="en-IN" sz="1600">
                          <a:effectLst/>
                        </a:rPr>
                        <a:t>13</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600">
                          <a:effectLst/>
                        </a:rPr>
                        <a:t>Microprocessors are multitasking in nature. Can perform multiple tasks at a time. For example, on computer we can play music while writing text in text editor.</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IN" sz="1600" dirty="0">
                          <a:effectLst/>
                        </a:rPr>
                        <a:t>Single task oriented. For example, a washing machine is designed for washing clothes only.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13847199"/>
                  </a:ext>
                </a:extLst>
              </a:tr>
            </a:tbl>
          </a:graphicData>
        </a:graphic>
      </p:graphicFrame>
    </p:spTree>
    <p:extLst>
      <p:ext uri="{BB962C8B-B14F-4D97-AF65-F5344CB8AC3E}">
        <p14:creationId xmlns:p14="http://schemas.microsoft.com/office/powerpoint/2010/main" val="89861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pPr algn="ctr"/>
            <a:r>
              <a:rPr lang="en-IN" dirty="0">
                <a:solidFill>
                  <a:srgbClr val="FF0000"/>
                </a:solidFill>
              </a:rPr>
              <a:t>ARM Embedded Systems </a:t>
            </a:r>
          </a:p>
        </p:txBody>
      </p:sp>
      <p:sp>
        <p:nvSpPr>
          <p:cNvPr id="3" name="Content Placeholder 2"/>
          <p:cNvSpPr>
            <a:spLocks noGrp="1"/>
          </p:cNvSpPr>
          <p:nvPr>
            <p:ph idx="1"/>
          </p:nvPr>
        </p:nvSpPr>
        <p:spPr>
          <a:xfrm>
            <a:off x="152400" y="1219200"/>
            <a:ext cx="8839200" cy="5791200"/>
          </a:xfrm>
        </p:spPr>
        <p:txBody>
          <a:bodyPr>
            <a:normAutofit fontScale="85000" lnSpcReduction="10000"/>
          </a:bodyPr>
          <a:lstStyle/>
          <a:p>
            <a:pPr marL="0" marR="0" algn="just">
              <a:lnSpc>
                <a:spcPct val="150000"/>
              </a:lnSpc>
            </a:pPr>
            <a:endParaRPr lang="en-IN" dirty="0" smtClean="0"/>
          </a:p>
          <a:p>
            <a:pPr marL="0" marR="0" algn="just">
              <a:lnSpc>
                <a:spcPct val="150000"/>
              </a:lnSpc>
            </a:pPr>
            <a:r>
              <a:rPr lang="en-IN" dirty="0" smtClean="0"/>
              <a:t>ARM(Advanced </a:t>
            </a:r>
            <a:r>
              <a:rPr lang="en-IN" dirty="0"/>
              <a:t>RISC Machine) is a 32-bit architecture microcontroller that was developed by Acorn Computers in 1983.</a:t>
            </a:r>
          </a:p>
          <a:p>
            <a:pPr marL="0" marR="0" algn="just">
              <a:lnSpc>
                <a:spcPct val="150000"/>
              </a:lnSpc>
            </a:pPr>
            <a:r>
              <a:rPr lang="en-IN" dirty="0" smtClean="0"/>
              <a:t>ARM </a:t>
            </a:r>
            <a:r>
              <a:rPr lang="en-IN" dirty="0"/>
              <a:t>is basically a family of Reduced Instruction Set Computing (RISC) architecture-based microprocessors. ARM microcontrollers consist of ARM processors, RAM, ROM, and I/O peripherals. ARM microcontrollers are used in a wide range of applications due to their low power consumption, low cost, and high performance.</a:t>
            </a:r>
          </a:p>
          <a:p>
            <a:pPr marL="0" marR="0" algn="just">
              <a:lnSpc>
                <a:spcPct val="150000"/>
              </a:lnSpc>
            </a:pPr>
            <a:r>
              <a:rPr lang="en-IN" dirty="0" smtClean="0"/>
              <a:t>One </a:t>
            </a:r>
            <a:r>
              <a:rPr lang="en-IN" dirty="0"/>
              <a:t>of the important features of ARM microcontrollers is that they are highly customizable depending on requirements of the applications. Therefore, it is highly versatile microcontroller architecture.</a:t>
            </a:r>
            <a:endParaRPr lang="en-US" dirty="0"/>
          </a:p>
          <a:p>
            <a:pPr marL="0" marR="0" algn="just">
              <a:lnSpc>
                <a:spcPts val="1800"/>
              </a:lnSpc>
            </a:pPr>
            <a:endParaRPr lang="en-US" sz="1800" dirty="0">
              <a:solidFill>
                <a:srgbClr val="000000"/>
              </a:solidFill>
              <a:latin typeface="Verdana" panose="020B060403050404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pPr algn="ctr"/>
            <a:r>
              <a:rPr lang="en-IN" dirty="0">
                <a:solidFill>
                  <a:srgbClr val="FF0000"/>
                </a:solidFill>
              </a:rPr>
              <a:t>ARM Embedded Systems </a:t>
            </a:r>
          </a:p>
        </p:txBody>
      </p:sp>
      <p:sp>
        <p:nvSpPr>
          <p:cNvPr id="3" name="Content Placeholder 2"/>
          <p:cNvSpPr>
            <a:spLocks noGrp="1"/>
          </p:cNvSpPr>
          <p:nvPr>
            <p:ph idx="1"/>
          </p:nvPr>
        </p:nvSpPr>
        <p:spPr>
          <a:xfrm>
            <a:off x="152400" y="1219200"/>
            <a:ext cx="8839200" cy="5791200"/>
          </a:xfrm>
        </p:spPr>
        <p:txBody>
          <a:bodyPr>
            <a:normAutofit/>
          </a:bodyPr>
          <a:lstStyle/>
          <a:p>
            <a:pPr marL="0" indent="0" algn="just">
              <a:buNone/>
            </a:pPr>
            <a:endParaRPr lang="en-US" sz="1800" dirty="0">
              <a:solidFill>
                <a:srgbClr val="000000"/>
              </a:solidFill>
              <a:latin typeface="Verdana" panose="020B0604030504040204" pitchFamily="34" charset="0"/>
            </a:endParaRPr>
          </a:p>
          <a:p>
            <a:pPr marL="0">
              <a:lnSpc>
                <a:spcPct val="150000"/>
              </a:lnSpc>
              <a:spcBef>
                <a:spcPts val="0"/>
              </a:spcBef>
              <a:spcAft>
                <a:spcPts val="800"/>
              </a:spcAft>
            </a:pPr>
            <a:r>
              <a:rPr lang="en-IN" sz="2200" dirty="0" smtClean="0"/>
              <a:t>We </a:t>
            </a:r>
            <a:r>
              <a:rPr lang="en-IN" sz="2200" dirty="0"/>
              <a:t>can use assembly language as well as high level programming languages such as C, C++ to program the ARM microcontrollers. ARM microcontrollers are highly scalable; </a:t>
            </a:r>
          </a:p>
          <a:p>
            <a:pPr marL="0">
              <a:lnSpc>
                <a:spcPct val="150000"/>
              </a:lnSpc>
              <a:spcBef>
                <a:spcPts val="0"/>
              </a:spcBef>
              <a:spcAft>
                <a:spcPts val="800"/>
              </a:spcAft>
            </a:pPr>
            <a:r>
              <a:rPr lang="en-IN" sz="2200" dirty="0"/>
              <a:t>Some popular microcontrollers of ARM family are ARM Cortex-M0 to M7, LPC2148, etc</a:t>
            </a:r>
            <a:r>
              <a:rPr lang="en-IN" sz="2200" dirty="0" smtClean="0"/>
              <a:t>.</a:t>
            </a:r>
          </a:p>
          <a:p>
            <a:pPr marL="0" marR="0">
              <a:lnSpc>
                <a:spcPct val="107000"/>
              </a:lnSpc>
              <a:spcBef>
                <a:spcPts val="0"/>
              </a:spcBef>
              <a:spcAft>
                <a:spcPts val="800"/>
              </a:spcAft>
            </a:pPr>
            <a:r>
              <a:rPr lang="en-IN" sz="2200" dirty="0" smtClean="0"/>
              <a:t>The </a:t>
            </a:r>
            <a:r>
              <a:rPr lang="en-IN" sz="2200" dirty="0"/>
              <a:t>communication protocols used in ARM microcontrollers are UART, USART, SPI, I2C, I2S, LIN, CAN, DSP, SAI, and IrDA.</a:t>
            </a:r>
            <a:endParaRPr lang="en-US" sz="2200" dirty="0"/>
          </a:p>
          <a:p>
            <a:pPr marL="0" marR="0">
              <a:lnSpc>
                <a:spcPct val="107000"/>
              </a:lnSpc>
              <a:spcBef>
                <a:spcPts val="0"/>
              </a:spcBef>
              <a:spcAft>
                <a:spcPts val="800"/>
              </a:spcAft>
            </a:pPr>
            <a:r>
              <a:rPr lang="en-IN" sz="2200" dirty="0"/>
              <a:t>ARM microcontrollers have faster clock speed, allowing them to process more instructions per second.</a:t>
            </a:r>
            <a:endParaRPr lang="en-US" sz="2200" dirty="0"/>
          </a:p>
          <a:p>
            <a:pPr marL="0" marR="0" algn="just">
              <a:lnSpc>
                <a:spcPts val="1800"/>
              </a:lnSpc>
            </a:pPr>
            <a:endParaRPr lang="en-US" sz="1800" dirty="0">
              <a:solidFill>
                <a:srgbClr val="000000"/>
              </a:solidFill>
              <a:latin typeface="Verdana" panose="020B0604030504040204" pitchFamily="34" charset="0"/>
            </a:endParaRPr>
          </a:p>
        </p:txBody>
      </p:sp>
    </p:spTree>
    <p:extLst>
      <p:ext uri="{BB962C8B-B14F-4D97-AF65-F5344CB8AC3E}">
        <p14:creationId xmlns:p14="http://schemas.microsoft.com/office/powerpoint/2010/main" val="16493698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00"/>
            <a:ext cx="8229600" cy="1008888"/>
          </a:xfrm>
        </p:spPr>
        <p:txBody>
          <a:bodyPr>
            <a:normAutofit/>
          </a:bodyPr>
          <a:lstStyle/>
          <a:p>
            <a:r>
              <a:rPr lang="en-IN" dirty="0">
                <a:solidFill>
                  <a:srgbClr val="FF0000"/>
                </a:solidFill>
              </a:rPr>
              <a:t>The RISC design philosophy</a:t>
            </a:r>
          </a:p>
        </p:txBody>
      </p:sp>
      <p:sp>
        <p:nvSpPr>
          <p:cNvPr id="3" name="Content Placeholder 2"/>
          <p:cNvSpPr>
            <a:spLocks noGrp="1"/>
          </p:cNvSpPr>
          <p:nvPr>
            <p:ph idx="1"/>
          </p:nvPr>
        </p:nvSpPr>
        <p:spPr>
          <a:xfrm>
            <a:off x="0" y="1600200"/>
            <a:ext cx="9144000" cy="5562600"/>
          </a:xfrm>
        </p:spPr>
        <p:txBody>
          <a:bodyPr>
            <a:normAutofit/>
          </a:bodyPr>
          <a:lstStyle/>
          <a:p>
            <a:pPr algn="just"/>
            <a:r>
              <a:rPr lang="en-IN" dirty="0"/>
              <a:t> The ARM core uses a RISC architecture.</a:t>
            </a:r>
          </a:p>
          <a:p>
            <a:pPr algn="just"/>
            <a:r>
              <a:rPr lang="en-IN" dirty="0"/>
              <a:t> RISC is a design philosophy aimed at delivering simple but powerful instructions that execute within a single cycle at a high clock speed.</a:t>
            </a:r>
          </a:p>
          <a:p>
            <a:pPr algn="just"/>
            <a:r>
              <a:rPr lang="en-IN" dirty="0"/>
              <a:t> The RISC philosophy concentrates on reducing the complexity of instructions performed by the hardware because it is easier to provide greater flexibility and intelligence in software rather than hardware.</a:t>
            </a:r>
          </a:p>
          <a:p>
            <a:pPr algn="just"/>
            <a:r>
              <a:rPr lang="en-IN" dirty="0"/>
              <a:t> As a result, a RISC design places greater demands on the compiler</a:t>
            </a:r>
            <a:r>
              <a:rPr lang="en-IN" dirty="0" smtClean="0"/>
              <a:t>.</a:t>
            </a:r>
            <a:endParaRPr lang="en-I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IN" dirty="0"/>
              <a:t>In contrast, the traditional complex instruction set computer (CISC) relies more on the hardware for instruction functionality, and consequently the CISC instructions are more complicated.</a:t>
            </a:r>
          </a:p>
        </p:txBody>
      </p:sp>
    </p:spTree>
    <p:extLst>
      <p:ext uri="{BB962C8B-B14F-4D97-AF65-F5344CB8AC3E}">
        <p14:creationId xmlns:p14="http://schemas.microsoft.com/office/powerpoint/2010/main" val="28402259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85980-4D88-1DC2-8C0C-B44B1D2AF38E}"/>
              </a:ext>
            </a:extLst>
          </p:cNvPr>
          <p:cNvSpPr>
            <a:spLocks noGrp="1"/>
          </p:cNvSpPr>
          <p:nvPr>
            <p:ph type="title"/>
          </p:nvPr>
        </p:nvSpPr>
        <p:spPr>
          <a:xfrm>
            <a:off x="419100" y="25400"/>
            <a:ext cx="8229600" cy="609600"/>
          </a:xfrm>
        </p:spPr>
        <p:txBody>
          <a:bodyPr>
            <a:normAutofit/>
          </a:bodyPr>
          <a:lstStyle/>
          <a:p>
            <a:r>
              <a:rPr lang="en-US" sz="2400" dirty="0"/>
              <a:t>Differences between RISC and CISC</a:t>
            </a:r>
          </a:p>
        </p:txBody>
      </p:sp>
      <p:graphicFrame>
        <p:nvGraphicFramePr>
          <p:cNvPr id="5" name="Content Placeholder 4"/>
          <p:cNvGraphicFramePr>
            <a:graphicFrameLocks noGrp="1"/>
          </p:cNvGraphicFramePr>
          <p:nvPr>
            <p:ph idx="1"/>
            <p:extLst/>
          </p:nvPr>
        </p:nvGraphicFramePr>
        <p:xfrm>
          <a:off x="228600" y="914400"/>
          <a:ext cx="8610600" cy="5704249"/>
        </p:xfrm>
        <a:graphic>
          <a:graphicData uri="http://schemas.openxmlformats.org/drawingml/2006/table">
            <a:tbl>
              <a:tblPr firstRow="1" firstCol="1" bandRow="1">
                <a:tableStyleId>{5C22544A-7EE6-4342-B048-85BDC9FD1C3A}</a:tableStyleId>
              </a:tblPr>
              <a:tblGrid>
                <a:gridCol w="533400">
                  <a:extLst>
                    <a:ext uri="{9D8B030D-6E8A-4147-A177-3AD203B41FA5}">
                      <a16:colId xmlns:a16="http://schemas.microsoft.com/office/drawing/2014/main" val="4113880361"/>
                    </a:ext>
                  </a:extLst>
                </a:gridCol>
                <a:gridCol w="3659206">
                  <a:extLst>
                    <a:ext uri="{9D8B030D-6E8A-4147-A177-3AD203B41FA5}">
                      <a16:colId xmlns:a16="http://schemas.microsoft.com/office/drawing/2014/main" val="2007822171"/>
                    </a:ext>
                  </a:extLst>
                </a:gridCol>
                <a:gridCol w="4417994">
                  <a:extLst>
                    <a:ext uri="{9D8B030D-6E8A-4147-A177-3AD203B41FA5}">
                      <a16:colId xmlns:a16="http://schemas.microsoft.com/office/drawing/2014/main" val="444926210"/>
                    </a:ext>
                  </a:extLst>
                </a:gridCol>
              </a:tblGrid>
              <a:tr h="456534">
                <a:tc>
                  <a:txBody>
                    <a:bodyPr/>
                    <a:lstStyle/>
                    <a:p>
                      <a:pPr>
                        <a:lnSpc>
                          <a:spcPct val="107000"/>
                        </a:lnSpc>
                        <a:spcAft>
                          <a:spcPts val="0"/>
                        </a:spcAft>
                      </a:pPr>
                      <a:r>
                        <a:rPr lang="en-IN" sz="1600" dirty="0" err="1">
                          <a:effectLst/>
                        </a:rPr>
                        <a:t>Sl</a:t>
                      </a:r>
                      <a:r>
                        <a:rPr lang="en-IN" sz="1600" dirty="0">
                          <a:effectLst/>
                        </a:rPr>
                        <a:t> No</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gn="ctr">
                        <a:lnSpc>
                          <a:spcPct val="107000"/>
                        </a:lnSpc>
                        <a:spcAft>
                          <a:spcPts val="0"/>
                        </a:spcAft>
                      </a:pPr>
                      <a:r>
                        <a:rPr lang="en-US" sz="1600" dirty="0">
                          <a:effectLst/>
                        </a:rPr>
                        <a:t>CISC</a:t>
                      </a:r>
                      <a:endParaRPr lang="en-IN" sz="1600" dirty="0">
                        <a:effectLst/>
                      </a:endParaRPr>
                    </a:p>
                    <a:p>
                      <a:pPr algn="ctr">
                        <a:lnSpc>
                          <a:spcPct val="107000"/>
                        </a:lnSpc>
                        <a:spcAft>
                          <a:spcPts val="0"/>
                        </a:spcAft>
                      </a:pPr>
                      <a:r>
                        <a:rPr lang="en-IN" sz="1600" dirty="0">
                          <a:effectLst/>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gn="ctr">
                        <a:lnSpc>
                          <a:spcPct val="107000"/>
                        </a:lnSpc>
                        <a:spcAft>
                          <a:spcPts val="0"/>
                        </a:spcAft>
                      </a:pPr>
                      <a:r>
                        <a:rPr lang="en-US" sz="1600" dirty="0">
                          <a:effectLst/>
                        </a:rPr>
                        <a:t>RISC</a:t>
                      </a:r>
                      <a:endParaRPr lang="en-IN" sz="1600" dirty="0">
                        <a:effectLst/>
                      </a:endParaRPr>
                    </a:p>
                    <a:p>
                      <a:pPr algn="ctr">
                        <a:lnSpc>
                          <a:spcPct val="107000"/>
                        </a:lnSpc>
                        <a:spcAft>
                          <a:spcPts val="0"/>
                        </a:spcAft>
                      </a:pPr>
                      <a:r>
                        <a:rPr lang="en-IN" sz="1600" dirty="0">
                          <a:effectLst/>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extLst>
                  <a:ext uri="{0D108BD9-81ED-4DB2-BD59-A6C34878D82A}">
                    <a16:rowId xmlns:a16="http://schemas.microsoft.com/office/drawing/2014/main" val="2503826370"/>
                  </a:ext>
                </a:extLst>
              </a:tr>
              <a:tr h="456534">
                <a:tc>
                  <a:txBody>
                    <a:bodyPr/>
                    <a:lstStyle/>
                    <a:p>
                      <a:pPr>
                        <a:lnSpc>
                          <a:spcPct val="107000"/>
                        </a:lnSpc>
                        <a:spcAft>
                          <a:spcPts val="0"/>
                        </a:spcAft>
                      </a:pPr>
                      <a:r>
                        <a:rPr lang="en-IN" sz="1100">
                          <a:effectLst/>
                        </a:rPr>
                        <a:t>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dirty="0">
                          <a:effectLst/>
                        </a:rPr>
                        <a:t>CISC is the short form for Complex Instruction Set Computer.</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dirty="0">
                          <a:effectLst/>
                        </a:rPr>
                        <a:t>RISC refers to Reduced Instruction Set Computer.</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extLst>
                  <a:ext uri="{0D108BD9-81ED-4DB2-BD59-A6C34878D82A}">
                    <a16:rowId xmlns:a16="http://schemas.microsoft.com/office/drawing/2014/main" val="407187715"/>
                  </a:ext>
                </a:extLst>
              </a:tr>
              <a:tr h="228268">
                <a:tc>
                  <a:txBody>
                    <a:bodyPr/>
                    <a:lstStyle/>
                    <a:p>
                      <a:pPr>
                        <a:lnSpc>
                          <a:spcPct val="107000"/>
                        </a:lnSpc>
                        <a:spcAft>
                          <a:spcPts val="0"/>
                        </a:spcAft>
                      </a:pPr>
                      <a:r>
                        <a:rPr lang="en-IN" sz="1100" dirty="0">
                          <a:effectLst/>
                        </a:rPr>
                        <a:t>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a:effectLst/>
                        </a:rPr>
                        <a:t>Instruction format is variable</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a:effectLst/>
                        </a:rPr>
                        <a:t>Instruction format is Fixed</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extLst>
                  <a:ext uri="{0D108BD9-81ED-4DB2-BD59-A6C34878D82A}">
                    <a16:rowId xmlns:a16="http://schemas.microsoft.com/office/drawing/2014/main" val="329095529"/>
                  </a:ext>
                </a:extLst>
              </a:tr>
              <a:tr h="1117094">
                <a:tc>
                  <a:txBody>
                    <a:bodyPr/>
                    <a:lstStyle/>
                    <a:p>
                      <a:pPr>
                        <a:lnSpc>
                          <a:spcPct val="107000"/>
                        </a:lnSpc>
                        <a:spcAft>
                          <a:spcPts val="0"/>
                        </a:spcAft>
                      </a:pPr>
                      <a:r>
                        <a:rPr lang="en-IN" sz="1100" dirty="0">
                          <a:effectLst/>
                        </a:rPr>
                        <a:t>3</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dirty="0">
                          <a:effectLst/>
                        </a:rPr>
                        <a:t>The CISC architecture processes complex instructions that require several clock cycles for execution. On average, it takes two to five clock cycles per instruction (CPI).</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a:effectLst/>
                        </a:rPr>
                        <a:t>The RISC architecture executes simple yet optimized instructions in a single clock cycle. It processes instructions at an average speed of 1.5 clock cycles per instruction (CPI).</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extLst>
                  <a:ext uri="{0D108BD9-81ED-4DB2-BD59-A6C34878D82A}">
                    <a16:rowId xmlns:a16="http://schemas.microsoft.com/office/drawing/2014/main" val="3216516910"/>
                  </a:ext>
                </a:extLst>
              </a:tr>
              <a:tr h="456534">
                <a:tc>
                  <a:txBody>
                    <a:bodyPr/>
                    <a:lstStyle/>
                    <a:p>
                      <a:pPr>
                        <a:lnSpc>
                          <a:spcPct val="107000"/>
                        </a:lnSpc>
                        <a:spcAft>
                          <a:spcPts val="0"/>
                        </a:spcAft>
                      </a:pPr>
                      <a:r>
                        <a:rPr lang="en-IN" sz="1100">
                          <a:effectLst/>
                        </a:rPr>
                        <a:t>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a:effectLst/>
                        </a:rPr>
                        <a:t>CISC focuses on hardware, such as transistors, to execute instructions.</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a:effectLst/>
                        </a:rPr>
                        <a:t>RISC focuses more on software such as codes or compilers to execute instructions.</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extLst>
                  <a:ext uri="{0D108BD9-81ED-4DB2-BD59-A6C34878D82A}">
                    <a16:rowId xmlns:a16="http://schemas.microsoft.com/office/drawing/2014/main" val="1383415285"/>
                  </a:ext>
                </a:extLst>
              </a:tr>
              <a:tr h="456534">
                <a:tc>
                  <a:txBody>
                    <a:bodyPr/>
                    <a:lstStyle/>
                    <a:p>
                      <a:pPr>
                        <a:lnSpc>
                          <a:spcPct val="107000"/>
                        </a:lnSpc>
                        <a:spcAft>
                          <a:spcPts val="0"/>
                        </a:spcAft>
                      </a:pPr>
                      <a:r>
                        <a:rPr lang="en-IN" sz="1100">
                          <a:effectLst/>
                        </a:rPr>
                        <a:t>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dirty="0">
                          <a:effectLst/>
                        </a:rPr>
                        <a:t>CISC uses a variety of instructions to accomplish complex tasks.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a:effectLst/>
                        </a:rPr>
                        <a:t>RISC is provided with a reduced instruction set, which is typically primitive in nature.</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extLst>
                  <a:ext uri="{0D108BD9-81ED-4DB2-BD59-A6C34878D82A}">
                    <a16:rowId xmlns:a16="http://schemas.microsoft.com/office/drawing/2014/main" val="859645745"/>
                  </a:ext>
                </a:extLst>
              </a:tr>
              <a:tr h="456534">
                <a:tc>
                  <a:txBody>
                    <a:bodyPr/>
                    <a:lstStyle/>
                    <a:p>
                      <a:pPr>
                        <a:lnSpc>
                          <a:spcPct val="107000"/>
                        </a:lnSpc>
                        <a:spcAft>
                          <a:spcPts val="0"/>
                        </a:spcAft>
                      </a:pPr>
                      <a:r>
                        <a:rPr lang="en-IN" sz="1100">
                          <a:effectLst/>
                        </a:rPr>
                        <a:t>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a:effectLst/>
                        </a:rPr>
                        <a:t>A CISC processor works with 16 bits to 64 bits to execute each instruction.</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a:effectLst/>
                        </a:rPr>
                        <a:t>A RISC processor utilizes 32 bits to execute each instruction.</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extLst>
                  <a:ext uri="{0D108BD9-81ED-4DB2-BD59-A6C34878D82A}">
                    <a16:rowId xmlns:a16="http://schemas.microsoft.com/office/drawing/2014/main" val="291909324"/>
                  </a:ext>
                </a:extLst>
              </a:tr>
              <a:tr h="1117094">
                <a:tc>
                  <a:txBody>
                    <a:bodyPr/>
                    <a:lstStyle/>
                    <a:p>
                      <a:pPr>
                        <a:lnSpc>
                          <a:spcPct val="107000"/>
                        </a:lnSpc>
                        <a:spcAft>
                          <a:spcPts val="0"/>
                        </a:spcAft>
                      </a:pPr>
                      <a:r>
                        <a:rPr lang="en-IN" sz="1100">
                          <a:effectLst/>
                        </a:rPr>
                        <a:t>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a:effectLst/>
                        </a:rPr>
                        <a:t>A CISC architecture uses one cache to store data as well as instructions. However, recent CISC designs employ split caches to divide data and instructions.</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dirty="0">
                          <a:effectLst/>
                        </a:rPr>
                        <a:t>The RISC architecture relies on split caches, one for data and the other for instructions.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extLst>
                  <a:ext uri="{0D108BD9-81ED-4DB2-BD59-A6C34878D82A}">
                    <a16:rowId xmlns:a16="http://schemas.microsoft.com/office/drawing/2014/main" val="3964387470"/>
                  </a:ext>
                </a:extLst>
              </a:tr>
              <a:tr h="893675">
                <a:tc>
                  <a:txBody>
                    <a:bodyPr/>
                    <a:lstStyle/>
                    <a:p>
                      <a:pPr>
                        <a:lnSpc>
                          <a:spcPct val="107000"/>
                        </a:lnSpc>
                        <a:spcAft>
                          <a:spcPts val="0"/>
                        </a:spcAft>
                      </a:pPr>
                      <a:r>
                        <a:rPr lang="en-IN" sz="1100">
                          <a:effectLst/>
                        </a:rPr>
                        <a:t>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a:effectLst/>
                        </a:rPr>
                        <a:t>CISC processors use a memory-to-memory framework to execute instructions such as ADD, LOAD, and even STORE.</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tc>
                  <a:txBody>
                    <a:bodyPr/>
                    <a:lstStyle/>
                    <a:p>
                      <a:pPr>
                        <a:lnSpc>
                          <a:spcPct val="107000"/>
                        </a:lnSpc>
                        <a:spcAft>
                          <a:spcPts val="0"/>
                        </a:spcAft>
                      </a:pPr>
                      <a:r>
                        <a:rPr lang="en-IN" sz="1400" dirty="0">
                          <a:effectLst/>
                        </a:rPr>
                        <a:t>RISC processors rely on a register-to-register mechanism to execute ADD, STORE, and independent LOAD instructions.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123" marR="67123" marT="0" marB="0"/>
                </a:tc>
                <a:extLst>
                  <a:ext uri="{0D108BD9-81ED-4DB2-BD59-A6C34878D82A}">
                    <a16:rowId xmlns:a16="http://schemas.microsoft.com/office/drawing/2014/main" val="1690332041"/>
                  </a:ext>
                </a:extLst>
              </a:tr>
            </a:tbl>
          </a:graphicData>
        </a:graphic>
      </p:graphicFrame>
    </p:spTree>
    <p:extLst>
      <p:ext uri="{BB962C8B-B14F-4D97-AF65-F5344CB8AC3E}">
        <p14:creationId xmlns:p14="http://schemas.microsoft.com/office/powerpoint/2010/main" val="8143978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85980-4D88-1DC2-8C0C-B44B1D2AF38E}"/>
              </a:ext>
            </a:extLst>
          </p:cNvPr>
          <p:cNvSpPr>
            <a:spLocks noGrp="1"/>
          </p:cNvSpPr>
          <p:nvPr>
            <p:ph type="title"/>
          </p:nvPr>
        </p:nvSpPr>
        <p:spPr>
          <a:xfrm>
            <a:off x="457200" y="-76200"/>
            <a:ext cx="8229600" cy="609600"/>
          </a:xfrm>
        </p:spPr>
        <p:txBody>
          <a:bodyPr>
            <a:normAutofit/>
          </a:bodyPr>
          <a:lstStyle/>
          <a:p>
            <a:r>
              <a:rPr lang="en-US" sz="2400" dirty="0"/>
              <a:t>Differences between RISC and </a:t>
            </a:r>
            <a:r>
              <a:rPr lang="en-US" sz="2400" dirty="0" smtClean="0"/>
              <a:t>CISC contd..</a:t>
            </a:r>
            <a:endParaRPr lang="en-US" sz="2400" dirty="0"/>
          </a:p>
        </p:txBody>
      </p:sp>
      <p:graphicFrame>
        <p:nvGraphicFramePr>
          <p:cNvPr id="4" name="Content Placeholder 3"/>
          <p:cNvGraphicFramePr>
            <a:graphicFrameLocks noGrp="1"/>
          </p:cNvGraphicFramePr>
          <p:nvPr>
            <p:ph idx="1"/>
            <p:extLst/>
          </p:nvPr>
        </p:nvGraphicFramePr>
        <p:xfrm>
          <a:off x="152400" y="685801"/>
          <a:ext cx="8991600" cy="6140026"/>
        </p:xfrm>
        <a:graphic>
          <a:graphicData uri="http://schemas.openxmlformats.org/drawingml/2006/table">
            <a:tbl>
              <a:tblPr firstRow="1" firstCol="1" bandRow="1">
                <a:tableStyleId>{5C22544A-7EE6-4342-B048-85BDC9FD1C3A}</a:tableStyleId>
              </a:tblPr>
              <a:tblGrid>
                <a:gridCol w="702095">
                  <a:extLst>
                    <a:ext uri="{9D8B030D-6E8A-4147-A177-3AD203B41FA5}">
                      <a16:colId xmlns:a16="http://schemas.microsoft.com/office/drawing/2014/main" val="2360135193"/>
                    </a:ext>
                  </a:extLst>
                </a:gridCol>
                <a:gridCol w="3676024">
                  <a:extLst>
                    <a:ext uri="{9D8B030D-6E8A-4147-A177-3AD203B41FA5}">
                      <a16:colId xmlns:a16="http://schemas.microsoft.com/office/drawing/2014/main" val="1985011340"/>
                    </a:ext>
                  </a:extLst>
                </a:gridCol>
                <a:gridCol w="4613481">
                  <a:extLst>
                    <a:ext uri="{9D8B030D-6E8A-4147-A177-3AD203B41FA5}">
                      <a16:colId xmlns:a16="http://schemas.microsoft.com/office/drawing/2014/main" val="407984839"/>
                    </a:ext>
                  </a:extLst>
                </a:gridCol>
              </a:tblGrid>
              <a:tr h="608965">
                <a:tc>
                  <a:txBody>
                    <a:bodyPr/>
                    <a:lstStyle/>
                    <a:p>
                      <a:pPr>
                        <a:lnSpc>
                          <a:spcPct val="107000"/>
                        </a:lnSpc>
                        <a:spcAft>
                          <a:spcPts val="0"/>
                        </a:spcAft>
                      </a:pPr>
                      <a:r>
                        <a:rPr lang="en-IN" sz="1400">
                          <a:effectLst/>
                        </a:rPr>
                        <a:t>9</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The CISC architecture uses only one register set.</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The RISC architecture utilizes multiple register sets.</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extLst>
                  <a:ext uri="{0D108BD9-81ED-4DB2-BD59-A6C34878D82A}">
                    <a16:rowId xmlns:a16="http://schemas.microsoft.com/office/drawing/2014/main" val="157164557"/>
                  </a:ext>
                </a:extLst>
              </a:tr>
              <a:tr h="834906">
                <a:tc>
                  <a:txBody>
                    <a:bodyPr/>
                    <a:lstStyle/>
                    <a:p>
                      <a:pPr>
                        <a:lnSpc>
                          <a:spcPct val="107000"/>
                        </a:lnSpc>
                        <a:spcAft>
                          <a:spcPts val="0"/>
                        </a:spcAft>
                      </a:pPr>
                      <a:r>
                        <a:rPr lang="en-IN" sz="1400">
                          <a:effectLst/>
                        </a:rPr>
                        <a:t>10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Since CISC devices operate in a multi-clock environment, it supports addressing modes in the range of 12 to 24.</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Since RISC machines operate on single clock cycles, it has limited addressing modes.</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extLst>
                  <a:ext uri="{0D108BD9-81ED-4DB2-BD59-A6C34878D82A}">
                    <a16:rowId xmlns:a16="http://schemas.microsoft.com/office/drawing/2014/main" val="1612956880"/>
                  </a:ext>
                </a:extLst>
              </a:tr>
              <a:tr h="626179">
                <a:tc>
                  <a:txBody>
                    <a:bodyPr/>
                    <a:lstStyle/>
                    <a:p>
                      <a:pPr>
                        <a:lnSpc>
                          <a:spcPct val="107000"/>
                        </a:lnSpc>
                        <a:spcAft>
                          <a:spcPts val="0"/>
                        </a:spcAft>
                      </a:pPr>
                      <a:r>
                        <a:rPr lang="en-IN" sz="1400">
                          <a:effectLst/>
                        </a:rPr>
                        <a:t>11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dirty="0">
                          <a:effectLst/>
                        </a:rPr>
                        <a:t>CISC processors are capable of processing high-level programming language statements more efficiently</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Since RISC processors support a limited set of addressing modes, complex instructions are synthesized through software codes.</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extLst>
                  <a:ext uri="{0D108BD9-81ED-4DB2-BD59-A6C34878D82A}">
                    <a16:rowId xmlns:a16="http://schemas.microsoft.com/office/drawing/2014/main" val="3413789478"/>
                  </a:ext>
                </a:extLst>
              </a:tr>
              <a:tr h="626179">
                <a:tc>
                  <a:txBody>
                    <a:bodyPr/>
                    <a:lstStyle/>
                    <a:p>
                      <a:pPr>
                        <a:lnSpc>
                          <a:spcPct val="107000"/>
                        </a:lnSpc>
                        <a:spcAft>
                          <a:spcPts val="0"/>
                        </a:spcAft>
                      </a:pPr>
                      <a:r>
                        <a:rPr lang="en-IN" sz="1400">
                          <a:effectLst/>
                        </a:rPr>
                        <a:t>12</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CISC does not support parallelism and pipelining. As such, CISC instructions are less pipelined.</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RISC processors support instruction pipelining.</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extLst>
                  <a:ext uri="{0D108BD9-81ED-4DB2-BD59-A6C34878D82A}">
                    <a16:rowId xmlns:a16="http://schemas.microsoft.com/office/drawing/2014/main" val="258078599"/>
                  </a:ext>
                </a:extLst>
              </a:tr>
              <a:tr h="417452">
                <a:tc>
                  <a:txBody>
                    <a:bodyPr/>
                    <a:lstStyle/>
                    <a:p>
                      <a:pPr>
                        <a:lnSpc>
                          <a:spcPct val="107000"/>
                        </a:lnSpc>
                        <a:spcAft>
                          <a:spcPts val="0"/>
                        </a:spcAft>
                      </a:pPr>
                      <a:r>
                        <a:rPr lang="en-IN" sz="1400">
                          <a:effectLst/>
                        </a:rPr>
                        <a:t>13</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CISC instructions require high execution time.</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RISC instructions require less time for execution.</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extLst>
                  <a:ext uri="{0D108BD9-81ED-4DB2-BD59-A6C34878D82A}">
                    <a16:rowId xmlns:a16="http://schemas.microsoft.com/office/drawing/2014/main" val="1129580193"/>
                  </a:ext>
                </a:extLst>
              </a:tr>
              <a:tr h="1043633">
                <a:tc>
                  <a:txBody>
                    <a:bodyPr/>
                    <a:lstStyle/>
                    <a:p>
                      <a:pPr>
                        <a:lnSpc>
                          <a:spcPct val="107000"/>
                        </a:lnSpc>
                        <a:spcAft>
                          <a:spcPts val="0"/>
                        </a:spcAft>
                      </a:pPr>
                      <a:r>
                        <a:rPr lang="en-IN" sz="1400">
                          <a:effectLst/>
                        </a:rPr>
                        <a:t>14</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r>
                        <a:rPr lang="en-IN" sz="1400">
                          <a:effectLst/>
                        </a:rPr>
                        <a:t>Some examples of CISC processors include Intel x86 CPUs, Motorola 68000 family,AMD(Advanced Micro Devices), 8086 family, 8051.</a:t>
                      </a:r>
                      <a:endParaRPr lang="en-IN" sz="1400">
                        <a:effectLst/>
                        <a:latin typeface="Calibri" panose="020F0502020204030204" pitchFamily="34" charset="0"/>
                        <a:ea typeface="Times New Roman" panose="02020603050405020304" pitchFamily="18"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Examples of RISC processors include ARM(Advance Risc machine), MIPS(Microprocessor without Interlocked Pipeline Stages), SPARC(Scalable Processor Architecture), Power, RISC-V</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extLst>
                  <a:ext uri="{0D108BD9-81ED-4DB2-BD59-A6C34878D82A}">
                    <a16:rowId xmlns:a16="http://schemas.microsoft.com/office/drawing/2014/main" val="1829184339"/>
                  </a:ext>
                </a:extLst>
              </a:tr>
              <a:tr h="626179">
                <a:tc>
                  <a:txBody>
                    <a:bodyPr/>
                    <a:lstStyle/>
                    <a:p>
                      <a:pPr>
                        <a:lnSpc>
                          <a:spcPct val="107000"/>
                        </a:lnSpc>
                        <a:spcAft>
                          <a:spcPts val="0"/>
                        </a:spcAft>
                      </a:pPr>
                      <a:r>
                        <a:rPr lang="en-IN" sz="1400">
                          <a:effectLst/>
                        </a:rPr>
                        <a:t>15</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CISC processors are used for low-end applications such as home automation devices, security systems, etc.</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RISC processors are suitable for high-end applications, including image and video processing, telecommunications, etc.</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extLst>
                  <a:ext uri="{0D108BD9-81ED-4DB2-BD59-A6C34878D82A}">
                    <a16:rowId xmlns:a16="http://schemas.microsoft.com/office/drawing/2014/main" val="406824218"/>
                  </a:ext>
                </a:extLst>
              </a:tr>
              <a:tr h="209364">
                <a:tc>
                  <a:txBody>
                    <a:bodyPr/>
                    <a:lstStyle/>
                    <a:p>
                      <a:pPr>
                        <a:lnSpc>
                          <a:spcPct val="107000"/>
                        </a:lnSpc>
                        <a:spcAft>
                          <a:spcPts val="0"/>
                        </a:spcAft>
                      </a:pPr>
                      <a:r>
                        <a:rPr lang="en-IN" sz="1400">
                          <a:effectLst/>
                        </a:rPr>
                        <a:t>16</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ADD AX, BX</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ADD R3, R1, R2</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extLst>
                  <a:ext uri="{0D108BD9-81ED-4DB2-BD59-A6C34878D82A}">
                    <a16:rowId xmlns:a16="http://schemas.microsoft.com/office/drawing/2014/main" val="2292130919"/>
                  </a:ext>
                </a:extLst>
              </a:tr>
              <a:tr h="837455">
                <a:tc>
                  <a:txBody>
                    <a:bodyPr/>
                    <a:lstStyle/>
                    <a:p>
                      <a:pPr>
                        <a:lnSpc>
                          <a:spcPct val="107000"/>
                        </a:lnSpc>
                        <a:spcAft>
                          <a:spcPts val="0"/>
                        </a:spcAft>
                      </a:pPr>
                      <a:r>
                        <a:rPr lang="en-IN" sz="1400">
                          <a:effectLst/>
                        </a:rPr>
                        <a:t>17</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a:effectLst/>
                        </a:rPr>
                        <a:t>MOV AX, A      ; Load A into AX</a:t>
                      </a:r>
                    </a:p>
                    <a:p>
                      <a:pPr>
                        <a:lnSpc>
                          <a:spcPct val="107000"/>
                        </a:lnSpc>
                        <a:spcAft>
                          <a:spcPts val="0"/>
                        </a:spcAft>
                      </a:pPr>
                      <a:r>
                        <a:rPr lang="en-IN" sz="1400">
                          <a:effectLst/>
                        </a:rPr>
                        <a:t>ADD AX, B      ; AX = AX + B (memory operand)</a:t>
                      </a:r>
                    </a:p>
                    <a:p>
                      <a:pPr>
                        <a:lnSpc>
                          <a:spcPct val="107000"/>
                        </a:lnSpc>
                        <a:spcAft>
                          <a:spcPts val="0"/>
                        </a:spcAft>
                      </a:pPr>
                      <a:r>
                        <a:rPr lang="en-IN" sz="1400">
                          <a:effectLst/>
                        </a:rPr>
                        <a:t>MOV C, AX      ; Store result into C</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tc>
                  <a:txBody>
                    <a:bodyPr/>
                    <a:lstStyle/>
                    <a:p>
                      <a:pPr>
                        <a:lnSpc>
                          <a:spcPct val="107000"/>
                        </a:lnSpc>
                        <a:spcAft>
                          <a:spcPts val="0"/>
                        </a:spcAft>
                      </a:pPr>
                      <a:r>
                        <a:rPr lang="en-IN" sz="1400" dirty="0">
                          <a:effectLst/>
                        </a:rPr>
                        <a:t>LDR R1, A      ; Load A into register R1</a:t>
                      </a:r>
                    </a:p>
                    <a:p>
                      <a:pPr>
                        <a:lnSpc>
                          <a:spcPct val="107000"/>
                        </a:lnSpc>
                        <a:spcAft>
                          <a:spcPts val="0"/>
                        </a:spcAft>
                      </a:pPr>
                      <a:r>
                        <a:rPr lang="en-IN" sz="1400" dirty="0">
                          <a:effectLst/>
                        </a:rPr>
                        <a:t>LDR R2, B      ; Load B into register R2</a:t>
                      </a:r>
                    </a:p>
                    <a:p>
                      <a:pPr>
                        <a:lnSpc>
                          <a:spcPct val="107000"/>
                        </a:lnSpc>
                        <a:spcAft>
                          <a:spcPts val="0"/>
                        </a:spcAft>
                      </a:pPr>
                      <a:r>
                        <a:rPr lang="en-IN" sz="1400" dirty="0">
                          <a:effectLst/>
                        </a:rPr>
                        <a:t>ADD R3, R1, R2 ; R3 = R1 + R2</a:t>
                      </a:r>
                    </a:p>
                    <a:p>
                      <a:pPr>
                        <a:lnSpc>
                          <a:spcPct val="107000"/>
                        </a:lnSpc>
                        <a:spcAft>
                          <a:spcPts val="0"/>
                        </a:spcAft>
                      </a:pPr>
                      <a:r>
                        <a:rPr lang="en-IN" sz="1400" dirty="0">
                          <a:effectLst/>
                        </a:rPr>
                        <a:t>STR R3, C      ; Store result into C</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2151" marR="62151" marT="0" marB="0"/>
                </a:tc>
                <a:extLst>
                  <a:ext uri="{0D108BD9-81ED-4DB2-BD59-A6C34878D82A}">
                    <a16:rowId xmlns:a16="http://schemas.microsoft.com/office/drawing/2014/main" val="2248616144"/>
                  </a:ext>
                </a:extLst>
              </a:tr>
            </a:tbl>
          </a:graphicData>
        </a:graphic>
      </p:graphicFrame>
    </p:spTree>
    <p:extLst>
      <p:ext uri="{BB962C8B-B14F-4D97-AF65-F5344CB8AC3E}">
        <p14:creationId xmlns:p14="http://schemas.microsoft.com/office/powerpoint/2010/main" val="17600948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8763000" cy="1143000"/>
          </a:xfrm>
        </p:spPr>
        <p:txBody>
          <a:bodyPr>
            <a:normAutofit/>
          </a:bodyPr>
          <a:lstStyle/>
          <a:p>
            <a:r>
              <a:rPr lang="en-IN" dirty="0">
                <a:solidFill>
                  <a:srgbClr val="FF0000"/>
                </a:solidFill>
              </a:rPr>
              <a:t>RISC and CISC Major Differences</a:t>
            </a:r>
          </a:p>
        </p:txBody>
      </p:sp>
      <p:pic>
        <p:nvPicPr>
          <p:cNvPr id="1026" name="Picture 2"/>
          <p:cNvPicPr>
            <a:picLocks noGrp="1" noChangeAspect="1" noChangeArrowheads="1"/>
          </p:cNvPicPr>
          <p:nvPr>
            <p:ph idx="1"/>
          </p:nvPr>
        </p:nvPicPr>
        <p:blipFill>
          <a:blip r:embed="rId2"/>
          <a:srcRect/>
          <a:stretch>
            <a:fillRect/>
          </a:stretch>
        </p:blipFill>
        <p:spPr bwMode="auto">
          <a:xfrm>
            <a:off x="381000" y="1752600"/>
            <a:ext cx="8529212" cy="4267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0"/>
            <a:ext cx="9144000" cy="5791200"/>
          </a:xfrm>
        </p:spPr>
        <p:txBody>
          <a:bodyPr>
            <a:normAutofit fontScale="92500"/>
          </a:bodyPr>
          <a:lstStyle/>
          <a:p>
            <a:pPr>
              <a:buNone/>
            </a:pPr>
            <a:r>
              <a:rPr lang="en-IN" dirty="0" smtClean="0"/>
              <a:t>   The </a:t>
            </a:r>
            <a:r>
              <a:rPr lang="en-IN" dirty="0"/>
              <a:t>RISC philosophy is implemented with four major design rules:</a:t>
            </a:r>
          </a:p>
          <a:p>
            <a:pPr marL="514350" indent="-334963" algn="just">
              <a:buFont typeface="+mj-lt"/>
              <a:buAutoNum type="arabicPeriod"/>
            </a:pPr>
            <a:r>
              <a:rPr lang="en-IN" b="1" i="1" dirty="0">
                <a:solidFill>
                  <a:srgbClr val="C00000"/>
                </a:solidFill>
              </a:rPr>
              <a:t>Instructions</a:t>
            </a:r>
            <a:r>
              <a:rPr lang="en-IN" b="1" i="1" dirty="0" smtClean="0">
                <a:solidFill>
                  <a:srgbClr val="C00000"/>
                </a:solidFill>
              </a:rPr>
              <a:t>—</a:t>
            </a:r>
          </a:p>
          <a:p>
            <a:pPr marL="636587" indent="-457200" algn="just">
              <a:buFont typeface="Wingdings" panose="05000000000000000000" pitchFamily="2" charset="2"/>
              <a:buChar char="q"/>
            </a:pPr>
            <a:r>
              <a:rPr lang="en-IN" i="1" dirty="0" smtClean="0"/>
              <a:t>RISC </a:t>
            </a:r>
            <a:r>
              <a:rPr lang="en-IN" i="1" dirty="0"/>
              <a:t>processors have a reduced number of instruction classes. </a:t>
            </a:r>
            <a:endParaRPr lang="en-IN" i="1" dirty="0" smtClean="0"/>
          </a:p>
          <a:p>
            <a:pPr marL="636587" indent="-457200" algn="just">
              <a:buFont typeface="Wingdings" panose="05000000000000000000" pitchFamily="2" charset="2"/>
              <a:buChar char="q"/>
            </a:pPr>
            <a:r>
              <a:rPr lang="en-IN" i="1" dirty="0" smtClean="0"/>
              <a:t>These </a:t>
            </a:r>
            <a:r>
              <a:rPr lang="en-IN" dirty="0"/>
              <a:t>classes provide simple operations that can each execute in a single cycle</a:t>
            </a:r>
            <a:r>
              <a:rPr lang="en-IN" dirty="0" smtClean="0"/>
              <a:t>.</a:t>
            </a:r>
          </a:p>
          <a:p>
            <a:pPr marL="636587" indent="-457200" algn="just">
              <a:buFont typeface="Wingdings" panose="05000000000000000000" pitchFamily="2" charset="2"/>
              <a:buChar char="q"/>
            </a:pPr>
            <a:r>
              <a:rPr lang="en-IN" dirty="0" smtClean="0"/>
              <a:t> </a:t>
            </a:r>
            <a:r>
              <a:rPr lang="en-IN" dirty="0"/>
              <a:t>The compiler or programmer synthesizes complicated operations (for example, a divide operation) by combining several simple instructions</a:t>
            </a:r>
            <a:r>
              <a:rPr lang="en-IN" dirty="0" smtClean="0"/>
              <a:t>.</a:t>
            </a:r>
          </a:p>
          <a:p>
            <a:pPr marL="636587" indent="-457200" algn="just">
              <a:buFont typeface="Wingdings" panose="05000000000000000000" pitchFamily="2" charset="2"/>
              <a:buChar char="q"/>
            </a:pPr>
            <a:r>
              <a:rPr lang="en-IN" dirty="0" smtClean="0"/>
              <a:t> </a:t>
            </a:r>
            <a:r>
              <a:rPr lang="en-IN" dirty="0"/>
              <a:t>Each instruction is a fixed length to allow the pipeline to fetch future instructions before decoding the current instruction</a:t>
            </a:r>
            <a:r>
              <a:rPr lang="en-IN" dirty="0" smtClean="0"/>
              <a:t>.</a:t>
            </a:r>
          </a:p>
          <a:p>
            <a:pPr marL="636587" indent="-457200" algn="just">
              <a:buFont typeface="Wingdings" panose="05000000000000000000" pitchFamily="2" charset="2"/>
              <a:buChar char="q"/>
            </a:pPr>
            <a:r>
              <a:rPr lang="en-IN" dirty="0" smtClean="0"/>
              <a:t> </a:t>
            </a:r>
            <a:r>
              <a:rPr lang="en-IN" dirty="0"/>
              <a:t>In contrast, in CISC processors the instructions are often of variable size and take many cycles to execute.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90600"/>
            <a:ext cx="9144000" cy="5867400"/>
          </a:xfrm>
        </p:spPr>
        <p:txBody>
          <a:bodyPr>
            <a:normAutofit fontScale="92500" lnSpcReduction="10000"/>
          </a:bodyPr>
          <a:lstStyle/>
          <a:p>
            <a:pPr algn="just">
              <a:buNone/>
            </a:pPr>
            <a:r>
              <a:rPr lang="en-IN" dirty="0">
                <a:solidFill>
                  <a:schemeClr val="bg2">
                    <a:lumMod val="90000"/>
                  </a:schemeClr>
                </a:solidFill>
              </a:rPr>
              <a:t>2. </a:t>
            </a:r>
            <a:r>
              <a:rPr lang="en-IN" sz="3200" b="1" i="1" dirty="0">
                <a:solidFill>
                  <a:srgbClr val="C00000"/>
                </a:solidFill>
              </a:rPr>
              <a:t>Pipelines</a:t>
            </a:r>
            <a:r>
              <a:rPr lang="en-IN" sz="3200" b="1" i="1" dirty="0" smtClean="0">
                <a:solidFill>
                  <a:srgbClr val="C00000"/>
                </a:solidFill>
              </a:rPr>
              <a:t>—</a:t>
            </a:r>
          </a:p>
          <a:p>
            <a:pPr algn="just">
              <a:buFont typeface="Wingdings" panose="05000000000000000000" pitchFamily="2" charset="2"/>
              <a:buChar char="q"/>
            </a:pPr>
            <a:r>
              <a:rPr lang="en-IN" sz="3200" b="1" i="1" dirty="0">
                <a:solidFill>
                  <a:srgbClr val="C00000"/>
                </a:solidFill>
              </a:rPr>
              <a:t> </a:t>
            </a:r>
            <a:r>
              <a:rPr lang="en-IN" sz="3200" b="1" i="1" dirty="0" smtClean="0">
                <a:solidFill>
                  <a:srgbClr val="C00000"/>
                </a:solidFill>
              </a:rPr>
              <a:t>  </a:t>
            </a:r>
            <a:r>
              <a:rPr lang="en-IN" sz="3200" i="1" dirty="0" smtClean="0"/>
              <a:t>The </a:t>
            </a:r>
            <a:r>
              <a:rPr lang="en-IN" sz="3200" i="1" dirty="0"/>
              <a:t>processing of instructions is broken down into smaller units that can be </a:t>
            </a:r>
            <a:r>
              <a:rPr lang="en-IN" sz="3200" dirty="0"/>
              <a:t>executed in parallel by pipelines</a:t>
            </a:r>
            <a:r>
              <a:rPr lang="en-IN" sz="3200" dirty="0" smtClean="0"/>
              <a:t>.</a:t>
            </a:r>
          </a:p>
          <a:p>
            <a:pPr algn="just">
              <a:buFont typeface="Wingdings" panose="05000000000000000000" pitchFamily="2" charset="2"/>
              <a:buChar char="q"/>
            </a:pPr>
            <a:r>
              <a:rPr lang="en-IN" sz="3200" dirty="0"/>
              <a:t> </a:t>
            </a:r>
            <a:r>
              <a:rPr lang="en-IN" sz="3200" dirty="0" smtClean="0"/>
              <a:t>  </a:t>
            </a:r>
            <a:r>
              <a:rPr lang="en-IN" sz="3200" dirty="0"/>
              <a:t>Ideally the pipeline advances by one step on each cycle for maximum throughput. </a:t>
            </a:r>
            <a:endParaRPr lang="en-IN" sz="3200" dirty="0" smtClean="0"/>
          </a:p>
          <a:p>
            <a:pPr algn="just">
              <a:buFont typeface="Wingdings" panose="05000000000000000000" pitchFamily="2" charset="2"/>
              <a:buChar char="q"/>
            </a:pPr>
            <a:r>
              <a:rPr lang="en-IN" sz="3200" dirty="0"/>
              <a:t> </a:t>
            </a:r>
            <a:r>
              <a:rPr lang="en-IN" sz="3200" dirty="0" smtClean="0"/>
              <a:t>  Instructions </a:t>
            </a:r>
            <a:r>
              <a:rPr lang="en-IN" sz="3200" dirty="0"/>
              <a:t>can be decoded in one pipeline stage</a:t>
            </a:r>
            <a:r>
              <a:rPr lang="en-IN" sz="3200" dirty="0" smtClean="0"/>
              <a:t>.</a:t>
            </a:r>
          </a:p>
          <a:p>
            <a:pPr algn="just">
              <a:buFont typeface="Wingdings" panose="05000000000000000000" pitchFamily="2" charset="2"/>
              <a:buChar char="q"/>
            </a:pPr>
            <a:r>
              <a:rPr lang="en-IN" sz="3200" dirty="0"/>
              <a:t> </a:t>
            </a:r>
            <a:r>
              <a:rPr lang="en-IN" sz="3200" dirty="0" smtClean="0"/>
              <a:t> </a:t>
            </a:r>
            <a:r>
              <a:rPr lang="en-IN" sz="3200" dirty="0"/>
              <a:t>There is no need for an instruction to be executed by a mini-program called microcode as on CISC processors.</a:t>
            </a:r>
          </a:p>
          <a:p>
            <a:pPr algn="just">
              <a:buNone/>
            </a:pPr>
            <a:endParaRPr lang="en-IN" dirty="0"/>
          </a:p>
          <a:p>
            <a:pPr algn="just">
              <a:buNone/>
            </a:pPr>
            <a:r>
              <a:rPr lang="en-IN" dirty="0">
                <a:solidFill>
                  <a:schemeClr val="bg2">
                    <a:lumMod val="90000"/>
                  </a:schemeClr>
                </a:solidFill>
              </a:rPr>
              <a:t>3.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90600"/>
            <a:ext cx="9144000" cy="5867400"/>
          </a:xfrm>
        </p:spPr>
        <p:txBody>
          <a:bodyPr>
            <a:normAutofit/>
          </a:bodyPr>
          <a:lstStyle/>
          <a:p>
            <a:pPr algn="just">
              <a:buNone/>
            </a:pPr>
            <a:endParaRPr lang="en-IN" dirty="0"/>
          </a:p>
          <a:p>
            <a:pPr algn="just">
              <a:buNone/>
            </a:pPr>
            <a:r>
              <a:rPr lang="en-IN" dirty="0">
                <a:solidFill>
                  <a:schemeClr val="bg2">
                    <a:lumMod val="90000"/>
                  </a:schemeClr>
                </a:solidFill>
              </a:rPr>
              <a:t>3. </a:t>
            </a:r>
            <a:r>
              <a:rPr lang="en-IN" sz="3200" b="1" i="1" dirty="0">
                <a:solidFill>
                  <a:srgbClr val="C00000"/>
                </a:solidFill>
              </a:rPr>
              <a:t>Registers</a:t>
            </a:r>
            <a:r>
              <a:rPr lang="en-IN" sz="3200" b="1" i="1" dirty="0" smtClean="0">
                <a:solidFill>
                  <a:srgbClr val="C00000"/>
                </a:solidFill>
              </a:rPr>
              <a:t>—</a:t>
            </a:r>
          </a:p>
          <a:p>
            <a:pPr algn="just">
              <a:buFont typeface="Wingdings" panose="05000000000000000000" pitchFamily="2" charset="2"/>
              <a:buChar char="q"/>
            </a:pPr>
            <a:r>
              <a:rPr lang="en-IN" sz="3200" b="1" i="1" dirty="0">
                <a:solidFill>
                  <a:srgbClr val="C00000"/>
                </a:solidFill>
              </a:rPr>
              <a:t>	</a:t>
            </a:r>
            <a:r>
              <a:rPr lang="en-IN" sz="3200" dirty="0" smtClean="0"/>
              <a:t>RISC </a:t>
            </a:r>
            <a:r>
              <a:rPr lang="en-IN" sz="3200" dirty="0"/>
              <a:t>machines have a large general-purpose register set</a:t>
            </a:r>
            <a:r>
              <a:rPr lang="en-IN" sz="3200" dirty="0" smtClean="0"/>
              <a:t>.</a:t>
            </a:r>
          </a:p>
          <a:p>
            <a:pPr algn="just">
              <a:buFont typeface="Wingdings" panose="05000000000000000000" pitchFamily="2" charset="2"/>
              <a:buChar char="q"/>
            </a:pPr>
            <a:r>
              <a:rPr lang="en-IN" sz="3200" dirty="0"/>
              <a:t> </a:t>
            </a:r>
            <a:r>
              <a:rPr lang="en-IN" sz="3200" dirty="0" smtClean="0"/>
              <a:t> </a:t>
            </a:r>
            <a:r>
              <a:rPr lang="en-IN" sz="3200" dirty="0"/>
              <a:t>Any register can contain either data or an address. Registers act as the fast local memory store for all data processing operations. </a:t>
            </a:r>
            <a:endParaRPr lang="en-IN" sz="3200" dirty="0" smtClean="0"/>
          </a:p>
          <a:p>
            <a:pPr algn="just">
              <a:buFont typeface="Wingdings" panose="05000000000000000000" pitchFamily="2" charset="2"/>
              <a:buChar char="q"/>
            </a:pPr>
            <a:r>
              <a:rPr lang="en-IN" sz="3200" dirty="0"/>
              <a:t> </a:t>
            </a:r>
            <a:r>
              <a:rPr lang="en-IN" sz="3200" dirty="0" smtClean="0"/>
              <a:t> In </a:t>
            </a:r>
            <a:r>
              <a:rPr lang="en-IN" sz="3200" dirty="0"/>
              <a:t>contrast, CISC processors have dedicated registers for specific purposes.</a:t>
            </a:r>
          </a:p>
          <a:p>
            <a:pPr algn="just">
              <a:buNone/>
            </a:pPr>
            <a:endParaRPr lang="en-IN" dirty="0">
              <a:solidFill>
                <a:schemeClr val="bg2">
                  <a:lumMod val="90000"/>
                </a:schemeClr>
              </a:solidFill>
            </a:endParaRPr>
          </a:p>
        </p:txBody>
      </p:sp>
    </p:spTree>
    <p:extLst>
      <p:ext uri="{BB962C8B-B14F-4D97-AF65-F5344CB8AC3E}">
        <p14:creationId xmlns:p14="http://schemas.microsoft.com/office/powerpoint/2010/main" val="38172389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90600"/>
            <a:ext cx="9144000" cy="5867400"/>
          </a:xfrm>
        </p:spPr>
        <p:txBody>
          <a:bodyPr>
            <a:normAutofit/>
          </a:bodyPr>
          <a:lstStyle/>
          <a:p>
            <a:pPr algn="just">
              <a:lnSpc>
                <a:spcPct val="150000"/>
              </a:lnSpc>
              <a:buNone/>
            </a:pPr>
            <a:r>
              <a:rPr lang="en-IN" dirty="0">
                <a:solidFill>
                  <a:schemeClr val="bg2">
                    <a:lumMod val="90000"/>
                  </a:schemeClr>
                </a:solidFill>
              </a:rPr>
              <a:t>4.</a:t>
            </a:r>
            <a:r>
              <a:rPr lang="en-IN" i="1" dirty="0"/>
              <a:t> </a:t>
            </a:r>
            <a:r>
              <a:rPr lang="en-IN" b="1" i="1" dirty="0">
                <a:solidFill>
                  <a:srgbClr val="C00000"/>
                </a:solidFill>
              </a:rPr>
              <a:t>Load-store </a:t>
            </a:r>
            <a:r>
              <a:rPr lang="en-IN" b="1" i="1" dirty="0" smtClean="0">
                <a:solidFill>
                  <a:srgbClr val="C00000"/>
                </a:solidFill>
              </a:rPr>
              <a:t>architecture:</a:t>
            </a:r>
          </a:p>
          <a:p>
            <a:pPr algn="just">
              <a:buFont typeface="Wingdings" panose="05000000000000000000" pitchFamily="2" charset="2"/>
              <a:buChar char="q"/>
            </a:pPr>
            <a:r>
              <a:rPr lang="en-IN" b="1" i="1" dirty="0">
                <a:solidFill>
                  <a:srgbClr val="C00000"/>
                </a:solidFill>
              </a:rPr>
              <a:t>	</a:t>
            </a:r>
            <a:r>
              <a:rPr lang="en-IN" sz="2800" i="1" dirty="0" smtClean="0"/>
              <a:t>The </a:t>
            </a:r>
            <a:r>
              <a:rPr lang="en-IN" sz="2800" i="1" dirty="0"/>
              <a:t>processor operates on data held in registers. </a:t>
            </a:r>
            <a:endParaRPr lang="en-IN" sz="2800" i="1" dirty="0" smtClean="0"/>
          </a:p>
          <a:p>
            <a:pPr algn="just">
              <a:buFont typeface="Wingdings" panose="05000000000000000000" pitchFamily="2" charset="2"/>
              <a:buChar char="q"/>
            </a:pPr>
            <a:r>
              <a:rPr lang="en-IN" sz="2800" i="1" dirty="0"/>
              <a:t> </a:t>
            </a:r>
            <a:r>
              <a:rPr lang="en-IN" sz="2800" i="1" dirty="0" smtClean="0"/>
              <a:t>	Separate </a:t>
            </a:r>
            <a:r>
              <a:rPr lang="en-IN" sz="2800" i="1" dirty="0"/>
              <a:t>load </a:t>
            </a:r>
            <a:r>
              <a:rPr lang="en-IN" sz="2800" dirty="0"/>
              <a:t>and store instructions transfer data between the register bank and external memory</a:t>
            </a:r>
            <a:r>
              <a:rPr lang="en-IN" sz="2800" dirty="0" smtClean="0"/>
              <a:t>.</a:t>
            </a:r>
          </a:p>
          <a:p>
            <a:pPr algn="just">
              <a:buFont typeface="Wingdings" panose="05000000000000000000" pitchFamily="2" charset="2"/>
              <a:buChar char="q"/>
            </a:pPr>
            <a:r>
              <a:rPr lang="en-IN" sz="2800" dirty="0"/>
              <a:t>	</a:t>
            </a:r>
            <a:r>
              <a:rPr lang="en-IN" sz="2800" dirty="0" smtClean="0"/>
              <a:t> </a:t>
            </a:r>
            <a:r>
              <a:rPr lang="en-IN" sz="2800" dirty="0"/>
              <a:t>Memory accesses are costly, so separating memory accesses from data processing provides an advantage because you can use data items held in the register bank multiple times without needing multiple memory accesses</a:t>
            </a:r>
            <a:r>
              <a:rPr lang="en-IN" sz="2800" dirty="0" smtClean="0"/>
              <a:t>.</a:t>
            </a:r>
          </a:p>
          <a:p>
            <a:pPr algn="just">
              <a:buFont typeface="Wingdings" panose="05000000000000000000" pitchFamily="2" charset="2"/>
              <a:buChar char="q"/>
            </a:pPr>
            <a:r>
              <a:rPr lang="en-IN" sz="2800" dirty="0"/>
              <a:t>	</a:t>
            </a:r>
            <a:r>
              <a:rPr lang="en-IN" sz="2800" dirty="0" smtClean="0"/>
              <a:t> </a:t>
            </a:r>
            <a:r>
              <a:rPr lang="en-IN" sz="2800" dirty="0"/>
              <a:t>In contrast, with a CISC design the data processing operations can act on memory directly</a:t>
            </a:r>
            <a:r>
              <a:rPr lang="en-IN" sz="2800" dirty="0" smtClean="0"/>
              <a:t>.</a:t>
            </a:r>
            <a:endParaRPr lang="en-IN" sz="2800"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90600"/>
            <a:ext cx="9144000" cy="5867400"/>
          </a:xfrm>
        </p:spPr>
        <p:txBody>
          <a:bodyPr>
            <a:normAutofit/>
          </a:bodyPr>
          <a:lstStyle/>
          <a:p>
            <a:pPr algn="just">
              <a:buNone/>
            </a:pPr>
            <a:endParaRPr lang="en-IN" dirty="0"/>
          </a:p>
          <a:p>
            <a:pPr algn="just">
              <a:lnSpc>
                <a:spcPct val="150000"/>
              </a:lnSpc>
            </a:pPr>
            <a:r>
              <a:rPr lang="en-IN" dirty="0"/>
              <a:t>These design rules allow a RISC processor to be simpler, and thus the core can operate at higher clock frequencies</a:t>
            </a:r>
            <a:r>
              <a:rPr lang="en-IN" dirty="0" smtClean="0"/>
              <a:t>.</a:t>
            </a:r>
          </a:p>
          <a:p>
            <a:pPr algn="just">
              <a:lnSpc>
                <a:spcPct val="150000"/>
              </a:lnSpc>
            </a:pPr>
            <a:r>
              <a:rPr lang="en-IN" dirty="0" smtClean="0"/>
              <a:t> </a:t>
            </a:r>
            <a:r>
              <a:rPr lang="en-IN" dirty="0"/>
              <a:t>In contrast, traditional CISC processors are more complex and operate at lower clock frequencies. </a:t>
            </a:r>
            <a:endParaRPr lang="en-IN" dirty="0" smtClean="0"/>
          </a:p>
        </p:txBody>
      </p:sp>
    </p:spTree>
    <p:extLst>
      <p:ext uri="{BB962C8B-B14F-4D97-AF65-F5344CB8AC3E}">
        <p14:creationId xmlns:p14="http://schemas.microsoft.com/office/powerpoint/2010/main" val="20911221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229600" cy="972312"/>
          </a:xfrm>
        </p:spPr>
        <p:txBody>
          <a:bodyPr/>
          <a:lstStyle/>
          <a:p>
            <a:r>
              <a:rPr lang="en-IN" dirty="0">
                <a:solidFill>
                  <a:srgbClr val="FF0000"/>
                </a:solidFill>
              </a:rPr>
              <a:t>The ARM Design Philosophy</a:t>
            </a:r>
          </a:p>
        </p:txBody>
      </p:sp>
      <p:sp>
        <p:nvSpPr>
          <p:cNvPr id="3" name="Content Placeholder 2"/>
          <p:cNvSpPr>
            <a:spLocks noGrp="1"/>
          </p:cNvSpPr>
          <p:nvPr>
            <p:ph idx="1"/>
          </p:nvPr>
        </p:nvSpPr>
        <p:spPr>
          <a:xfrm>
            <a:off x="0" y="1219200"/>
            <a:ext cx="9144000" cy="5486400"/>
          </a:xfrm>
        </p:spPr>
        <p:txBody>
          <a:bodyPr>
            <a:normAutofit/>
          </a:bodyPr>
          <a:lstStyle/>
          <a:p>
            <a:pPr algn="just"/>
            <a:endParaRPr lang="en-IN" dirty="0" smtClean="0"/>
          </a:p>
          <a:p>
            <a:pPr algn="just"/>
            <a:r>
              <a:rPr lang="en-IN" dirty="0" smtClean="0"/>
              <a:t> </a:t>
            </a:r>
            <a:r>
              <a:rPr lang="en-IN" sz="2800" dirty="0"/>
              <a:t>There are a number of physical features that have driven the ARM (Advanced RISC Machines) processor design.</a:t>
            </a:r>
          </a:p>
          <a:p>
            <a:pPr algn="just"/>
            <a:r>
              <a:rPr lang="en-IN" sz="2800" dirty="0"/>
              <a:t> First, portable embedded systems require some form of battery power.</a:t>
            </a:r>
          </a:p>
          <a:p>
            <a:pPr algn="just"/>
            <a:r>
              <a:rPr lang="en-IN" sz="2800" dirty="0"/>
              <a:t> The ARM processor has been specifically designed to be small to reduce power consumption and extend battery</a:t>
            </a:r>
          </a:p>
          <a:p>
            <a:pPr marL="0" indent="0" algn="just">
              <a:buNone/>
            </a:pPr>
            <a:r>
              <a:rPr lang="en-IN" sz="2800" dirty="0"/>
              <a:t> </a:t>
            </a:r>
            <a:r>
              <a:rPr lang="en-IN" sz="2800" dirty="0" smtClean="0"/>
              <a:t>   operation—essential </a:t>
            </a:r>
            <a:r>
              <a:rPr lang="en-IN" sz="2800" dirty="0"/>
              <a:t>for applications such as mobile </a:t>
            </a:r>
            <a:r>
              <a:rPr lang="en-IN" sz="2800" dirty="0" smtClean="0"/>
              <a:t>    phones </a:t>
            </a:r>
            <a:r>
              <a:rPr lang="en-IN" sz="2800" dirty="0"/>
              <a:t>and personal digital assistants (PDAs).</a:t>
            </a:r>
          </a:p>
          <a:p>
            <a:pPr marL="0" indent="0" algn="just">
              <a:buNone/>
            </a:pPr>
            <a:endParaRPr lang="en-IN" dirty="0"/>
          </a:p>
        </p:txBody>
      </p:sp>
    </p:spTree>
    <p:extLst>
      <p:ext uri="{BB962C8B-B14F-4D97-AF65-F5344CB8AC3E}">
        <p14:creationId xmlns:p14="http://schemas.microsoft.com/office/powerpoint/2010/main" val="29513377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229600" cy="972312"/>
          </a:xfrm>
        </p:spPr>
        <p:txBody>
          <a:bodyPr/>
          <a:lstStyle/>
          <a:p>
            <a:r>
              <a:rPr lang="en-IN" dirty="0">
                <a:solidFill>
                  <a:srgbClr val="FF0000"/>
                </a:solidFill>
              </a:rPr>
              <a:t>The ARM Design Philosophy</a:t>
            </a:r>
          </a:p>
        </p:txBody>
      </p:sp>
      <p:sp>
        <p:nvSpPr>
          <p:cNvPr id="3" name="Content Placeholder 2"/>
          <p:cNvSpPr>
            <a:spLocks noGrp="1"/>
          </p:cNvSpPr>
          <p:nvPr>
            <p:ph idx="1"/>
          </p:nvPr>
        </p:nvSpPr>
        <p:spPr>
          <a:xfrm>
            <a:off x="0" y="1219200"/>
            <a:ext cx="9144000" cy="5486400"/>
          </a:xfrm>
        </p:spPr>
        <p:txBody>
          <a:bodyPr>
            <a:normAutofit/>
          </a:bodyPr>
          <a:lstStyle/>
          <a:p>
            <a:pPr algn="just"/>
            <a:r>
              <a:rPr lang="en-IN" dirty="0" smtClean="0"/>
              <a:t>High </a:t>
            </a:r>
            <a:r>
              <a:rPr lang="en-IN" dirty="0"/>
              <a:t>code density is another major requirement since embedded systems have limited memory due to cost and/or physical size restrictions. </a:t>
            </a:r>
            <a:endParaRPr lang="en-IN" dirty="0" smtClean="0"/>
          </a:p>
          <a:p>
            <a:pPr marL="0" indent="0" algn="just">
              <a:buNone/>
            </a:pPr>
            <a:endParaRPr lang="en-IN" dirty="0"/>
          </a:p>
          <a:p>
            <a:pPr algn="just"/>
            <a:r>
              <a:rPr lang="en-IN" dirty="0"/>
              <a:t>High code density is useful for applications that have limited on-board memory, such as mobile phones and mass storage devices. </a:t>
            </a:r>
            <a:endParaRPr lang="en-IN" dirty="0" smtClean="0"/>
          </a:p>
          <a:p>
            <a:pPr marL="0" indent="0" algn="just">
              <a:buNone/>
            </a:pPr>
            <a:endParaRPr lang="en-IN" dirty="0" smtClean="0"/>
          </a:p>
          <a:p>
            <a:pPr algn="just"/>
            <a:r>
              <a:rPr lang="en-IN" dirty="0"/>
              <a:t>ARM has incorporated hardware debug technology within the processor so that software engineers can view what is happening while the processor is executing code.</a:t>
            </a:r>
          </a:p>
          <a:p>
            <a:pPr algn="just"/>
            <a:endParaRPr lang="en-IN"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791200"/>
          </a:xfrm>
        </p:spPr>
        <p:txBody>
          <a:bodyPr>
            <a:normAutofit/>
          </a:bodyPr>
          <a:lstStyle/>
          <a:p>
            <a:pPr algn="just"/>
            <a:r>
              <a:rPr lang="en-IN" dirty="0" smtClean="0"/>
              <a:t>With </a:t>
            </a:r>
            <a:r>
              <a:rPr lang="en-IN" dirty="0"/>
              <a:t>greater  visibility, software engineers can resolve issues faster, which has a direct effect on the time to market and reduces overall development costs</a:t>
            </a:r>
            <a:r>
              <a:rPr lang="en-IN" dirty="0" smtClean="0"/>
              <a:t>.</a:t>
            </a:r>
          </a:p>
          <a:p>
            <a:pPr marL="0" indent="0" algn="just">
              <a:buNone/>
            </a:pPr>
            <a:endParaRPr lang="en-IN" dirty="0"/>
          </a:p>
          <a:p>
            <a:pPr algn="just"/>
            <a:r>
              <a:rPr lang="en-IN" dirty="0"/>
              <a:t> The ARM core is not a pure RISC architecture because of the constraints of its primary application—the embedded system</a:t>
            </a:r>
            <a:r>
              <a:rPr lang="en-IN" dirty="0" smtClean="0"/>
              <a:t>.</a:t>
            </a:r>
          </a:p>
          <a:p>
            <a:pPr marL="0" indent="0" algn="just">
              <a:buNone/>
            </a:pPr>
            <a:endParaRPr lang="en-IN" dirty="0"/>
          </a:p>
          <a:p>
            <a:pPr algn="just"/>
            <a:r>
              <a:rPr lang="en-IN" dirty="0"/>
              <a:t> The strength of the ARM core is that it does not take the RISC concept too far. </a:t>
            </a:r>
            <a:endParaRPr lang="en-IN" dirty="0" smtClean="0"/>
          </a:p>
          <a:p>
            <a:pPr marL="0" indent="0" algn="just">
              <a:buNone/>
            </a:pPr>
            <a:endParaRPr lang="en-IN" dirty="0"/>
          </a:p>
          <a:p>
            <a:pPr algn="just"/>
            <a:r>
              <a:rPr lang="en-IN" dirty="0"/>
              <a:t>In today’s systems the key is not raw processor speed but total effective system performance and power consumption.</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686800" cy="1143000"/>
          </a:xfrm>
        </p:spPr>
        <p:txBody>
          <a:bodyPr>
            <a:normAutofit/>
          </a:bodyPr>
          <a:lstStyle/>
          <a:p>
            <a:r>
              <a:rPr lang="en-IN" sz="4400" dirty="0">
                <a:solidFill>
                  <a:schemeClr val="tx1"/>
                </a:solidFill>
              </a:rPr>
              <a:t>Instruction Set for Embedded Systems</a:t>
            </a:r>
          </a:p>
        </p:txBody>
      </p:sp>
      <p:sp>
        <p:nvSpPr>
          <p:cNvPr id="3" name="Content Placeholder 2"/>
          <p:cNvSpPr>
            <a:spLocks noGrp="1"/>
          </p:cNvSpPr>
          <p:nvPr>
            <p:ph idx="1"/>
          </p:nvPr>
        </p:nvSpPr>
        <p:spPr>
          <a:xfrm>
            <a:off x="0" y="1219200"/>
            <a:ext cx="9144000" cy="5638800"/>
          </a:xfrm>
        </p:spPr>
        <p:txBody>
          <a:bodyPr>
            <a:normAutofit/>
          </a:bodyPr>
          <a:lstStyle/>
          <a:p>
            <a:pPr marL="0" indent="0" algn="just">
              <a:buNone/>
            </a:pPr>
            <a:endParaRPr lang="en-IN" dirty="0" smtClean="0"/>
          </a:p>
          <a:p>
            <a:pPr algn="just"/>
            <a:r>
              <a:rPr lang="en-IN" dirty="0" smtClean="0"/>
              <a:t>The </a:t>
            </a:r>
            <a:r>
              <a:rPr lang="en-IN" dirty="0"/>
              <a:t>ARM instruction set differs from the pure RISC definition in several ways that make the ARM instruction set suitable for embedded applications</a:t>
            </a:r>
            <a:r>
              <a:rPr lang="en-IN" dirty="0" smtClean="0"/>
              <a:t>:</a:t>
            </a:r>
            <a:endParaRPr lang="en-IN" dirty="0"/>
          </a:p>
        </p:txBody>
      </p:sp>
    </p:spTree>
    <p:extLst>
      <p:ext uri="{BB962C8B-B14F-4D97-AF65-F5344CB8AC3E}">
        <p14:creationId xmlns:p14="http://schemas.microsoft.com/office/powerpoint/2010/main" val="33471163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219200"/>
            <a:ext cx="9144000" cy="5638800"/>
          </a:xfrm>
        </p:spPr>
        <p:txBody>
          <a:bodyPr>
            <a:normAutofit/>
          </a:bodyPr>
          <a:lstStyle/>
          <a:p>
            <a:pPr algn="just"/>
            <a:r>
              <a:rPr lang="en-IN" i="1" dirty="0" smtClean="0">
                <a:solidFill>
                  <a:srgbClr val="FF0000"/>
                </a:solidFill>
              </a:rPr>
              <a:t>Variable </a:t>
            </a:r>
            <a:r>
              <a:rPr lang="en-IN" i="1" dirty="0">
                <a:solidFill>
                  <a:srgbClr val="FF0000"/>
                </a:solidFill>
              </a:rPr>
              <a:t>cycle execution for certain instructions</a:t>
            </a:r>
            <a:r>
              <a:rPr lang="en-IN" i="1" dirty="0" smtClean="0">
                <a:solidFill>
                  <a:srgbClr val="FF0000"/>
                </a:solidFill>
              </a:rPr>
              <a:t>—</a:t>
            </a:r>
          </a:p>
          <a:p>
            <a:pPr algn="just"/>
            <a:r>
              <a:rPr lang="en-IN" i="1" dirty="0" smtClean="0"/>
              <a:t>Not </a:t>
            </a:r>
            <a:r>
              <a:rPr lang="en-IN" i="1" dirty="0"/>
              <a:t>every ARM instruction executes </a:t>
            </a:r>
            <a:r>
              <a:rPr lang="en-IN" dirty="0"/>
              <a:t>in a single cycle. </a:t>
            </a:r>
            <a:endParaRPr lang="en-IN" dirty="0" smtClean="0"/>
          </a:p>
          <a:p>
            <a:pPr algn="just"/>
            <a:r>
              <a:rPr lang="en-IN" dirty="0" smtClean="0"/>
              <a:t>For </a:t>
            </a:r>
            <a:r>
              <a:rPr lang="en-IN" dirty="0"/>
              <a:t>example, load-store-multiple instructions vary in the number of execution cycles depending upon the number of registers being transferred</a:t>
            </a:r>
            <a:r>
              <a:rPr lang="en-IN" dirty="0" smtClean="0"/>
              <a:t>.</a:t>
            </a:r>
          </a:p>
          <a:p>
            <a:pPr algn="just"/>
            <a:r>
              <a:rPr lang="en-IN" dirty="0" smtClean="0"/>
              <a:t> </a:t>
            </a:r>
            <a:r>
              <a:rPr lang="en-IN" dirty="0"/>
              <a:t>The transfer can occur on sequential memory addresses, which increases performance since sequential memory accesses are often faster than random accesses. </a:t>
            </a:r>
            <a:endParaRPr lang="en-IN" dirty="0" smtClean="0"/>
          </a:p>
          <a:p>
            <a:pPr algn="just"/>
            <a:r>
              <a:rPr lang="en-IN" dirty="0" smtClean="0"/>
              <a:t>Code </a:t>
            </a:r>
            <a:r>
              <a:rPr lang="en-IN" dirty="0"/>
              <a:t>density is also improved since multiple register transfers are common operations at the start and end of functions.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219200"/>
            <a:ext cx="9144000" cy="6019800"/>
          </a:xfrm>
        </p:spPr>
        <p:txBody>
          <a:bodyPr/>
          <a:lstStyle/>
          <a:p>
            <a:pPr algn="just"/>
            <a:r>
              <a:rPr lang="en-IN" dirty="0"/>
              <a:t> </a:t>
            </a:r>
            <a:r>
              <a:rPr lang="en-IN" i="1" dirty="0">
                <a:solidFill>
                  <a:srgbClr val="FF0000"/>
                </a:solidFill>
              </a:rPr>
              <a:t>Inline barrel shifter leading to more complex instructions—</a:t>
            </a:r>
            <a:r>
              <a:rPr lang="en-IN" i="1" dirty="0"/>
              <a:t>The inline barrel shifter is </a:t>
            </a:r>
            <a:r>
              <a:rPr lang="en-IN" dirty="0"/>
              <a:t>a hardware component that pre-processes one of the input registers before it is used by an instruction. This expands the capability of many instructions to improve core performance and code density.</a:t>
            </a:r>
          </a:p>
          <a:p>
            <a:pPr algn="just">
              <a:buNone/>
            </a:pPr>
            <a:endParaRPr lang="en-IN" dirty="0"/>
          </a:p>
          <a:p>
            <a:pPr algn="just"/>
            <a:r>
              <a:rPr lang="en-IN" dirty="0"/>
              <a:t> </a:t>
            </a:r>
            <a:r>
              <a:rPr lang="en-IN" i="1" dirty="0">
                <a:solidFill>
                  <a:srgbClr val="FF0000"/>
                </a:solidFill>
              </a:rPr>
              <a:t>Thumb 16-bit instruction set—</a:t>
            </a:r>
            <a:r>
              <a:rPr lang="en-IN" i="1" dirty="0"/>
              <a:t>ARM enhanced the processor core by adding a second </a:t>
            </a:r>
            <a:r>
              <a:rPr lang="en-IN" dirty="0"/>
              <a:t>16-bit instruction set called Thumb that permits the ARM core to execute either 16- or 32-bit instructions. The 16-bit instructions improve code density by about 30% over 32-bit fixed-length instructions.</a:t>
            </a:r>
          </a:p>
          <a:p>
            <a:pPr algn="just">
              <a:buNone/>
            </a:pPr>
            <a:endParaRPr lang="en-IN"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1600200"/>
            <a:ext cx="8622090" cy="4099392"/>
          </a:xfrm>
          <a:prstGeom prst="rect">
            <a:avLst/>
          </a:prstGeom>
        </p:spPr>
        <p:txBody>
          <a:bodyPr wrap="square">
            <a:spAutoFit/>
          </a:bodyPr>
          <a:lstStyle/>
          <a:p>
            <a:pPr marL="214313" indent="-214313" algn="just">
              <a:lnSpc>
                <a:spcPct val="107000"/>
              </a:lnSpc>
              <a:spcAft>
                <a:spcPts val="600"/>
              </a:spcAft>
              <a:buFont typeface="Wingdings" panose="05000000000000000000" pitchFamily="2" charset="2"/>
              <a:buChar char="q"/>
            </a:pPr>
            <a:r>
              <a:rPr lang="en-IN" sz="2600" dirty="0"/>
              <a:t>The Thumb instruction set is a subset of the most commonly used 32-bit ARM instructions.</a:t>
            </a:r>
          </a:p>
          <a:p>
            <a:pPr marL="214313" indent="-214313" algn="just">
              <a:lnSpc>
                <a:spcPct val="107000"/>
              </a:lnSpc>
              <a:spcAft>
                <a:spcPts val="600"/>
              </a:spcAft>
              <a:buFont typeface="Wingdings" panose="05000000000000000000" pitchFamily="2" charset="2"/>
              <a:buChar char="q"/>
            </a:pPr>
            <a:r>
              <a:rPr lang="en-IN" sz="2600" dirty="0"/>
              <a:t>16-bit Thumb is a set of instructions in computer programming that are half the length of standard ARM instructions. They are used to reduce the size and cost of code storage memory in ARM processors. </a:t>
            </a:r>
          </a:p>
          <a:p>
            <a:pPr marL="214313" indent="-214313" algn="just">
              <a:lnSpc>
                <a:spcPct val="107000"/>
              </a:lnSpc>
              <a:spcAft>
                <a:spcPts val="600"/>
              </a:spcAft>
              <a:buFont typeface="Wingdings" panose="05000000000000000000" pitchFamily="2" charset="2"/>
              <a:buChar char="q"/>
            </a:pPr>
            <a:r>
              <a:rPr lang="en-IN" sz="2600" dirty="0"/>
              <a:t>Thumb instructions are each 16 bits long, and have a corresponding 32-bit ARM instruction that has the same effect on the processor model. </a:t>
            </a:r>
          </a:p>
        </p:txBody>
      </p:sp>
      <p:sp>
        <p:nvSpPr>
          <p:cNvPr id="7" name="TextBox 6"/>
          <p:cNvSpPr txBox="1"/>
          <p:nvPr/>
        </p:nvSpPr>
        <p:spPr>
          <a:xfrm>
            <a:off x="1676400" y="533400"/>
            <a:ext cx="3505200" cy="646331"/>
          </a:xfrm>
          <a:prstGeom prst="rect">
            <a:avLst/>
          </a:prstGeom>
          <a:noFill/>
        </p:spPr>
        <p:txBody>
          <a:bodyPr wrap="square" rtlCol="0">
            <a:spAutoFit/>
          </a:bodyPr>
          <a:lstStyle/>
          <a:p>
            <a:r>
              <a:rPr lang="en-IN" sz="3600" i="1" dirty="0">
                <a:solidFill>
                  <a:srgbClr val="FF0000"/>
                </a:solidFill>
              </a:rPr>
              <a:t>Thumb </a:t>
            </a:r>
            <a:r>
              <a:rPr lang="en-IN" sz="3600" i="1" dirty="0" smtClean="0">
                <a:solidFill>
                  <a:srgbClr val="FF0000"/>
                </a:solidFill>
              </a:rPr>
              <a:t>16-bit:</a:t>
            </a:r>
            <a:endParaRPr lang="en-IN" sz="3600" dirty="0">
              <a:solidFill>
                <a:srgbClr val="002060"/>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2558516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838200"/>
            <a:ext cx="8305800" cy="5460406"/>
          </a:xfrm>
          <a:prstGeom prst="rect">
            <a:avLst/>
          </a:prstGeom>
        </p:spPr>
        <p:txBody>
          <a:bodyPr wrap="square">
            <a:spAutoFit/>
          </a:bodyPr>
          <a:lstStyle/>
          <a:p>
            <a:pPr marL="214313" indent="-214313" algn="just">
              <a:lnSpc>
                <a:spcPct val="107000"/>
              </a:lnSpc>
              <a:spcAft>
                <a:spcPts val="600"/>
              </a:spcAft>
              <a:buFont typeface="Wingdings" panose="05000000000000000000" pitchFamily="2" charset="2"/>
              <a:buChar char="q"/>
            </a:pPr>
            <a:r>
              <a:rPr lang="en-IN" sz="2400" dirty="0">
                <a:latin typeface="Verdana" panose="020B0604030504040204" pitchFamily="34" charset="0"/>
                <a:ea typeface="Verdana" panose="020B0604030504040204" pitchFamily="34" charset="0"/>
              </a:rPr>
              <a:t>Thumb instructions operate with the standard ARM register configuration, allowing excellent interoperability between ARM and Thumb states.</a:t>
            </a:r>
          </a:p>
          <a:p>
            <a:pPr marL="214313" indent="-214313">
              <a:lnSpc>
                <a:spcPct val="107000"/>
              </a:lnSpc>
              <a:spcAft>
                <a:spcPts val="600"/>
              </a:spcAft>
              <a:buFont typeface="Wingdings" panose="05000000000000000000" pitchFamily="2" charset="2"/>
              <a:buChar char="q"/>
            </a:pPr>
            <a:r>
              <a:rPr lang="en-IN" sz="2400" dirty="0" smtClean="0">
                <a:latin typeface="Verdana" panose="020B0604030504040204" pitchFamily="34" charset="0"/>
                <a:ea typeface="Verdana" panose="020B0604030504040204" pitchFamily="34" charset="0"/>
              </a:rPr>
              <a:t>Thumb</a:t>
            </a:r>
            <a:r>
              <a:rPr lang="en-IN" sz="2400" dirty="0">
                <a:latin typeface="Verdana" panose="020B0604030504040204" pitchFamily="34" charset="0"/>
                <a:ea typeface="Verdana" panose="020B0604030504040204" pitchFamily="34" charset="0"/>
              </a:rPr>
              <a:t>, therefore, makes the ARM7TDMI core ideally suited to embedded applications with restricted memory bandwidth, where code density is important</a:t>
            </a:r>
            <a:r>
              <a:rPr lang="en-IN" sz="2400" dirty="0" smtClean="0">
                <a:latin typeface="Verdana" panose="020B0604030504040204" pitchFamily="34" charset="0"/>
                <a:ea typeface="Verdana" panose="020B0604030504040204" pitchFamily="34" charset="0"/>
              </a:rPr>
              <a:t>.</a:t>
            </a:r>
          </a:p>
          <a:p>
            <a:pPr marL="214313" indent="-214313">
              <a:lnSpc>
                <a:spcPct val="107000"/>
              </a:lnSpc>
              <a:spcAft>
                <a:spcPts val="600"/>
              </a:spcAft>
              <a:buFont typeface="Wingdings" panose="05000000000000000000" pitchFamily="2" charset="2"/>
              <a:buChar char="q"/>
            </a:pPr>
            <a:r>
              <a:rPr lang="en-IN" sz="2400" dirty="0">
                <a:latin typeface="Verdana" panose="020B0604030504040204" pitchFamily="34" charset="0"/>
                <a:ea typeface="Verdana" panose="020B0604030504040204" pitchFamily="34" charset="0"/>
              </a:rPr>
              <a:t>The availability of both 16-bit Thumb and 32-bit ARM instruction sets gives designers the flexibility to emphasize performance or code size on a subroutine level, according to the requirements of their applications.</a:t>
            </a:r>
            <a:endParaRPr lang="en-IN" sz="2600" dirty="0"/>
          </a:p>
          <a:p>
            <a:pPr>
              <a:lnSpc>
                <a:spcPct val="107000"/>
              </a:lnSpc>
              <a:spcAft>
                <a:spcPts val="600"/>
              </a:spcAft>
            </a:pPr>
            <a:endParaRPr lang="en-IN"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854491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838200"/>
            <a:ext cx="8991600" cy="4286366"/>
          </a:xfrm>
          <a:prstGeom prst="rect">
            <a:avLst/>
          </a:prstGeom>
        </p:spPr>
        <p:txBody>
          <a:bodyPr wrap="square">
            <a:spAutoFit/>
          </a:bodyPr>
          <a:lstStyle/>
          <a:p>
            <a:pPr marL="214313" indent="-214313">
              <a:lnSpc>
                <a:spcPct val="107000"/>
              </a:lnSpc>
              <a:spcAft>
                <a:spcPts val="600"/>
              </a:spcAft>
              <a:buFont typeface="Wingdings" panose="05000000000000000000" pitchFamily="2" charset="2"/>
              <a:buChar char="q"/>
            </a:pPr>
            <a:r>
              <a:rPr lang="en-IN" sz="2400" dirty="0" smtClean="0">
                <a:latin typeface="Verdana" panose="020B0604030504040204" pitchFamily="34" charset="0"/>
                <a:ea typeface="Verdana" panose="020B0604030504040204" pitchFamily="34" charset="0"/>
              </a:rPr>
              <a:t>For </a:t>
            </a:r>
            <a:r>
              <a:rPr lang="en-IN" sz="2400" dirty="0">
                <a:latin typeface="Verdana" panose="020B0604030504040204" pitchFamily="34" charset="0"/>
                <a:ea typeface="Verdana" panose="020B0604030504040204" pitchFamily="34" charset="0"/>
              </a:rPr>
              <a:t>example, critical loops for applications such as fast interrupts and DSP algorithms can be coded using the full ARM instruction set then linked with Thumb code</a:t>
            </a:r>
            <a:r>
              <a:rPr lang="en-IN" sz="2400" dirty="0" smtClean="0">
                <a:latin typeface="Verdana" panose="020B0604030504040204" pitchFamily="34" charset="0"/>
                <a:ea typeface="Verdana" panose="020B0604030504040204" pitchFamily="34" charset="0"/>
              </a:rPr>
              <a:t>.</a:t>
            </a:r>
          </a:p>
          <a:p>
            <a:pPr>
              <a:lnSpc>
                <a:spcPct val="107000"/>
              </a:lnSpc>
              <a:spcAft>
                <a:spcPts val="600"/>
              </a:spcAft>
            </a:pPr>
            <a:endParaRPr lang="en-IN" sz="2400" dirty="0">
              <a:latin typeface="Verdana" panose="020B0604030504040204" pitchFamily="34" charset="0"/>
              <a:ea typeface="Verdana" panose="020B0604030504040204" pitchFamily="34" charset="0"/>
            </a:endParaRPr>
          </a:p>
          <a:p>
            <a:pPr marL="214313" indent="-214313">
              <a:buFont typeface="Wingdings" panose="05000000000000000000" pitchFamily="2" charset="2"/>
              <a:buChar char="q"/>
            </a:pPr>
            <a:r>
              <a:rPr lang="en-US" sz="3600" i="1" dirty="0">
                <a:solidFill>
                  <a:srgbClr val="FF0000"/>
                </a:solidFill>
              </a:rPr>
              <a:t>Thumb-2:</a:t>
            </a:r>
          </a:p>
          <a:p>
            <a:r>
              <a:rPr lang="en-US" sz="2400" dirty="0">
                <a:latin typeface="Verdana" panose="020B0604030504040204" pitchFamily="34" charset="0"/>
                <a:ea typeface="Verdana" panose="020B0604030504040204" pitchFamily="34" charset="0"/>
              </a:rPr>
              <a:t>Thumb-2 technology, introduced in ARMv6T2, extended the original Thumb instruction set with 32-bit instructions, enabling it to achieve performance similar to ARM code while maintaining improved code density. </a:t>
            </a:r>
          </a:p>
          <a:p>
            <a:pPr>
              <a:lnSpc>
                <a:spcPct val="107000"/>
              </a:lnSpc>
              <a:spcAft>
                <a:spcPts val="600"/>
              </a:spcAft>
            </a:pPr>
            <a:endParaRPr lang="en-IN" sz="2600" dirty="0"/>
          </a:p>
        </p:txBody>
      </p:sp>
    </p:spTree>
    <p:extLst>
      <p:ext uri="{BB962C8B-B14F-4D97-AF65-F5344CB8AC3E}">
        <p14:creationId xmlns:p14="http://schemas.microsoft.com/office/powerpoint/2010/main" val="7484028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66800"/>
            <a:ext cx="9144000" cy="5791200"/>
          </a:xfrm>
        </p:spPr>
        <p:txBody>
          <a:bodyPr>
            <a:normAutofit lnSpcReduction="10000"/>
          </a:bodyPr>
          <a:lstStyle/>
          <a:p>
            <a:pPr algn="just"/>
            <a:r>
              <a:rPr lang="en-IN" i="1" dirty="0">
                <a:solidFill>
                  <a:srgbClr val="FF0000"/>
                </a:solidFill>
              </a:rPr>
              <a:t>Conditional execution—</a:t>
            </a:r>
            <a:r>
              <a:rPr lang="en-IN" i="1" dirty="0"/>
              <a:t>An instruction is only executed when a specific condition has </a:t>
            </a:r>
            <a:r>
              <a:rPr lang="en-IN" dirty="0"/>
              <a:t>been satisfied. This feature improves performance and code density by reducing branch instructions.</a:t>
            </a:r>
          </a:p>
          <a:p>
            <a:pPr algn="just"/>
            <a:endParaRPr lang="en-IN" dirty="0"/>
          </a:p>
          <a:p>
            <a:pPr algn="just"/>
            <a:r>
              <a:rPr lang="en-IN" i="1" dirty="0">
                <a:solidFill>
                  <a:srgbClr val="FF0000"/>
                </a:solidFill>
              </a:rPr>
              <a:t>Enhanced instructions—</a:t>
            </a:r>
            <a:r>
              <a:rPr lang="en-IN" i="1" dirty="0"/>
              <a:t>The enhanced digital signal processor (DSP) instructions were </a:t>
            </a:r>
            <a:r>
              <a:rPr lang="en-IN" dirty="0"/>
              <a:t>added to the standard ARM instruction set to support fast 16×16-bit multiplier operations and saturation. These instructions allow a faster-performing ARM processor in some cases to replace the traditional combinations of a processor plus a DSP.</a:t>
            </a:r>
          </a:p>
          <a:p>
            <a:pPr algn="just"/>
            <a:endParaRPr lang="en-IN" dirty="0"/>
          </a:p>
          <a:p>
            <a:pPr algn="just"/>
            <a:r>
              <a:rPr lang="en-IN" dirty="0"/>
              <a:t>These additional features have made the ARM processor one of the most commonly used 32-bit embedded processor cores.</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
  <TotalTime>11275</TotalTime>
  <Words>1966</Words>
  <Application>Microsoft Office PowerPoint</Application>
  <PresentationFormat>On-screen Show (4:3)</PresentationFormat>
  <Paragraphs>198</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Calibri</vt:lpstr>
      <vt:lpstr>Constantia</vt:lpstr>
      <vt:lpstr>Times New Roman</vt:lpstr>
      <vt:lpstr>Verdana</vt:lpstr>
      <vt:lpstr>Wingdings</vt:lpstr>
      <vt:lpstr>Wingdings 2</vt:lpstr>
      <vt:lpstr>Flow</vt:lpstr>
      <vt:lpstr> Chapter 1</vt:lpstr>
      <vt:lpstr>Differences between Microprocessor and Microcontroller</vt:lpstr>
      <vt:lpstr>PowerPoint Presentation</vt:lpstr>
      <vt:lpstr>ARM Embedded Systems </vt:lpstr>
      <vt:lpstr>ARM Embedded Systems </vt:lpstr>
      <vt:lpstr>The RISC design philosophy</vt:lpstr>
      <vt:lpstr>PowerPoint Presentation</vt:lpstr>
      <vt:lpstr>Differences between RISC and CISC</vt:lpstr>
      <vt:lpstr>Differences between RISC and CISC contd..</vt:lpstr>
      <vt:lpstr>RISC and CISC Major Differences</vt:lpstr>
      <vt:lpstr>PowerPoint Presentation</vt:lpstr>
      <vt:lpstr>PowerPoint Presentation</vt:lpstr>
      <vt:lpstr>PowerPoint Presentation</vt:lpstr>
      <vt:lpstr>PowerPoint Presentation</vt:lpstr>
      <vt:lpstr>PowerPoint Presentation</vt:lpstr>
      <vt:lpstr>The ARM Design Philosophy</vt:lpstr>
      <vt:lpstr>The ARM Design Philosophy</vt:lpstr>
      <vt:lpstr>PowerPoint Presentation</vt:lpstr>
      <vt:lpstr>Instruction Set for Embedded Systems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dc:title>
  <dc:creator>Admin</dc:creator>
  <cp:lastModifiedBy>Admin</cp:lastModifiedBy>
  <cp:revision>111</cp:revision>
  <dcterms:created xsi:type="dcterms:W3CDTF">2006-08-16T00:00:00Z</dcterms:created>
  <dcterms:modified xsi:type="dcterms:W3CDTF">2026-02-19T09:14:22Z</dcterms:modified>
</cp:coreProperties>
</file>