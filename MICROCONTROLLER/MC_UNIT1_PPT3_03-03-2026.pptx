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44"/>
  </p:notesMasterIdLst>
  <p:handoutMasterIdLst>
    <p:handoutMasterId r:id="rId45"/>
  </p:handoutMasterIdLst>
  <p:sldIdLst>
    <p:sldId id="277" r:id="rId2"/>
    <p:sldId id="278" r:id="rId3"/>
    <p:sldId id="279" r:id="rId4"/>
    <p:sldId id="280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317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11" r:id="rId27"/>
    <p:sldId id="312" r:id="rId28"/>
    <p:sldId id="313" r:id="rId29"/>
    <p:sldId id="314" r:id="rId30"/>
    <p:sldId id="301" r:id="rId31"/>
    <p:sldId id="302" r:id="rId32"/>
    <p:sldId id="315" r:id="rId33"/>
    <p:sldId id="316" r:id="rId34"/>
    <p:sldId id="303" r:id="rId35"/>
    <p:sldId id="304" r:id="rId36"/>
    <p:sldId id="305" r:id="rId37"/>
    <p:sldId id="306" r:id="rId38"/>
    <p:sldId id="307" r:id="rId39"/>
    <p:sldId id="308" r:id="rId40"/>
    <p:sldId id="310" r:id="rId41"/>
    <p:sldId id="318" r:id="rId42"/>
    <p:sldId id="309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E8E0C0-147D-4A54-BF67-12493B631B42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4276AC-7553-4A62-A519-49BC0613D0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6752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329B7-69C0-448A-AAEB-91DA4D9D63B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45FD95-6E9C-4BE4-BA21-923F0E660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86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EB1BD-DD0B-43AC-9825-B6F92598E275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5251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0224-748E-4A77-8151-DC822A43FEBB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553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85D90-4C51-47DB-A815-ADB6803EEA60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04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12DEF-43B8-41BF-959C-38E87CC36E50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306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CCBF6-EE0A-4552-AB23-74345280AA2E}" type="datetime1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859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1DB9-CB01-4B33-88E6-A179C23BFA22}" type="datetime1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9652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7E700-04CE-4E95-89D1-5DC058AD6367}" type="datetime1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30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4BFAC-D05B-46FE-B3A4-BE7FFD0E857B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05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D793014-52F7-4EED-AB42-B1A9A2724503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0596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CCD38-6C17-4EFC-94CE-A57731D2CA7D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96772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72164-4849-4C9C-BA22-E70FE513A999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442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7F84DC-6E71-444C-9CD5-5A1E698A590F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smtClean="0"/>
              <a:t>PRASHANTH KAMBLI, Dept. of ISE, RIT, Bangalore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373D9D93-F85F-4316-89A8-9DBFDF02D954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510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247293" y="639571"/>
            <a:ext cx="4601797" cy="1379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330"/>
              </a:lnSpc>
              <a:spcBef>
                <a:spcPts val="100"/>
              </a:spcBef>
            </a:pPr>
            <a:r>
              <a:rPr sz="4800" spc="-45" dirty="0">
                <a:solidFill>
                  <a:srgbClr val="6F2F9F"/>
                </a:solidFill>
                <a:latin typeface="Calibri Light"/>
                <a:cs typeface="Calibri Light"/>
              </a:rPr>
              <a:t>UNIT-</a:t>
            </a:r>
            <a:r>
              <a:rPr sz="4800" spc="-120" dirty="0">
                <a:solidFill>
                  <a:srgbClr val="6F2F9F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6F2F9F"/>
                </a:solidFill>
                <a:latin typeface="Calibri Light"/>
                <a:cs typeface="Calibri Light"/>
              </a:rPr>
              <a:t>1</a:t>
            </a:r>
            <a:endParaRPr sz="4800" dirty="0">
              <a:latin typeface="Calibri Light"/>
              <a:cs typeface="Calibri Light"/>
            </a:endParaRPr>
          </a:p>
          <a:p>
            <a:pPr marL="1066800">
              <a:lnSpc>
                <a:spcPts val="5330"/>
              </a:lnSpc>
            </a:pPr>
            <a:r>
              <a:rPr sz="4800" spc="-55" dirty="0">
                <a:solidFill>
                  <a:srgbClr val="6F2F9F"/>
                </a:solidFill>
                <a:latin typeface="Calibri Light"/>
                <a:cs typeface="Calibri Light"/>
              </a:rPr>
              <a:t>Chapter-</a:t>
            </a:r>
            <a:r>
              <a:rPr sz="4800" spc="-170" dirty="0">
                <a:solidFill>
                  <a:srgbClr val="6F2F9F"/>
                </a:solidFill>
                <a:latin typeface="Calibri Light"/>
                <a:cs typeface="Calibri Light"/>
              </a:rPr>
              <a:t> </a:t>
            </a:r>
            <a:r>
              <a:rPr sz="4800" dirty="0">
                <a:solidFill>
                  <a:srgbClr val="6F2F9F"/>
                </a:solidFill>
                <a:latin typeface="Calibri Light"/>
                <a:cs typeface="Calibri Light"/>
              </a:rPr>
              <a:t>2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2355626"/>
            <a:ext cx="10067290" cy="176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3035">
              <a:lnSpc>
                <a:spcPts val="6840"/>
              </a:lnSpc>
              <a:spcBef>
                <a:spcPts val="100"/>
              </a:spcBef>
            </a:pPr>
            <a:r>
              <a:rPr sz="6000" b="0" spc="170" dirty="0">
                <a:solidFill>
                  <a:srgbClr val="C00000"/>
                </a:solidFill>
                <a:latin typeface="Calibri Light"/>
                <a:cs typeface="Calibri Light"/>
              </a:rPr>
              <a:t>INTERNAL</a:t>
            </a:r>
            <a:r>
              <a:rPr sz="6000" b="0" spc="34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0" spc="165" dirty="0">
                <a:solidFill>
                  <a:srgbClr val="C00000"/>
                </a:solidFill>
                <a:latin typeface="Calibri Light"/>
                <a:cs typeface="Calibri Light"/>
              </a:rPr>
              <a:t>COMPONENTS</a:t>
            </a:r>
            <a:r>
              <a:rPr sz="6000" b="0" spc="34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0" spc="95" dirty="0">
                <a:solidFill>
                  <a:srgbClr val="C00000"/>
                </a:solidFill>
                <a:latin typeface="Calibri Light"/>
                <a:cs typeface="Calibri Light"/>
              </a:rPr>
              <a:t>OF</a:t>
            </a:r>
            <a:r>
              <a:rPr sz="6000" b="0" spc="370" dirty="0">
                <a:solidFill>
                  <a:srgbClr val="C00000"/>
                </a:solidFill>
                <a:latin typeface="Calibri Light"/>
                <a:cs typeface="Calibri Light"/>
              </a:rPr>
              <a:t> </a:t>
            </a:r>
            <a:r>
              <a:rPr sz="6000" b="0" dirty="0">
                <a:solidFill>
                  <a:srgbClr val="C00000"/>
                </a:solidFill>
                <a:latin typeface="Calibri Light"/>
                <a:cs typeface="Calibri Light"/>
              </a:rPr>
              <a:t>A</a:t>
            </a:r>
            <a:endParaRPr sz="6000">
              <a:latin typeface="Calibri Light"/>
              <a:cs typeface="Calibri Light"/>
            </a:endParaRPr>
          </a:p>
          <a:p>
            <a:pPr marL="12700">
              <a:lnSpc>
                <a:spcPts val="6840"/>
              </a:lnSpc>
              <a:tabLst>
                <a:tab pos="1381760" algn="l"/>
                <a:tab pos="9887585" algn="l"/>
              </a:tabLst>
            </a:pPr>
            <a:r>
              <a:rPr sz="6000" b="0" u="sng" dirty="0">
                <a:solidFill>
                  <a:srgbClr val="00AFEF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 	</a:t>
            </a:r>
            <a:r>
              <a:rPr sz="6000" b="0" u="sng" spc="125" dirty="0">
                <a:solidFill>
                  <a:srgbClr val="00AFEF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SYSTEM-ON-CHIP</a:t>
            </a:r>
            <a:r>
              <a:rPr sz="6000" b="0" u="sng" spc="220" dirty="0">
                <a:solidFill>
                  <a:srgbClr val="00AFEF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 </a:t>
            </a:r>
            <a:r>
              <a:rPr sz="6000" b="0" u="sng" spc="135" dirty="0">
                <a:solidFill>
                  <a:srgbClr val="00AFEF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(S</a:t>
            </a:r>
            <a:r>
              <a:rPr sz="4800" b="0" u="sng" spc="135" dirty="0">
                <a:solidFill>
                  <a:srgbClr val="00AFEF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O</a:t>
            </a:r>
            <a:r>
              <a:rPr sz="6000" b="0" u="sng" spc="135" dirty="0">
                <a:solidFill>
                  <a:srgbClr val="00AFEF"/>
                </a:solidFill>
                <a:uFill>
                  <a:solidFill>
                    <a:srgbClr val="7E7E7E"/>
                  </a:solidFill>
                </a:uFill>
                <a:latin typeface="Calibri Light"/>
                <a:cs typeface="Calibri Light"/>
              </a:rPr>
              <a:t>C)	</a:t>
            </a:r>
            <a:endParaRPr sz="6000">
              <a:latin typeface="Calibri Light"/>
              <a:cs typeface="Calibri Ligh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901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38258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50" dirty="0">
                <a:solidFill>
                  <a:srgbClr val="00AFEF"/>
                </a:solidFill>
                <a:latin typeface="Calibri Light"/>
                <a:cs typeface="Calibri Light"/>
              </a:rPr>
              <a:t>INTRODUCTION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2421" y="2178247"/>
            <a:ext cx="11188700" cy="2378215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04139" marR="5080" indent="-91440">
              <a:lnSpc>
                <a:spcPts val="324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403225" algn="l"/>
                <a:tab pos="1376680" algn="l"/>
                <a:tab pos="2326005" algn="l"/>
                <a:tab pos="2990215" algn="l"/>
                <a:tab pos="4892675" algn="l"/>
                <a:tab pos="6685280" algn="l"/>
                <a:tab pos="9204960" algn="l"/>
                <a:tab pos="10099040" algn="l"/>
                <a:tab pos="10812780" algn="l"/>
              </a:tabLst>
            </a:pPr>
            <a:r>
              <a:rPr sz="3000" dirty="0" smtClean="0">
                <a:solidFill>
                  <a:srgbClr val="303829"/>
                </a:solidFill>
                <a:latin typeface="Calibri"/>
                <a:cs typeface="Calibri"/>
              </a:rPr>
              <a:t>Mo</a:t>
            </a:r>
            <a:r>
              <a:rPr sz="3000" spc="-35" dirty="0" smtClean="0">
                <a:solidFill>
                  <a:srgbClr val="303829"/>
                </a:solidFill>
                <a:latin typeface="Calibri"/>
                <a:cs typeface="Calibri"/>
              </a:rPr>
              <a:t>r</a:t>
            </a:r>
            <a:r>
              <a:rPr sz="3000" dirty="0" smtClean="0">
                <a:solidFill>
                  <a:srgbClr val="303829"/>
                </a:solidFill>
                <a:latin typeface="Calibri"/>
                <a:cs typeface="Calibri"/>
              </a:rPr>
              <a:t>e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	</a:t>
            </a:r>
            <a:r>
              <a:rPr sz="3000" spc="-65" dirty="0">
                <a:solidFill>
                  <a:srgbClr val="303829"/>
                </a:solidFill>
                <a:latin typeface="Calibri"/>
                <a:cs typeface="Calibri"/>
              </a:rPr>
              <a:t>f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oc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u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s	will	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e</a:t>
            </a:r>
            <a:r>
              <a:rPr sz="3000" spc="3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t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o</a:t>
            </a:r>
            <a:r>
              <a:rPr sz="3000" spc="-35" dirty="0">
                <a:solidFill>
                  <a:srgbClr val="303829"/>
                </a:solidFill>
                <a:latin typeface="Calibri"/>
                <a:cs typeface="Calibri"/>
              </a:rPr>
              <a:t>w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spc="-40" dirty="0">
                <a:solidFill>
                  <a:srgbClr val="303829"/>
                </a:solidFill>
                <a:latin typeface="Calibri"/>
                <a:cs typeface="Calibri"/>
              </a:rPr>
              <a:t>r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d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s	the</a:t>
            </a:r>
            <a:r>
              <a:rPr sz="3000" spc="3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typi</a:t>
            </a:r>
            <a:r>
              <a:rPr sz="3000" spc="-30" dirty="0">
                <a:solidFill>
                  <a:srgbClr val="303829"/>
                </a:solidFill>
                <a:latin typeface="Calibri"/>
                <a:cs typeface="Calibri"/>
              </a:rPr>
              <a:t>c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al	mic</a:t>
            </a:r>
            <a:r>
              <a:rPr sz="3000" spc="-55" dirty="0">
                <a:solidFill>
                  <a:srgbClr val="303829"/>
                </a:solidFill>
                <a:latin typeface="Calibri"/>
                <a:cs typeface="Calibri"/>
              </a:rPr>
              <a:t>r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</a:t>
            </a:r>
            <a:r>
              <a:rPr sz="3000" spc="-35" dirty="0">
                <a:solidFill>
                  <a:srgbClr val="303829"/>
                </a:solidFill>
                <a:latin typeface="Calibri"/>
                <a:cs typeface="Calibri"/>
              </a:rPr>
              <a:t>c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n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</a:t>
            </a:r>
            <a:r>
              <a:rPr sz="3000" spc="-50" dirty="0">
                <a:solidFill>
                  <a:srgbClr val="303829"/>
                </a:solidFill>
                <a:latin typeface="Calibri"/>
                <a:cs typeface="Calibri"/>
              </a:rPr>
              <a:t>r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ol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l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er	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un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i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ts	and	i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t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s 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Internal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units.</a:t>
            </a:r>
            <a:endParaRPr sz="3000" dirty="0">
              <a:latin typeface="Calibri"/>
              <a:cs typeface="Calibri"/>
            </a:endParaRPr>
          </a:p>
          <a:p>
            <a:pPr marL="104139" marR="6985" indent="-91440">
              <a:lnSpc>
                <a:spcPts val="324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403225" algn="l"/>
                <a:tab pos="1240790" algn="l"/>
                <a:tab pos="2083435" algn="l"/>
                <a:tab pos="2568575" algn="l"/>
                <a:tab pos="3263265" algn="l"/>
                <a:tab pos="4103370" algn="l"/>
                <a:tab pos="5276850" algn="l"/>
                <a:tab pos="6090920" algn="l"/>
                <a:tab pos="6769100" algn="l"/>
                <a:tab pos="7713980" algn="l"/>
                <a:tab pos="8714105" algn="l"/>
                <a:tab pos="10161905" algn="l"/>
              </a:tabLst>
            </a:pP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Also	look	</a:t>
            </a:r>
            <a:r>
              <a:rPr sz="3000" spc="-35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	the	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n</a:t>
            </a:r>
            <a:r>
              <a:rPr sz="3000" spc="-30" dirty="0">
                <a:solidFill>
                  <a:srgbClr val="303829"/>
                </a:solidFill>
                <a:latin typeface="Calibri"/>
                <a:cs typeface="Calibri"/>
              </a:rPr>
              <a:t>e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w	t</a:t>
            </a:r>
            <a:r>
              <a:rPr sz="3000" spc="-40" dirty="0">
                <a:solidFill>
                  <a:srgbClr val="303829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n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d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s	th</a:t>
            </a:r>
            <a:r>
              <a:rPr sz="3000" spc="-4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	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spc="-40" dirty="0">
                <a:solidFill>
                  <a:srgbClr val="303829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e	</a:t>
            </a:r>
            <a:r>
              <a:rPr sz="3000" spc="-35" dirty="0" smtClean="0">
                <a:solidFill>
                  <a:srgbClr val="303829"/>
                </a:solidFill>
                <a:latin typeface="Calibri"/>
                <a:cs typeface="Calibri"/>
              </a:rPr>
              <a:t>t</a:t>
            </a:r>
            <a:r>
              <a:rPr sz="3000" dirty="0" smtClean="0">
                <a:solidFill>
                  <a:srgbClr val="303829"/>
                </a:solidFill>
                <a:latin typeface="Calibri"/>
                <a:cs typeface="Calibri"/>
              </a:rPr>
              <a:t>akin</a:t>
            </a:r>
            <a:r>
              <a:rPr lang="en-US" sz="3000" dirty="0" smtClean="0">
                <a:solidFill>
                  <a:srgbClr val="303829"/>
                </a:solidFill>
                <a:latin typeface="Calibri"/>
                <a:cs typeface="Calibri"/>
              </a:rPr>
              <a:t>g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	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p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l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ace	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e</a:t>
            </a:r>
            <a:r>
              <a:rPr sz="3000" spc="-35" dirty="0">
                <a:solidFill>
                  <a:srgbClr val="303829"/>
                </a:solidFill>
                <a:latin typeface="Calibri"/>
                <a:cs typeface="Calibri"/>
              </a:rPr>
              <a:t>c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ause	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h</a:t>
            </a:r>
            <a:r>
              <a:rPr sz="3000" spc="-65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v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i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ng 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systems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which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are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connected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to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internet</a:t>
            </a:r>
            <a:r>
              <a:rPr sz="3000" spc="-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becoming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a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necessity.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76324" y="6554825"/>
            <a:ext cx="557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-20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910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94805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2.1</a:t>
            </a:r>
            <a:r>
              <a:rPr sz="4800" b="0" spc="-10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45" dirty="0">
                <a:solidFill>
                  <a:srgbClr val="00AFEF"/>
                </a:solidFill>
                <a:latin typeface="Calibri Light"/>
                <a:cs typeface="Calibri Light"/>
              </a:rPr>
              <a:t>GENERAL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>
                <a:solidFill>
                  <a:srgbClr val="00AFEF"/>
                </a:solidFill>
                <a:latin typeface="Calibri Light"/>
                <a:cs typeface="Calibri Light"/>
              </a:rPr>
              <a:t>MICROCONTROLLER</a:t>
            </a:r>
            <a:r>
              <a:rPr sz="4800" b="0" spc="-15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40" dirty="0">
                <a:solidFill>
                  <a:srgbClr val="00AFEF"/>
                </a:solidFill>
                <a:latin typeface="Calibri Light"/>
                <a:cs typeface="Calibri Light"/>
              </a:rPr>
              <a:t>UNIT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1056" y="1686970"/>
            <a:ext cx="9812655" cy="106489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13055" indent="-300990">
              <a:lnSpc>
                <a:spcPct val="100000"/>
              </a:lnSpc>
              <a:spcBef>
                <a:spcPts val="830"/>
              </a:spcBef>
              <a:buClr>
                <a:srgbClr val="E38312"/>
              </a:buClr>
              <a:buSzPct val="67857"/>
              <a:buFont typeface="Wingdings"/>
              <a:buChar char=""/>
              <a:tabLst>
                <a:tab pos="313690" algn="l"/>
              </a:tabLst>
            </a:pP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Here,</a:t>
            </a:r>
            <a:r>
              <a:rPr sz="28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more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focus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 on</a:t>
            </a:r>
            <a:r>
              <a:rPr sz="28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hardware</a:t>
            </a:r>
            <a:r>
              <a:rPr sz="28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aspects</a:t>
            </a:r>
            <a:r>
              <a:rPr sz="28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of an</a:t>
            </a:r>
            <a:r>
              <a:rPr sz="28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embedded</a:t>
            </a:r>
            <a:r>
              <a:rPr sz="28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system.</a:t>
            </a:r>
            <a:endParaRPr sz="2800" dirty="0">
              <a:latin typeface="Calibri"/>
              <a:cs typeface="Calibri"/>
            </a:endParaRPr>
          </a:p>
          <a:p>
            <a:pPr marL="12065">
              <a:lnSpc>
                <a:spcPct val="100000"/>
              </a:lnSpc>
              <a:spcBef>
                <a:spcPts val="730"/>
              </a:spcBef>
              <a:buClr>
                <a:srgbClr val="E38312"/>
              </a:buClr>
              <a:tabLst>
                <a:tab pos="375920" algn="l"/>
              </a:tabLst>
            </a:pP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6324" y="6554825"/>
            <a:ext cx="5575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-</a:t>
            </a:r>
            <a:r>
              <a:rPr sz="900" spc="-5" dirty="0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-20</a:t>
            </a:r>
            <a:r>
              <a:rPr sz="900" spc="-1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r>
              <a:rPr sz="900" dirty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697" y="2287014"/>
            <a:ext cx="3806316" cy="27299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14451" y="4992234"/>
            <a:ext cx="10774045" cy="11487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332990">
              <a:lnSpc>
                <a:spcPct val="100000"/>
              </a:lnSpc>
              <a:spcBef>
                <a:spcPts val="345"/>
              </a:spcBef>
            </a:pPr>
            <a:r>
              <a:rPr lang="en-US" sz="1800" dirty="0" smtClean="0">
                <a:latin typeface="Calibri"/>
                <a:cs typeface="Calibri"/>
              </a:rPr>
              <a:t>                                                          </a:t>
            </a:r>
            <a:r>
              <a:rPr sz="1800" dirty="0" smtClean="0">
                <a:latin typeface="Calibri"/>
                <a:cs typeface="Calibri"/>
              </a:rPr>
              <a:t>Model</a:t>
            </a:r>
            <a:r>
              <a:rPr sz="1800" spc="-10" dirty="0" smtClean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dirty="0">
                <a:latin typeface="Calibri"/>
                <a:cs typeface="Calibri"/>
              </a:rPr>
              <a:t> a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simple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embedded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system</a:t>
            </a:r>
            <a:endParaRPr sz="1800" dirty="0">
              <a:latin typeface="Calibri"/>
              <a:cs typeface="Calibri"/>
            </a:endParaRPr>
          </a:p>
          <a:p>
            <a:pPr marL="103505" marR="5080" indent="-91440">
              <a:lnSpc>
                <a:spcPts val="2690"/>
              </a:lnSpc>
              <a:spcBef>
                <a:spcPts val="1035"/>
              </a:spcBef>
              <a:buClr>
                <a:srgbClr val="E38312"/>
              </a:buClr>
              <a:buFont typeface="Wingdings"/>
              <a:buChar char=""/>
              <a:tabLst>
                <a:tab pos="455930" algn="l"/>
                <a:tab pos="456565" algn="l"/>
              </a:tabLst>
            </a:pP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Embedded</a:t>
            </a:r>
            <a:r>
              <a:rPr sz="28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03829"/>
                </a:solidFill>
                <a:latin typeface="Calibri"/>
                <a:cs typeface="Calibri"/>
              </a:rPr>
              <a:t>system</a:t>
            </a:r>
            <a:r>
              <a:rPr sz="28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has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computing</a:t>
            </a:r>
            <a:r>
              <a:rPr sz="2800" spc="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unit</a:t>
            </a:r>
            <a:r>
              <a:rPr sz="2800" spc="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which</a:t>
            </a:r>
            <a:r>
              <a:rPr sz="28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sensors</a:t>
            </a:r>
            <a:r>
              <a:rPr sz="2800" spc="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actuators </a:t>
            </a:r>
            <a:r>
              <a:rPr sz="2800" spc="-6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connected.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8064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4810" y="52578"/>
            <a:ext cx="11645900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660" indent="-315595">
              <a:lnSpc>
                <a:spcPts val="3420"/>
              </a:lnSpc>
              <a:spcBef>
                <a:spcPts val="100"/>
              </a:spcBef>
              <a:buClr>
                <a:srgbClr val="E38312"/>
              </a:buClr>
              <a:buSzPct val="66666"/>
              <a:buFont typeface="Wingdings"/>
              <a:buChar char=""/>
              <a:tabLst>
                <a:tab pos="328295" algn="l"/>
              </a:tabLst>
            </a:pP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Here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more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focus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on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MCU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which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is a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‘Single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Chip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Computer’</a:t>
            </a:r>
            <a:r>
              <a:rPr sz="30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 a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heart</a:t>
            </a:r>
            <a:endParaRPr sz="3000" dirty="0">
              <a:latin typeface="Calibri"/>
              <a:cs typeface="Calibri"/>
            </a:endParaRPr>
          </a:p>
          <a:p>
            <a:pPr marL="104139">
              <a:lnSpc>
                <a:spcPts val="3420"/>
              </a:lnSpc>
            </a:pP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embedded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system.</a:t>
            </a:r>
            <a:endParaRPr sz="3000" dirty="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030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dirty="0" smtClean="0">
                <a:solidFill>
                  <a:srgbClr val="303829"/>
                </a:solidFill>
                <a:latin typeface="Calibri"/>
                <a:cs typeface="Calibri"/>
              </a:rPr>
              <a:t>MCU</a:t>
            </a:r>
            <a:r>
              <a:rPr sz="3000" spc="-5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computing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engine,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that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,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CPU,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to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which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a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peripheral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4810" y="1648352"/>
            <a:ext cx="11750040" cy="3840154"/>
          </a:xfrm>
          <a:prstGeom prst="rect">
            <a:avLst/>
          </a:prstGeom>
        </p:spPr>
        <p:txBody>
          <a:bodyPr vert="horz" wrap="square" lIns="0" tIns="14541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145"/>
              </a:spcBef>
            </a:pP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controllers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memory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added.</a:t>
            </a:r>
            <a:endParaRPr sz="3000" dirty="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040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spc="-15" dirty="0" smtClean="0">
                <a:solidFill>
                  <a:srgbClr val="303829"/>
                </a:solidFill>
                <a:latin typeface="Calibri"/>
                <a:cs typeface="Calibri"/>
              </a:rPr>
              <a:t>Peripherals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: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input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output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devices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which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needed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for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system.</a:t>
            </a:r>
            <a:endParaRPr sz="3000" dirty="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035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Eg: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Keyboard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as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Input and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LCD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Screen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as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Output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peripheral.</a:t>
            </a:r>
            <a:endParaRPr sz="3000" dirty="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045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As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these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outside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to</a:t>
            </a:r>
            <a:r>
              <a:rPr sz="3000" spc="-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 smtClean="0">
                <a:solidFill>
                  <a:srgbClr val="303829"/>
                </a:solidFill>
                <a:latin typeface="Calibri"/>
                <a:cs typeface="Calibri"/>
              </a:rPr>
              <a:t>MCU</a:t>
            </a:r>
            <a:r>
              <a:rPr lang="en-US" sz="3000" spc="-15" dirty="0" smtClean="0">
                <a:solidFill>
                  <a:srgbClr val="303829"/>
                </a:solidFill>
                <a:latin typeface="Calibri"/>
                <a:cs typeface="Calibri"/>
              </a:rPr>
              <a:t> s</a:t>
            </a:r>
            <a:r>
              <a:rPr sz="3000" spc="-5" dirty="0" smtClean="0">
                <a:solidFill>
                  <a:srgbClr val="303829"/>
                </a:solidFill>
                <a:latin typeface="Calibri"/>
                <a:cs typeface="Calibri"/>
              </a:rPr>
              <a:t>ome</a:t>
            </a:r>
            <a:r>
              <a:rPr sz="3000" spc="-15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‘Controllers’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that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inside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chip.</a:t>
            </a:r>
            <a:endParaRPr sz="3000" dirty="0">
              <a:latin typeface="Calibri"/>
              <a:cs typeface="Calibri"/>
            </a:endParaRPr>
          </a:p>
          <a:p>
            <a:pPr marL="104139" marR="5080" indent="-91440">
              <a:lnSpc>
                <a:spcPts val="3240"/>
              </a:lnSpc>
              <a:spcBef>
                <a:spcPts val="1440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Peripheral</a:t>
            </a:r>
            <a:r>
              <a:rPr sz="30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controllers</a:t>
            </a:r>
            <a:r>
              <a:rPr sz="30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dedicated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hardware</a:t>
            </a:r>
            <a:r>
              <a:rPr sz="30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units,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that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provides</a:t>
            </a:r>
            <a:r>
              <a:rPr sz="30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control </a:t>
            </a:r>
            <a:r>
              <a:rPr sz="3000" spc="-66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signals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for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 MCU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to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communicate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with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actual</a:t>
            </a:r>
            <a:r>
              <a:rPr sz="3000" spc="-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peripheral</a:t>
            </a:r>
            <a:r>
              <a:rPr sz="30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devices.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149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61364" y="1014119"/>
            <a:ext cx="11670665" cy="869469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065">
              <a:spcBef>
                <a:spcPts val="580"/>
              </a:spcBef>
              <a:buClr>
                <a:srgbClr val="E38312"/>
              </a:buClr>
              <a:tabLst>
                <a:tab pos="311785" algn="l"/>
              </a:tabLst>
            </a:pPr>
            <a:r>
              <a:rPr sz="2300" spc="-5" dirty="0" smtClean="0">
                <a:solidFill>
                  <a:srgbClr val="303829"/>
                </a:solidFill>
                <a:latin typeface="Calibri"/>
                <a:cs typeface="Calibri"/>
              </a:rPr>
              <a:t>Conceptual</a:t>
            </a:r>
            <a:r>
              <a:rPr sz="2300" spc="-2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Internal</a:t>
            </a:r>
            <a:r>
              <a:rPr sz="23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 smtClean="0">
                <a:solidFill>
                  <a:srgbClr val="303829"/>
                </a:solidFill>
                <a:latin typeface="Calibri"/>
                <a:cs typeface="Calibri"/>
              </a:rPr>
              <a:t>diagram</a:t>
            </a:r>
            <a:r>
              <a:rPr lang="en-US" sz="2300" spc="-1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IN" sz="2300" spc="-5" dirty="0" smtClean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lang="en-IN" sz="2300" spc="-2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IN" sz="2300" dirty="0">
                <a:solidFill>
                  <a:srgbClr val="303829"/>
                </a:solidFill>
                <a:latin typeface="Calibri"/>
                <a:cs typeface="Calibri"/>
              </a:rPr>
              <a:t>an</a:t>
            </a:r>
            <a:r>
              <a:rPr lang="en-IN" sz="23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IN" sz="2300" spc="-5" dirty="0">
                <a:solidFill>
                  <a:srgbClr val="303829"/>
                </a:solidFill>
                <a:latin typeface="Calibri"/>
                <a:cs typeface="Calibri"/>
              </a:rPr>
              <a:t>MCU</a:t>
            </a:r>
            <a:r>
              <a:rPr lang="en-IN" sz="23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IN" sz="2300" dirty="0">
                <a:solidFill>
                  <a:srgbClr val="303829"/>
                </a:solidFill>
                <a:latin typeface="Calibri"/>
                <a:cs typeface="Calibri"/>
              </a:rPr>
              <a:t>chip.</a:t>
            </a:r>
            <a:endParaRPr lang="en-IN" sz="2300" dirty="0">
              <a:latin typeface="Calibri"/>
              <a:cs typeface="Calibri"/>
            </a:endParaRPr>
          </a:p>
          <a:p>
            <a:pPr marL="311150" indent="-299085">
              <a:lnSpc>
                <a:spcPct val="100000"/>
              </a:lnSpc>
              <a:spcBef>
                <a:spcPts val="580"/>
              </a:spcBef>
              <a:buClr>
                <a:srgbClr val="E38312"/>
              </a:buClr>
              <a:buFont typeface="Wingdings"/>
              <a:buChar char=""/>
              <a:tabLst>
                <a:tab pos="311785" algn="l"/>
              </a:tabLst>
            </a:pPr>
            <a:endParaRPr sz="23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1363" y="2029815"/>
            <a:ext cx="6153292" cy="386451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42900" marR="1007744" indent="-342900" algn="r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 panose="05000000000000000000" pitchFamily="2" charset="2"/>
              <a:buChar char="q"/>
              <a:tabLst>
                <a:tab pos="299085" algn="l"/>
              </a:tabLst>
            </a:pPr>
            <a:r>
              <a:rPr sz="2300" spc="-10" dirty="0" smtClean="0">
                <a:solidFill>
                  <a:srgbClr val="303829"/>
                </a:solidFill>
                <a:latin typeface="Calibri"/>
                <a:cs typeface="Calibri"/>
              </a:rPr>
              <a:t>CORE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: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CPU or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computing</a:t>
            </a:r>
            <a:r>
              <a:rPr sz="23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 smtClean="0">
                <a:solidFill>
                  <a:srgbClr val="303829"/>
                </a:solidFill>
                <a:latin typeface="Calibri"/>
                <a:cs typeface="Calibri"/>
              </a:rPr>
              <a:t>engine</a:t>
            </a:r>
            <a:endParaRPr lang="en-US" sz="2300" dirty="0">
              <a:latin typeface="Calibri"/>
              <a:cs typeface="Calibri"/>
            </a:endParaRPr>
          </a:p>
          <a:p>
            <a:pPr marL="342900" marR="1007744" indent="-342900" algn="r">
              <a:lnSpc>
                <a:spcPct val="100000"/>
              </a:lnSpc>
              <a:spcBef>
                <a:spcPts val="575"/>
              </a:spcBef>
              <a:buClr>
                <a:srgbClr val="E38312"/>
              </a:buClr>
              <a:buFont typeface="Wingdings" panose="05000000000000000000" pitchFamily="2" charset="2"/>
              <a:buChar char="q"/>
              <a:tabLst>
                <a:tab pos="299085" algn="l"/>
              </a:tabLst>
            </a:pPr>
            <a:r>
              <a:rPr sz="2300" dirty="0" smtClean="0">
                <a:solidFill>
                  <a:srgbClr val="303829"/>
                </a:solidFill>
                <a:latin typeface="Calibri"/>
                <a:cs typeface="Calibri"/>
              </a:rPr>
              <a:t>Memory</a:t>
            </a:r>
            <a:r>
              <a:rPr sz="2300" spc="-3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set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peripherals</a:t>
            </a:r>
            <a:endParaRPr sz="2300" dirty="0">
              <a:latin typeface="Calibri"/>
              <a:cs typeface="Calibri"/>
            </a:endParaRPr>
          </a:p>
          <a:p>
            <a:pPr marR="974090" algn="r">
              <a:lnSpc>
                <a:spcPct val="100000"/>
              </a:lnSpc>
              <a:spcBef>
                <a:spcPts val="565"/>
              </a:spcBef>
            </a:pP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interconnected</a:t>
            </a:r>
            <a:r>
              <a:rPr sz="23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by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303829"/>
                </a:solidFill>
                <a:latin typeface="Calibri"/>
                <a:cs typeface="Calibri"/>
              </a:rPr>
              <a:t>system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bus.</a:t>
            </a:r>
            <a:endParaRPr sz="2300" dirty="0">
              <a:latin typeface="Calibri"/>
              <a:cs typeface="Calibri"/>
            </a:endParaRPr>
          </a:p>
          <a:p>
            <a:pPr marL="354965" indent="-342900">
              <a:lnSpc>
                <a:spcPct val="100000"/>
              </a:lnSpc>
              <a:spcBef>
                <a:spcPts val="580"/>
              </a:spcBef>
              <a:buClr>
                <a:srgbClr val="E38312"/>
              </a:buClr>
              <a:buFont typeface="Wingdings" panose="05000000000000000000" pitchFamily="2" charset="2"/>
              <a:buChar char="q"/>
              <a:tabLst>
                <a:tab pos="311785" algn="l"/>
              </a:tabLst>
            </a:pP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These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peripherals</a:t>
            </a:r>
            <a:r>
              <a:rPr sz="23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found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 smtClean="0">
                <a:solidFill>
                  <a:srgbClr val="303829"/>
                </a:solidFill>
                <a:latin typeface="Calibri"/>
                <a:cs typeface="Calibri"/>
              </a:rPr>
              <a:t>in</a:t>
            </a:r>
            <a:r>
              <a:rPr lang="en-US" sz="230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 smtClean="0">
                <a:solidFill>
                  <a:srgbClr val="303829"/>
                </a:solidFill>
                <a:latin typeface="Calibri"/>
                <a:cs typeface="Calibri"/>
              </a:rPr>
              <a:t>most</a:t>
            </a:r>
            <a:r>
              <a:rPr sz="2300" spc="-5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commonly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in all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30" dirty="0">
                <a:solidFill>
                  <a:srgbClr val="303829"/>
                </a:solidFill>
                <a:latin typeface="Calibri"/>
                <a:cs typeface="Calibri"/>
              </a:rPr>
              <a:t>MCU’s.</a:t>
            </a:r>
            <a:endParaRPr sz="2300" dirty="0">
              <a:latin typeface="Calibri"/>
              <a:cs typeface="Calibri"/>
            </a:endParaRPr>
          </a:p>
          <a:p>
            <a:pPr marL="297815" marR="547370" indent="-285750">
              <a:lnSpc>
                <a:spcPts val="3340"/>
              </a:lnSpc>
              <a:spcBef>
                <a:spcPts val="190"/>
              </a:spcBef>
              <a:buClr>
                <a:srgbClr val="E38312"/>
              </a:buClr>
              <a:buFont typeface="Wingdings" panose="05000000000000000000" pitchFamily="2" charset="2"/>
              <a:buChar char="q"/>
              <a:tabLst>
                <a:tab pos="376555" algn="l"/>
                <a:tab pos="377190" algn="l"/>
              </a:tabLst>
            </a:pPr>
            <a:r>
              <a:rPr dirty="0"/>
              <a:t>	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Advanced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peripherals</a:t>
            </a:r>
            <a:r>
              <a:rPr sz="23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23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found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 in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more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advanced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20" dirty="0">
                <a:solidFill>
                  <a:srgbClr val="303829"/>
                </a:solidFill>
                <a:latin typeface="Calibri"/>
                <a:cs typeface="Calibri"/>
              </a:rPr>
              <a:t>system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all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 work </a:t>
            </a:r>
            <a:r>
              <a:rPr sz="2300" spc="-50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on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 basis</a:t>
            </a:r>
            <a:r>
              <a:rPr sz="23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of time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 smtClean="0">
                <a:solidFill>
                  <a:srgbClr val="303829"/>
                </a:solidFill>
                <a:latin typeface="Calibri"/>
                <a:cs typeface="Calibri"/>
              </a:rPr>
              <a:t>synchronized</a:t>
            </a:r>
            <a:r>
              <a:rPr lang="en-US" sz="2300" spc="-1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30" dirty="0" smtClean="0">
                <a:solidFill>
                  <a:srgbClr val="303829"/>
                </a:solidFill>
                <a:latin typeface="Calibri"/>
                <a:cs typeface="Calibri"/>
              </a:rPr>
              <a:t>manner</a:t>
            </a:r>
            <a:r>
              <a:rPr sz="2300" spc="-30" dirty="0">
                <a:solidFill>
                  <a:srgbClr val="303829"/>
                </a:solidFill>
                <a:latin typeface="Calibri"/>
                <a:cs typeface="Calibri"/>
              </a:rPr>
              <a:t>,</a:t>
            </a:r>
            <a:r>
              <a:rPr sz="23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due</a:t>
            </a:r>
            <a:r>
              <a:rPr sz="23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to</a:t>
            </a:r>
            <a:r>
              <a:rPr sz="23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303829"/>
                </a:solidFill>
                <a:latin typeface="Calibri"/>
                <a:cs typeface="Calibri"/>
              </a:rPr>
              <a:t>timers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03829"/>
                </a:solidFill>
                <a:latin typeface="Calibri"/>
                <a:cs typeface="Calibri"/>
              </a:rPr>
              <a:t>and </a:t>
            </a:r>
            <a:r>
              <a:rPr sz="2300" spc="-15" dirty="0">
                <a:solidFill>
                  <a:srgbClr val="303829"/>
                </a:solidFill>
                <a:latin typeface="Calibri"/>
                <a:cs typeface="Calibri"/>
              </a:rPr>
              <a:t>control</a:t>
            </a:r>
            <a:r>
              <a:rPr sz="23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300" spc="-5" dirty="0">
                <a:solidFill>
                  <a:srgbClr val="303829"/>
                </a:solidFill>
                <a:latin typeface="Calibri"/>
                <a:cs typeface="Calibri"/>
              </a:rPr>
              <a:t>units.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4655" y="0"/>
            <a:ext cx="5777345" cy="477926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341408" y="5037079"/>
            <a:ext cx="3597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Internal Components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of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15" dirty="0">
                <a:latin typeface="Calibri"/>
                <a:cs typeface="Calibri"/>
              </a:rPr>
              <a:t>Typical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MCU</a:t>
            </a:r>
          </a:p>
        </p:txBody>
      </p:sp>
    </p:spTree>
    <p:extLst>
      <p:ext uri="{BB962C8B-B14F-4D97-AF65-F5344CB8AC3E}">
        <p14:creationId xmlns:p14="http://schemas.microsoft.com/office/powerpoint/2010/main" val="49207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9206" y="940157"/>
            <a:ext cx="11835130" cy="447622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04139" marR="982344" indent="-91440">
              <a:lnSpc>
                <a:spcPts val="3240"/>
              </a:lnSpc>
              <a:spcBef>
                <a:spcPts val="505"/>
              </a:spcBef>
              <a:buClr>
                <a:srgbClr val="E38312"/>
              </a:buClr>
              <a:buSzPct val="66666"/>
              <a:buFont typeface="Wingdings"/>
              <a:buChar char=""/>
              <a:tabLst>
                <a:tab pos="270510" algn="l"/>
              </a:tabLst>
            </a:pP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Internal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bus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shown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here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mainly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consists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basic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address,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data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and </a:t>
            </a:r>
            <a:r>
              <a:rPr sz="3000" spc="-66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control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bus.</a:t>
            </a:r>
            <a:endParaRPr sz="3000" dirty="0">
              <a:latin typeface="Calibri"/>
              <a:cs typeface="Calibri"/>
            </a:endParaRPr>
          </a:p>
          <a:p>
            <a:pPr marL="104139" marR="97155" indent="-91440">
              <a:lnSpc>
                <a:spcPts val="324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If the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data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bus has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16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bits,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it means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that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16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bits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can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be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handled at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go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by </a:t>
            </a:r>
            <a:r>
              <a:rPr sz="3000" spc="-66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CPU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and the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word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length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of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general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purpose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register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in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core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 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also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16.</a:t>
            </a:r>
            <a:endParaRPr sz="3000" dirty="0">
              <a:latin typeface="Calibri"/>
              <a:cs typeface="Calibri"/>
            </a:endParaRPr>
          </a:p>
          <a:p>
            <a:pPr marL="104139" marR="184785" indent="-91440">
              <a:lnSpc>
                <a:spcPts val="324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The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width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of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internal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address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bus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fixes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an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upper</a:t>
            </a:r>
            <a:r>
              <a:rPr sz="30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limit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on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capacity </a:t>
            </a:r>
            <a:r>
              <a:rPr sz="3000" spc="-66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-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internal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memory</a:t>
            </a:r>
            <a:r>
              <a:rPr sz="30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that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can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implemented.</a:t>
            </a:r>
            <a:endParaRPr sz="3000" dirty="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994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If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it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of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16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bits,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the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maximum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memory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capacity</a:t>
            </a:r>
            <a:r>
              <a:rPr sz="3000" spc="-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64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KB</a:t>
            </a:r>
            <a:endParaRPr sz="3000" dirty="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1045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If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this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bus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 32-Bits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wide,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the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maximum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addressable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memory</a:t>
            </a:r>
            <a:r>
              <a:rPr sz="30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is 4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 smtClean="0">
                <a:solidFill>
                  <a:srgbClr val="303829"/>
                </a:solidFill>
                <a:latin typeface="Calibri"/>
                <a:cs typeface="Calibri"/>
              </a:rPr>
              <a:t>GB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02877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42545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2.2</a:t>
            </a:r>
            <a:r>
              <a:rPr sz="4800" b="0" spc="-13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PIN</a:t>
            </a:r>
            <a:r>
              <a:rPr sz="4800" b="0" spc="-14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50" dirty="0">
                <a:solidFill>
                  <a:srgbClr val="00AFEF"/>
                </a:solidFill>
                <a:latin typeface="Calibri Light"/>
                <a:cs typeface="Calibri Light"/>
              </a:rPr>
              <a:t>DIAGRAM</a:t>
            </a:r>
            <a:endParaRPr sz="480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0486" y="1910283"/>
            <a:ext cx="10883900" cy="348615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03505" marR="6985" indent="-91440">
              <a:lnSpc>
                <a:spcPts val="3240"/>
              </a:lnSpc>
              <a:spcBef>
                <a:spcPts val="509"/>
              </a:spcBef>
              <a:buClr>
                <a:srgbClr val="E38312"/>
              </a:buClr>
              <a:buSzPct val="66666"/>
              <a:buFont typeface="Wingdings"/>
              <a:buChar char=""/>
              <a:tabLst>
                <a:tab pos="271780" algn="l"/>
              </a:tabLst>
            </a:pP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Number</a:t>
            </a:r>
            <a:r>
              <a:rPr sz="3000" spc="8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3000" spc="9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pins</a:t>
            </a:r>
            <a:r>
              <a:rPr sz="3000" spc="9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3000" spc="6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an</a:t>
            </a:r>
            <a:r>
              <a:rPr sz="3000" spc="7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MCU</a:t>
            </a:r>
            <a:r>
              <a:rPr sz="3000" spc="8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depends</a:t>
            </a:r>
            <a:r>
              <a:rPr sz="3000" spc="8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on</a:t>
            </a:r>
            <a:r>
              <a:rPr sz="3000" spc="7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7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number</a:t>
            </a:r>
            <a:r>
              <a:rPr sz="3000" spc="8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3000" spc="9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peripherals</a:t>
            </a:r>
            <a:r>
              <a:rPr sz="3000" spc="1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it </a:t>
            </a:r>
            <a:r>
              <a:rPr sz="3000" spc="-66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has.</a:t>
            </a:r>
            <a:endParaRPr sz="3000" dirty="0">
              <a:latin typeface="Calibri"/>
              <a:cs typeface="Calibri"/>
            </a:endParaRPr>
          </a:p>
          <a:p>
            <a:pPr marL="103505" marR="6350" indent="-91440">
              <a:lnSpc>
                <a:spcPts val="324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403225" algn="l"/>
              </a:tabLst>
            </a:pP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All</a:t>
            </a:r>
            <a:r>
              <a:rPr sz="30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peripherals</a:t>
            </a:r>
            <a:r>
              <a:rPr sz="3000" spc="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has</a:t>
            </a:r>
            <a:r>
              <a:rPr sz="30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pins</a:t>
            </a:r>
            <a:r>
              <a:rPr sz="30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to</a:t>
            </a:r>
            <a:r>
              <a:rPr sz="30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send</a:t>
            </a:r>
            <a:r>
              <a:rPr sz="30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30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receive</a:t>
            </a:r>
            <a:r>
              <a:rPr sz="30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signals</a:t>
            </a:r>
            <a:r>
              <a:rPr sz="30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to/from</a:t>
            </a:r>
            <a:r>
              <a:rPr sz="3000" spc="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external </a:t>
            </a:r>
            <a:r>
              <a:rPr sz="3000" spc="-66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devices.</a:t>
            </a:r>
            <a:endParaRPr sz="3000" dirty="0">
              <a:latin typeface="Calibri"/>
              <a:cs typeface="Calibri"/>
            </a:endParaRPr>
          </a:p>
          <a:p>
            <a:pPr marL="401320" indent="-388620">
              <a:lnSpc>
                <a:spcPct val="100000"/>
              </a:lnSpc>
              <a:spcBef>
                <a:spcPts val="985"/>
              </a:spcBef>
              <a:buClr>
                <a:srgbClr val="E38312"/>
              </a:buClr>
              <a:buFont typeface="Wingdings"/>
              <a:buChar char=""/>
              <a:tabLst>
                <a:tab pos="401320" algn="l"/>
              </a:tabLst>
            </a:pP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These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pins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are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called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I/O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pins.</a:t>
            </a:r>
            <a:endParaRPr sz="3000" dirty="0">
              <a:latin typeface="Calibri"/>
              <a:cs typeface="Calibri"/>
            </a:endParaRPr>
          </a:p>
          <a:p>
            <a:pPr marL="103505" marR="5080" indent="-91440">
              <a:lnSpc>
                <a:spcPts val="3240"/>
              </a:lnSpc>
              <a:spcBef>
                <a:spcPts val="1455"/>
              </a:spcBef>
              <a:buClr>
                <a:srgbClr val="E38312"/>
              </a:buClr>
              <a:buFont typeface="Wingdings"/>
              <a:buChar char=""/>
              <a:tabLst>
                <a:tab pos="403225" algn="l"/>
              </a:tabLst>
            </a:pP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In</a:t>
            </a:r>
            <a:r>
              <a:rPr sz="3000" spc="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most</a:t>
            </a:r>
            <a:r>
              <a:rPr sz="3000" spc="5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3000" spc="5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4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45" dirty="0">
                <a:solidFill>
                  <a:srgbClr val="303829"/>
                </a:solidFill>
                <a:latin typeface="Calibri"/>
                <a:cs typeface="Calibri"/>
              </a:rPr>
              <a:t>MCU’s</a:t>
            </a:r>
            <a:r>
              <a:rPr sz="3000" spc="7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,</a:t>
            </a:r>
            <a:r>
              <a:rPr sz="3000" spc="6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it</a:t>
            </a:r>
            <a:r>
              <a:rPr sz="3000" spc="5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has</a:t>
            </a:r>
            <a:r>
              <a:rPr sz="3000" spc="6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more</a:t>
            </a:r>
            <a:r>
              <a:rPr sz="3000" spc="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than</a:t>
            </a:r>
            <a:r>
              <a:rPr sz="3000" spc="6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one</a:t>
            </a:r>
            <a:r>
              <a:rPr sz="3000" spc="4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function</a:t>
            </a:r>
            <a:r>
              <a:rPr sz="3000" spc="5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for</a:t>
            </a:r>
            <a:r>
              <a:rPr sz="3000" spc="6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3000" spc="5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pin,</a:t>
            </a:r>
            <a:r>
              <a:rPr sz="3000" spc="4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such </a:t>
            </a:r>
            <a:r>
              <a:rPr sz="3000" spc="-66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that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-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25" dirty="0">
                <a:solidFill>
                  <a:srgbClr val="303829"/>
                </a:solidFill>
                <a:latin typeface="Calibri"/>
                <a:cs typeface="Calibri"/>
              </a:rPr>
              <a:t>exact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function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can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be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configured</a:t>
            </a:r>
            <a:r>
              <a:rPr sz="3000" spc="-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as</a:t>
            </a:r>
            <a:r>
              <a:rPr sz="3000" spc="-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spc="-10" dirty="0">
                <a:solidFill>
                  <a:srgbClr val="303829"/>
                </a:solidFill>
                <a:latin typeface="Calibri"/>
                <a:cs typeface="Calibri"/>
              </a:rPr>
              <a:t>per</a:t>
            </a:r>
            <a:r>
              <a:rPr sz="30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300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3000" spc="-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US" sz="3000" spc="-5" dirty="0" smtClean="0">
                <a:solidFill>
                  <a:srgbClr val="303829"/>
                </a:solidFill>
                <a:latin typeface="Calibri"/>
                <a:cs typeface="Calibri"/>
              </a:rPr>
              <a:t>use</a:t>
            </a:r>
            <a:r>
              <a:rPr sz="3000" spc="-5" dirty="0" smtClean="0">
                <a:solidFill>
                  <a:srgbClr val="303829"/>
                </a:solidFill>
                <a:latin typeface="Calibri"/>
                <a:cs typeface="Calibri"/>
              </a:rPr>
              <a:t>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7056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071597" y="5737739"/>
            <a:ext cx="3797786" cy="2744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Functional</a:t>
            </a:r>
            <a:r>
              <a:rPr sz="17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PIN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Diagram</a:t>
            </a:r>
            <a:r>
              <a:rPr sz="17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17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7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1700" dirty="0" smtClean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endParaRPr sz="17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755" y="0"/>
            <a:ext cx="7562088" cy="5673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61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88898"/>
            <a:ext cx="4864258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0" spc="-45" dirty="0">
                <a:solidFill>
                  <a:srgbClr val="00AFEF"/>
                </a:solidFill>
                <a:latin typeface="Calibri Light"/>
                <a:cs typeface="Calibri Light"/>
              </a:rPr>
              <a:t>2.2.1</a:t>
            </a:r>
            <a:r>
              <a:rPr sz="4300" b="0" spc="-18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300" b="0" spc="-45" dirty="0">
                <a:solidFill>
                  <a:srgbClr val="00AFEF"/>
                </a:solidFill>
                <a:latin typeface="Calibri Light"/>
                <a:cs typeface="Calibri Light"/>
              </a:rPr>
              <a:t>Clock</a:t>
            </a:r>
            <a:endParaRPr sz="43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8228" y="1677862"/>
            <a:ext cx="11390630" cy="3837589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106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20" dirty="0" smtClean="0">
                <a:solidFill>
                  <a:srgbClr val="303829"/>
                </a:solidFill>
                <a:latin typeface="Calibri"/>
                <a:cs typeface="Calibri"/>
              </a:rPr>
              <a:t>Every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03829"/>
                </a:solidFill>
                <a:latin typeface="Calibri"/>
                <a:cs typeface="Calibri"/>
              </a:rPr>
              <a:t>system</a:t>
            </a:r>
            <a:r>
              <a:rPr sz="28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synchronized</a:t>
            </a:r>
            <a:r>
              <a:rPr sz="2800" spc="5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a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clock,</a:t>
            </a:r>
            <a:r>
              <a:rPr sz="28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designated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as</a:t>
            </a:r>
            <a:r>
              <a:rPr sz="28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03829"/>
                </a:solidFill>
                <a:latin typeface="Calibri"/>
                <a:cs typeface="Calibri"/>
              </a:rPr>
              <a:t>system</a:t>
            </a:r>
            <a:r>
              <a:rPr sz="2800" spc="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clock.</a:t>
            </a:r>
            <a:endParaRPr sz="2800" dirty="0">
              <a:latin typeface="Calibri"/>
              <a:cs typeface="Calibri"/>
            </a:endParaRPr>
          </a:p>
          <a:p>
            <a:pPr marL="104139" marR="6350" indent="-91440">
              <a:lnSpc>
                <a:spcPts val="3020"/>
              </a:lnSpc>
              <a:spcBef>
                <a:spcPts val="145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2800" spc="9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frequency</a:t>
            </a:r>
            <a:r>
              <a:rPr sz="2800" spc="8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2800" spc="9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th</a:t>
            </a:r>
            <a:r>
              <a:rPr lang="en-US"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is</a:t>
            </a:r>
            <a:r>
              <a:rPr sz="2800" spc="11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clock</a:t>
            </a:r>
            <a:r>
              <a:rPr sz="2800" spc="1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dirty="0" smtClean="0">
                <a:solidFill>
                  <a:srgbClr val="303829"/>
                </a:solidFill>
                <a:latin typeface="Calibri"/>
                <a:cs typeface="Calibri"/>
              </a:rPr>
              <a:t>i</a:t>
            </a:r>
            <a:r>
              <a:rPr lang="en-US" sz="2800" dirty="0" smtClean="0">
                <a:solidFill>
                  <a:srgbClr val="303829"/>
                </a:solidFill>
                <a:latin typeface="Calibri"/>
                <a:cs typeface="Calibri"/>
              </a:rPr>
              <a:t>s a</a:t>
            </a:r>
            <a:r>
              <a:rPr sz="2800" spc="11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 smtClean="0">
                <a:solidFill>
                  <a:srgbClr val="303829"/>
                </a:solidFill>
                <a:latin typeface="Calibri"/>
                <a:cs typeface="Calibri"/>
              </a:rPr>
              <a:t>measure</a:t>
            </a:r>
            <a:r>
              <a:rPr lang="en-US" sz="2800" spc="-10" dirty="0" smtClean="0">
                <a:solidFill>
                  <a:srgbClr val="303829"/>
                </a:solidFill>
                <a:latin typeface="Calibri"/>
                <a:cs typeface="Calibri"/>
              </a:rPr>
              <a:t> of</a:t>
            </a:r>
            <a:r>
              <a:rPr sz="2800" spc="11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how</a:t>
            </a:r>
            <a:r>
              <a:rPr sz="2800" spc="114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03829"/>
                </a:solidFill>
                <a:latin typeface="Calibri"/>
                <a:cs typeface="Calibri"/>
              </a:rPr>
              <a:t>fast</a:t>
            </a:r>
            <a:r>
              <a:rPr sz="2800" spc="10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2800" spc="10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303829"/>
                </a:solidFill>
                <a:latin typeface="Calibri"/>
                <a:cs typeface="Calibri"/>
              </a:rPr>
              <a:t>system </a:t>
            </a:r>
            <a:r>
              <a:rPr sz="2800" spc="-6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can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perform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its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functions</a:t>
            </a:r>
            <a:r>
              <a:rPr lang="en-US"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 w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ith</a:t>
            </a:r>
            <a:r>
              <a:rPr sz="2800" spc="2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MCU,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CORE,</a:t>
            </a:r>
            <a:r>
              <a:rPr sz="28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peripherals</a:t>
            </a:r>
            <a:r>
              <a:rPr sz="2800" spc="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and</a:t>
            </a:r>
            <a:r>
              <a:rPr sz="28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2800" spc="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BUS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which</a:t>
            </a:r>
            <a:r>
              <a:rPr sz="28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303829"/>
                </a:solidFill>
                <a:latin typeface="Calibri"/>
                <a:cs typeface="Calibri"/>
              </a:rPr>
              <a:t>interconnect</a:t>
            </a:r>
            <a:r>
              <a:rPr sz="28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them.</a:t>
            </a:r>
            <a:endParaRPr sz="2800" dirty="0">
              <a:latin typeface="Calibri"/>
              <a:cs typeface="Calibri"/>
            </a:endParaRPr>
          </a:p>
          <a:p>
            <a:pPr marL="104139" marR="7620" indent="-91440">
              <a:lnSpc>
                <a:spcPts val="3020"/>
              </a:lnSpc>
              <a:spcBef>
                <a:spcPts val="145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All</a:t>
            </a:r>
            <a:r>
              <a:rPr sz="2800" spc="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US"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of them can be synchronized by 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sz="2800" spc="5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same</a:t>
            </a:r>
            <a:r>
              <a:rPr sz="2800" spc="5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clock</a:t>
            </a:r>
            <a:r>
              <a:rPr sz="2800" spc="7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US" sz="2800" spc="70" dirty="0" smtClean="0">
                <a:solidFill>
                  <a:srgbClr val="303829"/>
                </a:solidFill>
                <a:latin typeface="Calibri"/>
                <a:cs typeface="Calibri"/>
              </a:rPr>
              <a:t>or</a:t>
            </a:r>
            <a:r>
              <a:rPr sz="2800" spc="6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each</a:t>
            </a:r>
            <a:r>
              <a:rPr sz="2800" spc="5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2800" spc="5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lang="en-US"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m</a:t>
            </a:r>
            <a:r>
              <a:rPr sz="2800" spc="6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US" sz="2800" spc="-10" dirty="0" smtClean="0">
                <a:solidFill>
                  <a:srgbClr val="303829"/>
                </a:solidFill>
                <a:latin typeface="Calibri"/>
                <a:cs typeface="Calibri"/>
              </a:rPr>
              <a:t>can have</a:t>
            </a:r>
            <a:r>
              <a:rPr sz="2800" spc="7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separate</a:t>
            </a:r>
            <a:r>
              <a:rPr sz="2800" spc="6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clock</a:t>
            </a:r>
            <a:r>
              <a:rPr lang="en-US" sz="2800" spc="-5" dirty="0">
                <a:solidFill>
                  <a:srgbClr val="303829"/>
                </a:solidFill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04139" marR="5080" indent="-91440">
              <a:lnSpc>
                <a:spcPts val="303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Means</a:t>
            </a:r>
            <a:r>
              <a:rPr sz="2800" spc="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it</a:t>
            </a:r>
            <a:r>
              <a:rPr sz="2800" spc="4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can</a:t>
            </a:r>
            <a:r>
              <a:rPr sz="2800" spc="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03829"/>
                </a:solidFill>
                <a:latin typeface="Calibri"/>
                <a:cs typeface="Calibri"/>
              </a:rPr>
              <a:t>have</a:t>
            </a:r>
            <a:r>
              <a:rPr sz="28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03829"/>
                </a:solidFill>
                <a:latin typeface="Calibri"/>
                <a:cs typeface="Calibri"/>
              </a:rPr>
              <a:t>system</a:t>
            </a:r>
            <a:r>
              <a:rPr sz="2800" spc="1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clock,</a:t>
            </a:r>
            <a:r>
              <a:rPr sz="2800" spc="2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core</a:t>
            </a:r>
            <a:r>
              <a:rPr sz="2800" spc="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clock,</a:t>
            </a:r>
            <a:r>
              <a:rPr sz="2800" spc="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bus</a:t>
            </a:r>
            <a:r>
              <a:rPr sz="2800" spc="3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clock,</a:t>
            </a:r>
            <a:r>
              <a:rPr sz="2800" spc="4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peripheral</a:t>
            </a:r>
            <a:r>
              <a:rPr sz="2800" spc="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clock-</a:t>
            </a:r>
            <a:r>
              <a:rPr sz="2800" spc="3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each </a:t>
            </a:r>
            <a:r>
              <a:rPr sz="2800" spc="-6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303829"/>
                </a:solidFill>
                <a:latin typeface="Calibri"/>
                <a:cs typeface="Calibri"/>
              </a:rPr>
              <a:t>of</a:t>
            </a:r>
            <a:r>
              <a:rPr sz="280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the</a:t>
            </a:r>
            <a:r>
              <a:rPr lang="en-US" sz="2800" spc="-5" dirty="0" smtClean="0">
                <a:solidFill>
                  <a:srgbClr val="303829"/>
                </a:solidFill>
                <a:latin typeface="Calibri"/>
                <a:cs typeface="Calibri"/>
              </a:rPr>
              <a:t>m</a:t>
            </a:r>
            <a:r>
              <a:rPr sz="2800" spc="5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829"/>
                </a:solidFill>
                <a:latin typeface="Calibri"/>
                <a:cs typeface="Calibri"/>
              </a:rPr>
              <a:t>operating</a:t>
            </a:r>
            <a:r>
              <a:rPr sz="2800" spc="20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lang="en-US" sz="2800" spc="-10" dirty="0" smtClean="0">
                <a:solidFill>
                  <a:srgbClr val="303829"/>
                </a:solidFill>
                <a:latin typeface="Calibri"/>
                <a:cs typeface="Calibri"/>
              </a:rPr>
              <a:t>at</a:t>
            </a:r>
            <a:r>
              <a:rPr sz="2800" spc="10" dirty="0" smtClean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03829"/>
                </a:solidFill>
                <a:latin typeface="Calibri"/>
                <a:cs typeface="Calibri"/>
              </a:rPr>
              <a:t>different</a:t>
            </a:r>
            <a:r>
              <a:rPr sz="2800" spc="15" dirty="0">
                <a:solidFill>
                  <a:srgbClr val="303829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829"/>
                </a:solidFill>
                <a:latin typeface="Calibri"/>
                <a:cs typeface="Calibri"/>
              </a:rPr>
              <a:t>frequencies.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041506" y="6541719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9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5778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795527" y="0"/>
            <a:ext cx="10365105" cy="2453640"/>
            <a:chOff x="795527" y="0"/>
            <a:chExt cx="10365105" cy="2453640"/>
          </a:xfrm>
        </p:grpSpPr>
        <p:sp>
          <p:nvSpPr>
            <p:cNvPr id="6" name="object 6"/>
            <p:cNvSpPr/>
            <p:nvPr/>
          </p:nvSpPr>
          <p:spPr>
            <a:xfrm>
              <a:off x="1193291" y="1737360"/>
              <a:ext cx="9966960" cy="0"/>
            </a:xfrm>
            <a:custGeom>
              <a:avLst/>
              <a:gdLst/>
              <a:ahLst/>
              <a:cxnLst/>
              <a:rect l="l" t="t" r="r" b="b"/>
              <a:pathLst>
                <a:path w="9966960">
                  <a:moveTo>
                    <a:pt x="0" y="0"/>
                  </a:moveTo>
                  <a:lnTo>
                    <a:pt x="9966960" y="0"/>
                  </a:lnTo>
                </a:path>
              </a:pathLst>
            </a:custGeom>
            <a:ln w="63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5527" y="0"/>
              <a:ext cx="10360152" cy="245364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73493" y="2194299"/>
            <a:ext cx="11806555" cy="39626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29565" algn="ctr">
              <a:lnSpc>
                <a:spcPts val="1975"/>
              </a:lnSpc>
              <a:spcBef>
                <a:spcPts val="100"/>
              </a:spcBef>
            </a:pPr>
            <a:r>
              <a:rPr sz="1800" spc="-10" dirty="0">
                <a:latin typeface="Calibri"/>
                <a:cs typeface="Calibri"/>
              </a:rPr>
              <a:t>Clock </a:t>
            </a:r>
            <a:r>
              <a:rPr sz="1800" dirty="0">
                <a:latin typeface="Calibri"/>
                <a:cs typeface="Calibri"/>
              </a:rPr>
              <a:t>Management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 smtClean="0">
                <a:latin typeface="Calibri"/>
                <a:cs typeface="Calibri"/>
              </a:rPr>
              <a:t>MCU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spcBef>
                <a:spcPts val="111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lang="en-US" sz="2000" spc="-10" dirty="0" smtClean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crystal</a:t>
            </a:r>
            <a:r>
              <a:rPr sz="20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used </a:t>
            </a:r>
            <a:r>
              <a:rPr lang="en-US"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as basic reference </a:t>
            </a:r>
            <a:r>
              <a:rPr sz="2000" spc="-20" dirty="0" smtClean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clock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 smtClean="0">
                <a:solidFill>
                  <a:srgbClr val="404040"/>
                </a:solidFill>
                <a:latin typeface="Calibri"/>
                <a:cs typeface="Calibri"/>
              </a:rPr>
              <a:t>systems.</a:t>
            </a:r>
            <a:r>
              <a:rPr lang="en-US" sz="2000" spc="-2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000" spc="-20" dirty="0" err="1" smtClean="0">
                <a:solidFill>
                  <a:srgbClr val="404040"/>
                </a:solidFill>
                <a:latin typeface="Calibri"/>
                <a:cs typeface="Calibri"/>
              </a:rPr>
              <a:t>Fosc</a:t>
            </a:r>
            <a:r>
              <a:rPr lang="en-US" sz="2000" spc="-20" dirty="0" smtClean="0">
                <a:solidFill>
                  <a:srgbClr val="404040"/>
                </a:solidFill>
                <a:latin typeface="Calibri"/>
                <a:cs typeface="Calibri"/>
              </a:rPr>
              <a:t>(Frequency Oscillator)</a:t>
            </a:r>
            <a:endParaRPr sz="2000" dirty="0">
              <a:latin typeface="Calibri"/>
              <a:cs typeface="Calibri"/>
            </a:endParaRPr>
          </a:p>
          <a:p>
            <a:pPr marL="323215" indent="-311150">
              <a:spcBef>
                <a:spcPts val="111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modern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MCU,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options of using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external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frequencies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output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endParaRPr sz="2000" dirty="0">
              <a:latin typeface="Calibri"/>
              <a:cs typeface="Calibri"/>
            </a:endParaRPr>
          </a:p>
          <a:p>
            <a:pPr marL="103505"/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internal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oscillator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basic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clock.</a:t>
            </a:r>
            <a:endParaRPr sz="2000" dirty="0">
              <a:latin typeface="Calibri"/>
              <a:cs typeface="Calibri"/>
            </a:endParaRPr>
          </a:p>
          <a:p>
            <a:pPr marL="323215" indent="-311150">
              <a:spcBef>
                <a:spcPts val="110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circuitry,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supplies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frequencies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part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 smtClean="0">
                <a:solidFill>
                  <a:srgbClr val="404040"/>
                </a:solidFill>
                <a:latin typeface="Calibri"/>
                <a:cs typeface="Calibri"/>
              </a:rPr>
              <a:t>syste</a:t>
            </a:r>
            <a:r>
              <a:rPr lang="en-US" sz="2000" spc="-25" dirty="0" smtClean="0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sz="2000" spc="-25" dirty="0" smtClean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103505" marR="713105" indent="-91440"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lang="en-US"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requenc</a:t>
            </a:r>
            <a:r>
              <a:rPr lang="en-US"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ies</a:t>
            </a:r>
            <a:r>
              <a:rPr sz="2000" spc="-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000" spc="-10" dirty="0" smtClean="0">
                <a:solidFill>
                  <a:srgbClr val="404040"/>
                </a:solidFill>
                <a:latin typeface="Calibri"/>
                <a:cs typeface="Calibri"/>
              </a:rPr>
              <a:t>above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100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MHz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needed</a:t>
            </a:r>
            <a:r>
              <a:rPr lang="en-US"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000" spc="-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phase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locked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loop (PLL)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lang="en-US" sz="200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can </a:t>
            </a:r>
            <a:r>
              <a:rPr sz="2000" spc="-5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generate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frequencies</a:t>
            </a:r>
            <a:r>
              <a:rPr lang="en-US"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 in phase synchronization</a:t>
            </a:r>
            <a:r>
              <a:rPr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lang="en-US" sz="2000" spc="-5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103505" marR="713105" indent="-91440"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lang="en-US" sz="2000" spc="-5" dirty="0">
                <a:solidFill>
                  <a:srgbClr val="404040"/>
                </a:solidFill>
                <a:latin typeface="Calibri"/>
                <a:cs typeface="Calibri"/>
              </a:rPr>
              <a:t>All the stringent requirements needed for clocks such as rise/fall time</a:t>
            </a:r>
            <a:r>
              <a:rPr lang="en-US"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, low </a:t>
            </a:r>
            <a:r>
              <a:rPr lang="en-US" sz="2000" spc="-5" dirty="0">
                <a:solidFill>
                  <a:srgbClr val="404040"/>
                </a:solidFill>
                <a:latin typeface="Calibri"/>
                <a:cs typeface="Calibri"/>
              </a:rPr>
              <a:t>propagation delay are realized using PLL.</a:t>
            </a:r>
            <a:endParaRPr sz="2000" spc="-5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323215" indent="-311150"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PLL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change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CPU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clock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frequency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dynamically</a:t>
            </a:r>
            <a:r>
              <a:rPr sz="20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power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management.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10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5119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60219" y="213257"/>
            <a:ext cx="10958944" cy="138243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877569" marR="5080">
              <a:lnSpc>
                <a:spcPts val="4900"/>
              </a:lnSpc>
              <a:spcBef>
                <a:spcPts val="980"/>
              </a:spcBef>
            </a:pPr>
            <a:r>
              <a:rPr b="0" spc="-55" dirty="0">
                <a:solidFill>
                  <a:srgbClr val="404040"/>
                </a:solidFill>
                <a:latin typeface="Calibri Light"/>
                <a:cs typeface="Calibri Light"/>
              </a:rPr>
              <a:t>What</a:t>
            </a:r>
            <a:r>
              <a:rPr b="0" spc="-9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60" dirty="0">
                <a:solidFill>
                  <a:srgbClr val="404040"/>
                </a:solidFill>
                <a:latin typeface="Calibri Light"/>
                <a:cs typeface="Calibri Light"/>
              </a:rPr>
              <a:t>are</a:t>
            </a:r>
            <a:r>
              <a:rPr b="0" spc="-10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35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b="0" spc="-9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70" dirty="0">
                <a:solidFill>
                  <a:srgbClr val="404040"/>
                </a:solidFill>
                <a:latin typeface="Calibri Light"/>
                <a:cs typeface="Calibri Light"/>
              </a:rPr>
              <a:t>orders</a:t>
            </a:r>
            <a:r>
              <a:rPr b="0" spc="-12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25" dirty="0">
                <a:solidFill>
                  <a:srgbClr val="404040"/>
                </a:solidFill>
                <a:latin typeface="Calibri Light"/>
                <a:cs typeface="Calibri Light"/>
              </a:rPr>
              <a:t>of</a:t>
            </a:r>
            <a:r>
              <a:rPr b="0" spc="-11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45" dirty="0">
                <a:solidFill>
                  <a:srgbClr val="404040"/>
                </a:solidFill>
                <a:latin typeface="Calibri Light"/>
                <a:cs typeface="Calibri Light"/>
              </a:rPr>
              <a:t>clock</a:t>
            </a:r>
            <a:r>
              <a:rPr b="0" spc="-11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55" dirty="0">
                <a:solidFill>
                  <a:srgbClr val="404040"/>
                </a:solidFill>
                <a:latin typeface="Calibri Light"/>
                <a:cs typeface="Calibri Light"/>
              </a:rPr>
              <a:t>frequencies </a:t>
            </a:r>
            <a:r>
              <a:rPr b="0" spc="-107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60" dirty="0">
                <a:solidFill>
                  <a:srgbClr val="404040"/>
                </a:solidFill>
                <a:latin typeface="Calibri Light"/>
                <a:cs typeface="Calibri Light"/>
              </a:rPr>
              <a:t>generally</a:t>
            </a:r>
            <a:r>
              <a:rPr b="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40" dirty="0">
                <a:solidFill>
                  <a:srgbClr val="404040"/>
                </a:solidFill>
                <a:latin typeface="Calibri Light"/>
                <a:cs typeface="Calibri Light"/>
              </a:rPr>
              <a:t>used</a:t>
            </a:r>
            <a:r>
              <a:rPr b="0" spc="-9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30" dirty="0">
                <a:solidFill>
                  <a:srgbClr val="404040"/>
                </a:solidFill>
                <a:latin typeface="Calibri Light"/>
                <a:cs typeface="Calibri Light"/>
              </a:rPr>
              <a:t>in</a:t>
            </a:r>
            <a:r>
              <a:rPr b="0" spc="-9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45" dirty="0">
                <a:solidFill>
                  <a:srgbClr val="404040"/>
                </a:solidFill>
                <a:latin typeface="Calibri Light"/>
                <a:cs typeface="Calibri Light"/>
              </a:rPr>
              <a:t>embedded</a:t>
            </a:r>
            <a:r>
              <a:rPr b="0" spc="-9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b="0" spc="-80" dirty="0">
                <a:solidFill>
                  <a:srgbClr val="404040"/>
                </a:solidFill>
                <a:latin typeface="Calibri Light"/>
                <a:cs typeface="Calibri Light"/>
              </a:rPr>
              <a:t>systems?</a:t>
            </a:r>
            <a:endParaRPr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4291" y="1813686"/>
            <a:ext cx="10737273" cy="4189608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469900" marR="5080" indent="-457200" algn="just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Embedded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systems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do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not use very high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frequencies of the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order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3GHz</a:t>
            </a:r>
            <a:r>
              <a:rPr sz="2800" spc="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5" dirty="0" smtClean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en-US" sz="2800" spc="-25" dirty="0" smtClean="0">
                <a:solidFill>
                  <a:srgbClr val="404040"/>
                </a:solidFill>
                <a:latin typeface="Calibri"/>
                <a:cs typeface="Calibri"/>
              </a:rPr>
              <a:t>h</a:t>
            </a:r>
            <a:r>
              <a:rPr sz="2800" spc="-25" dirty="0" smtClean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8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800" spc="5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2800" spc="5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800" spc="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5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latest</a:t>
            </a:r>
            <a:r>
              <a:rPr sz="2800" spc="5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PCs</a:t>
            </a:r>
            <a:r>
              <a:rPr sz="2800" spc="-5" dirty="0" smtClean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lang="en-US" sz="2800" spc="-5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800" spc="59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2800" spc="5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embedded 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device</a:t>
            </a:r>
            <a:r>
              <a:rPr sz="2800" spc="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800" spc="5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800" spc="-6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functions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and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 applications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require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frequencies. </a:t>
            </a:r>
            <a:endParaRPr lang="en-US" sz="2800" spc="-5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800" spc="-62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800" spc="-2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800" spc="-20" dirty="0" smtClean="0">
                <a:solidFill>
                  <a:srgbClr val="404040"/>
                </a:solidFill>
                <a:latin typeface="Calibri"/>
                <a:cs typeface="Calibri"/>
              </a:rPr>
              <a:t>ore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clock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frequencies can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be as low as 10MHz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endParaRPr lang="en-US" sz="2800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lang="en-US" sz="2800" spc="-15" dirty="0">
                <a:solidFill>
                  <a:srgbClr val="404040"/>
                </a:solidFill>
                <a:latin typeface="Calibri"/>
                <a:cs typeface="Calibri"/>
              </a:rPr>
              <a:t>P</a:t>
            </a:r>
            <a:r>
              <a:rPr sz="2800" spc="-15" dirty="0" smtClean="0">
                <a:solidFill>
                  <a:srgbClr val="404040"/>
                </a:solidFill>
                <a:latin typeface="Calibri"/>
                <a:cs typeface="Calibri"/>
              </a:rPr>
              <a:t>eripherals </a:t>
            </a:r>
            <a:r>
              <a:rPr sz="2800" spc="-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may operate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at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much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lower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rates</a:t>
            </a:r>
            <a:r>
              <a:rPr sz="2800" spc="-25" dirty="0" smtClean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lang="en-US" sz="2800" spc="-25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sz="2800" spc="-2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High-end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microcontrollers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have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frequencies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range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60-80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MHz, </a:t>
            </a:r>
            <a:endParaRPr lang="en-US" sz="2800" spc="-5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430"/>
              </a:spcBef>
              <a:buFont typeface="Arial" panose="020B0604020202020204" pitchFamily="34" charset="0"/>
              <a:buChar char="•"/>
            </a:pPr>
            <a:r>
              <a:rPr lang="en-US" sz="2800" spc="-10" dirty="0" smtClean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sz="2800" spc="-10" dirty="0" smtClean="0">
                <a:solidFill>
                  <a:srgbClr val="404040"/>
                </a:solidFill>
                <a:latin typeface="Calibri"/>
                <a:cs typeface="Calibri"/>
              </a:rPr>
              <a:t>ery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high end </a:t>
            </a:r>
            <a:r>
              <a:rPr sz="2800" spc="-5" dirty="0" smtClean="0">
                <a:solidFill>
                  <a:srgbClr val="404040"/>
                </a:solidFill>
                <a:latin typeface="Calibri"/>
                <a:cs typeface="Calibri"/>
              </a:rPr>
              <a:t>side</a:t>
            </a:r>
            <a:r>
              <a:rPr sz="28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mobile phone 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tablets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which use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frequencies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around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2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GHz.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11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587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64107" y="928827"/>
            <a:ext cx="4194864" cy="680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300" b="0" spc="-45" dirty="0">
                <a:solidFill>
                  <a:srgbClr val="00AFEF"/>
                </a:solidFill>
                <a:latin typeface="Calibri Light"/>
                <a:cs typeface="Calibri Light"/>
              </a:rPr>
              <a:t>2.2.2</a:t>
            </a:r>
            <a:r>
              <a:rPr sz="4300" b="0" spc="-19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300" b="0" spc="-65" dirty="0">
                <a:solidFill>
                  <a:srgbClr val="00AFEF"/>
                </a:solidFill>
                <a:latin typeface="Calibri Light"/>
                <a:cs typeface="Calibri Light"/>
              </a:rPr>
              <a:t>Reset</a:t>
            </a:r>
            <a:endParaRPr sz="43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5927" y="1809267"/>
            <a:ext cx="9916617" cy="1152880"/>
          </a:xfrm>
          <a:prstGeom prst="rect">
            <a:avLst/>
          </a:prstGeom>
        </p:spPr>
        <p:txBody>
          <a:bodyPr vert="horz" wrap="square" lIns="0" tIns="148590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170"/>
              </a:spcBef>
              <a:buClr>
                <a:srgbClr val="E38312"/>
              </a:buClr>
              <a:buSzPct val="71428"/>
              <a:buFont typeface="Wingdings"/>
              <a:buChar char=""/>
              <a:tabLst>
                <a:tab pos="270510" algn="l"/>
              </a:tabLst>
            </a:pPr>
            <a:r>
              <a:rPr sz="2800" spc="-45" dirty="0">
                <a:solidFill>
                  <a:srgbClr val="404040"/>
                </a:solidFill>
                <a:latin typeface="Calibri"/>
                <a:cs typeface="Calibri"/>
              </a:rPr>
              <a:t>Word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means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35" dirty="0">
                <a:solidFill>
                  <a:srgbClr val="404040"/>
                </a:solidFill>
                <a:latin typeface="Calibri"/>
                <a:cs typeface="Calibri"/>
              </a:rPr>
              <a:t>“Restart”.</a:t>
            </a:r>
            <a:endParaRPr sz="2800" dirty="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1070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expected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800" spc="5" dirty="0" smtClean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800" spc="-15" dirty="0" smtClean="0">
                <a:solidFill>
                  <a:srgbClr val="404040"/>
                </a:solidFill>
                <a:latin typeface="Calibri"/>
                <a:cs typeface="Calibri"/>
              </a:rPr>
              <a:t>tart</a:t>
            </a:r>
            <a:r>
              <a:rPr sz="2800" spc="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state.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55928" y="3070986"/>
            <a:ext cx="16675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  <a:tab pos="934085" algn="l"/>
              </a:tabLst>
            </a:pP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3633" y="3070986"/>
            <a:ext cx="82257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5770" algn="l"/>
                <a:tab pos="1475740" algn="l"/>
                <a:tab pos="2806700" algn="l"/>
                <a:tab pos="4246880" algn="l"/>
                <a:tab pos="4925060" algn="l"/>
                <a:tab pos="6197600" algn="l"/>
                <a:tab pos="6955155" algn="l"/>
                <a:tab pos="7650480" algn="l"/>
              </a:tabLst>
            </a:pP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es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t,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800" spc="-4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800" spc="-3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ernal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egi</a:t>
            </a:r>
            <a:r>
              <a:rPr sz="2800" spc="-5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800" spc="-3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800" spc="-6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8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clea</a:t>
            </a:r>
            <a:r>
              <a:rPr sz="28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	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fi</a:t>
            </a:r>
            <a:r>
              <a:rPr sz="2800" spc="-6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5928" y="3320733"/>
            <a:ext cx="9152255" cy="1146810"/>
          </a:xfrm>
          <a:prstGeom prst="rect">
            <a:avLst/>
          </a:prstGeom>
        </p:spPr>
        <p:txBody>
          <a:bodyPr vert="horz" wrap="square" lIns="0" tIns="14605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150"/>
              </a:spcBef>
            </a:pP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instruction</a:t>
            </a:r>
            <a:r>
              <a:rPr sz="28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be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executed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taken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specific</a:t>
            </a:r>
            <a:r>
              <a:rPr sz="2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address.</a:t>
            </a:r>
            <a:endParaRPr sz="280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1060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Hence,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2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counter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8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loaded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address.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57682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3" y="908684"/>
            <a:ext cx="934626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0" dirty="0" smtClean="0">
                <a:solidFill>
                  <a:srgbClr val="FF0000"/>
                </a:solidFill>
                <a:latin typeface="Calibri Light"/>
                <a:cs typeface="Calibri Light"/>
              </a:rPr>
              <a:t>How</a:t>
            </a:r>
            <a:r>
              <a:rPr sz="4800" b="0" spc="-140" dirty="0" smtClean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800" b="0" spc="-30" dirty="0">
                <a:solidFill>
                  <a:srgbClr val="FF0000"/>
                </a:solidFill>
                <a:latin typeface="Calibri Light"/>
                <a:cs typeface="Calibri Light"/>
              </a:rPr>
              <a:t>is</a:t>
            </a:r>
            <a:r>
              <a:rPr sz="4800" b="0" spc="-11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800" b="0" spc="-65" dirty="0">
                <a:solidFill>
                  <a:srgbClr val="FF0000"/>
                </a:solidFill>
                <a:latin typeface="Calibri Light"/>
                <a:cs typeface="Calibri Light"/>
              </a:rPr>
              <a:t>Reset</a:t>
            </a:r>
            <a:r>
              <a:rPr sz="4800" b="0" spc="-120" dirty="0">
                <a:solidFill>
                  <a:srgbClr val="FF0000"/>
                </a:solidFill>
                <a:latin typeface="Calibri Light"/>
                <a:cs typeface="Calibri Light"/>
              </a:rPr>
              <a:t> </a:t>
            </a:r>
            <a:r>
              <a:rPr sz="4800" b="0" spc="-40" dirty="0">
                <a:solidFill>
                  <a:srgbClr val="FF0000"/>
                </a:solidFill>
                <a:latin typeface="Calibri Light"/>
                <a:cs typeface="Calibri Light"/>
              </a:rPr>
              <a:t>Done?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1826897"/>
            <a:ext cx="9227820" cy="7397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04139" marR="5080" indent="-92075">
              <a:lnSpc>
                <a:spcPct val="80000"/>
              </a:lnSpc>
              <a:spcBef>
                <a:spcPts val="72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Any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MCU chip,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there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 a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at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which an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external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circuit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may </a:t>
            </a:r>
            <a:r>
              <a:rPr sz="2600" spc="-5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connected.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4580" y="4159696"/>
            <a:ext cx="9438005" cy="17291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6225" indent="-264160">
              <a:lnSpc>
                <a:spcPts val="2810"/>
              </a:lnSpc>
              <a:spcBef>
                <a:spcPts val="105"/>
              </a:spcBef>
              <a:buClr>
                <a:srgbClr val="E38312"/>
              </a:buClr>
              <a:buSzPct val="96153"/>
              <a:buFont typeface="Wingdings"/>
              <a:buChar char=""/>
              <a:tabLst>
                <a:tab pos="276860" algn="l"/>
              </a:tabLst>
            </a:pP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Above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figure,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shows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there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internal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circuitry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also,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named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endParaRPr sz="2600" dirty="0">
              <a:latin typeface="Calibri"/>
              <a:cs typeface="Calibri"/>
            </a:endParaRPr>
          </a:p>
          <a:p>
            <a:pPr marL="104139">
              <a:lnSpc>
                <a:spcPts val="2810"/>
              </a:lnSpc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“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Generator”.</a:t>
            </a:r>
            <a:endParaRPr sz="2600" dirty="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780"/>
              </a:spcBef>
              <a:buClr>
                <a:srgbClr val="E38312"/>
              </a:buClr>
              <a:buSzPct val="96153"/>
              <a:buFont typeface="Wingdings"/>
              <a:buChar char=""/>
              <a:tabLst>
                <a:tab pos="349885" algn="l"/>
              </a:tabLst>
            </a:pP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takes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care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function.</a:t>
            </a:r>
            <a:endParaRPr sz="2600" dirty="0">
              <a:latin typeface="Calibri"/>
              <a:cs typeface="Calibri"/>
            </a:endParaRPr>
          </a:p>
          <a:p>
            <a:pPr marL="424180" indent="-412115">
              <a:lnSpc>
                <a:spcPct val="100000"/>
              </a:lnSpc>
              <a:spcBef>
                <a:spcPts val="770"/>
              </a:spcBef>
              <a:buClr>
                <a:srgbClr val="E38312"/>
              </a:buClr>
              <a:buSzPct val="96153"/>
              <a:buFont typeface="Wingdings"/>
              <a:buChar char=""/>
              <a:tabLst>
                <a:tab pos="424180" algn="l"/>
                <a:tab pos="424815" algn="l"/>
              </a:tabLst>
            </a:pP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There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3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different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kinds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options.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13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8604" y="2656208"/>
            <a:ext cx="4606192" cy="141395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89563" y="3698451"/>
            <a:ext cx="2382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Fig:The</a:t>
            </a:r>
            <a:r>
              <a:rPr lang="en-US" dirty="0" smtClean="0"/>
              <a:t> Reset system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9686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07338" y="908684"/>
            <a:ext cx="7878226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5" dirty="0" smtClean="0">
                <a:solidFill>
                  <a:srgbClr val="00AFEF"/>
                </a:solidFill>
                <a:latin typeface="Calibri Light"/>
                <a:cs typeface="Calibri Light"/>
              </a:rPr>
              <a:t>1</a:t>
            </a:r>
            <a:r>
              <a:rPr lang="en-US" sz="4800" b="0" spc="-45" dirty="0" smtClean="0">
                <a:solidFill>
                  <a:srgbClr val="00AFEF"/>
                </a:solidFill>
                <a:latin typeface="Calibri Light"/>
                <a:cs typeface="Calibri Light"/>
              </a:rPr>
              <a:t>.</a:t>
            </a:r>
            <a:r>
              <a:rPr sz="4800" b="0" spc="-16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5" dirty="0">
                <a:solidFill>
                  <a:srgbClr val="00AFEF"/>
                </a:solidFill>
                <a:latin typeface="Calibri Light"/>
                <a:cs typeface="Calibri Light"/>
              </a:rPr>
              <a:t>Power-on-reset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3903" y="1687804"/>
            <a:ext cx="11391900" cy="4441190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257810" indent="-245745">
              <a:lnSpc>
                <a:spcPct val="100000"/>
              </a:lnSpc>
              <a:spcBef>
                <a:spcPts val="880"/>
              </a:spcBef>
              <a:buClr>
                <a:srgbClr val="E38312"/>
              </a:buClr>
              <a:buSzPct val="73076"/>
              <a:buFont typeface="Wingdings"/>
              <a:buChar char=""/>
              <a:tabLst>
                <a:tab pos="25844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power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first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supplied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circuit,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start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known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state.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78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in,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every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 is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powered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on.</a:t>
            </a:r>
            <a:endParaRPr sz="2600">
              <a:latin typeface="Calibri"/>
              <a:cs typeface="Calibri"/>
            </a:endParaRPr>
          </a:p>
          <a:p>
            <a:pPr marL="104139" marR="5080" indent="-91440">
              <a:lnSpc>
                <a:spcPct val="80000"/>
              </a:lnSpc>
              <a:spcBef>
                <a:spcPts val="139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3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2600" spc="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must</a:t>
            </a:r>
            <a:r>
              <a:rPr sz="2600" spc="3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reached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6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3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hard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done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600" spc="3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push</a:t>
            </a:r>
            <a:r>
              <a:rPr sz="26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button </a:t>
            </a:r>
            <a:r>
              <a:rPr sz="2600" spc="-5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switch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any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during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operation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of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circuit.</a:t>
            </a:r>
            <a:endParaRPr sz="2600">
              <a:latin typeface="Calibri"/>
              <a:cs typeface="Calibri"/>
            </a:endParaRPr>
          </a:p>
          <a:p>
            <a:pPr marL="104139" marR="7620" indent="-91440">
              <a:lnSpc>
                <a:spcPct val="8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423545" algn="l"/>
                <a:tab pos="424180" algn="l"/>
                <a:tab pos="1569720" algn="l"/>
                <a:tab pos="2036445" algn="l"/>
                <a:tab pos="3211195" algn="l"/>
                <a:tab pos="4025265" algn="l"/>
                <a:tab pos="5528310" algn="l"/>
                <a:tab pos="6433185" algn="l"/>
                <a:tab pos="7217409" algn="l"/>
                <a:tab pos="8449945" algn="l"/>
                <a:tab pos="9413240" algn="l"/>
                <a:tab pos="9754870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Thou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h	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n	i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na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l	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	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ne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600" spc="-229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,	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signa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l	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m	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ernal	ci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cuit	is	m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nd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orily  needed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the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pin.</a:t>
            </a:r>
            <a:endParaRPr sz="2600">
              <a:latin typeface="Calibri"/>
              <a:cs typeface="Calibri"/>
            </a:endParaRPr>
          </a:p>
          <a:p>
            <a:pPr marL="104139" marR="6350" indent="-91440">
              <a:lnSpc>
                <a:spcPts val="2500"/>
              </a:lnSpc>
              <a:spcBef>
                <a:spcPts val="138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6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signal</a:t>
            </a:r>
            <a:r>
              <a:rPr sz="26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6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appear</a:t>
            </a:r>
            <a:r>
              <a:rPr sz="26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6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</a:t>
            </a:r>
            <a:r>
              <a:rPr sz="26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whenever</a:t>
            </a:r>
            <a:r>
              <a:rPr sz="26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power</a:t>
            </a:r>
            <a:r>
              <a:rPr sz="26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supply</a:t>
            </a:r>
            <a:r>
              <a:rPr sz="26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switched </a:t>
            </a:r>
            <a:r>
              <a:rPr sz="2600" spc="-5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on.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78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signal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termed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pulse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remain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reset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77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  <a:tab pos="1748155" algn="l"/>
              </a:tabLst>
            </a:pP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Resetting	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follow</a:t>
            </a:r>
            <a:r>
              <a:rPr sz="2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circuit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similar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to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Schmitt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5" dirty="0">
                <a:solidFill>
                  <a:srgbClr val="404040"/>
                </a:solidFill>
                <a:latin typeface="Calibri"/>
                <a:cs typeface="Calibri"/>
              </a:rPr>
              <a:t>Trigger.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14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7777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56432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5" dirty="0" smtClean="0">
                <a:solidFill>
                  <a:srgbClr val="00AFEF"/>
                </a:solidFill>
                <a:latin typeface="Calibri Light"/>
                <a:cs typeface="Calibri Light"/>
              </a:rPr>
              <a:t>2.</a:t>
            </a:r>
            <a:r>
              <a:rPr sz="4800" b="0" spc="-114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5" dirty="0">
                <a:solidFill>
                  <a:srgbClr val="00AFEF"/>
                </a:solidFill>
                <a:latin typeface="Calibri Light"/>
                <a:cs typeface="Calibri Light"/>
              </a:rPr>
              <a:t>Brown</a:t>
            </a:r>
            <a:r>
              <a:rPr sz="4800" b="0" spc="-13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out</a:t>
            </a:r>
            <a:r>
              <a:rPr sz="4800" b="0" spc="-114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>
                <a:solidFill>
                  <a:srgbClr val="00AFEF"/>
                </a:solidFill>
                <a:latin typeface="Calibri Light"/>
                <a:cs typeface="Calibri Light"/>
              </a:rPr>
              <a:t>reset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1530" y="1687804"/>
            <a:ext cx="11231880" cy="4489178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880"/>
              </a:spcBef>
              <a:buClr>
                <a:srgbClr val="E38312"/>
              </a:buClr>
              <a:buSzPct val="76923"/>
              <a:buFont typeface="Wingdings"/>
              <a:buChar char=""/>
              <a:tabLst>
                <a:tab pos="32829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power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supply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goes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below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a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certain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pre-fixed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value</a:t>
            </a:r>
            <a:endParaRPr sz="2600" dirty="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78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“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Brown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15" dirty="0">
                <a:solidFill>
                  <a:srgbClr val="404040"/>
                </a:solidFill>
                <a:latin typeface="Calibri"/>
                <a:cs typeface="Calibri"/>
              </a:rPr>
              <a:t>out”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occur</a:t>
            </a:r>
            <a:endParaRPr sz="2600" dirty="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77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Especially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battery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operated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devices,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quite common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high.</a:t>
            </a:r>
            <a:endParaRPr sz="2600" dirty="0">
              <a:latin typeface="Calibri"/>
              <a:cs typeface="Calibri"/>
            </a:endParaRPr>
          </a:p>
          <a:p>
            <a:pPr marL="103505" marR="5080" indent="-91440">
              <a:lnSpc>
                <a:spcPts val="2500"/>
              </a:lnSpc>
              <a:spcBef>
                <a:spcPts val="138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600" spc="3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brownout</a:t>
            </a:r>
            <a:r>
              <a:rPr sz="2600" spc="3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occurs,</a:t>
            </a:r>
            <a:r>
              <a:rPr sz="2600" spc="3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600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starts</a:t>
            </a:r>
            <a:r>
              <a:rPr sz="2600" spc="3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behaving</a:t>
            </a:r>
            <a:r>
              <a:rPr sz="2600" spc="3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abnormally</a:t>
            </a:r>
            <a:r>
              <a:rPr sz="2600" spc="3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600" spc="3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gives</a:t>
            </a:r>
            <a:r>
              <a:rPr sz="2600" spc="3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wrong </a:t>
            </a:r>
            <a:r>
              <a:rPr sz="2600" spc="-5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results.</a:t>
            </a:r>
            <a:endParaRPr sz="2600" dirty="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79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Leads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cause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600" spc="-5" dirty="0" smtClean="0">
                <a:solidFill>
                  <a:srgbClr val="404040"/>
                </a:solidFill>
                <a:latin typeface="Calibri"/>
                <a:cs typeface="Calibri"/>
              </a:rPr>
              <a:t>sudden destruction</a:t>
            </a:r>
            <a:r>
              <a:rPr sz="2600" spc="-2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situations.</a:t>
            </a:r>
            <a:endParaRPr sz="2600" dirty="0">
              <a:latin typeface="Calibri"/>
              <a:cs typeface="Calibri"/>
            </a:endParaRPr>
          </a:p>
          <a:p>
            <a:pPr marL="103505" marR="5080" indent="-91440">
              <a:lnSpc>
                <a:spcPct val="8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  <a:tab pos="796925" algn="l"/>
                <a:tab pos="1661795" algn="l"/>
                <a:tab pos="2378075" algn="l"/>
                <a:tab pos="2830830" algn="l"/>
                <a:tab pos="3835400" algn="l"/>
                <a:tab pos="4612640" algn="l"/>
                <a:tab pos="5203825" algn="l"/>
                <a:tab pos="6633209" algn="l"/>
                <a:tab pos="7049770" algn="l"/>
                <a:tab pos="7951470" algn="l"/>
                <a:tab pos="8381365" algn="l"/>
                <a:tab pos="8710930" algn="l"/>
                <a:tab pos="9893935" algn="l"/>
              </a:tabLst>
            </a:pPr>
            <a:r>
              <a:rPr sz="2600" spc="-2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o	</a:t>
            </a:r>
            <a:r>
              <a:rPr sz="2600" spc="-5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oi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d	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his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,	all	MCU</a:t>
            </a:r>
            <a:r>
              <a:rPr sz="2600" spc="-165" dirty="0">
                <a:solidFill>
                  <a:srgbClr val="404040"/>
                </a:solidFill>
                <a:latin typeface="Calibri"/>
                <a:cs typeface="Calibri"/>
              </a:rPr>
              <a:t>’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s	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h</a:t>
            </a:r>
            <a:r>
              <a:rPr sz="2600" spc="-5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	the	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ap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bil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ty	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f	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,	as	it	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s	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out  threshold.</a:t>
            </a:r>
            <a:endParaRPr sz="2600" dirty="0">
              <a:latin typeface="Calibri"/>
              <a:cs typeface="Calibri"/>
            </a:endParaRPr>
          </a:p>
          <a:p>
            <a:pPr marL="103505" marR="5080" indent="-91440">
              <a:lnSpc>
                <a:spcPct val="8000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423545" algn="l"/>
                <a:tab pos="424180" algn="l"/>
              </a:tabLst>
            </a:pP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6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MCU’s</a:t>
            </a:r>
            <a:r>
              <a:rPr sz="26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6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having</a:t>
            </a:r>
            <a:r>
              <a:rPr sz="26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internal</a:t>
            </a:r>
            <a:r>
              <a:rPr sz="26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brownout</a:t>
            </a:r>
            <a:r>
              <a:rPr sz="26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capability,</a:t>
            </a:r>
            <a:r>
              <a:rPr sz="26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external</a:t>
            </a:r>
            <a:r>
              <a:rPr sz="26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circuit</a:t>
            </a:r>
            <a:r>
              <a:rPr sz="26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6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be </a:t>
            </a:r>
            <a:r>
              <a:rPr sz="2600" spc="-5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to detect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brownout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cause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occur.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15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0003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571246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5" dirty="0" smtClean="0">
                <a:solidFill>
                  <a:srgbClr val="00AFEF"/>
                </a:solidFill>
                <a:latin typeface="Calibri Light"/>
                <a:cs typeface="Calibri Light"/>
              </a:rPr>
              <a:t>3</a:t>
            </a:r>
            <a:r>
              <a:rPr lang="en-US" sz="4800" b="0" spc="-45" dirty="0" smtClean="0">
                <a:solidFill>
                  <a:srgbClr val="00AFEF"/>
                </a:solidFill>
                <a:latin typeface="Calibri Light"/>
                <a:cs typeface="Calibri Light"/>
              </a:rPr>
              <a:t>.</a:t>
            </a:r>
            <a:r>
              <a:rPr sz="4800" b="0" spc="-114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100" dirty="0">
                <a:solidFill>
                  <a:srgbClr val="00AFEF"/>
                </a:solidFill>
                <a:latin typeface="Calibri Light"/>
                <a:cs typeface="Calibri Light"/>
              </a:rPr>
              <a:t>Watch</a:t>
            </a:r>
            <a:r>
              <a:rPr sz="4800" b="0" spc="-10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dog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>
                <a:solidFill>
                  <a:srgbClr val="00AFEF"/>
                </a:solidFill>
                <a:latin typeface="Calibri Light"/>
                <a:cs typeface="Calibri Light"/>
              </a:rPr>
              <a:t>reset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1818258"/>
            <a:ext cx="10086975" cy="220408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04139" marR="7620" indent="-92075">
              <a:lnSpc>
                <a:spcPts val="2810"/>
              </a:lnSpc>
              <a:spcBef>
                <a:spcPts val="455"/>
              </a:spcBef>
              <a:buClr>
                <a:srgbClr val="E38312"/>
              </a:buClr>
              <a:buSzPct val="76923"/>
              <a:buFont typeface="Wingdings"/>
              <a:buChar char=""/>
              <a:tabLst>
                <a:tab pos="272415" algn="l"/>
              </a:tabLst>
            </a:pP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embedded</a:t>
            </a:r>
            <a:r>
              <a:rPr sz="2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unsupervised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go</a:t>
            </a:r>
            <a:r>
              <a:rPr sz="2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2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infinite </a:t>
            </a:r>
            <a:r>
              <a:rPr sz="2600" spc="-5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loops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due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noise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signals.</a:t>
            </a:r>
            <a:endParaRPr sz="2600">
              <a:latin typeface="Calibri"/>
              <a:cs typeface="Calibri"/>
            </a:endParaRPr>
          </a:p>
          <a:p>
            <a:pPr marL="104139" marR="5080" indent="-92075">
              <a:lnSpc>
                <a:spcPts val="2810"/>
              </a:lnSpc>
              <a:spcBef>
                <a:spcPts val="140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114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overcome</a:t>
            </a:r>
            <a:r>
              <a:rPr sz="26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this,</a:t>
            </a:r>
            <a:r>
              <a:rPr sz="2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6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there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‘</a:t>
            </a:r>
            <a:r>
              <a:rPr sz="26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Watch</a:t>
            </a:r>
            <a:r>
              <a:rPr sz="2600" spc="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20" dirty="0">
                <a:solidFill>
                  <a:srgbClr val="404040"/>
                </a:solidFill>
                <a:latin typeface="Calibri"/>
                <a:cs typeface="Calibri"/>
              </a:rPr>
              <a:t>Dog’</a:t>
            </a:r>
            <a:r>
              <a:rPr sz="26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600" spc="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initiates </a:t>
            </a:r>
            <a:r>
              <a:rPr sz="2600" spc="-5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‘reset’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break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out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infinite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loop.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4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type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also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soft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reset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6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warm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boot.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631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50224-748E-4A77-8151-DC822A43FEBB}" type="datetime1">
              <a:rPr lang="en-IN" smtClean="0"/>
              <a:t>03-03-2026</a:t>
            </a:fld>
            <a:endParaRPr lang="en-IN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948659"/>
              </p:ext>
            </p:extLst>
          </p:nvPr>
        </p:nvGraphicFramePr>
        <p:xfrm>
          <a:off x="540325" y="330370"/>
          <a:ext cx="10612584" cy="5483978"/>
        </p:xfrm>
        <a:graphic>
          <a:graphicData uri="http://schemas.openxmlformats.org/drawingml/2006/table">
            <a:tbl>
              <a:tblPr/>
              <a:tblGrid>
                <a:gridCol w="2653146">
                  <a:extLst>
                    <a:ext uri="{9D8B030D-6E8A-4147-A177-3AD203B41FA5}">
                      <a16:colId xmlns:a16="http://schemas.microsoft.com/office/drawing/2014/main" val="83292264"/>
                    </a:ext>
                  </a:extLst>
                </a:gridCol>
                <a:gridCol w="2653146">
                  <a:extLst>
                    <a:ext uri="{9D8B030D-6E8A-4147-A177-3AD203B41FA5}">
                      <a16:colId xmlns:a16="http://schemas.microsoft.com/office/drawing/2014/main" val="3560216376"/>
                    </a:ext>
                  </a:extLst>
                </a:gridCol>
                <a:gridCol w="2653146">
                  <a:extLst>
                    <a:ext uri="{9D8B030D-6E8A-4147-A177-3AD203B41FA5}">
                      <a16:colId xmlns:a16="http://schemas.microsoft.com/office/drawing/2014/main" val="1503224722"/>
                    </a:ext>
                  </a:extLst>
                </a:gridCol>
                <a:gridCol w="2653146">
                  <a:extLst>
                    <a:ext uri="{9D8B030D-6E8A-4147-A177-3AD203B41FA5}">
                      <a16:colId xmlns:a16="http://schemas.microsoft.com/office/drawing/2014/main" val="575831037"/>
                    </a:ext>
                  </a:extLst>
                </a:gridCol>
              </a:tblGrid>
              <a:tr h="619143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Feature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Power-On Reset (POR)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Brown-Out Reset (BOR)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Watchdog Reset (WDT)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086189"/>
                  </a:ext>
                </a:extLst>
              </a:tr>
              <a:tr h="619143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Trigger Condition</a:t>
                      </a:r>
                      <a:endParaRPr lang="en-IN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When power is first applied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When supply voltage drops below safe level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When software fails to refresh watchdog timer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0044020"/>
                  </a:ext>
                </a:extLst>
              </a:tr>
              <a:tr h="619143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Cause</a:t>
                      </a:r>
                      <a:endParaRPr lang="en-IN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Power startup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Voltage dip (brown-out)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Program hang / infinite loop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1497213"/>
                  </a:ext>
                </a:extLst>
              </a:tr>
              <a:tr h="619143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Voltage Condition</a:t>
                      </a:r>
                      <a:endParaRPr lang="en-IN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0V → Normal Vcc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Normal Vcc → Below threshold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Voltage is normal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0580888"/>
                  </a:ext>
                </a:extLst>
              </a:tr>
              <a:tr h="619143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Purpose</a:t>
                      </a:r>
                      <a:endParaRPr lang="en-IN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Initialize system at startup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Protect during unstable/low voltage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Recover from software crash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117242"/>
                  </a:ext>
                </a:extLst>
              </a:tr>
              <a:tr h="619143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Hardware/Software</a:t>
                      </a:r>
                      <a:endParaRPr lang="en-IN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Hardware-based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Hardware-based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Hardware timer monitored by software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9365426"/>
                  </a:ext>
                </a:extLst>
              </a:tr>
              <a:tr h="619143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When it Happens</a:t>
                      </a:r>
                      <a:endParaRPr lang="en-IN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Once at power-up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Any time voltage drops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Any time program stops responding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3061772"/>
                  </a:ext>
                </a:extLst>
              </a:tr>
              <a:tr h="619143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Used For</a:t>
                      </a:r>
                      <a:endParaRPr lang="en-IN" sz="1800">
                        <a:latin typeface="Verdana" panose="020B0604030504040204" pitchFamily="34" charset="0"/>
                        <a:ea typeface="Verdana" panose="020B0604030504040204" pitchFamily="34" charset="0"/>
                      </a:endParaRP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Proper system boot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Prevent data corruption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Improve system reliability</a:t>
                      </a:r>
                    </a:p>
                  </a:txBody>
                  <a:tcPr marL="61601" marR="61601" marT="30800" marB="308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7977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94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8120076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0" dirty="0">
                <a:solidFill>
                  <a:srgbClr val="00AFEF"/>
                </a:solidFill>
                <a:latin typeface="Calibri Light"/>
                <a:cs typeface="Calibri Light"/>
              </a:rPr>
              <a:t>2.3.1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70" dirty="0">
                <a:solidFill>
                  <a:srgbClr val="00AFEF"/>
                </a:solidFill>
                <a:latin typeface="Calibri Light"/>
                <a:cs typeface="Calibri Light"/>
              </a:rPr>
              <a:t>Register</a:t>
            </a:r>
            <a:r>
              <a:rPr sz="4800" b="0" spc="-13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25" dirty="0">
                <a:solidFill>
                  <a:srgbClr val="00AFEF"/>
                </a:solidFill>
                <a:latin typeface="Calibri Light"/>
                <a:cs typeface="Calibri Light"/>
              </a:rPr>
              <a:t>of</a:t>
            </a:r>
            <a:r>
              <a:rPr sz="4800" b="0" spc="-12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the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55" dirty="0">
                <a:solidFill>
                  <a:srgbClr val="00AFEF"/>
                </a:solidFill>
                <a:latin typeface="Calibri Light"/>
                <a:cs typeface="Calibri Light"/>
              </a:rPr>
              <a:t>Core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76324" y="2124147"/>
            <a:ext cx="10240010" cy="3447739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 marL="257810" indent="-245745">
              <a:lnSpc>
                <a:spcPct val="100000"/>
              </a:lnSpc>
              <a:spcBef>
                <a:spcPts val="925"/>
              </a:spcBef>
              <a:buClr>
                <a:srgbClr val="E38312"/>
              </a:buClr>
              <a:buSzPct val="79166"/>
              <a:buFont typeface="Wingdings"/>
              <a:buChar char=""/>
              <a:tabLst>
                <a:tab pos="258445" algn="l"/>
              </a:tabLst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Microcontroller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CPU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usually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refer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 core.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83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Core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has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registers,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are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computations.</a:t>
            </a:r>
            <a:endParaRPr sz="2400" dirty="0">
              <a:latin typeface="Calibri"/>
              <a:cs typeface="Calibri"/>
            </a:endParaRPr>
          </a:p>
          <a:p>
            <a:pPr marL="104139" marR="5080" indent="-91440">
              <a:lnSpc>
                <a:spcPct val="8000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  <a:tab pos="1202690" algn="l"/>
                <a:tab pos="2405380" algn="l"/>
                <a:tab pos="2954020" algn="l"/>
                <a:tab pos="4014470" algn="l"/>
                <a:tab pos="4426585" algn="l"/>
                <a:tab pos="5669915" algn="l"/>
                <a:tab pos="6833234" algn="l"/>
                <a:tab pos="8220075" algn="l"/>
                <a:tab pos="873379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	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egi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st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	a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	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ermed	as	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“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	Purp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	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g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”	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“Sc</a:t>
            </a:r>
            <a:r>
              <a:rPr sz="2400" spc="-6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chpad  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Registers”.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83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These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sz="2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temporary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storage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operands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computations.</a:t>
            </a:r>
            <a:endParaRPr sz="2400" dirty="0">
              <a:latin typeface="Calibri"/>
              <a:cs typeface="Calibri"/>
            </a:endParaRPr>
          </a:p>
          <a:p>
            <a:pPr marL="104139" marR="6985" indent="-91440">
              <a:lnSpc>
                <a:spcPct val="80000"/>
              </a:lnSpc>
              <a:spcBef>
                <a:spcPts val="139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4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core</a:t>
            </a:r>
            <a:r>
              <a:rPr sz="24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full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fledged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CPU,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several</a:t>
            </a:r>
            <a:r>
              <a:rPr sz="24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registers,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including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general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purpose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registers,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program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counters,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stack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registers,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flags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2400" dirty="0">
              <a:latin typeface="Calibri"/>
              <a:cs typeface="Calibri"/>
            </a:endParaRPr>
          </a:p>
          <a:p>
            <a:pPr marL="12699" marR="9525">
              <a:lnSpc>
                <a:spcPct val="80000"/>
              </a:lnSpc>
              <a:spcBef>
                <a:spcPts val="1405"/>
              </a:spcBef>
              <a:buClr>
                <a:srgbClr val="E38312"/>
              </a:buClr>
              <a:tabLst>
                <a:tab pos="323850" algn="l"/>
              </a:tabLst>
            </a:pP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17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2898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24691" y="686945"/>
            <a:ext cx="9020621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0" dirty="0">
                <a:solidFill>
                  <a:srgbClr val="00AFEF"/>
                </a:solidFill>
                <a:latin typeface="Calibri Light"/>
                <a:cs typeface="Calibri Light"/>
              </a:rPr>
              <a:t>2.3.2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80" dirty="0">
                <a:solidFill>
                  <a:srgbClr val="00AFEF"/>
                </a:solidFill>
                <a:latin typeface="Calibri Light"/>
                <a:cs typeface="Calibri Light"/>
              </a:rPr>
              <a:t>Registers</a:t>
            </a:r>
            <a:r>
              <a:rPr sz="4800" b="0" spc="-13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25" dirty="0">
                <a:solidFill>
                  <a:srgbClr val="00AFEF"/>
                </a:solidFill>
                <a:latin typeface="Calibri Light"/>
                <a:cs typeface="Calibri Light"/>
              </a:rPr>
              <a:t>of</a:t>
            </a:r>
            <a:r>
              <a:rPr sz="4800" b="0" spc="-13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5" dirty="0">
                <a:solidFill>
                  <a:srgbClr val="00AFEF"/>
                </a:solidFill>
                <a:latin typeface="Calibri Light"/>
                <a:cs typeface="Calibri Light"/>
              </a:rPr>
              <a:t>Peripherals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1685061"/>
            <a:ext cx="9300845" cy="98298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57810" indent="-245745">
              <a:lnSpc>
                <a:spcPct val="100000"/>
              </a:lnSpc>
              <a:spcBef>
                <a:spcPts val="1225"/>
              </a:spcBef>
              <a:buClr>
                <a:srgbClr val="E38312"/>
              </a:buClr>
              <a:buSzPct val="86363"/>
              <a:buFont typeface="Wingdings"/>
              <a:buChar char=""/>
              <a:tabLst>
                <a:tab pos="258445" algn="l"/>
              </a:tabLst>
            </a:pP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MCU,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peripherals</a:t>
            </a:r>
            <a:r>
              <a:rPr sz="22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are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inside the</a:t>
            </a:r>
            <a:r>
              <a:rPr sz="22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chip.</a:t>
            </a:r>
            <a:r>
              <a:rPr sz="2200" spc="48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Denoted</a:t>
            </a:r>
            <a:r>
              <a:rPr sz="22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‘On-Chip’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peripherals</a:t>
            </a:r>
            <a:r>
              <a:rPr sz="2200" spc="-10" dirty="0" smtClean="0">
                <a:solidFill>
                  <a:srgbClr val="404040"/>
                </a:solidFill>
                <a:latin typeface="Calibri"/>
                <a:cs typeface="Calibri"/>
              </a:rPr>
              <a:t>.</a:t>
            </a:r>
          </a:p>
          <a:p>
            <a:pPr marL="299085" indent="-287020">
              <a:lnSpc>
                <a:spcPct val="100000"/>
              </a:lnSpc>
              <a:spcBef>
                <a:spcPts val="1130"/>
              </a:spcBef>
              <a:buClr>
                <a:srgbClr val="E38312"/>
              </a:buClr>
              <a:buFont typeface="Wingdings"/>
              <a:buChar char=""/>
              <a:tabLst>
                <a:tab pos="299720" algn="l"/>
              </a:tabLst>
            </a:pPr>
            <a:endParaRPr sz="22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0" y="2176551"/>
            <a:ext cx="10227721" cy="337913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04139" marR="3760470" indent="-92075">
              <a:lnSpc>
                <a:spcPts val="2380"/>
              </a:lnSpc>
              <a:spcBef>
                <a:spcPts val="390"/>
              </a:spcBef>
              <a:buClr>
                <a:srgbClr val="E38312"/>
              </a:buClr>
              <a:buFont typeface="Wingdings"/>
              <a:buChar char=""/>
              <a:tabLst>
                <a:tab pos="298450" algn="l"/>
              </a:tabLst>
            </a:pP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Means,</a:t>
            </a:r>
            <a:r>
              <a:rPr sz="2200" spc="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while</a:t>
            </a:r>
            <a:r>
              <a:rPr sz="2200" spc="3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3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processor</a:t>
            </a:r>
            <a:r>
              <a:rPr sz="2200" spc="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200" spc="3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executing</a:t>
            </a:r>
            <a:r>
              <a:rPr sz="2200" spc="3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programs</a:t>
            </a:r>
            <a:r>
              <a:rPr sz="2200" spc="-15" dirty="0" smtClean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lang="en-US" sz="2200" spc="-15" dirty="0">
                <a:solidFill>
                  <a:srgbClr val="404040"/>
                </a:solidFill>
                <a:latin typeface="Calibri"/>
                <a:cs typeface="Calibri"/>
              </a:rPr>
              <a:t> many</a:t>
            </a:r>
            <a:r>
              <a:rPr lang="en-US" sz="22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200" spc="-10" dirty="0">
                <a:solidFill>
                  <a:srgbClr val="404040"/>
                </a:solidFill>
                <a:latin typeface="Calibri"/>
                <a:cs typeface="Calibri"/>
              </a:rPr>
              <a:t>peripherals</a:t>
            </a:r>
            <a:r>
              <a:rPr lang="en-US" sz="2200" spc="3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200" spc="-15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lang="en-US" sz="22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200" spc="-10" dirty="0">
                <a:solidFill>
                  <a:srgbClr val="404040"/>
                </a:solidFill>
                <a:latin typeface="Calibri"/>
                <a:cs typeface="Calibri"/>
              </a:rPr>
              <a:t>work</a:t>
            </a:r>
            <a:r>
              <a:rPr lang="en-US" sz="2200" spc="3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200" spc="-5" dirty="0" smtClean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2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484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 smtClean="0">
                <a:solidFill>
                  <a:srgbClr val="404040"/>
                </a:solidFill>
                <a:latin typeface="Calibri"/>
                <a:cs typeface="Calibri"/>
              </a:rPr>
              <a:t>parallel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2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100"/>
              </a:spcBef>
              <a:buClr>
                <a:srgbClr val="E38312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For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eg: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case</a:t>
            </a:r>
            <a:r>
              <a:rPr sz="22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40" dirty="0">
                <a:solidFill>
                  <a:srgbClr val="404040"/>
                </a:solidFill>
                <a:latin typeface="Calibri"/>
                <a:cs typeface="Calibri"/>
              </a:rPr>
              <a:t>timer.</a:t>
            </a:r>
            <a:endParaRPr sz="22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130"/>
              </a:spcBef>
              <a:buClr>
                <a:srgbClr val="E38312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processor,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through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instructions,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only needs</a:t>
            </a:r>
            <a:r>
              <a:rPr sz="22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tell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timer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2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start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counting.</a:t>
            </a:r>
            <a:endParaRPr sz="22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140"/>
              </a:spcBef>
              <a:buClr>
                <a:srgbClr val="E38312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Timer</a:t>
            </a:r>
            <a:r>
              <a:rPr sz="22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does</a:t>
            </a:r>
            <a:r>
              <a:rPr sz="22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22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more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intervention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until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reaches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desired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count.</a:t>
            </a:r>
            <a:endParaRPr sz="2200" dirty="0">
              <a:latin typeface="Calibri"/>
              <a:cs typeface="Calibri"/>
            </a:endParaRPr>
          </a:p>
          <a:p>
            <a:pPr marL="104139" marR="5080" indent="-92075">
              <a:lnSpc>
                <a:spcPts val="2380"/>
              </a:lnSpc>
              <a:spcBef>
                <a:spcPts val="1435"/>
              </a:spcBef>
              <a:buClr>
                <a:srgbClr val="E38312"/>
              </a:buClr>
              <a:buFont typeface="Wingdings"/>
              <a:buChar char=""/>
              <a:tabLst>
                <a:tab pos="298450" algn="l"/>
              </a:tabLst>
            </a:pP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2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2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point,</a:t>
            </a:r>
            <a:r>
              <a:rPr sz="22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2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2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signal</a:t>
            </a:r>
            <a:r>
              <a:rPr sz="2200" spc="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processor</a:t>
            </a:r>
            <a:r>
              <a:rPr sz="22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2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setting</a:t>
            </a:r>
            <a:r>
              <a:rPr sz="22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flag</a:t>
            </a:r>
            <a:r>
              <a:rPr sz="2200" spc="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200" spc="5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sending</a:t>
            </a:r>
            <a:r>
              <a:rPr sz="22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2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‘Interrupt’</a:t>
            </a:r>
            <a:r>
              <a:rPr sz="2200" spc="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200" spc="-4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processor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 then </a:t>
            </a:r>
            <a:r>
              <a:rPr sz="2200" spc="-30" dirty="0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 action.</a:t>
            </a:r>
            <a:endParaRPr sz="2200" dirty="0">
              <a:latin typeface="Calibri"/>
              <a:cs typeface="Calibri"/>
            </a:endParaRPr>
          </a:p>
          <a:p>
            <a:pPr marL="299085" indent="-287020">
              <a:lnSpc>
                <a:spcPct val="100000"/>
              </a:lnSpc>
              <a:spcBef>
                <a:spcPts val="1090"/>
              </a:spcBef>
              <a:buClr>
                <a:srgbClr val="E38312"/>
              </a:buClr>
              <a:buFont typeface="Wingdings"/>
              <a:buChar char=""/>
              <a:tabLst>
                <a:tab pos="299720" algn="l"/>
              </a:tabLst>
            </a:pP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number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peripherals</a:t>
            </a:r>
            <a:r>
              <a:rPr sz="22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run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paralell, </a:t>
            </a:r>
            <a:r>
              <a:rPr sz="2200" spc="-25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ADC,</a:t>
            </a:r>
            <a:r>
              <a:rPr sz="22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20" dirty="0">
                <a:solidFill>
                  <a:srgbClr val="404040"/>
                </a:solidFill>
                <a:latin typeface="Calibri"/>
                <a:cs typeface="Calibri"/>
              </a:rPr>
              <a:t>DAC,</a:t>
            </a:r>
            <a:r>
              <a:rPr sz="22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Serial</a:t>
            </a:r>
            <a:r>
              <a:rPr sz="2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404040"/>
                </a:solidFill>
                <a:latin typeface="Calibri"/>
                <a:cs typeface="Calibri"/>
              </a:rPr>
              <a:t>IO</a:t>
            </a:r>
            <a:r>
              <a:rPr sz="22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200" spc="-15" dirty="0">
                <a:solidFill>
                  <a:srgbClr val="404040"/>
                </a:solidFill>
                <a:latin typeface="Calibri"/>
                <a:cs typeface="Calibri"/>
              </a:rPr>
              <a:t>etc.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18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185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8175494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0" dirty="0">
                <a:solidFill>
                  <a:srgbClr val="00AFEF"/>
                </a:solidFill>
                <a:latin typeface="Calibri Light"/>
                <a:cs typeface="Calibri Light"/>
              </a:rPr>
              <a:t>2.4.1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>
                <a:solidFill>
                  <a:srgbClr val="00AFEF"/>
                </a:solidFill>
                <a:latin typeface="Calibri Light"/>
                <a:cs typeface="Calibri Light"/>
              </a:rPr>
              <a:t>General</a:t>
            </a:r>
            <a:r>
              <a:rPr sz="4800" b="0" spc="-12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50" dirty="0">
                <a:solidFill>
                  <a:srgbClr val="00AFEF"/>
                </a:solidFill>
                <a:latin typeface="Calibri Light"/>
                <a:cs typeface="Calibri Light"/>
              </a:rPr>
              <a:t>Purpose</a:t>
            </a:r>
            <a:r>
              <a:rPr sz="4800" b="0" spc="-13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30" dirty="0">
                <a:solidFill>
                  <a:srgbClr val="00AFEF"/>
                </a:solidFill>
                <a:latin typeface="Calibri Light"/>
                <a:cs typeface="Calibri Light"/>
              </a:rPr>
              <a:t>I/O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2174" y="1680616"/>
            <a:ext cx="9810115" cy="412369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185"/>
              </a:spcBef>
              <a:buClr>
                <a:srgbClr val="E38312"/>
              </a:buClr>
              <a:buSzPct val="76923"/>
              <a:buFont typeface="Wingdings"/>
              <a:buChar char=""/>
              <a:tabLst>
                <a:tab pos="270510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has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computing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engine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for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endParaRPr sz="2600">
              <a:latin typeface="Calibri"/>
              <a:cs typeface="Calibri"/>
            </a:endParaRPr>
          </a:p>
          <a:p>
            <a:pPr marL="103505" marR="5080" indent="-91440">
              <a:lnSpc>
                <a:spcPts val="281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As it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needs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to communicate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with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external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world,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needs input/output </a:t>
            </a:r>
            <a:r>
              <a:rPr sz="2600" spc="-5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4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take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sensor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processing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9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Output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sending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actuation signals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output devices.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9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Those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called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GPIO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“General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Purpose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Output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pins”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Pins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also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taken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groups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ports.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9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Thus,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8-bit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MCU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has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8-bit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ports,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with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additional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capability.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19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306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object 5"/>
          <p:cNvGrpSpPr/>
          <p:nvPr/>
        </p:nvGrpSpPr>
        <p:grpSpPr>
          <a:xfrm>
            <a:off x="1193291" y="426719"/>
            <a:ext cx="9966960" cy="5088890"/>
            <a:chOff x="1193291" y="426719"/>
            <a:chExt cx="9966960" cy="5088890"/>
          </a:xfrm>
        </p:grpSpPr>
        <p:sp>
          <p:nvSpPr>
            <p:cNvPr id="6" name="object 6"/>
            <p:cNvSpPr/>
            <p:nvPr/>
          </p:nvSpPr>
          <p:spPr>
            <a:xfrm>
              <a:off x="1193291" y="1737359"/>
              <a:ext cx="9966960" cy="0"/>
            </a:xfrm>
            <a:custGeom>
              <a:avLst/>
              <a:gdLst/>
              <a:ahLst/>
              <a:cxnLst/>
              <a:rect l="l" t="t" r="r" b="b"/>
              <a:pathLst>
                <a:path w="9966960">
                  <a:moveTo>
                    <a:pt x="0" y="0"/>
                  </a:moveTo>
                  <a:lnTo>
                    <a:pt x="9966960" y="0"/>
                  </a:lnTo>
                </a:path>
              </a:pathLst>
            </a:custGeom>
            <a:ln w="635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49551" y="426719"/>
              <a:ext cx="7773924" cy="508863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20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77003" y="5821476"/>
            <a:ext cx="3226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Using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GPIO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pins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Input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057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84580" y="1680616"/>
            <a:ext cx="10086340" cy="412369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70510" indent="-257810">
              <a:lnSpc>
                <a:spcPct val="100000"/>
              </a:lnSpc>
              <a:spcBef>
                <a:spcPts val="1185"/>
              </a:spcBef>
              <a:buClr>
                <a:srgbClr val="E38312"/>
              </a:buClr>
              <a:buSzPct val="76923"/>
              <a:buFont typeface="Wingdings"/>
              <a:buChar char=""/>
              <a:tabLst>
                <a:tab pos="270510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shows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case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GPIO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various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I/O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functions.</a:t>
            </a:r>
            <a:endParaRPr sz="2600">
              <a:latin typeface="Calibri"/>
              <a:cs typeface="Calibri"/>
            </a:endParaRPr>
          </a:p>
          <a:p>
            <a:pPr marL="104139" marR="5080" indent="-92075">
              <a:lnSpc>
                <a:spcPts val="281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An 8-bit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port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is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configured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output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utilized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sending 8-bit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data </a:t>
            </a:r>
            <a:r>
              <a:rPr sz="2600" spc="-5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LCD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display.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4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one-bit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relay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9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4-bit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output pins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sending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commands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a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motor</a:t>
            </a:r>
            <a:r>
              <a:rPr sz="26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driver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IC.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9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Two-bit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input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are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controlled by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switches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(S1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&amp;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S2)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Another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takes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sensor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data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temperature</a:t>
            </a:r>
            <a:r>
              <a:rPr sz="26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sensor.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9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illustrates</a:t>
            </a:r>
            <a:r>
              <a:rPr sz="2600" spc="-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that,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possible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use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GPIO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need.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21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94893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2859" y="1818258"/>
            <a:ext cx="8627745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SzPct val="76923"/>
              <a:buFont typeface="Wingdings"/>
              <a:buChar char=""/>
              <a:tabLst>
                <a:tab pos="270510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most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MCUs,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however,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each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has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more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than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one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function.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22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9646" y="2761149"/>
            <a:ext cx="4096425" cy="324544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7888351" y="4866513"/>
            <a:ext cx="20637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PIN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selection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8929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6160" y="1680616"/>
            <a:ext cx="11141710" cy="3945890"/>
          </a:xfrm>
          <a:prstGeom prst="rect">
            <a:avLst/>
          </a:prstGeom>
        </p:spPr>
        <p:txBody>
          <a:bodyPr vert="horz" wrap="square" lIns="0" tIns="150495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185"/>
              </a:spcBef>
              <a:buClr>
                <a:srgbClr val="E38312"/>
              </a:buClr>
              <a:buSzPct val="76923"/>
              <a:buFont typeface="Wingdings"/>
              <a:buChar char=""/>
              <a:tabLst>
                <a:tab pos="270510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Lets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see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typical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pin,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Pn.x</a:t>
            </a:r>
            <a:endParaRPr sz="2600">
              <a:latin typeface="Calibri"/>
              <a:cs typeface="Calibri"/>
            </a:endParaRPr>
          </a:p>
          <a:p>
            <a:pPr marL="103505" marR="5080" indent="-91440">
              <a:lnSpc>
                <a:spcPts val="281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 is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shown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have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perform 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four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functions, but only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one of which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may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be chosen </a:t>
            </a:r>
            <a:r>
              <a:rPr sz="2600" spc="-5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 time.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4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choice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selection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happens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the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basis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multiplexing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called 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multiplexer.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9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select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bit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multiplexer</a:t>
            </a:r>
            <a:r>
              <a:rPr sz="26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realized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by two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bits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 ‘Pin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Select’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40" dirty="0">
                <a:solidFill>
                  <a:srgbClr val="404040"/>
                </a:solidFill>
                <a:latin typeface="Calibri"/>
                <a:cs typeface="Calibri"/>
              </a:rPr>
              <a:t>register.</a:t>
            </a:r>
            <a:endParaRPr sz="2600">
              <a:latin typeface="Calibri"/>
              <a:cs typeface="Calibri"/>
            </a:endParaRPr>
          </a:p>
          <a:p>
            <a:pPr marL="103505" marR="139700" indent="-91440">
              <a:lnSpc>
                <a:spcPts val="281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423545" algn="l"/>
                <a:tab pos="424180" algn="l"/>
                <a:tab pos="5199380" algn="l"/>
              </a:tabLst>
            </a:pP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First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option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6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6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GPIO,	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where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can be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6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either</a:t>
            </a:r>
            <a:r>
              <a:rPr sz="26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output </a:t>
            </a:r>
            <a:r>
              <a:rPr sz="2600" spc="-5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pin</a:t>
            </a:r>
            <a:endParaRPr sz="2600">
              <a:latin typeface="Calibri"/>
              <a:cs typeface="Calibri"/>
            </a:endParaRPr>
          </a:p>
          <a:p>
            <a:pPr marL="349250" indent="-337185">
              <a:lnSpc>
                <a:spcPct val="100000"/>
              </a:lnSpc>
              <a:spcBef>
                <a:spcPts val="1040"/>
              </a:spcBef>
              <a:buClr>
                <a:srgbClr val="E38312"/>
              </a:buClr>
              <a:buFont typeface="Wingdings"/>
              <a:buChar char=""/>
              <a:tabLst>
                <a:tab pos="349885" algn="l"/>
              </a:tabLst>
            </a:pP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works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 on </a:t>
            </a:r>
            <a:r>
              <a:rPr sz="26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6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basis</a:t>
            </a:r>
            <a:r>
              <a:rPr sz="26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600" spc="-10" dirty="0">
                <a:solidFill>
                  <a:srgbClr val="404040"/>
                </a:solidFill>
                <a:latin typeface="Calibri"/>
                <a:cs typeface="Calibri"/>
              </a:rPr>
              <a:t> set/reset.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23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976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3291" y="501543"/>
            <a:ext cx="62972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70" dirty="0" smtClean="0">
                <a:solidFill>
                  <a:srgbClr val="00AFEF"/>
                </a:solidFill>
                <a:latin typeface="Calibri Light"/>
                <a:cs typeface="Calibri Light"/>
              </a:rPr>
              <a:t>Data</a:t>
            </a:r>
            <a:r>
              <a:rPr sz="4800" b="0" spc="-12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Transfer</a:t>
            </a:r>
            <a:r>
              <a:rPr sz="4800" b="0" spc="-12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40" dirty="0">
                <a:solidFill>
                  <a:srgbClr val="00AFEF"/>
                </a:solidFill>
                <a:latin typeface="Calibri Light"/>
                <a:cs typeface="Calibri Light"/>
              </a:rPr>
              <a:t>Modes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4842" y="1972887"/>
            <a:ext cx="10923858" cy="3365024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23850" indent="-311150">
              <a:lnSpc>
                <a:spcPct val="100000"/>
              </a:lnSpc>
              <a:spcBef>
                <a:spcPts val="53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does</a:t>
            </a: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IN"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keyboard 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communicates</a:t>
            </a:r>
            <a:r>
              <a:rPr sz="2400" spc="-4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with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MCU?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ct val="100000"/>
              </a:lnSpc>
              <a:spcBef>
                <a:spcPts val="54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114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keep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‘in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loop’ waiting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key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press.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ct val="100000"/>
              </a:lnSpc>
              <a:spcBef>
                <a:spcPts val="54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has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continuously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monitor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 action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one of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its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input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pins.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ct val="100000"/>
              </a:lnSpc>
              <a:spcBef>
                <a:spcPts val="53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This method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 accepting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data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‘Polling’.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ts val="2450"/>
              </a:lnSpc>
              <a:spcBef>
                <a:spcPts val="54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will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unable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anything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else if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continuously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polling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some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pin,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endParaRPr sz="2400" dirty="0">
              <a:latin typeface="Calibri"/>
              <a:cs typeface="Calibri"/>
            </a:endParaRPr>
          </a:p>
          <a:p>
            <a:pPr marL="104139">
              <a:lnSpc>
                <a:spcPts val="2450"/>
              </a:lnSpc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fashion.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ct val="100000"/>
              </a:lnSpc>
              <a:spcBef>
                <a:spcPts val="54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Because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inefficiency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involved,</a:t>
            </a:r>
            <a:r>
              <a:rPr sz="2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polling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for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data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rarely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used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in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practical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systems.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ct val="100000"/>
              </a:lnSpc>
              <a:spcBef>
                <a:spcPts val="53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use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interrupts.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4216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37420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60" dirty="0" smtClean="0">
                <a:solidFill>
                  <a:srgbClr val="00AFEF"/>
                </a:solidFill>
                <a:latin typeface="Calibri Light"/>
                <a:cs typeface="Calibri Light"/>
              </a:rPr>
              <a:t>Interrupts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912" y="2002939"/>
            <a:ext cx="10931052" cy="29674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u="sng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 are many situations where other tasks can be performed while waiting for an I/O device to become ready.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event that causes the interruption is called interrupt and the special routine executed to service the interrupt is called ISR.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hardware signal called an Interrupt will alert the processor when an I/O device becomes ready.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Interrupt-signal is sent on the interrupt-request line. 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3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18655" y="387928"/>
            <a:ext cx="11873345" cy="6594764"/>
          </a:xfrm>
        </p:spPr>
        <p:txBody>
          <a:bodyPr/>
          <a:lstStyle/>
          <a:p>
            <a:r>
              <a:rPr lang="en-US" dirty="0"/>
              <a:t>The processor can be performing its own task without the need to continuously check the I/O-device. </a:t>
            </a:r>
          </a:p>
          <a:p>
            <a:r>
              <a:rPr lang="en-US" dirty="0"/>
              <a:t>The routine executed in response to an interrupt-request is called </a:t>
            </a:r>
            <a:r>
              <a:rPr lang="en-US" dirty="0" smtClean="0"/>
              <a:t>ISR. </a:t>
            </a:r>
            <a:endParaRPr lang="en-US" dirty="0"/>
          </a:p>
          <a:p>
            <a:r>
              <a:rPr lang="en-US" dirty="0"/>
              <a:t>The processor must inform the device that its request has been recognized by sending INTA signal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IN" dirty="0"/>
              <a:t>For example, consider COMPUTE </a:t>
            </a:r>
            <a:r>
              <a:rPr lang="en-IN" dirty="0" smtClean="0"/>
              <a:t>and</a:t>
            </a:r>
          </a:p>
          <a:p>
            <a:r>
              <a:rPr lang="en-IN" dirty="0" smtClean="0"/>
              <a:t> </a:t>
            </a:r>
            <a:r>
              <a:rPr lang="en-IN" dirty="0"/>
              <a:t>PRINT routines (Figure 3.6).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36" y="2221196"/>
            <a:ext cx="6470073" cy="349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5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3964" y="1815818"/>
            <a:ext cx="11873345" cy="4363309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The processor first completes the execution of instruction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i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Then, the processor loads the PC with the address of the first instruction of the ISR.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After the execution of ISR, the processor has to come back to instruction i+1.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Therefore, when an interrupt occurs, the current content of the PC is put in the temporary storage location.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A return at the end of ISR reloads the PC from that temporary storage location.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This causes the execution to resume at instruction i+1.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When the processor is handling interrupts, it must inform the device that its request has been recognized.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This may be accomplished by INTA signal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89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050">
              <a:latin typeface="Calibri"/>
              <a:cs typeface="Calibri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47594FD-E33A-F6C4-ECF3-3CF3CA37AE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4157280"/>
              </p:ext>
            </p:extLst>
          </p:nvPr>
        </p:nvGraphicFramePr>
        <p:xfrm>
          <a:off x="1009931" y="3982641"/>
          <a:ext cx="10125174" cy="180186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85137">
                  <a:extLst>
                    <a:ext uri="{9D8B030D-6E8A-4147-A177-3AD203B41FA5}">
                      <a16:colId xmlns:a16="http://schemas.microsoft.com/office/drawing/2014/main" val="4004694724"/>
                    </a:ext>
                  </a:extLst>
                </a:gridCol>
                <a:gridCol w="5140037">
                  <a:extLst>
                    <a:ext uri="{9D8B030D-6E8A-4147-A177-3AD203B41FA5}">
                      <a16:colId xmlns:a16="http://schemas.microsoft.com/office/drawing/2014/main" val="2137393291"/>
                    </a:ext>
                  </a:extLst>
                </a:gridCol>
              </a:tblGrid>
              <a:tr h="4004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	</a:t>
                      </a:r>
                      <a:r>
                        <a:rPr lang="en-US" sz="1800" b="1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en-IN" b="1" dirty="0" err="1"/>
                        <a:t>ubroutine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ISR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7694223"/>
                  </a:ext>
                </a:extLst>
              </a:tr>
              <a:tr h="700724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 subroutine performs a function required by the program from </a:t>
                      </a:r>
                      <a:r>
                        <a:rPr lang="en-US" sz="1800" b="0" i="0" u="none" strike="noStrike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where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 is called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ISR may not have anything in common with program being executed at time INTR is received.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656500"/>
                  </a:ext>
                </a:extLst>
              </a:tr>
              <a:tr h="700724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Subroutine is just a linkage of 2 or more function 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related to each other.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Interrupt is a mechanism for coordinating I/O transfers.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410884"/>
                  </a:ext>
                </a:extLst>
              </a:tr>
            </a:tbl>
          </a:graphicData>
        </a:graphic>
      </p:graphicFrame>
      <p:sp>
        <p:nvSpPr>
          <p:cNvPr id="2" name="Rectangle 1"/>
          <p:cNvSpPr/>
          <p:nvPr/>
        </p:nvSpPr>
        <p:spPr>
          <a:xfrm>
            <a:off x="1233054" y="1951316"/>
            <a:ext cx="1026621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The task of saving and restoring the information can be done automatically by the processor.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The processor saves only the contents of PC &amp; Status register.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Saving registers also increases the Interrupt Latency.</a:t>
            </a:r>
          </a:p>
          <a:p>
            <a:pPr algn="just"/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• 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Interrupt Latency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is a delay between time an interrupt request is received and start the execution of the </a:t>
            </a:r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ISR</a:t>
            </a:r>
          </a:p>
          <a:p>
            <a:pPr algn="just"/>
            <a:r>
              <a:rPr lang="en-US" dirty="0" smtClean="0">
                <a:latin typeface="Verdana" panose="020B0604030504040204" pitchFamily="34" charset="0"/>
                <a:ea typeface="Verdana" panose="020B0604030504040204" pitchFamily="34" charset="0"/>
              </a:rPr>
              <a:t>.•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Generally, the long interrupt latency is unacceptable.</a:t>
            </a:r>
            <a:endParaRPr lang="en-IN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323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374205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60" dirty="0" smtClean="0">
                <a:solidFill>
                  <a:srgbClr val="00AFEF"/>
                </a:solidFill>
                <a:latin typeface="Calibri Light"/>
                <a:cs typeface="Calibri Light"/>
              </a:rPr>
              <a:t>Interrupts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2912" y="2002939"/>
            <a:ext cx="10931052" cy="30726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810">
              <a:lnSpc>
                <a:spcPts val="2735"/>
              </a:lnSpc>
              <a:spcBef>
                <a:spcPts val="100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‘Interrupt</a:t>
            </a:r>
            <a:r>
              <a:rPr lang="en-US" sz="2400" dirty="0" smtClean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’</a:t>
            </a:r>
            <a:r>
              <a:rPr sz="2400" spc="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always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get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interrupted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while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busy</a:t>
            </a:r>
            <a:r>
              <a:rPr lang="en-US"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working</a:t>
            </a:r>
            <a:r>
              <a:rPr sz="2400" spc="-4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something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important.</a:t>
            </a:r>
            <a:endParaRPr sz="2400" dirty="0">
              <a:latin typeface="Calibri"/>
              <a:cs typeface="Calibri"/>
            </a:endParaRPr>
          </a:p>
          <a:p>
            <a:pPr marL="103505" marR="231140" indent="-91440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Interrupt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 a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method,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that allows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do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any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activity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until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gets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signal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from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keyboard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been pressed.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107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This signal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keyboard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called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‘Interrupt’.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receiving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these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signals,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stops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what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it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doing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and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takes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action.</a:t>
            </a:r>
            <a:endParaRPr sz="2400" dirty="0">
              <a:latin typeface="Calibri"/>
              <a:cs typeface="Calibri"/>
            </a:endParaRPr>
          </a:p>
          <a:p>
            <a:pPr marL="103505" marR="5080" indent="-91440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If the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processor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decides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 attend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new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task,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temporarily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abandon the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current task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takes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up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new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task,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completion,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resumes back.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25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777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4580" y="1822830"/>
            <a:ext cx="9853295" cy="2565446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processor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executes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st</a:t>
            </a:r>
            <a:r>
              <a:rPr lang="en-US"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eam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 instructions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 the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Program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Counter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(PC)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register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that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sequences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it.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ct val="100000"/>
              </a:lnSpc>
              <a:spcBef>
                <a:spcPts val="108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point,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PC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points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next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instruction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executed.</a:t>
            </a:r>
            <a:endParaRPr sz="2400" dirty="0">
              <a:latin typeface="Calibri"/>
              <a:cs typeface="Calibri"/>
            </a:endParaRPr>
          </a:p>
          <a:p>
            <a:pPr marL="104139" marR="5080" indent="-92075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When an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interrupt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arrives,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process completes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current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instruction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saves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context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current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task.</a:t>
            </a:r>
            <a:endParaRPr sz="2400" dirty="0">
              <a:latin typeface="Calibri"/>
              <a:cs typeface="Calibri"/>
            </a:endParaRPr>
          </a:p>
          <a:p>
            <a:pPr marL="323850" indent="-311150">
              <a:lnSpc>
                <a:spcPts val="2740"/>
              </a:lnSpc>
              <a:spcBef>
                <a:spcPts val="106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lang="en-US" sz="2400" dirty="0" smtClean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save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address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the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next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instruction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lang="en-US" sz="240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sequence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5497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4580" y="1822830"/>
            <a:ext cx="9853295" cy="2157642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It is possible that sometimes,the processor does not care to be interrupted by certain peripherals.</a:t>
            </a:r>
          </a:p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The interrupts from such peripherals may be masked selectively by using registers provided for the purpose.</a:t>
            </a:r>
          </a:p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All processors have a Non </a:t>
            </a:r>
            <a:r>
              <a:rPr lang="en-US" sz="2400" spc="-5" dirty="0" err="1" smtClean="0">
                <a:solidFill>
                  <a:srgbClr val="404040"/>
                </a:solidFill>
                <a:latin typeface="Calibri"/>
                <a:cs typeface="Calibri"/>
              </a:rPr>
              <a:t>Maskable</a:t>
            </a: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 Interrupt(NMI) which is used for tasks of great importance.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69143" y="957943"/>
            <a:ext cx="6894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Is it possible for the processor to ignore interrupts?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5562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4580" y="1822830"/>
            <a:ext cx="9853295" cy="1875513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Many embedded systems are not active all the time.</a:t>
            </a:r>
          </a:p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Mobile phones are inactive until a call comes or we want it to do something.</a:t>
            </a:r>
          </a:p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So the best way to use such a device is to let it go to sleep and wake it up only when we need some service from it.</a:t>
            </a:r>
          </a:p>
          <a:p>
            <a:pPr marL="104139" marR="30480" indent="-92075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SzPct val="83333"/>
              <a:buFont typeface="Wingdings"/>
              <a:buChar char=""/>
              <a:tabLst>
                <a:tab pos="270510" algn="l"/>
              </a:tabLst>
            </a:pP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That can be done very efficiently using the concept of interrupts.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26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69143" y="957943"/>
            <a:ext cx="81570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Why are interrupts very important in embedded systems?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18893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92145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2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>
                <a:solidFill>
                  <a:srgbClr val="00AFEF"/>
                </a:solidFill>
                <a:latin typeface="Calibri Light"/>
                <a:cs typeface="Calibri Light"/>
              </a:rPr>
              <a:t>Timers</a:t>
            </a:r>
            <a:r>
              <a:rPr sz="4800" b="0" spc="-114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and</a:t>
            </a:r>
            <a:r>
              <a:rPr sz="4800" b="0" spc="-11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70" dirty="0">
                <a:solidFill>
                  <a:srgbClr val="00AFEF"/>
                </a:solidFill>
                <a:latin typeface="Calibri Light"/>
                <a:cs typeface="Calibri Light"/>
              </a:rPr>
              <a:t>Counters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0091" y="2157460"/>
            <a:ext cx="10868080" cy="325537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4139" marR="5715" indent="-91440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  <a:tab pos="2306320" algn="l"/>
                <a:tab pos="2641600" algn="l"/>
                <a:tab pos="3260090" algn="l"/>
                <a:tab pos="3659504" algn="l"/>
                <a:tab pos="4220845" algn="l"/>
                <a:tab pos="4881880" algn="l"/>
                <a:tab pos="5281295" algn="l"/>
                <a:tab pos="6826884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Timer/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ou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er	is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	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f	the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par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	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f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riph</a:t>
            </a:r>
            <a:r>
              <a:rPr sz="2400" spc="1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als	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of  MCU.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108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dedicated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hardware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timing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applications.</a:t>
            </a:r>
            <a:endParaRPr sz="2400" dirty="0">
              <a:latin typeface="Calibri"/>
              <a:cs typeface="Calibri"/>
            </a:endParaRPr>
          </a:p>
          <a:p>
            <a:pPr marL="104139" marR="6985" indent="-91440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  <a:tab pos="1711960" algn="l"/>
                <a:tab pos="2484755" algn="l"/>
                <a:tab pos="2982595" algn="l"/>
                <a:tab pos="3578860" algn="l"/>
                <a:tab pos="4907915" algn="l"/>
                <a:tab pos="5241925" algn="l"/>
                <a:tab pos="5802630" algn="l"/>
              </a:tabLst>
            </a:pP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65" dirty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en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	clo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k	</a:t>
            </a:r>
            <a:r>
              <a:rPr sz="2400" spc="-50" dirty="0">
                <a:solidFill>
                  <a:srgbClr val="404040"/>
                </a:solidFill>
                <a:latin typeface="Calibri"/>
                <a:cs typeface="Calibri"/>
              </a:rPr>
              <a:t>f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	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h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ha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	is	the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phe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  clock.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ts val="2740"/>
              </a:lnSpc>
              <a:spcBef>
                <a:spcPts val="106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Which</a:t>
            </a:r>
            <a:r>
              <a:rPr sz="24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low</a:t>
            </a:r>
            <a:r>
              <a:rPr sz="24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frequency</a:t>
            </a:r>
            <a:r>
              <a:rPr sz="24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clock</a:t>
            </a:r>
            <a:r>
              <a:rPr sz="2400" spc="18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derived</a:t>
            </a:r>
            <a:r>
              <a:rPr sz="24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400" spc="17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 smtClean="0">
                <a:solidFill>
                  <a:srgbClr val="404040"/>
                </a:solidFill>
                <a:latin typeface="Calibri"/>
                <a:cs typeface="Calibri"/>
              </a:rPr>
              <a:t>core</a:t>
            </a:r>
            <a:r>
              <a:rPr lang="en-US" sz="2400" spc="-2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clock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acts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‘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Interval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Timer’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or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event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counter.</a:t>
            </a:r>
            <a:endParaRPr sz="2400" dirty="0">
              <a:latin typeface="Calibri"/>
              <a:cs typeface="Calibri"/>
            </a:endParaRPr>
          </a:p>
          <a:p>
            <a:pPr marL="104139" marR="5080" indent="-91440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  <a:tab pos="1426845" algn="l"/>
                <a:tab pos="2548255" algn="l"/>
                <a:tab pos="3604895" algn="l"/>
                <a:tab pos="3910965" algn="l"/>
                <a:tab pos="4732655" algn="l"/>
                <a:tab pos="5358765" algn="l"/>
                <a:tab pos="5815965" algn="l"/>
                <a:tab pos="662876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2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v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	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ou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er	c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es	a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l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	and	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b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y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usin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g	this 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delay,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waveform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generated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any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output pin.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27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278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519429"/>
            <a:ext cx="9775825" cy="115316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12700" marR="5080">
              <a:lnSpc>
                <a:spcPts val="4079"/>
              </a:lnSpc>
              <a:spcBef>
                <a:spcPts val="830"/>
              </a:spcBef>
            </a:pPr>
            <a:r>
              <a:rPr sz="4000" b="0" spc="-110" dirty="0" smtClean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4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4000" b="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65" dirty="0">
                <a:solidFill>
                  <a:srgbClr val="404040"/>
                </a:solidFill>
                <a:latin typeface="Calibri Light"/>
                <a:cs typeface="Calibri Light"/>
              </a:rPr>
              <a:t>steps</a:t>
            </a:r>
            <a:r>
              <a:rPr sz="4000" b="0" spc="-10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60" dirty="0">
                <a:solidFill>
                  <a:srgbClr val="404040"/>
                </a:solidFill>
                <a:latin typeface="Calibri Light"/>
                <a:cs typeface="Calibri Light"/>
              </a:rPr>
              <a:t>involved</a:t>
            </a:r>
            <a:r>
              <a:rPr sz="4000" b="0" spc="-14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25" dirty="0">
                <a:solidFill>
                  <a:srgbClr val="404040"/>
                </a:solidFill>
                <a:latin typeface="Calibri Light"/>
                <a:cs typeface="Calibri Light"/>
              </a:rPr>
              <a:t>in</a:t>
            </a:r>
            <a:r>
              <a:rPr sz="4000" b="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40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4000" b="0" spc="-10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50" dirty="0">
                <a:solidFill>
                  <a:srgbClr val="404040"/>
                </a:solidFill>
                <a:latin typeface="Calibri Light"/>
                <a:cs typeface="Calibri Light"/>
              </a:rPr>
              <a:t>working</a:t>
            </a:r>
            <a:r>
              <a:rPr sz="4000" b="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25" dirty="0">
                <a:solidFill>
                  <a:srgbClr val="404040"/>
                </a:solidFill>
                <a:latin typeface="Calibri Light"/>
                <a:cs typeface="Calibri Light"/>
              </a:rPr>
              <a:t>of </a:t>
            </a:r>
            <a:r>
              <a:rPr sz="4000" b="0" spc="-89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30" dirty="0">
                <a:solidFill>
                  <a:srgbClr val="404040"/>
                </a:solidFill>
                <a:latin typeface="Calibri Light"/>
                <a:cs typeface="Calibri Light"/>
              </a:rPr>
              <a:t>an</a:t>
            </a:r>
            <a:r>
              <a:rPr sz="4000" b="0" spc="-10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60" dirty="0">
                <a:solidFill>
                  <a:srgbClr val="404040"/>
                </a:solidFill>
                <a:latin typeface="Calibri Light"/>
                <a:cs typeface="Calibri Light"/>
              </a:rPr>
              <a:t>interval</a:t>
            </a:r>
            <a:r>
              <a:rPr sz="4000" b="0" spc="-12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000" b="0" spc="-45" dirty="0">
                <a:solidFill>
                  <a:srgbClr val="404040"/>
                </a:solidFill>
                <a:latin typeface="Calibri Light"/>
                <a:cs typeface="Calibri Light"/>
              </a:rPr>
              <a:t>timer:</a:t>
            </a:r>
            <a:endParaRPr sz="40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4580" y="1822830"/>
            <a:ext cx="9177655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469900" marR="5080" indent="-457834">
              <a:lnSpc>
                <a:spcPts val="2590"/>
              </a:lnSpc>
              <a:spcBef>
                <a:spcPts val="425"/>
              </a:spcBef>
              <a:tabLst>
                <a:tab pos="538480" algn="l"/>
                <a:tab pos="859790" algn="l"/>
                <a:tab pos="1678305" algn="l"/>
                <a:tab pos="2527300" algn="l"/>
                <a:tab pos="3612515" algn="l"/>
                <a:tab pos="3876040" algn="l"/>
                <a:tab pos="4871720" algn="l"/>
                <a:tab pos="5566410" algn="l"/>
                <a:tab pos="5857875" algn="l"/>
                <a:tab pos="6983730" algn="l"/>
                <a:tab pos="7595234" algn="l"/>
                <a:tab pos="8154670" algn="l"/>
                <a:tab pos="8974455" algn="l"/>
              </a:tabLst>
            </a:pPr>
            <a:r>
              <a:rPr sz="2400" spc="-5" dirty="0">
                <a:solidFill>
                  <a:srgbClr val="E38312"/>
                </a:solidFill>
                <a:latin typeface="Calibri"/>
                <a:cs typeface="Calibri"/>
              </a:rPr>
              <a:t>1</a:t>
            </a:r>
            <a:r>
              <a:rPr sz="2400" dirty="0">
                <a:solidFill>
                  <a:srgbClr val="E38312"/>
                </a:solidFill>
                <a:latin typeface="Calibri"/>
                <a:cs typeface="Calibri"/>
              </a:rPr>
              <a:t>)		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	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mer	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co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	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egi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st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er	</a:t>
            </a:r>
            <a:r>
              <a:rPr lang="en-US" sz="2400" dirty="0" smtClean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	loaded	with	a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nu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	and	the	timer	is 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started.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84580" y="2659760"/>
            <a:ext cx="91732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8480" algn="l"/>
                <a:tab pos="1405255" algn="l"/>
                <a:tab pos="2519680" algn="l"/>
                <a:tab pos="4193540" algn="l"/>
                <a:tab pos="5833110" algn="l"/>
                <a:tab pos="6799580" algn="l"/>
                <a:tab pos="7379334" algn="l"/>
                <a:tab pos="8745855" algn="l"/>
              </a:tabLst>
            </a:pPr>
            <a:r>
              <a:rPr sz="2400" spc="-5" dirty="0">
                <a:solidFill>
                  <a:srgbClr val="E38312"/>
                </a:solidFill>
                <a:latin typeface="Calibri"/>
                <a:cs typeface="Calibri"/>
              </a:rPr>
              <a:t>2</a:t>
            </a:r>
            <a:r>
              <a:rPr sz="2400" dirty="0">
                <a:solidFill>
                  <a:srgbClr val="E38312"/>
                </a:solidFill>
                <a:latin typeface="Calibri"/>
                <a:cs typeface="Calibri"/>
              </a:rPr>
              <a:t>)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	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ou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	inc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/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	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n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til	it	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r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he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s	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4580" y="2847213"/>
            <a:ext cx="9174480" cy="136969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215"/>
              </a:spcBef>
            </a:pP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maximum/minimum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count.</a:t>
            </a:r>
            <a:endParaRPr sz="2400">
              <a:latin typeface="Calibri"/>
              <a:cs typeface="Calibri"/>
            </a:endParaRPr>
          </a:p>
          <a:p>
            <a:pPr marL="469900" marR="5080" indent="-457834">
              <a:lnSpc>
                <a:spcPts val="2590"/>
              </a:lnSpc>
              <a:spcBef>
                <a:spcPts val="1445"/>
              </a:spcBef>
              <a:tabLst>
                <a:tab pos="538480" algn="l"/>
              </a:tabLst>
            </a:pPr>
            <a:r>
              <a:rPr sz="2400" spc="-5" dirty="0">
                <a:solidFill>
                  <a:srgbClr val="E38312"/>
                </a:solidFill>
                <a:latin typeface="Calibri"/>
                <a:cs typeface="Calibri"/>
              </a:rPr>
              <a:t>3)		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4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point</a:t>
            </a:r>
            <a:r>
              <a:rPr sz="24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time,</a:t>
            </a:r>
            <a:r>
              <a:rPr sz="24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count</a:t>
            </a:r>
            <a:r>
              <a:rPr sz="24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</a:t>
            </a:r>
            <a:r>
              <a:rPr sz="24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cleared</a:t>
            </a:r>
            <a:r>
              <a:rPr sz="2400" spc="1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1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flag</a:t>
            </a:r>
            <a:r>
              <a:rPr sz="24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set</a:t>
            </a:r>
            <a:r>
              <a:rPr sz="2400" spc="1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or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interrupt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triggered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signal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event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of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timer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overflow.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28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96900" y="4122993"/>
            <a:ext cx="11028680" cy="1877060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323215" indent="-311150">
              <a:lnSpc>
                <a:spcPct val="100000"/>
              </a:lnSpc>
              <a:spcBef>
                <a:spcPts val="121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elapsed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starting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point,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required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404040"/>
                </a:solidFill>
                <a:latin typeface="Calibri"/>
                <a:cs typeface="Calibri"/>
              </a:rPr>
              <a:t>delay.</a:t>
            </a:r>
            <a:endParaRPr sz="240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whole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sequence</a:t>
            </a:r>
            <a:r>
              <a:rPr sz="2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repeated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many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after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re-loading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timer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register.</a:t>
            </a:r>
            <a:endParaRPr sz="2400">
              <a:latin typeface="Calibri"/>
              <a:cs typeface="Calibri"/>
            </a:endParaRPr>
          </a:p>
          <a:p>
            <a:pPr marL="104139" marR="5080" indent="-91440">
              <a:lnSpc>
                <a:spcPts val="2590"/>
              </a:lnSpc>
              <a:spcBef>
                <a:spcPts val="1450"/>
              </a:spcBef>
              <a:buClr>
                <a:srgbClr val="E38312"/>
              </a:buClr>
              <a:buFont typeface="Wingdings"/>
              <a:buChar char=""/>
              <a:tabLst>
                <a:tab pos="391795" algn="l"/>
                <a:tab pos="39243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If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output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pin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toggled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every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the timer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overflows,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get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symmetric </a:t>
            </a:r>
            <a:r>
              <a:rPr sz="2400" spc="-5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square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wave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at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pin.</a:t>
            </a:r>
            <a:endParaRPr sz="24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1838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3" y="908684"/>
            <a:ext cx="6568367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0" dirty="0">
                <a:solidFill>
                  <a:srgbClr val="00AFEF"/>
                </a:solidFill>
                <a:latin typeface="Calibri Light"/>
                <a:cs typeface="Calibri Light"/>
              </a:rPr>
              <a:t>2.6.2</a:t>
            </a:r>
            <a:r>
              <a:rPr sz="4800" b="0" spc="-125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80" dirty="0">
                <a:solidFill>
                  <a:srgbClr val="00AFEF"/>
                </a:solidFill>
                <a:latin typeface="Calibri Light"/>
                <a:cs typeface="Calibri Light"/>
              </a:rPr>
              <a:t>Event</a:t>
            </a:r>
            <a:r>
              <a:rPr sz="4800" b="0" spc="-13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>
                <a:solidFill>
                  <a:srgbClr val="00AFEF"/>
                </a:solidFill>
                <a:latin typeface="Calibri Light"/>
                <a:cs typeface="Calibri Light"/>
              </a:rPr>
              <a:t>Counter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98703" y="1677862"/>
            <a:ext cx="9097010" cy="171259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SzPct val="71428"/>
              <a:buFont typeface="Wingdings"/>
              <a:buChar char=""/>
              <a:tabLst>
                <a:tab pos="270510" algn="l"/>
              </a:tabLst>
            </a:pP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same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hardware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used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count</a:t>
            </a:r>
            <a:r>
              <a:rPr sz="28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external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events.</a:t>
            </a:r>
            <a:endParaRPr sz="2800" dirty="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106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  <a:tab pos="7171690" algn="l"/>
              </a:tabLst>
            </a:pP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Lets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measure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frequency</a:t>
            </a:r>
            <a:r>
              <a:rPr sz="2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of	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pulse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train.</a:t>
            </a:r>
            <a:endParaRPr sz="2800" dirty="0">
              <a:latin typeface="Calibri"/>
              <a:cs typeface="Calibri"/>
            </a:endParaRPr>
          </a:p>
          <a:p>
            <a:pPr marL="375285" indent="-363220">
              <a:lnSpc>
                <a:spcPct val="100000"/>
              </a:lnSpc>
              <a:spcBef>
                <a:spcPts val="1070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frequency</a:t>
            </a:r>
            <a:r>
              <a:rPr sz="28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8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30" dirty="0">
                <a:solidFill>
                  <a:srgbClr val="404040"/>
                </a:solidFill>
                <a:latin typeface="Calibri"/>
                <a:cs typeface="Calibri"/>
              </a:rPr>
              <a:t>fed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into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counter</a:t>
            </a:r>
            <a:r>
              <a:rPr sz="2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input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pin.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8703" y="3499484"/>
            <a:ext cx="1047051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5285" indent="-363220">
              <a:lnSpc>
                <a:spcPct val="100000"/>
              </a:lnSpc>
              <a:spcBef>
                <a:spcPts val="9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  <a:tab pos="1694814" algn="l"/>
                <a:tab pos="2249805" algn="l"/>
                <a:tab pos="3994785" algn="l"/>
                <a:tab pos="4985385" algn="l"/>
                <a:tab pos="6040120" algn="l"/>
                <a:tab pos="6781165" algn="l"/>
                <a:tab pos="8506460" algn="l"/>
                <a:tab pos="9105265" algn="l"/>
              </a:tabLst>
            </a:pP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Instead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of	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peripheral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clock	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being	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	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reference,	</a:t>
            </a:r>
            <a:r>
              <a:rPr sz="2800" spc="-5" dirty="0" smtClean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en-US" sz="2800" spc="-5" dirty="0" smtClean="0">
                <a:solidFill>
                  <a:srgbClr val="404040"/>
                </a:solidFill>
                <a:latin typeface="Calibri"/>
                <a:cs typeface="Calibri"/>
              </a:rPr>
              <a:t>h</a:t>
            </a:r>
            <a:r>
              <a:rPr sz="2800" spc="-5" dirty="0" smtClean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	unknown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8703" y="3746545"/>
            <a:ext cx="10469245" cy="153543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1175"/>
              </a:spcBef>
            </a:pP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frequency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acts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8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404040"/>
                </a:solidFill>
                <a:latin typeface="Calibri"/>
                <a:cs typeface="Calibri"/>
              </a:rPr>
              <a:t>reference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 clock.</a:t>
            </a:r>
            <a:endParaRPr sz="2800" dirty="0">
              <a:latin typeface="Calibri"/>
              <a:cs typeface="Calibri"/>
            </a:endParaRPr>
          </a:p>
          <a:p>
            <a:pPr marL="104139" marR="5080" indent="-91440">
              <a:lnSpc>
                <a:spcPts val="3020"/>
              </a:lnSpc>
              <a:spcBef>
                <a:spcPts val="1455"/>
              </a:spcBef>
              <a:buClr>
                <a:srgbClr val="E38312"/>
              </a:buClr>
              <a:buFont typeface="Wingdings"/>
              <a:buChar char=""/>
              <a:tabLst>
                <a:tab pos="375920" algn="l"/>
              </a:tabLst>
            </a:pP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Every</a:t>
            </a:r>
            <a:r>
              <a:rPr sz="28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8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8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leading</a:t>
            </a:r>
            <a:r>
              <a:rPr sz="280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8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trailing</a:t>
            </a:r>
            <a:r>
              <a:rPr sz="280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edge</a:t>
            </a:r>
            <a:r>
              <a:rPr sz="28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800" spc="1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sensed</a:t>
            </a:r>
            <a:r>
              <a:rPr sz="28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at</a:t>
            </a:r>
            <a:r>
              <a:rPr sz="28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8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counter</a:t>
            </a:r>
            <a:r>
              <a:rPr sz="2800" spc="1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pin,</a:t>
            </a:r>
            <a:r>
              <a:rPr sz="28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800" spc="-6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404040"/>
                </a:solidFill>
                <a:latin typeface="Calibri"/>
                <a:cs typeface="Calibri"/>
              </a:rPr>
              <a:t>timer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count</a:t>
            </a:r>
            <a:r>
              <a:rPr sz="28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register</a:t>
            </a:r>
            <a:r>
              <a:rPr sz="28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count</a:t>
            </a:r>
            <a:r>
              <a:rPr sz="28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increases</a:t>
            </a:r>
            <a:r>
              <a:rPr sz="28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5" dirty="0">
                <a:solidFill>
                  <a:srgbClr val="404040"/>
                </a:solidFill>
                <a:latin typeface="Calibri"/>
                <a:cs typeface="Calibri"/>
              </a:rPr>
              <a:t>by</a:t>
            </a:r>
            <a:r>
              <a:rPr sz="28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404040"/>
                </a:solidFill>
                <a:latin typeface="Calibri"/>
                <a:cs typeface="Calibri"/>
              </a:rPr>
              <a:t>one.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29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37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47724" y="530224"/>
            <a:ext cx="845258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100" dirty="0" smtClean="0">
                <a:solidFill>
                  <a:srgbClr val="00AFEF"/>
                </a:solidFill>
                <a:latin typeface="Calibri Light"/>
                <a:cs typeface="Calibri Light"/>
              </a:rPr>
              <a:t>Watch</a:t>
            </a:r>
            <a:r>
              <a:rPr sz="4800" b="0" spc="-11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35" dirty="0">
                <a:solidFill>
                  <a:srgbClr val="00AFEF"/>
                </a:solidFill>
                <a:latin typeface="Calibri Light"/>
                <a:cs typeface="Calibri Light"/>
              </a:rPr>
              <a:t>Dog</a:t>
            </a:r>
            <a:r>
              <a:rPr sz="4800" b="0" spc="-13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>
                <a:solidFill>
                  <a:srgbClr val="00AFEF"/>
                </a:solidFill>
                <a:latin typeface="Calibri Light"/>
                <a:cs typeface="Calibri Light"/>
              </a:rPr>
              <a:t>Timers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47724" y="1287144"/>
            <a:ext cx="10809991" cy="4892675"/>
          </a:xfrm>
          <a:prstGeom prst="rect">
            <a:avLst/>
          </a:prstGeom>
        </p:spPr>
        <p:txBody>
          <a:bodyPr vert="horz" wrap="square" lIns="0" tIns="154305" rIns="0" bIns="0" rtlCol="0">
            <a:spAutoFit/>
          </a:bodyPr>
          <a:lstStyle/>
          <a:p>
            <a:pPr marL="323850" indent="-311785">
              <a:lnSpc>
                <a:spcPct val="100000"/>
              </a:lnSpc>
              <a:spcBef>
                <a:spcPts val="1215"/>
              </a:spcBef>
              <a:buClr>
                <a:srgbClr val="E38312"/>
              </a:buClr>
              <a:buFont typeface="Wingdings"/>
              <a:buChar char=""/>
              <a:tabLst>
                <a:tab pos="324485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on-chip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peripheral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advanced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MCU’s</a:t>
            </a:r>
            <a:endParaRPr sz="2400" dirty="0">
              <a:latin typeface="Calibri"/>
              <a:cs typeface="Calibri"/>
            </a:endParaRPr>
          </a:p>
          <a:p>
            <a:pPr marL="323850" indent="-311785">
              <a:lnSpc>
                <a:spcPct val="100000"/>
              </a:lnSpc>
              <a:spcBef>
                <a:spcPts val="1115"/>
              </a:spcBef>
              <a:buClr>
                <a:srgbClr val="E38312"/>
              </a:buClr>
              <a:buFont typeface="Wingdings"/>
              <a:buChar char=""/>
              <a:tabLst>
                <a:tab pos="324485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Low-end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404040"/>
                </a:solidFill>
                <a:latin typeface="Calibri"/>
                <a:cs typeface="Calibri"/>
              </a:rPr>
              <a:t>MCU’s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may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it,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c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added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needed,</a:t>
            </a:r>
            <a:r>
              <a:rPr sz="24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chips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available.</a:t>
            </a:r>
            <a:endParaRPr sz="2400" dirty="0">
              <a:latin typeface="Calibri"/>
              <a:cs typeface="Calibri"/>
            </a:endParaRPr>
          </a:p>
          <a:p>
            <a:pPr marL="392430" indent="-380365">
              <a:lnSpc>
                <a:spcPts val="2740"/>
              </a:lnSpc>
              <a:spcBef>
                <a:spcPts val="1115"/>
              </a:spcBef>
              <a:buClr>
                <a:srgbClr val="E38312"/>
              </a:buClr>
              <a:buFont typeface="Wingdings"/>
              <a:buChar char=""/>
              <a:tabLst>
                <a:tab pos="391795" algn="l"/>
                <a:tab pos="393065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Embedded</a:t>
            </a:r>
            <a:r>
              <a:rPr sz="24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4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sort</a:t>
            </a:r>
            <a:r>
              <a:rPr sz="24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out</a:t>
            </a:r>
            <a:r>
              <a:rPr sz="24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24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problems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on</a:t>
            </a:r>
            <a:r>
              <a:rPr sz="24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their</a:t>
            </a:r>
            <a:r>
              <a:rPr sz="24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own,</a:t>
            </a:r>
            <a:r>
              <a:rPr sz="2400" spc="2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400" spc="2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they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don’t</a:t>
            </a:r>
            <a:endParaRPr sz="2400" dirty="0">
              <a:latin typeface="Calibri"/>
              <a:cs typeface="Calibri"/>
            </a:endParaRPr>
          </a:p>
          <a:p>
            <a:pPr marL="104139">
              <a:lnSpc>
                <a:spcPts val="2740"/>
              </a:lnSpc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allow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user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intervention.</a:t>
            </a:r>
            <a:endParaRPr sz="2400" dirty="0">
              <a:latin typeface="Calibri"/>
              <a:cs typeface="Calibri"/>
            </a:endParaRPr>
          </a:p>
          <a:p>
            <a:pPr marL="104139" marR="5080" indent="-91440">
              <a:lnSpc>
                <a:spcPts val="2590"/>
              </a:lnSpc>
              <a:spcBef>
                <a:spcPts val="1435"/>
              </a:spcBef>
              <a:buClr>
                <a:srgbClr val="E38312"/>
              </a:buClr>
              <a:buFont typeface="Wingdings"/>
              <a:buChar char=""/>
              <a:tabLst>
                <a:tab pos="324485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WDT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provided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help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event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unresolvable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anomaly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its </a:t>
            </a:r>
            <a:r>
              <a:rPr sz="2400" spc="-5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working.</a:t>
            </a:r>
            <a:endParaRPr sz="2400" dirty="0">
              <a:latin typeface="Calibri"/>
              <a:cs typeface="Calibri"/>
            </a:endParaRPr>
          </a:p>
          <a:p>
            <a:pPr marL="104139" marR="5715" indent="-91440">
              <a:lnSpc>
                <a:spcPts val="2590"/>
              </a:lnSpc>
              <a:spcBef>
                <a:spcPts val="1410"/>
              </a:spcBef>
              <a:buClr>
                <a:srgbClr val="E38312"/>
              </a:buClr>
              <a:buFont typeface="Wingdings"/>
              <a:buChar char=""/>
              <a:tabLst>
                <a:tab pos="324485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This</a:t>
            </a:r>
            <a:r>
              <a:rPr sz="2400" spc="4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timer</a:t>
            </a:r>
            <a:r>
              <a:rPr sz="2400" spc="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monitors</a:t>
            </a:r>
            <a:r>
              <a:rPr sz="2400" spc="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working</a:t>
            </a:r>
            <a:r>
              <a:rPr sz="2400" spc="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4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400" spc="4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4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make</a:t>
            </a:r>
            <a:r>
              <a:rPr sz="2400" spc="4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sure</a:t>
            </a:r>
            <a:r>
              <a:rPr sz="2400" spc="4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does</a:t>
            </a:r>
            <a:r>
              <a:rPr sz="2400" spc="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not</a:t>
            </a:r>
            <a:r>
              <a:rPr sz="2400" spc="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go</a:t>
            </a:r>
            <a:r>
              <a:rPr sz="2400" spc="4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into </a:t>
            </a:r>
            <a:r>
              <a:rPr sz="2400" spc="-5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endless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loops.</a:t>
            </a:r>
            <a:endParaRPr sz="2400" dirty="0">
              <a:latin typeface="Calibri"/>
              <a:cs typeface="Calibri"/>
            </a:endParaRPr>
          </a:p>
          <a:p>
            <a:pPr marL="104139" marR="10795" indent="-91440">
              <a:lnSpc>
                <a:spcPts val="2590"/>
              </a:lnSpc>
              <a:spcBef>
                <a:spcPts val="1405"/>
              </a:spcBef>
              <a:buClr>
                <a:srgbClr val="E38312"/>
              </a:buClr>
              <a:buFont typeface="Wingdings"/>
              <a:buChar char=""/>
              <a:tabLst>
                <a:tab pos="324485" algn="l"/>
              </a:tabLst>
            </a:pPr>
            <a:r>
              <a:rPr lang="en-US" sz="2400" dirty="0" smtClean="0">
                <a:solidFill>
                  <a:srgbClr val="404040"/>
                </a:solidFill>
                <a:latin typeface="Calibri"/>
                <a:cs typeface="Calibri"/>
              </a:rPr>
              <a:t>W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hen</a:t>
            </a:r>
            <a:r>
              <a:rPr sz="2400" spc="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unexpected</a:t>
            </a:r>
            <a:r>
              <a:rPr sz="24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events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 smtClean="0">
                <a:solidFill>
                  <a:srgbClr val="404040"/>
                </a:solidFill>
                <a:latin typeface="Calibri"/>
                <a:cs typeface="Calibri"/>
              </a:rPr>
              <a:t>occur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,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only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way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out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40" dirty="0">
                <a:solidFill>
                  <a:srgbClr val="404040"/>
                </a:solidFill>
                <a:latin typeface="Calibri"/>
                <a:cs typeface="Calibri"/>
              </a:rPr>
              <a:t>to </a:t>
            </a:r>
            <a:r>
              <a:rPr sz="2400" spc="-5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restart</a:t>
            </a:r>
            <a:r>
              <a:rPr sz="2400" spc="-4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start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over</a:t>
            </a:r>
            <a:r>
              <a:rPr sz="24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again.</a:t>
            </a:r>
            <a:endParaRPr sz="2400" dirty="0">
              <a:latin typeface="Calibri"/>
              <a:cs typeface="Calibri"/>
            </a:endParaRPr>
          </a:p>
          <a:p>
            <a:pPr marL="323850" indent="-311785">
              <a:lnSpc>
                <a:spcPct val="100000"/>
              </a:lnSpc>
              <a:spcBef>
                <a:spcPts val="1070"/>
              </a:spcBef>
              <a:buClr>
                <a:srgbClr val="E38312"/>
              </a:buClr>
              <a:buFont typeface="Wingdings"/>
              <a:buChar char=""/>
              <a:tabLst>
                <a:tab pos="324485" algn="l"/>
              </a:tabLst>
            </a:pP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WDT </a:t>
            </a:r>
            <a:r>
              <a:rPr sz="2400" dirty="0" smtClean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used </a:t>
            </a:r>
            <a:r>
              <a:rPr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check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whether such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RESET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necessary.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25348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3" y="908684"/>
            <a:ext cx="9159167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0" dirty="0">
                <a:solidFill>
                  <a:srgbClr val="404040"/>
                </a:solidFill>
                <a:latin typeface="Calibri Light"/>
                <a:cs typeface="Calibri Light"/>
              </a:rPr>
              <a:t>How</a:t>
            </a:r>
            <a:r>
              <a:rPr sz="4800" b="0" spc="-135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800" b="0" spc="-40" dirty="0">
                <a:solidFill>
                  <a:srgbClr val="404040"/>
                </a:solidFill>
                <a:latin typeface="Calibri Light"/>
                <a:cs typeface="Calibri Light"/>
              </a:rPr>
              <a:t>does</a:t>
            </a:r>
            <a:r>
              <a:rPr sz="4800" b="0" spc="-11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800" b="0" spc="-35" dirty="0">
                <a:solidFill>
                  <a:srgbClr val="404040"/>
                </a:solidFill>
                <a:latin typeface="Calibri Light"/>
                <a:cs typeface="Calibri Light"/>
              </a:rPr>
              <a:t>the</a:t>
            </a:r>
            <a:r>
              <a:rPr sz="4800" b="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800" b="0" spc="-50" dirty="0">
                <a:solidFill>
                  <a:srgbClr val="404040"/>
                </a:solidFill>
                <a:latin typeface="Calibri Light"/>
                <a:cs typeface="Calibri Light"/>
              </a:rPr>
              <a:t>WDT</a:t>
            </a:r>
            <a:r>
              <a:rPr sz="4800" b="0" spc="-114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800" b="0" spc="-25" dirty="0">
                <a:solidFill>
                  <a:srgbClr val="404040"/>
                </a:solidFill>
                <a:latin typeface="Calibri Light"/>
                <a:cs typeface="Calibri Light"/>
              </a:rPr>
              <a:t>do</a:t>
            </a:r>
            <a:r>
              <a:rPr sz="4800" b="0" spc="-110" dirty="0">
                <a:solidFill>
                  <a:srgbClr val="404040"/>
                </a:solidFill>
                <a:latin typeface="Calibri Light"/>
                <a:cs typeface="Calibri Light"/>
              </a:rPr>
              <a:t> </a:t>
            </a:r>
            <a:r>
              <a:rPr sz="4800" b="0" spc="-45" dirty="0">
                <a:solidFill>
                  <a:srgbClr val="404040"/>
                </a:solidFill>
                <a:latin typeface="Calibri Light"/>
                <a:cs typeface="Calibri Light"/>
              </a:rPr>
              <a:t>this?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4186" y="1674019"/>
            <a:ext cx="11522075" cy="28371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269875" indent="-257810">
              <a:lnSpc>
                <a:spcPct val="100000"/>
              </a:lnSpc>
              <a:spcBef>
                <a:spcPts val="126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like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ordinary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timer</a:t>
            </a:r>
            <a:endParaRPr sz="2000" dirty="0">
              <a:latin typeface="Calibri"/>
              <a:cs typeface="Calibri"/>
            </a:endParaRPr>
          </a:p>
          <a:p>
            <a:pPr marL="269875" indent="-25781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Normally,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starts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counting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before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reaches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terminal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count,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internal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mechanism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restarts</a:t>
            </a:r>
            <a:r>
              <a:rPr sz="2000" spc="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it.</a:t>
            </a:r>
            <a:endParaRPr sz="2000" dirty="0">
              <a:latin typeface="Calibri"/>
              <a:cs typeface="Calibri"/>
            </a:endParaRPr>
          </a:p>
          <a:p>
            <a:pPr marL="269875" indent="-257810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the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stuck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infinite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loop,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‘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Internal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Mechanism’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restarting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WDT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blocked.</a:t>
            </a:r>
            <a:endParaRPr sz="2000" dirty="0">
              <a:latin typeface="Calibri"/>
              <a:cs typeface="Calibri"/>
            </a:endParaRPr>
          </a:p>
          <a:p>
            <a:pPr marL="271780" indent="-259079">
              <a:lnSpc>
                <a:spcPts val="228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71780" algn="l"/>
              </a:tabLst>
            </a:pP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So,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WDT</a:t>
            </a:r>
            <a:r>
              <a:rPr sz="2000" spc="17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counts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down</a:t>
            </a:r>
            <a:r>
              <a:rPr sz="20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zero</a:t>
            </a:r>
            <a:r>
              <a:rPr sz="2000" spc="18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20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then</a:t>
            </a:r>
            <a:r>
              <a:rPr sz="200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resets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whole</a:t>
            </a:r>
            <a:r>
              <a:rPr sz="200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MCU,</a:t>
            </a:r>
            <a:r>
              <a:rPr sz="20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so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2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000" spc="1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recovers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from</a:t>
            </a:r>
            <a:r>
              <a:rPr sz="2000" spc="1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endParaRPr sz="2000" dirty="0">
              <a:latin typeface="Calibri"/>
              <a:cs typeface="Calibri"/>
            </a:endParaRPr>
          </a:p>
          <a:p>
            <a:pPr marL="104139">
              <a:lnSpc>
                <a:spcPts val="2280"/>
              </a:lnSpc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erroneous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state.</a:t>
            </a:r>
            <a:endParaRPr sz="2000" dirty="0">
              <a:latin typeface="Calibri"/>
              <a:cs typeface="Calibri"/>
            </a:endParaRPr>
          </a:p>
          <a:p>
            <a:pPr marL="104139" marR="6350" indent="-91440">
              <a:lnSpc>
                <a:spcPts val="2160"/>
              </a:lnSpc>
              <a:spcBef>
                <a:spcPts val="1435"/>
              </a:spcBef>
              <a:buClr>
                <a:srgbClr val="E38312"/>
              </a:buClr>
              <a:buFont typeface="Wingdings"/>
              <a:buChar char=""/>
              <a:tabLst>
                <a:tab pos="27178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Count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decided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WDT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after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considering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how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much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allowed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system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recover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before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it is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forcibly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reset.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31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1141" y="4317048"/>
            <a:ext cx="6271259" cy="1830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85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7288803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40" dirty="0">
                <a:solidFill>
                  <a:srgbClr val="00AFEF"/>
                </a:solidFill>
                <a:latin typeface="Calibri Light"/>
                <a:cs typeface="Calibri Light"/>
              </a:rPr>
              <a:t>2.6.4</a:t>
            </a:r>
            <a:r>
              <a:rPr sz="4800" b="0" spc="-114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5" dirty="0">
                <a:solidFill>
                  <a:srgbClr val="00AFEF"/>
                </a:solidFill>
                <a:latin typeface="Calibri Light"/>
                <a:cs typeface="Calibri Light"/>
              </a:rPr>
              <a:t>Real</a:t>
            </a:r>
            <a:r>
              <a:rPr sz="4800" b="0" spc="-12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45" dirty="0">
                <a:solidFill>
                  <a:srgbClr val="00AFEF"/>
                </a:solidFill>
                <a:latin typeface="Calibri Light"/>
                <a:cs typeface="Calibri Light"/>
              </a:rPr>
              <a:t>Time</a:t>
            </a:r>
            <a:r>
              <a:rPr sz="4800" b="0" spc="-90" dirty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45" dirty="0">
                <a:solidFill>
                  <a:srgbClr val="00AFEF"/>
                </a:solidFill>
                <a:latin typeface="Calibri Light"/>
                <a:cs typeface="Calibri Light"/>
              </a:rPr>
              <a:t>Clock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22859" y="1822830"/>
            <a:ext cx="11288395" cy="42449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04139" marR="6350" indent="-91440">
              <a:lnSpc>
                <a:spcPts val="2590"/>
              </a:lnSpc>
              <a:spcBef>
                <a:spcPts val="42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real</a:t>
            </a:r>
            <a:r>
              <a:rPr sz="24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clock</a:t>
            </a:r>
            <a:r>
              <a:rPr sz="24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inside</a:t>
            </a:r>
            <a:r>
              <a:rPr sz="2400" spc="9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MCU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9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providing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calendar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functions-</a:t>
            </a:r>
            <a:r>
              <a:rPr sz="2400" spc="1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precise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in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hours,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minutes,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seconds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date</a:t>
            </a:r>
            <a:r>
              <a:rPr lang="en-US" sz="2400" spc="-1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required</a:t>
            </a:r>
            <a:r>
              <a:rPr sz="2400" spc="-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various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applications.</a:t>
            </a:r>
            <a:endParaRPr sz="2400" dirty="0">
              <a:latin typeface="Calibri"/>
              <a:cs typeface="Calibri"/>
            </a:endParaRPr>
          </a:p>
          <a:p>
            <a:pPr marL="391795" indent="-379730">
              <a:lnSpc>
                <a:spcPct val="100000"/>
              </a:lnSpc>
              <a:spcBef>
                <a:spcPts val="1085"/>
              </a:spcBef>
              <a:buClr>
                <a:srgbClr val="E38312"/>
              </a:buClr>
              <a:buFont typeface="Wingdings"/>
              <a:buChar char=""/>
              <a:tabLst>
                <a:tab pos="391795" algn="l"/>
                <a:tab pos="392430" algn="l"/>
              </a:tabLst>
            </a:pP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embedded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systems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need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real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 smtClean="0">
                <a:solidFill>
                  <a:srgbClr val="404040"/>
                </a:solidFill>
                <a:latin typeface="Calibri"/>
                <a:cs typeface="Calibri"/>
              </a:rPr>
              <a:t>information</a:t>
            </a:r>
            <a:r>
              <a:rPr lang="en-US" sz="2400" spc="-20" dirty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04139" marR="5080" indent="-91440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Even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though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timer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1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programmed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count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time,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best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sz="2400" spc="1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there</a:t>
            </a:r>
            <a:r>
              <a:rPr sz="2400" spc="1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400" spc="11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1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dedicated </a:t>
            </a:r>
            <a:r>
              <a:rPr sz="2400" spc="-5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hardware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which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can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programmed.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ts val="2740"/>
              </a:lnSpc>
              <a:spcBef>
                <a:spcPts val="106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using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its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own</a:t>
            </a:r>
            <a:r>
              <a:rPr sz="2400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registers</a:t>
            </a:r>
            <a:r>
              <a:rPr sz="2400" spc="3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count</a:t>
            </a:r>
            <a:r>
              <a:rPr sz="2400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‘real</a:t>
            </a:r>
            <a:r>
              <a:rPr sz="24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time’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present</a:t>
            </a:r>
            <a:r>
              <a:rPr sz="2400" spc="3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easily</a:t>
            </a:r>
            <a:r>
              <a:rPr sz="2400" spc="3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display</a:t>
            </a:r>
            <a:r>
              <a:rPr sz="2400" spc="3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400" spc="30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endParaRPr sz="2400" dirty="0">
              <a:latin typeface="Calibri"/>
              <a:cs typeface="Calibri"/>
            </a:endParaRPr>
          </a:p>
          <a:p>
            <a:pPr marL="104139">
              <a:lnSpc>
                <a:spcPts val="2740"/>
              </a:lnSpc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purposes.</a:t>
            </a:r>
            <a:endParaRPr sz="2400" dirty="0">
              <a:latin typeface="Calibri"/>
              <a:cs typeface="Calibri"/>
            </a:endParaRPr>
          </a:p>
          <a:p>
            <a:pPr marL="104139" marR="6350" indent="-91440">
              <a:lnSpc>
                <a:spcPts val="2590"/>
              </a:lnSpc>
              <a:spcBef>
                <a:spcPts val="1445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Such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clock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400" spc="2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400" spc="2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provide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timing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for</a:t>
            </a:r>
            <a:r>
              <a:rPr sz="2400" spc="2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operating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system,</a:t>
            </a:r>
            <a:r>
              <a:rPr sz="2400" spc="26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as</a:t>
            </a:r>
            <a:r>
              <a:rPr sz="2400" spc="25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high-end</a:t>
            </a:r>
            <a:r>
              <a:rPr sz="2400" spc="26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embedded </a:t>
            </a:r>
            <a:r>
              <a:rPr sz="2400" spc="-5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systems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use.</a:t>
            </a:r>
            <a:endParaRPr sz="2400" dirty="0">
              <a:latin typeface="Calibri"/>
              <a:cs typeface="Calibri"/>
            </a:endParaRPr>
          </a:p>
          <a:p>
            <a:pPr marL="323215" indent="-311150">
              <a:lnSpc>
                <a:spcPct val="100000"/>
              </a:lnSpc>
              <a:spcBef>
                <a:spcPts val="1080"/>
              </a:spcBef>
              <a:buClr>
                <a:srgbClr val="E38312"/>
              </a:buClr>
              <a:buFont typeface="Wingdings"/>
              <a:buChar char=""/>
              <a:tabLst>
                <a:tab pos="323850" algn="l"/>
              </a:tabLst>
            </a:pP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should</a:t>
            </a:r>
            <a:r>
              <a:rPr sz="24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also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battery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backup,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if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 clock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be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404040"/>
                </a:solidFill>
                <a:latin typeface="Calibri"/>
                <a:cs typeface="Calibri"/>
              </a:rPr>
              <a:t>kept</a:t>
            </a:r>
            <a:r>
              <a:rPr sz="24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running</a:t>
            </a:r>
            <a:r>
              <a:rPr sz="24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all</a:t>
            </a:r>
            <a:r>
              <a:rPr sz="24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4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404040"/>
                </a:solidFill>
                <a:latin typeface="Calibri"/>
                <a:cs typeface="Calibri"/>
              </a:rPr>
              <a:t>time.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32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2939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9076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35" dirty="0" smtClean="0">
                <a:solidFill>
                  <a:srgbClr val="00AFEF"/>
                </a:solidFill>
                <a:latin typeface="Calibri Light"/>
                <a:cs typeface="Calibri Light"/>
              </a:rPr>
              <a:t>2.7</a:t>
            </a:r>
            <a:r>
              <a:rPr sz="4800" b="0" spc="-11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55" dirty="0" smtClean="0">
                <a:solidFill>
                  <a:srgbClr val="00AFEF"/>
                </a:solidFill>
                <a:latin typeface="Calibri Light"/>
                <a:cs typeface="Calibri Light"/>
              </a:rPr>
              <a:t>Pulse</a:t>
            </a:r>
            <a:r>
              <a:rPr sz="4800" b="0" spc="-10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45" dirty="0" smtClean="0">
                <a:solidFill>
                  <a:srgbClr val="00AFEF"/>
                </a:solidFill>
                <a:latin typeface="Calibri Light"/>
                <a:cs typeface="Calibri Light"/>
              </a:rPr>
              <a:t>Width</a:t>
            </a:r>
            <a:r>
              <a:rPr sz="4800" b="0" spc="-95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 smtClean="0">
                <a:solidFill>
                  <a:srgbClr val="00AFEF"/>
                </a:solidFill>
                <a:latin typeface="Calibri Light"/>
                <a:cs typeface="Calibri Light"/>
              </a:rPr>
              <a:t>Modulator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89765" y="2308871"/>
            <a:ext cx="11174012" cy="3085460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327660" indent="-315595">
              <a:lnSpc>
                <a:spcPct val="100000"/>
              </a:lnSpc>
              <a:spcBef>
                <a:spcPts val="1260"/>
              </a:spcBef>
              <a:buClr>
                <a:srgbClr val="E38312"/>
              </a:buClr>
              <a:buFont typeface="Wingdings"/>
              <a:buChar char=""/>
              <a:tabLst>
                <a:tab pos="328295" algn="l"/>
              </a:tabLst>
            </a:pPr>
            <a:r>
              <a:rPr sz="2000" spc="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PWM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(Pulse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Width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Modulator)</a:t>
            </a:r>
            <a:r>
              <a:rPr sz="2000" spc="45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module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000" spc="15" dirty="0" smtClean="0">
                <a:solidFill>
                  <a:srgbClr val="404040"/>
                </a:solidFill>
                <a:latin typeface="Calibri"/>
                <a:cs typeface="Calibri"/>
              </a:rPr>
              <a:t> a </a:t>
            </a:r>
            <a:r>
              <a:rPr sz="2000" spc="-35" dirty="0" smtClean="0">
                <a:solidFill>
                  <a:srgbClr val="404040"/>
                </a:solidFill>
                <a:latin typeface="Calibri"/>
                <a:cs typeface="Calibri"/>
              </a:rPr>
              <a:t>timer.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404040"/>
                </a:solidFill>
                <a:latin typeface="Calibri"/>
                <a:cs typeface="Calibri"/>
              </a:rPr>
              <a:t>A Pulse Width Modulator (PWM) is a circuit or module that generates a pulse train whose pulse width can be varied, while the frequency usually remains constant.</a:t>
            </a:r>
            <a:endParaRPr sz="2000" dirty="0">
              <a:solidFill>
                <a:srgbClr val="404040"/>
              </a:solidFill>
              <a:latin typeface="Calibri"/>
              <a:cs typeface="Calibri"/>
            </a:endParaRPr>
          </a:p>
          <a:p>
            <a:pPr marL="269875" indent="-257810">
              <a:lnSpc>
                <a:spcPct val="100000"/>
              </a:lnSpc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lang="en-US" sz="2000" dirty="0" smtClean="0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 a separate module in MCUs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.</a:t>
            </a:r>
            <a:endParaRPr lang="en-US" sz="2000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269875" indent="-257810">
              <a:spcBef>
                <a:spcPts val="116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lang="en-US" sz="2000" dirty="0">
                <a:solidFill>
                  <a:srgbClr val="404040"/>
                </a:solidFill>
                <a:latin typeface="Calibri"/>
                <a:cs typeface="Calibri"/>
              </a:rPr>
              <a:t>It is used to control power delivered to a load by adjusting the duty cycle of the </a:t>
            </a:r>
            <a:r>
              <a:rPr lang="en-US" sz="2000" dirty="0">
                <a:solidFill>
                  <a:srgbClr val="404040"/>
                </a:solidFill>
                <a:latin typeface="Calibri"/>
                <a:cs typeface="Calibri"/>
              </a:rPr>
              <a:t>signal </a:t>
            </a:r>
            <a:r>
              <a:rPr lang="en-US" sz="2000" dirty="0" err="1">
                <a:solidFill>
                  <a:srgbClr val="404040"/>
                </a:solidFill>
                <a:latin typeface="Calibri"/>
                <a:cs typeface="Calibri"/>
              </a:rPr>
              <a:t>i</a:t>
            </a:r>
            <a:r>
              <a:rPr lang="en-US"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404040"/>
                </a:solidFill>
                <a:latin typeface="Calibri"/>
                <a:cs typeface="Calibri"/>
              </a:rPr>
              <a:t>e. Instead of reducing voltage directly (which wastes power), PWM switches ON and OFF rapidly to efficiently control power.</a:t>
            </a:r>
          </a:p>
          <a:p>
            <a:pPr marL="269875" indent="-257810">
              <a:lnSpc>
                <a:spcPct val="100000"/>
              </a:lnSpc>
              <a:spcBef>
                <a:spcPts val="115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spc="-5" dirty="0" smtClean="0">
                <a:solidFill>
                  <a:srgbClr val="404040"/>
                </a:solidFill>
                <a:latin typeface="Calibri"/>
                <a:cs typeface="Calibri"/>
              </a:rPr>
              <a:t>Lets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see what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PW</a:t>
            </a:r>
            <a:r>
              <a:rPr lang="en-US" sz="2000" dirty="0" smtClean="0">
                <a:solidFill>
                  <a:srgbClr val="404040"/>
                </a:solidFill>
                <a:latin typeface="Calibri"/>
                <a:cs typeface="Calibri"/>
              </a:rPr>
              <a:t>M</a:t>
            </a:r>
            <a:r>
              <a:rPr sz="2000" spc="-25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waveform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is: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105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253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6324" y="908684"/>
            <a:ext cx="907604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0" spc="-35" dirty="0" smtClean="0">
                <a:solidFill>
                  <a:srgbClr val="00AFEF"/>
                </a:solidFill>
                <a:latin typeface="Calibri Light"/>
                <a:cs typeface="Calibri Light"/>
              </a:rPr>
              <a:t>2.7</a:t>
            </a:r>
            <a:r>
              <a:rPr sz="4800" b="0" spc="-11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55" dirty="0" smtClean="0">
                <a:solidFill>
                  <a:srgbClr val="00AFEF"/>
                </a:solidFill>
                <a:latin typeface="Calibri Light"/>
                <a:cs typeface="Calibri Light"/>
              </a:rPr>
              <a:t>Pulse</a:t>
            </a:r>
            <a:r>
              <a:rPr sz="4800" b="0" spc="-100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45" dirty="0" smtClean="0">
                <a:solidFill>
                  <a:srgbClr val="00AFEF"/>
                </a:solidFill>
                <a:latin typeface="Calibri Light"/>
                <a:cs typeface="Calibri Light"/>
              </a:rPr>
              <a:t>Width</a:t>
            </a:r>
            <a:r>
              <a:rPr sz="4800" b="0" spc="-95" dirty="0" smtClean="0">
                <a:solidFill>
                  <a:srgbClr val="00AFEF"/>
                </a:solidFill>
                <a:latin typeface="Calibri Light"/>
                <a:cs typeface="Calibri Light"/>
              </a:rPr>
              <a:t> </a:t>
            </a:r>
            <a:r>
              <a:rPr sz="4800" b="0" spc="-60" dirty="0" smtClean="0">
                <a:solidFill>
                  <a:srgbClr val="00AFEF"/>
                </a:solidFill>
                <a:latin typeface="Calibri Light"/>
                <a:cs typeface="Calibri Light"/>
              </a:rPr>
              <a:t>Modulator</a:t>
            </a:r>
            <a:endParaRPr sz="4800" dirty="0">
              <a:latin typeface="Calibri Light"/>
              <a:cs typeface="Calibri Ligh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34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9429" y="3599543"/>
            <a:ext cx="4905828" cy="2167208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47044" y="2247028"/>
            <a:ext cx="10134600" cy="26976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9875" indent="-257810">
              <a:lnSpc>
                <a:spcPts val="2160"/>
              </a:lnSpc>
              <a:spcBef>
                <a:spcPts val="100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symmetric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wave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has half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of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it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period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the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high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‘1’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state</a:t>
            </a:r>
            <a:r>
              <a:rPr sz="2000" spc="3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and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other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half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in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low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or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‘0’</a:t>
            </a:r>
            <a:endParaRPr sz="2000" dirty="0">
              <a:latin typeface="Calibri"/>
              <a:cs typeface="Calibri"/>
            </a:endParaRPr>
          </a:p>
          <a:p>
            <a:pPr marL="103505">
              <a:lnSpc>
                <a:spcPts val="2160"/>
              </a:lnSpc>
            </a:pP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state.</a:t>
            </a:r>
            <a:endParaRPr sz="2000" dirty="0">
              <a:latin typeface="Calibri"/>
              <a:cs typeface="Calibri"/>
            </a:endParaRPr>
          </a:p>
          <a:p>
            <a:pPr marL="270510" marR="3092450" indent="-270510">
              <a:lnSpc>
                <a:spcPct val="138000"/>
              </a:lnSpc>
              <a:spcBef>
                <a:spcPts val="1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So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its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duty cycle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 50%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where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 duty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cycle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is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defined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as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follows: </a:t>
            </a:r>
            <a:r>
              <a:rPr sz="2000" spc="-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endParaRPr lang="en-US" sz="2000" spc="-440" dirty="0" smtClean="0">
              <a:solidFill>
                <a:srgbClr val="404040"/>
              </a:solidFill>
              <a:latin typeface="Calibri"/>
              <a:cs typeface="Calibri"/>
            </a:endParaRPr>
          </a:p>
          <a:p>
            <a:pPr marL="270510" marR="3092450" indent="-270510">
              <a:lnSpc>
                <a:spcPct val="138000"/>
              </a:lnSpc>
              <a:spcBef>
                <a:spcPts val="1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lang="en-IN" sz="2000" dirty="0">
                <a:solidFill>
                  <a:srgbClr val="404040"/>
                </a:solidFill>
                <a:latin typeface="Calibri"/>
                <a:cs typeface="Calibri"/>
              </a:rPr>
              <a:t>if</a:t>
            </a:r>
            <a:r>
              <a:rPr lang="en-IN"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IN" sz="2000" dirty="0">
                <a:solidFill>
                  <a:srgbClr val="404040"/>
                </a:solidFill>
                <a:latin typeface="Calibri"/>
                <a:cs typeface="Calibri"/>
              </a:rPr>
              <a:t>T</a:t>
            </a:r>
            <a:r>
              <a:rPr lang="en-IN"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IN"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lang="en-IN"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lang="en-IN" sz="2000" dirty="0">
                <a:solidFill>
                  <a:srgbClr val="404040"/>
                </a:solidFill>
                <a:latin typeface="Calibri"/>
                <a:cs typeface="Calibri"/>
              </a:rPr>
              <a:t>2t</a:t>
            </a:r>
            <a:endParaRPr lang="en-IN" sz="2000" dirty="0">
              <a:latin typeface="Calibri"/>
              <a:cs typeface="Calibri"/>
            </a:endParaRPr>
          </a:p>
          <a:p>
            <a:pPr marL="270510" marR="3092450" indent="-270510">
              <a:lnSpc>
                <a:spcPct val="138000"/>
              </a:lnSpc>
              <a:spcBef>
                <a:spcPts val="15"/>
              </a:spcBef>
              <a:buClr>
                <a:srgbClr val="E38312"/>
              </a:buClr>
              <a:buFont typeface="Wingdings"/>
              <a:buChar char=""/>
              <a:tabLst>
                <a:tab pos="270510" algn="l"/>
              </a:tabLst>
            </a:pP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Duty</a:t>
            </a:r>
            <a:r>
              <a:rPr sz="2000" spc="-30" dirty="0" smtClean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Cycle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 %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(Time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in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 high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state/Period)</a:t>
            </a:r>
            <a:r>
              <a:rPr sz="2000" spc="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2000" spc="44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100</a:t>
            </a:r>
            <a:endParaRPr sz="2000" dirty="0">
              <a:latin typeface="Calibri"/>
              <a:cs typeface="Calibri"/>
            </a:endParaRPr>
          </a:p>
          <a:p>
            <a:pPr marL="2070100">
              <a:lnSpc>
                <a:spcPct val="100000"/>
              </a:lnSpc>
              <a:spcBef>
                <a:spcPts val="925"/>
              </a:spcBef>
            </a:pP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=(t/T)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x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100</a:t>
            </a:r>
            <a:endParaRPr sz="2000" dirty="0">
              <a:latin typeface="Calibri"/>
              <a:cs typeface="Calibri"/>
            </a:endParaRPr>
          </a:p>
          <a:p>
            <a:pPr marL="2070100">
              <a:lnSpc>
                <a:spcPct val="100000"/>
              </a:lnSpc>
              <a:spcBef>
                <a:spcPts val="925"/>
              </a:spcBef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=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50</a:t>
            </a:r>
            <a:r>
              <a:rPr sz="2000" dirty="0" smtClean="0">
                <a:solidFill>
                  <a:srgbClr val="404040"/>
                </a:solidFill>
                <a:latin typeface="Calibri"/>
                <a:cs typeface="Calibri"/>
              </a:rPr>
              <a:t>%</a:t>
            </a:r>
            <a:endParaRPr sz="20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302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193291" y="1737360"/>
            <a:ext cx="9966960" cy="0"/>
          </a:xfrm>
          <a:custGeom>
            <a:avLst/>
            <a:gdLst/>
            <a:ahLst/>
            <a:cxnLst/>
            <a:rect l="l" t="t" r="r" b="b"/>
            <a:pathLst>
              <a:path w="9966960">
                <a:moveTo>
                  <a:pt x="0" y="0"/>
                </a:moveTo>
                <a:lnTo>
                  <a:pt x="9966960" y="0"/>
                </a:lnTo>
              </a:path>
            </a:pathLst>
          </a:custGeom>
          <a:ln w="6350">
            <a:solidFill>
              <a:srgbClr val="7E7E7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4580" y="1831975"/>
            <a:ext cx="5788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28295" indent="-316230">
              <a:lnSpc>
                <a:spcPct val="100000"/>
              </a:lnSpc>
              <a:spcBef>
                <a:spcPts val="105"/>
              </a:spcBef>
              <a:buClr>
                <a:srgbClr val="E38312"/>
              </a:buClr>
              <a:buFont typeface="Wingdings"/>
              <a:buChar char=""/>
              <a:tabLst>
                <a:tab pos="328930" algn="l"/>
              </a:tabLst>
            </a:pP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Asymmetric</a:t>
            </a:r>
            <a:r>
              <a:rPr sz="2000" spc="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waveforms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can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have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varying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duty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cycles.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72545" y="6541719"/>
            <a:ext cx="1625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FFF"/>
                </a:solidFill>
                <a:latin typeface="Calibri"/>
                <a:cs typeface="Calibri"/>
              </a:rPr>
              <a:t>33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2906" y="5165597"/>
            <a:ext cx="9705340" cy="6051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04139" marR="5080" indent="-91440">
              <a:lnSpc>
                <a:spcPts val="2160"/>
              </a:lnSpc>
              <a:spcBef>
                <a:spcPts val="375"/>
              </a:spcBef>
              <a:buClr>
                <a:srgbClr val="E38312"/>
              </a:buClr>
              <a:buFont typeface="Wingdings"/>
              <a:buChar char=""/>
              <a:tabLst>
                <a:tab pos="328295" algn="l"/>
              </a:tabLst>
            </a:pP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When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are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able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to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change</a:t>
            </a:r>
            <a:r>
              <a:rPr sz="2000" spc="-3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the duty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cycle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a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 square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404040"/>
                </a:solidFill>
                <a:latin typeface="Calibri"/>
                <a:cs typeface="Calibri"/>
              </a:rPr>
              <a:t>wave,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404040"/>
                </a:solidFill>
                <a:latin typeface="Calibri"/>
                <a:cs typeface="Calibri"/>
              </a:rPr>
              <a:t>we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404040"/>
                </a:solidFill>
                <a:latin typeface="Calibri"/>
                <a:cs typeface="Calibri"/>
              </a:rPr>
              <a:t>say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that</a:t>
            </a:r>
            <a:r>
              <a:rPr sz="2000" spc="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it is</a:t>
            </a:r>
            <a:r>
              <a:rPr sz="2000" spc="15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404040"/>
                </a:solidFill>
                <a:latin typeface="Calibri"/>
                <a:cs typeface="Calibri"/>
              </a:rPr>
              <a:t>“Pulse</a:t>
            </a:r>
            <a:r>
              <a:rPr sz="2000" spc="10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Calibri"/>
                <a:cs typeface="Calibri"/>
              </a:rPr>
              <a:t>Width </a:t>
            </a:r>
            <a:r>
              <a:rPr sz="2000" spc="-434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404040"/>
                </a:solidFill>
                <a:latin typeface="Calibri"/>
                <a:cs typeface="Calibri"/>
              </a:rPr>
              <a:t>Modulated”.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142" y="2449171"/>
            <a:ext cx="6264474" cy="2544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51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1400</TotalTime>
  <Words>3010</Words>
  <Application>Microsoft Office PowerPoint</Application>
  <PresentationFormat>Widescreen</PresentationFormat>
  <Paragraphs>325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9" baseType="lpstr">
      <vt:lpstr>Arial</vt:lpstr>
      <vt:lpstr>Calibri</vt:lpstr>
      <vt:lpstr>Calibri Light</vt:lpstr>
      <vt:lpstr>Gill Sans MT</vt:lpstr>
      <vt:lpstr>Verdana</vt:lpstr>
      <vt:lpstr>Wingdings</vt:lpstr>
      <vt:lpstr>Gallery</vt:lpstr>
      <vt:lpstr>INTERNAL COMPONENTS OF A   SYSTEM-ON-CHIP (SOC) </vt:lpstr>
      <vt:lpstr>INTRODUCTION</vt:lpstr>
      <vt:lpstr>2.1 GENERAL MICROCONTROLLER UNIT</vt:lpstr>
      <vt:lpstr>PowerPoint Presentation</vt:lpstr>
      <vt:lpstr>PowerPoint Presentation</vt:lpstr>
      <vt:lpstr>PowerPoint Presentation</vt:lpstr>
      <vt:lpstr>2.2 PIN DIAGRAM</vt:lpstr>
      <vt:lpstr>PowerPoint Presentation</vt:lpstr>
      <vt:lpstr>2.2.1 Clock</vt:lpstr>
      <vt:lpstr>PowerPoint Presentation</vt:lpstr>
      <vt:lpstr>What are the orders of clock frequencies  generally used in embedded systems?</vt:lpstr>
      <vt:lpstr>2.2.2 Reset</vt:lpstr>
      <vt:lpstr>How is Reset Done?</vt:lpstr>
      <vt:lpstr>1. Power-on-reset</vt:lpstr>
      <vt:lpstr>2. Brown out reset</vt:lpstr>
      <vt:lpstr>3. Watch dog reset</vt:lpstr>
      <vt:lpstr>PowerPoint Presentation</vt:lpstr>
      <vt:lpstr>2.3.1 Register of the Core</vt:lpstr>
      <vt:lpstr>2.3.2 Registers of Peripherals</vt:lpstr>
      <vt:lpstr>2.4.1 General Purpose I/O</vt:lpstr>
      <vt:lpstr>PowerPoint Presentation</vt:lpstr>
      <vt:lpstr>PowerPoint Presentation</vt:lpstr>
      <vt:lpstr>PowerPoint Presentation</vt:lpstr>
      <vt:lpstr>PowerPoint Presentation</vt:lpstr>
      <vt:lpstr>Data Transfer Modes</vt:lpstr>
      <vt:lpstr>Interrupts</vt:lpstr>
      <vt:lpstr>PowerPoint Presentation</vt:lpstr>
      <vt:lpstr>PowerPoint Presentation</vt:lpstr>
      <vt:lpstr>PowerPoint Presentation</vt:lpstr>
      <vt:lpstr>Interrupts</vt:lpstr>
      <vt:lpstr>PowerPoint Presentation</vt:lpstr>
      <vt:lpstr>PowerPoint Presentation</vt:lpstr>
      <vt:lpstr>PowerPoint Presentation</vt:lpstr>
      <vt:lpstr> Timers and Counters</vt:lpstr>
      <vt:lpstr> the steps involved in the working of  an interval timer:</vt:lpstr>
      <vt:lpstr>2.6.2 Event Counter</vt:lpstr>
      <vt:lpstr>Watch Dog Timers</vt:lpstr>
      <vt:lpstr>How does the WDT do this?</vt:lpstr>
      <vt:lpstr>2.6.4 Real Time Clock</vt:lpstr>
      <vt:lpstr>2.7 Pulse Width Modulator</vt:lpstr>
      <vt:lpstr>2.7 Pulse Width Modulator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Systems -  An Introduction</dc:title>
  <dc:creator>Admin</dc:creator>
  <cp:lastModifiedBy>Admin</cp:lastModifiedBy>
  <cp:revision>100</cp:revision>
  <dcterms:created xsi:type="dcterms:W3CDTF">2020-02-03T05:30:59Z</dcterms:created>
  <dcterms:modified xsi:type="dcterms:W3CDTF">2026-03-03T05:12:55Z</dcterms:modified>
</cp:coreProperties>
</file>