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55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313" r:id="rId33"/>
    <p:sldId id="314" r:id="rId34"/>
    <p:sldId id="292" r:id="rId35"/>
    <p:sldId id="293" r:id="rId36"/>
    <p:sldId id="294" r:id="rId37"/>
    <p:sldId id="295" r:id="rId38"/>
    <p:sldId id="309" r:id="rId39"/>
    <p:sldId id="310" r:id="rId40"/>
    <p:sldId id="296" r:id="rId41"/>
    <p:sldId id="315" r:id="rId42"/>
    <p:sldId id="298" r:id="rId43"/>
    <p:sldId id="312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64" autoAdjust="0"/>
  </p:normalViewPr>
  <p:slideViewPr>
    <p:cSldViewPr snapToGrid="0">
      <p:cViewPr varScale="1">
        <p:scale>
          <a:sx n="66" d="100"/>
          <a:sy n="66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-1317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7DAA-32AF-4C39-A65E-9F8D8863A1E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42567-5F1D-476D-83D8-65C368A9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79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42567-5F1D-476D-83D8-65C368A933D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134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4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3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15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498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01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92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99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205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37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343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041ED-74B0-4DCA-AAE9-5B0CD09D436A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4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667000"/>
            <a:ext cx="10018713" cy="12635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800" b="1" dirty="0" smtClean="0">
                <a:solidFill>
                  <a:srgbClr val="FF0000"/>
                </a:solidFill>
              </a:rPr>
              <a:t>5.3Assembly </a:t>
            </a:r>
            <a:r>
              <a:rPr lang="en-IN" sz="4800" b="1" dirty="0">
                <a:solidFill>
                  <a:srgbClr val="FF0000"/>
                </a:solidFill>
              </a:rPr>
              <a:t>language programming</a:t>
            </a:r>
            <a:endParaRPr lang="en-IN" sz="48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965494" y="532122"/>
            <a:ext cx="580571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4000" b="1" dirty="0">
                <a:solidFill>
                  <a:schemeClr val="tx2"/>
                </a:solidFill>
              </a:rPr>
              <a:t>Unit </a:t>
            </a:r>
            <a:r>
              <a:rPr lang="en-IN" sz="4000" b="1" dirty="0" smtClean="0">
                <a:solidFill>
                  <a:schemeClr val="tx2"/>
                </a:solidFill>
              </a:rPr>
              <a:t>-IV</a:t>
            </a:r>
            <a:endParaRPr lang="en-IN" sz="4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4000" b="1" dirty="0">
                <a:solidFill>
                  <a:schemeClr val="tx2"/>
                </a:solidFill>
              </a:rPr>
              <a:t>              Chapter-5</a:t>
            </a:r>
          </a:p>
        </p:txBody>
      </p:sp>
    </p:spTree>
    <p:extLst>
      <p:ext uri="{BB962C8B-B14F-4D97-AF65-F5344CB8AC3E}">
        <p14:creationId xmlns:p14="http://schemas.microsoft.com/office/powerpoint/2010/main" val="262829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327" y="0"/>
            <a:ext cx="9784080" cy="150876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5.3 Assembly language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6071" y="1302223"/>
            <a:ext cx="10018713" cy="3124201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Now we can start assembly programming using the </a:t>
            </a:r>
            <a:r>
              <a:rPr lang="en-US" sz="2400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Keil</a:t>
            </a:r>
            <a:r>
              <a:rPr lang="en-US" sz="24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Microvision</a:t>
            </a:r>
            <a:r>
              <a:rPr lang="en-US" sz="24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V assembler.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step-by-step method of using this IDE for Assembly Language</a:t>
            </a:r>
            <a:endParaRPr lang="en-IN" sz="240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74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7609" y="356747"/>
            <a:ext cx="9784080" cy="150876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5.3.1 Assembler </a:t>
            </a:r>
            <a:r>
              <a:rPr lang="en-IN" sz="3600" b="1" cap="none" dirty="0">
                <a:solidFill>
                  <a:srgbClr val="FF0000"/>
                </a:solidFill>
              </a:rPr>
              <a:t>Directives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889" y="1629769"/>
            <a:ext cx="10018713" cy="3124201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US" sz="3200" dirty="0"/>
              <a:t>For each assembler, there are 'directives'.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They are specific for an assembler and are non-executable statements, which means that they don't cause any `execution' by the processor.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Directives are related solely to the assembler.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We need a few directives of the </a:t>
            </a:r>
            <a:r>
              <a:rPr lang="en-US" sz="3200" dirty="0" err="1"/>
              <a:t>Keil</a:t>
            </a:r>
            <a:r>
              <a:rPr lang="en-US" sz="3200" dirty="0"/>
              <a:t> Assembler to get started in assembly programming.</a:t>
            </a:r>
            <a:endParaRPr lang="en-IN" sz="3200" dirty="0"/>
          </a:p>
          <a:p>
            <a:pPr>
              <a:buClrTx/>
              <a:buFont typeface="Wingdings" panose="05000000000000000000" pitchFamily="2" charset="2"/>
              <a:buChar char="Ø"/>
            </a:pPr>
            <a:endParaRPr lang="en-IN" sz="240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10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327" y="0"/>
            <a:ext cx="9784080" cy="150876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5.3.1.1 AREA</a:t>
            </a:r>
            <a:r>
              <a:rPr lang="en-IN" sz="3600" b="1" dirty="0">
                <a:solidFill>
                  <a:srgbClr val="FF0000"/>
                </a:solidFill>
              </a:rPr>
              <a:t/>
            </a:r>
            <a:br>
              <a:rPr lang="en-IN" sz="3600" b="1" dirty="0">
                <a:solidFill>
                  <a:srgbClr val="FF0000"/>
                </a:solidFill>
              </a:rPr>
            </a:b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7706" y="1036954"/>
            <a:ext cx="10529619" cy="5609505"/>
          </a:xfrm>
        </p:spPr>
        <p:txBody>
          <a:bodyPr>
            <a:normAutofit/>
          </a:bodyPr>
          <a:lstStyle/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/>
              <a:t>  </a:t>
            </a:r>
            <a:r>
              <a:rPr lang="en-US" sz="3200" dirty="0"/>
              <a:t>The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“AREA” </a:t>
            </a:r>
            <a:r>
              <a:rPr lang="en-US" sz="3200" dirty="0"/>
              <a:t>directive instructs the assembler to assemble a new code or data section".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The above is a statement given in the user manual of </a:t>
            </a:r>
            <a:r>
              <a:rPr lang="en-US" sz="3200" dirty="0" err="1"/>
              <a:t>Keil</a:t>
            </a:r>
            <a:r>
              <a:rPr lang="en-US" sz="3200" dirty="0"/>
              <a:t> </a:t>
            </a:r>
            <a:r>
              <a:rPr lang="en-US" sz="3200" dirty="0" err="1"/>
              <a:t>Microvi­sion</a:t>
            </a:r>
            <a:r>
              <a:rPr lang="en-US" sz="3200" dirty="0"/>
              <a:t>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It implies that the assembler understands two types of information —code and data.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Data is usually stored in R/W memory (RAM) while code is in Read only memory (ROM).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The assembler requires the names of these areas of code or data. </a:t>
            </a:r>
          </a:p>
          <a:p>
            <a:pPr marL="0" indent="0" algn="just">
              <a:buClr>
                <a:schemeClr val="bg1"/>
              </a:buCl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641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906437"/>
            <a:ext cx="10211821" cy="4976838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 </a:t>
            </a:r>
            <a:r>
              <a:rPr lang="en-US" sz="2400" dirty="0"/>
              <a:t>Typical statements that use the AREA directive are</a:t>
            </a:r>
          </a:p>
          <a:p>
            <a:pPr marL="0" indent="0" algn="just">
              <a:buNone/>
            </a:pPr>
            <a:r>
              <a:rPr lang="en-US" b="1" dirty="0"/>
              <a:t>                     AREA LINEAR, CODE, Read only</a:t>
            </a:r>
            <a:endParaRPr lang="en-IN" dirty="0"/>
          </a:p>
          <a:p>
            <a:pPr marL="0" indent="0" algn="just">
              <a:buNone/>
            </a:pPr>
            <a:r>
              <a:rPr lang="en-US" b="1" dirty="0"/>
              <a:t>                     AREA NOTE, DATA, R/W</a:t>
            </a:r>
            <a:endParaRPr lang="en-IN" dirty="0"/>
          </a:p>
          <a:p>
            <a:pPr algn="just"/>
            <a:r>
              <a:rPr lang="en-IN" dirty="0"/>
              <a:t> </a:t>
            </a:r>
            <a:r>
              <a:rPr lang="en-US" dirty="0"/>
              <a:t>It is not mandatory to use the words 'Read Only' and `R/W' because by default, data is in R/W memory and code is in Read Only Memory. </a:t>
            </a:r>
          </a:p>
          <a:p>
            <a:pPr algn="just"/>
            <a:r>
              <a:rPr lang="en-US" dirty="0"/>
              <a:t>Code is always in ROM, though data is also allowed to be stored there. </a:t>
            </a:r>
          </a:p>
          <a:p>
            <a:pPr algn="just"/>
            <a:r>
              <a:rPr lang="en-US" dirty="0"/>
              <a:t>As a matter of fact, the R/W memory is volatile and is used only for intermediate storage of data in the course of instruction execution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26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28" y="497030"/>
            <a:ext cx="10018713" cy="175259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5.3.1.2 ENTRY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08" y="1744662"/>
            <a:ext cx="10018713" cy="3124201"/>
          </a:xfrm>
        </p:spPr>
        <p:txBody>
          <a:bodyPr/>
          <a:lstStyle/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US" sz="3200" dirty="0"/>
              <a:t>The ENTRY directive marks the first instruction to be executed within an application.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Because an application cannot have more than one entry point, the ENTRY directive can appear in only one of the source modules.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0850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51784"/>
            <a:ext cx="10018713" cy="175259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5.3.1.3 END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6663" y="1677035"/>
            <a:ext cx="9784080" cy="4206240"/>
          </a:xfrm>
        </p:spPr>
        <p:txBody>
          <a:bodyPr>
            <a:normAutofit/>
          </a:bodyPr>
          <a:lstStyle/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This directive is the last line in an assembly module and it indicates that the assembler need not read </a:t>
            </a:r>
            <a:r>
              <a:rPr lang="en-US" sz="3200" dirty="0" err="1" smtClean="0"/>
              <a:t>beyondthat</a:t>
            </a:r>
            <a:r>
              <a:rPr lang="en-US" sz="3200" dirty="0" smtClean="0"/>
              <a:t> </a:t>
            </a:r>
            <a:r>
              <a:rPr lang="en-US" sz="3200" dirty="0"/>
              <a:t>line.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66081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38" y="0"/>
            <a:ext cx="10018713" cy="175259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5.3.1.4 DCB, DCW </a:t>
            </a:r>
            <a:r>
              <a:rPr lang="en-US" b="1" cap="none" dirty="0">
                <a:solidFill>
                  <a:srgbClr val="FF0000"/>
                </a:solidFill>
              </a:rPr>
              <a:t>and</a:t>
            </a:r>
            <a:r>
              <a:rPr lang="en-US" b="1" dirty="0">
                <a:solidFill>
                  <a:srgbClr val="FF0000"/>
                </a:solidFill>
              </a:rPr>
              <a:t> DCD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0538" y="2011680"/>
            <a:ext cx="10662196" cy="4206240"/>
          </a:xfrm>
        </p:spPr>
        <p:txBody>
          <a:bodyPr>
            <a:noAutofit/>
          </a:bodyPr>
          <a:lstStyle/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The ARM processor has a word length of 32 bits, but it can handle data of 8 bits (byte) and 16 bits (half word) also.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The </a:t>
            </a:r>
            <a:r>
              <a:rPr lang="en-US" sz="3200" dirty="0" err="1"/>
              <a:t>Keil</a:t>
            </a:r>
            <a:r>
              <a:rPr lang="en-US" sz="3200" dirty="0"/>
              <a:t> assembler, however, uses the notations of byte, word and double word for 8 bits, 16 bits and 32 bits, respectively.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The directives used are DCB for data byte, DCW for data word and DCD for data double word.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The following lines show how these directives are used.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These directives are used by the assembler to store data in ROM.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56645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2919" y="501889"/>
            <a:ext cx="9784080" cy="1508760"/>
          </a:xfrm>
        </p:spPr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2674" y="1500624"/>
            <a:ext cx="10018713" cy="3124201"/>
          </a:xfrm>
        </p:spPr>
        <p:txBody>
          <a:bodyPr/>
          <a:lstStyle/>
          <a:p>
            <a:pPr marL="0" indent="0">
              <a:buNone/>
            </a:pPr>
            <a:r>
              <a:rPr lang="en-IN" sz="3600" dirty="0"/>
              <a:t>B</a:t>
            </a:r>
            <a:r>
              <a:rPr lang="en-US" sz="3600" b="1" dirty="0"/>
              <a:t>AG DCB 0x32, 56, Ox7E</a:t>
            </a:r>
            <a:endParaRPr lang="en-IN" sz="3600" dirty="0"/>
          </a:p>
          <a:p>
            <a:pPr marL="0" indent="0">
              <a:buNone/>
            </a:pPr>
            <a:r>
              <a:rPr lang="en-US" sz="3600" b="1" dirty="0"/>
              <a:t>BAG DCW Ox2234, Ox ED37, Ox9067 </a:t>
            </a:r>
          </a:p>
          <a:p>
            <a:pPr marL="0" indent="0">
              <a:buNone/>
            </a:pPr>
            <a:r>
              <a:rPr lang="en-US" sz="3600" b="1" dirty="0"/>
              <a:t>BOG DCD Ox DE345678, </a:t>
            </a:r>
            <a:r>
              <a:rPr lang="en-US" sz="3600" b="1" baseline="30000" dirty="0"/>
              <a:t>0</a:t>
            </a:r>
            <a:r>
              <a:rPr lang="en-US" sz="3600" b="1" dirty="0"/>
              <a:t>x34009812</a:t>
            </a:r>
            <a:endParaRPr lang="en-IN" sz="3600" dirty="0"/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349827" y="4300121"/>
            <a:ext cx="1025076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540"/>
              </a:spcBef>
              <a:spcAft>
                <a:spcPts val="0"/>
              </a:spcAft>
            </a:pPr>
            <a:r>
              <a:rPr lang="en-US" sz="2000" spc="1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first line says that three bytes are to be stored in contiguous loca­</a:t>
            </a:r>
            <a:r>
              <a:rPr lang="en-US" sz="2000" spc="-1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tions with labels, RAG, RAG+1, and RAG+2. Recollect that each address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always corresponds to one byte of data. The second line indicates that 16 </a:t>
            </a:r>
            <a:r>
              <a:rPr lang="en-US" sz="2000" spc="-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bit data is being stored in locations BAG, BAG+2 and BAG+4. The third </a:t>
            </a:r>
            <a:r>
              <a:rPr lang="en-US" sz="2000" spc="1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line states that 32 bit data is to be stored in addresses with labels BOG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BOG+4.</a:t>
            </a:r>
            <a:endParaRPr lang="en-IN" sz="20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75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5.3.1.5 </a:t>
            </a:r>
            <a:r>
              <a:rPr lang="en-IN" b="1" dirty="0" err="1">
                <a:solidFill>
                  <a:srgbClr val="FF0000"/>
                </a:solidFill>
              </a:rPr>
              <a:t>equ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107441"/>
            <a:ext cx="10018713" cy="3124201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The EQU directive is for equating a label to a constant.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When the label is encountered by the assembler during the process of assembly, it is replaced by its actual value.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Examples of the usage of this directive are</a:t>
            </a:r>
            <a:endParaRPr lang="en-IN" sz="3200" dirty="0"/>
          </a:p>
          <a:p>
            <a:pPr marL="987425" indent="-182563"/>
            <a:r>
              <a:rPr lang="en-US" sz="2400" b="1" dirty="0"/>
              <a:t>RAPID	EQU 65</a:t>
            </a:r>
            <a:endParaRPr lang="en-IN" sz="2400" dirty="0"/>
          </a:p>
          <a:p>
            <a:pPr marL="987425" indent="-182563"/>
            <a:r>
              <a:rPr lang="en-US" sz="2400" b="1" dirty="0"/>
              <a:t>STRT_ADDR EQU Ox84000000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8109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02" y="36590"/>
            <a:ext cx="10439080" cy="993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02" y="1207264"/>
            <a:ext cx="10428612" cy="5098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510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029" y="363778"/>
            <a:ext cx="9348967" cy="758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790857" y="1358330"/>
            <a:ext cx="8756139" cy="4707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94360">
              <a:lnSpc>
                <a:spcPct val="122000"/>
              </a:lnSpc>
              <a:spcBef>
                <a:spcPts val="1080"/>
              </a:spcBef>
              <a:spcAft>
                <a:spcPts val="0"/>
              </a:spcAft>
            </a:pPr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AREA ODD, CODE, READONLY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8000"/>
              </a:lnSpc>
              <a:spcAft>
                <a:spcPts val="0"/>
              </a:spcAft>
            </a:pPr>
            <a:r>
              <a:rPr lang="en-US" sz="2400" b="1" spc="2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ENTRY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4360">
              <a:lnSpc>
                <a:spcPct val="77000"/>
              </a:lnSpc>
              <a:spcBef>
                <a:spcPts val="720"/>
              </a:spcBef>
              <a:spcAft>
                <a:spcPts val="0"/>
              </a:spcAft>
              <a:tabLst>
                <a:tab pos="2135505" algn="r"/>
              </a:tabLst>
            </a:pPr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MOV R1,#1	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;R1=1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4360">
              <a:spcBef>
                <a:spcPts val="720"/>
              </a:spcBef>
              <a:spcAft>
                <a:spcPts val="0"/>
              </a:spcAft>
              <a:tabLst>
                <a:tab pos="3009265" algn="r"/>
              </a:tabLst>
            </a:pPr>
            <a:r>
              <a:rPr lang="en-US" sz="2400" b="1" spc="-3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MOV R2,#9	</a:t>
            </a:r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;R2=9, the counter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4360">
              <a:lnSpc>
                <a:spcPct val="112000"/>
              </a:lnSpc>
              <a:spcAft>
                <a:spcPts val="0"/>
              </a:spcAft>
              <a:tabLst>
                <a:tab pos="2145665" algn="r"/>
              </a:tabLst>
            </a:pPr>
            <a:r>
              <a:rPr lang="en-US" sz="2400" b="1" spc="-3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MOV R3,#1	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;R3=1</a:t>
            </a:r>
          </a:p>
          <a:p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BACKK ADD R3,R3,#2        ;R3 has the odd numbers </a:t>
            </a:r>
          </a:p>
          <a:p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ADD R1,R1,R3       ;R1 contains the final sum</a:t>
            </a:r>
            <a:endParaRPr lang="en-IN" sz="2400" b="1" spc="-4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SUBS R2,R2,#1      ;R2 is the counter for 10 numbers</a:t>
            </a:r>
            <a:endParaRPr lang="en-IN" sz="2400" b="1" spc="-4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BNE BACKK ;repeat the addition until R2=0 </a:t>
            </a:r>
          </a:p>
          <a:p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          B GO</a:t>
            </a:r>
            <a:endParaRPr lang="en-IN" sz="2400" b="1" spc="-4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endParaRPr lang="en-IN" sz="2400" b="1" spc="-4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4360">
              <a:lnSpc>
                <a:spcPct val="112000"/>
              </a:lnSpc>
              <a:spcAft>
                <a:spcPts val="0"/>
              </a:spcAft>
              <a:tabLst>
                <a:tab pos="2145665" algn="r"/>
              </a:tabLst>
            </a:pPr>
            <a:endParaRPr lang="en-IN" sz="2400" b="1" spc="-4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15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5.4 </a:t>
            </a:r>
            <a:r>
              <a:rPr lang="en-IN" b="1" dirty="0" smtClean="0">
                <a:solidFill>
                  <a:srgbClr val="FF0000"/>
                </a:solidFill>
              </a:rPr>
              <a:t>Accessing </a:t>
            </a:r>
            <a:r>
              <a:rPr lang="en-IN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743" y="2011680"/>
            <a:ext cx="9976514" cy="4206240"/>
          </a:xfrm>
        </p:spPr>
        <p:txBody>
          <a:bodyPr/>
          <a:lstStyle/>
          <a:p>
            <a:pPr marL="0" indent="0">
              <a:buClr>
                <a:schemeClr val="bg1"/>
              </a:buClr>
              <a:buNone/>
            </a:pPr>
            <a:r>
              <a:rPr lang="en-US" sz="3200" dirty="0"/>
              <a:t> We already know that ARM is a load-store architecture. </a:t>
            </a:r>
          </a:p>
          <a:p>
            <a:pPr marL="0" indent="0">
              <a:buClr>
                <a:schemeClr val="bg1"/>
              </a:buClr>
              <a:buNone/>
            </a:pPr>
            <a:r>
              <a:rPr lang="en-US" sz="3200" dirty="0"/>
              <a:t> This means that only the load and store instructions access memory directly. </a:t>
            </a:r>
          </a:p>
          <a:p>
            <a:pPr marL="0" indent="0">
              <a:buClr>
                <a:schemeClr val="bg1"/>
              </a:buClr>
              <a:buNone/>
            </a:pPr>
            <a:r>
              <a:rPr lang="en-US" sz="3200" dirty="0"/>
              <a:t> There are load/store instructions with single registers, as well as with multiple registers.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523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355" y="439571"/>
            <a:ext cx="10018713" cy="175259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5.4.1 Single register data transfer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7015" y="1315871"/>
            <a:ext cx="10184525" cy="47300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The word 'load' indicates that data from memory is to be moved to a register. `Store' means that data from a register is saved in memory</a:t>
            </a:r>
          </a:p>
          <a:p>
            <a:pPr algn="just"/>
            <a:r>
              <a:rPr lang="en-US" sz="3200" dirty="0"/>
              <a:t>The format for a load/store instruction is</a:t>
            </a:r>
            <a:endParaRPr lang="en-IN" sz="3200" dirty="0"/>
          </a:p>
          <a:p>
            <a:pPr marL="0" indent="0" algn="just">
              <a:buNone/>
            </a:pPr>
            <a:r>
              <a:rPr lang="en-US" b="1" dirty="0"/>
              <a:t>             LDR/STR {&lt;</a:t>
            </a:r>
            <a:r>
              <a:rPr lang="en-US" b="1" dirty="0" err="1"/>
              <a:t>cond</a:t>
            </a:r>
            <a:r>
              <a:rPr lang="en-US" b="1" dirty="0"/>
              <a:t>&gt;}&lt;Rd&gt;, &lt;addressing mode&gt;</a:t>
            </a:r>
          </a:p>
          <a:p>
            <a:pPr algn="just"/>
            <a:r>
              <a:rPr lang="en-US" sz="3200" dirty="0"/>
              <a:t>The operation of load/ store has a register Rd in which the data is placed. The `addressing mode' implies that an effective address is generated by address calculation.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0945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075" y="529933"/>
            <a:ext cx="10018713" cy="58685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026" y="1479644"/>
            <a:ext cx="10018713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R2, [R7]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copy into R2, the content of memory, as pointed by R7</a:t>
            </a:r>
          </a:p>
          <a:p>
            <a:pPr marL="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 R2, [R7]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store the content of R2, into the address pointed by R7</a:t>
            </a:r>
          </a:p>
        </p:txBody>
      </p:sp>
      <p:sp>
        <p:nvSpPr>
          <p:cNvPr id="4" name="Rectangle 3"/>
          <p:cNvSpPr/>
          <p:nvPr/>
        </p:nvSpPr>
        <p:spPr>
          <a:xfrm>
            <a:off x="776750" y="3995732"/>
            <a:ext cx="10930989" cy="1732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" marR="228600" algn="just">
              <a:lnSpc>
                <a:spcPct val="111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sz="2400" spc="-45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address of the memory location for the load/store operation is placed in a </a:t>
            </a:r>
            <a:r>
              <a:rPr lang="en-US" sz="2400" spc="-15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register, called the base register. The address may be generated and put into </a:t>
            </a:r>
            <a:r>
              <a:rPr lang="en-US" sz="2400" spc="-25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base register in various calculation formats using shifting, adding offsets,</a:t>
            </a:r>
            <a:r>
              <a:rPr lang="en-US" sz="2400" spc="-1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summing the contents of more registers etc.</a:t>
            </a:r>
            <a:endParaRPr lang="en-IN" sz="2400" dirty="0">
              <a:solidFill>
                <a:schemeClr val="accent4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4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8" y="0"/>
            <a:ext cx="11241766" cy="17525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Find the effective address of memory as specified by the following instructions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9086" y="2298510"/>
            <a:ext cx="10018713" cy="3124201"/>
          </a:xfrm>
        </p:spPr>
        <p:txBody>
          <a:bodyPr>
            <a:normAutofit/>
          </a:bodyPr>
          <a:lstStyle/>
          <a:p>
            <a:pPr marL="457200" lvl="0" indent="-457200" fontAlgn="base">
              <a:buSzPct val="129000"/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R4, [R7, ROR #4]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fontAlgn="base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 R7, [R3, R4, LSL #2]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fontAlgn="base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R6, [R2, #4]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fontAlgn="base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 R8, [R1, R2, ASR #6]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fontAlgn="base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R1,[R7,R6]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128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7958" y="1083859"/>
            <a:ext cx="10034400" cy="4279711"/>
          </a:xfrm>
        </p:spPr>
        <p:txBody>
          <a:bodyPr>
            <a:normAutofit/>
          </a:bodyPr>
          <a:lstStyle/>
          <a:p>
            <a:pPr lvl="0"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 address is R7=R7 rotated right 4 times.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 address is R3=R3+R4 rotated left logically 2 times.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 address is R2=R2+4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 address is R1+R2 right shifted (arithmetically) 6 times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 address is R7=R7+R6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581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09" y="153537"/>
            <a:ext cx="10018713" cy="17525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5.4.2 Loading/Storing data of different lengths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089" y="1868604"/>
            <a:ext cx="10926054" cy="3762939"/>
          </a:xfrm>
        </p:spPr>
        <p:txBody>
          <a:bodyPr>
            <a:normAutofit/>
          </a:bodyPr>
          <a:lstStyle/>
          <a:p>
            <a:r>
              <a:rPr lang="en-US" sz="3200" dirty="0"/>
              <a:t>Data to be loaded or stored may be in bytes, half words (16 bits) or words (32 bits).</a:t>
            </a:r>
          </a:p>
          <a:p>
            <a:r>
              <a:rPr lang="en-US" sz="3200" dirty="0"/>
              <a:t> Data may be signed or unsigned, as well. </a:t>
            </a:r>
          </a:p>
          <a:p>
            <a:r>
              <a:rPr lang="en-US" sz="3200" dirty="0"/>
              <a:t>To make this explicit, the load and store instructions may be appended with the characters, B for byte, H for half word and S for signed.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770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326402"/>
              </p:ext>
            </p:extLst>
          </p:nvPr>
        </p:nvGraphicFramePr>
        <p:xfrm>
          <a:off x="3630303" y="1715951"/>
          <a:ext cx="6168790" cy="4091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4395">
                  <a:extLst>
                    <a:ext uri="{9D8B030D-6E8A-4147-A177-3AD203B41FA5}">
                      <a16:colId xmlns:a16="http://schemas.microsoft.com/office/drawing/2014/main" val="1455897944"/>
                    </a:ext>
                  </a:extLst>
                </a:gridCol>
                <a:gridCol w="3084395">
                  <a:extLst>
                    <a:ext uri="{9D8B030D-6E8A-4147-A177-3AD203B41FA5}">
                      <a16:colId xmlns:a16="http://schemas.microsoft.com/office/drawing/2014/main" val="3951252075"/>
                    </a:ext>
                  </a:extLst>
                </a:gridCol>
              </a:tblGrid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466291"/>
                  </a:ext>
                </a:extLst>
              </a:tr>
              <a:tr h="491319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LDR</a:t>
                      </a:r>
                      <a:endParaRPr lang="en-IN" sz="2400" b="1" kern="1200" dirty="0">
                        <a:solidFill>
                          <a:schemeClr val="accent4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Load Word</a:t>
                      </a:r>
                      <a:endParaRPr lang="en-IN" sz="2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5447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spc="-5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LDRH 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Load Half Word</a:t>
                      </a:r>
                      <a:endParaRPr lang="en-IN" sz="2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662566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spc="-95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LDRSH 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Load Signed Half Word</a:t>
                      </a:r>
                      <a:endParaRPr lang="en-IN" sz="2000" kern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161997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spc="-5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LDRB 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Load Byte</a:t>
                      </a:r>
                      <a:endParaRPr lang="en-IN" sz="2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840820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spc="-8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LDRSB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Load Signed Byte</a:t>
                      </a:r>
                      <a:endParaRPr lang="en-IN" sz="2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134480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 Word</a:t>
                      </a:r>
                      <a:endParaRPr lang="en-IN" sz="2000" kern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505580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STRH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 Half Word</a:t>
                      </a:r>
                      <a:endParaRPr lang="en-IN" sz="2000" kern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685490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STRB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 Byte</a:t>
                      </a:r>
                      <a:endParaRPr lang="en-IN" sz="2000" kern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55223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042082" y="841789"/>
            <a:ext cx="46651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spc="-5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Load/Store instructions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4117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05" y="234855"/>
            <a:ext cx="10803224" cy="1752599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 </a:t>
            </a:r>
            <a:r>
              <a:rPr lang="en-US" sz="2900" b="1" dirty="0">
                <a:solidFill>
                  <a:srgbClr val="FF0000"/>
                </a:solidFill>
              </a:rPr>
              <a:t>How is data accessed from memory with the following instructions, given that R7=0x00004400 and that memory contents are as given in Table</a:t>
            </a:r>
            <a:r>
              <a:rPr lang="en-IN" sz="2900" b="1" dirty="0">
                <a:solidFill>
                  <a:srgbClr val="FF0000"/>
                </a:solidFill>
              </a:rPr>
              <a:t/>
            </a:r>
            <a:br>
              <a:rPr lang="en-IN" sz="2900" b="1" dirty="0">
                <a:solidFill>
                  <a:srgbClr val="FF0000"/>
                </a:solidFill>
              </a:rPr>
            </a:br>
            <a:r>
              <a:rPr lang="en-US" sz="2900" b="1" dirty="0">
                <a:solidFill>
                  <a:srgbClr val="FF0000"/>
                </a:solidFill>
              </a:rPr>
              <a:t>(assume the little endian scheme)?</a:t>
            </a:r>
            <a:r>
              <a:rPr lang="en-IN" sz="4400" b="1" dirty="0">
                <a:solidFill>
                  <a:srgbClr val="FF0000"/>
                </a:solidFill>
              </a:rPr>
              <a:t/>
            </a:r>
            <a:br>
              <a:rPr lang="en-IN" sz="4400" b="1" dirty="0">
                <a:solidFill>
                  <a:srgbClr val="FF0000"/>
                </a:solidFill>
              </a:rPr>
            </a:br>
            <a:endParaRPr lang="en-IN" sz="4400" b="1" dirty="0">
              <a:solidFill>
                <a:srgbClr val="FF0000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47754"/>
              </p:ext>
            </p:extLst>
          </p:nvPr>
        </p:nvGraphicFramePr>
        <p:xfrm>
          <a:off x="6573453" y="1987454"/>
          <a:ext cx="3562066" cy="290697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81033">
                  <a:extLst>
                    <a:ext uri="{9D8B030D-6E8A-4147-A177-3AD203B41FA5}">
                      <a16:colId xmlns:a16="http://schemas.microsoft.com/office/drawing/2014/main" val="4044165296"/>
                    </a:ext>
                  </a:extLst>
                </a:gridCol>
                <a:gridCol w="1781033">
                  <a:extLst>
                    <a:ext uri="{9D8B030D-6E8A-4147-A177-3AD203B41FA5}">
                      <a16:colId xmlns:a16="http://schemas.microsoft.com/office/drawing/2014/main" val="4213254545"/>
                    </a:ext>
                  </a:extLst>
                </a:gridCol>
              </a:tblGrid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</a:rPr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47980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0x00004400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78922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0x00004401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42503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0x00004402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3900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0x00004403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737000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761187" y="2084352"/>
            <a:ext cx="459867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+mj-lt"/>
              <a:buAutoNum type="arabicPeriod"/>
              <a:tabLst>
                <a:tab pos="182880" algn="dec"/>
              </a:tabLst>
            </a:pPr>
            <a:r>
              <a:rPr lang="en-US" sz="25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LDR R3, [R7]</a:t>
            </a:r>
            <a:endParaRPr lang="en-IN" sz="2500" u="none" strike="noStrike" spc="-3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spcAft>
                <a:spcPts val="0"/>
              </a:spcAft>
              <a:buClr>
                <a:srgbClr val="000000"/>
              </a:buClr>
              <a:buSzPts val="1350"/>
              <a:buFont typeface="+mj-lt"/>
              <a:buAutoNum type="arabicPeriod"/>
              <a:tabLst>
                <a:tab pos="182880" algn="dec"/>
              </a:tabLst>
            </a:pPr>
            <a:r>
              <a:rPr lang="en-US" sz="25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LDRB R3,[R7]</a:t>
            </a:r>
            <a:endParaRPr lang="en-IN" sz="2500" u="none" strike="noStrike" spc="-3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spcAft>
                <a:spcPts val="0"/>
              </a:spcAft>
              <a:buClr>
                <a:srgbClr val="000000"/>
              </a:buClr>
              <a:buSzPts val="1350"/>
              <a:buFont typeface="+mj-lt"/>
              <a:buAutoNum type="arabicPeriod"/>
              <a:tabLst>
                <a:tab pos="182880" algn="dec"/>
              </a:tabLst>
            </a:pPr>
            <a:r>
              <a:rPr lang="en-US" sz="2500" b="1" spc="-2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LDRH R3, [R7]</a:t>
            </a:r>
            <a:endParaRPr lang="en-IN" sz="2500" u="none" strike="noStrike" spc="-3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spcAft>
                <a:spcPts val="0"/>
              </a:spcAft>
              <a:buClr>
                <a:srgbClr val="000000"/>
              </a:buClr>
              <a:buSzPts val="1350"/>
              <a:buFont typeface="+mj-lt"/>
              <a:buAutoNum type="arabicPeriod"/>
              <a:tabLst>
                <a:tab pos="182880" algn="dec"/>
              </a:tabLst>
            </a:pPr>
            <a:r>
              <a:rPr lang="en-US" sz="25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LDRSH R3, [R7]</a:t>
            </a:r>
            <a:endParaRPr lang="en-IN" sz="2500" u="none" strike="noStrike" spc="-3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57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0220" y="224050"/>
            <a:ext cx="9979810" cy="6340524"/>
          </a:xfrm>
        </p:spPr>
        <p:txBody>
          <a:bodyPr>
            <a:normAutofit fontScale="92500" lnSpcReduction="20000"/>
          </a:bodyPr>
          <a:lstStyle/>
          <a:p>
            <a:pPr marL="0" lvl="0" indent="0" algn="just" fontAlgn="base">
              <a:buNone/>
            </a:pPr>
            <a:r>
              <a:rPr lang="en-US" b="1" dirty="0"/>
              <a:t>LDR R3, </a:t>
            </a:r>
            <a:r>
              <a:rPr lang="en-US" dirty="0"/>
              <a:t>[R7]</a:t>
            </a:r>
            <a:endParaRPr lang="en-IN" dirty="0"/>
          </a:p>
          <a:p>
            <a:pPr marL="0" indent="0" algn="just">
              <a:buNone/>
            </a:pPr>
            <a:r>
              <a:rPr lang="en-US" dirty="0"/>
              <a:t>This instruction pertains to a word (32 bits) of data to be loaded into the destination register. After the execution of the above instruction, R3=0x94F3E689.</a:t>
            </a:r>
            <a:endParaRPr lang="en-IN" dirty="0"/>
          </a:p>
          <a:p>
            <a:pPr marL="0" lvl="0" indent="0" algn="just" fontAlgn="base">
              <a:buNone/>
            </a:pPr>
            <a:r>
              <a:rPr lang="en-US" b="1" dirty="0"/>
              <a:t>LDRB </a:t>
            </a:r>
            <a:r>
              <a:rPr lang="en-US" dirty="0"/>
              <a:t>R3, [R7]</a:t>
            </a:r>
            <a:endParaRPr lang="en-IN" dirty="0"/>
          </a:p>
          <a:p>
            <a:pPr marL="0" indent="0" algn="just">
              <a:buNone/>
            </a:pPr>
            <a:r>
              <a:rPr lang="en-US" dirty="0"/>
              <a:t>After the execution of the above instruction, R3=0x00000089. This is because only a byte of the data will be taken from memory and so the lowest byte of the word (in the lowest address) pointed by R7, is loaded to R3.</a:t>
            </a:r>
            <a:endParaRPr lang="en-IN" dirty="0"/>
          </a:p>
          <a:p>
            <a:pPr marL="0" lvl="0" indent="0" algn="just" fontAlgn="base">
              <a:buNone/>
            </a:pPr>
            <a:r>
              <a:rPr lang="en-US" b="1" dirty="0"/>
              <a:t>LDRH R3, [R7]</a:t>
            </a:r>
            <a:endParaRPr lang="en-IN" dirty="0"/>
          </a:p>
          <a:p>
            <a:pPr marL="0" indent="0" algn="just">
              <a:buNone/>
            </a:pPr>
            <a:r>
              <a:rPr lang="en-US" dirty="0"/>
              <a:t>After the execution of the above instruction, R3=0x0000E689. This is because the half word of the data will be taken from memory and the lower 16 bits of the word pointed by R7, is loaded to R3.</a:t>
            </a:r>
            <a:endParaRPr lang="en-IN" dirty="0"/>
          </a:p>
          <a:p>
            <a:pPr marL="0" lvl="0" indent="0" algn="just" fontAlgn="base">
              <a:buNone/>
            </a:pPr>
            <a:r>
              <a:rPr lang="en-US" b="1" dirty="0"/>
              <a:t>LDRSH R3, [R7]</a:t>
            </a:r>
            <a:endParaRPr lang="en-IN" dirty="0"/>
          </a:p>
          <a:p>
            <a:pPr marL="0" indent="0" algn="just">
              <a:buNone/>
            </a:pPr>
            <a:r>
              <a:rPr lang="en-US" dirty="0"/>
              <a:t>After the execution of the above instruction, R3=OxFFFFE689. The lower half word of the data is OxE689. The instruction LDRSH considers this to be a 'signed </a:t>
            </a:r>
            <a:r>
              <a:rPr lang="en-US" dirty="0" err="1"/>
              <a:t>halfword</a:t>
            </a:r>
            <a:r>
              <a:rPr lang="en-US" dirty="0"/>
              <a:t>' and when loading it to a 32-bit register, the sign bit is extended to the upper 16 bits.</a:t>
            </a:r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5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014" y="494731"/>
            <a:ext cx="10018713" cy="97922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r>
              <a:rPr lang="en-US" sz="2900" b="1" dirty="0">
                <a:solidFill>
                  <a:srgbClr val="FF0000"/>
                </a:solidFill>
              </a:rPr>
              <a:t>The content of registers, R6 and R3, and memory are as given below. R6= 0x40002200, R3=0x3498CE56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57"/>
              </p:ext>
            </p:extLst>
          </p:nvPr>
        </p:nvGraphicFramePr>
        <p:xfrm>
          <a:off x="7629097" y="1705970"/>
          <a:ext cx="3562066" cy="290697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81033">
                  <a:extLst>
                    <a:ext uri="{9D8B030D-6E8A-4147-A177-3AD203B41FA5}">
                      <a16:colId xmlns:a16="http://schemas.microsoft.com/office/drawing/2014/main" val="4044165296"/>
                    </a:ext>
                  </a:extLst>
                </a:gridCol>
                <a:gridCol w="1781033">
                  <a:extLst>
                    <a:ext uri="{9D8B030D-6E8A-4147-A177-3AD203B41FA5}">
                      <a16:colId xmlns:a16="http://schemas.microsoft.com/office/drawing/2014/main" val="4213254545"/>
                    </a:ext>
                  </a:extLst>
                </a:gridCol>
              </a:tblGrid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</a:rPr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47980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78922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42503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3900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737000"/>
                  </a:ext>
                </a:extLst>
              </a:tr>
            </a:tbl>
          </a:graphicData>
        </a:graphic>
      </p:graphicFrame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4392613" y="13469938"/>
            <a:ext cx="102810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134" name="pi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4032250"/>
            <a:ext cx="160224" cy="3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4292600" y="4032250"/>
            <a:ext cx="28484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4292599" y="4489450"/>
            <a:ext cx="45719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1332889" y="2585329"/>
            <a:ext cx="5546882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1163" algn="dec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Show the content of memory after the execution of the following instructions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11163" algn="dec"/>
              </a:tabLst>
            </a:pPr>
            <a:r>
              <a:rPr lang="en-US" altLang="en-US" sz="25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STRB R3, [R6]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11163" algn="dec"/>
              </a:tabLst>
            </a:pPr>
            <a:r>
              <a:rPr lang="en-US" altLang="en-US" sz="25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STRH R3, [R6]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11163" algn="dec"/>
              </a:tabLst>
            </a:pPr>
            <a:r>
              <a:rPr lang="en-US" altLang="en-US" sz="25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 R3, [R6]</a:t>
            </a:r>
          </a:p>
        </p:txBody>
      </p:sp>
    </p:spTree>
    <p:extLst>
      <p:ext uri="{BB962C8B-B14F-4D97-AF65-F5344CB8AC3E}">
        <p14:creationId xmlns:p14="http://schemas.microsoft.com/office/powerpoint/2010/main" val="108181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1683" y="134799"/>
            <a:ext cx="2681290" cy="874486"/>
          </a:xfrm>
        </p:spPr>
        <p:txBody>
          <a:bodyPr/>
          <a:lstStyle/>
          <a:p>
            <a:pPr lvl="0"/>
            <a:r>
              <a:rPr lang="en-US" altLang="en-US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STRB R3, [R6]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58587"/>
              </p:ext>
            </p:extLst>
          </p:nvPr>
        </p:nvGraphicFramePr>
        <p:xfrm>
          <a:off x="1580953" y="675456"/>
          <a:ext cx="3562066" cy="290697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81033">
                  <a:extLst>
                    <a:ext uri="{9D8B030D-6E8A-4147-A177-3AD203B41FA5}">
                      <a16:colId xmlns:a16="http://schemas.microsoft.com/office/drawing/2014/main" val="4044165296"/>
                    </a:ext>
                  </a:extLst>
                </a:gridCol>
                <a:gridCol w="1781033">
                  <a:extLst>
                    <a:ext uri="{9D8B030D-6E8A-4147-A177-3AD203B41FA5}">
                      <a16:colId xmlns:a16="http://schemas.microsoft.com/office/drawing/2014/main" val="4213254545"/>
                    </a:ext>
                  </a:extLst>
                </a:gridCol>
              </a:tblGrid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47980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78922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42503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3900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737000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7790769" y="134799"/>
            <a:ext cx="2681290" cy="874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STRH R3, [R6]</a:t>
            </a:r>
          </a:p>
          <a:p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269486"/>
              </p:ext>
            </p:extLst>
          </p:nvPr>
        </p:nvGraphicFramePr>
        <p:xfrm>
          <a:off x="7350381" y="675455"/>
          <a:ext cx="3562066" cy="290697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81033">
                  <a:extLst>
                    <a:ext uri="{9D8B030D-6E8A-4147-A177-3AD203B41FA5}">
                      <a16:colId xmlns:a16="http://schemas.microsoft.com/office/drawing/2014/main" val="4044165296"/>
                    </a:ext>
                  </a:extLst>
                </a:gridCol>
                <a:gridCol w="1781033">
                  <a:extLst>
                    <a:ext uri="{9D8B030D-6E8A-4147-A177-3AD203B41FA5}">
                      <a16:colId xmlns:a16="http://schemas.microsoft.com/office/drawing/2014/main" val="4213254545"/>
                    </a:ext>
                  </a:extLst>
                </a:gridCol>
              </a:tblGrid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47980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78922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42503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3900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737000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2205068" y="4587546"/>
            <a:ext cx="2681290" cy="874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 R3, [R6]</a:t>
            </a:r>
          </a:p>
          <a:p>
            <a:endParaRPr lang="en-IN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566835"/>
              </p:ext>
            </p:extLst>
          </p:nvPr>
        </p:nvGraphicFramePr>
        <p:xfrm>
          <a:off x="4542973" y="3806424"/>
          <a:ext cx="3562066" cy="290697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81033">
                  <a:extLst>
                    <a:ext uri="{9D8B030D-6E8A-4147-A177-3AD203B41FA5}">
                      <a16:colId xmlns:a16="http://schemas.microsoft.com/office/drawing/2014/main" val="4044165296"/>
                    </a:ext>
                  </a:extLst>
                </a:gridCol>
                <a:gridCol w="1781033">
                  <a:extLst>
                    <a:ext uri="{9D8B030D-6E8A-4147-A177-3AD203B41FA5}">
                      <a16:colId xmlns:a16="http://schemas.microsoft.com/office/drawing/2014/main" val="4213254545"/>
                    </a:ext>
                  </a:extLst>
                </a:gridCol>
              </a:tblGrid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47980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78922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42503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3900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737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95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454" y="0"/>
            <a:ext cx="10018713" cy="175259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5.4.3 Pre Indexing, Post Indexing and Write 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283" y="1326242"/>
            <a:ext cx="10018713" cy="4851401"/>
          </a:xfrm>
        </p:spPr>
        <p:txBody>
          <a:bodyPr/>
          <a:lstStyle/>
          <a:p>
            <a:r>
              <a:rPr lang="en-IN" sz="3200" dirty="0"/>
              <a:t>Consider the Instruction </a:t>
            </a:r>
          </a:p>
          <a:p>
            <a:pPr marL="0" indent="0">
              <a:buNone/>
            </a:pPr>
            <a:r>
              <a:rPr lang="en-IN" sz="3200" dirty="0"/>
              <a:t>        STR R0, [R7,#2] and LDR R0,[R7,ROR #4]</a:t>
            </a:r>
          </a:p>
          <a:p>
            <a:r>
              <a:rPr lang="en-IN" sz="3200" dirty="0"/>
              <a:t>In the first instruction, it calculates the effective address as R7=R7+2. </a:t>
            </a:r>
          </a:p>
          <a:p>
            <a:r>
              <a:rPr lang="en-IN" sz="3200" dirty="0"/>
              <a:t>In the second instruction, it calculates the address as R7=R7 ROR #4. </a:t>
            </a:r>
          </a:p>
        </p:txBody>
      </p:sp>
    </p:spTree>
    <p:extLst>
      <p:ext uri="{BB962C8B-B14F-4D97-AF65-F5344CB8AC3E}">
        <p14:creationId xmlns:p14="http://schemas.microsoft.com/office/powerpoint/2010/main" val="201759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What is the content of R7 after the execution of previous instruction?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1868714"/>
            <a:ext cx="10018713" cy="3124201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3200" dirty="0"/>
              <a:t>The content of R7 remains the same as it was before the instruction execution.</a:t>
            </a:r>
          </a:p>
          <a:p>
            <a:r>
              <a:rPr lang="en-IN" sz="3200" dirty="0"/>
              <a:t>Means the address calculation before, no change in R7</a:t>
            </a:r>
          </a:p>
        </p:txBody>
      </p:sp>
    </p:spTree>
    <p:extLst>
      <p:ext uri="{BB962C8B-B14F-4D97-AF65-F5344CB8AC3E}">
        <p14:creationId xmlns:p14="http://schemas.microsoft.com/office/powerpoint/2010/main" val="152784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6290-EF07-3A3C-6BF4-B9DB792F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2185" y="165297"/>
            <a:ext cx="3319975" cy="1311812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rgbClr val="FF0000"/>
                </a:solidFill>
              </a:rPr>
              <a:t>Write Back(!):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7567" y="1477109"/>
            <a:ext cx="10722204" cy="5032829"/>
          </a:xfrm>
        </p:spPr>
        <p:txBody>
          <a:bodyPr>
            <a:normAutofit/>
          </a:bodyPr>
          <a:lstStyle/>
          <a:p>
            <a:r>
              <a:rPr lang="en-IN" sz="3200" dirty="0"/>
              <a:t>If it necessary to save the effective address into the base registers, </a:t>
            </a:r>
          </a:p>
          <a:p>
            <a:r>
              <a:rPr lang="en-IN" sz="3200" dirty="0"/>
              <a:t>Instruction should have the concept of “ Write Back”.</a:t>
            </a:r>
          </a:p>
          <a:p>
            <a:r>
              <a:rPr lang="en-IN" sz="3200" dirty="0"/>
              <a:t>Means the instruction need to have with the sign “ !”.</a:t>
            </a:r>
          </a:p>
          <a:p>
            <a:r>
              <a:rPr lang="en-IN" sz="3200" dirty="0"/>
              <a:t>Write back instruction is:</a:t>
            </a:r>
          </a:p>
          <a:p>
            <a:pPr marL="0" indent="0">
              <a:buNone/>
            </a:pPr>
            <a:r>
              <a:rPr lang="en-IN" sz="3200" dirty="0"/>
              <a:t>                 STR R0, [R7,#2]!    and    LDR R0,[R7,ROR #4]!</a:t>
            </a:r>
          </a:p>
        </p:txBody>
      </p:sp>
    </p:spTree>
    <p:extLst>
      <p:ext uri="{BB962C8B-B14F-4D97-AF65-F5344CB8AC3E}">
        <p14:creationId xmlns:p14="http://schemas.microsoft.com/office/powerpoint/2010/main" val="425354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4368" y="613230"/>
            <a:ext cx="10018713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829" y="2057399"/>
            <a:ext cx="10806337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dirty="0"/>
              <a:t>What is the content of the base register R6 after the execution of each 0f the following instructions, given that R6=0x44001100 and R2 = 0x02.</a:t>
            </a:r>
          </a:p>
          <a:p>
            <a:pPr marL="1436688" indent="0">
              <a:buAutoNum type="arabicPeriod"/>
            </a:pPr>
            <a:r>
              <a:rPr lang="en-US" sz="3200" dirty="0"/>
              <a:t>  LDR R2,[R6,#0x0056]!</a:t>
            </a:r>
          </a:p>
          <a:p>
            <a:pPr marL="1436688" indent="0">
              <a:buAutoNum type="arabicPeriod"/>
            </a:pPr>
            <a:r>
              <a:rPr lang="en-US" sz="3200" dirty="0"/>
              <a:t>  STR  </a:t>
            </a:r>
            <a:r>
              <a:rPr lang="en-US" sz="3200" dirty="0" smtClean="0"/>
              <a:t>R1,[</a:t>
            </a:r>
            <a:r>
              <a:rPr lang="en-US" sz="3200" dirty="0"/>
              <a:t>R6,R2]!</a:t>
            </a:r>
          </a:p>
          <a:p>
            <a:pPr marL="1436688" indent="0">
              <a:buAutoNum type="arabicPeriod"/>
            </a:pPr>
            <a:r>
              <a:rPr lang="en-US" sz="3200" dirty="0"/>
              <a:t>  LDR  R3,[R6,LSL #4)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9126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345" y="664029"/>
            <a:ext cx="11016342" cy="60778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/>
              <a:t>1 .  LDR R2,[R6,#0x0056]!</a:t>
            </a:r>
            <a:br>
              <a:rPr lang="en-US" sz="3200" dirty="0"/>
            </a:br>
            <a:r>
              <a:rPr lang="en-US" sz="3200" dirty="0"/>
              <a:t>            </a:t>
            </a:r>
            <a:r>
              <a:rPr lang="en-US" sz="3200" dirty="0">
                <a:solidFill>
                  <a:srgbClr val="FF0000"/>
                </a:solidFill>
              </a:rPr>
              <a:t>The effective address is calculated as R6= R6+0x0056 = Ox44001 156, because of write back, this number will be saved in R6 after instruction  execution.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3200" dirty="0"/>
              <a:t>2. </a:t>
            </a:r>
            <a:r>
              <a:rPr lang="en-US" sz="3200" dirty="0"/>
              <a:t>STR </a:t>
            </a:r>
            <a:r>
              <a:rPr lang="en-US" sz="3200" dirty="0" smtClean="0"/>
              <a:t>R1,[</a:t>
            </a:r>
            <a:r>
              <a:rPr lang="en-US" sz="3200" dirty="0"/>
              <a:t>R6,R2]!</a:t>
            </a:r>
            <a:endParaRPr lang="en-IN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	The effective address is calculated as R6=R6+R2 = Ox44001102 because of write back, this number will be saved in R6 after instruction execution.</a:t>
            </a:r>
          </a:p>
          <a:p>
            <a:pPr marL="0" indent="0">
              <a:buNone/>
            </a:pPr>
            <a:endParaRPr lang="en-US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/>
              <a:t>3</a:t>
            </a:r>
            <a:r>
              <a:rPr lang="en-US" sz="3200" dirty="0"/>
              <a:t>. LDR R3,[R6,LSL #4]</a:t>
            </a:r>
            <a:endParaRPr lang="en-IN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	The effective address is calculated as R6=R6, LSL# 4. Because the instruction does not have the write back feature (!), after instruction execution, R6 will retain its previous content of Ox44001100.</a:t>
            </a:r>
            <a:endParaRPr lang="en-IN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13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05230"/>
            <a:ext cx="10018713" cy="92528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5.4.4 Post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364342"/>
            <a:ext cx="10417404" cy="5493658"/>
          </a:xfrm>
        </p:spPr>
        <p:txBody>
          <a:bodyPr>
            <a:normAutofit/>
          </a:bodyPr>
          <a:lstStyle/>
          <a:p>
            <a:r>
              <a:rPr lang="en-US" sz="3200" dirty="0"/>
              <a:t>In this mode, the effective address calculation  is done after the execution of the specific instruction.</a:t>
            </a:r>
          </a:p>
          <a:p>
            <a:r>
              <a:rPr lang="en-US" sz="3200" dirty="0"/>
              <a:t> Thus, write back is inherently implied.</a:t>
            </a:r>
          </a:p>
          <a:p>
            <a:r>
              <a:rPr lang="en-US" sz="3200" dirty="0"/>
              <a:t> Take the case of the instruction LDR R2, [R7], #2</a:t>
            </a:r>
          </a:p>
          <a:p>
            <a:r>
              <a:rPr lang="en-US" sz="3200" dirty="0"/>
              <a:t>Here the data pointed by the content of R7 is first copied to R2.</a:t>
            </a:r>
          </a:p>
          <a:p>
            <a:r>
              <a:rPr lang="en-US" sz="3200" dirty="0"/>
              <a:t> After that, the content of R7 (which is the base register) is changed to R7 +2.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80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9796" y="595085"/>
            <a:ext cx="10018713" cy="8382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5.4.5 Immediate mode of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30" y="1768928"/>
            <a:ext cx="10878908" cy="4573815"/>
          </a:xfrm>
        </p:spPr>
        <p:txBody>
          <a:bodyPr>
            <a:noAutofit/>
          </a:bodyPr>
          <a:lstStyle/>
          <a:p>
            <a:r>
              <a:rPr lang="en-IN" sz="3200" dirty="0"/>
              <a:t>This is the mode when an immediate data is used as an operand.</a:t>
            </a:r>
          </a:p>
          <a:p>
            <a:r>
              <a:rPr lang="en-IN" sz="3200" dirty="0"/>
              <a:t> Consider the instruction</a:t>
            </a:r>
          </a:p>
          <a:p>
            <a:pPr marL="0" indent="0">
              <a:buNone/>
            </a:pPr>
            <a:r>
              <a:rPr lang="en-IN" sz="3200" dirty="0"/>
              <a:t>                   MOV R1, #10       </a:t>
            </a:r>
            <a:r>
              <a:rPr lang="en-IN" sz="2000" dirty="0"/>
              <a:t>; move data 10 to R1</a:t>
            </a:r>
          </a:p>
          <a:p>
            <a:pPr marL="0" indent="0">
              <a:buNone/>
            </a:pPr>
            <a:r>
              <a:rPr lang="en-IN" sz="3200" dirty="0"/>
              <a:t>                    ADD R4, R2, #3  </a:t>
            </a:r>
            <a:r>
              <a:rPr lang="en-IN" sz="2000" dirty="0"/>
              <a:t>; Add 3 to the content of R2, and save the sum in R4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These instructions seems to be ok. But there is an unseen issues involved 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520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597" y="0"/>
            <a:ext cx="10018713" cy="175259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is the biggest constant that can be used in the immediate mode?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596" y="1476828"/>
            <a:ext cx="10018713" cy="4720772"/>
          </a:xfrm>
        </p:spPr>
        <p:txBody>
          <a:bodyPr/>
          <a:lstStyle/>
          <a:p>
            <a:r>
              <a:rPr lang="en-IN" dirty="0"/>
              <a:t>All instructions of ARM are to have same size 32 bits</a:t>
            </a:r>
          </a:p>
          <a:p>
            <a:r>
              <a:rPr lang="en-IN" dirty="0"/>
              <a:t>If an immediate data is to be included, it must fit in the 32-Bit size allocated for a data processing instruction.</a:t>
            </a:r>
          </a:p>
          <a:p>
            <a:r>
              <a:rPr lang="en-IN" dirty="0"/>
              <a:t>Means the larger sizes of constants cannot be used in immediate data.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20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7510" y="308429"/>
            <a:ext cx="10018713" cy="3878943"/>
          </a:xfrm>
        </p:spPr>
        <p:txBody>
          <a:bodyPr/>
          <a:lstStyle/>
          <a:p>
            <a:r>
              <a:rPr lang="en-IN" dirty="0"/>
              <a:t>The figure 5.10 shows the format of  a typical data processing instructions of ARM.</a:t>
            </a:r>
          </a:p>
          <a:p>
            <a:r>
              <a:rPr lang="en-IN" dirty="0"/>
              <a:t>If bit 25 is’0’ ,it is understood that the operand2 is a register.</a:t>
            </a:r>
          </a:p>
          <a:p>
            <a:r>
              <a:rPr lang="en-IN" dirty="0"/>
              <a:t>If bit 25 is’1’,the operand2 is immediate data.</a:t>
            </a:r>
          </a:p>
          <a:p>
            <a:r>
              <a:rPr lang="en-IN" dirty="0"/>
              <a:t>12bit space is allocated for operand2.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124" y="3472544"/>
            <a:ext cx="10765483" cy="142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916" y="5196746"/>
            <a:ext cx="4717142" cy="100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854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2769" y="896257"/>
            <a:ext cx="9831916" cy="2862943"/>
          </a:xfrm>
        </p:spPr>
        <p:txBody>
          <a:bodyPr>
            <a:normAutofit lnSpcReduction="10000"/>
          </a:bodyPr>
          <a:lstStyle/>
          <a:p>
            <a:r>
              <a:rPr lang="en-IN" sz="2600" dirty="0"/>
              <a:t>The 12bit space is arranged as a four  bit rotate value and an eight bit immediate value as shown in figure 5.11.</a:t>
            </a:r>
          </a:p>
          <a:p>
            <a:r>
              <a:rPr lang="en-IN" sz="2600" dirty="0"/>
              <a:t>The rotation bit field is only 4 bits .</a:t>
            </a:r>
          </a:p>
          <a:p>
            <a:r>
              <a:rPr lang="en-IN" sz="2600" dirty="0"/>
              <a:t>Internally this rotation field is multiplied by 2,and thus becomes the case of an 8 bit number multiplied an even number of times to get a new number.</a:t>
            </a:r>
          </a:p>
          <a:p>
            <a:r>
              <a:rPr lang="en-IN" sz="2600" dirty="0"/>
              <a:t>The operation must be done in a 32 bit space.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295" y="3004457"/>
            <a:ext cx="10430863" cy="27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658" y="5867400"/>
            <a:ext cx="2466975" cy="897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941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400" y="2129971"/>
            <a:ext cx="10491471" cy="3080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657" y="725191"/>
            <a:ext cx="9237101" cy="1016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470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138" y="2209800"/>
            <a:ext cx="7824618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540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913" y="577946"/>
            <a:ext cx="8893856" cy="3909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75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362" y="1295400"/>
            <a:ext cx="7842422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362" y="3945099"/>
            <a:ext cx="7227158" cy="133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628" y="188686"/>
            <a:ext cx="2400300" cy="83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255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13338" y="870856"/>
            <a:ext cx="10548033" cy="5834743"/>
          </a:xfrm>
        </p:spPr>
        <p:txBody>
          <a:bodyPr/>
          <a:lstStyle/>
          <a:p>
            <a:r>
              <a:rPr lang="en-IN" dirty="0"/>
              <a:t> When we want larger constant, it is not possible to write it in an instruction like MOV R1, #n, where n is  constant</a:t>
            </a:r>
          </a:p>
          <a:p>
            <a:r>
              <a:rPr lang="en-IN" dirty="0"/>
              <a:t> Need to use the immediate mode in such a way that the constant that we need is obtained by the ARM rotation scheme</a:t>
            </a:r>
          </a:p>
          <a:p>
            <a:r>
              <a:rPr lang="en-IN" dirty="0"/>
              <a:t> Not possible by programmer to find out exact 8-bit number which will produce a bigger size constant</a:t>
            </a:r>
          </a:p>
          <a:p>
            <a:r>
              <a:rPr lang="en-IN" dirty="0"/>
              <a:t> So Assembler will come to an assistant here.</a:t>
            </a:r>
          </a:p>
          <a:p>
            <a:r>
              <a:rPr lang="en-IN" dirty="0"/>
              <a:t> for that, a pseudo instruction is provided</a:t>
            </a:r>
          </a:p>
          <a:p>
            <a:r>
              <a:rPr lang="en-IN" dirty="0"/>
              <a:t> The format is        LDR Rd, =constant    ; where Rd is destination register</a:t>
            </a:r>
          </a:p>
          <a:p>
            <a:pPr marL="0" indent="0">
              <a:buNone/>
            </a:pPr>
            <a:r>
              <a:rPr lang="en-IN" dirty="0"/>
              <a:t>             ex:     LDR R1, =0x44444444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689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1740" y="257627"/>
            <a:ext cx="10504489" cy="6709230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US" dirty="0"/>
              <a:t>But all constants are not obtainable by such a scheme.</a:t>
            </a:r>
          </a:p>
          <a:p>
            <a:r>
              <a:rPr lang="en-US" dirty="0"/>
              <a:t> Consider 0x77777777.</a:t>
            </a:r>
            <a:endParaRPr lang="en-IN" dirty="0"/>
          </a:p>
          <a:p>
            <a:r>
              <a:rPr lang="en-US" dirty="0"/>
              <a:t>This constant cannot be generated in this way. </a:t>
            </a:r>
          </a:p>
          <a:p>
            <a:r>
              <a:rPr lang="en-US" dirty="0"/>
              <a:t>In such a case, the assembler is used to store the required constant in memory and take it from memory using the LDR instruction. </a:t>
            </a:r>
          </a:p>
          <a:p>
            <a:r>
              <a:rPr lang="en-US" dirty="0"/>
              <a:t>The area in memory where such constants are loaded is called a “literal pool”. </a:t>
            </a:r>
          </a:p>
          <a:p>
            <a:r>
              <a:rPr lang="en-US" dirty="0"/>
              <a:t>programmer need only write the pseudo instruction. </a:t>
            </a:r>
          </a:p>
          <a:p>
            <a:r>
              <a:rPr lang="en-US" dirty="0"/>
              <a:t>The assembler </a:t>
            </a:r>
            <a:r>
              <a:rPr lang="en-US" dirty="0" err="1"/>
              <a:t>wil</a:t>
            </a:r>
            <a:r>
              <a:rPr lang="en-US" dirty="0"/>
              <a:t> handle the matter in an efficient manner.</a:t>
            </a:r>
          </a:p>
          <a:p>
            <a:r>
              <a:rPr lang="en-US" dirty="0"/>
              <a:t> The sequence of actions that follow is highlighted below.</a:t>
            </a:r>
          </a:p>
          <a:p>
            <a:r>
              <a:rPr lang="en-US" dirty="0"/>
              <a:t>Take the case of needing a constant 0x77777777.</a:t>
            </a:r>
            <a:endParaRPr lang="en-IN" dirty="0"/>
          </a:p>
          <a:p>
            <a:r>
              <a:rPr lang="en-US" dirty="0"/>
              <a:t>The pseudo instruction we write is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                               LDR R1 </a:t>
            </a:r>
            <a:r>
              <a:rPr lang="en-US" dirty="0"/>
              <a:t>,=0x77777777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68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134" y="2681288"/>
            <a:ext cx="5985217" cy="219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221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0"/>
            <a:ext cx="10377054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b="1" u="sng" dirty="0"/>
              <a:t>Space for literal pool </a:t>
            </a:r>
            <a:r>
              <a:rPr lang="en-US" sz="2400" b="1" u="sng" dirty="0" smtClean="0"/>
              <a:t>is:</a:t>
            </a:r>
            <a:endParaRPr lang="en-US" sz="2400" b="1" u="sng" dirty="0"/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After the END directive, so that it can be stored in ROM in the space after the code.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If the program is large and the pseudo instruction for it is far away from the end of the program, the literal pool may be beyond the range of +/-4KB.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In such cases a directive LTORG(Origin of literal pool) is used.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This directive may be included in the program to specify where we want the literal pool to be.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endParaRPr lang="en-US" sz="24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577" y="3756684"/>
            <a:ext cx="5384488" cy="2890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692571" y="5264727"/>
            <a:ext cx="3846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Placing LTORG in this place gives a warning message ‘Literal pool in executable area’.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30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238" y="230766"/>
            <a:ext cx="4291013" cy="4435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202872" y="4910118"/>
            <a:ext cx="9116292" cy="1055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dirty="0"/>
              <a:t>Literal pool are to be place in location in such a way that the processor does not consider them as instructions.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dirty="0"/>
              <a:t>They are best placed after unconditional branch instructions.</a:t>
            </a:r>
          </a:p>
        </p:txBody>
      </p:sp>
    </p:spTree>
    <p:extLst>
      <p:ext uri="{BB962C8B-B14F-4D97-AF65-F5344CB8AC3E}">
        <p14:creationId xmlns:p14="http://schemas.microsoft.com/office/powerpoint/2010/main" val="105154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9796" y="1014185"/>
            <a:ext cx="10018713" cy="8382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5.4.6 Read Only and Read/Write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9796" y="1433285"/>
            <a:ext cx="10675708" cy="4573815"/>
          </a:xfrm>
        </p:spPr>
        <p:txBody>
          <a:bodyPr>
            <a:noAutofit/>
          </a:bodyPr>
          <a:lstStyle/>
          <a:p>
            <a:r>
              <a:rPr lang="en-IN" dirty="0"/>
              <a:t>We know that ROM is for code and RAM is for temporary storage of data.</a:t>
            </a:r>
          </a:p>
          <a:p>
            <a:r>
              <a:rPr lang="en-IN" dirty="0"/>
              <a:t>It is important to realize that data in RAM is accessed using instructions of the processor</a:t>
            </a:r>
          </a:p>
          <a:p>
            <a:r>
              <a:rPr lang="en-IN" dirty="0"/>
              <a:t> while data is placed in ROM using assembler directives like DCD, DCB etc.</a:t>
            </a:r>
          </a:p>
          <a:p>
            <a:r>
              <a:rPr lang="en-IN" dirty="0"/>
              <a:t> From ROM data can be brought to RAM by </a:t>
            </a:r>
            <a:r>
              <a:rPr lang="en-IN" dirty="0" err="1"/>
              <a:t>fisrt</a:t>
            </a:r>
            <a:r>
              <a:rPr lang="en-IN" dirty="0"/>
              <a:t> loading it to registers using Load (LDR) instructions</a:t>
            </a:r>
          </a:p>
          <a:p>
            <a:r>
              <a:rPr lang="en-IN" dirty="0"/>
              <a:t> Later store them using STR instructions</a:t>
            </a:r>
          </a:p>
        </p:txBody>
      </p:sp>
    </p:spTree>
    <p:extLst>
      <p:ext uri="{BB962C8B-B14F-4D97-AF65-F5344CB8AC3E}">
        <p14:creationId xmlns:p14="http://schemas.microsoft.com/office/powerpoint/2010/main" val="51541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8473" y="0"/>
            <a:ext cx="10903527" cy="697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 smtClean="0"/>
              <a:t>	</a:t>
            </a:r>
            <a:r>
              <a:rPr lang="en-US" sz="4000" b="1" dirty="0">
                <a:ln w="3175" cmpd="sng">
                  <a:noFill/>
                </a:ln>
                <a:solidFill>
                  <a:srgbClr val="FF0000"/>
                </a:solidFill>
                <a:latin typeface="+mj-lt"/>
                <a:ea typeface="+mj-ea"/>
                <a:cs typeface="+mj-cs"/>
              </a:rPr>
              <a:t>Block data transfer using multiple registers:</a:t>
            </a:r>
          </a:p>
          <a:p>
            <a:pPr marL="342900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smtClean="0"/>
              <a:t>This ISA allows multiple registers to be loaded from contiguous memory locations, with the use of just one instructions.</a:t>
            </a:r>
          </a:p>
          <a:p>
            <a:pPr marL="342900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smtClean="0"/>
              <a:t>Similarly ,the content of Multiple registers may be saved into consecutive locations in memory. Such instructions are referred to as multiple load/store instructions.</a:t>
            </a:r>
          </a:p>
          <a:p>
            <a:pPr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 smtClean="0"/>
              <a:t>		LDM {</a:t>
            </a:r>
            <a:r>
              <a:rPr lang="en-US" sz="2400" dirty="0" err="1" smtClean="0"/>
              <a:t>cond</a:t>
            </a:r>
            <a:r>
              <a:rPr lang="en-US" sz="2400" dirty="0" smtClean="0"/>
              <a:t>}address-mode Rn{!},</a:t>
            </a:r>
            <a:r>
              <a:rPr lang="en-US" sz="2400" dirty="0" err="1" smtClean="0"/>
              <a:t>reg</a:t>
            </a:r>
            <a:r>
              <a:rPr lang="en-US" sz="2400" dirty="0" smtClean="0"/>
              <a:t>-list{^}	</a:t>
            </a:r>
          </a:p>
          <a:p>
            <a:pPr marL="2171700" lvl="4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000" dirty="0" smtClean="0"/>
              <a:t>Cond:  is an optional condition</a:t>
            </a:r>
          </a:p>
          <a:p>
            <a:pPr marL="2171700" lvl="4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000" dirty="0" smtClean="0"/>
              <a:t>address-mode: specifies how the memory is sequenced.</a:t>
            </a:r>
          </a:p>
          <a:p>
            <a:pPr marL="2171700" lvl="4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000" dirty="0" smtClean="0"/>
              <a:t>Rn: is the base register for the load operation.</a:t>
            </a:r>
          </a:p>
          <a:p>
            <a:pPr marL="2171700" lvl="4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000" dirty="0" smtClean="0"/>
              <a:t>! : Specifies base register write back </a:t>
            </a:r>
            <a:r>
              <a:rPr lang="en-US" sz="2000" dirty="0" err="1" smtClean="0"/>
              <a:t>i.e</a:t>
            </a:r>
            <a:r>
              <a:rPr lang="en-US" sz="2000" dirty="0" smtClean="0"/>
              <a:t> the address in the base register is updated after the transfer.(if the base register is in the register list then no need to specify write back)</a:t>
            </a:r>
          </a:p>
          <a:p>
            <a:pPr marL="2171700" lvl="4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000" dirty="0" err="1" smtClean="0"/>
              <a:t>Reg</a:t>
            </a:r>
            <a:r>
              <a:rPr lang="en-US" sz="2000" dirty="0" smtClean="0"/>
              <a:t>-list: List of symbolic register names and register ranges enclosed in braces.There must be at least one register in the list.</a:t>
            </a:r>
          </a:p>
          <a:p>
            <a:pPr marL="2171700" lvl="4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000" dirty="0" smtClean="0"/>
              <a:t>^ :This is not to be used in the user/system mode. It is meant for use in the privileged mode</a:t>
            </a:r>
            <a:r>
              <a:rPr lang="en-US" sz="2400" dirty="0"/>
              <a:t>.</a:t>
            </a:r>
            <a:r>
              <a:rPr lang="en-US" sz="2400" dirty="0" smtClean="0"/>
              <a:t>		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6748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8473" y="0"/>
            <a:ext cx="10903527" cy="637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 smtClean="0"/>
              <a:t>	</a:t>
            </a:r>
            <a:r>
              <a:rPr lang="en-US" sz="4000" b="1" dirty="0">
                <a:ln w="3175" cmpd="sng">
                  <a:noFill/>
                </a:ln>
                <a:solidFill>
                  <a:srgbClr val="FF0000"/>
                </a:solidFill>
                <a:latin typeface="+mj-lt"/>
                <a:ea typeface="+mj-ea"/>
                <a:cs typeface="+mj-cs"/>
              </a:rPr>
              <a:t>Addressing modes of the multiple load/store instructions:</a:t>
            </a:r>
          </a:p>
          <a:p>
            <a:pPr marL="34290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smtClean="0"/>
              <a:t>These modes indicates how to change the memory address after each word transfer.</a:t>
            </a:r>
          </a:p>
          <a:p>
            <a:pPr marL="34290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smtClean="0"/>
              <a:t>The addressing modes are:</a:t>
            </a:r>
          </a:p>
          <a:p>
            <a:pPr marL="1714500" lvl="3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err="1" smtClean="0"/>
              <a:t>IA:Increment</a:t>
            </a:r>
            <a:r>
              <a:rPr lang="en-US" sz="2400" dirty="0" smtClean="0"/>
              <a:t> After</a:t>
            </a:r>
          </a:p>
          <a:p>
            <a:pPr marL="1714500" lvl="3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smtClean="0"/>
              <a:t>IB :Increment before</a:t>
            </a:r>
          </a:p>
          <a:p>
            <a:pPr marL="1714500" lvl="3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err="1" smtClean="0"/>
              <a:t>DA:Decrement</a:t>
            </a:r>
            <a:r>
              <a:rPr lang="en-US" sz="2400" dirty="0" smtClean="0"/>
              <a:t> After</a:t>
            </a:r>
          </a:p>
          <a:p>
            <a:pPr marL="1714500" lvl="3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err="1" smtClean="0"/>
              <a:t>DB:Decrement</a:t>
            </a:r>
            <a:r>
              <a:rPr lang="en-US" sz="2400" dirty="0" smtClean="0"/>
              <a:t> Before	</a:t>
            </a:r>
          </a:p>
          <a:p>
            <a:pPr marL="1714500" lvl="3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3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 smtClean="0"/>
              <a:t>Instructions are</a:t>
            </a:r>
          </a:p>
          <a:p>
            <a:pPr lvl="3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 smtClean="0"/>
              <a:t>LDMIA R7! {R0-R5}</a:t>
            </a:r>
          </a:p>
        </p:txBody>
      </p:sp>
    </p:spTree>
    <p:extLst>
      <p:ext uri="{BB962C8B-B14F-4D97-AF65-F5344CB8AC3E}">
        <p14:creationId xmlns:p14="http://schemas.microsoft.com/office/powerpoint/2010/main" val="32291454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36" y="595745"/>
            <a:ext cx="9310255" cy="482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78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819" y="1838221"/>
            <a:ext cx="9853612" cy="357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357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0982" y="443346"/>
            <a:ext cx="1012767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The STM instruction: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Syntax:    STM{</a:t>
            </a:r>
            <a:r>
              <a:rPr lang="en-US" dirty="0" err="1" smtClean="0"/>
              <a:t>cond</a:t>
            </a:r>
            <a:r>
              <a:rPr lang="en-US" dirty="0" smtClean="0"/>
              <a:t>} address-mode Rn!, reg-list{^}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The operation is just the reverse of the LDM instruction.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Here the contents of the registers are stored in memory location indexed by the base register.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2400" b="1" u="sng" dirty="0" smtClean="0"/>
              <a:t>STMDB  </a:t>
            </a:r>
            <a:r>
              <a:rPr lang="en-US" sz="2400" b="1" u="sng" dirty="0"/>
              <a:t>R1!,{R7,R2-R4</a:t>
            </a:r>
            <a:r>
              <a:rPr lang="en-US" sz="2400" b="1" u="sng" dirty="0" smtClean="0"/>
              <a:t>} if R1=</a:t>
            </a:r>
            <a:r>
              <a:rPr lang="en-US" sz="2400" dirty="0"/>
              <a:t>0X44400088</a:t>
            </a:r>
            <a:endParaRPr lang="en-IN" sz="2400" b="1" u="sng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base register is R1,It contains the number 0X44400088.Since the DB suffix is used</a:t>
            </a:r>
            <a:r>
              <a:rPr lang="en-US" dirty="0" smtClean="0"/>
              <a:t>, The </a:t>
            </a:r>
            <a:r>
              <a:rPr lang="en-US" dirty="0"/>
              <a:t>R1 register is decremented by 4 and it contains the number 0X44400084.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data in R7 is saved to this location.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content of R1 is decremented by 4 and the data in R4 is save in this address.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These operation of decrementing the base register is repeated for storing the data in R3 and R2.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At the end of the execution of the instruction, the value in R1 is the final updated </a:t>
            </a:r>
            <a:r>
              <a:rPr lang="en-US" dirty="0" smtClean="0"/>
              <a:t>value because write back is stipulated.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2400" dirty="0"/>
              <a:t>	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1304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109" y="410008"/>
            <a:ext cx="9337963" cy="578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3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07819"/>
            <a:ext cx="9060873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5891" y="5694219"/>
            <a:ext cx="9712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LDMIA  SP!,{R0-R5}  ;Increment after is also for popping from a full descending stack.</a:t>
            </a:r>
          </a:p>
          <a:p>
            <a:r>
              <a:rPr lang="en-US" sz="2000" dirty="0" smtClean="0"/>
              <a:t>Before we use a stack, the stack pointer has to be initialized to the top of the stack to the topmost location in memory that we decide our stack to be.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864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2686" y="203200"/>
            <a:ext cx="966651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What does this program do?	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AREA     FDSTCK,CODE,READONLY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ENTRY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LDR  SP,=0X40000030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MOV R0,#5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MOV R1.#6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MOV R2,#7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STMDB SP!, {R0-R2}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LDMIA  SP!, {R9,R4-R5}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GO 	B 	GO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END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8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029" y="1103086"/>
            <a:ext cx="9666514" cy="523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2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0" y="723900"/>
            <a:ext cx="7358743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6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6119</TotalTime>
  <Words>2609</Words>
  <Application>Microsoft Office PowerPoint</Application>
  <PresentationFormat>Widescreen</PresentationFormat>
  <Paragraphs>305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Calibri</vt:lpstr>
      <vt:lpstr>Calibri Light</vt:lpstr>
      <vt:lpstr>Times New Roman</vt:lpstr>
      <vt:lpstr>Verdana</vt:lpstr>
      <vt:lpstr>Wingdings</vt:lpstr>
      <vt:lpstr>Wingdings 3</vt:lpstr>
      <vt:lpstr>Office Theme</vt:lpstr>
      <vt:lpstr>PowerPoint Presentation</vt:lpstr>
      <vt:lpstr>5.3 Assembly language programming</vt:lpstr>
      <vt:lpstr>5.3.1 Assembler Directives</vt:lpstr>
      <vt:lpstr>5.3.1.1 AREA </vt:lpstr>
      <vt:lpstr>PowerPoint Presentation</vt:lpstr>
      <vt:lpstr>5.3.1.2 ENTRY</vt:lpstr>
      <vt:lpstr>5.3.1.3 END</vt:lpstr>
      <vt:lpstr>5.3.1.4 DCB, DCW and DCD </vt:lpstr>
      <vt:lpstr>Example</vt:lpstr>
      <vt:lpstr>5.3.1.5 equ</vt:lpstr>
      <vt:lpstr>PowerPoint Presentation</vt:lpstr>
      <vt:lpstr>PowerPoint Presentation</vt:lpstr>
      <vt:lpstr>5.4 Accessing memory</vt:lpstr>
      <vt:lpstr>5.4.1 Single register data transfer </vt:lpstr>
      <vt:lpstr>Example</vt:lpstr>
      <vt:lpstr>Find the effective address of memory as specified by the following instructions</vt:lpstr>
      <vt:lpstr>PowerPoint Presentation</vt:lpstr>
      <vt:lpstr>5.4.2 Loading/Storing data of different lengths</vt:lpstr>
      <vt:lpstr>PowerPoint Presentation</vt:lpstr>
      <vt:lpstr> How is data accessed from memory with the following instructions, given that R7=0x00004400 and that memory contents are as given in Table (assume the little endian scheme)? </vt:lpstr>
      <vt:lpstr>PowerPoint Presentation</vt:lpstr>
      <vt:lpstr> The content of registers, R6 and R3, and memory are as given below. R6= 0x40002200, R3=0x3498CE56 </vt:lpstr>
      <vt:lpstr>PowerPoint Presentation</vt:lpstr>
      <vt:lpstr>5.4.3 Pre Indexing, Post Indexing and Write Back</vt:lpstr>
      <vt:lpstr>What is the content of R7 after the execution of previous instruction? </vt:lpstr>
      <vt:lpstr>Write Back(!):</vt:lpstr>
      <vt:lpstr>Examples</vt:lpstr>
      <vt:lpstr>PowerPoint Presentation</vt:lpstr>
      <vt:lpstr>5.4.4 Post Indexing</vt:lpstr>
      <vt:lpstr>5.4.5 Immediate mode of addressing</vt:lpstr>
      <vt:lpstr>What is the biggest constant that can be used in the immediate mode?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5.4.6 Read Only and Read/Write Memory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98</cp:revision>
  <dcterms:created xsi:type="dcterms:W3CDTF">2021-05-10T17:58:42Z</dcterms:created>
  <dcterms:modified xsi:type="dcterms:W3CDTF">2026-05-21T10:14:35Z</dcterms:modified>
</cp:coreProperties>
</file>