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89"/>
  </p:notesMasterIdLst>
  <p:sldIdLst>
    <p:sldId id="256" r:id="rId2"/>
    <p:sldId id="257" r:id="rId3"/>
    <p:sldId id="258" r:id="rId4"/>
    <p:sldId id="259" r:id="rId5"/>
    <p:sldId id="260" r:id="rId6"/>
    <p:sldId id="261" r:id="rId7"/>
    <p:sldId id="262" r:id="rId8"/>
    <p:sldId id="263" r:id="rId9"/>
    <p:sldId id="265" r:id="rId10"/>
    <p:sldId id="264" r:id="rId11"/>
    <p:sldId id="328" r:id="rId12"/>
    <p:sldId id="329" r:id="rId13"/>
    <p:sldId id="266" r:id="rId14"/>
    <p:sldId id="267" r:id="rId15"/>
    <p:sldId id="269" r:id="rId16"/>
    <p:sldId id="268" r:id="rId17"/>
    <p:sldId id="270" r:id="rId18"/>
    <p:sldId id="271" r:id="rId19"/>
    <p:sldId id="272" r:id="rId20"/>
    <p:sldId id="273" r:id="rId21"/>
    <p:sldId id="274" r:id="rId22"/>
    <p:sldId id="275" r:id="rId23"/>
    <p:sldId id="277" r:id="rId24"/>
    <p:sldId id="276" r:id="rId25"/>
    <p:sldId id="278" r:id="rId26"/>
    <p:sldId id="330" r:id="rId27"/>
    <p:sldId id="279" r:id="rId28"/>
    <p:sldId id="280" r:id="rId29"/>
    <p:sldId id="309" r:id="rId30"/>
    <p:sldId id="331" r:id="rId31"/>
    <p:sldId id="281" r:id="rId32"/>
    <p:sldId id="282" r:id="rId33"/>
    <p:sldId id="332" r:id="rId34"/>
    <p:sldId id="283" r:id="rId35"/>
    <p:sldId id="333" r:id="rId36"/>
    <p:sldId id="334" r:id="rId37"/>
    <p:sldId id="335" r:id="rId38"/>
    <p:sldId id="336" r:id="rId39"/>
    <p:sldId id="337" r:id="rId40"/>
    <p:sldId id="284" r:id="rId41"/>
    <p:sldId id="285" r:id="rId42"/>
    <p:sldId id="286" r:id="rId43"/>
    <p:sldId id="338" r:id="rId44"/>
    <p:sldId id="287" r:id="rId45"/>
    <p:sldId id="339" r:id="rId46"/>
    <p:sldId id="340" r:id="rId47"/>
    <p:sldId id="341" r:id="rId48"/>
    <p:sldId id="342" r:id="rId49"/>
    <p:sldId id="288" r:id="rId50"/>
    <p:sldId id="289" r:id="rId51"/>
    <p:sldId id="290" r:id="rId52"/>
    <p:sldId id="291" r:id="rId53"/>
    <p:sldId id="292" r:id="rId54"/>
    <p:sldId id="293" r:id="rId55"/>
    <p:sldId id="294" r:id="rId56"/>
    <p:sldId id="295" r:id="rId57"/>
    <p:sldId id="296" r:id="rId58"/>
    <p:sldId id="310" r:id="rId59"/>
    <p:sldId id="297" r:id="rId60"/>
    <p:sldId id="343" r:id="rId61"/>
    <p:sldId id="298" r:id="rId62"/>
    <p:sldId id="344" r:id="rId63"/>
    <p:sldId id="325" r:id="rId64"/>
    <p:sldId id="301" r:id="rId65"/>
    <p:sldId id="345" r:id="rId66"/>
    <p:sldId id="346" r:id="rId67"/>
    <p:sldId id="302" r:id="rId68"/>
    <p:sldId id="303" r:id="rId69"/>
    <p:sldId id="304" r:id="rId70"/>
    <p:sldId id="305" r:id="rId71"/>
    <p:sldId id="306" r:id="rId72"/>
    <p:sldId id="307" r:id="rId73"/>
    <p:sldId id="308" r:id="rId74"/>
    <p:sldId id="311" r:id="rId75"/>
    <p:sldId id="312" r:id="rId76"/>
    <p:sldId id="313" r:id="rId77"/>
    <p:sldId id="315" r:id="rId78"/>
    <p:sldId id="314" r:id="rId79"/>
    <p:sldId id="316" r:id="rId80"/>
    <p:sldId id="317" r:id="rId81"/>
    <p:sldId id="318" r:id="rId82"/>
    <p:sldId id="319" r:id="rId83"/>
    <p:sldId id="320" r:id="rId84"/>
    <p:sldId id="321" r:id="rId85"/>
    <p:sldId id="322" r:id="rId86"/>
    <p:sldId id="323" r:id="rId87"/>
    <p:sldId id="347"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1E3C5C-D50B-4A41-A733-95D6DD02BA1D}" type="datetimeFigureOut">
              <a:rPr lang="en-US" smtClean="0"/>
              <a:t>5/21/2026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8B09D-C905-4464-815B-7DD698952898}" type="slidenum">
              <a:rPr lang="en-US" smtClean="0"/>
              <a:t>‹#›</a:t>
            </a:fld>
            <a:endParaRPr lang="en-US" dirty="0"/>
          </a:p>
        </p:txBody>
      </p:sp>
    </p:spTree>
    <p:extLst>
      <p:ext uri="{BB962C8B-B14F-4D97-AF65-F5344CB8AC3E}">
        <p14:creationId xmlns:p14="http://schemas.microsoft.com/office/powerpoint/2010/main" val="2372502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E3C266-6487-448A-BECE-9F56A9BB6612}" type="datetime1">
              <a:rPr lang="en-US" smtClean="0"/>
              <a:t>5/21/2026</a:t>
            </a:fld>
            <a:endParaRPr lang="en-US" dirty="0"/>
          </a:p>
        </p:txBody>
      </p:sp>
      <p:sp>
        <p:nvSpPr>
          <p:cNvPr id="5" name="Footer Placeholder 4"/>
          <p:cNvSpPr>
            <a:spLocks noGrp="1"/>
          </p:cNvSpPr>
          <p:nvPr>
            <p:ph type="ftr" sz="quarter" idx="11"/>
          </p:nvPr>
        </p:nvSpPr>
        <p:spPr/>
        <p:txBody>
          <a:bodyPr/>
          <a:lstStyle/>
          <a:p>
            <a:r>
              <a:rPr lang="en-US" dirty="0"/>
              <a:t>Koushik S, Dept. of ISE, MSRIT</a:t>
            </a:r>
          </a:p>
        </p:txBody>
      </p:sp>
      <p:sp>
        <p:nvSpPr>
          <p:cNvPr id="6" name="Slide Number Placeholder 5"/>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3993502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3766C-3E8B-4000-83DA-33681B295903}" type="datetime1">
              <a:rPr lang="en-US" smtClean="0"/>
              <a:t>5/21/2026</a:t>
            </a:fld>
            <a:endParaRPr lang="en-US" dirty="0"/>
          </a:p>
        </p:txBody>
      </p:sp>
      <p:sp>
        <p:nvSpPr>
          <p:cNvPr id="5" name="Footer Placeholder 4"/>
          <p:cNvSpPr>
            <a:spLocks noGrp="1"/>
          </p:cNvSpPr>
          <p:nvPr>
            <p:ph type="ftr" sz="quarter" idx="11"/>
          </p:nvPr>
        </p:nvSpPr>
        <p:spPr/>
        <p:txBody>
          <a:bodyPr/>
          <a:lstStyle/>
          <a:p>
            <a:r>
              <a:rPr lang="en-US" dirty="0"/>
              <a:t>Koushik S, Dept. of ISE, MSRIT</a:t>
            </a:r>
          </a:p>
        </p:txBody>
      </p:sp>
      <p:sp>
        <p:nvSpPr>
          <p:cNvPr id="6" name="Slide Number Placeholder 5"/>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2490164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ED5325-09E5-42AB-9CDB-E2B12F80BD79}" type="datetime1">
              <a:rPr lang="en-US" smtClean="0"/>
              <a:t>5/21/2026</a:t>
            </a:fld>
            <a:endParaRPr lang="en-US" dirty="0"/>
          </a:p>
        </p:txBody>
      </p:sp>
      <p:sp>
        <p:nvSpPr>
          <p:cNvPr id="5" name="Footer Placeholder 4"/>
          <p:cNvSpPr>
            <a:spLocks noGrp="1"/>
          </p:cNvSpPr>
          <p:nvPr>
            <p:ph type="ftr" sz="quarter" idx="11"/>
          </p:nvPr>
        </p:nvSpPr>
        <p:spPr/>
        <p:txBody>
          <a:bodyPr/>
          <a:lstStyle/>
          <a:p>
            <a:r>
              <a:rPr lang="en-US" dirty="0"/>
              <a:t>Koushik S, Dept. of ISE, MSRIT</a:t>
            </a:r>
          </a:p>
        </p:txBody>
      </p:sp>
      <p:sp>
        <p:nvSpPr>
          <p:cNvPr id="6" name="Slide Number Placeholder 5"/>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2138234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5A6BF94-B193-43FC-ABB6-0688CDFEBE33}" type="datetime1">
              <a:rPr lang="en-US" smtClean="0"/>
              <a:t>5/21/2026</a:t>
            </a:fld>
            <a:endParaRPr lang="en-US" dirty="0"/>
          </a:p>
        </p:txBody>
      </p:sp>
      <p:sp>
        <p:nvSpPr>
          <p:cNvPr id="9" name="Footer Placeholder 8"/>
          <p:cNvSpPr>
            <a:spLocks noGrp="1"/>
          </p:cNvSpPr>
          <p:nvPr>
            <p:ph type="ftr" sz="quarter" idx="11"/>
          </p:nvPr>
        </p:nvSpPr>
        <p:spPr/>
        <p:txBody>
          <a:bodyPr/>
          <a:lstStyle/>
          <a:p>
            <a:r>
              <a:rPr lang="en-US" dirty="0"/>
              <a:t>Koushik S, Dept. of ISE, MSRIT</a:t>
            </a:r>
          </a:p>
        </p:txBody>
      </p:sp>
      <p:sp>
        <p:nvSpPr>
          <p:cNvPr id="10" name="Slide Number Placeholder 9"/>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3044661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1DD57B96-8602-4E46-A2C4-9221B78ECDC6}" type="datetime1">
              <a:rPr lang="en-US" smtClean="0"/>
              <a:t>5/21/2026</a:t>
            </a:fld>
            <a:endParaRPr lang="en-US" dirty="0"/>
          </a:p>
        </p:txBody>
      </p:sp>
      <p:sp>
        <p:nvSpPr>
          <p:cNvPr id="11" name="Footer Placeholder 10"/>
          <p:cNvSpPr>
            <a:spLocks noGrp="1"/>
          </p:cNvSpPr>
          <p:nvPr>
            <p:ph type="ftr" sz="quarter" idx="11"/>
          </p:nvPr>
        </p:nvSpPr>
        <p:spPr/>
        <p:txBody>
          <a:bodyPr/>
          <a:lstStyle/>
          <a:p>
            <a:r>
              <a:rPr lang="en-US" dirty="0"/>
              <a:t>Koushik S, Dept. of ISE, MSRIT</a:t>
            </a:r>
          </a:p>
        </p:txBody>
      </p:sp>
      <p:sp>
        <p:nvSpPr>
          <p:cNvPr id="12" name="Slide Number Placeholder 11"/>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412093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9C6570DE-44A2-4591-ABC9-8558DB70508D}" type="datetime1">
              <a:rPr lang="en-US" smtClean="0"/>
              <a:t>5/21/2026</a:t>
            </a:fld>
            <a:endParaRPr lang="en-US" dirty="0"/>
          </a:p>
        </p:txBody>
      </p:sp>
      <p:sp>
        <p:nvSpPr>
          <p:cNvPr id="7" name="Footer Placeholder 6"/>
          <p:cNvSpPr>
            <a:spLocks noGrp="1"/>
          </p:cNvSpPr>
          <p:nvPr>
            <p:ph type="ftr" sz="quarter" idx="11"/>
          </p:nvPr>
        </p:nvSpPr>
        <p:spPr/>
        <p:txBody>
          <a:bodyPr/>
          <a:lstStyle/>
          <a:p>
            <a:r>
              <a:rPr lang="en-US" dirty="0"/>
              <a:t>Koushik S, Dept. of ISE, MSRIT</a:t>
            </a:r>
          </a:p>
        </p:txBody>
      </p:sp>
      <p:sp>
        <p:nvSpPr>
          <p:cNvPr id="8" name="Slide Number Placeholder 7"/>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1147702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311429A-4863-4728-93B2-C7BFBB9515C3}" type="datetime1">
              <a:rPr lang="en-US" smtClean="0"/>
              <a:t>5/21/2026</a:t>
            </a:fld>
            <a:endParaRPr lang="en-US" dirty="0"/>
          </a:p>
        </p:txBody>
      </p:sp>
      <p:sp>
        <p:nvSpPr>
          <p:cNvPr id="6" name="Footer Placeholder 5"/>
          <p:cNvSpPr>
            <a:spLocks noGrp="1"/>
          </p:cNvSpPr>
          <p:nvPr>
            <p:ph type="ftr" sz="quarter" idx="11"/>
          </p:nvPr>
        </p:nvSpPr>
        <p:spPr/>
        <p:txBody>
          <a:bodyPr/>
          <a:lstStyle/>
          <a:p>
            <a:r>
              <a:rPr lang="en-US" dirty="0"/>
              <a:t>Koushik S, Dept. of ISE, MSRIT</a:t>
            </a:r>
          </a:p>
        </p:txBody>
      </p:sp>
      <p:sp>
        <p:nvSpPr>
          <p:cNvPr id="7" name="Slide Number Placeholder 6"/>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269428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DAB08E1-40C8-4B27-ABDE-3E6645FF135F}" type="datetime1">
              <a:rPr lang="en-US" smtClean="0"/>
              <a:t>5/21/2026</a:t>
            </a:fld>
            <a:endParaRPr lang="en-US" dirty="0"/>
          </a:p>
        </p:txBody>
      </p:sp>
      <p:sp>
        <p:nvSpPr>
          <p:cNvPr id="9" name="Footer Placeholder 8"/>
          <p:cNvSpPr>
            <a:spLocks noGrp="1"/>
          </p:cNvSpPr>
          <p:nvPr>
            <p:ph type="ftr" sz="quarter" idx="11"/>
          </p:nvPr>
        </p:nvSpPr>
        <p:spPr/>
        <p:txBody>
          <a:bodyPr/>
          <a:lstStyle/>
          <a:p>
            <a:r>
              <a:rPr lang="en-US" dirty="0"/>
              <a:t>Koushik S, Dept. of ISE, MSRIT</a:t>
            </a:r>
          </a:p>
        </p:txBody>
      </p:sp>
      <p:sp>
        <p:nvSpPr>
          <p:cNvPr id="10" name="Slide Number Placeholder 9"/>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1364070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DAFFF3A-05B2-49F2-BBE2-826A8EDC2351}" type="datetime1">
              <a:rPr lang="en-US" smtClean="0"/>
              <a:t>5/21/2026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r>
              <a:rPr lang="en-US" dirty="0"/>
              <a:t>Koushik S, Dept. of ISE, MSRIT</a:t>
            </a:r>
          </a:p>
        </p:txBody>
      </p:sp>
      <p:sp>
        <p:nvSpPr>
          <p:cNvPr id="10" name="Slide Number Placeholder 9"/>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174570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702C55-A57A-41CC-A86A-A82B567A4203}" type="datetime1">
              <a:rPr lang="en-US" smtClean="0"/>
              <a:t>5/21/2026</a:t>
            </a:fld>
            <a:endParaRPr lang="en-US" dirty="0"/>
          </a:p>
        </p:txBody>
      </p:sp>
      <p:sp>
        <p:nvSpPr>
          <p:cNvPr id="8" name="Footer Placeholder 7"/>
          <p:cNvSpPr>
            <a:spLocks noGrp="1"/>
          </p:cNvSpPr>
          <p:nvPr>
            <p:ph type="ftr" sz="quarter" idx="11"/>
          </p:nvPr>
        </p:nvSpPr>
        <p:spPr/>
        <p:txBody>
          <a:bodyPr/>
          <a:lstStyle/>
          <a:p>
            <a:r>
              <a:rPr lang="en-US" dirty="0"/>
              <a:t>Koushik S, Dept. of ISE, MSRIT</a:t>
            </a:r>
          </a:p>
        </p:txBody>
      </p:sp>
      <p:sp>
        <p:nvSpPr>
          <p:cNvPr id="9" name="Slide Number Placeholder 8"/>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2194887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980223-6521-4A4F-99B6-B49FB09F5D53}" type="datetime1">
              <a:rPr lang="en-US" smtClean="0"/>
              <a:t>5/21/2026</a:t>
            </a:fld>
            <a:endParaRPr lang="en-US" dirty="0"/>
          </a:p>
        </p:txBody>
      </p:sp>
      <p:sp>
        <p:nvSpPr>
          <p:cNvPr id="8" name="Footer Placeholder 7"/>
          <p:cNvSpPr>
            <a:spLocks noGrp="1"/>
          </p:cNvSpPr>
          <p:nvPr>
            <p:ph type="ftr" sz="quarter" idx="11"/>
          </p:nvPr>
        </p:nvSpPr>
        <p:spPr/>
        <p:txBody>
          <a:bodyPr/>
          <a:lstStyle/>
          <a:p>
            <a:r>
              <a:rPr lang="en-US" dirty="0"/>
              <a:t>Koushik S, Dept. of ISE, MSRIT</a:t>
            </a:r>
          </a:p>
        </p:txBody>
      </p:sp>
      <p:sp>
        <p:nvSpPr>
          <p:cNvPr id="9" name="Slide Number Placeholder 8"/>
          <p:cNvSpPr>
            <a:spLocks noGrp="1"/>
          </p:cNvSpPr>
          <p:nvPr>
            <p:ph type="sldNum" sz="quarter" idx="12"/>
          </p:nvPr>
        </p:nvSpPr>
        <p:spPr/>
        <p:txBody>
          <a:bodyPr/>
          <a:lstStyle/>
          <a:p>
            <a:fld id="{2EA600BA-DB00-455B-8978-6C66618801A7}" type="slidenum">
              <a:rPr lang="en-US" smtClean="0"/>
              <a:t>‹#›</a:t>
            </a:fld>
            <a:endParaRPr lang="en-US" dirty="0"/>
          </a:p>
        </p:txBody>
      </p:sp>
    </p:spTree>
    <p:extLst>
      <p:ext uri="{BB962C8B-B14F-4D97-AF65-F5344CB8AC3E}">
        <p14:creationId xmlns:p14="http://schemas.microsoft.com/office/powerpoint/2010/main" val="2556369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9A1F885A-2CA8-43E8-ABD8-6490A5EF74CB}" type="datetime1">
              <a:rPr lang="en-US" smtClean="0"/>
              <a:t>5/21/2026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r>
              <a:rPr lang="en-US" dirty="0"/>
              <a:t>Koushik S, Dept. of ISE, MSRIT</a:t>
            </a:r>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2EA600BA-DB00-455B-8978-6C66618801A7}" type="slidenum">
              <a:rPr lang="en-US" smtClean="0"/>
              <a:t>‹#›</a:t>
            </a:fld>
            <a:endParaRPr lang="en-US" dirty="0"/>
          </a:p>
        </p:txBody>
      </p:sp>
    </p:spTree>
    <p:extLst>
      <p:ext uri="{BB962C8B-B14F-4D97-AF65-F5344CB8AC3E}">
        <p14:creationId xmlns:p14="http://schemas.microsoft.com/office/powerpoint/2010/main" val="1235096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E7BF-4D82-488C-88AF-E646661A61F3}"/>
              </a:ext>
            </a:extLst>
          </p:cNvPr>
          <p:cNvSpPr>
            <a:spLocks noGrp="1"/>
          </p:cNvSpPr>
          <p:nvPr>
            <p:ph type="ctrTitle"/>
          </p:nvPr>
        </p:nvSpPr>
        <p:spPr/>
        <p:txBody>
          <a:bodyPr>
            <a:normAutofit/>
          </a:bodyPr>
          <a:lstStyle/>
          <a:p>
            <a:r>
              <a:rPr lang="en-US" dirty="0"/>
              <a:t>Programming of ARM7 Peripherals using C</a:t>
            </a:r>
          </a:p>
        </p:txBody>
      </p:sp>
      <p:sp>
        <p:nvSpPr>
          <p:cNvPr id="5" name="Slide Number Placeholder 4">
            <a:extLst>
              <a:ext uri="{FF2B5EF4-FFF2-40B4-BE49-F238E27FC236}">
                <a16:creationId xmlns:a16="http://schemas.microsoft.com/office/drawing/2014/main" id="{89410073-75FC-4CCB-8C2B-2A16745DD598}"/>
              </a:ext>
            </a:extLst>
          </p:cNvPr>
          <p:cNvSpPr>
            <a:spLocks noGrp="1"/>
          </p:cNvSpPr>
          <p:nvPr>
            <p:ph type="sldNum" sz="quarter" idx="12"/>
          </p:nvPr>
        </p:nvSpPr>
        <p:spPr/>
        <p:txBody>
          <a:bodyPr/>
          <a:lstStyle/>
          <a:p>
            <a:fld id="{2EA600BA-DB00-455B-8978-6C66618801A7}" type="slidenum">
              <a:rPr lang="en-US" smtClean="0"/>
              <a:t>1</a:t>
            </a:fld>
            <a:endParaRPr lang="en-US" dirty="0"/>
          </a:p>
        </p:txBody>
      </p:sp>
      <p:sp>
        <p:nvSpPr>
          <p:cNvPr id="6" name="Subtitle 5"/>
          <p:cNvSpPr>
            <a:spLocks noGrp="1"/>
          </p:cNvSpPr>
          <p:nvPr>
            <p:ph type="subTitle" idx="1"/>
          </p:nvPr>
        </p:nvSpPr>
        <p:spPr/>
        <p:txBody>
          <a:bodyPr/>
          <a:lstStyle/>
          <a:p>
            <a:endParaRPr lang="en-IN"/>
          </a:p>
        </p:txBody>
      </p:sp>
    </p:spTree>
    <p:extLst>
      <p:ext uri="{BB962C8B-B14F-4D97-AF65-F5344CB8AC3E}">
        <p14:creationId xmlns:p14="http://schemas.microsoft.com/office/powerpoint/2010/main" val="998736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9EFF-9E8D-410A-B2C4-24831CF1D04C}"/>
              </a:ext>
            </a:extLst>
          </p:cNvPr>
          <p:cNvSpPr>
            <a:spLocks noGrp="1"/>
          </p:cNvSpPr>
          <p:nvPr>
            <p:ph type="title"/>
          </p:nvPr>
        </p:nvSpPr>
        <p:spPr/>
        <p:txBody>
          <a:bodyPr/>
          <a:lstStyle/>
          <a:p>
            <a:r>
              <a:rPr lang="en-US" dirty="0" smtClean="0"/>
              <a:t>6.1 ARM7 </a:t>
            </a:r>
            <a:r>
              <a:rPr lang="en-US" dirty="0"/>
              <a:t>SoC</a:t>
            </a:r>
          </a:p>
        </p:txBody>
      </p:sp>
      <p:sp>
        <p:nvSpPr>
          <p:cNvPr id="3" name="Content Placeholder 2">
            <a:extLst>
              <a:ext uri="{FF2B5EF4-FFF2-40B4-BE49-F238E27FC236}">
                <a16:creationId xmlns:a16="http://schemas.microsoft.com/office/drawing/2014/main" id="{2EEE5694-F469-418A-A61B-6565B43BC753}"/>
              </a:ext>
            </a:extLst>
          </p:cNvPr>
          <p:cNvSpPr>
            <a:spLocks noGrp="1"/>
          </p:cNvSpPr>
          <p:nvPr>
            <p:ph idx="1"/>
          </p:nvPr>
        </p:nvSpPr>
        <p:spPr/>
        <p:txBody>
          <a:bodyPr/>
          <a:lstStyle/>
          <a:p>
            <a:r>
              <a:rPr lang="en-US" dirty="0"/>
              <a:t>ARM ICs are available, manufactured by companies such as NXP, ST Microelectronics, Atmel </a:t>
            </a:r>
            <a:r>
              <a:rPr lang="en-US" dirty="0" err="1"/>
              <a:t>etc</a:t>
            </a:r>
            <a:endParaRPr lang="en-US" dirty="0"/>
          </a:p>
          <a:p>
            <a:r>
              <a:rPr lang="en-US" dirty="0"/>
              <a:t>Currently all have switched to the latest Cortex Series</a:t>
            </a:r>
          </a:p>
          <a:p>
            <a:r>
              <a:rPr lang="en-US" dirty="0"/>
              <a:t>ARM7 is still widely used processor</a:t>
            </a:r>
          </a:p>
          <a:p>
            <a:r>
              <a:rPr lang="en-US" dirty="0"/>
              <a:t>We choose SoC of NXP which is popular in the industry</a:t>
            </a:r>
          </a:p>
          <a:p>
            <a:r>
              <a:rPr lang="en-US" dirty="0"/>
              <a:t>NXP ARM7 portfolio includes the LPC2100, LPC2200, LPC2300, LPC2400</a:t>
            </a:r>
          </a:p>
          <a:p>
            <a:r>
              <a:rPr lang="en-US" dirty="0"/>
              <a:t>We will choose LPC214x series which have made their </a:t>
            </a:r>
            <a:r>
              <a:rPr lang="en-US" dirty="0" smtClean="0"/>
              <a:t>venture in </a:t>
            </a:r>
            <a:r>
              <a:rPr lang="en-US" dirty="0"/>
              <a:t>many important applications</a:t>
            </a:r>
          </a:p>
          <a:p>
            <a:r>
              <a:rPr lang="en-US" dirty="0"/>
              <a:t>This series consists of LPC2141, LPC2142, LPC2146, LPC2144 and LPC2148</a:t>
            </a:r>
          </a:p>
          <a:p>
            <a:r>
              <a:rPr lang="en-US" dirty="0"/>
              <a:t>The Keil IDE has ‘simulation’ capabilities and we can simulate the working of few peripherals available.</a:t>
            </a:r>
          </a:p>
          <a:p>
            <a:endParaRPr lang="en-US" dirty="0"/>
          </a:p>
        </p:txBody>
      </p:sp>
      <p:sp>
        <p:nvSpPr>
          <p:cNvPr id="5" name="Slide Number Placeholder 4">
            <a:extLst>
              <a:ext uri="{FF2B5EF4-FFF2-40B4-BE49-F238E27FC236}">
                <a16:creationId xmlns:a16="http://schemas.microsoft.com/office/drawing/2014/main" id="{5E524F4C-FDB3-48D5-BC07-2A6757C6731F}"/>
              </a:ext>
            </a:extLst>
          </p:cNvPr>
          <p:cNvSpPr>
            <a:spLocks noGrp="1"/>
          </p:cNvSpPr>
          <p:nvPr>
            <p:ph type="sldNum" sz="quarter" idx="12"/>
          </p:nvPr>
        </p:nvSpPr>
        <p:spPr/>
        <p:txBody>
          <a:bodyPr/>
          <a:lstStyle/>
          <a:p>
            <a:fld id="{2EA600BA-DB00-455B-8978-6C66618801A7}" type="slidenum">
              <a:rPr lang="en-US" smtClean="0"/>
              <a:t>2</a:t>
            </a:fld>
            <a:endParaRPr lang="en-US"/>
          </a:p>
        </p:txBody>
      </p:sp>
    </p:spTree>
    <p:extLst>
      <p:ext uri="{BB962C8B-B14F-4D97-AF65-F5344CB8AC3E}">
        <p14:creationId xmlns:p14="http://schemas.microsoft.com/office/powerpoint/2010/main" val="10107511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AD584-DFA2-4B35-A69A-5A2AD9F7E84F}"/>
              </a:ext>
            </a:extLst>
          </p:cNvPr>
          <p:cNvSpPr>
            <a:spLocks noGrp="1"/>
          </p:cNvSpPr>
          <p:nvPr>
            <p:ph type="title"/>
          </p:nvPr>
        </p:nvSpPr>
        <p:spPr/>
        <p:txBody>
          <a:bodyPr/>
          <a:lstStyle/>
          <a:p>
            <a:r>
              <a:rPr lang="en-US" dirty="0"/>
              <a:t>Features of LPC 214x series</a:t>
            </a:r>
          </a:p>
        </p:txBody>
      </p:sp>
      <p:sp>
        <p:nvSpPr>
          <p:cNvPr id="3" name="Content Placeholder 2">
            <a:extLst>
              <a:ext uri="{FF2B5EF4-FFF2-40B4-BE49-F238E27FC236}">
                <a16:creationId xmlns:a16="http://schemas.microsoft.com/office/drawing/2014/main" id="{13B7FE9D-0563-42F6-B3A5-B234DFD57827}"/>
              </a:ext>
            </a:extLst>
          </p:cNvPr>
          <p:cNvSpPr>
            <a:spLocks noGrp="1"/>
          </p:cNvSpPr>
          <p:nvPr>
            <p:ph idx="1"/>
          </p:nvPr>
        </p:nvSpPr>
        <p:spPr/>
        <p:txBody>
          <a:bodyPr>
            <a:normAutofit fontScale="92500" lnSpcReduction="10000"/>
          </a:bodyPr>
          <a:lstStyle/>
          <a:p>
            <a:r>
              <a:rPr lang="en-US" dirty="0"/>
              <a:t>16-bit/32-bit ARM7TDMI-S microcontroller in a tiny LQFP64 package</a:t>
            </a:r>
          </a:p>
          <a:p>
            <a:r>
              <a:rPr lang="en-US" dirty="0"/>
              <a:t>8 kB to 40 kB of on-chip static RAM and 32kB-512 kB of on-chip flash memory</a:t>
            </a:r>
          </a:p>
          <a:p>
            <a:r>
              <a:rPr lang="en-US" dirty="0"/>
              <a:t>128-bit wide interface/accelerator enables high-speed 60 MHz operation</a:t>
            </a:r>
          </a:p>
          <a:p>
            <a:r>
              <a:rPr lang="en-US" dirty="0"/>
              <a:t>In-system programming/Application Programming via on-chip boot loader software. Single flash sector or full chip erase in </a:t>
            </a:r>
            <a:r>
              <a:rPr lang="en-US" dirty="0" err="1"/>
              <a:t>ms.</a:t>
            </a:r>
            <a:r>
              <a:rPr lang="en-US" dirty="0"/>
              <a:t> The LPC2146/2148 provide 8kb of on chip RAM accessible to USB  by DMA.</a:t>
            </a:r>
          </a:p>
          <a:p>
            <a:r>
              <a:rPr lang="en-US" dirty="0"/>
              <a:t>Embedded ICE RT and Embedded Trace interfaces offer real-time debugging with the on-chip Real Monitor software and high-speed tracing of instructions execution.</a:t>
            </a:r>
          </a:p>
          <a:p>
            <a:r>
              <a:rPr lang="en-US" dirty="0"/>
              <a:t>USB 2.0 Full-speed compliant device controller with 2kB of endpoint RAM</a:t>
            </a:r>
          </a:p>
          <a:p>
            <a:r>
              <a:rPr lang="en-US" dirty="0"/>
              <a:t>One or two 10-bit ADCs provide a total of 6/14 analog inputs with conversion times as slow 2.44micro seconds per channel.</a:t>
            </a:r>
          </a:p>
        </p:txBody>
      </p:sp>
      <p:sp>
        <p:nvSpPr>
          <p:cNvPr id="5" name="Slide Number Placeholder 4">
            <a:extLst>
              <a:ext uri="{FF2B5EF4-FFF2-40B4-BE49-F238E27FC236}">
                <a16:creationId xmlns:a16="http://schemas.microsoft.com/office/drawing/2014/main" id="{E1F6EA4D-6EEC-4898-A605-E40E4CF4A357}"/>
              </a:ext>
            </a:extLst>
          </p:cNvPr>
          <p:cNvSpPr>
            <a:spLocks noGrp="1"/>
          </p:cNvSpPr>
          <p:nvPr>
            <p:ph type="sldNum" sz="quarter" idx="12"/>
          </p:nvPr>
        </p:nvSpPr>
        <p:spPr/>
        <p:txBody>
          <a:bodyPr/>
          <a:lstStyle/>
          <a:p>
            <a:fld id="{2EA600BA-DB00-455B-8978-6C66618801A7}" type="slidenum">
              <a:rPr lang="en-US" smtClean="0"/>
              <a:t>3</a:t>
            </a:fld>
            <a:endParaRPr lang="en-US"/>
          </a:p>
        </p:txBody>
      </p:sp>
    </p:spTree>
    <p:extLst>
      <p:ext uri="{BB962C8B-B14F-4D97-AF65-F5344CB8AC3E}">
        <p14:creationId xmlns:p14="http://schemas.microsoft.com/office/powerpoint/2010/main" val="18474647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AD584-DFA2-4B35-A69A-5A2AD9F7E84F}"/>
              </a:ext>
            </a:extLst>
          </p:cNvPr>
          <p:cNvSpPr>
            <a:spLocks noGrp="1"/>
          </p:cNvSpPr>
          <p:nvPr>
            <p:ph type="title"/>
          </p:nvPr>
        </p:nvSpPr>
        <p:spPr/>
        <p:txBody>
          <a:bodyPr/>
          <a:lstStyle/>
          <a:p>
            <a:r>
              <a:rPr lang="en-US" dirty="0"/>
              <a:t>Features of LPC 214x series </a:t>
            </a:r>
            <a:r>
              <a:rPr lang="en-US" dirty="0" err="1"/>
              <a:t>contd</a:t>
            </a:r>
            <a:r>
              <a:rPr lang="en-US" dirty="0"/>
              <a:t>…</a:t>
            </a:r>
          </a:p>
        </p:txBody>
      </p:sp>
      <p:sp>
        <p:nvSpPr>
          <p:cNvPr id="3" name="Content Placeholder 2">
            <a:extLst>
              <a:ext uri="{FF2B5EF4-FFF2-40B4-BE49-F238E27FC236}">
                <a16:creationId xmlns:a16="http://schemas.microsoft.com/office/drawing/2014/main" id="{13B7FE9D-0563-42F6-B3A5-B234DFD57827}"/>
              </a:ext>
            </a:extLst>
          </p:cNvPr>
          <p:cNvSpPr>
            <a:spLocks noGrp="1"/>
          </p:cNvSpPr>
          <p:nvPr>
            <p:ph idx="1"/>
          </p:nvPr>
        </p:nvSpPr>
        <p:spPr/>
        <p:txBody>
          <a:bodyPr>
            <a:normAutofit/>
          </a:bodyPr>
          <a:lstStyle/>
          <a:p>
            <a:r>
              <a:rPr lang="en-US" dirty="0"/>
              <a:t>Single 10-bit DAC providers provides variable analog output.</a:t>
            </a:r>
          </a:p>
          <a:p>
            <a:r>
              <a:rPr lang="en-US" dirty="0"/>
              <a:t>Two 32-bit timers/external event counters, PWM unit and watchdog.</a:t>
            </a:r>
          </a:p>
          <a:p>
            <a:r>
              <a:rPr lang="en-US" dirty="0"/>
              <a:t>Low power Real-Time Clock (RTC) with independent power and 32 kHz clock input.</a:t>
            </a:r>
          </a:p>
          <a:p>
            <a:r>
              <a:rPr lang="en-US" dirty="0"/>
              <a:t>Multiple serial interfaces including two UARTs, two Fast 12C bus, SPI and SSP with buffering and variable data length capabilities</a:t>
            </a:r>
          </a:p>
          <a:p>
            <a:r>
              <a:rPr lang="en-US" dirty="0"/>
              <a:t>Vectored Interrupt Controller (VIC) with configurable priorities and vector addresses.</a:t>
            </a:r>
          </a:p>
          <a:p>
            <a:r>
              <a:rPr lang="en-US" dirty="0"/>
              <a:t>Up to 45 of 5 V tolerant fast general purpose I/O pins in a tiny LQFP64 package</a:t>
            </a:r>
          </a:p>
          <a:p>
            <a:r>
              <a:rPr lang="en-US" dirty="0"/>
              <a:t>Up to 21 external interrupt pins available</a:t>
            </a:r>
          </a:p>
        </p:txBody>
      </p:sp>
      <p:sp>
        <p:nvSpPr>
          <p:cNvPr id="5" name="Slide Number Placeholder 4">
            <a:extLst>
              <a:ext uri="{FF2B5EF4-FFF2-40B4-BE49-F238E27FC236}">
                <a16:creationId xmlns:a16="http://schemas.microsoft.com/office/drawing/2014/main" id="{56A10E00-EFAD-4DE8-B54F-D3216122B058}"/>
              </a:ext>
            </a:extLst>
          </p:cNvPr>
          <p:cNvSpPr>
            <a:spLocks noGrp="1"/>
          </p:cNvSpPr>
          <p:nvPr>
            <p:ph type="sldNum" sz="quarter" idx="12"/>
          </p:nvPr>
        </p:nvSpPr>
        <p:spPr/>
        <p:txBody>
          <a:bodyPr/>
          <a:lstStyle/>
          <a:p>
            <a:fld id="{2EA600BA-DB00-455B-8978-6C66618801A7}" type="slidenum">
              <a:rPr lang="en-US" smtClean="0"/>
              <a:t>4</a:t>
            </a:fld>
            <a:endParaRPr lang="en-US"/>
          </a:p>
        </p:txBody>
      </p:sp>
    </p:spTree>
    <p:extLst>
      <p:ext uri="{BB962C8B-B14F-4D97-AF65-F5344CB8AC3E}">
        <p14:creationId xmlns:p14="http://schemas.microsoft.com/office/powerpoint/2010/main" val="8568816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AD584-DFA2-4B35-A69A-5A2AD9F7E84F}"/>
              </a:ext>
            </a:extLst>
          </p:cNvPr>
          <p:cNvSpPr>
            <a:spLocks noGrp="1"/>
          </p:cNvSpPr>
          <p:nvPr>
            <p:ph type="title"/>
          </p:nvPr>
        </p:nvSpPr>
        <p:spPr/>
        <p:txBody>
          <a:bodyPr/>
          <a:lstStyle/>
          <a:p>
            <a:r>
              <a:rPr lang="en-US" dirty="0"/>
              <a:t>Features of LPC 214x series </a:t>
            </a:r>
            <a:r>
              <a:rPr lang="en-US" dirty="0" err="1"/>
              <a:t>contd</a:t>
            </a:r>
            <a:r>
              <a:rPr lang="en-US" dirty="0"/>
              <a:t>…</a:t>
            </a:r>
          </a:p>
        </p:txBody>
      </p:sp>
      <p:sp>
        <p:nvSpPr>
          <p:cNvPr id="3" name="Content Placeholder 2">
            <a:extLst>
              <a:ext uri="{FF2B5EF4-FFF2-40B4-BE49-F238E27FC236}">
                <a16:creationId xmlns:a16="http://schemas.microsoft.com/office/drawing/2014/main" id="{13B7FE9D-0563-42F6-B3A5-B234DFD57827}"/>
              </a:ext>
            </a:extLst>
          </p:cNvPr>
          <p:cNvSpPr>
            <a:spLocks noGrp="1"/>
          </p:cNvSpPr>
          <p:nvPr>
            <p:ph idx="1"/>
          </p:nvPr>
        </p:nvSpPr>
        <p:spPr/>
        <p:txBody>
          <a:bodyPr>
            <a:normAutofit/>
          </a:bodyPr>
          <a:lstStyle/>
          <a:p>
            <a:r>
              <a:rPr lang="en-US" dirty="0"/>
              <a:t>60 MHz maximum CPU clock available from programmable on-chip PLL</a:t>
            </a:r>
          </a:p>
          <a:p>
            <a:r>
              <a:rPr lang="en-US" dirty="0"/>
              <a:t>On-chip integrated oscillator operates with an external crystal from 1 MHz to 25 MHz</a:t>
            </a:r>
          </a:p>
          <a:p>
            <a:r>
              <a:rPr lang="en-US" dirty="0"/>
              <a:t>Power saving modes include Idle and Power-down</a:t>
            </a:r>
          </a:p>
          <a:p>
            <a:r>
              <a:rPr lang="en-US" dirty="0"/>
              <a:t>Individual enable/disable of peripheral functions as well as peripheral clock scaling</a:t>
            </a:r>
          </a:p>
          <a:p>
            <a:r>
              <a:rPr lang="en-US" dirty="0"/>
              <a:t>Processor wake-up from Power-down mode via external interrupt of BOD</a:t>
            </a:r>
          </a:p>
          <a:p>
            <a:r>
              <a:rPr lang="en-US" dirty="0"/>
              <a:t>Single power supply chip with Power On Reset and Brown Out detector circuits</a:t>
            </a:r>
          </a:p>
        </p:txBody>
      </p:sp>
      <p:sp>
        <p:nvSpPr>
          <p:cNvPr id="5" name="Slide Number Placeholder 4">
            <a:extLst>
              <a:ext uri="{FF2B5EF4-FFF2-40B4-BE49-F238E27FC236}">
                <a16:creationId xmlns:a16="http://schemas.microsoft.com/office/drawing/2014/main" id="{13597C3A-247C-4000-BE6E-26575D5D7E1D}"/>
              </a:ext>
            </a:extLst>
          </p:cNvPr>
          <p:cNvSpPr>
            <a:spLocks noGrp="1"/>
          </p:cNvSpPr>
          <p:nvPr>
            <p:ph type="sldNum" sz="quarter" idx="12"/>
          </p:nvPr>
        </p:nvSpPr>
        <p:spPr/>
        <p:txBody>
          <a:bodyPr/>
          <a:lstStyle/>
          <a:p>
            <a:fld id="{2EA600BA-DB00-455B-8978-6C66618801A7}" type="slidenum">
              <a:rPr lang="en-US" smtClean="0"/>
              <a:t>5</a:t>
            </a:fld>
            <a:endParaRPr lang="en-US"/>
          </a:p>
        </p:txBody>
      </p:sp>
    </p:spTree>
    <p:extLst>
      <p:ext uri="{BB962C8B-B14F-4D97-AF65-F5344CB8AC3E}">
        <p14:creationId xmlns:p14="http://schemas.microsoft.com/office/powerpoint/2010/main" val="24707683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E286-C1F9-47BF-803F-41C8CC5CB417}"/>
              </a:ext>
            </a:extLst>
          </p:cNvPr>
          <p:cNvSpPr>
            <a:spLocks noGrp="1"/>
          </p:cNvSpPr>
          <p:nvPr>
            <p:ph type="title"/>
          </p:nvPr>
        </p:nvSpPr>
        <p:spPr/>
        <p:txBody>
          <a:bodyPr/>
          <a:lstStyle/>
          <a:p>
            <a:r>
              <a:rPr lang="en-US" dirty="0"/>
              <a:t>Important Features</a:t>
            </a:r>
          </a:p>
        </p:txBody>
      </p:sp>
      <p:sp>
        <p:nvSpPr>
          <p:cNvPr id="3" name="Content Placeholder 2">
            <a:extLst>
              <a:ext uri="{FF2B5EF4-FFF2-40B4-BE49-F238E27FC236}">
                <a16:creationId xmlns:a16="http://schemas.microsoft.com/office/drawing/2014/main" id="{9961118C-A29E-441C-8339-3AA453D075B1}"/>
              </a:ext>
            </a:extLst>
          </p:cNvPr>
          <p:cNvSpPr>
            <a:spLocks noGrp="1"/>
          </p:cNvSpPr>
          <p:nvPr>
            <p:ph idx="1"/>
          </p:nvPr>
        </p:nvSpPr>
        <p:spPr/>
        <p:txBody>
          <a:bodyPr/>
          <a:lstStyle/>
          <a:p>
            <a:pPr marL="457200" indent="-457200">
              <a:buFont typeface="+mj-lt"/>
              <a:buAutoNum type="arabicPeriod"/>
            </a:pPr>
            <a:r>
              <a:rPr lang="en-US" dirty="0"/>
              <a:t>16-bit/32-bit ARM7TDMI-S microcontroller is the core.</a:t>
            </a:r>
          </a:p>
          <a:p>
            <a:pPr marL="457200" indent="-457200">
              <a:buFont typeface="+mj-lt"/>
              <a:buAutoNum type="arabicPeriod"/>
            </a:pPr>
            <a:r>
              <a:rPr lang="en-US" dirty="0"/>
              <a:t>8KB-40KB of on chip static RAM and 32 KB to 512 KB of on-chip flash memory</a:t>
            </a:r>
          </a:p>
          <a:p>
            <a:pPr marL="457200" indent="-457200">
              <a:buFont typeface="+mj-lt"/>
              <a:buAutoNum type="arabicPeriod"/>
            </a:pPr>
            <a:r>
              <a:rPr lang="en-US" dirty="0"/>
              <a:t>One/two 10-bit ADCs with 6/14 analog input pins</a:t>
            </a:r>
          </a:p>
          <a:p>
            <a:pPr marL="457200" indent="-457200">
              <a:buFont typeface="+mj-lt"/>
              <a:buAutoNum type="arabicPeriod"/>
            </a:pPr>
            <a:r>
              <a:rPr lang="en-US" dirty="0"/>
              <a:t>10-bit DAC</a:t>
            </a:r>
          </a:p>
          <a:p>
            <a:pPr marL="457200" indent="-457200">
              <a:buFont typeface="+mj-lt"/>
              <a:buAutoNum type="arabicPeriod"/>
            </a:pPr>
            <a:r>
              <a:rPr lang="en-US" dirty="0"/>
              <a:t>Timers – two 32-bit timers/external counters</a:t>
            </a:r>
          </a:p>
          <a:p>
            <a:pPr marL="457200" indent="-457200">
              <a:buFont typeface="+mj-lt"/>
              <a:buAutoNum type="arabicPeriod"/>
            </a:pPr>
            <a:r>
              <a:rPr lang="en-US" dirty="0"/>
              <a:t>PWM unit, with 6 output pins and a Watch dog timer</a:t>
            </a:r>
          </a:p>
        </p:txBody>
      </p:sp>
      <p:sp>
        <p:nvSpPr>
          <p:cNvPr id="5" name="Slide Number Placeholder 4">
            <a:extLst>
              <a:ext uri="{FF2B5EF4-FFF2-40B4-BE49-F238E27FC236}">
                <a16:creationId xmlns:a16="http://schemas.microsoft.com/office/drawing/2014/main" id="{89E3B74F-0450-4964-A743-4C5D25233041}"/>
              </a:ext>
            </a:extLst>
          </p:cNvPr>
          <p:cNvSpPr>
            <a:spLocks noGrp="1"/>
          </p:cNvSpPr>
          <p:nvPr>
            <p:ph type="sldNum" sz="quarter" idx="12"/>
          </p:nvPr>
        </p:nvSpPr>
        <p:spPr/>
        <p:txBody>
          <a:bodyPr/>
          <a:lstStyle/>
          <a:p>
            <a:fld id="{2EA600BA-DB00-455B-8978-6C66618801A7}" type="slidenum">
              <a:rPr lang="en-US" smtClean="0"/>
              <a:t>6</a:t>
            </a:fld>
            <a:endParaRPr lang="en-US"/>
          </a:p>
        </p:txBody>
      </p:sp>
    </p:spTree>
    <p:extLst>
      <p:ext uri="{BB962C8B-B14F-4D97-AF65-F5344CB8AC3E}">
        <p14:creationId xmlns:p14="http://schemas.microsoft.com/office/powerpoint/2010/main" val="33798026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E286-C1F9-47BF-803F-41C8CC5CB417}"/>
              </a:ext>
            </a:extLst>
          </p:cNvPr>
          <p:cNvSpPr>
            <a:spLocks noGrp="1"/>
          </p:cNvSpPr>
          <p:nvPr>
            <p:ph type="title"/>
          </p:nvPr>
        </p:nvSpPr>
        <p:spPr/>
        <p:txBody>
          <a:bodyPr/>
          <a:lstStyle/>
          <a:p>
            <a:r>
              <a:rPr lang="en-US" dirty="0"/>
              <a:t>Important Features </a:t>
            </a:r>
            <a:r>
              <a:rPr lang="en-US" dirty="0" err="1"/>
              <a:t>contd</a:t>
            </a:r>
            <a:r>
              <a:rPr lang="en-US" dirty="0"/>
              <a:t>…</a:t>
            </a:r>
          </a:p>
        </p:txBody>
      </p:sp>
      <p:sp>
        <p:nvSpPr>
          <p:cNvPr id="3" name="Content Placeholder 2">
            <a:extLst>
              <a:ext uri="{FF2B5EF4-FFF2-40B4-BE49-F238E27FC236}">
                <a16:creationId xmlns:a16="http://schemas.microsoft.com/office/drawing/2014/main" id="{9961118C-A29E-441C-8339-3AA453D075B1}"/>
              </a:ext>
            </a:extLst>
          </p:cNvPr>
          <p:cNvSpPr>
            <a:spLocks noGrp="1"/>
          </p:cNvSpPr>
          <p:nvPr>
            <p:ph idx="1"/>
          </p:nvPr>
        </p:nvSpPr>
        <p:spPr/>
        <p:txBody>
          <a:bodyPr/>
          <a:lstStyle/>
          <a:p>
            <a:pPr marL="457200" indent="-457200">
              <a:buFont typeface="+mj-lt"/>
              <a:buAutoNum type="arabicPeriod" startAt="7"/>
            </a:pPr>
            <a:r>
              <a:rPr lang="en-US" dirty="0"/>
              <a:t>Real-Time Clock (RTC) with independent power and 32 kHz clock input</a:t>
            </a:r>
          </a:p>
          <a:p>
            <a:pPr marL="457200" indent="-457200">
              <a:buFont typeface="+mj-lt"/>
              <a:buAutoNum type="arabicPeriod" startAt="7"/>
            </a:pPr>
            <a:r>
              <a:rPr lang="en-US" dirty="0"/>
              <a:t>Serial Communication – Two UARTs, two SPI and Synchronous Serial Port and two I2C</a:t>
            </a:r>
          </a:p>
          <a:p>
            <a:pPr marL="457200" indent="-457200">
              <a:buFont typeface="+mj-lt"/>
              <a:buAutoNum type="arabicPeriod" startAt="7"/>
            </a:pPr>
            <a:r>
              <a:rPr lang="en-US" dirty="0"/>
              <a:t>Vectored Interrupt Controller with configurable priorities</a:t>
            </a:r>
          </a:p>
          <a:p>
            <a:pPr marL="457200" indent="-457200">
              <a:buFont typeface="+mj-lt"/>
              <a:buAutoNum type="arabicPeriod" startAt="7"/>
            </a:pPr>
            <a:r>
              <a:rPr lang="en-US" dirty="0"/>
              <a:t>The external crystal can have frequencies from 1MHz to 25 MHz</a:t>
            </a:r>
          </a:p>
          <a:p>
            <a:pPr marL="457200" indent="-457200">
              <a:buFont typeface="+mj-lt"/>
              <a:buAutoNum type="arabicPeriod" startAt="7"/>
            </a:pPr>
            <a:r>
              <a:rPr lang="en-US" dirty="0"/>
              <a:t>Low power modes for power saving</a:t>
            </a:r>
          </a:p>
          <a:p>
            <a:pPr marL="457200" indent="-457200">
              <a:buFont typeface="+mj-lt"/>
              <a:buAutoNum type="arabicPeriod" startAt="7"/>
            </a:pPr>
            <a:r>
              <a:rPr lang="en-US" dirty="0"/>
              <a:t>Power on Reset and Brown out Reset circuits</a:t>
            </a:r>
          </a:p>
          <a:p>
            <a:pPr marL="457200" indent="-457200">
              <a:buFont typeface="+mj-lt"/>
              <a:buAutoNum type="arabicPeriod" startAt="7"/>
            </a:pPr>
            <a:r>
              <a:rPr lang="en-US" dirty="0"/>
              <a:t>Two PLLs</a:t>
            </a:r>
          </a:p>
          <a:p>
            <a:pPr marL="457200" indent="-457200">
              <a:buFont typeface="+mj-lt"/>
              <a:buAutoNum type="arabicPeriod" startAt="7"/>
            </a:pPr>
            <a:endParaRPr lang="en-US" dirty="0"/>
          </a:p>
        </p:txBody>
      </p:sp>
      <p:sp>
        <p:nvSpPr>
          <p:cNvPr id="5" name="Slide Number Placeholder 4">
            <a:extLst>
              <a:ext uri="{FF2B5EF4-FFF2-40B4-BE49-F238E27FC236}">
                <a16:creationId xmlns:a16="http://schemas.microsoft.com/office/drawing/2014/main" id="{77D0D591-7ED5-4022-BB25-DFECA06A649E}"/>
              </a:ext>
            </a:extLst>
          </p:cNvPr>
          <p:cNvSpPr>
            <a:spLocks noGrp="1"/>
          </p:cNvSpPr>
          <p:nvPr>
            <p:ph type="sldNum" sz="quarter" idx="12"/>
          </p:nvPr>
        </p:nvSpPr>
        <p:spPr/>
        <p:txBody>
          <a:bodyPr/>
          <a:lstStyle/>
          <a:p>
            <a:fld id="{2EA600BA-DB00-455B-8978-6C66618801A7}" type="slidenum">
              <a:rPr lang="en-US" smtClean="0"/>
              <a:t>7</a:t>
            </a:fld>
            <a:endParaRPr lang="en-US"/>
          </a:p>
        </p:txBody>
      </p:sp>
    </p:spTree>
    <p:extLst>
      <p:ext uri="{BB962C8B-B14F-4D97-AF65-F5344CB8AC3E}">
        <p14:creationId xmlns:p14="http://schemas.microsoft.com/office/powerpoint/2010/main" val="22613101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E2F96A-31A3-4BAD-8868-BCDB89FA94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3896"/>
            <a:ext cx="12003313" cy="6665307"/>
          </a:xfrm>
        </p:spPr>
      </p:pic>
      <p:sp>
        <p:nvSpPr>
          <p:cNvPr id="4" name="Slide Number Placeholder 3">
            <a:extLst>
              <a:ext uri="{FF2B5EF4-FFF2-40B4-BE49-F238E27FC236}">
                <a16:creationId xmlns:a16="http://schemas.microsoft.com/office/drawing/2014/main" id="{0FB010AC-25D1-451A-B10E-8BEE6CB24BFB}"/>
              </a:ext>
            </a:extLst>
          </p:cNvPr>
          <p:cNvSpPr>
            <a:spLocks noGrp="1"/>
          </p:cNvSpPr>
          <p:nvPr>
            <p:ph type="sldNum" sz="quarter" idx="12"/>
          </p:nvPr>
        </p:nvSpPr>
        <p:spPr/>
        <p:txBody>
          <a:bodyPr/>
          <a:lstStyle/>
          <a:p>
            <a:fld id="{2EA600BA-DB00-455B-8978-6C66618801A7}" type="slidenum">
              <a:rPr lang="en-US" smtClean="0"/>
              <a:t>8</a:t>
            </a:fld>
            <a:endParaRPr lang="en-US"/>
          </a:p>
        </p:txBody>
      </p:sp>
    </p:spTree>
    <p:extLst>
      <p:ext uri="{BB962C8B-B14F-4D97-AF65-F5344CB8AC3E}">
        <p14:creationId xmlns:p14="http://schemas.microsoft.com/office/powerpoint/2010/main" val="2631847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E77E-805D-49D7-B8C1-349FB1857B9E}"/>
              </a:ext>
            </a:extLst>
          </p:cNvPr>
          <p:cNvSpPr>
            <a:spLocks noGrp="1"/>
          </p:cNvSpPr>
          <p:nvPr>
            <p:ph type="title"/>
          </p:nvPr>
        </p:nvSpPr>
        <p:spPr/>
        <p:txBody>
          <a:bodyPr/>
          <a:lstStyle/>
          <a:p>
            <a:r>
              <a:rPr lang="en-US" dirty="0"/>
              <a:t>Few peripherals</a:t>
            </a:r>
          </a:p>
        </p:txBody>
      </p:sp>
      <p:sp>
        <p:nvSpPr>
          <p:cNvPr id="3" name="Content Placeholder 2">
            <a:extLst>
              <a:ext uri="{FF2B5EF4-FFF2-40B4-BE49-F238E27FC236}">
                <a16:creationId xmlns:a16="http://schemas.microsoft.com/office/drawing/2014/main" id="{2A70FDFD-1A74-4897-A935-0E777408F6F8}"/>
              </a:ext>
            </a:extLst>
          </p:cNvPr>
          <p:cNvSpPr>
            <a:spLocks noGrp="1"/>
          </p:cNvSpPr>
          <p:nvPr>
            <p:ph idx="1"/>
          </p:nvPr>
        </p:nvSpPr>
        <p:spPr>
          <a:xfrm>
            <a:off x="3869268" y="864108"/>
            <a:ext cx="7315200" cy="5592110"/>
          </a:xfrm>
        </p:spPr>
        <p:txBody>
          <a:bodyPr>
            <a:normAutofit fontScale="85000" lnSpcReduction="10000"/>
          </a:bodyPr>
          <a:lstStyle/>
          <a:p>
            <a:r>
              <a:rPr lang="en-US" dirty="0"/>
              <a:t>Processor</a:t>
            </a:r>
          </a:p>
          <a:p>
            <a:pPr lvl="1"/>
            <a:r>
              <a:rPr lang="en-US" dirty="0"/>
              <a:t>Processor used in this chip family is ARM7TDMI-S with ARM and THUMB instruction capabilities.</a:t>
            </a:r>
          </a:p>
          <a:p>
            <a:r>
              <a:rPr lang="en-US" dirty="0"/>
              <a:t>Memory map</a:t>
            </a:r>
          </a:p>
          <a:p>
            <a:pPr lvl="1"/>
            <a:r>
              <a:rPr lang="en-US" dirty="0"/>
              <a:t>The processor core has 32 address lines (internal to the chip)</a:t>
            </a:r>
          </a:p>
          <a:p>
            <a:pPr lvl="1"/>
            <a:r>
              <a:rPr lang="en-US" dirty="0"/>
              <a:t>Memory addressing capability is 2</a:t>
            </a:r>
            <a:r>
              <a:rPr lang="en-US" baseline="30000" dirty="0"/>
              <a:t>32</a:t>
            </a:r>
            <a:r>
              <a:rPr lang="en-US" dirty="0"/>
              <a:t> = 4 GB.</a:t>
            </a:r>
          </a:p>
          <a:p>
            <a:pPr lvl="1"/>
            <a:r>
              <a:rPr lang="en-US" dirty="0"/>
              <a:t>All peripherals are also mapped to this memory since memory mapped I/O technique</a:t>
            </a:r>
          </a:p>
          <a:p>
            <a:r>
              <a:rPr lang="en-US" dirty="0"/>
              <a:t>Flash memory</a:t>
            </a:r>
          </a:p>
          <a:p>
            <a:pPr lvl="1"/>
            <a:r>
              <a:rPr lang="en-US" dirty="0"/>
              <a:t>The amount of flash memory is not the same for all members of the family</a:t>
            </a:r>
          </a:p>
          <a:p>
            <a:pPr lvl="1"/>
            <a:r>
              <a:rPr lang="en-US" dirty="0"/>
              <a:t>Accordingly LPC2141/ 2/4/8 incorporates a 32kb,64kb,128kb,256kb and 512 kb flash memory system respectively.</a:t>
            </a:r>
          </a:p>
          <a:p>
            <a:pPr lvl="1"/>
            <a:r>
              <a:rPr lang="en-US" dirty="0"/>
              <a:t>This memory may be used for code and data storage. It starts from 0x00000000</a:t>
            </a:r>
            <a:endParaRPr lang="en-IN" dirty="0"/>
          </a:p>
          <a:p>
            <a:pPr lvl="1"/>
            <a:endParaRPr lang="en-US" dirty="0"/>
          </a:p>
          <a:p>
            <a:r>
              <a:rPr lang="en-US" dirty="0"/>
              <a:t>On-chip static RAM</a:t>
            </a:r>
          </a:p>
          <a:p>
            <a:pPr lvl="1"/>
            <a:r>
              <a:rPr lang="en-US" dirty="0"/>
              <a:t>LPC214x provides 8/16/32 kB of static RAM. It starts from 0x40000000</a:t>
            </a:r>
          </a:p>
          <a:p>
            <a:r>
              <a:rPr lang="en-US" dirty="0"/>
              <a:t>System control block</a:t>
            </a:r>
          </a:p>
          <a:p>
            <a:pPr lvl="1"/>
            <a:r>
              <a:rPr lang="en-US" dirty="0"/>
              <a:t>Many functions are not related to any specific peripheral, but are common to the chip as a whole</a:t>
            </a:r>
          </a:p>
          <a:p>
            <a:pPr lvl="1"/>
            <a:r>
              <a:rPr lang="en-US" dirty="0"/>
              <a:t>Functions: Crystal oscillator, VPB divider, External Interrupt Inputs, PLL, Power Control, Reset, Wakeup Timer</a:t>
            </a:r>
          </a:p>
        </p:txBody>
      </p:sp>
      <p:sp>
        <p:nvSpPr>
          <p:cNvPr id="5" name="Slide Number Placeholder 4">
            <a:extLst>
              <a:ext uri="{FF2B5EF4-FFF2-40B4-BE49-F238E27FC236}">
                <a16:creationId xmlns:a16="http://schemas.microsoft.com/office/drawing/2014/main" id="{3F9CB53E-9CC6-461D-A49F-5A5566B449CC}"/>
              </a:ext>
            </a:extLst>
          </p:cNvPr>
          <p:cNvSpPr>
            <a:spLocks noGrp="1"/>
          </p:cNvSpPr>
          <p:nvPr>
            <p:ph type="sldNum" sz="quarter" idx="12"/>
          </p:nvPr>
        </p:nvSpPr>
        <p:spPr/>
        <p:txBody>
          <a:bodyPr/>
          <a:lstStyle/>
          <a:p>
            <a:fld id="{2EA600BA-DB00-455B-8978-6C66618801A7}" type="slidenum">
              <a:rPr lang="en-US" smtClean="0"/>
              <a:t>9</a:t>
            </a:fld>
            <a:endParaRPr lang="en-US"/>
          </a:p>
        </p:txBody>
      </p:sp>
    </p:spTree>
    <p:extLst>
      <p:ext uri="{BB962C8B-B14F-4D97-AF65-F5344CB8AC3E}">
        <p14:creationId xmlns:p14="http://schemas.microsoft.com/office/powerpoint/2010/main" val="1765450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0CA8E-7020-4492-B9E6-399E31412141}"/>
              </a:ext>
            </a:extLst>
          </p:cNvPr>
          <p:cNvSpPr>
            <a:spLocks noGrp="1"/>
          </p:cNvSpPr>
          <p:nvPr>
            <p:ph type="title"/>
          </p:nvPr>
        </p:nvSpPr>
        <p:spPr/>
        <p:txBody>
          <a:bodyPr/>
          <a:lstStyle/>
          <a:p>
            <a:r>
              <a:rPr lang="en-US" dirty="0"/>
              <a:t>Memory map of LPC214x</a:t>
            </a:r>
          </a:p>
        </p:txBody>
      </p:sp>
      <p:sp>
        <p:nvSpPr>
          <p:cNvPr id="4" name="Slide Number Placeholder 3">
            <a:extLst>
              <a:ext uri="{FF2B5EF4-FFF2-40B4-BE49-F238E27FC236}">
                <a16:creationId xmlns:a16="http://schemas.microsoft.com/office/drawing/2014/main" id="{694D33EB-7F70-4FDB-A5FF-E7798EE60025}"/>
              </a:ext>
            </a:extLst>
          </p:cNvPr>
          <p:cNvSpPr>
            <a:spLocks noGrp="1"/>
          </p:cNvSpPr>
          <p:nvPr>
            <p:ph type="sldNum" sz="quarter" idx="12"/>
          </p:nvPr>
        </p:nvSpPr>
        <p:spPr/>
        <p:txBody>
          <a:bodyPr/>
          <a:lstStyle/>
          <a:p>
            <a:fld id="{2EA600BA-DB00-455B-8978-6C66618801A7}" type="slidenum">
              <a:rPr lang="en-US" smtClean="0"/>
              <a:t>10</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6036" y="515373"/>
            <a:ext cx="7758546" cy="5663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92550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E77E-805D-49D7-B8C1-349FB1857B9E}"/>
              </a:ext>
            </a:extLst>
          </p:cNvPr>
          <p:cNvSpPr>
            <a:spLocks noGrp="1"/>
          </p:cNvSpPr>
          <p:nvPr>
            <p:ph type="title"/>
          </p:nvPr>
        </p:nvSpPr>
        <p:spPr/>
        <p:txBody>
          <a:bodyPr/>
          <a:lstStyle/>
          <a:p>
            <a:r>
              <a:rPr lang="en-US" dirty="0"/>
              <a:t>Few peripherals</a:t>
            </a:r>
          </a:p>
        </p:txBody>
      </p:sp>
      <p:sp>
        <p:nvSpPr>
          <p:cNvPr id="5" name="Slide Number Placeholder 4">
            <a:extLst>
              <a:ext uri="{FF2B5EF4-FFF2-40B4-BE49-F238E27FC236}">
                <a16:creationId xmlns:a16="http://schemas.microsoft.com/office/drawing/2014/main" id="{3F9CB53E-9CC6-461D-A49F-5A5566B449CC}"/>
              </a:ext>
            </a:extLst>
          </p:cNvPr>
          <p:cNvSpPr>
            <a:spLocks noGrp="1"/>
          </p:cNvSpPr>
          <p:nvPr>
            <p:ph type="sldNum" sz="quarter" idx="12"/>
          </p:nvPr>
        </p:nvSpPr>
        <p:spPr/>
        <p:txBody>
          <a:bodyPr/>
          <a:lstStyle/>
          <a:p>
            <a:fld id="{2EA600BA-DB00-455B-8978-6C66618801A7}" type="slidenum">
              <a:rPr lang="en-US" smtClean="0"/>
              <a:t>11</a:t>
            </a:fld>
            <a:endParaRPr lang="en-US"/>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35523" y="1123837"/>
            <a:ext cx="6202986" cy="2266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236" y="4125485"/>
            <a:ext cx="2632364" cy="611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1417B3E5-B07D-5CA9-FA3E-B293CEB26A36}"/>
              </a:ext>
            </a:extLst>
          </p:cNvPr>
          <p:cNvSpPr txBox="1"/>
          <p:nvPr/>
        </p:nvSpPr>
        <p:spPr>
          <a:xfrm>
            <a:off x="4515729" y="5036233"/>
            <a:ext cx="6202986" cy="646331"/>
          </a:xfrm>
          <a:prstGeom prst="rect">
            <a:avLst/>
          </a:prstGeom>
          <a:noFill/>
        </p:spPr>
        <p:txBody>
          <a:bodyPr wrap="square" rtlCol="0">
            <a:spAutoFit/>
          </a:bodyPr>
          <a:lstStyle/>
          <a:p>
            <a:r>
              <a:rPr lang="en-US" dirty="0"/>
              <a:t>AHB –Advanced High Speed Peripheral Bus</a:t>
            </a:r>
          </a:p>
          <a:p>
            <a:r>
              <a:rPr lang="en-US" dirty="0"/>
              <a:t>VPB –VLSI peripheral Bus </a:t>
            </a:r>
          </a:p>
        </p:txBody>
      </p:sp>
    </p:spTree>
    <p:extLst>
      <p:ext uri="{BB962C8B-B14F-4D97-AF65-F5344CB8AC3E}">
        <p14:creationId xmlns:p14="http://schemas.microsoft.com/office/powerpoint/2010/main" val="24702850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E77E-805D-49D7-B8C1-349FB1857B9E}"/>
              </a:ext>
            </a:extLst>
          </p:cNvPr>
          <p:cNvSpPr>
            <a:spLocks noGrp="1"/>
          </p:cNvSpPr>
          <p:nvPr>
            <p:ph type="title"/>
          </p:nvPr>
        </p:nvSpPr>
        <p:spPr/>
        <p:txBody>
          <a:bodyPr/>
          <a:lstStyle/>
          <a:p>
            <a:r>
              <a:rPr lang="en-US" dirty="0"/>
              <a:t>Few peripherals</a:t>
            </a:r>
          </a:p>
        </p:txBody>
      </p:sp>
      <p:sp>
        <p:nvSpPr>
          <p:cNvPr id="3" name="Content Placeholder 2">
            <a:extLst>
              <a:ext uri="{FF2B5EF4-FFF2-40B4-BE49-F238E27FC236}">
                <a16:creationId xmlns:a16="http://schemas.microsoft.com/office/drawing/2014/main" id="{2A70FDFD-1A74-4897-A935-0E777408F6F8}"/>
              </a:ext>
            </a:extLst>
          </p:cNvPr>
          <p:cNvSpPr>
            <a:spLocks noGrp="1"/>
          </p:cNvSpPr>
          <p:nvPr>
            <p:ph idx="1"/>
          </p:nvPr>
        </p:nvSpPr>
        <p:spPr>
          <a:xfrm>
            <a:off x="3869268" y="1123837"/>
            <a:ext cx="7315200" cy="3669836"/>
          </a:xfrm>
        </p:spPr>
        <p:txBody>
          <a:bodyPr>
            <a:normAutofit/>
          </a:bodyPr>
          <a:lstStyle/>
          <a:p>
            <a:r>
              <a:rPr lang="en-US" dirty="0"/>
              <a:t>System control block</a:t>
            </a:r>
          </a:p>
          <a:p>
            <a:pPr lvl="1"/>
            <a:r>
              <a:rPr lang="en-US" dirty="0"/>
              <a:t>Many functions are not related to any specific peripheral, but are common to the chip as a whole</a:t>
            </a:r>
          </a:p>
          <a:p>
            <a:pPr lvl="1"/>
            <a:r>
              <a:rPr lang="en-US" dirty="0"/>
              <a:t>Functions: Crystal oscillator, VPB divider, External Interrupt Inputs, Phase locked loop(PLL), Power Control, Reset, Wakeup Timer</a:t>
            </a:r>
          </a:p>
        </p:txBody>
      </p:sp>
      <p:sp>
        <p:nvSpPr>
          <p:cNvPr id="5" name="Slide Number Placeholder 4">
            <a:extLst>
              <a:ext uri="{FF2B5EF4-FFF2-40B4-BE49-F238E27FC236}">
                <a16:creationId xmlns:a16="http://schemas.microsoft.com/office/drawing/2014/main" id="{3F9CB53E-9CC6-461D-A49F-5A5566B449CC}"/>
              </a:ext>
            </a:extLst>
          </p:cNvPr>
          <p:cNvSpPr>
            <a:spLocks noGrp="1"/>
          </p:cNvSpPr>
          <p:nvPr>
            <p:ph type="sldNum" sz="quarter" idx="12"/>
          </p:nvPr>
        </p:nvSpPr>
        <p:spPr/>
        <p:txBody>
          <a:bodyPr/>
          <a:lstStyle/>
          <a:p>
            <a:fld id="{2EA600BA-DB00-455B-8978-6C66618801A7}" type="slidenum">
              <a:rPr lang="en-US" smtClean="0"/>
              <a:t>12</a:t>
            </a:fld>
            <a:endParaRPr lang="en-US"/>
          </a:p>
        </p:txBody>
      </p:sp>
    </p:spTree>
    <p:extLst>
      <p:ext uri="{BB962C8B-B14F-4D97-AF65-F5344CB8AC3E}">
        <p14:creationId xmlns:p14="http://schemas.microsoft.com/office/powerpoint/2010/main" val="23365848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CD8B4-E108-4E0C-B890-8B759685A091}"/>
              </a:ext>
            </a:extLst>
          </p:cNvPr>
          <p:cNvSpPr>
            <a:spLocks noGrp="1"/>
          </p:cNvSpPr>
          <p:nvPr>
            <p:ph type="title"/>
          </p:nvPr>
        </p:nvSpPr>
        <p:spPr/>
        <p:txBody>
          <a:bodyPr/>
          <a:lstStyle/>
          <a:p>
            <a:r>
              <a:rPr lang="en-US" dirty="0"/>
              <a:t>Crystal oscillator and PLL</a:t>
            </a:r>
          </a:p>
        </p:txBody>
      </p:sp>
      <p:sp>
        <p:nvSpPr>
          <p:cNvPr id="3" name="Content Placeholder 2">
            <a:extLst>
              <a:ext uri="{FF2B5EF4-FFF2-40B4-BE49-F238E27FC236}">
                <a16:creationId xmlns:a16="http://schemas.microsoft.com/office/drawing/2014/main" id="{1238743F-DF1F-4444-84C8-634CEC10FC8E}"/>
              </a:ext>
            </a:extLst>
          </p:cNvPr>
          <p:cNvSpPr>
            <a:spLocks noGrp="1"/>
          </p:cNvSpPr>
          <p:nvPr>
            <p:ph idx="1"/>
          </p:nvPr>
        </p:nvSpPr>
        <p:spPr/>
        <p:txBody>
          <a:bodyPr>
            <a:normAutofit lnSpcReduction="10000"/>
          </a:bodyPr>
          <a:lstStyle/>
          <a:p>
            <a:r>
              <a:rPr lang="en-US" dirty="0"/>
              <a:t>There are various options for the oscillator which supplies the system clock.</a:t>
            </a:r>
          </a:p>
          <a:p>
            <a:r>
              <a:rPr lang="en-US" dirty="0"/>
              <a:t>External frequency by connecting an external oscillator, supplying a 50% duty cycle signal in the range of 1-50 MHz</a:t>
            </a:r>
          </a:p>
          <a:p>
            <a:r>
              <a:rPr lang="en-US" dirty="0"/>
              <a:t>There is also an on-board oscillator and for that an external crystal with frequency in the range of 1-30 MHz is allowed.</a:t>
            </a:r>
          </a:p>
          <a:p>
            <a:r>
              <a:rPr lang="en-US" dirty="0"/>
              <a:t>There are two PLLs and on is used entirely for the generation of the system clock, noted as CCLK.</a:t>
            </a:r>
          </a:p>
          <a:p>
            <a:r>
              <a:rPr lang="en-US" dirty="0"/>
              <a:t>The PLL accepts an input clock frequency in the range of 10-25MHz, which is multiplied to get a range of 10-60 MHz for the core clock</a:t>
            </a:r>
          </a:p>
          <a:p>
            <a:pPr marL="182880" lvl="1">
              <a:spcBef>
                <a:spcPts val="1200"/>
              </a:spcBef>
              <a:spcAft>
                <a:spcPts val="0"/>
              </a:spcAft>
            </a:pPr>
            <a:r>
              <a:rPr lang="en-US" dirty="0"/>
              <a:t>The core clock  is used entirely for generation of system clock noted as CCLK.</a:t>
            </a:r>
          </a:p>
          <a:p>
            <a:r>
              <a:rPr lang="en-US" dirty="0"/>
              <a:t>The PLL accepts an input clock frequency in the range of 10MHz to 25MHz only, which is multiplied to get a range of 10-60MHz for the core clock.</a:t>
            </a:r>
          </a:p>
        </p:txBody>
      </p:sp>
      <p:sp>
        <p:nvSpPr>
          <p:cNvPr id="5" name="Slide Number Placeholder 4">
            <a:extLst>
              <a:ext uri="{FF2B5EF4-FFF2-40B4-BE49-F238E27FC236}">
                <a16:creationId xmlns:a16="http://schemas.microsoft.com/office/drawing/2014/main" id="{BEFC55E2-3603-486F-9F11-77CE19F4FC0A}"/>
              </a:ext>
            </a:extLst>
          </p:cNvPr>
          <p:cNvSpPr>
            <a:spLocks noGrp="1"/>
          </p:cNvSpPr>
          <p:nvPr>
            <p:ph type="sldNum" sz="quarter" idx="12"/>
          </p:nvPr>
        </p:nvSpPr>
        <p:spPr/>
        <p:txBody>
          <a:bodyPr/>
          <a:lstStyle/>
          <a:p>
            <a:fld id="{2EA600BA-DB00-455B-8978-6C66618801A7}" type="slidenum">
              <a:rPr lang="en-US" smtClean="0"/>
              <a:t>13</a:t>
            </a:fld>
            <a:endParaRPr lang="en-US"/>
          </a:p>
        </p:txBody>
      </p:sp>
    </p:spTree>
    <p:extLst>
      <p:ext uri="{BB962C8B-B14F-4D97-AF65-F5344CB8AC3E}">
        <p14:creationId xmlns:p14="http://schemas.microsoft.com/office/powerpoint/2010/main" val="13705464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1BEC-6EAF-4FA7-AE11-23F11004756A}"/>
              </a:ext>
            </a:extLst>
          </p:cNvPr>
          <p:cNvSpPr>
            <a:spLocks noGrp="1"/>
          </p:cNvSpPr>
          <p:nvPr>
            <p:ph type="title"/>
          </p:nvPr>
        </p:nvSpPr>
        <p:spPr/>
        <p:txBody>
          <a:bodyPr/>
          <a:lstStyle/>
          <a:p>
            <a:r>
              <a:rPr lang="en-US" dirty="0"/>
              <a:t>VPB divider</a:t>
            </a:r>
          </a:p>
        </p:txBody>
      </p:sp>
      <p:sp>
        <p:nvSpPr>
          <p:cNvPr id="3" name="Content Placeholder 2">
            <a:extLst>
              <a:ext uri="{FF2B5EF4-FFF2-40B4-BE49-F238E27FC236}">
                <a16:creationId xmlns:a16="http://schemas.microsoft.com/office/drawing/2014/main" id="{1F86A5B2-4BA0-4942-9577-6FA8714AA2FD}"/>
              </a:ext>
            </a:extLst>
          </p:cNvPr>
          <p:cNvSpPr>
            <a:spLocks noGrp="1"/>
          </p:cNvSpPr>
          <p:nvPr>
            <p:ph idx="1"/>
          </p:nvPr>
        </p:nvSpPr>
        <p:spPr/>
        <p:txBody>
          <a:bodyPr/>
          <a:lstStyle/>
          <a:p>
            <a:r>
              <a:rPr lang="en-US" dirty="0"/>
              <a:t>Volume Parameter Block(VPB)</a:t>
            </a:r>
          </a:p>
          <a:p>
            <a:r>
              <a:rPr lang="en-US" dirty="0"/>
              <a:t>Usually, peripherals do not work at the high frequency that the core operates at.</a:t>
            </a:r>
          </a:p>
          <a:p>
            <a:r>
              <a:rPr lang="en-US" dirty="0"/>
              <a:t>So the core clock is generally slowed down to one half or one fourth for use by peripherals.</a:t>
            </a:r>
          </a:p>
          <a:p>
            <a:r>
              <a:rPr lang="en-US" dirty="0"/>
              <a:t>The default condition at reset is for the VPB bus to run at one quarter speed.</a:t>
            </a:r>
          </a:p>
          <a:p>
            <a:r>
              <a:rPr lang="en-US" dirty="0"/>
              <a:t>The VPB divider determines the relationship between the processor core clock CCLK and the peripheral clock PCLK.</a:t>
            </a:r>
          </a:p>
          <a:p>
            <a:r>
              <a:rPr lang="en-US" dirty="0"/>
              <a:t>Another reason to do the frequency division is to reduce power dissipation.</a:t>
            </a:r>
          </a:p>
        </p:txBody>
      </p:sp>
      <p:sp>
        <p:nvSpPr>
          <p:cNvPr id="5" name="Slide Number Placeholder 4">
            <a:extLst>
              <a:ext uri="{FF2B5EF4-FFF2-40B4-BE49-F238E27FC236}">
                <a16:creationId xmlns:a16="http://schemas.microsoft.com/office/drawing/2014/main" id="{02D30D1A-59F0-4925-9BF8-4819ADCB78E2}"/>
              </a:ext>
            </a:extLst>
          </p:cNvPr>
          <p:cNvSpPr>
            <a:spLocks noGrp="1"/>
          </p:cNvSpPr>
          <p:nvPr>
            <p:ph type="sldNum" sz="quarter" idx="12"/>
          </p:nvPr>
        </p:nvSpPr>
        <p:spPr/>
        <p:txBody>
          <a:bodyPr/>
          <a:lstStyle/>
          <a:p>
            <a:fld id="{2EA600BA-DB00-455B-8978-6C66618801A7}" type="slidenum">
              <a:rPr lang="en-US" smtClean="0"/>
              <a:t>14</a:t>
            </a:fld>
            <a:endParaRPr lang="en-US"/>
          </a:p>
        </p:txBody>
      </p:sp>
    </p:spTree>
    <p:extLst>
      <p:ext uri="{BB962C8B-B14F-4D97-AF65-F5344CB8AC3E}">
        <p14:creationId xmlns:p14="http://schemas.microsoft.com/office/powerpoint/2010/main" val="4329281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02B2-DDE7-43DE-B079-4B23F40DF921}"/>
              </a:ext>
            </a:extLst>
          </p:cNvPr>
          <p:cNvSpPr>
            <a:spLocks noGrp="1"/>
          </p:cNvSpPr>
          <p:nvPr>
            <p:ph type="title"/>
          </p:nvPr>
        </p:nvSpPr>
        <p:spPr/>
        <p:txBody>
          <a:bodyPr/>
          <a:lstStyle/>
          <a:p>
            <a:r>
              <a:rPr lang="en-US" dirty="0"/>
              <a:t>VPB divider connection</a:t>
            </a:r>
          </a:p>
        </p:txBody>
      </p:sp>
      <p:pic>
        <p:nvPicPr>
          <p:cNvPr id="5" name="Content Placeholder 4">
            <a:extLst>
              <a:ext uri="{FF2B5EF4-FFF2-40B4-BE49-F238E27FC236}">
                <a16:creationId xmlns:a16="http://schemas.microsoft.com/office/drawing/2014/main" id="{E4948CF8-5AF7-4BF6-8AB5-150C1A8F59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8738" y="1123836"/>
            <a:ext cx="7315200" cy="4601183"/>
          </a:xfrm>
        </p:spPr>
      </p:pic>
      <p:sp>
        <p:nvSpPr>
          <p:cNvPr id="4" name="Slide Number Placeholder 3">
            <a:extLst>
              <a:ext uri="{FF2B5EF4-FFF2-40B4-BE49-F238E27FC236}">
                <a16:creationId xmlns:a16="http://schemas.microsoft.com/office/drawing/2014/main" id="{FD7D0E60-0612-4850-A89A-4B113C0DC052}"/>
              </a:ext>
            </a:extLst>
          </p:cNvPr>
          <p:cNvSpPr>
            <a:spLocks noGrp="1"/>
          </p:cNvSpPr>
          <p:nvPr>
            <p:ph type="sldNum" sz="quarter" idx="12"/>
          </p:nvPr>
        </p:nvSpPr>
        <p:spPr/>
        <p:txBody>
          <a:bodyPr/>
          <a:lstStyle/>
          <a:p>
            <a:fld id="{2EA600BA-DB00-455B-8978-6C66618801A7}" type="slidenum">
              <a:rPr lang="en-US" smtClean="0"/>
              <a:t>15</a:t>
            </a:fld>
            <a:endParaRPr lang="en-US"/>
          </a:p>
        </p:txBody>
      </p:sp>
    </p:spTree>
    <p:extLst>
      <p:ext uri="{BB962C8B-B14F-4D97-AF65-F5344CB8AC3E}">
        <p14:creationId xmlns:p14="http://schemas.microsoft.com/office/powerpoint/2010/main" val="37987723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ECBA6-3C87-41E8-8C5D-C67BAC739E66}"/>
              </a:ext>
            </a:extLst>
          </p:cNvPr>
          <p:cNvSpPr>
            <a:spLocks noGrp="1"/>
          </p:cNvSpPr>
          <p:nvPr>
            <p:ph type="title"/>
          </p:nvPr>
        </p:nvSpPr>
        <p:spPr/>
        <p:txBody>
          <a:bodyPr/>
          <a:lstStyle/>
          <a:p>
            <a:r>
              <a:rPr lang="en-US" dirty="0"/>
              <a:t>Low power modes</a:t>
            </a:r>
          </a:p>
        </p:txBody>
      </p:sp>
      <p:sp>
        <p:nvSpPr>
          <p:cNvPr id="3" name="Content Placeholder 2">
            <a:extLst>
              <a:ext uri="{FF2B5EF4-FFF2-40B4-BE49-F238E27FC236}">
                <a16:creationId xmlns:a16="http://schemas.microsoft.com/office/drawing/2014/main" id="{5FCD7F0B-5D47-4914-99AD-B8EAA3D31D76}"/>
              </a:ext>
            </a:extLst>
          </p:cNvPr>
          <p:cNvSpPr>
            <a:spLocks noGrp="1"/>
          </p:cNvSpPr>
          <p:nvPr>
            <p:ph idx="1"/>
          </p:nvPr>
        </p:nvSpPr>
        <p:spPr/>
        <p:txBody>
          <a:bodyPr>
            <a:normAutofit fontScale="92500" lnSpcReduction="20000"/>
          </a:bodyPr>
          <a:lstStyle/>
          <a:p>
            <a:r>
              <a:rPr lang="en-US" dirty="0"/>
              <a:t>The LPC214x supports two low power modes </a:t>
            </a:r>
          </a:p>
          <a:p>
            <a:pPr lvl="1"/>
            <a:r>
              <a:rPr lang="en-US" dirty="0"/>
              <a:t> </a:t>
            </a:r>
            <a:r>
              <a:rPr lang="en-US" sz="2200" dirty="0"/>
              <a:t>Idle mode </a:t>
            </a:r>
          </a:p>
          <a:p>
            <a:pPr lvl="1"/>
            <a:r>
              <a:rPr lang="en-US" sz="2200" dirty="0"/>
              <a:t> Power-down mode.</a:t>
            </a:r>
          </a:p>
          <a:p>
            <a:r>
              <a:rPr lang="en-US" dirty="0"/>
              <a:t>In idle mode, instruction execution is suspended until either a Reset or interrupt occurs.</a:t>
            </a:r>
          </a:p>
          <a:p>
            <a:r>
              <a:rPr lang="en-US" dirty="0"/>
              <a:t>Peripherals can continue to operate are during Idle mode and may generate interrupts to cause the processor to resume execution.</a:t>
            </a:r>
          </a:p>
          <a:p>
            <a:r>
              <a:rPr lang="en-US" dirty="0"/>
              <a:t>This mode eliminates power used by the processor itself, memory systems and related controllers and internal buses.</a:t>
            </a:r>
          </a:p>
          <a:p>
            <a:r>
              <a:rPr lang="en-US" dirty="0"/>
              <a:t>In power-down mode, the oscillator is shut down and the chip receives no internal clocks.</a:t>
            </a:r>
          </a:p>
          <a:p>
            <a:r>
              <a:rPr lang="en-US" dirty="0"/>
              <a:t>The processor state and registers, peripheral registers and internal SRAM values are preserved throughout this mode and the logic levels of chip pins remain unchanged.</a:t>
            </a:r>
          </a:p>
          <a:p>
            <a:r>
              <a:rPr lang="en-US" dirty="0"/>
              <a:t>This state can be exited and normal operation can be resumed by Reset or interrupt.</a:t>
            </a:r>
          </a:p>
          <a:p>
            <a:r>
              <a:rPr lang="en-US" dirty="0"/>
              <a:t>Chip power consumption is nearly zero.</a:t>
            </a:r>
          </a:p>
        </p:txBody>
      </p:sp>
      <p:sp>
        <p:nvSpPr>
          <p:cNvPr id="5" name="Slide Number Placeholder 4">
            <a:extLst>
              <a:ext uri="{FF2B5EF4-FFF2-40B4-BE49-F238E27FC236}">
                <a16:creationId xmlns:a16="http://schemas.microsoft.com/office/drawing/2014/main" id="{D1B8E6DE-69AC-4DF6-80EA-E09289E62241}"/>
              </a:ext>
            </a:extLst>
          </p:cNvPr>
          <p:cNvSpPr>
            <a:spLocks noGrp="1"/>
          </p:cNvSpPr>
          <p:nvPr>
            <p:ph type="sldNum" sz="quarter" idx="12"/>
          </p:nvPr>
        </p:nvSpPr>
        <p:spPr/>
        <p:txBody>
          <a:bodyPr/>
          <a:lstStyle/>
          <a:p>
            <a:fld id="{2EA600BA-DB00-455B-8978-6C66618801A7}" type="slidenum">
              <a:rPr lang="en-US" smtClean="0"/>
              <a:t>16</a:t>
            </a:fld>
            <a:endParaRPr lang="en-US"/>
          </a:p>
        </p:txBody>
      </p:sp>
    </p:spTree>
    <p:extLst>
      <p:ext uri="{BB962C8B-B14F-4D97-AF65-F5344CB8AC3E}">
        <p14:creationId xmlns:p14="http://schemas.microsoft.com/office/powerpoint/2010/main" val="7383601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029A-9E5C-44EA-B36E-4AC2DB76053A}"/>
              </a:ext>
            </a:extLst>
          </p:cNvPr>
          <p:cNvSpPr>
            <a:spLocks noGrp="1"/>
          </p:cNvSpPr>
          <p:nvPr>
            <p:ph type="title"/>
          </p:nvPr>
        </p:nvSpPr>
        <p:spPr/>
        <p:txBody>
          <a:bodyPr/>
          <a:lstStyle/>
          <a:p>
            <a:r>
              <a:rPr lang="en-US" dirty="0"/>
              <a:t>Wake up timer</a:t>
            </a:r>
          </a:p>
        </p:txBody>
      </p:sp>
      <p:sp>
        <p:nvSpPr>
          <p:cNvPr id="3" name="Content Placeholder 2">
            <a:extLst>
              <a:ext uri="{FF2B5EF4-FFF2-40B4-BE49-F238E27FC236}">
                <a16:creationId xmlns:a16="http://schemas.microsoft.com/office/drawing/2014/main" id="{B6825630-A308-4178-9249-58B051732DFA}"/>
              </a:ext>
            </a:extLst>
          </p:cNvPr>
          <p:cNvSpPr>
            <a:spLocks noGrp="1"/>
          </p:cNvSpPr>
          <p:nvPr>
            <p:ph idx="1"/>
          </p:nvPr>
        </p:nvSpPr>
        <p:spPr/>
        <p:txBody>
          <a:bodyPr/>
          <a:lstStyle/>
          <a:p>
            <a:r>
              <a:rPr lang="en-US" dirty="0"/>
              <a:t>If the processor has gone to any of the low power modes, it will be awakened by a stimuli like an interrupt or reset signal.</a:t>
            </a:r>
          </a:p>
          <a:p>
            <a:r>
              <a:rPr lang="en-US" dirty="0"/>
              <a:t>When wake up occurs, code execution for the required application should start.</a:t>
            </a:r>
          </a:p>
          <a:p>
            <a:r>
              <a:rPr lang="en-US" dirty="0"/>
              <a:t>The function of the wakeup timer is to monitor the crystal oscillator to ensure that it is safe to begin code execution</a:t>
            </a:r>
          </a:p>
          <a:p>
            <a:r>
              <a:rPr lang="en-US" dirty="0"/>
              <a:t>Once a clock is detected wakeup timer counts 4096 clocks.</a:t>
            </a:r>
          </a:p>
          <a:p>
            <a:r>
              <a:rPr lang="en-US" dirty="0"/>
              <a:t>When the onboard modules initialization is complete, the processor is allowed to execute instructions.</a:t>
            </a:r>
          </a:p>
          <a:p>
            <a:r>
              <a:rPr lang="en-US" dirty="0"/>
              <a:t>The function of the wakeup timer is to produce a standard amount of delay.</a:t>
            </a:r>
          </a:p>
        </p:txBody>
      </p:sp>
      <p:sp>
        <p:nvSpPr>
          <p:cNvPr id="5" name="Slide Number Placeholder 4">
            <a:extLst>
              <a:ext uri="{FF2B5EF4-FFF2-40B4-BE49-F238E27FC236}">
                <a16:creationId xmlns:a16="http://schemas.microsoft.com/office/drawing/2014/main" id="{8072D7FA-B025-4C82-B34F-DFD396ECA59C}"/>
              </a:ext>
            </a:extLst>
          </p:cNvPr>
          <p:cNvSpPr>
            <a:spLocks noGrp="1"/>
          </p:cNvSpPr>
          <p:nvPr>
            <p:ph type="sldNum" sz="quarter" idx="12"/>
          </p:nvPr>
        </p:nvSpPr>
        <p:spPr/>
        <p:txBody>
          <a:bodyPr/>
          <a:lstStyle/>
          <a:p>
            <a:fld id="{2EA600BA-DB00-455B-8978-6C66618801A7}" type="slidenum">
              <a:rPr lang="en-US" smtClean="0"/>
              <a:t>17</a:t>
            </a:fld>
            <a:endParaRPr lang="en-US"/>
          </a:p>
        </p:txBody>
      </p:sp>
    </p:spTree>
    <p:extLst>
      <p:ext uri="{BB962C8B-B14F-4D97-AF65-F5344CB8AC3E}">
        <p14:creationId xmlns:p14="http://schemas.microsoft.com/office/powerpoint/2010/main" val="19045011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429B-5A4D-4DC1-AD30-44F769AF04BF}"/>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78B10F3B-208F-4730-8ACA-299A9C4430A5}"/>
              </a:ext>
            </a:extLst>
          </p:cNvPr>
          <p:cNvSpPr>
            <a:spLocks noGrp="1"/>
          </p:cNvSpPr>
          <p:nvPr>
            <p:ph idx="1"/>
          </p:nvPr>
        </p:nvSpPr>
        <p:spPr/>
        <p:txBody>
          <a:bodyPr/>
          <a:lstStyle/>
          <a:p>
            <a:r>
              <a:rPr lang="en-US" dirty="0"/>
              <a:t>There are two sources for Reset.</a:t>
            </a:r>
          </a:p>
          <a:p>
            <a:r>
              <a:rPr lang="en-US" dirty="0"/>
              <a:t>One is the reset pin and other is the watchdog reset</a:t>
            </a:r>
          </a:p>
          <a:p>
            <a:r>
              <a:rPr lang="en-US" dirty="0"/>
              <a:t>The RESET pin is a Schmitt Trigger input</a:t>
            </a:r>
          </a:p>
          <a:p>
            <a:r>
              <a:rPr lang="en-US" dirty="0"/>
              <a:t>Reset occurs by one of these sources, the first action is of the starting of the wakeup timer</a:t>
            </a:r>
          </a:p>
          <a:p>
            <a:r>
              <a:rPr lang="en-US" dirty="0"/>
              <a:t>The process of resetting continues until the on-chip circuitry is initialized and a fixed number of clocks have occurred after the oscillator starts running.</a:t>
            </a:r>
          </a:p>
        </p:txBody>
      </p:sp>
      <p:sp>
        <p:nvSpPr>
          <p:cNvPr id="5" name="Slide Number Placeholder 4">
            <a:extLst>
              <a:ext uri="{FF2B5EF4-FFF2-40B4-BE49-F238E27FC236}">
                <a16:creationId xmlns:a16="http://schemas.microsoft.com/office/drawing/2014/main" id="{33F25725-0E00-4FA2-991B-9E7676AD2D59}"/>
              </a:ext>
            </a:extLst>
          </p:cNvPr>
          <p:cNvSpPr>
            <a:spLocks noGrp="1"/>
          </p:cNvSpPr>
          <p:nvPr>
            <p:ph type="sldNum" sz="quarter" idx="12"/>
          </p:nvPr>
        </p:nvSpPr>
        <p:spPr/>
        <p:txBody>
          <a:bodyPr/>
          <a:lstStyle/>
          <a:p>
            <a:fld id="{2EA600BA-DB00-455B-8978-6C66618801A7}" type="slidenum">
              <a:rPr lang="en-US" smtClean="0"/>
              <a:t>18</a:t>
            </a:fld>
            <a:endParaRPr lang="en-US"/>
          </a:p>
        </p:txBody>
      </p:sp>
    </p:spTree>
    <p:extLst>
      <p:ext uri="{BB962C8B-B14F-4D97-AF65-F5344CB8AC3E}">
        <p14:creationId xmlns:p14="http://schemas.microsoft.com/office/powerpoint/2010/main" val="16920829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7551-D053-4F1A-956F-864A09DE1668}"/>
              </a:ext>
            </a:extLst>
          </p:cNvPr>
          <p:cNvSpPr>
            <a:spLocks noGrp="1"/>
          </p:cNvSpPr>
          <p:nvPr>
            <p:ph type="title"/>
          </p:nvPr>
        </p:nvSpPr>
        <p:spPr/>
        <p:txBody>
          <a:bodyPr/>
          <a:lstStyle/>
          <a:p>
            <a:r>
              <a:rPr lang="en-US" dirty="0"/>
              <a:t>Reset sources and wake up timer</a:t>
            </a:r>
          </a:p>
        </p:txBody>
      </p:sp>
      <p:sp>
        <p:nvSpPr>
          <p:cNvPr id="4" name="Slide Number Placeholder 3">
            <a:extLst>
              <a:ext uri="{FF2B5EF4-FFF2-40B4-BE49-F238E27FC236}">
                <a16:creationId xmlns:a16="http://schemas.microsoft.com/office/drawing/2014/main" id="{39254824-8461-4A33-899B-88CDC24019D5}"/>
              </a:ext>
            </a:extLst>
          </p:cNvPr>
          <p:cNvSpPr>
            <a:spLocks noGrp="1"/>
          </p:cNvSpPr>
          <p:nvPr>
            <p:ph type="sldNum" sz="quarter" idx="12"/>
          </p:nvPr>
        </p:nvSpPr>
        <p:spPr/>
        <p:txBody>
          <a:bodyPr/>
          <a:lstStyle/>
          <a:p>
            <a:fld id="{2EA600BA-DB00-455B-8978-6C66618801A7}" type="slidenum">
              <a:rPr lang="en-US" smtClean="0"/>
              <a:t>19</a:t>
            </a:fld>
            <a:endParaRPr lang="en-US"/>
          </a:p>
        </p:txBody>
      </p:sp>
      <p:pic>
        <p:nvPicPr>
          <p:cNvPr id="7" name="Picture 6"/>
          <p:cNvPicPr>
            <a:picLocks noChangeAspect="1"/>
          </p:cNvPicPr>
          <p:nvPr/>
        </p:nvPicPr>
        <p:blipFill>
          <a:blip r:embed="rId2"/>
          <a:stretch>
            <a:fillRect/>
          </a:stretch>
        </p:blipFill>
        <p:spPr>
          <a:xfrm>
            <a:off x="4044661" y="1359910"/>
            <a:ext cx="6589474" cy="4777654"/>
          </a:xfrm>
          <a:prstGeom prst="rect">
            <a:avLst/>
          </a:prstGeom>
        </p:spPr>
      </p:pic>
    </p:spTree>
    <p:extLst>
      <p:ext uri="{BB962C8B-B14F-4D97-AF65-F5344CB8AC3E}">
        <p14:creationId xmlns:p14="http://schemas.microsoft.com/office/powerpoint/2010/main" val="42404619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C86FC-B86E-47C8-AF2E-215CE468C6E8}"/>
              </a:ext>
            </a:extLst>
          </p:cNvPr>
          <p:cNvSpPr>
            <a:spLocks noGrp="1"/>
          </p:cNvSpPr>
          <p:nvPr>
            <p:ph type="title"/>
          </p:nvPr>
        </p:nvSpPr>
        <p:spPr/>
        <p:txBody>
          <a:bodyPr/>
          <a:lstStyle/>
          <a:p>
            <a:r>
              <a:rPr lang="en-US" dirty="0"/>
              <a:t>What does the glitch filter do?</a:t>
            </a:r>
          </a:p>
        </p:txBody>
      </p:sp>
      <p:sp>
        <p:nvSpPr>
          <p:cNvPr id="3" name="Content Placeholder 2">
            <a:extLst>
              <a:ext uri="{FF2B5EF4-FFF2-40B4-BE49-F238E27FC236}">
                <a16:creationId xmlns:a16="http://schemas.microsoft.com/office/drawing/2014/main" id="{A7E9FA40-365D-4F5B-B5E5-0BD47FCEA83A}"/>
              </a:ext>
            </a:extLst>
          </p:cNvPr>
          <p:cNvSpPr>
            <a:spLocks noGrp="1"/>
          </p:cNvSpPr>
          <p:nvPr>
            <p:ph idx="1"/>
          </p:nvPr>
        </p:nvSpPr>
        <p:spPr/>
        <p:txBody>
          <a:bodyPr/>
          <a:lstStyle/>
          <a:p>
            <a:r>
              <a:rPr lang="en-US" dirty="0"/>
              <a:t>Removes unwanted high or low pulses from an input pin.</a:t>
            </a:r>
          </a:p>
          <a:p>
            <a:r>
              <a:rPr lang="en-US" dirty="0"/>
              <a:t>Reset glitch filter allows the processor to ignore external reset pulses that are very short</a:t>
            </a:r>
          </a:p>
          <a:p>
            <a:r>
              <a:rPr lang="en-US" dirty="0"/>
              <a:t>There should be minimum duration for the RESET pulse.</a:t>
            </a:r>
          </a:p>
          <a:p>
            <a:r>
              <a:rPr lang="en-US" dirty="0"/>
              <a:t>When the internal reset is removed, the processor begins executing at address 0x0</a:t>
            </a:r>
          </a:p>
        </p:txBody>
      </p:sp>
      <p:sp>
        <p:nvSpPr>
          <p:cNvPr id="5" name="Slide Number Placeholder 4">
            <a:extLst>
              <a:ext uri="{FF2B5EF4-FFF2-40B4-BE49-F238E27FC236}">
                <a16:creationId xmlns:a16="http://schemas.microsoft.com/office/drawing/2014/main" id="{40F92D82-888A-4042-83D9-EF27BD827CA7}"/>
              </a:ext>
            </a:extLst>
          </p:cNvPr>
          <p:cNvSpPr>
            <a:spLocks noGrp="1"/>
          </p:cNvSpPr>
          <p:nvPr>
            <p:ph type="sldNum" sz="quarter" idx="12"/>
          </p:nvPr>
        </p:nvSpPr>
        <p:spPr/>
        <p:txBody>
          <a:bodyPr/>
          <a:lstStyle/>
          <a:p>
            <a:fld id="{2EA600BA-DB00-455B-8978-6C66618801A7}" type="slidenum">
              <a:rPr lang="en-US" smtClean="0"/>
              <a:t>20</a:t>
            </a:fld>
            <a:endParaRPr lang="en-US"/>
          </a:p>
        </p:txBody>
      </p:sp>
    </p:spTree>
    <p:extLst>
      <p:ext uri="{BB962C8B-B14F-4D97-AF65-F5344CB8AC3E}">
        <p14:creationId xmlns:p14="http://schemas.microsoft.com/office/powerpoint/2010/main" val="33769524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A20B-700C-4C1A-8024-BB94AC40FA2E}"/>
              </a:ext>
            </a:extLst>
          </p:cNvPr>
          <p:cNvSpPr>
            <a:spLocks noGrp="1"/>
          </p:cNvSpPr>
          <p:nvPr>
            <p:ph type="title"/>
          </p:nvPr>
        </p:nvSpPr>
        <p:spPr/>
        <p:txBody>
          <a:bodyPr/>
          <a:lstStyle/>
          <a:p>
            <a:r>
              <a:rPr lang="en-US" dirty="0"/>
              <a:t>Memory mapping control</a:t>
            </a:r>
          </a:p>
        </p:txBody>
      </p:sp>
      <p:graphicFrame>
        <p:nvGraphicFramePr>
          <p:cNvPr id="4" name="Table 4">
            <a:extLst>
              <a:ext uri="{FF2B5EF4-FFF2-40B4-BE49-F238E27FC236}">
                <a16:creationId xmlns:a16="http://schemas.microsoft.com/office/drawing/2014/main" id="{5C14F627-EE77-4498-9C3A-1A9A318AA4DC}"/>
              </a:ext>
            </a:extLst>
          </p:cNvPr>
          <p:cNvGraphicFramePr>
            <a:graphicFrameLocks noGrp="1"/>
          </p:cNvGraphicFramePr>
          <p:nvPr>
            <p:ph idx="1"/>
            <p:extLst>
              <p:ext uri="{D42A27DB-BD31-4B8C-83A1-F6EECF244321}">
                <p14:modId xmlns:p14="http://schemas.microsoft.com/office/powerpoint/2010/main" val="3791361518"/>
              </p:ext>
            </p:extLst>
          </p:nvPr>
        </p:nvGraphicFramePr>
        <p:xfrm>
          <a:off x="3751506" y="2367280"/>
          <a:ext cx="7678492" cy="2123440"/>
        </p:xfrm>
        <a:graphic>
          <a:graphicData uri="http://schemas.openxmlformats.org/drawingml/2006/table">
            <a:tbl>
              <a:tblPr firstRow="1" bandRow="1">
                <a:tableStyleId>{5C22544A-7EE6-4342-B048-85BDC9FD1C3A}</a:tableStyleId>
              </a:tblPr>
              <a:tblGrid>
                <a:gridCol w="1919623">
                  <a:extLst>
                    <a:ext uri="{9D8B030D-6E8A-4147-A177-3AD203B41FA5}">
                      <a16:colId xmlns:a16="http://schemas.microsoft.com/office/drawing/2014/main" val="1207186509"/>
                    </a:ext>
                  </a:extLst>
                </a:gridCol>
                <a:gridCol w="1919623">
                  <a:extLst>
                    <a:ext uri="{9D8B030D-6E8A-4147-A177-3AD203B41FA5}">
                      <a16:colId xmlns:a16="http://schemas.microsoft.com/office/drawing/2014/main" val="813074144"/>
                    </a:ext>
                  </a:extLst>
                </a:gridCol>
                <a:gridCol w="1919623">
                  <a:extLst>
                    <a:ext uri="{9D8B030D-6E8A-4147-A177-3AD203B41FA5}">
                      <a16:colId xmlns:a16="http://schemas.microsoft.com/office/drawing/2014/main" val="1309775819"/>
                    </a:ext>
                  </a:extLst>
                </a:gridCol>
                <a:gridCol w="1919623">
                  <a:extLst>
                    <a:ext uri="{9D8B030D-6E8A-4147-A177-3AD203B41FA5}">
                      <a16:colId xmlns:a16="http://schemas.microsoft.com/office/drawing/2014/main" val="3706875712"/>
                    </a:ext>
                  </a:extLst>
                </a:gridCol>
              </a:tblGrid>
              <a:tr h="370840">
                <a:tc>
                  <a:txBody>
                    <a:bodyPr/>
                    <a:lstStyle/>
                    <a:p>
                      <a:r>
                        <a:rPr lang="en-US" dirty="0"/>
                        <a:t>Pins</a:t>
                      </a:r>
                    </a:p>
                  </a:txBody>
                  <a:tcPr/>
                </a:tc>
                <a:tc>
                  <a:txBody>
                    <a:bodyPr/>
                    <a:lstStyle/>
                    <a:p>
                      <a:r>
                        <a:rPr lang="en-US" dirty="0"/>
                        <a:t>Function</a:t>
                      </a:r>
                    </a:p>
                  </a:txBody>
                  <a:tcPr/>
                </a:tc>
                <a:tc>
                  <a:txBody>
                    <a:bodyPr/>
                    <a:lstStyle/>
                    <a:p>
                      <a:r>
                        <a:rPr lang="en-US" dirty="0"/>
                        <a:t>Bits of PINSEL0 register</a:t>
                      </a:r>
                    </a:p>
                  </a:txBody>
                  <a:tcPr/>
                </a:tc>
                <a:tc>
                  <a:txBody>
                    <a:bodyPr/>
                    <a:lstStyle/>
                    <a:p>
                      <a:r>
                        <a:rPr lang="en-US" dirty="0"/>
                        <a:t>Values</a:t>
                      </a:r>
                    </a:p>
                  </a:txBody>
                  <a:tcPr/>
                </a:tc>
                <a:extLst>
                  <a:ext uri="{0D108BD9-81ED-4DB2-BD59-A6C34878D82A}">
                    <a16:rowId xmlns:a16="http://schemas.microsoft.com/office/drawing/2014/main" val="1470533809"/>
                  </a:ext>
                </a:extLst>
              </a:tr>
              <a:tr h="370840">
                <a:tc>
                  <a:txBody>
                    <a:bodyPr/>
                    <a:lstStyle/>
                    <a:p>
                      <a:r>
                        <a:rPr lang="en-US" dirty="0"/>
                        <a:t>Port 0.0</a:t>
                      </a:r>
                    </a:p>
                  </a:txBody>
                  <a:tcPr/>
                </a:tc>
                <a:tc>
                  <a:txBody>
                    <a:bodyPr/>
                    <a:lstStyle/>
                    <a:p>
                      <a:r>
                        <a:rPr lang="en-US" dirty="0"/>
                        <a:t>GPIO</a:t>
                      </a:r>
                    </a:p>
                  </a:txBody>
                  <a:tcPr/>
                </a:tc>
                <a:tc>
                  <a:txBody>
                    <a:bodyPr/>
                    <a:lstStyle/>
                    <a:p>
                      <a:r>
                        <a:rPr lang="en-US" dirty="0"/>
                        <a:t>1:0</a:t>
                      </a:r>
                    </a:p>
                  </a:txBody>
                  <a:tcPr/>
                </a:tc>
                <a:tc>
                  <a:txBody>
                    <a:bodyPr/>
                    <a:lstStyle/>
                    <a:p>
                      <a:r>
                        <a:rPr lang="en-US" dirty="0"/>
                        <a:t>00</a:t>
                      </a:r>
                    </a:p>
                  </a:txBody>
                  <a:tcPr/>
                </a:tc>
                <a:extLst>
                  <a:ext uri="{0D108BD9-81ED-4DB2-BD59-A6C34878D82A}">
                    <a16:rowId xmlns:a16="http://schemas.microsoft.com/office/drawing/2014/main" val="22282136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Port 0.1</a:t>
                      </a:r>
                    </a:p>
                  </a:txBody>
                  <a:tcPr/>
                </a:tc>
                <a:tc>
                  <a:txBody>
                    <a:bodyPr/>
                    <a:lstStyle/>
                    <a:p>
                      <a:r>
                        <a:rPr lang="en-US" dirty="0" err="1"/>
                        <a:t>RxD</a:t>
                      </a:r>
                      <a:r>
                        <a:rPr lang="en-US" dirty="0"/>
                        <a:t> of UART0</a:t>
                      </a:r>
                    </a:p>
                  </a:txBody>
                  <a:tcPr/>
                </a:tc>
                <a:tc>
                  <a:txBody>
                    <a:bodyPr/>
                    <a:lstStyle/>
                    <a:p>
                      <a:r>
                        <a:rPr lang="en-US" dirty="0"/>
                        <a:t>3:2</a:t>
                      </a:r>
                    </a:p>
                  </a:txBody>
                  <a:tcPr/>
                </a:tc>
                <a:tc>
                  <a:txBody>
                    <a:bodyPr/>
                    <a:lstStyle/>
                    <a:p>
                      <a:r>
                        <a:rPr lang="en-US" dirty="0"/>
                        <a:t>01</a:t>
                      </a:r>
                    </a:p>
                  </a:txBody>
                  <a:tcPr/>
                </a:tc>
                <a:extLst>
                  <a:ext uri="{0D108BD9-81ED-4DB2-BD59-A6C34878D82A}">
                    <a16:rowId xmlns:a16="http://schemas.microsoft.com/office/drawing/2014/main" val="4290393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Port 0.2</a:t>
                      </a:r>
                    </a:p>
                  </a:txBody>
                  <a:tcPr/>
                </a:tc>
                <a:tc>
                  <a:txBody>
                    <a:bodyPr/>
                    <a:lstStyle/>
                    <a:p>
                      <a:r>
                        <a:rPr lang="en-US" dirty="0"/>
                        <a:t>Capture</a:t>
                      </a:r>
                    </a:p>
                  </a:txBody>
                  <a:tcPr/>
                </a:tc>
                <a:tc>
                  <a:txBody>
                    <a:bodyPr/>
                    <a:lstStyle/>
                    <a:p>
                      <a:r>
                        <a:rPr lang="en-US" dirty="0"/>
                        <a:t>5:4</a:t>
                      </a:r>
                    </a:p>
                  </a:txBody>
                  <a:tcPr/>
                </a:tc>
                <a:tc>
                  <a:txBody>
                    <a:bodyPr/>
                    <a:lstStyle/>
                    <a:p>
                      <a:r>
                        <a:rPr lang="en-US" dirty="0"/>
                        <a:t>10</a:t>
                      </a:r>
                    </a:p>
                  </a:txBody>
                  <a:tcPr/>
                </a:tc>
                <a:extLst>
                  <a:ext uri="{0D108BD9-81ED-4DB2-BD59-A6C34878D82A}">
                    <a16:rowId xmlns:a16="http://schemas.microsoft.com/office/drawing/2014/main" val="6565006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Port 0.14</a:t>
                      </a:r>
                    </a:p>
                  </a:txBody>
                  <a:tcPr/>
                </a:tc>
                <a:tc>
                  <a:txBody>
                    <a:bodyPr/>
                    <a:lstStyle/>
                    <a:p>
                      <a:r>
                        <a:rPr lang="en-US" dirty="0"/>
                        <a:t>SDA</a:t>
                      </a:r>
                    </a:p>
                  </a:txBody>
                  <a:tcPr/>
                </a:tc>
                <a:tc>
                  <a:txBody>
                    <a:bodyPr/>
                    <a:lstStyle/>
                    <a:p>
                      <a:r>
                        <a:rPr lang="en-US" dirty="0"/>
                        <a:t>29:28</a:t>
                      </a:r>
                    </a:p>
                  </a:txBody>
                  <a:tcPr/>
                </a:tc>
                <a:tc>
                  <a:txBody>
                    <a:bodyPr/>
                    <a:lstStyle/>
                    <a:p>
                      <a:r>
                        <a:rPr lang="en-US" dirty="0"/>
                        <a:t>11</a:t>
                      </a:r>
                    </a:p>
                  </a:txBody>
                  <a:tcPr/>
                </a:tc>
                <a:extLst>
                  <a:ext uri="{0D108BD9-81ED-4DB2-BD59-A6C34878D82A}">
                    <a16:rowId xmlns:a16="http://schemas.microsoft.com/office/drawing/2014/main" val="3272731329"/>
                  </a:ext>
                </a:extLst>
              </a:tr>
            </a:tbl>
          </a:graphicData>
        </a:graphic>
      </p:graphicFrame>
      <p:sp>
        <p:nvSpPr>
          <p:cNvPr id="5" name="Slide Number Placeholder 4">
            <a:extLst>
              <a:ext uri="{FF2B5EF4-FFF2-40B4-BE49-F238E27FC236}">
                <a16:creationId xmlns:a16="http://schemas.microsoft.com/office/drawing/2014/main" id="{80CD550D-086E-4C23-BF65-B3907D95A9A3}"/>
              </a:ext>
            </a:extLst>
          </p:cNvPr>
          <p:cNvSpPr>
            <a:spLocks noGrp="1"/>
          </p:cNvSpPr>
          <p:nvPr>
            <p:ph type="sldNum" sz="quarter" idx="12"/>
          </p:nvPr>
        </p:nvSpPr>
        <p:spPr/>
        <p:txBody>
          <a:bodyPr/>
          <a:lstStyle/>
          <a:p>
            <a:fld id="{2EA600BA-DB00-455B-8978-6C66618801A7}" type="slidenum">
              <a:rPr lang="en-US" smtClean="0"/>
              <a:t>21</a:t>
            </a:fld>
            <a:endParaRPr lang="en-US"/>
          </a:p>
        </p:txBody>
      </p:sp>
    </p:spTree>
    <p:extLst>
      <p:ext uri="{BB962C8B-B14F-4D97-AF65-F5344CB8AC3E}">
        <p14:creationId xmlns:p14="http://schemas.microsoft.com/office/powerpoint/2010/main" val="25071418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81F28-2EEA-4E2D-8233-7AC5CB87823C}"/>
              </a:ext>
            </a:extLst>
          </p:cNvPr>
          <p:cNvSpPr>
            <a:spLocks noGrp="1"/>
          </p:cNvSpPr>
          <p:nvPr>
            <p:ph type="title"/>
          </p:nvPr>
        </p:nvSpPr>
        <p:spPr/>
        <p:txBody>
          <a:bodyPr/>
          <a:lstStyle/>
          <a:p>
            <a:r>
              <a:rPr lang="en-US" dirty="0"/>
              <a:t>Memory mapping control </a:t>
            </a:r>
            <a:r>
              <a:rPr lang="en-US" dirty="0" err="1"/>
              <a:t>contd</a:t>
            </a:r>
            <a:r>
              <a:rPr lang="en-US" dirty="0"/>
              <a:t>…</a:t>
            </a:r>
          </a:p>
        </p:txBody>
      </p:sp>
      <p:sp>
        <p:nvSpPr>
          <p:cNvPr id="3" name="Content Placeholder 2">
            <a:extLst>
              <a:ext uri="{FF2B5EF4-FFF2-40B4-BE49-F238E27FC236}">
                <a16:creationId xmlns:a16="http://schemas.microsoft.com/office/drawing/2014/main" id="{E38346FF-1942-4AE0-B497-A36B5036B983}"/>
              </a:ext>
            </a:extLst>
          </p:cNvPr>
          <p:cNvSpPr>
            <a:spLocks noGrp="1"/>
          </p:cNvSpPr>
          <p:nvPr>
            <p:ph idx="1"/>
          </p:nvPr>
        </p:nvSpPr>
        <p:spPr/>
        <p:txBody>
          <a:bodyPr/>
          <a:lstStyle/>
          <a:p>
            <a:r>
              <a:rPr lang="en-US" dirty="0"/>
              <a:t>The interrupt vectors are all at the lower end of the memory map, beginning at address0X00000000.</a:t>
            </a:r>
          </a:p>
          <a:p>
            <a:r>
              <a:rPr lang="en-US" dirty="0"/>
              <a:t>There is not enough space in that region to write the ISR of each of the interrupts</a:t>
            </a:r>
          </a:p>
          <a:p>
            <a:r>
              <a:rPr lang="en-US" dirty="0"/>
              <a:t>These vectors may be mapped to other parts of the flash memory, or to the on-chip RAM</a:t>
            </a:r>
          </a:p>
        </p:txBody>
      </p:sp>
      <p:sp>
        <p:nvSpPr>
          <p:cNvPr id="5" name="Slide Number Placeholder 4">
            <a:extLst>
              <a:ext uri="{FF2B5EF4-FFF2-40B4-BE49-F238E27FC236}">
                <a16:creationId xmlns:a16="http://schemas.microsoft.com/office/drawing/2014/main" id="{44DF32F1-D3FB-4F41-AB81-236A2513B2AF}"/>
              </a:ext>
            </a:extLst>
          </p:cNvPr>
          <p:cNvSpPr>
            <a:spLocks noGrp="1"/>
          </p:cNvSpPr>
          <p:nvPr>
            <p:ph type="sldNum" sz="quarter" idx="12"/>
          </p:nvPr>
        </p:nvSpPr>
        <p:spPr/>
        <p:txBody>
          <a:bodyPr/>
          <a:lstStyle/>
          <a:p>
            <a:fld id="{2EA600BA-DB00-455B-8978-6C66618801A7}" type="slidenum">
              <a:rPr lang="en-US" smtClean="0"/>
              <a:t>22</a:t>
            </a:fld>
            <a:endParaRPr lang="en-US"/>
          </a:p>
        </p:txBody>
      </p:sp>
    </p:spTree>
    <p:extLst>
      <p:ext uri="{BB962C8B-B14F-4D97-AF65-F5344CB8AC3E}">
        <p14:creationId xmlns:p14="http://schemas.microsoft.com/office/powerpoint/2010/main" val="33822213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D9FE3-2C35-47D9-A485-3649079D66F2}"/>
              </a:ext>
            </a:extLst>
          </p:cNvPr>
          <p:cNvSpPr>
            <a:spLocks noGrp="1"/>
          </p:cNvSpPr>
          <p:nvPr>
            <p:ph type="title"/>
          </p:nvPr>
        </p:nvSpPr>
        <p:spPr/>
        <p:txBody>
          <a:bodyPr/>
          <a:lstStyle/>
          <a:p>
            <a:r>
              <a:rPr lang="en-US" dirty="0"/>
              <a:t>Internal Bus</a:t>
            </a:r>
          </a:p>
        </p:txBody>
      </p:sp>
      <p:sp>
        <p:nvSpPr>
          <p:cNvPr id="3" name="Content Placeholder 2">
            <a:extLst>
              <a:ext uri="{FF2B5EF4-FFF2-40B4-BE49-F238E27FC236}">
                <a16:creationId xmlns:a16="http://schemas.microsoft.com/office/drawing/2014/main" id="{9C3529A2-BCB8-4BA2-8881-0C1595C0FA48}"/>
              </a:ext>
            </a:extLst>
          </p:cNvPr>
          <p:cNvSpPr>
            <a:spLocks noGrp="1"/>
          </p:cNvSpPr>
          <p:nvPr>
            <p:ph idx="1"/>
          </p:nvPr>
        </p:nvSpPr>
        <p:spPr/>
        <p:txBody>
          <a:bodyPr/>
          <a:lstStyle/>
          <a:p>
            <a:r>
              <a:rPr lang="en-US" dirty="0"/>
              <a:t>Fig 6.6 shows the internal bus structure of the LPC214X family.</a:t>
            </a:r>
          </a:p>
          <a:p>
            <a:r>
              <a:rPr lang="en-US" dirty="0"/>
              <a:t>The fastest bus which is the ARM local bus and it connects the ARM core to memory.</a:t>
            </a:r>
          </a:p>
          <a:p>
            <a:r>
              <a:rPr lang="en-US" dirty="0"/>
              <a:t>Any high-speed GPIO may also use this bus.</a:t>
            </a:r>
          </a:p>
          <a:p>
            <a:r>
              <a:rPr lang="en-US" dirty="0"/>
              <a:t>The system functions and the VIC (Vectored Interrupt Controller) are on AHB bus, while the peripherals use the low-speed VPB bus.</a:t>
            </a:r>
          </a:p>
          <a:p>
            <a:r>
              <a:rPr lang="en-US" dirty="0"/>
              <a:t>Bridges are interfacing circuitry which convert one bus standard to another.</a:t>
            </a:r>
          </a:p>
          <a:p>
            <a:r>
              <a:rPr lang="en-US" dirty="0"/>
              <a:t>Thus there is an AHB bridge which acts as an intermediary between the highest speed local bus and the AHB.</a:t>
            </a:r>
          </a:p>
          <a:p>
            <a:r>
              <a:rPr lang="en-US" dirty="0"/>
              <a:t>The other bridge is the AHB to VPB bridge.</a:t>
            </a:r>
          </a:p>
        </p:txBody>
      </p:sp>
      <p:sp>
        <p:nvSpPr>
          <p:cNvPr id="5" name="Slide Number Placeholder 4">
            <a:extLst>
              <a:ext uri="{FF2B5EF4-FFF2-40B4-BE49-F238E27FC236}">
                <a16:creationId xmlns:a16="http://schemas.microsoft.com/office/drawing/2014/main" id="{C1AEC3CA-EE8B-43C8-89B2-3F983D2F2126}"/>
              </a:ext>
            </a:extLst>
          </p:cNvPr>
          <p:cNvSpPr>
            <a:spLocks noGrp="1"/>
          </p:cNvSpPr>
          <p:nvPr>
            <p:ph type="sldNum" sz="quarter" idx="12"/>
          </p:nvPr>
        </p:nvSpPr>
        <p:spPr/>
        <p:txBody>
          <a:bodyPr/>
          <a:lstStyle/>
          <a:p>
            <a:fld id="{2EA600BA-DB00-455B-8978-6C66618801A7}" type="slidenum">
              <a:rPr lang="en-US" smtClean="0"/>
              <a:t>23</a:t>
            </a:fld>
            <a:endParaRPr lang="en-US"/>
          </a:p>
        </p:txBody>
      </p:sp>
    </p:spTree>
    <p:extLst>
      <p:ext uri="{BB962C8B-B14F-4D97-AF65-F5344CB8AC3E}">
        <p14:creationId xmlns:p14="http://schemas.microsoft.com/office/powerpoint/2010/main" val="31737639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05577-49AE-42A9-9C6D-C8CA64678E41}"/>
              </a:ext>
            </a:extLst>
          </p:cNvPr>
          <p:cNvSpPr>
            <a:spLocks noGrp="1"/>
          </p:cNvSpPr>
          <p:nvPr>
            <p:ph type="title"/>
          </p:nvPr>
        </p:nvSpPr>
        <p:spPr/>
        <p:txBody>
          <a:bodyPr/>
          <a:lstStyle/>
          <a:p>
            <a:r>
              <a:rPr lang="en-US" dirty="0"/>
              <a:t>Internal bus</a:t>
            </a:r>
          </a:p>
        </p:txBody>
      </p:sp>
      <p:pic>
        <p:nvPicPr>
          <p:cNvPr id="5" name="Content Placeholder 4">
            <a:extLst>
              <a:ext uri="{FF2B5EF4-FFF2-40B4-BE49-F238E27FC236}">
                <a16:creationId xmlns:a16="http://schemas.microsoft.com/office/drawing/2014/main" id="{7A378B22-E1A7-4171-A11A-D7F8298D54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94353" y="863600"/>
            <a:ext cx="7063970" cy="5121275"/>
          </a:xfrm>
        </p:spPr>
      </p:pic>
      <p:sp>
        <p:nvSpPr>
          <p:cNvPr id="4" name="Slide Number Placeholder 3">
            <a:extLst>
              <a:ext uri="{FF2B5EF4-FFF2-40B4-BE49-F238E27FC236}">
                <a16:creationId xmlns:a16="http://schemas.microsoft.com/office/drawing/2014/main" id="{6E1188D5-1ED8-4302-A67C-FFD3BAEF5B11}"/>
              </a:ext>
            </a:extLst>
          </p:cNvPr>
          <p:cNvSpPr>
            <a:spLocks noGrp="1"/>
          </p:cNvSpPr>
          <p:nvPr>
            <p:ph type="sldNum" sz="quarter" idx="12"/>
          </p:nvPr>
        </p:nvSpPr>
        <p:spPr/>
        <p:txBody>
          <a:bodyPr/>
          <a:lstStyle/>
          <a:p>
            <a:fld id="{2EA600BA-DB00-455B-8978-6C66618801A7}" type="slidenum">
              <a:rPr lang="en-US" smtClean="0"/>
              <a:t>24</a:t>
            </a:fld>
            <a:endParaRPr lang="en-US"/>
          </a:p>
        </p:txBody>
      </p:sp>
    </p:spTree>
    <p:extLst>
      <p:ext uri="{BB962C8B-B14F-4D97-AF65-F5344CB8AC3E}">
        <p14:creationId xmlns:p14="http://schemas.microsoft.com/office/powerpoint/2010/main" val="7592508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690A-E4F5-419D-9ED6-CC28102E26A1}"/>
              </a:ext>
            </a:extLst>
          </p:cNvPr>
          <p:cNvSpPr>
            <a:spLocks noGrp="1"/>
          </p:cNvSpPr>
          <p:nvPr>
            <p:ph type="title"/>
          </p:nvPr>
        </p:nvSpPr>
        <p:spPr/>
        <p:txBody>
          <a:bodyPr/>
          <a:lstStyle/>
          <a:p>
            <a:r>
              <a:rPr lang="en-US" dirty="0" err="1"/>
              <a:t>Pheripherals</a:t>
            </a:r>
            <a:endParaRPr lang="en-US" dirty="0"/>
          </a:p>
        </p:txBody>
      </p:sp>
      <p:sp>
        <p:nvSpPr>
          <p:cNvPr id="3" name="Content Placeholder 2">
            <a:extLst>
              <a:ext uri="{FF2B5EF4-FFF2-40B4-BE49-F238E27FC236}">
                <a16:creationId xmlns:a16="http://schemas.microsoft.com/office/drawing/2014/main" id="{B5CA7E56-63B2-4F73-B142-2B40A0571739}"/>
              </a:ext>
            </a:extLst>
          </p:cNvPr>
          <p:cNvSpPr>
            <a:spLocks noGrp="1"/>
          </p:cNvSpPr>
          <p:nvPr>
            <p:ph idx="1"/>
          </p:nvPr>
        </p:nvSpPr>
        <p:spPr/>
        <p:txBody>
          <a:bodyPr/>
          <a:lstStyle/>
          <a:p>
            <a:pPr marL="68580" indent="0">
              <a:buNone/>
            </a:pPr>
            <a:r>
              <a:rPr lang="en-US" b="1" dirty="0"/>
              <a:t>The Peripherals:</a:t>
            </a:r>
            <a:endParaRPr lang="en-IN" b="1" dirty="0"/>
          </a:p>
          <a:p>
            <a:r>
              <a:rPr lang="en-US" dirty="0"/>
              <a:t>Initially, will understand the method of operation of each peripheral.</a:t>
            </a:r>
          </a:p>
          <a:p>
            <a:r>
              <a:rPr lang="en-US" dirty="0"/>
              <a:t>Then simulate their working using </a:t>
            </a:r>
            <a:r>
              <a:rPr lang="en-US" dirty="0" err="1"/>
              <a:t>keil</a:t>
            </a:r>
            <a:r>
              <a:rPr lang="en-US" dirty="0"/>
              <a:t> simulator</a:t>
            </a:r>
          </a:p>
        </p:txBody>
      </p:sp>
      <p:sp>
        <p:nvSpPr>
          <p:cNvPr id="5" name="Slide Number Placeholder 4">
            <a:extLst>
              <a:ext uri="{FF2B5EF4-FFF2-40B4-BE49-F238E27FC236}">
                <a16:creationId xmlns:a16="http://schemas.microsoft.com/office/drawing/2014/main" id="{B4B26450-EE07-4DCB-9483-FF2676AB83B6}"/>
              </a:ext>
            </a:extLst>
          </p:cNvPr>
          <p:cNvSpPr>
            <a:spLocks noGrp="1"/>
          </p:cNvSpPr>
          <p:nvPr>
            <p:ph type="sldNum" sz="quarter" idx="12"/>
          </p:nvPr>
        </p:nvSpPr>
        <p:spPr/>
        <p:txBody>
          <a:bodyPr/>
          <a:lstStyle/>
          <a:p>
            <a:fld id="{2EA600BA-DB00-455B-8978-6C66618801A7}" type="slidenum">
              <a:rPr lang="en-US" smtClean="0"/>
              <a:t>25</a:t>
            </a:fld>
            <a:endParaRPr lang="en-US"/>
          </a:p>
        </p:txBody>
      </p:sp>
    </p:spTree>
    <p:extLst>
      <p:ext uri="{BB962C8B-B14F-4D97-AF65-F5344CB8AC3E}">
        <p14:creationId xmlns:p14="http://schemas.microsoft.com/office/powerpoint/2010/main" val="23760952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690A-E4F5-419D-9ED6-CC28102E26A1}"/>
              </a:ext>
            </a:extLst>
          </p:cNvPr>
          <p:cNvSpPr>
            <a:spLocks noGrp="1"/>
          </p:cNvSpPr>
          <p:nvPr>
            <p:ph type="title"/>
          </p:nvPr>
        </p:nvSpPr>
        <p:spPr/>
        <p:txBody>
          <a:bodyPr/>
          <a:lstStyle/>
          <a:p>
            <a:r>
              <a:rPr lang="en-US" dirty="0"/>
              <a:t>General purpose input output</a:t>
            </a:r>
          </a:p>
        </p:txBody>
      </p:sp>
      <p:sp>
        <p:nvSpPr>
          <p:cNvPr id="3" name="Content Placeholder 2">
            <a:extLst>
              <a:ext uri="{FF2B5EF4-FFF2-40B4-BE49-F238E27FC236}">
                <a16:creationId xmlns:a16="http://schemas.microsoft.com/office/drawing/2014/main" id="{B5CA7E56-63B2-4F73-B142-2B40A0571739}"/>
              </a:ext>
            </a:extLst>
          </p:cNvPr>
          <p:cNvSpPr>
            <a:spLocks noGrp="1"/>
          </p:cNvSpPr>
          <p:nvPr>
            <p:ph idx="1"/>
          </p:nvPr>
        </p:nvSpPr>
        <p:spPr/>
        <p:txBody>
          <a:bodyPr/>
          <a:lstStyle/>
          <a:p>
            <a:r>
              <a:rPr lang="en-US" dirty="0"/>
              <a:t>The LPC 214x chips have two I/O ports designated as Port 0 and Port 1.</a:t>
            </a:r>
          </a:p>
          <a:p>
            <a:r>
              <a:rPr lang="en-US" dirty="0"/>
              <a:t>Both are 32-bit I/O ports, but each pin of them can be configured and used individually as an input or output pin, except P0.31 which is an output only pin</a:t>
            </a:r>
          </a:p>
          <a:p>
            <a:r>
              <a:rPr lang="en-US" dirty="0"/>
              <a:t>Pins P0.24, P0.26, P0.27 are not available.</a:t>
            </a:r>
          </a:p>
          <a:p>
            <a:r>
              <a:rPr lang="en-US" dirty="0"/>
              <a:t>In Port1, pins P1.0 through 15 are not available.</a:t>
            </a:r>
          </a:p>
          <a:p>
            <a:r>
              <a:rPr lang="en-US" dirty="0"/>
              <a:t>P1.16 to P1.25 are reserved.</a:t>
            </a:r>
          </a:p>
        </p:txBody>
      </p:sp>
      <p:sp>
        <p:nvSpPr>
          <p:cNvPr id="5" name="Slide Number Placeholder 4">
            <a:extLst>
              <a:ext uri="{FF2B5EF4-FFF2-40B4-BE49-F238E27FC236}">
                <a16:creationId xmlns:a16="http://schemas.microsoft.com/office/drawing/2014/main" id="{B4B26450-EE07-4DCB-9483-FF2676AB83B6}"/>
              </a:ext>
            </a:extLst>
          </p:cNvPr>
          <p:cNvSpPr>
            <a:spLocks noGrp="1"/>
          </p:cNvSpPr>
          <p:nvPr>
            <p:ph type="sldNum" sz="quarter" idx="12"/>
          </p:nvPr>
        </p:nvSpPr>
        <p:spPr/>
        <p:txBody>
          <a:bodyPr/>
          <a:lstStyle/>
          <a:p>
            <a:fld id="{2EA600BA-DB00-455B-8978-6C66618801A7}" type="slidenum">
              <a:rPr lang="en-US" smtClean="0"/>
              <a:t>26</a:t>
            </a:fld>
            <a:endParaRPr lang="en-US"/>
          </a:p>
        </p:txBody>
      </p:sp>
    </p:spTree>
    <p:extLst>
      <p:ext uri="{BB962C8B-B14F-4D97-AF65-F5344CB8AC3E}">
        <p14:creationId xmlns:p14="http://schemas.microsoft.com/office/powerpoint/2010/main" val="23260633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65D03-F85E-4F04-B7F0-6562ECDAA8A0}"/>
              </a:ext>
            </a:extLst>
          </p:cNvPr>
          <p:cNvSpPr>
            <a:spLocks noGrp="1"/>
          </p:cNvSpPr>
          <p:nvPr>
            <p:ph type="title"/>
          </p:nvPr>
        </p:nvSpPr>
        <p:spPr/>
        <p:txBody>
          <a:bodyPr/>
          <a:lstStyle/>
          <a:p>
            <a:r>
              <a:rPr lang="en-US" dirty="0"/>
              <a:t>Pin select block</a:t>
            </a:r>
          </a:p>
        </p:txBody>
      </p:sp>
      <p:sp>
        <p:nvSpPr>
          <p:cNvPr id="3" name="Content Placeholder 2">
            <a:extLst>
              <a:ext uri="{FF2B5EF4-FFF2-40B4-BE49-F238E27FC236}">
                <a16:creationId xmlns:a16="http://schemas.microsoft.com/office/drawing/2014/main" id="{3898F6BA-7F38-49E2-80B7-CC2F63DE85FB}"/>
              </a:ext>
            </a:extLst>
          </p:cNvPr>
          <p:cNvSpPr>
            <a:spLocks noGrp="1"/>
          </p:cNvSpPr>
          <p:nvPr>
            <p:ph idx="1"/>
          </p:nvPr>
        </p:nvSpPr>
        <p:spPr/>
        <p:txBody>
          <a:bodyPr/>
          <a:lstStyle/>
          <a:p>
            <a:r>
              <a:rPr lang="en-US" dirty="0"/>
              <a:t>The pin connect block allows selected pins of the microcontroller to have more than one function.</a:t>
            </a:r>
          </a:p>
          <a:p>
            <a:r>
              <a:rPr lang="en-US" dirty="0"/>
              <a:t>In LPC chip, each pin has four functions, selectable by the bits in pin select register.</a:t>
            </a:r>
          </a:p>
          <a:p>
            <a:r>
              <a:rPr lang="en-US" dirty="0"/>
              <a:t>The pin connect block allows selected pins of the microcontroller to have more than one function. </a:t>
            </a:r>
          </a:p>
          <a:p>
            <a:r>
              <a:rPr lang="en-US" dirty="0"/>
              <a:t>There are three Pin Select registers in this chip designated as PINSEL0, PINSEL1, PINSEL2.</a:t>
            </a:r>
          </a:p>
          <a:p>
            <a:r>
              <a:rPr lang="en-US" dirty="0"/>
              <a:t>Each of these 32 bit registers can handle 16 pins .</a:t>
            </a:r>
          </a:p>
        </p:txBody>
      </p:sp>
      <p:sp>
        <p:nvSpPr>
          <p:cNvPr id="5" name="Slide Number Placeholder 4">
            <a:extLst>
              <a:ext uri="{FF2B5EF4-FFF2-40B4-BE49-F238E27FC236}">
                <a16:creationId xmlns:a16="http://schemas.microsoft.com/office/drawing/2014/main" id="{0F74D963-B186-4797-B501-F2F2B99705E9}"/>
              </a:ext>
            </a:extLst>
          </p:cNvPr>
          <p:cNvSpPr>
            <a:spLocks noGrp="1"/>
          </p:cNvSpPr>
          <p:nvPr>
            <p:ph type="sldNum" sz="quarter" idx="12"/>
          </p:nvPr>
        </p:nvSpPr>
        <p:spPr/>
        <p:txBody>
          <a:bodyPr/>
          <a:lstStyle/>
          <a:p>
            <a:fld id="{2EA600BA-DB00-455B-8978-6C66618801A7}" type="slidenum">
              <a:rPr lang="en-US" smtClean="0"/>
              <a:t>27</a:t>
            </a:fld>
            <a:endParaRPr lang="en-US"/>
          </a:p>
        </p:txBody>
      </p:sp>
    </p:spTree>
    <p:extLst>
      <p:ext uri="{BB962C8B-B14F-4D97-AF65-F5344CB8AC3E}">
        <p14:creationId xmlns:p14="http://schemas.microsoft.com/office/powerpoint/2010/main" val="8793378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097E-C258-4C42-AE37-EF6090A7C883}"/>
              </a:ext>
            </a:extLst>
          </p:cNvPr>
          <p:cNvSpPr>
            <a:spLocks noGrp="1"/>
          </p:cNvSpPr>
          <p:nvPr>
            <p:ph type="title"/>
          </p:nvPr>
        </p:nvSpPr>
        <p:spPr/>
        <p:txBody>
          <a:bodyPr/>
          <a:lstStyle/>
          <a:p>
            <a:r>
              <a:rPr lang="en-US" dirty="0"/>
              <a:t>Four functions of P0.19</a:t>
            </a:r>
          </a:p>
        </p:txBody>
      </p:sp>
      <p:graphicFrame>
        <p:nvGraphicFramePr>
          <p:cNvPr id="6" name="Table 6">
            <a:extLst>
              <a:ext uri="{FF2B5EF4-FFF2-40B4-BE49-F238E27FC236}">
                <a16:creationId xmlns:a16="http://schemas.microsoft.com/office/drawing/2014/main" id="{24B0FE2A-2A61-443D-B640-8C5A3010D27C}"/>
              </a:ext>
            </a:extLst>
          </p:cNvPr>
          <p:cNvGraphicFramePr>
            <a:graphicFrameLocks noGrp="1"/>
          </p:cNvGraphicFramePr>
          <p:nvPr>
            <p:ph idx="1"/>
            <p:extLst>
              <p:ext uri="{D42A27DB-BD31-4B8C-83A1-F6EECF244321}">
                <p14:modId xmlns:p14="http://schemas.microsoft.com/office/powerpoint/2010/main" val="1698999231"/>
              </p:ext>
            </p:extLst>
          </p:nvPr>
        </p:nvGraphicFramePr>
        <p:xfrm>
          <a:off x="3798398" y="2367280"/>
          <a:ext cx="7678492" cy="2123440"/>
        </p:xfrm>
        <a:graphic>
          <a:graphicData uri="http://schemas.openxmlformats.org/drawingml/2006/table">
            <a:tbl>
              <a:tblPr firstRow="1" bandRow="1">
                <a:tableStyleId>{5C22544A-7EE6-4342-B048-85BDC9FD1C3A}</a:tableStyleId>
              </a:tblPr>
              <a:tblGrid>
                <a:gridCol w="1919623">
                  <a:extLst>
                    <a:ext uri="{9D8B030D-6E8A-4147-A177-3AD203B41FA5}">
                      <a16:colId xmlns:a16="http://schemas.microsoft.com/office/drawing/2014/main" val="1295371442"/>
                    </a:ext>
                  </a:extLst>
                </a:gridCol>
                <a:gridCol w="1919623">
                  <a:extLst>
                    <a:ext uri="{9D8B030D-6E8A-4147-A177-3AD203B41FA5}">
                      <a16:colId xmlns:a16="http://schemas.microsoft.com/office/drawing/2014/main" val="757802221"/>
                    </a:ext>
                  </a:extLst>
                </a:gridCol>
                <a:gridCol w="955371">
                  <a:extLst>
                    <a:ext uri="{9D8B030D-6E8A-4147-A177-3AD203B41FA5}">
                      <a16:colId xmlns:a16="http://schemas.microsoft.com/office/drawing/2014/main" val="2732630160"/>
                    </a:ext>
                  </a:extLst>
                </a:gridCol>
                <a:gridCol w="2883875">
                  <a:extLst>
                    <a:ext uri="{9D8B030D-6E8A-4147-A177-3AD203B41FA5}">
                      <a16:colId xmlns:a16="http://schemas.microsoft.com/office/drawing/2014/main" val="2146500106"/>
                    </a:ext>
                  </a:extLst>
                </a:gridCol>
              </a:tblGrid>
              <a:tr h="370840">
                <a:tc>
                  <a:txBody>
                    <a:bodyPr/>
                    <a:lstStyle/>
                    <a:p>
                      <a:r>
                        <a:rPr lang="en-US" dirty="0" err="1"/>
                        <a:t>PinSelect</a:t>
                      </a:r>
                      <a:r>
                        <a:rPr lang="en-US" dirty="0"/>
                        <a:t> 1 Reg bits</a:t>
                      </a:r>
                    </a:p>
                  </a:txBody>
                  <a:tcPr/>
                </a:tc>
                <a:tc>
                  <a:txBody>
                    <a:bodyPr/>
                    <a:lstStyle/>
                    <a:p>
                      <a:r>
                        <a:rPr lang="en-US" dirty="0"/>
                        <a:t>Port Pin no</a:t>
                      </a:r>
                    </a:p>
                  </a:txBody>
                  <a:tcPr/>
                </a:tc>
                <a:tc>
                  <a:txBody>
                    <a:bodyPr/>
                    <a:lstStyle/>
                    <a:p>
                      <a:r>
                        <a:rPr lang="en-US" dirty="0"/>
                        <a:t>Value</a:t>
                      </a:r>
                    </a:p>
                  </a:txBody>
                  <a:tcPr/>
                </a:tc>
                <a:tc>
                  <a:txBody>
                    <a:bodyPr/>
                    <a:lstStyle/>
                    <a:p>
                      <a:r>
                        <a:rPr lang="en-US" dirty="0"/>
                        <a:t>Pin function</a:t>
                      </a:r>
                    </a:p>
                  </a:txBody>
                  <a:tcPr/>
                </a:tc>
                <a:extLst>
                  <a:ext uri="{0D108BD9-81ED-4DB2-BD59-A6C34878D82A}">
                    <a16:rowId xmlns:a16="http://schemas.microsoft.com/office/drawing/2014/main" val="3255986583"/>
                  </a:ext>
                </a:extLst>
              </a:tr>
              <a:tr h="370840">
                <a:tc>
                  <a:txBody>
                    <a:bodyPr/>
                    <a:lstStyle/>
                    <a:p>
                      <a:r>
                        <a:rPr lang="en-US" dirty="0"/>
                        <a:t>7:6</a:t>
                      </a:r>
                    </a:p>
                  </a:txBody>
                  <a:tcPr/>
                </a:tc>
                <a:tc>
                  <a:txBody>
                    <a:bodyPr/>
                    <a:lstStyle/>
                    <a:p>
                      <a:r>
                        <a:rPr lang="en-US" dirty="0"/>
                        <a:t>P0.19</a:t>
                      </a:r>
                    </a:p>
                  </a:txBody>
                  <a:tcPr/>
                </a:tc>
                <a:tc>
                  <a:txBody>
                    <a:bodyPr/>
                    <a:lstStyle/>
                    <a:p>
                      <a:r>
                        <a:rPr lang="en-US" dirty="0"/>
                        <a:t>00</a:t>
                      </a:r>
                    </a:p>
                  </a:txBody>
                  <a:tcPr/>
                </a:tc>
                <a:tc>
                  <a:txBody>
                    <a:bodyPr/>
                    <a:lstStyle/>
                    <a:p>
                      <a:r>
                        <a:rPr lang="en-US" dirty="0"/>
                        <a:t>GPIO Port 0.19</a:t>
                      </a:r>
                    </a:p>
                  </a:txBody>
                  <a:tcPr/>
                </a:tc>
                <a:extLst>
                  <a:ext uri="{0D108BD9-81ED-4DB2-BD59-A6C34878D82A}">
                    <a16:rowId xmlns:a16="http://schemas.microsoft.com/office/drawing/2014/main" val="2523782353"/>
                  </a:ext>
                </a:extLst>
              </a:tr>
              <a:tr h="370840">
                <a:tc>
                  <a:txBody>
                    <a:bodyPr/>
                    <a:lstStyle/>
                    <a:p>
                      <a:endParaRPr lang="en-US" dirty="0"/>
                    </a:p>
                  </a:txBody>
                  <a:tcPr/>
                </a:tc>
                <a:tc>
                  <a:txBody>
                    <a:bodyPr/>
                    <a:lstStyle/>
                    <a:p>
                      <a:endParaRPr lang="en-US" dirty="0"/>
                    </a:p>
                  </a:txBody>
                  <a:tcPr/>
                </a:tc>
                <a:tc>
                  <a:txBody>
                    <a:bodyPr/>
                    <a:lstStyle/>
                    <a:p>
                      <a:r>
                        <a:rPr lang="en-US" dirty="0"/>
                        <a:t>01</a:t>
                      </a:r>
                    </a:p>
                  </a:txBody>
                  <a:tcPr/>
                </a:tc>
                <a:tc>
                  <a:txBody>
                    <a:bodyPr/>
                    <a:lstStyle/>
                    <a:p>
                      <a:r>
                        <a:rPr lang="en-US" dirty="0"/>
                        <a:t>Match 1.2 (Timer 1)</a:t>
                      </a:r>
                    </a:p>
                  </a:txBody>
                  <a:tcPr/>
                </a:tc>
                <a:extLst>
                  <a:ext uri="{0D108BD9-81ED-4DB2-BD59-A6C34878D82A}">
                    <a16:rowId xmlns:a16="http://schemas.microsoft.com/office/drawing/2014/main" val="3303167174"/>
                  </a:ext>
                </a:extLst>
              </a:tr>
              <a:tr h="370840">
                <a:tc>
                  <a:txBody>
                    <a:bodyPr/>
                    <a:lstStyle/>
                    <a:p>
                      <a:endParaRPr lang="en-US" dirty="0"/>
                    </a:p>
                  </a:txBody>
                  <a:tcPr/>
                </a:tc>
                <a:tc>
                  <a:txBody>
                    <a:bodyPr/>
                    <a:lstStyle/>
                    <a:p>
                      <a:endParaRPr lang="en-US" dirty="0"/>
                    </a:p>
                  </a:txBody>
                  <a:tcPr/>
                </a:tc>
                <a:tc>
                  <a:txBody>
                    <a:bodyPr/>
                    <a:lstStyle/>
                    <a:p>
                      <a:r>
                        <a:rPr lang="en-US" dirty="0"/>
                        <a:t>10</a:t>
                      </a:r>
                    </a:p>
                  </a:txBody>
                  <a:tcPr/>
                </a:tc>
                <a:tc>
                  <a:txBody>
                    <a:bodyPr/>
                    <a:lstStyle/>
                    <a:p>
                      <a:r>
                        <a:rPr lang="en-US" dirty="0"/>
                        <a:t>MOSI1 (SSP)</a:t>
                      </a:r>
                    </a:p>
                  </a:txBody>
                  <a:tcPr/>
                </a:tc>
                <a:extLst>
                  <a:ext uri="{0D108BD9-81ED-4DB2-BD59-A6C34878D82A}">
                    <a16:rowId xmlns:a16="http://schemas.microsoft.com/office/drawing/2014/main" val="790520930"/>
                  </a:ext>
                </a:extLst>
              </a:tr>
              <a:tr h="370840">
                <a:tc>
                  <a:txBody>
                    <a:bodyPr/>
                    <a:lstStyle/>
                    <a:p>
                      <a:endParaRPr lang="en-US" dirty="0"/>
                    </a:p>
                  </a:txBody>
                  <a:tcPr/>
                </a:tc>
                <a:tc>
                  <a:txBody>
                    <a:bodyPr/>
                    <a:lstStyle/>
                    <a:p>
                      <a:endParaRPr lang="en-US" dirty="0"/>
                    </a:p>
                  </a:txBody>
                  <a:tcPr/>
                </a:tc>
                <a:tc>
                  <a:txBody>
                    <a:bodyPr/>
                    <a:lstStyle/>
                    <a:p>
                      <a:r>
                        <a:rPr lang="en-US" dirty="0"/>
                        <a:t>11</a:t>
                      </a:r>
                    </a:p>
                  </a:txBody>
                  <a:tcPr/>
                </a:tc>
                <a:tc>
                  <a:txBody>
                    <a:bodyPr/>
                    <a:lstStyle/>
                    <a:p>
                      <a:r>
                        <a:rPr lang="en-US" dirty="0"/>
                        <a:t>Capture 1.2 (Timer 1)</a:t>
                      </a:r>
                    </a:p>
                  </a:txBody>
                  <a:tcPr/>
                </a:tc>
                <a:extLst>
                  <a:ext uri="{0D108BD9-81ED-4DB2-BD59-A6C34878D82A}">
                    <a16:rowId xmlns:a16="http://schemas.microsoft.com/office/drawing/2014/main" val="1907613449"/>
                  </a:ext>
                </a:extLst>
              </a:tr>
            </a:tbl>
          </a:graphicData>
        </a:graphic>
      </p:graphicFrame>
      <p:sp>
        <p:nvSpPr>
          <p:cNvPr id="4" name="Slide Number Placeholder 3">
            <a:extLst>
              <a:ext uri="{FF2B5EF4-FFF2-40B4-BE49-F238E27FC236}">
                <a16:creationId xmlns:a16="http://schemas.microsoft.com/office/drawing/2014/main" id="{33AB9375-9C8D-4902-BF00-661DCAD01FD4}"/>
              </a:ext>
            </a:extLst>
          </p:cNvPr>
          <p:cNvSpPr>
            <a:spLocks noGrp="1"/>
          </p:cNvSpPr>
          <p:nvPr>
            <p:ph type="sldNum" sz="quarter" idx="12"/>
          </p:nvPr>
        </p:nvSpPr>
        <p:spPr/>
        <p:txBody>
          <a:bodyPr/>
          <a:lstStyle/>
          <a:p>
            <a:fld id="{2EA600BA-DB00-455B-8978-6C66618801A7}" type="slidenum">
              <a:rPr lang="en-US" smtClean="0"/>
              <a:t>28</a:t>
            </a:fld>
            <a:endParaRPr lang="en-US"/>
          </a:p>
        </p:txBody>
      </p:sp>
    </p:spTree>
    <p:extLst>
      <p:ext uri="{BB962C8B-B14F-4D97-AF65-F5344CB8AC3E}">
        <p14:creationId xmlns:p14="http://schemas.microsoft.com/office/powerpoint/2010/main" val="26008284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ECE5-F2B5-4FE6-B094-2D9AE94EFD6F}"/>
              </a:ext>
            </a:extLst>
          </p:cNvPr>
          <p:cNvSpPr>
            <a:spLocks noGrp="1"/>
          </p:cNvSpPr>
          <p:nvPr>
            <p:ph type="title"/>
          </p:nvPr>
        </p:nvSpPr>
        <p:spPr/>
        <p:txBody>
          <a:bodyPr/>
          <a:lstStyle/>
          <a:p>
            <a:r>
              <a:rPr lang="en-US" dirty="0"/>
              <a:t>Relevant bits of PINSEL0</a:t>
            </a:r>
          </a:p>
        </p:txBody>
      </p:sp>
      <p:graphicFrame>
        <p:nvGraphicFramePr>
          <p:cNvPr id="6" name="Table 6">
            <a:extLst>
              <a:ext uri="{FF2B5EF4-FFF2-40B4-BE49-F238E27FC236}">
                <a16:creationId xmlns:a16="http://schemas.microsoft.com/office/drawing/2014/main" id="{5C7E8858-FD78-493A-A35A-7DBE33B8E28B}"/>
              </a:ext>
            </a:extLst>
          </p:cNvPr>
          <p:cNvGraphicFramePr>
            <a:graphicFrameLocks noGrp="1"/>
          </p:cNvGraphicFramePr>
          <p:nvPr>
            <p:ph idx="1"/>
            <p:extLst>
              <p:ext uri="{D42A27DB-BD31-4B8C-83A1-F6EECF244321}">
                <p14:modId xmlns:p14="http://schemas.microsoft.com/office/powerpoint/2010/main" val="1767596646"/>
              </p:ext>
            </p:extLst>
          </p:nvPr>
        </p:nvGraphicFramePr>
        <p:xfrm>
          <a:off x="3869268" y="2497328"/>
          <a:ext cx="7315200" cy="1854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382936818"/>
                    </a:ext>
                  </a:extLst>
                </a:gridCol>
                <a:gridCol w="1828800">
                  <a:extLst>
                    <a:ext uri="{9D8B030D-6E8A-4147-A177-3AD203B41FA5}">
                      <a16:colId xmlns:a16="http://schemas.microsoft.com/office/drawing/2014/main" val="2909133432"/>
                    </a:ext>
                  </a:extLst>
                </a:gridCol>
                <a:gridCol w="1828800">
                  <a:extLst>
                    <a:ext uri="{9D8B030D-6E8A-4147-A177-3AD203B41FA5}">
                      <a16:colId xmlns:a16="http://schemas.microsoft.com/office/drawing/2014/main" val="1346102624"/>
                    </a:ext>
                  </a:extLst>
                </a:gridCol>
                <a:gridCol w="1828800">
                  <a:extLst>
                    <a:ext uri="{9D8B030D-6E8A-4147-A177-3AD203B41FA5}">
                      <a16:colId xmlns:a16="http://schemas.microsoft.com/office/drawing/2014/main" val="3714682224"/>
                    </a:ext>
                  </a:extLst>
                </a:gridCol>
              </a:tblGrid>
              <a:tr h="370840">
                <a:tc>
                  <a:txBody>
                    <a:bodyPr/>
                    <a:lstStyle/>
                    <a:p>
                      <a:r>
                        <a:rPr lang="en-US" dirty="0"/>
                        <a:t>Pins</a:t>
                      </a:r>
                    </a:p>
                  </a:txBody>
                  <a:tcPr/>
                </a:tc>
                <a:tc>
                  <a:txBody>
                    <a:bodyPr/>
                    <a:lstStyle/>
                    <a:p>
                      <a:r>
                        <a:rPr lang="en-US" dirty="0"/>
                        <a:t>Functions</a:t>
                      </a:r>
                    </a:p>
                  </a:txBody>
                  <a:tcPr/>
                </a:tc>
                <a:tc>
                  <a:txBody>
                    <a:bodyPr/>
                    <a:lstStyle/>
                    <a:p>
                      <a:r>
                        <a:rPr lang="en-US" dirty="0"/>
                        <a:t>Bits of PINSEL0</a:t>
                      </a:r>
                    </a:p>
                  </a:txBody>
                  <a:tcPr/>
                </a:tc>
                <a:tc>
                  <a:txBody>
                    <a:bodyPr/>
                    <a:lstStyle/>
                    <a:p>
                      <a:r>
                        <a:rPr lang="en-US" dirty="0"/>
                        <a:t>Values</a:t>
                      </a:r>
                    </a:p>
                  </a:txBody>
                  <a:tcPr/>
                </a:tc>
                <a:extLst>
                  <a:ext uri="{0D108BD9-81ED-4DB2-BD59-A6C34878D82A}">
                    <a16:rowId xmlns:a16="http://schemas.microsoft.com/office/drawing/2014/main" val="3299075004"/>
                  </a:ext>
                </a:extLst>
              </a:tr>
              <a:tr h="370840">
                <a:tc>
                  <a:txBody>
                    <a:bodyPr/>
                    <a:lstStyle/>
                    <a:p>
                      <a:r>
                        <a:rPr lang="en-US" dirty="0"/>
                        <a:t>Port 0.0</a:t>
                      </a:r>
                    </a:p>
                  </a:txBody>
                  <a:tcPr/>
                </a:tc>
                <a:tc>
                  <a:txBody>
                    <a:bodyPr/>
                    <a:lstStyle/>
                    <a:p>
                      <a:r>
                        <a:rPr lang="en-US" dirty="0"/>
                        <a:t>GPIO</a:t>
                      </a:r>
                    </a:p>
                  </a:txBody>
                  <a:tcPr/>
                </a:tc>
                <a:tc>
                  <a:txBody>
                    <a:bodyPr/>
                    <a:lstStyle/>
                    <a:p>
                      <a:r>
                        <a:rPr lang="en-US" dirty="0"/>
                        <a:t>1:0</a:t>
                      </a:r>
                    </a:p>
                  </a:txBody>
                  <a:tcPr/>
                </a:tc>
                <a:tc>
                  <a:txBody>
                    <a:bodyPr/>
                    <a:lstStyle/>
                    <a:p>
                      <a:r>
                        <a:rPr lang="en-US" dirty="0"/>
                        <a:t>00</a:t>
                      </a:r>
                    </a:p>
                  </a:txBody>
                  <a:tcPr/>
                </a:tc>
                <a:extLst>
                  <a:ext uri="{0D108BD9-81ED-4DB2-BD59-A6C34878D82A}">
                    <a16:rowId xmlns:a16="http://schemas.microsoft.com/office/drawing/2014/main" val="18814592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Port 0.1</a:t>
                      </a:r>
                    </a:p>
                  </a:txBody>
                  <a:tcPr/>
                </a:tc>
                <a:tc>
                  <a:txBody>
                    <a:bodyPr/>
                    <a:lstStyle/>
                    <a:p>
                      <a:r>
                        <a:rPr lang="en-US" dirty="0" err="1"/>
                        <a:t>RxD</a:t>
                      </a:r>
                      <a:r>
                        <a:rPr lang="en-US" dirty="0"/>
                        <a:t> of UART0</a:t>
                      </a:r>
                    </a:p>
                  </a:txBody>
                  <a:tcPr/>
                </a:tc>
                <a:tc>
                  <a:txBody>
                    <a:bodyPr/>
                    <a:lstStyle/>
                    <a:p>
                      <a:r>
                        <a:rPr lang="en-US" dirty="0"/>
                        <a:t>3:2</a:t>
                      </a:r>
                    </a:p>
                  </a:txBody>
                  <a:tcPr/>
                </a:tc>
                <a:tc>
                  <a:txBody>
                    <a:bodyPr/>
                    <a:lstStyle/>
                    <a:p>
                      <a:r>
                        <a:rPr lang="en-US" dirty="0"/>
                        <a:t>01</a:t>
                      </a:r>
                    </a:p>
                  </a:txBody>
                  <a:tcPr/>
                </a:tc>
                <a:extLst>
                  <a:ext uri="{0D108BD9-81ED-4DB2-BD59-A6C34878D82A}">
                    <a16:rowId xmlns:a16="http://schemas.microsoft.com/office/drawing/2014/main" val="25252072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Port 0.2</a:t>
                      </a:r>
                    </a:p>
                  </a:txBody>
                  <a:tcPr/>
                </a:tc>
                <a:tc>
                  <a:txBody>
                    <a:bodyPr/>
                    <a:lstStyle/>
                    <a:p>
                      <a:r>
                        <a:rPr lang="en-US" dirty="0"/>
                        <a:t>Timer0 Capture</a:t>
                      </a:r>
                    </a:p>
                  </a:txBody>
                  <a:tcPr/>
                </a:tc>
                <a:tc>
                  <a:txBody>
                    <a:bodyPr/>
                    <a:lstStyle/>
                    <a:p>
                      <a:r>
                        <a:rPr lang="en-US" dirty="0"/>
                        <a:t>5:4</a:t>
                      </a:r>
                    </a:p>
                  </a:txBody>
                  <a:tcPr/>
                </a:tc>
                <a:tc>
                  <a:txBody>
                    <a:bodyPr/>
                    <a:lstStyle/>
                    <a:p>
                      <a:r>
                        <a:rPr lang="en-US" dirty="0"/>
                        <a:t>10</a:t>
                      </a:r>
                    </a:p>
                  </a:txBody>
                  <a:tcPr/>
                </a:tc>
                <a:extLst>
                  <a:ext uri="{0D108BD9-81ED-4DB2-BD59-A6C34878D82A}">
                    <a16:rowId xmlns:a16="http://schemas.microsoft.com/office/drawing/2014/main" val="29545677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Port 0.14</a:t>
                      </a:r>
                    </a:p>
                  </a:txBody>
                  <a:tcPr/>
                </a:tc>
                <a:tc>
                  <a:txBody>
                    <a:bodyPr/>
                    <a:lstStyle/>
                    <a:p>
                      <a:r>
                        <a:rPr lang="en-US" dirty="0"/>
                        <a:t>SDA(I2C pin)</a:t>
                      </a:r>
                    </a:p>
                  </a:txBody>
                  <a:tcPr/>
                </a:tc>
                <a:tc>
                  <a:txBody>
                    <a:bodyPr/>
                    <a:lstStyle/>
                    <a:p>
                      <a:r>
                        <a:rPr lang="en-US" dirty="0"/>
                        <a:t>29:28</a:t>
                      </a:r>
                    </a:p>
                  </a:txBody>
                  <a:tcPr/>
                </a:tc>
                <a:tc>
                  <a:txBody>
                    <a:bodyPr/>
                    <a:lstStyle/>
                    <a:p>
                      <a:r>
                        <a:rPr lang="en-US" dirty="0"/>
                        <a:t>11</a:t>
                      </a:r>
                    </a:p>
                  </a:txBody>
                  <a:tcPr/>
                </a:tc>
                <a:extLst>
                  <a:ext uri="{0D108BD9-81ED-4DB2-BD59-A6C34878D82A}">
                    <a16:rowId xmlns:a16="http://schemas.microsoft.com/office/drawing/2014/main" val="2179091528"/>
                  </a:ext>
                </a:extLst>
              </a:tr>
            </a:tbl>
          </a:graphicData>
        </a:graphic>
      </p:graphicFrame>
      <p:sp>
        <p:nvSpPr>
          <p:cNvPr id="5" name="Slide Number Placeholder 4">
            <a:extLst>
              <a:ext uri="{FF2B5EF4-FFF2-40B4-BE49-F238E27FC236}">
                <a16:creationId xmlns:a16="http://schemas.microsoft.com/office/drawing/2014/main" id="{B9C20622-4FD7-4DB3-AAB6-EB08ADFE4D9E}"/>
              </a:ext>
            </a:extLst>
          </p:cNvPr>
          <p:cNvSpPr>
            <a:spLocks noGrp="1"/>
          </p:cNvSpPr>
          <p:nvPr>
            <p:ph type="sldNum" sz="quarter" idx="12"/>
          </p:nvPr>
        </p:nvSpPr>
        <p:spPr/>
        <p:txBody>
          <a:bodyPr/>
          <a:lstStyle/>
          <a:p>
            <a:fld id="{2EA600BA-DB00-455B-8978-6C66618801A7}" type="slidenum">
              <a:rPr lang="en-US" smtClean="0"/>
              <a:t>29</a:t>
            </a:fld>
            <a:endParaRPr lang="en-US"/>
          </a:p>
        </p:txBody>
      </p:sp>
    </p:spTree>
    <p:extLst>
      <p:ext uri="{BB962C8B-B14F-4D97-AF65-F5344CB8AC3E}">
        <p14:creationId xmlns:p14="http://schemas.microsoft.com/office/powerpoint/2010/main" val="245904251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ECE5-F2B5-4FE6-B094-2D9AE94EFD6F}"/>
              </a:ext>
            </a:extLst>
          </p:cNvPr>
          <p:cNvSpPr>
            <a:spLocks noGrp="1"/>
          </p:cNvSpPr>
          <p:nvPr>
            <p:ph type="title"/>
          </p:nvPr>
        </p:nvSpPr>
        <p:spPr/>
        <p:txBody>
          <a:bodyPr/>
          <a:lstStyle/>
          <a:p>
            <a:r>
              <a:rPr lang="en-US" dirty="0"/>
              <a:t>Using GPIO pins</a:t>
            </a:r>
          </a:p>
        </p:txBody>
      </p:sp>
      <p:sp>
        <p:nvSpPr>
          <p:cNvPr id="5" name="Slide Number Placeholder 4">
            <a:extLst>
              <a:ext uri="{FF2B5EF4-FFF2-40B4-BE49-F238E27FC236}">
                <a16:creationId xmlns:a16="http://schemas.microsoft.com/office/drawing/2014/main" id="{B9C20622-4FD7-4DB3-AAB6-EB08ADFE4D9E}"/>
              </a:ext>
            </a:extLst>
          </p:cNvPr>
          <p:cNvSpPr>
            <a:spLocks noGrp="1"/>
          </p:cNvSpPr>
          <p:nvPr>
            <p:ph type="sldNum" sz="quarter" idx="12"/>
          </p:nvPr>
        </p:nvSpPr>
        <p:spPr/>
        <p:txBody>
          <a:bodyPr/>
          <a:lstStyle/>
          <a:p>
            <a:fld id="{2EA600BA-DB00-455B-8978-6C66618801A7}" type="slidenum">
              <a:rPr lang="en-US" smtClean="0"/>
              <a:t>30</a:t>
            </a:fld>
            <a:endParaRPr lang="en-US"/>
          </a:p>
        </p:txBody>
      </p:sp>
      <p:sp>
        <p:nvSpPr>
          <p:cNvPr id="8" name="TextBox 7">
            <a:extLst>
              <a:ext uri="{FF2B5EF4-FFF2-40B4-BE49-F238E27FC236}">
                <a16:creationId xmlns:a16="http://schemas.microsoft.com/office/drawing/2014/main" id="{FD03F9EA-E53D-B85C-248B-F22ED26DBBC1}"/>
              </a:ext>
            </a:extLst>
          </p:cNvPr>
          <p:cNvSpPr txBox="1"/>
          <p:nvPr/>
        </p:nvSpPr>
        <p:spPr>
          <a:xfrm>
            <a:off x="4360985" y="928468"/>
            <a:ext cx="7033846" cy="3970318"/>
          </a:xfrm>
          <a:prstGeom prst="rect">
            <a:avLst/>
          </a:prstGeom>
          <a:noFill/>
        </p:spPr>
        <p:txBody>
          <a:bodyPr wrap="square" rtlCol="0">
            <a:spAutoFit/>
          </a:bodyPr>
          <a:lstStyle/>
          <a:p>
            <a:pPr marL="285750" indent="-285750" algn="just">
              <a:buFont typeface="Arial" panose="020B0604020202020204" pitchFamily="34" charset="0"/>
              <a:buChar char="•"/>
            </a:pPr>
            <a:r>
              <a:rPr lang="en-US" dirty="0"/>
              <a:t>Refer figure 6.7 from text book, which shows the conceptual view of chip with port1 I/O pins. </a:t>
            </a:r>
          </a:p>
          <a:p>
            <a:pPr marL="285750" indent="-285750" algn="just">
              <a:buFont typeface="Arial" panose="020B0604020202020204" pitchFamily="34" charset="0"/>
              <a:buChar char="•"/>
            </a:pPr>
            <a:r>
              <a:rPr lang="en-US" dirty="0"/>
              <a:t>As mentioned earlier that, pins 0-15 of port 1 are not available, pins p1.16 to p1.25 are reserved. Compared to port 1, for port 0, more number of pins are available for use as I/O</a:t>
            </a:r>
          </a:p>
          <a:p>
            <a:pPr marL="285750" indent="-285750" algn="just">
              <a:buFont typeface="Arial" panose="020B0604020202020204" pitchFamily="34" charset="0"/>
              <a:buChar char="•"/>
            </a:pPr>
            <a:r>
              <a:rPr lang="en-US" dirty="0"/>
              <a:t>Each pin can be used for four different functions ,but the default functionality is as a GPIO pin.</a:t>
            </a:r>
          </a:p>
          <a:p>
            <a:pPr marL="285750" indent="-285750">
              <a:buFont typeface="Arial" panose="020B0604020202020204" pitchFamily="34" charset="0"/>
              <a:buChar char="•"/>
            </a:pPr>
            <a:r>
              <a:rPr lang="en-US" dirty="0"/>
              <a:t>It can be addressed individually and has the following attributes associated with it:</a:t>
            </a:r>
          </a:p>
          <a:p>
            <a:pPr marL="742950" lvl="1" indent="-285750">
              <a:buFont typeface="Courier New" panose="02070309020205020404" pitchFamily="49" charset="0"/>
              <a:buChar char="o"/>
            </a:pPr>
            <a:r>
              <a:rPr lang="en-US" dirty="0"/>
              <a:t>It may be an input or output pin</a:t>
            </a:r>
          </a:p>
          <a:p>
            <a:pPr marL="742950" lvl="1" indent="-285750">
              <a:buFont typeface="Courier New" panose="02070309020205020404" pitchFamily="49" charset="0"/>
              <a:buChar char="o"/>
            </a:pPr>
            <a:r>
              <a:rPr lang="en-US" dirty="0"/>
              <a:t>If it is an input pin, it reads in value (0 or 1) from outside the chip.</a:t>
            </a:r>
          </a:p>
          <a:p>
            <a:pPr marL="742950" lvl="1" indent="-285750">
              <a:buFont typeface="Courier New" panose="02070309020205020404" pitchFamily="49" charset="0"/>
              <a:buChar char="o"/>
            </a:pPr>
            <a:r>
              <a:rPr lang="en-US" dirty="0"/>
              <a:t>If it is an output pin, it may be set or cleared by software.</a:t>
            </a:r>
          </a:p>
          <a:p>
            <a:pPr algn="just"/>
            <a:endParaRPr lang="en-US" dirty="0"/>
          </a:p>
          <a:p>
            <a:endParaRPr lang="en-US" dirty="0"/>
          </a:p>
        </p:txBody>
      </p:sp>
    </p:spTree>
    <p:extLst>
      <p:ext uri="{BB962C8B-B14F-4D97-AF65-F5344CB8AC3E}">
        <p14:creationId xmlns:p14="http://schemas.microsoft.com/office/powerpoint/2010/main" val="39463082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C0BF-1A1F-4E30-B7B3-678F3981C67A}"/>
              </a:ext>
            </a:extLst>
          </p:cNvPr>
          <p:cNvSpPr>
            <a:spLocks noGrp="1"/>
          </p:cNvSpPr>
          <p:nvPr>
            <p:ph type="title"/>
          </p:nvPr>
        </p:nvSpPr>
        <p:spPr/>
        <p:txBody>
          <a:bodyPr/>
          <a:lstStyle/>
          <a:p>
            <a:r>
              <a:rPr lang="en-US" dirty="0"/>
              <a:t>Using GPIO pins</a:t>
            </a:r>
          </a:p>
        </p:txBody>
      </p:sp>
      <p:sp>
        <p:nvSpPr>
          <p:cNvPr id="3" name="Content Placeholder 2">
            <a:extLst>
              <a:ext uri="{FF2B5EF4-FFF2-40B4-BE49-F238E27FC236}">
                <a16:creationId xmlns:a16="http://schemas.microsoft.com/office/drawing/2014/main" id="{F00585AF-0BC2-48D4-A8FD-C7F932DF6C5C}"/>
              </a:ext>
            </a:extLst>
          </p:cNvPr>
          <p:cNvSpPr>
            <a:spLocks noGrp="1"/>
          </p:cNvSpPr>
          <p:nvPr>
            <p:ph idx="1"/>
          </p:nvPr>
        </p:nvSpPr>
        <p:spPr>
          <a:xfrm>
            <a:off x="3869267" y="864108"/>
            <a:ext cx="7792849" cy="5120640"/>
          </a:xfrm>
        </p:spPr>
        <p:txBody>
          <a:bodyPr/>
          <a:lstStyle/>
          <a:p>
            <a:r>
              <a:rPr lang="en-US" dirty="0"/>
              <a:t>There are four registers associates with each GPIO</a:t>
            </a:r>
          </a:p>
          <a:p>
            <a:pPr lvl="1"/>
            <a:r>
              <a:rPr lang="en-US" sz="2000" dirty="0"/>
              <a:t>A direction register (IODIR) in which we can decide whether it is to be an output or input pin</a:t>
            </a:r>
          </a:p>
          <a:p>
            <a:pPr lvl="1"/>
            <a:r>
              <a:rPr lang="en-US" sz="2000" dirty="0"/>
              <a:t>If the pin is an output pin, there is a ‘Set’ register (IOSET) in which we can make a pin to have a logic level of ‘1’ on it.</a:t>
            </a:r>
          </a:p>
          <a:p>
            <a:pPr lvl="1"/>
            <a:r>
              <a:rPr lang="en-US" sz="2000" dirty="0"/>
              <a:t>If the pin is an output pin, a ‘clear’ register (IOCLR) is available in which we can make a pin to have a logic level of ‘0’ on it.</a:t>
            </a:r>
          </a:p>
          <a:p>
            <a:pPr lvl="1"/>
            <a:r>
              <a:rPr lang="en-US" sz="2000" dirty="0"/>
              <a:t>A ‘PIN’ register (IOPIN) register in which we can read the actual logic levels on the pin.</a:t>
            </a:r>
          </a:p>
          <a:p>
            <a:pPr lvl="1"/>
            <a:r>
              <a:rPr lang="en-US" sz="2000" dirty="0"/>
              <a:t>We can use this register for doing set/clear functions for the output port, but not on individual pins.</a:t>
            </a:r>
          </a:p>
        </p:txBody>
      </p:sp>
      <p:sp>
        <p:nvSpPr>
          <p:cNvPr id="5" name="Slide Number Placeholder 4">
            <a:extLst>
              <a:ext uri="{FF2B5EF4-FFF2-40B4-BE49-F238E27FC236}">
                <a16:creationId xmlns:a16="http://schemas.microsoft.com/office/drawing/2014/main" id="{5AC4396F-1402-4D7B-A4A5-FCB41C065F8E}"/>
              </a:ext>
            </a:extLst>
          </p:cNvPr>
          <p:cNvSpPr>
            <a:spLocks noGrp="1"/>
          </p:cNvSpPr>
          <p:nvPr>
            <p:ph type="sldNum" sz="quarter" idx="12"/>
          </p:nvPr>
        </p:nvSpPr>
        <p:spPr/>
        <p:txBody>
          <a:bodyPr/>
          <a:lstStyle/>
          <a:p>
            <a:fld id="{2EA600BA-DB00-455B-8978-6C66618801A7}" type="slidenum">
              <a:rPr lang="en-US" smtClean="0"/>
              <a:t>31</a:t>
            </a:fld>
            <a:endParaRPr lang="en-US"/>
          </a:p>
        </p:txBody>
      </p:sp>
    </p:spTree>
    <p:extLst>
      <p:ext uri="{BB962C8B-B14F-4D97-AF65-F5344CB8AC3E}">
        <p14:creationId xmlns:p14="http://schemas.microsoft.com/office/powerpoint/2010/main" val="11572763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Functions of GPIO registers</a:t>
            </a:r>
          </a:p>
        </p:txBody>
      </p:sp>
      <p:sp>
        <p:nvSpPr>
          <p:cNvPr id="3" name="Content Placeholder 2">
            <a:extLst>
              <a:ext uri="{FF2B5EF4-FFF2-40B4-BE49-F238E27FC236}">
                <a16:creationId xmlns:a16="http://schemas.microsoft.com/office/drawing/2014/main" id="{2030EBC5-9920-4AE1-A352-8A2F23E8CFCA}"/>
              </a:ext>
            </a:extLst>
          </p:cNvPr>
          <p:cNvSpPr>
            <a:spLocks noGrp="1"/>
          </p:cNvSpPr>
          <p:nvPr>
            <p:ph idx="1"/>
          </p:nvPr>
        </p:nvSpPr>
        <p:spPr>
          <a:xfrm>
            <a:off x="3587262" y="864108"/>
            <a:ext cx="4178104" cy="5120640"/>
          </a:xfrm>
        </p:spPr>
        <p:txBody>
          <a:bodyPr/>
          <a:lstStyle/>
          <a:p>
            <a:r>
              <a:rPr lang="en-US" dirty="0"/>
              <a:t>IOPIN: GPIO Port Pin value register</a:t>
            </a:r>
          </a:p>
          <a:p>
            <a:r>
              <a:rPr lang="en-US" dirty="0"/>
              <a:t>IOSET: GPIO Port Output Set register</a:t>
            </a:r>
          </a:p>
          <a:p>
            <a:r>
              <a:rPr lang="en-US" dirty="0"/>
              <a:t>IODIR: GPIO Port Direction control register</a:t>
            </a:r>
          </a:p>
          <a:p>
            <a:r>
              <a:rPr lang="en-US" dirty="0"/>
              <a:t>IOCLR: GPIO Port Output Clear register</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32</a:t>
            </a:fld>
            <a:endParaRPr lang="en-US"/>
          </a:p>
        </p:txBody>
      </p:sp>
      <p:pic>
        <p:nvPicPr>
          <p:cNvPr id="6" name="Picture 2">
            <a:extLst>
              <a:ext uri="{FF2B5EF4-FFF2-40B4-BE49-F238E27FC236}">
                <a16:creationId xmlns:a16="http://schemas.microsoft.com/office/drawing/2014/main" id="{46587AB9-070E-E551-3E3D-6F92727C6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8418" y="1297300"/>
            <a:ext cx="4596644" cy="4696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33623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Functions of GPIO registers</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33</a:t>
            </a:fld>
            <a:endParaRPr lang="en-US"/>
          </a:p>
        </p:txBody>
      </p:sp>
      <p:pic>
        <p:nvPicPr>
          <p:cNvPr id="8" name="Picture 2">
            <a:extLst>
              <a:ext uri="{FF2B5EF4-FFF2-40B4-BE49-F238E27FC236}">
                <a16:creationId xmlns:a16="http://schemas.microsoft.com/office/drawing/2014/main" id="{9320D947-BD8D-4F95-E532-6A7AAF735D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5948" y="1773700"/>
            <a:ext cx="7897857" cy="3346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1684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E8531-E9D4-4206-BF50-640A5DADF56C}"/>
              </a:ext>
            </a:extLst>
          </p:cNvPr>
          <p:cNvSpPr>
            <a:spLocks noGrp="1"/>
          </p:cNvSpPr>
          <p:nvPr>
            <p:ph type="title"/>
          </p:nvPr>
        </p:nvSpPr>
        <p:spPr/>
        <p:txBody>
          <a:bodyPr/>
          <a:lstStyle/>
          <a:p>
            <a:r>
              <a:rPr lang="en-US" dirty="0"/>
              <a:t>IPOIN register</a:t>
            </a:r>
          </a:p>
        </p:txBody>
      </p:sp>
      <p:sp>
        <p:nvSpPr>
          <p:cNvPr id="3" name="Content Placeholder 2">
            <a:extLst>
              <a:ext uri="{FF2B5EF4-FFF2-40B4-BE49-F238E27FC236}">
                <a16:creationId xmlns:a16="http://schemas.microsoft.com/office/drawing/2014/main" id="{228501C5-31BA-49F3-B0F6-E4B5E18997DA}"/>
              </a:ext>
            </a:extLst>
          </p:cNvPr>
          <p:cNvSpPr>
            <a:spLocks noGrp="1"/>
          </p:cNvSpPr>
          <p:nvPr>
            <p:ph idx="1"/>
          </p:nvPr>
        </p:nvSpPr>
        <p:spPr>
          <a:xfrm>
            <a:off x="3869268" y="864108"/>
            <a:ext cx="7722510" cy="5120640"/>
          </a:xfrm>
        </p:spPr>
        <p:txBody>
          <a:bodyPr>
            <a:normAutofit/>
          </a:bodyPr>
          <a:lstStyle/>
          <a:p>
            <a:r>
              <a:rPr lang="en-US" dirty="0"/>
              <a:t>Port pins that are configured to perform only digital functions.</a:t>
            </a:r>
          </a:p>
          <a:p>
            <a:r>
              <a:rPr lang="en-US" dirty="0"/>
              <a:t>It will give the logic value of the pin irrespective of the pin whether the pin is an input or output, and as GPIO or an alternate digital function.</a:t>
            </a:r>
          </a:p>
          <a:p>
            <a:r>
              <a:rPr lang="en-US" dirty="0"/>
              <a:t>If a pin has an analog function as one of its options , the pin state cannot be read if the analog configuration is selected.</a:t>
            </a:r>
          </a:p>
          <a:p>
            <a:r>
              <a:rPr lang="en-US" dirty="0"/>
              <a:t>Selecting the pin as an analog input disconnects the digital features of the pin .In that case , the pin value read in the IOPIN register is not valid.</a:t>
            </a:r>
          </a:p>
          <a:p>
            <a:r>
              <a:rPr lang="en-US" dirty="0"/>
              <a:t>It is possible to write to the IOPIN register and then it stores the value in the port output register, bypassing the need to use both IOSET and IOCLR registers to obtain entire written value.</a:t>
            </a:r>
          </a:p>
          <a:p>
            <a:r>
              <a:rPr lang="en-US" dirty="0"/>
              <a:t>This feature should be used carefully in an application since it affects the entire port.</a:t>
            </a:r>
          </a:p>
          <a:p>
            <a:r>
              <a:rPr lang="en-US" dirty="0"/>
              <a:t>The IOPIN register may be used to write a value in the IO port register. But it cannot be used for toggling individual pin outputs. </a:t>
            </a:r>
          </a:p>
        </p:txBody>
      </p:sp>
      <p:sp>
        <p:nvSpPr>
          <p:cNvPr id="5" name="Slide Number Placeholder 4">
            <a:extLst>
              <a:ext uri="{FF2B5EF4-FFF2-40B4-BE49-F238E27FC236}">
                <a16:creationId xmlns:a16="http://schemas.microsoft.com/office/drawing/2014/main" id="{E373E7B9-45FA-43AE-A499-B4C527565385}"/>
              </a:ext>
            </a:extLst>
          </p:cNvPr>
          <p:cNvSpPr>
            <a:spLocks noGrp="1"/>
          </p:cNvSpPr>
          <p:nvPr>
            <p:ph type="sldNum" sz="quarter" idx="12"/>
          </p:nvPr>
        </p:nvSpPr>
        <p:spPr/>
        <p:txBody>
          <a:bodyPr/>
          <a:lstStyle/>
          <a:p>
            <a:fld id="{2EA600BA-DB00-455B-8978-6C66618801A7}" type="slidenum">
              <a:rPr lang="en-US" smtClean="0"/>
              <a:t>34</a:t>
            </a:fld>
            <a:endParaRPr lang="en-US"/>
          </a:p>
        </p:txBody>
      </p:sp>
    </p:spTree>
    <p:extLst>
      <p:ext uri="{BB962C8B-B14F-4D97-AF65-F5344CB8AC3E}">
        <p14:creationId xmlns:p14="http://schemas.microsoft.com/office/powerpoint/2010/main" val="28397398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Functions of GPIO registers</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35</a:t>
            </a:fld>
            <a:endParaRPr lang="en-US"/>
          </a:p>
        </p:txBody>
      </p:sp>
      <p:pic>
        <p:nvPicPr>
          <p:cNvPr id="3" name="Picture 2">
            <a:extLst>
              <a:ext uri="{FF2B5EF4-FFF2-40B4-BE49-F238E27FC236}">
                <a16:creationId xmlns:a16="http://schemas.microsoft.com/office/drawing/2014/main" id="{BDC7CA54-94CE-6D05-4D7B-C77E77231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2603" y="1324166"/>
            <a:ext cx="7910476" cy="2100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3E28B94D-85F0-C7A6-F196-D3132503C0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584" y="4022724"/>
            <a:ext cx="7607014" cy="2333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EAFC4F9C-54A5-7188-5CA0-9147F5DE9381}"/>
              </a:ext>
            </a:extLst>
          </p:cNvPr>
          <p:cNvSpPr txBox="1"/>
          <p:nvPr/>
        </p:nvSpPr>
        <p:spPr>
          <a:xfrm>
            <a:off x="3882683" y="3559126"/>
            <a:ext cx="1364566" cy="369332"/>
          </a:xfrm>
          <a:prstGeom prst="rect">
            <a:avLst/>
          </a:prstGeom>
          <a:noFill/>
        </p:spPr>
        <p:txBody>
          <a:bodyPr wrap="square" rtlCol="0">
            <a:spAutoFit/>
          </a:bodyPr>
          <a:lstStyle/>
          <a:p>
            <a:r>
              <a:rPr lang="en-US" dirty="0"/>
              <a:t>Solution:</a:t>
            </a:r>
          </a:p>
        </p:txBody>
      </p:sp>
    </p:spTree>
    <p:extLst>
      <p:ext uri="{BB962C8B-B14F-4D97-AF65-F5344CB8AC3E}">
        <p14:creationId xmlns:p14="http://schemas.microsoft.com/office/powerpoint/2010/main" val="15003643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Functions of GPIO registers</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36</a:t>
            </a:fld>
            <a:endParaRPr lang="en-US"/>
          </a:p>
        </p:txBody>
      </p:sp>
      <p:pic>
        <p:nvPicPr>
          <p:cNvPr id="7" name="Picture 2">
            <a:extLst>
              <a:ext uri="{FF2B5EF4-FFF2-40B4-BE49-F238E27FC236}">
                <a16:creationId xmlns:a16="http://schemas.microsoft.com/office/drawing/2014/main" id="{A0AF8A3A-906C-B44E-9D11-97D032CB9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0920" y="1009357"/>
            <a:ext cx="7575071" cy="557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B68488F4-F24E-6BAB-4826-FD4CE8802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895" y="1566569"/>
            <a:ext cx="2514600" cy="743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875E9CB1-AE3C-AF20-26EF-C02CDCC16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2895" y="2310533"/>
            <a:ext cx="5514613" cy="4176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06915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Output wave forms at P0.0</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37</a:t>
            </a:fld>
            <a:endParaRPr lang="en-US"/>
          </a:p>
        </p:txBody>
      </p:sp>
      <p:pic>
        <p:nvPicPr>
          <p:cNvPr id="3" name="Picture 2">
            <a:extLst>
              <a:ext uri="{FF2B5EF4-FFF2-40B4-BE49-F238E27FC236}">
                <a16:creationId xmlns:a16="http://schemas.microsoft.com/office/drawing/2014/main" id="{2BDE2E66-8424-FA03-7B06-9780087795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9228" y="1123837"/>
            <a:ext cx="741037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37635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Output wave forms at P1.28</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38</a:t>
            </a:fld>
            <a:endParaRPr lang="en-US"/>
          </a:p>
        </p:txBody>
      </p:sp>
      <p:pic>
        <p:nvPicPr>
          <p:cNvPr id="7" name="Picture 6">
            <a:extLst>
              <a:ext uri="{FF2B5EF4-FFF2-40B4-BE49-F238E27FC236}">
                <a16:creationId xmlns:a16="http://schemas.microsoft.com/office/drawing/2014/main" id="{87E6047B-06BE-3BFC-D690-5361F77D42F4}"/>
              </a:ext>
            </a:extLst>
          </p:cNvPr>
          <p:cNvPicPr>
            <a:picLocks noChangeAspect="1"/>
          </p:cNvPicPr>
          <p:nvPr/>
        </p:nvPicPr>
        <p:blipFill>
          <a:blip r:embed="rId2"/>
          <a:stretch>
            <a:fillRect/>
          </a:stretch>
        </p:blipFill>
        <p:spPr>
          <a:xfrm>
            <a:off x="4652962" y="675249"/>
            <a:ext cx="4338639" cy="5345158"/>
          </a:xfrm>
          <a:prstGeom prst="rect">
            <a:avLst/>
          </a:prstGeom>
        </p:spPr>
      </p:pic>
    </p:spTree>
    <p:extLst>
      <p:ext uri="{BB962C8B-B14F-4D97-AF65-F5344CB8AC3E}">
        <p14:creationId xmlns:p14="http://schemas.microsoft.com/office/powerpoint/2010/main" val="25350203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0EBE-3C5D-4DFD-AB47-305DFBABB65B}"/>
              </a:ext>
            </a:extLst>
          </p:cNvPr>
          <p:cNvSpPr>
            <a:spLocks noGrp="1"/>
          </p:cNvSpPr>
          <p:nvPr>
            <p:ph type="title"/>
          </p:nvPr>
        </p:nvSpPr>
        <p:spPr/>
        <p:txBody>
          <a:bodyPr/>
          <a:lstStyle/>
          <a:p>
            <a:r>
              <a:rPr lang="en-US" dirty="0"/>
              <a:t>Output wave forms at P1.28</a:t>
            </a:r>
          </a:p>
        </p:txBody>
      </p:sp>
      <p:sp>
        <p:nvSpPr>
          <p:cNvPr id="5" name="Slide Number Placeholder 4">
            <a:extLst>
              <a:ext uri="{FF2B5EF4-FFF2-40B4-BE49-F238E27FC236}">
                <a16:creationId xmlns:a16="http://schemas.microsoft.com/office/drawing/2014/main" id="{EF25524A-1B24-4402-9D95-E0786145603A}"/>
              </a:ext>
            </a:extLst>
          </p:cNvPr>
          <p:cNvSpPr>
            <a:spLocks noGrp="1"/>
          </p:cNvSpPr>
          <p:nvPr>
            <p:ph type="sldNum" sz="quarter" idx="12"/>
          </p:nvPr>
        </p:nvSpPr>
        <p:spPr/>
        <p:txBody>
          <a:bodyPr/>
          <a:lstStyle/>
          <a:p>
            <a:fld id="{2EA600BA-DB00-455B-8978-6C66618801A7}" type="slidenum">
              <a:rPr lang="en-US" smtClean="0"/>
              <a:t>39</a:t>
            </a:fld>
            <a:endParaRPr lang="en-US"/>
          </a:p>
        </p:txBody>
      </p:sp>
      <p:pic>
        <p:nvPicPr>
          <p:cNvPr id="3" name="Picture 2">
            <a:extLst>
              <a:ext uri="{FF2B5EF4-FFF2-40B4-BE49-F238E27FC236}">
                <a16:creationId xmlns:a16="http://schemas.microsoft.com/office/drawing/2014/main" id="{1DC57CC8-C475-4D31-CBC7-FB1E0FC821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589" y="1123837"/>
            <a:ext cx="7774424" cy="4482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0877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564E4-0E16-4BC8-B62E-B32CB3179446}"/>
              </a:ext>
            </a:extLst>
          </p:cNvPr>
          <p:cNvSpPr>
            <a:spLocks noGrp="1"/>
          </p:cNvSpPr>
          <p:nvPr>
            <p:ph type="title"/>
          </p:nvPr>
        </p:nvSpPr>
        <p:spPr/>
        <p:txBody>
          <a:bodyPr/>
          <a:lstStyle/>
          <a:p>
            <a:r>
              <a:rPr lang="en-US" dirty="0" smtClean="0"/>
              <a:t>6.1.5.2 Timers</a:t>
            </a:r>
            <a:endParaRPr lang="en-US" dirty="0"/>
          </a:p>
        </p:txBody>
      </p:sp>
      <p:sp>
        <p:nvSpPr>
          <p:cNvPr id="3" name="Content Placeholder 2">
            <a:extLst>
              <a:ext uri="{FF2B5EF4-FFF2-40B4-BE49-F238E27FC236}">
                <a16:creationId xmlns:a16="http://schemas.microsoft.com/office/drawing/2014/main" id="{E6F64198-0E5B-4A02-984D-A410EB45B6B0}"/>
              </a:ext>
            </a:extLst>
          </p:cNvPr>
          <p:cNvSpPr>
            <a:spLocks noGrp="1"/>
          </p:cNvSpPr>
          <p:nvPr>
            <p:ph idx="1"/>
          </p:nvPr>
        </p:nvSpPr>
        <p:spPr/>
        <p:txBody>
          <a:bodyPr/>
          <a:lstStyle/>
          <a:p>
            <a:r>
              <a:rPr lang="en-US" dirty="0"/>
              <a:t>The LPC214x family has two Timer/Counter units – Timer 0 and Timer 1, both of which are identical in features.</a:t>
            </a:r>
          </a:p>
          <a:p>
            <a:r>
              <a:rPr lang="en-US" dirty="0"/>
              <a:t>It is designed to count cycles of the peripheral clock (PCLK) or an externally-supplied clock.</a:t>
            </a:r>
          </a:p>
          <a:p>
            <a:r>
              <a:rPr lang="en-US" dirty="0"/>
              <a:t>In the PCLK unit is timer and in external clock unit is counter.</a:t>
            </a:r>
          </a:p>
          <a:p>
            <a:r>
              <a:rPr lang="en-US" dirty="0"/>
              <a:t>The timer module can optionally generate interrupts or perform other actions at specified time values, based on four match registers.</a:t>
            </a:r>
          </a:p>
          <a:p>
            <a:r>
              <a:rPr lang="en-US" dirty="0"/>
              <a:t>It also includes four capture inputs to trap the timer value when an input signal transitions, optionally generating an interrupt.</a:t>
            </a:r>
          </a:p>
        </p:txBody>
      </p:sp>
      <p:sp>
        <p:nvSpPr>
          <p:cNvPr id="5" name="Slide Number Placeholder 4">
            <a:extLst>
              <a:ext uri="{FF2B5EF4-FFF2-40B4-BE49-F238E27FC236}">
                <a16:creationId xmlns:a16="http://schemas.microsoft.com/office/drawing/2014/main" id="{2B810710-AEB1-4C93-B470-6A5E035C79F2}"/>
              </a:ext>
            </a:extLst>
          </p:cNvPr>
          <p:cNvSpPr>
            <a:spLocks noGrp="1"/>
          </p:cNvSpPr>
          <p:nvPr>
            <p:ph type="sldNum" sz="quarter" idx="12"/>
          </p:nvPr>
        </p:nvSpPr>
        <p:spPr/>
        <p:txBody>
          <a:bodyPr/>
          <a:lstStyle/>
          <a:p>
            <a:fld id="{2EA600BA-DB00-455B-8978-6C66618801A7}" type="slidenum">
              <a:rPr lang="en-US" smtClean="0"/>
              <a:t>40</a:t>
            </a:fld>
            <a:endParaRPr lang="en-US"/>
          </a:p>
        </p:txBody>
      </p:sp>
    </p:spTree>
    <p:extLst>
      <p:ext uri="{BB962C8B-B14F-4D97-AF65-F5344CB8AC3E}">
        <p14:creationId xmlns:p14="http://schemas.microsoft.com/office/powerpoint/2010/main" val="19920901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C3AD1-0CFE-492A-9697-C87F13686CA0}"/>
              </a:ext>
            </a:extLst>
          </p:cNvPr>
          <p:cNvSpPr>
            <a:spLocks noGrp="1"/>
          </p:cNvSpPr>
          <p:nvPr>
            <p:ph type="title"/>
          </p:nvPr>
        </p:nvSpPr>
        <p:spPr/>
        <p:txBody>
          <a:bodyPr/>
          <a:lstStyle/>
          <a:p>
            <a:r>
              <a:rPr lang="en-US" dirty="0"/>
              <a:t>Operation as an interval timer</a:t>
            </a:r>
          </a:p>
        </p:txBody>
      </p:sp>
      <p:sp>
        <p:nvSpPr>
          <p:cNvPr id="3" name="Content Placeholder 2">
            <a:extLst>
              <a:ext uri="{FF2B5EF4-FFF2-40B4-BE49-F238E27FC236}">
                <a16:creationId xmlns:a16="http://schemas.microsoft.com/office/drawing/2014/main" id="{BF8ACC53-29EC-4D31-ABED-1E9089CFDBB2}"/>
              </a:ext>
            </a:extLst>
          </p:cNvPr>
          <p:cNvSpPr>
            <a:spLocks noGrp="1"/>
          </p:cNvSpPr>
          <p:nvPr>
            <p:ph idx="1"/>
          </p:nvPr>
        </p:nvSpPr>
        <p:spPr>
          <a:xfrm>
            <a:off x="3587263" y="864108"/>
            <a:ext cx="7891974" cy="5492242"/>
          </a:xfrm>
        </p:spPr>
        <p:txBody>
          <a:bodyPr/>
          <a:lstStyle/>
          <a:p>
            <a:r>
              <a:rPr lang="en-US" dirty="0"/>
              <a:t>Each timer is 32-bit Timer/Counter with a programmable 32-bit </a:t>
            </a:r>
            <a:r>
              <a:rPr lang="en-US" dirty="0" err="1"/>
              <a:t>Prescaler</a:t>
            </a:r>
            <a:r>
              <a:rPr lang="en-US" dirty="0"/>
              <a:t>.</a:t>
            </a:r>
          </a:p>
          <a:p>
            <a:r>
              <a:rPr lang="en-US" dirty="0"/>
              <a:t>The steps are as follows:</a:t>
            </a:r>
          </a:p>
          <a:p>
            <a:pPr lvl="1"/>
            <a:r>
              <a:rPr lang="en-US" dirty="0"/>
              <a:t>A number is loaded into a ‘Timer Count’ register (TC)</a:t>
            </a:r>
          </a:p>
          <a:p>
            <a:pPr lvl="1"/>
            <a:r>
              <a:rPr lang="en-US" dirty="0"/>
              <a:t>There is a match register into which another number is loaded</a:t>
            </a:r>
          </a:p>
          <a:p>
            <a:pPr lvl="1"/>
            <a:r>
              <a:rPr lang="en-US" dirty="0"/>
              <a:t>The Timer Count Register is given a Count Enable (CE) signal and then it starts counting up, once per cycle of PCLK</a:t>
            </a:r>
          </a:p>
          <a:p>
            <a:pPr lvl="1"/>
            <a:r>
              <a:rPr lang="en-US" dirty="0"/>
              <a:t>The TC register value increases, and when it becomes equal to the number in the match register, we say that a ‘match’ occurs.</a:t>
            </a:r>
          </a:p>
          <a:p>
            <a:pPr lvl="1" algn="just"/>
            <a:r>
              <a:rPr lang="en-US" dirty="0"/>
              <a:t>The event that follows the ‘match’ can be predecided by bit settings in the match control register(MCR).</a:t>
            </a:r>
          </a:p>
          <a:p>
            <a:pPr lvl="1" algn="just"/>
            <a:r>
              <a:rPr lang="en-US" dirty="0"/>
              <a:t> The possibilities are </a:t>
            </a:r>
          </a:p>
          <a:p>
            <a:pPr marL="1303020" lvl="2" indent="-342900" algn="just">
              <a:buAutoNum type="alphaLcPeriod"/>
            </a:pPr>
            <a:r>
              <a:rPr lang="en-US" sz="1800" dirty="0"/>
              <a:t>Stop Timer: Generate interrupt if operating in the interrupt mode</a:t>
            </a:r>
          </a:p>
          <a:p>
            <a:pPr marL="1303020" lvl="2" indent="-342900" algn="just">
              <a:buAutoNum type="alphaLcPeriod"/>
            </a:pPr>
            <a:r>
              <a:rPr lang="en-US" sz="1800" dirty="0"/>
              <a:t>Reset timer count register Generate interrupt if operating in the interrupt mode</a:t>
            </a:r>
          </a:p>
          <a:p>
            <a:pPr marL="1303020" lvl="2" indent="-342900" algn="just">
              <a:buAutoNum type="alphaLcPeriod"/>
            </a:pPr>
            <a:r>
              <a:rPr lang="en-US" sz="1800" dirty="0"/>
              <a:t>Continuous operation with optional interrupt generation on match</a:t>
            </a:r>
            <a:endParaRPr lang="en-IN" sz="1800" dirty="0"/>
          </a:p>
          <a:p>
            <a:pPr lvl="1"/>
            <a:endParaRPr lang="en-US" dirty="0"/>
          </a:p>
        </p:txBody>
      </p:sp>
      <p:sp>
        <p:nvSpPr>
          <p:cNvPr id="5" name="Slide Number Placeholder 4">
            <a:extLst>
              <a:ext uri="{FF2B5EF4-FFF2-40B4-BE49-F238E27FC236}">
                <a16:creationId xmlns:a16="http://schemas.microsoft.com/office/drawing/2014/main" id="{DFACBA47-7282-4B33-BBB7-D19B9D4A0572}"/>
              </a:ext>
            </a:extLst>
          </p:cNvPr>
          <p:cNvSpPr>
            <a:spLocks noGrp="1"/>
          </p:cNvSpPr>
          <p:nvPr>
            <p:ph type="sldNum" sz="quarter" idx="12"/>
          </p:nvPr>
        </p:nvSpPr>
        <p:spPr/>
        <p:txBody>
          <a:bodyPr/>
          <a:lstStyle/>
          <a:p>
            <a:fld id="{2EA600BA-DB00-455B-8978-6C66618801A7}" type="slidenum">
              <a:rPr lang="en-US" smtClean="0"/>
              <a:t>41</a:t>
            </a:fld>
            <a:endParaRPr lang="en-US"/>
          </a:p>
        </p:txBody>
      </p:sp>
    </p:spTree>
    <p:extLst>
      <p:ext uri="{BB962C8B-B14F-4D97-AF65-F5344CB8AC3E}">
        <p14:creationId xmlns:p14="http://schemas.microsoft.com/office/powerpoint/2010/main" val="24633254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C4CF3-C787-45D0-B915-47190976A5D1}"/>
              </a:ext>
            </a:extLst>
          </p:cNvPr>
          <p:cNvSpPr>
            <a:spLocks noGrp="1"/>
          </p:cNvSpPr>
          <p:nvPr>
            <p:ph type="title"/>
          </p:nvPr>
        </p:nvSpPr>
        <p:spPr/>
        <p:txBody>
          <a:bodyPr/>
          <a:lstStyle/>
          <a:p>
            <a:r>
              <a:rPr lang="en-US" dirty="0"/>
              <a:t>Registers for using the timer in the polled mode</a:t>
            </a:r>
          </a:p>
        </p:txBody>
      </p:sp>
      <p:sp>
        <p:nvSpPr>
          <p:cNvPr id="5" name="Slide Number Placeholder 4">
            <a:extLst>
              <a:ext uri="{FF2B5EF4-FFF2-40B4-BE49-F238E27FC236}">
                <a16:creationId xmlns:a16="http://schemas.microsoft.com/office/drawing/2014/main" id="{3C5DC90E-87BF-4358-B6E9-B4CBCC574A0A}"/>
              </a:ext>
            </a:extLst>
          </p:cNvPr>
          <p:cNvSpPr>
            <a:spLocks noGrp="1"/>
          </p:cNvSpPr>
          <p:nvPr>
            <p:ph type="sldNum" sz="quarter" idx="12"/>
          </p:nvPr>
        </p:nvSpPr>
        <p:spPr/>
        <p:txBody>
          <a:bodyPr/>
          <a:lstStyle/>
          <a:p>
            <a:fld id="{2EA600BA-DB00-455B-8978-6C66618801A7}" type="slidenum">
              <a:rPr lang="en-US" smtClean="0"/>
              <a:t>42</a:t>
            </a:fld>
            <a:endParaRPr lang="en-US"/>
          </a:p>
        </p:txBody>
      </p:sp>
      <p:pic>
        <p:nvPicPr>
          <p:cNvPr id="8" name="Picture 2">
            <a:extLst>
              <a:ext uri="{FF2B5EF4-FFF2-40B4-BE49-F238E27FC236}">
                <a16:creationId xmlns:a16="http://schemas.microsoft.com/office/drawing/2014/main" id="{46083370-101A-740E-D4AF-EB277AE0B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2290" y="989428"/>
            <a:ext cx="7952873"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589663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C3AD1-0CFE-492A-9697-C87F13686CA0}"/>
              </a:ext>
            </a:extLst>
          </p:cNvPr>
          <p:cNvSpPr>
            <a:spLocks noGrp="1"/>
          </p:cNvSpPr>
          <p:nvPr>
            <p:ph type="title"/>
          </p:nvPr>
        </p:nvSpPr>
        <p:spPr/>
        <p:txBody>
          <a:bodyPr/>
          <a:lstStyle/>
          <a:p>
            <a:r>
              <a:rPr lang="en-US" dirty="0"/>
              <a:t>Operation as an interval timer</a:t>
            </a:r>
          </a:p>
        </p:txBody>
      </p:sp>
      <p:sp>
        <p:nvSpPr>
          <p:cNvPr id="5" name="Slide Number Placeholder 4">
            <a:extLst>
              <a:ext uri="{FF2B5EF4-FFF2-40B4-BE49-F238E27FC236}">
                <a16:creationId xmlns:a16="http://schemas.microsoft.com/office/drawing/2014/main" id="{DFACBA47-7282-4B33-BBB7-D19B9D4A0572}"/>
              </a:ext>
            </a:extLst>
          </p:cNvPr>
          <p:cNvSpPr>
            <a:spLocks noGrp="1"/>
          </p:cNvSpPr>
          <p:nvPr>
            <p:ph type="sldNum" sz="quarter" idx="12"/>
          </p:nvPr>
        </p:nvSpPr>
        <p:spPr/>
        <p:txBody>
          <a:bodyPr/>
          <a:lstStyle/>
          <a:p>
            <a:fld id="{2EA600BA-DB00-455B-8978-6C66618801A7}" type="slidenum">
              <a:rPr lang="en-US" smtClean="0"/>
              <a:t>43</a:t>
            </a:fld>
            <a:endParaRPr lang="en-US"/>
          </a:p>
        </p:txBody>
      </p:sp>
      <p:pic>
        <p:nvPicPr>
          <p:cNvPr id="8" name="Picture 2">
            <a:extLst>
              <a:ext uri="{FF2B5EF4-FFF2-40B4-BE49-F238E27FC236}">
                <a16:creationId xmlns:a16="http://schemas.microsoft.com/office/drawing/2014/main" id="{20C730CB-094D-82C9-8574-B6BE68F65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2531" y="1123837"/>
            <a:ext cx="7857067"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F2E23C97-2DEB-3FC9-78C7-B9266D1CD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383" y="4662719"/>
            <a:ext cx="3814706" cy="1469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64202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89A2-0EE3-4439-8BD2-4A3FC43E8F47}"/>
              </a:ext>
            </a:extLst>
          </p:cNvPr>
          <p:cNvSpPr>
            <a:spLocks noGrp="1"/>
          </p:cNvSpPr>
          <p:nvPr>
            <p:ph type="title"/>
          </p:nvPr>
        </p:nvSpPr>
        <p:spPr/>
        <p:txBody>
          <a:bodyPr/>
          <a:lstStyle/>
          <a:p>
            <a:r>
              <a:rPr lang="en-US" dirty="0"/>
              <a:t>6.1.5.2.2</a:t>
            </a:r>
            <a:br>
              <a:rPr lang="en-US" dirty="0"/>
            </a:br>
            <a:r>
              <a:rPr lang="en-US" dirty="0"/>
              <a:t>Registers </a:t>
            </a:r>
            <a:r>
              <a:rPr lang="en-US" dirty="0"/>
              <a:t>for timing operation</a:t>
            </a:r>
          </a:p>
        </p:txBody>
      </p:sp>
      <p:sp>
        <p:nvSpPr>
          <p:cNvPr id="3" name="Content Placeholder 2">
            <a:extLst>
              <a:ext uri="{FF2B5EF4-FFF2-40B4-BE49-F238E27FC236}">
                <a16:creationId xmlns:a16="http://schemas.microsoft.com/office/drawing/2014/main" id="{E4378948-A8D8-469C-B135-E65E068C1899}"/>
              </a:ext>
            </a:extLst>
          </p:cNvPr>
          <p:cNvSpPr>
            <a:spLocks noGrp="1"/>
          </p:cNvSpPr>
          <p:nvPr>
            <p:ph idx="1"/>
          </p:nvPr>
        </p:nvSpPr>
        <p:spPr>
          <a:xfrm>
            <a:off x="4080282" y="-178512"/>
            <a:ext cx="7497427" cy="6169737"/>
          </a:xfrm>
        </p:spPr>
        <p:txBody>
          <a:bodyPr/>
          <a:lstStyle/>
          <a:p>
            <a:pPr marL="0" indent="0">
              <a:buNone/>
            </a:pPr>
            <a:r>
              <a:rPr lang="en-US" dirty="0"/>
              <a:t>There are two timers Timer0 and Timer1.For each timer , there are separate set of registers which are identified by adding 0 or 1 to the register name.</a:t>
            </a:r>
          </a:p>
          <a:p>
            <a:r>
              <a:rPr lang="en-US" dirty="0"/>
              <a:t>TIMER COUNT (TC) REGISTER: This register increments by 1 for every PCLK or every pre-scaled PCLK.</a:t>
            </a:r>
          </a:p>
          <a:p>
            <a:r>
              <a:rPr lang="en-US" dirty="0"/>
              <a:t>TIMER CONTROL REGISTER (TCR): This register controls the above mentioned Timer Count Register. </a:t>
            </a:r>
          </a:p>
          <a:p>
            <a:r>
              <a:rPr lang="en-US" dirty="0"/>
              <a:t>There are two such registers, corresponding to Timer0 and Timer1 </a:t>
            </a:r>
            <a:r>
              <a:rPr lang="en-US" dirty="0" err="1"/>
              <a:t>i.e</a:t>
            </a:r>
            <a:r>
              <a:rPr lang="en-US" dirty="0"/>
              <a:t> T0CR and T1CR.</a:t>
            </a:r>
          </a:p>
          <a:p>
            <a:r>
              <a:rPr lang="en-US" dirty="0"/>
              <a:t>TC can be enabled, disabled and reset using the TCR.</a:t>
            </a:r>
          </a:p>
          <a:p>
            <a:r>
              <a:rPr lang="en-US" dirty="0"/>
              <a:t>Setting bit0, enables counting </a:t>
            </a:r>
            <a:r>
              <a:rPr lang="en-US" dirty="0" err="1"/>
              <a:t>i.e</a:t>
            </a:r>
            <a:r>
              <a:rPr lang="en-US" dirty="0"/>
              <a:t> count enable signal to start counting</a:t>
            </a:r>
          </a:p>
          <a:p>
            <a:r>
              <a:rPr lang="en-US" dirty="0"/>
              <a:t>Bit1 is reset bit and when it is made 1 the Timer Count Register is reset at the next cycle of PCLK </a:t>
            </a:r>
          </a:p>
          <a:p>
            <a:endParaRPr lang="en-US" dirty="0"/>
          </a:p>
        </p:txBody>
      </p:sp>
      <p:sp>
        <p:nvSpPr>
          <p:cNvPr id="5" name="Slide Number Placeholder 4">
            <a:extLst>
              <a:ext uri="{FF2B5EF4-FFF2-40B4-BE49-F238E27FC236}">
                <a16:creationId xmlns:a16="http://schemas.microsoft.com/office/drawing/2014/main" id="{611E2AC9-1607-4701-9B85-F4F2A3942D42}"/>
              </a:ext>
            </a:extLst>
          </p:cNvPr>
          <p:cNvSpPr>
            <a:spLocks noGrp="1"/>
          </p:cNvSpPr>
          <p:nvPr>
            <p:ph type="sldNum" sz="quarter" idx="12"/>
          </p:nvPr>
        </p:nvSpPr>
        <p:spPr/>
        <p:txBody>
          <a:bodyPr/>
          <a:lstStyle/>
          <a:p>
            <a:fld id="{2EA600BA-DB00-455B-8978-6C66618801A7}" type="slidenum">
              <a:rPr lang="en-US" smtClean="0"/>
              <a:t>44</a:t>
            </a:fld>
            <a:endParaRPr lang="en-US"/>
          </a:p>
        </p:txBody>
      </p:sp>
      <p:pic>
        <p:nvPicPr>
          <p:cNvPr id="6" name="Picture 2">
            <a:extLst>
              <a:ext uri="{FF2B5EF4-FFF2-40B4-BE49-F238E27FC236}">
                <a16:creationId xmlns:a16="http://schemas.microsoft.com/office/drawing/2014/main" id="{CD1B560C-3F5C-0E05-57D9-2565339FA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7174" y="5109316"/>
            <a:ext cx="6967330" cy="1612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17648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89A2-0EE3-4439-8BD2-4A3FC43E8F47}"/>
              </a:ext>
            </a:extLst>
          </p:cNvPr>
          <p:cNvSpPr>
            <a:spLocks noGrp="1"/>
          </p:cNvSpPr>
          <p:nvPr>
            <p:ph type="title"/>
          </p:nvPr>
        </p:nvSpPr>
        <p:spPr/>
        <p:txBody>
          <a:bodyPr/>
          <a:lstStyle/>
          <a:p>
            <a:r>
              <a:rPr lang="en-US" dirty="0"/>
              <a:t>Registers for timing operation</a:t>
            </a:r>
          </a:p>
        </p:txBody>
      </p:sp>
      <p:sp>
        <p:nvSpPr>
          <p:cNvPr id="3" name="Content Placeholder 2">
            <a:extLst>
              <a:ext uri="{FF2B5EF4-FFF2-40B4-BE49-F238E27FC236}">
                <a16:creationId xmlns:a16="http://schemas.microsoft.com/office/drawing/2014/main" id="{E4378948-A8D8-469C-B135-E65E068C1899}"/>
              </a:ext>
            </a:extLst>
          </p:cNvPr>
          <p:cNvSpPr>
            <a:spLocks noGrp="1"/>
          </p:cNvSpPr>
          <p:nvPr>
            <p:ph idx="1"/>
          </p:nvPr>
        </p:nvSpPr>
        <p:spPr>
          <a:xfrm>
            <a:off x="3967741" y="357671"/>
            <a:ext cx="7497427" cy="6169737"/>
          </a:xfrm>
        </p:spPr>
        <p:txBody>
          <a:bodyPr/>
          <a:lstStyle/>
          <a:p>
            <a:r>
              <a:rPr lang="en-US" dirty="0"/>
              <a:t>MATCH REGISTERS – MR0 to MR3: There are four match registers, which are 32 bits in length and can be loaded with numbers. </a:t>
            </a:r>
          </a:p>
          <a:p>
            <a:r>
              <a:rPr lang="en-US" dirty="0"/>
              <a:t>One of them can be used for a timer operation.</a:t>
            </a:r>
          </a:p>
          <a:p>
            <a:r>
              <a:rPr lang="en-US" dirty="0"/>
              <a:t> When the timer count register increments to become equal to the number in the match register, a match is said to have occurred.</a:t>
            </a:r>
          </a:p>
          <a:p>
            <a:r>
              <a:rPr lang="en-US" dirty="0"/>
              <a:t>MATCH CONTROL REGISTERS (MCR): The bit configuration of the Match Control Register determines the course of action following a ‘match’.</a:t>
            </a:r>
          </a:p>
          <a:p>
            <a:endParaRPr lang="en-US" dirty="0"/>
          </a:p>
          <a:p>
            <a:endParaRPr lang="en-US" dirty="0"/>
          </a:p>
        </p:txBody>
      </p:sp>
      <p:sp>
        <p:nvSpPr>
          <p:cNvPr id="5" name="Slide Number Placeholder 4">
            <a:extLst>
              <a:ext uri="{FF2B5EF4-FFF2-40B4-BE49-F238E27FC236}">
                <a16:creationId xmlns:a16="http://schemas.microsoft.com/office/drawing/2014/main" id="{611E2AC9-1607-4701-9B85-F4F2A3942D42}"/>
              </a:ext>
            </a:extLst>
          </p:cNvPr>
          <p:cNvSpPr>
            <a:spLocks noGrp="1"/>
          </p:cNvSpPr>
          <p:nvPr>
            <p:ph type="sldNum" sz="quarter" idx="12"/>
          </p:nvPr>
        </p:nvSpPr>
        <p:spPr/>
        <p:txBody>
          <a:bodyPr/>
          <a:lstStyle/>
          <a:p>
            <a:fld id="{2EA600BA-DB00-455B-8978-6C66618801A7}" type="slidenum">
              <a:rPr lang="en-US" smtClean="0"/>
              <a:t>45</a:t>
            </a:fld>
            <a:endParaRPr lang="en-US"/>
          </a:p>
        </p:txBody>
      </p:sp>
    </p:spTree>
    <p:extLst>
      <p:ext uri="{BB962C8B-B14F-4D97-AF65-F5344CB8AC3E}">
        <p14:creationId xmlns:p14="http://schemas.microsoft.com/office/powerpoint/2010/main" val="36332120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89A2-0EE3-4439-8BD2-4A3FC43E8F47}"/>
              </a:ext>
            </a:extLst>
          </p:cNvPr>
          <p:cNvSpPr>
            <a:spLocks noGrp="1"/>
          </p:cNvSpPr>
          <p:nvPr>
            <p:ph type="title"/>
          </p:nvPr>
        </p:nvSpPr>
        <p:spPr/>
        <p:txBody>
          <a:bodyPr/>
          <a:lstStyle/>
          <a:p>
            <a:r>
              <a:rPr lang="en-US" dirty="0" smtClean="0"/>
              <a:t>Registers </a:t>
            </a:r>
            <a:r>
              <a:rPr lang="en-US" dirty="0"/>
              <a:t>for timing operation</a:t>
            </a:r>
          </a:p>
        </p:txBody>
      </p:sp>
      <p:sp>
        <p:nvSpPr>
          <p:cNvPr id="5" name="Slide Number Placeholder 4">
            <a:extLst>
              <a:ext uri="{FF2B5EF4-FFF2-40B4-BE49-F238E27FC236}">
                <a16:creationId xmlns:a16="http://schemas.microsoft.com/office/drawing/2014/main" id="{611E2AC9-1607-4701-9B85-F4F2A3942D42}"/>
              </a:ext>
            </a:extLst>
          </p:cNvPr>
          <p:cNvSpPr>
            <a:spLocks noGrp="1"/>
          </p:cNvSpPr>
          <p:nvPr>
            <p:ph type="sldNum" sz="quarter" idx="12"/>
          </p:nvPr>
        </p:nvSpPr>
        <p:spPr/>
        <p:txBody>
          <a:bodyPr/>
          <a:lstStyle/>
          <a:p>
            <a:fld id="{2EA600BA-DB00-455B-8978-6C66618801A7}" type="slidenum">
              <a:rPr lang="en-US" smtClean="0"/>
              <a:t>46</a:t>
            </a:fld>
            <a:endParaRPr lang="en-US"/>
          </a:p>
        </p:txBody>
      </p:sp>
      <p:pic>
        <p:nvPicPr>
          <p:cNvPr id="4" name="Picture 3">
            <a:extLst>
              <a:ext uri="{FF2B5EF4-FFF2-40B4-BE49-F238E27FC236}">
                <a16:creationId xmlns:a16="http://schemas.microsoft.com/office/drawing/2014/main" id="{79CCAEE2-1C3A-BEE0-27DB-2DED3E6EE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1519" y="1369179"/>
            <a:ext cx="6672056" cy="1554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8">
            <a:extLst>
              <a:ext uri="{FF2B5EF4-FFF2-40B4-BE49-F238E27FC236}">
                <a16:creationId xmlns:a16="http://schemas.microsoft.com/office/drawing/2014/main" id="{C88FE350-A6C0-B7CC-F417-47EEA56DFC40}"/>
              </a:ext>
            </a:extLst>
          </p:cNvPr>
          <p:cNvPicPr>
            <a:picLocks noChangeAspect="1"/>
          </p:cNvPicPr>
          <p:nvPr/>
        </p:nvPicPr>
        <p:blipFill>
          <a:blip r:embed="rId3"/>
          <a:stretch>
            <a:fillRect/>
          </a:stretch>
        </p:blipFill>
        <p:spPr>
          <a:xfrm>
            <a:off x="3646169" y="3000717"/>
            <a:ext cx="7917474" cy="3189068"/>
          </a:xfrm>
          <a:prstGeom prst="rect">
            <a:avLst/>
          </a:prstGeom>
        </p:spPr>
      </p:pic>
      <p:sp>
        <p:nvSpPr>
          <p:cNvPr id="3" name="TextBox 2">
            <a:extLst>
              <a:ext uri="{FF2B5EF4-FFF2-40B4-BE49-F238E27FC236}">
                <a16:creationId xmlns:a16="http://schemas.microsoft.com/office/drawing/2014/main" id="{2966CF5E-FB6C-97F1-7831-C4EC8581AF3A}"/>
              </a:ext>
            </a:extLst>
          </p:cNvPr>
          <p:cNvSpPr txBox="1"/>
          <p:nvPr/>
        </p:nvSpPr>
        <p:spPr>
          <a:xfrm>
            <a:off x="4220308" y="668215"/>
            <a:ext cx="7188590" cy="646331"/>
          </a:xfrm>
          <a:prstGeom prst="rect">
            <a:avLst/>
          </a:prstGeom>
          <a:noFill/>
        </p:spPr>
        <p:txBody>
          <a:bodyPr wrap="square" rtlCol="0">
            <a:spAutoFit/>
          </a:bodyPr>
          <a:lstStyle/>
          <a:p>
            <a:r>
              <a:rPr lang="en-US" dirty="0"/>
              <a:t>There are 4 match register .For each three bits of the MCR are used shown in fig 6.13  The next three bits of MCR are allocated for MR1 and  so on.</a:t>
            </a:r>
          </a:p>
        </p:txBody>
      </p:sp>
    </p:spTree>
    <p:extLst>
      <p:ext uri="{BB962C8B-B14F-4D97-AF65-F5344CB8AC3E}">
        <p14:creationId xmlns:p14="http://schemas.microsoft.com/office/powerpoint/2010/main" val="137741817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42862-5AA0-AF55-5F1A-6B3C177C3786}"/>
              </a:ext>
            </a:extLst>
          </p:cNvPr>
          <p:cNvSpPr>
            <a:spLocks noGrp="1"/>
          </p:cNvSpPr>
          <p:nvPr>
            <p:ph type="title"/>
          </p:nvPr>
        </p:nvSpPr>
        <p:spPr/>
        <p:txBody>
          <a:bodyPr/>
          <a:lstStyle/>
          <a:p>
            <a:r>
              <a:rPr lang="en-US" dirty="0"/>
              <a:t>Generating Square wave </a:t>
            </a:r>
          </a:p>
        </p:txBody>
      </p:sp>
      <p:sp>
        <p:nvSpPr>
          <p:cNvPr id="4" name="Footer Placeholder 3">
            <a:extLst>
              <a:ext uri="{FF2B5EF4-FFF2-40B4-BE49-F238E27FC236}">
                <a16:creationId xmlns:a16="http://schemas.microsoft.com/office/drawing/2014/main" id="{828ADFAA-9669-EF54-5545-CFCA2D7F33C2}"/>
              </a:ext>
            </a:extLst>
          </p:cNvPr>
          <p:cNvSpPr>
            <a:spLocks noGrp="1"/>
          </p:cNvSpPr>
          <p:nvPr>
            <p:ph type="ftr" sz="quarter" idx="11"/>
          </p:nvPr>
        </p:nvSpPr>
        <p:spPr/>
        <p:txBody>
          <a:bodyPr/>
          <a:lstStyle/>
          <a:p>
            <a:r>
              <a:rPr lang="en-US"/>
              <a:t>Koushik S, Dept. of ISE, MSRIT</a:t>
            </a:r>
            <a:endParaRPr lang="en-US" dirty="0"/>
          </a:p>
        </p:txBody>
      </p:sp>
      <p:sp>
        <p:nvSpPr>
          <p:cNvPr id="5" name="Slide Number Placeholder 4">
            <a:extLst>
              <a:ext uri="{FF2B5EF4-FFF2-40B4-BE49-F238E27FC236}">
                <a16:creationId xmlns:a16="http://schemas.microsoft.com/office/drawing/2014/main" id="{C3995D71-4B9E-FE14-5EA5-0C2E6A3196EA}"/>
              </a:ext>
            </a:extLst>
          </p:cNvPr>
          <p:cNvSpPr>
            <a:spLocks noGrp="1"/>
          </p:cNvSpPr>
          <p:nvPr>
            <p:ph type="sldNum" sz="quarter" idx="12"/>
          </p:nvPr>
        </p:nvSpPr>
        <p:spPr/>
        <p:txBody>
          <a:bodyPr/>
          <a:lstStyle/>
          <a:p>
            <a:fld id="{2EA600BA-DB00-455B-8978-6C66618801A7}" type="slidenum">
              <a:rPr lang="en-US" smtClean="0"/>
              <a:t>47</a:t>
            </a:fld>
            <a:endParaRPr lang="en-US" dirty="0"/>
          </a:p>
        </p:txBody>
      </p:sp>
      <p:pic>
        <p:nvPicPr>
          <p:cNvPr id="6" name="Picture 2">
            <a:extLst>
              <a:ext uri="{FF2B5EF4-FFF2-40B4-BE49-F238E27FC236}">
                <a16:creationId xmlns:a16="http://schemas.microsoft.com/office/drawing/2014/main" id="{2F0A3F57-D34C-EC77-AC2E-13E6E1ECFD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5531" y="317892"/>
            <a:ext cx="6815796" cy="1611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a:extLst>
              <a:ext uri="{FF2B5EF4-FFF2-40B4-BE49-F238E27FC236}">
                <a16:creationId xmlns:a16="http://schemas.microsoft.com/office/drawing/2014/main" id="{B5C42608-F151-E6F9-38B1-84FB24BA1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268" y="1662419"/>
            <a:ext cx="6644142" cy="5059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8224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42862-5AA0-AF55-5F1A-6B3C177C3786}"/>
              </a:ext>
            </a:extLst>
          </p:cNvPr>
          <p:cNvSpPr>
            <a:spLocks noGrp="1"/>
          </p:cNvSpPr>
          <p:nvPr>
            <p:ph type="title"/>
          </p:nvPr>
        </p:nvSpPr>
        <p:spPr/>
        <p:txBody>
          <a:bodyPr/>
          <a:lstStyle/>
          <a:p>
            <a:r>
              <a:rPr lang="en-US" dirty="0"/>
              <a:t>Generating Square wave  steps</a:t>
            </a:r>
          </a:p>
        </p:txBody>
      </p:sp>
      <p:sp>
        <p:nvSpPr>
          <p:cNvPr id="5" name="Slide Number Placeholder 4">
            <a:extLst>
              <a:ext uri="{FF2B5EF4-FFF2-40B4-BE49-F238E27FC236}">
                <a16:creationId xmlns:a16="http://schemas.microsoft.com/office/drawing/2014/main" id="{C3995D71-4B9E-FE14-5EA5-0C2E6A3196EA}"/>
              </a:ext>
            </a:extLst>
          </p:cNvPr>
          <p:cNvSpPr>
            <a:spLocks noGrp="1"/>
          </p:cNvSpPr>
          <p:nvPr>
            <p:ph type="sldNum" sz="quarter" idx="12"/>
          </p:nvPr>
        </p:nvSpPr>
        <p:spPr/>
        <p:txBody>
          <a:bodyPr/>
          <a:lstStyle/>
          <a:p>
            <a:fld id="{2EA600BA-DB00-455B-8978-6C66618801A7}" type="slidenum">
              <a:rPr lang="en-US" smtClean="0"/>
              <a:t>48</a:t>
            </a:fld>
            <a:endParaRPr lang="en-US" dirty="0"/>
          </a:p>
        </p:txBody>
      </p:sp>
      <p:pic>
        <p:nvPicPr>
          <p:cNvPr id="9" name="Picture 8">
            <a:extLst>
              <a:ext uri="{FF2B5EF4-FFF2-40B4-BE49-F238E27FC236}">
                <a16:creationId xmlns:a16="http://schemas.microsoft.com/office/drawing/2014/main" id="{B8A7AB87-E9E4-4E09-A385-24DF2BFBB5EF}"/>
              </a:ext>
            </a:extLst>
          </p:cNvPr>
          <p:cNvPicPr>
            <a:picLocks noChangeAspect="1"/>
          </p:cNvPicPr>
          <p:nvPr/>
        </p:nvPicPr>
        <p:blipFill>
          <a:blip r:embed="rId2"/>
          <a:stretch>
            <a:fillRect/>
          </a:stretch>
        </p:blipFill>
        <p:spPr>
          <a:xfrm>
            <a:off x="3579573" y="338328"/>
            <a:ext cx="7820025" cy="6172200"/>
          </a:xfrm>
          <a:prstGeom prst="rect">
            <a:avLst/>
          </a:prstGeom>
        </p:spPr>
      </p:pic>
    </p:spTree>
    <p:extLst>
      <p:ext uri="{BB962C8B-B14F-4D97-AF65-F5344CB8AC3E}">
        <p14:creationId xmlns:p14="http://schemas.microsoft.com/office/powerpoint/2010/main" val="428053470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1AB1-83A8-4229-8285-202951CEE163}"/>
              </a:ext>
            </a:extLst>
          </p:cNvPr>
          <p:cNvSpPr>
            <a:spLocks noGrp="1"/>
          </p:cNvSpPr>
          <p:nvPr>
            <p:ph type="title"/>
          </p:nvPr>
        </p:nvSpPr>
        <p:spPr/>
        <p:txBody>
          <a:bodyPr/>
          <a:lstStyle/>
          <a:p>
            <a:r>
              <a:rPr lang="en-US" dirty="0"/>
              <a:t>Frequency Calculation</a:t>
            </a:r>
          </a:p>
        </p:txBody>
      </p:sp>
      <p:sp>
        <p:nvSpPr>
          <p:cNvPr id="3" name="Content Placeholder 2">
            <a:extLst>
              <a:ext uri="{FF2B5EF4-FFF2-40B4-BE49-F238E27FC236}">
                <a16:creationId xmlns:a16="http://schemas.microsoft.com/office/drawing/2014/main" id="{A8ABC17B-BF5D-4E93-A266-F7E8A350D707}"/>
              </a:ext>
            </a:extLst>
          </p:cNvPr>
          <p:cNvSpPr>
            <a:spLocks noGrp="1"/>
          </p:cNvSpPr>
          <p:nvPr>
            <p:ph idx="1"/>
          </p:nvPr>
        </p:nvSpPr>
        <p:spPr/>
        <p:txBody>
          <a:bodyPr/>
          <a:lstStyle/>
          <a:p>
            <a:r>
              <a:rPr lang="en-US" dirty="0"/>
              <a:t>For calculation of the time period, we need a reference clock signal CCLK.</a:t>
            </a:r>
          </a:p>
          <a:p>
            <a:r>
              <a:rPr lang="en-US" dirty="0"/>
              <a:t>Let use CCLK of 50 MHz it is divided by 4, to get a PCLK of 12.5 </a:t>
            </a:r>
            <a:r>
              <a:rPr lang="en-US" dirty="0" err="1"/>
              <a:t>MHz.</a:t>
            </a:r>
            <a:endParaRPr lang="en-US" dirty="0"/>
          </a:p>
          <a:p>
            <a:r>
              <a:rPr lang="en-US" dirty="0"/>
              <a:t>This translates to a PCLK period of T  0.08 µs.</a:t>
            </a:r>
          </a:p>
          <a:p>
            <a:r>
              <a:rPr lang="en-US" dirty="0"/>
              <a:t>The wait function creates a delay. The amount of delay is dependent on the number loaded in the Match register</a:t>
            </a:r>
          </a:p>
          <a:p>
            <a:r>
              <a:rPr lang="en-US" dirty="0"/>
              <a:t>Load a value of 0x34FF (13567) in T0MR1</a:t>
            </a:r>
          </a:p>
          <a:p>
            <a:r>
              <a:rPr lang="en-US" dirty="0"/>
              <a:t>The timer count register starts from 0 and counts up to 13,567 when match occurs.</a:t>
            </a:r>
          </a:p>
          <a:p>
            <a:r>
              <a:rPr lang="en-US" dirty="0"/>
              <a:t>Thus, 13567+1 = 13568 cycles of PCLK have to pass before match occurs.</a:t>
            </a:r>
          </a:p>
          <a:p>
            <a:r>
              <a:rPr lang="en-US" dirty="0"/>
              <a:t>Thus, the delay obtained by this value in T0MR1 is 13567 x 0.08 = 1085 µs = 1.085 </a:t>
            </a:r>
            <a:r>
              <a:rPr lang="en-US" dirty="0" err="1"/>
              <a:t>ms.</a:t>
            </a:r>
            <a:endParaRPr lang="en-US" dirty="0"/>
          </a:p>
        </p:txBody>
      </p:sp>
      <p:sp>
        <p:nvSpPr>
          <p:cNvPr id="5" name="Slide Number Placeholder 4">
            <a:extLst>
              <a:ext uri="{FF2B5EF4-FFF2-40B4-BE49-F238E27FC236}">
                <a16:creationId xmlns:a16="http://schemas.microsoft.com/office/drawing/2014/main" id="{DB515C73-705B-4831-97BD-9B4BFB9C42C3}"/>
              </a:ext>
            </a:extLst>
          </p:cNvPr>
          <p:cNvSpPr>
            <a:spLocks noGrp="1"/>
          </p:cNvSpPr>
          <p:nvPr>
            <p:ph type="sldNum" sz="quarter" idx="12"/>
          </p:nvPr>
        </p:nvSpPr>
        <p:spPr/>
        <p:txBody>
          <a:bodyPr/>
          <a:lstStyle/>
          <a:p>
            <a:fld id="{2EA600BA-DB00-455B-8978-6C66618801A7}" type="slidenum">
              <a:rPr lang="en-US" smtClean="0"/>
              <a:t>49</a:t>
            </a:fld>
            <a:endParaRPr lang="en-US"/>
          </a:p>
        </p:txBody>
      </p:sp>
    </p:spTree>
    <p:extLst>
      <p:ext uri="{BB962C8B-B14F-4D97-AF65-F5344CB8AC3E}">
        <p14:creationId xmlns:p14="http://schemas.microsoft.com/office/powerpoint/2010/main" val="40755434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4FA2-6AFE-4724-BA22-4083946E08CE}"/>
              </a:ext>
            </a:extLst>
          </p:cNvPr>
          <p:cNvSpPr>
            <a:spLocks noGrp="1"/>
          </p:cNvSpPr>
          <p:nvPr>
            <p:ph type="title"/>
          </p:nvPr>
        </p:nvSpPr>
        <p:spPr/>
        <p:txBody>
          <a:bodyPr/>
          <a:lstStyle/>
          <a:p>
            <a:r>
              <a:rPr lang="en-US" dirty="0"/>
              <a:t>Frequency Calculation </a:t>
            </a:r>
            <a:r>
              <a:rPr lang="en-US" dirty="0" err="1"/>
              <a:t>contd</a:t>
            </a:r>
            <a:r>
              <a:rPr lang="en-US" dirty="0"/>
              <a:t>…</a:t>
            </a:r>
          </a:p>
        </p:txBody>
      </p:sp>
      <p:sp>
        <p:nvSpPr>
          <p:cNvPr id="3" name="Content Placeholder 2">
            <a:extLst>
              <a:ext uri="{FF2B5EF4-FFF2-40B4-BE49-F238E27FC236}">
                <a16:creationId xmlns:a16="http://schemas.microsoft.com/office/drawing/2014/main" id="{A4D55340-928E-40EE-952B-A9038BBCE1B2}"/>
              </a:ext>
            </a:extLst>
          </p:cNvPr>
          <p:cNvSpPr>
            <a:spLocks noGrp="1"/>
          </p:cNvSpPr>
          <p:nvPr>
            <p:ph idx="1"/>
          </p:nvPr>
        </p:nvSpPr>
        <p:spPr/>
        <p:txBody>
          <a:bodyPr/>
          <a:lstStyle/>
          <a:p>
            <a:r>
              <a:rPr lang="en-US" dirty="0"/>
              <a:t>During this time, all the pins of Port 0 have one logic level. Then the pin toggles to the alternate logic level.</a:t>
            </a:r>
          </a:p>
          <a:p>
            <a:r>
              <a:rPr lang="en-US" dirty="0"/>
              <a:t>Thus, the time period of the square waveform T, is 1.085 x 2 = 2.170 </a:t>
            </a:r>
            <a:r>
              <a:rPr lang="en-US" dirty="0" err="1"/>
              <a:t>ms.</a:t>
            </a:r>
            <a:endParaRPr lang="en-US" dirty="0"/>
          </a:p>
          <a:p>
            <a:r>
              <a:rPr lang="en-US" dirty="0"/>
              <a:t>The frequency of the waveform is the reciprocal of the timer = 1/T = 0.460 </a:t>
            </a:r>
            <a:r>
              <a:rPr lang="en-US" dirty="0" err="1"/>
              <a:t>KHz</a:t>
            </a:r>
            <a:r>
              <a:rPr lang="en-US" dirty="0"/>
              <a:t> = 460 Hz</a:t>
            </a:r>
          </a:p>
        </p:txBody>
      </p:sp>
      <p:sp>
        <p:nvSpPr>
          <p:cNvPr id="5" name="Slide Number Placeholder 4">
            <a:extLst>
              <a:ext uri="{FF2B5EF4-FFF2-40B4-BE49-F238E27FC236}">
                <a16:creationId xmlns:a16="http://schemas.microsoft.com/office/drawing/2014/main" id="{6D0D2E98-AE5A-4CC9-A6DB-2F04096ACD83}"/>
              </a:ext>
            </a:extLst>
          </p:cNvPr>
          <p:cNvSpPr>
            <a:spLocks noGrp="1"/>
          </p:cNvSpPr>
          <p:nvPr>
            <p:ph type="sldNum" sz="quarter" idx="12"/>
          </p:nvPr>
        </p:nvSpPr>
        <p:spPr/>
        <p:txBody>
          <a:bodyPr/>
          <a:lstStyle/>
          <a:p>
            <a:fld id="{2EA600BA-DB00-455B-8978-6C66618801A7}" type="slidenum">
              <a:rPr lang="en-US" smtClean="0"/>
              <a:t>50</a:t>
            </a:fld>
            <a:endParaRPr lang="en-US"/>
          </a:p>
        </p:txBody>
      </p:sp>
    </p:spTree>
    <p:extLst>
      <p:ext uri="{BB962C8B-B14F-4D97-AF65-F5344CB8AC3E}">
        <p14:creationId xmlns:p14="http://schemas.microsoft.com/office/powerpoint/2010/main" val="848453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BB646-6CD3-402E-A6F8-AB757F1C7D6C}"/>
              </a:ext>
            </a:extLst>
          </p:cNvPr>
          <p:cNvSpPr>
            <a:spLocks noGrp="1"/>
          </p:cNvSpPr>
          <p:nvPr>
            <p:ph type="title"/>
          </p:nvPr>
        </p:nvSpPr>
        <p:spPr/>
        <p:txBody>
          <a:bodyPr/>
          <a:lstStyle/>
          <a:p>
            <a:r>
              <a:rPr lang="en-US" dirty="0"/>
              <a:t>Vectored Interrupt Controller</a:t>
            </a:r>
          </a:p>
        </p:txBody>
      </p:sp>
      <p:sp>
        <p:nvSpPr>
          <p:cNvPr id="3" name="Content Placeholder 2">
            <a:extLst>
              <a:ext uri="{FF2B5EF4-FFF2-40B4-BE49-F238E27FC236}">
                <a16:creationId xmlns:a16="http://schemas.microsoft.com/office/drawing/2014/main" id="{89B3EE11-E1D3-4D68-9681-667D9601654F}"/>
              </a:ext>
            </a:extLst>
          </p:cNvPr>
          <p:cNvSpPr>
            <a:spLocks noGrp="1"/>
          </p:cNvSpPr>
          <p:nvPr>
            <p:ph idx="1"/>
          </p:nvPr>
        </p:nvSpPr>
        <p:spPr>
          <a:xfrm>
            <a:off x="3869267" y="864108"/>
            <a:ext cx="7792849" cy="5120640"/>
          </a:xfrm>
        </p:spPr>
        <p:txBody>
          <a:bodyPr/>
          <a:lstStyle/>
          <a:p>
            <a:r>
              <a:rPr lang="en-US" dirty="0"/>
              <a:t>The Vectored Interrupt Controller (VIC) takes 32 interrupt request inputs and </a:t>
            </a:r>
            <a:r>
              <a:rPr lang="en-US" dirty="0" err="1"/>
              <a:t>programmably</a:t>
            </a:r>
            <a:r>
              <a:rPr lang="en-US" dirty="0"/>
              <a:t> assigns them into three categories – FIQ, Vectored IRQ and non-vectored IRQ.</a:t>
            </a:r>
          </a:p>
          <a:p>
            <a:endParaRPr lang="en-US" dirty="0"/>
          </a:p>
          <a:p>
            <a:r>
              <a:rPr lang="en-US" dirty="0"/>
              <a:t>FIQ requests have the highest priority. If more than one request is assigned to FIQ, the VIC does the </a:t>
            </a:r>
            <a:r>
              <a:rPr lang="en-US" dirty="0" err="1"/>
              <a:t>ORing</a:t>
            </a:r>
            <a:r>
              <a:rPr lang="en-US" dirty="0"/>
              <a:t>  of the requests to produce FIQ signal to the processor.</a:t>
            </a:r>
          </a:p>
          <a:p>
            <a:r>
              <a:rPr lang="en-US" dirty="0"/>
              <a:t>Vector IRQ have the middle priority, but only 16 of the 32 requests can be assigned to this category. Any of the 32 requests can be assigned to any of the 16 vectored IRQ slots, among which slot 0 has the highest priority and slot 15 has lowest priority.</a:t>
            </a:r>
          </a:p>
          <a:p>
            <a:r>
              <a:rPr lang="en-US" dirty="0"/>
              <a:t>Non-vectored IRQ have the lowest priority</a:t>
            </a:r>
          </a:p>
          <a:p>
            <a:r>
              <a:rPr lang="en-US" dirty="0"/>
              <a:t>The VIC performs </a:t>
            </a:r>
            <a:r>
              <a:rPr lang="en-US" dirty="0" err="1"/>
              <a:t>ORing</a:t>
            </a:r>
            <a:r>
              <a:rPr lang="en-US" dirty="0"/>
              <a:t> of the requests from all the vectored and non vectored IRQ’s to produce the IRQ signal to the ARM processor.</a:t>
            </a:r>
          </a:p>
        </p:txBody>
      </p:sp>
      <p:sp>
        <p:nvSpPr>
          <p:cNvPr id="5" name="Slide Number Placeholder 4">
            <a:extLst>
              <a:ext uri="{FF2B5EF4-FFF2-40B4-BE49-F238E27FC236}">
                <a16:creationId xmlns:a16="http://schemas.microsoft.com/office/drawing/2014/main" id="{BAD68750-EE19-4395-83CB-2098E97B0B85}"/>
              </a:ext>
            </a:extLst>
          </p:cNvPr>
          <p:cNvSpPr>
            <a:spLocks noGrp="1"/>
          </p:cNvSpPr>
          <p:nvPr>
            <p:ph type="sldNum" sz="quarter" idx="12"/>
          </p:nvPr>
        </p:nvSpPr>
        <p:spPr/>
        <p:txBody>
          <a:bodyPr/>
          <a:lstStyle/>
          <a:p>
            <a:fld id="{2EA600BA-DB00-455B-8978-6C66618801A7}" type="slidenum">
              <a:rPr lang="en-US" smtClean="0"/>
              <a:t>51</a:t>
            </a:fld>
            <a:endParaRPr lang="en-US"/>
          </a:p>
        </p:txBody>
      </p:sp>
    </p:spTree>
    <p:extLst>
      <p:ext uri="{BB962C8B-B14F-4D97-AF65-F5344CB8AC3E}">
        <p14:creationId xmlns:p14="http://schemas.microsoft.com/office/powerpoint/2010/main" val="12780187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2E1C9-2579-44FD-A888-2BE2D4731F28}"/>
              </a:ext>
            </a:extLst>
          </p:cNvPr>
          <p:cNvSpPr>
            <a:spLocks noGrp="1"/>
          </p:cNvSpPr>
          <p:nvPr>
            <p:ph type="title"/>
          </p:nvPr>
        </p:nvSpPr>
        <p:spPr/>
        <p:txBody>
          <a:bodyPr/>
          <a:lstStyle/>
          <a:p>
            <a:r>
              <a:rPr lang="en-US" dirty="0"/>
              <a:t>Interrupt Sources</a:t>
            </a:r>
          </a:p>
        </p:txBody>
      </p:sp>
      <p:pic>
        <p:nvPicPr>
          <p:cNvPr id="5" name="Content Placeholder 4">
            <a:extLst>
              <a:ext uri="{FF2B5EF4-FFF2-40B4-BE49-F238E27FC236}">
                <a16:creationId xmlns:a16="http://schemas.microsoft.com/office/drawing/2014/main" id="{68D41148-22FC-45DD-AC66-C795E6E125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67909" y="266671"/>
            <a:ext cx="7322092" cy="6089680"/>
          </a:xfrm>
        </p:spPr>
      </p:pic>
      <p:sp>
        <p:nvSpPr>
          <p:cNvPr id="7" name="Slide Number Placeholder 6">
            <a:extLst>
              <a:ext uri="{FF2B5EF4-FFF2-40B4-BE49-F238E27FC236}">
                <a16:creationId xmlns:a16="http://schemas.microsoft.com/office/drawing/2014/main" id="{E2039CA2-BD5D-4586-8E9D-EF2188563E8D}"/>
              </a:ext>
            </a:extLst>
          </p:cNvPr>
          <p:cNvSpPr>
            <a:spLocks noGrp="1"/>
          </p:cNvSpPr>
          <p:nvPr>
            <p:ph type="sldNum" sz="quarter" idx="12"/>
          </p:nvPr>
        </p:nvSpPr>
        <p:spPr/>
        <p:txBody>
          <a:bodyPr/>
          <a:lstStyle/>
          <a:p>
            <a:fld id="{2EA600BA-DB00-455B-8978-6C66618801A7}" type="slidenum">
              <a:rPr lang="en-US" smtClean="0"/>
              <a:t>52</a:t>
            </a:fld>
            <a:endParaRPr lang="en-US"/>
          </a:p>
        </p:txBody>
      </p:sp>
    </p:spTree>
    <p:extLst>
      <p:ext uri="{BB962C8B-B14F-4D97-AF65-F5344CB8AC3E}">
        <p14:creationId xmlns:p14="http://schemas.microsoft.com/office/powerpoint/2010/main" val="5021286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AB77-4B18-49A0-BF73-109178E50AF9}"/>
              </a:ext>
            </a:extLst>
          </p:cNvPr>
          <p:cNvSpPr>
            <a:spLocks noGrp="1"/>
          </p:cNvSpPr>
          <p:nvPr>
            <p:ph type="title"/>
          </p:nvPr>
        </p:nvSpPr>
        <p:spPr/>
        <p:txBody>
          <a:bodyPr/>
          <a:lstStyle/>
          <a:p>
            <a:r>
              <a:rPr lang="en-US" dirty="0"/>
              <a:t>Important registers of VIC</a:t>
            </a:r>
          </a:p>
        </p:txBody>
      </p:sp>
      <p:sp>
        <p:nvSpPr>
          <p:cNvPr id="3" name="Content Placeholder 2">
            <a:extLst>
              <a:ext uri="{FF2B5EF4-FFF2-40B4-BE49-F238E27FC236}">
                <a16:creationId xmlns:a16="http://schemas.microsoft.com/office/drawing/2014/main" id="{EBE5BF4D-D6C6-4952-91E9-DF899D58FBF9}"/>
              </a:ext>
            </a:extLst>
          </p:cNvPr>
          <p:cNvSpPr>
            <a:spLocks noGrp="1"/>
          </p:cNvSpPr>
          <p:nvPr>
            <p:ph idx="1"/>
          </p:nvPr>
        </p:nvSpPr>
        <p:spPr>
          <a:xfrm>
            <a:off x="3615397" y="864108"/>
            <a:ext cx="8102991" cy="5120640"/>
          </a:xfrm>
        </p:spPr>
        <p:txBody>
          <a:bodyPr/>
          <a:lstStyle/>
          <a:p>
            <a:pPr marL="0" indent="0">
              <a:buNone/>
            </a:pPr>
            <a:r>
              <a:rPr lang="en-US" sz="2400" b="1" u="sng" dirty="0"/>
              <a:t>Interrupt Enable Register (VIC Interrupt Enable)</a:t>
            </a:r>
          </a:p>
          <a:p>
            <a:r>
              <a:rPr lang="en-US" dirty="0"/>
              <a:t>This is a read/write accessible register.</a:t>
            </a:r>
          </a:p>
          <a:p>
            <a:r>
              <a:rPr lang="en-US" dirty="0"/>
              <a:t>This register controls the decision of which of the 32 interrupt requests.</a:t>
            </a:r>
          </a:p>
          <a:p>
            <a:r>
              <a:rPr lang="en-US" dirty="0"/>
              <a:t>Example:</a:t>
            </a:r>
          </a:p>
          <a:p>
            <a:pPr lvl="1"/>
            <a:r>
              <a:rPr lang="en-US" dirty="0"/>
              <a:t>VIC Int Enable = 0x00000010; //Enable the TIMER-0 interrupt by making bit 4=1</a:t>
            </a:r>
          </a:p>
        </p:txBody>
      </p:sp>
      <p:sp>
        <p:nvSpPr>
          <p:cNvPr id="5" name="Slide Number Placeholder 4">
            <a:extLst>
              <a:ext uri="{FF2B5EF4-FFF2-40B4-BE49-F238E27FC236}">
                <a16:creationId xmlns:a16="http://schemas.microsoft.com/office/drawing/2014/main" id="{04F51129-4825-4BA0-9265-16ACDE14BDE8}"/>
              </a:ext>
            </a:extLst>
          </p:cNvPr>
          <p:cNvSpPr>
            <a:spLocks noGrp="1"/>
          </p:cNvSpPr>
          <p:nvPr>
            <p:ph type="sldNum" sz="quarter" idx="12"/>
          </p:nvPr>
        </p:nvSpPr>
        <p:spPr/>
        <p:txBody>
          <a:bodyPr/>
          <a:lstStyle/>
          <a:p>
            <a:fld id="{2EA600BA-DB00-455B-8978-6C66618801A7}" type="slidenum">
              <a:rPr lang="en-US" smtClean="0"/>
              <a:t>53</a:t>
            </a:fld>
            <a:endParaRPr lang="en-US"/>
          </a:p>
        </p:txBody>
      </p:sp>
    </p:spTree>
    <p:extLst>
      <p:ext uri="{BB962C8B-B14F-4D97-AF65-F5344CB8AC3E}">
        <p14:creationId xmlns:p14="http://schemas.microsoft.com/office/powerpoint/2010/main" val="255903389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927E0-623E-4FA7-9BFD-D35EDB6F740C}"/>
              </a:ext>
            </a:extLst>
          </p:cNvPr>
          <p:cNvSpPr>
            <a:spLocks noGrp="1"/>
          </p:cNvSpPr>
          <p:nvPr>
            <p:ph type="title"/>
          </p:nvPr>
        </p:nvSpPr>
        <p:spPr/>
        <p:txBody>
          <a:bodyPr/>
          <a:lstStyle/>
          <a:p>
            <a:r>
              <a:rPr lang="en-US" dirty="0"/>
              <a:t>Bit Definitions of VIC</a:t>
            </a:r>
          </a:p>
        </p:txBody>
      </p:sp>
      <p:pic>
        <p:nvPicPr>
          <p:cNvPr id="5" name="Content Placeholder 4">
            <a:extLst>
              <a:ext uri="{FF2B5EF4-FFF2-40B4-BE49-F238E27FC236}">
                <a16:creationId xmlns:a16="http://schemas.microsoft.com/office/drawing/2014/main" id="{9935F4B5-C707-4F6F-9AD2-CDA51B91DB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8738" y="1123837"/>
            <a:ext cx="7315200" cy="4601182"/>
          </a:xfrm>
        </p:spPr>
      </p:pic>
      <p:sp>
        <p:nvSpPr>
          <p:cNvPr id="7" name="Slide Number Placeholder 6">
            <a:extLst>
              <a:ext uri="{FF2B5EF4-FFF2-40B4-BE49-F238E27FC236}">
                <a16:creationId xmlns:a16="http://schemas.microsoft.com/office/drawing/2014/main" id="{82A1D635-04BA-4EFC-B83A-EA36C6513756}"/>
              </a:ext>
            </a:extLst>
          </p:cNvPr>
          <p:cNvSpPr>
            <a:spLocks noGrp="1"/>
          </p:cNvSpPr>
          <p:nvPr>
            <p:ph type="sldNum" sz="quarter" idx="12"/>
          </p:nvPr>
        </p:nvSpPr>
        <p:spPr/>
        <p:txBody>
          <a:bodyPr/>
          <a:lstStyle/>
          <a:p>
            <a:fld id="{2EA600BA-DB00-455B-8978-6C66618801A7}" type="slidenum">
              <a:rPr lang="en-US" smtClean="0"/>
              <a:t>54</a:t>
            </a:fld>
            <a:endParaRPr lang="en-US"/>
          </a:p>
        </p:txBody>
      </p:sp>
    </p:spTree>
    <p:extLst>
      <p:ext uri="{BB962C8B-B14F-4D97-AF65-F5344CB8AC3E}">
        <p14:creationId xmlns:p14="http://schemas.microsoft.com/office/powerpoint/2010/main" val="168118976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E1FE-DB82-466A-A34A-8BB6C0C6F914}"/>
              </a:ext>
            </a:extLst>
          </p:cNvPr>
          <p:cNvSpPr>
            <a:spLocks noGrp="1"/>
          </p:cNvSpPr>
          <p:nvPr>
            <p:ph type="title"/>
          </p:nvPr>
        </p:nvSpPr>
        <p:spPr/>
        <p:txBody>
          <a:bodyPr/>
          <a:lstStyle/>
          <a:p>
            <a:r>
              <a:rPr lang="en-US" dirty="0"/>
              <a:t>Vector control register (VIC </a:t>
            </a:r>
            <a:r>
              <a:rPr lang="en-US" dirty="0" err="1"/>
              <a:t>Vect</a:t>
            </a:r>
            <a:r>
              <a:rPr lang="en-US" dirty="0"/>
              <a:t> CntIO-15)</a:t>
            </a:r>
          </a:p>
        </p:txBody>
      </p:sp>
      <p:sp>
        <p:nvSpPr>
          <p:cNvPr id="3" name="Content Placeholder 2">
            <a:extLst>
              <a:ext uri="{FF2B5EF4-FFF2-40B4-BE49-F238E27FC236}">
                <a16:creationId xmlns:a16="http://schemas.microsoft.com/office/drawing/2014/main" id="{42122871-D31C-4DBB-BB05-39EF9F430101}"/>
              </a:ext>
            </a:extLst>
          </p:cNvPr>
          <p:cNvSpPr>
            <a:spLocks noGrp="1"/>
          </p:cNvSpPr>
          <p:nvPr>
            <p:ph idx="1"/>
          </p:nvPr>
        </p:nvSpPr>
        <p:spPr/>
        <p:txBody>
          <a:bodyPr/>
          <a:lstStyle/>
          <a:p>
            <a:pPr marL="0" indent="0">
              <a:buNone/>
            </a:pPr>
            <a:r>
              <a:rPr lang="en-US" sz="2400" b="1" u="sng" dirty="0"/>
              <a:t>Vector control register (VIC </a:t>
            </a:r>
            <a:r>
              <a:rPr lang="en-US" sz="2400" b="1" u="sng" dirty="0" err="1"/>
              <a:t>Vect</a:t>
            </a:r>
            <a:r>
              <a:rPr lang="en-US" sz="2400" b="1" u="sng" dirty="0"/>
              <a:t> CntIO-15)</a:t>
            </a:r>
          </a:p>
          <a:p>
            <a:r>
              <a:rPr lang="en-US" dirty="0"/>
              <a:t>Only 6 bits of this register are to be used.</a:t>
            </a:r>
          </a:p>
          <a:p>
            <a:r>
              <a:rPr lang="en-US" dirty="0"/>
              <a:t>They are lower 6 ones</a:t>
            </a:r>
          </a:p>
          <a:p>
            <a:r>
              <a:rPr lang="en-US" dirty="0"/>
              <a:t>In Table 6.7, Timer 0 is allotted the number 4.</a:t>
            </a:r>
          </a:p>
          <a:p>
            <a:r>
              <a:rPr lang="en-US" dirty="0"/>
              <a:t>Table 6.6 illustrates how this register is to be configured</a:t>
            </a:r>
          </a:p>
          <a:p>
            <a:r>
              <a:rPr lang="en-US" dirty="0"/>
              <a:t>Thus, Example 6.7 uses the code line VICVectCnt14 = 0x00000024</a:t>
            </a:r>
          </a:p>
          <a:p>
            <a:endParaRPr lang="en-US" dirty="0"/>
          </a:p>
        </p:txBody>
      </p:sp>
      <p:sp>
        <p:nvSpPr>
          <p:cNvPr id="7" name="Slide Number Placeholder 6">
            <a:extLst>
              <a:ext uri="{FF2B5EF4-FFF2-40B4-BE49-F238E27FC236}">
                <a16:creationId xmlns:a16="http://schemas.microsoft.com/office/drawing/2014/main" id="{475F5D52-A0B4-4A42-8787-FD4E7F3938D9}"/>
              </a:ext>
            </a:extLst>
          </p:cNvPr>
          <p:cNvSpPr>
            <a:spLocks noGrp="1"/>
          </p:cNvSpPr>
          <p:nvPr>
            <p:ph type="sldNum" sz="quarter" idx="12"/>
          </p:nvPr>
        </p:nvSpPr>
        <p:spPr/>
        <p:txBody>
          <a:bodyPr/>
          <a:lstStyle/>
          <a:p>
            <a:fld id="{2EA600BA-DB00-455B-8978-6C66618801A7}" type="slidenum">
              <a:rPr lang="en-US" smtClean="0"/>
              <a:t>55</a:t>
            </a:fld>
            <a:endParaRPr lang="en-US"/>
          </a:p>
        </p:txBody>
      </p:sp>
    </p:spTree>
    <p:extLst>
      <p:ext uri="{BB962C8B-B14F-4D97-AF65-F5344CB8AC3E}">
        <p14:creationId xmlns:p14="http://schemas.microsoft.com/office/powerpoint/2010/main" val="204699296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4F04-D566-47EC-AD8A-B346443978EE}"/>
              </a:ext>
            </a:extLst>
          </p:cNvPr>
          <p:cNvSpPr>
            <a:spLocks noGrp="1"/>
          </p:cNvSpPr>
          <p:nvPr>
            <p:ph type="title"/>
          </p:nvPr>
        </p:nvSpPr>
        <p:spPr/>
        <p:txBody>
          <a:bodyPr/>
          <a:lstStyle/>
          <a:p>
            <a:r>
              <a:rPr lang="en-US" dirty="0"/>
              <a:t>Vector address register (VIC </a:t>
            </a:r>
            <a:r>
              <a:rPr lang="en-US" dirty="0" err="1"/>
              <a:t>VectAdd</a:t>
            </a:r>
            <a:r>
              <a:rPr lang="en-US" dirty="0"/>
              <a:t>)</a:t>
            </a:r>
          </a:p>
        </p:txBody>
      </p:sp>
      <p:sp>
        <p:nvSpPr>
          <p:cNvPr id="3" name="Content Placeholder 2">
            <a:extLst>
              <a:ext uri="{FF2B5EF4-FFF2-40B4-BE49-F238E27FC236}">
                <a16:creationId xmlns:a16="http://schemas.microsoft.com/office/drawing/2014/main" id="{7BBABE24-9198-4DF0-8382-9BDB08C958B9}"/>
              </a:ext>
            </a:extLst>
          </p:cNvPr>
          <p:cNvSpPr>
            <a:spLocks noGrp="1"/>
          </p:cNvSpPr>
          <p:nvPr>
            <p:ph idx="1"/>
          </p:nvPr>
        </p:nvSpPr>
        <p:spPr/>
        <p:txBody>
          <a:bodyPr/>
          <a:lstStyle/>
          <a:p>
            <a:pPr marL="0" indent="0">
              <a:buNone/>
            </a:pPr>
            <a:r>
              <a:rPr lang="en-US" sz="2400" b="1" u="sng" dirty="0"/>
              <a:t>Vector address register (VIC </a:t>
            </a:r>
            <a:r>
              <a:rPr lang="en-US" sz="2400" b="1" u="sng" dirty="0" err="1"/>
              <a:t>VectAdd</a:t>
            </a:r>
            <a:r>
              <a:rPr lang="en-US" sz="2400" b="1" u="sng" dirty="0"/>
              <a:t>):</a:t>
            </a:r>
          </a:p>
          <a:p>
            <a:r>
              <a:rPr lang="en-US" dirty="0"/>
              <a:t>These are read/write accessible registers.</a:t>
            </a:r>
          </a:p>
          <a:p>
            <a:r>
              <a:rPr lang="en-US" dirty="0"/>
              <a:t>These registers hold the addresses of the interrupt service routines (ISRs) for the vectored IRQ slots.</a:t>
            </a:r>
          </a:p>
          <a:p>
            <a:r>
              <a:rPr lang="en-US" dirty="0"/>
              <a:t>VICVectAddr4 = (unsigned) Timer0isr;  //set the timer ISR vector address</a:t>
            </a:r>
          </a:p>
        </p:txBody>
      </p:sp>
      <p:sp>
        <p:nvSpPr>
          <p:cNvPr id="5" name="Slide Number Placeholder 4">
            <a:extLst>
              <a:ext uri="{FF2B5EF4-FFF2-40B4-BE49-F238E27FC236}">
                <a16:creationId xmlns:a16="http://schemas.microsoft.com/office/drawing/2014/main" id="{F79DB273-DC8C-4FC7-96A1-154403FDC826}"/>
              </a:ext>
            </a:extLst>
          </p:cNvPr>
          <p:cNvSpPr>
            <a:spLocks noGrp="1"/>
          </p:cNvSpPr>
          <p:nvPr>
            <p:ph type="sldNum" sz="quarter" idx="12"/>
          </p:nvPr>
        </p:nvSpPr>
        <p:spPr/>
        <p:txBody>
          <a:bodyPr/>
          <a:lstStyle/>
          <a:p>
            <a:fld id="{2EA600BA-DB00-455B-8978-6C66618801A7}" type="slidenum">
              <a:rPr lang="en-US" smtClean="0"/>
              <a:t>56</a:t>
            </a:fld>
            <a:endParaRPr lang="en-US"/>
          </a:p>
        </p:txBody>
      </p:sp>
    </p:spTree>
    <p:extLst>
      <p:ext uri="{BB962C8B-B14F-4D97-AF65-F5344CB8AC3E}">
        <p14:creationId xmlns:p14="http://schemas.microsoft.com/office/powerpoint/2010/main" val="40702987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B48E4-1464-4E58-9BFA-97B9DD1958E3}"/>
              </a:ext>
            </a:extLst>
          </p:cNvPr>
          <p:cNvSpPr>
            <a:spLocks noGrp="1"/>
          </p:cNvSpPr>
          <p:nvPr>
            <p:ph type="title"/>
          </p:nvPr>
        </p:nvSpPr>
        <p:spPr/>
        <p:txBody>
          <a:bodyPr/>
          <a:lstStyle/>
          <a:p>
            <a:r>
              <a:rPr lang="en-US" dirty="0"/>
              <a:t>Timer 0 interrupt register (T0IR)</a:t>
            </a:r>
          </a:p>
        </p:txBody>
      </p:sp>
      <p:sp>
        <p:nvSpPr>
          <p:cNvPr id="3" name="Content Placeholder 2">
            <a:extLst>
              <a:ext uri="{FF2B5EF4-FFF2-40B4-BE49-F238E27FC236}">
                <a16:creationId xmlns:a16="http://schemas.microsoft.com/office/drawing/2014/main" id="{195C597F-03D6-4A52-85FF-C7237A5FE959}"/>
              </a:ext>
            </a:extLst>
          </p:cNvPr>
          <p:cNvSpPr>
            <a:spLocks noGrp="1"/>
          </p:cNvSpPr>
          <p:nvPr>
            <p:ph idx="1"/>
          </p:nvPr>
        </p:nvSpPr>
        <p:spPr/>
        <p:txBody>
          <a:bodyPr/>
          <a:lstStyle/>
          <a:p>
            <a:pPr marL="0" indent="0">
              <a:buNone/>
            </a:pPr>
            <a:r>
              <a:rPr lang="en-US" sz="2400" b="1" u="sng" dirty="0"/>
              <a:t>Timer0 interrupt register (T0IR)</a:t>
            </a:r>
          </a:p>
          <a:p>
            <a:r>
              <a:rPr lang="en-US" dirty="0"/>
              <a:t>This register has bits for each of the matching states of MR0 to MR3.</a:t>
            </a:r>
          </a:p>
          <a:p>
            <a:r>
              <a:rPr lang="en-US" dirty="0"/>
              <a:t>When a timer operates in the interrupt mode and a match occurs, an interrupt is generated, and the corresponding flag bit is T0IR is set.</a:t>
            </a:r>
          </a:p>
          <a:p>
            <a:r>
              <a:rPr lang="en-US" dirty="0"/>
              <a:t>To ‘clear’ it, a ‘1’ must be written into this same register.</a:t>
            </a:r>
          </a:p>
          <a:p>
            <a:r>
              <a:rPr lang="en-US" dirty="0"/>
              <a:t>Then only will the interrupt flag be ‘reset’</a:t>
            </a:r>
          </a:p>
          <a:p>
            <a:r>
              <a:rPr lang="en-US" dirty="0"/>
              <a:t>T01R = 0x01</a:t>
            </a:r>
          </a:p>
        </p:txBody>
      </p:sp>
      <p:sp>
        <p:nvSpPr>
          <p:cNvPr id="5" name="Slide Number Placeholder 4">
            <a:extLst>
              <a:ext uri="{FF2B5EF4-FFF2-40B4-BE49-F238E27FC236}">
                <a16:creationId xmlns:a16="http://schemas.microsoft.com/office/drawing/2014/main" id="{013BA261-445C-48F6-A76D-7960581CB368}"/>
              </a:ext>
            </a:extLst>
          </p:cNvPr>
          <p:cNvSpPr>
            <a:spLocks noGrp="1"/>
          </p:cNvSpPr>
          <p:nvPr>
            <p:ph type="sldNum" sz="quarter" idx="12"/>
          </p:nvPr>
        </p:nvSpPr>
        <p:spPr/>
        <p:txBody>
          <a:bodyPr/>
          <a:lstStyle/>
          <a:p>
            <a:fld id="{2EA600BA-DB00-455B-8978-6C66618801A7}" type="slidenum">
              <a:rPr lang="en-US" smtClean="0"/>
              <a:t>57</a:t>
            </a:fld>
            <a:endParaRPr lang="en-US"/>
          </a:p>
        </p:txBody>
      </p:sp>
    </p:spTree>
    <p:extLst>
      <p:ext uri="{BB962C8B-B14F-4D97-AF65-F5344CB8AC3E}">
        <p14:creationId xmlns:p14="http://schemas.microsoft.com/office/powerpoint/2010/main" val="271690795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5A574-C186-405D-8611-F4C5A1B488A7}"/>
              </a:ext>
            </a:extLst>
          </p:cNvPr>
          <p:cNvSpPr>
            <a:spLocks noGrp="1"/>
          </p:cNvSpPr>
          <p:nvPr>
            <p:ph type="title"/>
          </p:nvPr>
        </p:nvSpPr>
        <p:spPr/>
        <p:txBody>
          <a:bodyPr/>
          <a:lstStyle/>
          <a:p>
            <a:r>
              <a:rPr lang="en-US" dirty="0"/>
              <a:t>Timer 0 interrupt register (T0IR)</a:t>
            </a:r>
          </a:p>
        </p:txBody>
      </p:sp>
      <p:graphicFrame>
        <p:nvGraphicFramePr>
          <p:cNvPr id="6" name="Table 6">
            <a:extLst>
              <a:ext uri="{FF2B5EF4-FFF2-40B4-BE49-F238E27FC236}">
                <a16:creationId xmlns:a16="http://schemas.microsoft.com/office/drawing/2014/main" id="{6F490B48-2895-4FB4-A61F-B1839F0F1F29}"/>
              </a:ext>
            </a:extLst>
          </p:cNvPr>
          <p:cNvGraphicFramePr>
            <a:graphicFrameLocks noGrp="1"/>
          </p:cNvGraphicFramePr>
          <p:nvPr>
            <p:ph idx="1"/>
            <p:extLst>
              <p:ext uri="{D42A27DB-BD31-4B8C-83A1-F6EECF244321}">
                <p14:modId xmlns:p14="http://schemas.microsoft.com/office/powerpoint/2010/main" val="3613296662"/>
              </p:ext>
            </p:extLst>
          </p:nvPr>
        </p:nvGraphicFramePr>
        <p:xfrm>
          <a:off x="4084398" y="2497328"/>
          <a:ext cx="7315200" cy="1854200"/>
        </p:xfrm>
        <a:graphic>
          <a:graphicData uri="http://schemas.openxmlformats.org/drawingml/2006/table">
            <a:tbl>
              <a:tblPr firstRow="1" bandRow="1">
                <a:tableStyleId>{5C22544A-7EE6-4342-B048-85BDC9FD1C3A}</a:tableStyleId>
              </a:tblPr>
              <a:tblGrid>
                <a:gridCol w="1628855">
                  <a:extLst>
                    <a:ext uri="{9D8B030D-6E8A-4147-A177-3AD203B41FA5}">
                      <a16:colId xmlns:a16="http://schemas.microsoft.com/office/drawing/2014/main" val="138850731"/>
                    </a:ext>
                  </a:extLst>
                </a:gridCol>
                <a:gridCol w="1828800">
                  <a:extLst>
                    <a:ext uri="{9D8B030D-6E8A-4147-A177-3AD203B41FA5}">
                      <a16:colId xmlns:a16="http://schemas.microsoft.com/office/drawing/2014/main" val="76496079"/>
                    </a:ext>
                  </a:extLst>
                </a:gridCol>
                <a:gridCol w="3857545">
                  <a:extLst>
                    <a:ext uri="{9D8B030D-6E8A-4147-A177-3AD203B41FA5}">
                      <a16:colId xmlns:a16="http://schemas.microsoft.com/office/drawing/2014/main" val="4147519745"/>
                    </a:ext>
                  </a:extLst>
                </a:gridCol>
              </a:tblGrid>
              <a:tr h="370840">
                <a:tc>
                  <a:txBody>
                    <a:bodyPr/>
                    <a:lstStyle/>
                    <a:p>
                      <a:r>
                        <a:rPr lang="en-US" dirty="0"/>
                        <a:t>Bit</a:t>
                      </a:r>
                    </a:p>
                  </a:txBody>
                  <a:tcPr/>
                </a:tc>
                <a:tc>
                  <a:txBody>
                    <a:bodyPr/>
                    <a:lstStyle/>
                    <a:p>
                      <a:r>
                        <a:rPr lang="en-US" dirty="0"/>
                        <a:t>Symbol</a:t>
                      </a:r>
                    </a:p>
                  </a:txBody>
                  <a:tcPr/>
                </a:tc>
                <a:tc>
                  <a:txBody>
                    <a:bodyPr/>
                    <a:lstStyle/>
                    <a:p>
                      <a:r>
                        <a:rPr lang="en-US" dirty="0"/>
                        <a:t>Description</a:t>
                      </a:r>
                    </a:p>
                  </a:txBody>
                  <a:tcPr/>
                </a:tc>
                <a:extLst>
                  <a:ext uri="{0D108BD9-81ED-4DB2-BD59-A6C34878D82A}">
                    <a16:rowId xmlns:a16="http://schemas.microsoft.com/office/drawing/2014/main" val="532805062"/>
                  </a:ext>
                </a:extLst>
              </a:tr>
              <a:tr h="370840">
                <a:tc>
                  <a:txBody>
                    <a:bodyPr/>
                    <a:lstStyle/>
                    <a:p>
                      <a:r>
                        <a:rPr lang="en-US" dirty="0"/>
                        <a:t>0</a:t>
                      </a:r>
                    </a:p>
                  </a:txBody>
                  <a:tcPr/>
                </a:tc>
                <a:tc>
                  <a:txBody>
                    <a:bodyPr/>
                    <a:lstStyle/>
                    <a:p>
                      <a:r>
                        <a:rPr lang="en-US" dirty="0"/>
                        <a:t>MR0 Interrupt</a:t>
                      </a:r>
                    </a:p>
                  </a:txBody>
                  <a:tcPr/>
                </a:tc>
                <a:tc>
                  <a:txBody>
                    <a:bodyPr/>
                    <a:lstStyle/>
                    <a:p>
                      <a:r>
                        <a:rPr lang="en-US" dirty="0"/>
                        <a:t>Interrupt flag for match channel 0.</a:t>
                      </a:r>
                    </a:p>
                  </a:txBody>
                  <a:tcPr/>
                </a:tc>
                <a:extLst>
                  <a:ext uri="{0D108BD9-81ED-4DB2-BD59-A6C34878D82A}">
                    <a16:rowId xmlns:a16="http://schemas.microsoft.com/office/drawing/2014/main" val="502361401"/>
                  </a:ext>
                </a:extLst>
              </a:tr>
              <a:tr h="370840">
                <a:tc>
                  <a:txBody>
                    <a:bodyPr/>
                    <a:lstStyle/>
                    <a:p>
                      <a:r>
                        <a:rPr lang="en-US" dirty="0"/>
                        <a:t>1</a:t>
                      </a:r>
                    </a:p>
                  </a:txBody>
                  <a:tcPr/>
                </a:tc>
                <a:tc>
                  <a:txBody>
                    <a:bodyPr/>
                    <a:lstStyle/>
                    <a:p>
                      <a:r>
                        <a:rPr lang="en-US" dirty="0"/>
                        <a:t>MR1 Interrupt</a:t>
                      </a:r>
                    </a:p>
                  </a:txBody>
                  <a:tcPr/>
                </a:tc>
                <a:tc>
                  <a:txBody>
                    <a:bodyPr/>
                    <a:lstStyle/>
                    <a:p>
                      <a:r>
                        <a:rPr lang="en-US" dirty="0"/>
                        <a:t>Interrupt flag for match channel 1.</a:t>
                      </a:r>
                    </a:p>
                  </a:txBody>
                  <a:tcPr/>
                </a:tc>
                <a:extLst>
                  <a:ext uri="{0D108BD9-81ED-4DB2-BD59-A6C34878D82A}">
                    <a16:rowId xmlns:a16="http://schemas.microsoft.com/office/drawing/2014/main" val="2429223089"/>
                  </a:ext>
                </a:extLst>
              </a:tr>
              <a:tr h="370840">
                <a:tc>
                  <a:txBody>
                    <a:bodyPr/>
                    <a:lstStyle/>
                    <a:p>
                      <a:r>
                        <a:rPr lang="en-US" dirty="0"/>
                        <a:t>2</a:t>
                      </a:r>
                    </a:p>
                  </a:txBody>
                  <a:tcPr/>
                </a:tc>
                <a:tc>
                  <a:txBody>
                    <a:bodyPr/>
                    <a:lstStyle/>
                    <a:p>
                      <a:r>
                        <a:rPr lang="en-US" dirty="0"/>
                        <a:t>MR2 Interrupt</a:t>
                      </a:r>
                    </a:p>
                  </a:txBody>
                  <a:tcPr/>
                </a:tc>
                <a:tc>
                  <a:txBody>
                    <a:bodyPr/>
                    <a:lstStyle/>
                    <a:p>
                      <a:r>
                        <a:rPr lang="en-US" dirty="0"/>
                        <a:t>Interrupt flag for match channel 2.</a:t>
                      </a:r>
                    </a:p>
                  </a:txBody>
                  <a:tcPr/>
                </a:tc>
                <a:extLst>
                  <a:ext uri="{0D108BD9-81ED-4DB2-BD59-A6C34878D82A}">
                    <a16:rowId xmlns:a16="http://schemas.microsoft.com/office/drawing/2014/main" val="1242610488"/>
                  </a:ext>
                </a:extLst>
              </a:tr>
              <a:tr h="370840">
                <a:tc>
                  <a:txBody>
                    <a:bodyPr/>
                    <a:lstStyle/>
                    <a:p>
                      <a:r>
                        <a:rPr lang="en-US" dirty="0"/>
                        <a:t>3</a:t>
                      </a:r>
                    </a:p>
                  </a:txBody>
                  <a:tcPr/>
                </a:tc>
                <a:tc>
                  <a:txBody>
                    <a:bodyPr/>
                    <a:lstStyle/>
                    <a:p>
                      <a:r>
                        <a:rPr lang="en-US" dirty="0"/>
                        <a:t>MR3 Interrupt</a:t>
                      </a:r>
                    </a:p>
                  </a:txBody>
                  <a:tcPr/>
                </a:tc>
                <a:tc>
                  <a:txBody>
                    <a:bodyPr/>
                    <a:lstStyle/>
                    <a:p>
                      <a:r>
                        <a:rPr lang="en-US" dirty="0"/>
                        <a:t>Interrupt flag for match channel 3.</a:t>
                      </a:r>
                    </a:p>
                  </a:txBody>
                  <a:tcPr/>
                </a:tc>
                <a:extLst>
                  <a:ext uri="{0D108BD9-81ED-4DB2-BD59-A6C34878D82A}">
                    <a16:rowId xmlns:a16="http://schemas.microsoft.com/office/drawing/2014/main" val="3675894984"/>
                  </a:ext>
                </a:extLst>
              </a:tr>
            </a:tbl>
          </a:graphicData>
        </a:graphic>
      </p:graphicFrame>
      <p:sp>
        <p:nvSpPr>
          <p:cNvPr id="5" name="Slide Number Placeholder 4">
            <a:extLst>
              <a:ext uri="{FF2B5EF4-FFF2-40B4-BE49-F238E27FC236}">
                <a16:creationId xmlns:a16="http://schemas.microsoft.com/office/drawing/2014/main" id="{C7DF557E-8EB4-41B7-9ECA-B79DF5C9E199}"/>
              </a:ext>
            </a:extLst>
          </p:cNvPr>
          <p:cNvSpPr>
            <a:spLocks noGrp="1"/>
          </p:cNvSpPr>
          <p:nvPr>
            <p:ph type="sldNum" sz="quarter" idx="12"/>
          </p:nvPr>
        </p:nvSpPr>
        <p:spPr/>
        <p:txBody>
          <a:bodyPr/>
          <a:lstStyle/>
          <a:p>
            <a:fld id="{2EA600BA-DB00-455B-8978-6C66618801A7}" type="slidenum">
              <a:rPr lang="en-US" smtClean="0"/>
              <a:t>58</a:t>
            </a:fld>
            <a:endParaRPr lang="en-US"/>
          </a:p>
        </p:txBody>
      </p:sp>
    </p:spTree>
    <p:extLst>
      <p:ext uri="{BB962C8B-B14F-4D97-AF65-F5344CB8AC3E}">
        <p14:creationId xmlns:p14="http://schemas.microsoft.com/office/powerpoint/2010/main" val="161055286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FDF75-2DEF-4833-A1B3-033599EA5EB4}"/>
              </a:ext>
            </a:extLst>
          </p:cNvPr>
          <p:cNvSpPr>
            <a:spLocks noGrp="1"/>
          </p:cNvSpPr>
          <p:nvPr>
            <p:ph type="title"/>
          </p:nvPr>
        </p:nvSpPr>
        <p:spPr/>
        <p:txBody>
          <a:bodyPr/>
          <a:lstStyle/>
          <a:p>
            <a:r>
              <a:rPr lang="en-US" dirty="0"/>
              <a:t>Pulse Width Modulator</a:t>
            </a:r>
          </a:p>
        </p:txBody>
      </p:sp>
      <p:sp>
        <p:nvSpPr>
          <p:cNvPr id="7" name="Slide Number Placeholder 6">
            <a:extLst>
              <a:ext uri="{FF2B5EF4-FFF2-40B4-BE49-F238E27FC236}">
                <a16:creationId xmlns:a16="http://schemas.microsoft.com/office/drawing/2014/main" id="{19A08A8D-5A03-42D5-A89E-7D56EE027FAA}"/>
              </a:ext>
            </a:extLst>
          </p:cNvPr>
          <p:cNvSpPr>
            <a:spLocks noGrp="1"/>
          </p:cNvSpPr>
          <p:nvPr>
            <p:ph type="sldNum" sz="quarter" idx="12"/>
          </p:nvPr>
        </p:nvSpPr>
        <p:spPr/>
        <p:txBody>
          <a:bodyPr/>
          <a:lstStyle/>
          <a:p>
            <a:fld id="{2EA600BA-DB00-455B-8978-6C66618801A7}" type="slidenum">
              <a:rPr lang="en-US" smtClean="0"/>
              <a:t>59</a:t>
            </a:fld>
            <a:endParaRPr lang="en-US"/>
          </a:p>
        </p:txBody>
      </p:sp>
      <p:sp>
        <p:nvSpPr>
          <p:cNvPr id="9" name="TextBox 8">
            <a:extLst>
              <a:ext uri="{FF2B5EF4-FFF2-40B4-BE49-F238E27FC236}">
                <a16:creationId xmlns:a16="http://schemas.microsoft.com/office/drawing/2014/main" id="{30B8DD6A-4655-C177-83C6-8EB0B0277262}"/>
              </a:ext>
            </a:extLst>
          </p:cNvPr>
          <p:cNvSpPr txBox="1"/>
          <p:nvPr/>
        </p:nvSpPr>
        <p:spPr>
          <a:xfrm>
            <a:off x="3615397" y="1052400"/>
            <a:ext cx="8046720" cy="5144165"/>
          </a:xfrm>
          <a:prstGeom prst="rect">
            <a:avLst/>
          </a:prstGeom>
          <a:noFill/>
        </p:spPr>
        <p:txBody>
          <a:bodyPr wrap="square">
            <a:spAutoFit/>
          </a:bodyPr>
          <a:lstStyle/>
          <a:p>
            <a:r>
              <a:rPr lang="en-US" sz="4400" dirty="0"/>
              <a:t>Pulse Width Modulator:</a:t>
            </a:r>
            <a:endParaRPr lang="en-US" sz="2400" b="1" u="sng" dirty="0"/>
          </a:p>
          <a:p>
            <a:pPr marL="342900" indent="-342900" algn="just">
              <a:lnSpc>
                <a:spcPct val="150000"/>
              </a:lnSpc>
              <a:buFont typeface="Arial" panose="020B0604020202020204" pitchFamily="34" charset="0"/>
              <a:buChar char="•"/>
            </a:pPr>
            <a:r>
              <a:rPr lang="en-US" sz="2400" dirty="0">
                <a:solidFill>
                  <a:schemeClr val="tx1">
                    <a:lumMod val="65000"/>
                    <a:lumOff val="35000"/>
                  </a:schemeClr>
                </a:solidFill>
              </a:rPr>
              <a:t>All advanced MCUs have PWM as a separate unit. </a:t>
            </a:r>
          </a:p>
          <a:p>
            <a:pPr marL="342900" indent="-342900" algn="just">
              <a:lnSpc>
                <a:spcPct val="150000"/>
              </a:lnSpc>
              <a:buFont typeface="Arial" panose="020B0604020202020204" pitchFamily="34" charset="0"/>
              <a:buChar char="•"/>
            </a:pPr>
            <a:r>
              <a:rPr lang="en-US" sz="2400" dirty="0">
                <a:solidFill>
                  <a:schemeClr val="tx1">
                    <a:lumMod val="65000"/>
                    <a:lumOff val="35000"/>
                  </a:schemeClr>
                </a:solidFill>
              </a:rPr>
              <a:t>In LPC214x, if the PWM mode is not enabled, the unit behaves as a timer.</a:t>
            </a:r>
          </a:p>
          <a:p>
            <a:pPr marL="342900" indent="-342900" algn="just">
              <a:lnSpc>
                <a:spcPct val="150000"/>
              </a:lnSpc>
              <a:buFont typeface="Arial" panose="020B0604020202020204" pitchFamily="34" charset="0"/>
              <a:buChar char="•"/>
            </a:pPr>
            <a:r>
              <a:rPr lang="en-US" sz="2400" dirty="0">
                <a:solidFill>
                  <a:schemeClr val="tx1">
                    <a:lumMod val="65000"/>
                    <a:lumOff val="35000"/>
                  </a:schemeClr>
                </a:solidFill>
              </a:rPr>
              <a:t>There is a facility to obtain 6 PWM waveforms simultaneously from MCU.</a:t>
            </a:r>
          </a:p>
          <a:p>
            <a:pPr marL="342900" indent="-342900" algn="just">
              <a:lnSpc>
                <a:spcPct val="150000"/>
              </a:lnSpc>
              <a:buFont typeface="Arial" panose="020B0604020202020204" pitchFamily="34" charset="0"/>
              <a:buChar char="•"/>
            </a:pPr>
            <a:r>
              <a:rPr lang="en-US" sz="2400" dirty="0">
                <a:solidFill>
                  <a:schemeClr val="tx1">
                    <a:lumMod val="65000"/>
                    <a:lumOff val="35000"/>
                  </a:schemeClr>
                </a:solidFill>
              </a:rPr>
              <a:t>There are specific pins assigned as the output pins.</a:t>
            </a:r>
          </a:p>
          <a:p>
            <a:pPr marL="342900" indent="-342900" algn="just">
              <a:lnSpc>
                <a:spcPct val="150000"/>
              </a:lnSpc>
              <a:buFont typeface="Arial" panose="020B0604020202020204" pitchFamily="34" charset="0"/>
              <a:buChar char="•"/>
            </a:pPr>
            <a:r>
              <a:rPr lang="en-US" sz="2400" dirty="0">
                <a:solidFill>
                  <a:schemeClr val="tx1">
                    <a:lumMod val="65000"/>
                    <a:lumOff val="35000"/>
                  </a:schemeClr>
                </a:solidFill>
              </a:rPr>
              <a:t>Pin select registers are to be used for enabling the pins to work as PWM output pins.</a:t>
            </a:r>
          </a:p>
        </p:txBody>
      </p:sp>
    </p:spTree>
    <p:extLst>
      <p:ext uri="{BB962C8B-B14F-4D97-AF65-F5344CB8AC3E}">
        <p14:creationId xmlns:p14="http://schemas.microsoft.com/office/powerpoint/2010/main" val="104424682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FDF75-2DEF-4833-A1B3-033599EA5EB4}"/>
              </a:ext>
            </a:extLst>
          </p:cNvPr>
          <p:cNvSpPr>
            <a:spLocks noGrp="1"/>
          </p:cNvSpPr>
          <p:nvPr>
            <p:ph type="title"/>
          </p:nvPr>
        </p:nvSpPr>
        <p:spPr/>
        <p:txBody>
          <a:bodyPr/>
          <a:lstStyle/>
          <a:p>
            <a:r>
              <a:rPr lang="en-US" dirty="0"/>
              <a:t>Pulse Width Modulator</a:t>
            </a:r>
          </a:p>
        </p:txBody>
      </p:sp>
      <p:pic>
        <p:nvPicPr>
          <p:cNvPr id="5" name="Content Placeholder 4">
            <a:extLst>
              <a:ext uri="{FF2B5EF4-FFF2-40B4-BE49-F238E27FC236}">
                <a16:creationId xmlns:a16="http://schemas.microsoft.com/office/drawing/2014/main" id="{98E3A1C0-B260-471B-A18F-C03AD67DCD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6309" y="1123838"/>
            <a:ext cx="8177497" cy="4601182"/>
          </a:xfrm>
        </p:spPr>
      </p:pic>
      <p:sp>
        <p:nvSpPr>
          <p:cNvPr id="7" name="Slide Number Placeholder 6">
            <a:extLst>
              <a:ext uri="{FF2B5EF4-FFF2-40B4-BE49-F238E27FC236}">
                <a16:creationId xmlns:a16="http://schemas.microsoft.com/office/drawing/2014/main" id="{19A08A8D-5A03-42D5-A89E-7D56EE027FAA}"/>
              </a:ext>
            </a:extLst>
          </p:cNvPr>
          <p:cNvSpPr>
            <a:spLocks noGrp="1"/>
          </p:cNvSpPr>
          <p:nvPr>
            <p:ph type="sldNum" sz="quarter" idx="12"/>
          </p:nvPr>
        </p:nvSpPr>
        <p:spPr/>
        <p:txBody>
          <a:bodyPr/>
          <a:lstStyle/>
          <a:p>
            <a:fld id="{2EA600BA-DB00-455B-8978-6C66618801A7}" type="slidenum">
              <a:rPr lang="en-US" smtClean="0"/>
              <a:t>60</a:t>
            </a:fld>
            <a:endParaRPr lang="en-US"/>
          </a:p>
        </p:txBody>
      </p:sp>
    </p:spTree>
    <p:extLst>
      <p:ext uri="{BB962C8B-B14F-4D97-AF65-F5344CB8AC3E}">
        <p14:creationId xmlns:p14="http://schemas.microsoft.com/office/powerpoint/2010/main" val="99951443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34C2-9BFB-464B-A3F0-008100971C3B}"/>
              </a:ext>
            </a:extLst>
          </p:cNvPr>
          <p:cNvSpPr>
            <a:spLocks noGrp="1"/>
          </p:cNvSpPr>
          <p:nvPr>
            <p:ph type="title"/>
          </p:nvPr>
        </p:nvSpPr>
        <p:spPr/>
        <p:txBody>
          <a:bodyPr/>
          <a:lstStyle/>
          <a:p>
            <a:r>
              <a:rPr lang="en-US" dirty="0"/>
              <a:t>Pulse Width Modulator </a:t>
            </a:r>
            <a:r>
              <a:rPr lang="en-US" dirty="0" err="1"/>
              <a:t>contd</a:t>
            </a:r>
            <a:r>
              <a:rPr lang="en-US" dirty="0"/>
              <a:t>…</a:t>
            </a:r>
          </a:p>
        </p:txBody>
      </p:sp>
      <p:pic>
        <p:nvPicPr>
          <p:cNvPr id="5" name="Content Placeholder 4">
            <a:extLst>
              <a:ext uri="{FF2B5EF4-FFF2-40B4-BE49-F238E27FC236}">
                <a16:creationId xmlns:a16="http://schemas.microsoft.com/office/drawing/2014/main" id="{F011F8ED-158D-4790-A460-455406C239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1722" y="1770168"/>
            <a:ext cx="6809232" cy="4276047"/>
          </a:xfrm>
        </p:spPr>
      </p:pic>
      <p:sp>
        <p:nvSpPr>
          <p:cNvPr id="7" name="Slide Number Placeholder 6">
            <a:extLst>
              <a:ext uri="{FF2B5EF4-FFF2-40B4-BE49-F238E27FC236}">
                <a16:creationId xmlns:a16="http://schemas.microsoft.com/office/drawing/2014/main" id="{87884979-3483-4E31-82DA-0ACB682209A8}"/>
              </a:ext>
            </a:extLst>
          </p:cNvPr>
          <p:cNvSpPr>
            <a:spLocks noGrp="1"/>
          </p:cNvSpPr>
          <p:nvPr>
            <p:ph type="sldNum" sz="quarter" idx="12"/>
          </p:nvPr>
        </p:nvSpPr>
        <p:spPr/>
        <p:txBody>
          <a:bodyPr/>
          <a:lstStyle/>
          <a:p>
            <a:fld id="{2EA600BA-DB00-455B-8978-6C66618801A7}" type="slidenum">
              <a:rPr lang="en-US" smtClean="0"/>
              <a:t>61</a:t>
            </a:fld>
            <a:endParaRPr lang="en-US"/>
          </a:p>
        </p:txBody>
      </p:sp>
      <p:sp>
        <p:nvSpPr>
          <p:cNvPr id="3" name="TextBox 2">
            <a:extLst>
              <a:ext uri="{FF2B5EF4-FFF2-40B4-BE49-F238E27FC236}">
                <a16:creationId xmlns:a16="http://schemas.microsoft.com/office/drawing/2014/main" id="{891C84DD-7285-1909-5BCC-4F5C1DBE8B75}"/>
              </a:ext>
            </a:extLst>
          </p:cNvPr>
          <p:cNvSpPr txBox="1"/>
          <p:nvPr/>
        </p:nvSpPr>
        <p:spPr>
          <a:xfrm>
            <a:off x="4557932" y="1123837"/>
            <a:ext cx="6373022" cy="646331"/>
          </a:xfrm>
          <a:prstGeom prst="rect">
            <a:avLst/>
          </a:prstGeom>
          <a:noFill/>
        </p:spPr>
        <p:txBody>
          <a:bodyPr wrap="square" rtlCol="0">
            <a:spAutoFit/>
          </a:bodyPr>
          <a:lstStyle/>
          <a:p>
            <a:r>
              <a:rPr lang="en-US" dirty="0"/>
              <a:t>Find the appropriate PINSEL registers and the values to be used to select PWm6,PWM5 and PWM4.</a:t>
            </a:r>
          </a:p>
        </p:txBody>
      </p:sp>
    </p:spTree>
    <p:extLst>
      <p:ext uri="{BB962C8B-B14F-4D97-AF65-F5344CB8AC3E}">
        <p14:creationId xmlns:p14="http://schemas.microsoft.com/office/powerpoint/2010/main" val="208650456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FDF75-2DEF-4833-A1B3-033599EA5EB4}"/>
              </a:ext>
            </a:extLst>
          </p:cNvPr>
          <p:cNvSpPr>
            <a:spLocks noGrp="1"/>
          </p:cNvSpPr>
          <p:nvPr>
            <p:ph type="title"/>
          </p:nvPr>
        </p:nvSpPr>
        <p:spPr/>
        <p:txBody>
          <a:bodyPr/>
          <a:lstStyle/>
          <a:p>
            <a:r>
              <a:rPr lang="en-US" dirty="0"/>
              <a:t>Pulse Width Modulator</a:t>
            </a:r>
          </a:p>
        </p:txBody>
      </p:sp>
      <p:sp>
        <p:nvSpPr>
          <p:cNvPr id="7" name="Slide Number Placeholder 6">
            <a:extLst>
              <a:ext uri="{FF2B5EF4-FFF2-40B4-BE49-F238E27FC236}">
                <a16:creationId xmlns:a16="http://schemas.microsoft.com/office/drawing/2014/main" id="{19A08A8D-5A03-42D5-A89E-7D56EE027FAA}"/>
              </a:ext>
            </a:extLst>
          </p:cNvPr>
          <p:cNvSpPr>
            <a:spLocks noGrp="1"/>
          </p:cNvSpPr>
          <p:nvPr>
            <p:ph type="sldNum" sz="quarter" idx="12"/>
          </p:nvPr>
        </p:nvSpPr>
        <p:spPr/>
        <p:txBody>
          <a:bodyPr/>
          <a:lstStyle/>
          <a:p>
            <a:fld id="{2EA600BA-DB00-455B-8978-6C66618801A7}" type="slidenum">
              <a:rPr lang="en-US" smtClean="0"/>
              <a:t>62</a:t>
            </a:fld>
            <a:endParaRPr lang="en-US"/>
          </a:p>
        </p:txBody>
      </p:sp>
      <p:sp>
        <p:nvSpPr>
          <p:cNvPr id="4" name="TextBox 3">
            <a:extLst>
              <a:ext uri="{FF2B5EF4-FFF2-40B4-BE49-F238E27FC236}">
                <a16:creationId xmlns:a16="http://schemas.microsoft.com/office/drawing/2014/main" id="{E2C1817D-1EE2-D502-5C74-CDE72C98C35F}"/>
              </a:ext>
            </a:extLst>
          </p:cNvPr>
          <p:cNvSpPr txBox="1"/>
          <p:nvPr/>
        </p:nvSpPr>
        <p:spPr>
          <a:xfrm>
            <a:off x="3738488" y="362051"/>
            <a:ext cx="8008035" cy="6124754"/>
          </a:xfrm>
          <a:prstGeom prst="rect">
            <a:avLst/>
          </a:prstGeom>
          <a:noFill/>
        </p:spPr>
        <p:txBody>
          <a:bodyPr wrap="square">
            <a:spAutoFit/>
          </a:bodyPr>
          <a:lstStyle/>
          <a:p>
            <a:r>
              <a:rPr lang="en-US" sz="2400" b="1" dirty="0"/>
              <a:t>Functions of PWM:</a:t>
            </a:r>
          </a:p>
          <a:p>
            <a:pPr marL="342900" indent="-342900" algn="just">
              <a:buFont typeface="Arial" panose="020B0604020202020204" pitchFamily="34" charset="0"/>
              <a:buChar char="•"/>
            </a:pPr>
            <a:r>
              <a:rPr lang="en-US" sz="2400" dirty="0">
                <a:solidFill>
                  <a:schemeClr val="tx1">
                    <a:lumMod val="65000"/>
                    <a:lumOff val="35000"/>
                  </a:schemeClr>
                </a:solidFill>
              </a:rPr>
              <a:t>Concept of match registers are used here like timer. There is a match register MR0.</a:t>
            </a:r>
          </a:p>
          <a:p>
            <a:pPr marL="342900" indent="-342900" algn="just">
              <a:buFont typeface="Arial" panose="020B0604020202020204" pitchFamily="34" charset="0"/>
              <a:buChar char="•"/>
            </a:pPr>
            <a:r>
              <a:rPr lang="en-US" sz="2400" dirty="0">
                <a:solidFill>
                  <a:schemeClr val="tx1">
                    <a:lumMod val="65000"/>
                    <a:lumOff val="35000"/>
                  </a:schemeClr>
                </a:solidFill>
              </a:rPr>
              <a:t>The number loaded into MR0 determines the pulse repetition rate of PWM waveform.</a:t>
            </a:r>
          </a:p>
          <a:p>
            <a:pPr marL="342900" indent="-342900" algn="just">
              <a:buFont typeface="Arial" panose="020B0604020202020204" pitchFamily="34" charset="0"/>
              <a:buChar char="•"/>
            </a:pPr>
            <a:r>
              <a:rPr lang="en-US" sz="2400" dirty="0">
                <a:solidFill>
                  <a:schemeClr val="tx1">
                    <a:lumMod val="65000"/>
                    <a:lumOff val="35000"/>
                  </a:schemeClr>
                </a:solidFill>
              </a:rPr>
              <a:t>MR0 determines the time period T of the waveform. There are 6 other match registers MR1 to MR6.</a:t>
            </a:r>
          </a:p>
          <a:p>
            <a:pPr marL="342900" indent="-342900" algn="just">
              <a:buFont typeface="Arial" panose="020B0604020202020204" pitchFamily="34" charset="0"/>
              <a:buChar char="•"/>
            </a:pPr>
            <a:r>
              <a:rPr lang="en-US" sz="2400" dirty="0">
                <a:solidFill>
                  <a:schemeClr val="tx1">
                    <a:lumMod val="65000"/>
                    <a:lumOff val="35000"/>
                  </a:schemeClr>
                </a:solidFill>
              </a:rPr>
              <a:t>They are used for deciding ON period of each of 6 PWM signals PWM1 to PWM6.</a:t>
            </a:r>
          </a:p>
          <a:p>
            <a:pPr marL="342900" indent="-342900" algn="just">
              <a:buFont typeface="Arial" panose="020B0604020202020204" pitchFamily="34" charset="0"/>
              <a:buChar char="•"/>
            </a:pPr>
            <a:r>
              <a:rPr lang="en-US" sz="2400" dirty="0">
                <a:solidFill>
                  <a:schemeClr val="tx1">
                    <a:lumMod val="65000"/>
                    <a:lumOff val="35000"/>
                  </a:schemeClr>
                </a:solidFill>
              </a:rPr>
              <a:t>Fig 6.16 shows a pulse stream in which t is the ON period and </a:t>
            </a:r>
            <a:r>
              <a:rPr lang="en-US" sz="2400" dirty="0" err="1">
                <a:solidFill>
                  <a:schemeClr val="tx1">
                    <a:lumMod val="65000"/>
                    <a:lumOff val="35000"/>
                  </a:schemeClr>
                </a:solidFill>
              </a:rPr>
              <a:t>T,the</a:t>
            </a:r>
            <a:r>
              <a:rPr lang="en-US" sz="2400" dirty="0">
                <a:solidFill>
                  <a:schemeClr val="tx1">
                    <a:lumMod val="65000"/>
                    <a:lumOff val="35000"/>
                  </a:schemeClr>
                </a:solidFill>
              </a:rPr>
              <a:t> pulse </a:t>
            </a:r>
            <a:r>
              <a:rPr lang="en-US" sz="2400" dirty="0" err="1">
                <a:solidFill>
                  <a:schemeClr val="tx1">
                    <a:lumMod val="65000"/>
                    <a:lumOff val="35000"/>
                  </a:schemeClr>
                </a:solidFill>
              </a:rPr>
              <a:t>period.The</a:t>
            </a:r>
            <a:r>
              <a:rPr lang="en-US" sz="2400" dirty="0">
                <a:solidFill>
                  <a:schemeClr val="tx1">
                    <a:lumMod val="65000"/>
                    <a:lumOff val="35000"/>
                  </a:schemeClr>
                </a:solidFill>
              </a:rPr>
              <a:t> duty cycle is defined as</a:t>
            </a:r>
          </a:p>
          <a:p>
            <a:pPr algn="just"/>
            <a:r>
              <a:rPr lang="en-US" sz="2800" dirty="0"/>
              <a:t>		Duty cycle = t/T x 100 %</a:t>
            </a:r>
          </a:p>
          <a:p>
            <a:pPr algn="just"/>
            <a:r>
              <a:rPr lang="en-US" sz="2800" dirty="0">
                <a:solidFill>
                  <a:schemeClr val="tx1">
                    <a:lumMod val="65000"/>
                    <a:lumOff val="35000"/>
                  </a:schemeClr>
                </a:solidFill>
              </a:rPr>
              <a:t>	</a:t>
            </a:r>
            <a:r>
              <a:rPr lang="en-US" sz="2400" dirty="0">
                <a:solidFill>
                  <a:schemeClr val="tx1">
                    <a:lumMod val="65000"/>
                    <a:lumOff val="35000"/>
                  </a:schemeClr>
                </a:solidFill>
              </a:rPr>
              <a:t>If six PWM outputs are used in the single edge controlled scheme, all of them go  high at the same time, but the fall time of the pulse are different and determined by the values in registers MR1 to MR6.</a:t>
            </a:r>
          </a:p>
        </p:txBody>
      </p:sp>
    </p:spTree>
    <p:extLst>
      <p:ext uri="{BB962C8B-B14F-4D97-AF65-F5344CB8AC3E}">
        <p14:creationId xmlns:p14="http://schemas.microsoft.com/office/powerpoint/2010/main" val="190381011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40BDF-8F91-46D7-B407-16BA323F6569}"/>
              </a:ext>
            </a:extLst>
          </p:cNvPr>
          <p:cNvSpPr>
            <a:spLocks noGrp="1"/>
          </p:cNvSpPr>
          <p:nvPr>
            <p:ph type="title"/>
          </p:nvPr>
        </p:nvSpPr>
        <p:spPr/>
        <p:txBody>
          <a:bodyPr/>
          <a:lstStyle/>
          <a:p>
            <a:r>
              <a:rPr lang="en-US" dirty="0"/>
              <a:t>How does the PWM unit function?</a:t>
            </a:r>
          </a:p>
        </p:txBody>
      </p:sp>
      <p:graphicFrame>
        <p:nvGraphicFramePr>
          <p:cNvPr id="6" name="Table 6">
            <a:extLst>
              <a:ext uri="{FF2B5EF4-FFF2-40B4-BE49-F238E27FC236}">
                <a16:creationId xmlns:a16="http://schemas.microsoft.com/office/drawing/2014/main" id="{99B05FA8-683E-4351-B560-0324161AA6C0}"/>
              </a:ext>
            </a:extLst>
          </p:cNvPr>
          <p:cNvGraphicFramePr>
            <a:graphicFrameLocks noGrp="1"/>
          </p:cNvGraphicFramePr>
          <p:nvPr>
            <p:ph idx="1"/>
            <p:extLst>
              <p:ext uri="{D42A27DB-BD31-4B8C-83A1-F6EECF244321}">
                <p14:modId xmlns:p14="http://schemas.microsoft.com/office/powerpoint/2010/main" val="2463247270"/>
              </p:ext>
            </p:extLst>
          </p:nvPr>
        </p:nvGraphicFramePr>
        <p:xfrm>
          <a:off x="3812670" y="3129140"/>
          <a:ext cx="7315200" cy="25958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998531961"/>
                    </a:ext>
                  </a:extLst>
                </a:gridCol>
                <a:gridCol w="2438400">
                  <a:extLst>
                    <a:ext uri="{9D8B030D-6E8A-4147-A177-3AD203B41FA5}">
                      <a16:colId xmlns:a16="http://schemas.microsoft.com/office/drawing/2014/main" val="2868234609"/>
                    </a:ext>
                  </a:extLst>
                </a:gridCol>
                <a:gridCol w="2438400">
                  <a:extLst>
                    <a:ext uri="{9D8B030D-6E8A-4147-A177-3AD203B41FA5}">
                      <a16:colId xmlns:a16="http://schemas.microsoft.com/office/drawing/2014/main" val="2510908400"/>
                    </a:ext>
                  </a:extLst>
                </a:gridCol>
              </a:tblGrid>
              <a:tr h="370840">
                <a:tc>
                  <a:txBody>
                    <a:bodyPr/>
                    <a:lstStyle/>
                    <a:p>
                      <a:r>
                        <a:rPr lang="en-US" dirty="0"/>
                        <a:t>PWM Channel</a:t>
                      </a:r>
                    </a:p>
                  </a:txBody>
                  <a:tcPr/>
                </a:tc>
                <a:tc>
                  <a:txBody>
                    <a:bodyPr/>
                    <a:lstStyle/>
                    <a:p>
                      <a:r>
                        <a:rPr lang="en-US" dirty="0"/>
                        <a:t>T set by (T)</a:t>
                      </a:r>
                    </a:p>
                  </a:txBody>
                  <a:tcPr/>
                </a:tc>
                <a:tc>
                  <a:txBody>
                    <a:bodyPr/>
                    <a:lstStyle/>
                    <a:p>
                      <a:r>
                        <a:rPr lang="en-US" dirty="0"/>
                        <a:t>On </a:t>
                      </a:r>
                      <a:r>
                        <a:rPr lang="en-US"/>
                        <a:t>time by (t)</a:t>
                      </a:r>
                      <a:endParaRPr lang="en-US" dirty="0"/>
                    </a:p>
                  </a:txBody>
                  <a:tcPr/>
                </a:tc>
                <a:extLst>
                  <a:ext uri="{0D108BD9-81ED-4DB2-BD59-A6C34878D82A}">
                    <a16:rowId xmlns:a16="http://schemas.microsoft.com/office/drawing/2014/main" val="290572776"/>
                  </a:ext>
                </a:extLst>
              </a:tr>
              <a:tr h="370840">
                <a:tc>
                  <a:txBody>
                    <a:bodyPr/>
                    <a:lstStyle/>
                    <a:p>
                      <a:r>
                        <a:rPr lang="en-US" dirty="0"/>
                        <a:t>1</a:t>
                      </a:r>
                    </a:p>
                  </a:txBody>
                  <a:tcPr/>
                </a:tc>
                <a:tc>
                  <a:txBody>
                    <a:bodyPr/>
                    <a:lstStyle/>
                    <a:p>
                      <a:r>
                        <a:rPr lang="en-US" dirty="0"/>
                        <a:t>Match 0</a:t>
                      </a:r>
                    </a:p>
                  </a:txBody>
                  <a:tcPr/>
                </a:tc>
                <a:tc>
                  <a:txBody>
                    <a:bodyPr/>
                    <a:lstStyle/>
                    <a:p>
                      <a:r>
                        <a:rPr lang="en-US" dirty="0"/>
                        <a:t>Match 1</a:t>
                      </a:r>
                    </a:p>
                  </a:txBody>
                  <a:tcPr/>
                </a:tc>
                <a:extLst>
                  <a:ext uri="{0D108BD9-81ED-4DB2-BD59-A6C34878D82A}">
                    <a16:rowId xmlns:a16="http://schemas.microsoft.com/office/drawing/2014/main" val="3198227821"/>
                  </a:ext>
                </a:extLst>
              </a:tr>
              <a:tr h="370840">
                <a:tc>
                  <a:txBody>
                    <a:bodyPr/>
                    <a:lstStyle/>
                    <a:p>
                      <a:r>
                        <a:rPr lang="en-US" dirty="0"/>
                        <a:t>2</a:t>
                      </a:r>
                    </a:p>
                  </a:txBody>
                  <a:tcPr/>
                </a:tc>
                <a:tc>
                  <a:txBody>
                    <a:bodyPr/>
                    <a:lstStyle/>
                    <a:p>
                      <a:r>
                        <a:rPr lang="en-US" dirty="0"/>
                        <a:t>Match 0</a:t>
                      </a:r>
                    </a:p>
                  </a:txBody>
                  <a:tcPr/>
                </a:tc>
                <a:tc>
                  <a:txBody>
                    <a:bodyPr/>
                    <a:lstStyle/>
                    <a:p>
                      <a:r>
                        <a:rPr lang="en-US" dirty="0"/>
                        <a:t>Match 2</a:t>
                      </a:r>
                    </a:p>
                  </a:txBody>
                  <a:tcPr/>
                </a:tc>
                <a:extLst>
                  <a:ext uri="{0D108BD9-81ED-4DB2-BD59-A6C34878D82A}">
                    <a16:rowId xmlns:a16="http://schemas.microsoft.com/office/drawing/2014/main" val="966338649"/>
                  </a:ext>
                </a:extLst>
              </a:tr>
              <a:tr h="370840">
                <a:tc>
                  <a:txBody>
                    <a:bodyPr/>
                    <a:lstStyle/>
                    <a:p>
                      <a:r>
                        <a:rPr lang="en-US" dirty="0"/>
                        <a:t>3</a:t>
                      </a:r>
                    </a:p>
                  </a:txBody>
                  <a:tcPr/>
                </a:tc>
                <a:tc>
                  <a:txBody>
                    <a:bodyPr/>
                    <a:lstStyle/>
                    <a:p>
                      <a:r>
                        <a:rPr lang="en-US" dirty="0"/>
                        <a:t>Match 0</a:t>
                      </a:r>
                    </a:p>
                  </a:txBody>
                  <a:tcPr/>
                </a:tc>
                <a:tc>
                  <a:txBody>
                    <a:bodyPr/>
                    <a:lstStyle/>
                    <a:p>
                      <a:r>
                        <a:rPr lang="en-US" dirty="0"/>
                        <a:t>Match 3</a:t>
                      </a:r>
                    </a:p>
                  </a:txBody>
                  <a:tcPr/>
                </a:tc>
                <a:extLst>
                  <a:ext uri="{0D108BD9-81ED-4DB2-BD59-A6C34878D82A}">
                    <a16:rowId xmlns:a16="http://schemas.microsoft.com/office/drawing/2014/main" val="1504201097"/>
                  </a:ext>
                </a:extLst>
              </a:tr>
              <a:tr h="370840">
                <a:tc>
                  <a:txBody>
                    <a:bodyPr/>
                    <a:lstStyle/>
                    <a:p>
                      <a:r>
                        <a:rPr lang="en-US" dirty="0"/>
                        <a:t>4</a:t>
                      </a:r>
                    </a:p>
                  </a:txBody>
                  <a:tcPr/>
                </a:tc>
                <a:tc>
                  <a:txBody>
                    <a:bodyPr/>
                    <a:lstStyle/>
                    <a:p>
                      <a:r>
                        <a:rPr lang="en-US" dirty="0"/>
                        <a:t>Match 0</a:t>
                      </a:r>
                    </a:p>
                  </a:txBody>
                  <a:tcPr/>
                </a:tc>
                <a:tc>
                  <a:txBody>
                    <a:bodyPr/>
                    <a:lstStyle/>
                    <a:p>
                      <a:r>
                        <a:rPr lang="en-US" dirty="0"/>
                        <a:t>Match 4</a:t>
                      </a:r>
                    </a:p>
                  </a:txBody>
                  <a:tcPr/>
                </a:tc>
                <a:extLst>
                  <a:ext uri="{0D108BD9-81ED-4DB2-BD59-A6C34878D82A}">
                    <a16:rowId xmlns:a16="http://schemas.microsoft.com/office/drawing/2014/main" val="327457084"/>
                  </a:ext>
                </a:extLst>
              </a:tr>
              <a:tr h="370840">
                <a:tc>
                  <a:txBody>
                    <a:bodyPr/>
                    <a:lstStyle/>
                    <a:p>
                      <a:r>
                        <a:rPr lang="en-US" dirty="0"/>
                        <a:t>5</a:t>
                      </a:r>
                    </a:p>
                  </a:txBody>
                  <a:tcPr/>
                </a:tc>
                <a:tc>
                  <a:txBody>
                    <a:bodyPr/>
                    <a:lstStyle/>
                    <a:p>
                      <a:r>
                        <a:rPr lang="en-US" dirty="0"/>
                        <a:t>Match 0</a:t>
                      </a:r>
                    </a:p>
                  </a:txBody>
                  <a:tcPr/>
                </a:tc>
                <a:tc>
                  <a:txBody>
                    <a:bodyPr/>
                    <a:lstStyle/>
                    <a:p>
                      <a:r>
                        <a:rPr lang="en-US" dirty="0"/>
                        <a:t>Match 5</a:t>
                      </a:r>
                    </a:p>
                  </a:txBody>
                  <a:tcPr/>
                </a:tc>
                <a:extLst>
                  <a:ext uri="{0D108BD9-81ED-4DB2-BD59-A6C34878D82A}">
                    <a16:rowId xmlns:a16="http://schemas.microsoft.com/office/drawing/2014/main" val="2618891758"/>
                  </a:ext>
                </a:extLst>
              </a:tr>
              <a:tr h="370840">
                <a:tc>
                  <a:txBody>
                    <a:bodyPr/>
                    <a:lstStyle/>
                    <a:p>
                      <a:r>
                        <a:rPr lang="en-US" dirty="0"/>
                        <a:t>6</a:t>
                      </a:r>
                    </a:p>
                  </a:txBody>
                  <a:tcPr/>
                </a:tc>
                <a:tc>
                  <a:txBody>
                    <a:bodyPr/>
                    <a:lstStyle/>
                    <a:p>
                      <a:r>
                        <a:rPr lang="en-US" dirty="0"/>
                        <a:t>Match 0</a:t>
                      </a:r>
                    </a:p>
                  </a:txBody>
                  <a:tcPr/>
                </a:tc>
                <a:tc>
                  <a:txBody>
                    <a:bodyPr/>
                    <a:lstStyle/>
                    <a:p>
                      <a:r>
                        <a:rPr lang="en-US" dirty="0"/>
                        <a:t>Match 6</a:t>
                      </a:r>
                    </a:p>
                  </a:txBody>
                  <a:tcPr/>
                </a:tc>
                <a:extLst>
                  <a:ext uri="{0D108BD9-81ED-4DB2-BD59-A6C34878D82A}">
                    <a16:rowId xmlns:a16="http://schemas.microsoft.com/office/drawing/2014/main" val="3361059054"/>
                  </a:ext>
                </a:extLst>
              </a:tr>
            </a:tbl>
          </a:graphicData>
        </a:graphic>
      </p:graphicFrame>
      <p:sp>
        <p:nvSpPr>
          <p:cNvPr id="5" name="Slide Number Placeholder 4">
            <a:extLst>
              <a:ext uri="{FF2B5EF4-FFF2-40B4-BE49-F238E27FC236}">
                <a16:creationId xmlns:a16="http://schemas.microsoft.com/office/drawing/2014/main" id="{ABC5B300-5D72-420D-80BB-A2293320FBEC}"/>
              </a:ext>
            </a:extLst>
          </p:cNvPr>
          <p:cNvSpPr>
            <a:spLocks noGrp="1"/>
          </p:cNvSpPr>
          <p:nvPr>
            <p:ph type="sldNum" sz="quarter" idx="12"/>
          </p:nvPr>
        </p:nvSpPr>
        <p:spPr/>
        <p:txBody>
          <a:bodyPr/>
          <a:lstStyle/>
          <a:p>
            <a:fld id="{2EA600BA-DB00-455B-8978-6C66618801A7}" type="slidenum">
              <a:rPr lang="en-US" smtClean="0"/>
              <a:t>63</a:t>
            </a:fld>
            <a:endParaRPr lang="en-US" dirty="0"/>
          </a:p>
        </p:txBody>
      </p:sp>
      <p:sp>
        <p:nvSpPr>
          <p:cNvPr id="3" name="TextBox 2">
            <a:extLst>
              <a:ext uri="{FF2B5EF4-FFF2-40B4-BE49-F238E27FC236}">
                <a16:creationId xmlns:a16="http://schemas.microsoft.com/office/drawing/2014/main" id="{973B63CC-85A8-6997-2AF6-78B41C7CC48B}"/>
              </a:ext>
            </a:extLst>
          </p:cNvPr>
          <p:cNvSpPr txBox="1"/>
          <p:nvPr/>
        </p:nvSpPr>
        <p:spPr>
          <a:xfrm>
            <a:off x="3756073" y="874483"/>
            <a:ext cx="7428393" cy="1938992"/>
          </a:xfrm>
          <a:prstGeom prst="rect">
            <a:avLst/>
          </a:prstGeom>
          <a:noFill/>
        </p:spPr>
        <p:txBody>
          <a:bodyPr wrap="square" rtlCol="0">
            <a:spAutoFit/>
          </a:bodyPr>
          <a:lstStyle/>
          <a:p>
            <a:r>
              <a:rPr lang="en-US" sz="2000" dirty="0"/>
              <a:t>Fig 6.17shows the case of three PWM outputs generated using the single edge controlled scheme.MR1 to MR3are used for determining the ON times of each of the pulse trains(see table 6.10)</a:t>
            </a:r>
          </a:p>
          <a:p>
            <a:endParaRPr lang="en-US" sz="2000" dirty="0"/>
          </a:p>
          <a:p>
            <a:r>
              <a:rPr lang="en-US" sz="2000" dirty="0"/>
              <a:t> Table6.10PWM channels and corresponding match registers for the single edge controlled scheme</a:t>
            </a:r>
          </a:p>
        </p:txBody>
      </p:sp>
    </p:spTree>
    <p:extLst>
      <p:ext uri="{BB962C8B-B14F-4D97-AF65-F5344CB8AC3E}">
        <p14:creationId xmlns:p14="http://schemas.microsoft.com/office/powerpoint/2010/main" val="423677603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F187-E65D-442E-B850-B961E9224EF0}"/>
              </a:ext>
            </a:extLst>
          </p:cNvPr>
          <p:cNvSpPr>
            <a:spLocks noGrp="1"/>
          </p:cNvSpPr>
          <p:nvPr>
            <p:ph type="title"/>
          </p:nvPr>
        </p:nvSpPr>
        <p:spPr/>
        <p:txBody>
          <a:bodyPr/>
          <a:lstStyle/>
          <a:p>
            <a:r>
              <a:rPr lang="en-US" dirty="0"/>
              <a:t>PWM waveform</a:t>
            </a:r>
          </a:p>
        </p:txBody>
      </p:sp>
      <p:pic>
        <p:nvPicPr>
          <p:cNvPr id="5" name="Content Placeholder 4">
            <a:extLst>
              <a:ext uri="{FF2B5EF4-FFF2-40B4-BE49-F238E27FC236}">
                <a16:creationId xmlns:a16="http://schemas.microsoft.com/office/drawing/2014/main" id="{380A67FD-ABE0-4E71-A896-6C3E726551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0677" y="863600"/>
            <a:ext cx="7420707" cy="5121275"/>
          </a:xfrm>
        </p:spPr>
      </p:pic>
      <p:sp>
        <p:nvSpPr>
          <p:cNvPr id="7" name="Slide Number Placeholder 6">
            <a:extLst>
              <a:ext uri="{FF2B5EF4-FFF2-40B4-BE49-F238E27FC236}">
                <a16:creationId xmlns:a16="http://schemas.microsoft.com/office/drawing/2014/main" id="{92BBAA03-96E7-43D1-BEFF-25679891ACFC}"/>
              </a:ext>
            </a:extLst>
          </p:cNvPr>
          <p:cNvSpPr>
            <a:spLocks noGrp="1"/>
          </p:cNvSpPr>
          <p:nvPr>
            <p:ph type="sldNum" sz="quarter" idx="12"/>
          </p:nvPr>
        </p:nvSpPr>
        <p:spPr/>
        <p:txBody>
          <a:bodyPr/>
          <a:lstStyle/>
          <a:p>
            <a:fld id="{2EA600BA-DB00-455B-8978-6C66618801A7}" type="slidenum">
              <a:rPr lang="en-US" smtClean="0"/>
              <a:t>64</a:t>
            </a:fld>
            <a:endParaRPr lang="en-US"/>
          </a:p>
        </p:txBody>
      </p:sp>
    </p:spTree>
    <p:extLst>
      <p:ext uri="{BB962C8B-B14F-4D97-AF65-F5344CB8AC3E}">
        <p14:creationId xmlns:p14="http://schemas.microsoft.com/office/powerpoint/2010/main" val="53324715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F187-E65D-442E-B850-B961E9224EF0}"/>
              </a:ext>
            </a:extLst>
          </p:cNvPr>
          <p:cNvSpPr>
            <a:spLocks noGrp="1"/>
          </p:cNvSpPr>
          <p:nvPr>
            <p:ph type="title"/>
          </p:nvPr>
        </p:nvSpPr>
        <p:spPr/>
        <p:txBody>
          <a:bodyPr/>
          <a:lstStyle/>
          <a:p>
            <a:r>
              <a:rPr lang="en-US" dirty="0"/>
              <a:t>PWM waveform</a:t>
            </a:r>
          </a:p>
        </p:txBody>
      </p:sp>
      <p:sp>
        <p:nvSpPr>
          <p:cNvPr id="7" name="Slide Number Placeholder 6">
            <a:extLst>
              <a:ext uri="{FF2B5EF4-FFF2-40B4-BE49-F238E27FC236}">
                <a16:creationId xmlns:a16="http://schemas.microsoft.com/office/drawing/2014/main" id="{92BBAA03-96E7-43D1-BEFF-25679891ACFC}"/>
              </a:ext>
            </a:extLst>
          </p:cNvPr>
          <p:cNvSpPr>
            <a:spLocks noGrp="1"/>
          </p:cNvSpPr>
          <p:nvPr>
            <p:ph type="sldNum" sz="quarter" idx="12"/>
          </p:nvPr>
        </p:nvSpPr>
        <p:spPr/>
        <p:txBody>
          <a:bodyPr/>
          <a:lstStyle/>
          <a:p>
            <a:fld id="{2EA600BA-DB00-455B-8978-6C66618801A7}" type="slidenum">
              <a:rPr lang="en-US" smtClean="0"/>
              <a:t>65</a:t>
            </a:fld>
            <a:endParaRPr lang="en-US"/>
          </a:p>
        </p:txBody>
      </p:sp>
      <p:pic>
        <p:nvPicPr>
          <p:cNvPr id="9" name="Picture 8">
            <a:extLst>
              <a:ext uri="{FF2B5EF4-FFF2-40B4-BE49-F238E27FC236}">
                <a16:creationId xmlns:a16="http://schemas.microsoft.com/office/drawing/2014/main" id="{3CA26A10-39F0-923E-EB85-885B50456CFA}"/>
              </a:ext>
            </a:extLst>
          </p:cNvPr>
          <p:cNvPicPr>
            <a:picLocks noChangeAspect="1"/>
          </p:cNvPicPr>
          <p:nvPr/>
        </p:nvPicPr>
        <p:blipFill>
          <a:blip r:embed="rId2"/>
          <a:stretch>
            <a:fillRect/>
          </a:stretch>
        </p:blipFill>
        <p:spPr>
          <a:xfrm>
            <a:off x="3742659" y="866733"/>
            <a:ext cx="7342683" cy="5115390"/>
          </a:xfrm>
          <a:prstGeom prst="rect">
            <a:avLst/>
          </a:prstGeom>
        </p:spPr>
      </p:pic>
    </p:spTree>
    <p:extLst>
      <p:ext uri="{BB962C8B-B14F-4D97-AF65-F5344CB8AC3E}">
        <p14:creationId xmlns:p14="http://schemas.microsoft.com/office/powerpoint/2010/main" val="240943063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F187-E65D-442E-B850-B961E9224EF0}"/>
              </a:ext>
            </a:extLst>
          </p:cNvPr>
          <p:cNvSpPr>
            <a:spLocks noGrp="1"/>
          </p:cNvSpPr>
          <p:nvPr>
            <p:ph type="title"/>
          </p:nvPr>
        </p:nvSpPr>
        <p:spPr/>
        <p:txBody>
          <a:bodyPr/>
          <a:lstStyle/>
          <a:p>
            <a:r>
              <a:rPr lang="en-US" dirty="0"/>
              <a:t>PWM waveform</a:t>
            </a:r>
          </a:p>
        </p:txBody>
      </p:sp>
      <p:sp>
        <p:nvSpPr>
          <p:cNvPr id="7" name="Slide Number Placeholder 6">
            <a:extLst>
              <a:ext uri="{FF2B5EF4-FFF2-40B4-BE49-F238E27FC236}">
                <a16:creationId xmlns:a16="http://schemas.microsoft.com/office/drawing/2014/main" id="{92BBAA03-96E7-43D1-BEFF-25679891ACFC}"/>
              </a:ext>
            </a:extLst>
          </p:cNvPr>
          <p:cNvSpPr>
            <a:spLocks noGrp="1"/>
          </p:cNvSpPr>
          <p:nvPr>
            <p:ph type="sldNum" sz="quarter" idx="12"/>
          </p:nvPr>
        </p:nvSpPr>
        <p:spPr/>
        <p:txBody>
          <a:bodyPr/>
          <a:lstStyle/>
          <a:p>
            <a:fld id="{2EA600BA-DB00-455B-8978-6C66618801A7}" type="slidenum">
              <a:rPr lang="en-US" smtClean="0"/>
              <a:t>66</a:t>
            </a:fld>
            <a:endParaRPr lang="en-US"/>
          </a:p>
        </p:txBody>
      </p:sp>
      <p:pic>
        <p:nvPicPr>
          <p:cNvPr id="4" name="Picture 3">
            <a:extLst>
              <a:ext uri="{FF2B5EF4-FFF2-40B4-BE49-F238E27FC236}">
                <a16:creationId xmlns:a16="http://schemas.microsoft.com/office/drawing/2014/main" id="{2092EC62-3BB4-9E27-E932-541E8E5B15D1}"/>
              </a:ext>
            </a:extLst>
          </p:cNvPr>
          <p:cNvPicPr>
            <a:picLocks noChangeAspect="1"/>
          </p:cNvPicPr>
          <p:nvPr/>
        </p:nvPicPr>
        <p:blipFill>
          <a:blip r:embed="rId2"/>
          <a:stretch>
            <a:fillRect/>
          </a:stretch>
        </p:blipFill>
        <p:spPr>
          <a:xfrm>
            <a:off x="3528485" y="365760"/>
            <a:ext cx="8021090" cy="5990589"/>
          </a:xfrm>
          <a:prstGeom prst="rect">
            <a:avLst/>
          </a:prstGeom>
        </p:spPr>
      </p:pic>
    </p:spTree>
    <p:extLst>
      <p:ext uri="{BB962C8B-B14F-4D97-AF65-F5344CB8AC3E}">
        <p14:creationId xmlns:p14="http://schemas.microsoft.com/office/powerpoint/2010/main" val="110311442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BB1F8-9C7B-4865-B5A2-DEB765DCC2CC}"/>
              </a:ext>
            </a:extLst>
          </p:cNvPr>
          <p:cNvSpPr>
            <a:spLocks noGrp="1"/>
          </p:cNvSpPr>
          <p:nvPr>
            <p:ph type="title"/>
          </p:nvPr>
        </p:nvSpPr>
        <p:spPr/>
        <p:txBody>
          <a:bodyPr/>
          <a:lstStyle/>
          <a:p>
            <a:r>
              <a:rPr lang="en-US" dirty="0"/>
              <a:t>Registers of PWM unit</a:t>
            </a:r>
          </a:p>
        </p:txBody>
      </p:sp>
      <p:sp>
        <p:nvSpPr>
          <p:cNvPr id="3" name="Content Placeholder 2">
            <a:extLst>
              <a:ext uri="{FF2B5EF4-FFF2-40B4-BE49-F238E27FC236}">
                <a16:creationId xmlns:a16="http://schemas.microsoft.com/office/drawing/2014/main" id="{2253E7D7-6A3E-4FFC-9F38-47ADBEBB7EF1}"/>
              </a:ext>
            </a:extLst>
          </p:cNvPr>
          <p:cNvSpPr>
            <a:spLocks noGrp="1"/>
          </p:cNvSpPr>
          <p:nvPr>
            <p:ph idx="1"/>
          </p:nvPr>
        </p:nvSpPr>
        <p:spPr/>
        <p:txBody>
          <a:bodyPr/>
          <a:lstStyle/>
          <a:p>
            <a:pPr>
              <a:lnSpc>
                <a:spcPct val="150000"/>
              </a:lnSpc>
            </a:pPr>
            <a:r>
              <a:rPr lang="en-US" dirty="0"/>
              <a:t>The PWM unit is a timer, which has a Timer Count register.</a:t>
            </a:r>
          </a:p>
          <a:p>
            <a:pPr>
              <a:lnSpc>
                <a:spcPct val="150000"/>
              </a:lnSpc>
            </a:pPr>
            <a:r>
              <a:rPr lang="en-US" dirty="0"/>
              <a:t>The value of which is compared to the various match registers, and actions are initiated accordingly.</a:t>
            </a:r>
          </a:p>
          <a:p>
            <a:pPr>
              <a:lnSpc>
                <a:spcPct val="150000"/>
              </a:lnSpc>
            </a:pPr>
            <a:r>
              <a:rPr lang="en-US" dirty="0"/>
              <a:t>When using the PWM unit, we do not load anything in this Timer Count Register, instead, all operations are done by the use of the match registers</a:t>
            </a:r>
          </a:p>
        </p:txBody>
      </p:sp>
      <p:sp>
        <p:nvSpPr>
          <p:cNvPr id="5" name="Slide Number Placeholder 4">
            <a:extLst>
              <a:ext uri="{FF2B5EF4-FFF2-40B4-BE49-F238E27FC236}">
                <a16:creationId xmlns:a16="http://schemas.microsoft.com/office/drawing/2014/main" id="{9E826C24-3A46-47F3-A550-FB1DEE303459}"/>
              </a:ext>
            </a:extLst>
          </p:cNvPr>
          <p:cNvSpPr>
            <a:spLocks noGrp="1"/>
          </p:cNvSpPr>
          <p:nvPr>
            <p:ph type="sldNum" sz="quarter" idx="12"/>
          </p:nvPr>
        </p:nvSpPr>
        <p:spPr/>
        <p:txBody>
          <a:bodyPr/>
          <a:lstStyle/>
          <a:p>
            <a:fld id="{2EA600BA-DB00-455B-8978-6C66618801A7}" type="slidenum">
              <a:rPr lang="en-US" smtClean="0"/>
              <a:t>67</a:t>
            </a:fld>
            <a:endParaRPr lang="en-US"/>
          </a:p>
        </p:txBody>
      </p:sp>
    </p:spTree>
    <p:extLst>
      <p:ext uri="{BB962C8B-B14F-4D97-AF65-F5344CB8AC3E}">
        <p14:creationId xmlns:p14="http://schemas.microsoft.com/office/powerpoint/2010/main" val="25050923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7F57-E79F-4046-A791-87A54707CD25}"/>
              </a:ext>
            </a:extLst>
          </p:cNvPr>
          <p:cNvSpPr>
            <a:spLocks noGrp="1"/>
          </p:cNvSpPr>
          <p:nvPr>
            <p:ph type="title"/>
          </p:nvPr>
        </p:nvSpPr>
        <p:spPr/>
        <p:txBody>
          <a:bodyPr/>
          <a:lstStyle/>
          <a:p>
            <a:r>
              <a:rPr lang="en-US" dirty="0"/>
              <a:t>PWM Control Register (PWMPCR)</a:t>
            </a:r>
          </a:p>
        </p:txBody>
      </p:sp>
      <p:sp>
        <p:nvSpPr>
          <p:cNvPr id="3" name="Content Placeholder 2">
            <a:extLst>
              <a:ext uri="{FF2B5EF4-FFF2-40B4-BE49-F238E27FC236}">
                <a16:creationId xmlns:a16="http://schemas.microsoft.com/office/drawing/2014/main" id="{63CF740E-6D50-4D4C-950B-4894575A0CDB}"/>
              </a:ext>
            </a:extLst>
          </p:cNvPr>
          <p:cNvSpPr>
            <a:spLocks noGrp="1"/>
          </p:cNvSpPr>
          <p:nvPr>
            <p:ph idx="1"/>
          </p:nvPr>
        </p:nvSpPr>
        <p:spPr>
          <a:xfrm>
            <a:off x="3869268" y="864108"/>
            <a:ext cx="7581834" cy="5120640"/>
          </a:xfrm>
        </p:spPr>
        <p:txBody>
          <a:bodyPr/>
          <a:lstStyle/>
          <a:p>
            <a:pPr>
              <a:lnSpc>
                <a:spcPct val="150000"/>
              </a:lnSpc>
            </a:pPr>
            <a:r>
              <a:rPr lang="en-US" dirty="0"/>
              <a:t>The PWM Control Register is used to enable and select the type of each PWM channel.</a:t>
            </a:r>
          </a:p>
          <a:p>
            <a:pPr>
              <a:lnSpc>
                <a:spcPct val="150000"/>
              </a:lnSpc>
            </a:pPr>
            <a:r>
              <a:rPr lang="en-US" dirty="0"/>
              <a:t>This register enables or disables the six PWM outputs, and also choose between double and single edge control. Bits 0, 1, 7 and 8-15 are unused.</a:t>
            </a:r>
          </a:p>
          <a:p>
            <a:pPr>
              <a:lnSpc>
                <a:spcPct val="150000"/>
              </a:lnSpc>
            </a:pPr>
            <a:r>
              <a:rPr lang="en-US" dirty="0"/>
              <a:t>Table 6.13 shows the state of the bits of PWMPCR for choosing between single and double edge control.</a:t>
            </a:r>
          </a:p>
        </p:txBody>
      </p:sp>
      <p:sp>
        <p:nvSpPr>
          <p:cNvPr id="5" name="Slide Number Placeholder 4">
            <a:extLst>
              <a:ext uri="{FF2B5EF4-FFF2-40B4-BE49-F238E27FC236}">
                <a16:creationId xmlns:a16="http://schemas.microsoft.com/office/drawing/2014/main" id="{69255537-5880-4498-8A11-33283671839C}"/>
              </a:ext>
            </a:extLst>
          </p:cNvPr>
          <p:cNvSpPr>
            <a:spLocks noGrp="1"/>
          </p:cNvSpPr>
          <p:nvPr>
            <p:ph type="sldNum" sz="quarter" idx="12"/>
          </p:nvPr>
        </p:nvSpPr>
        <p:spPr/>
        <p:txBody>
          <a:bodyPr/>
          <a:lstStyle/>
          <a:p>
            <a:fld id="{2EA600BA-DB00-455B-8978-6C66618801A7}" type="slidenum">
              <a:rPr lang="en-US" smtClean="0"/>
              <a:t>68</a:t>
            </a:fld>
            <a:endParaRPr lang="en-US"/>
          </a:p>
        </p:txBody>
      </p:sp>
    </p:spTree>
    <p:extLst>
      <p:ext uri="{BB962C8B-B14F-4D97-AF65-F5344CB8AC3E}">
        <p14:creationId xmlns:p14="http://schemas.microsoft.com/office/powerpoint/2010/main" val="193368932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8AB7-2D5D-4007-89C6-5499DD537A01}"/>
              </a:ext>
            </a:extLst>
          </p:cNvPr>
          <p:cNvSpPr>
            <a:spLocks noGrp="1"/>
          </p:cNvSpPr>
          <p:nvPr>
            <p:ph type="title"/>
          </p:nvPr>
        </p:nvSpPr>
        <p:spPr/>
        <p:txBody>
          <a:bodyPr/>
          <a:lstStyle/>
          <a:p>
            <a:r>
              <a:rPr lang="en-US" dirty="0"/>
              <a:t>PWM Control Register (PWMPCR) </a:t>
            </a:r>
            <a:r>
              <a:rPr lang="en-US" dirty="0" err="1"/>
              <a:t>contd</a:t>
            </a:r>
            <a:r>
              <a:rPr lang="en-US" dirty="0"/>
              <a:t>…</a:t>
            </a:r>
          </a:p>
        </p:txBody>
      </p:sp>
      <p:pic>
        <p:nvPicPr>
          <p:cNvPr id="5" name="Content Placeholder 4">
            <a:extLst>
              <a:ext uri="{FF2B5EF4-FFF2-40B4-BE49-F238E27FC236}">
                <a16:creationId xmlns:a16="http://schemas.microsoft.com/office/drawing/2014/main" id="{D17F9DC2-4209-42C6-BBD7-2D96FFB97B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8738" y="1137906"/>
            <a:ext cx="7315200" cy="4601182"/>
          </a:xfrm>
        </p:spPr>
      </p:pic>
      <p:sp>
        <p:nvSpPr>
          <p:cNvPr id="7" name="Slide Number Placeholder 6">
            <a:extLst>
              <a:ext uri="{FF2B5EF4-FFF2-40B4-BE49-F238E27FC236}">
                <a16:creationId xmlns:a16="http://schemas.microsoft.com/office/drawing/2014/main" id="{C8696155-3A10-4A95-B0F7-D2A44C087B4A}"/>
              </a:ext>
            </a:extLst>
          </p:cNvPr>
          <p:cNvSpPr>
            <a:spLocks noGrp="1"/>
          </p:cNvSpPr>
          <p:nvPr>
            <p:ph type="sldNum" sz="quarter" idx="12"/>
          </p:nvPr>
        </p:nvSpPr>
        <p:spPr/>
        <p:txBody>
          <a:bodyPr/>
          <a:lstStyle/>
          <a:p>
            <a:fld id="{2EA600BA-DB00-455B-8978-6C66618801A7}" type="slidenum">
              <a:rPr lang="en-US" smtClean="0"/>
              <a:t>69</a:t>
            </a:fld>
            <a:endParaRPr lang="en-US"/>
          </a:p>
        </p:txBody>
      </p:sp>
    </p:spTree>
    <p:extLst>
      <p:ext uri="{BB962C8B-B14F-4D97-AF65-F5344CB8AC3E}">
        <p14:creationId xmlns:p14="http://schemas.microsoft.com/office/powerpoint/2010/main" val="16291147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29B05-92AC-455B-A4FE-294C5C3A81E9}"/>
              </a:ext>
            </a:extLst>
          </p:cNvPr>
          <p:cNvSpPr>
            <a:spLocks noGrp="1"/>
          </p:cNvSpPr>
          <p:nvPr>
            <p:ph type="title"/>
          </p:nvPr>
        </p:nvSpPr>
        <p:spPr/>
        <p:txBody>
          <a:bodyPr/>
          <a:lstStyle/>
          <a:p>
            <a:r>
              <a:rPr lang="en-US" dirty="0"/>
              <a:t>PWM Timer Control Register (PWMTCR)</a:t>
            </a:r>
          </a:p>
        </p:txBody>
      </p:sp>
      <p:sp>
        <p:nvSpPr>
          <p:cNvPr id="5" name="Slide Number Placeholder 4">
            <a:extLst>
              <a:ext uri="{FF2B5EF4-FFF2-40B4-BE49-F238E27FC236}">
                <a16:creationId xmlns:a16="http://schemas.microsoft.com/office/drawing/2014/main" id="{E8CE4BE2-5FC4-4F0A-A759-2786F610A0C3}"/>
              </a:ext>
            </a:extLst>
          </p:cNvPr>
          <p:cNvSpPr>
            <a:spLocks noGrp="1"/>
          </p:cNvSpPr>
          <p:nvPr>
            <p:ph type="sldNum" sz="quarter" idx="12"/>
          </p:nvPr>
        </p:nvSpPr>
        <p:spPr/>
        <p:txBody>
          <a:bodyPr/>
          <a:lstStyle/>
          <a:p>
            <a:fld id="{2EA600BA-DB00-455B-8978-6C66618801A7}" type="slidenum">
              <a:rPr lang="en-US" smtClean="0"/>
              <a:t>70</a:t>
            </a:fld>
            <a:endParaRPr lang="en-US"/>
          </a:p>
        </p:txBody>
      </p:sp>
      <p:sp>
        <p:nvSpPr>
          <p:cNvPr id="9" name="TextBox 8">
            <a:extLst>
              <a:ext uri="{FF2B5EF4-FFF2-40B4-BE49-F238E27FC236}">
                <a16:creationId xmlns:a16="http://schemas.microsoft.com/office/drawing/2014/main" id="{60E7FD8D-8CE8-4C51-0148-56C4D1B184A5}"/>
              </a:ext>
            </a:extLst>
          </p:cNvPr>
          <p:cNvSpPr txBox="1"/>
          <p:nvPr/>
        </p:nvSpPr>
        <p:spPr>
          <a:xfrm>
            <a:off x="4062045" y="1013938"/>
            <a:ext cx="6699739" cy="3416320"/>
          </a:xfrm>
          <a:prstGeom prst="rect">
            <a:avLst/>
          </a:prstGeom>
          <a:noFill/>
        </p:spPr>
        <p:txBody>
          <a:bodyPr wrap="square">
            <a:spAutoFit/>
          </a:bodyPr>
          <a:lstStyle/>
          <a:p>
            <a:pPr algn="just"/>
            <a:r>
              <a:rPr lang="en-US" sz="1800" dirty="0"/>
              <a:t>The functions of each of the bits is shown in fig 6.18.</a:t>
            </a:r>
          </a:p>
          <a:p>
            <a:pPr marL="342900" indent="-342900" algn="just">
              <a:buFont typeface="Arial" panose="020B0604020202020204" pitchFamily="34" charset="0"/>
              <a:buChar char="•"/>
            </a:pPr>
            <a:r>
              <a:rPr lang="en-US" sz="1800" b="1" dirty="0"/>
              <a:t>Bit 0- counter enable</a:t>
            </a:r>
            <a:r>
              <a:rPr lang="en-US" sz="1800" dirty="0"/>
              <a:t>: when set, the PWM Timer counter and PWM </a:t>
            </a:r>
            <a:r>
              <a:rPr lang="en-US" sz="1800" dirty="0" err="1"/>
              <a:t>prescale</a:t>
            </a:r>
            <a:r>
              <a:rPr lang="en-US" sz="1800" dirty="0"/>
              <a:t> counter are enabled for counting. When 0, counters are disabled.</a:t>
            </a:r>
          </a:p>
          <a:p>
            <a:pPr marL="342900" indent="-342900" algn="just">
              <a:buFont typeface="Arial" panose="020B0604020202020204" pitchFamily="34" charset="0"/>
              <a:buChar char="•"/>
            </a:pPr>
            <a:r>
              <a:rPr lang="en-US" sz="1800" b="1" dirty="0"/>
              <a:t>Bit 1- Counter Reset</a:t>
            </a:r>
            <a:r>
              <a:rPr lang="en-US" sz="1800" dirty="0"/>
              <a:t>: When set, the PWM timer count register and the PWM </a:t>
            </a:r>
            <a:r>
              <a:rPr lang="en-US" sz="1800" dirty="0" err="1"/>
              <a:t>prescale</a:t>
            </a:r>
            <a:r>
              <a:rPr lang="en-US" sz="1800" dirty="0"/>
              <a:t> counter are synchronously </a:t>
            </a:r>
            <a:r>
              <a:rPr lang="en-US" sz="1800" dirty="0" err="1"/>
              <a:t>resey</a:t>
            </a:r>
            <a:r>
              <a:rPr lang="en-US" sz="1800" dirty="0"/>
              <a:t> on the next positive edge of PCLK. Counters remain reset until this bit is made 0.</a:t>
            </a:r>
          </a:p>
          <a:p>
            <a:pPr marL="342900" indent="-342900" algn="just">
              <a:buFont typeface="Arial" panose="020B0604020202020204" pitchFamily="34" charset="0"/>
              <a:buChar char="•"/>
            </a:pPr>
            <a:r>
              <a:rPr lang="en-US" sz="1800" b="1" dirty="0"/>
              <a:t>Bit 2:</a:t>
            </a:r>
            <a:r>
              <a:rPr lang="en-US" sz="1800" dirty="0"/>
              <a:t> reserved.</a:t>
            </a:r>
          </a:p>
          <a:p>
            <a:pPr marL="342900" indent="-342900" algn="just">
              <a:buFont typeface="Arial" panose="020B0604020202020204" pitchFamily="34" charset="0"/>
              <a:buChar char="•"/>
            </a:pPr>
            <a:r>
              <a:rPr lang="en-US" sz="1800" b="1" dirty="0"/>
              <a:t>Bit 3- PWM Enable</a:t>
            </a:r>
            <a:r>
              <a:rPr lang="en-US" sz="1800" dirty="0"/>
              <a:t>: when set, PWM is enables, if 0, PWM unit acts as a timer.</a:t>
            </a:r>
          </a:p>
          <a:p>
            <a:pPr marL="342900" indent="-342900" algn="just">
              <a:buFont typeface="Arial" panose="020B0604020202020204" pitchFamily="34" charset="0"/>
              <a:buChar char="•"/>
            </a:pPr>
            <a:r>
              <a:rPr lang="en-US" sz="1800" b="1" dirty="0"/>
              <a:t>Bit 4-15</a:t>
            </a:r>
            <a:r>
              <a:rPr lang="en-US" sz="1800" dirty="0"/>
              <a:t>: Reserved</a:t>
            </a:r>
          </a:p>
        </p:txBody>
      </p:sp>
      <p:pic>
        <p:nvPicPr>
          <p:cNvPr id="10" name="Picture 3">
            <a:extLst>
              <a:ext uri="{FF2B5EF4-FFF2-40B4-BE49-F238E27FC236}">
                <a16:creationId xmlns:a16="http://schemas.microsoft.com/office/drawing/2014/main" id="{ADED8B3A-E6C8-6F28-0331-02BE5F5DA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6979" y="4450328"/>
            <a:ext cx="6756260"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57B92F91-D0A4-F6CD-5735-BDC817AD9BBB}"/>
              </a:ext>
            </a:extLst>
          </p:cNvPr>
          <p:cNvSpPr txBox="1"/>
          <p:nvPr/>
        </p:nvSpPr>
        <p:spPr>
          <a:xfrm>
            <a:off x="4062045" y="5520896"/>
            <a:ext cx="7337553" cy="646331"/>
          </a:xfrm>
          <a:prstGeom prst="rect">
            <a:avLst/>
          </a:prstGeom>
          <a:noFill/>
        </p:spPr>
        <p:txBody>
          <a:bodyPr wrap="square" rtlCol="0">
            <a:spAutoFit/>
          </a:bodyPr>
          <a:lstStyle/>
          <a:p>
            <a:r>
              <a:rPr lang="en-US" dirty="0"/>
              <a:t>The PWM match register that determines the PWM rate(MR0) must be set prior to the PWM being enabled.</a:t>
            </a:r>
          </a:p>
        </p:txBody>
      </p:sp>
    </p:spTree>
    <p:extLst>
      <p:ext uri="{BB962C8B-B14F-4D97-AF65-F5344CB8AC3E}">
        <p14:creationId xmlns:p14="http://schemas.microsoft.com/office/powerpoint/2010/main" val="22655179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B8A1-1282-4EC1-8AB2-B94C634EEA82}"/>
              </a:ext>
            </a:extLst>
          </p:cNvPr>
          <p:cNvSpPr>
            <a:spLocks noGrp="1"/>
          </p:cNvSpPr>
          <p:nvPr>
            <p:ph type="title"/>
          </p:nvPr>
        </p:nvSpPr>
        <p:spPr/>
        <p:txBody>
          <a:bodyPr/>
          <a:lstStyle/>
          <a:p>
            <a:r>
              <a:rPr lang="en-US" dirty="0"/>
              <a:t>PWM Latch Enable Register (PWMLER)</a:t>
            </a:r>
          </a:p>
        </p:txBody>
      </p:sp>
      <p:sp>
        <p:nvSpPr>
          <p:cNvPr id="3" name="Content Placeholder 2">
            <a:extLst>
              <a:ext uri="{FF2B5EF4-FFF2-40B4-BE49-F238E27FC236}">
                <a16:creationId xmlns:a16="http://schemas.microsoft.com/office/drawing/2014/main" id="{D85D4AF1-5690-4E84-81A9-70840EDCAA27}"/>
              </a:ext>
            </a:extLst>
          </p:cNvPr>
          <p:cNvSpPr>
            <a:spLocks noGrp="1"/>
          </p:cNvSpPr>
          <p:nvPr>
            <p:ph idx="1"/>
          </p:nvPr>
        </p:nvSpPr>
        <p:spPr/>
        <p:txBody>
          <a:bodyPr/>
          <a:lstStyle/>
          <a:p>
            <a:r>
              <a:rPr lang="en-US" sz="2400" b="1" dirty="0"/>
              <a:t>PWM Latch Enable Register (PWMLER)</a:t>
            </a:r>
          </a:p>
          <a:p>
            <a:r>
              <a:rPr lang="en-US" dirty="0"/>
              <a:t>It is an 8-bit register used to control the update of the PWM match registers when they are used for PWM generation.</a:t>
            </a:r>
          </a:p>
          <a:p>
            <a:r>
              <a:rPr lang="en-US" dirty="0"/>
              <a:t>When software writes to the location of a PWM match register while the timer is in PWM mode, the value is held in a shadow register.</a:t>
            </a:r>
          </a:p>
          <a:p>
            <a:r>
              <a:rPr lang="en-US" dirty="0"/>
              <a:t>When a PWM Match 0 event occurs, the contents of shadow registers will be transferred to the actual match registers if the corresponding bit in the latch enable register has been set.</a:t>
            </a:r>
          </a:p>
          <a:p>
            <a:r>
              <a:rPr lang="en-US" dirty="0"/>
              <a:t>At that point, the new values will take effect and determine the course of the next PWM cycle. Once the transfer of new corresponding bit in the PWMLER is set and a PWM Match 0 event occurs.</a:t>
            </a:r>
          </a:p>
        </p:txBody>
      </p:sp>
      <p:sp>
        <p:nvSpPr>
          <p:cNvPr id="5" name="Slide Number Placeholder 4">
            <a:extLst>
              <a:ext uri="{FF2B5EF4-FFF2-40B4-BE49-F238E27FC236}">
                <a16:creationId xmlns:a16="http://schemas.microsoft.com/office/drawing/2014/main" id="{6287D7AB-C3C7-4AAF-9A44-1CBF751930BA}"/>
              </a:ext>
            </a:extLst>
          </p:cNvPr>
          <p:cNvSpPr>
            <a:spLocks noGrp="1"/>
          </p:cNvSpPr>
          <p:nvPr>
            <p:ph type="sldNum" sz="quarter" idx="12"/>
          </p:nvPr>
        </p:nvSpPr>
        <p:spPr/>
        <p:txBody>
          <a:bodyPr/>
          <a:lstStyle/>
          <a:p>
            <a:fld id="{2EA600BA-DB00-455B-8978-6C66618801A7}" type="slidenum">
              <a:rPr lang="en-US" smtClean="0"/>
              <a:t>71</a:t>
            </a:fld>
            <a:endParaRPr lang="en-US"/>
          </a:p>
        </p:txBody>
      </p:sp>
    </p:spTree>
    <p:extLst>
      <p:ext uri="{BB962C8B-B14F-4D97-AF65-F5344CB8AC3E}">
        <p14:creationId xmlns:p14="http://schemas.microsoft.com/office/powerpoint/2010/main" val="302098981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2A12-D6AD-4C4A-83A3-7296EE6EFF15}"/>
              </a:ext>
            </a:extLst>
          </p:cNvPr>
          <p:cNvSpPr>
            <a:spLocks noGrp="1"/>
          </p:cNvSpPr>
          <p:nvPr>
            <p:ph type="title"/>
          </p:nvPr>
        </p:nvSpPr>
        <p:spPr/>
        <p:txBody>
          <a:bodyPr/>
          <a:lstStyle/>
          <a:p>
            <a:r>
              <a:rPr lang="en-US" dirty="0"/>
              <a:t>PWM match Registers</a:t>
            </a:r>
          </a:p>
        </p:txBody>
      </p:sp>
      <p:sp>
        <p:nvSpPr>
          <p:cNvPr id="3" name="Content Placeholder 2">
            <a:extLst>
              <a:ext uri="{FF2B5EF4-FFF2-40B4-BE49-F238E27FC236}">
                <a16:creationId xmlns:a16="http://schemas.microsoft.com/office/drawing/2014/main" id="{79F30F3F-849A-4352-82D0-F38EBB66D631}"/>
              </a:ext>
            </a:extLst>
          </p:cNvPr>
          <p:cNvSpPr>
            <a:spLocks noGrp="1"/>
          </p:cNvSpPr>
          <p:nvPr>
            <p:ph idx="1"/>
          </p:nvPr>
        </p:nvSpPr>
        <p:spPr/>
        <p:txBody>
          <a:bodyPr/>
          <a:lstStyle/>
          <a:p>
            <a:r>
              <a:rPr lang="en-US" dirty="0"/>
              <a:t>PWM Match Registers - PWMMR0 – PWMMR6</a:t>
            </a:r>
          </a:p>
          <a:p>
            <a:r>
              <a:rPr lang="en-US" dirty="0"/>
              <a:t>The 32-bit PWM Match register values are continuously compared to the PWM Timer Counter value.</a:t>
            </a:r>
          </a:p>
          <a:p>
            <a:r>
              <a:rPr lang="en-US" dirty="0"/>
              <a:t>When the two values are equal, actions can be triggered automatically.</a:t>
            </a:r>
          </a:p>
          <a:p>
            <a:r>
              <a:rPr lang="en-US" dirty="0"/>
              <a:t>The action possibilities are to generate an interrupt reset the PWM Timer Counter, or stop the timer.</a:t>
            </a:r>
          </a:p>
        </p:txBody>
      </p:sp>
      <p:sp>
        <p:nvSpPr>
          <p:cNvPr id="5" name="Slide Number Placeholder 4">
            <a:extLst>
              <a:ext uri="{FF2B5EF4-FFF2-40B4-BE49-F238E27FC236}">
                <a16:creationId xmlns:a16="http://schemas.microsoft.com/office/drawing/2014/main" id="{2447EEF6-C6D7-4DD8-95C9-1E1915571B7B}"/>
              </a:ext>
            </a:extLst>
          </p:cNvPr>
          <p:cNvSpPr>
            <a:spLocks noGrp="1"/>
          </p:cNvSpPr>
          <p:nvPr>
            <p:ph type="sldNum" sz="quarter" idx="12"/>
          </p:nvPr>
        </p:nvSpPr>
        <p:spPr/>
        <p:txBody>
          <a:bodyPr/>
          <a:lstStyle/>
          <a:p>
            <a:fld id="{2EA600BA-DB00-455B-8978-6C66618801A7}" type="slidenum">
              <a:rPr lang="en-US" smtClean="0"/>
              <a:t>72</a:t>
            </a:fld>
            <a:endParaRPr lang="en-US"/>
          </a:p>
        </p:txBody>
      </p:sp>
    </p:spTree>
    <p:extLst>
      <p:ext uri="{BB962C8B-B14F-4D97-AF65-F5344CB8AC3E}">
        <p14:creationId xmlns:p14="http://schemas.microsoft.com/office/powerpoint/2010/main" val="103788339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B8CB2-6DE7-437D-8D42-2362875731FF}"/>
              </a:ext>
            </a:extLst>
          </p:cNvPr>
          <p:cNvSpPr>
            <a:spLocks noGrp="1"/>
          </p:cNvSpPr>
          <p:nvPr>
            <p:ph type="title"/>
          </p:nvPr>
        </p:nvSpPr>
        <p:spPr/>
        <p:txBody>
          <a:bodyPr/>
          <a:lstStyle/>
          <a:p>
            <a:r>
              <a:rPr lang="en-US" dirty="0"/>
              <a:t>PWM </a:t>
            </a:r>
            <a:r>
              <a:rPr lang="en-US" dirty="0" err="1"/>
              <a:t>prescale</a:t>
            </a:r>
            <a:r>
              <a:rPr lang="en-US" dirty="0"/>
              <a:t> register (PWMPR)</a:t>
            </a:r>
          </a:p>
        </p:txBody>
      </p:sp>
      <p:sp>
        <p:nvSpPr>
          <p:cNvPr id="3" name="Content Placeholder 2">
            <a:extLst>
              <a:ext uri="{FF2B5EF4-FFF2-40B4-BE49-F238E27FC236}">
                <a16:creationId xmlns:a16="http://schemas.microsoft.com/office/drawing/2014/main" id="{22E917D7-C382-4D17-9DBE-875A0F9DC3BD}"/>
              </a:ext>
            </a:extLst>
          </p:cNvPr>
          <p:cNvSpPr>
            <a:spLocks noGrp="1"/>
          </p:cNvSpPr>
          <p:nvPr>
            <p:ph idx="1"/>
          </p:nvPr>
        </p:nvSpPr>
        <p:spPr/>
        <p:txBody>
          <a:bodyPr/>
          <a:lstStyle/>
          <a:p>
            <a:r>
              <a:rPr lang="en-US" dirty="0"/>
              <a:t>The 32-bit PWM </a:t>
            </a:r>
            <a:r>
              <a:rPr lang="en-US" dirty="0" err="1"/>
              <a:t>Prescale</a:t>
            </a:r>
            <a:r>
              <a:rPr lang="en-US" dirty="0"/>
              <a:t> Register specifies the number by which the PCLK is slowed down, similar to the case of the Timer.</a:t>
            </a:r>
          </a:p>
          <a:p>
            <a:r>
              <a:rPr lang="en-US" dirty="0"/>
              <a:t>There are many other registers for PWM, but here we will generate PWM output signals with these few registers.</a:t>
            </a:r>
          </a:p>
        </p:txBody>
      </p:sp>
      <p:sp>
        <p:nvSpPr>
          <p:cNvPr id="5" name="Slide Number Placeholder 4">
            <a:extLst>
              <a:ext uri="{FF2B5EF4-FFF2-40B4-BE49-F238E27FC236}">
                <a16:creationId xmlns:a16="http://schemas.microsoft.com/office/drawing/2014/main" id="{95F0A62F-04C9-4817-8F63-0BC65DC25961}"/>
              </a:ext>
            </a:extLst>
          </p:cNvPr>
          <p:cNvSpPr>
            <a:spLocks noGrp="1"/>
          </p:cNvSpPr>
          <p:nvPr>
            <p:ph type="sldNum" sz="quarter" idx="12"/>
          </p:nvPr>
        </p:nvSpPr>
        <p:spPr/>
        <p:txBody>
          <a:bodyPr/>
          <a:lstStyle/>
          <a:p>
            <a:fld id="{2EA600BA-DB00-455B-8978-6C66618801A7}" type="slidenum">
              <a:rPr lang="en-US" smtClean="0"/>
              <a:t>73</a:t>
            </a:fld>
            <a:endParaRPr lang="en-US"/>
          </a:p>
        </p:txBody>
      </p:sp>
    </p:spTree>
    <p:extLst>
      <p:ext uri="{BB962C8B-B14F-4D97-AF65-F5344CB8AC3E}">
        <p14:creationId xmlns:p14="http://schemas.microsoft.com/office/powerpoint/2010/main" val="152256618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21AA-111D-4001-935D-5ABCAB4A1CFB}"/>
              </a:ext>
            </a:extLst>
          </p:cNvPr>
          <p:cNvSpPr>
            <a:spLocks noGrp="1"/>
          </p:cNvSpPr>
          <p:nvPr>
            <p:ph type="title"/>
          </p:nvPr>
        </p:nvSpPr>
        <p:spPr/>
        <p:txBody>
          <a:bodyPr/>
          <a:lstStyle/>
          <a:p>
            <a:r>
              <a:rPr lang="en-US" dirty="0"/>
              <a:t>Universal asynchronous receiver/transmitter</a:t>
            </a:r>
          </a:p>
        </p:txBody>
      </p:sp>
      <p:sp>
        <p:nvSpPr>
          <p:cNvPr id="3" name="Content Placeholder 2">
            <a:extLst>
              <a:ext uri="{FF2B5EF4-FFF2-40B4-BE49-F238E27FC236}">
                <a16:creationId xmlns:a16="http://schemas.microsoft.com/office/drawing/2014/main" id="{629504FB-D220-4ADC-BB0D-0BD3152AB4FD}"/>
              </a:ext>
            </a:extLst>
          </p:cNvPr>
          <p:cNvSpPr>
            <a:spLocks noGrp="1"/>
          </p:cNvSpPr>
          <p:nvPr>
            <p:ph idx="1"/>
          </p:nvPr>
        </p:nvSpPr>
        <p:spPr/>
        <p:txBody>
          <a:bodyPr/>
          <a:lstStyle/>
          <a:p>
            <a:r>
              <a:rPr lang="en-US" dirty="0"/>
              <a:t>A UART is a mandatory unit in every MCU.</a:t>
            </a:r>
          </a:p>
          <a:p>
            <a:r>
              <a:rPr lang="en-US" dirty="0"/>
              <a:t>In LPC 214x chip, there are two UARTs in the chip – UART0 and UART1.</a:t>
            </a:r>
          </a:p>
          <a:p>
            <a:r>
              <a:rPr lang="en-US" dirty="0"/>
              <a:t>The UART is a unit which does serial transmission on the in </a:t>
            </a:r>
            <a:r>
              <a:rPr lang="en-US" dirty="0" err="1"/>
              <a:t>TxD</a:t>
            </a:r>
            <a:r>
              <a:rPr lang="en-US" dirty="0"/>
              <a:t> and serial reception on the pin </a:t>
            </a:r>
            <a:r>
              <a:rPr lang="en-US" dirty="0" err="1"/>
              <a:t>RxD</a:t>
            </a:r>
            <a:r>
              <a:rPr lang="en-US" dirty="0"/>
              <a:t>.</a:t>
            </a:r>
          </a:p>
          <a:p>
            <a:r>
              <a:rPr lang="en-US" dirty="0"/>
              <a:t>For the chip there are two transmit and receive pins each.</a:t>
            </a:r>
          </a:p>
        </p:txBody>
      </p:sp>
      <p:sp>
        <p:nvSpPr>
          <p:cNvPr id="5" name="Slide Number Placeholder 4">
            <a:extLst>
              <a:ext uri="{FF2B5EF4-FFF2-40B4-BE49-F238E27FC236}">
                <a16:creationId xmlns:a16="http://schemas.microsoft.com/office/drawing/2014/main" id="{C41BA922-BDA9-4BBB-A0BD-F03B56F3862E}"/>
              </a:ext>
            </a:extLst>
          </p:cNvPr>
          <p:cNvSpPr>
            <a:spLocks noGrp="1"/>
          </p:cNvSpPr>
          <p:nvPr>
            <p:ph type="sldNum" sz="quarter" idx="12"/>
          </p:nvPr>
        </p:nvSpPr>
        <p:spPr/>
        <p:txBody>
          <a:bodyPr/>
          <a:lstStyle/>
          <a:p>
            <a:fld id="{2EA600BA-DB00-455B-8978-6C66618801A7}" type="slidenum">
              <a:rPr lang="en-US" smtClean="0"/>
              <a:t>74</a:t>
            </a:fld>
            <a:endParaRPr lang="en-US"/>
          </a:p>
        </p:txBody>
      </p:sp>
    </p:spTree>
    <p:extLst>
      <p:ext uri="{BB962C8B-B14F-4D97-AF65-F5344CB8AC3E}">
        <p14:creationId xmlns:p14="http://schemas.microsoft.com/office/powerpoint/2010/main" val="418810864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5F06-6E33-46CB-800C-8B966279933B}"/>
              </a:ext>
            </a:extLst>
          </p:cNvPr>
          <p:cNvSpPr>
            <a:spLocks noGrp="1"/>
          </p:cNvSpPr>
          <p:nvPr>
            <p:ph type="title"/>
          </p:nvPr>
        </p:nvSpPr>
        <p:spPr/>
        <p:txBody>
          <a:bodyPr/>
          <a:lstStyle/>
          <a:p>
            <a:r>
              <a:rPr lang="en-US" dirty="0"/>
              <a:t>Serial data transmission and reception</a:t>
            </a:r>
          </a:p>
        </p:txBody>
      </p:sp>
      <p:sp>
        <p:nvSpPr>
          <p:cNvPr id="3" name="Content Placeholder 2">
            <a:extLst>
              <a:ext uri="{FF2B5EF4-FFF2-40B4-BE49-F238E27FC236}">
                <a16:creationId xmlns:a16="http://schemas.microsoft.com/office/drawing/2014/main" id="{AE6E2ECA-C731-45D2-9F46-6585AA3BE1BD}"/>
              </a:ext>
            </a:extLst>
          </p:cNvPr>
          <p:cNvSpPr>
            <a:spLocks noGrp="1"/>
          </p:cNvSpPr>
          <p:nvPr>
            <p:ph idx="1"/>
          </p:nvPr>
        </p:nvSpPr>
        <p:spPr>
          <a:xfrm>
            <a:off x="3587263" y="379828"/>
            <a:ext cx="8577800" cy="6119446"/>
          </a:xfrm>
        </p:spPr>
        <p:txBody>
          <a:bodyPr>
            <a:noAutofit/>
          </a:bodyPr>
          <a:lstStyle/>
          <a:p>
            <a:pPr marL="0" indent="0">
              <a:buNone/>
            </a:pPr>
            <a:r>
              <a:rPr lang="en-US" b="1" dirty="0"/>
              <a:t>The mechanism employed in serial data transmission and reception:</a:t>
            </a:r>
          </a:p>
          <a:p>
            <a:pPr>
              <a:lnSpc>
                <a:spcPct val="100000"/>
              </a:lnSpc>
              <a:spcBef>
                <a:spcPts val="600"/>
              </a:spcBef>
            </a:pPr>
            <a:r>
              <a:rPr lang="en-US" dirty="0"/>
              <a:t>Inside the MCU, all data communication is done in parallel.</a:t>
            </a:r>
          </a:p>
          <a:p>
            <a:pPr>
              <a:lnSpc>
                <a:spcPct val="100000"/>
              </a:lnSpc>
              <a:spcBef>
                <a:spcPts val="600"/>
              </a:spcBef>
            </a:pPr>
            <a:r>
              <a:rPr lang="en-US" dirty="0"/>
              <a:t>Data is moved around as either 32, 16 or 8 bits.</a:t>
            </a:r>
          </a:p>
          <a:p>
            <a:pPr>
              <a:lnSpc>
                <a:spcPct val="100000"/>
              </a:lnSpc>
              <a:spcBef>
                <a:spcPts val="600"/>
              </a:spcBef>
            </a:pPr>
            <a:r>
              <a:rPr lang="en-US" dirty="0"/>
              <a:t>Thus, when data is to be transmitted or received serially, there is a parallel to serial (and vice versa) conversion involved.</a:t>
            </a:r>
          </a:p>
          <a:p>
            <a:pPr>
              <a:lnSpc>
                <a:spcPct val="100000"/>
              </a:lnSpc>
              <a:spcBef>
                <a:spcPts val="600"/>
              </a:spcBef>
            </a:pPr>
            <a:r>
              <a:rPr lang="en-US" dirty="0"/>
              <a:t>For transmission, the data from a buffer register is converted to serial form, framed by adding the start, stop and parity bits and sent on the </a:t>
            </a:r>
            <a:r>
              <a:rPr lang="en-US" dirty="0" err="1"/>
              <a:t>TxD</a:t>
            </a:r>
            <a:r>
              <a:rPr lang="en-US" dirty="0"/>
              <a:t> pin.</a:t>
            </a:r>
          </a:p>
          <a:p>
            <a:pPr>
              <a:lnSpc>
                <a:spcPct val="100000"/>
              </a:lnSpc>
              <a:spcBef>
                <a:spcPts val="600"/>
              </a:spcBef>
            </a:pPr>
            <a:r>
              <a:rPr lang="en-US" dirty="0"/>
              <a:t>In reception ,the bits received are kept in a buffer (named the hold register),de-framed, parallelized and moved as one byte to the CPU.</a:t>
            </a:r>
          </a:p>
          <a:p>
            <a:pPr>
              <a:lnSpc>
                <a:spcPct val="100000"/>
              </a:lnSpc>
              <a:spcBef>
                <a:spcPts val="600"/>
              </a:spcBef>
            </a:pPr>
            <a:r>
              <a:rPr lang="en-US" dirty="0"/>
              <a:t>Reception and transmission are done at a rate commonly known as the baud rate.</a:t>
            </a:r>
          </a:p>
          <a:p>
            <a:pPr>
              <a:lnSpc>
                <a:spcPct val="100000"/>
              </a:lnSpc>
              <a:spcBef>
                <a:spcPts val="600"/>
              </a:spcBef>
            </a:pPr>
            <a:r>
              <a:rPr lang="en-US" dirty="0"/>
              <a:t>There is a baud rate generator inside.</a:t>
            </a:r>
          </a:p>
          <a:p>
            <a:pPr>
              <a:lnSpc>
                <a:spcPct val="100000"/>
              </a:lnSpc>
              <a:spcBef>
                <a:spcPts val="600"/>
              </a:spcBef>
            </a:pPr>
            <a:r>
              <a:rPr lang="en-US" dirty="0"/>
              <a:t>Baud rate can be decided by a calculation depending on the value of certain numbers in the UART registers.</a:t>
            </a:r>
          </a:p>
          <a:p>
            <a:pPr>
              <a:lnSpc>
                <a:spcPct val="100000"/>
              </a:lnSpc>
              <a:spcBef>
                <a:spcPts val="600"/>
              </a:spcBef>
            </a:pPr>
            <a:r>
              <a:rPr lang="en-US" dirty="0"/>
              <a:t>The UART can work in the polled mode or in the interrupt mode.</a:t>
            </a:r>
          </a:p>
        </p:txBody>
      </p:sp>
      <p:sp>
        <p:nvSpPr>
          <p:cNvPr id="5" name="Slide Number Placeholder 4">
            <a:extLst>
              <a:ext uri="{FF2B5EF4-FFF2-40B4-BE49-F238E27FC236}">
                <a16:creationId xmlns:a16="http://schemas.microsoft.com/office/drawing/2014/main" id="{AC08638C-4D86-44E5-98D2-EA90CD5FC177}"/>
              </a:ext>
            </a:extLst>
          </p:cNvPr>
          <p:cNvSpPr>
            <a:spLocks noGrp="1"/>
          </p:cNvSpPr>
          <p:nvPr>
            <p:ph type="sldNum" sz="quarter" idx="12"/>
          </p:nvPr>
        </p:nvSpPr>
        <p:spPr/>
        <p:txBody>
          <a:bodyPr/>
          <a:lstStyle/>
          <a:p>
            <a:fld id="{2EA600BA-DB00-455B-8978-6C66618801A7}" type="slidenum">
              <a:rPr lang="en-US" smtClean="0"/>
              <a:t>75</a:t>
            </a:fld>
            <a:endParaRPr lang="en-US"/>
          </a:p>
        </p:txBody>
      </p:sp>
    </p:spTree>
    <p:extLst>
      <p:ext uri="{BB962C8B-B14F-4D97-AF65-F5344CB8AC3E}">
        <p14:creationId xmlns:p14="http://schemas.microsoft.com/office/powerpoint/2010/main" val="305093050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D26A7-B3E8-4F91-84E1-FBE8A0CDB69F}"/>
              </a:ext>
            </a:extLst>
          </p:cNvPr>
          <p:cNvSpPr>
            <a:spLocks noGrp="1"/>
          </p:cNvSpPr>
          <p:nvPr>
            <p:ph type="title"/>
          </p:nvPr>
        </p:nvSpPr>
        <p:spPr/>
        <p:txBody>
          <a:bodyPr/>
          <a:lstStyle/>
          <a:p>
            <a:r>
              <a:rPr lang="en-US" dirty="0"/>
              <a:t>Serial data transmission and reception </a:t>
            </a:r>
            <a:r>
              <a:rPr lang="en-US" dirty="0" err="1"/>
              <a:t>contd</a:t>
            </a:r>
            <a:endParaRPr lang="en-US" dirty="0"/>
          </a:p>
        </p:txBody>
      </p:sp>
      <p:sp>
        <p:nvSpPr>
          <p:cNvPr id="3" name="Content Placeholder 2">
            <a:extLst>
              <a:ext uri="{FF2B5EF4-FFF2-40B4-BE49-F238E27FC236}">
                <a16:creationId xmlns:a16="http://schemas.microsoft.com/office/drawing/2014/main" id="{476F6C58-FCEA-4776-A792-7CFA5E3E5473}"/>
              </a:ext>
            </a:extLst>
          </p:cNvPr>
          <p:cNvSpPr>
            <a:spLocks noGrp="1"/>
          </p:cNvSpPr>
          <p:nvPr>
            <p:ph idx="1"/>
          </p:nvPr>
        </p:nvSpPr>
        <p:spPr/>
        <p:txBody>
          <a:bodyPr/>
          <a:lstStyle/>
          <a:p>
            <a:r>
              <a:rPr lang="en-US" dirty="0"/>
              <a:t>Figure below shows the conceptual view of the UART operation.</a:t>
            </a:r>
          </a:p>
          <a:p>
            <a:r>
              <a:rPr lang="en-US" dirty="0"/>
              <a:t>In transmission, there is a Transmit FIFO in which the bytes to be transmitted are stored.</a:t>
            </a:r>
          </a:p>
          <a:p>
            <a:r>
              <a:rPr lang="en-US" dirty="0"/>
              <a:t>The 8-bit register Transmit Hold Register(THR) is the top byte of the UART transmit FIFO.</a:t>
            </a:r>
          </a:p>
          <a:p>
            <a:r>
              <a:rPr lang="en-US" dirty="0"/>
              <a:t>The top byte is the newest character in the Transmit FIFO and can be written via the bus interface.</a:t>
            </a:r>
          </a:p>
          <a:p>
            <a:r>
              <a:rPr lang="en-US" dirty="0"/>
              <a:t>The LSB represents the first bit to be transmitted.</a:t>
            </a:r>
          </a:p>
          <a:p>
            <a:r>
              <a:rPr lang="en-US" dirty="0"/>
              <a:t>From THR, the data is framed and serialized.</a:t>
            </a:r>
          </a:p>
          <a:p>
            <a:r>
              <a:rPr lang="en-US" dirty="0"/>
              <a:t>The TSR (Transmit Shift Register) does the serialization of data, and sends it out, bit by bit on the </a:t>
            </a:r>
            <a:r>
              <a:rPr lang="en-US" dirty="0" err="1"/>
              <a:t>TxD</a:t>
            </a:r>
            <a:r>
              <a:rPr lang="en-US" dirty="0"/>
              <a:t> pin.</a:t>
            </a:r>
          </a:p>
        </p:txBody>
      </p:sp>
      <p:sp>
        <p:nvSpPr>
          <p:cNvPr id="5" name="Slide Number Placeholder 4">
            <a:extLst>
              <a:ext uri="{FF2B5EF4-FFF2-40B4-BE49-F238E27FC236}">
                <a16:creationId xmlns:a16="http://schemas.microsoft.com/office/drawing/2014/main" id="{A65947B7-FBF4-4A90-B8CC-92C0DB656D95}"/>
              </a:ext>
            </a:extLst>
          </p:cNvPr>
          <p:cNvSpPr>
            <a:spLocks noGrp="1"/>
          </p:cNvSpPr>
          <p:nvPr>
            <p:ph type="sldNum" sz="quarter" idx="12"/>
          </p:nvPr>
        </p:nvSpPr>
        <p:spPr/>
        <p:txBody>
          <a:bodyPr/>
          <a:lstStyle/>
          <a:p>
            <a:fld id="{2EA600BA-DB00-455B-8978-6C66618801A7}" type="slidenum">
              <a:rPr lang="en-US" smtClean="0"/>
              <a:t>76</a:t>
            </a:fld>
            <a:endParaRPr lang="en-US"/>
          </a:p>
        </p:txBody>
      </p:sp>
    </p:spTree>
    <p:extLst>
      <p:ext uri="{BB962C8B-B14F-4D97-AF65-F5344CB8AC3E}">
        <p14:creationId xmlns:p14="http://schemas.microsoft.com/office/powerpoint/2010/main" val="14253991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D1F05-A072-4845-8F32-5B3336880DDA}"/>
              </a:ext>
            </a:extLst>
          </p:cNvPr>
          <p:cNvSpPr>
            <a:spLocks noGrp="1"/>
          </p:cNvSpPr>
          <p:nvPr>
            <p:ph type="title"/>
          </p:nvPr>
        </p:nvSpPr>
        <p:spPr/>
        <p:txBody>
          <a:bodyPr/>
          <a:lstStyle/>
          <a:p>
            <a:r>
              <a:rPr lang="en-US" dirty="0"/>
              <a:t>Serial data transmission and reception </a:t>
            </a:r>
            <a:r>
              <a:rPr lang="en-US" dirty="0" err="1"/>
              <a:t>contd</a:t>
            </a:r>
            <a:endParaRPr lang="en-US" dirty="0"/>
          </a:p>
        </p:txBody>
      </p:sp>
      <p:pic>
        <p:nvPicPr>
          <p:cNvPr id="7" name="Content Placeholder 6">
            <a:extLst>
              <a:ext uri="{FF2B5EF4-FFF2-40B4-BE49-F238E27FC236}">
                <a16:creationId xmlns:a16="http://schemas.microsoft.com/office/drawing/2014/main" id="{7520F3A3-681A-48C7-85B0-271A6FF496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22431" y="1123837"/>
            <a:ext cx="7561507" cy="4601183"/>
          </a:xfrm>
        </p:spPr>
      </p:pic>
      <p:sp>
        <p:nvSpPr>
          <p:cNvPr id="5" name="Slide Number Placeholder 4">
            <a:extLst>
              <a:ext uri="{FF2B5EF4-FFF2-40B4-BE49-F238E27FC236}">
                <a16:creationId xmlns:a16="http://schemas.microsoft.com/office/drawing/2014/main" id="{599353A4-FCBF-4C13-8B40-DCBA8F19A559}"/>
              </a:ext>
            </a:extLst>
          </p:cNvPr>
          <p:cNvSpPr>
            <a:spLocks noGrp="1"/>
          </p:cNvSpPr>
          <p:nvPr>
            <p:ph type="sldNum" sz="quarter" idx="12"/>
          </p:nvPr>
        </p:nvSpPr>
        <p:spPr/>
        <p:txBody>
          <a:bodyPr/>
          <a:lstStyle/>
          <a:p>
            <a:fld id="{2EA600BA-DB00-455B-8978-6C66618801A7}" type="slidenum">
              <a:rPr lang="en-US" smtClean="0"/>
              <a:t>77</a:t>
            </a:fld>
            <a:endParaRPr lang="en-US"/>
          </a:p>
        </p:txBody>
      </p:sp>
    </p:spTree>
    <p:extLst>
      <p:ext uri="{BB962C8B-B14F-4D97-AF65-F5344CB8AC3E}">
        <p14:creationId xmlns:p14="http://schemas.microsoft.com/office/powerpoint/2010/main" val="342909300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3D888-DB6E-4B02-B1EE-097EBBC0FDB1}"/>
              </a:ext>
            </a:extLst>
          </p:cNvPr>
          <p:cNvSpPr>
            <a:spLocks noGrp="1"/>
          </p:cNvSpPr>
          <p:nvPr>
            <p:ph type="title"/>
          </p:nvPr>
        </p:nvSpPr>
        <p:spPr/>
        <p:txBody>
          <a:bodyPr/>
          <a:lstStyle/>
          <a:p>
            <a:r>
              <a:rPr lang="en-US" dirty="0"/>
              <a:t>Serial data transmission and reception </a:t>
            </a:r>
            <a:r>
              <a:rPr lang="en-US" dirty="0" err="1"/>
              <a:t>contd</a:t>
            </a:r>
            <a:endParaRPr lang="en-US" dirty="0"/>
          </a:p>
        </p:txBody>
      </p:sp>
      <p:sp>
        <p:nvSpPr>
          <p:cNvPr id="3" name="Content Placeholder 2">
            <a:extLst>
              <a:ext uri="{FF2B5EF4-FFF2-40B4-BE49-F238E27FC236}">
                <a16:creationId xmlns:a16="http://schemas.microsoft.com/office/drawing/2014/main" id="{D9778E82-DF70-4D5B-8764-DE0E3A119043}"/>
              </a:ext>
            </a:extLst>
          </p:cNvPr>
          <p:cNvSpPr>
            <a:spLocks noGrp="1"/>
          </p:cNvSpPr>
          <p:nvPr>
            <p:ph idx="1"/>
          </p:nvPr>
        </p:nvSpPr>
        <p:spPr/>
        <p:txBody>
          <a:bodyPr/>
          <a:lstStyle/>
          <a:p>
            <a:r>
              <a:rPr lang="en-US" dirty="0"/>
              <a:t>Reception is similar.</a:t>
            </a:r>
          </a:p>
          <a:p>
            <a:r>
              <a:rPr lang="en-US" dirty="0"/>
              <a:t>The received serial data comes in the Receiver Shift Register (RSR)</a:t>
            </a:r>
          </a:p>
          <a:p>
            <a:r>
              <a:rPr lang="en-US" dirty="0"/>
              <a:t>It is </a:t>
            </a:r>
            <a:r>
              <a:rPr lang="en-US" dirty="0" err="1"/>
              <a:t>deframed</a:t>
            </a:r>
            <a:r>
              <a:rPr lang="en-US" dirty="0"/>
              <a:t>, parallelized and saved in the receiver FIFO.</a:t>
            </a:r>
          </a:p>
          <a:p>
            <a:r>
              <a:rPr lang="en-US" dirty="0"/>
              <a:t>The Receiver Buffer Register (RBR) is the top byte of the UART receiver FIFO</a:t>
            </a:r>
          </a:p>
          <a:p>
            <a:r>
              <a:rPr lang="en-US" dirty="0"/>
              <a:t>The top byte of the Receive FIFO contains the oldest character received and can be read via the bus interface.</a:t>
            </a:r>
          </a:p>
          <a:p>
            <a:r>
              <a:rPr lang="en-US" dirty="0"/>
              <a:t>The LSB represents the oldest received bit.</a:t>
            </a:r>
          </a:p>
          <a:p>
            <a:r>
              <a:rPr lang="en-US" dirty="0"/>
              <a:t>If the character received is less than 8 bits, the unused MSBs are padded with zeroes.</a:t>
            </a:r>
          </a:p>
        </p:txBody>
      </p:sp>
      <p:sp>
        <p:nvSpPr>
          <p:cNvPr id="5" name="Slide Number Placeholder 4">
            <a:extLst>
              <a:ext uri="{FF2B5EF4-FFF2-40B4-BE49-F238E27FC236}">
                <a16:creationId xmlns:a16="http://schemas.microsoft.com/office/drawing/2014/main" id="{E325EC0F-D620-4543-A9F9-0437E6087F0F}"/>
              </a:ext>
            </a:extLst>
          </p:cNvPr>
          <p:cNvSpPr>
            <a:spLocks noGrp="1"/>
          </p:cNvSpPr>
          <p:nvPr>
            <p:ph type="sldNum" sz="quarter" idx="12"/>
          </p:nvPr>
        </p:nvSpPr>
        <p:spPr/>
        <p:txBody>
          <a:bodyPr/>
          <a:lstStyle/>
          <a:p>
            <a:fld id="{2EA600BA-DB00-455B-8978-6C66618801A7}" type="slidenum">
              <a:rPr lang="en-US" smtClean="0"/>
              <a:t>78</a:t>
            </a:fld>
            <a:endParaRPr lang="en-US"/>
          </a:p>
        </p:txBody>
      </p:sp>
    </p:spTree>
    <p:extLst>
      <p:ext uri="{BB962C8B-B14F-4D97-AF65-F5344CB8AC3E}">
        <p14:creationId xmlns:p14="http://schemas.microsoft.com/office/powerpoint/2010/main" val="82315176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73CC3-09BF-4986-9916-F8E79B71A97D}"/>
              </a:ext>
            </a:extLst>
          </p:cNvPr>
          <p:cNvSpPr>
            <a:spLocks noGrp="1"/>
          </p:cNvSpPr>
          <p:nvPr>
            <p:ph type="title"/>
          </p:nvPr>
        </p:nvSpPr>
        <p:spPr/>
        <p:txBody>
          <a:bodyPr/>
          <a:lstStyle/>
          <a:p>
            <a:r>
              <a:rPr lang="en-US" dirty="0"/>
              <a:t>The BAUD Rate Generator</a:t>
            </a:r>
          </a:p>
        </p:txBody>
      </p:sp>
      <p:sp>
        <p:nvSpPr>
          <p:cNvPr id="3" name="Content Placeholder 2">
            <a:extLst>
              <a:ext uri="{FF2B5EF4-FFF2-40B4-BE49-F238E27FC236}">
                <a16:creationId xmlns:a16="http://schemas.microsoft.com/office/drawing/2014/main" id="{2154AD97-CC44-4CBC-9CAB-CB76B1ADC231}"/>
              </a:ext>
            </a:extLst>
          </p:cNvPr>
          <p:cNvSpPr>
            <a:spLocks noGrp="1"/>
          </p:cNvSpPr>
          <p:nvPr>
            <p:ph idx="1"/>
          </p:nvPr>
        </p:nvSpPr>
        <p:spPr/>
        <p:txBody>
          <a:bodyPr/>
          <a:lstStyle/>
          <a:p>
            <a:r>
              <a:rPr lang="en-US" dirty="0"/>
              <a:t>Transmission and reception rates are referred to as TCLK and RCLK.</a:t>
            </a:r>
          </a:p>
          <a:p>
            <a:r>
              <a:rPr lang="en-US" dirty="0"/>
              <a:t>These clocks are generated by the BRG (Baud Rate Generator) and these rates can be fixed by a formula.</a:t>
            </a:r>
          </a:p>
        </p:txBody>
      </p:sp>
      <p:sp>
        <p:nvSpPr>
          <p:cNvPr id="5" name="Slide Number Placeholder 4">
            <a:extLst>
              <a:ext uri="{FF2B5EF4-FFF2-40B4-BE49-F238E27FC236}">
                <a16:creationId xmlns:a16="http://schemas.microsoft.com/office/drawing/2014/main" id="{0CABB413-CF2A-48C1-8810-E960C276DC4A}"/>
              </a:ext>
            </a:extLst>
          </p:cNvPr>
          <p:cNvSpPr>
            <a:spLocks noGrp="1"/>
          </p:cNvSpPr>
          <p:nvPr>
            <p:ph type="sldNum" sz="quarter" idx="12"/>
          </p:nvPr>
        </p:nvSpPr>
        <p:spPr/>
        <p:txBody>
          <a:bodyPr/>
          <a:lstStyle/>
          <a:p>
            <a:fld id="{2EA600BA-DB00-455B-8978-6C66618801A7}" type="slidenum">
              <a:rPr lang="en-US" smtClean="0"/>
              <a:t>79</a:t>
            </a:fld>
            <a:endParaRPr lang="en-US"/>
          </a:p>
        </p:txBody>
      </p:sp>
    </p:spTree>
    <p:extLst>
      <p:ext uri="{BB962C8B-B14F-4D97-AF65-F5344CB8AC3E}">
        <p14:creationId xmlns:p14="http://schemas.microsoft.com/office/powerpoint/2010/main" val="92662256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DB74-0ADB-437B-8D27-6C97AA92B4C2}"/>
              </a:ext>
            </a:extLst>
          </p:cNvPr>
          <p:cNvSpPr>
            <a:spLocks noGrp="1"/>
          </p:cNvSpPr>
          <p:nvPr>
            <p:ph type="title"/>
          </p:nvPr>
        </p:nvSpPr>
        <p:spPr/>
        <p:txBody>
          <a:bodyPr/>
          <a:lstStyle/>
          <a:p>
            <a:r>
              <a:rPr lang="en-US" dirty="0"/>
              <a:t>Registers of UART0</a:t>
            </a:r>
          </a:p>
        </p:txBody>
      </p:sp>
      <p:sp>
        <p:nvSpPr>
          <p:cNvPr id="3" name="Content Placeholder 2">
            <a:extLst>
              <a:ext uri="{FF2B5EF4-FFF2-40B4-BE49-F238E27FC236}">
                <a16:creationId xmlns:a16="http://schemas.microsoft.com/office/drawing/2014/main" id="{0646F411-2382-467E-BDCD-156C41452BD7}"/>
              </a:ext>
            </a:extLst>
          </p:cNvPr>
          <p:cNvSpPr>
            <a:spLocks noGrp="1"/>
          </p:cNvSpPr>
          <p:nvPr>
            <p:ph idx="1"/>
          </p:nvPr>
        </p:nvSpPr>
        <p:spPr/>
        <p:txBody>
          <a:bodyPr/>
          <a:lstStyle/>
          <a:p>
            <a:pPr marL="0" indent="0">
              <a:buNone/>
            </a:pPr>
            <a:r>
              <a:rPr lang="en-US" sz="2400" b="1" dirty="0"/>
              <a:t>U0DLL and U0DLM – Divisor Latch registers:</a:t>
            </a:r>
          </a:p>
          <a:p>
            <a:r>
              <a:rPr lang="en-US" dirty="0"/>
              <a:t>Both of them hold 8-bit values.</a:t>
            </a:r>
          </a:p>
          <a:p>
            <a:r>
              <a:rPr lang="en-US" dirty="0"/>
              <a:t>These register together from a 16-bit divisor value which is used in baud rate generation.</a:t>
            </a:r>
          </a:p>
          <a:p>
            <a:r>
              <a:rPr lang="en-US" dirty="0"/>
              <a:t>U0DML holds the upper 8-bits and U0DLL holds the lower 8-bits</a:t>
            </a:r>
          </a:p>
          <a:p>
            <a:r>
              <a:rPr lang="en-US" dirty="0"/>
              <a:t>Since these form a divisor value and division by zero is invalid, the starting value for U0DLL is 0x01 (and not 0x00), i.e. the starting value in combined formation is 0x0001.</a:t>
            </a:r>
          </a:p>
          <a:p>
            <a:r>
              <a:rPr lang="en-US" dirty="0"/>
              <a:t>In order to access and use these registers properly, DLAB bit in U0LCR must be first set to 1.</a:t>
            </a:r>
          </a:p>
          <a:p>
            <a:r>
              <a:rPr lang="en-US" dirty="0"/>
              <a:t>The factor MULVAL/(MULVAL + DIVADDVAL) depends on the </a:t>
            </a:r>
            <a:r>
              <a:rPr lang="en-US" dirty="0" err="1"/>
              <a:t>prescaler</a:t>
            </a:r>
            <a:r>
              <a:rPr lang="en-US" dirty="0"/>
              <a:t> and another register.</a:t>
            </a:r>
          </a:p>
        </p:txBody>
      </p:sp>
      <p:sp>
        <p:nvSpPr>
          <p:cNvPr id="5" name="Slide Number Placeholder 4">
            <a:extLst>
              <a:ext uri="{FF2B5EF4-FFF2-40B4-BE49-F238E27FC236}">
                <a16:creationId xmlns:a16="http://schemas.microsoft.com/office/drawing/2014/main" id="{F0BEF7D0-00DA-4FC1-A875-34C79456D757}"/>
              </a:ext>
            </a:extLst>
          </p:cNvPr>
          <p:cNvSpPr>
            <a:spLocks noGrp="1"/>
          </p:cNvSpPr>
          <p:nvPr>
            <p:ph type="sldNum" sz="quarter" idx="12"/>
          </p:nvPr>
        </p:nvSpPr>
        <p:spPr/>
        <p:txBody>
          <a:bodyPr/>
          <a:lstStyle/>
          <a:p>
            <a:fld id="{2EA600BA-DB00-455B-8978-6C66618801A7}" type="slidenum">
              <a:rPr lang="en-US" smtClean="0"/>
              <a:t>80</a:t>
            </a:fld>
            <a:endParaRPr lang="en-US"/>
          </a:p>
        </p:txBody>
      </p:sp>
    </p:spTree>
    <p:extLst>
      <p:ext uri="{BB962C8B-B14F-4D97-AF65-F5344CB8AC3E}">
        <p14:creationId xmlns:p14="http://schemas.microsoft.com/office/powerpoint/2010/main" val="330439261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201C-6D85-4CC5-8C7B-485FACCFF9AD}"/>
              </a:ext>
            </a:extLst>
          </p:cNvPr>
          <p:cNvSpPr>
            <a:spLocks noGrp="1"/>
          </p:cNvSpPr>
          <p:nvPr>
            <p:ph type="title"/>
          </p:nvPr>
        </p:nvSpPr>
        <p:spPr/>
        <p:txBody>
          <a:bodyPr/>
          <a:lstStyle/>
          <a:p>
            <a:r>
              <a:rPr lang="en-US" dirty="0"/>
              <a:t>Registers of UAER0 </a:t>
            </a:r>
            <a:r>
              <a:rPr lang="en-US" dirty="0" err="1"/>
              <a:t>contd</a:t>
            </a:r>
            <a:endParaRPr lang="en-US" dirty="0"/>
          </a:p>
        </p:txBody>
      </p:sp>
      <p:pic>
        <p:nvPicPr>
          <p:cNvPr id="7" name="Content Placeholder 6">
            <a:extLst>
              <a:ext uri="{FF2B5EF4-FFF2-40B4-BE49-F238E27FC236}">
                <a16:creationId xmlns:a16="http://schemas.microsoft.com/office/drawing/2014/main" id="{442FC34E-F5A2-4C71-8BF8-B0039BFD35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2006" y="1436661"/>
            <a:ext cx="7315200" cy="912836"/>
          </a:xfrm>
        </p:spPr>
      </p:pic>
      <p:sp>
        <p:nvSpPr>
          <p:cNvPr id="5" name="Slide Number Placeholder 4">
            <a:extLst>
              <a:ext uri="{FF2B5EF4-FFF2-40B4-BE49-F238E27FC236}">
                <a16:creationId xmlns:a16="http://schemas.microsoft.com/office/drawing/2014/main" id="{169F4202-2F1B-4F7F-91E4-EAD2BB3A6011}"/>
              </a:ext>
            </a:extLst>
          </p:cNvPr>
          <p:cNvSpPr>
            <a:spLocks noGrp="1"/>
          </p:cNvSpPr>
          <p:nvPr>
            <p:ph type="sldNum" sz="quarter" idx="12"/>
          </p:nvPr>
        </p:nvSpPr>
        <p:spPr/>
        <p:txBody>
          <a:bodyPr/>
          <a:lstStyle/>
          <a:p>
            <a:fld id="{2EA600BA-DB00-455B-8978-6C66618801A7}" type="slidenum">
              <a:rPr lang="en-US" smtClean="0"/>
              <a:t>81</a:t>
            </a:fld>
            <a:endParaRPr lang="en-US"/>
          </a:p>
        </p:txBody>
      </p:sp>
      <p:sp>
        <p:nvSpPr>
          <p:cNvPr id="3" name="TextBox 2">
            <a:extLst>
              <a:ext uri="{FF2B5EF4-FFF2-40B4-BE49-F238E27FC236}">
                <a16:creationId xmlns:a16="http://schemas.microsoft.com/office/drawing/2014/main" id="{59A0B153-2543-A488-C257-221AFE674669}"/>
              </a:ext>
            </a:extLst>
          </p:cNvPr>
          <p:cNvSpPr txBox="1"/>
          <p:nvPr/>
        </p:nvSpPr>
        <p:spPr>
          <a:xfrm>
            <a:off x="4248443" y="829994"/>
            <a:ext cx="4543865" cy="369332"/>
          </a:xfrm>
          <a:prstGeom prst="rect">
            <a:avLst/>
          </a:prstGeom>
          <a:noFill/>
        </p:spPr>
        <p:txBody>
          <a:bodyPr wrap="square" rtlCol="0">
            <a:spAutoFit/>
          </a:bodyPr>
          <a:lstStyle/>
          <a:p>
            <a:r>
              <a:rPr lang="en-US" dirty="0"/>
              <a:t>The formula for baud rate calculation is</a:t>
            </a:r>
          </a:p>
        </p:txBody>
      </p:sp>
      <p:sp>
        <p:nvSpPr>
          <p:cNvPr id="6" name="TextBox 5">
            <a:extLst>
              <a:ext uri="{FF2B5EF4-FFF2-40B4-BE49-F238E27FC236}">
                <a16:creationId xmlns:a16="http://schemas.microsoft.com/office/drawing/2014/main" id="{09FE10FF-3732-24DA-970F-7E938E24B0C8}"/>
              </a:ext>
            </a:extLst>
          </p:cNvPr>
          <p:cNvSpPr txBox="1"/>
          <p:nvPr/>
        </p:nvSpPr>
        <p:spPr>
          <a:xfrm>
            <a:off x="3742006" y="2604128"/>
            <a:ext cx="7877908" cy="923330"/>
          </a:xfrm>
          <a:prstGeom prst="rect">
            <a:avLst/>
          </a:prstGeom>
          <a:noFill/>
        </p:spPr>
        <p:txBody>
          <a:bodyPr wrap="square" rtlCol="0">
            <a:spAutoFit/>
          </a:bodyPr>
          <a:lstStyle/>
          <a:p>
            <a:r>
              <a:rPr lang="en-US" dirty="0"/>
              <a:t>Using this formula ,for a system with PCLK=20 MHz, </a:t>
            </a:r>
            <a:r>
              <a:rPr lang="en-US" dirty="0" err="1"/>
              <a:t>UoDLM</a:t>
            </a:r>
            <a:r>
              <a:rPr lang="en-US" dirty="0"/>
              <a:t>=0x00 and </a:t>
            </a:r>
            <a:r>
              <a:rPr lang="en-US" dirty="0" err="1"/>
              <a:t>UoDLL</a:t>
            </a:r>
            <a:r>
              <a:rPr lang="en-US" dirty="0"/>
              <a:t>=0x5D  ,DIVADDVAL=2 and MULVAL=5.</a:t>
            </a:r>
          </a:p>
          <a:p>
            <a:r>
              <a:rPr lang="en-US" dirty="0"/>
              <a:t>The UART baud rate=9600bauds.</a:t>
            </a:r>
          </a:p>
        </p:txBody>
      </p:sp>
    </p:spTree>
    <p:extLst>
      <p:ext uri="{BB962C8B-B14F-4D97-AF65-F5344CB8AC3E}">
        <p14:creationId xmlns:p14="http://schemas.microsoft.com/office/powerpoint/2010/main" val="404295681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B4E7-5FB3-48BF-9415-430B393B12C0}"/>
              </a:ext>
            </a:extLst>
          </p:cNvPr>
          <p:cNvSpPr>
            <a:spLocks noGrp="1"/>
          </p:cNvSpPr>
          <p:nvPr>
            <p:ph type="title"/>
          </p:nvPr>
        </p:nvSpPr>
        <p:spPr/>
        <p:txBody>
          <a:bodyPr/>
          <a:lstStyle/>
          <a:p>
            <a:r>
              <a:rPr lang="en-US" dirty="0"/>
              <a:t>UART0 transmit holding register (U0THR)</a:t>
            </a:r>
          </a:p>
        </p:txBody>
      </p:sp>
      <p:sp>
        <p:nvSpPr>
          <p:cNvPr id="3" name="Content Placeholder 2">
            <a:extLst>
              <a:ext uri="{FF2B5EF4-FFF2-40B4-BE49-F238E27FC236}">
                <a16:creationId xmlns:a16="http://schemas.microsoft.com/office/drawing/2014/main" id="{620ACE73-7D97-4CEE-B19F-CA847B859B1B}"/>
              </a:ext>
            </a:extLst>
          </p:cNvPr>
          <p:cNvSpPr>
            <a:spLocks noGrp="1"/>
          </p:cNvSpPr>
          <p:nvPr>
            <p:ph idx="1"/>
          </p:nvPr>
        </p:nvSpPr>
        <p:spPr/>
        <p:txBody>
          <a:bodyPr/>
          <a:lstStyle/>
          <a:p>
            <a:r>
              <a:rPr lang="en-US" dirty="0"/>
              <a:t>This is an 8-bit register and part of the transmit buffer.</a:t>
            </a:r>
          </a:p>
          <a:p>
            <a:r>
              <a:rPr lang="en-US" dirty="0"/>
              <a:t>It is the top most byte of this buffer, and new characters are to be loaded into this register for being transmitted.</a:t>
            </a:r>
          </a:p>
          <a:p>
            <a:r>
              <a:rPr lang="en-US" dirty="0"/>
              <a:t>The data to be transmitted is written into this ‘write only’ register.</a:t>
            </a:r>
          </a:p>
        </p:txBody>
      </p:sp>
      <p:sp>
        <p:nvSpPr>
          <p:cNvPr id="5" name="Slide Number Placeholder 4">
            <a:extLst>
              <a:ext uri="{FF2B5EF4-FFF2-40B4-BE49-F238E27FC236}">
                <a16:creationId xmlns:a16="http://schemas.microsoft.com/office/drawing/2014/main" id="{303C88AB-626F-4756-BAE4-548C323B6C6A}"/>
              </a:ext>
            </a:extLst>
          </p:cNvPr>
          <p:cNvSpPr>
            <a:spLocks noGrp="1"/>
          </p:cNvSpPr>
          <p:nvPr>
            <p:ph type="sldNum" sz="quarter" idx="12"/>
          </p:nvPr>
        </p:nvSpPr>
        <p:spPr/>
        <p:txBody>
          <a:bodyPr/>
          <a:lstStyle/>
          <a:p>
            <a:fld id="{2EA600BA-DB00-455B-8978-6C66618801A7}" type="slidenum">
              <a:rPr lang="en-US" smtClean="0"/>
              <a:t>82</a:t>
            </a:fld>
            <a:endParaRPr lang="en-US"/>
          </a:p>
        </p:txBody>
      </p:sp>
    </p:spTree>
    <p:extLst>
      <p:ext uri="{BB962C8B-B14F-4D97-AF65-F5344CB8AC3E}">
        <p14:creationId xmlns:p14="http://schemas.microsoft.com/office/powerpoint/2010/main" val="370368372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DCCD-744F-4683-B26C-6AED4578D432}"/>
              </a:ext>
            </a:extLst>
          </p:cNvPr>
          <p:cNvSpPr>
            <a:spLocks noGrp="1"/>
          </p:cNvSpPr>
          <p:nvPr>
            <p:ph type="title"/>
          </p:nvPr>
        </p:nvSpPr>
        <p:spPr/>
        <p:txBody>
          <a:bodyPr/>
          <a:lstStyle/>
          <a:p>
            <a:r>
              <a:rPr lang="en-US" dirty="0"/>
              <a:t>UART0 FIFO control registers(U0FCR)</a:t>
            </a:r>
          </a:p>
        </p:txBody>
      </p:sp>
      <p:sp>
        <p:nvSpPr>
          <p:cNvPr id="3" name="Content Placeholder 2">
            <a:extLst>
              <a:ext uri="{FF2B5EF4-FFF2-40B4-BE49-F238E27FC236}">
                <a16:creationId xmlns:a16="http://schemas.microsoft.com/office/drawing/2014/main" id="{D6833659-C062-46C0-95B3-9210C2B6BA0E}"/>
              </a:ext>
            </a:extLst>
          </p:cNvPr>
          <p:cNvSpPr>
            <a:spLocks noGrp="1"/>
          </p:cNvSpPr>
          <p:nvPr>
            <p:ph idx="1"/>
          </p:nvPr>
        </p:nvSpPr>
        <p:spPr>
          <a:xfrm>
            <a:off x="3869267" y="864108"/>
            <a:ext cx="7778781" cy="3681984"/>
          </a:xfrm>
        </p:spPr>
        <p:txBody>
          <a:bodyPr>
            <a:normAutofit/>
          </a:bodyPr>
          <a:lstStyle/>
          <a:p>
            <a:r>
              <a:rPr lang="en-US" dirty="0"/>
              <a:t>This is a 8-bit register</a:t>
            </a:r>
          </a:p>
          <a:p>
            <a:pPr lvl="1"/>
            <a:r>
              <a:rPr lang="en-US" sz="2000" dirty="0"/>
              <a:t>Bit 0: E: This bit must be set for enabling the Tx and Rx FIFOs</a:t>
            </a:r>
          </a:p>
          <a:p>
            <a:pPr lvl="1"/>
            <a:r>
              <a:rPr lang="en-US" sz="2000" dirty="0"/>
              <a:t>Bit 1: Rx FIFO Reset: This must be set, to clear all bytes in UART0 RX FIFO and reset the pointer logic. This bit is self-clearing.</a:t>
            </a:r>
          </a:p>
          <a:p>
            <a:pPr lvl="1"/>
            <a:r>
              <a:rPr lang="en-US" sz="2000" dirty="0"/>
              <a:t>Bit 2: Tx FIFO Reset: This must be set to clear all bytes in UART0 Tx FIFO and reset the pointer logic. This bit is self-clearing.</a:t>
            </a:r>
          </a:p>
          <a:p>
            <a:pPr lvl="1"/>
            <a:r>
              <a:rPr lang="en-US" sz="2000" dirty="0"/>
              <a:t>Bit 7 and 6: Rx trigger level: these two bits determine how many receiver FIFO characters must be written before an interrupt is activated</a:t>
            </a:r>
          </a:p>
        </p:txBody>
      </p:sp>
      <p:sp>
        <p:nvSpPr>
          <p:cNvPr id="5" name="Slide Number Placeholder 4">
            <a:extLst>
              <a:ext uri="{FF2B5EF4-FFF2-40B4-BE49-F238E27FC236}">
                <a16:creationId xmlns:a16="http://schemas.microsoft.com/office/drawing/2014/main" id="{69CF9125-6112-4399-9EEC-9E2D95BA4944}"/>
              </a:ext>
            </a:extLst>
          </p:cNvPr>
          <p:cNvSpPr>
            <a:spLocks noGrp="1"/>
          </p:cNvSpPr>
          <p:nvPr>
            <p:ph type="sldNum" sz="quarter" idx="12"/>
          </p:nvPr>
        </p:nvSpPr>
        <p:spPr/>
        <p:txBody>
          <a:bodyPr/>
          <a:lstStyle/>
          <a:p>
            <a:fld id="{2EA600BA-DB00-455B-8978-6C66618801A7}" type="slidenum">
              <a:rPr lang="en-US" smtClean="0"/>
              <a:t>83</a:t>
            </a:fld>
            <a:endParaRPr lang="en-US"/>
          </a:p>
        </p:txBody>
      </p:sp>
      <p:pic>
        <p:nvPicPr>
          <p:cNvPr id="9" name="Picture 8">
            <a:extLst>
              <a:ext uri="{FF2B5EF4-FFF2-40B4-BE49-F238E27FC236}">
                <a16:creationId xmlns:a16="http://schemas.microsoft.com/office/drawing/2014/main" id="{B85BD040-05DC-4764-991A-E85D4A1904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5020" y="4731893"/>
            <a:ext cx="7315200" cy="1438656"/>
          </a:xfrm>
          <a:prstGeom prst="rect">
            <a:avLst/>
          </a:prstGeom>
        </p:spPr>
      </p:pic>
    </p:spTree>
    <p:extLst>
      <p:ext uri="{BB962C8B-B14F-4D97-AF65-F5344CB8AC3E}">
        <p14:creationId xmlns:p14="http://schemas.microsoft.com/office/powerpoint/2010/main" val="356259760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30295-6322-45C1-A80F-2406213C86F9}"/>
              </a:ext>
            </a:extLst>
          </p:cNvPr>
          <p:cNvSpPr>
            <a:spLocks noGrp="1"/>
          </p:cNvSpPr>
          <p:nvPr>
            <p:ph type="title"/>
          </p:nvPr>
        </p:nvSpPr>
        <p:spPr/>
        <p:txBody>
          <a:bodyPr/>
          <a:lstStyle/>
          <a:p>
            <a:r>
              <a:rPr lang="en-US" dirty="0"/>
              <a:t>UART0 line control register (U0LCR)</a:t>
            </a:r>
          </a:p>
        </p:txBody>
      </p:sp>
      <p:sp>
        <p:nvSpPr>
          <p:cNvPr id="3" name="Content Placeholder 2">
            <a:extLst>
              <a:ext uri="{FF2B5EF4-FFF2-40B4-BE49-F238E27FC236}">
                <a16:creationId xmlns:a16="http://schemas.microsoft.com/office/drawing/2014/main" id="{6C818C62-255E-44D0-B556-955E9C6731AC}"/>
              </a:ext>
            </a:extLst>
          </p:cNvPr>
          <p:cNvSpPr>
            <a:spLocks noGrp="1"/>
          </p:cNvSpPr>
          <p:nvPr>
            <p:ph idx="1"/>
          </p:nvPr>
        </p:nvSpPr>
        <p:spPr/>
        <p:txBody>
          <a:bodyPr/>
          <a:lstStyle/>
          <a:p>
            <a:r>
              <a:rPr lang="en-US" dirty="0"/>
              <a:t>The U0LCR is an 8-bit register which determines the format of the data character that is to be transmitted or received.</a:t>
            </a:r>
          </a:p>
          <a:p>
            <a:r>
              <a:rPr lang="en-US" dirty="0"/>
              <a:t>The bits used here are:</a:t>
            </a:r>
          </a:p>
          <a:p>
            <a:pPr lvl="1"/>
            <a:r>
              <a:rPr lang="en-US" dirty="0"/>
              <a:t>Bit 1: 0: These two bits have been chosen to be ‘11’ to indicate 8-bit character length.</a:t>
            </a:r>
          </a:p>
          <a:p>
            <a:pPr lvl="1"/>
            <a:r>
              <a:rPr lang="en-US" dirty="0"/>
              <a:t>Bit 2: This is made ‘0’ to select one stop bit.</a:t>
            </a:r>
          </a:p>
          <a:p>
            <a:pPr lvl="1"/>
            <a:r>
              <a:rPr lang="en-US" dirty="0"/>
              <a:t>Bit 7: This is the Divisor Latch Access Bit (DLAB) and is set, to enable the use of divisor latch.</a:t>
            </a:r>
          </a:p>
          <a:p>
            <a:r>
              <a:rPr lang="en-US" dirty="0"/>
              <a:t>Other bits of this register pertain to parity and break control.</a:t>
            </a:r>
          </a:p>
          <a:p>
            <a:r>
              <a:rPr lang="en-US" dirty="0"/>
              <a:t>These have been disabled by making these bits to be ‘0’.</a:t>
            </a:r>
          </a:p>
          <a:p>
            <a:r>
              <a:rPr lang="en-US" dirty="0"/>
              <a:t>Thus we have U0LCR = 1000 0011 = 0x83</a:t>
            </a:r>
          </a:p>
        </p:txBody>
      </p:sp>
      <p:sp>
        <p:nvSpPr>
          <p:cNvPr id="5" name="Slide Number Placeholder 4">
            <a:extLst>
              <a:ext uri="{FF2B5EF4-FFF2-40B4-BE49-F238E27FC236}">
                <a16:creationId xmlns:a16="http://schemas.microsoft.com/office/drawing/2014/main" id="{9B9F9EDE-5EA4-4102-BBEC-967531BABFE7}"/>
              </a:ext>
            </a:extLst>
          </p:cNvPr>
          <p:cNvSpPr>
            <a:spLocks noGrp="1"/>
          </p:cNvSpPr>
          <p:nvPr>
            <p:ph type="sldNum" sz="quarter" idx="12"/>
          </p:nvPr>
        </p:nvSpPr>
        <p:spPr/>
        <p:txBody>
          <a:bodyPr/>
          <a:lstStyle/>
          <a:p>
            <a:fld id="{2EA600BA-DB00-455B-8978-6C66618801A7}" type="slidenum">
              <a:rPr lang="en-US" smtClean="0"/>
              <a:t>84</a:t>
            </a:fld>
            <a:endParaRPr lang="en-US"/>
          </a:p>
        </p:txBody>
      </p:sp>
    </p:spTree>
    <p:extLst>
      <p:ext uri="{BB962C8B-B14F-4D97-AF65-F5344CB8AC3E}">
        <p14:creationId xmlns:p14="http://schemas.microsoft.com/office/powerpoint/2010/main" val="359085074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D751C-A350-45AB-98FE-931D21B774C9}"/>
              </a:ext>
            </a:extLst>
          </p:cNvPr>
          <p:cNvSpPr>
            <a:spLocks noGrp="1"/>
          </p:cNvSpPr>
          <p:nvPr>
            <p:ph type="title"/>
          </p:nvPr>
        </p:nvSpPr>
        <p:spPr/>
        <p:txBody>
          <a:bodyPr/>
          <a:lstStyle/>
          <a:p>
            <a:r>
              <a:rPr lang="en-US" dirty="0"/>
              <a:t>UART0 line status register (U0LSR)</a:t>
            </a:r>
          </a:p>
        </p:txBody>
      </p:sp>
      <p:sp>
        <p:nvSpPr>
          <p:cNvPr id="3" name="Content Placeholder 2">
            <a:extLst>
              <a:ext uri="{FF2B5EF4-FFF2-40B4-BE49-F238E27FC236}">
                <a16:creationId xmlns:a16="http://schemas.microsoft.com/office/drawing/2014/main" id="{0295F5C2-580C-49C5-8106-E52DF198751C}"/>
              </a:ext>
            </a:extLst>
          </p:cNvPr>
          <p:cNvSpPr>
            <a:spLocks noGrp="1"/>
          </p:cNvSpPr>
          <p:nvPr>
            <p:ph idx="1"/>
          </p:nvPr>
        </p:nvSpPr>
        <p:spPr/>
        <p:txBody>
          <a:bodyPr/>
          <a:lstStyle/>
          <a:p>
            <a:r>
              <a:rPr lang="en-US" dirty="0"/>
              <a:t>The U0LSR is a read-only register that provides status information regarding the UART0 Transmitter and Receiver blocks.</a:t>
            </a:r>
          </a:p>
        </p:txBody>
      </p:sp>
      <p:sp>
        <p:nvSpPr>
          <p:cNvPr id="5" name="Slide Number Placeholder 4">
            <a:extLst>
              <a:ext uri="{FF2B5EF4-FFF2-40B4-BE49-F238E27FC236}">
                <a16:creationId xmlns:a16="http://schemas.microsoft.com/office/drawing/2014/main" id="{EB3D5B9F-49CF-4883-924E-D73EE5953F03}"/>
              </a:ext>
            </a:extLst>
          </p:cNvPr>
          <p:cNvSpPr>
            <a:spLocks noGrp="1"/>
          </p:cNvSpPr>
          <p:nvPr>
            <p:ph type="sldNum" sz="quarter" idx="12"/>
          </p:nvPr>
        </p:nvSpPr>
        <p:spPr/>
        <p:txBody>
          <a:bodyPr/>
          <a:lstStyle/>
          <a:p>
            <a:fld id="{2EA600BA-DB00-455B-8978-6C66618801A7}" type="slidenum">
              <a:rPr lang="en-US" smtClean="0"/>
              <a:t>85</a:t>
            </a:fld>
            <a:endParaRPr lang="en-US"/>
          </a:p>
        </p:txBody>
      </p:sp>
    </p:spTree>
    <p:extLst>
      <p:ext uri="{BB962C8B-B14F-4D97-AF65-F5344CB8AC3E}">
        <p14:creationId xmlns:p14="http://schemas.microsoft.com/office/powerpoint/2010/main" val="138704739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E622E-3A49-4644-9FA3-4402FAC3270F}"/>
              </a:ext>
            </a:extLst>
          </p:cNvPr>
          <p:cNvSpPr>
            <a:spLocks noGrp="1"/>
          </p:cNvSpPr>
          <p:nvPr>
            <p:ph type="title"/>
          </p:nvPr>
        </p:nvSpPr>
        <p:spPr/>
        <p:txBody>
          <a:bodyPr/>
          <a:lstStyle/>
          <a:p>
            <a:r>
              <a:rPr lang="en-US" dirty="0"/>
              <a:t>UART0 pins in the </a:t>
            </a:r>
            <a:r>
              <a:rPr lang="en-US"/>
              <a:t>PINSEL0 register</a:t>
            </a:r>
            <a:endParaRPr lang="en-US" dirty="0"/>
          </a:p>
        </p:txBody>
      </p:sp>
      <p:pic>
        <p:nvPicPr>
          <p:cNvPr id="7" name="Content Placeholder 6">
            <a:extLst>
              <a:ext uri="{FF2B5EF4-FFF2-40B4-BE49-F238E27FC236}">
                <a16:creationId xmlns:a16="http://schemas.microsoft.com/office/drawing/2014/main" id="{05D69570-34E1-4CE9-B0D2-8ABCA30D3A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8738" y="1871003"/>
            <a:ext cx="7315200" cy="3854017"/>
          </a:xfrm>
        </p:spPr>
      </p:pic>
      <p:sp>
        <p:nvSpPr>
          <p:cNvPr id="5" name="Slide Number Placeholder 4">
            <a:extLst>
              <a:ext uri="{FF2B5EF4-FFF2-40B4-BE49-F238E27FC236}">
                <a16:creationId xmlns:a16="http://schemas.microsoft.com/office/drawing/2014/main" id="{4F84A385-8530-48AA-A5F8-72C08FCAC0FF}"/>
              </a:ext>
            </a:extLst>
          </p:cNvPr>
          <p:cNvSpPr>
            <a:spLocks noGrp="1"/>
          </p:cNvSpPr>
          <p:nvPr>
            <p:ph type="sldNum" sz="quarter" idx="12"/>
          </p:nvPr>
        </p:nvSpPr>
        <p:spPr/>
        <p:txBody>
          <a:bodyPr/>
          <a:lstStyle/>
          <a:p>
            <a:fld id="{2EA600BA-DB00-455B-8978-6C66618801A7}" type="slidenum">
              <a:rPr lang="en-US" smtClean="0"/>
              <a:t>86</a:t>
            </a:fld>
            <a:endParaRPr lang="en-US"/>
          </a:p>
        </p:txBody>
      </p:sp>
      <p:sp>
        <p:nvSpPr>
          <p:cNvPr id="6" name="TextBox 5">
            <a:extLst>
              <a:ext uri="{FF2B5EF4-FFF2-40B4-BE49-F238E27FC236}">
                <a16:creationId xmlns:a16="http://schemas.microsoft.com/office/drawing/2014/main" id="{4EDD5BCB-5163-52E5-57E7-11EADA0FC6E2}"/>
              </a:ext>
            </a:extLst>
          </p:cNvPr>
          <p:cNvSpPr txBox="1"/>
          <p:nvPr/>
        </p:nvSpPr>
        <p:spPr>
          <a:xfrm>
            <a:off x="3868738" y="639508"/>
            <a:ext cx="7863718" cy="1015663"/>
          </a:xfrm>
          <a:prstGeom prst="rect">
            <a:avLst/>
          </a:prstGeom>
          <a:noFill/>
        </p:spPr>
        <p:txBody>
          <a:bodyPr wrap="square">
            <a:spAutoFit/>
          </a:bodyPr>
          <a:lstStyle/>
          <a:p>
            <a:pPr algn="just"/>
            <a:r>
              <a:rPr lang="en-US" sz="2000" b="1" dirty="0" err="1"/>
              <a:t>Pinselect</a:t>
            </a:r>
            <a:r>
              <a:rPr lang="en-US" sz="2000" b="1" dirty="0"/>
              <a:t> register (PINSEL0)</a:t>
            </a:r>
          </a:p>
          <a:p>
            <a:pPr algn="just"/>
            <a:r>
              <a:rPr lang="en-US" sz="2000" dirty="0"/>
              <a:t>This register has been discussed earlier. P0.0(</a:t>
            </a:r>
            <a:r>
              <a:rPr lang="en-US" sz="2000" dirty="0" err="1"/>
              <a:t>TxD</a:t>
            </a:r>
            <a:r>
              <a:rPr lang="en-US" sz="2000" dirty="0"/>
              <a:t>) and P0.1(</a:t>
            </a:r>
            <a:r>
              <a:rPr lang="en-US" sz="2000" dirty="0" err="1"/>
              <a:t>RxD</a:t>
            </a:r>
            <a:r>
              <a:rPr lang="en-US" sz="2000" dirty="0"/>
              <a:t>) are the relevant pins of UART0, PINSEL0=0x05 is to be used. See table 6.14</a:t>
            </a:r>
          </a:p>
        </p:txBody>
      </p:sp>
    </p:spTree>
    <p:extLst>
      <p:ext uri="{BB962C8B-B14F-4D97-AF65-F5344CB8AC3E}">
        <p14:creationId xmlns:p14="http://schemas.microsoft.com/office/powerpoint/2010/main" val="212314595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D21D-B62E-59D7-EBE6-FFC9693F4283}"/>
              </a:ext>
            </a:extLst>
          </p:cNvPr>
          <p:cNvSpPr>
            <a:spLocks noGrp="1"/>
          </p:cNvSpPr>
          <p:nvPr>
            <p:ph type="title"/>
          </p:nvPr>
        </p:nvSpPr>
        <p:spPr>
          <a:xfrm>
            <a:off x="252919" y="703385"/>
            <a:ext cx="3264004" cy="5416061"/>
          </a:xfrm>
        </p:spPr>
        <p:txBody>
          <a:bodyPr>
            <a:normAutofit/>
          </a:bodyPr>
          <a:lstStyle/>
          <a:p>
            <a:r>
              <a:rPr lang="en-US" dirty="0"/>
              <a:t>The program simulates serial communication. A character string written in the program is transmitted, received and is displayed in the serial window.</a:t>
            </a:r>
          </a:p>
        </p:txBody>
      </p:sp>
      <p:sp>
        <p:nvSpPr>
          <p:cNvPr id="5" name="Slide Number Placeholder 4">
            <a:extLst>
              <a:ext uri="{FF2B5EF4-FFF2-40B4-BE49-F238E27FC236}">
                <a16:creationId xmlns:a16="http://schemas.microsoft.com/office/drawing/2014/main" id="{94657150-1CC0-08B5-ABEF-48ED5378E690}"/>
              </a:ext>
            </a:extLst>
          </p:cNvPr>
          <p:cNvSpPr>
            <a:spLocks noGrp="1"/>
          </p:cNvSpPr>
          <p:nvPr>
            <p:ph type="sldNum" sz="quarter" idx="12"/>
          </p:nvPr>
        </p:nvSpPr>
        <p:spPr/>
        <p:txBody>
          <a:bodyPr/>
          <a:lstStyle/>
          <a:p>
            <a:fld id="{2EA600BA-DB00-455B-8978-6C66618801A7}" type="slidenum">
              <a:rPr lang="en-US" smtClean="0"/>
              <a:t>87</a:t>
            </a:fld>
            <a:endParaRPr lang="en-US" dirty="0"/>
          </a:p>
        </p:txBody>
      </p:sp>
      <p:pic>
        <p:nvPicPr>
          <p:cNvPr id="7" name="Picture 6">
            <a:extLst>
              <a:ext uri="{FF2B5EF4-FFF2-40B4-BE49-F238E27FC236}">
                <a16:creationId xmlns:a16="http://schemas.microsoft.com/office/drawing/2014/main" id="{B835FA3A-8C8C-C1D2-BAB7-626F5614EB02}"/>
              </a:ext>
            </a:extLst>
          </p:cNvPr>
          <p:cNvPicPr>
            <a:picLocks noChangeAspect="1"/>
          </p:cNvPicPr>
          <p:nvPr/>
        </p:nvPicPr>
        <p:blipFill>
          <a:blip r:embed="rId2"/>
          <a:stretch>
            <a:fillRect/>
          </a:stretch>
        </p:blipFill>
        <p:spPr>
          <a:xfrm>
            <a:off x="3516923" y="422031"/>
            <a:ext cx="6886876" cy="5697415"/>
          </a:xfrm>
          <a:prstGeom prst="rect">
            <a:avLst/>
          </a:prstGeom>
        </p:spPr>
      </p:pic>
    </p:spTree>
    <p:extLst>
      <p:ext uri="{BB962C8B-B14F-4D97-AF65-F5344CB8AC3E}">
        <p14:creationId xmlns:p14="http://schemas.microsoft.com/office/powerpoint/2010/main" val="1744298247"/>
      </p:ext>
    </p:extLst>
  </p:cSld>
  <p:clrMapOvr>
    <a:masterClrMapping/>
  </p:clrMapOvr>
  <p:timing>
    <p:tnLst>
      <p:par>
        <p:cTn id="1" dur="indefinite" restart="never" nodeType="tmRoot"/>
      </p:par>
    </p:tnLst>
  </p:timing>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7135</TotalTime>
  <Words>5542</Words>
  <Application>Microsoft Office PowerPoint</Application>
  <PresentationFormat>Widescreen</PresentationFormat>
  <Paragraphs>579</Paragraphs>
  <Slides>87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Arial</vt:lpstr>
      <vt:lpstr>Calibri</vt:lpstr>
      <vt:lpstr>Corbel</vt:lpstr>
      <vt:lpstr>Courier New</vt:lpstr>
      <vt:lpstr>Wingdings 2</vt:lpstr>
      <vt:lpstr>Frame</vt:lpstr>
      <vt:lpstr>Programming of ARM7 Peripherals using C</vt:lpstr>
      <vt:lpstr>6.1 ARM7 SoC</vt:lpstr>
      <vt:lpstr>Features of LPC 214x series</vt:lpstr>
      <vt:lpstr>Features of LPC 214x series contd…</vt:lpstr>
      <vt:lpstr>Features of LPC 214x series contd…</vt:lpstr>
      <vt:lpstr>Important Features</vt:lpstr>
      <vt:lpstr>Important Features contd…</vt:lpstr>
      <vt:lpstr>PowerPoint Presentation</vt:lpstr>
      <vt:lpstr>Few peripherals</vt:lpstr>
      <vt:lpstr>Memory map of LPC214x</vt:lpstr>
      <vt:lpstr>Few peripherals</vt:lpstr>
      <vt:lpstr>Few peripherals</vt:lpstr>
      <vt:lpstr>Crystal oscillator and PLL</vt:lpstr>
      <vt:lpstr>VPB divider</vt:lpstr>
      <vt:lpstr>VPB divider connection</vt:lpstr>
      <vt:lpstr>Low power modes</vt:lpstr>
      <vt:lpstr>Wake up timer</vt:lpstr>
      <vt:lpstr>RESET</vt:lpstr>
      <vt:lpstr>Reset sources and wake up timer</vt:lpstr>
      <vt:lpstr>What does the glitch filter do?</vt:lpstr>
      <vt:lpstr>Memory mapping control</vt:lpstr>
      <vt:lpstr>Memory mapping control contd…</vt:lpstr>
      <vt:lpstr>Internal Bus</vt:lpstr>
      <vt:lpstr>Internal bus</vt:lpstr>
      <vt:lpstr>Pheripherals</vt:lpstr>
      <vt:lpstr>General purpose input output</vt:lpstr>
      <vt:lpstr>Pin select block</vt:lpstr>
      <vt:lpstr>Four functions of P0.19</vt:lpstr>
      <vt:lpstr>Relevant bits of PINSEL0</vt:lpstr>
      <vt:lpstr>Using GPIO pins</vt:lpstr>
      <vt:lpstr>Using GPIO pins</vt:lpstr>
      <vt:lpstr>Functions of GPIO registers</vt:lpstr>
      <vt:lpstr>Functions of GPIO registers</vt:lpstr>
      <vt:lpstr>IPOIN register</vt:lpstr>
      <vt:lpstr>Functions of GPIO registers</vt:lpstr>
      <vt:lpstr>Functions of GPIO registers</vt:lpstr>
      <vt:lpstr>Output wave forms at P0.0</vt:lpstr>
      <vt:lpstr>Output wave forms at P1.28</vt:lpstr>
      <vt:lpstr>Output wave forms at P1.28</vt:lpstr>
      <vt:lpstr>6.1.5.2 Timers</vt:lpstr>
      <vt:lpstr>Operation as an interval timer</vt:lpstr>
      <vt:lpstr>Registers for using the timer in the polled mode</vt:lpstr>
      <vt:lpstr>Operation as an interval timer</vt:lpstr>
      <vt:lpstr>6.1.5.2.2 Registers for timing operation</vt:lpstr>
      <vt:lpstr>Registers for timing operation</vt:lpstr>
      <vt:lpstr>Registers for timing operation</vt:lpstr>
      <vt:lpstr>Generating Square wave </vt:lpstr>
      <vt:lpstr>Generating Square wave  steps</vt:lpstr>
      <vt:lpstr>Frequency Calculation</vt:lpstr>
      <vt:lpstr>Frequency Calculation contd…</vt:lpstr>
      <vt:lpstr>Vectored Interrupt Controller</vt:lpstr>
      <vt:lpstr>Interrupt Sources</vt:lpstr>
      <vt:lpstr>Important registers of VIC</vt:lpstr>
      <vt:lpstr>Bit Definitions of VIC</vt:lpstr>
      <vt:lpstr>Vector control register (VIC Vect CntIO-15)</vt:lpstr>
      <vt:lpstr>Vector address register (VIC VectAdd)</vt:lpstr>
      <vt:lpstr>Timer 0 interrupt register (T0IR)</vt:lpstr>
      <vt:lpstr>Timer 0 interrupt register (T0IR)</vt:lpstr>
      <vt:lpstr>Pulse Width Modulator</vt:lpstr>
      <vt:lpstr>Pulse Width Modulator</vt:lpstr>
      <vt:lpstr>Pulse Width Modulator contd…</vt:lpstr>
      <vt:lpstr>Pulse Width Modulator</vt:lpstr>
      <vt:lpstr>How does the PWM unit function?</vt:lpstr>
      <vt:lpstr>PWM waveform</vt:lpstr>
      <vt:lpstr>PWM waveform</vt:lpstr>
      <vt:lpstr>PWM waveform</vt:lpstr>
      <vt:lpstr>Registers of PWM unit</vt:lpstr>
      <vt:lpstr>PWM Control Register (PWMPCR)</vt:lpstr>
      <vt:lpstr>PWM Control Register (PWMPCR) contd…</vt:lpstr>
      <vt:lpstr>PWM Timer Control Register (PWMTCR)</vt:lpstr>
      <vt:lpstr>PWM Latch Enable Register (PWMLER)</vt:lpstr>
      <vt:lpstr>PWM match Registers</vt:lpstr>
      <vt:lpstr>PWM prescale register (PWMPR)</vt:lpstr>
      <vt:lpstr>Universal asynchronous receiver/transmitter</vt:lpstr>
      <vt:lpstr>Serial data transmission and reception</vt:lpstr>
      <vt:lpstr>Serial data transmission and reception contd</vt:lpstr>
      <vt:lpstr>Serial data transmission and reception contd</vt:lpstr>
      <vt:lpstr>Serial data transmission and reception contd</vt:lpstr>
      <vt:lpstr>The BAUD Rate Generator</vt:lpstr>
      <vt:lpstr>Registers of UART0</vt:lpstr>
      <vt:lpstr>Registers of UAER0 contd</vt:lpstr>
      <vt:lpstr>UART0 transmit holding register (U0THR)</vt:lpstr>
      <vt:lpstr>UART0 FIFO control registers(U0FCR)</vt:lpstr>
      <vt:lpstr>UART0 line control register (U0LCR)</vt:lpstr>
      <vt:lpstr>UART0 line status register (U0LSR)</vt:lpstr>
      <vt:lpstr>UART0 pins in the PINSEL0 register</vt:lpstr>
      <vt:lpstr>The program simulates serial communication. A character string written in the program is transmitted, received and is displayed in the serial window.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of ARM7 Peripherals using C</dc:title>
  <dc:creator>Koushik Shankaranarayana</dc:creator>
  <cp:lastModifiedBy>Admin</cp:lastModifiedBy>
  <cp:revision>69</cp:revision>
  <dcterms:created xsi:type="dcterms:W3CDTF">2021-05-16T06:54:32Z</dcterms:created>
  <dcterms:modified xsi:type="dcterms:W3CDTF">2026-05-21T10:10:36Z</dcterms:modified>
</cp:coreProperties>
</file>