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5" r:id="rId2"/>
  </p:sldMasterIdLst>
  <p:sldIdLst>
    <p:sldId id="416" r:id="rId3"/>
    <p:sldId id="417" r:id="rId4"/>
    <p:sldId id="418" r:id="rId5"/>
    <p:sldId id="419" r:id="rId6"/>
    <p:sldId id="420" r:id="rId7"/>
    <p:sldId id="421" r:id="rId8"/>
    <p:sldId id="422" r:id="rId9"/>
    <p:sldId id="423" r:id="rId10"/>
    <p:sldId id="424" r:id="rId11"/>
    <p:sldId id="425" r:id="rId12"/>
    <p:sldId id="336" r:id="rId13"/>
    <p:sldId id="358" r:id="rId14"/>
    <p:sldId id="426" r:id="rId15"/>
    <p:sldId id="427" r:id="rId16"/>
    <p:sldId id="428" r:id="rId17"/>
    <p:sldId id="429" r:id="rId18"/>
    <p:sldId id="430" r:id="rId19"/>
    <p:sldId id="431" r:id="rId20"/>
    <p:sldId id="432" r:id="rId21"/>
    <p:sldId id="433" r:id="rId22"/>
    <p:sldId id="434" r:id="rId23"/>
    <p:sldId id="435" r:id="rId24"/>
    <p:sldId id="436" r:id="rId25"/>
    <p:sldId id="437" r:id="rId26"/>
    <p:sldId id="438" r:id="rId27"/>
    <p:sldId id="439" r:id="rId28"/>
    <p:sldId id="440" r:id="rId29"/>
    <p:sldId id="441" r:id="rId30"/>
    <p:sldId id="497" r:id="rId31"/>
    <p:sldId id="442" r:id="rId32"/>
    <p:sldId id="443" r:id="rId33"/>
    <p:sldId id="444" r:id="rId34"/>
    <p:sldId id="445" r:id="rId35"/>
    <p:sldId id="446" r:id="rId36"/>
    <p:sldId id="447" r:id="rId37"/>
    <p:sldId id="448" r:id="rId38"/>
    <p:sldId id="449" r:id="rId39"/>
    <p:sldId id="450" r:id="rId40"/>
    <p:sldId id="451" r:id="rId41"/>
    <p:sldId id="452" r:id="rId42"/>
    <p:sldId id="453" r:id="rId43"/>
    <p:sldId id="454" r:id="rId44"/>
    <p:sldId id="455" r:id="rId45"/>
    <p:sldId id="456" r:id="rId46"/>
    <p:sldId id="457" r:id="rId47"/>
    <p:sldId id="458" r:id="rId48"/>
    <p:sldId id="459" r:id="rId49"/>
    <p:sldId id="460" r:id="rId50"/>
    <p:sldId id="461" r:id="rId51"/>
    <p:sldId id="462" r:id="rId52"/>
    <p:sldId id="463" r:id="rId53"/>
    <p:sldId id="486" r:id="rId54"/>
    <p:sldId id="487" r:id="rId55"/>
    <p:sldId id="488" r:id="rId56"/>
    <p:sldId id="489" r:id="rId57"/>
    <p:sldId id="490" r:id="rId58"/>
    <p:sldId id="491" r:id="rId59"/>
    <p:sldId id="492" r:id="rId60"/>
    <p:sldId id="493" r:id="rId61"/>
    <p:sldId id="494" r:id="rId62"/>
    <p:sldId id="495" r:id="rId63"/>
    <p:sldId id="496" r:id="rId64"/>
    <p:sldId id="464" r:id="rId65"/>
    <p:sldId id="479" r:id="rId66"/>
    <p:sldId id="465" r:id="rId67"/>
    <p:sldId id="466" r:id="rId68"/>
    <p:sldId id="484" r:id="rId69"/>
    <p:sldId id="467" r:id="rId70"/>
    <p:sldId id="468" r:id="rId71"/>
    <p:sldId id="480" r:id="rId72"/>
    <p:sldId id="469" r:id="rId73"/>
    <p:sldId id="471" r:id="rId74"/>
    <p:sldId id="485" r:id="rId75"/>
    <p:sldId id="472" r:id="rId76"/>
    <p:sldId id="473" r:id="rId77"/>
    <p:sldId id="474" r:id="rId78"/>
    <p:sldId id="475" r:id="rId79"/>
    <p:sldId id="476" r:id="rId80"/>
    <p:sldId id="477" r:id="rId81"/>
    <p:sldId id="481" r:id="rId82"/>
    <p:sldId id="478" r:id="rId83"/>
    <p:sldId id="482" r:id="rId84"/>
    <p:sldId id="483" r:id="rId8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816" y="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tableStyles" Target="tableStyles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viewProps" Target="viewProps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D9BD2D-6EF9-4018-9E13-14F1BA41D435}" type="datetimeFigureOut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21-05-2026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0F6AD5-BC14-4DFB-886E-615DD8CBB5F6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0665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D9BD2D-6EF9-4018-9E13-14F1BA41D435}" type="datetimeFigureOut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21-05-2026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0F6AD5-BC14-4DFB-886E-615DD8CBB5F6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358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D9BD2D-6EF9-4018-9E13-14F1BA41D435}" type="datetimeFigureOut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21-05-2026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0F6AD5-BC14-4DFB-886E-615DD8CBB5F6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0625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D9BD2D-6EF9-4018-9E13-14F1BA41D435}" type="datetimeFigureOut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21-05-2026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0F6AD5-BC14-4DFB-886E-615DD8CBB5F6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9680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D9BD2D-6EF9-4018-9E13-14F1BA41D435}" type="datetimeFigureOut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21-05-2026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0F6AD5-BC14-4DFB-886E-615DD8CBB5F6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3021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D9BD2D-6EF9-4018-9E13-14F1BA41D435}" type="datetimeFigureOut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21-05-2026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0F6AD5-BC14-4DFB-886E-615DD8CBB5F6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3838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D9BD2D-6EF9-4018-9E13-14F1BA41D435}" type="datetimeFigureOut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21-05-2026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0F6AD5-BC14-4DFB-886E-615DD8CBB5F6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537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D9BD2D-6EF9-4018-9E13-14F1BA41D435}" type="datetimeFigureOut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21-05-2026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0F6AD5-BC14-4DFB-886E-615DD8CBB5F6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5591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D9BD2D-6EF9-4018-9E13-14F1BA41D435}" type="datetimeFigureOut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21-05-2026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0F6AD5-BC14-4DFB-886E-615DD8CBB5F6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2875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D9BD2D-6EF9-4018-9E13-14F1BA41D435}" type="datetimeFigureOut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21-05-2026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0F6AD5-BC14-4DFB-886E-615DD8CBB5F6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4877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D9BD2D-6EF9-4018-9E13-14F1BA41D435}" type="datetimeFigureOut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21-05-2026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0F6AD5-BC14-4DFB-886E-615DD8CBB5F6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2431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36700" y="614553"/>
            <a:ext cx="9918598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4394" y="4111879"/>
            <a:ext cx="9443211" cy="756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25252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21132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ED79D-1E5E-DC74-E3D7-8499C7DA83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ADC013-0D88-D113-0C9F-1E7D309CB7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8D456F-7E57-F1D5-B54D-27A9E96B3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DE8C1-F190-4AE8-98EC-0F13E477CCB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0EB963-E50C-5016-90F0-6F89E1DFB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D1159B-3497-9706-3654-7D4E57CB6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49C9F-A0EC-4373-8527-34C06BD7CE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9130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CCFCD-E1F5-5AA7-BB04-2CA354B1A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2C217-A528-E077-E891-7F24C9706C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FADE6A-7AB9-6A6F-8683-F28F8F5C0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DE8C1-F190-4AE8-98EC-0F13E477CCB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400850-6A44-A40F-F17F-3A79A6A14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33B298-B74A-7EE0-C5FE-93C094F3E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49C9F-A0EC-4373-8527-34C06BD7CE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1759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45B3B-ACD1-1F29-2A73-D365613F8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849DF4-088F-BA14-3CA3-7C9374CA8B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3B64D2-F2C1-664D-E673-6A8411667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DE8C1-F190-4AE8-98EC-0F13E477CCB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FE23A7-3679-B853-1F54-981D86E4F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C9D0A5-6D3D-1D8D-3F2E-B76CD1718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49C9F-A0EC-4373-8527-34C06BD7CE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1654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7E3DC-AD11-B565-3BF5-13680201C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36DA5-FE18-C009-B217-2105FABE3F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A63C1D-7B41-5C05-6BFC-B764A945FA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88EE74-FEBD-5B98-273A-DCC579137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DE8C1-F190-4AE8-98EC-0F13E477CCB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46BF4-7B76-A6AF-2FF2-00609A58A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FC2930-E966-D655-F78B-181FE97B2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49C9F-A0EC-4373-8527-34C06BD7CE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105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DA32D-3520-12B7-2AFB-11E05A0B4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D72206-268F-975E-344B-96A4B7D984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0502F2-EE2D-C932-0468-A8D43C096E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58ECFC-CEAA-DBD5-0247-FF5B3A40E0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331AA0-4566-C402-711D-DD19A0EA8E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96B95A-C4B9-573A-5BB4-B633FE551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DE8C1-F190-4AE8-98EC-0F13E477CCB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D91C89-2DCD-FF30-A829-6EACC6E37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DD96F6-4BF1-7D27-06DC-ED706586B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49C9F-A0EC-4373-8527-34C06BD7CE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8411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50E50-D097-166E-5E2D-085C0DF6E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359FE0-A12E-DEB3-F9EC-BF3DA676F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DE8C1-F190-4AE8-98EC-0F13E477CCB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0BC23C-BDD0-5650-B55F-B9E1885FD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8CE62D-2B71-EE1E-C9FD-1A7951001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49C9F-A0EC-4373-8527-34C06BD7CE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95059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3F5D20-9B03-08A6-2618-09F6BACD4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DE8C1-F190-4AE8-98EC-0F13E477CCB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CE3CE9-925B-1999-3C43-E3258278F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6321F8-560D-1691-E6F3-C94CB5C3A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49C9F-A0EC-4373-8527-34C06BD7CE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54625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C441D-48DB-2FAB-A2DB-32FAE89D7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1C852-B3CC-31F7-99AB-5C253E21E9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011CDF-2C4B-700E-0CCE-FFF72B61A7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F95FBD-3735-0CAC-BAF5-A21B09E10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DE8C1-F190-4AE8-98EC-0F13E477CCB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BD49D1-94BC-3F64-D427-683E298F7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4171E2-6E72-7BFD-4339-C55B65079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49C9F-A0EC-4373-8527-34C06BD7CE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0472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B72BA-1E3B-8298-A142-53B3A7BDA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9C826D-C36D-B4AA-2744-063C85674C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DABA2F-C04B-C244-CABC-CF64F2F940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D6F7DE-B63C-B177-3E6E-02240FAEA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DE8C1-F190-4AE8-98EC-0F13E477CCB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C6E747-23E8-4C9C-2096-87FF65DC5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FB8A1-8E63-EE54-1553-D3616C82C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49C9F-A0EC-4373-8527-34C06BD7CE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4890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0E540-D305-ED82-6E69-0B869FE81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748FE4-AD52-6D14-A000-C1D50AF74A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D586E9-947D-6080-BE30-D7159E840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DE8C1-F190-4AE8-98EC-0F13E477CCB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E6A0D8-C1B4-9D1D-B59E-67D627994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C4211-43AF-E6E8-2A60-3068D36D0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49C9F-A0EC-4373-8527-34C06BD7CE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0257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046675-0AA3-1DBC-17D9-F6ED73A563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02ABE0-63A0-49A3-A1F9-20E49177BF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26C1F-3CBA-9941-D66C-DA2DEF843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DE8C1-F190-4AE8-98EC-0F13E477CCB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C7534D-BC77-BFF1-0089-F995F99D5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40EA6B-9152-3140-45A2-18CE6A1EF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849C9F-A0EC-4373-8527-34C06BD7CE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724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D9BD2D-6EF9-4018-9E13-14F1BA41D435}" type="datetimeFigureOut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21-05-2026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0F6AD5-BC14-4DFB-886E-615DD8CBB5F6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1281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8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9232E3-1323-A2DB-3A62-525F2AB98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6F2227-D810-B409-F21D-406CA8E9CE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8F5BF8-A494-D533-35CC-3EAA77DEBE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6DE8C1-F190-4AE8-98EC-0F13E477CCB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3409E-ED03-9208-BBD6-F9F5887C1D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7EC103-BE88-3D3F-4730-93DECA5D1A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849C9F-A0EC-4373-8527-34C06BD7CE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723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2059305"/>
          </a:xfrm>
          <a:custGeom>
            <a:avLst/>
            <a:gdLst/>
            <a:ahLst/>
            <a:cxnLst/>
            <a:rect l="l" t="t" r="r" b="b"/>
            <a:pathLst>
              <a:path w="12192000" h="2059305">
                <a:moveTo>
                  <a:pt x="0" y="2058924"/>
                </a:moveTo>
                <a:lnTo>
                  <a:pt x="12192000" y="2058924"/>
                </a:lnTo>
                <a:lnTo>
                  <a:pt x="12192000" y="0"/>
                </a:lnTo>
                <a:lnTo>
                  <a:pt x="0" y="0"/>
                </a:lnTo>
                <a:lnTo>
                  <a:pt x="0" y="2058924"/>
                </a:lnTo>
                <a:close/>
              </a:path>
            </a:pathLst>
          </a:custGeom>
          <a:solidFill>
            <a:srgbClr val="099BDD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887723"/>
            <a:ext cx="12192000" cy="2970530"/>
          </a:xfrm>
          <a:custGeom>
            <a:avLst/>
            <a:gdLst/>
            <a:ahLst/>
            <a:cxnLst/>
            <a:rect l="l" t="t" r="r" b="b"/>
            <a:pathLst>
              <a:path w="12192000" h="2970529">
                <a:moveTo>
                  <a:pt x="0" y="2970275"/>
                </a:moveTo>
                <a:lnTo>
                  <a:pt x="12192000" y="2970275"/>
                </a:lnTo>
                <a:lnTo>
                  <a:pt x="12192000" y="0"/>
                </a:lnTo>
                <a:lnTo>
                  <a:pt x="0" y="0"/>
                </a:lnTo>
                <a:lnTo>
                  <a:pt x="0" y="2970275"/>
                </a:lnTo>
                <a:close/>
              </a:path>
            </a:pathLst>
          </a:custGeom>
          <a:solidFill>
            <a:srgbClr val="099BDD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2058923"/>
            <a:ext cx="12189460" cy="1828800"/>
          </a:xfrm>
          <a:custGeom>
            <a:avLst/>
            <a:gdLst/>
            <a:ahLst/>
            <a:cxnLst/>
            <a:rect l="l" t="t" r="r" b="b"/>
            <a:pathLst>
              <a:path w="12189460" h="1828800">
                <a:moveTo>
                  <a:pt x="12188952" y="0"/>
                </a:moveTo>
                <a:lnTo>
                  <a:pt x="0" y="0"/>
                </a:lnTo>
                <a:lnTo>
                  <a:pt x="0" y="1828800"/>
                </a:lnTo>
                <a:lnTo>
                  <a:pt x="12188952" y="1828800"/>
                </a:lnTo>
                <a:lnTo>
                  <a:pt x="1218895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75889" y="2163521"/>
            <a:ext cx="6497320" cy="1507490"/>
          </a:xfrm>
          <a:prstGeom prst="rect">
            <a:avLst/>
          </a:prstGeom>
        </p:spPr>
        <p:txBody>
          <a:bodyPr vert="horz" wrap="square" lIns="0" tIns="171450" rIns="0" bIns="0" rtlCol="0">
            <a:spAutoFit/>
          </a:bodyPr>
          <a:lstStyle/>
          <a:p>
            <a:pPr marL="1736725" marR="5080" lvl="0" indent="-1724025" algn="l" defTabSz="914400" rtl="0" eaLnBrk="1" fontAlgn="auto" latinLnBrk="0" hangingPunct="1">
              <a:lnSpc>
                <a:spcPts val="5190"/>
              </a:lnSpc>
              <a:spcBef>
                <a:spcPts val="13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400" b="1" i="0" u="none" strike="noStrike" kern="1200" cap="none" spc="9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5400" b="1" i="0" u="none" strike="noStrike" kern="1200" cap="none" spc="-3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5400" b="1" i="0" u="none" strike="noStrike" kern="1200" cap="none" spc="13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rbel"/>
                <a:ea typeface="+mn-ea"/>
                <a:cs typeface="Corbel"/>
              </a:rPr>
              <a:t>ARCHITECTURE </a:t>
            </a:r>
            <a:r>
              <a:rPr kumimoji="0" sz="5400" b="1" i="0" u="none" strike="noStrike" kern="1200" cap="none" spc="-109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5400" b="1" i="0" u="none" strike="noStrike" kern="1200" cap="none" spc="7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rbel"/>
                <a:ea typeface="+mn-ea"/>
                <a:cs typeface="Corbel"/>
              </a:rPr>
              <a:t>OF</a:t>
            </a:r>
            <a:r>
              <a:rPr kumimoji="0" sz="5400" b="1" i="0" u="none" strike="noStrike" kern="1200" cap="none" spc="4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5400" b="1" i="0" u="none" strike="noStrike" kern="1200" cap="none" spc="10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rbel"/>
                <a:ea typeface="+mn-ea"/>
                <a:cs typeface="Corbel"/>
              </a:rPr>
              <a:t>ARM</a:t>
            </a:r>
            <a:r>
              <a:rPr kumimoji="0" sz="5400" b="1" i="0" u="none" strike="noStrike" kern="1200" cap="none" spc="26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5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rbel"/>
                <a:ea typeface="+mn-ea"/>
                <a:cs typeface="Corbel"/>
              </a:rPr>
              <a:t>7</a:t>
            </a:r>
            <a:endParaRPr kumimoji="0" sz="5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/>
              <a:ea typeface="+mn-ea"/>
              <a:cs typeface="Corbe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68627" y="303113"/>
            <a:ext cx="2686685" cy="1480185"/>
          </a:xfrm>
          <a:prstGeom prst="rect">
            <a:avLst/>
          </a:prstGeom>
        </p:spPr>
        <p:txBody>
          <a:bodyPr vert="horz" wrap="square" lIns="0" tIns="13081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000" b="1" i="0" u="none" strike="noStrike" kern="1200" cap="none" spc="-5" normalizeH="0" baseline="0" noProof="0" dirty="0">
                <a:ln>
                  <a:noFill/>
                </a:ln>
                <a:solidFill>
                  <a:srgbClr val="F1F1F1"/>
                </a:solidFill>
                <a:effectLst/>
                <a:uLnTx/>
                <a:uFillTx/>
                <a:latin typeface="Corbel"/>
                <a:ea typeface="+mn-ea"/>
                <a:cs typeface="Corbel"/>
              </a:rPr>
              <a:t>Unit</a:t>
            </a:r>
            <a:r>
              <a:rPr kumimoji="0" sz="4000" b="1" i="0" u="none" strike="noStrike" kern="1200" cap="none" spc="-20" normalizeH="0" baseline="0" noProof="0" dirty="0">
                <a:ln>
                  <a:noFill/>
                </a:ln>
                <a:solidFill>
                  <a:srgbClr val="F1F1F1"/>
                </a:solidFill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4000" b="1" i="0" u="none" strike="noStrike" kern="1200" cap="none" spc="-5" normalizeH="0" baseline="0" noProof="0" dirty="0">
                <a:ln>
                  <a:noFill/>
                </a:ln>
                <a:solidFill>
                  <a:srgbClr val="F1F1F1"/>
                </a:solidFill>
                <a:effectLst/>
                <a:uLnTx/>
                <a:uFillTx/>
                <a:latin typeface="Corbel"/>
                <a:ea typeface="+mn-ea"/>
                <a:cs typeface="Corbel"/>
              </a:rPr>
              <a:t>-3</a:t>
            </a:r>
            <a:endParaRPr kumimoji="0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486409" marR="0" lvl="0" indent="0" algn="l" defTabSz="914400" rtl="0" eaLnBrk="1" fontAlgn="auto" latinLnBrk="0" hangingPunct="1">
              <a:lnSpc>
                <a:spcPct val="100000"/>
              </a:lnSpc>
              <a:spcBef>
                <a:spcPts val="9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000" b="1" i="0" u="none" strike="noStrike" kern="1200" cap="none" spc="-10" normalizeH="0" baseline="0" noProof="0" dirty="0">
                <a:ln>
                  <a:noFill/>
                </a:ln>
                <a:solidFill>
                  <a:srgbClr val="F1F1F1"/>
                </a:solidFill>
                <a:effectLst/>
                <a:uLnTx/>
                <a:uFillTx/>
                <a:latin typeface="Corbel"/>
                <a:ea typeface="+mn-ea"/>
                <a:cs typeface="Corbel"/>
              </a:rPr>
              <a:t>Chapter-4</a:t>
            </a:r>
            <a:endParaRPr kumimoji="0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/>
              <a:ea typeface="+mn-ea"/>
              <a:cs typeface="Corbel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38220" y="861821"/>
            <a:ext cx="406146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>
                <a:latin typeface="Corbel"/>
                <a:cs typeface="Corbel"/>
              </a:rPr>
              <a:t>INTRODUCTION</a:t>
            </a:r>
            <a:endParaRPr sz="4400"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9953" y="1862938"/>
            <a:ext cx="11600180" cy="3871573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195580" marR="0" lvl="0" indent="-182880" algn="just" defTabSz="914400" rtl="0" eaLnBrk="1" fontAlgn="auto" latinLnBrk="0" hangingPunct="1">
              <a:lnSpc>
                <a:spcPct val="100000"/>
              </a:lnSpc>
              <a:spcBef>
                <a:spcPts val="1110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current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world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embedded</a:t>
            </a:r>
            <a:r>
              <a:rPr kumimoji="0" sz="3200" b="0" i="0" u="none" strike="noStrike" kern="1200" cap="none" spc="-6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systems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5580" marR="0" lvl="0" indent="-182880" algn="just" defTabSz="914400" rtl="0" eaLnBrk="1" fontAlgn="auto" latinLnBrk="0" hangingPunct="1">
              <a:lnSpc>
                <a:spcPct val="100000"/>
              </a:lnSpc>
              <a:spcBef>
                <a:spcPts val="1010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ARM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processor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has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made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its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mark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almost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all</a:t>
            </a:r>
            <a:r>
              <a:rPr kumimoji="0" sz="3200" b="0" i="0" u="none" strike="noStrike" kern="1200" cap="none" spc="-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high-end</a:t>
            </a:r>
            <a:r>
              <a:rPr kumimoji="0" sz="3200" b="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devices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4945" marR="5715" lvl="0" indent="-182880" algn="just" defTabSz="914400" rtl="0" eaLnBrk="1" fontAlgn="auto" latinLnBrk="0" hangingPunct="1">
              <a:lnSpc>
                <a:spcPts val="3460"/>
              </a:lnSpc>
              <a:spcBef>
                <a:spcPts val="1450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It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might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be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mobile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phone,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automotive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hardware,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factories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or </a:t>
            </a:r>
            <a:r>
              <a:rPr kumimoji="0" sz="3200" b="0" i="0" u="none" strike="noStrike" kern="1200" cap="none" spc="-6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aircrafts</a:t>
            </a:r>
          </a:p>
          <a:p>
            <a:pPr marL="194945" marR="5080" lvl="0" indent="-182880" algn="just" defTabSz="914400" rtl="0" eaLnBrk="1" fontAlgn="auto" latinLnBrk="0" hangingPunct="1">
              <a:lnSpc>
                <a:spcPts val="346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first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popular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one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in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this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series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is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ARM7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which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was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used 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extensively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Apple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IPods,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PDAs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(Personal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Digital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Assistant)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and </a:t>
            </a:r>
            <a:r>
              <a:rPr kumimoji="0" sz="3200" b="0" i="0" u="none" strike="noStrike" kern="1200" cap="none" spc="-6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many</a:t>
            </a:r>
            <a:r>
              <a:rPr kumimoji="0" sz="3200" b="0" i="0" u="none" strike="noStrike" kern="1200" cap="none" spc="-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other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applications.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14094" y="952880"/>
            <a:ext cx="74961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70" dirty="0">
                <a:latin typeface="Corbel"/>
                <a:cs typeface="Corbel"/>
              </a:rPr>
              <a:t> </a:t>
            </a:r>
            <a:r>
              <a:rPr sz="4000" spc="-10" dirty="0">
                <a:latin typeface="Corbel"/>
                <a:cs typeface="Corbel"/>
              </a:rPr>
              <a:t>ARM</a:t>
            </a:r>
            <a:r>
              <a:rPr sz="4000" spc="-185" dirty="0">
                <a:latin typeface="Corbel"/>
                <a:cs typeface="Corbel"/>
              </a:rPr>
              <a:t> </a:t>
            </a:r>
            <a:r>
              <a:rPr sz="4000" spc="-5" dirty="0">
                <a:latin typeface="Corbel"/>
                <a:cs typeface="Corbel"/>
              </a:rPr>
              <a:t>AS</a:t>
            </a:r>
            <a:r>
              <a:rPr sz="4000" spc="-175" dirty="0">
                <a:latin typeface="Corbel"/>
                <a:cs typeface="Corbel"/>
              </a:rPr>
              <a:t> </a:t>
            </a:r>
            <a:r>
              <a:rPr sz="4000" spc="-5" dirty="0">
                <a:latin typeface="Corbel"/>
                <a:cs typeface="Corbel"/>
              </a:rPr>
              <a:t>A</a:t>
            </a:r>
            <a:r>
              <a:rPr sz="4000" spc="-10" dirty="0">
                <a:latin typeface="Corbel"/>
                <a:cs typeface="Corbel"/>
              </a:rPr>
              <a:t> </a:t>
            </a:r>
            <a:r>
              <a:rPr sz="4000" spc="-5" dirty="0">
                <a:latin typeface="Corbel"/>
                <a:cs typeface="Corbel"/>
              </a:rPr>
              <a:t>RISC</a:t>
            </a:r>
            <a:r>
              <a:rPr sz="4000" spc="5" dirty="0">
                <a:latin typeface="Corbel"/>
                <a:cs typeface="Corbel"/>
              </a:rPr>
              <a:t> </a:t>
            </a:r>
            <a:r>
              <a:rPr sz="4000" spc="-5" dirty="0">
                <a:latin typeface="Corbel"/>
                <a:cs typeface="Corbel"/>
              </a:rPr>
              <a:t>PROCESSOR</a:t>
            </a:r>
            <a:endParaRPr sz="4000" dirty="0"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7568" y="1950967"/>
            <a:ext cx="11764010" cy="3586238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1105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82880" algn="l"/>
              </a:tabLst>
              <a:defRPr/>
            </a:pP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This</a:t>
            </a:r>
            <a:r>
              <a:rPr kumimoji="0" sz="32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powerful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processor is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designated</a:t>
            </a:r>
            <a:r>
              <a:rPr kumimoji="0" sz="3200" b="0" i="0" u="none" strike="noStrike" kern="1200" cap="none" spc="-4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as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RISC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processor.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1005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82880" algn="l"/>
              </a:tabLst>
              <a:defRPr/>
            </a:pP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RISC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stands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for 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Reduced</a:t>
            </a:r>
            <a:r>
              <a:rPr kumimoji="0" sz="3200" b="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Instruction</a:t>
            </a:r>
            <a:r>
              <a:rPr kumimoji="0" sz="3200" b="0" i="0" u="none" strike="noStrike" kern="1200" cap="none" spc="-10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Set</a:t>
            </a:r>
            <a:r>
              <a:rPr kumimoji="0" sz="3200" b="0" i="0" u="none" strike="noStrike" kern="1200" cap="none" spc="-15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Computer.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1025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82880" algn="l"/>
              </a:tabLst>
              <a:defRPr/>
            </a:pP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 RISC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architecture</a:t>
            </a:r>
            <a:r>
              <a:rPr kumimoji="0" sz="3200" b="0" i="0" u="none" strike="noStrike" kern="1200" cap="none" spc="-4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has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only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simple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instructions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realized</a:t>
            </a:r>
            <a:r>
              <a:rPr kumimoji="0" sz="3200" b="0" i="0" u="none" strike="noStrike" kern="1200" cap="none" spc="-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hardware.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82245" marR="0" lvl="0" indent="-182880" algn="l" defTabSz="914400" rtl="0" eaLnBrk="1" fontAlgn="auto" latinLnBrk="0" hangingPunct="1">
              <a:lnSpc>
                <a:spcPts val="3460"/>
              </a:lnSpc>
              <a:spcBef>
                <a:spcPts val="1450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82880" algn="l"/>
                <a:tab pos="1836420" algn="l"/>
                <a:tab pos="3801110" algn="l"/>
                <a:tab pos="4502150" algn="l"/>
                <a:tab pos="5621020" algn="l"/>
                <a:tab pos="7154545" algn="l"/>
                <a:tab pos="7730490" algn="l"/>
                <a:tab pos="9077960" algn="l"/>
                <a:tab pos="10862945" algn="l"/>
              </a:tabLst>
              <a:defRPr/>
            </a:pP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Co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plex	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operat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on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	are	ma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d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	pos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sibl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	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y	writing	progra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	using 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these</a:t>
            </a:r>
            <a:r>
              <a:rPr kumimoji="0" sz="3200" b="0" i="0" u="none" strike="noStrike" kern="1200" cap="none" spc="-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simple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instructions.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9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Wingdings"/>
              <a:ea typeface="+mn-ea"/>
              <a:cs typeface="Wingding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5297" y="1973427"/>
            <a:ext cx="11457940" cy="2345514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1955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1110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3200" b="0" i="0" u="none" strike="noStrike" kern="1200" cap="none" spc="-10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To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elaborate,</a:t>
            </a:r>
            <a:r>
              <a:rPr kumimoji="0" sz="3200" b="0" i="0" u="none" strike="noStrike" kern="1200" cap="none" spc="-4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think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 the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'divide'</a:t>
            </a:r>
            <a:r>
              <a:rPr kumimoji="0" sz="3200" b="0" i="0" u="none" strike="noStrike" kern="1200" cap="none" spc="-4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operation.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55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1010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RISC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processors</a:t>
            </a:r>
            <a:r>
              <a:rPr kumimoji="0" sz="3200" b="0" i="0" u="none" strike="noStrike" kern="1200" cap="none" spc="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do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not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have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an</a:t>
            </a:r>
            <a:r>
              <a:rPr kumimoji="0" sz="32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instruction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for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division</a:t>
            </a:r>
          </a:p>
          <a:p>
            <a:pPr marL="194945" marR="5080" lvl="0" indent="-182880" algn="l" defTabSz="914400" rtl="0" eaLnBrk="1" fontAlgn="auto" latinLnBrk="0" hangingPunct="1">
              <a:lnSpc>
                <a:spcPts val="3460"/>
              </a:lnSpc>
              <a:spcBef>
                <a:spcPts val="1450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</a:t>
            </a:r>
            <a:r>
              <a:rPr kumimoji="0" sz="3200" b="0" i="0" u="none" strike="noStrike" kern="1200" cap="none" spc="34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program</a:t>
            </a:r>
            <a:r>
              <a:rPr kumimoji="0" sz="3200" b="0" i="0" u="none" strike="noStrike" kern="1200" cap="none" spc="33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that</a:t>
            </a:r>
            <a:r>
              <a:rPr kumimoji="0" sz="3200" b="0" i="0" u="none" strike="noStrike" kern="1200" cap="none" spc="3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does</a:t>
            </a:r>
            <a:r>
              <a:rPr kumimoji="0" sz="3200" b="0" i="0" u="none" strike="noStrike" kern="1200" cap="none" spc="33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repeated</a:t>
            </a:r>
            <a:r>
              <a:rPr kumimoji="0" sz="3200" b="0" i="0" u="none" strike="noStrike" kern="1200" cap="none" spc="34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subtraction</a:t>
            </a:r>
            <a:r>
              <a:rPr kumimoji="0" sz="3200" b="0" i="0" u="none" strike="noStrike" kern="1200" cap="none" spc="34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</a:t>
            </a:r>
            <a:r>
              <a:rPr kumimoji="0" sz="3200" b="0" i="0" u="none" strike="noStrike" kern="1200" cap="none" spc="33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</a:t>
            </a:r>
            <a:r>
              <a:rPr kumimoji="0" sz="3200" b="0" i="0" u="none" strike="noStrike" kern="1200" cap="none" spc="34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method</a:t>
            </a:r>
            <a:r>
              <a:rPr kumimoji="0" sz="3200" b="0" i="0" u="none" strike="noStrike" kern="1200" cap="none" spc="33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</a:t>
            </a:r>
            <a:r>
              <a:rPr kumimoji="0" sz="3200" b="0" i="0" u="none" strike="noStrike" kern="1200" cap="none" spc="34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getting </a:t>
            </a:r>
            <a:r>
              <a:rPr kumimoji="0" sz="3200" b="0" i="0" u="none" strike="noStrike" kern="1200" cap="none" spc="-6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division</a:t>
            </a:r>
            <a:r>
              <a:rPr kumimoji="0" sz="32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done.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1155" y="1970658"/>
            <a:ext cx="11704955" cy="3623428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82880" marR="0" lvl="0" indent="-182880" algn="just" defTabSz="914400" rtl="0" eaLnBrk="1" fontAlgn="auto" latinLnBrk="0" hangingPunct="1">
              <a:lnSpc>
                <a:spcPts val="3460"/>
              </a:lnSpc>
              <a:spcBef>
                <a:spcPts val="535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82880" algn="l"/>
              </a:tabLst>
              <a:defRPr/>
            </a:pP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advantage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that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absence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a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dedicated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division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unit 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reduces the complexity of the 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processor,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and also 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leads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to less power </a:t>
            </a:r>
            <a:r>
              <a:rPr kumimoji="0" sz="3200" b="0" i="0" u="none" strike="noStrike" kern="1200" cap="none" spc="-6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dissipation.</a:t>
            </a:r>
          </a:p>
          <a:p>
            <a:pPr marL="182880" marR="0" lvl="0" indent="-182880" algn="just" defTabSz="914400" rtl="0" eaLnBrk="1" fontAlgn="auto" latinLnBrk="0" hangingPunct="1">
              <a:lnSpc>
                <a:spcPts val="3460"/>
              </a:lnSpc>
              <a:spcBef>
                <a:spcPts val="1380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82880" algn="l"/>
              </a:tabLst>
              <a:defRPr/>
            </a:pP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 disadvantage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that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division in RISC is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not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as fast as in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CISC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(Complex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Instruction</a:t>
            </a:r>
            <a:r>
              <a:rPr kumimoji="0" sz="3200" b="0" i="0" u="none" strike="noStrike" kern="1200" cap="none" spc="-10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Set</a:t>
            </a:r>
            <a:r>
              <a:rPr kumimoji="0" sz="3200" b="0" i="0" u="none" strike="noStrike" kern="1200" cap="none" spc="-14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Computer).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245110" marR="0" lvl="0" indent="-245745" algn="just" defTabSz="914400" rtl="0" eaLnBrk="1" fontAlgn="auto" latinLnBrk="0" hangingPunct="1">
              <a:lnSpc>
                <a:spcPct val="100000"/>
              </a:lnSpc>
              <a:spcBef>
                <a:spcPts val="965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245745" algn="l"/>
              </a:tabLst>
              <a:defRPr/>
            </a:pP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ARM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design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started</a:t>
            </a:r>
            <a:r>
              <a:rPr kumimoji="0" sz="32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as a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pure RISC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architecture.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Wingdings"/>
              <a:ea typeface="+mn-ea"/>
              <a:cs typeface="Wingding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7187" y="1087824"/>
            <a:ext cx="11477625" cy="823174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ts val="2860"/>
              </a:lnSpc>
              <a:spcBef>
                <a:spcPts val="6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Some</a:t>
            </a:r>
            <a:r>
              <a:rPr kumimoji="0" lang="en-IN" sz="2800" b="0" i="0" u="none" strike="noStrike" kern="1200" cap="none" spc="-9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lang="en-IN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</a:t>
            </a:r>
            <a:r>
              <a:rPr kumimoji="0" lang="en-IN" sz="2800" b="0" i="0" u="none" strike="noStrike" kern="1200" cap="none" spc="-19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lang="en-IN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lang="en-IN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lang="en-IN" sz="2800" b="0" i="0" u="none" strike="noStrike" kern="1200" cap="none" spc="-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features</a:t>
            </a:r>
            <a:r>
              <a:rPr kumimoji="0" lang="en-IN" sz="2800" b="0" i="0" u="none" strike="noStrike" kern="1200" cap="none" spc="-8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lang="en-IN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added</a:t>
            </a:r>
            <a:r>
              <a:rPr kumimoji="0" lang="en-IN" sz="2800" b="0" i="0" u="none" strike="noStrike" kern="1200" cap="none" spc="-19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lang="en-IN" sz="2800" b="0" i="0" u="none" strike="noStrike" kern="1200" cap="none" spc="-4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to</a:t>
            </a:r>
            <a:r>
              <a:rPr kumimoji="0" lang="en-IN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lang="en-IN" sz="2800" b="0" i="0" u="none" strike="noStrike" kern="1200" cap="none" spc="-4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later</a:t>
            </a:r>
            <a:r>
              <a:rPr kumimoji="0" lang="en-IN" sz="2800" b="0" i="0" u="none" strike="noStrike" kern="1200" cap="none" spc="-8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lang="en-IN" sz="28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generations,</a:t>
            </a:r>
            <a:r>
              <a:rPr kumimoji="0" lang="en-IN" sz="2800" b="0" i="0" u="none" strike="noStrike" kern="1200" cap="none" spc="4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lang="en-IN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for</a:t>
            </a:r>
            <a:r>
              <a:rPr kumimoji="0" lang="en-IN" sz="28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lang="en-IN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making</a:t>
            </a:r>
            <a:r>
              <a:rPr kumimoji="0" lang="en-IN" sz="2800" b="0" i="0" u="none" strike="noStrike" kern="1200" cap="none" spc="4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lang="en-IN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it </a:t>
            </a:r>
            <a:r>
              <a:rPr kumimoji="0" lang="en-IN" sz="2800" b="0" i="0" u="none" strike="noStrike" kern="1200" cap="none" spc="-54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lang="en-IN" sz="2800" spc="-5" dirty="0">
                <a:latin typeface="Corbel"/>
                <a:cs typeface="Corbel"/>
              </a:rPr>
              <a:t>a</a:t>
            </a:r>
            <a:r>
              <a:rPr kumimoji="0" lang="en-IN" sz="2800" b="0" i="0" u="none" strike="noStrike" kern="1200" cap="none" spc="-19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lang="en-IN" sz="2800" b="0" i="0" u="none" strike="noStrike" kern="1200" cap="none" spc="-8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truly</a:t>
            </a:r>
            <a:r>
              <a:rPr kumimoji="0" lang="en-IN" sz="2800" b="0" i="0" u="none" strike="noStrike" kern="1200" cap="none" spc="-9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lang="en-IN" sz="2800" b="0" i="0" u="none" strike="noStrike" kern="1200" cap="none" spc="-5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computationally</a:t>
            </a:r>
            <a:r>
              <a:rPr kumimoji="0" lang="en-IN" sz="2800" b="0" i="0" u="none" strike="noStrike" kern="1200" cap="none" spc="5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lang="en-IN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intensive</a:t>
            </a:r>
            <a:r>
              <a:rPr kumimoji="0" lang="en-IN" sz="2800" b="0" i="0" u="none" strike="noStrike" kern="1200" cap="none" spc="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lang="en-IN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processor</a:t>
            </a:r>
            <a:r>
              <a:rPr kumimoji="0" lang="en-IN" sz="2800" b="0" i="0" u="none" strike="noStrike" kern="1200" cap="none" spc="-8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lang="en-IN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are</a:t>
            </a:r>
            <a:endParaRPr kumimoji="0" lang="en-IN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26844" y="3654771"/>
            <a:ext cx="7639050" cy="1725472"/>
          </a:xfrm>
          <a:prstGeom prst="rect">
            <a:avLst/>
          </a:prstGeom>
        </p:spPr>
        <p:txBody>
          <a:bodyPr vert="horz" wrap="square" lIns="0" tIns="141605" rIns="0" bIns="0" rtlCol="0">
            <a:spAutoFit/>
          </a:bodyPr>
          <a:lstStyle/>
          <a:p>
            <a:pPr marL="469900" marR="0" lvl="0" indent="-457834" algn="l" defTabSz="914400" rtl="0" eaLnBrk="1" fontAlgn="auto" latinLnBrk="0" hangingPunct="1">
              <a:lnSpc>
                <a:spcPct val="100000"/>
              </a:lnSpc>
              <a:spcBef>
                <a:spcPts val="1115"/>
              </a:spcBef>
              <a:spcAft>
                <a:spcPts val="0"/>
              </a:spcAft>
              <a:buClrTx/>
              <a:buSzTx/>
              <a:buFontTx/>
              <a:buAutoNum type="arabicPeriod" startAt="2"/>
              <a:tabLst>
                <a:tab pos="469900" algn="l"/>
                <a:tab pos="470534" algn="l"/>
              </a:tabLst>
              <a:defRPr/>
            </a:pP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Floating</a:t>
            </a:r>
            <a:r>
              <a:rPr kumimoji="0" sz="3200" b="0" i="0" u="none" strike="noStrike" kern="1200" cap="none" spc="-5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Point</a:t>
            </a:r>
            <a:r>
              <a:rPr kumimoji="0" sz="3200" b="0" i="0" u="none" strike="noStrike" kern="1200" cap="none" spc="-7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Support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469900" marR="5080" lvl="0" indent="-457834" algn="l" defTabSz="914400" rtl="0" eaLnBrk="1" fontAlgn="auto" latinLnBrk="0" hangingPunct="1">
              <a:lnSpc>
                <a:spcPts val="3460"/>
              </a:lnSpc>
              <a:spcBef>
                <a:spcPts val="1450"/>
              </a:spcBef>
              <a:spcAft>
                <a:spcPts val="0"/>
              </a:spcAft>
              <a:buClrTx/>
              <a:buSzTx/>
              <a:buFontTx/>
              <a:buAutoNum type="arabicPeriod" startAt="2"/>
              <a:tabLst>
                <a:tab pos="469900" algn="l"/>
                <a:tab pos="470534" algn="l"/>
              </a:tabLst>
              <a:defRPr/>
            </a:pP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Specialized</a:t>
            </a:r>
            <a:r>
              <a:rPr kumimoji="0" sz="3200" b="0" i="0" u="none" strike="noStrike" kern="1200" cap="none" spc="-7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DSP</a:t>
            </a:r>
            <a:r>
              <a:rPr kumimoji="0" sz="32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(Digital</a:t>
            </a:r>
            <a:r>
              <a:rPr kumimoji="0" sz="3200" b="0" i="0" u="none" strike="noStrike" kern="1200" cap="none" spc="-114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Signal</a:t>
            </a:r>
            <a:r>
              <a:rPr kumimoji="0" sz="3200" b="0" i="0" u="none" strike="noStrike" kern="1200" cap="none" spc="-4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Processing) </a:t>
            </a:r>
            <a:r>
              <a:rPr kumimoji="0" sz="3200" b="0" i="0" u="none" strike="noStrike" kern="1200" cap="none" spc="-6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instructions</a:t>
            </a: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6E0E8653-782B-8CDC-820F-3E381039EE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26844" y="3176473"/>
            <a:ext cx="908939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69900" algn="l"/>
              </a:tabLst>
            </a:pPr>
            <a:r>
              <a:rPr sz="3200" b="0" dirty="0">
                <a:solidFill>
                  <a:schemeClr val="tx1"/>
                </a:solidFill>
                <a:latin typeface="Corbel"/>
                <a:cs typeface="Corbel"/>
              </a:rPr>
              <a:t>1.	SIMD </a:t>
            </a:r>
            <a:r>
              <a:rPr sz="3200" b="0" spc="-10" dirty="0">
                <a:solidFill>
                  <a:schemeClr val="tx1"/>
                </a:solidFill>
                <a:latin typeface="Corbel"/>
                <a:cs typeface="Corbel"/>
              </a:rPr>
              <a:t>(Single</a:t>
            </a:r>
            <a:r>
              <a:rPr sz="3200" b="0" spc="-40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sz="3200" b="0" dirty="0">
                <a:solidFill>
                  <a:schemeClr val="tx1"/>
                </a:solidFill>
                <a:latin typeface="Corbel"/>
                <a:cs typeface="Corbel"/>
              </a:rPr>
              <a:t>Instruction Multiple</a:t>
            </a:r>
            <a:r>
              <a:rPr sz="3200" b="0" spc="-25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sz="3200" b="0" dirty="0">
                <a:solidFill>
                  <a:schemeClr val="tx1"/>
                </a:solidFill>
                <a:latin typeface="Corbel"/>
                <a:cs typeface="Corbel"/>
              </a:rPr>
              <a:t>Data)</a:t>
            </a:r>
            <a:r>
              <a:rPr sz="3200" b="0" spc="-30" dirty="0">
                <a:solidFill>
                  <a:schemeClr val="tx1"/>
                </a:solidFill>
                <a:latin typeface="Corbel"/>
                <a:cs typeface="Corbel"/>
              </a:rPr>
              <a:t> </a:t>
            </a:r>
            <a:r>
              <a:rPr sz="3200" b="0" dirty="0">
                <a:solidFill>
                  <a:schemeClr val="tx1"/>
                </a:solidFill>
                <a:latin typeface="Corbel"/>
                <a:cs typeface="Corbel"/>
              </a:rPr>
              <a:t>instructions</a:t>
            </a:r>
            <a:endParaRPr sz="3200" dirty="0">
              <a:solidFill>
                <a:schemeClr val="tx1"/>
              </a:solidFill>
              <a:latin typeface="Corbel"/>
              <a:cs typeface="Corbe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903" y="1926273"/>
            <a:ext cx="11222355" cy="3497496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803910" lvl="0" indent="0" algn="l" defTabSz="914400" rtl="0" eaLnBrk="1" fontAlgn="auto" latinLnBrk="0" hangingPunct="1">
              <a:lnSpc>
                <a:spcPts val="3020"/>
              </a:lnSpc>
              <a:spcBef>
                <a:spcPts val="4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This</a:t>
            </a:r>
            <a:r>
              <a:rPr kumimoji="0" lang="en-IN" sz="28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lang="en-IN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holds</a:t>
            </a:r>
            <a:r>
              <a:rPr kumimoji="0" lang="en-IN" sz="2800" b="0" i="0" u="none" strike="noStrike" kern="1200" cap="none" spc="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lang="en-IN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for </a:t>
            </a:r>
            <a:r>
              <a:rPr kumimoji="0" lang="en-IN" sz="2800" b="0" i="0" u="none" strike="noStrike" kern="1200" cap="none" spc="-54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lang="en-IN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most</a:t>
            </a:r>
            <a:r>
              <a:rPr kumimoji="0" lang="en-IN" sz="2800" b="0" i="0" u="none" strike="noStrike" kern="1200" cap="none" spc="-9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lang="en-IN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</a:t>
            </a:r>
            <a:r>
              <a:rPr kumimoji="0" lang="en-IN" sz="2800" b="0" i="0" u="none" strike="noStrike" kern="1200" cap="none" spc="-19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lang="en-IN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lang="en-IN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instructions</a:t>
            </a:r>
            <a:endParaRPr kumimoji="0" lang="en-IN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2103755" marR="0" lvl="0" indent="-292100" algn="l" defTabSz="914400" rtl="0" eaLnBrk="1" fontAlgn="auto" latinLnBrk="0" hangingPunct="1">
              <a:lnSpc>
                <a:spcPct val="100000"/>
              </a:lnSpc>
              <a:spcBef>
                <a:spcPts val="950"/>
              </a:spcBef>
              <a:spcAft>
                <a:spcPts val="0"/>
              </a:spcAft>
              <a:buClrTx/>
              <a:buSzPct val="96875"/>
              <a:buFontTx/>
              <a:buAutoNum type="arabicPeriod"/>
              <a:tabLst>
                <a:tab pos="2104390" algn="l"/>
              </a:tabLst>
              <a:defRPr/>
            </a:pP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Instructions</a:t>
            </a:r>
            <a:r>
              <a:rPr kumimoji="0" sz="3200" b="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have</a:t>
            </a:r>
            <a:r>
              <a:rPr kumimoji="0" sz="3200" b="0" i="0" u="none" strike="noStrike" kern="1200" cap="none" spc="-4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same</a:t>
            </a:r>
            <a:r>
              <a:rPr kumimoji="0" sz="32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size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32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bits.</a:t>
            </a:r>
          </a:p>
          <a:p>
            <a:pPr marL="1812289" marR="1548130" lvl="0" indent="0" algn="l" defTabSz="914400" rtl="0" eaLnBrk="1" fontAlgn="auto" latinLnBrk="0" hangingPunct="1">
              <a:lnSpc>
                <a:spcPct val="126299"/>
              </a:lnSpc>
              <a:spcBef>
                <a:spcPts val="15"/>
              </a:spcBef>
              <a:spcAft>
                <a:spcPts val="0"/>
              </a:spcAft>
              <a:buClrTx/>
              <a:buSzPct val="96875"/>
              <a:buFontTx/>
              <a:buAutoNum type="arabicPeriod"/>
              <a:tabLst>
                <a:tab pos="2130425" algn="l"/>
              </a:tabLst>
              <a:defRPr/>
            </a:pP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Each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instruction 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takes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one cycle to complete. </a:t>
            </a:r>
            <a:r>
              <a:rPr kumimoji="0" sz="3200" b="0" i="0" u="none" strike="noStrike" kern="1200" cap="none" spc="-6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3.It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'load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store'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architecture.</a:t>
            </a:r>
          </a:p>
          <a:p>
            <a:pPr marL="12700" marR="5080" lvl="0" indent="0" algn="just" defTabSz="914400" rtl="0" eaLnBrk="1" fontAlgn="auto" latinLnBrk="0" hangingPunct="1">
              <a:lnSpc>
                <a:spcPct val="90000"/>
              </a:lnSpc>
              <a:spcBef>
                <a:spcPts val="14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end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result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RISC approach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made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processor to be</a:t>
            </a:r>
            <a:r>
              <a:rPr kumimoji="0" sz="2400" b="0" i="0" u="none" strike="noStrike" kern="1200" cap="none" spc="47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 low power dissipating </a:t>
            </a:r>
            <a:r>
              <a:rPr kumimoji="0" sz="24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one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and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that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became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 reason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why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it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easily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conquered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growing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embedded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market,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where</a:t>
            </a:r>
            <a:r>
              <a:rPr kumimoji="0" sz="24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hand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held</a:t>
            </a:r>
            <a:r>
              <a:rPr kumimoji="0" sz="24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and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battery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operated</a:t>
            </a:r>
            <a:r>
              <a:rPr kumimoji="0" sz="24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devices</a:t>
            </a:r>
            <a:r>
              <a:rPr kumimoji="0" sz="2400" b="0" i="0" u="none" strike="noStrike" kern="1200" cap="none" spc="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are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24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major</a:t>
            </a:r>
            <a:r>
              <a:rPr kumimoji="0" sz="24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constituents.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5C197C-B318-C941-FCCB-173D5D25BBCA}"/>
              </a:ext>
            </a:extLst>
          </p:cNvPr>
          <p:cNvSpPr txBox="1"/>
          <p:nvPr/>
        </p:nvSpPr>
        <p:spPr>
          <a:xfrm>
            <a:off x="896814" y="938480"/>
            <a:ext cx="1017445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lang="en-US" sz="3200" b="0" i="0" u="none" strike="noStrike" kern="1200" cap="none" spc="-10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lang="en-US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main </a:t>
            </a:r>
            <a:r>
              <a:rPr kumimoji="0" lang="en-US" sz="3200" b="0" i="0" u="none" strike="noStrike" kern="1200" cap="none" spc="-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features</a:t>
            </a:r>
            <a:r>
              <a:rPr kumimoji="0" lang="en-US" sz="3200" b="0" i="0" u="none" strike="noStrike" kern="1200" cap="none" spc="-8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lang="en-US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</a:t>
            </a:r>
            <a:r>
              <a:rPr kumimoji="0" lang="en-US" sz="3200" b="0" i="0" u="none" strike="noStrike" kern="1200" cap="none" spc="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lang="en-US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RISC</a:t>
            </a:r>
            <a:r>
              <a:rPr kumimoji="0" lang="en-US" sz="3200" b="0" i="0" u="none" strike="noStrike" kern="1200" cap="none" spc="-10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lang="en-US" sz="3200" spc="-10" dirty="0">
                <a:latin typeface="Corbel"/>
                <a:cs typeface="Corbel"/>
              </a:rPr>
              <a:t>are</a:t>
            </a: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811" y="1010488"/>
            <a:ext cx="66325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85" dirty="0">
                <a:latin typeface="Corbel"/>
                <a:cs typeface="Corbel"/>
              </a:rPr>
              <a:t> </a:t>
            </a:r>
            <a:r>
              <a:rPr sz="4000" spc="-5" dirty="0">
                <a:latin typeface="Corbel"/>
                <a:cs typeface="Corbel"/>
              </a:rPr>
              <a:t>ADDITIONAL</a:t>
            </a:r>
            <a:r>
              <a:rPr sz="4000" spc="-20" dirty="0">
                <a:latin typeface="Corbel"/>
                <a:cs typeface="Corbel"/>
              </a:rPr>
              <a:t> </a:t>
            </a:r>
            <a:r>
              <a:rPr sz="4000" spc="-35" dirty="0">
                <a:latin typeface="Corbel"/>
                <a:cs typeface="Corbel"/>
              </a:rPr>
              <a:t>FEATURES</a:t>
            </a:r>
            <a:endParaRPr sz="4000" dirty="0"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9168" y="1956054"/>
            <a:ext cx="11234420" cy="4197944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94945" marR="560705" lvl="0" indent="-182880" algn="l" defTabSz="914400" rtl="0" eaLnBrk="1" fontAlgn="auto" latinLnBrk="0" hangingPunct="1">
              <a:lnSpc>
                <a:spcPts val="3460"/>
              </a:lnSpc>
              <a:spcBef>
                <a:spcPts val="535"/>
              </a:spcBef>
              <a:spcAft>
                <a:spcPts val="0"/>
              </a:spcAft>
              <a:buClr>
                <a:srgbClr val="FFFFFF"/>
              </a:buClr>
              <a:buSzPct val="68750"/>
              <a:buFont typeface="Wingdings"/>
              <a:buChar char=""/>
              <a:tabLst>
                <a:tab pos="250190" algn="l"/>
                <a:tab pos="250825" algn="l"/>
              </a:tabLst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As</a:t>
            </a:r>
            <a:r>
              <a:rPr kumimoji="0" sz="3200" b="0" i="0" u="none" strike="noStrike" kern="1200" cap="none" spc="-1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ARM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was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accepted</a:t>
            </a:r>
            <a:r>
              <a:rPr kumimoji="0" sz="3200" b="0" i="0" u="none" strike="noStrike" kern="1200" cap="none" spc="-4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embedded</a:t>
            </a:r>
            <a:r>
              <a:rPr kumimoji="0" sz="3200" b="0" i="0" u="none" strike="noStrike" kern="1200" cap="none" spc="-5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market,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more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features </a:t>
            </a:r>
            <a:r>
              <a:rPr kumimoji="0" sz="3200" b="0" i="0" u="none" strike="noStrike" kern="1200" cap="none" spc="-6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were</a:t>
            </a:r>
            <a:r>
              <a:rPr kumimoji="0" sz="3200" b="0" i="0" u="none" strike="noStrike" kern="1200" cap="none" spc="-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added</a:t>
            </a:r>
            <a:r>
              <a:rPr kumimoji="0" sz="3200" b="0" i="0" u="none" strike="noStrike" kern="1200" cap="none" spc="-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to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it.</a:t>
            </a:r>
          </a:p>
          <a:p>
            <a:pPr marL="194945" marR="495300" lvl="0" indent="-182880" algn="l" defTabSz="914400" rtl="0" eaLnBrk="1" fontAlgn="auto" latinLnBrk="0" hangingPunct="1">
              <a:lnSpc>
                <a:spcPts val="3460"/>
              </a:lnSpc>
              <a:spcBef>
                <a:spcPts val="1385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ARM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design was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modular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structure so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it was easy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to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add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new </a:t>
            </a:r>
            <a:r>
              <a:rPr kumimoji="0" sz="3200" b="0" i="0" u="none" strike="noStrike" kern="1200" cap="none" spc="-6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features.</a:t>
            </a:r>
          </a:p>
          <a:p>
            <a:pPr marL="194945" marR="5080" lvl="0" indent="-182880" algn="l" defTabSz="914400" rtl="0" eaLnBrk="1" fontAlgn="auto" latinLnBrk="0" hangingPunct="1">
              <a:lnSpc>
                <a:spcPts val="3460"/>
              </a:lnSpc>
              <a:spcBef>
                <a:spcPts val="1395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flexibility</a:t>
            </a:r>
            <a:r>
              <a:rPr kumimoji="0" sz="3200" b="0" i="0" u="none" strike="noStrike" kern="1200" cap="none" spc="-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on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account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the</a:t>
            </a:r>
            <a:r>
              <a:rPr kumimoji="0" sz="3200" b="0" i="0" u="none" strike="noStrike" kern="1200" cap="none" spc="-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business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model</a:t>
            </a:r>
            <a:r>
              <a:rPr kumimoji="0" sz="3200" b="0" i="0" u="none" strike="noStrike" kern="1200" cap="none" spc="-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</a:t>
            </a:r>
            <a:r>
              <a:rPr kumimoji="0" sz="3200" b="0" i="0" u="none" strike="noStrike" kern="1200" cap="none" spc="-14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ARM,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made</a:t>
            </a:r>
            <a:r>
              <a:rPr kumimoji="0" sz="3200" b="0" i="0" u="none" strike="noStrike" kern="1200" cap="none" spc="-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 </a:t>
            </a:r>
            <a:r>
              <a:rPr kumimoji="0" sz="3200" b="0" i="0" u="none" strike="noStrike" kern="1200" cap="none" spc="-6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addition</a:t>
            </a:r>
            <a:r>
              <a:rPr kumimoji="0" sz="3200" b="0" i="0" u="none" strike="noStrike" kern="1200" cap="none" spc="-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 new</a:t>
            </a:r>
            <a:r>
              <a:rPr kumimoji="0" sz="32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and</a:t>
            </a:r>
            <a:r>
              <a:rPr kumimoji="0" sz="32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special</a:t>
            </a:r>
            <a:r>
              <a:rPr kumimoji="0" sz="3200" b="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features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optional.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4945" marR="540385" lvl="0" indent="-182880" algn="l" defTabSz="914400" rtl="0" eaLnBrk="1" fontAlgn="auto" latinLnBrk="0" hangingPunct="1">
              <a:lnSpc>
                <a:spcPts val="346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Knowing</a:t>
            </a:r>
            <a:r>
              <a:rPr kumimoji="0" sz="32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these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features</a:t>
            </a:r>
            <a:r>
              <a:rPr kumimoji="0" sz="3200" b="0" i="0" u="none" strike="noStrike" kern="1200" cap="none" spc="-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will</a:t>
            </a:r>
            <a:r>
              <a:rPr kumimoji="0" sz="3200" b="0" i="0" u="none" strike="noStrike" kern="1200" cap="none" spc="-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let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us understand</a:t>
            </a:r>
            <a:r>
              <a:rPr kumimoji="0" sz="3200" b="0" i="0" u="none" strike="noStrike" kern="1200" cap="none" spc="-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early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naming </a:t>
            </a:r>
            <a:r>
              <a:rPr kumimoji="0" sz="3200" b="0" i="0" u="none" strike="noStrike" kern="1200" cap="none" spc="-6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convention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</a:t>
            </a:r>
            <a:r>
              <a:rPr kumimoji="0" sz="32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different</a:t>
            </a:r>
            <a:r>
              <a:rPr kumimoji="0" sz="3200" b="0" i="0" u="none" strike="noStrike" kern="1200" cap="none" spc="-16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</a:t>
            </a:r>
            <a:r>
              <a:rPr kumimoji="0" sz="3200" b="0" i="0" u="none" strike="noStrike" kern="1200" cap="none" spc="-4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chips.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811" y="952880"/>
            <a:ext cx="42602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spc="-10" dirty="0">
                <a:latin typeface="Corbel"/>
                <a:cs typeface="Corbel"/>
              </a:rPr>
              <a:t>1.</a:t>
            </a:r>
            <a:r>
              <a:rPr sz="4000" spc="-10" dirty="0">
                <a:latin typeface="Corbel"/>
                <a:cs typeface="Corbel"/>
              </a:rPr>
              <a:t>THUM</a:t>
            </a:r>
            <a:r>
              <a:rPr sz="4000" spc="-5" dirty="0">
                <a:latin typeface="Corbel"/>
                <a:cs typeface="Corbel"/>
              </a:rPr>
              <a:t>B</a:t>
            </a:r>
            <a:r>
              <a:rPr sz="4000" spc="-80" dirty="0">
                <a:latin typeface="Corbel"/>
                <a:cs typeface="Corbel"/>
              </a:rPr>
              <a:t> </a:t>
            </a:r>
            <a:r>
              <a:rPr sz="4000" spc="-10" dirty="0">
                <a:latin typeface="Corbel"/>
                <a:cs typeface="Corbel"/>
              </a:rPr>
              <a:t>SET</a:t>
            </a:r>
            <a:endParaRPr sz="4000" dirty="0"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86841" y="1843252"/>
            <a:ext cx="10777220" cy="4535216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955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1105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</a:t>
            </a:r>
            <a:r>
              <a:rPr kumimoji="0" sz="3200" b="0" i="0" u="none" strike="noStrike" kern="1200" cap="none" spc="-16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nstruction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et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rchitecture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ha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</a:t>
            </a:r>
            <a:r>
              <a:rPr kumimoji="0" sz="32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onl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y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3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2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-bit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ins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ructions</a:t>
            </a:r>
          </a:p>
          <a:p>
            <a:pPr marL="1955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1010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This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means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that</a:t>
            </a:r>
            <a:r>
              <a:rPr kumimoji="0" sz="32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each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and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every</a:t>
            </a:r>
            <a:r>
              <a:rPr kumimoji="0" sz="3200" b="0" i="0" u="none" strike="noStrike" kern="1200" cap="none" spc="-4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instruction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has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to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be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32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bits.</a:t>
            </a:r>
          </a:p>
          <a:p>
            <a:pPr marL="194945" marR="217804" lvl="0" indent="-182880" algn="l" defTabSz="914400" rtl="0" eaLnBrk="1" fontAlgn="auto" latinLnBrk="0" hangingPunct="1">
              <a:lnSpc>
                <a:spcPts val="3460"/>
              </a:lnSpc>
              <a:spcBef>
                <a:spcPts val="1450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For simple applications, such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 powerful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set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 instructions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are </a:t>
            </a:r>
            <a:r>
              <a:rPr kumimoji="0" sz="3200" b="0" i="0" u="none" strike="noStrike" kern="1200" cap="none" spc="-6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not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needed.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4945" marR="5080" lvl="0" indent="-182880" algn="l" defTabSz="914400" rtl="0" eaLnBrk="1" fontAlgn="auto" latinLnBrk="0" hangingPunct="1">
              <a:lnSpc>
                <a:spcPts val="3460"/>
              </a:lnSpc>
              <a:spcBef>
                <a:spcPts val="1400"/>
              </a:spcBef>
              <a:spcAft>
                <a:spcPts val="0"/>
              </a:spcAft>
              <a:buClr>
                <a:srgbClr val="FFFFFF"/>
              </a:buClr>
              <a:buSzTx/>
              <a:buFont typeface="Wingdings"/>
              <a:buChar char=""/>
              <a:tabLst>
                <a:tab pos="248920" algn="l"/>
              </a:tabLst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Thus,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new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set of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instructions,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named</a:t>
            </a:r>
            <a:r>
              <a:rPr kumimoji="0" sz="3200" b="0" i="0" u="none" strike="noStrike" kern="1200" cap="none" spc="-26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THUMB,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which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are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 16 </a:t>
            </a:r>
            <a:r>
              <a:rPr kumimoji="0" sz="3200" b="0" i="0" u="none" strike="noStrike" kern="1200" cap="none" spc="-6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bits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length</a:t>
            </a:r>
            <a:r>
              <a:rPr kumimoji="0" sz="32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was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added.</a:t>
            </a:r>
          </a:p>
          <a:p>
            <a:pPr marL="1955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955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This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helpful</a:t>
            </a:r>
            <a:r>
              <a:rPr kumimoji="0" sz="3200" b="0" i="0" u="none" strike="noStrike" kern="1200" cap="none" spc="-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reducing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amount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code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memory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needed.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2470" y="1927098"/>
            <a:ext cx="11084560" cy="3120726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95580" marR="140335" lvl="0" indent="-182880" algn="l" defTabSz="914400" rtl="0" eaLnBrk="1" fontAlgn="auto" latinLnBrk="0" hangingPunct="1">
              <a:lnSpc>
                <a:spcPts val="3460"/>
              </a:lnSpc>
              <a:spcBef>
                <a:spcPts val="535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amount 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 code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 unit area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 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memory,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that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is,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 code </a:t>
            </a:r>
            <a:r>
              <a:rPr kumimoji="0" sz="3200" b="0" i="0" u="none" strike="noStrike" kern="1200" cap="none" spc="-6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densit</a:t>
            </a:r>
            <a:r>
              <a:rPr kumimoji="0" sz="3200" b="0" i="0" u="none" strike="noStrike" kern="1200" cap="none" spc="-10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y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,</a:t>
            </a:r>
            <a:r>
              <a:rPr kumimoji="0" sz="32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 m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re,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when</a:t>
            </a:r>
            <a:r>
              <a:rPr kumimoji="0" sz="3200" b="0" i="0" u="none" strike="noStrike" kern="1200" cap="none" spc="-23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THU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 used.</a:t>
            </a:r>
          </a:p>
          <a:p>
            <a:pPr marL="195580" marR="5080" lvl="0" indent="-182880" algn="l" defTabSz="914400" rtl="0" eaLnBrk="1" fontAlgn="auto" latinLnBrk="0" hangingPunct="1">
              <a:lnSpc>
                <a:spcPts val="3460"/>
              </a:lnSpc>
              <a:spcBef>
                <a:spcPts val="1385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Thumb code 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takes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40% less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space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 comparison to regular 32-bit </a:t>
            </a:r>
            <a:r>
              <a:rPr kumimoji="0" sz="3200" b="0" i="0" u="none" strike="noStrike" kern="1200" cap="none" spc="-6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ARM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code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but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slightly</a:t>
            </a:r>
            <a:r>
              <a:rPr kumimoji="0" sz="32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less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efficient.</a:t>
            </a:r>
          </a:p>
          <a:p>
            <a:pPr marL="195580" marR="176530" lvl="0" indent="-182880" algn="l" defTabSz="914400" rtl="0" eaLnBrk="1" fontAlgn="auto" latinLnBrk="0" hangingPunct="1">
              <a:lnSpc>
                <a:spcPts val="3460"/>
              </a:lnSpc>
              <a:spcBef>
                <a:spcPts val="1395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There</a:t>
            </a:r>
            <a:r>
              <a:rPr kumimoji="0" sz="3200" b="0" i="0" u="none" strike="noStrike" kern="1200" cap="none" spc="-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 also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3200" b="0" i="0" u="none" strike="noStrike" kern="1200" cap="none" spc="-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facility</a:t>
            </a:r>
            <a:r>
              <a:rPr kumimoji="0" sz="3200" b="0" i="0" u="none" strike="noStrike" kern="1200" cap="none" spc="-4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to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mix</a:t>
            </a:r>
            <a:r>
              <a:rPr kumimoji="0" sz="3200" b="0" i="0" u="none" strike="noStrike" kern="1200" cap="none" spc="-15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ARM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and</a:t>
            </a:r>
            <a:r>
              <a:rPr kumimoji="0" sz="3200" b="0" i="0" u="none" strike="noStrike" kern="1200" cap="none" spc="-23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THUMB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code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and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this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 </a:t>
            </a:r>
            <a:r>
              <a:rPr kumimoji="0" sz="3200" b="0" i="0" u="none" strike="noStrike" kern="1200" cap="none" spc="-6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calle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d</a:t>
            </a:r>
            <a:r>
              <a:rPr kumimoji="0" sz="3200" b="0" i="0" u="none" strike="noStrike" kern="1200" cap="none" spc="-17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ARM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-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U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MB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interw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rkin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g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76324" y="928496"/>
            <a:ext cx="999680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983470" algn="l"/>
              </a:tabLst>
            </a:pPr>
            <a:r>
              <a:rPr sz="4800" b="0" u="sng" spc="-140" dirty="0">
                <a:solidFill>
                  <a:srgbClr val="404040"/>
                </a:solidFill>
                <a:uFill>
                  <a:solidFill>
                    <a:srgbClr val="7E7E7E"/>
                  </a:solidFill>
                </a:uFill>
                <a:latin typeface="Calibri Light"/>
                <a:cs typeface="Calibri Light"/>
              </a:rPr>
              <a:t> </a:t>
            </a:r>
            <a:r>
              <a:rPr sz="4800" b="0" u="sng" spc="-45" dirty="0">
                <a:solidFill>
                  <a:srgbClr val="404040"/>
                </a:solidFill>
                <a:uFill>
                  <a:solidFill>
                    <a:srgbClr val="7E7E7E"/>
                  </a:solidFill>
                </a:uFill>
                <a:latin typeface="Calibri Light"/>
                <a:cs typeface="Calibri Light"/>
              </a:rPr>
              <a:t>Cache	</a:t>
            </a:r>
            <a:endParaRPr sz="4800" dirty="0">
              <a:latin typeface="Calibri Light"/>
              <a:cs typeface="Calibri Ligh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1040" y="1831975"/>
            <a:ext cx="11054185" cy="444673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355600" marR="5080" lvl="0" indent="-342900" algn="just" defTabSz="914400" rtl="0" eaLnBrk="1" fontAlgn="auto" latinLnBrk="0" hangingPunct="1">
              <a:lnSpc>
                <a:spcPts val="216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This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sz="2000" b="0" i="0" u="none" strike="noStrike" kern="1200" cap="none" spc="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 memory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concept</a:t>
            </a:r>
            <a:r>
              <a:rPr kumimoji="0" sz="2000" b="0" i="0" u="none" strike="noStrike" kern="120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meant</a:t>
            </a:r>
            <a:r>
              <a:rPr kumimoji="0" sz="2000" b="0" i="0" u="none" strike="noStrike" kern="1200" cap="none" spc="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for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speeding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up</a:t>
            </a:r>
            <a:r>
              <a:rPr kumimoji="0" sz="2000" b="0" i="0" u="none" strike="noStrike" kern="120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memory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accesses.</a:t>
            </a:r>
            <a:r>
              <a:rPr kumimoji="0" sz="2000" b="0" i="0" u="none" strike="noStrike" kern="1200" cap="none" spc="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55600" marR="5080" lvl="0" indent="-342900" algn="just" defTabSz="914400" rtl="0" eaLnBrk="1" fontAlgn="auto" latinLnBrk="0" hangingPunct="1">
              <a:lnSpc>
                <a:spcPts val="216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Caches</a:t>
            </a:r>
            <a:r>
              <a:rPr kumimoji="0" sz="2000" b="0" i="0" u="none" strike="noStrike" kern="120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are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always</a:t>
            </a:r>
            <a:r>
              <a:rPr kumimoji="0" sz="2000" b="0" i="0" u="none" strike="noStrike" kern="1200" cap="none" spc="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used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 </a:t>
            </a:r>
            <a:r>
              <a:rPr kumimoji="0" sz="2000" b="0" i="0" u="none" strike="noStrike" kern="1200" cap="none" spc="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general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purpose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computing</a:t>
            </a:r>
            <a:r>
              <a:rPr kumimoji="0" sz="2000" b="0" i="0" u="none" strike="noStrike" kern="120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systems,</a:t>
            </a:r>
            <a:r>
              <a:rPr kumimoji="0" sz="2000" b="0" i="0" u="none" strike="noStrike" kern="1200" cap="none" spc="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but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 the</a:t>
            </a:r>
            <a:r>
              <a:rPr kumimoji="0" sz="2000" b="0" i="0" u="none" strike="noStrike" kern="1200" cap="none" spc="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embedded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domain,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only</a:t>
            </a:r>
            <a:r>
              <a:rPr kumimoji="0" sz="2000" b="0" i="0" u="none" strike="noStrike" kern="120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high-end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MCUs</a:t>
            </a:r>
            <a:r>
              <a:rPr kumimoji="0" sz="2000" b="0" i="0" u="none" strike="noStrike" kern="1200" cap="none" spc="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use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it.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55600" marR="0" lvl="0" indent="-342900" algn="just" defTabSz="914400" rtl="0" eaLnBrk="1" fontAlgn="auto" latinLnBrk="0" hangingPunct="1">
              <a:lnSpc>
                <a:spcPts val="2280"/>
              </a:lnSpc>
              <a:spcBef>
                <a:spcPts val="113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sz="2000" b="0" i="0" u="none" strike="noStrike" kern="1200" cap="none" spc="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cache</a:t>
            </a:r>
            <a:r>
              <a:rPr kumimoji="0" sz="2000" b="0" i="0" u="none" strike="noStrike" kern="120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sz="2000" b="0" i="0" u="none" strike="noStrike" kern="1200" cap="none" spc="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sz="2000" b="0" i="0" u="none" strike="noStrike" kern="1200" cap="none" spc="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type</a:t>
            </a:r>
            <a:r>
              <a:rPr kumimoji="0" sz="2000" b="0" i="0" u="none" strike="noStrike" kern="120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memory</a:t>
            </a:r>
            <a:r>
              <a:rPr kumimoji="0" sz="2000" b="0" i="0" u="none" strike="noStrike" kern="1200" cap="none" spc="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which</a:t>
            </a:r>
            <a:r>
              <a:rPr kumimoji="0" sz="2000" b="0" i="0" u="none" strike="noStrike" kern="120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sz="2000" b="0" i="0" u="none" strike="noStrike" kern="1200" cap="none" spc="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placed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close</a:t>
            </a:r>
            <a:r>
              <a:rPr kumimoji="0" sz="2000" b="0" i="0" u="none" strike="noStrike" kern="1200" cap="none" spc="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sz="2000" b="0" i="0" u="none" strike="noStrike" kern="1200" cap="none" spc="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processing</a:t>
            </a:r>
            <a:r>
              <a:rPr kumimoji="0" sz="2000" b="0" i="0" u="none" strike="noStrike" kern="1200" cap="none" spc="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engine,</a:t>
            </a:r>
            <a:r>
              <a:rPr kumimoji="0" sz="2000" b="0" i="0" u="none" strike="noStrike" kern="120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sz="2000" b="0" i="0" u="none" strike="noStrike" kern="1200" cap="none" spc="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sz="2000" b="0" i="0" u="none" strike="noStrike" kern="1200" cap="none" spc="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fast</a:t>
            </a:r>
            <a:r>
              <a:rPr kumimoji="0" sz="2000" b="0" i="0" u="none" strike="noStrike" kern="1200" cap="none" spc="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just" defTabSz="914400" rtl="0" eaLnBrk="1" fontAlgn="auto" latinLnBrk="0" hangingPunct="1">
              <a:lnSpc>
                <a:spcPts val="22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response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low</a:t>
            </a:r>
            <a:r>
              <a:rPr kumimoji="0" sz="2000" b="0" i="0" u="none" strike="noStrike" kern="120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volume.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556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1155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sz="2000" b="0" i="0" u="none" strike="noStrike" kern="1200" cap="none" spc="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used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store</a:t>
            </a:r>
            <a:r>
              <a:rPr kumimoji="0" sz="2000" b="0" i="0" u="none" strike="noStrike" kern="1200" cap="none" spc="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sz="2000" b="0" i="0" u="none" strike="noStrike" kern="1200" cap="none" spc="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copy</a:t>
            </a:r>
            <a:r>
              <a:rPr kumimoji="0" sz="2000" b="0" i="0" u="none" strike="noStrike" kern="120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sz="2000" b="0" i="0" u="none" strike="noStrike" kern="120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 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important</a:t>
            </a:r>
            <a:r>
              <a:rPr kumimoji="0" sz="2000" b="0" i="0" u="none" strike="noStrike" kern="1200" cap="none" spc="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data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and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code</a:t>
            </a:r>
            <a:r>
              <a:rPr kumimoji="0" sz="2000" b="0" i="0" u="none" strike="noStrike" kern="120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which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needs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be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accessed </a:t>
            </a:r>
            <a:r>
              <a:rPr kumimoji="0" sz="2000" b="0" i="0" u="none" strike="noStrike" kern="120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at</a:t>
            </a:r>
            <a:r>
              <a:rPr kumimoji="0" sz="2000" b="0" i="0" u="none" strike="noStrike" kern="1200" cap="none" spc="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sz="2000" b="0" i="0" u="none" strike="noStrike" kern="1200" cap="none" spc="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rapid</a:t>
            </a:r>
            <a:r>
              <a:rPr kumimoji="0" sz="2000" b="0" i="0" u="none" strike="noStrike" kern="1200" cap="none" spc="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rate.</a:t>
            </a:r>
            <a:endParaRPr kumimoji="0" lang="en-US" sz="2000" b="0" i="0" u="none" strike="noStrike" kern="1200" cap="none" spc="-2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556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1155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000" b="0" i="0" u="none" strike="noStrike" kern="120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When the required information is found in the cache is called a hit. Otherwise, it is a cache miss.</a:t>
            </a:r>
          </a:p>
          <a:p>
            <a:pPr marL="3556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1155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000" b="0" i="0" u="none" strike="noStrike" kern="120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 is not possible to guarantee that a required item will be found in cache when it is needed.</a:t>
            </a:r>
          </a:p>
          <a:p>
            <a:pPr marL="3556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1155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000" b="0" i="0" u="none" strike="noStrike" kern="120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Caches are not preferred for time critical applications where delays cannot be tolerated.</a:t>
            </a:r>
          </a:p>
          <a:p>
            <a:pPr marL="3556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1155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000" b="0" i="0" u="none" strike="noStrike" kern="120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 such systems ,a Tightly Coupled Memory(TCM) is considered to be a better option.</a:t>
            </a:r>
          </a:p>
          <a:p>
            <a:pPr marL="3556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1155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76324" y="6554825"/>
            <a:ext cx="5575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23</a:t>
            </a: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</a:t>
            </a:r>
            <a:r>
              <a:rPr kumimoji="0" sz="9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06</a:t>
            </a: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-20</a:t>
            </a:r>
            <a:r>
              <a:rPr kumimoji="0" sz="900" b="0" i="0" u="none" strike="noStrike" kern="120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2</a:t>
            </a: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0</a:t>
            </a: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81980" y="6554825"/>
            <a:ext cx="18294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PRASHANTH</a:t>
            </a:r>
            <a:r>
              <a:rPr kumimoji="0" sz="900" b="0" i="0" u="none" strike="noStrike" kern="120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KAMBLI,</a:t>
            </a:r>
            <a:r>
              <a:rPr kumimoji="0" sz="900" b="0" i="0" u="none" strike="noStrike" kern="120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DEPT.</a:t>
            </a:r>
            <a:r>
              <a:rPr kumimoji="0" sz="900" b="0" i="0" u="none" strike="noStrike" kern="120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sz="900" b="0" i="0" u="none" strike="noStrike" kern="120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9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ISE,</a:t>
            </a:r>
            <a:r>
              <a:rPr kumimoji="0" sz="900" b="0" i="0" u="none" strike="noStrike" kern="120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RIT</a:t>
            </a: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972545" y="6541719"/>
            <a:ext cx="16256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27</a:t>
            </a:r>
            <a:endParaRPr kumimoji="0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76324" y="928496"/>
            <a:ext cx="999680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983470" algn="l"/>
              </a:tabLst>
            </a:pPr>
            <a:r>
              <a:rPr sz="4800" b="0" u="sng" spc="-140" dirty="0">
                <a:solidFill>
                  <a:srgbClr val="404040"/>
                </a:solidFill>
                <a:uFill>
                  <a:solidFill>
                    <a:srgbClr val="7E7E7E"/>
                  </a:solidFill>
                </a:uFill>
                <a:latin typeface="Calibri Light"/>
                <a:cs typeface="Calibri Light"/>
              </a:rPr>
              <a:t> </a:t>
            </a:r>
            <a:r>
              <a:rPr sz="4800" b="0" u="sng" spc="-45" dirty="0">
                <a:solidFill>
                  <a:srgbClr val="404040"/>
                </a:solidFill>
                <a:uFill>
                  <a:solidFill>
                    <a:srgbClr val="7E7E7E"/>
                  </a:solidFill>
                </a:uFill>
                <a:latin typeface="Calibri Light"/>
                <a:cs typeface="Calibri Light"/>
              </a:rPr>
              <a:t>Cache	</a:t>
            </a:r>
            <a:endParaRPr sz="4800" dirty="0">
              <a:latin typeface="Calibri Light"/>
              <a:cs typeface="Calibri 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76324" y="6554825"/>
            <a:ext cx="5575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23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06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-20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81980" y="6554825"/>
            <a:ext cx="18294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PRASHANTH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KAMBLI,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DEPT.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9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ISE,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RIT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972545" y="6541719"/>
            <a:ext cx="16256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27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733854" y="2064327"/>
            <a:ext cx="9439275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In TCM’s critical information(which is pre decided) is stored and used without the indeterminacy of caches.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Cache storage is dynamic.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It stores information that is likely to be frequently needed.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Thus, the content of cache is continuously changed according to the decisions of what is considered important.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TCMs contain static information that is predetermined to be very important 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Critical procedures, interrupt routines </a:t>
            </a:r>
            <a:r>
              <a:rPr lang="en-US" sz="2000" dirty="0" err="1"/>
              <a:t>etc</a:t>
            </a:r>
            <a:r>
              <a:rPr lang="en-US" sz="2000" dirty="0"/>
              <a:t> are usually TCM hold.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6864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09342" y="880363"/>
            <a:ext cx="31451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95" dirty="0">
                <a:latin typeface="Corbel"/>
                <a:cs typeface="Corbel"/>
              </a:rPr>
              <a:t> </a:t>
            </a:r>
            <a:r>
              <a:rPr lang="en-US" sz="4000" spc="-195" dirty="0">
                <a:latin typeface="Corbel"/>
                <a:cs typeface="Corbel"/>
              </a:rPr>
              <a:t>2.</a:t>
            </a:r>
            <a:r>
              <a:rPr sz="4000" spc="-10" dirty="0">
                <a:latin typeface="Corbel"/>
                <a:cs typeface="Corbel"/>
              </a:rPr>
              <a:t>CACHE</a:t>
            </a:r>
            <a:endParaRPr sz="4000" dirty="0"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5487" y="2245232"/>
            <a:ext cx="10346055" cy="2043508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94945" marR="220979" lvl="0" indent="-182880" algn="l" defTabSz="914400" rtl="0" eaLnBrk="1" fontAlgn="auto" latinLnBrk="0" hangingPunct="1">
              <a:lnSpc>
                <a:spcPts val="3460"/>
              </a:lnSpc>
              <a:spcBef>
                <a:spcPts val="535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All modern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processors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have caches, though some have only </a:t>
            </a:r>
            <a:r>
              <a:rPr kumimoji="0" sz="3200" b="0" i="0" u="none" strike="noStrike" kern="1200" cap="none" spc="-6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TCMs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(Tightly</a:t>
            </a:r>
            <a:r>
              <a:rPr kumimoji="0" sz="3200" b="0" i="0" u="none" strike="noStrike" kern="1200" cap="none" spc="-14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Coupled Memories)</a:t>
            </a:r>
            <a:endParaRPr kumimoji="0" sz="3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4945" marR="5080" lvl="0" indent="-182880" algn="l" defTabSz="914400" rtl="0" eaLnBrk="1" fontAlgn="auto" latinLnBrk="0" hangingPunct="1">
              <a:lnSpc>
                <a:spcPts val="3460"/>
              </a:lnSpc>
              <a:spcBef>
                <a:spcPts val="1385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ARM7 has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8 KB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cache</a:t>
            </a:r>
            <a:r>
              <a:rPr kumimoji="0" sz="3200" b="0" i="0" u="none" strike="noStrike" kern="1200" cap="none" spc="-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which</a:t>
            </a:r>
            <a:r>
              <a:rPr kumimoji="0" sz="3200" b="0" i="0" u="none" strike="noStrike" kern="1200" cap="none" spc="-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both instructions and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data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are </a:t>
            </a:r>
            <a:r>
              <a:rPr kumimoji="0" sz="3200" b="0" i="0" u="none" strike="noStrike" kern="1200" cap="none" spc="-6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allowed.</a:t>
            </a:r>
            <a:endParaRPr kumimoji="0" sz="3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65656" y="880363"/>
            <a:ext cx="57702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spc="-50" dirty="0">
                <a:latin typeface="Corbel"/>
                <a:cs typeface="Corbel"/>
              </a:rPr>
              <a:t>3.</a:t>
            </a:r>
            <a:r>
              <a:rPr sz="4000" spc="-50" dirty="0">
                <a:latin typeface="Corbel"/>
                <a:cs typeface="Corbel"/>
              </a:rPr>
              <a:t>LONG</a:t>
            </a:r>
            <a:r>
              <a:rPr sz="4000" spc="-10" dirty="0">
                <a:latin typeface="Corbel"/>
                <a:cs typeface="Corbel"/>
              </a:rPr>
              <a:t> </a:t>
            </a:r>
            <a:r>
              <a:rPr sz="4000" spc="-60" dirty="0">
                <a:latin typeface="Corbel"/>
                <a:cs typeface="Corbel"/>
              </a:rPr>
              <a:t>MULTIPLIER</a:t>
            </a:r>
            <a:endParaRPr sz="4000" dirty="0"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10470" y="2099746"/>
            <a:ext cx="9576435" cy="96629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94945" marR="5080" lvl="0" indent="-182880" algn="l" defTabSz="914400" rtl="0" eaLnBrk="1" fontAlgn="auto" latinLnBrk="0" hangingPunct="1">
              <a:lnSpc>
                <a:spcPts val="3460"/>
              </a:lnSpc>
              <a:spcBef>
                <a:spcPts val="535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Even</a:t>
            </a:r>
            <a:r>
              <a:rPr kumimoji="0" sz="3200" b="0" i="0" u="none" strike="noStrike" kern="1200" cap="none" spc="-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though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fast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multiplication</a:t>
            </a:r>
            <a:r>
              <a:rPr kumimoji="0" sz="3200" b="0" i="0" u="none" strike="noStrike" kern="1200" cap="none" spc="-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 a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complex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instruction, </a:t>
            </a:r>
            <a:r>
              <a:rPr kumimoji="0" sz="3200" b="0" i="0" u="none" strike="noStrike" kern="1200" cap="none" spc="-6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many</a:t>
            </a:r>
            <a:r>
              <a:rPr kumimoji="0" sz="3200" b="0" i="0" u="none" strike="noStrike" kern="1200" cap="none" spc="-16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v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an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</a:t>
            </a:r>
            <a:r>
              <a:rPr kumimoji="0" sz="3200" b="0" i="0" u="none" strike="noStrike" kern="1200" cap="none" spc="-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hav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</a:t>
            </a:r>
            <a:r>
              <a:rPr kumimoji="0" sz="32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suc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h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ultipliers.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06016" y="996442"/>
            <a:ext cx="45085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latin typeface="Corbel"/>
                <a:cs typeface="Corbel"/>
              </a:rPr>
              <a:t> </a:t>
            </a:r>
            <a:r>
              <a:rPr lang="en-US" sz="4000" dirty="0">
                <a:latin typeface="Corbel"/>
                <a:cs typeface="Corbel"/>
              </a:rPr>
              <a:t>4.</a:t>
            </a:r>
            <a:r>
              <a:rPr sz="4000" spc="-10" dirty="0">
                <a:latin typeface="Corbel"/>
                <a:cs typeface="Corbel"/>
              </a:rPr>
              <a:t>DEBUG</a:t>
            </a:r>
            <a:r>
              <a:rPr sz="4000" spc="-125" dirty="0">
                <a:latin typeface="Corbel"/>
                <a:cs typeface="Corbel"/>
              </a:rPr>
              <a:t> </a:t>
            </a:r>
            <a:r>
              <a:rPr sz="4000" spc="-10" dirty="0">
                <a:latin typeface="Corbel"/>
                <a:cs typeface="Corbel"/>
              </a:rPr>
              <a:t>UNIT</a:t>
            </a:r>
            <a:endParaRPr sz="4000" dirty="0"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6341" y="1956054"/>
            <a:ext cx="10810240" cy="3120726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94945" marR="708025" lvl="0" indent="-182880" algn="l" defTabSz="914400" rtl="0" eaLnBrk="1" fontAlgn="auto" latinLnBrk="0" hangingPunct="1">
              <a:lnSpc>
                <a:spcPts val="3460"/>
              </a:lnSpc>
              <a:spcBef>
                <a:spcPts val="535"/>
              </a:spcBef>
              <a:spcAft>
                <a:spcPts val="0"/>
              </a:spcAft>
              <a:buClr>
                <a:srgbClr val="FFFFFF"/>
              </a:buClr>
              <a:buSzPct val="68750"/>
              <a:buFont typeface="Wingdings"/>
              <a:buChar char=""/>
              <a:tabLst>
                <a:tab pos="250190" algn="l"/>
                <a:tab pos="250825" algn="l"/>
              </a:tabLst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Inside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the</a:t>
            </a:r>
            <a:r>
              <a:rPr kumimoji="0" sz="3200" b="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chip, there</a:t>
            </a:r>
            <a:r>
              <a:rPr kumimoji="0" sz="3200" b="0" i="0" u="none" strike="noStrike" kern="1200" cap="none" spc="-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 dedicated</a:t>
            </a:r>
            <a:r>
              <a:rPr kumimoji="0" sz="3200" b="0" i="0" u="none" strike="noStrike" kern="1200" cap="none" spc="-5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unit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which</a:t>
            </a:r>
            <a:r>
              <a:rPr kumimoji="0" sz="3200" b="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provides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 </a:t>
            </a:r>
            <a:r>
              <a:rPr kumimoji="0" sz="3200" b="0" i="0" u="none" strike="noStrike" kern="1200" cap="none" spc="-6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necessary</a:t>
            </a:r>
            <a:r>
              <a:rPr kumimoji="0" sz="3200" b="0" i="0" u="none" strike="noStrike" kern="1200" cap="none" spc="-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support for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testing</a:t>
            </a:r>
            <a:r>
              <a:rPr kumimoji="0" sz="32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and</a:t>
            </a:r>
            <a:r>
              <a:rPr kumimoji="0" sz="32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debugging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.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4945" marR="210185" lvl="0" indent="-182880" algn="l" defTabSz="914400" rtl="0" eaLnBrk="1" fontAlgn="auto" latinLnBrk="0" hangingPunct="1">
              <a:lnSpc>
                <a:spcPts val="3460"/>
              </a:lnSpc>
              <a:spcBef>
                <a:spcPts val="1385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This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unit is designed based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on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specifications of </a:t>
            </a:r>
            <a:r>
              <a:rPr kumimoji="0" sz="3200" b="0" i="0" u="none" strike="noStrike" kern="1200" cap="none" spc="-5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JTAG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(Joint </a:t>
            </a:r>
            <a:r>
              <a:rPr kumimoji="0" sz="3200" b="0" i="0" u="none" strike="noStrike" kern="1200" cap="none" spc="-6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Test</a:t>
            </a:r>
            <a:r>
              <a:rPr kumimoji="0" sz="3200" b="0" i="0" u="none" strike="noStrike" kern="1200" cap="none" spc="-15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Action</a:t>
            </a:r>
            <a:r>
              <a:rPr kumimoji="0" sz="3200" b="0" i="0" u="none" strike="noStrike" kern="1200" cap="none" spc="-15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Group).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4945" marR="5080" lvl="0" indent="-182880" algn="l" defTabSz="914400" rtl="0" eaLnBrk="1" fontAlgn="auto" latinLnBrk="0" hangingPunct="1">
              <a:lnSpc>
                <a:spcPts val="3460"/>
              </a:lnSpc>
              <a:spcBef>
                <a:spcPts val="1395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'boundary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scan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architecture'</a:t>
            </a:r>
            <a:r>
              <a:rPr kumimoji="0" sz="3200" b="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defined</a:t>
            </a:r>
            <a:r>
              <a:rPr kumimoji="0" sz="3200" b="0" i="0" u="none" strike="noStrike" kern="1200" cap="none" spc="-6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which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makes</a:t>
            </a:r>
            <a:r>
              <a:rPr kumimoji="0" sz="3200" b="0" i="0" u="none" strike="noStrike" kern="1200" cap="none" spc="-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it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easy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to </a:t>
            </a:r>
            <a:r>
              <a:rPr kumimoji="0" sz="3200" b="0" i="0" u="none" strike="noStrike" kern="1200" cap="none" spc="-6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test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chip.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811" y="1010488"/>
            <a:ext cx="812863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20" dirty="0">
                <a:latin typeface="Corbel"/>
                <a:cs typeface="Corbel"/>
              </a:rPr>
              <a:t> </a:t>
            </a:r>
            <a:r>
              <a:rPr lang="en-US" sz="4000" spc="20" dirty="0">
                <a:latin typeface="Corbel"/>
                <a:cs typeface="Corbel"/>
              </a:rPr>
              <a:t>5.</a:t>
            </a:r>
            <a:r>
              <a:rPr sz="4000" spc="-10" dirty="0">
                <a:latin typeface="Corbel"/>
                <a:cs typeface="Corbel"/>
              </a:rPr>
              <a:t>EMBEDDED</a:t>
            </a:r>
            <a:r>
              <a:rPr sz="4000" spc="15" dirty="0">
                <a:latin typeface="Corbel"/>
                <a:cs typeface="Corbel"/>
              </a:rPr>
              <a:t> </a:t>
            </a:r>
            <a:r>
              <a:rPr sz="4000" spc="-5" dirty="0">
                <a:latin typeface="Corbel"/>
                <a:cs typeface="Corbel"/>
              </a:rPr>
              <a:t>ICE</a:t>
            </a:r>
            <a:r>
              <a:rPr sz="4000" dirty="0">
                <a:latin typeface="Corbel"/>
                <a:cs typeface="Corbel"/>
              </a:rPr>
              <a:t> </a:t>
            </a:r>
            <a:r>
              <a:rPr sz="4000" spc="-15" dirty="0">
                <a:latin typeface="Corbel"/>
                <a:cs typeface="Corbel"/>
              </a:rPr>
              <a:t>MACRO</a:t>
            </a:r>
            <a:r>
              <a:rPr sz="4000" spc="-165" dirty="0">
                <a:latin typeface="Corbel"/>
                <a:cs typeface="Corbel"/>
              </a:rPr>
              <a:t> </a:t>
            </a:r>
            <a:r>
              <a:rPr sz="4000" spc="-10" dirty="0">
                <a:latin typeface="Corbel"/>
                <a:cs typeface="Corbel"/>
              </a:rPr>
              <a:t>CELL</a:t>
            </a:r>
            <a:endParaRPr sz="4000" dirty="0"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81811" y="1852679"/>
            <a:ext cx="8316595" cy="1696085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955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1105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All</a:t>
            </a:r>
            <a:r>
              <a:rPr kumimoji="0" sz="3200" b="0" i="0" u="none" strike="noStrike" kern="1200" cap="none" spc="-16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ARM processors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need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not have</a:t>
            </a:r>
            <a:r>
              <a:rPr kumimoji="0" sz="3200" b="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this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feature.</a:t>
            </a:r>
            <a:endParaRPr kumimoji="0" sz="3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4945" marR="5080" lvl="0" indent="-182880" algn="l" defTabSz="914400" rtl="0" eaLnBrk="1" fontAlgn="auto" latinLnBrk="0" hangingPunct="1">
              <a:lnSpc>
                <a:spcPts val="3460"/>
              </a:lnSpc>
              <a:spcBef>
                <a:spcPts val="1440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This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 also a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separate</a:t>
            </a:r>
            <a:r>
              <a:rPr kumimoji="0" sz="3200" b="0" i="0" u="none" strike="noStrike" kern="1200" cap="none" spc="-4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'cell'</a:t>
            </a:r>
            <a:r>
              <a:rPr kumimoji="0" sz="3200" b="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to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facilitate</a:t>
            </a:r>
            <a:r>
              <a:rPr kumimoji="0" sz="3200" b="0" i="0" u="none" strike="noStrike" kern="1200" cap="none" spc="-5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advanced </a:t>
            </a:r>
            <a:r>
              <a:rPr kumimoji="0" sz="3200" b="0" i="0" u="none" strike="noStrike" kern="1200" cap="none" spc="-6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debugging.</a:t>
            </a:r>
            <a:endParaRPr kumimoji="0" sz="3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97888" y="981532"/>
            <a:ext cx="54756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10" dirty="0">
                <a:latin typeface="Corbel"/>
                <a:cs typeface="Corbel"/>
              </a:rPr>
              <a:t> </a:t>
            </a:r>
            <a:r>
              <a:rPr lang="en-US" sz="4000" spc="-110" dirty="0">
                <a:latin typeface="Corbel"/>
                <a:cs typeface="Corbel"/>
              </a:rPr>
              <a:t>6.</a:t>
            </a:r>
            <a:r>
              <a:rPr sz="4000" spc="-10" dirty="0">
                <a:latin typeface="Corbel"/>
                <a:cs typeface="Corbel"/>
              </a:rPr>
              <a:t>SYNTHESIZABLE</a:t>
            </a:r>
            <a:endParaRPr sz="4000" dirty="0"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73683" y="2072132"/>
            <a:ext cx="10816590" cy="288544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469265" marR="251460" lvl="0" indent="-457200" algn="l" defTabSz="914400" rtl="0" eaLnBrk="1" fontAlgn="auto" latinLnBrk="0" hangingPunct="1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rgbClr val="FFFFFF"/>
              </a:buClr>
              <a:buSzPct val="68750"/>
              <a:buFont typeface="Arial" panose="020B0604020202020204" pitchFamily="34" charset="0"/>
              <a:buChar char="•"/>
              <a:tabLst>
                <a:tab pos="306705" algn="l"/>
                <a:tab pos="307340" algn="l"/>
              </a:tabLst>
              <a:defRPr/>
            </a:pP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When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3200" b="0" i="0" u="none" strike="noStrike" kern="1200" cap="none" spc="-16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ARM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IP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sold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to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licensee</a:t>
            </a:r>
            <a:r>
              <a:rPr kumimoji="0" sz="3200" b="0" i="0" u="none" strike="noStrike" kern="1200" cap="none" spc="-4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form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an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HDL </a:t>
            </a:r>
            <a:r>
              <a:rPr kumimoji="0" sz="3200" b="0" i="0" u="none" strike="noStrike" kern="1200" cap="none" spc="-6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(Hardware Definition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Language)code, the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buyer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can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flash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this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cod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</a:t>
            </a:r>
            <a:r>
              <a:rPr kumimoji="0" sz="32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FPG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(Field</a:t>
            </a:r>
            <a:r>
              <a:rPr kumimoji="0" sz="3200" b="0" i="0" u="none" strike="noStrike" kern="1200" cap="none" spc="-4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Pr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grammable</a:t>
            </a:r>
            <a:r>
              <a:rPr kumimoji="0" sz="3200" b="0" i="0" u="none" strike="noStrike" kern="1200" cap="none" spc="-16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Gate</a:t>
            </a:r>
            <a:r>
              <a:rPr kumimoji="0" sz="3200" b="0" i="0" u="none" strike="noStrike" kern="1200" cap="none" spc="-16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Array)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,</a:t>
            </a:r>
            <a:r>
              <a:rPr kumimoji="0" sz="32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add  peripherals,</a:t>
            </a:r>
            <a:r>
              <a:rPr kumimoji="0" sz="3200" b="0" i="0" u="none" strike="noStrike" kern="1200" cap="none" spc="-4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make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changes</a:t>
            </a:r>
            <a:r>
              <a:rPr kumimoji="0" sz="3200" b="0" i="0" u="none" strike="noStrike" kern="1200" cap="none" spc="-4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etc.</a:t>
            </a:r>
          </a:p>
          <a:p>
            <a:pPr marL="12065" marR="5080" lvl="0" algn="l" defTabSz="914400" rtl="0" eaLnBrk="1" fontAlgn="auto" latinLnBrk="0" hangingPunct="1">
              <a:lnSpc>
                <a:spcPts val="3460"/>
              </a:lnSpc>
              <a:spcBef>
                <a:spcPts val="1440"/>
              </a:spcBef>
              <a:spcAft>
                <a:spcPts val="0"/>
              </a:spcAft>
              <a:buClrTx/>
              <a:buSzTx/>
              <a:tabLst>
                <a:tab pos="195580" algn="l"/>
              </a:tabLst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Such</a:t>
            </a:r>
            <a:r>
              <a:rPr kumimoji="0" sz="3200" b="0" i="0" u="none" strike="noStrike" kern="1200" cap="none" spc="-16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ARM cores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are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said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to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be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synthesizable'.</a:t>
            </a:r>
            <a:r>
              <a:rPr kumimoji="0" sz="3200" b="0" i="0" u="none" strike="noStrike" kern="1200" cap="none" spc="-1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Some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FPGAs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can </a:t>
            </a:r>
            <a:r>
              <a:rPr kumimoji="0" sz="3200" b="0" i="0" u="none" strike="noStrike" kern="1200" cap="none" spc="-6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also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have</a:t>
            </a:r>
            <a:r>
              <a:rPr kumimoji="0" sz="3200" b="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this</a:t>
            </a:r>
            <a:r>
              <a:rPr kumimoji="0" sz="3200" b="0" i="0" u="none" strike="noStrike" kern="1200" cap="none" spc="-15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ARM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design</a:t>
            </a:r>
            <a:r>
              <a:rPr kumimoji="0" sz="3200" b="0" i="0" u="none" strike="noStrike" kern="1200" cap="none" spc="-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as a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'soft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core'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in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811" y="645922"/>
            <a:ext cx="35471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10" dirty="0">
                <a:latin typeface="Corbel"/>
                <a:cs typeface="Corbel"/>
              </a:rPr>
              <a:t> </a:t>
            </a:r>
            <a:r>
              <a:rPr lang="en-US" sz="4000" spc="-110" dirty="0">
                <a:latin typeface="Corbel"/>
                <a:cs typeface="Corbel"/>
              </a:rPr>
              <a:t>7.</a:t>
            </a:r>
            <a:r>
              <a:rPr sz="4000" spc="-10" dirty="0">
                <a:latin typeface="Corbel"/>
                <a:cs typeface="Corbel"/>
              </a:rPr>
              <a:t>JAZELLE</a:t>
            </a:r>
            <a:endParaRPr sz="4000" dirty="0"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7126" y="1970658"/>
            <a:ext cx="11379835" cy="3113032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94945" marR="5080" lvl="0" indent="-182880" algn="l" defTabSz="914400" rtl="0" eaLnBrk="1" fontAlgn="auto" latinLnBrk="0" hangingPunct="1">
              <a:lnSpc>
                <a:spcPts val="3460"/>
              </a:lnSpc>
              <a:spcBef>
                <a:spcPts val="535"/>
              </a:spcBef>
              <a:spcAft>
                <a:spcPts val="0"/>
              </a:spcAft>
              <a:buClr>
                <a:srgbClr val="FFFFFF"/>
              </a:buClr>
              <a:buSzPct val="68750"/>
              <a:buFont typeface="Wingdings"/>
              <a:buChar char=""/>
              <a:tabLst>
                <a:tab pos="250190" algn="l"/>
                <a:tab pos="250825" algn="l"/>
              </a:tabLst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early</a:t>
            </a:r>
            <a:r>
              <a:rPr kumimoji="0" sz="32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days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</a:t>
            </a:r>
            <a:r>
              <a:rPr kumimoji="0" sz="3200" b="0" i="0" u="none" strike="noStrike" kern="1200" cap="none" spc="-16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ARM,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it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was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common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for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some</a:t>
            </a:r>
            <a:r>
              <a:rPr kumimoji="0" sz="3200" b="0" i="0" u="none" strike="noStrike" kern="1200" cap="none" spc="-14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ARM processors </a:t>
            </a:r>
            <a:r>
              <a:rPr kumimoji="0" sz="3200" b="0" i="0" u="none" strike="noStrike" kern="1200" cap="none" spc="-6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to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execute Java bytecode in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hardware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as a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third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execution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state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along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with</a:t>
            </a:r>
            <a:r>
              <a:rPr kumimoji="0" sz="32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exis</a:t>
            </a:r>
            <a:r>
              <a:rPr kumimoji="0" sz="32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ing</a:t>
            </a:r>
            <a:r>
              <a:rPr kumimoji="0" sz="3200" b="0" i="0" u="none" strike="noStrike" kern="1200" cap="none" spc="-17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and</a:t>
            </a:r>
            <a:r>
              <a:rPr kumimoji="0" sz="3200" b="0" i="0" u="none" strike="noStrike" kern="1200" cap="none" spc="-24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Thu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 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ode.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4945" marR="608330" lvl="0" indent="-182880" algn="l" defTabSz="914400" rtl="0" eaLnBrk="1" fontAlgn="auto" latinLnBrk="0" hangingPunct="1">
              <a:lnSpc>
                <a:spcPts val="3460"/>
              </a:lnSpc>
              <a:spcBef>
                <a:spcPts val="1380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This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useful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to</a:t>
            </a:r>
            <a:r>
              <a:rPr kumimoji="0" sz="3200" b="0" i="0" u="none" strike="noStrike" kern="1200" cap="none" spc="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increase</a:t>
            </a:r>
            <a:r>
              <a:rPr kumimoji="0" sz="3200" b="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3200" b="0" i="0" u="none" strike="noStrike" kern="1200" cap="none" spc="-5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execution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speed</a:t>
            </a:r>
            <a:r>
              <a:rPr kumimoji="0" sz="32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</a:t>
            </a:r>
            <a:r>
              <a:rPr kumimoji="0" sz="3200" b="0" i="0" u="none" strike="noStrike" kern="1200" cap="none" spc="-7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Java</a:t>
            </a:r>
            <a:r>
              <a:rPr kumimoji="0" sz="32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icro</a:t>
            </a:r>
            <a:r>
              <a:rPr kumimoji="0" lang="en-US" sz="32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</a:t>
            </a:r>
            <a:r>
              <a:rPr lang="en-US" sz="3200" spc="-15" dirty="0" err="1">
                <a:latin typeface="Corbel"/>
                <a:cs typeface="Corbel"/>
              </a:rPr>
              <a:t>dition</a:t>
            </a:r>
            <a:r>
              <a:rPr lang="en-US" sz="3200" spc="-15" dirty="0">
                <a:latin typeface="Corbel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games </a:t>
            </a:r>
            <a:r>
              <a:rPr kumimoji="0" sz="3200" b="0" i="0" u="none" strike="noStrike" kern="1200" cap="none" spc="-6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and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applications.</a:t>
            </a:r>
          </a:p>
          <a:p>
            <a:pPr marL="1955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965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Such</a:t>
            </a:r>
            <a:r>
              <a:rPr kumimoji="0" sz="32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an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extension</a:t>
            </a:r>
            <a:r>
              <a:rPr kumimoji="0" sz="32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</a:t>
            </a:r>
            <a:r>
              <a:rPr kumimoji="0" sz="3200" b="0" i="0" u="none" strike="noStrike" kern="1200" cap="none" spc="-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now</a:t>
            </a:r>
            <a:r>
              <a:rPr lang="en-US" sz="3200" spc="-10" dirty="0">
                <a:latin typeface="Corbel"/>
                <a:cs typeface="Corbel"/>
              </a:rPr>
              <a:t> not in use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.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811" y="645922"/>
            <a:ext cx="89649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spc="15" dirty="0">
                <a:latin typeface="Corbel"/>
                <a:cs typeface="Corbel"/>
              </a:rPr>
              <a:t>8.</a:t>
            </a:r>
            <a:r>
              <a:rPr sz="4000" spc="15" dirty="0">
                <a:latin typeface="Corbel"/>
                <a:cs typeface="Corbel"/>
              </a:rPr>
              <a:t> </a:t>
            </a:r>
            <a:r>
              <a:rPr sz="4000" spc="-5" dirty="0">
                <a:latin typeface="Corbel"/>
                <a:cs typeface="Corbel"/>
              </a:rPr>
              <a:t>ENHANCED</a:t>
            </a:r>
            <a:r>
              <a:rPr sz="4000" spc="5" dirty="0">
                <a:latin typeface="Corbel"/>
                <a:cs typeface="Corbel"/>
              </a:rPr>
              <a:t> </a:t>
            </a:r>
            <a:r>
              <a:rPr sz="4000" spc="-5" dirty="0">
                <a:latin typeface="Corbel"/>
                <a:cs typeface="Corbel"/>
              </a:rPr>
              <a:t>DSP INSTRUCTIONS</a:t>
            </a:r>
            <a:endParaRPr sz="4000" dirty="0"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4558" y="1901564"/>
            <a:ext cx="11158220" cy="2732158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955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1105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ARM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to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make</a:t>
            </a:r>
            <a:r>
              <a:rPr kumimoji="0" sz="32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useful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advanced</a:t>
            </a:r>
            <a:r>
              <a:rPr kumimoji="0" sz="3200" b="0" i="0" u="none" strike="noStrike" kern="1200" cap="none" spc="-4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signal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processing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applications, It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was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necessary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to add advanced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signal processing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instructions in </a:t>
            </a:r>
            <a:r>
              <a:rPr kumimoji="0" sz="3200" b="0" i="0" u="none" strike="noStrike" kern="1200" cap="none" spc="-6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processor.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55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965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Such</a:t>
            </a:r>
            <a:r>
              <a:rPr kumimoji="0" sz="32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processors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would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have</a:t>
            </a:r>
            <a:r>
              <a:rPr kumimoji="0" sz="3200" b="0" i="0" u="none" strike="noStrike" kern="1200" cap="none" spc="-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DSP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instructions</a:t>
            </a:r>
            <a:r>
              <a:rPr lang="en-US" sz="3200" dirty="0">
                <a:latin typeface="Corbel"/>
                <a:cs typeface="Corbel"/>
              </a:rPr>
              <a:t>,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which</a:t>
            </a:r>
            <a:r>
              <a:rPr kumimoji="0" sz="3200" b="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meant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that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specialized</a:t>
            </a:r>
            <a:r>
              <a:rPr kumimoji="0" sz="3200" b="0" i="0" u="none" strike="noStrike" kern="1200" cap="none" spc="-5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DSP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hardware</a:t>
            </a:r>
            <a:r>
              <a:rPr kumimoji="0" sz="3200" b="0" i="0" u="none" strike="noStrike" kern="1200" cap="none" spc="-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 available</a:t>
            </a:r>
            <a:r>
              <a:rPr kumimoji="0" sz="3200" b="0" i="0" u="none" strike="noStrike" kern="1200" cap="none" spc="-5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them.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6416" y="939546"/>
            <a:ext cx="87344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spc="-254" dirty="0">
                <a:latin typeface="Corbel"/>
                <a:cs typeface="Corbel"/>
              </a:rPr>
              <a:t>9.</a:t>
            </a:r>
            <a:r>
              <a:rPr sz="4000" spc="-254" dirty="0">
                <a:latin typeface="Corbel"/>
                <a:cs typeface="Corbel"/>
              </a:rPr>
              <a:t> </a:t>
            </a:r>
            <a:r>
              <a:rPr sz="4000" spc="-5" dirty="0">
                <a:latin typeface="Corbel"/>
                <a:cs typeface="Corbel"/>
              </a:rPr>
              <a:t>VEC</a:t>
            </a:r>
            <a:r>
              <a:rPr sz="4000" spc="-100" dirty="0">
                <a:latin typeface="Corbel"/>
                <a:cs typeface="Corbel"/>
              </a:rPr>
              <a:t>T</a:t>
            </a:r>
            <a:r>
              <a:rPr sz="4000" spc="-10" dirty="0">
                <a:latin typeface="Corbel"/>
                <a:cs typeface="Corbel"/>
              </a:rPr>
              <a:t>O</a:t>
            </a:r>
            <a:r>
              <a:rPr sz="4000" spc="-5" dirty="0">
                <a:latin typeface="Corbel"/>
                <a:cs typeface="Corbel"/>
              </a:rPr>
              <a:t>R</a:t>
            </a:r>
            <a:r>
              <a:rPr sz="4000" spc="15" dirty="0">
                <a:latin typeface="Corbel"/>
                <a:cs typeface="Corbel"/>
              </a:rPr>
              <a:t> </a:t>
            </a:r>
            <a:r>
              <a:rPr sz="4000" spc="-5" dirty="0">
                <a:latin typeface="Corbel"/>
                <a:cs typeface="Corbel"/>
              </a:rPr>
              <a:t>F</a:t>
            </a:r>
            <a:r>
              <a:rPr sz="4000" spc="-170" dirty="0">
                <a:latin typeface="Corbel"/>
                <a:cs typeface="Corbel"/>
              </a:rPr>
              <a:t>L</a:t>
            </a:r>
            <a:r>
              <a:rPr sz="4000" spc="-35" dirty="0">
                <a:latin typeface="Corbel"/>
                <a:cs typeface="Corbel"/>
              </a:rPr>
              <a:t>O</a:t>
            </a:r>
            <a:r>
              <a:rPr sz="4000" spc="-220" dirty="0">
                <a:latin typeface="Corbel"/>
                <a:cs typeface="Corbel"/>
              </a:rPr>
              <a:t>A</a:t>
            </a:r>
            <a:r>
              <a:rPr sz="4000" spc="-10" dirty="0">
                <a:latin typeface="Corbel"/>
                <a:cs typeface="Corbel"/>
              </a:rPr>
              <a:t>TIN</a:t>
            </a:r>
            <a:r>
              <a:rPr sz="4000" spc="-5" dirty="0">
                <a:latin typeface="Corbel"/>
                <a:cs typeface="Corbel"/>
              </a:rPr>
              <a:t>G</a:t>
            </a:r>
            <a:r>
              <a:rPr sz="4000" spc="20" dirty="0">
                <a:latin typeface="Corbel"/>
                <a:cs typeface="Corbel"/>
              </a:rPr>
              <a:t> </a:t>
            </a:r>
            <a:r>
              <a:rPr sz="4000" spc="-5" dirty="0">
                <a:latin typeface="Corbel"/>
                <a:cs typeface="Corbel"/>
              </a:rPr>
              <a:t>POINT</a:t>
            </a:r>
            <a:r>
              <a:rPr sz="4000" spc="-110" dirty="0">
                <a:latin typeface="Corbel"/>
                <a:cs typeface="Corbel"/>
              </a:rPr>
              <a:t> </a:t>
            </a:r>
            <a:r>
              <a:rPr sz="4000" spc="-10" dirty="0">
                <a:latin typeface="Corbel"/>
                <a:cs typeface="Corbel"/>
              </a:rPr>
              <a:t>UNIT</a:t>
            </a:r>
            <a:endParaRPr sz="4000" dirty="0"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4443" y="2304414"/>
            <a:ext cx="9331960" cy="139192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95580" marR="5080" lvl="0" indent="-182880" algn="l" defTabSz="914400" rtl="0" eaLnBrk="1" fontAlgn="auto" latinLnBrk="0" hangingPunct="1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lang="en-US" sz="3200" dirty="0">
                <a:latin typeface="Corbel"/>
                <a:cs typeface="Corbel"/>
              </a:rPr>
              <a:t>S</a:t>
            </a:r>
            <a:r>
              <a:rPr kumimoji="0" sz="3200" b="0" i="0" u="none" strike="noStrike" kern="1200" cap="none" spc="-5" normalizeH="0" baseline="0" noProof="0" dirty="0" err="1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pecialized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hardware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implies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support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for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single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and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double</a:t>
            </a:r>
            <a:r>
              <a:rPr kumimoji="0" sz="3200" b="0" i="0" u="none" strike="noStrike" kern="1200" cap="none" spc="-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precision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arithmetic</a:t>
            </a:r>
            <a:r>
              <a:rPr kumimoji="0" sz="3200" b="0" i="0" u="none" strike="noStrike" kern="1200" cap="none" spc="-5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which</a:t>
            </a:r>
            <a:r>
              <a:rPr kumimoji="0" sz="3200" b="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enables</a:t>
            </a:r>
            <a:r>
              <a:rPr kumimoji="0" sz="3200" b="0" i="0" u="none" strike="noStrike" kern="1200" cap="none" spc="-4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floating </a:t>
            </a:r>
            <a:r>
              <a:rPr kumimoji="0" sz="3200" b="0" i="0" u="none" strike="noStrike" kern="1200" cap="none" spc="-6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point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computations.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385" y="967486"/>
            <a:ext cx="67627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0" dirty="0">
                <a:latin typeface="Corbel"/>
                <a:cs typeface="Corbel"/>
              </a:rPr>
              <a:t> </a:t>
            </a:r>
            <a:r>
              <a:rPr sz="4000" spc="-5" dirty="0">
                <a:latin typeface="Corbel"/>
                <a:cs typeface="Corbel"/>
              </a:rPr>
              <a:t>NAMING</a:t>
            </a:r>
            <a:r>
              <a:rPr sz="4000" spc="-170" dirty="0">
                <a:latin typeface="Corbel"/>
                <a:cs typeface="Corbel"/>
              </a:rPr>
              <a:t> </a:t>
            </a:r>
            <a:r>
              <a:rPr sz="4000" spc="-5" dirty="0">
                <a:latin typeface="Corbel"/>
                <a:cs typeface="Corbel"/>
              </a:rPr>
              <a:t>CONVENTIONS</a:t>
            </a:r>
            <a:endParaRPr sz="4000" dirty="0"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7385" y="1807311"/>
            <a:ext cx="11457940" cy="4712187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195580" marR="0" lvl="0" indent="-182880" algn="just" defTabSz="914400" rtl="0" eaLnBrk="1" fontAlgn="auto" latinLnBrk="0" hangingPunct="1">
              <a:lnSpc>
                <a:spcPct val="100000"/>
              </a:lnSpc>
              <a:spcBef>
                <a:spcPts val="735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Naming</a:t>
            </a:r>
            <a:r>
              <a:rPr kumimoji="0" sz="3200" b="0" i="0" u="none" strike="noStrike" kern="1200" cap="none" spc="-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convention</a:t>
            </a:r>
            <a:r>
              <a:rPr kumimoji="0" sz="32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 associated</a:t>
            </a:r>
            <a:r>
              <a:rPr kumimoji="0" sz="3200" b="0" i="0" u="none" strike="noStrike" kern="1200" cap="none" spc="-4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with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processor.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5580" marR="6350" lvl="0" indent="-182880" algn="just" defTabSz="914400" rtl="0" eaLnBrk="1" fontAlgn="auto" latinLnBrk="0" hangingPunct="1">
              <a:lnSpc>
                <a:spcPts val="3070"/>
              </a:lnSpc>
              <a:spcBef>
                <a:spcPts val="1380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most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popular ARM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processor is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ARM7 TDMI (Thumb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Debug 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Multiplier</a:t>
            </a:r>
            <a:r>
              <a:rPr kumimoji="0" sz="3200" b="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circuit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Emulator)</a:t>
            </a:r>
          </a:p>
          <a:p>
            <a:pPr marL="195580" marR="5080" lvl="0" indent="-182880" algn="just" defTabSz="914400" rtl="0" eaLnBrk="1" fontAlgn="auto" latinLnBrk="0" hangingPunct="1">
              <a:lnSpc>
                <a:spcPts val="3070"/>
              </a:lnSpc>
              <a:spcBef>
                <a:spcPts val="1395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lang="en-IN" sz="3200" spc="-5" dirty="0">
                <a:latin typeface="Corbel"/>
                <a:cs typeface="Corbel"/>
              </a:rPr>
              <a:t>W</a:t>
            </a:r>
            <a:r>
              <a:rPr kumimoji="0" lang="en-IN" sz="3200" b="0" i="0" u="none" strike="noStrike" kern="1200" cap="none" spc="-5" normalizeH="0" baseline="0" noProof="0" dirty="0" err="1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hich</a:t>
            </a:r>
            <a:r>
              <a:rPr kumimoji="0" lang="en-IN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means </a:t>
            </a:r>
            <a:r>
              <a:rPr kumimoji="0" lang="en-IN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an ARM7 processor with </a:t>
            </a:r>
            <a:r>
              <a:rPr kumimoji="0" lang="en-IN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Thumb extension </a:t>
            </a:r>
            <a:r>
              <a:rPr kumimoji="0" lang="en-IN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(T), Debug </a:t>
            </a:r>
            <a:r>
              <a:rPr kumimoji="0" lang="en-IN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lang="en-IN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interface</a:t>
            </a:r>
            <a:r>
              <a:rPr kumimoji="0" lang="en-IN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lang="en-IN" sz="3200" b="0" i="0" u="none" strike="noStrike" kern="1200" cap="none" spc="-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(D),</a:t>
            </a:r>
            <a:r>
              <a:rPr kumimoji="0" lang="en-IN" sz="32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lang="en-IN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long</a:t>
            </a:r>
            <a:r>
              <a:rPr kumimoji="0" lang="en-IN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lang="en-IN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multiplier</a:t>
            </a:r>
            <a:r>
              <a:rPr kumimoji="0" lang="en-IN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(M)</a:t>
            </a:r>
            <a:r>
              <a:rPr kumimoji="0" lang="en-IN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lang="en-IN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and</a:t>
            </a:r>
            <a:r>
              <a:rPr kumimoji="0" lang="en-IN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lang="en-IN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an</a:t>
            </a:r>
            <a:r>
              <a:rPr kumimoji="0" lang="en-IN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ICE</a:t>
            </a:r>
            <a:r>
              <a:rPr kumimoji="0" lang="en-IN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lang="en-IN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macro</a:t>
            </a:r>
            <a:r>
              <a:rPr kumimoji="0" lang="en-IN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lang="en-IN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cell.(I). </a:t>
            </a:r>
            <a:r>
              <a:rPr kumimoji="0" lang="en-IN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ARM7TDMI-E</a:t>
            </a:r>
            <a:r>
              <a:rPr kumimoji="0" lang="en-IN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lang="en-IN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means</a:t>
            </a:r>
            <a:r>
              <a:rPr kumimoji="0" lang="en-IN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lang="en-IN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that</a:t>
            </a:r>
            <a:r>
              <a:rPr kumimoji="0" lang="en-IN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DSP</a:t>
            </a:r>
            <a:r>
              <a:rPr kumimoji="0" lang="en-IN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lang="en-IN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extensions</a:t>
            </a:r>
            <a:r>
              <a:rPr kumimoji="0" lang="en-IN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lang="en-IN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are</a:t>
            </a:r>
            <a:r>
              <a:rPr kumimoji="0" lang="en-IN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lang="en-IN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available,</a:t>
            </a:r>
            <a:r>
              <a:rPr kumimoji="0" lang="en-IN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and </a:t>
            </a:r>
            <a:r>
              <a:rPr kumimoji="0" lang="en-IN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lang="en-IN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ARM7TDMI-S</a:t>
            </a:r>
            <a:r>
              <a:rPr kumimoji="0" lang="en-IN" sz="32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lang="en-IN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means</a:t>
            </a:r>
            <a:r>
              <a:rPr kumimoji="0" lang="en-IN" sz="32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lang="en-IN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that</a:t>
            </a:r>
            <a:r>
              <a:rPr kumimoji="0" lang="en-IN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lang="en-IN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it</a:t>
            </a:r>
            <a:r>
              <a:rPr kumimoji="0" lang="en-IN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lang="en-IN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</a:t>
            </a:r>
            <a:r>
              <a:rPr kumimoji="0" lang="en-IN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lang="en-IN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</a:t>
            </a:r>
            <a:r>
              <a:rPr kumimoji="0" lang="en-IN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lang="en-IN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synthesizable</a:t>
            </a:r>
            <a:r>
              <a:rPr kumimoji="0" lang="en-IN" sz="3200" b="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lang="en-IN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form.</a:t>
            </a:r>
            <a:endParaRPr kumimoji="0" lang="en-IN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5580" marR="5080" lvl="0" indent="-182880" algn="just" defTabSz="914400" rtl="0" eaLnBrk="1" fontAlgn="auto" latinLnBrk="0" hangingPunct="1">
              <a:lnSpc>
                <a:spcPts val="3070"/>
              </a:lnSpc>
              <a:spcBef>
                <a:spcPts val="1415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These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naming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conventions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are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not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used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for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the</a:t>
            </a:r>
            <a:r>
              <a:rPr kumimoji="0" sz="32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new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ARM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processors, but many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ARM7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processor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capabilities can be gauged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by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this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convention.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7186" y="969264"/>
            <a:ext cx="10032493" cy="56144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8429" y="971118"/>
            <a:ext cx="10401458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55" dirty="0">
                <a:latin typeface="Corbel"/>
                <a:cs typeface="Corbel"/>
              </a:rPr>
              <a:t> </a:t>
            </a:r>
            <a:r>
              <a:rPr sz="4000" spc="-10" dirty="0">
                <a:solidFill>
                  <a:srgbClr val="00B0F0"/>
                </a:solidFill>
                <a:latin typeface="Corbel"/>
                <a:cs typeface="Corbel"/>
              </a:rPr>
              <a:t>AR</a:t>
            </a:r>
            <a:r>
              <a:rPr sz="4000" spc="-5" dirty="0">
                <a:solidFill>
                  <a:srgbClr val="00B0F0"/>
                </a:solidFill>
                <a:latin typeface="Corbel"/>
                <a:cs typeface="Corbel"/>
              </a:rPr>
              <a:t>M </a:t>
            </a:r>
            <a:r>
              <a:rPr lang="en-IN" sz="4000" dirty="0">
                <a:solidFill>
                  <a:srgbClr val="00B0F0"/>
                </a:solidFill>
                <a:latin typeface="Corbel"/>
                <a:cs typeface="Corbel"/>
              </a:rPr>
              <a:t>Instruction</a:t>
            </a:r>
            <a:r>
              <a:rPr lang="en-IN" sz="4000" spc="-90" dirty="0">
                <a:solidFill>
                  <a:srgbClr val="00B0F0"/>
                </a:solidFill>
                <a:latin typeface="Corbel"/>
                <a:cs typeface="Corbel"/>
              </a:rPr>
              <a:t> </a:t>
            </a:r>
            <a:r>
              <a:rPr lang="en-IN" sz="4000" dirty="0">
                <a:solidFill>
                  <a:srgbClr val="00B0F0"/>
                </a:solidFill>
                <a:latin typeface="Corbel"/>
                <a:cs typeface="Corbel"/>
              </a:rPr>
              <a:t>Set</a:t>
            </a:r>
            <a:r>
              <a:rPr lang="en-IN" sz="4000" spc="-155" dirty="0">
                <a:solidFill>
                  <a:srgbClr val="00B0F0"/>
                </a:solidFill>
                <a:latin typeface="Corbel"/>
                <a:cs typeface="Corbel"/>
              </a:rPr>
              <a:t> </a:t>
            </a:r>
            <a:r>
              <a:rPr lang="en-IN" sz="4000" spc="-5" dirty="0">
                <a:solidFill>
                  <a:srgbClr val="00B0F0"/>
                </a:solidFill>
                <a:latin typeface="Corbel"/>
                <a:cs typeface="Corbel"/>
              </a:rPr>
              <a:t>Architecture</a:t>
            </a:r>
            <a:r>
              <a:rPr sz="4000" spc="-265" dirty="0" smtClean="0">
                <a:solidFill>
                  <a:srgbClr val="00B0F0"/>
                </a:solidFill>
                <a:latin typeface="Corbel"/>
                <a:cs typeface="Corbel"/>
              </a:rPr>
              <a:t> </a:t>
            </a:r>
            <a:r>
              <a:rPr lang="en-IN" sz="4000" spc="-225" dirty="0" smtClean="0">
                <a:solidFill>
                  <a:srgbClr val="00B0F0"/>
                </a:solidFill>
                <a:latin typeface="Corbel"/>
                <a:cs typeface="Corbel"/>
              </a:rPr>
              <a:t>V</a:t>
            </a:r>
            <a:r>
              <a:rPr lang="en-IN" sz="4000" spc="-10" dirty="0" smtClean="0">
                <a:solidFill>
                  <a:srgbClr val="00B0F0"/>
                </a:solidFill>
                <a:latin typeface="Corbel"/>
                <a:cs typeface="Corbel"/>
              </a:rPr>
              <a:t>ariants</a:t>
            </a:r>
            <a:endParaRPr lang="en-IN" sz="4000" dirty="0">
              <a:solidFill>
                <a:srgbClr val="00B0F0"/>
              </a:solidFill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4753" y="1843252"/>
            <a:ext cx="10985500" cy="4663456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95580" marR="0" lvl="0" indent="-183515" algn="l" defTabSz="914400" rtl="0" eaLnBrk="1" fontAlgn="auto" latinLnBrk="0" hangingPunct="1">
              <a:lnSpc>
                <a:spcPct val="100000"/>
              </a:lnSpc>
              <a:spcBef>
                <a:spcPts val="1105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6215" algn="l"/>
              </a:tabLst>
              <a:defRPr/>
            </a:pP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first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Instruction</a:t>
            </a:r>
            <a:r>
              <a:rPr kumimoji="0" sz="3200" b="0" i="0" u="none" strike="noStrike" kern="1200" cap="none" spc="-9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Set</a:t>
            </a:r>
            <a:r>
              <a:rPr kumimoji="0" sz="3200" b="0" i="0" u="none" strike="noStrike" kern="1200" cap="none" spc="-15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Architecture</a:t>
            </a:r>
            <a:r>
              <a:rPr kumimoji="0" sz="3200" b="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</a:t>
            </a:r>
            <a:r>
              <a:rPr kumimoji="0" sz="3200" b="0" i="0" u="none" strike="noStrike" kern="1200" cap="none" spc="-14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ARM7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was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called</a:t>
            </a:r>
            <a:r>
              <a:rPr kumimoji="0" sz="3200" b="0" i="0" u="none" strike="noStrike" kern="1200" cap="none" spc="-15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ARMv4.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5580" marR="0" lvl="0" indent="-183515" algn="l" defTabSz="914400" rtl="0" eaLnBrk="1" fontAlgn="auto" latinLnBrk="0" hangingPunct="1">
              <a:lnSpc>
                <a:spcPct val="100000"/>
              </a:lnSpc>
              <a:spcBef>
                <a:spcPts val="1010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6215" algn="l"/>
              </a:tabLst>
              <a:defRPr/>
            </a:pP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With</a:t>
            </a:r>
            <a:r>
              <a:rPr kumimoji="0" sz="32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</a:t>
            </a:r>
            <a:r>
              <a:rPr kumimoji="0" sz="3200" b="0" i="0" u="none" strike="noStrike" kern="1200" cap="none" spc="-229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Thu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 exten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ion,</a:t>
            </a:r>
            <a:r>
              <a:rPr kumimoji="0" sz="32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it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cam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</a:t>
            </a:r>
            <a:r>
              <a:rPr kumimoji="0" sz="32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be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calle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d</a:t>
            </a:r>
            <a:r>
              <a:rPr kumimoji="0" sz="3200" b="0" i="0" u="none" strike="noStrike" kern="1200" cap="none" spc="-19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ARMv4</a:t>
            </a:r>
            <a:r>
              <a:rPr kumimoji="0" sz="3200" b="0" i="0" u="none" strike="noStrike" kern="1200" cap="none" spc="-2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.</a:t>
            </a:r>
          </a:p>
          <a:p>
            <a:pPr marL="195580" marR="311150" lvl="0" indent="-183515" algn="l" defTabSz="914400" rtl="0" eaLnBrk="1" fontAlgn="auto" latinLnBrk="0" hangingPunct="1">
              <a:lnSpc>
                <a:spcPts val="3460"/>
              </a:lnSpc>
              <a:spcBef>
                <a:spcPts val="1450"/>
              </a:spcBef>
              <a:spcAft>
                <a:spcPts val="0"/>
              </a:spcAft>
              <a:buClr>
                <a:srgbClr val="FFFFFF"/>
              </a:buClr>
              <a:buSzTx/>
              <a:buFont typeface="Wingdings"/>
              <a:buChar char=""/>
              <a:tabLst>
                <a:tab pos="249554" algn="l"/>
              </a:tabLst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32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next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ISA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was</a:t>
            </a:r>
            <a:r>
              <a:rPr kumimoji="0" sz="3200" b="0" i="0" u="none" strike="noStrike" kern="1200" cap="none" spc="-16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ARMv5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and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used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for</a:t>
            </a:r>
            <a:r>
              <a:rPr kumimoji="0" sz="3200" b="0" i="0" u="none" strike="noStrike" kern="1200" cap="none" spc="-14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ARM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9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and</a:t>
            </a:r>
            <a:r>
              <a:rPr kumimoji="0" sz="32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it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implied</a:t>
            </a:r>
            <a:r>
              <a:rPr kumimoji="0" sz="3200" b="0" i="0" u="none" strike="noStrike" kern="1200" cap="none" spc="-5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 </a:t>
            </a:r>
            <a:r>
              <a:rPr kumimoji="0" sz="3200" b="0" i="0" u="none" strike="noStrike" kern="1200" cap="none" spc="-6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Thumb set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inherent</a:t>
            </a:r>
            <a:r>
              <a:rPr kumimoji="0" sz="32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it.</a:t>
            </a:r>
          </a:p>
          <a:p>
            <a:pPr marL="195580" marR="0" lvl="0" indent="-183515" algn="l" defTabSz="914400" rtl="0" eaLnBrk="1" fontAlgn="auto" latinLnBrk="0" hangingPunct="1">
              <a:lnSpc>
                <a:spcPct val="100000"/>
              </a:lnSpc>
              <a:spcBef>
                <a:spcPts val="965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6215" algn="l"/>
              </a:tabLst>
              <a:defRPr/>
            </a:pP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With</a:t>
            </a:r>
            <a:r>
              <a:rPr kumimoji="0" sz="32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DSP instructions added</a:t>
            </a:r>
            <a:r>
              <a:rPr kumimoji="0" sz="3200" b="0" i="0" u="none" strike="noStrike" kern="1200" cap="none" spc="-4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,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ISA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became</a:t>
            </a:r>
            <a:r>
              <a:rPr kumimoji="0" sz="3200" b="0" i="0" u="none" strike="noStrike" kern="1200" cap="none" spc="-17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ARMv5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.</a:t>
            </a:r>
          </a:p>
          <a:p>
            <a:pPr marL="195580" marR="59055" lvl="0" indent="-183515" algn="l" defTabSz="914400" rtl="0" eaLnBrk="1" fontAlgn="auto" latinLnBrk="0" hangingPunct="1">
              <a:lnSpc>
                <a:spcPts val="3460"/>
              </a:lnSpc>
              <a:spcBef>
                <a:spcPts val="1440"/>
              </a:spcBef>
              <a:spcAft>
                <a:spcPts val="0"/>
              </a:spcAft>
              <a:buClr>
                <a:srgbClr val="FFFFFF"/>
              </a:buClr>
              <a:buSzTx/>
              <a:buFont typeface="Wingdings"/>
              <a:buChar char=""/>
              <a:tabLst>
                <a:tab pos="249554" algn="l"/>
              </a:tabLst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32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next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ISA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series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was</a:t>
            </a:r>
            <a:r>
              <a:rPr kumimoji="0" sz="3200" b="0" i="0" u="none" strike="noStrike" kern="1200" cap="none" spc="-15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ARMv6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and</a:t>
            </a:r>
            <a:r>
              <a:rPr kumimoji="0" sz="3200" b="0" i="0" u="none" strike="noStrike" kern="1200" cap="none" spc="-16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ARMv7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and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used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for</a:t>
            </a:r>
            <a:r>
              <a:rPr kumimoji="0" sz="3200" b="0" i="0" u="none" strike="noStrike" kern="1200" cap="none" spc="-1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ARM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11 </a:t>
            </a:r>
            <a:r>
              <a:rPr kumimoji="0" sz="3200" b="0" i="0" u="none" strike="noStrike" kern="1200" cap="none" spc="-6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as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well</a:t>
            </a:r>
            <a:r>
              <a:rPr kumimoji="0" sz="3200" b="0" i="0" u="none" strike="noStrike" kern="1200" cap="none" spc="-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as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for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3200" b="0" i="0" u="none" strike="noStrike" kern="1200" cap="none" spc="-15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Cortex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series.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5580" marR="0" lvl="0" indent="-183515" algn="l" defTabSz="914400" rtl="0" eaLnBrk="1" fontAlgn="auto" latinLnBrk="0" hangingPunct="1">
              <a:lnSpc>
                <a:spcPct val="100000"/>
              </a:lnSpc>
              <a:spcBef>
                <a:spcPts val="970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6215" algn="l"/>
              </a:tabLst>
              <a:defRPr/>
            </a:pP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3200" b="0" i="0" u="none" strike="noStrike" kern="1200" cap="none" spc="-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latest</a:t>
            </a:r>
            <a:r>
              <a:rPr kumimoji="0" sz="32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ISA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for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64</a:t>
            </a:r>
            <a:r>
              <a:rPr kumimoji="0" sz="32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bit</a:t>
            </a:r>
            <a:r>
              <a:rPr kumimoji="0" sz="3200" b="0" i="0" u="none" strike="noStrike" kern="1200" cap="none" spc="-14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ARM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</a:t>
            </a:r>
            <a:r>
              <a:rPr kumimoji="0" sz="3200" b="0" i="0" u="none" strike="noStrike" kern="1200" cap="none" spc="-16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ARMv8.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1256" y="996442"/>
            <a:ext cx="57511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60" dirty="0">
                <a:latin typeface="Corbel"/>
                <a:cs typeface="Corbel"/>
              </a:rPr>
              <a:t> </a:t>
            </a:r>
            <a:r>
              <a:rPr lang="en-US" sz="4000" spc="-160" dirty="0" smtClean="0">
                <a:latin typeface="Corbel"/>
                <a:cs typeface="Corbel"/>
              </a:rPr>
              <a:t>4.2 </a:t>
            </a:r>
            <a:r>
              <a:rPr sz="4000" spc="-5" dirty="0" smtClean="0">
                <a:solidFill>
                  <a:srgbClr val="00B0F0"/>
                </a:solidFill>
                <a:latin typeface="Corbel"/>
                <a:cs typeface="Corbel"/>
              </a:rPr>
              <a:t>ARM7 </a:t>
            </a:r>
            <a:r>
              <a:rPr sz="4000" spc="-5" dirty="0">
                <a:solidFill>
                  <a:srgbClr val="00B0F0"/>
                </a:solidFill>
                <a:latin typeface="Corbel"/>
                <a:cs typeface="Corbel"/>
              </a:rPr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1256" y="1813194"/>
            <a:ext cx="11832892" cy="4851328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250190" marR="0" lvl="0" indent="-238125" algn="l" defTabSz="914400" rtl="0" eaLnBrk="1" fontAlgn="auto" latinLnBrk="0" hangingPunct="1">
              <a:lnSpc>
                <a:spcPct val="100000"/>
              </a:lnSpc>
              <a:spcBef>
                <a:spcPts val="1110"/>
              </a:spcBef>
              <a:spcAft>
                <a:spcPts val="0"/>
              </a:spcAft>
              <a:buClrTx/>
              <a:buSzPct val="68750"/>
              <a:buFont typeface="Wingdings"/>
              <a:buChar char=""/>
              <a:tabLst>
                <a:tab pos="250190" algn="l"/>
                <a:tab pos="250825" algn="l"/>
              </a:tabLst>
              <a:defRPr/>
            </a:pPr>
            <a:r>
              <a:rPr kumimoji="0" sz="3200" b="0" i="0" u="none" strike="noStrike" kern="1200" cap="none" spc="-6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We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have</a:t>
            </a:r>
            <a:r>
              <a:rPr kumimoji="0" sz="3200" b="0" i="0" u="none" strike="noStrike" kern="1200" cap="none" spc="-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seen</a:t>
            </a:r>
            <a:r>
              <a:rPr kumimoji="0" sz="3200" b="0" i="0" u="none" strike="noStrike" kern="1200" cap="none" spc="-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basic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aspects</a:t>
            </a:r>
            <a:r>
              <a:rPr kumimoji="0" sz="32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3200" b="0" i="0" u="none" strike="noStrike" kern="1200" cap="none" spc="-16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ARM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architecture</a:t>
            </a:r>
          </a:p>
          <a:p>
            <a:pPr marL="1955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1019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3200" b="0" i="0" u="none" strike="noStrike" kern="1200" cap="none" spc="-2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ypical</a:t>
            </a:r>
            <a:r>
              <a:rPr kumimoji="0" sz="3200" b="0" i="0" u="none" strike="noStrike" kern="1200" cap="none" spc="-18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ARM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7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processor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as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show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</a:t>
            </a:r>
            <a:r>
              <a:rPr kumimoji="0" sz="3200" b="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block 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d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iagram</a:t>
            </a:r>
          </a:p>
          <a:p>
            <a:pPr marL="1955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1025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Not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tha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it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 an</a:t>
            </a:r>
            <a:r>
              <a:rPr kumimoji="0" sz="3200" b="0" i="0" u="none" strike="noStrike" kern="1200" cap="none" spc="-16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ARM7TD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</a:t>
            </a:r>
            <a:r>
              <a:rPr kumimoji="0" sz="3200" b="0" i="0" u="none" strike="noStrike" kern="1200" cap="none" spc="-1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CP</a:t>
            </a:r>
            <a:r>
              <a:rPr kumimoji="0" sz="3200" b="0" i="0" u="none" strike="noStrike" kern="1200" cap="none" spc="-8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U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.</a:t>
            </a:r>
          </a:p>
          <a:p>
            <a:pPr marL="1955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1019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3200" b="0" i="0" u="none" strike="noStrike" kern="1200" cap="none" spc="-6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We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start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with</a:t>
            </a:r>
            <a:r>
              <a:rPr kumimoji="0" sz="3200" b="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programmers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model.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55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1019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lang="en-US" sz="3200" dirty="0">
                <a:latin typeface="Corbel"/>
                <a:cs typeface="Corbel"/>
              </a:rPr>
              <a:t>A programmer model is the view of the processor in terms of its registers and its instruction set.</a:t>
            </a:r>
          </a:p>
          <a:p>
            <a:pPr marL="1955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1019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lang="en-US" sz="3200" dirty="0">
                <a:latin typeface="Corbel"/>
                <a:cs typeface="Corbel"/>
              </a:rPr>
              <a:t>It can operate in ARM and THUMB states.</a:t>
            </a:r>
          </a:p>
          <a:p>
            <a:pPr marL="1955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1019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endParaRPr kumimoji="0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3683" y="797648"/>
            <a:ext cx="11067691" cy="651460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3600" spc="-5" dirty="0">
                <a:solidFill>
                  <a:srgbClr val="00B0F0"/>
                </a:solidFill>
                <a:latin typeface="Corbel"/>
                <a:cs typeface="Corbel"/>
              </a:rPr>
              <a:t>BLOCK DIAGRAM OF A TYPICAL ARM7  PROCESSOR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2436" y="1944622"/>
            <a:ext cx="9176004" cy="485546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5436" y="745972"/>
            <a:ext cx="10280650" cy="4780915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250190" marR="0" lvl="0" indent="-238125" algn="l" defTabSz="914400" rtl="0" eaLnBrk="1" fontAlgn="auto" latinLnBrk="0" hangingPunct="1">
              <a:lnSpc>
                <a:spcPct val="100000"/>
              </a:lnSpc>
              <a:spcBef>
                <a:spcPts val="1105"/>
              </a:spcBef>
              <a:spcAft>
                <a:spcPts val="0"/>
              </a:spcAft>
              <a:buClrTx/>
              <a:buSzPct val="68750"/>
              <a:buFont typeface="Wingdings"/>
              <a:buChar char=""/>
              <a:tabLst>
                <a:tab pos="250190" algn="l"/>
                <a:tab pos="250825" algn="l"/>
              </a:tabLst>
              <a:defRPr/>
            </a:pP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MMU-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Memory</a:t>
            </a:r>
            <a:r>
              <a:rPr kumimoji="0" sz="32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Management</a:t>
            </a:r>
            <a:r>
              <a:rPr kumimoji="0" sz="3200" b="0" i="0" u="none" strike="noStrike" kern="1200" cap="none" spc="-1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Unit</a:t>
            </a:r>
          </a:p>
          <a:p>
            <a:pPr marL="276225" marR="0" lvl="0" indent="-264160" algn="l" defTabSz="914400" rtl="0" eaLnBrk="1" fontAlgn="auto" latinLnBrk="0" hangingPunct="1">
              <a:lnSpc>
                <a:spcPct val="100000"/>
              </a:lnSpc>
              <a:spcBef>
                <a:spcPts val="1010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276860" algn="l"/>
              </a:tabLst>
              <a:defRPr/>
            </a:pP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8KB</a:t>
            </a:r>
            <a:r>
              <a:rPr kumimoji="0" sz="3200" b="0" i="0" u="none" strike="noStrike" kern="1200" cap="none" spc="-1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Cach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</a:t>
            </a:r>
            <a:r>
              <a:rPr kumimoji="0" sz="3200" b="0" i="0" u="none" strike="noStrike" kern="1200" cap="none" spc="-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-</a:t>
            </a:r>
            <a:r>
              <a:rPr kumimoji="0" sz="3200" b="0" i="0" u="none" strike="noStrike" kern="1200" cap="none" spc="-2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7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CM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(Tightly</a:t>
            </a:r>
            <a:r>
              <a:rPr kumimoji="0" sz="3200" b="0" i="0" u="none" strike="noStrike" kern="1200" cap="none" spc="-15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Co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u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pled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Mem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ries)</a:t>
            </a:r>
          </a:p>
          <a:p>
            <a:pPr marL="194945" marR="20320" lvl="0" indent="-182880" algn="l" defTabSz="914400" rtl="0" eaLnBrk="1" fontAlgn="auto" latinLnBrk="0" hangingPunct="1">
              <a:lnSpc>
                <a:spcPts val="3460"/>
              </a:lnSpc>
              <a:spcBef>
                <a:spcPts val="1450"/>
              </a:spcBef>
              <a:spcAft>
                <a:spcPts val="0"/>
              </a:spcAft>
              <a:buClr>
                <a:srgbClr val="FFFFFF"/>
              </a:buClr>
              <a:buSzTx/>
              <a:buFont typeface="Wingdings"/>
              <a:buChar char=""/>
              <a:tabLst>
                <a:tab pos="258445" algn="l"/>
                <a:tab pos="3277235" algn="l"/>
              </a:tabLst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ARM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7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TD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</a:t>
            </a:r>
            <a:r>
              <a:rPr kumimoji="0" sz="3200" b="0" i="0" u="none" strike="noStrike" kern="1200" cap="none" spc="-1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CPU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-	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</a:t>
            </a:r>
            <a:r>
              <a:rPr kumimoji="0" sz="32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popular</a:t>
            </a:r>
            <a:r>
              <a:rPr kumimoji="0" sz="3200" b="0" i="0" u="none" strike="noStrike" kern="1200" cap="none" spc="-16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pr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cesso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</a:t>
            </a:r>
            <a:r>
              <a:rPr kumimoji="0" sz="3200" b="0" i="0" u="none" strike="noStrike" kern="1200" cap="none" spc="-15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ARM7  TDMI (Thumb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Debug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Multiplier</a:t>
            </a:r>
            <a:r>
              <a:rPr kumimoji="0" sz="3200" b="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circuit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Emulator)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276225" marR="0" lvl="0" indent="-264160" algn="l" defTabSz="914400" rtl="0" eaLnBrk="1" fontAlgn="auto" latinLnBrk="0" hangingPunct="1">
              <a:lnSpc>
                <a:spcPct val="100000"/>
              </a:lnSpc>
              <a:spcBef>
                <a:spcPts val="965"/>
              </a:spcBef>
              <a:spcAft>
                <a:spcPts val="0"/>
              </a:spcAft>
              <a:buClr>
                <a:srgbClr val="FFFFFF"/>
              </a:buClr>
              <a:buSzTx/>
              <a:buFont typeface="Wingdings"/>
              <a:buChar char=""/>
              <a:tabLst>
                <a:tab pos="276860" algn="l"/>
              </a:tabLst>
              <a:defRPr/>
            </a:pP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Data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and</a:t>
            </a:r>
            <a:r>
              <a:rPr kumimoji="0" sz="3200" b="0" i="0" u="none" strike="noStrike" kern="1200" cap="none" spc="-16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Addres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Buffe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</a:t>
            </a:r>
          </a:p>
          <a:p>
            <a:pPr marL="1955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1010"/>
              </a:spcBef>
              <a:spcAft>
                <a:spcPts val="0"/>
              </a:spcAft>
              <a:buClr>
                <a:srgbClr val="FFFFFF"/>
              </a:buClr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AMBA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Interface-</a:t>
            </a:r>
            <a:r>
              <a:rPr kumimoji="0" sz="3200" b="0" i="0" u="none" strike="noStrike" kern="1200" cap="none" spc="-18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Advanced</a:t>
            </a:r>
            <a:r>
              <a:rPr kumimoji="0" sz="3200" b="0" i="0" u="none" strike="noStrike" kern="1200" cap="none" spc="-4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Microcontroller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Bus</a:t>
            </a:r>
            <a:r>
              <a:rPr kumimoji="0" sz="3200" b="0" i="0" u="none" strike="noStrike" kern="1200" cap="none" spc="-1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Architecture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260985" marR="0" lvl="0" indent="-248920" algn="l" defTabSz="914400" rtl="0" eaLnBrk="1" fontAlgn="auto" latinLnBrk="0" hangingPunct="1">
              <a:lnSpc>
                <a:spcPct val="100000"/>
              </a:lnSpc>
              <a:spcBef>
                <a:spcPts val="1019"/>
              </a:spcBef>
              <a:spcAft>
                <a:spcPts val="0"/>
              </a:spcAft>
              <a:buClr>
                <a:srgbClr val="FFFFFF"/>
              </a:buClr>
              <a:buSzTx/>
              <a:buFont typeface="Wingdings"/>
              <a:buChar char=""/>
              <a:tabLst>
                <a:tab pos="261620" algn="l"/>
              </a:tabLst>
              <a:defRPr/>
            </a:pP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Control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and</a:t>
            </a:r>
            <a:r>
              <a:rPr kumimoji="0" sz="3200" b="0" i="0" u="none" strike="noStrike" kern="1200" cap="none" spc="-15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Clocking</a:t>
            </a:r>
            <a:r>
              <a:rPr kumimoji="0" sz="3200" b="0" i="0" u="none" strike="noStrike" kern="1200" cap="none" spc="-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Logic</a:t>
            </a:r>
          </a:p>
          <a:p>
            <a:pPr marL="266700" marR="0" lvl="0" indent="-254635" algn="l" defTabSz="914400" rtl="0" eaLnBrk="1" fontAlgn="auto" latinLnBrk="0" hangingPunct="1">
              <a:lnSpc>
                <a:spcPct val="100000"/>
              </a:lnSpc>
              <a:spcBef>
                <a:spcPts val="1019"/>
              </a:spcBef>
              <a:spcAft>
                <a:spcPts val="0"/>
              </a:spcAft>
              <a:buClr>
                <a:srgbClr val="FFFFFF"/>
              </a:buClr>
              <a:buSzTx/>
              <a:buFont typeface="Wingdings"/>
              <a:buChar char=""/>
              <a:tabLst>
                <a:tab pos="267335" algn="l"/>
              </a:tabLst>
              <a:defRPr/>
            </a:pP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System</a:t>
            </a:r>
            <a:r>
              <a:rPr kumimoji="0" sz="3200" b="0" i="0" u="none" strike="noStrike" kern="1200" cap="none" spc="-15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Contro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l</a:t>
            </a:r>
            <a:r>
              <a:rPr kumimoji="0" sz="3200" b="0" i="0" u="none" strike="noStrike" kern="1200" cap="none" spc="-1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o-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Pr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cessor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6367" y="1759741"/>
            <a:ext cx="11602085" cy="4850130"/>
          </a:xfrm>
          <a:prstGeom prst="rect">
            <a:avLst/>
          </a:prstGeom>
        </p:spPr>
        <p:txBody>
          <a:bodyPr vert="horz" wrap="square" lIns="0" tIns="135890" rIns="0" bIns="0" rtlCol="0">
            <a:spAutoFit/>
          </a:bodyPr>
          <a:lstStyle/>
          <a:p>
            <a:pPr marL="195580" marR="8255" lvl="0" indent="-183515" algn="l" defTabSz="914400" rtl="0" eaLnBrk="1" fontAlgn="auto" latinLnBrk="0" hangingPunct="1">
              <a:lnSpc>
                <a:spcPct val="70000"/>
              </a:lnSpc>
              <a:spcBef>
                <a:spcPts val="1070"/>
              </a:spcBef>
              <a:spcAft>
                <a:spcPts val="0"/>
              </a:spcAft>
              <a:buClr>
                <a:srgbClr val="FFFFFF"/>
              </a:buClr>
              <a:buSzPct val="70370"/>
              <a:buFont typeface="Wingdings"/>
              <a:buChar char=""/>
              <a:tabLst>
                <a:tab pos="244475" algn="l"/>
                <a:tab pos="245110" algn="l"/>
              </a:tabLst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</a:t>
            </a:r>
            <a:r>
              <a:rPr kumimoji="0" sz="2700" b="0" i="0" u="none" strike="noStrike" kern="1200" cap="none" spc="16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programmers</a:t>
            </a:r>
            <a:r>
              <a:rPr kumimoji="0" sz="2700" b="0" i="0" u="none" strike="noStrike" kern="1200" cap="none" spc="16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model</a:t>
            </a:r>
            <a:r>
              <a:rPr kumimoji="0" sz="2700" b="0" i="0" u="none" strike="noStrike" kern="1200" cap="none" spc="16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</a:t>
            </a:r>
            <a:r>
              <a:rPr kumimoji="0" sz="2700" b="0" i="0" u="none" strike="noStrike" kern="1200" cap="none" spc="16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2700" b="0" i="0" u="none" strike="noStrike" kern="1200" cap="none" spc="17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view</a:t>
            </a:r>
            <a:r>
              <a:rPr kumimoji="0" sz="2700" b="0" i="0" u="none" strike="noStrike" kern="1200" cap="none" spc="16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</a:t>
            </a:r>
            <a:r>
              <a:rPr kumimoji="0" sz="2700" b="0" i="0" u="none" strike="noStrike" kern="1200" cap="none" spc="17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2700" b="0" i="0" u="none" strike="noStrike" kern="1200" cap="none" spc="17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processor,</a:t>
            </a:r>
            <a:r>
              <a:rPr kumimoji="0" sz="2700" b="0" i="0" u="none" strike="noStrike" kern="1200" cap="none" spc="16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</a:t>
            </a:r>
            <a:r>
              <a:rPr kumimoji="0" sz="2700" b="0" i="0" u="none" strike="noStrike" kern="1200" cap="none" spc="17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terms</a:t>
            </a:r>
            <a:r>
              <a:rPr kumimoji="0" sz="2700" b="0" i="0" u="none" strike="noStrike" kern="1200" cap="none" spc="17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</a:t>
            </a:r>
            <a:r>
              <a:rPr kumimoji="0" sz="2700" b="0" i="0" u="none" strike="noStrike" kern="1200" cap="none" spc="17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its</a:t>
            </a:r>
            <a:r>
              <a:rPr kumimoji="0" sz="2700" b="0" i="0" u="none" strike="noStrike" kern="1200" cap="none" spc="16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registers</a:t>
            </a:r>
            <a:r>
              <a:rPr kumimoji="0" sz="2700" b="0" i="0" u="none" strike="noStrike" kern="1200" cap="none" spc="16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and </a:t>
            </a:r>
            <a:r>
              <a:rPr kumimoji="0" sz="2700" b="0" i="0" u="none" strike="noStrike" kern="1200" cap="none" spc="-5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its</a:t>
            </a:r>
            <a:r>
              <a:rPr kumimoji="0" sz="27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instruction</a:t>
            </a:r>
            <a:r>
              <a:rPr kumimoji="0" sz="27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set.</a:t>
            </a:r>
            <a:endParaRPr kumimoji="0" sz="27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5580" marR="8255" lvl="0" indent="-183515" algn="l" defTabSz="914400" rtl="0" eaLnBrk="1" fontAlgn="auto" latinLnBrk="0" hangingPunct="1">
              <a:lnSpc>
                <a:spcPct val="70100"/>
              </a:lnSpc>
              <a:spcBef>
                <a:spcPts val="1390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6215" algn="l"/>
                <a:tab pos="1102360" algn="l"/>
                <a:tab pos="1707514" algn="l"/>
                <a:tab pos="2470785" algn="l"/>
                <a:tab pos="2823210" algn="l"/>
                <a:tab pos="3806190" algn="l"/>
                <a:tab pos="4819650" algn="l"/>
                <a:tab pos="5368290" algn="l"/>
                <a:tab pos="6278245" algn="l"/>
                <a:tab pos="7002145" algn="l"/>
                <a:tab pos="7336155" algn="l"/>
                <a:tab pos="7971790" algn="l"/>
                <a:tab pos="9212580" algn="l"/>
                <a:tab pos="9608820" algn="l"/>
                <a:tab pos="10215245" algn="l"/>
                <a:tab pos="11052175" algn="l"/>
              </a:tabLst>
              <a:defRPr/>
            </a:pP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Since	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</a:t>
            </a:r>
            <a:r>
              <a:rPr kumimoji="0" sz="27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h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	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CP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U	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	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</a:t>
            </a:r>
            <a:r>
              <a:rPr kumimoji="0" sz="27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M7	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TDMI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,	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w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	know	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tha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	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	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ca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	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op</a:t>
            </a:r>
            <a:r>
              <a:rPr kumimoji="0" sz="27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</a:t>
            </a:r>
            <a:r>
              <a:rPr kumimoji="0" sz="27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	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	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	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</a:t>
            </a:r>
            <a:r>
              <a:rPr kumimoji="0" sz="27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	and  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THUMB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states.</a:t>
            </a:r>
            <a:endParaRPr kumimoji="0" sz="27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5580" marR="0" lvl="0" indent="-183515" algn="l" defTabSz="914400" rtl="0" eaLnBrk="1" fontAlgn="auto" latinLnBrk="0" hangingPunct="1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6215" algn="l"/>
              </a:tabLst>
              <a:defRPr/>
            </a:pP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2700" b="0" i="0" u="none" strike="noStrike" kern="1200" cap="none" spc="-1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ARM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state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</a:t>
            </a:r>
            <a:r>
              <a:rPr kumimoji="0" sz="27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one</a:t>
            </a:r>
            <a:r>
              <a:rPr kumimoji="0" sz="27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</a:t>
            </a:r>
            <a:r>
              <a:rPr kumimoji="0" sz="27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which 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it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executes</a:t>
            </a:r>
            <a:r>
              <a:rPr kumimoji="0" sz="2700" b="0" i="0" u="none" strike="noStrike" kern="1200" cap="none" spc="-4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32-bit,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word-aligned</a:t>
            </a:r>
            <a:r>
              <a:rPr kumimoji="0" sz="2700" b="0" i="0" u="none" strike="noStrike" kern="1200" cap="none" spc="-10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ARM</a:t>
            </a:r>
            <a:r>
              <a:rPr kumimoji="0" sz="27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instructions.</a:t>
            </a:r>
            <a:endParaRPr kumimoji="0" sz="27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5580" marR="5080" lvl="0" indent="-183515" algn="l" defTabSz="914400" rtl="0" eaLnBrk="1" fontAlgn="auto" latinLnBrk="0" hangingPunct="1">
              <a:lnSpc>
                <a:spcPct val="70000"/>
              </a:lnSpc>
              <a:spcBef>
                <a:spcPts val="1405"/>
              </a:spcBef>
              <a:spcAft>
                <a:spcPts val="0"/>
              </a:spcAft>
              <a:buClr>
                <a:srgbClr val="FFFFFF"/>
              </a:buClr>
              <a:buSzTx/>
              <a:buFont typeface="Wingdings"/>
              <a:buChar char=""/>
              <a:tabLst>
                <a:tab pos="241935" algn="l"/>
                <a:tab pos="925194" algn="l"/>
                <a:tab pos="2197735" algn="l"/>
                <a:tab pos="3054985" algn="l"/>
                <a:tab pos="3414395" algn="l"/>
                <a:tab pos="4088129" algn="l"/>
                <a:tab pos="4488815" algn="l"/>
                <a:tab pos="5470525" algn="l"/>
                <a:tab pos="5810250" algn="l"/>
                <a:tab pos="7195820" algn="l"/>
                <a:tab pos="7962900" algn="l"/>
                <a:tab pos="9023350" algn="l"/>
                <a:tab pos="9704705" algn="l"/>
              </a:tabLst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	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</a:t>
            </a:r>
            <a:r>
              <a:rPr kumimoji="0" sz="27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U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MB	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stat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	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	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</a:t>
            </a:r>
            <a:r>
              <a:rPr kumimoji="0" sz="27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	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	which	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	</a:t>
            </a:r>
            <a:r>
              <a:rPr kumimoji="0" sz="27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</a:t>
            </a:r>
            <a:r>
              <a:rPr kumimoji="0" sz="27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</a:t>
            </a:r>
            <a:r>
              <a:rPr kumimoji="0" sz="27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te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	with	1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6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-bit,	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hal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	wo</a:t>
            </a:r>
            <a:r>
              <a:rPr kumimoji="0" sz="27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d-al</a:t>
            </a:r>
            <a:r>
              <a:rPr kumimoji="0" sz="27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gned  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THUMB Instructions.</a:t>
            </a:r>
            <a:endParaRPr kumimoji="0" sz="27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5580" marR="0" lvl="0" indent="-183515" algn="l" defTabSz="914400" rtl="0" eaLnBrk="1" fontAlgn="auto" latinLnBrk="0" hangingPunct="1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6215" algn="l"/>
              </a:tabLst>
              <a:defRPr/>
            </a:pP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27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data format</a:t>
            </a:r>
            <a:r>
              <a:rPr kumimoji="0" sz="27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memory</a:t>
            </a:r>
            <a:r>
              <a:rPr kumimoji="0" sz="27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can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be</a:t>
            </a:r>
            <a:r>
              <a:rPr kumimoji="0" sz="27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big endian</a:t>
            </a:r>
            <a:r>
              <a:rPr kumimoji="0" sz="27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or</a:t>
            </a:r>
            <a:r>
              <a:rPr kumimoji="0" sz="27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little 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endian</a:t>
            </a:r>
          </a:p>
          <a:p>
            <a:pPr marL="195580" marR="0" lvl="0" indent="-183515" algn="l" defTabSz="914400" rtl="0" eaLnBrk="1" fontAlgn="auto" latinLnBrk="0" hangingPunct="1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6215" algn="l"/>
              </a:tabLst>
              <a:defRPr/>
            </a:pP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This</a:t>
            </a:r>
            <a:r>
              <a:rPr kumimoji="0" sz="27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 selected</a:t>
            </a:r>
            <a:r>
              <a:rPr kumimoji="0" sz="27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by a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bit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named</a:t>
            </a:r>
            <a:r>
              <a:rPr kumimoji="0" sz="27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‘bigend’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bit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in</a:t>
            </a:r>
            <a:r>
              <a:rPr kumimoji="0" sz="27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2700" b="0" i="0" u="none" strike="noStrike" kern="1200" cap="none" spc="-1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Control</a:t>
            </a:r>
            <a:r>
              <a:rPr kumimoji="0" sz="27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-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Register.</a:t>
            </a:r>
            <a:endParaRPr kumimoji="0" sz="27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5580" marR="0" lvl="0" indent="-183515" algn="l" defTabSz="914400" rtl="0" eaLnBrk="1" fontAlgn="auto" latinLnBrk="0" hangingPunct="1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6215" algn="l"/>
              </a:tabLst>
              <a:defRPr/>
            </a:pP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It supports</a:t>
            </a:r>
            <a:r>
              <a:rPr kumimoji="0" sz="27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byte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(8-bit),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halfword</a:t>
            </a:r>
            <a:r>
              <a:rPr kumimoji="0" sz="27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(16-bit)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and 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word</a:t>
            </a:r>
            <a:r>
              <a:rPr kumimoji="0" sz="27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(32-bit)</a:t>
            </a:r>
            <a:r>
              <a:rPr kumimoji="0" sz="27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data</a:t>
            </a:r>
            <a:r>
              <a:rPr kumimoji="0" sz="27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types.</a:t>
            </a:r>
            <a:endParaRPr kumimoji="0" sz="27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5580" marR="6350" lvl="0" indent="-183515" algn="l" defTabSz="914400" rtl="0" eaLnBrk="1" fontAlgn="auto" latinLnBrk="0" hangingPunct="1">
              <a:lnSpc>
                <a:spcPct val="70000"/>
              </a:lnSpc>
              <a:spcBef>
                <a:spcPts val="1395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6215" algn="l"/>
                <a:tab pos="1321435" algn="l"/>
                <a:tab pos="2257425" algn="l"/>
                <a:tab pos="2830830" algn="l"/>
                <a:tab pos="4091304" algn="l"/>
                <a:tab pos="4609465" algn="l"/>
                <a:tab pos="5756910" algn="l"/>
                <a:tab pos="7552690" algn="l"/>
                <a:tab pos="8303895" algn="l"/>
                <a:tab pos="9060180" algn="l"/>
                <a:tab pos="10142220" algn="l"/>
                <a:tab pos="10660380" algn="l"/>
              </a:tabLst>
              <a:defRPr/>
            </a:pPr>
            <a:r>
              <a:rPr kumimoji="0" sz="2700" b="0" i="0" u="none" strike="noStrike" kern="1200" cap="none" spc="-10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W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ord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	m</a:t>
            </a:r>
            <a:r>
              <a:rPr kumimoji="0" sz="27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u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	</a:t>
            </a:r>
            <a:r>
              <a:rPr kumimoji="0" sz="27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	al</a:t>
            </a:r>
            <a:r>
              <a:rPr kumimoji="0" sz="27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gned	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	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4</a:t>
            </a:r>
            <a:r>
              <a:rPr kumimoji="0" sz="27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-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byte	bo</a:t>
            </a:r>
            <a:r>
              <a:rPr kumimoji="0" sz="27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u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</a:t>
            </a:r>
            <a:r>
              <a:rPr kumimoji="0" sz="27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d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</a:t>
            </a:r>
            <a:r>
              <a:rPr kumimoji="0" sz="27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es	and	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hal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	words	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	2-byte  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boundaries.</a:t>
            </a:r>
            <a:endParaRPr kumimoji="0" sz="27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2953" y="793242"/>
            <a:ext cx="67456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latin typeface="Corbel"/>
                <a:cs typeface="Corbel"/>
              </a:rPr>
              <a:t> </a:t>
            </a:r>
            <a:r>
              <a:rPr sz="4000" spc="-5" dirty="0">
                <a:solidFill>
                  <a:srgbClr val="00B0F0"/>
                </a:solidFill>
                <a:latin typeface="Corbel"/>
                <a:cs typeface="Corbel"/>
              </a:rPr>
              <a:t>PROGRAMMERS</a:t>
            </a:r>
            <a:r>
              <a:rPr sz="4000" spc="10" dirty="0">
                <a:solidFill>
                  <a:srgbClr val="00B0F0"/>
                </a:solidFill>
                <a:latin typeface="Corbel"/>
                <a:cs typeface="Corbel"/>
              </a:rPr>
              <a:t> </a:t>
            </a:r>
            <a:r>
              <a:rPr sz="4000" spc="-10" dirty="0">
                <a:solidFill>
                  <a:srgbClr val="00B0F0"/>
                </a:solidFill>
                <a:latin typeface="Corbel"/>
                <a:cs typeface="Corbel"/>
              </a:rPr>
              <a:t>MODEL</a:t>
            </a:r>
            <a:endParaRPr sz="4000" dirty="0">
              <a:solidFill>
                <a:srgbClr val="00B0F0"/>
              </a:solidFill>
              <a:latin typeface="Corbel"/>
              <a:cs typeface="Corbe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83538" y="1023366"/>
            <a:ext cx="67894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solidFill>
                  <a:srgbClr val="00B0F0"/>
                </a:solidFill>
                <a:latin typeface="Corbel"/>
                <a:cs typeface="Corbel"/>
              </a:rPr>
              <a:t>MODES</a:t>
            </a:r>
            <a:r>
              <a:rPr sz="4000" spc="-160" dirty="0">
                <a:solidFill>
                  <a:srgbClr val="00B0F0"/>
                </a:solidFill>
                <a:latin typeface="Corbel"/>
                <a:cs typeface="Corbel"/>
              </a:rPr>
              <a:t> </a:t>
            </a:r>
            <a:r>
              <a:rPr sz="4000" spc="-5" dirty="0">
                <a:solidFill>
                  <a:srgbClr val="00B0F0"/>
                </a:solidFill>
                <a:latin typeface="Corbel"/>
                <a:cs typeface="Corbel"/>
              </a:rPr>
              <a:t>OF</a:t>
            </a:r>
            <a:r>
              <a:rPr sz="4000" spc="-175" dirty="0">
                <a:solidFill>
                  <a:srgbClr val="00B0F0"/>
                </a:solidFill>
                <a:latin typeface="Corbel"/>
                <a:cs typeface="Corbel"/>
              </a:rPr>
              <a:t> </a:t>
            </a:r>
            <a:r>
              <a:rPr sz="4000" spc="-30" dirty="0">
                <a:solidFill>
                  <a:srgbClr val="00B0F0"/>
                </a:solidFill>
                <a:latin typeface="Corbel"/>
                <a:cs typeface="Corbel"/>
              </a:rPr>
              <a:t>OPERATIONS</a:t>
            </a:r>
            <a:endParaRPr sz="4000" dirty="0">
              <a:solidFill>
                <a:srgbClr val="00B0F0"/>
              </a:solidFill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1272" y="1658366"/>
            <a:ext cx="10624127" cy="4803140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1955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910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25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There</a:t>
            </a:r>
            <a:r>
              <a:rPr kumimoji="0" sz="25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are</a:t>
            </a:r>
            <a:r>
              <a:rPr kumimoji="0" sz="25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5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seven</a:t>
            </a:r>
            <a:r>
              <a:rPr kumimoji="0" sz="25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5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modes</a:t>
            </a:r>
            <a:r>
              <a:rPr kumimoji="0" sz="2500" b="0" i="0" u="none" strike="noStrike" kern="1200" cap="none" spc="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5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</a:t>
            </a:r>
            <a:r>
              <a:rPr kumimoji="0" sz="25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5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operation</a:t>
            </a:r>
            <a:r>
              <a:rPr kumimoji="0" sz="25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5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as follows:</a:t>
            </a:r>
            <a:endParaRPr kumimoji="0" sz="25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536700" marR="0" lvl="1" indent="-457834" algn="l" defTabSz="914400" rtl="0" eaLnBrk="1" fontAlgn="auto" latinLnBrk="0" hangingPunct="1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Clr>
                <a:srgbClr val="FFFFFF"/>
              </a:buClr>
              <a:buSzTx/>
              <a:buFontTx/>
              <a:buAutoNum type="arabicPeriod"/>
              <a:tabLst>
                <a:tab pos="1536700" algn="l"/>
                <a:tab pos="1537335" algn="l"/>
              </a:tabLst>
              <a:defRPr/>
            </a:pPr>
            <a:r>
              <a:rPr sz="2500" spc="-5" dirty="0">
                <a:latin typeface="Corbel"/>
                <a:cs typeface="Corbel"/>
              </a:rPr>
              <a:t>User: Unprivileged mode under which most tasks run.</a:t>
            </a:r>
          </a:p>
          <a:p>
            <a:pPr marL="1536700" marR="5080" lvl="1" indent="-457200" algn="l" defTabSz="914400" rtl="0" eaLnBrk="1" fontAlgn="auto" latinLnBrk="0" hangingPunct="1">
              <a:lnSpc>
                <a:spcPts val="2400"/>
              </a:lnSpc>
              <a:spcBef>
                <a:spcPts val="1370"/>
              </a:spcBef>
              <a:spcAft>
                <a:spcPts val="0"/>
              </a:spcAft>
              <a:buClr>
                <a:srgbClr val="FFFFFF"/>
              </a:buClr>
              <a:buSzTx/>
              <a:buFontTx/>
              <a:buAutoNum type="arabicPeriod"/>
              <a:tabLst>
                <a:tab pos="1536700" algn="l"/>
                <a:tab pos="1537335" algn="l"/>
              </a:tabLst>
              <a:defRPr/>
            </a:pPr>
            <a:r>
              <a:rPr sz="2500" spc="-5" dirty="0">
                <a:latin typeface="Corbel"/>
                <a:cs typeface="Corbel"/>
              </a:rPr>
              <a:t>FIQ (Fast Interrupt mode): </a:t>
            </a:r>
            <a:r>
              <a:rPr lang="en-US" sz="2500" spc="-5" dirty="0" smtClean="0">
                <a:latin typeface="Corbel"/>
                <a:cs typeface="Corbel"/>
              </a:rPr>
              <a:t>E</a:t>
            </a:r>
            <a:r>
              <a:rPr sz="2500" spc="-5" dirty="0" smtClean="0">
                <a:latin typeface="Corbel"/>
                <a:cs typeface="Corbel"/>
              </a:rPr>
              <a:t>ntered </a:t>
            </a:r>
            <a:r>
              <a:rPr sz="2500" spc="-5" dirty="0">
                <a:latin typeface="Corbel"/>
                <a:cs typeface="Corbel"/>
              </a:rPr>
              <a:t>when a high priority (fast) interrupt is  raised.</a:t>
            </a:r>
          </a:p>
          <a:p>
            <a:pPr marL="1536700" marR="6350" lvl="1" indent="-457200" algn="l" defTabSz="914400" rtl="0" eaLnBrk="1" fontAlgn="auto" latinLnBrk="0" hangingPunct="1">
              <a:lnSpc>
                <a:spcPts val="2400"/>
              </a:lnSpc>
              <a:spcBef>
                <a:spcPts val="1410"/>
              </a:spcBef>
              <a:spcAft>
                <a:spcPts val="0"/>
              </a:spcAft>
              <a:buClr>
                <a:srgbClr val="FFFFFF"/>
              </a:buClr>
              <a:buSzTx/>
              <a:buFontTx/>
              <a:buAutoNum type="arabicPeriod"/>
              <a:tabLst>
                <a:tab pos="1536700" algn="l"/>
                <a:tab pos="1537335" algn="l"/>
              </a:tabLst>
              <a:defRPr/>
            </a:pPr>
            <a:r>
              <a:rPr sz="2500" spc="-5" dirty="0">
                <a:latin typeface="Corbel"/>
                <a:cs typeface="Corbel"/>
              </a:rPr>
              <a:t>IRQ (Interrupt Request): </a:t>
            </a:r>
            <a:r>
              <a:rPr lang="en-US" sz="2500" spc="-5" dirty="0" smtClean="0">
                <a:latin typeface="Corbel"/>
                <a:cs typeface="Corbel"/>
              </a:rPr>
              <a:t>E</a:t>
            </a:r>
            <a:r>
              <a:rPr sz="2500" spc="-5" dirty="0" smtClean="0">
                <a:latin typeface="Corbel"/>
                <a:cs typeface="Corbel"/>
              </a:rPr>
              <a:t>ntered </a:t>
            </a:r>
            <a:r>
              <a:rPr sz="2500" spc="-5" dirty="0">
                <a:latin typeface="Corbel"/>
                <a:cs typeface="Corbel"/>
              </a:rPr>
              <a:t>when a low priority (normal) interrupt is  raised.</a:t>
            </a:r>
          </a:p>
          <a:p>
            <a:pPr marL="1536700" marR="5080" lvl="1" indent="-457200" algn="l" defTabSz="914400" rtl="0" eaLnBrk="1" fontAlgn="auto" latinLnBrk="0" hangingPunct="1">
              <a:lnSpc>
                <a:spcPts val="2400"/>
              </a:lnSpc>
              <a:spcBef>
                <a:spcPts val="1400"/>
              </a:spcBef>
              <a:spcAft>
                <a:spcPts val="0"/>
              </a:spcAft>
              <a:buClr>
                <a:srgbClr val="FFFFFF"/>
              </a:buClr>
              <a:buSzTx/>
              <a:buFontTx/>
              <a:buAutoNum type="arabicPeriod"/>
              <a:tabLst>
                <a:tab pos="1536700" algn="l"/>
                <a:tab pos="1537335" algn="l"/>
              </a:tabLst>
              <a:defRPr/>
            </a:pPr>
            <a:r>
              <a:rPr sz="2500" spc="-5" dirty="0">
                <a:latin typeface="Corbel"/>
                <a:cs typeface="Corbel"/>
              </a:rPr>
              <a:t>Supervisor: </a:t>
            </a:r>
            <a:r>
              <a:rPr lang="en-US" sz="2500" spc="-5" dirty="0" smtClean="0">
                <a:latin typeface="Corbel"/>
                <a:cs typeface="Corbel"/>
              </a:rPr>
              <a:t>E</a:t>
            </a:r>
            <a:r>
              <a:rPr sz="2500" spc="-5" dirty="0" smtClean="0">
                <a:latin typeface="Corbel"/>
                <a:cs typeface="Corbel"/>
              </a:rPr>
              <a:t>ntered </a:t>
            </a:r>
            <a:r>
              <a:rPr sz="2500" spc="-5" dirty="0">
                <a:latin typeface="Corbel"/>
                <a:cs typeface="Corbel"/>
              </a:rPr>
              <a:t>on reset and when a Software Interrupt instruction is  executed.</a:t>
            </a:r>
          </a:p>
          <a:p>
            <a:pPr marL="1536700" marR="0" lvl="1" indent="-457834" algn="l" defTabSz="914400" rtl="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>
                <a:srgbClr val="FFFFFF"/>
              </a:buClr>
              <a:buSzTx/>
              <a:buFontTx/>
              <a:buAutoNum type="arabicPeriod"/>
              <a:tabLst>
                <a:tab pos="1536700" algn="l"/>
                <a:tab pos="1537335" algn="l"/>
              </a:tabLst>
              <a:defRPr/>
            </a:pPr>
            <a:r>
              <a:rPr sz="2500" spc="-5" dirty="0">
                <a:latin typeface="Corbel"/>
                <a:cs typeface="Corbel"/>
              </a:rPr>
              <a:t>Abort: </a:t>
            </a:r>
            <a:r>
              <a:rPr lang="en-US" sz="2500" spc="-5" dirty="0" smtClean="0">
                <a:latin typeface="Corbel"/>
                <a:cs typeface="Corbel"/>
              </a:rPr>
              <a:t>E</a:t>
            </a:r>
            <a:r>
              <a:rPr sz="2500" spc="-5" dirty="0" smtClean="0">
                <a:latin typeface="Corbel"/>
                <a:cs typeface="Corbel"/>
              </a:rPr>
              <a:t>ntered </a:t>
            </a:r>
            <a:r>
              <a:rPr sz="2500" spc="-5" dirty="0">
                <a:latin typeface="Corbel"/>
                <a:cs typeface="Corbel"/>
              </a:rPr>
              <a:t>when memory access violations occur.</a:t>
            </a:r>
          </a:p>
          <a:p>
            <a:pPr marL="1536700" marR="0" lvl="1" indent="-457834" algn="l" defTabSz="914400" rtl="0" eaLnBrk="1" fontAlgn="auto" latinLnBrk="0" hangingPunct="1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Clr>
                <a:srgbClr val="FFFFFF"/>
              </a:buClr>
              <a:buSzTx/>
              <a:buFontTx/>
              <a:buAutoNum type="arabicPeriod"/>
              <a:tabLst>
                <a:tab pos="1536700" algn="l"/>
                <a:tab pos="1537335" algn="l"/>
              </a:tabLst>
              <a:defRPr/>
            </a:pPr>
            <a:r>
              <a:rPr sz="2500" spc="-5" dirty="0">
                <a:latin typeface="Corbel"/>
                <a:cs typeface="Corbel"/>
              </a:rPr>
              <a:t>Undef: </a:t>
            </a:r>
            <a:r>
              <a:rPr lang="en-US" sz="2500" spc="-5" dirty="0" smtClean="0">
                <a:latin typeface="Corbel"/>
                <a:cs typeface="Corbel"/>
              </a:rPr>
              <a:t>E</a:t>
            </a:r>
            <a:r>
              <a:rPr sz="2500" spc="-5" dirty="0" smtClean="0">
                <a:latin typeface="Corbel"/>
                <a:cs typeface="Corbel"/>
              </a:rPr>
              <a:t>ntered </a:t>
            </a:r>
            <a:r>
              <a:rPr sz="2500" spc="-5" dirty="0">
                <a:latin typeface="Corbel"/>
                <a:cs typeface="Corbel"/>
              </a:rPr>
              <a:t>when an undefined instruction occurs.</a:t>
            </a:r>
          </a:p>
          <a:p>
            <a:pPr marL="1536700" marR="0" lvl="1" indent="-457834" algn="l" defTabSz="914400" rtl="0" eaLnBrk="1" fontAlgn="auto" latinLnBrk="0" hangingPunct="1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Clr>
                <a:srgbClr val="FFFFFF"/>
              </a:buClr>
              <a:buSzTx/>
              <a:buFontTx/>
              <a:buAutoNum type="arabicPeriod"/>
              <a:tabLst>
                <a:tab pos="1536700" algn="l"/>
                <a:tab pos="1537335" algn="l"/>
              </a:tabLst>
              <a:defRPr/>
            </a:pPr>
            <a:r>
              <a:rPr sz="2500" spc="-5" dirty="0">
                <a:latin typeface="Corbel"/>
                <a:cs typeface="Corbel"/>
              </a:rPr>
              <a:t>System: </a:t>
            </a:r>
            <a:r>
              <a:rPr lang="en-US" sz="2500" spc="-5" dirty="0" smtClean="0">
                <a:latin typeface="Corbel"/>
                <a:cs typeface="Corbel"/>
              </a:rPr>
              <a:t>P</a:t>
            </a:r>
            <a:r>
              <a:rPr sz="2500" spc="-5" dirty="0" smtClean="0">
                <a:latin typeface="Corbel"/>
                <a:cs typeface="Corbel"/>
              </a:rPr>
              <a:t>rivileged </a:t>
            </a:r>
            <a:r>
              <a:rPr sz="2500" spc="-5" dirty="0">
                <a:latin typeface="Corbel"/>
                <a:cs typeface="Corbel"/>
              </a:rPr>
              <a:t>mode of operation.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83538" y="1023366"/>
            <a:ext cx="67894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solidFill>
                  <a:srgbClr val="00B0F0"/>
                </a:solidFill>
                <a:latin typeface="Corbel"/>
                <a:cs typeface="Corbel"/>
              </a:rPr>
              <a:t>MODES</a:t>
            </a:r>
            <a:r>
              <a:rPr sz="4000" spc="-160" dirty="0">
                <a:solidFill>
                  <a:srgbClr val="00B0F0"/>
                </a:solidFill>
                <a:latin typeface="Corbel"/>
                <a:cs typeface="Corbel"/>
              </a:rPr>
              <a:t> </a:t>
            </a:r>
            <a:r>
              <a:rPr sz="4000" spc="-5" dirty="0">
                <a:solidFill>
                  <a:srgbClr val="00B0F0"/>
                </a:solidFill>
                <a:latin typeface="Corbel"/>
                <a:cs typeface="Corbel"/>
              </a:rPr>
              <a:t>OF</a:t>
            </a:r>
            <a:r>
              <a:rPr sz="4000" spc="-175" dirty="0">
                <a:solidFill>
                  <a:srgbClr val="00B0F0"/>
                </a:solidFill>
                <a:latin typeface="Corbel"/>
                <a:cs typeface="Corbel"/>
              </a:rPr>
              <a:t> </a:t>
            </a:r>
            <a:r>
              <a:rPr sz="4000" spc="-30" dirty="0">
                <a:solidFill>
                  <a:srgbClr val="00B0F0"/>
                </a:solidFill>
                <a:latin typeface="Corbel"/>
                <a:cs typeface="Corbel"/>
              </a:rPr>
              <a:t>OPERATIONS</a:t>
            </a:r>
            <a:endParaRPr sz="4000" dirty="0">
              <a:solidFill>
                <a:srgbClr val="00B0F0"/>
              </a:solidFill>
              <a:latin typeface="Corbel"/>
              <a:cs typeface="Corbel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5537968"/>
              </p:ext>
            </p:extLst>
          </p:nvPr>
        </p:nvGraphicFramePr>
        <p:xfrm>
          <a:off x="1630392" y="2538254"/>
          <a:ext cx="8936967" cy="2926080"/>
        </p:xfrm>
        <a:graphic>
          <a:graphicData uri="http://schemas.openxmlformats.org/drawingml/2006/table">
            <a:tbl>
              <a:tblPr/>
              <a:tblGrid>
                <a:gridCol w="2978989">
                  <a:extLst>
                    <a:ext uri="{9D8B030D-6E8A-4147-A177-3AD203B41FA5}">
                      <a16:colId xmlns:a16="http://schemas.microsoft.com/office/drawing/2014/main" val="1260543747"/>
                    </a:ext>
                  </a:extLst>
                </a:gridCol>
                <a:gridCol w="2978989">
                  <a:extLst>
                    <a:ext uri="{9D8B030D-6E8A-4147-A177-3AD203B41FA5}">
                      <a16:colId xmlns:a16="http://schemas.microsoft.com/office/drawing/2014/main" val="1490955054"/>
                    </a:ext>
                  </a:extLst>
                </a:gridCol>
                <a:gridCol w="2978989">
                  <a:extLst>
                    <a:ext uri="{9D8B030D-6E8A-4147-A177-3AD203B41FA5}">
                      <a16:colId xmlns:a16="http://schemas.microsoft.com/office/drawing/2014/main" val="28385950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Mode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Example 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55388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User (USR)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Non-privileged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Running application code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11363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FIQ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Interrupt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High-speed sensor handling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49739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IRQ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Interrupt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Timer/keyboard interrupt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19613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Supervisor (SVC)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Privileged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OS system call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85829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Abort (ABT)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Exception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Invalid memory access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1197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Undefined (UND)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Exception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Unknown instruction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32664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System (SYS)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Privileged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OS kernel tasks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78136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9470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419" y="1049835"/>
            <a:ext cx="1021608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solidFill>
                  <a:srgbClr val="00B0F0"/>
                </a:solidFill>
                <a:latin typeface="Corbel"/>
                <a:cs typeface="Corbel"/>
              </a:rPr>
              <a:t>WH</a:t>
            </a:r>
            <a:r>
              <a:rPr sz="3600" spc="-200" dirty="0">
                <a:solidFill>
                  <a:srgbClr val="00B0F0"/>
                </a:solidFill>
                <a:latin typeface="Corbel"/>
                <a:cs typeface="Corbel"/>
              </a:rPr>
              <a:t>A</a:t>
            </a:r>
            <a:r>
              <a:rPr sz="3600" dirty="0">
                <a:solidFill>
                  <a:srgbClr val="00B0F0"/>
                </a:solidFill>
                <a:latin typeface="Corbel"/>
                <a:cs typeface="Corbel"/>
              </a:rPr>
              <a:t>T</a:t>
            </a:r>
            <a:r>
              <a:rPr sz="3600" spc="-5" dirty="0">
                <a:solidFill>
                  <a:srgbClr val="00B0F0"/>
                </a:solidFill>
                <a:latin typeface="Corbel"/>
                <a:cs typeface="Corbel"/>
              </a:rPr>
              <a:t> </a:t>
            </a:r>
            <a:r>
              <a:rPr sz="3600" dirty="0">
                <a:solidFill>
                  <a:srgbClr val="00B0F0"/>
                </a:solidFill>
                <a:latin typeface="Corbel"/>
                <a:cs typeface="Corbel"/>
              </a:rPr>
              <a:t>IS</a:t>
            </a:r>
            <a:r>
              <a:rPr sz="3600" spc="-260" dirty="0">
                <a:solidFill>
                  <a:srgbClr val="00B0F0"/>
                </a:solidFill>
                <a:latin typeface="Corbel"/>
                <a:cs typeface="Corbel"/>
              </a:rPr>
              <a:t> </a:t>
            </a:r>
            <a:r>
              <a:rPr sz="3600" spc="-5" dirty="0">
                <a:solidFill>
                  <a:srgbClr val="00B0F0"/>
                </a:solidFill>
                <a:latin typeface="Corbel"/>
                <a:cs typeface="Corbel"/>
              </a:rPr>
              <a:t>TH</a:t>
            </a:r>
            <a:r>
              <a:rPr sz="3600" dirty="0">
                <a:solidFill>
                  <a:srgbClr val="00B0F0"/>
                </a:solidFill>
                <a:latin typeface="Corbel"/>
                <a:cs typeface="Corbel"/>
              </a:rPr>
              <a:t>E</a:t>
            </a:r>
            <a:r>
              <a:rPr sz="3600" spc="-5" dirty="0">
                <a:solidFill>
                  <a:srgbClr val="00B0F0"/>
                </a:solidFill>
                <a:latin typeface="Corbel"/>
                <a:cs typeface="Corbel"/>
              </a:rPr>
              <a:t> </a:t>
            </a:r>
            <a:r>
              <a:rPr sz="3600" dirty="0">
                <a:solidFill>
                  <a:srgbClr val="00B0F0"/>
                </a:solidFill>
                <a:latin typeface="Corbel"/>
                <a:cs typeface="Corbel"/>
              </a:rPr>
              <a:t>IMPO</a:t>
            </a:r>
            <a:r>
              <a:rPr sz="3600" spc="-15" dirty="0">
                <a:solidFill>
                  <a:srgbClr val="00B0F0"/>
                </a:solidFill>
                <a:latin typeface="Corbel"/>
                <a:cs typeface="Corbel"/>
              </a:rPr>
              <a:t>R</a:t>
            </a:r>
            <a:r>
              <a:rPr sz="3600" spc="-195" dirty="0">
                <a:solidFill>
                  <a:srgbClr val="00B0F0"/>
                </a:solidFill>
                <a:latin typeface="Corbel"/>
                <a:cs typeface="Corbel"/>
              </a:rPr>
              <a:t>T</a:t>
            </a:r>
            <a:r>
              <a:rPr sz="3600" spc="-5" dirty="0">
                <a:solidFill>
                  <a:srgbClr val="00B0F0"/>
                </a:solidFill>
                <a:latin typeface="Corbel"/>
                <a:cs typeface="Corbel"/>
              </a:rPr>
              <a:t>ANC</a:t>
            </a:r>
            <a:r>
              <a:rPr sz="3600" dirty="0">
                <a:solidFill>
                  <a:srgbClr val="00B0F0"/>
                </a:solidFill>
                <a:latin typeface="Corbel"/>
                <a:cs typeface="Corbel"/>
              </a:rPr>
              <a:t>E</a:t>
            </a:r>
            <a:r>
              <a:rPr sz="3600" spc="-135" dirty="0">
                <a:solidFill>
                  <a:srgbClr val="00B0F0"/>
                </a:solidFill>
                <a:latin typeface="Corbel"/>
                <a:cs typeface="Corbel"/>
              </a:rPr>
              <a:t> </a:t>
            </a:r>
            <a:r>
              <a:rPr sz="3600" spc="-5" dirty="0">
                <a:solidFill>
                  <a:srgbClr val="00B0F0"/>
                </a:solidFill>
                <a:latin typeface="Corbel"/>
                <a:cs typeface="Corbel"/>
              </a:rPr>
              <a:t>O</a:t>
            </a:r>
            <a:r>
              <a:rPr sz="3600" dirty="0">
                <a:solidFill>
                  <a:srgbClr val="00B0F0"/>
                </a:solidFill>
                <a:latin typeface="Corbel"/>
                <a:cs typeface="Corbel"/>
              </a:rPr>
              <a:t>F</a:t>
            </a:r>
            <a:r>
              <a:rPr sz="3600" spc="-250" dirty="0">
                <a:solidFill>
                  <a:srgbClr val="00B0F0"/>
                </a:solidFill>
                <a:latin typeface="Corbel"/>
                <a:cs typeface="Corbel"/>
              </a:rPr>
              <a:t> </a:t>
            </a:r>
            <a:r>
              <a:rPr sz="3600" spc="-5" dirty="0">
                <a:solidFill>
                  <a:srgbClr val="00B0F0"/>
                </a:solidFill>
                <a:latin typeface="Corbel"/>
                <a:cs typeface="Corbel"/>
              </a:rPr>
              <a:t>THE</a:t>
            </a:r>
            <a:r>
              <a:rPr sz="3600" spc="-15" dirty="0">
                <a:solidFill>
                  <a:srgbClr val="00B0F0"/>
                </a:solidFill>
                <a:latin typeface="Corbel"/>
                <a:cs typeface="Corbel"/>
              </a:rPr>
              <a:t>S</a:t>
            </a:r>
            <a:r>
              <a:rPr sz="3600" dirty="0">
                <a:solidFill>
                  <a:srgbClr val="00B0F0"/>
                </a:solidFill>
                <a:latin typeface="Corbel"/>
                <a:cs typeface="Corbel"/>
              </a:rPr>
              <a:t>E </a:t>
            </a:r>
            <a:r>
              <a:rPr sz="3600" spc="5" dirty="0">
                <a:solidFill>
                  <a:srgbClr val="00B0F0"/>
                </a:solidFill>
                <a:latin typeface="Corbel"/>
                <a:cs typeface="Corbel"/>
              </a:rPr>
              <a:t>M</a:t>
            </a:r>
            <a:r>
              <a:rPr sz="3600" spc="-5" dirty="0">
                <a:solidFill>
                  <a:srgbClr val="00B0F0"/>
                </a:solidFill>
                <a:latin typeface="Corbel"/>
                <a:cs typeface="Corbel"/>
              </a:rPr>
              <a:t>ODES?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6556" y="1843252"/>
            <a:ext cx="10761345" cy="475938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250190" marR="0" lvl="0" indent="-238125" algn="l" defTabSz="914400" rtl="0" eaLnBrk="1" fontAlgn="auto" latinLnBrk="0" hangingPunct="1">
              <a:lnSpc>
                <a:spcPct val="100000"/>
              </a:lnSpc>
              <a:spcBef>
                <a:spcPts val="1105"/>
              </a:spcBef>
              <a:spcAft>
                <a:spcPts val="0"/>
              </a:spcAft>
              <a:buClrTx/>
              <a:buSzPct val="68750"/>
              <a:buFont typeface="Wingdings"/>
              <a:buChar char=""/>
              <a:tabLst>
                <a:tab pos="250190" algn="l"/>
                <a:tab pos="250825" algn="l"/>
              </a:tabLst>
              <a:defRPr/>
            </a:pP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All</a:t>
            </a:r>
            <a:r>
              <a:rPr kumimoji="0" sz="32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application</a:t>
            </a:r>
            <a:r>
              <a:rPr kumimoji="0" sz="3200" b="0" i="0" u="none" strike="noStrike" kern="1200" cap="none" spc="-4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programs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run in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user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mode.</a:t>
            </a:r>
          </a:p>
          <a:p>
            <a:pPr marL="194945" marR="634365" lvl="0" indent="-182880" algn="l" defTabSz="914400" rtl="0" eaLnBrk="1" fontAlgn="auto" latinLnBrk="0" hangingPunct="1">
              <a:lnSpc>
                <a:spcPct val="90000"/>
              </a:lnSpc>
              <a:spcBef>
                <a:spcPts val="1395"/>
              </a:spcBef>
              <a:spcAft>
                <a:spcPts val="0"/>
              </a:spcAft>
              <a:buClr>
                <a:srgbClr val="FFFFFF"/>
              </a:buClr>
              <a:buSzTx/>
              <a:buFont typeface="Wingdings"/>
              <a:buChar char=""/>
              <a:tabLst>
                <a:tab pos="248920" algn="l"/>
              </a:tabLst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 other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modes, which are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called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'exception modes' are 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entered for processing interrupts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or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for 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accessing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protected </a:t>
            </a:r>
            <a:r>
              <a:rPr kumimoji="0" sz="3200" b="0" i="0" u="none" strike="noStrike" kern="1200" cap="none" spc="-6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resources.</a:t>
            </a:r>
          </a:p>
          <a:p>
            <a:pPr marL="194945" marR="5080" lvl="0" indent="-182880" algn="l" defTabSz="914400" rtl="0" eaLnBrk="1" fontAlgn="auto" latinLnBrk="0" hangingPunct="1">
              <a:lnSpc>
                <a:spcPts val="3460"/>
              </a:lnSpc>
              <a:spcBef>
                <a:spcPts val="1450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Mode changing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may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be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done under 'software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control'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(by bit 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settings</a:t>
            </a:r>
            <a:r>
              <a:rPr kumimoji="0" sz="32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registers)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or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by external</a:t>
            </a:r>
            <a:r>
              <a:rPr kumimoji="0" sz="3200" b="0" i="0" u="none" strike="noStrike" kern="1200" cap="none" spc="-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interrupts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or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exceptions</a:t>
            </a:r>
            <a:r>
              <a:rPr kumimoji="0" sz="3200" b="0" i="0" u="none" strike="noStrike" kern="1200" cap="none" spc="-4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due </a:t>
            </a:r>
            <a:r>
              <a:rPr kumimoji="0" sz="3200" b="0" i="0" u="none" strike="noStrike" kern="1200" cap="none" spc="-6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to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specific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conditions</a:t>
            </a:r>
            <a:r>
              <a:rPr kumimoji="0" sz="3200" b="0" i="0" u="none" strike="noStrike" kern="1200" cap="none" spc="-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or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errors.</a:t>
            </a:r>
          </a:p>
          <a:p>
            <a:pPr marL="194945" marR="161290" lvl="0" indent="-182880" algn="l" defTabSz="914400" rtl="0" eaLnBrk="1" fontAlgn="auto" latinLnBrk="0" hangingPunct="1">
              <a:lnSpc>
                <a:spcPts val="3460"/>
              </a:lnSpc>
              <a:spcBef>
                <a:spcPts val="1395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Following</a:t>
            </a:r>
            <a:r>
              <a:rPr kumimoji="0" sz="3200" b="0" i="0" u="none" strike="noStrike" kern="1200" cap="none" spc="-24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Table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indicates</a:t>
            </a:r>
            <a:r>
              <a:rPr kumimoji="0" sz="32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32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specific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exception</a:t>
            </a:r>
            <a:r>
              <a:rPr kumimoji="0" sz="32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through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which </a:t>
            </a:r>
            <a:r>
              <a:rPr kumimoji="0" sz="3200" b="0" i="0" u="none" strike="noStrike" kern="1200" cap="none" spc="-6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each</a:t>
            </a:r>
            <a:r>
              <a:rPr kumimoji="0" sz="3200" b="0" i="0" u="none" strike="noStrike" kern="1200" cap="none" spc="-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 the</a:t>
            </a:r>
            <a:r>
              <a:rPr kumimoji="0" sz="32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exception</a:t>
            </a:r>
            <a:r>
              <a:rPr kumimoji="0" sz="3200" b="0" i="0" u="none" strike="noStrike" kern="1200" cap="none" spc="-4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modes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are entered.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4123" y="1941576"/>
            <a:ext cx="8682228" cy="46283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85138" y="1080973"/>
            <a:ext cx="44437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latin typeface="Corbel"/>
                <a:cs typeface="Corbel"/>
              </a:rPr>
              <a:t> </a:t>
            </a:r>
            <a:r>
              <a:rPr sz="4000" spc="-5" dirty="0">
                <a:latin typeface="Corbel"/>
                <a:cs typeface="Corbel"/>
              </a:rPr>
              <a:t>REGISTER</a:t>
            </a:r>
            <a:r>
              <a:rPr sz="4000" spc="-100" dirty="0">
                <a:latin typeface="Corbel"/>
                <a:cs typeface="Corbel"/>
              </a:rPr>
              <a:t> </a:t>
            </a:r>
            <a:r>
              <a:rPr sz="4000" spc="-10" dirty="0">
                <a:latin typeface="Corbel"/>
                <a:cs typeface="Corbel"/>
              </a:rPr>
              <a:t>SET</a:t>
            </a:r>
            <a:endParaRPr sz="4000" dirty="0"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30427" y="2059914"/>
            <a:ext cx="8937625" cy="310769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955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1105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ARM7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has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total 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37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registers</a:t>
            </a:r>
          </a:p>
          <a:p>
            <a:pPr marL="1295400" marR="0" lvl="1" indent="-208915" algn="l" defTabSz="914400" rtl="0" eaLnBrk="1" fontAlgn="auto" latinLnBrk="0" hangingPunct="1">
              <a:lnSpc>
                <a:spcPct val="100000"/>
              </a:lnSpc>
              <a:spcBef>
                <a:spcPts val="1010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296035" algn="l"/>
              </a:tabLst>
              <a:defRPr/>
            </a:pP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31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general-purpose</a:t>
            </a:r>
            <a:r>
              <a:rPr kumimoji="0" sz="3200" b="0" i="0" u="none" strike="noStrike" kern="1200" cap="none" spc="-4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32-bit</a:t>
            </a:r>
            <a:r>
              <a:rPr kumimoji="0" sz="32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registers</a:t>
            </a:r>
          </a:p>
          <a:p>
            <a:pPr marL="1286510" marR="0" lvl="1" indent="-200025" algn="l" defTabSz="914400" rtl="0" eaLnBrk="1" fontAlgn="auto" latinLnBrk="0" hangingPunct="1">
              <a:lnSpc>
                <a:spcPct val="100000"/>
              </a:lnSpc>
              <a:spcBef>
                <a:spcPts val="1019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287145" algn="l"/>
              </a:tabLst>
              <a:defRPr/>
            </a:pP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Six</a:t>
            </a:r>
            <a:r>
              <a:rPr kumimoji="0" sz="3200" b="0" i="0" u="none" strike="noStrike" kern="1200" cap="none" spc="-4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status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registers</a:t>
            </a:r>
          </a:p>
          <a:p>
            <a:pPr marL="1955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1019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All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these</a:t>
            </a:r>
            <a:r>
              <a:rPr kumimoji="0" sz="32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registers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cannot</a:t>
            </a:r>
            <a:r>
              <a:rPr kumimoji="0" sz="3200" b="0" i="0" u="none" strike="noStrike" kern="1200" cap="none" spc="-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be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seen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at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same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time.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55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1010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Some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are</a:t>
            </a:r>
            <a:r>
              <a:rPr kumimoji="0" sz="32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available</a:t>
            </a:r>
            <a:r>
              <a:rPr kumimoji="0" sz="3200" b="0" i="0" u="none" strike="noStrike" kern="1200" cap="none" spc="-5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only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</a:t>
            </a:r>
            <a:r>
              <a:rPr kumimoji="0" sz="32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certain</a:t>
            </a:r>
            <a:r>
              <a:rPr kumimoji="0" sz="3200" b="0" i="0" u="none" strike="noStrike" kern="1200" cap="none" spc="-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modes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and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states.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392" y="212102"/>
            <a:ext cx="5132271" cy="671722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2700" marR="5080">
              <a:lnSpc>
                <a:spcPct val="85000"/>
              </a:lnSpc>
              <a:spcBef>
                <a:spcPts val="750"/>
              </a:spcBef>
            </a:pPr>
            <a:r>
              <a:rPr spc="-5" dirty="0">
                <a:solidFill>
                  <a:srgbClr val="00B0F0"/>
                </a:solidFill>
                <a:latin typeface="Corbel"/>
                <a:cs typeface="Corbel"/>
              </a:rPr>
              <a:t>ARM </a:t>
            </a:r>
            <a:r>
              <a:rPr dirty="0">
                <a:solidFill>
                  <a:srgbClr val="00B0F0"/>
                </a:solidFill>
                <a:latin typeface="Corbel"/>
                <a:cs typeface="Corbel"/>
              </a:rPr>
              <a:t> REGISTER  </a:t>
            </a:r>
            <a:r>
              <a:rPr spc="-5" dirty="0">
                <a:solidFill>
                  <a:srgbClr val="00B0F0"/>
                </a:solidFill>
                <a:latin typeface="Corbel"/>
                <a:cs typeface="Corbel"/>
              </a:rPr>
              <a:t>SET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5992" y="1029625"/>
            <a:ext cx="10998680" cy="58283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7092" y="599146"/>
            <a:ext cx="10861963" cy="486453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4139" marR="6985" lvl="0" indent="0" algn="l" defTabSz="914400" rtl="0" eaLnBrk="1" fontAlgn="auto" latinLnBrk="0" hangingPunct="1">
              <a:lnSpc>
                <a:spcPct val="11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287020" algn="l"/>
              </a:tabLst>
              <a:defRPr/>
            </a:pP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2700" b="0" i="0" u="none" strike="noStrike" kern="1200" cap="none" spc="30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upper</a:t>
            </a:r>
            <a:r>
              <a:rPr kumimoji="0" sz="2700" b="0" i="0" u="none" strike="noStrike" kern="1200" cap="none" spc="30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part</a:t>
            </a:r>
            <a:r>
              <a:rPr kumimoji="0" sz="2700" b="0" i="0" u="none" strike="noStrike" kern="1200" cap="none" spc="29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</a:t>
            </a:r>
            <a:r>
              <a:rPr kumimoji="0" sz="2700" b="0" i="0" u="none" strike="noStrike" kern="1200" cap="none" spc="30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figure</a:t>
            </a:r>
            <a:r>
              <a:rPr kumimoji="0" sz="2700" b="0" i="0" u="none" strike="noStrike" kern="1200" cap="none" spc="30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shows</a:t>
            </a:r>
            <a:r>
              <a:rPr kumimoji="0" sz="2700" b="0" i="0" u="none" strike="noStrike" kern="1200" cap="none" spc="30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2700" b="0" i="0" u="none" strike="noStrike" kern="1200" cap="none" spc="30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general</a:t>
            </a:r>
            <a:r>
              <a:rPr kumimoji="0" sz="2700" b="0" i="0" u="none" strike="noStrike" kern="1200" cap="none" spc="29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purpose</a:t>
            </a:r>
            <a:r>
              <a:rPr kumimoji="0" sz="2700" b="0" i="0" u="none" strike="noStrike" kern="1200" cap="none" spc="30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registers</a:t>
            </a:r>
            <a:r>
              <a:rPr kumimoji="0" sz="2700" b="0" i="0" u="none" strike="noStrike" kern="1200" cap="none" spc="28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and</a:t>
            </a:r>
            <a:r>
              <a:rPr kumimoji="0" sz="2700" b="0" i="0" u="none" strike="noStrike" kern="1200" cap="none" spc="30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2700" b="0" i="0" u="none" strike="noStrike" kern="1200" cap="none" spc="30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Program </a:t>
            </a:r>
            <a:r>
              <a:rPr kumimoji="0" sz="2700" b="0" i="0" u="none" strike="noStrike" kern="1200" cap="none" spc="-5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counter.</a:t>
            </a:r>
            <a:endParaRPr kumimoji="0" sz="27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330835" marR="0" lvl="0" indent="-227329" algn="l" defTabSz="914400" rtl="0" eaLnBrk="1" fontAlgn="auto" latinLnBrk="0" hangingPunct="1">
              <a:lnSpc>
                <a:spcPct val="100000"/>
              </a:lnSpc>
              <a:spcBef>
                <a:spcPts val="1530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331470" algn="l"/>
              </a:tabLst>
              <a:defRPr/>
            </a:pP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27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same set</a:t>
            </a:r>
            <a:r>
              <a:rPr kumimoji="0" sz="27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 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registers</a:t>
            </a:r>
            <a:r>
              <a:rPr kumimoji="0" sz="27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are</a:t>
            </a:r>
            <a:r>
              <a:rPr kumimoji="0" sz="27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used</a:t>
            </a:r>
            <a:r>
              <a:rPr kumimoji="0" sz="27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</a:t>
            </a:r>
            <a:r>
              <a:rPr kumimoji="0" sz="27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2700" b="0" i="0" u="none" strike="noStrike" kern="1200" cap="none" spc="-7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System</a:t>
            </a:r>
            <a:r>
              <a:rPr kumimoji="0" sz="27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and</a:t>
            </a:r>
            <a:r>
              <a:rPr kumimoji="0" sz="2700" b="0" i="0" u="none" strike="noStrike" kern="1200" cap="none" spc="-8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User</a:t>
            </a:r>
            <a:r>
              <a:rPr kumimoji="0" sz="27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modes.</a:t>
            </a:r>
            <a:endParaRPr kumimoji="0" sz="27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287020" marR="0" lvl="0" indent="-182880" algn="l" defTabSz="914400" rtl="0" eaLnBrk="1" fontAlgn="auto" latinLnBrk="0" hangingPunct="1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287020" algn="l"/>
              </a:tabLst>
              <a:defRPr/>
            </a:pP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Certain</a:t>
            </a:r>
            <a:r>
              <a:rPr kumimoji="0" sz="27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registers</a:t>
            </a:r>
            <a:r>
              <a:rPr kumimoji="0" sz="27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are</a:t>
            </a:r>
            <a:r>
              <a:rPr kumimoji="0" sz="27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indicated</a:t>
            </a:r>
            <a:r>
              <a:rPr kumimoji="0" sz="27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as</a:t>
            </a:r>
            <a:r>
              <a:rPr kumimoji="0" sz="27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being</a:t>
            </a:r>
            <a:r>
              <a:rPr kumimoji="0" sz="27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'banked'.</a:t>
            </a:r>
            <a:endParaRPr kumimoji="0" sz="27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685" marR="6985" lvl="0" indent="-7620" algn="l" defTabSz="914400" rtl="0" eaLnBrk="1" fontAlgn="auto" latinLnBrk="0" hangingPunct="1">
              <a:lnSpc>
                <a:spcPct val="114799"/>
              </a:lnSpc>
              <a:spcBef>
                <a:spcPts val="1170"/>
              </a:spcBef>
              <a:spcAft>
                <a:spcPts val="0"/>
              </a:spcAft>
              <a:buClrTx/>
              <a:buSzPct val="96296"/>
              <a:buFont typeface="Wingdings"/>
              <a:buChar char=""/>
              <a:tabLst>
                <a:tab pos="121285" algn="l"/>
              </a:tabLst>
              <a:defRPr/>
            </a:pPr>
            <a:r>
              <a:rPr kumimoji="0" lang="en-US" sz="2700" b="0" i="0" u="none" strike="noStrike" kern="1200" cap="none" spc="-5" normalizeH="0" baseline="0" noProof="0" dirty="0" smtClean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</a:t>
            </a:r>
            <a:r>
              <a:rPr kumimoji="0" sz="2700" b="0" i="0" u="none" strike="noStrike" kern="1200" cap="none" spc="-5" normalizeH="0" baseline="0" noProof="0" dirty="0" smtClean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he</a:t>
            </a:r>
            <a:r>
              <a:rPr kumimoji="0" sz="2700" b="0" i="0" u="none" strike="noStrike" kern="1200" cap="none" spc="25" normalizeH="0" baseline="0" noProof="0" dirty="0" smtClean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general</a:t>
            </a:r>
            <a:r>
              <a:rPr kumimoji="0" sz="27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registers</a:t>
            </a:r>
            <a:r>
              <a:rPr kumimoji="0" sz="2700" b="0" i="0" u="none" strike="noStrike" kern="1200" cap="none" spc="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</a:t>
            </a:r>
            <a:r>
              <a:rPr kumimoji="0" sz="27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 </a:t>
            </a:r>
            <a:r>
              <a:rPr kumimoji="0" sz="2700" b="0" i="0" u="none" strike="noStrike" kern="1200" cap="none" spc="-5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FIQ</a:t>
            </a:r>
            <a:r>
              <a:rPr kumimoji="0" sz="27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mode</a:t>
            </a:r>
            <a:r>
              <a:rPr kumimoji="0" sz="2700" b="0" i="0" u="none" strike="noStrike" kern="1200" cap="none" spc="-20" normalizeH="0" baseline="0" noProof="0" dirty="0" smtClean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-5" normalizeH="0" baseline="0" noProof="0" dirty="0" smtClean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R8</a:t>
            </a:r>
            <a:r>
              <a:rPr kumimoji="0" sz="2700" b="0" i="0" u="none" strike="noStrike" kern="1200" cap="none" spc="5" normalizeH="0" baseline="0" noProof="0" dirty="0" smtClean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to R14</a:t>
            </a:r>
            <a:r>
              <a:rPr kumimoji="0" sz="27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are</a:t>
            </a:r>
            <a:r>
              <a:rPr kumimoji="0" sz="27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notated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as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R8_fiq,…,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R14-fiq.</a:t>
            </a:r>
          </a:p>
          <a:p>
            <a:pPr marL="12700" marR="5080" lvl="0" indent="0" algn="l" defTabSz="914400" rtl="0" eaLnBrk="1" fontAlgn="auto" latinLnBrk="0" hangingPunct="1">
              <a:lnSpc>
                <a:spcPct val="114900"/>
              </a:lnSpc>
              <a:spcBef>
                <a:spcPts val="1410"/>
              </a:spcBef>
              <a:spcAft>
                <a:spcPts val="0"/>
              </a:spcAft>
              <a:buClrTx/>
              <a:buSzPct val="96296"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When</a:t>
            </a:r>
            <a:r>
              <a:rPr kumimoji="0" sz="2700" b="0" i="0" u="none" strike="noStrike" kern="1200" cap="none" spc="2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</a:t>
            </a:r>
            <a:r>
              <a:rPr kumimoji="0" sz="2700" b="0" i="0" u="none" strike="noStrike" kern="1200" cap="none" spc="2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mode</a:t>
            </a:r>
            <a:r>
              <a:rPr kumimoji="0" sz="2700" b="0" i="0" u="none" strike="noStrike" kern="1200" cap="none" spc="2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switch</a:t>
            </a:r>
            <a:r>
              <a:rPr kumimoji="0" sz="2700" b="0" i="0" u="none" strike="noStrike" kern="1200" cap="none" spc="2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occurs</a:t>
            </a:r>
            <a:r>
              <a:rPr kumimoji="0" sz="2700" b="0" i="0" u="none" strike="noStrike" kern="1200" cap="none" spc="2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from</a:t>
            </a:r>
            <a:r>
              <a:rPr kumimoji="0" sz="2700" b="0" i="0" u="none" strike="noStrike" kern="1200" cap="none" spc="2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2700" b="0" i="0" u="none" strike="noStrike" kern="1200" cap="none" spc="229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user</a:t>
            </a:r>
            <a:r>
              <a:rPr kumimoji="0" sz="2700" b="0" i="0" u="none" strike="noStrike" kern="1200" cap="none" spc="2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mode</a:t>
            </a:r>
            <a:r>
              <a:rPr kumimoji="0" sz="2700" b="0" i="0" u="none" strike="noStrike" kern="1200" cap="none" spc="2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to</a:t>
            </a:r>
            <a:r>
              <a:rPr kumimoji="0" sz="2700" b="0" i="0" u="none" strike="noStrike" kern="1200" cap="none" spc="2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2700" b="0" i="0" u="none" strike="noStrike" kern="1200" cap="none" spc="229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FIQ</a:t>
            </a:r>
            <a:r>
              <a:rPr kumimoji="0" sz="2700" b="0" i="0" u="none" strike="noStrike" kern="1200" cap="none" spc="2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mode,</a:t>
            </a:r>
            <a:r>
              <a:rPr kumimoji="0" sz="2700" b="0" i="0" u="none" strike="noStrike" kern="1200" cap="none" spc="2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2700" b="0" i="0" u="none" strike="noStrike" kern="1200" cap="none" spc="229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registers </a:t>
            </a:r>
            <a:r>
              <a:rPr kumimoji="0" sz="2700" b="0" i="0" u="none" strike="noStrike" kern="1200" cap="none" spc="-5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R8</a:t>
            </a:r>
            <a:r>
              <a:rPr kumimoji="0" sz="2700" b="0" i="0" u="none" strike="noStrike" kern="1200" cap="none" spc="114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to</a:t>
            </a:r>
            <a:r>
              <a:rPr kumimoji="0" sz="2700" b="0" i="0" u="none" strike="noStrike" kern="1200" cap="none" spc="114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R14</a:t>
            </a:r>
            <a:r>
              <a:rPr kumimoji="0" sz="2700" b="0" i="0" u="none" strike="noStrike" kern="1200" cap="none" spc="10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</a:t>
            </a:r>
            <a:r>
              <a:rPr kumimoji="0" sz="2700" b="0" i="0" u="none" strike="noStrike" kern="1200" cap="none" spc="1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2700" b="0" i="0" u="none" strike="noStrike" kern="1200" cap="none" spc="114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user</a:t>
            </a:r>
            <a:r>
              <a:rPr kumimoji="0" sz="2700" b="0" i="0" u="none" strike="noStrike" kern="1200" cap="none" spc="9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mode</a:t>
            </a:r>
            <a:r>
              <a:rPr kumimoji="0" sz="2700" b="0" i="0" u="none" strike="noStrike" kern="1200" cap="none" spc="10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are</a:t>
            </a:r>
            <a:r>
              <a:rPr kumimoji="0" sz="2700" b="0" i="0" u="none" strike="noStrike" kern="1200" cap="none" spc="10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replaced</a:t>
            </a:r>
            <a:r>
              <a:rPr kumimoji="0" sz="2700" b="0" i="0" u="none" strike="noStrike" kern="1200" cap="none" spc="1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with</a:t>
            </a:r>
            <a:r>
              <a:rPr kumimoji="0" sz="2700" b="0" i="0" u="none" strike="noStrike" kern="1200" cap="none" spc="114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</a:t>
            </a:r>
            <a:r>
              <a:rPr kumimoji="0" sz="2700" b="0" i="0" u="none" strike="noStrike" kern="1200" cap="none" spc="1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new</a:t>
            </a:r>
            <a:r>
              <a:rPr kumimoji="0" sz="2700" b="0" i="0" u="none" strike="noStrike" kern="1200" cap="none" spc="1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set</a:t>
            </a:r>
            <a:r>
              <a:rPr kumimoji="0" sz="2700" b="0" i="0" u="none" strike="noStrike" kern="1200" cap="none" spc="114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notated</a:t>
            </a:r>
            <a:r>
              <a:rPr kumimoji="0" sz="2700" b="0" i="0" u="none" strike="noStrike" kern="1200" cap="none" spc="1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as</a:t>
            </a:r>
            <a:r>
              <a:rPr kumimoji="0" sz="2700" b="0" i="0" u="none" strike="noStrike" kern="1200" cap="none" spc="114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R8_fiq,</a:t>
            </a:r>
            <a:r>
              <a:rPr kumimoji="0" sz="2700" b="0" i="0" u="none" strike="noStrike" kern="1200" cap="none" spc="1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R9_fiq</a:t>
            </a:r>
            <a:r>
              <a:rPr kumimoji="0" sz="2700" b="0" i="0" u="none" strike="noStrike" kern="1200" cap="none" spc="5" normalizeH="0" baseline="0" noProof="0" dirty="0" smtClean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,</a:t>
            </a:r>
            <a:r>
              <a:rPr kumimoji="0" lang="en-US" sz="2700" b="0" i="0" u="none" strike="noStrike" kern="1200" cap="none" spc="5" normalizeH="0" baseline="0" noProof="0" dirty="0" smtClean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..</a:t>
            </a:r>
            <a:r>
              <a:rPr kumimoji="0" sz="27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,</a:t>
            </a:r>
            <a:r>
              <a:rPr kumimoji="0" sz="2700" b="0" i="0" u="none" strike="noStrike" kern="1200" cap="none" spc="-35" normalizeH="0" baseline="0" noProof="0" dirty="0" smtClean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R14_fiq.</a:t>
            </a:r>
            <a:endParaRPr kumimoji="0" sz="27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0723" y="909609"/>
            <a:ext cx="11703685" cy="480195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95580" marR="5715" lvl="0" indent="-182880" algn="just" defTabSz="914400" rtl="0" eaLnBrk="1" fontAlgn="auto" latinLnBrk="0" hangingPunct="1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FIQ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is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mode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that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is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entered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for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a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high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priority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'fast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interrupt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request</a:t>
            </a:r>
            <a:r>
              <a:rPr kumimoji="0" sz="3200" b="0" i="0" u="none" strike="noStrike" kern="1200" cap="none" spc="-20" normalizeH="0" baseline="0" noProof="0" dirty="0" smtClean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'.</a:t>
            </a:r>
            <a:endParaRPr kumimoji="0" lang="en-US" sz="3200" b="0" i="0" u="none" strike="noStrike" kern="1200" cap="none" spc="-20" normalizeH="0" baseline="0" noProof="0" dirty="0" smtClean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5580" marR="5715" lvl="0" indent="-182880" algn="just" defTabSz="914400" rtl="0" eaLnBrk="1" fontAlgn="auto" latinLnBrk="0" hangingPunct="1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3200" b="0" i="0" u="none" strike="noStrike" kern="1200" cap="none" spc="-15" normalizeH="0" baseline="0" noProof="0" dirty="0" smtClean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10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To</a:t>
            </a:r>
            <a:r>
              <a:rPr kumimoji="0" sz="3200" b="0" i="0" u="none" strike="noStrike" kern="1200" cap="none" spc="-10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enable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fast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response,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no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time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spent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'saving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context'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registers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R8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to</a:t>
            </a:r>
            <a:r>
              <a:rPr kumimoji="0" sz="32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R14,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there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is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no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need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to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save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 </a:t>
            </a:r>
            <a:r>
              <a:rPr kumimoji="0" sz="3200" b="0" i="0" u="none" strike="noStrike" kern="1200" cap="none" spc="-6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content of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these registers and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their content remains intact. </a:t>
            </a:r>
            <a:endParaRPr kumimoji="0" lang="en-US" sz="3200" b="0" i="0" u="none" strike="noStrike" kern="1200" cap="none" spc="-5" normalizeH="0" baseline="0" noProof="0" dirty="0" smtClean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5580" marR="5715" lvl="0" indent="-182880" algn="just" defTabSz="914400" rtl="0" eaLnBrk="1" fontAlgn="auto" latinLnBrk="0" hangingPunct="1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32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FIQ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mode does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not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use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these registers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as it has an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entirely new set of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registers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R8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to R14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to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be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used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this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mode.</a:t>
            </a:r>
          </a:p>
          <a:p>
            <a:pPr marL="195580" marR="5080" lvl="0" indent="-182880" algn="just" defTabSz="914400" rtl="0" eaLnBrk="1" fontAlgn="auto" latinLnBrk="0" hangingPunct="1">
              <a:lnSpc>
                <a:spcPct val="90000"/>
              </a:lnSpc>
              <a:spcBef>
                <a:spcPts val="1395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 other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modes,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only </a:t>
            </a:r>
            <a:r>
              <a:rPr kumimoji="0" sz="32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R13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and R14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are 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banked.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Note that </a:t>
            </a:r>
            <a:r>
              <a:rPr kumimoji="0" sz="32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R13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and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R14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are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'Stack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pointer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register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(SP)'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and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'Link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register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1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(LR)' </a:t>
            </a:r>
            <a:r>
              <a:rPr kumimoji="0" sz="3200" b="1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respectively</a:t>
            </a:r>
            <a:r>
              <a:rPr kumimoji="0" sz="3200" b="0" i="0" u="none" strike="noStrike" kern="1200" cap="none" spc="-4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each</a:t>
            </a:r>
            <a:r>
              <a:rPr kumimoji="0" sz="3200" b="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mode.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9011" y="650050"/>
            <a:ext cx="10485316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600" spc="-5" dirty="0" smtClean="0">
                <a:solidFill>
                  <a:srgbClr val="00B0F0"/>
                </a:solidFill>
                <a:latin typeface="Corbel"/>
                <a:cs typeface="Corbel"/>
              </a:rPr>
              <a:t>Th</a:t>
            </a:r>
            <a:r>
              <a:rPr lang="en-US" sz="3600" dirty="0" smtClean="0">
                <a:solidFill>
                  <a:srgbClr val="00B0F0"/>
                </a:solidFill>
                <a:latin typeface="Corbel"/>
                <a:cs typeface="Corbel"/>
              </a:rPr>
              <a:t>e</a:t>
            </a:r>
            <a:r>
              <a:rPr lang="en-US" sz="3600" spc="-120" dirty="0" smtClean="0">
                <a:solidFill>
                  <a:srgbClr val="00B0F0"/>
                </a:solidFill>
                <a:latin typeface="Corbel"/>
                <a:cs typeface="Corbel"/>
              </a:rPr>
              <a:t> </a:t>
            </a:r>
            <a:r>
              <a:rPr lang="en-US" sz="3600" spc="-5" dirty="0" smtClean="0">
                <a:solidFill>
                  <a:srgbClr val="00B0F0"/>
                </a:solidFill>
                <a:latin typeface="Corbel"/>
                <a:cs typeface="Corbel"/>
              </a:rPr>
              <a:t>Us</a:t>
            </a:r>
            <a:r>
              <a:rPr lang="en-US" sz="3600" dirty="0" smtClean="0">
                <a:solidFill>
                  <a:srgbClr val="00B0F0"/>
                </a:solidFill>
                <a:latin typeface="Corbel"/>
                <a:cs typeface="Corbel"/>
              </a:rPr>
              <a:t>es</a:t>
            </a:r>
            <a:r>
              <a:rPr lang="en-US" sz="3600" spc="-140" dirty="0" smtClean="0">
                <a:solidFill>
                  <a:srgbClr val="00B0F0"/>
                </a:solidFill>
                <a:latin typeface="Corbel"/>
                <a:cs typeface="Corbel"/>
              </a:rPr>
              <a:t> </a:t>
            </a:r>
            <a:r>
              <a:rPr lang="en-US" sz="3600" spc="-5" dirty="0">
                <a:solidFill>
                  <a:srgbClr val="00B0F0"/>
                </a:solidFill>
                <a:latin typeface="Corbel"/>
                <a:cs typeface="Corbel"/>
              </a:rPr>
              <a:t>o</a:t>
            </a:r>
            <a:r>
              <a:rPr lang="en-US" sz="3600" dirty="0" smtClean="0">
                <a:solidFill>
                  <a:srgbClr val="00B0F0"/>
                </a:solidFill>
                <a:latin typeface="Corbel"/>
                <a:cs typeface="Corbel"/>
              </a:rPr>
              <a:t>f</a:t>
            </a:r>
            <a:r>
              <a:rPr lang="en-US" sz="3600" spc="-250" dirty="0" smtClean="0">
                <a:solidFill>
                  <a:srgbClr val="00B0F0"/>
                </a:solidFill>
                <a:latin typeface="Corbel"/>
                <a:cs typeface="Corbel"/>
              </a:rPr>
              <a:t>  </a:t>
            </a:r>
            <a:r>
              <a:rPr lang="en-US" sz="3600" spc="-5" dirty="0" smtClean="0">
                <a:solidFill>
                  <a:srgbClr val="00B0F0"/>
                </a:solidFill>
                <a:latin typeface="Corbel"/>
                <a:cs typeface="Corbel"/>
              </a:rPr>
              <a:t>Th</a:t>
            </a:r>
            <a:r>
              <a:rPr lang="en-US" sz="3600" dirty="0" smtClean="0">
                <a:solidFill>
                  <a:srgbClr val="00B0F0"/>
                </a:solidFill>
                <a:latin typeface="Corbel"/>
                <a:cs typeface="Corbel"/>
              </a:rPr>
              <a:t>e</a:t>
            </a:r>
            <a:r>
              <a:rPr lang="en-US" sz="3600" spc="-5" dirty="0" smtClean="0">
                <a:solidFill>
                  <a:srgbClr val="00B0F0"/>
                </a:solidFill>
                <a:latin typeface="Corbel"/>
                <a:cs typeface="Corbel"/>
              </a:rPr>
              <a:t> </a:t>
            </a:r>
            <a:r>
              <a:rPr lang="en-US" sz="3600" dirty="0" smtClean="0">
                <a:solidFill>
                  <a:srgbClr val="00B0F0"/>
                </a:solidFill>
                <a:latin typeface="Corbel"/>
                <a:cs typeface="Corbel"/>
              </a:rPr>
              <a:t>Link </a:t>
            </a:r>
            <a:r>
              <a:rPr lang="en-US" sz="3600" spc="-15" dirty="0" smtClean="0">
                <a:solidFill>
                  <a:srgbClr val="00B0F0"/>
                </a:solidFill>
                <a:latin typeface="Corbel"/>
                <a:cs typeface="Corbel"/>
              </a:rPr>
              <a:t>R</a:t>
            </a:r>
            <a:r>
              <a:rPr lang="en-US" sz="3600" dirty="0" smtClean="0">
                <a:solidFill>
                  <a:srgbClr val="00B0F0"/>
                </a:solidFill>
                <a:latin typeface="Corbel"/>
                <a:cs typeface="Corbel"/>
              </a:rPr>
              <a:t>egister:</a:t>
            </a:r>
            <a:endParaRPr sz="3600" dirty="0">
              <a:solidFill>
                <a:srgbClr val="00B0F0"/>
              </a:solidFill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2572" y="1482331"/>
            <a:ext cx="11512550" cy="4815036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1955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780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30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link</a:t>
            </a:r>
            <a:r>
              <a:rPr kumimoji="0" sz="30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register</a:t>
            </a:r>
            <a:r>
              <a:rPr kumimoji="0" sz="3000" b="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</a:t>
            </a:r>
            <a:r>
              <a:rPr kumimoji="0" sz="30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one</a:t>
            </a:r>
            <a:r>
              <a:rPr kumimoji="0" sz="30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that</a:t>
            </a:r>
            <a:r>
              <a:rPr kumimoji="0" sz="30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not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seen</a:t>
            </a:r>
            <a:r>
              <a:rPr kumimoji="0" sz="30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</a:t>
            </a:r>
            <a:r>
              <a:rPr kumimoji="0" sz="30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most</a:t>
            </a:r>
            <a:r>
              <a:rPr kumimoji="0" sz="30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other</a:t>
            </a:r>
            <a:r>
              <a:rPr kumimoji="0" sz="30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processors.</a:t>
            </a:r>
            <a:endParaRPr kumimoji="0" sz="3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4945" marR="5715" lvl="0" indent="-182880" algn="l" defTabSz="914400" rtl="0" eaLnBrk="1" fontAlgn="auto" latinLnBrk="0" hangingPunct="1">
              <a:lnSpc>
                <a:spcPts val="2880"/>
              </a:lnSpc>
              <a:spcBef>
                <a:spcPts val="1380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  <a:tab pos="758825" algn="l"/>
                <a:tab pos="3074035" algn="l"/>
                <a:tab pos="3884929" algn="l"/>
                <a:tab pos="4848860" algn="l"/>
                <a:tab pos="5275580" algn="l"/>
                <a:tab pos="6487160" algn="l"/>
                <a:tab pos="7006590" algn="l"/>
                <a:tab pos="8126730" algn="l"/>
                <a:tab pos="8710930" algn="l"/>
                <a:tab pos="10477500" algn="l"/>
              </a:tabLst>
              <a:defRPr/>
            </a:pP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Its	in</a:t>
            </a:r>
            <a:r>
              <a:rPr kumimoji="0" sz="30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</a:t>
            </a:r>
            <a:r>
              <a:rPr kumimoji="0" sz="30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oratio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	</a:t>
            </a:r>
            <a:r>
              <a:rPr kumimoji="0" sz="30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nt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	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	is	m</a:t>
            </a:r>
            <a:r>
              <a:rPr kumimoji="0" sz="30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</a:t>
            </a:r>
            <a:r>
              <a:rPr kumimoji="0" sz="30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	to	</a:t>
            </a:r>
            <a:r>
              <a:rPr kumimoji="0" sz="30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</a:t>
            </a:r>
            <a:r>
              <a:rPr kumimoji="0" sz="30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ed	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u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	b</a:t>
            </a:r>
            <a:r>
              <a:rPr kumimoji="0" sz="30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anch</a:t>
            </a:r>
            <a:r>
              <a:rPr kumimoji="0" sz="30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g	during 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procedure</a:t>
            </a:r>
            <a:r>
              <a:rPr kumimoji="0" sz="3000" b="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calls</a:t>
            </a:r>
            <a:r>
              <a:rPr kumimoji="0" sz="30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and</a:t>
            </a:r>
            <a:r>
              <a:rPr kumimoji="0" sz="30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interrupt</a:t>
            </a:r>
            <a:r>
              <a:rPr kumimoji="0" sz="3000" b="0" i="0" u="none" strike="noStrike" kern="1200" cap="none" spc="-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processing.</a:t>
            </a:r>
            <a:endParaRPr kumimoji="0" sz="3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4945" marR="5080" lvl="0" indent="-182880" algn="l" defTabSz="914400" rtl="0" eaLnBrk="1" fontAlgn="auto" latinLnBrk="0" hangingPunct="1">
              <a:lnSpc>
                <a:spcPts val="2880"/>
              </a:lnSpc>
              <a:spcBef>
                <a:spcPts val="1395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30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Generally,</a:t>
            </a:r>
            <a:r>
              <a:rPr kumimoji="0" sz="30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most</a:t>
            </a:r>
            <a:r>
              <a:rPr kumimoji="0" sz="30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processors,</a:t>
            </a:r>
            <a:r>
              <a:rPr kumimoji="0" sz="30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when</a:t>
            </a:r>
            <a:r>
              <a:rPr kumimoji="0" sz="30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</a:t>
            </a:r>
            <a:r>
              <a:rPr kumimoji="0" sz="30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call</a:t>
            </a:r>
            <a:r>
              <a:rPr kumimoji="0" sz="30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or</a:t>
            </a:r>
            <a:r>
              <a:rPr kumimoji="0" sz="30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interrupt</a:t>
            </a:r>
            <a:r>
              <a:rPr kumimoji="0" sz="30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occurs,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the 'return </a:t>
            </a:r>
            <a:r>
              <a:rPr kumimoji="0" sz="3000" b="0" i="0" u="none" strike="noStrike" kern="1200" cap="none" spc="-58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address'</a:t>
            </a:r>
            <a:r>
              <a:rPr kumimoji="0" sz="30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saved</a:t>
            </a:r>
            <a:r>
              <a:rPr kumimoji="0" sz="30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</a:t>
            </a:r>
            <a:r>
              <a:rPr kumimoji="0" sz="30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 stack</a:t>
            </a:r>
            <a:r>
              <a:rPr kumimoji="0" sz="30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which</a:t>
            </a:r>
            <a:r>
              <a:rPr kumimoji="0" sz="30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</a:t>
            </a:r>
            <a:r>
              <a:rPr kumimoji="0" sz="30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memory.</a:t>
            </a:r>
            <a:endParaRPr kumimoji="0" sz="3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55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This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involves</a:t>
            </a:r>
            <a:r>
              <a:rPr kumimoji="0" sz="3000" b="0" i="0" u="none" strike="noStrike" kern="1200" cap="none" spc="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memory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access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which</a:t>
            </a:r>
            <a:r>
              <a:rPr kumimoji="0" sz="30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causes</a:t>
            </a:r>
            <a:r>
              <a:rPr kumimoji="0" sz="3000" b="0" i="0" u="none" strike="noStrike" kern="1200" cap="none" spc="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</a:t>
            </a:r>
            <a:r>
              <a:rPr kumimoji="0" sz="30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certain amount</a:t>
            </a:r>
            <a:r>
              <a:rPr kumimoji="0" sz="3000" b="0" i="0" u="none" strike="noStrike" kern="1200" cap="none" spc="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 </a:t>
            </a:r>
            <a:r>
              <a:rPr kumimoji="0" sz="3000" b="0" i="0" u="none" strike="noStrike" kern="1200" cap="none" spc="-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delay.</a:t>
            </a:r>
            <a:endParaRPr kumimoji="0" sz="3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4945" marR="5080" lvl="0" indent="-182880" algn="l" defTabSz="914400" rtl="0" eaLnBrk="1" fontAlgn="auto" latinLnBrk="0" hangingPunct="1">
              <a:lnSpc>
                <a:spcPts val="2880"/>
              </a:lnSpc>
              <a:spcBef>
                <a:spcPts val="1380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  <a:tab pos="631190" algn="l"/>
                <a:tab pos="1652270" algn="l"/>
                <a:tab pos="2371725" algn="l"/>
                <a:tab pos="3365500" algn="l"/>
                <a:tab pos="3749675" algn="l"/>
                <a:tab pos="5144135" algn="l"/>
                <a:tab pos="5673090" algn="l"/>
                <a:tab pos="6874509" algn="l"/>
                <a:tab pos="7593330" algn="l"/>
                <a:tab pos="8299450" algn="l"/>
                <a:tab pos="9650095" algn="l"/>
                <a:tab pos="10126980" algn="l"/>
                <a:tab pos="10974070" algn="l"/>
              </a:tabLst>
              <a:defRPr/>
            </a:pPr>
            <a:r>
              <a:rPr kumimoji="0" sz="30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	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ARM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,	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thi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	de</a:t>
            </a:r>
            <a:r>
              <a:rPr kumimoji="0" sz="30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l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ay	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	avoided	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y	</a:t>
            </a:r>
            <a:r>
              <a:rPr kumimoji="0" sz="30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h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aving	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thi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	link	re</a:t>
            </a:r>
            <a:r>
              <a:rPr kumimoji="0" sz="30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g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ister	to	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sav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	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 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return</a:t>
            </a:r>
            <a:r>
              <a:rPr kumimoji="0" sz="30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address.</a:t>
            </a:r>
            <a:endParaRPr kumimoji="0" sz="3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4945" marR="6350" lvl="0" indent="-182880" algn="l" defTabSz="914400" rtl="0" eaLnBrk="1" fontAlgn="auto" latinLnBrk="0" hangingPunct="1">
              <a:lnSpc>
                <a:spcPts val="2880"/>
              </a:lnSpc>
              <a:spcBef>
                <a:spcPts val="1395"/>
              </a:spcBef>
              <a:spcAft>
                <a:spcPts val="0"/>
              </a:spcAft>
              <a:buClr>
                <a:srgbClr val="FFFFFF"/>
              </a:buClr>
              <a:buSzTx/>
              <a:buFont typeface="Wingdings"/>
              <a:buChar char=""/>
              <a:tabLst>
                <a:tab pos="262890" algn="l"/>
              </a:tabLst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Since</a:t>
            </a:r>
            <a:r>
              <a:rPr kumimoji="0" sz="3000" b="0" i="0" u="none" strike="noStrike" kern="1200" cap="none" spc="35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all</a:t>
            </a:r>
            <a:r>
              <a:rPr kumimoji="0" sz="3000" b="0" i="0" u="none" strike="noStrike" kern="1200" cap="none" spc="38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registers</a:t>
            </a:r>
            <a:r>
              <a:rPr kumimoji="0" sz="3000" b="0" i="0" u="none" strike="noStrike" kern="1200" cap="none" spc="36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are</a:t>
            </a:r>
            <a:r>
              <a:rPr kumimoji="0" sz="3000" b="0" i="0" u="none" strike="noStrike" kern="1200" cap="none" spc="36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inside</a:t>
            </a:r>
            <a:r>
              <a:rPr kumimoji="0" sz="3000" b="0" i="0" u="none" strike="noStrike" kern="1200" cap="none" spc="39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3000" b="0" i="0" u="none" strike="noStrike" kern="1200" cap="none" spc="38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CPU,</a:t>
            </a:r>
            <a:r>
              <a:rPr kumimoji="0" sz="3000" b="0" i="0" u="none" strike="noStrike" kern="1200" cap="none" spc="38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no</a:t>
            </a:r>
            <a:r>
              <a:rPr kumimoji="0" sz="3000" b="0" i="0" u="none" strike="noStrike" kern="1200" cap="none" spc="38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memory</a:t>
            </a:r>
            <a:r>
              <a:rPr kumimoji="0" sz="3000" b="0" i="0" u="none" strike="noStrike" kern="1200" cap="none" spc="37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access</a:t>
            </a:r>
            <a:r>
              <a:rPr kumimoji="0" sz="3000" b="0" i="0" u="none" strike="noStrike" kern="1200" cap="none" spc="38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</a:t>
            </a:r>
            <a:r>
              <a:rPr kumimoji="0" sz="3000" b="0" i="0" u="none" strike="noStrike" kern="1200" cap="none" spc="38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necessary </a:t>
            </a:r>
            <a:r>
              <a:rPr kumimoji="0" sz="3000" b="0" i="0" u="none" strike="noStrike" kern="1200" cap="none" spc="-58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and</a:t>
            </a:r>
            <a:r>
              <a:rPr kumimoji="0" sz="30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thus an</a:t>
            </a:r>
            <a:r>
              <a:rPr kumimoji="0" sz="30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additional</a:t>
            </a:r>
            <a:r>
              <a:rPr kumimoji="0" sz="3000" b="0" i="0" u="none" strike="noStrike" kern="1200" cap="none" spc="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element</a:t>
            </a:r>
            <a:r>
              <a:rPr kumimoji="0" sz="30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</a:t>
            </a:r>
            <a:r>
              <a:rPr kumimoji="0" sz="30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speed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is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obtained.</a:t>
            </a:r>
            <a:endParaRPr kumimoji="0" sz="3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811" y="1136956"/>
            <a:ext cx="1000207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solidFill>
                  <a:srgbClr val="00B0F0"/>
                </a:solidFill>
                <a:latin typeface="Corbel"/>
                <a:cs typeface="Corbel"/>
              </a:rPr>
              <a:t>THE PROGRAM COUNTER REGISTER (PC)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6808" y="1958721"/>
            <a:ext cx="11236960" cy="3028315"/>
          </a:xfrm>
          <a:prstGeom prst="rect">
            <a:avLst/>
          </a:prstGeom>
        </p:spPr>
        <p:txBody>
          <a:bodyPr vert="horz" wrap="square" lIns="0" tIns="144780" rIns="0" bIns="0" rtlCol="0">
            <a:spAutoFit/>
          </a:bodyPr>
          <a:lstStyle/>
          <a:p>
            <a:pPr marL="195580" marR="0" lvl="0" indent="-182880" algn="just" defTabSz="914400" rtl="0" eaLnBrk="1" fontAlgn="auto" latinLnBrk="0" hangingPunct="1">
              <a:lnSpc>
                <a:spcPct val="100000"/>
              </a:lnSpc>
              <a:spcBef>
                <a:spcPts val="1140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There</a:t>
            </a:r>
            <a:r>
              <a:rPr kumimoji="0" sz="30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</a:t>
            </a:r>
            <a:r>
              <a:rPr kumimoji="0" sz="30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only</a:t>
            </a:r>
            <a:r>
              <a:rPr kumimoji="0" sz="30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one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PC</a:t>
            </a:r>
            <a:r>
              <a:rPr kumimoji="0" sz="30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</a:t>
            </a:r>
            <a:r>
              <a:rPr kumimoji="0" sz="30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any </a:t>
            </a:r>
            <a:r>
              <a:rPr kumimoji="0" sz="30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processor.</a:t>
            </a:r>
            <a:endParaRPr kumimoji="0" sz="3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5580" marR="5715" lvl="0" indent="-182880" algn="just" defTabSz="914400" rtl="0" eaLnBrk="1" fontAlgn="auto" latinLnBrk="0" hangingPunct="1">
              <a:lnSpc>
                <a:spcPts val="3240"/>
              </a:lnSpc>
              <a:spcBef>
                <a:spcPts val="1455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 Program Counter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 register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which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sequences the instructions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as</a:t>
            </a:r>
            <a:r>
              <a:rPr kumimoji="0" sz="30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they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are being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fetched</a:t>
            </a:r>
            <a:r>
              <a:rPr kumimoji="0" sz="30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and</a:t>
            </a:r>
            <a:r>
              <a:rPr kumimoji="0" sz="30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executed.</a:t>
            </a:r>
            <a:endParaRPr kumimoji="0" sz="3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5580" marR="5080" lvl="0" indent="-182880" algn="just" defTabSz="914400" rtl="0" eaLnBrk="1" fontAlgn="auto" latinLnBrk="0" hangingPunct="1">
              <a:lnSpc>
                <a:spcPts val="3240"/>
              </a:lnSpc>
              <a:spcBef>
                <a:spcPts val="1395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 ARM, the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value </a:t>
            </a:r>
            <a:r>
              <a:rPr kumimoji="0" sz="30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 Program </a:t>
            </a:r>
            <a:r>
              <a:rPr kumimoji="0" sz="30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counter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 address of the current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instruction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being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'fetched' (rather than the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address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 the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instruction </a:t>
            </a:r>
            <a:r>
              <a:rPr kumimoji="0" sz="30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being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executed,</a:t>
            </a:r>
            <a:r>
              <a:rPr kumimoji="0" sz="30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as</a:t>
            </a:r>
            <a:r>
              <a:rPr kumimoji="0" sz="30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other processors).</a:t>
            </a:r>
            <a:endParaRPr kumimoji="0" sz="3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2185" y="851408"/>
            <a:ext cx="82029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10" dirty="0">
                <a:latin typeface="Corbel"/>
                <a:cs typeface="Corbel"/>
              </a:rPr>
              <a:t> </a:t>
            </a:r>
            <a:r>
              <a:rPr sz="3600" spc="-5" dirty="0">
                <a:solidFill>
                  <a:srgbClr val="00B0F0"/>
                </a:solidFill>
                <a:latin typeface="Corbel"/>
                <a:cs typeface="Corbel"/>
              </a:rPr>
              <a:t>PROGRAM STATUS </a:t>
            </a:r>
            <a:r>
              <a:rPr sz="3600" spc="-5" dirty="0" smtClean="0">
                <a:solidFill>
                  <a:srgbClr val="00B0F0"/>
                </a:solidFill>
                <a:latin typeface="Corbel"/>
                <a:cs typeface="Corbel"/>
              </a:rPr>
              <a:t>REGISTERS</a:t>
            </a:r>
            <a:r>
              <a:rPr lang="en-US" sz="3600" spc="-5" dirty="0" smtClean="0">
                <a:solidFill>
                  <a:srgbClr val="00B0F0"/>
                </a:solidFill>
                <a:latin typeface="Corbel"/>
                <a:cs typeface="Corbel"/>
              </a:rPr>
              <a:t>(PSR)</a:t>
            </a:r>
            <a:endParaRPr sz="3600" spc="-5" dirty="0">
              <a:solidFill>
                <a:srgbClr val="00B0F0"/>
              </a:solidFill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82041" y="1842642"/>
            <a:ext cx="11630660" cy="4686539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195580" marR="0" lvl="0" indent="-182880" algn="just" defTabSz="914400" rtl="0" eaLnBrk="1" fontAlgn="auto" latinLnBrk="0" hangingPunct="1">
              <a:lnSpc>
                <a:spcPct val="100000"/>
              </a:lnSpc>
              <a:spcBef>
                <a:spcPts val="1145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30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lower</a:t>
            </a:r>
            <a:r>
              <a:rPr kumimoji="0" sz="30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part</a:t>
            </a:r>
            <a:r>
              <a:rPr kumimoji="0" sz="30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</a:t>
            </a:r>
            <a:r>
              <a:rPr kumimoji="0" sz="3000" b="0" i="0" u="none" strike="noStrike" kern="1200" cap="none" spc="-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figure</a:t>
            </a:r>
            <a:r>
              <a:rPr kumimoji="0" sz="30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shows</a:t>
            </a:r>
            <a:r>
              <a:rPr lang="en-US" sz="3000" dirty="0">
                <a:latin typeface="Corbel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One</a:t>
            </a:r>
            <a:r>
              <a:rPr kumimoji="0" sz="3000" b="0" i="0" u="none" strike="noStrike" kern="1200" cap="none" spc="-1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CPSR</a:t>
            </a:r>
            <a:r>
              <a:rPr kumimoji="0" sz="30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(Current</a:t>
            </a:r>
            <a:r>
              <a:rPr kumimoji="0" sz="3000" b="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Program</a:t>
            </a:r>
            <a:r>
              <a:rPr kumimoji="0" sz="3000" b="0" i="0" u="none" strike="noStrike" kern="1200" cap="none" spc="-8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Status</a:t>
            </a:r>
            <a:r>
              <a:rPr kumimoji="0" sz="30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Register)</a:t>
            </a:r>
            <a:r>
              <a:rPr kumimoji="0" lang="en-US" sz="30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and </a:t>
            </a:r>
            <a:r>
              <a:rPr kumimoji="0" sz="30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Banked</a:t>
            </a:r>
            <a:r>
              <a:rPr kumimoji="0" sz="3000" b="0" i="0" u="none" strike="noStrike" kern="1200" cap="none" spc="-7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SPSRs</a:t>
            </a:r>
            <a:r>
              <a:rPr kumimoji="0" sz="30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(Saved</a:t>
            </a:r>
            <a:r>
              <a:rPr kumimoji="0" sz="30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Program</a:t>
            </a:r>
            <a:r>
              <a:rPr kumimoji="0" sz="3000" b="0" i="0" u="none" strike="noStrike" kern="1200" cap="none" spc="-9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Status</a:t>
            </a:r>
            <a:r>
              <a:rPr kumimoji="0" sz="30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Register)</a:t>
            </a:r>
            <a:r>
              <a:rPr kumimoji="0" sz="30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for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each mode.</a:t>
            </a:r>
            <a:endParaRPr kumimoji="0" sz="3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245745" marR="0" lvl="0" indent="-233679" defTabSz="914400" rtl="0" eaLnBrk="1" fontAlgn="auto" latinLnBrk="0" hangingPunct="1">
              <a:lnSpc>
                <a:spcPts val="3420"/>
              </a:lnSpc>
              <a:spcBef>
                <a:spcPts val="1045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246379" algn="l"/>
                <a:tab pos="1050290" algn="l"/>
                <a:tab pos="1440180" algn="l"/>
                <a:tab pos="2113915" algn="l"/>
                <a:tab pos="3472179" algn="l"/>
                <a:tab pos="4554220" algn="l"/>
                <a:tab pos="5246370" algn="l"/>
                <a:tab pos="5918200" algn="l"/>
                <a:tab pos="7023734" algn="l"/>
                <a:tab pos="7752080" algn="l"/>
                <a:tab pos="8492490" algn="l"/>
                <a:tab pos="9765665" algn="l"/>
                <a:tab pos="10492740" algn="l"/>
                <a:tab pos="11092815" algn="l"/>
              </a:tabLst>
              <a:defRPr/>
            </a:pPr>
            <a:r>
              <a:rPr lang="en-US" sz="3000" spc="-5" dirty="0">
                <a:latin typeface="Corbel"/>
                <a:cs typeface="Corbel"/>
              </a:rPr>
              <a:t>CPSR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	is	</a:t>
            </a:r>
            <a:r>
              <a:rPr kumimoji="0" sz="30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h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regis</a:t>
            </a:r>
            <a:r>
              <a:rPr kumimoji="0" sz="30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er	which	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ha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	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	</a:t>
            </a:r>
            <a:r>
              <a:rPr kumimoji="0" sz="3000" b="0" i="0" u="none" strike="noStrike" kern="1200" cap="none" spc="5" normalizeH="0" baseline="0" noProof="0" dirty="0" smtClean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</a:t>
            </a:r>
            <a:r>
              <a:rPr kumimoji="0" sz="3000" b="0" i="0" u="none" strike="noStrike" kern="1200" cap="none" spc="-5" normalizeH="0" baseline="0" noProof="0" dirty="0" smtClean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tatu</a:t>
            </a:r>
            <a:r>
              <a:rPr kumimoji="0" sz="30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</a:t>
            </a:r>
            <a:r>
              <a:rPr kumimoji="0" lang="en-US" sz="30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bits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	a</a:t>
            </a:r>
            <a:r>
              <a:rPr kumimoji="0" sz="30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d	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co</a:t>
            </a:r>
            <a:r>
              <a:rPr kumimoji="0" sz="30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tro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l	bits	for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lang="en-US" sz="3000" dirty="0">
                <a:latin typeface="Corbel"/>
                <a:cs typeface="Corbel"/>
              </a:rPr>
              <a:t>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`current'</a:t>
            </a:r>
            <a:r>
              <a:rPr kumimoji="0" sz="3000" b="0" i="0" u="none" strike="noStrike" kern="1200" cap="none" spc="-7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time</a:t>
            </a:r>
            <a:endParaRPr kumimoji="0" lang="en-US" sz="3000" b="0" i="0" u="none" strike="noStrike" kern="1200" cap="none" spc="-5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245745" marR="0" lvl="0" indent="-233679" algn="just" defTabSz="914400" rtl="0" eaLnBrk="1" fontAlgn="auto" latinLnBrk="0" hangingPunct="1">
              <a:lnSpc>
                <a:spcPts val="3420"/>
              </a:lnSpc>
              <a:spcBef>
                <a:spcPts val="1045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246379" algn="l"/>
                <a:tab pos="1050290" algn="l"/>
                <a:tab pos="1440180" algn="l"/>
                <a:tab pos="2113915" algn="l"/>
                <a:tab pos="3472179" algn="l"/>
                <a:tab pos="4554220" algn="l"/>
                <a:tab pos="5246370" algn="l"/>
                <a:tab pos="5918200" algn="l"/>
                <a:tab pos="7023734" algn="l"/>
                <a:tab pos="7752080" algn="l"/>
                <a:tab pos="8492490" algn="l"/>
                <a:tab pos="9765665" algn="l"/>
                <a:tab pos="10492740" algn="l"/>
                <a:tab pos="11092815" algn="l"/>
              </a:tabLst>
              <a:defRPr/>
            </a:pPr>
            <a:r>
              <a:rPr kumimoji="0" lang="en-US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 bit configuration of the CPSR is shown in fig 4.3</a:t>
            </a:r>
            <a:endParaRPr kumimoji="0" sz="3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5580" marR="0" lvl="0" indent="-182880" algn="just" defTabSz="914400" rtl="0" eaLnBrk="1" fontAlgn="auto" latinLnBrk="0" hangingPunct="1">
              <a:lnSpc>
                <a:spcPct val="100000"/>
              </a:lnSpc>
              <a:spcBef>
                <a:spcPts val="1045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Bits </a:t>
            </a:r>
            <a:r>
              <a:rPr kumimoji="0" sz="30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8-27</a:t>
            </a:r>
            <a:r>
              <a:rPr kumimoji="0" sz="30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are</a:t>
            </a:r>
            <a:r>
              <a:rPr kumimoji="0" sz="30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'reserved'</a:t>
            </a:r>
            <a:r>
              <a:rPr kumimoji="0" sz="30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which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means</a:t>
            </a:r>
            <a:r>
              <a:rPr kumimoji="0" sz="30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they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are</a:t>
            </a:r>
            <a:r>
              <a:rPr kumimoji="0" sz="30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undefined</a:t>
            </a:r>
            <a:r>
              <a:rPr kumimoji="0" sz="3000" b="0" i="0" u="none" strike="noStrike" kern="1200" cap="none" spc="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for</a:t>
            </a:r>
            <a:r>
              <a:rPr kumimoji="0" sz="3000" b="0" i="0" u="none" strike="noStrike" kern="1200" cap="none" spc="-1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ARM7.</a:t>
            </a:r>
            <a:endParaRPr kumimoji="0" sz="3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4945" marR="5080" lvl="0" indent="-182880" algn="just" defTabSz="914400" rtl="0" eaLnBrk="1" fontAlgn="auto" latinLnBrk="0" hangingPunct="1">
              <a:lnSpc>
                <a:spcPts val="3240"/>
              </a:lnSpc>
              <a:spcBef>
                <a:spcPts val="1440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  <a:tab pos="1016635" algn="l"/>
                <a:tab pos="2150745" algn="l"/>
                <a:tab pos="2941955" algn="l"/>
                <a:tab pos="3738879" algn="l"/>
                <a:tab pos="4759960" algn="l"/>
                <a:tab pos="5501005" algn="l"/>
                <a:tab pos="6314440" algn="l"/>
                <a:tab pos="7112000" algn="l"/>
                <a:tab pos="7922895" algn="l"/>
                <a:tab pos="8642350" algn="l"/>
                <a:tab pos="10315575" algn="l"/>
                <a:tab pos="11277600" algn="l"/>
              </a:tabLst>
              <a:defRPr/>
            </a:pP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	u</a:t>
            </a:r>
            <a:r>
              <a:rPr kumimoji="0" sz="30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</a:t>
            </a:r>
            <a:r>
              <a:rPr kumimoji="0" sz="30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er	fi</a:t>
            </a:r>
            <a:r>
              <a:rPr kumimoji="0" sz="30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v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	bits	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sto</a:t>
            </a:r>
            <a:r>
              <a:rPr kumimoji="0" sz="30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	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	fl</a:t>
            </a:r>
            <a:r>
              <a:rPr kumimoji="0" sz="30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g	bi</a:t>
            </a:r>
            <a:r>
              <a:rPr kumimoji="0" sz="30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	a</a:t>
            </a:r>
            <a:r>
              <a:rPr kumimoji="0" sz="30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d	are	gene</a:t>
            </a:r>
            <a:r>
              <a:rPr kumimoji="0" sz="30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ally	used	</a:t>
            </a:r>
            <a:r>
              <a:rPr kumimoji="0" sz="30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to 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understand</a:t>
            </a:r>
            <a:r>
              <a:rPr kumimoji="0" sz="30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result</a:t>
            </a:r>
            <a:r>
              <a:rPr kumimoji="0" sz="30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</a:t>
            </a:r>
            <a:r>
              <a:rPr kumimoji="0" sz="30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</a:t>
            </a:r>
            <a:r>
              <a:rPr kumimoji="0" sz="30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data processing</a:t>
            </a:r>
            <a:r>
              <a:rPr kumimoji="0" sz="30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instruction.</a:t>
            </a:r>
            <a:endParaRPr kumimoji="0" sz="3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2376" y="1912620"/>
            <a:ext cx="10279380" cy="47396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9953" y="1916938"/>
            <a:ext cx="11303635" cy="448754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94945" marR="288925" lvl="0" indent="-182880" algn="l" defTabSz="914400" rtl="0" eaLnBrk="1" fontAlgn="auto" latinLnBrk="0" hangingPunct="1">
              <a:lnSpc>
                <a:spcPts val="3240"/>
              </a:lnSpc>
              <a:spcBef>
                <a:spcPts val="505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30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lower</a:t>
            </a:r>
            <a:r>
              <a:rPr kumimoji="0" sz="30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eight</a:t>
            </a:r>
            <a:r>
              <a:rPr kumimoji="0" sz="30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bits</a:t>
            </a:r>
            <a:r>
              <a:rPr kumimoji="0" sz="30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</a:t>
            </a:r>
            <a:r>
              <a:rPr kumimoji="0" sz="30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3000" b="0" i="0" u="none" strike="noStrike" kern="1200" cap="none" spc="-1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CPSR</a:t>
            </a:r>
            <a:r>
              <a:rPr kumimoji="0" sz="30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are</a:t>
            </a:r>
            <a:r>
              <a:rPr kumimoji="0" sz="30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collectively</a:t>
            </a:r>
            <a:r>
              <a:rPr kumimoji="0" sz="30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known</a:t>
            </a:r>
            <a:r>
              <a:rPr kumimoji="0" sz="30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as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control </a:t>
            </a:r>
            <a:r>
              <a:rPr kumimoji="0" sz="3000" b="0" i="0" u="none" strike="noStrike" kern="1200" cap="none" spc="-58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bits.</a:t>
            </a:r>
          </a:p>
          <a:p>
            <a:pPr marL="1955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These</a:t>
            </a:r>
            <a:r>
              <a:rPr kumimoji="0" sz="30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change</a:t>
            </a:r>
            <a:r>
              <a:rPr kumimoji="0" sz="30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when</a:t>
            </a:r>
            <a:r>
              <a:rPr kumimoji="0" sz="30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an exception</a:t>
            </a:r>
            <a:r>
              <a:rPr kumimoji="0" sz="3000" b="0" i="0" u="none" strike="noStrike" kern="1200" cap="none" spc="-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arises.</a:t>
            </a:r>
            <a:endParaRPr kumimoji="0" sz="3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4945" marR="737870" lvl="0" indent="-182880" algn="l" defTabSz="914400" rtl="0" eaLnBrk="1" fontAlgn="auto" latinLnBrk="0" hangingPunct="1">
              <a:lnSpc>
                <a:spcPts val="3240"/>
              </a:lnSpc>
              <a:spcBef>
                <a:spcPts val="1440"/>
              </a:spcBef>
              <a:spcAft>
                <a:spcPts val="0"/>
              </a:spcAft>
              <a:buClr>
                <a:srgbClr val="FFFFFF"/>
              </a:buClr>
              <a:buSzTx/>
              <a:buFont typeface="Wingdings"/>
              <a:buChar char=""/>
              <a:tabLst>
                <a:tab pos="271780" algn="l"/>
              </a:tabLst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If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the</a:t>
            </a:r>
            <a:r>
              <a:rPr kumimoji="0" sz="30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processor</a:t>
            </a:r>
            <a:r>
              <a:rPr kumimoji="0" sz="30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</a:t>
            </a:r>
            <a:r>
              <a:rPr kumimoji="0" sz="30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operating</a:t>
            </a:r>
            <a:r>
              <a:rPr kumimoji="0" sz="30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</a:t>
            </a:r>
            <a:r>
              <a:rPr kumimoji="0" sz="30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</a:t>
            </a:r>
            <a:r>
              <a:rPr kumimoji="0" sz="30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privileged</a:t>
            </a:r>
            <a:r>
              <a:rPr kumimoji="0" sz="30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mode,</a:t>
            </a:r>
            <a:r>
              <a:rPr kumimoji="0" sz="30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they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can</a:t>
            </a:r>
            <a:r>
              <a:rPr kumimoji="0" sz="30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also</a:t>
            </a:r>
            <a:r>
              <a:rPr kumimoji="0" sz="30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be </a:t>
            </a:r>
            <a:r>
              <a:rPr kumimoji="0" sz="3000" b="0" i="0" u="none" strike="noStrike" kern="1200" cap="none" spc="-58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manipulated</a:t>
            </a:r>
            <a:r>
              <a:rPr kumimoji="0" sz="30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by</a:t>
            </a:r>
            <a:r>
              <a:rPr kumimoji="0" sz="30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30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software.</a:t>
            </a:r>
            <a:endParaRPr kumimoji="0" sz="3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4945" marR="1024890" lvl="0" indent="-182880" algn="l" defTabSz="914400" rtl="0" eaLnBrk="1" fontAlgn="auto" latinLnBrk="0" hangingPunct="1">
              <a:lnSpc>
                <a:spcPts val="3240"/>
              </a:lnSpc>
              <a:spcBef>
                <a:spcPts val="1405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 </a:t>
            </a:r>
            <a:r>
              <a:rPr kumimoji="0" sz="30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and</a:t>
            </a:r>
            <a:r>
              <a:rPr kumimoji="0" sz="30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bits,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when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set, are</a:t>
            </a:r>
            <a:r>
              <a:rPr kumimoji="0" sz="30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used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for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disabling</a:t>
            </a:r>
            <a:r>
              <a:rPr kumimoji="0" sz="3000" b="0" i="0" u="none" strike="noStrike" kern="1200" cap="none" spc="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30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IRQ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and</a:t>
            </a:r>
            <a:r>
              <a:rPr kumimoji="0" sz="3000" b="0" i="0" u="none" strike="noStrike" kern="1200" cap="none" spc="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FIQ </a:t>
            </a:r>
            <a:r>
              <a:rPr kumimoji="0" sz="3000" b="0" i="0" u="none" strike="noStrike" kern="1200" cap="none" spc="-59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interrupt</a:t>
            </a:r>
            <a:r>
              <a:rPr kumimoji="0" sz="30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modes.</a:t>
            </a:r>
            <a:endParaRPr kumimoji="0" sz="3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4945" marR="5080" lvl="0" indent="-182880" algn="l" defTabSz="914400" rtl="0" eaLnBrk="1" fontAlgn="auto" latinLnBrk="0" hangingPunct="1">
              <a:lnSpc>
                <a:spcPts val="3240"/>
              </a:lnSpc>
              <a:spcBef>
                <a:spcPts val="1405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3000" b="0" i="0" u="none" strike="noStrike" kern="1200" cap="none" spc="-2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</a:t>
            </a:r>
            <a:r>
              <a:rPr kumimoji="0" sz="30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bit indicates</a:t>
            </a:r>
            <a:r>
              <a:rPr kumimoji="0" sz="30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30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state</a:t>
            </a:r>
            <a:r>
              <a:rPr kumimoji="0" sz="30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 operation.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If</a:t>
            </a:r>
            <a:r>
              <a:rPr kumimoji="0" lang="en-US" sz="30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2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 =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1, the</a:t>
            </a:r>
            <a:r>
              <a:rPr kumimoji="0" sz="30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processor</a:t>
            </a:r>
            <a:r>
              <a:rPr kumimoji="0" sz="30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 in</a:t>
            </a:r>
            <a:r>
              <a:rPr kumimoji="0" sz="30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 </a:t>
            </a:r>
            <a:r>
              <a:rPr kumimoji="0" sz="3000" b="0" i="0" u="none" strike="noStrike" kern="1200" cap="none" spc="-58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Thumb</a:t>
            </a:r>
            <a:r>
              <a:rPr kumimoji="0" sz="30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state,</a:t>
            </a:r>
            <a:r>
              <a:rPr kumimoji="0" sz="30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otherwise,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it</a:t>
            </a:r>
            <a:r>
              <a:rPr kumimoji="0" sz="30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</a:t>
            </a:r>
            <a:r>
              <a:rPr kumimoji="0" sz="30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</a:t>
            </a:r>
            <a:r>
              <a:rPr kumimoji="0" sz="30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3000" b="0" i="0" u="none" strike="noStrike" kern="1200" cap="none" spc="-13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ARM state.</a:t>
            </a:r>
            <a:endParaRPr kumimoji="0" sz="3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81811" y="2381503"/>
            <a:ext cx="962850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55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  <a:tab pos="1045844" algn="l"/>
                <a:tab pos="2708275" algn="l"/>
                <a:tab pos="3533140" algn="l"/>
                <a:tab pos="4283075" algn="l"/>
                <a:tab pos="5273675" algn="l"/>
                <a:tab pos="5855970" algn="l"/>
                <a:tab pos="7360284" algn="l"/>
                <a:tab pos="8131809" algn="l"/>
                <a:tab pos="9291320" algn="l"/>
              </a:tabLst>
              <a:defRPr/>
            </a:pP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	</a:t>
            </a:r>
            <a:r>
              <a:rPr kumimoji="0" sz="30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MO</a:t>
            </a:r>
            <a:r>
              <a:rPr kumimoji="0" sz="30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—</a:t>
            </a:r>
            <a:r>
              <a:rPr kumimoji="0" sz="30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4	bi</a:t>
            </a:r>
            <a:r>
              <a:rPr kumimoji="0" sz="30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	are	us</a:t>
            </a:r>
            <a:r>
              <a:rPr kumimoji="0" sz="30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d	to	indi</a:t>
            </a:r>
            <a:r>
              <a:rPr kumimoji="0" sz="30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ate	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	mode	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</a:t>
            </a:r>
            <a:endParaRPr kumimoji="0" sz="3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81811" y="2659792"/>
            <a:ext cx="9628505" cy="2029460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194945" marR="0" lvl="0" indent="0" algn="l" defTabSz="914400" rtl="0" eaLnBrk="1" fontAlgn="auto" latinLnBrk="0" hangingPunct="1">
              <a:lnSpc>
                <a:spcPct val="100000"/>
              </a:lnSpc>
              <a:spcBef>
                <a:spcPts val="11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operation.</a:t>
            </a:r>
            <a:endParaRPr kumimoji="0" sz="3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4945" marR="5080" lvl="0" indent="-182880" algn="just" defTabSz="914400" rtl="0" eaLnBrk="1" fontAlgn="auto" latinLnBrk="0" hangingPunct="1">
              <a:lnSpc>
                <a:spcPts val="3240"/>
              </a:lnSpc>
              <a:spcBef>
                <a:spcPts val="1455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Note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that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only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seven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modes</a:t>
            </a:r>
            <a:r>
              <a:rPr kumimoji="0" sz="30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are</a:t>
            </a:r>
            <a:r>
              <a:rPr kumimoji="0" sz="30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possible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here,</a:t>
            </a:r>
            <a:r>
              <a:rPr kumimoji="0" sz="30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and</a:t>
            </a:r>
            <a:r>
              <a:rPr kumimoji="0" sz="3000" b="0" i="0" u="none" strike="noStrike" kern="1200" cap="none" spc="60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any </a:t>
            </a:r>
            <a:r>
              <a:rPr kumimoji="0" sz="30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other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number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</a:t>
            </a:r>
            <a:r>
              <a:rPr kumimoji="0" sz="30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mode</a:t>
            </a:r>
            <a:r>
              <a:rPr kumimoji="0" sz="30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bits</a:t>
            </a:r>
            <a:r>
              <a:rPr kumimoji="0" sz="30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will</a:t>
            </a:r>
            <a:r>
              <a:rPr kumimoji="0" sz="30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cause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an</a:t>
            </a:r>
            <a:r>
              <a:rPr kumimoji="0" sz="30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error</a:t>
            </a:r>
            <a:r>
              <a:rPr kumimoji="0" sz="30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from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which</a:t>
            </a:r>
            <a:r>
              <a:rPr kumimoji="0" sz="30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an</a:t>
            </a:r>
            <a:r>
              <a:rPr kumimoji="0" sz="3000" b="0" i="0" u="none" strike="noStrike" kern="1200" cap="none" spc="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exit</a:t>
            </a:r>
            <a:r>
              <a:rPr kumimoji="0" sz="30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possible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only</a:t>
            </a:r>
            <a:r>
              <a:rPr kumimoji="0" sz="30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by </a:t>
            </a:r>
            <a:r>
              <a:rPr kumimoji="0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</a:t>
            </a:r>
            <a:r>
              <a:rPr kumimoji="0" sz="30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reset.</a:t>
            </a:r>
            <a:endParaRPr kumimoji="0" sz="3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8455" y="1095883"/>
            <a:ext cx="98380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65" dirty="0">
                <a:latin typeface="Corbel"/>
                <a:cs typeface="Corbel"/>
              </a:rPr>
              <a:t> </a:t>
            </a:r>
            <a:r>
              <a:rPr sz="3600" spc="-5" dirty="0">
                <a:solidFill>
                  <a:srgbClr val="00B0F0"/>
                </a:solidFill>
                <a:latin typeface="Corbel"/>
                <a:cs typeface="Corbel"/>
              </a:rPr>
              <a:t>SAVED PROGRAM STATUS </a:t>
            </a:r>
            <a:r>
              <a:rPr sz="3600" spc="-5" dirty="0" smtClean="0">
                <a:solidFill>
                  <a:srgbClr val="00B0F0"/>
                </a:solidFill>
                <a:latin typeface="Corbel"/>
                <a:cs typeface="Corbel"/>
              </a:rPr>
              <a:t>REGISTERS</a:t>
            </a:r>
            <a:r>
              <a:rPr lang="en-US" sz="3600" spc="-5" dirty="0" smtClean="0">
                <a:solidFill>
                  <a:srgbClr val="00B0F0"/>
                </a:solidFill>
                <a:latin typeface="Corbel"/>
                <a:cs typeface="Corbel"/>
              </a:rPr>
              <a:t>(SPSR)</a:t>
            </a:r>
            <a:endParaRPr sz="3600" spc="-5" dirty="0">
              <a:solidFill>
                <a:srgbClr val="00B0F0"/>
              </a:solidFill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85343" y="1970658"/>
            <a:ext cx="10423525" cy="4186146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94945" marR="5080" lvl="0" indent="-182880" algn="just" defTabSz="914400" rtl="0" eaLnBrk="1" fontAlgn="auto" latinLnBrk="0" hangingPunct="1">
              <a:lnSpc>
                <a:spcPts val="3460"/>
              </a:lnSpc>
              <a:spcBef>
                <a:spcPts val="535"/>
              </a:spcBef>
              <a:spcAft>
                <a:spcPts val="0"/>
              </a:spcAft>
              <a:buClr>
                <a:srgbClr val="FFFFFF"/>
              </a:buClr>
              <a:buSzTx/>
              <a:buFont typeface="Wingdings"/>
              <a:buChar char=""/>
              <a:tabLst>
                <a:tab pos="248920" algn="l"/>
              </a:tabLst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There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are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five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'Saved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Program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Status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Registers</a:t>
            </a:r>
            <a:r>
              <a:rPr kumimoji="0" sz="3200" b="0" i="0" u="none" strike="noStrike" kern="1200" cap="none" spc="6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(SPSRs)',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that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is,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one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for each</a:t>
            </a:r>
            <a:r>
              <a:rPr kumimoji="0" sz="3200" b="0" i="0" u="none" strike="noStrike" kern="1200" cap="none" spc="-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 the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'exception'</a:t>
            </a:r>
            <a:r>
              <a:rPr kumimoji="0" sz="3200" b="0" i="0" u="none" strike="noStrike" kern="1200" cap="none" spc="-4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modes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operation.</a:t>
            </a:r>
            <a:endParaRPr kumimoji="0" sz="3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5580" marR="0" lvl="0" indent="-182880" algn="just" defTabSz="914400" rtl="0" eaLnBrk="1" fontAlgn="auto" latinLnBrk="0" hangingPunct="1">
              <a:lnSpc>
                <a:spcPct val="100000"/>
              </a:lnSpc>
              <a:spcBef>
                <a:spcPts val="950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These</a:t>
            </a:r>
            <a:r>
              <a:rPr kumimoji="0" sz="3200" b="0" i="0" u="none" strike="noStrike" kern="1200" cap="none" spc="-10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SPSRs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are</a:t>
            </a:r>
            <a:r>
              <a:rPr kumimoji="0" sz="32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shown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as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banked</a:t>
            </a:r>
            <a:r>
              <a:rPr kumimoji="0" sz="3200" b="0" i="0" u="none" strike="noStrike" kern="1200" cap="none" spc="-4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registers</a:t>
            </a:r>
            <a:endParaRPr kumimoji="0" sz="3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4945" marR="5080" lvl="0" indent="-182880" algn="just" defTabSz="914400" rtl="0" eaLnBrk="1" fontAlgn="auto" latinLnBrk="0" hangingPunct="1">
              <a:lnSpc>
                <a:spcPts val="3460"/>
              </a:lnSpc>
              <a:spcBef>
                <a:spcPts val="1455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When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mode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switching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occurs,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the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corresponding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SPSR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saves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current</a:t>
            </a:r>
            <a:r>
              <a:rPr kumimoji="0" sz="3200" b="0" i="0" u="none" strike="noStrike" kern="1200" cap="none" spc="-114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CPSR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value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into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it.</a:t>
            </a:r>
            <a:endParaRPr kumimoji="0" sz="3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4945" marR="5080" lvl="0" indent="-182880" algn="just" defTabSz="914400" rtl="0" eaLnBrk="1" fontAlgn="auto" latinLnBrk="0" hangingPunct="1">
              <a:lnSpc>
                <a:spcPct val="90000"/>
              </a:lnSpc>
              <a:spcBef>
                <a:spcPts val="1350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system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mode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and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user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modes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do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not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have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SPSRs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because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they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are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not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entered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through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exception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mechanisms.</a:t>
            </a:r>
            <a:endParaRPr kumimoji="0" sz="3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811" y="1059807"/>
            <a:ext cx="8143875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5" dirty="0">
                <a:solidFill>
                  <a:srgbClr val="00B0F0"/>
                </a:solidFill>
                <a:latin typeface="Corbel"/>
                <a:cs typeface="Corbel"/>
              </a:rPr>
              <a:t> THE THUMB STATE REGISTERS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626046"/>
            <a:ext cx="11356340" cy="5362622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195580" marR="0" lvl="0" indent="-182880" algn="just" defTabSz="914400" rtl="0" eaLnBrk="1" fontAlgn="auto" latinLnBrk="0" hangingPunct="1">
              <a:lnSpc>
                <a:spcPct val="100000"/>
              </a:lnSpc>
              <a:spcBef>
                <a:spcPts val="1165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lang="en-US" sz="2800" b="0" i="0" u="none" strike="noStrike" kern="1200" cap="none" spc="-10" normalizeH="0" baseline="0" noProof="0" dirty="0" smtClean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</a:t>
            </a:r>
            <a:r>
              <a:rPr kumimoji="0" sz="2800" b="0" i="0" u="none" strike="noStrike" kern="1200" cap="none" spc="-10" normalizeH="0" baseline="0" noProof="0" dirty="0" smtClean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he</a:t>
            </a:r>
            <a:r>
              <a:rPr kumimoji="0" sz="2800" b="0" i="0" u="none" strike="noStrike" kern="1200" cap="none" spc="-5" normalizeH="0" baseline="0" noProof="0" dirty="0" smtClean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register</a:t>
            </a:r>
            <a:r>
              <a:rPr kumimoji="0" sz="2800" b="0" i="0" u="none" strike="noStrike" kern="1200" cap="none" spc="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set</a:t>
            </a:r>
            <a:r>
              <a:rPr kumimoji="0" sz="2800" b="0" i="0" u="none" strike="noStrike" kern="1200" cap="none" spc="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when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processor</a:t>
            </a:r>
            <a:r>
              <a:rPr kumimoji="0" sz="2800" b="0" i="0" u="none" strike="noStrike" kern="1200" cap="none" spc="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2800" b="0" i="0" u="none" strike="noStrike" kern="1200" cap="none" spc="-19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Thumb</a:t>
            </a:r>
            <a:r>
              <a:rPr kumimoji="0" sz="2800" b="0" i="0" u="none" strike="noStrike" kern="1200" cap="none" spc="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state.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5580" marR="0" lvl="0" indent="-182880" algn="just" defTabSz="914400" rtl="0" eaLnBrk="1" fontAlgn="auto" latinLnBrk="0" hangingPunct="1">
              <a:lnSpc>
                <a:spcPct val="100000"/>
              </a:lnSpc>
              <a:spcBef>
                <a:spcPts val="1065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This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state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involves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16-bit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instructions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5580" marR="5080" lvl="0" indent="-182880" algn="just" defTabSz="914400" rtl="0" eaLnBrk="1" fontAlgn="auto" latinLnBrk="0" hangingPunct="1">
              <a:lnSpc>
                <a:spcPts val="3020"/>
              </a:lnSpc>
              <a:spcBef>
                <a:spcPts val="1455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It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will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still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handle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32-bit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data,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but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since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low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complexity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applications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are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lang="en-US" sz="2800" spc="-5" dirty="0">
                <a:latin typeface="Corbel"/>
                <a:cs typeface="Corbel"/>
              </a:rPr>
              <a:t>assumed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for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this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state of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operation,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number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 registers used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this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state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less.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5580" marR="0" lvl="0" indent="-182880" algn="just" defTabSz="914400" rtl="0" eaLnBrk="1" fontAlgn="auto" latinLnBrk="0" hangingPunct="1">
              <a:lnSpc>
                <a:spcPct val="100000"/>
              </a:lnSpc>
              <a:spcBef>
                <a:spcPts val="1025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2800" b="0" i="0" u="none" strike="noStrike" kern="1200" cap="none" spc="-19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THUMB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state</a:t>
            </a:r>
            <a:r>
              <a:rPr kumimoji="0" sz="2800" b="0" i="0" u="none" strike="noStrike" kern="1200" cap="none" spc="3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register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set</a:t>
            </a:r>
            <a:r>
              <a:rPr kumimoji="0" sz="2800" b="0" i="0" u="none" strike="noStrike" kern="1200" cap="none" spc="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subset</a:t>
            </a:r>
            <a:r>
              <a:rPr kumimoji="0" sz="2800" b="0" i="0" u="none" strike="noStrike" kern="1200" cap="none" spc="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2800" b="0" i="0" u="none" strike="noStrike" kern="1200" cap="none" spc="-1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ARM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state</a:t>
            </a:r>
            <a:r>
              <a:rPr kumimoji="0" sz="2800" b="0" i="0" u="none" strike="noStrike" kern="1200" cap="none" spc="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set.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5580" marR="6350" lvl="0" indent="-182880" algn="just" defTabSz="914400" rtl="0" eaLnBrk="1" fontAlgn="auto" latinLnBrk="0" hangingPunct="1">
              <a:lnSpc>
                <a:spcPct val="90000"/>
              </a:lnSpc>
              <a:spcBef>
                <a:spcPts val="1405"/>
              </a:spcBef>
              <a:spcAft>
                <a:spcPts val="0"/>
              </a:spcAft>
              <a:buClr>
                <a:srgbClr val="FFFFFF"/>
              </a:buClr>
              <a:buSzTx/>
              <a:buFont typeface="Wingdings"/>
              <a:buChar char=""/>
              <a:tabLst>
                <a:tab pos="243204" algn="l"/>
              </a:tabLst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programmer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has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direct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access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to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eight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general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purpose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registers,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R0—R7,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the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Program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Counter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(PC),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stack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pointer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register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(SP),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a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link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register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(LR),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and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2800" b="0" i="0" u="none" strike="noStrike" kern="1200" cap="none" spc="-114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CPSR.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5580" marR="5080" lvl="0" indent="-182880" algn="just" defTabSz="914400" rtl="0" eaLnBrk="1" fontAlgn="auto" latinLnBrk="0" hangingPunct="1">
              <a:lnSpc>
                <a:spcPts val="3020"/>
              </a:lnSpc>
              <a:spcBef>
                <a:spcPts val="1450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There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are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banked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Stack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Pointers,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Link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Registers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and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SPSRs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for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each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exception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mode.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0975" y="231646"/>
            <a:ext cx="10123932" cy="66263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3968" y="563117"/>
            <a:ext cx="10968432" cy="1153160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12700" marR="5080">
              <a:lnSpc>
                <a:spcPts val="4079"/>
              </a:lnSpc>
              <a:spcBef>
                <a:spcPts val="830"/>
              </a:spcBef>
            </a:pPr>
            <a:r>
              <a:rPr sz="3600" spc="-5" dirty="0">
                <a:solidFill>
                  <a:srgbClr val="00B0F0"/>
                </a:solidFill>
                <a:latin typeface="Corbel"/>
                <a:cs typeface="Corbel"/>
              </a:rPr>
              <a:t>THE RELATIONSHIP BETWEEN ARM AND  THUMB STATE REGISTERS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9668" y="1979802"/>
            <a:ext cx="10898505" cy="441452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94945" marR="1039494" lvl="0" indent="-182880" algn="l" defTabSz="914400" rtl="0" eaLnBrk="1" fontAlgn="auto" latinLnBrk="0" hangingPunct="1">
              <a:lnSpc>
                <a:spcPts val="3020"/>
              </a:lnSpc>
              <a:spcBef>
                <a:spcPts val="480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 THUMB state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registers relate to 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ARM state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registers in the </a:t>
            </a:r>
            <a:r>
              <a:rPr kumimoji="0" sz="2800" b="0" i="0" u="none" strike="noStrike" kern="1200" cap="none" spc="-55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following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way:</a:t>
            </a:r>
            <a:endParaRPr kumimoji="0" sz="28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078230" marR="0" lvl="1" indent="-254000" algn="l" defTabSz="914400" rtl="0" eaLnBrk="1" fontAlgn="auto" latinLnBrk="0" hangingPunct="1">
              <a:lnSpc>
                <a:spcPct val="100000"/>
              </a:lnSpc>
              <a:spcBef>
                <a:spcPts val="1025"/>
              </a:spcBef>
              <a:spcAft>
                <a:spcPts val="0"/>
              </a:spcAft>
              <a:buClrTx/>
              <a:buSzPct val="96428"/>
              <a:buFontTx/>
              <a:buAutoNum type="arabicPeriod"/>
              <a:tabLst>
                <a:tab pos="1078865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THUMB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state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RO—R7</a:t>
            </a:r>
            <a:r>
              <a:rPr kumimoji="0" sz="2800" b="0" i="0" u="none" strike="noStrike" kern="1200" cap="none" spc="4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and</a:t>
            </a:r>
            <a:r>
              <a:rPr kumimoji="0" sz="2800" b="0" i="0" u="none" strike="noStrike" kern="1200" cap="none" spc="-1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ARM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state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RO—R7</a:t>
            </a:r>
            <a:r>
              <a:rPr kumimoji="0" sz="2800" b="0" i="0" u="none" strike="noStrike" kern="1200" cap="none" spc="4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are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identical.</a:t>
            </a:r>
            <a:endParaRPr kumimoji="0" sz="28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824865" marR="5080" lvl="1" indent="0" algn="l" defTabSz="914400" rtl="0" eaLnBrk="1" fontAlgn="auto" latinLnBrk="0" hangingPunct="1">
              <a:lnSpc>
                <a:spcPts val="3020"/>
              </a:lnSpc>
              <a:spcBef>
                <a:spcPts val="1455"/>
              </a:spcBef>
              <a:spcAft>
                <a:spcPts val="0"/>
              </a:spcAft>
              <a:buClrTx/>
              <a:buSzPct val="96428"/>
              <a:buFontTx/>
              <a:buAutoNum type="arabicPeriod"/>
              <a:tabLst>
                <a:tab pos="1101725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THUMB</a:t>
            </a:r>
            <a:r>
              <a:rPr kumimoji="0" sz="2800" b="0" i="0" u="none" strike="noStrike" kern="1200" cap="none" spc="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state</a:t>
            </a:r>
            <a:r>
              <a:rPr kumimoji="0" sz="2800" b="0" i="0" u="none" strike="noStrike" kern="1200" cap="none" spc="-9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CPSR</a:t>
            </a:r>
            <a:r>
              <a:rPr kumimoji="0" sz="2800" b="0" i="0" u="none" strike="noStrike" kern="1200" cap="none" spc="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and</a:t>
            </a:r>
            <a:r>
              <a:rPr kumimoji="0" sz="2800" b="0" i="0" u="none" strike="noStrike" kern="1200" cap="none" spc="-5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SPSRs</a:t>
            </a:r>
            <a:r>
              <a:rPr kumimoji="0" sz="2800" b="0" i="0" u="none" strike="noStrike" kern="1200" cap="none" spc="3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and</a:t>
            </a:r>
            <a:r>
              <a:rPr kumimoji="0" sz="2800" b="0" i="0" u="none" strike="noStrike" kern="1200" cap="none" spc="-1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ARM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state</a:t>
            </a:r>
            <a:r>
              <a:rPr kumimoji="0" sz="2800" b="0" i="0" u="none" strike="noStrike" kern="1200" cap="none" spc="-9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CPSR</a:t>
            </a:r>
            <a:r>
              <a:rPr kumimoji="0" sz="2800" b="0" i="0" u="none" strike="noStrike" kern="1200" cap="none" spc="3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and</a:t>
            </a:r>
            <a:r>
              <a:rPr kumimoji="0" sz="2800" b="0" i="0" u="none" strike="noStrike" kern="1200" cap="none" spc="-6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SPSRs</a:t>
            </a:r>
            <a:r>
              <a:rPr kumimoji="0" sz="2800" b="0" i="0" u="none" strike="noStrike" kern="1200" cap="none" spc="3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are </a:t>
            </a:r>
            <a:r>
              <a:rPr kumimoji="0" sz="2800" b="0" i="0" u="none" strike="noStrike" kern="1200" cap="none" spc="-54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identical.</a:t>
            </a:r>
            <a:endParaRPr kumimoji="0" sz="28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824865" marR="3380740" lvl="1" indent="0" algn="l" defTabSz="914400" rtl="0" eaLnBrk="1" fontAlgn="auto" latinLnBrk="0" hangingPunct="1">
              <a:lnSpc>
                <a:spcPts val="4430"/>
              </a:lnSpc>
              <a:spcBef>
                <a:spcPts val="275"/>
              </a:spcBef>
              <a:spcAft>
                <a:spcPts val="0"/>
              </a:spcAft>
              <a:buClrTx/>
              <a:buSzPct val="96428"/>
              <a:buFontTx/>
              <a:buAutoNum type="arabicPeriod"/>
              <a:tabLst>
                <a:tab pos="1081405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THUMB state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SP maps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onto ARM state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R13. </a:t>
            </a:r>
            <a:r>
              <a:rPr kumimoji="0" sz="2800" b="0" i="0" u="none" strike="noStrike" kern="1200" cap="none" spc="-55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4.THUMB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state LR maps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onto</a:t>
            </a:r>
            <a:r>
              <a:rPr kumimoji="0" sz="2800" b="0" i="0" u="none" strike="noStrike" kern="1200" cap="none" spc="-1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ARM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state R14.</a:t>
            </a:r>
            <a:endParaRPr kumimoji="0" sz="28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824865" marR="808355" lvl="0" indent="0" algn="l" defTabSz="914400" rtl="0" eaLnBrk="1" fontAlgn="auto" latinLnBrk="0" hangingPunct="1">
              <a:lnSpc>
                <a:spcPts val="3020"/>
              </a:lnSpc>
              <a:spcBef>
                <a:spcPts val="11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5.The</a:t>
            </a:r>
            <a:r>
              <a:rPr kumimoji="0" sz="2800" b="0" i="0" u="none" strike="noStrike" kern="1200" cap="none" spc="-19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THUMB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state</a:t>
            </a:r>
            <a:r>
              <a:rPr kumimoji="0" sz="2800" b="0" i="0" u="none" strike="noStrike" kern="1200" cap="none" spc="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Program</a:t>
            </a:r>
            <a:r>
              <a:rPr kumimoji="0" sz="2800" b="0" i="0" u="none" strike="noStrike" kern="1200" cap="none" spc="-9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Counter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maps</a:t>
            </a:r>
            <a:r>
              <a:rPr kumimoji="0" sz="2800" b="0" i="0" u="none" strike="noStrike" kern="1200" cap="none" spc="4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onto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2800" b="0" i="0" u="none" strike="noStrike" kern="1200" cap="none" spc="-10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ARM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state </a:t>
            </a:r>
            <a:r>
              <a:rPr kumimoji="0" sz="2800" b="0" i="0" u="none" strike="noStrike" kern="1200" cap="none" spc="-54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Program</a:t>
            </a:r>
            <a:r>
              <a:rPr kumimoji="0" sz="2800" b="0" i="0" u="none" strike="noStrike" kern="1200" cap="none" spc="-9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Counter</a:t>
            </a:r>
            <a:r>
              <a:rPr kumimoji="0" sz="2800" b="0" i="0" u="none" strike="noStrike" kern="1200" cap="none" spc="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(R15).</a:t>
            </a:r>
            <a:endParaRPr kumimoji="0" sz="28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0867" y="286510"/>
            <a:ext cx="8142732" cy="65425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8429" y="1023366"/>
            <a:ext cx="79609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5" dirty="0" smtClean="0">
                <a:latin typeface="Corbel"/>
                <a:cs typeface="Corbel"/>
              </a:rPr>
              <a:t> </a:t>
            </a:r>
            <a:r>
              <a:rPr lang="en-US" sz="4000" spc="-15" dirty="0" smtClean="0">
                <a:latin typeface="Corbel"/>
                <a:cs typeface="Corbel"/>
              </a:rPr>
              <a:t>4.3 </a:t>
            </a:r>
            <a:r>
              <a:rPr sz="3600" spc="-5" dirty="0" smtClean="0">
                <a:solidFill>
                  <a:srgbClr val="00B0F0"/>
                </a:solidFill>
                <a:latin typeface="Corbel"/>
                <a:cs typeface="Corbel"/>
              </a:rPr>
              <a:t>INTERRUPTS </a:t>
            </a:r>
            <a:r>
              <a:rPr sz="3600" spc="-5" dirty="0">
                <a:solidFill>
                  <a:srgbClr val="00B0F0"/>
                </a:solidFill>
                <a:latin typeface="Corbel"/>
                <a:cs typeface="Corbel"/>
              </a:rPr>
              <a:t>AND EXCEPTIONS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8429" y="1810893"/>
            <a:ext cx="11109325" cy="4995598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95580" marR="5715" lvl="0" indent="-182880" algn="l" defTabSz="914400" rtl="0" eaLnBrk="1" fontAlgn="auto" latinLnBrk="0" hangingPunct="1">
              <a:lnSpc>
                <a:spcPts val="3460"/>
              </a:lnSpc>
              <a:spcBef>
                <a:spcPts val="535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Exceptions/Interrupts</a:t>
            </a:r>
            <a:r>
              <a:rPr kumimoji="0" sz="3200" b="0" i="0" u="none" strike="noStrike" kern="1200" cap="none" spc="33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are</a:t>
            </a:r>
            <a:r>
              <a:rPr kumimoji="0" sz="3200" b="0" i="0" u="none" strike="noStrike" kern="1200" cap="none" spc="3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events</a:t>
            </a:r>
            <a:r>
              <a:rPr kumimoji="0" sz="3200" b="0" i="0" u="none" strike="noStrike" kern="1200" cap="none" spc="3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that</a:t>
            </a:r>
            <a:r>
              <a:rPr kumimoji="0" sz="3200" b="0" i="0" u="none" strike="noStrike" kern="1200" cap="none" spc="3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change</a:t>
            </a:r>
            <a:r>
              <a:rPr kumimoji="0" sz="3200" b="0" i="0" u="none" strike="noStrike" kern="1200" cap="none" spc="3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3200" b="0" i="0" u="none" strike="noStrike" kern="1200" cap="none" spc="30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context</a:t>
            </a:r>
            <a:r>
              <a:rPr kumimoji="0" sz="3200" b="0" i="0" u="none" strike="noStrike" kern="1200" cap="none" spc="33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</a:t>
            </a:r>
            <a:r>
              <a:rPr kumimoji="0" sz="3200" b="0" i="0" u="none" strike="noStrike" kern="1200" cap="none" spc="3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 </a:t>
            </a:r>
            <a:r>
              <a:rPr kumimoji="0" sz="3200" b="0" i="0" u="none" strike="noStrike" kern="1200" cap="none" spc="-6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processor</a:t>
            </a:r>
          </a:p>
          <a:p>
            <a:pPr marL="1955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950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They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change</a:t>
            </a:r>
            <a:r>
              <a:rPr kumimoji="0" sz="3200" b="0" i="0" u="none" strike="noStrike" kern="1200" cap="none" spc="-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normal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flow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 the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program</a:t>
            </a:r>
          </a:p>
          <a:p>
            <a:pPr marL="195580" marR="5080" lvl="0" indent="-182880" algn="l" defTabSz="914400" rtl="0" eaLnBrk="1" fontAlgn="auto" latinLnBrk="0" hangingPunct="1">
              <a:lnSpc>
                <a:spcPts val="3460"/>
              </a:lnSpc>
              <a:spcBef>
                <a:spcPts val="1455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  <a:tab pos="1053465" algn="l"/>
                <a:tab pos="2212975" algn="l"/>
                <a:tab pos="3157855" algn="l"/>
                <a:tab pos="3793490" algn="l"/>
                <a:tab pos="5569585" algn="l"/>
                <a:tab pos="6195695" algn="l"/>
                <a:tab pos="7997190" algn="l"/>
                <a:tab pos="8411845" algn="l"/>
                <a:tab pos="9401175" algn="l"/>
              </a:tabLst>
              <a:defRPr/>
            </a:pP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	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v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	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ay	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	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tr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g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gered	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y	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software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,	a	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ault	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condition, 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system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call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or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an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interrupt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from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peripheral.</a:t>
            </a:r>
          </a:p>
          <a:p>
            <a:pPr marL="195580" marR="6350" lvl="0" indent="-182880" algn="l" defTabSz="914400" rtl="0" eaLnBrk="1" fontAlgn="auto" latinLnBrk="0" hangingPunct="1">
              <a:lnSpc>
                <a:spcPts val="346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  <a:tab pos="998219" algn="l"/>
                <a:tab pos="1823085" algn="l"/>
                <a:tab pos="2865755" algn="l"/>
                <a:tab pos="3382010" algn="l"/>
                <a:tab pos="3976370" algn="l"/>
                <a:tab pos="5060315" algn="l"/>
                <a:tab pos="5633720" algn="l"/>
                <a:tab pos="7442834" algn="l"/>
                <a:tab pos="8681720" algn="l"/>
                <a:tab pos="9102090" algn="l"/>
                <a:tab pos="9620885" algn="l"/>
                <a:tab pos="10533380" algn="l"/>
              </a:tabLst>
              <a:defRPr/>
            </a:pP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	first	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thin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g	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	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d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	when	an	exce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tio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	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</a:t>
            </a:r>
            <a:r>
              <a:rPr kumimoji="0" sz="3200" b="0" i="0" u="none" strike="noStrike" kern="1200" cap="none" spc="-6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cur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	is	to	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sav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	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  context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 the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processor</a:t>
            </a:r>
          </a:p>
          <a:p>
            <a:pPr marL="1955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950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Means</a:t>
            </a:r>
            <a:r>
              <a:rPr kumimoji="0" sz="3200" b="0" i="0" u="none" strike="noStrike" kern="1200" cap="none" spc="-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that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all</a:t>
            </a:r>
            <a:r>
              <a:rPr kumimoji="0" sz="32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working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register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contents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must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be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saved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55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1019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32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current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content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 the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PC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must</a:t>
            </a:r>
            <a:r>
              <a:rPr kumimoji="0" sz="32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also</a:t>
            </a:r>
            <a:r>
              <a:rPr kumimoji="0" sz="3200" b="0" i="0" u="none" strike="noStrike" kern="1200" cap="none" spc="-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be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saved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1996" y="137024"/>
            <a:ext cx="11570004" cy="527132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95580" marR="5715" indent="-182880">
              <a:lnSpc>
                <a:spcPts val="3460"/>
              </a:lnSpc>
              <a:spcBef>
                <a:spcPts val="535"/>
              </a:spcBef>
              <a:buFont typeface="Wingdings"/>
              <a:buChar char=""/>
              <a:tabLst>
                <a:tab pos="195580" algn="l"/>
              </a:tabLst>
            </a:pPr>
            <a:r>
              <a:rPr sz="3600" spc="-5" dirty="0">
                <a:solidFill>
                  <a:srgbClr val="00B0F0"/>
                </a:solidFill>
                <a:latin typeface="Corbel"/>
                <a:cs typeface="Corbel"/>
              </a:rPr>
              <a:t>THE PROCESSOR HANDLES AN  EXCEPTION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4100" y="1615880"/>
            <a:ext cx="10803890" cy="5053435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527685" marR="5080" lvl="0" indent="-515620" algn="just" defTabSz="914400" rtl="0" eaLnBrk="1" fontAlgn="auto" latinLnBrk="0" hangingPunct="1">
              <a:lnSpc>
                <a:spcPct val="90000"/>
              </a:lnSpc>
              <a:spcBef>
                <a:spcPts val="49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528320" algn="l"/>
              </a:tabLst>
              <a:defRPr/>
            </a:pP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'return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address'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which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corresponds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to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current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PC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value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+8 is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copied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to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 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Link </a:t>
            </a:r>
            <a:r>
              <a:rPr kumimoji="0" sz="3200" b="0" i="0" u="none" strike="noStrike" kern="1200" cap="none" spc="-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Register. 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addition 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8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to 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PC </a:t>
            </a:r>
            <a:r>
              <a:rPr kumimoji="0" sz="3200" b="0" i="0" u="none" strike="noStrike" kern="1200" cap="none" spc="-6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because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PC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always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contains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address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instruction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that 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being fetched. Because of the three 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stage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pipeline, the address of the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instruction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that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currently being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executed</a:t>
            </a:r>
            <a:r>
              <a:rPr kumimoji="0" sz="3200" b="0" i="0" u="none" strike="noStrike" kern="1200" cap="none" spc="-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PC+8.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527685" marR="0" lvl="0" indent="-515620" algn="just" defTabSz="914400" rtl="0" eaLnBrk="1" fontAlgn="auto" latinLnBrk="0" hangingPunct="1">
              <a:lnSpc>
                <a:spcPct val="100000"/>
              </a:lnSpc>
              <a:spcBef>
                <a:spcPts val="1005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528320" algn="l"/>
              </a:tabLst>
              <a:defRPr/>
            </a:pP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content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</a:t>
            </a:r>
            <a:r>
              <a:rPr kumimoji="0" sz="3200" b="0" i="0" u="none" strike="noStrike" kern="1200" cap="none" spc="-1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CPSR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copied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to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appropriate</a:t>
            </a:r>
            <a:r>
              <a:rPr kumimoji="0" sz="3200" b="0" i="0" u="none" strike="noStrike" kern="1200" cap="none" spc="-114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SPSR</a:t>
            </a:r>
          </a:p>
          <a:p>
            <a:pPr marL="527685" marR="6350" lvl="0" indent="-515620" algn="just" defTabSz="914400" rtl="0" eaLnBrk="1" fontAlgn="auto" latinLnBrk="0" hangingPunct="1">
              <a:lnSpc>
                <a:spcPts val="3460"/>
              </a:lnSpc>
              <a:spcBef>
                <a:spcPts val="1455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528320" algn="l"/>
              </a:tabLst>
              <a:defRPr/>
            </a:pP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 mode bits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 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CPSR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are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changed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to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mode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 the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exception</a:t>
            </a:r>
            <a:r>
              <a:rPr kumimoji="0" sz="3200" b="0" i="0" u="none" strike="noStrike" kern="1200" cap="none" spc="-4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mode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to which</a:t>
            </a:r>
            <a:r>
              <a:rPr kumimoji="0" sz="3200" b="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switching</a:t>
            </a:r>
            <a:r>
              <a:rPr kumimoji="0" sz="32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has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occurred.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527685" marR="0" lvl="0" indent="-515620" algn="just" defTabSz="914400" rtl="0" eaLnBrk="1" fontAlgn="auto" latinLnBrk="0" hangingPunct="1">
              <a:lnSpc>
                <a:spcPct val="100000"/>
              </a:lnSpc>
              <a:spcBef>
                <a:spcPts val="965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528320" algn="l"/>
              </a:tabLst>
              <a:defRPr/>
            </a:pP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3200" b="0" i="0" u="none" strike="noStrike" kern="1200" cap="none" spc="-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new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PC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value</a:t>
            </a:r>
            <a:r>
              <a:rPr kumimoji="0" sz="32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the</a:t>
            </a:r>
            <a:r>
              <a:rPr kumimoji="0" sz="32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vector</a:t>
            </a:r>
            <a:r>
              <a:rPr kumimoji="0" sz="32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32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exception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(table4.4)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2995" y="1840990"/>
            <a:ext cx="7173468" cy="490118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7885" y="1843252"/>
            <a:ext cx="10353675" cy="4486485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</a:t>
            </a:r>
            <a:r>
              <a:rPr kumimoji="0" sz="3200" b="0" i="0" u="none" strike="noStrike" kern="1200" cap="none" spc="-1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Completion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exception</a:t>
            </a:r>
            <a:r>
              <a:rPr kumimoji="0" sz="3200" b="0" i="0" u="none" strike="noStrike" kern="1200" cap="none" spc="-4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handler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(ISR)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2700" marR="5715" lvl="0" indent="0" algn="l" defTabSz="914400" rtl="0" eaLnBrk="1" fontAlgn="auto" latinLnBrk="0" hangingPunct="1">
              <a:lnSpc>
                <a:spcPts val="3460"/>
              </a:lnSpc>
              <a:spcBef>
                <a:spcPts val="14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3200" b="0" i="0" u="none" strike="noStrike" kern="1200" cap="none" spc="1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following</a:t>
            </a:r>
            <a:r>
              <a:rPr kumimoji="0" sz="3200" b="0" i="0" u="none" strike="noStrike" kern="1200" cap="none" spc="114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steps</a:t>
            </a:r>
            <a:r>
              <a:rPr kumimoji="0" sz="3200" b="0" i="0" u="none" strike="noStrike" kern="1200" cap="none" spc="1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must</a:t>
            </a:r>
            <a:r>
              <a:rPr kumimoji="0" sz="3200" b="0" i="0" u="none" strike="noStrike" kern="1200" cap="none" spc="13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be</a:t>
            </a:r>
            <a:r>
              <a:rPr kumimoji="0" sz="3200" b="0" i="0" u="none" strike="noStrike" kern="1200" cap="none" spc="1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taken</a:t>
            </a:r>
            <a:r>
              <a:rPr kumimoji="0" sz="3200" b="0" i="0" u="none" strike="noStrike" kern="1200" cap="none" spc="1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to</a:t>
            </a:r>
            <a:r>
              <a:rPr kumimoji="0" sz="3200" b="0" i="0" u="none" strike="noStrike" kern="1200" cap="none" spc="1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return</a:t>
            </a:r>
            <a:r>
              <a:rPr kumimoji="0" sz="3200" b="0" i="0" u="none" strike="noStrike" kern="1200" cap="none" spc="1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to</a:t>
            </a:r>
            <a:r>
              <a:rPr kumimoji="0" sz="3200" b="0" i="0" u="none" strike="noStrike" kern="1200" cap="none" spc="1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3200" b="0" i="0" u="none" strike="noStrike" kern="1200" cap="none" spc="1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context</a:t>
            </a:r>
            <a:r>
              <a:rPr kumimoji="0" sz="3200" b="0" i="0" u="none" strike="noStrike" kern="1200" cap="none" spc="14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 </a:t>
            </a:r>
            <a:r>
              <a:rPr kumimoji="0" sz="3200" b="0" i="0" u="none" strike="noStrike" kern="1200" cap="none" spc="-6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interrupted</a:t>
            </a:r>
            <a:r>
              <a:rPr kumimoji="0" sz="32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program.</a:t>
            </a:r>
          </a:p>
          <a:p>
            <a:pPr marL="548640" marR="8255" lvl="0" indent="0" algn="l" defTabSz="914400" rtl="0" eaLnBrk="1" fontAlgn="auto" latinLnBrk="0" hangingPunct="1">
              <a:lnSpc>
                <a:spcPts val="346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1000125" algn="l"/>
                <a:tab pos="1000760" algn="l"/>
              </a:tabLst>
              <a:defRPr/>
            </a:pP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3200" b="0" i="0" u="none" strike="noStrike" kern="1200" cap="none" spc="34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link</a:t>
            </a:r>
            <a:r>
              <a:rPr kumimoji="0" sz="3200" b="0" i="0" u="none" strike="noStrike" kern="1200" cap="none" spc="33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register</a:t>
            </a:r>
            <a:r>
              <a:rPr kumimoji="0" sz="3200" b="0" i="0" u="none" strike="noStrike" kern="1200" cap="none" spc="3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contents</a:t>
            </a:r>
            <a:r>
              <a:rPr kumimoji="0" sz="3200" b="0" i="0" u="none" strike="noStrike" kern="1200" cap="none" spc="35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are</a:t>
            </a:r>
            <a:r>
              <a:rPr kumimoji="0" sz="3200" b="0" i="0" u="none" strike="noStrike" kern="1200" cap="none" spc="34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used</a:t>
            </a:r>
            <a:r>
              <a:rPr kumimoji="0" sz="3200" b="0" i="0" u="none" strike="noStrike" kern="1200" cap="none" spc="34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to</a:t>
            </a:r>
            <a:r>
              <a:rPr kumimoji="0" sz="3200" b="0" i="0" u="none" strike="noStrike" kern="1200" cap="none" spc="33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get</a:t>
            </a:r>
            <a:r>
              <a:rPr kumimoji="0" sz="3200" b="0" i="0" u="none" strike="noStrike" kern="1200" cap="none" spc="35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back</a:t>
            </a:r>
            <a:r>
              <a:rPr kumimoji="0" sz="3200" b="0" i="0" u="none" strike="noStrike" kern="1200" cap="none" spc="34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3200" b="0" i="0" u="none" strike="noStrike" kern="1200" cap="none" spc="3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PC </a:t>
            </a:r>
            <a:r>
              <a:rPr kumimoji="0" sz="3200" b="0" i="0" u="none" strike="noStrike" kern="1200" cap="none" spc="-6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value.</a:t>
            </a:r>
          </a:p>
          <a:p>
            <a:pPr marL="1000125" marR="0" lvl="0" indent="-452120" algn="l" defTabSz="914400" rtl="0" eaLnBrk="1" fontAlgn="auto" latinLnBrk="0" hangingPunct="1">
              <a:lnSpc>
                <a:spcPct val="100000"/>
              </a:lnSpc>
              <a:spcBef>
                <a:spcPts val="965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1000125" algn="l"/>
                <a:tab pos="1000760" algn="l"/>
              </a:tabLst>
              <a:defRPr/>
            </a:pP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3200" b="0" i="0" u="none" strike="noStrike" kern="1200" cap="none" spc="-10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SPSR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copied</a:t>
            </a:r>
            <a:r>
              <a:rPr kumimoji="0" sz="3200" b="0" i="0" u="none" strike="noStrike" kern="1200" cap="none" spc="-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back</a:t>
            </a:r>
            <a:r>
              <a:rPr kumimoji="0" sz="32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to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3200" b="0" i="0" u="none" strike="noStrike" kern="1200" cap="none" spc="-15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CPSR.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548640" marR="5080" lvl="0" indent="0" algn="l" defTabSz="914400" rtl="0" eaLnBrk="1" fontAlgn="auto" latinLnBrk="0" hangingPunct="1">
              <a:lnSpc>
                <a:spcPts val="3460"/>
              </a:lnSpc>
              <a:spcBef>
                <a:spcPts val="144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1000125" algn="l"/>
                <a:tab pos="1000760" algn="l"/>
              </a:tabLst>
              <a:defRPr/>
            </a:pP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32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interrupt</a:t>
            </a:r>
            <a:r>
              <a:rPr kumimoji="0" sz="3200" b="0" i="0" u="none" strike="noStrike" kern="1200" cap="none" spc="3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disable</a:t>
            </a:r>
            <a:r>
              <a:rPr kumimoji="0" sz="3200" b="0" i="0" u="none" strike="noStrike" kern="1200" cap="none" spc="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flags,</a:t>
            </a:r>
            <a:r>
              <a:rPr kumimoji="0" sz="3200" b="0" i="0" u="none" strike="noStrike" kern="1200" cap="none" spc="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if</a:t>
            </a:r>
            <a:r>
              <a:rPr kumimoji="0" sz="3200" b="0" i="0" u="none" strike="noStrike" kern="1200" cap="none" spc="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they</a:t>
            </a:r>
            <a:r>
              <a:rPr kumimoji="0" sz="3200" b="0" i="0" u="none" strike="noStrike" kern="1200" cap="none" spc="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were</a:t>
            </a:r>
            <a:r>
              <a:rPr kumimoji="0" sz="32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set</a:t>
            </a:r>
            <a:r>
              <a:rPr kumimoji="0" sz="3200" b="0" i="0" u="none" strike="noStrike" kern="1200" cap="none" spc="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on</a:t>
            </a:r>
            <a:r>
              <a:rPr kumimoji="0" sz="3200" b="0" i="0" u="none" strike="noStrike" kern="1200" cap="none" spc="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entry,</a:t>
            </a:r>
            <a:r>
              <a:rPr kumimoji="0" sz="32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are </a:t>
            </a:r>
            <a:r>
              <a:rPr kumimoji="0" sz="3200" b="0" i="0" u="none" strike="noStrike" kern="1200" cap="none" spc="-6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cleared.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3114" y="981532"/>
            <a:ext cx="89236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30" dirty="0">
                <a:latin typeface="Corbel"/>
                <a:cs typeface="Corbel"/>
              </a:rPr>
              <a:t> </a:t>
            </a:r>
            <a:r>
              <a:rPr sz="3600" spc="-5" dirty="0" smtClean="0">
                <a:solidFill>
                  <a:srgbClr val="00B0F0"/>
                </a:solidFill>
                <a:latin typeface="Corbel"/>
                <a:cs typeface="Corbel"/>
              </a:rPr>
              <a:t>EXCEPTION/INTERRUPT</a:t>
            </a:r>
            <a:r>
              <a:rPr lang="en-US" sz="3600" spc="-5" dirty="0" smtClean="0">
                <a:solidFill>
                  <a:srgbClr val="00B0F0"/>
                </a:solidFill>
                <a:latin typeface="Corbel"/>
                <a:cs typeface="Corbel"/>
              </a:rPr>
              <a:t> </a:t>
            </a:r>
            <a:r>
              <a:rPr sz="3600" spc="-5" dirty="0" smtClean="0">
                <a:solidFill>
                  <a:srgbClr val="00B0F0"/>
                </a:solidFill>
                <a:latin typeface="Corbel"/>
                <a:cs typeface="Corbel"/>
              </a:rPr>
              <a:t> </a:t>
            </a:r>
            <a:r>
              <a:rPr sz="3600" spc="-5" dirty="0">
                <a:solidFill>
                  <a:srgbClr val="00B0F0"/>
                </a:solidFill>
                <a:latin typeface="Corbel"/>
                <a:cs typeface="Corbel"/>
              </a:rPr>
              <a:t>VECTORS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9208" y="2347087"/>
            <a:ext cx="10557510" cy="3125856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95580" marR="5080" lvl="0" indent="-182880" algn="just" defTabSz="914400" rtl="0" eaLnBrk="1" fontAlgn="auto" latinLnBrk="0" hangingPunct="1">
              <a:lnSpc>
                <a:spcPts val="3460"/>
              </a:lnSpc>
              <a:spcBef>
                <a:spcPts val="535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Each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exception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(interrupt)</a:t>
            </a:r>
            <a:r>
              <a:rPr kumimoji="0" sz="3200" b="1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has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a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specific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address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to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which </a:t>
            </a:r>
            <a:r>
              <a:rPr kumimoji="0" sz="3200" b="0" i="0" u="none" strike="noStrike" kern="1200" cap="none" spc="-6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control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branches</a:t>
            </a:r>
            <a:r>
              <a:rPr kumimoji="0" sz="3200" b="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to.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5580" marR="0" lvl="0" indent="-182880" algn="just" defTabSz="914400" rtl="0" eaLnBrk="1" fontAlgn="auto" latinLnBrk="0" hangingPunct="1">
              <a:lnSpc>
                <a:spcPct val="100000"/>
              </a:lnSpc>
              <a:spcBef>
                <a:spcPts val="950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This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address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called</a:t>
            </a:r>
            <a:r>
              <a:rPr kumimoji="0" sz="32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32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'vector'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exception.</a:t>
            </a:r>
          </a:p>
          <a:p>
            <a:pPr marL="195580" marR="5080" lvl="0" indent="-182880" algn="just" defTabSz="914400" rtl="0" eaLnBrk="1" fontAlgn="auto" latinLnBrk="0" hangingPunct="1">
              <a:lnSpc>
                <a:spcPts val="3460"/>
              </a:lnSpc>
              <a:spcBef>
                <a:spcPts val="1455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Interrupts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which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have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predefined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and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fixed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vectors,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are </a:t>
            </a:r>
            <a:r>
              <a:rPr kumimoji="0" sz="3200" b="0" i="0" u="none" strike="noStrike" kern="1200" cap="none" spc="-6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generally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designated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as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'vectored 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interrupts'. </a:t>
            </a:r>
            <a:r>
              <a:rPr kumimoji="0" sz="3200" b="0" i="0" u="none" strike="noStrike" kern="1200" cap="none" spc="-5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Table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shows the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vectors</a:t>
            </a:r>
            <a:r>
              <a:rPr kumimoji="0" sz="32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32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exceptions</a:t>
            </a:r>
            <a:r>
              <a:rPr kumimoji="0" sz="3200" b="0" i="0" u="none" strike="noStrike" kern="1200" cap="none" spc="-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defined</a:t>
            </a:r>
            <a:r>
              <a:rPr kumimoji="0" sz="3200" b="0" i="0" u="none" strike="noStrike" kern="1200" cap="none" spc="-4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for</a:t>
            </a:r>
            <a:r>
              <a:rPr kumimoji="0" sz="3200" b="0" i="0" u="none" strike="noStrike" kern="1200" cap="none" spc="-15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ARM7.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2995" y="1840990"/>
            <a:ext cx="7173468" cy="4901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789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809" y="635380"/>
            <a:ext cx="93719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latin typeface="Corbel"/>
                <a:cs typeface="Corbel"/>
              </a:rPr>
              <a:t> </a:t>
            </a:r>
            <a:r>
              <a:rPr sz="3600" spc="-5" dirty="0">
                <a:solidFill>
                  <a:srgbClr val="00B0F0"/>
                </a:solidFill>
                <a:latin typeface="Corbel"/>
                <a:cs typeface="Corbel"/>
              </a:rPr>
              <a:t>EXCEPTION/INTERRUPT HANDLERS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5350" y="1270380"/>
            <a:ext cx="11144885" cy="5391861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25399" marR="0" lvl="0" algn="l" defTabSz="914400" rtl="0" eaLnBrk="1" fontAlgn="auto" latinLnBrk="0" hangingPunct="1">
              <a:lnSpc>
                <a:spcPct val="100000"/>
              </a:lnSpc>
              <a:spcBef>
                <a:spcPts val="1105"/>
              </a:spcBef>
              <a:spcAft>
                <a:spcPts val="0"/>
              </a:spcAft>
              <a:buClr>
                <a:srgbClr val="FFFFFF"/>
              </a:buClr>
              <a:buSzTx/>
              <a:tabLst>
                <a:tab pos="208279" algn="l"/>
              </a:tabLst>
              <a:defRPr/>
            </a:pP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What</a:t>
            </a:r>
            <a:r>
              <a:rPr kumimoji="0" sz="32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are</a:t>
            </a:r>
            <a:r>
              <a:rPr kumimoji="0" sz="32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sources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for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interrupts?</a:t>
            </a:r>
          </a:p>
          <a:p>
            <a:pPr marL="208279" marR="17780" lvl="0" indent="-182880" algn="just" defTabSz="914400" rtl="0" eaLnBrk="1" fontAlgn="auto" latinLnBrk="0" hangingPunct="1">
              <a:lnSpc>
                <a:spcPts val="3460"/>
              </a:lnSpc>
              <a:spcBef>
                <a:spcPts val="1440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208279" algn="l"/>
              </a:tabLst>
              <a:defRPr/>
            </a:pP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 current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program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running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 processor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may be interrupted </a:t>
            </a:r>
            <a:r>
              <a:rPr kumimoji="0" sz="3200" b="0" i="0" u="none" strike="noStrike" kern="1200" cap="none" spc="-6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by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an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external</a:t>
            </a:r>
            <a:r>
              <a:rPr kumimoji="0" sz="3200" b="0" i="0" u="none" strike="noStrike" kern="1200" cap="none" spc="-4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device</a:t>
            </a:r>
            <a:r>
              <a:rPr kumimoji="0" sz="3200" b="0" i="0" u="none" strike="noStrike" kern="1200" cap="none" spc="-4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which</a:t>
            </a:r>
            <a:r>
              <a:rPr kumimoji="0" sz="3200" b="0" i="0" u="none" strike="noStrike" kern="1200" cap="none" spc="-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requires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service.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208279" marR="238125" lvl="0" indent="-182880" algn="l" defTabSz="914400" rtl="0" eaLnBrk="1" fontAlgn="auto" latinLnBrk="0" hangingPunct="1">
              <a:lnSpc>
                <a:spcPts val="346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208279" algn="l"/>
              </a:tabLst>
              <a:defRPr/>
            </a:pP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second case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 when an </a:t>
            </a:r>
            <a:r>
              <a:rPr kumimoji="0" sz="3200" b="1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interrupt 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occurs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due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to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 software 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instruction.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208279" marR="238125" lvl="0" indent="-182880" algn="l" defTabSz="914400" rtl="0" eaLnBrk="1" fontAlgn="auto" latinLnBrk="0" hangingPunct="1">
              <a:lnSpc>
                <a:spcPts val="346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208279" algn="l"/>
              </a:tabLst>
              <a:defRPr/>
            </a:pPr>
            <a:r>
              <a:rPr kumimoji="0" sz="3200" b="0" i="0" u="none" strike="noStrike" kern="1200" cap="none" spc="-15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Another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case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 when</a:t>
            </a:r>
            <a:r>
              <a:rPr kumimoji="0" sz="32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an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error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occurs,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like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data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abort </a:t>
            </a:r>
            <a:r>
              <a:rPr kumimoji="0" sz="3200" b="0" i="0" u="none" strike="noStrike" kern="1200" cap="none" spc="-6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or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undefined</a:t>
            </a:r>
            <a:r>
              <a:rPr kumimoji="0" sz="3200" b="0" i="0" u="none" strike="noStrike" kern="1200" cap="none" spc="-4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instruction.</a:t>
            </a:r>
          </a:p>
          <a:p>
            <a:pPr marL="208279" marR="302895" lvl="0" indent="-182880" algn="l" defTabSz="914400" rtl="0" eaLnBrk="1" fontAlgn="auto" latinLnBrk="0" hangingPunct="1">
              <a:lnSpc>
                <a:spcPts val="3460"/>
              </a:lnSpc>
              <a:spcBef>
                <a:spcPts val="1395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208279" algn="l"/>
              </a:tabLst>
              <a:defRPr/>
            </a:pP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first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two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cases,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 new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program </a:t>
            </a:r>
            <a:r>
              <a:rPr kumimoji="0" sz="3200" b="1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that </a:t>
            </a:r>
            <a:r>
              <a:rPr kumimoji="0" sz="3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comes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into play 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(called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ISR 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or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interrupt/ exception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handler)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performs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 </a:t>
            </a:r>
            <a:r>
              <a:rPr kumimoji="0" sz="3200" b="1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service </a:t>
            </a:r>
            <a:r>
              <a:rPr kumimoji="0" sz="3200" b="1" i="0" u="none" strike="noStrike" kern="1200" cap="none" spc="-64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1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for the peripheral</a:t>
            </a:r>
            <a:r>
              <a:rPr kumimoji="0" sz="3200" b="1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or acts</a:t>
            </a:r>
            <a:r>
              <a:rPr kumimoji="0" sz="3200" b="1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upon</a:t>
            </a:r>
            <a:r>
              <a:rPr kumimoji="0" sz="3200" b="1" i="0" u="none" strike="noStrike" kern="1200" cap="none" spc="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interrupting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instruction.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0997" y="251998"/>
            <a:ext cx="11570004" cy="1015008"/>
          </a:xfrm>
          <a:prstGeom prst="rect">
            <a:avLst/>
          </a:prstGeom>
        </p:spPr>
        <p:txBody>
          <a:bodyPr vert="horz" wrap="square" lIns="0" tIns="570153" rIns="0" bIns="0" rtlCol="0">
            <a:spAutoFit/>
          </a:bodyPr>
          <a:lstStyle/>
          <a:p>
            <a:pPr marL="332105" marR="5080">
              <a:lnSpc>
                <a:spcPts val="3260"/>
              </a:lnSpc>
              <a:spcBef>
                <a:spcPts val="695"/>
              </a:spcBef>
            </a:pPr>
            <a:r>
              <a:rPr sz="3600" spc="-5" dirty="0">
                <a:solidFill>
                  <a:srgbClr val="00B0F0"/>
                </a:solidFill>
                <a:latin typeface="Corbel"/>
                <a:cs typeface="Corbel"/>
              </a:rPr>
              <a:t>EXCEPTION IS  GENERATED ON AN ERROR</a:t>
            </a:r>
            <a:r>
              <a:rPr lang="en-US" sz="3600" spc="-5" dirty="0">
                <a:solidFill>
                  <a:srgbClr val="00B0F0"/>
                </a:solidFill>
                <a:latin typeface="Corbel"/>
                <a:cs typeface="Corbel"/>
              </a:rPr>
              <a:t>:</a:t>
            </a:r>
            <a:endParaRPr sz="3600" spc="-5" dirty="0">
              <a:solidFill>
                <a:srgbClr val="00B0F0"/>
              </a:solidFill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30427" y="1843557"/>
            <a:ext cx="11120755" cy="4953279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1955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1165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Here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also</a:t>
            </a:r>
            <a:r>
              <a:rPr kumimoji="0" sz="2800" b="0" i="0" u="none" strike="noStrike" kern="1200" cap="none" spc="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control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branches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to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vector of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exception.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5580" marR="5715" lvl="0" indent="-182880" algn="l" defTabSz="914400" rtl="0" eaLnBrk="1" fontAlgn="auto" latinLnBrk="0" hangingPunct="1">
              <a:lnSpc>
                <a:spcPts val="3020"/>
              </a:lnSpc>
              <a:spcBef>
                <a:spcPts val="1455"/>
              </a:spcBef>
              <a:spcAft>
                <a:spcPts val="0"/>
              </a:spcAft>
              <a:buClr>
                <a:srgbClr val="FFFFFF"/>
              </a:buClr>
              <a:buSzTx/>
              <a:buFont typeface="Wingdings"/>
              <a:buChar char=""/>
              <a:tabLst>
                <a:tab pos="243204" algn="l"/>
              </a:tabLst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2800" b="0" i="0" u="none" strike="noStrike" kern="1200" cap="none" spc="8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handler</a:t>
            </a:r>
            <a:r>
              <a:rPr kumimoji="0" sz="2800" b="0" i="0" u="none" strike="noStrike" kern="1200" cap="none" spc="8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</a:t>
            </a:r>
            <a:r>
              <a:rPr kumimoji="0" sz="2800" b="0" i="0" u="none" strike="noStrike" kern="1200" cap="none" spc="8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2800" b="0" i="0" u="none" strike="noStrike" kern="1200" cap="none" spc="8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exception</a:t>
            </a:r>
            <a:r>
              <a:rPr kumimoji="0" sz="2800" b="0" i="0" u="none" strike="noStrike" kern="1200" cap="none" spc="7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should</a:t>
            </a:r>
            <a:r>
              <a:rPr kumimoji="0" sz="2800" b="0" i="0" u="none" strike="noStrike" kern="1200" cap="none" spc="9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contain</a:t>
            </a:r>
            <a:r>
              <a:rPr kumimoji="0" sz="2800" b="0" i="0" u="none" strike="noStrike" kern="1200" cap="none" spc="9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2800" b="0" i="0" u="none" strike="noStrike" kern="1200" cap="none" spc="10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code</a:t>
            </a:r>
            <a:r>
              <a:rPr kumimoji="0" sz="2800" b="0" i="0" u="none" strike="noStrike" kern="1200" cap="none" spc="8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which</a:t>
            </a:r>
            <a:r>
              <a:rPr kumimoji="0" sz="2800" b="0" i="0" u="none" strike="noStrike" kern="1200" cap="none" spc="8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performs</a:t>
            </a:r>
            <a:r>
              <a:rPr kumimoji="0" sz="2800" b="0" i="0" u="none" strike="noStrike" kern="1200" cap="none" spc="7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 </a:t>
            </a:r>
            <a:r>
              <a:rPr kumimoji="0" sz="2800" b="0" i="0" u="none" strike="noStrike" kern="1200" cap="none" spc="-54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necessary</a:t>
            </a:r>
            <a:r>
              <a:rPr kumimoji="0" sz="2800" b="0" i="0" u="none" strike="noStrike" kern="1200" cap="none" spc="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action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to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override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effect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the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error.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5580" marR="6985" lvl="0" indent="-182880" algn="l" defTabSz="914400" rtl="0" eaLnBrk="1" fontAlgn="auto" latinLnBrk="0" hangingPunct="1">
              <a:lnSpc>
                <a:spcPts val="3020"/>
              </a:lnSpc>
              <a:spcBef>
                <a:spcPts val="1415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Thus,</a:t>
            </a:r>
            <a:r>
              <a:rPr kumimoji="0" sz="2800" b="0" i="0" u="none" strike="noStrike" kern="1200" cap="none" spc="4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2800" b="0" i="0" u="none" strike="noStrike" kern="1200" cap="none" spc="4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system</a:t>
            </a:r>
            <a:r>
              <a:rPr kumimoji="0" sz="2800" b="0" i="0" u="none" strike="noStrike" kern="1200" cap="none" spc="44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</a:t>
            </a:r>
            <a:r>
              <a:rPr kumimoji="0" sz="2800" b="0" i="0" u="none" strike="noStrike" kern="1200" cap="none" spc="434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prevented</a:t>
            </a:r>
            <a:r>
              <a:rPr kumimoji="0" sz="2800" b="0" i="0" u="none" strike="noStrike" kern="1200" cap="none" spc="4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from</a:t>
            </a:r>
            <a:r>
              <a:rPr kumimoji="0" sz="2800" b="0" i="0" u="none" strike="noStrike" kern="1200" cap="none" spc="4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crashing</a:t>
            </a:r>
            <a:r>
              <a:rPr kumimoji="0" sz="2800" b="0" i="0" u="none" strike="noStrike" kern="1200" cap="none" spc="44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or</a:t>
            </a:r>
            <a:r>
              <a:rPr kumimoji="0" sz="2800" b="0" i="0" u="none" strike="noStrike" kern="1200" cap="none" spc="4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going</a:t>
            </a:r>
            <a:r>
              <a:rPr kumimoji="0" sz="2800" b="0" i="0" u="none" strike="noStrike" kern="1200" cap="none" spc="4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into</a:t>
            </a:r>
            <a:r>
              <a:rPr kumimoji="0" sz="2800" b="0" i="0" u="none" strike="noStrike" kern="1200" cap="none" spc="4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</a:t>
            </a:r>
            <a:r>
              <a:rPr kumimoji="0" sz="2800" b="0" i="0" u="none" strike="noStrike" kern="1200" cap="none" spc="4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reset</a:t>
            </a:r>
            <a:r>
              <a:rPr kumimoji="0" sz="2800" b="0" i="0" u="none" strike="noStrike" kern="1200" cap="none" spc="4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state </a:t>
            </a:r>
            <a:r>
              <a:rPr kumimoji="0" sz="2800" b="0" i="0" u="none" strike="noStrike" kern="1200" cap="none" spc="-54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before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being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able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to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save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current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context.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5580" marR="5080" lvl="0" indent="-182880" algn="l" defTabSz="914400" rtl="0" eaLnBrk="1" fontAlgn="auto" latinLnBrk="0" hangingPunct="1">
              <a:lnSpc>
                <a:spcPts val="302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  <a:tab pos="949325" algn="l"/>
                <a:tab pos="1780539" algn="l"/>
                <a:tab pos="2273935" algn="l"/>
                <a:tab pos="4819650" algn="l"/>
                <a:tab pos="6597015" algn="l"/>
                <a:tab pos="7428865" algn="l"/>
                <a:tab pos="7988300" algn="l"/>
                <a:tab pos="9369425" algn="l"/>
                <a:tab pos="9873615" algn="l"/>
                <a:tab pos="10382885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	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ISRs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	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	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erro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r-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generated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	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exceptions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	m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ay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	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be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	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referre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d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	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to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	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	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ror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handlers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or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fault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handlers.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5580" marR="7620" lvl="0" indent="-182880" algn="l" defTabSz="914400" rtl="0" eaLnBrk="1" fontAlgn="auto" latinLnBrk="0" hangingPunct="1">
              <a:lnSpc>
                <a:spcPts val="3020"/>
              </a:lnSpc>
              <a:spcBef>
                <a:spcPts val="1415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These</a:t>
            </a:r>
            <a:r>
              <a:rPr kumimoji="0" sz="2800" b="0" i="0" u="none" strike="noStrike" kern="1200" cap="none" spc="2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handlers</a:t>
            </a:r>
            <a:r>
              <a:rPr kumimoji="0" sz="2800" b="0" i="0" u="none" strike="noStrike" kern="1200" cap="none" spc="24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allow</a:t>
            </a:r>
            <a:r>
              <a:rPr kumimoji="0" sz="2800" b="0" i="0" u="none" strike="noStrike" kern="1200" cap="none" spc="23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2800" b="0" i="0" u="none" strike="noStrike" kern="1200" cap="none" spc="23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processor</a:t>
            </a:r>
            <a:r>
              <a:rPr kumimoji="0" sz="2800" b="0" i="0" u="none" strike="noStrike" kern="1200" cap="none" spc="2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to</a:t>
            </a:r>
            <a:r>
              <a:rPr kumimoji="0" sz="2800" b="0" i="0" u="none" strike="noStrike" kern="1200" cap="none" spc="23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exit</a:t>
            </a:r>
            <a:r>
              <a:rPr kumimoji="0" sz="2800" b="0" i="0" u="none" strike="noStrike" kern="1200" cap="none" spc="229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gracefully</a:t>
            </a:r>
            <a:r>
              <a:rPr kumimoji="0" sz="2800" b="0" i="0" u="none" strike="noStrike" kern="1200" cap="none" spc="23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from</a:t>
            </a:r>
            <a:r>
              <a:rPr kumimoji="0" sz="2800" b="0" i="0" u="none" strike="noStrike" kern="1200" cap="none" spc="23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2800" b="0" i="0" u="none" strike="noStrike" kern="1200" cap="none" spc="229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error</a:t>
            </a:r>
            <a:r>
              <a:rPr kumimoji="0" sz="2800" b="0" i="0" u="none" strike="noStrike" kern="1200" cap="none" spc="2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state </a:t>
            </a:r>
            <a:r>
              <a:rPr kumimoji="0" sz="2800" b="0" i="0" u="none" strike="noStrike" kern="1200" cap="none" spc="-54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without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causing</a:t>
            </a:r>
            <a:r>
              <a:rPr kumimoji="0" sz="2800" b="0" i="0" u="none" strike="noStrike" kern="1200" cap="none" spc="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havoc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to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system</a:t>
            </a:r>
            <a:endParaRPr kumimoji="0" lang="en-US" sz="2800" b="0" i="0" u="none" strike="noStrike" kern="1200" cap="none" spc="-1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5580" marR="7620" lvl="0" indent="-182880" algn="l" defTabSz="914400" rtl="0" eaLnBrk="1" fontAlgn="auto" latinLnBrk="0" hangingPunct="1">
              <a:lnSpc>
                <a:spcPts val="3020"/>
              </a:lnSpc>
              <a:spcBef>
                <a:spcPts val="1415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lang="en-US" sz="2800" spc="-10" dirty="0">
                <a:latin typeface="Corbel"/>
                <a:cs typeface="Corbel"/>
              </a:rPr>
              <a:t>The different types of interrupts/Exceptions are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cs typeface="Corbe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3514" y="1022971"/>
            <a:ext cx="3075940" cy="46499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2105" marR="5080">
              <a:lnSpc>
                <a:spcPts val="3260"/>
              </a:lnSpc>
              <a:spcBef>
                <a:spcPts val="695"/>
              </a:spcBef>
            </a:pPr>
            <a:r>
              <a:rPr sz="4000" spc="-50" dirty="0">
                <a:latin typeface="Corbel"/>
                <a:cs typeface="Corbel"/>
              </a:rPr>
              <a:t> </a:t>
            </a:r>
            <a:r>
              <a:rPr lang="en-US" sz="3600" spc="-5" dirty="0">
                <a:solidFill>
                  <a:srgbClr val="00B0F0"/>
                </a:solidFill>
                <a:latin typeface="Corbel"/>
                <a:cs typeface="Corbel"/>
              </a:rPr>
              <a:t>1.</a:t>
            </a:r>
            <a:r>
              <a:rPr sz="3600" spc="-5" dirty="0">
                <a:solidFill>
                  <a:srgbClr val="00B0F0"/>
                </a:solidFill>
                <a:latin typeface="Corbel"/>
                <a:cs typeface="Corbel"/>
              </a:rPr>
              <a:t>RESET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3514" y="1843557"/>
            <a:ext cx="10949305" cy="4016099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1955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1165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When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processor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switched</a:t>
            </a:r>
            <a:r>
              <a:rPr kumimoji="0" sz="2800" b="0" i="0" u="none" strike="noStrike" kern="1200" cap="none" spc="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on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it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Reset</a:t>
            </a:r>
            <a:r>
              <a:rPr kumimoji="0" sz="2800" b="0" i="0" u="none" strike="noStrike" kern="1200" cap="none" spc="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condition.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55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1070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All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hardware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initialized</a:t>
            </a:r>
            <a:r>
              <a:rPr kumimoji="0" sz="2800" b="0" i="0" u="none" strike="noStrike" kern="1200" cap="none" spc="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with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'reset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pulse'.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55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1070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 mode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that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entered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on reset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 `Supervisor'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mode.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4945" marR="5715" lvl="0" indent="-182880" algn="just" defTabSz="914400" rtl="0" eaLnBrk="1" fontAlgn="auto" latinLnBrk="0" hangingPunct="1">
              <a:lnSpc>
                <a:spcPts val="3020"/>
              </a:lnSpc>
              <a:spcBef>
                <a:spcPts val="1440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 first instruction that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to be executed then is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taken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from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address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Ox0000000.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4945" marR="5080" lvl="0" indent="-182880" algn="just" defTabSz="914400" rtl="0" eaLnBrk="1" fontAlgn="auto" latinLnBrk="0" hangingPunct="1">
              <a:lnSpc>
                <a:spcPct val="90000"/>
              </a:lnSpc>
              <a:spcBef>
                <a:spcPts val="1365"/>
              </a:spcBef>
              <a:spcAft>
                <a:spcPts val="0"/>
              </a:spcAft>
              <a:buClr>
                <a:srgbClr val="FFFFFF"/>
              </a:buClr>
              <a:buSzTx/>
              <a:buFont typeface="Wingdings"/>
              <a:buChar char=""/>
              <a:tabLst>
                <a:tab pos="267335" algn="l"/>
              </a:tabLst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lang="en-US" sz="2800" spc="-5" noProof="0" dirty="0">
                <a:latin typeface="Corbel"/>
              </a:rPr>
              <a:t>During the</a:t>
            </a:r>
            <a:r>
              <a:rPr kumimoji="0" sz="2800" b="0" i="0" u="none" strike="noStrike" kern="1200" cap="none" spc="254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operation</a:t>
            </a:r>
            <a:r>
              <a:rPr kumimoji="0" sz="2800" b="0" i="0" u="none" strike="noStrike" kern="1200" cap="none" spc="254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</a:t>
            </a:r>
            <a:r>
              <a:rPr kumimoji="0" sz="2800" b="0" i="0" u="none" strike="noStrike" kern="1200" cap="none" spc="24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2800" b="0" i="0" u="none" strike="noStrike" kern="1200" cap="none" spc="254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processors,</a:t>
            </a:r>
            <a:r>
              <a:rPr kumimoji="0" sz="2800" b="0" i="0" u="none" strike="noStrike" kern="1200" cap="none" spc="25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reset</a:t>
            </a:r>
            <a:r>
              <a:rPr kumimoji="0" sz="2800" b="0" i="0" u="none" strike="noStrike" kern="1200" cap="none" spc="25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may</a:t>
            </a:r>
            <a:r>
              <a:rPr kumimoji="0" sz="2800" b="0" i="0" u="none" strike="noStrike" kern="1200" cap="none" spc="254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happen</a:t>
            </a:r>
            <a:r>
              <a:rPr kumimoji="0" sz="2800" b="0" i="0" u="none" strike="noStrike" kern="1200" cap="none" spc="24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due </a:t>
            </a:r>
            <a:r>
              <a:rPr kumimoji="0" sz="2800" b="0" i="0" u="none" strike="noStrike" kern="1200" cap="none" spc="-55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to various reasons and then the system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operation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starts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again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from the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reset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vector.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3968" y="987289"/>
            <a:ext cx="7706995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600" spc="-5" dirty="0">
                <a:solidFill>
                  <a:srgbClr val="00B0F0"/>
                </a:solidFill>
                <a:latin typeface="Corbel"/>
                <a:cs typeface="Corbel"/>
              </a:rPr>
              <a:t>2.</a:t>
            </a:r>
            <a:r>
              <a:rPr sz="3600" spc="-5" dirty="0">
                <a:solidFill>
                  <a:srgbClr val="00B0F0"/>
                </a:solidFill>
                <a:latin typeface="Corbel"/>
                <a:cs typeface="Corbel"/>
              </a:rPr>
              <a:t>UNDEFINED INSTRUCTION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3968" y="1979802"/>
            <a:ext cx="10654665" cy="234505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94945" marR="5080" lvl="0" indent="-182880" algn="l" defTabSz="914400" rtl="0" eaLnBrk="1" fontAlgn="auto" latinLnBrk="0" hangingPunct="1">
              <a:lnSpc>
                <a:spcPts val="3020"/>
              </a:lnSpc>
              <a:spcBef>
                <a:spcPts val="480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If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an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instruction</a:t>
            </a:r>
            <a:r>
              <a:rPr kumimoji="0" sz="2800" b="0" i="0" u="none" strike="noStrike" kern="1200" cap="none" spc="4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</a:t>
            </a:r>
            <a:r>
              <a:rPr kumimoji="0" sz="2800" b="0" i="0" u="none" strike="noStrike" kern="1200" cap="none" spc="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fetched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and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found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to be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binary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number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which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is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not </a:t>
            </a:r>
            <a:r>
              <a:rPr kumimoji="0" sz="2800" b="0" i="0" u="none" strike="noStrike" kern="1200" cap="none" spc="-54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listed</a:t>
            </a:r>
            <a:r>
              <a:rPr kumimoji="0" sz="2800" b="0" i="0" u="none" strike="noStrike" kern="1200" cap="none" spc="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as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one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opcodes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processor</a:t>
            </a:r>
            <a:endParaRPr kumimoji="0" sz="28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55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1025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This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exception is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generated.</a:t>
            </a:r>
            <a:endParaRPr kumimoji="0" sz="28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4945" marR="15875" lvl="0" indent="-182880" algn="l" defTabSz="914400" rtl="0" eaLnBrk="1" fontAlgn="auto" latinLnBrk="0" hangingPunct="1">
              <a:lnSpc>
                <a:spcPts val="3020"/>
              </a:lnSpc>
              <a:spcBef>
                <a:spcPts val="1455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interrupt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handler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at</a:t>
            </a:r>
            <a:r>
              <a:rPr kumimoji="0" sz="2800" b="0" i="0" u="none" strike="noStrike" kern="1200" cap="none" spc="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corresponding</a:t>
            </a:r>
            <a:r>
              <a:rPr kumimoji="0" sz="2800" b="0" i="0" u="none" strike="noStrike" kern="1200" cap="none" spc="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vector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to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take</a:t>
            </a:r>
            <a:r>
              <a:rPr kumimoji="0" sz="2800" b="0" i="0" u="none" strike="noStrike" kern="1200" cap="none" spc="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appropriate </a:t>
            </a:r>
            <a:r>
              <a:rPr kumimoji="0" sz="2800" b="0" i="0" u="none" strike="noStrike" kern="1200" cap="none" spc="-54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action</a:t>
            </a:r>
            <a:r>
              <a:rPr kumimoji="0" sz="2800" b="0" i="0" u="none" strike="noStrike" kern="1200" cap="none" spc="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to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exit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gracefully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from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error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state.</a:t>
            </a:r>
            <a:endParaRPr kumimoji="0" sz="28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3229" y="943728"/>
            <a:ext cx="6967220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5" dirty="0">
                <a:solidFill>
                  <a:srgbClr val="00B0F0"/>
                </a:solidFill>
                <a:latin typeface="Corbel"/>
                <a:cs typeface="Corbel"/>
              </a:rPr>
              <a:t>3</a:t>
            </a:r>
            <a:r>
              <a:rPr lang="en-US" sz="3600" spc="-5" dirty="0">
                <a:solidFill>
                  <a:srgbClr val="00B0F0"/>
                </a:solidFill>
                <a:latin typeface="Corbel"/>
                <a:cs typeface="Corbel"/>
              </a:rPr>
              <a:t>.</a:t>
            </a:r>
            <a:r>
              <a:rPr sz="3600" spc="-5" dirty="0">
                <a:solidFill>
                  <a:srgbClr val="00B0F0"/>
                </a:solidFill>
                <a:latin typeface="Corbel"/>
                <a:cs typeface="Corbel"/>
              </a:rPr>
              <a:t> SOFTWARE INTERRUPT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0143" y="1979802"/>
            <a:ext cx="9492615" cy="196088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94945" marR="233045" lvl="0" indent="-182880" algn="l" defTabSz="914400" rtl="0" eaLnBrk="1" fontAlgn="auto" latinLnBrk="0" hangingPunct="1">
              <a:lnSpc>
                <a:spcPts val="3020"/>
              </a:lnSpc>
              <a:spcBef>
                <a:spcPts val="480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software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interrupt</a:t>
            </a:r>
            <a:r>
              <a:rPr kumimoji="0" sz="2800" b="0" i="0" u="none" strike="noStrike" kern="1200" cap="none" spc="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instruction</a:t>
            </a:r>
            <a:r>
              <a:rPr kumimoji="0" sz="2800" b="0" i="0" u="none" strike="noStrike" kern="1200" cap="none" spc="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lang="en-US" sz="2800" spc="-5" dirty="0">
                <a:latin typeface="Corbel"/>
                <a:cs typeface="Corbel"/>
              </a:rPr>
              <a:t>(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SWI</a:t>
            </a:r>
            <a:r>
              <a:rPr kumimoji="0" lang="en-US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)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lang="en-US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[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now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changed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to</a:t>
            </a:r>
            <a:r>
              <a:rPr kumimoji="0" sz="2800" b="0" i="0" u="none" strike="noStrike" kern="1200" cap="none" spc="-5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SVC- </a:t>
            </a:r>
            <a:r>
              <a:rPr kumimoji="0" sz="2800" b="0" i="0" u="none" strike="noStrike" kern="1200" cap="none" spc="-54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supervisor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cal</a:t>
            </a:r>
            <a:r>
              <a:rPr kumimoji="0" lang="en-US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l]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is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used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for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entering</a:t>
            </a:r>
            <a:r>
              <a:rPr kumimoji="0" sz="2800" b="0" i="0" u="none" strike="noStrike" kern="1200" cap="none" spc="-6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Supervisor mode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55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1025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Usually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to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request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</a:t>
            </a:r>
            <a:r>
              <a:rPr kumimoji="0" sz="2800" b="0" i="0" u="none" strike="noStrike" kern="1200" cap="none" spc="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particular</a:t>
            </a:r>
            <a:r>
              <a:rPr kumimoji="0" sz="2800" b="0" i="0" u="none" strike="noStrike" kern="1200" cap="none" spc="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supervisor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function.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242570" marR="0" lvl="0" indent="-230504" algn="l" defTabSz="914400" rtl="0" eaLnBrk="1" fontAlgn="auto" latinLnBrk="0" hangingPunct="1">
              <a:lnSpc>
                <a:spcPct val="100000"/>
              </a:lnSpc>
              <a:spcBef>
                <a:spcPts val="1070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243204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This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</a:t>
            </a:r>
            <a:r>
              <a:rPr kumimoji="0" sz="2800" b="0" i="0" u="none" strike="noStrike" kern="1200" cap="none" spc="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used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by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2800" b="0" i="0" u="none" strike="noStrike" kern="1200" cap="none" spc="-10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OS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to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request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access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to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protected</a:t>
            </a:r>
            <a:r>
              <a:rPr kumimoji="0" sz="2800" b="0" i="0" u="none" strike="noStrike" kern="1200" cap="none" spc="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resources.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7100" y="987289"/>
            <a:ext cx="3225165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5" dirty="0">
                <a:solidFill>
                  <a:srgbClr val="00B0F0"/>
                </a:solidFill>
                <a:latin typeface="Corbel"/>
                <a:cs typeface="Corbel"/>
              </a:rPr>
              <a:t>4</a:t>
            </a:r>
            <a:r>
              <a:rPr lang="en-US" sz="3600" spc="-5" dirty="0">
                <a:solidFill>
                  <a:srgbClr val="00B0F0"/>
                </a:solidFill>
                <a:latin typeface="Corbel"/>
                <a:cs typeface="Corbel"/>
              </a:rPr>
              <a:t>.</a:t>
            </a:r>
            <a:r>
              <a:rPr sz="3600" spc="-5" dirty="0">
                <a:solidFill>
                  <a:srgbClr val="00B0F0"/>
                </a:solidFill>
                <a:latin typeface="Corbel"/>
                <a:cs typeface="Corbel"/>
              </a:rPr>
              <a:t> ABORT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6556" y="1979802"/>
            <a:ext cx="10163175" cy="29057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94945" marR="5080" lvl="0" indent="-182880" algn="l" defTabSz="914400" rtl="0" eaLnBrk="1" fontAlgn="auto" latinLnBrk="0" hangingPunct="1">
              <a:lnSpc>
                <a:spcPts val="3020"/>
              </a:lnSpc>
              <a:spcBef>
                <a:spcPts val="480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  <a:tab pos="795655" algn="l"/>
                <a:tab pos="1780539" algn="l"/>
                <a:tab pos="3286125" algn="l"/>
                <a:tab pos="4083685" algn="l"/>
                <a:tab pos="4761865" algn="l"/>
                <a:tab pos="6014720" algn="l"/>
                <a:tab pos="7447280" algn="l"/>
                <a:tab pos="8579485" algn="l"/>
                <a:tab pos="9785350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	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abort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	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indicat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	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tha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	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	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curren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	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memory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	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</a:t>
            </a:r>
            <a:r>
              <a:rPr kumimoji="0" sz="2800" b="0" i="0" u="none" strike="noStrike" kern="1200" cap="none" spc="-4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ce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ss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	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	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be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completed.</a:t>
            </a:r>
            <a:endParaRPr kumimoji="0" sz="28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55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1025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There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are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two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types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 abort:</a:t>
            </a:r>
            <a:endParaRPr kumimoji="0" sz="28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852169" marR="0" lvl="1" indent="-325120" algn="l" defTabSz="914400" rtl="0" eaLnBrk="1" fontAlgn="auto" latinLnBrk="0" hangingPunct="1">
              <a:lnSpc>
                <a:spcPct val="100000"/>
              </a:lnSpc>
              <a:spcBef>
                <a:spcPts val="107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852805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Prefetch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abort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occurs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during</a:t>
            </a:r>
            <a:r>
              <a:rPr kumimoji="0" sz="2800" b="0" i="0" u="none" strike="noStrike" kern="1200" cap="none" spc="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an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instruction</a:t>
            </a:r>
            <a:r>
              <a:rPr kumimoji="0" sz="2800" b="0" i="0" u="none" strike="noStrike" kern="1200" cap="none" spc="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prefetch.</a:t>
            </a:r>
            <a:endParaRPr kumimoji="0" sz="28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527685" marR="5080" lvl="1" indent="0" algn="l" defTabSz="914400" rtl="0" eaLnBrk="1" fontAlgn="auto" latinLnBrk="0" hangingPunct="1">
              <a:lnSpc>
                <a:spcPts val="3020"/>
              </a:lnSpc>
              <a:spcBef>
                <a:spcPts val="144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87376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Data</a:t>
            </a:r>
            <a:r>
              <a:rPr kumimoji="0" sz="2800" b="0" i="0" u="none" strike="noStrike" kern="1200" cap="none" spc="19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abort</a:t>
            </a:r>
            <a:r>
              <a:rPr kumimoji="0" sz="2800" b="0" i="0" u="none" strike="noStrike" kern="1200" cap="none" spc="19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occurs</a:t>
            </a:r>
            <a:r>
              <a:rPr kumimoji="0" sz="2800" b="0" i="0" u="none" strike="noStrike" kern="1200" cap="none" spc="19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during</a:t>
            </a:r>
            <a:r>
              <a:rPr kumimoji="0" sz="2800" b="0" i="0" u="none" strike="noStrike" kern="1200" cap="none" spc="19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</a:t>
            </a:r>
            <a:r>
              <a:rPr kumimoji="0" sz="2800" b="0" i="0" u="none" strike="noStrike" kern="1200" cap="none" spc="18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data</a:t>
            </a:r>
            <a:r>
              <a:rPr kumimoji="0" sz="2800" b="0" i="0" u="none" strike="noStrike" kern="1200" cap="none" spc="19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access</a:t>
            </a:r>
            <a:r>
              <a:rPr kumimoji="0" sz="2800" b="0" i="0" u="none" strike="noStrike" kern="1200" cap="none" spc="19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(R/W),</a:t>
            </a:r>
            <a:r>
              <a:rPr kumimoji="0" sz="2800" b="0" i="0" u="none" strike="noStrike" kern="1200" cap="none" spc="19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when</a:t>
            </a:r>
            <a:r>
              <a:rPr kumimoji="0" sz="2800" b="0" i="0" u="none" strike="noStrike" kern="1200" cap="none" spc="19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data</a:t>
            </a:r>
            <a:r>
              <a:rPr kumimoji="0" sz="2800" b="0" i="0" u="none" strike="noStrike" kern="1200" cap="none" spc="18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at</a:t>
            </a:r>
            <a:r>
              <a:rPr kumimoji="0" sz="2800" b="0" i="0" u="none" strike="noStrike" kern="1200" cap="none" spc="19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an </a:t>
            </a:r>
            <a:r>
              <a:rPr kumimoji="0" sz="2800" b="0" i="0" u="none" strike="noStrike" kern="1200" cap="none" spc="-54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invalid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address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attempted</a:t>
            </a:r>
            <a:r>
              <a:rPr kumimoji="0" sz="2800" b="0" i="0" u="none" strike="noStrike" kern="1200" cap="none" spc="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to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be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accessed.</a:t>
            </a:r>
            <a:endParaRPr kumimoji="0" sz="28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7100" y="1059807"/>
            <a:ext cx="5705475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5" dirty="0">
                <a:solidFill>
                  <a:srgbClr val="00B0F0"/>
                </a:solidFill>
                <a:latin typeface="Corbel"/>
                <a:cs typeface="Corbel"/>
              </a:rPr>
              <a:t>5</a:t>
            </a:r>
            <a:r>
              <a:rPr lang="en-US" sz="3600" spc="-5" dirty="0">
                <a:solidFill>
                  <a:srgbClr val="00B0F0"/>
                </a:solidFill>
                <a:latin typeface="Corbel"/>
                <a:cs typeface="Corbel"/>
              </a:rPr>
              <a:t>.</a:t>
            </a:r>
            <a:r>
              <a:rPr sz="3600" spc="-5" dirty="0">
                <a:solidFill>
                  <a:srgbClr val="00B0F0"/>
                </a:solidFill>
                <a:latin typeface="Corbel"/>
                <a:cs typeface="Corbel"/>
              </a:rPr>
              <a:t> PREFETCH ABORT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7100" y="1979802"/>
            <a:ext cx="10847705" cy="367411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95580" marR="6985" lvl="0" indent="-182880" algn="just" defTabSz="914400" rtl="0" eaLnBrk="1" fontAlgn="auto" latinLnBrk="0" hangingPunct="1">
              <a:lnSpc>
                <a:spcPts val="3020"/>
              </a:lnSpc>
              <a:spcBef>
                <a:spcPts val="480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It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occurs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when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processor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prefetches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code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(could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be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case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branching) which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at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an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invalid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address.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5580" marR="0" lvl="0" indent="-182880" algn="just" defTabSz="914400" rtl="0" eaLnBrk="1" fontAlgn="auto" latinLnBrk="0" hangingPunct="1">
              <a:lnSpc>
                <a:spcPct val="100000"/>
              </a:lnSpc>
              <a:spcBef>
                <a:spcPts val="1025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It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may</a:t>
            </a:r>
            <a:r>
              <a:rPr kumimoji="0" sz="2800" b="0" i="0" u="none" strike="noStrike" kern="1200" cap="none" spc="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be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that</a:t>
            </a:r>
            <a:r>
              <a:rPr kumimoji="0" sz="2800" b="0" i="0" u="none" strike="noStrike" kern="1200" cap="none" spc="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this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address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</a:t>
            </a:r>
            <a:r>
              <a:rPr kumimoji="0" sz="2800" b="0" i="0" u="none" strike="noStrike" kern="1200" cap="none" spc="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protected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memory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area,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5580" marR="6350" lvl="0" indent="-182880" algn="just" defTabSz="914400" rtl="0" eaLnBrk="1" fontAlgn="auto" latinLnBrk="0" hangingPunct="1">
              <a:lnSpc>
                <a:spcPts val="3020"/>
              </a:lnSpc>
              <a:spcBef>
                <a:spcPts val="1455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lang="en-US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his address is a peripheral address which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has not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been mapped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peripheral.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5580" marR="5080" lvl="0" indent="-182880" algn="just" defTabSz="914400" rtl="0" eaLnBrk="1" fontAlgn="auto" latinLnBrk="0" hangingPunct="1">
              <a:lnSpc>
                <a:spcPct val="90000"/>
              </a:lnSpc>
              <a:spcBef>
                <a:spcPts val="1355"/>
              </a:spcBef>
              <a:spcAft>
                <a:spcPts val="0"/>
              </a:spcAft>
              <a:buClr>
                <a:srgbClr val="FFFFFF"/>
              </a:buClr>
              <a:buSzTx/>
              <a:buFont typeface="Wingdings"/>
              <a:buChar char=""/>
              <a:tabLst>
                <a:tab pos="267335" algn="l"/>
              </a:tabLst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If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prefetch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abort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occurs,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the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prefetched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instruction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is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marked</a:t>
            </a:r>
            <a:r>
              <a:rPr kumimoji="0" sz="2800" b="0" i="0" u="none" strike="noStrike" kern="1200" cap="none" spc="5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invalid,</a:t>
            </a:r>
            <a:r>
              <a:rPr kumimoji="0" sz="2800" b="0" i="0" u="none" strike="noStrike" kern="1200" cap="none" spc="37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but</a:t>
            </a:r>
            <a:r>
              <a:rPr kumimoji="0" sz="2800" b="0" i="0" u="none" strike="noStrike" kern="1200" cap="none" spc="38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2800" b="0" i="0" u="none" strike="noStrike" kern="1200" cap="none" spc="38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exception</a:t>
            </a:r>
            <a:r>
              <a:rPr kumimoji="0" sz="2800" b="0" i="0" u="none" strike="noStrike" kern="1200" cap="none" spc="37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will</a:t>
            </a:r>
            <a:r>
              <a:rPr kumimoji="0" sz="2800" b="0" i="0" u="none" strike="noStrike" kern="1200" cap="none" spc="37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not</a:t>
            </a:r>
            <a:r>
              <a:rPr kumimoji="0" sz="2800" b="0" i="0" u="none" strike="noStrike" kern="1200" cap="none" spc="38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happen</a:t>
            </a:r>
            <a:r>
              <a:rPr kumimoji="0" sz="2800" b="0" i="0" u="none" strike="noStrike" kern="1200" cap="none" spc="38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until</a:t>
            </a:r>
            <a:r>
              <a:rPr kumimoji="0" sz="2800" b="0" i="0" u="none" strike="noStrike" kern="1200" cap="none" spc="37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2800" b="0" i="0" u="none" strike="noStrike" kern="1200" cap="none" spc="38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instruction</a:t>
            </a:r>
            <a:r>
              <a:rPr kumimoji="0" sz="2800" b="0" i="0" u="none" strike="noStrike" kern="1200" cap="none" spc="37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reaches </a:t>
            </a:r>
            <a:r>
              <a:rPr kumimoji="0" sz="2800" b="0" i="0" u="none" strike="noStrike" kern="1200" cap="none" spc="-55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execution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unit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pipeline.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1711" y="923924"/>
            <a:ext cx="4098925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fontAlgn="auto">
              <a:spcBef>
                <a:spcPts val="95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sz="3600" spc="-5" dirty="0">
                <a:solidFill>
                  <a:srgbClr val="00B0F0"/>
                </a:solidFill>
                <a:latin typeface="Corbel"/>
                <a:ea typeface="+mj-ea"/>
                <a:cs typeface="Corbel"/>
              </a:rPr>
              <a:t>6</a:t>
            </a:r>
            <a:r>
              <a:rPr lang="en-US" sz="3600" spc="-5" dirty="0">
                <a:solidFill>
                  <a:srgbClr val="00B0F0"/>
                </a:solidFill>
                <a:latin typeface="Corbel"/>
                <a:ea typeface="+mj-ea"/>
                <a:cs typeface="Corbel"/>
              </a:rPr>
              <a:t>.</a:t>
            </a:r>
            <a:r>
              <a:rPr sz="3600" spc="-5" dirty="0">
                <a:solidFill>
                  <a:srgbClr val="00B0F0"/>
                </a:solidFill>
                <a:latin typeface="Corbel"/>
                <a:ea typeface="+mj-ea"/>
                <a:cs typeface="Corbel"/>
              </a:rPr>
              <a:t> RESERVED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81811" y="1979802"/>
            <a:ext cx="8838565" cy="8356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ts val="3020"/>
              </a:lnSpc>
              <a:spcBef>
                <a:spcPts val="4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-4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Table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4.4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shows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vector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for an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exception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that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not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used for </a:t>
            </a:r>
            <a:r>
              <a:rPr kumimoji="0" sz="2800" b="0" i="0" u="none" strike="noStrike" kern="1200" cap="none" spc="-54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ARM7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but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may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be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used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for later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processors.</a:t>
            </a:r>
            <a:endParaRPr kumimoji="0" sz="28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6816" y="1088458"/>
            <a:ext cx="2441575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5" dirty="0">
                <a:solidFill>
                  <a:srgbClr val="00B0F0"/>
                </a:solidFill>
                <a:latin typeface="Corbel"/>
                <a:cs typeface="Corbel"/>
              </a:rPr>
              <a:t>7</a:t>
            </a:r>
            <a:r>
              <a:rPr lang="en-US" sz="3600" spc="-5" dirty="0">
                <a:solidFill>
                  <a:srgbClr val="00B0F0"/>
                </a:solidFill>
                <a:latin typeface="Corbel"/>
                <a:cs typeface="Corbel"/>
              </a:rPr>
              <a:t>.</a:t>
            </a:r>
            <a:r>
              <a:rPr sz="3600" spc="-5" dirty="0">
                <a:solidFill>
                  <a:srgbClr val="00B0F0"/>
                </a:solidFill>
                <a:latin typeface="Corbel"/>
                <a:cs typeface="Corbel"/>
              </a:rPr>
              <a:t> IRQ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81811" y="1979802"/>
            <a:ext cx="8809990" cy="139827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94945" marR="5080" lvl="0" indent="-182880" algn="l" defTabSz="914400" rtl="0" eaLnBrk="1" fontAlgn="auto" latinLnBrk="0" hangingPunct="1">
              <a:lnSpc>
                <a:spcPts val="3020"/>
              </a:lnSpc>
              <a:spcBef>
                <a:spcPts val="480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Interrupt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Request</a:t>
            </a:r>
            <a:r>
              <a:rPr kumimoji="0" sz="2800" b="0" i="0" u="none" strike="noStrike" kern="1200" cap="none" spc="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(IRQ)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exception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</a:t>
            </a:r>
            <a:r>
              <a:rPr kumimoji="0" sz="2800" b="0" i="0" u="none" strike="noStrike" kern="1200" cap="none" spc="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normal</a:t>
            </a:r>
            <a:r>
              <a:rPr kumimoji="0" sz="2800" b="0" i="0" u="none" strike="noStrike" kern="1200" cap="none" spc="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interrupt </a:t>
            </a:r>
            <a:r>
              <a:rPr kumimoji="0" sz="2800" b="0" i="0" u="none" strike="noStrike" kern="1200" cap="none" spc="-54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caused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by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4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LOW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level on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IRQ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pin.</a:t>
            </a:r>
            <a:endParaRPr kumimoji="0" sz="28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55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1025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It is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generally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used by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peripherals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to get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service.</a:t>
            </a:r>
            <a:endParaRPr kumimoji="0" sz="28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7840" y="943728"/>
            <a:ext cx="7900034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5" dirty="0">
                <a:solidFill>
                  <a:srgbClr val="00B0F0"/>
                </a:solidFill>
                <a:latin typeface="Corbel"/>
                <a:cs typeface="Corbel"/>
              </a:rPr>
              <a:t>8</a:t>
            </a:r>
            <a:r>
              <a:rPr lang="en-US" sz="3600" spc="-5" dirty="0">
                <a:solidFill>
                  <a:srgbClr val="00B0F0"/>
                </a:solidFill>
                <a:latin typeface="Corbel"/>
                <a:cs typeface="Corbel"/>
              </a:rPr>
              <a:t>.</a:t>
            </a:r>
            <a:r>
              <a:rPr sz="3600" spc="-5" dirty="0">
                <a:solidFill>
                  <a:srgbClr val="00B0F0"/>
                </a:solidFill>
                <a:latin typeface="Corbel"/>
                <a:cs typeface="Corbel"/>
              </a:rPr>
              <a:t> FAST INTERRUPT </a:t>
            </a:r>
            <a:r>
              <a:rPr sz="3600" spc="-5" dirty="0" smtClean="0">
                <a:solidFill>
                  <a:srgbClr val="00B0F0"/>
                </a:solidFill>
                <a:latin typeface="Corbel"/>
                <a:cs typeface="Corbel"/>
              </a:rPr>
              <a:t>REQUEST</a:t>
            </a:r>
            <a:endParaRPr sz="3600" spc="-5" dirty="0">
              <a:solidFill>
                <a:srgbClr val="00B0F0"/>
              </a:solidFill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81811" y="1979802"/>
            <a:ext cx="9628505" cy="349694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94945" marR="5715" lvl="0" indent="-182880" algn="just" defTabSz="914400" rtl="0" eaLnBrk="1" fontAlgn="auto" latinLnBrk="0" hangingPunct="1">
              <a:lnSpc>
                <a:spcPts val="3020"/>
              </a:lnSpc>
              <a:spcBef>
                <a:spcPts val="480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This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 used for very important actions and is designed to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very </a:t>
            </a:r>
            <a:r>
              <a:rPr kumimoji="0" sz="2800" b="0" i="0" u="none" strike="noStrike" kern="1200" cap="none" spc="-55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fast.</a:t>
            </a:r>
            <a:endParaRPr kumimoji="0" sz="28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4945" marR="5080" lvl="0" indent="-182880" algn="just" defTabSz="914400" rtl="0" eaLnBrk="1" fontAlgn="auto" latinLnBrk="0" hangingPunct="1">
              <a:lnSpc>
                <a:spcPts val="303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When this interrupt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occurs,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 processor goes to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 FIQ mode,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where</a:t>
            </a:r>
            <a:r>
              <a:rPr kumimoji="0" sz="2800" b="0" i="0" u="none" strike="noStrike" kern="1200" cap="none" spc="28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</a:t>
            </a:r>
            <a:r>
              <a:rPr kumimoji="0" sz="2800" b="0" i="0" u="none" strike="noStrike" kern="1200" cap="none" spc="28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new</a:t>
            </a:r>
            <a:r>
              <a:rPr kumimoji="0" sz="2800" b="0" i="0" u="none" strike="noStrike" kern="1200" cap="none" spc="28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set</a:t>
            </a:r>
            <a:r>
              <a:rPr kumimoji="0" sz="2800" b="0" i="0" u="none" strike="noStrike" kern="1200" cap="none" spc="28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</a:t>
            </a:r>
            <a:r>
              <a:rPr kumimoji="0" sz="2800" b="0" i="0" u="none" strike="noStrike" kern="1200" cap="none" spc="28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registers</a:t>
            </a:r>
            <a:r>
              <a:rPr kumimoji="0" sz="2800" b="0" i="0" u="none" strike="noStrike" kern="1200" cap="none" spc="27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are</a:t>
            </a:r>
            <a:r>
              <a:rPr kumimoji="0" sz="2800" b="0" i="0" u="none" strike="noStrike" kern="1200" cap="none" spc="28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used,</a:t>
            </a:r>
            <a:r>
              <a:rPr kumimoji="0" sz="2800" b="0" i="0" u="none" strike="noStrike" kern="1200" cap="none" spc="27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so</a:t>
            </a:r>
            <a:r>
              <a:rPr kumimoji="0" sz="2800" b="0" i="0" u="none" strike="noStrike" kern="1200" cap="none" spc="28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as</a:t>
            </a:r>
            <a:r>
              <a:rPr kumimoji="0" sz="2800" b="0" i="0" u="none" strike="noStrike" kern="1200" cap="none" spc="29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to</a:t>
            </a:r>
            <a:r>
              <a:rPr kumimoji="0" sz="2800" b="0" i="0" u="none" strike="noStrike" kern="1200" cap="none" spc="28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avoid</a:t>
            </a:r>
            <a:r>
              <a:rPr kumimoji="0" sz="2800" b="0" i="0" u="none" strike="noStrike" kern="1200" cap="none" spc="29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2800" b="0" i="0" u="none" strike="noStrike" kern="1200" cap="none" spc="28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delay </a:t>
            </a:r>
            <a:r>
              <a:rPr kumimoji="0" sz="2800" b="0" i="0" u="none" strike="noStrike" kern="1200" cap="none" spc="-55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for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context saving.</a:t>
            </a:r>
            <a:endParaRPr kumimoji="0" sz="28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4945" marR="5715" lvl="0" indent="-182880" algn="just" defTabSz="914400" rtl="0" eaLnBrk="1" fontAlgn="auto" latinLnBrk="0" hangingPunct="1">
              <a:lnSpc>
                <a:spcPts val="3020"/>
              </a:lnSpc>
              <a:spcBef>
                <a:spcPts val="1400"/>
              </a:spcBef>
              <a:spcAft>
                <a:spcPts val="0"/>
              </a:spcAft>
              <a:buClr>
                <a:srgbClr val="FFFFFF"/>
              </a:buClr>
              <a:buSzTx/>
              <a:buFont typeface="Wingdings"/>
              <a:buChar char=""/>
              <a:tabLst>
                <a:tab pos="267335" algn="l"/>
              </a:tabLst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practical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situations,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applications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which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use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FIQ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exception</a:t>
            </a:r>
            <a:r>
              <a:rPr kumimoji="0" sz="2800" b="0" i="0" u="none" strike="noStrike" kern="1200" cap="none" spc="27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are</a:t>
            </a:r>
            <a:r>
              <a:rPr kumimoji="0" sz="2800" b="0" i="0" u="none" strike="noStrike" kern="1200" cap="none" spc="29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coded</a:t>
            </a:r>
            <a:r>
              <a:rPr kumimoji="0" sz="2800" b="0" i="0" u="none" strike="noStrike" kern="1200" cap="none" spc="29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</a:t>
            </a:r>
            <a:r>
              <a:rPr kumimoji="0" sz="2800" b="0" i="0" u="none" strike="noStrike" kern="1200" cap="none" spc="29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assembly</a:t>
            </a:r>
            <a:r>
              <a:rPr kumimoji="0" sz="2800" b="0" i="0" u="none" strike="noStrike" kern="1200" cap="none" spc="3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to</a:t>
            </a:r>
            <a:r>
              <a:rPr kumimoji="0" sz="2800" b="0" i="0" u="none" strike="noStrike" kern="1200" cap="none" spc="29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bring</a:t>
            </a:r>
            <a:r>
              <a:rPr kumimoji="0" sz="2800" b="0" i="0" u="none" strike="noStrike" kern="1200" cap="none" spc="29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</a:t>
            </a:r>
            <a:r>
              <a:rPr kumimoji="0" sz="2800" b="0" i="0" u="none" strike="noStrike" kern="1200" cap="none" spc="29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an</a:t>
            </a:r>
            <a:r>
              <a:rPr kumimoji="0" sz="2800" b="0" i="0" u="none" strike="noStrike" kern="1200" cap="none" spc="30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additional</a:t>
            </a:r>
            <a:r>
              <a:rPr kumimoji="0" sz="2800" b="0" i="0" u="none" strike="noStrike" kern="1200" cap="none" spc="29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level </a:t>
            </a:r>
            <a:r>
              <a:rPr kumimoji="0" sz="2800" b="0" i="0" u="none" strike="noStrike" kern="1200" cap="none" spc="-55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 speed.</a:t>
            </a:r>
            <a:endParaRPr kumimoji="0" sz="28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711" y="1015941"/>
            <a:ext cx="7190105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5" dirty="0">
                <a:solidFill>
                  <a:srgbClr val="00B0F0"/>
                </a:solidFill>
                <a:latin typeface="Corbel"/>
                <a:cs typeface="Corbel"/>
              </a:rPr>
              <a:t>4.3.3 PRIORITY OF EXCEPTIONS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6556" y="1877948"/>
            <a:ext cx="9970770" cy="4821833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94945" marR="5080" lvl="0" indent="-182880" algn="l" defTabSz="914400" rtl="0" eaLnBrk="1" fontAlgn="auto" latinLnBrk="0" hangingPunct="1">
              <a:lnSpc>
                <a:spcPts val="3020"/>
              </a:lnSpc>
              <a:spcBef>
                <a:spcPts val="480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When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multiple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exceptions</a:t>
            </a:r>
            <a:r>
              <a:rPr kumimoji="0" sz="2800" b="0" i="0" u="none" strike="noStrike" kern="1200" cap="none" spc="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arise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at</a:t>
            </a:r>
            <a:r>
              <a:rPr kumimoji="0" sz="2800" b="0" i="0" u="none" strike="noStrike" kern="1200" cap="none" spc="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same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time,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there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</a:t>
            </a:r>
            <a:r>
              <a:rPr kumimoji="0" sz="2800" b="0" i="0" u="none" strike="noStrike" kern="1200" cap="none" spc="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priority </a:t>
            </a:r>
            <a:r>
              <a:rPr kumimoji="0" sz="2800" b="0" i="0" u="none" strike="noStrike" kern="1200" cap="none" spc="-54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prefixed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to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determine the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order in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which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they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are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handled.</a:t>
            </a:r>
            <a:endParaRPr kumimoji="0" sz="28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55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1030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order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as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follows:</a:t>
            </a:r>
            <a:endParaRPr kumimoji="0" sz="28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824865" marR="0" lvl="1" indent="-355600" algn="l" defTabSz="914400" rtl="0" eaLnBrk="1" fontAlgn="auto" latinLnBrk="0" hangingPunct="1">
              <a:lnSpc>
                <a:spcPct val="100000"/>
              </a:lnSpc>
              <a:spcBef>
                <a:spcPts val="107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825500" algn="l"/>
              </a:tabLst>
              <a:defRPr/>
            </a:pP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Reset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(Highest priority)</a:t>
            </a:r>
            <a:endParaRPr kumimoji="0" sz="28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824865" marR="0" lvl="1" indent="-355600" algn="l" defTabSz="914400" rtl="0" eaLnBrk="1" fontAlgn="auto" latinLnBrk="0" hangingPunct="1">
              <a:lnSpc>
                <a:spcPct val="100000"/>
              </a:lnSpc>
              <a:spcBef>
                <a:spcPts val="1055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8255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Data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abort</a:t>
            </a:r>
            <a:endParaRPr kumimoji="0" sz="28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824865" marR="0" lvl="1" indent="-355600" algn="l" defTabSz="914400" rtl="0" eaLnBrk="1" fontAlgn="auto" latinLnBrk="0" hangingPunct="1">
              <a:lnSpc>
                <a:spcPct val="100000"/>
              </a:lnSpc>
              <a:spcBef>
                <a:spcPts val="107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825500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FIQ</a:t>
            </a:r>
            <a:endParaRPr kumimoji="0" sz="28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824865" marR="0" lvl="1" indent="-355600" algn="l" defTabSz="914400" rtl="0" eaLnBrk="1" fontAlgn="auto" latinLnBrk="0" hangingPunct="1">
              <a:lnSpc>
                <a:spcPct val="100000"/>
              </a:lnSpc>
              <a:spcBef>
                <a:spcPts val="1065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8255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IRQ</a:t>
            </a:r>
            <a:endParaRPr kumimoji="0" sz="28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824865" marR="0" lvl="1" indent="-355600" algn="l" defTabSz="91440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825500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Prefetch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abort</a:t>
            </a:r>
            <a:endParaRPr kumimoji="0" sz="28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824865" marR="0" lvl="1" indent="-355600" algn="l" defTabSz="914400" rtl="0" eaLnBrk="1" fontAlgn="auto" latinLnBrk="0" hangingPunct="1">
              <a:lnSpc>
                <a:spcPct val="100000"/>
              </a:lnSpc>
              <a:spcBef>
                <a:spcPts val="107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8255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Undefined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Instruction,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Software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interrupt</a:t>
            </a:r>
            <a:r>
              <a:rPr kumimoji="0" sz="2800" b="0" i="0" u="none" strike="noStrike" kern="1200" cap="none" spc="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(Lowest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priority)</a:t>
            </a:r>
            <a:endParaRPr kumimoji="0" sz="28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29901" y="1453193"/>
            <a:ext cx="1165933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spc="-10" dirty="0">
                <a:latin typeface="Corbel"/>
                <a:cs typeface="Corbel"/>
              </a:rPr>
              <a:t>Undefined</a:t>
            </a:r>
            <a:r>
              <a:rPr lang="en-US" dirty="0"/>
              <a:t> </a:t>
            </a:r>
            <a:r>
              <a:rPr lang="en-US" sz="2800" spc="-10" dirty="0">
                <a:latin typeface="Corbel"/>
                <a:cs typeface="Corbel"/>
              </a:rPr>
              <a:t>instructions and software interrupts are mutually exclusive.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spc="-10" dirty="0">
                <a:latin typeface="Corbel"/>
                <a:cs typeface="Corbel"/>
              </a:rPr>
              <a:t>If an instruction is decoded and found to be an </a:t>
            </a:r>
            <a:r>
              <a:rPr lang="en-US" sz="2800" spc="-10" dirty="0" smtClean="0">
                <a:latin typeface="Corbel"/>
                <a:cs typeface="Corbel"/>
              </a:rPr>
              <a:t>SWI(</a:t>
            </a:r>
            <a:r>
              <a:rPr lang="en-IN" sz="2800" spc="-10" dirty="0">
                <a:latin typeface="Corbel"/>
                <a:cs typeface="Corbel"/>
              </a:rPr>
              <a:t>software</a:t>
            </a:r>
            <a:r>
              <a:rPr lang="en-IN" sz="2800" spc="5" dirty="0">
                <a:latin typeface="Corbel"/>
                <a:cs typeface="Corbel"/>
              </a:rPr>
              <a:t> </a:t>
            </a:r>
            <a:r>
              <a:rPr lang="en-IN" sz="2800" spc="-5" dirty="0">
                <a:latin typeface="Corbel"/>
                <a:cs typeface="Corbel"/>
              </a:rPr>
              <a:t>interrupt</a:t>
            </a:r>
            <a:r>
              <a:rPr lang="en-IN" sz="2800" spc="20" dirty="0">
                <a:latin typeface="Corbel"/>
                <a:cs typeface="Corbel"/>
              </a:rPr>
              <a:t> </a:t>
            </a:r>
            <a:r>
              <a:rPr lang="en-IN" sz="2800" spc="-5" dirty="0">
                <a:latin typeface="Corbel"/>
                <a:cs typeface="Corbel"/>
              </a:rPr>
              <a:t>instruction</a:t>
            </a:r>
            <a:r>
              <a:rPr lang="en-IN" sz="2800" spc="25" dirty="0">
                <a:latin typeface="Corbel"/>
                <a:cs typeface="Corbel"/>
              </a:rPr>
              <a:t> </a:t>
            </a:r>
            <a:r>
              <a:rPr lang="en-US" sz="2800" spc="-10" dirty="0" smtClean="0">
                <a:latin typeface="Corbel"/>
                <a:cs typeface="Corbel"/>
              </a:rPr>
              <a:t>),</a:t>
            </a:r>
            <a:r>
              <a:rPr lang="en-US" sz="2800" spc="-10" dirty="0">
                <a:latin typeface="Corbel"/>
                <a:cs typeface="Corbel"/>
              </a:rPr>
              <a:t>it cannot be an undefined instruction.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spc="-10" dirty="0">
                <a:latin typeface="Corbel"/>
                <a:cs typeface="Corbel"/>
              </a:rPr>
              <a:t>A data abort exception occurs at the same time as an FIQ.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spc="-10" dirty="0">
                <a:latin typeface="Corbel"/>
                <a:cs typeface="Corbel"/>
              </a:rPr>
              <a:t>The processor first enters the data abort handler and then immediately after that proceeds to the FIQ vector.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spc="-10" dirty="0">
                <a:latin typeface="Corbel"/>
                <a:cs typeface="Corbel"/>
              </a:rPr>
              <a:t>A normal return from FIQ will cause the data abort handler to resume execution.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spc="-10" dirty="0">
                <a:latin typeface="Corbel"/>
                <a:cs typeface="Corbel"/>
              </a:rPr>
              <a:t>It is necessary to place the data abort exception at a higher priority than FIQ to ensure that the data transfer error does not escape detection.</a:t>
            </a:r>
            <a:endParaRPr lang="en-IN" sz="2800" spc="-10" dirty="0">
              <a:latin typeface="Corbel"/>
              <a:cs typeface="Corbel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29901" y="409929"/>
            <a:ext cx="105710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lang="en-US" sz="3600" spc="-5" dirty="0">
                <a:solidFill>
                  <a:srgbClr val="00B0F0"/>
                </a:solidFill>
                <a:latin typeface="Corbel"/>
                <a:ea typeface="+mj-ea"/>
                <a:cs typeface="Corbel"/>
              </a:rPr>
              <a:t>All Exceptions cannot occur at the same time</a:t>
            </a:r>
            <a:endParaRPr lang="en-IN" sz="3600" spc="-5" dirty="0">
              <a:solidFill>
                <a:srgbClr val="00B0F0"/>
              </a:solidFill>
              <a:latin typeface="Corbel"/>
              <a:ea typeface="+mj-ea"/>
              <a:cs typeface="Corbel"/>
            </a:endParaRPr>
          </a:p>
        </p:txBody>
      </p:sp>
    </p:spTree>
    <p:extLst>
      <p:ext uri="{BB962C8B-B14F-4D97-AF65-F5344CB8AC3E}">
        <p14:creationId xmlns:p14="http://schemas.microsoft.com/office/powerpoint/2010/main" val="142683247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8429" y="987289"/>
            <a:ext cx="4327525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5" dirty="0">
                <a:solidFill>
                  <a:srgbClr val="00B0F0"/>
                </a:solidFill>
                <a:latin typeface="Corbel"/>
                <a:cs typeface="Corbel"/>
              </a:rPr>
              <a:t>4.4 ARM7 PIPELINE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81811" y="1843557"/>
            <a:ext cx="9626600" cy="3425825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1955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1165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idea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pipelining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well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known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computer</a:t>
            </a:r>
            <a:r>
              <a:rPr kumimoji="0" sz="2800" b="0" i="0" u="none" strike="noStrike" kern="1200" cap="none" spc="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architecture.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4945" marR="5080" lvl="0" indent="-182880" algn="l" defTabSz="914400" rtl="0" eaLnBrk="1" fontAlgn="auto" latinLnBrk="0" hangingPunct="1">
              <a:lnSpc>
                <a:spcPts val="3020"/>
              </a:lnSpc>
              <a:spcBef>
                <a:spcPts val="1455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  <a:tab pos="946785" algn="l"/>
                <a:tab pos="2371725" algn="l"/>
                <a:tab pos="2787650" algn="l"/>
                <a:tab pos="3150235" algn="l"/>
                <a:tab pos="5051425" algn="l"/>
                <a:tab pos="6404610" algn="l"/>
                <a:tab pos="6906259" algn="l"/>
                <a:tab pos="8188325" algn="l"/>
                <a:tab pos="8866505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	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simp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l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est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	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	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	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hre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-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sta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g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	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pipeline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	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to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	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over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l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ap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	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	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ba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ic 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operations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fetch, decode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and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execute.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4945" marR="5715" lvl="0" indent="-182880" algn="l" defTabSz="914400" rtl="0" eaLnBrk="1" fontAlgn="auto" latinLnBrk="0" hangingPunct="1">
              <a:lnSpc>
                <a:spcPts val="3020"/>
              </a:lnSpc>
              <a:spcBef>
                <a:spcPts val="1415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ARM</a:t>
            </a:r>
            <a:r>
              <a:rPr kumimoji="0" sz="2800" b="0" i="0" u="none" strike="noStrike" kern="1200" cap="none" spc="2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1</a:t>
            </a:r>
            <a:r>
              <a:rPr kumimoji="0" sz="2800" b="0" i="0" u="none" strike="noStrike" kern="1200" cap="none" spc="204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used</a:t>
            </a:r>
            <a:r>
              <a:rPr kumimoji="0" sz="2800" b="0" i="0" u="none" strike="noStrike" kern="1200" cap="none" spc="2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</a:t>
            </a:r>
            <a:r>
              <a:rPr kumimoji="0" sz="2800" b="0" i="0" u="none" strike="noStrike" kern="1200" cap="none" spc="2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three-stage</a:t>
            </a:r>
            <a:r>
              <a:rPr kumimoji="0" sz="2800" b="0" i="0" u="none" strike="noStrike" kern="1200" cap="none" spc="2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pipeline</a:t>
            </a:r>
            <a:r>
              <a:rPr kumimoji="0" sz="2800" b="0" i="0" u="none" strike="noStrike" kern="1200" cap="none" spc="2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and</a:t>
            </a:r>
            <a:r>
              <a:rPr kumimoji="0" sz="2800" b="0" i="0" u="none" strike="noStrike" kern="1200" cap="none" spc="2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this</a:t>
            </a:r>
            <a:r>
              <a:rPr kumimoji="0" sz="2800" b="0" i="0" u="none" strike="noStrike" kern="1200" cap="none" spc="204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has</a:t>
            </a:r>
            <a:r>
              <a:rPr kumimoji="0" sz="2800" b="0" i="0" u="none" strike="noStrike" kern="1200" cap="none" spc="2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been</a:t>
            </a:r>
            <a:r>
              <a:rPr kumimoji="0" sz="2800" b="0" i="0" u="none" strike="noStrike" kern="1200" cap="none" spc="2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continued </a:t>
            </a:r>
            <a:r>
              <a:rPr kumimoji="0" sz="2800" b="0" i="0" u="none" strike="noStrike" kern="1200" cap="none" spc="-54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for</a:t>
            </a:r>
            <a:r>
              <a:rPr kumimoji="0" sz="2800" b="0" i="0" u="none" strike="noStrike" kern="1200" cap="none" spc="-1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ARM7.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4945" marR="5715" lvl="0" indent="-182880" algn="l" defTabSz="914400" rtl="0" eaLnBrk="1" fontAlgn="auto" latinLnBrk="0" hangingPunct="1">
              <a:lnSpc>
                <a:spcPts val="3020"/>
              </a:lnSpc>
              <a:spcBef>
                <a:spcPts val="1400"/>
              </a:spcBef>
              <a:spcAft>
                <a:spcPts val="0"/>
              </a:spcAft>
              <a:buClr>
                <a:srgbClr val="FFFFFF"/>
              </a:buClr>
              <a:buSzTx/>
              <a:buFont typeface="Wingdings"/>
              <a:buChar char=""/>
              <a:tabLst>
                <a:tab pos="252095" algn="l"/>
              </a:tabLst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ARM9</a:t>
            </a:r>
            <a:r>
              <a:rPr kumimoji="0" sz="2800" b="0" i="0" u="none" strike="noStrike" kern="1200" cap="none" spc="40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uses</a:t>
            </a:r>
            <a:r>
              <a:rPr kumimoji="0" sz="2800" b="0" i="0" u="none" strike="noStrike" kern="1200" cap="none" spc="409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</a:t>
            </a:r>
            <a:r>
              <a:rPr kumimoji="0" sz="2800" b="0" i="0" u="none" strike="noStrike" kern="1200" cap="none" spc="40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five-stage</a:t>
            </a:r>
            <a:r>
              <a:rPr kumimoji="0" sz="2800" b="0" i="0" u="none" strike="noStrike" kern="1200" cap="none" spc="4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pipeline</a:t>
            </a:r>
            <a:r>
              <a:rPr kumimoji="0" sz="2800" b="0" i="0" u="none" strike="noStrike" kern="1200" cap="none" spc="4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and</a:t>
            </a:r>
            <a:r>
              <a:rPr kumimoji="0" sz="2800" b="0" i="0" u="none" strike="noStrike" kern="1200" cap="none" spc="4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ARM</a:t>
            </a:r>
            <a:r>
              <a:rPr kumimoji="0" sz="2800" b="0" i="0" u="none" strike="noStrike" kern="1200" cap="none" spc="4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10</a:t>
            </a:r>
            <a:r>
              <a:rPr kumimoji="0" sz="2800" b="0" i="0" u="none" strike="noStrike" kern="1200" cap="none" spc="409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uses</a:t>
            </a:r>
            <a:r>
              <a:rPr kumimoji="0" sz="2800" b="0" i="0" u="none" strike="noStrike" kern="1200" cap="none" spc="4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</a:t>
            </a:r>
            <a:r>
              <a:rPr kumimoji="0" sz="2800" b="0" i="0" u="none" strike="noStrike" kern="1200" cap="none" spc="4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six-stage </a:t>
            </a:r>
            <a:r>
              <a:rPr kumimoji="0" sz="2800" b="0" i="0" u="none" strike="noStrike" kern="1200" cap="none" spc="-54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pipeline.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4843" y="1339088"/>
            <a:ext cx="74504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rbel"/>
                <a:cs typeface="Corbel"/>
              </a:rPr>
              <a:t>FI</a:t>
            </a:r>
            <a:r>
              <a:rPr sz="2400" spc="-10" dirty="0">
                <a:latin typeface="Corbel"/>
                <a:cs typeface="Corbel"/>
              </a:rPr>
              <a:t>G</a:t>
            </a:r>
            <a:r>
              <a:rPr sz="2400" spc="-5" dirty="0">
                <a:latin typeface="Corbel"/>
                <a:cs typeface="Corbel"/>
              </a:rPr>
              <a:t>UR</a:t>
            </a:r>
            <a:r>
              <a:rPr sz="2400" spc="5" dirty="0">
                <a:latin typeface="Corbel"/>
                <a:cs typeface="Corbel"/>
              </a:rPr>
              <a:t>E</a:t>
            </a:r>
            <a:r>
              <a:rPr sz="2400" dirty="0">
                <a:latin typeface="Corbel"/>
                <a:cs typeface="Corbel"/>
              </a:rPr>
              <a:t>S</a:t>
            </a:r>
            <a:r>
              <a:rPr sz="2400" spc="-6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SHO</a:t>
            </a:r>
            <a:r>
              <a:rPr sz="2400" dirty="0">
                <a:latin typeface="Corbel"/>
                <a:cs typeface="Corbel"/>
              </a:rPr>
              <a:t>W</a:t>
            </a:r>
            <a:r>
              <a:rPr sz="2400" spc="-14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TH</a:t>
            </a:r>
            <a:r>
              <a:rPr sz="2400" dirty="0">
                <a:latin typeface="Corbel"/>
                <a:cs typeface="Corbel"/>
              </a:rPr>
              <a:t>E</a:t>
            </a:r>
            <a:r>
              <a:rPr sz="2400" spc="-16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TH</a:t>
            </a:r>
            <a:r>
              <a:rPr sz="2400" spc="5" dirty="0">
                <a:latin typeface="Corbel"/>
                <a:cs typeface="Corbel"/>
              </a:rPr>
              <a:t>R</a:t>
            </a:r>
            <a:r>
              <a:rPr sz="2400" dirty="0">
                <a:latin typeface="Corbel"/>
                <a:cs typeface="Corbel"/>
              </a:rPr>
              <a:t>E</a:t>
            </a:r>
            <a:r>
              <a:rPr sz="2400" spc="20" dirty="0">
                <a:latin typeface="Corbel"/>
                <a:cs typeface="Corbel"/>
              </a:rPr>
              <a:t>E</a:t>
            </a:r>
            <a:r>
              <a:rPr sz="2400" spc="5" dirty="0">
                <a:latin typeface="Corbel"/>
                <a:cs typeface="Corbel"/>
              </a:rPr>
              <a:t>-</a:t>
            </a:r>
            <a:r>
              <a:rPr sz="2400" spc="-5" dirty="0">
                <a:latin typeface="Corbel"/>
                <a:cs typeface="Corbel"/>
              </a:rPr>
              <a:t>S</a:t>
            </a:r>
            <a:r>
              <a:rPr sz="2400" spc="-140" dirty="0">
                <a:latin typeface="Corbel"/>
                <a:cs typeface="Corbel"/>
              </a:rPr>
              <a:t>T</a:t>
            </a:r>
            <a:r>
              <a:rPr sz="2400" spc="-30" dirty="0">
                <a:latin typeface="Corbel"/>
                <a:cs typeface="Corbel"/>
              </a:rPr>
              <a:t>A</a:t>
            </a:r>
            <a:r>
              <a:rPr sz="2400" spc="-5" dirty="0">
                <a:latin typeface="Corbel"/>
                <a:cs typeface="Corbel"/>
              </a:rPr>
              <a:t>G</a:t>
            </a:r>
            <a:r>
              <a:rPr sz="2400" dirty="0">
                <a:latin typeface="Corbel"/>
                <a:cs typeface="Corbel"/>
              </a:rPr>
              <a:t>E</a:t>
            </a:r>
            <a:r>
              <a:rPr sz="2400" spc="1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PIPELINE</a:t>
            </a:r>
            <a:r>
              <a:rPr sz="2400" spc="-10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O</a:t>
            </a:r>
            <a:r>
              <a:rPr sz="2400" dirty="0">
                <a:latin typeface="Corbel"/>
                <a:cs typeface="Corbel"/>
              </a:rPr>
              <a:t>F</a:t>
            </a:r>
            <a:r>
              <a:rPr sz="2400" spc="-10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ARM7.</a:t>
            </a:r>
            <a:endParaRPr sz="2400">
              <a:latin typeface="Corbel"/>
              <a:cs typeface="Corbe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886710"/>
            <a:ext cx="9593580" cy="4847842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811" y="1041265"/>
            <a:ext cx="4467825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sz="3600" spc="-5" dirty="0">
                <a:solidFill>
                  <a:srgbClr val="00B0F0"/>
                </a:solidFill>
                <a:latin typeface="Corbel"/>
                <a:cs typeface="Corbel"/>
              </a:rPr>
              <a:t>ARM9 and ARM10 </a:t>
            </a:r>
            <a:endParaRPr sz="3600" spc="-5" dirty="0">
              <a:solidFill>
                <a:srgbClr val="00B0F0"/>
              </a:solidFill>
              <a:latin typeface="Corbel"/>
              <a:cs typeface="Corbel"/>
            </a:endParaRPr>
          </a:p>
        </p:txBody>
      </p:sp>
      <p:sp>
        <p:nvSpPr>
          <p:cNvPr id="4" name="object 3"/>
          <p:cNvSpPr txBox="1"/>
          <p:nvPr/>
        </p:nvSpPr>
        <p:spPr>
          <a:xfrm>
            <a:off x="180109" y="2255847"/>
            <a:ext cx="11834619" cy="3311163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607060" indent="-457200">
              <a:lnSpc>
                <a:spcPct val="150000"/>
              </a:lnSpc>
              <a:spcBef>
                <a:spcPts val="320"/>
              </a:spcBef>
              <a:buFont typeface="Wingdings" panose="05000000000000000000" pitchFamily="2" charset="2"/>
              <a:buChar char="q"/>
              <a:defRPr/>
            </a:pPr>
            <a:r>
              <a:rPr lang="en-US" sz="2800" spc="-10" dirty="0">
                <a:latin typeface="Corbel"/>
                <a:cs typeface="Corbel"/>
              </a:rPr>
              <a:t>ARM9 processor is a  5 stage (five clock cycle) ARM state pipeline is used, consisting of FETCH, DECODE, EXECUTE, MEMORY and  WRITE BACK stages.</a:t>
            </a:r>
          </a:p>
          <a:p>
            <a:pPr marL="607060" indent="-457200">
              <a:lnSpc>
                <a:spcPct val="150000"/>
              </a:lnSpc>
              <a:spcBef>
                <a:spcPts val="320"/>
              </a:spcBef>
              <a:buFont typeface="Wingdings" panose="05000000000000000000" pitchFamily="2" charset="2"/>
              <a:buChar char="q"/>
              <a:defRPr/>
            </a:pPr>
            <a:r>
              <a:rPr lang="en-US" sz="2800" spc="-10" dirty="0">
                <a:latin typeface="Corbel"/>
                <a:cs typeface="Corbel"/>
              </a:rPr>
              <a:t>ARM10 processor is a 6 stage consisting of  FETCH ,ISSUE, DECODE,EXECUTE, MEMORY ,WRITE stages. </a:t>
            </a:r>
            <a:endParaRPr sz="2800" spc="-10" dirty="0">
              <a:latin typeface="Corbel"/>
              <a:cs typeface="Corbel"/>
            </a:endParaRPr>
          </a:p>
        </p:txBody>
      </p:sp>
    </p:spTree>
    <p:extLst>
      <p:ext uri="{BB962C8B-B14F-4D97-AF65-F5344CB8AC3E}">
        <p14:creationId xmlns:p14="http://schemas.microsoft.com/office/powerpoint/2010/main" val="46236961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13926" y="2564058"/>
            <a:ext cx="5893435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fontAlgn="auto">
              <a:spcBef>
                <a:spcPts val="95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sz="3600" spc="-5" dirty="0">
                <a:solidFill>
                  <a:srgbClr val="00B0F0"/>
                </a:solidFill>
                <a:latin typeface="Corbel"/>
                <a:ea typeface="+mj-ea"/>
                <a:cs typeface="Corbel"/>
              </a:rPr>
              <a:t>4.5 ADVANCED FEATURES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811" y="1044897"/>
            <a:ext cx="2578735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defRPr/>
            </a:pPr>
            <a:r>
              <a:rPr sz="3600" spc="-5" dirty="0">
                <a:solidFill>
                  <a:srgbClr val="00B0F0"/>
                </a:solidFill>
                <a:latin typeface="Corbel"/>
                <a:cs typeface="Corbel"/>
              </a:rPr>
              <a:t>4.5.1 AMBA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3986" y="1752011"/>
            <a:ext cx="11458575" cy="4244752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94945" marR="8890" lvl="0" indent="-182880" algn="just" defTabSz="914400" rtl="0" eaLnBrk="1" fontAlgn="auto" latinLnBrk="0" hangingPunct="1">
              <a:lnSpc>
                <a:spcPts val="3020"/>
              </a:lnSpc>
              <a:spcBef>
                <a:spcPts val="480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AMBA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is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associated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with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ARM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and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it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widely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used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interconnection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standard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for</a:t>
            </a:r>
            <a:r>
              <a:rPr kumimoji="0" sz="2800" b="0" i="0" u="none" strike="noStrike" kern="1200" cap="none" spc="-7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System</a:t>
            </a:r>
            <a:r>
              <a:rPr kumimoji="0" sz="2800" b="0" i="0" u="none" strike="noStrike" kern="1200" cap="none" spc="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on</a:t>
            </a:r>
            <a:r>
              <a:rPr kumimoji="0" sz="2800" b="0" i="0" u="none" strike="noStrike" kern="1200" cap="none" spc="-10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Chip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(SoC)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design.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5580" marR="0" lvl="0" indent="-182880" algn="just" defTabSz="914400" rtl="0" eaLnBrk="1" fontAlgn="auto" latinLnBrk="0" hangingPunct="1">
              <a:lnSpc>
                <a:spcPct val="100000"/>
              </a:lnSpc>
              <a:spcBef>
                <a:spcPts val="1030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AMBA</a:t>
            </a:r>
            <a:r>
              <a:rPr kumimoji="0" sz="2800" b="0" i="0" u="none" strike="noStrike" kern="1200" cap="none" spc="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stands</a:t>
            </a:r>
            <a:r>
              <a:rPr kumimoji="0" sz="2800" b="0" i="0" u="none" strike="noStrike" kern="1200" cap="none" spc="4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for</a:t>
            </a:r>
            <a:r>
              <a:rPr kumimoji="0" sz="2800" b="0" i="0" u="none" strike="noStrike" kern="1200" cap="none" spc="-1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Advanced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Microcontroller</a:t>
            </a:r>
            <a:r>
              <a:rPr kumimoji="0" sz="2800" b="0" i="0" u="none" strike="noStrike" kern="1200" cap="none" spc="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Bus</a:t>
            </a:r>
            <a:r>
              <a:rPr kumimoji="0" sz="2800" b="0" i="0" u="none" strike="noStrike" kern="1200" cap="none" spc="-9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5" normalizeH="0" baseline="0" noProof="0" dirty="0" smtClean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Architecture</a:t>
            </a:r>
            <a:r>
              <a:rPr kumimoji="0" lang="en-US" sz="2800" b="0" i="0" u="none" strike="noStrike" kern="1200" cap="none" spc="-15" normalizeH="0" baseline="0" noProof="0" dirty="0" smtClean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4945" marR="5080" lvl="0" indent="-182880" algn="just" defTabSz="914400" rtl="0" eaLnBrk="1" fontAlgn="auto" latinLnBrk="0" hangingPunct="1">
              <a:lnSpc>
                <a:spcPts val="3020"/>
              </a:lnSpc>
              <a:spcBef>
                <a:spcPts val="1450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lang="en-US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1996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it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was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developed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as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standard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bus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to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facilitate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concept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modularity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when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adding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on-chip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functional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blocks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like</a:t>
            </a:r>
            <a:r>
              <a:rPr kumimoji="0" sz="2800" b="0" i="0" u="none" strike="noStrike" kern="1200" cap="none" spc="53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memory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and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peripherals.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4945" marR="6985" lvl="0" indent="-182880" algn="just" defTabSz="914400" rtl="0" eaLnBrk="1" fontAlgn="auto" latinLnBrk="0" hangingPunct="1">
              <a:lnSpc>
                <a:spcPts val="3020"/>
              </a:lnSpc>
              <a:spcBef>
                <a:spcPts val="1410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 AMBA specification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has become a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well-accepted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de-facto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standard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for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semiconductor</a:t>
            </a:r>
            <a:r>
              <a:rPr kumimoji="0" sz="2800" b="0" i="0" u="none" strike="noStrike" kern="1200" cap="none" spc="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industry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5580" marR="0" lvl="0" indent="-182880" algn="just" defTabSz="914400" rtl="0" eaLnBrk="1" fontAlgn="auto" latinLnBrk="0" hangingPunct="1">
              <a:lnSpc>
                <a:spcPct val="100000"/>
              </a:lnSpc>
              <a:spcBef>
                <a:spcPts val="1025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used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by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95%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</a:t>
            </a:r>
            <a:r>
              <a:rPr kumimoji="0" sz="2800" b="0" i="0" u="none" strike="noStrike" kern="1200" cap="none" spc="-1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ARM's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partners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and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number</a:t>
            </a:r>
            <a:r>
              <a:rPr kumimoji="0" sz="2800" b="0" i="0" u="none" strike="noStrike" kern="1200" cap="none" spc="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IP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providers.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19234" y="435297"/>
            <a:ext cx="4944818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5" dirty="0" smtClean="0">
                <a:solidFill>
                  <a:srgbClr val="00B0F0"/>
                </a:solidFill>
                <a:latin typeface="Corbel"/>
                <a:cs typeface="Corbel"/>
              </a:rPr>
              <a:t> AMBA</a:t>
            </a:r>
            <a:r>
              <a:rPr lang="en-US" sz="3600" spc="-5" dirty="0" smtClean="0">
                <a:solidFill>
                  <a:srgbClr val="00B0F0"/>
                </a:solidFill>
                <a:latin typeface="Corbel"/>
                <a:cs typeface="Corbel"/>
              </a:rPr>
              <a:t> </a:t>
            </a:r>
            <a:r>
              <a:rPr lang="en-US" sz="3600" spc="-5" dirty="0" err="1" smtClean="0">
                <a:solidFill>
                  <a:srgbClr val="00B0F0"/>
                </a:solidFill>
                <a:latin typeface="Corbel"/>
                <a:cs typeface="Corbel"/>
              </a:rPr>
              <a:t>Contd</a:t>
            </a:r>
            <a:r>
              <a:rPr lang="en-US" sz="3600" spc="-5" dirty="0" smtClean="0">
                <a:solidFill>
                  <a:srgbClr val="00B0F0"/>
                </a:solidFill>
                <a:latin typeface="Corbel"/>
                <a:cs typeface="Corbel"/>
              </a:rPr>
              <a:t>…</a:t>
            </a:r>
            <a:endParaRPr sz="3600" spc="-5" dirty="0">
              <a:solidFill>
                <a:srgbClr val="00B0F0"/>
              </a:solidFill>
              <a:latin typeface="Corbel"/>
              <a:cs typeface="Corbel"/>
            </a:endParaRPr>
          </a:p>
        </p:txBody>
      </p:sp>
      <p:sp>
        <p:nvSpPr>
          <p:cNvPr id="4" name="object 3"/>
          <p:cNvSpPr txBox="1"/>
          <p:nvPr/>
        </p:nvSpPr>
        <p:spPr>
          <a:xfrm>
            <a:off x="493485" y="1273495"/>
            <a:ext cx="11341133" cy="4965462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49860">
              <a:spcBef>
                <a:spcPts val="320"/>
              </a:spcBef>
              <a:defRPr/>
            </a:pPr>
            <a:r>
              <a:rPr lang="en-US" sz="2800" spc="-10" dirty="0">
                <a:latin typeface="Corbel"/>
                <a:cs typeface="Corbel"/>
              </a:rPr>
              <a:t>The</a:t>
            </a:r>
            <a:r>
              <a:rPr lang="en-US" sz="2800" spc="-125" dirty="0">
                <a:latin typeface="Corbel"/>
                <a:cs typeface="Corbel"/>
              </a:rPr>
              <a:t> </a:t>
            </a:r>
            <a:r>
              <a:rPr lang="en-US" sz="2800" spc="-10" dirty="0">
                <a:latin typeface="Corbel"/>
                <a:cs typeface="Corbel"/>
              </a:rPr>
              <a:t>AMBA</a:t>
            </a:r>
            <a:r>
              <a:rPr lang="en-US" sz="2800" spc="15" dirty="0">
                <a:latin typeface="Corbel"/>
                <a:cs typeface="Corbel"/>
              </a:rPr>
              <a:t> </a:t>
            </a:r>
            <a:r>
              <a:rPr lang="en-US" sz="2800" spc="-5" dirty="0">
                <a:latin typeface="Corbel"/>
                <a:cs typeface="Corbel"/>
              </a:rPr>
              <a:t>interface</a:t>
            </a:r>
            <a:r>
              <a:rPr lang="en-US" sz="2800" spc="20" dirty="0">
                <a:latin typeface="Corbel"/>
                <a:cs typeface="Corbel"/>
              </a:rPr>
              <a:t> </a:t>
            </a:r>
            <a:r>
              <a:rPr lang="en-US" sz="2800" spc="-5" dirty="0" smtClean="0">
                <a:latin typeface="Corbel"/>
                <a:cs typeface="Corbel"/>
              </a:rPr>
              <a:t>is a</a:t>
            </a:r>
            <a:r>
              <a:rPr lang="en-US" sz="2800" spc="10" dirty="0" smtClean="0">
                <a:latin typeface="Corbel"/>
                <a:cs typeface="Corbel"/>
              </a:rPr>
              <a:t> </a:t>
            </a:r>
            <a:r>
              <a:rPr lang="en-US" sz="2800" spc="-5" dirty="0">
                <a:latin typeface="Corbel"/>
                <a:cs typeface="Corbel"/>
              </a:rPr>
              <a:t>processor</a:t>
            </a:r>
            <a:r>
              <a:rPr lang="en-US" sz="2800" spc="25" dirty="0">
                <a:latin typeface="Corbel"/>
                <a:cs typeface="Corbel"/>
              </a:rPr>
              <a:t> </a:t>
            </a:r>
            <a:r>
              <a:rPr lang="en-US" sz="2800" spc="-5" dirty="0">
                <a:latin typeface="Corbel"/>
                <a:cs typeface="Corbel"/>
              </a:rPr>
              <a:t>and</a:t>
            </a:r>
            <a:r>
              <a:rPr lang="en-US" sz="2800" spc="10" dirty="0">
                <a:latin typeface="Corbel"/>
                <a:cs typeface="Corbel"/>
              </a:rPr>
              <a:t> </a:t>
            </a:r>
            <a:r>
              <a:rPr lang="en-US" sz="2800" spc="-10" dirty="0">
                <a:latin typeface="Corbel"/>
                <a:cs typeface="Corbel"/>
              </a:rPr>
              <a:t>technology</a:t>
            </a:r>
            <a:r>
              <a:rPr lang="en-US" sz="2800" spc="5" dirty="0">
                <a:latin typeface="Corbel"/>
                <a:cs typeface="Corbel"/>
              </a:rPr>
              <a:t> </a:t>
            </a:r>
            <a:r>
              <a:rPr lang="en-US" sz="2800" spc="-5" dirty="0">
                <a:latin typeface="Corbel"/>
                <a:cs typeface="Corbel"/>
              </a:rPr>
              <a:t>independent, and so the reusability of peripheral and system components is ensured across a wide range of applications.</a:t>
            </a:r>
          </a:p>
          <a:p>
            <a:pPr marL="12700" lvl="0">
              <a:spcBef>
                <a:spcPts val="1170"/>
              </a:spcBef>
              <a:defRPr/>
            </a:pPr>
            <a:r>
              <a:rPr lang="en-US" sz="2800" spc="-10" dirty="0">
                <a:latin typeface="Corbel"/>
                <a:cs typeface="Corbel"/>
              </a:rPr>
              <a:t>Th</a:t>
            </a:r>
            <a:r>
              <a:rPr lang="en-US" sz="2800" spc="-5" dirty="0">
                <a:latin typeface="Corbel"/>
                <a:cs typeface="Corbel"/>
              </a:rPr>
              <a:t>e</a:t>
            </a:r>
            <a:r>
              <a:rPr lang="en-US" sz="2800" spc="-140" dirty="0">
                <a:latin typeface="Corbel"/>
                <a:cs typeface="Corbel"/>
              </a:rPr>
              <a:t> </a:t>
            </a:r>
            <a:r>
              <a:rPr lang="en-US" sz="2800" spc="-10" dirty="0">
                <a:latin typeface="Corbel"/>
                <a:cs typeface="Corbel"/>
              </a:rPr>
              <a:t>A</a:t>
            </a:r>
            <a:r>
              <a:rPr lang="en-US" sz="2800" spc="-15" dirty="0">
                <a:latin typeface="Corbel"/>
                <a:cs typeface="Corbel"/>
              </a:rPr>
              <a:t>M</a:t>
            </a:r>
            <a:r>
              <a:rPr lang="en-US" sz="2800" spc="-10" dirty="0">
                <a:latin typeface="Corbel"/>
                <a:cs typeface="Corbel"/>
              </a:rPr>
              <a:t>B</a:t>
            </a:r>
            <a:r>
              <a:rPr lang="en-US" sz="2800" spc="-5" dirty="0">
                <a:latin typeface="Corbel"/>
                <a:cs typeface="Corbel"/>
              </a:rPr>
              <a:t>A</a:t>
            </a:r>
            <a:r>
              <a:rPr lang="en-US" sz="2800" spc="5" dirty="0">
                <a:latin typeface="Corbel"/>
                <a:cs typeface="Corbel"/>
              </a:rPr>
              <a:t> </a:t>
            </a:r>
            <a:r>
              <a:rPr lang="en-US" sz="2800" spc="-10" dirty="0">
                <a:latin typeface="Corbel"/>
                <a:cs typeface="Corbel"/>
              </a:rPr>
              <a:t>specifi</a:t>
            </a:r>
            <a:r>
              <a:rPr lang="en-US" sz="2800" spc="-20" dirty="0">
                <a:latin typeface="Corbel"/>
                <a:cs typeface="Corbel"/>
              </a:rPr>
              <a:t>c</a:t>
            </a:r>
            <a:r>
              <a:rPr lang="en-US" sz="2800" spc="-5" dirty="0">
                <a:latin typeface="Corbel"/>
                <a:cs typeface="Corbel"/>
              </a:rPr>
              <a:t>ation</a:t>
            </a:r>
            <a:r>
              <a:rPr lang="en-US" sz="2800" spc="20" dirty="0">
                <a:latin typeface="Corbel"/>
                <a:cs typeface="Corbel"/>
              </a:rPr>
              <a:t> </a:t>
            </a:r>
            <a:r>
              <a:rPr lang="en-US" sz="2800" spc="-5" dirty="0">
                <a:latin typeface="Corbel"/>
                <a:cs typeface="Corbel"/>
              </a:rPr>
              <a:t>defines</a:t>
            </a:r>
            <a:r>
              <a:rPr lang="en-US" sz="2800" dirty="0">
                <a:latin typeface="Corbel"/>
                <a:cs typeface="Corbel"/>
              </a:rPr>
              <a:t> </a:t>
            </a:r>
            <a:r>
              <a:rPr lang="en-US" sz="2800" spc="-10" dirty="0">
                <a:latin typeface="Corbel"/>
                <a:cs typeface="Corbel"/>
              </a:rPr>
              <a:t>thre</a:t>
            </a:r>
            <a:r>
              <a:rPr lang="en-US" sz="2800" spc="-5" dirty="0">
                <a:latin typeface="Corbel"/>
                <a:cs typeface="Corbel"/>
              </a:rPr>
              <a:t>e</a:t>
            </a:r>
            <a:r>
              <a:rPr lang="en-US" sz="2800" spc="-20" dirty="0">
                <a:latin typeface="Corbel"/>
                <a:cs typeface="Corbel"/>
              </a:rPr>
              <a:t> </a:t>
            </a:r>
            <a:r>
              <a:rPr lang="en-US" sz="2800" spc="-5" dirty="0">
                <a:latin typeface="Corbel"/>
                <a:cs typeface="Corbel"/>
              </a:rPr>
              <a:t>buses</a:t>
            </a:r>
            <a:endParaRPr lang="en-US" sz="2800" dirty="0">
              <a:latin typeface="Corbel"/>
              <a:cs typeface="Corbel"/>
            </a:endParaRPr>
          </a:p>
          <a:p>
            <a:pPr marL="1426845" lvl="0" indent="-514350">
              <a:spcBef>
                <a:spcPts val="1070"/>
              </a:spcBef>
              <a:buFontTx/>
              <a:buAutoNum type="arabicPeriod"/>
              <a:tabLst>
                <a:tab pos="1426845" algn="l"/>
                <a:tab pos="1427480" algn="l"/>
              </a:tabLst>
              <a:defRPr/>
            </a:pPr>
            <a:r>
              <a:rPr lang="en-US" sz="2800" spc="-10" dirty="0">
                <a:latin typeface="Corbel"/>
                <a:cs typeface="Corbel"/>
              </a:rPr>
              <a:t>Advanced</a:t>
            </a:r>
            <a:r>
              <a:rPr lang="en-US" sz="2800" spc="-60" dirty="0">
                <a:latin typeface="Corbel"/>
                <a:cs typeface="Corbel"/>
              </a:rPr>
              <a:t> </a:t>
            </a:r>
            <a:r>
              <a:rPr lang="en-US" sz="2800" spc="-5" dirty="0">
                <a:latin typeface="Corbel"/>
                <a:cs typeface="Corbel"/>
              </a:rPr>
              <a:t>System</a:t>
            </a:r>
            <a:r>
              <a:rPr lang="en-US" sz="2800" spc="20" dirty="0">
                <a:latin typeface="Corbel"/>
                <a:cs typeface="Corbel"/>
              </a:rPr>
              <a:t> </a:t>
            </a:r>
            <a:r>
              <a:rPr lang="en-US" sz="2800" spc="-10" dirty="0">
                <a:latin typeface="Corbel"/>
                <a:cs typeface="Corbel"/>
              </a:rPr>
              <a:t>Bus</a:t>
            </a:r>
            <a:r>
              <a:rPr lang="en-US" sz="2800" spc="15" dirty="0">
                <a:latin typeface="Corbel"/>
                <a:cs typeface="Corbel"/>
              </a:rPr>
              <a:t> </a:t>
            </a:r>
            <a:r>
              <a:rPr lang="en-US" sz="2800" spc="-5" dirty="0">
                <a:latin typeface="Corbel"/>
                <a:cs typeface="Corbel"/>
              </a:rPr>
              <a:t>(ASB)</a:t>
            </a:r>
            <a:endParaRPr lang="en-US" sz="2800" dirty="0">
              <a:latin typeface="Corbel"/>
              <a:cs typeface="Corbel"/>
            </a:endParaRPr>
          </a:p>
          <a:p>
            <a:pPr marL="1426845" lvl="0" indent="-514350">
              <a:spcBef>
                <a:spcPts val="1070"/>
              </a:spcBef>
              <a:buFontTx/>
              <a:buAutoNum type="arabicPeriod"/>
              <a:tabLst>
                <a:tab pos="1426845" algn="l"/>
                <a:tab pos="1427480" algn="l"/>
              </a:tabLst>
              <a:defRPr/>
            </a:pPr>
            <a:r>
              <a:rPr lang="en-US" sz="2800" spc="-10" dirty="0">
                <a:latin typeface="Corbel"/>
                <a:cs typeface="Corbel"/>
              </a:rPr>
              <a:t>Advanced</a:t>
            </a:r>
            <a:r>
              <a:rPr lang="en-US" sz="2800" spc="-5" dirty="0">
                <a:latin typeface="Corbel"/>
                <a:cs typeface="Corbel"/>
              </a:rPr>
              <a:t> High-performance</a:t>
            </a:r>
            <a:r>
              <a:rPr lang="en-US" sz="2800" spc="5" dirty="0">
                <a:latin typeface="Corbel"/>
                <a:cs typeface="Corbel"/>
              </a:rPr>
              <a:t> </a:t>
            </a:r>
            <a:r>
              <a:rPr lang="en-US" sz="2800" spc="-10" dirty="0">
                <a:latin typeface="Corbel"/>
                <a:cs typeface="Corbel"/>
              </a:rPr>
              <a:t>Bus</a:t>
            </a:r>
            <a:r>
              <a:rPr lang="en-US" sz="2800" spc="10" dirty="0">
                <a:latin typeface="Corbel"/>
                <a:cs typeface="Corbel"/>
              </a:rPr>
              <a:t> </a:t>
            </a:r>
            <a:r>
              <a:rPr lang="en-US" sz="2800" spc="-5" dirty="0">
                <a:latin typeface="Corbel"/>
                <a:cs typeface="Corbel"/>
              </a:rPr>
              <a:t>(AHB)</a:t>
            </a:r>
            <a:endParaRPr lang="en-US" sz="2800" dirty="0">
              <a:latin typeface="Corbel"/>
              <a:cs typeface="Corbel"/>
            </a:endParaRPr>
          </a:p>
          <a:p>
            <a:pPr marL="1426845" lvl="0" indent="-514350">
              <a:spcBef>
                <a:spcPts val="1055"/>
              </a:spcBef>
              <a:buFontTx/>
              <a:buAutoNum type="arabicPeriod"/>
              <a:tabLst>
                <a:tab pos="1426845" algn="l"/>
                <a:tab pos="1427480" algn="l"/>
              </a:tabLst>
              <a:defRPr/>
            </a:pPr>
            <a:r>
              <a:rPr lang="en-US" sz="2800" spc="-10" dirty="0">
                <a:latin typeface="Corbel"/>
                <a:cs typeface="Corbel"/>
              </a:rPr>
              <a:t>Advanced</a:t>
            </a:r>
            <a:r>
              <a:rPr lang="en-US" sz="2800" spc="-25" dirty="0">
                <a:latin typeface="Corbel"/>
                <a:cs typeface="Corbel"/>
              </a:rPr>
              <a:t> </a:t>
            </a:r>
            <a:r>
              <a:rPr lang="en-US" sz="2800" spc="-15" dirty="0">
                <a:latin typeface="Corbel"/>
                <a:cs typeface="Corbel"/>
              </a:rPr>
              <a:t>Peripheral</a:t>
            </a:r>
            <a:r>
              <a:rPr lang="en-US" sz="2800" spc="5" dirty="0">
                <a:latin typeface="Corbel"/>
                <a:cs typeface="Corbel"/>
              </a:rPr>
              <a:t> </a:t>
            </a:r>
            <a:r>
              <a:rPr lang="en-US" sz="2800" spc="-5" dirty="0">
                <a:latin typeface="Corbel"/>
                <a:cs typeface="Corbel"/>
              </a:rPr>
              <a:t>Bus</a:t>
            </a:r>
            <a:r>
              <a:rPr lang="en-US" sz="2800" dirty="0">
                <a:latin typeface="Corbel"/>
                <a:cs typeface="Corbel"/>
              </a:rPr>
              <a:t> </a:t>
            </a:r>
            <a:r>
              <a:rPr lang="en-US" sz="2800" spc="-5" dirty="0">
                <a:latin typeface="Corbel"/>
                <a:cs typeface="Corbel"/>
              </a:rPr>
              <a:t>(APB).</a:t>
            </a:r>
            <a:endParaRPr lang="en-US" sz="2800" dirty="0">
              <a:latin typeface="Corbel"/>
              <a:cs typeface="Corbel"/>
            </a:endParaRPr>
          </a:p>
          <a:p>
            <a:pPr marL="149860" marR="0" lvl="0" indent="0" algn="l" defTabSz="914400" rtl="0" eaLnBrk="1" fontAlgn="auto" latinLnBrk="0" hangingPunct="1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800" spc="-5" dirty="0">
                <a:latin typeface="Corbel"/>
                <a:cs typeface="Corbel"/>
              </a:rPr>
              <a:t>Figure shows that the high-performance modules are on the AHB/ ASB bus. There is a bridge which converts this</a:t>
            </a:r>
            <a:r>
              <a:rPr lang="en-US" sz="2800" spc="-5" dirty="0">
                <a:latin typeface="Corbel"/>
                <a:cs typeface="Corbel"/>
              </a:rPr>
              <a:t> </a:t>
            </a:r>
            <a:r>
              <a:rPr sz="2800" spc="-5" dirty="0">
                <a:latin typeface="Corbel"/>
                <a:cs typeface="Corbel"/>
              </a:rPr>
              <a:t>standard to a lower speed peripheral bus.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1421419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77060" y="1095883"/>
            <a:ext cx="66782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latin typeface="Corbel"/>
                <a:cs typeface="Corbel"/>
              </a:rPr>
              <a:t>COMPONENTS</a:t>
            </a:r>
            <a:r>
              <a:rPr sz="4000" spc="-150" dirty="0">
                <a:latin typeface="Corbel"/>
                <a:cs typeface="Corbel"/>
              </a:rPr>
              <a:t> </a:t>
            </a:r>
            <a:r>
              <a:rPr sz="4000" spc="-5" dirty="0">
                <a:latin typeface="Corbel"/>
                <a:cs typeface="Corbel"/>
              </a:rPr>
              <a:t>OF</a:t>
            </a:r>
            <a:r>
              <a:rPr sz="4000" spc="-180" dirty="0">
                <a:latin typeface="Corbel"/>
                <a:cs typeface="Corbel"/>
              </a:rPr>
              <a:t> </a:t>
            </a:r>
            <a:r>
              <a:rPr sz="4000" spc="-10" dirty="0">
                <a:latin typeface="Corbel"/>
                <a:cs typeface="Corbel"/>
              </a:rPr>
              <a:t>AMBA</a:t>
            </a:r>
            <a:r>
              <a:rPr sz="4000" spc="-20" dirty="0">
                <a:latin typeface="Corbel"/>
                <a:cs typeface="Corbel"/>
              </a:rPr>
              <a:t> </a:t>
            </a:r>
            <a:r>
              <a:rPr sz="4000" spc="-10" dirty="0">
                <a:latin typeface="Corbel"/>
                <a:cs typeface="Corbel"/>
              </a:rPr>
              <a:t>BUS</a:t>
            </a:r>
            <a:endParaRPr sz="4000">
              <a:latin typeface="Corbel"/>
              <a:cs typeface="Corbe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3776" y="1851658"/>
            <a:ext cx="10828020" cy="500329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811" y="1080973"/>
            <a:ext cx="76009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defRPr/>
            </a:pPr>
            <a:r>
              <a:rPr sz="4000" spc="-270" dirty="0">
                <a:latin typeface="Corbel"/>
                <a:cs typeface="Corbel"/>
              </a:rPr>
              <a:t> </a:t>
            </a:r>
            <a:r>
              <a:rPr sz="3600" spc="-5" dirty="0">
                <a:solidFill>
                  <a:srgbClr val="00B0F0"/>
                </a:solidFill>
                <a:latin typeface="Corbel"/>
                <a:cs typeface="Corbel"/>
              </a:rPr>
              <a:t>T</a:t>
            </a:r>
            <a:r>
              <a:rPr lang="en-US" sz="3600" spc="-5" dirty="0">
                <a:solidFill>
                  <a:srgbClr val="00B0F0"/>
                </a:solidFill>
                <a:latin typeface="Corbel"/>
                <a:cs typeface="Corbel"/>
              </a:rPr>
              <a:t>hese</a:t>
            </a:r>
            <a:r>
              <a:rPr sz="3600" spc="-5" dirty="0">
                <a:solidFill>
                  <a:srgbClr val="00B0F0"/>
                </a:solidFill>
                <a:latin typeface="Corbel"/>
                <a:cs typeface="Corbel"/>
              </a:rPr>
              <a:t> B</a:t>
            </a:r>
            <a:r>
              <a:rPr lang="en-US" sz="3600" spc="-5" dirty="0">
                <a:solidFill>
                  <a:srgbClr val="00B0F0"/>
                </a:solidFill>
                <a:latin typeface="Corbel"/>
                <a:cs typeface="Corbel"/>
              </a:rPr>
              <a:t>uses</a:t>
            </a:r>
            <a:r>
              <a:rPr sz="3600" spc="-5" dirty="0">
                <a:solidFill>
                  <a:srgbClr val="00B0F0"/>
                </a:solidFill>
                <a:latin typeface="Corbel"/>
                <a:cs typeface="Corbel"/>
              </a:rPr>
              <a:t> </a:t>
            </a:r>
            <a:r>
              <a:rPr lang="en-US" sz="3600" spc="-5" dirty="0">
                <a:solidFill>
                  <a:srgbClr val="00B0F0"/>
                </a:solidFill>
                <a:latin typeface="Corbel"/>
                <a:cs typeface="Corbel"/>
              </a:rPr>
              <a:t>are used in</a:t>
            </a:r>
            <a:endParaRPr sz="3600" spc="-5" dirty="0">
              <a:solidFill>
                <a:srgbClr val="00B0F0"/>
              </a:solidFill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6255" y="1982573"/>
            <a:ext cx="11693237" cy="4370427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spc="-5" dirty="0">
                <a:latin typeface="Corbel"/>
                <a:cs typeface="Corbel"/>
              </a:rPr>
              <a:t>The AHB is the backbone of the system and is designed specifically for high performance, high-frequency components. This includes the connections of processors, on-chip memories, and memory interfaces among others.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spc="-5" dirty="0">
              <a:latin typeface="Corbel"/>
              <a:cs typeface="Corbel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spc="-10" dirty="0">
                <a:latin typeface="Corbel"/>
                <a:cs typeface="Corbel"/>
              </a:rPr>
              <a:t>AHB </a:t>
            </a:r>
            <a:r>
              <a:rPr lang="en-US" sz="2800" spc="-5" dirty="0">
                <a:latin typeface="Corbel"/>
                <a:cs typeface="Corbel"/>
              </a:rPr>
              <a:t>is able to sustain </a:t>
            </a:r>
            <a:r>
              <a:rPr lang="en-US" sz="2800" spc="-10" dirty="0">
                <a:latin typeface="Corbel"/>
                <a:cs typeface="Corbel"/>
              </a:rPr>
              <a:t>the </a:t>
            </a:r>
            <a:r>
              <a:rPr lang="en-US" sz="2800" spc="-5" dirty="0">
                <a:latin typeface="Corbel"/>
                <a:cs typeface="Corbel"/>
              </a:rPr>
              <a:t>external memory bandwidth, on </a:t>
            </a:r>
            <a:r>
              <a:rPr lang="en-US" sz="2800" spc="-10" dirty="0">
                <a:latin typeface="Corbel"/>
                <a:cs typeface="Corbel"/>
              </a:rPr>
              <a:t>which </a:t>
            </a:r>
            <a:r>
              <a:rPr lang="en-US" sz="2800" spc="-5" dirty="0">
                <a:latin typeface="Corbel"/>
                <a:cs typeface="Corbel"/>
              </a:rPr>
              <a:t> </a:t>
            </a:r>
            <a:r>
              <a:rPr lang="en-US" sz="2800" spc="-10" dirty="0">
                <a:latin typeface="Corbel"/>
                <a:cs typeface="Corbel"/>
              </a:rPr>
              <a:t>the</a:t>
            </a:r>
            <a:r>
              <a:rPr lang="en-US" sz="2800" spc="-5" dirty="0">
                <a:latin typeface="Corbel"/>
                <a:cs typeface="Corbel"/>
              </a:rPr>
              <a:t> </a:t>
            </a:r>
            <a:r>
              <a:rPr lang="en-US" sz="2800" spc="-25" dirty="0">
                <a:latin typeface="Corbel"/>
                <a:cs typeface="Corbel"/>
              </a:rPr>
              <a:t>CPU,</a:t>
            </a:r>
            <a:r>
              <a:rPr lang="en-US" sz="2800" spc="-20" dirty="0">
                <a:latin typeface="Corbel"/>
                <a:cs typeface="Corbel"/>
              </a:rPr>
              <a:t> </a:t>
            </a:r>
            <a:r>
              <a:rPr lang="en-US" sz="2800" spc="-10" dirty="0">
                <a:latin typeface="Corbel"/>
                <a:cs typeface="Corbel"/>
              </a:rPr>
              <a:t>on-chip</a:t>
            </a:r>
            <a:r>
              <a:rPr lang="en-US" sz="2800" spc="-5" dirty="0">
                <a:latin typeface="Corbel"/>
                <a:cs typeface="Corbel"/>
              </a:rPr>
              <a:t> memory</a:t>
            </a:r>
            <a:r>
              <a:rPr lang="en-US" sz="2800" dirty="0">
                <a:latin typeface="Corbel"/>
                <a:cs typeface="Corbel"/>
              </a:rPr>
              <a:t> </a:t>
            </a:r>
            <a:r>
              <a:rPr lang="en-US" sz="2800" spc="-5" dirty="0">
                <a:latin typeface="Corbel"/>
                <a:cs typeface="Corbel"/>
              </a:rPr>
              <a:t>and</a:t>
            </a:r>
            <a:r>
              <a:rPr lang="en-US" sz="2800" dirty="0">
                <a:latin typeface="Corbel"/>
                <a:cs typeface="Corbel"/>
              </a:rPr>
              <a:t> </a:t>
            </a:r>
            <a:r>
              <a:rPr lang="en-US" sz="2800" spc="-5" dirty="0">
                <a:latin typeface="Corbel"/>
                <a:cs typeface="Corbel"/>
              </a:rPr>
              <a:t>other</a:t>
            </a:r>
            <a:r>
              <a:rPr lang="en-US" sz="2800" dirty="0">
                <a:latin typeface="Corbel"/>
                <a:cs typeface="Corbel"/>
              </a:rPr>
              <a:t> </a:t>
            </a:r>
            <a:r>
              <a:rPr lang="en-US" sz="2800" spc="-5" dirty="0">
                <a:latin typeface="Corbel"/>
                <a:cs typeface="Corbel"/>
              </a:rPr>
              <a:t>Direct</a:t>
            </a:r>
            <a:r>
              <a:rPr lang="en-US" sz="2800" dirty="0">
                <a:latin typeface="Corbel"/>
                <a:cs typeface="Corbel"/>
              </a:rPr>
              <a:t> </a:t>
            </a:r>
            <a:r>
              <a:rPr lang="en-US" sz="2800" spc="-10" dirty="0">
                <a:latin typeface="Corbel"/>
                <a:cs typeface="Corbel"/>
              </a:rPr>
              <a:t>Memory</a:t>
            </a:r>
            <a:r>
              <a:rPr lang="en-US" sz="2800" spc="540" dirty="0">
                <a:latin typeface="Corbel"/>
                <a:cs typeface="Corbel"/>
              </a:rPr>
              <a:t> </a:t>
            </a:r>
            <a:r>
              <a:rPr lang="en-US" sz="2800" spc="-15" dirty="0">
                <a:latin typeface="Corbel"/>
                <a:cs typeface="Corbel"/>
              </a:rPr>
              <a:t>Access </a:t>
            </a:r>
            <a:r>
              <a:rPr lang="en-US" sz="2800" spc="-10" dirty="0">
                <a:latin typeface="Corbel"/>
                <a:cs typeface="Corbel"/>
              </a:rPr>
              <a:t> </a:t>
            </a:r>
            <a:r>
              <a:rPr lang="en-US" sz="2800" spc="-5" dirty="0">
                <a:latin typeface="Corbel"/>
                <a:cs typeface="Corbel"/>
              </a:rPr>
              <a:t>(DMA)</a:t>
            </a:r>
            <a:r>
              <a:rPr lang="en-US" sz="2800" spc="5" dirty="0">
                <a:latin typeface="Corbel"/>
                <a:cs typeface="Corbel"/>
              </a:rPr>
              <a:t> </a:t>
            </a:r>
            <a:r>
              <a:rPr lang="en-US" sz="2800" spc="-5" dirty="0">
                <a:latin typeface="Corbel"/>
                <a:cs typeface="Corbel"/>
              </a:rPr>
              <a:t>devices reside.</a:t>
            </a:r>
            <a:r>
              <a:rPr lang="en-US" sz="2800" spc="-200" dirty="0">
                <a:latin typeface="Corbel"/>
                <a:cs typeface="Corbel"/>
              </a:rPr>
              <a:t> </a:t>
            </a:r>
            <a:r>
              <a:rPr lang="en-US" sz="2800" spc="-5" dirty="0">
                <a:latin typeface="Corbel"/>
                <a:cs typeface="Corbel"/>
              </a:rPr>
              <a:t>This</a:t>
            </a:r>
            <a:r>
              <a:rPr lang="en-US" sz="2800" spc="10" dirty="0">
                <a:latin typeface="Corbel"/>
                <a:cs typeface="Corbel"/>
              </a:rPr>
              <a:t> </a:t>
            </a:r>
            <a:r>
              <a:rPr lang="en-US" sz="2800" spc="-5" dirty="0">
                <a:latin typeface="Corbel"/>
                <a:cs typeface="Corbel"/>
              </a:rPr>
              <a:t>part</a:t>
            </a:r>
            <a:r>
              <a:rPr lang="en-US" sz="2800" spc="10" dirty="0">
                <a:latin typeface="Corbel"/>
                <a:cs typeface="Corbel"/>
              </a:rPr>
              <a:t> </a:t>
            </a:r>
            <a:r>
              <a:rPr lang="en-US" sz="2800" spc="-5" dirty="0">
                <a:latin typeface="Corbel"/>
                <a:cs typeface="Corbel"/>
              </a:rPr>
              <a:t>has</a:t>
            </a:r>
            <a:r>
              <a:rPr lang="en-US" sz="2800" spc="15" dirty="0">
                <a:latin typeface="Corbel"/>
                <a:cs typeface="Corbel"/>
              </a:rPr>
              <a:t> </a:t>
            </a:r>
            <a:r>
              <a:rPr lang="en-US" sz="2800" spc="-5" dirty="0">
                <a:latin typeface="Corbel"/>
                <a:cs typeface="Corbel"/>
              </a:rPr>
              <a:t>to be</a:t>
            </a:r>
            <a:r>
              <a:rPr lang="en-US" sz="2800" dirty="0">
                <a:latin typeface="Corbel"/>
                <a:cs typeface="Corbel"/>
              </a:rPr>
              <a:t> </a:t>
            </a:r>
            <a:r>
              <a:rPr lang="en-US" sz="2800" spc="-5" dirty="0">
                <a:latin typeface="Corbel"/>
                <a:cs typeface="Corbel"/>
              </a:rPr>
              <a:t>a</a:t>
            </a:r>
            <a:r>
              <a:rPr lang="en-US" sz="2800" spc="5" dirty="0">
                <a:latin typeface="Corbel"/>
                <a:cs typeface="Corbel"/>
              </a:rPr>
              <a:t> </a:t>
            </a:r>
            <a:r>
              <a:rPr lang="en-US" sz="2800" spc="-10" dirty="0">
                <a:latin typeface="Corbel"/>
                <a:cs typeface="Corbel"/>
              </a:rPr>
              <a:t>high-speed</a:t>
            </a:r>
            <a:r>
              <a:rPr lang="en-US" sz="2800" spc="5" dirty="0">
                <a:latin typeface="Corbel"/>
                <a:cs typeface="Corbel"/>
              </a:rPr>
              <a:t> </a:t>
            </a:r>
            <a:r>
              <a:rPr lang="en-US" sz="2800" spc="-5" dirty="0">
                <a:latin typeface="Corbel"/>
                <a:cs typeface="Corbel"/>
              </a:rPr>
              <a:t>bus.</a:t>
            </a:r>
            <a:endParaRPr lang="en-US" sz="2800" dirty="0">
              <a:latin typeface="Corbel"/>
              <a:cs typeface="Corbel"/>
            </a:endParaRPr>
          </a:p>
          <a:p>
            <a:endParaRPr lang="en-US" sz="2800" spc="-5" dirty="0">
              <a:latin typeface="Corbel"/>
              <a:cs typeface="Corbel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spc="-5" dirty="0">
                <a:latin typeface="Corbel"/>
                <a:cs typeface="Corbel"/>
              </a:rPr>
              <a:t>The ASB is an alternative to the AHB where some high-performance features are not needed. 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811" y="1080973"/>
            <a:ext cx="76009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spc="-270" dirty="0" err="1" smtClean="0">
                <a:latin typeface="Corbel"/>
                <a:cs typeface="Corbel"/>
              </a:rPr>
              <a:t>Contd</a:t>
            </a:r>
            <a:r>
              <a:rPr lang="en-US" sz="4000" spc="-270" dirty="0" smtClean="0">
                <a:latin typeface="Corbel"/>
                <a:cs typeface="Corbel"/>
              </a:rPr>
              <a:t>…</a:t>
            </a:r>
            <a:endParaRPr sz="4000" dirty="0"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6474" y="2315082"/>
            <a:ext cx="10776504" cy="3113673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469900" marR="6350" lvl="0" indent="-457200" algn="just">
              <a:lnSpc>
                <a:spcPts val="3020"/>
              </a:lnSpc>
              <a:spcBef>
                <a:spcPts val="1415"/>
              </a:spcBef>
              <a:buFont typeface="Arial" panose="020B0604020202020204" pitchFamily="34" charset="0"/>
              <a:buChar char="•"/>
              <a:tabLst>
                <a:tab pos="469900" algn="l"/>
              </a:tabLst>
              <a:defRPr/>
            </a:pPr>
            <a:r>
              <a:rPr lang="en-US" sz="2800" spc="-5" dirty="0">
                <a:latin typeface="Corbel"/>
                <a:cs typeface="Corbel"/>
              </a:rPr>
              <a:t>The APB is a simplified interface designed for low bandwidth peripherals that do not require the high performance of the AHB or the ASB.</a:t>
            </a:r>
          </a:p>
          <a:p>
            <a:pPr marL="469900" marR="6350" lvl="0" indent="-457200" algn="just">
              <a:lnSpc>
                <a:spcPts val="3020"/>
              </a:lnSpc>
              <a:spcBef>
                <a:spcPts val="1415"/>
              </a:spcBef>
              <a:buFont typeface="Arial" panose="020B0604020202020204" pitchFamily="34" charset="0"/>
              <a:buChar char="•"/>
              <a:tabLst>
                <a:tab pos="469900" algn="l"/>
              </a:tabLst>
              <a:defRPr/>
            </a:pPr>
            <a:r>
              <a:rPr lang="en-US" sz="2800" spc="-5" dirty="0">
                <a:latin typeface="Corbel"/>
                <a:cs typeface="Corbel"/>
              </a:rPr>
              <a:t> APB</a:t>
            </a:r>
            <a:r>
              <a:rPr lang="en-US" sz="2800" spc="-10" dirty="0">
                <a:latin typeface="Corbel"/>
                <a:cs typeface="Corbel"/>
              </a:rPr>
              <a:t> </a:t>
            </a:r>
            <a:r>
              <a:rPr lang="en-US" sz="2800" spc="-5" dirty="0">
                <a:latin typeface="Corbel"/>
                <a:cs typeface="Corbel"/>
              </a:rPr>
              <a:t>is </a:t>
            </a:r>
            <a:r>
              <a:rPr lang="en-US" sz="2800" spc="-10" dirty="0">
                <a:latin typeface="Corbel"/>
                <a:cs typeface="Corbel"/>
              </a:rPr>
              <a:t>the </a:t>
            </a:r>
            <a:r>
              <a:rPr lang="en-US" sz="2800" dirty="0">
                <a:latin typeface="Corbel"/>
                <a:cs typeface="Corbel"/>
              </a:rPr>
              <a:t>part </a:t>
            </a:r>
            <a:r>
              <a:rPr lang="en-US" sz="2800" spc="-5" dirty="0">
                <a:latin typeface="Corbel"/>
                <a:cs typeface="Corbel"/>
              </a:rPr>
              <a:t>which is used by </a:t>
            </a:r>
            <a:r>
              <a:rPr lang="en-US" sz="2800" spc="-10" dirty="0">
                <a:latin typeface="Corbel"/>
                <a:cs typeface="Corbel"/>
              </a:rPr>
              <a:t>the on-chip </a:t>
            </a:r>
            <a:r>
              <a:rPr lang="en-US" sz="2800" spc="-5" dirty="0">
                <a:latin typeface="Corbel"/>
                <a:cs typeface="Corbel"/>
              </a:rPr>
              <a:t>peripherals and </a:t>
            </a:r>
            <a:r>
              <a:rPr lang="en-US" sz="2800" dirty="0">
                <a:latin typeface="Corbel"/>
                <a:cs typeface="Corbel"/>
              </a:rPr>
              <a:t> </a:t>
            </a:r>
            <a:r>
              <a:rPr lang="en-US" sz="2800" spc="-10" dirty="0">
                <a:latin typeface="Corbel"/>
                <a:cs typeface="Corbel"/>
              </a:rPr>
              <a:t>operates</a:t>
            </a:r>
            <a:r>
              <a:rPr lang="en-US" sz="2800" spc="15" dirty="0">
                <a:latin typeface="Corbel"/>
                <a:cs typeface="Corbel"/>
              </a:rPr>
              <a:t> </a:t>
            </a:r>
            <a:r>
              <a:rPr lang="en-US" sz="2800" spc="-5" dirty="0">
                <a:latin typeface="Corbel"/>
                <a:cs typeface="Corbel"/>
              </a:rPr>
              <a:t>at</a:t>
            </a:r>
            <a:r>
              <a:rPr lang="en-US" sz="2800" spc="15" dirty="0">
                <a:latin typeface="Corbel"/>
                <a:cs typeface="Corbel"/>
              </a:rPr>
              <a:t> </a:t>
            </a:r>
            <a:r>
              <a:rPr lang="en-US" sz="2800" spc="-5" dirty="0">
                <a:latin typeface="Corbel"/>
                <a:cs typeface="Corbel"/>
              </a:rPr>
              <a:t>a</a:t>
            </a:r>
            <a:r>
              <a:rPr lang="en-US" sz="2800" dirty="0">
                <a:latin typeface="Corbel"/>
                <a:cs typeface="Corbel"/>
              </a:rPr>
              <a:t> </a:t>
            </a:r>
            <a:r>
              <a:rPr lang="en-US" sz="2800" spc="-5" dirty="0">
                <a:latin typeface="Corbel"/>
                <a:cs typeface="Corbel"/>
              </a:rPr>
              <a:t>lower</a:t>
            </a:r>
            <a:r>
              <a:rPr lang="en-US" sz="2800" spc="-10" dirty="0">
                <a:latin typeface="Corbel"/>
                <a:cs typeface="Corbel"/>
              </a:rPr>
              <a:t> </a:t>
            </a:r>
            <a:r>
              <a:rPr lang="en-US" sz="2800" spc="-5" dirty="0">
                <a:latin typeface="Corbel"/>
                <a:cs typeface="Corbel"/>
              </a:rPr>
              <a:t>speed.</a:t>
            </a:r>
            <a:endParaRPr lang="en-US" sz="2800" dirty="0">
              <a:latin typeface="Corbel"/>
              <a:cs typeface="Corbel"/>
            </a:endParaRPr>
          </a:p>
          <a:p>
            <a:pPr marL="469900" marR="6350" indent="-457200" algn="just">
              <a:lnSpc>
                <a:spcPts val="3020"/>
              </a:lnSpc>
              <a:spcBef>
                <a:spcPts val="1415"/>
              </a:spcBef>
              <a:buFont typeface="Arial" panose="020B0604020202020204" pitchFamily="34" charset="0"/>
              <a:buChar char="•"/>
              <a:tabLst>
                <a:tab pos="469900" algn="l"/>
              </a:tabLst>
              <a:defRPr/>
            </a:pPr>
            <a:r>
              <a:rPr lang="en-US" sz="2800" spc="-5" dirty="0">
                <a:latin typeface="Corbel"/>
                <a:cs typeface="Corbel"/>
              </a:rPr>
              <a:t>These include components like a UART, low-frequency GPIO, and timers.</a:t>
            </a:r>
          </a:p>
        </p:txBody>
      </p:sp>
    </p:spTree>
    <p:extLst>
      <p:ext uri="{BB962C8B-B14F-4D97-AF65-F5344CB8AC3E}">
        <p14:creationId xmlns:p14="http://schemas.microsoft.com/office/powerpoint/2010/main" val="278003289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7600" y="1843557"/>
            <a:ext cx="10800715" cy="3429785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195580" marR="0" lvl="0" indent="-182880" algn="just" defTabSz="914400" rtl="0" eaLnBrk="1" fontAlgn="auto" latinLnBrk="0" hangingPunct="1">
              <a:lnSpc>
                <a:spcPct val="100000"/>
              </a:lnSpc>
              <a:spcBef>
                <a:spcPts val="1165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2003,</a:t>
            </a:r>
            <a:r>
              <a:rPr kumimoji="0" sz="2800" b="0" i="0" u="none" strike="noStrike" kern="1200" cap="none" spc="-10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ARM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introduced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3rd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generation,</a:t>
            </a:r>
            <a:r>
              <a:rPr kumimoji="0" sz="2800" b="0" i="0" u="none" strike="noStrike" kern="1200" cap="none" spc="-1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AMBA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3,</a:t>
            </a:r>
          </a:p>
          <a:p>
            <a:pPr marL="194945" marR="5080" lvl="0" indent="-182880" algn="just">
              <a:lnSpc>
                <a:spcPts val="3020"/>
              </a:lnSpc>
              <a:spcBef>
                <a:spcPts val="1455"/>
              </a:spcBef>
              <a:buClr>
                <a:srgbClr val="FFFFFF"/>
              </a:buClr>
              <a:buFont typeface="Wingdings"/>
              <a:buChar char=""/>
              <a:tabLst>
                <a:tab pos="252095" algn="l"/>
              </a:tabLst>
              <a:defRPr/>
            </a:pPr>
            <a:r>
              <a:rPr lang="en-US" sz="2800" spc="-10" dirty="0">
                <a:latin typeface="Corbel"/>
                <a:cs typeface="Corbel"/>
              </a:rPr>
              <a:t>AMBA revision 3.0 introduced the</a:t>
            </a:r>
            <a:r>
              <a:rPr lang="en-US" dirty="0">
                <a:latin typeface="Calibri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AXI</a:t>
            </a:r>
            <a:r>
              <a:rPr kumimoji="0" lang="en-US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(</a:t>
            </a:r>
            <a:r>
              <a:rPr lang="en-IN" sz="2800" spc="-10" dirty="0">
                <a:latin typeface="Corbel"/>
                <a:cs typeface="Corbel"/>
              </a:rPr>
              <a:t>Advanced </a:t>
            </a:r>
            <a:r>
              <a:rPr lang="en-IN" sz="2800" spc="-10" dirty="0" err="1">
                <a:latin typeface="Corbel"/>
                <a:cs typeface="Corbel"/>
              </a:rPr>
              <a:t>eXtensible</a:t>
            </a:r>
            <a:r>
              <a:rPr lang="en-IN" sz="2800" spc="-10" dirty="0">
                <a:latin typeface="Corbel"/>
                <a:cs typeface="Corbel"/>
              </a:rPr>
              <a:t> Interface)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lang="en-US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protocol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to reach even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higher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performance interconnect and the Advanced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4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Trace</a:t>
            </a:r>
            <a:r>
              <a:rPr kumimoji="0" sz="2800" b="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Bus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(ATB)</a:t>
            </a:r>
            <a:r>
              <a:rPr kumimoji="0" sz="2800" b="0" i="0" u="none" strike="noStrike" kern="1200" cap="none" spc="-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as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part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Core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Sight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on-chip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debug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and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trace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solution.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5580" marR="0" lvl="0" indent="-182880" algn="just" defTabSz="914400" rtl="0" eaLnBrk="1" fontAlgn="auto" latinLnBrk="0" hangingPunct="1">
              <a:lnSpc>
                <a:spcPct val="100000"/>
              </a:lnSpc>
              <a:spcBef>
                <a:spcPts val="1035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This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used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</a:t>
            </a:r>
            <a:r>
              <a:rPr kumimoji="0" sz="2800" b="0" i="0" u="none" strike="noStrike" kern="1200" cap="none" spc="-10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Cortex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processors,</a:t>
            </a:r>
            <a:r>
              <a:rPr kumimoji="0" sz="2800" b="0" i="0" u="none" strike="noStrike" kern="1200" cap="none" spc="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not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on</a:t>
            </a:r>
            <a:r>
              <a:rPr kumimoji="0" sz="2800" b="0" i="0" u="none" strike="noStrike" kern="1200" cap="none" spc="-1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ARM7.</a:t>
            </a:r>
            <a:endParaRPr kumimoji="0" lang="en-US" sz="2800" b="0" i="0" u="none" strike="noStrike" kern="1200" cap="none" spc="-1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2700" marR="0" lvl="0" algn="just" defTabSz="914400" rtl="0" eaLnBrk="1" fontAlgn="auto" latinLnBrk="0" hangingPunct="1">
              <a:lnSpc>
                <a:spcPct val="100000"/>
              </a:lnSpc>
              <a:spcBef>
                <a:spcPts val="1035"/>
              </a:spcBef>
              <a:spcAft>
                <a:spcPts val="0"/>
              </a:spcAft>
              <a:buClrTx/>
              <a:buSzTx/>
              <a:tabLst>
                <a:tab pos="195580" algn="l"/>
              </a:tabLst>
              <a:defRPr/>
            </a:pPr>
            <a:endParaRPr kumimoji="0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7100" y="885817"/>
            <a:ext cx="5005705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5" dirty="0">
                <a:solidFill>
                  <a:srgbClr val="00B0F0"/>
                </a:solidFill>
                <a:latin typeface="Corbel"/>
                <a:cs typeface="Corbel"/>
              </a:rPr>
              <a:t>4.5.2 COPROCESSORS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7100" y="1906600"/>
            <a:ext cx="11258500" cy="4046621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95580" marR="5080" lvl="0" indent="-182880" algn="l" defTabSz="914400" rtl="0" eaLnBrk="1" fontAlgn="auto" latinLnBrk="0" hangingPunct="1">
              <a:spcBef>
                <a:spcPts val="475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For</a:t>
            </a:r>
            <a:r>
              <a:rPr kumimoji="0" sz="2800" b="0" i="0" u="none" strike="noStrike" kern="1200" cap="none" spc="9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ARM7</a:t>
            </a:r>
            <a:r>
              <a:rPr kumimoji="0" sz="2800" b="0" i="0" u="none" strike="noStrike" kern="1200" cap="none" spc="1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to</a:t>
            </a:r>
            <a:r>
              <a:rPr kumimoji="0" sz="2800" b="0" i="0" u="none" strike="noStrike" kern="1200" cap="none" spc="9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ARM</a:t>
            </a:r>
            <a:r>
              <a:rPr kumimoji="0" sz="2800" b="0" i="0" u="none" strike="noStrike" kern="1200" cap="none" spc="9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11,</a:t>
            </a:r>
            <a:r>
              <a:rPr kumimoji="0" sz="2800" b="0" i="0" u="none" strike="noStrike" kern="1200" cap="none" spc="9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additional</a:t>
            </a:r>
            <a:r>
              <a:rPr kumimoji="0" sz="2800" b="0" i="0" u="none" strike="noStrike" kern="1200" cap="none" spc="10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and</a:t>
            </a:r>
            <a:r>
              <a:rPr kumimoji="0" sz="2800" b="0" i="0" u="none" strike="noStrike" kern="1200" cap="none" spc="10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sometimes</a:t>
            </a:r>
            <a:r>
              <a:rPr kumimoji="0" sz="2800" b="0" i="0" u="none" strike="noStrike" kern="1200" cap="none" spc="1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optional</a:t>
            </a:r>
            <a:r>
              <a:rPr kumimoji="0" sz="2800" b="0" i="0" u="none" strike="noStrike" kern="1200" cap="none" spc="9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functions</a:t>
            </a:r>
            <a:r>
              <a:rPr kumimoji="0" sz="2800" b="0" i="0" u="none" strike="noStrike" kern="1200" cap="none" spc="9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were </a:t>
            </a:r>
            <a:r>
              <a:rPr kumimoji="0" sz="2800" b="0" i="0" u="none" strike="noStrike" kern="1200" cap="none" spc="-54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obtained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by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concept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coprocessors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5580" marR="5080" lvl="0" indent="-182880" algn="l" defTabSz="914400" rtl="0" eaLnBrk="1" fontAlgn="auto" latinLnBrk="0" hangingPunct="1">
              <a:spcBef>
                <a:spcPts val="1400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  <a:tab pos="612775" algn="l"/>
                <a:tab pos="2573020" algn="l"/>
                <a:tab pos="2993390" algn="l"/>
                <a:tab pos="3548379" algn="l"/>
                <a:tab pos="5217160" algn="l"/>
                <a:tab pos="6889750" algn="l"/>
                <a:tab pos="7872730" algn="l"/>
                <a:tab pos="8933180" algn="l"/>
                <a:tab pos="9631680" algn="l"/>
                <a:tab pos="1017397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	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coprocess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	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	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	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additi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na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l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	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funct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ona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l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	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blo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k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	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which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	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ha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	i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	o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wn  instruction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set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5580" marR="6350" lvl="0" indent="-182880" algn="l" defTabSz="914400" rtl="0" eaLnBrk="1" fontAlgn="auto" latinLnBrk="0" hangingPunct="1">
              <a:spcBef>
                <a:spcPts val="1415"/>
              </a:spcBef>
              <a:spcAft>
                <a:spcPts val="0"/>
              </a:spcAft>
              <a:buClr>
                <a:srgbClr val="FFFFFF"/>
              </a:buClr>
              <a:buSzTx/>
              <a:buFont typeface="Wingdings"/>
              <a:buChar char=""/>
              <a:tabLst>
                <a:tab pos="248920" algn="l"/>
              </a:tabLst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When</a:t>
            </a:r>
            <a:r>
              <a:rPr kumimoji="0" sz="2800" b="0" i="0" u="none" strike="noStrike" kern="1200" cap="none" spc="30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some</a:t>
            </a:r>
            <a:r>
              <a:rPr kumimoji="0" sz="2800" b="0" i="0" u="none" strike="noStrike" kern="1200" cap="none" spc="3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function</a:t>
            </a:r>
            <a:r>
              <a:rPr kumimoji="0" sz="2800" b="0" i="0" u="none" strike="noStrike" kern="1200" cap="none" spc="3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needs</a:t>
            </a:r>
            <a:r>
              <a:rPr kumimoji="0" sz="2800" b="0" i="0" u="none" strike="noStrike" kern="1200" cap="none" spc="3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to</a:t>
            </a:r>
            <a:r>
              <a:rPr kumimoji="0" sz="2800" b="0" i="0" u="none" strike="noStrike" kern="1200" cap="none" spc="3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be</a:t>
            </a:r>
            <a:r>
              <a:rPr kumimoji="0" sz="2800" b="0" i="0" u="none" strike="noStrike" kern="1200" cap="none" spc="30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done,</a:t>
            </a:r>
            <a:r>
              <a:rPr kumimoji="0" sz="2800" b="0" i="0" u="none" strike="noStrike" kern="1200" cap="none" spc="30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which</a:t>
            </a:r>
            <a:r>
              <a:rPr kumimoji="0" sz="2800" b="0" i="0" u="none" strike="noStrike" kern="1200" cap="none" spc="30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</a:t>
            </a:r>
            <a:r>
              <a:rPr kumimoji="0" sz="2800" b="0" i="0" u="none" strike="noStrike" kern="1200" cap="none" spc="30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not</a:t>
            </a:r>
            <a:r>
              <a:rPr kumimoji="0" sz="2800" b="0" i="0" u="none" strike="noStrike" kern="1200" cap="none" spc="3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supported</a:t>
            </a:r>
            <a:r>
              <a:rPr kumimoji="0" sz="2800" b="0" i="0" u="none" strike="noStrike" kern="1200" cap="none" spc="3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by</a:t>
            </a:r>
            <a:r>
              <a:rPr kumimoji="0" sz="2800" b="0" i="0" u="none" strike="noStrike" kern="1200" cap="none" spc="3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 </a:t>
            </a:r>
            <a:r>
              <a:rPr kumimoji="0" sz="2800" b="0" i="0" u="none" strike="noStrike" kern="1200" cap="none" spc="-54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general</a:t>
            </a:r>
            <a:r>
              <a:rPr kumimoji="0" lang="en-US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ARM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core,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a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coprocessor</a:t>
            </a:r>
            <a:r>
              <a:rPr kumimoji="0" sz="2800" b="0" i="0" u="none" strike="noStrike" kern="1200" cap="none" spc="3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brought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to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do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it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5580" marR="6985" lvl="0" indent="-182880" algn="l" defTabSz="914400" rtl="0" eaLnBrk="1" fontAlgn="auto" latinLnBrk="0" hangingPunct="1">
              <a:spcBef>
                <a:spcPts val="1400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  <a:tab pos="819785" algn="l"/>
                <a:tab pos="2306320" algn="l"/>
                <a:tab pos="2932430" algn="l"/>
                <a:tab pos="3796665" algn="l"/>
                <a:tab pos="4574540" algn="l"/>
                <a:tab pos="4938395" algn="l"/>
                <a:tab pos="5575300" algn="l"/>
                <a:tab pos="6857365" algn="l"/>
                <a:tab pos="7296784" algn="l"/>
                <a:tab pos="8753475" algn="l"/>
                <a:tab pos="10031095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Fo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	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exam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le,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	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	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	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cor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	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	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no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	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ca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ble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	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	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h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gh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-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end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	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floating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	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po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nt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arithmetic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processing.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2211" y="1877948"/>
            <a:ext cx="105981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55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  <a:tab pos="1334135" algn="l"/>
                <a:tab pos="2097405" algn="l"/>
                <a:tab pos="3098800" algn="l"/>
                <a:tab pos="3673475" algn="l"/>
                <a:tab pos="4618355" algn="l"/>
                <a:tab pos="6467475" algn="l"/>
                <a:tab pos="6965950" algn="l"/>
                <a:tab pos="8428990" algn="l"/>
                <a:tab pos="906272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When	the	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need	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	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such	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processing	is	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needed,	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an	arithmetic</a:t>
            </a:r>
            <a:endParaRPr kumimoji="0" sz="28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2211" y="2125009"/>
            <a:ext cx="10598785" cy="2923236"/>
          </a:xfrm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lstStyle/>
          <a:p>
            <a:pPr marL="195580" marR="0" lvl="0" indent="0" algn="l" defTabSz="914400" rtl="0" eaLnBrk="1" fontAlgn="auto" latinLnBrk="0" hangingPunct="1">
              <a:lnSpc>
                <a:spcPct val="100000"/>
              </a:lnSpc>
              <a:spcBef>
                <a:spcPts val="11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coprocessor</a:t>
            </a:r>
            <a:r>
              <a:rPr kumimoji="0" sz="2800" b="0" i="0" u="none" strike="noStrike" kern="1200" cap="none" spc="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used,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which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operates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lang="en-US" sz="2800" spc="-5" dirty="0">
                <a:latin typeface="Corbel"/>
                <a:cs typeface="Corbel"/>
              </a:rPr>
              <a:t>together at the same time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with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 main</a:t>
            </a:r>
            <a:r>
              <a:rPr kumimoji="0" sz="2800" b="0" i="0" u="none" strike="noStrike" kern="1200" cap="none" spc="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core.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5580" marR="7620" lvl="0" indent="-182880" algn="l" defTabSz="914400" rtl="0" eaLnBrk="1" fontAlgn="auto" latinLnBrk="0" hangingPunct="1">
              <a:lnSpc>
                <a:spcPts val="3020"/>
              </a:lnSpc>
              <a:spcBef>
                <a:spcPts val="1455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Similar</a:t>
            </a:r>
            <a:r>
              <a:rPr kumimoji="0" sz="2800" b="0" i="0" u="none" strike="noStrike" kern="1200" cap="none" spc="26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to</a:t>
            </a:r>
            <a:r>
              <a:rPr kumimoji="0" sz="2800" b="0" i="0" u="none" strike="noStrike" kern="1200" cap="none" spc="26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this,</a:t>
            </a:r>
            <a:r>
              <a:rPr kumimoji="0" sz="2800" b="0" i="0" u="none" strike="noStrike" kern="1200" cap="none" spc="254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there</a:t>
            </a:r>
            <a:r>
              <a:rPr kumimoji="0" sz="2800" b="0" i="0" u="none" strike="noStrike" kern="1200" cap="none" spc="27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are</a:t>
            </a:r>
            <a:r>
              <a:rPr kumimoji="0" sz="2800" b="0" i="0" u="none" strike="noStrike" kern="1200" cap="none" spc="254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coprocessors</a:t>
            </a:r>
            <a:r>
              <a:rPr kumimoji="0" sz="2800" b="0" i="0" u="none" strike="noStrike" kern="1200" cap="none" spc="28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for</a:t>
            </a:r>
            <a:r>
              <a:rPr kumimoji="0" sz="2800" b="0" i="0" u="none" strike="noStrike" kern="1200" cap="none" spc="26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2800" b="0" i="0" u="none" strike="noStrike" kern="1200" cap="none" spc="26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control</a:t>
            </a:r>
            <a:r>
              <a:rPr kumimoji="0" sz="2800" b="0" i="0" u="none" strike="noStrike" kern="1200" cap="none" spc="26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</a:t>
            </a:r>
            <a:r>
              <a:rPr kumimoji="0" sz="2800" b="0" i="0" u="none" strike="noStrike" kern="1200" cap="none" spc="26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MMU,</a:t>
            </a:r>
            <a:r>
              <a:rPr kumimoji="0" sz="2800" b="0" i="0" u="none" strike="noStrike" kern="1200" cap="none" spc="254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cache, </a:t>
            </a:r>
            <a:r>
              <a:rPr kumimoji="0" sz="2800" b="0" i="0" u="none" strike="noStrike" kern="1200" cap="none" spc="-54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DSP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etc.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5580" marR="5080" lvl="0" indent="-182880" algn="l" defTabSz="914400" rtl="0" eaLnBrk="1" fontAlgn="auto" latinLnBrk="0" hangingPunct="1">
              <a:lnSpc>
                <a:spcPts val="303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</a:t>
            </a:r>
            <a:r>
              <a:rPr kumimoji="0" sz="2800" b="0" i="0" u="none" strike="noStrike" kern="1200" cap="none" spc="30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licensee</a:t>
            </a:r>
            <a:r>
              <a:rPr kumimoji="0" sz="2800" b="0" i="0" u="none" strike="noStrike" kern="1200" cap="none" spc="30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</a:t>
            </a:r>
            <a:r>
              <a:rPr kumimoji="0" sz="2800" b="0" i="0" u="none" strike="noStrike" kern="1200" cap="none" spc="30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ARM,</a:t>
            </a:r>
            <a:r>
              <a:rPr kumimoji="0" sz="2800" b="0" i="0" u="none" strike="noStrike" kern="1200" cap="none" spc="3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when</a:t>
            </a:r>
            <a:r>
              <a:rPr kumimoji="0" sz="2800" b="0" i="0" u="none" strike="noStrike" kern="1200" cap="none" spc="30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designing</a:t>
            </a:r>
            <a:r>
              <a:rPr kumimoji="0" sz="2800" b="0" i="0" u="none" strike="noStrike" kern="1200" cap="none" spc="30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</a:t>
            </a:r>
            <a:r>
              <a:rPr kumimoji="0" sz="2800" b="0" i="0" u="none" strike="noStrike" kern="1200" cap="none" spc="30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chip,</a:t>
            </a:r>
            <a:r>
              <a:rPr kumimoji="0" sz="2800" b="0" i="0" u="none" strike="noStrike" kern="1200" cap="none" spc="30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has</a:t>
            </a:r>
            <a:r>
              <a:rPr kumimoji="0" sz="2800" b="0" i="0" u="none" strike="noStrike" kern="1200" cap="none" spc="3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2800" b="0" i="0" u="none" strike="noStrike" kern="1200" cap="none" spc="30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option</a:t>
            </a:r>
            <a:r>
              <a:rPr kumimoji="0" sz="2800" b="0" i="0" u="none" strike="noStrike" kern="1200" cap="none" spc="30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to</a:t>
            </a:r>
            <a:r>
              <a:rPr kumimoji="0" sz="2800" b="0" i="0" u="none" strike="noStrike" kern="1200" cap="none" spc="30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add</a:t>
            </a:r>
            <a:r>
              <a:rPr kumimoji="0" sz="2800" b="0" i="0" u="none" strike="noStrike" kern="1200" cap="none" spc="30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 </a:t>
            </a:r>
            <a:r>
              <a:rPr kumimoji="0" sz="2800" b="0" i="0" u="none" strike="noStrike" kern="1200" cap="none" spc="-54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coprocessor</a:t>
            </a:r>
            <a:r>
              <a:rPr kumimoji="0" sz="2800" b="0" i="0" u="none" strike="noStrike" kern="1200" cap="none" spc="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modules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that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needed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for his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design.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8545" y="952908"/>
            <a:ext cx="12053455" cy="5317481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1955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1165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Each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coprocessor</a:t>
            </a:r>
            <a:r>
              <a:rPr kumimoji="0" sz="2800" b="0" i="0" u="none" strike="noStrike" kern="1200" cap="none" spc="3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has</a:t>
            </a:r>
            <a:r>
              <a:rPr kumimoji="0" sz="2800" b="0" i="0" u="none" strike="noStrike" kern="1200" cap="none" spc="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its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own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functional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hardware</a:t>
            </a:r>
            <a:r>
              <a:rPr kumimoji="0" sz="2800" b="0" i="0" u="none" strike="noStrike" kern="1200" cap="none" spc="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with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its</a:t>
            </a:r>
            <a:r>
              <a:rPr kumimoji="0" sz="2800" b="0" i="0" u="none" strike="noStrike" kern="1200" cap="none" spc="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instructions.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55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1070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Up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to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16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coprocessors</a:t>
            </a:r>
            <a:r>
              <a:rPr kumimoji="0" sz="2800" b="0" i="0" u="none" strike="noStrike" kern="1200" cap="none" spc="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(CPO</a:t>
            </a:r>
            <a:r>
              <a:rPr kumimoji="0" sz="2800" b="0" i="0" u="none" strike="noStrike" kern="1200" cap="none" spc="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to</a:t>
            </a:r>
            <a:r>
              <a:rPr kumimoji="0" sz="2800" b="0" i="0" u="none" strike="noStrike" kern="1200" cap="none" spc="-10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C15)</a:t>
            </a:r>
            <a:r>
              <a:rPr kumimoji="0" sz="2800" b="0" i="0" u="none" strike="noStrike" kern="1200" cap="none" spc="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have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been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defined in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2800" b="0" i="0" u="none" strike="noStrike" kern="1200" cap="none" spc="-1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ARM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cores.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4945" marR="6985" lvl="0" indent="-182880" algn="l" defTabSz="914400" rtl="0" eaLnBrk="1" fontAlgn="auto" latinLnBrk="0" hangingPunct="1">
              <a:lnSpc>
                <a:spcPts val="3030"/>
              </a:lnSpc>
              <a:spcBef>
                <a:spcPts val="1445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  <a:tab pos="978535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Some</a:t>
            </a:r>
            <a:r>
              <a:rPr kumimoji="0" sz="2800" b="0" i="0" u="none" strike="noStrike" kern="1200" cap="none" spc="26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</a:t>
            </a:r>
            <a:r>
              <a:rPr kumimoji="0" sz="2800" b="0" i="0" u="none" strike="noStrike" kern="1200" cap="none" spc="27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2800" b="0" i="0" u="none" strike="noStrike" kern="1200" cap="none" spc="27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important</a:t>
            </a:r>
            <a:r>
              <a:rPr kumimoji="0" sz="2800" b="0" i="0" u="none" strike="noStrike" kern="1200" cap="none" spc="27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architectures.</a:t>
            </a:r>
            <a:r>
              <a:rPr kumimoji="0" sz="2800" b="0" i="0" u="none" strike="noStrike" kern="1200" cap="none" spc="27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All</a:t>
            </a:r>
            <a:r>
              <a:rPr kumimoji="0" sz="2800" b="0" i="0" u="none" strike="noStrike" kern="1200" cap="none" spc="27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</a:t>
            </a:r>
            <a:r>
              <a:rPr kumimoji="0" sz="2800" b="0" i="0" u="none" strike="noStrike" kern="1200" cap="none" spc="27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them</a:t>
            </a:r>
            <a:r>
              <a:rPr kumimoji="0" sz="2800" b="0" i="0" u="none" strike="noStrike" kern="1200" cap="none" spc="26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are</a:t>
            </a:r>
            <a:r>
              <a:rPr kumimoji="0" sz="2800" b="0" i="0" u="none" strike="noStrike" kern="1200" cap="none" spc="26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not</a:t>
            </a:r>
            <a:r>
              <a:rPr kumimoji="0" sz="2800" b="0" i="0" u="none" strike="noStrike" kern="1200" cap="none" spc="27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present</a:t>
            </a:r>
            <a:r>
              <a:rPr kumimoji="0" sz="2800" b="0" i="0" u="none" strike="noStrike" kern="1200" cap="none" spc="26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</a:t>
            </a:r>
            <a:r>
              <a:rPr kumimoji="0" sz="2800" b="0" i="0" u="none" strike="noStrike" kern="1200" cap="none" spc="27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all </a:t>
            </a:r>
            <a:r>
              <a:rPr kumimoji="0" sz="2800" b="0" i="0" u="none" strike="noStrike" kern="1200" cap="none" spc="-54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core	coprocessors</a:t>
            </a:r>
            <a:r>
              <a:rPr kumimoji="0" sz="2800" b="0" i="0" u="none" strike="noStrike" kern="1200" cap="none" spc="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</a:t>
            </a:r>
            <a:r>
              <a:rPr kumimoji="0" sz="2800" b="0" i="0" u="none" strike="noStrike" kern="1200" cap="none" spc="-1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ARM7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are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as</a:t>
            </a:r>
            <a:r>
              <a:rPr kumimoji="0" sz="2800" b="0" i="0" u="none" strike="noStrike" kern="1200" cap="none" spc="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follows: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426845" marR="0" lvl="1" indent="-514350" algn="l" defTabSz="914400" rtl="0" eaLnBrk="1" fontAlgn="auto" latinLnBrk="0" hangingPunct="1">
              <a:lnSpc>
                <a:spcPct val="100000"/>
              </a:lnSpc>
              <a:spcBef>
                <a:spcPts val="1005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1426845" algn="l"/>
                <a:tab pos="1427480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1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0:</a:t>
            </a:r>
            <a:r>
              <a:rPr kumimoji="0" sz="2800" b="0" i="0" u="none" strike="noStrike" kern="1200" cap="none" spc="-18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V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ector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Floatin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g</a:t>
            </a:r>
            <a:r>
              <a:rPr kumimoji="0" sz="2800" b="0" i="0" u="none" strike="noStrike" kern="1200" cap="none" spc="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oin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unit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426845" marR="0" lvl="1" indent="-514350" algn="l" defTabSz="914400" rtl="0" eaLnBrk="1" fontAlgn="auto" latinLnBrk="0" hangingPunct="1">
              <a:lnSpc>
                <a:spcPct val="100000"/>
              </a:lnSpc>
              <a:spcBef>
                <a:spcPts val="107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1426845" algn="l"/>
                <a:tab pos="1427480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CP11:</a:t>
            </a:r>
            <a:r>
              <a:rPr kumimoji="0" sz="2800" b="0" i="0" u="none" strike="noStrike" kern="1200" cap="none" spc="-5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SIMD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hardware</a:t>
            </a:r>
            <a:r>
              <a:rPr kumimoji="0" sz="2800" b="0" i="0" u="none" strike="noStrike" kern="1200" cap="none" spc="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and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software</a:t>
            </a:r>
            <a:r>
              <a:rPr kumimoji="0" sz="2800" b="0" i="0" u="none" strike="noStrike" kern="1200" cap="none" spc="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named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NEON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426845" marR="0" lvl="1" indent="-514350" algn="l" defTabSz="914400" rtl="0" eaLnBrk="1" fontAlgn="auto" latinLnBrk="0" hangingPunct="1">
              <a:lnSpc>
                <a:spcPct val="100000"/>
              </a:lnSpc>
              <a:spcBef>
                <a:spcPts val="107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1426845" algn="l"/>
                <a:tab pos="1427480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CP14: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Debug unit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426845" marR="5080" lvl="1" indent="-513715" algn="l" defTabSz="914400" rtl="0" eaLnBrk="1" fontAlgn="auto" latinLnBrk="0" hangingPunct="1">
              <a:lnSpc>
                <a:spcPts val="3020"/>
              </a:lnSpc>
              <a:spcBef>
                <a:spcPts val="144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1426845" algn="l"/>
                <a:tab pos="1427480" algn="l"/>
                <a:tab pos="2478405" algn="l"/>
                <a:tab pos="3803015" algn="l"/>
                <a:tab pos="5066665" algn="l"/>
                <a:tab pos="7054215" algn="l"/>
                <a:tab pos="7693025" algn="l"/>
                <a:tab pos="9154795" algn="l"/>
                <a:tab pos="9922510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1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5: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	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y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ste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	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co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tro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l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	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cop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ocess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	f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	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memory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	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and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	c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ache  management</a:t>
            </a:r>
            <a:r>
              <a:rPr kumimoji="0" sz="2800" b="0" i="0" u="none" strike="noStrike" kern="1200" cap="none" spc="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(including</a:t>
            </a:r>
            <a:r>
              <a:rPr kumimoji="0" sz="2800" b="0" i="0" u="none" strike="noStrike" kern="1200" cap="none" spc="-18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cs typeface="Corbel"/>
              </a:rPr>
              <a:t>TCM)</a:t>
            </a:r>
            <a:endParaRPr lang="en-US" sz="2800" noProof="0" dirty="0">
              <a:latin typeface="Corbel"/>
              <a:cs typeface="Corbel"/>
            </a:endParaRPr>
          </a:p>
          <a:p>
            <a:pPr marL="913130" marR="5080" lvl="1" algn="l" defTabSz="914400" rtl="0" eaLnBrk="1" fontAlgn="auto" latinLnBrk="0" hangingPunct="1">
              <a:lnSpc>
                <a:spcPts val="3020"/>
              </a:lnSpc>
              <a:spcBef>
                <a:spcPts val="1440"/>
              </a:spcBef>
              <a:spcAft>
                <a:spcPts val="0"/>
              </a:spcAft>
              <a:buClrTx/>
              <a:buSzTx/>
              <a:tabLst>
                <a:tab pos="1426845" algn="l"/>
                <a:tab pos="1427480" algn="l"/>
                <a:tab pos="2478405" algn="l"/>
                <a:tab pos="3803015" algn="l"/>
                <a:tab pos="5066665" algn="l"/>
                <a:tab pos="7054215" algn="l"/>
                <a:tab pos="7693025" algn="l"/>
                <a:tab pos="9154795" algn="l"/>
                <a:tab pos="9922510" algn="l"/>
              </a:tabLst>
              <a:defRPr/>
            </a:pPr>
            <a:r>
              <a:rPr lang="en-US" sz="2800" spc="-10" dirty="0">
                <a:latin typeface="Corbel"/>
                <a:cs typeface="Corbel"/>
              </a:rPr>
              <a:t>The Cortex series does not use the concept of coprocessor.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1900" y="503523"/>
            <a:ext cx="10975340" cy="1214435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3600" spc="-5" dirty="0">
                <a:solidFill>
                  <a:srgbClr val="00B0F0"/>
                </a:solidFill>
                <a:latin typeface="Corbel"/>
                <a:cs typeface="Corbel"/>
              </a:rPr>
              <a:t>4.5.3 MEMORY MANAGEMENT AND  MEMORY PROTECTION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17600" y="1843557"/>
            <a:ext cx="11089640" cy="3782695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1955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1165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Many</a:t>
            </a:r>
            <a:r>
              <a:rPr kumimoji="0" sz="2800" b="0" i="0" u="none" strike="noStrike" kern="1200" cap="none" spc="-1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ARM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cores</a:t>
            </a:r>
            <a:r>
              <a:rPr kumimoji="0" sz="2800" b="0" i="0" u="none" strike="noStrike" kern="1200" cap="none" spc="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have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only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a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memory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protection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unit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(MPU).</a:t>
            </a:r>
            <a:endParaRPr kumimoji="0" sz="28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4945" marR="5080" lvl="0" indent="-182880" algn="l" defTabSz="914400" rtl="0" eaLnBrk="1" fontAlgn="auto" latinLnBrk="0" hangingPunct="1">
              <a:lnSpc>
                <a:spcPts val="3020"/>
              </a:lnSpc>
              <a:spcBef>
                <a:spcPts val="1455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  <a:tab pos="1155065" algn="l"/>
                <a:tab pos="2752725" algn="l"/>
                <a:tab pos="3663950" algn="l"/>
                <a:tab pos="4609465" algn="l"/>
                <a:tab pos="5497830" algn="l"/>
                <a:tab pos="5855970" algn="l"/>
                <a:tab pos="7284084" algn="l"/>
                <a:tab pos="9446895" algn="l"/>
                <a:tab pos="10208895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re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	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advanced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	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	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chip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	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hav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	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	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memory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	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managem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	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unit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	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w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hich 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includes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protection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features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as</a:t>
            </a:r>
            <a:r>
              <a:rPr kumimoji="0" sz="2800" b="0" i="0" u="none" strike="noStrike" kern="1200" cap="none" spc="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well.</a:t>
            </a:r>
            <a:endParaRPr kumimoji="0" sz="28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55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1030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Here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MMU</a:t>
            </a:r>
            <a:r>
              <a:rPr kumimoji="0" sz="2800" b="0" i="0" u="none" strike="noStrike" kern="1200" cap="none" spc="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 a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typical</a:t>
            </a:r>
            <a:r>
              <a:rPr kumimoji="0" sz="2800" b="0" i="0" u="none" strike="noStrike" kern="1200" cap="none" spc="-10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ARM7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chip.</a:t>
            </a:r>
            <a:r>
              <a:rPr kumimoji="0" sz="2800" b="0" i="0" u="none" strike="noStrike" kern="1200" cap="none" spc="-1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ARM710T</a:t>
            </a:r>
            <a:r>
              <a:rPr kumimoji="0" sz="2800" b="0" i="0" u="none" strike="noStrike" kern="1200" cap="none" spc="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one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such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processor.</a:t>
            </a:r>
            <a:endParaRPr kumimoji="0" sz="28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55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1055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MMU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performs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two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primary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functions:</a:t>
            </a:r>
            <a:endParaRPr kumimoji="0" sz="28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780415" marR="0" lvl="1" indent="-253365" algn="l" defTabSz="914400" rtl="0" eaLnBrk="1" fontAlgn="auto" latinLnBrk="0" hangingPunct="1">
              <a:lnSpc>
                <a:spcPct val="100000"/>
              </a:lnSpc>
              <a:spcBef>
                <a:spcPts val="1070"/>
              </a:spcBef>
              <a:spcAft>
                <a:spcPts val="0"/>
              </a:spcAft>
              <a:buClrTx/>
              <a:buSzPct val="96428"/>
              <a:buFontTx/>
              <a:buAutoNum type="arabicPeriod"/>
              <a:tabLst>
                <a:tab pos="781050" algn="l"/>
              </a:tabLst>
              <a:defRPr/>
            </a:pP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Translation</a:t>
            </a:r>
            <a:r>
              <a:rPr kumimoji="0" sz="2800" b="0" i="0" u="none" strike="noStrike" kern="1200" cap="none" spc="3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virtual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addresses</a:t>
            </a:r>
            <a:r>
              <a:rPr kumimoji="0" sz="2800" b="0" i="0" u="none" strike="noStrike" kern="1200" cap="none" spc="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to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physical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addresses</a:t>
            </a:r>
            <a:endParaRPr kumimoji="0" sz="28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873125" marR="0" lvl="1" indent="-346075" algn="l" defTabSz="914400" rtl="0" eaLnBrk="1" fontAlgn="auto" latinLnBrk="0" hangingPunct="1">
              <a:lnSpc>
                <a:spcPct val="100000"/>
              </a:lnSpc>
              <a:spcBef>
                <a:spcPts val="1070"/>
              </a:spcBef>
              <a:spcAft>
                <a:spcPts val="0"/>
              </a:spcAft>
              <a:buClrTx/>
              <a:buSzPct val="96428"/>
              <a:buFontTx/>
              <a:buAutoNum type="arabicPeriod"/>
              <a:tabLst>
                <a:tab pos="873760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Provision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protection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to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memory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by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stipulating</a:t>
            </a:r>
            <a:r>
              <a:rPr kumimoji="0" sz="2800" b="0" i="0" u="none" strike="noStrike" kern="1200" cap="none" spc="6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'access</a:t>
            </a:r>
            <a:r>
              <a:rPr kumimoji="0" sz="2800" b="0" i="0" u="none" strike="noStrike" kern="1200" cap="none" spc="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permissions'</a:t>
            </a:r>
            <a:endParaRPr kumimoji="0" sz="28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2998" y="1611328"/>
            <a:ext cx="11721288" cy="437299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5580" marR="32384" lvl="0" indent="-195580" algn="l" defTabSz="914400" rtl="0" eaLnBrk="1" fontAlgn="auto" latinLnBrk="0" hangingPunct="1">
              <a:lnSpc>
                <a:spcPct val="1318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MMU</a:t>
            </a:r>
            <a:r>
              <a:rPr kumimoji="0" sz="2800" b="0" i="0" u="none" strike="noStrike" kern="1200" cap="none" spc="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has</a:t>
            </a:r>
            <a:r>
              <a:rPr kumimoji="0" sz="2800" b="0" i="0" u="none" strike="noStrike" kern="1200" cap="none" spc="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following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dedicated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hardware</a:t>
            </a:r>
            <a:r>
              <a:rPr kumimoji="0" sz="2800" b="0" i="0" u="none" strike="noStrike" kern="1200" cap="none" spc="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to</a:t>
            </a:r>
            <a:r>
              <a:rPr kumimoji="0" sz="2800" b="0" i="0" u="none" strike="noStrike" kern="1200" cap="none" spc="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perform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these</a:t>
            </a:r>
            <a:r>
              <a:rPr kumimoji="0" sz="2800" b="0" i="0" u="none" strike="noStrike" kern="1200" cap="none" spc="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functions: </a:t>
            </a:r>
            <a:r>
              <a:rPr kumimoji="0" sz="2800" b="0" i="0" u="none" strike="noStrike" kern="1200" cap="none" spc="-55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lang="en-US" sz="2800" b="0" i="0" u="none" strike="noStrike" kern="1200" cap="none" spc="-55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 </a:t>
            </a:r>
            <a:r>
              <a:rPr kumimoji="0" lang="en-US" sz="2800" b="0" i="0" u="none" strike="noStrike" kern="1200" cap="none" spc="-550" normalizeH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lang="en-US" sz="2800" b="0" i="0" u="none" strike="noStrike" kern="1200" cap="none" spc="-550" normalizeH="0" noProof="0" dirty="0" smtClean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 	</a:t>
            </a:r>
            <a:r>
              <a:rPr kumimoji="0" sz="2800" b="0" i="0" u="none" strike="noStrike" kern="1200" cap="none" spc="-20" normalizeH="0" baseline="0" noProof="0" dirty="0" smtClean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1.Translation</a:t>
            </a:r>
            <a:r>
              <a:rPr kumimoji="0" sz="2800" b="0" i="0" u="none" strike="noStrike" kern="1200" cap="none" spc="30" normalizeH="0" baseline="0" noProof="0" dirty="0" smtClean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Lookaside</a:t>
            </a:r>
            <a:r>
              <a:rPr kumimoji="0" sz="2800" b="0" i="0" u="none" strike="noStrike" kern="1200" cap="none" spc="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memory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(TLB)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462280" marR="6169660" lvl="0" indent="0" algn="l" defTabSz="914400" rtl="0" eaLnBrk="1" fontAlgn="auto" latinLnBrk="0" hangingPunct="1">
              <a:lnSpc>
                <a:spcPct val="1315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-15" normalizeH="0" baseline="0" noProof="0" dirty="0" smtClean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	</a:t>
            </a:r>
            <a:r>
              <a:rPr kumimoji="0" sz="2800" b="0" i="0" u="none" strike="noStrike" kern="1200" cap="none" spc="-15" normalizeH="0" baseline="0" noProof="0" dirty="0" smtClean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2.Access</a:t>
            </a:r>
            <a:r>
              <a:rPr kumimoji="0" sz="2800" b="0" i="0" u="none" strike="noStrike" kern="1200" cap="none" spc="5" normalizeH="0" baseline="0" noProof="0" dirty="0" smtClean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control Logic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	</a:t>
            </a:r>
            <a:r>
              <a:rPr kumimoji="0" sz="2800" b="0" i="0" u="none" strike="noStrike" kern="1200" cap="none" spc="-20" normalizeH="0" baseline="0" noProof="0" dirty="0" smtClean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3.Translation</a:t>
            </a:r>
            <a:r>
              <a:rPr kumimoji="0" sz="2800" b="0" i="0" u="none" strike="noStrike" kern="1200" cap="none" spc="40" normalizeH="0" baseline="0" noProof="0" dirty="0" smtClean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table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 smtClean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walking</a:t>
            </a:r>
            <a:r>
              <a:rPr kumimoji="0" lang="en-US" sz="2800" b="0" i="0" u="none" strike="noStrike" kern="1200" cap="none" spc="-5" normalizeH="0" baseline="0" noProof="0" dirty="0" smtClean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 smtClean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logic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55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1065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ARM7</a:t>
            </a:r>
            <a:r>
              <a:rPr kumimoji="0" sz="2800" b="0" i="0" u="none" strike="noStrike" kern="1200" cap="none" spc="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memory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sizes</a:t>
            </a:r>
            <a:r>
              <a:rPr kumimoji="0" sz="2800" b="0" i="0" u="none" strike="noStrike" kern="1200" cap="none" spc="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are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designated</a:t>
            </a:r>
            <a:r>
              <a:rPr kumimoji="0" sz="2800" b="0" i="0" u="none" strike="noStrike" kern="1200" cap="none" spc="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as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either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sections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or</a:t>
            </a:r>
            <a:r>
              <a:rPr kumimoji="0" lang="en-US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pages.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4945" marR="5080" lvl="0" indent="-182880" algn="l" defTabSz="914400" rtl="0" eaLnBrk="1" fontAlgn="auto" latinLnBrk="0" hangingPunct="1">
              <a:lnSpc>
                <a:spcPts val="3030"/>
              </a:lnSpc>
              <a:spcBef>
                <a:spcPts val="1445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Sections</a:t>
            </a:r>
            <a:r>
              <a:rPr kumimoji="0" sz="2800" b="0" i="0" u="none" strike="noStrike" kern="1200" cap="none" spc="29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are</a:t>
            </a:r>
            <a:r>
              <a:rPr kumimoji="0" sz="2800" b="0" i="0" u="none" strike="noStrike" kern="1200" cap="none" spc="30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1</a:t>
            </a:r>
            <a:r>
              <a:rPr kumimoji="0" sz="2800" b="0" i="0" u="none" strike="noStrike" kern="1200" cap="none" spc="30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MB</a:t>
            </a:r>
            <a:r>
              <a:rPr kumimoji="0" sz="2800" b="0" i="0" u="none" strike="noStrike" kern="1200" cap="none" spc="29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blocks</a:t>
            </a:r>
            <a:r>
              <a:rPr kumimoji="0" sz="2800" b="0" i="0" u="none" strike="noStrike" kern="1200" cap="none" spc="30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</a:t>
            </a:r>
            <a:r>
              <a:rPr kumimoji="0" sz="2800" b="0" i="0" u="none" strike="noStrike" kern="1200" cap="none" spc="30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memory.</a:t>
            </a:r>
            <a:r>
              <a:rPr kumimoji="0" sz="2800" b="0" i="0" u="none" strike="noStrike" kern="1200" cap="none" spc="30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Pages</a:t>
            </a:r>
            <a:r>
              <a:rPr kumimoji="0" sz="2800" b="0" i="0" u="none" strike="noStrike" kern="1200" cap="none" spc="30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may</a:t>
            </a:r>
            <a:r>
              <a:rPr kumimoji="0" sz="2800" b="0" i="0" u="none" strike="noStrike" kern="1200" cap="none" spc="3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be</a:t>
            </a:r>
            <a:r>
              <a:rPr kumimoji="0" sz="2800" b="0" i="0" u="none" strike="noStrike" kern="1200" cap="none" spc="30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small</a:t>
            </a:r>
            <a:r>
              <a:rPr kumimoji="0" sz="2800" b="0" i="0" u="none" strike="noStrike" kern="1200" cap="none" spc="3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</a:t>
            </a:r>
            <a:r>
              <a:rPr kumimoji="0" sz="2800" b="0" i="0" u="none" strike="noStrike" kern="1200" cap="none" spc="30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size</a:t>
            </a:r>
            <a:r>
              <a:rPr kumimoji="0" sz="2800" b="0" i="0" u="none" strike="noStrike" kern="1200" cap="none" spc="3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4</a:t>
            </a:r>
            <a:r>
              <a:rPr kumimoji="0" sz="2800" b="0" i="0" u="none" strike="noStrike" kern="1200" cap="none" spc="30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KB,</a:t>
            </a:r>
            <a:r>
              <a:rPr kumimoji="0" sz="2800" b="0" i="0" u="none" strike="noStrike" kern="1200" cap="none" spc="3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or </a:t>
            </a:r>
            <a:r>
              <a:rPr kumimoji="0" sz="2800" b="0" i="0" u="none" strike="noStrike" kern="1200" cap="none" spc="-55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large of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size</a:t>
            </a:r>
            <a:r>
              <a:rPr kumimoji="0" sz="2800" b="0" i="0" u="none" strike="noStrike" kern="1200" cap="none" spc="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64KB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2065" marR="5080" lvl="0" algn="l" defTabSz="914400" rtl="0" eaLnBrk="1" fontAlgn="auto" latinLnBrk="0" hangingPunct="1">
              <a:lnSpc>
                <a:spcPts val="3020"/>
              </a:lnSpc>
              <a:spcBef>
                <a:spcPts val="1390"/>
              </a:spcBef>
              <a:spcAft>
                <a:spcPts val="0"/>
              </a:spcAft>
              <a:buClr>
                <a:srgbClr val="FFFFFF"/>
              </a:buClr>
              <a:buSzTx/>
              <a:tabLst>
                <a:tab pos="266700" algn="l"/>
                <a:tab pos="267335" algn="l"/>
              </a:tabLst>
              <a:defRPr/>
            </a:pPr>
            <a:endParaRPr kumimoji="0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0712" y="1843557"/>
            <a:ext cx="11337925" cy="3808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4945" marR="5080" lvl="0" indent="-182880" algn="l" defTabSz="914400" rtl="0" eaLnBrk="1" fontAlgn="auto" latinLnBrk="0" hangingPunct="1">
              <a:lnSpc>
                <a:spcPts val="3020"/>
              </a:lnSpc>
              <a:spcBef>
                <a:spcPts val="1390"/>
              </a:spcBef>
              <a:spcAft>
                <a:spcPts val="0"/>
              </a:spcAft>
              <a:buClr>
                <a:srgbClr val="FFFFFF"/>
              </a:buClr>
              <a:buSzTx/>
              <a:buFont typeface="Wingdings"/>
              <a:buChar char=""/>
              <a:tabLst>
                <a:tab pos="266700" algn="l"/>
                <a:tab pos="267335" algn="l"/>
              </a:tabLst>
              <a:defRPr/>
            </a:pPr>
            <a:r>
              <a:rPr lang="en-US" sz="2800" spc="-10" dirty="0">
                <a:latin typeface="Corbel"/>
                <a:cs typeface="Corbel"/>
              </a:rPr>
              <a:t>Within the small page, there can be tiny pages (sub-pages)of size 1KB.</a:t>
            </a:r>
          </a:p>
          <a:p>
            <a:pPr marL="194945" marR="5080" lvl="0" indent="-182880" algn="l" defTabSz="914400" rtl="0" eaLnBrk="1" fontAlgn="auto" latinLnBrk="0" hangingPunct="1">
              <a:lnSpc>
                <a:spcPts val="3020"/>
              </a:lnSpc>
              <a:spcBef>
                <a:spcPts val="1390"/>
              </a:spcBef>
              <a:spcAft>
                <a:spcPts val="0"/>
              </a:spcAft>
              <a:buClr>
                <a:srgbClr val="FFFFFF"/>
              </a:buClr>
              <a:buSzTx/>
              <a:buFont typeface="Wingdings"/>
              <a:buChar char=""/>
              <a:tabLst>
                <a:tab pos="266700" algn="l"/>
                <a:tab pos="267335" algn="l"/>
              </a:tabLst>
              <a:defRPr/>
            </a:pPr>
            <a:r>
              <a:rPr lang="en-US" sz="2800" spc="-10" dirty="0">
                <a:latin typeface="Corbel"/>
                <a:cs typeface="Corbel"/>
              </a:rPr>
              <a:t>Within a large page, there can be 16KB sub-pages.</a:t>
            </a:r>
          </a:p>
          <a:p>
            <a:pPr marL="194945" marR="5080" lvl="0" indent="-182880" algn="l" defTabSz="914400" rtl="0" eaLnBrk="1" fontAlgn="auto" latinLnBrk="0" hangingPunct="1">
              <a:lnSpc>
                <a:spcPts val="3020"/>
              </a:lnSpc>
              <a:spcBef>
                <a:spcPts val="1390"/>
              </a:spcBef>
              <a:spcAft>
                <a:spcPts val="0"/>
              </a:spcAft>
              <a:buClr>
                <a:srgbClr val="FFFFFF"/>
              </a:buClr>
              <a:buSzTx/>
              <a:buFont typeface="Wingdings"/>
              <a:buChar char=""/>
              <a:tabLst>
                <a:tab pos="266700" algn="l"/>
                <a:tab pos="267335" algn="l"/>
              </a:tabLst>
              <a:defRPr/>
            </a:pPr>
            <a:r>
              <a:rPr lang="en-US" sz="2800" spc="-10" dirty="0">
                <a:latin typeface="Corbel"/>
                <a:cs typeface="Corbel"/>
              </a:rPr>
              <a:t>The sub Pages are meant to control access permission within a memory area which is smaller than the specified page.</a:t>
            </a:r>
          </a:p>
          <a:p>
            <a:pPr marL="194945" marR="5080" lvl="0" indent="-182880" algn="l" defTabSz="914400" rtl="0" eaLnBrk="1" fontAlgn="auto" latinLnBrk="0" hangingPunct="1">
              <a:lnSpc>
                <a:spcPts val="3020"/>
              </a:lnSpc>
              <a:spcBef>
                <a:spcPts val="1390"/>
              </a:spcBef>
              <a:spcAft>
                <a:spcPts val="0"/>
              </a:spcAft>
              <a:buClr>
                <a:srgbClr val="FFFFFF"/>
              </a:buClr>
              <a:buSzTx/>
              <a:buFont typeface="Wingdings"/>
              <a:buChar char=""/>
              <a:tabLst>
                <a:tab pos="266700" algn="l"/>
                <a:tab pos="267335" algn="l"/>
              </a:tabLst>
              <a:defRPr/>
            </a:pPr>
            <a:r>
              <a:rPr kumimoji="0" lang="en-US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MMU</a:t>
            </a:r>
            <a:r>
              <a:rPr kumimoji="0" sz="2800" b="0" i="0" u="none" strike="noStrike" kern="1200" cap="none" spc="2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also</a:t>
            </a:r>
            <a:r>
              <a:rPr kumimoji="0" sz="2800" b="0" i="0" u="none" strike="noStrike" kern="1200" cap="none" spc="204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supports</a:t>
            </a:r>
            <a:r>
              <a:rPr kumimoji="0" sz="2800" b="0" i="0" u="none" strike="noStrike" kern="1200" cap="none" spc="2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2800" b="0" i="0" u="none" strike="noStrike" kern="1200" cap="none" spc="2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concept</a:t>
            </a:r>
            <a:r>
              <a:rPr kumimoji="0" sz="2800" b="0" i="0" u="none" strike="noStrike" kern="1200" cap="none" spc="2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</a:t>
            </a:r>
            <a:r>
              <a:rPr kumimoji="0" sz="2800" b="0" i="0" u="none" strike="noStrike" kern="1200" cap="none" spc="2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domains</a:t>
            </a:r>
            <a:r>
              <a:rPr kumimoji="0" sz="2800" b="0" i="0" u="none" strike="noStrike" kern="1200" cap="none" spc="2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—</a:t>
            </a:r>
            <a:r>
              <a:rPr kumimoji="0" sz="2800" b="0" i="0" u="none" strike="noStrike" kern="1200" cap="none" spc="2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which</a:t>
            </a:r>
            <a:r>
              <a:rPr kumimoji="0" sz="2800" b="0" i="0" u="none" strike="noStrike" kern="1200" cap="none" spc="204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are</a:t>
            </a:r>
            <a:r>
              <a:rPr kumimoji="0" sz="2800" b="0" i="0" u="none" strike="noStrike" kern="1200" cap="none" spc="20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areas</a:t>
            </a:r>
            <a:r>
              <a:rPr kumimoji="0" sz="2800" b="0" i="0" u="none" strike="noStrike" kern="1200" cap="none" spc="2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</a:t>
            </a:r>
            <a:r>
              <a:rPr kumimoji="0" sz="2800" b="0" i="0" u="none" strike="noStrike" kern="1200" cap="none" spc="2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memory </a:t>
            </a:r>
            <a:r>
              <a:rPr kumimoji="0" sz="2800" b="0" i="0" u="none" strike="noStrike" kern="1200" cap="none" spc="-54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that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can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be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defined to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possess</a:t>
            </a:r>
            <a:r>
              <a:rPr kumimoji="0" sz="2800" b="0" i="0" u="none" strike="noStrike" kern="1200" cap="none" spc="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individual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access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rights.</a:t>
            </a:r>
            <a:endParaRPr kumimoji="0" lang="en-US" sz="2800" b="0" i="0" u="none" strike="noStrike" kern="1200" cap="none" spc="-5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4945" marR="5080" lvl="0" indent="-182880" algn="l" defTabSz="914400" rtl="0" eaLnBrk="1" fontAlgn="auto" latinLnBrk="0" hangingPunct="1">
              <a:lnSpc>
                <a:spcPts val="3020"/>
              </a:lnSpc>
              <a:spcBef>
                <a:spcPts val="1390"/>
              </a:spcBef>
              <a:spcAft>
                <a:spcPts val="0"/>
              </a:spcAft>
              <a:buClr>
                <a:srgbClr val="FFFFFF"/>
              </a:buClr>
              <a:buSzTx/>
              <a:buFont typeface="Wingdings"/>
              <a:buChar char=""/>
              <a:tabLst>
                <a:tab pos="266700" algn="l"/>
                <a:tab pos="267335" algn="l"/>
              </a:tabLst>
              <a:defRPr/>
            </a:pPr>
            <a:r>
              <a:rPr lang="en-US" sz="2800" spc="-5" dirty="0">
                <a:latin typeface="Corbel"/>
                <a:cs typeface="Corbel"/>
              </a:rPr>
              <a:t>The domain Access Control Register is used to specify access rights for up to 16 separate domains.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cs typeface="Corbel"/>
            </a:endParaRPr>
          </a:p>
        </p:txBody>
      </p:sp>
    </p:spTree>
    <p:extLst>
      <p:ext uri="{BB962C8B-B14F-4D97-AF65-F5344CB8AC3E}">
        <p14:creationId xmlns:p14="http://schemas.microsoft.com/office/powerpoint/2010/main" val="174945177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3968" y="1012309"/>
            <a:ext cx="10925810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3600" spc="-5" dirty="0">
                <a:solidFill>
                  <a:srgbClr val="00B0F0"/>
                </a:solidFill>
                <a:latin typeface="Corbel"/>
                <a:cs typeface="Corbel"/>
              </a:rPr>
              <a:t>4.5.3.1 USING THE T</a:t>
            </a:r>
            <a:r>
              <a:rPr lang="en-US" sz="3600" spc="-5" dirty="0">
                <a:solidFill>
                  <a:srgbClr val="00B0F0"/>
                </a:solidFill>
                <a:latin typeface="Corbel"/>
                <a:cs typeface="Corbel"/>
              </a:rPr>
              <a:t>ranslation </a:t>
            </a:r>
            <a:r>
              <a:rPr sz="3600" spc="-5" dirty="0">
                <a:solidFill>
                  <a:srgbClr val="00B0F0"/>
                </a:solidFill>
                <a:latin typeface="Corbel"/>
                <a:cs typeface="Corbel"/>
              </a:rPr>
              <a:t>L</a:t>
            </a:r>
            <a:r>
              <a:rPr lang="en-US" sz="3600" spc="-5" dirty="0">
                <a:solidFill>
                  <a:srgbClr val="00B0F0"/>
                </a:solidFill>
                <a:latin typeface="Corbel"/>
                <a:cs typeface="Corbel"/>
              </a:rPr>
              <a:t>ookaside </a:t>
            </a:r>
            <a:r>
              <a:rPr sz="3600" spc="-5" dirty="0">
                <a:solidFill>
                  <a:srgbClr val="00B0F0"/>
                </a:solidFill>
                <a:latin typeface="Corbel"/>
                <a:cs typeface="Corbel"/>
              </a:rPr>
              <a:t>B</a:t>
            </a:r>
            <a:r>
              <a:rPr lang="en-US" sz="3600" spc="-5" dirty="0">
                <a:solidFill>
                  <a:srgbClr val="00B0F0"/>
                </a:solidFill>
                <a:latin typeface="Corbel"/>
                <a:cs typeface="Corbel"/>
              </a:rPr>
              <a:t>uffer</a:t>
            </a:r>
            <a:endParaRPr sz="3600" spc="-5" dirty="0">
              <a:solidFill>
                <a:srgbClr val="00B0F0"/>
              </a:solidFill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3968" y="1979802"/>
            <a:ext cx="10925810" cy="423672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94945" marR="819150" lvl="0" indent="-182880" algn="l" defTabSz="914400" rtl="0" eaLnBrk="1" fontAlgn="auto" latinLnBrk="0" hangingPunct="1">
              <a:lnSpc>
                <a:spcPts val="3020"/>
              </a:lnSpc>
              <a:spcBef>
                <a:spcPts val="480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</a:t>
            </a:r>
            <a:r>
              <a:rPr kumimoji="0" sz="2800" b="0" i="0" u="none" strike="noStrike" kern="1200" cap="none" spc="-18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lang="en-US" sz="2800" b="0" i="0" u="none" strike="noStrike" kern="1200" cap="none" spc="-185" normalizeH="0" baseline="0" noProof="0" dirty="0" smtClean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 smtClean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</a:t>
            </a:r>
            <a:r>
              <a:rPr kumimoji="0" lang="en-US" sz="2800" b="0" i="0" u="none" strike="noStrike" kern="1200" cap="none" spc="-10" normalizeH="0" baseline="0" noProof="0" dirty="0" smtClean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ranslation </a:t>
            </a:r>
            <a:r>
              <a:rPr kumimoji="0" sz="2800" b="0" i="0" u="none" strike="noStrike" kern="1200" cap="none" spc="-10" normalizeH="0" baseline="0" noProof="0" dirty="0" smtClean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L</a:t>
            </a:r>
            <a:r>
              <a:rPr kumimoji="0" lang="en-US" sz="2800" b="0" i="0" u="none" strike="noStrike" kern="1200" cap="none" spc="-10" normalizeH="0" baseline="0" noProof="0" dirty="0" smtClean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ookaside </a:t>
            </a:r>
            <a:r>
              <a:rPr kumimoji="0" sz="2800" b="0" i="0" u="none" strike="noStrike" kern="1200" cap="none" spc="-10" normalizeH="0" baseline="0" noProof="0" dirty="0" smtClean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</a:t>
            </a:r>
            <a:r>
              <a:rPr kumimoji="0" lang="en-US" sz="2800" b="0" i="0" u="none" strike="noStrike" kern="1200" cap="none" spc="-10" normalizeH="0" baseline="0" noProof="0" dirty="0" smtClean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uffer</a:t>
            </a:r>
            <a:r>
              <a:rPr kumimoji="0" sz="2800" b="0" i="0" u="none" strike="noStrike" kern="1200" cap="none" spc="10" normalizeH="0" baseline="0" noProof="0" dirty="0" smtClean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stores</a:t>
            </a:r>
            <a:r>
              <a:rPr kumimoji="0" sz="2800" b="0" i="0" u="none" strike="noStrike" kern="1200" cap="none" spc="3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certain</a:t>
            </a:r>
            <a:r>
              <a:rPr kumimoji="0" sz="2800" b="0" i="0" u="none" strike="noStrike" kern="1200" cap="none" spc="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number</a:t>
            </a:r>
            <a:r>
              <a:rPr kumimoji="0" sz="2800" b="0" i="0" u="none" strike="noStrike" kern="1200" cap="none" spc="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translations</a:t>
            </a:r>
            <a:r>
              <a:rPr kumimoji="0" sz="2800" b="0" i="0" u="none" strike="noStrike" kern="1200" cap="none" spc="4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of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logical</a:t>
            </a:r>
            <a:r>
              <a:rPr kumimoji="0" sz="2800" b="0" i="0" u="none" strike="noStrike" kern="1200" cap="none" spc="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addresses</a:t>
            </a:r>
            <a:r>
              <a:rPr kumimoji="0" sz="2800" b="0" i="0" u="none" strike="noStrike" kern="1200" cap="none" spc="4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to </a:t>
            </a:r>
            <a:r>
              <a:rPr kumimoji="0" sz="2800" b="0" i="0" u="none" strike="noStrike" kern="1200" cap="none" spc="-55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physical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addresses.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55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1025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For the</a:t>
            </a:r>
            <a:r>
              <a:rPr kumimoji="0" sz="2800" b="0" i="0" u="none" strike="noStrike" kern="1200" cap="none" spc="-1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ARM7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MMU,</a:t>
            </a:r>
            <a:r>
              <a:rPr kumimoji="0" sz="2800" b="0" i="0" u="none" strike="noStrike" kern="1200" cap="none" spc="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64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translated</a:t>
            </a:r>
            <a:r>
              <a:rPr kumimoji="0" sz="2800" b="0" i="0" u="none" strike="noStrike" kern="1200" cap="none" spc="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entries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are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saved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2800" b="0" i="0" u="none" strike="noStrike" kern="1200" cap="none" spc="-18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TLB.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4945" marR="74930" lvl="0" indent="-182880" algn="l" defTabSz="914400" rtl="0" eaLnBrk="1" fontAlgn="auto" latinLnBrk="0" hangingPunct="1">
              <a:lnSpc>
                <a:spcPts val="3020"/>
              </a:lnSpc>
              <a:spcBef>
                <a:spcPts val="1455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If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required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translation</a:t>
            </a:r>
            <a:r>
              <a:rPr kumimoji="0" sz="2800" b="0" i="0" u="none" strike="noStrike" kern="1200" cap="none" spc="5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</a:t>
            </a:r>
            <a:r>
              <a:rPr kumimoji="0" sz="2800" b="0" i="0" u="none" strike="noStrike" kern="1200" cap="none" spc="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available</a:t>
            </a:r>
            <a:r>
              <a:rPr kumimoji="0" sz="2800" b="0" i="0" u="none" strike="noStrike" kern="1200" cap="none" spc="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in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2800" b="0" i="0" u="none" strike="noStrike" kern="1200" cap="none" spc="-19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TLB,</a:t>
            </a:r>
            <a:r>
              <a:rPr kumimoji="0" sz="2800" b="0" i="0" u="none" strike="noStrike" kern="1200" cap="none" spc="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'access</a:t>
            </a:r>
            <a:r>
              <a:rPr kumimoji="0" sz="2800" b="0" i="0" u="none" strike="noStrike" kern="1200" cap="none" spc="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control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logic‘ </a:t>
            </a:r>
            <a:r>
              <a:rPr kumimoji="0" sz="2800" b="0" i="0" u="none" strike="noStrike" kern="1200" cap="none" spc="-54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performs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permission</a:t>
            </a:r>
            <a:r>
              <a:rPr kumimoji="0" sz="2800" b="0" i="0" u="none" strike="noStrike" kern="1200" cap="none" spc="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che</a:t>
            </a:r>
            <a:r>
              <a:rPr kumimoji="0" lang="en-US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k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to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verify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if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access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to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be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allowed.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4945" marR="5080" lvl="0" indent="-182880" algn="l" defTabSz="914400" rtl="0" eaLnBrk="1" fontAlgn="auto" latinLnBrk="0" hangingPunct="1">
              <a:lnSpc>
                <a:spcPts val="3020"/>
              </a:lnSpc>
              <a:spcBef>
                <a:spcPts val="1400"/>
              </a:spcBef>
              <a:spcAft>
                <a:spcPts val="0"/>
              </a:spcAft>
              <a:buClr>
                <a:srgbClr val="FFFFFF"/>
              </a:buClr>
              <a:buSzTx/>
              <a:buFont typeface="Wingdings"/>
              <a:buChar char=""/>
              <a:tabLst>
                <a:tab pos="267335" algn="l"/>
                <a:tab pos="267970" algn="l"/>
              </a:tabLst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If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access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</a:t>
            </a:r>
            <a:r>
              <a:rPr kumimoji="0" sz="2800" b="0" i="0" u="none" strike="noStrike" kern="1200" cap="none" spc="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permitted,</a:t>
            </a:r>
            <a:r>
              <a:rPr kumimoji="0" sz="2800" b="0" i="0" u="none" strike="noStrike" kern="1200" cap="none" spc="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MMU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outputs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appropriate</a:t>
            </a:r>
            <a:r>
              <a:rPr kumimoji="0" sz="2800" b="0" i="0" u="none" strike="noStrike" kern="1200" cap="none" spc="2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physical</a:t>
            </a:r>
            <a:r>
              <a:rPr kumimoji="0" sz="2800" b="0" i="0" u="none" strike="noStrike" kern="1200" cap="none" spc="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address </a:t>
            </a:r>
            <a:r>
              <a:rPr kumimoji="0" sz="2800" b="0" i="0" u="none" strike="noStrike" kern="1200" cap="none" spc="-54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corresponding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to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virtual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address.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  <a:p>
            <a:pPr marL="194945" marR="481330" lvl="0" indent="-182880" algn="l" defTabSz="914400" rtl="0" eaLnBrk="1" fontAlgn="auto" latinLnBrk="0" hangingPunct="1">
              <a:lnSpc>
                <a:spcPts val="3020"/>
              </a:lnSpc>
              <a:spcBef>
                <a:spcPts val="1415"/>
              </a:spcBef>
              <a:spcAft>
                <a:spcPts val="0"/>
              </a:spcAft>
              <a:buClr>
                <a:srgbClr val="FFFFFF"/>
              </a:buClr>
              <a:buSzTx/>
              <a:buFont typeface="Wingdings"/>
              <a:buChar char=""/>
              <a:tabLst>
                <a:tab pos="267335" algn="l"/>
                <a:tab pos="267970" algn="l"/>
              </a:tabLst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If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access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is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not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permitted,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MMU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signals</a:t>
            </a:r>
            <a:r>
              <a:rPr kumimoji="0" sz="2800" b="0" i="0" u="none" strike="noStrike" kern="1200" cap="none" spc="3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2800" b="0" i="0" u="none" strike="noStrike" kern="1200" cap="none" spc="-114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CPU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to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go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to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the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abort </a:t>
            </a:r>
            <a:r>
              <a:rPr kumimoji="0" sz="2800" b="0" i="0" u="none" strike="noStrike" kern="1200" cap="none" spc="-54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mode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through the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abort</a:t>
            </a:r>
            <a:r>
              <a:rPr kumimoji="0" sz="2800" b="0" i="0" u="none" strike="noStrike" kern="1200" cap="none" spc="20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exception.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ea typeface="+mn-ea"/>
              <a:cs typeface="Corbel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3968" y="1015941"/>
            <a:ext cx="5034915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5" dirty="0">
                <a:solidFill>
                  <a:srgbClr val="00B0F0"/>
                </a:solidFill>
                <a:latin typeface="Corbel"/>
                <a:cs typeface="Corbel"/>
              </a:rPr>
              <a:t>4.5.3.1 USING THE TLB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3968" y="1896674"/>
            <a:ext cx="10925810" cy="3331681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94945" marR="819150" lvl="0" indent="-182880" algn="just" defTabSz="914400" rtl="0" eaLnBrk="1" fontAlgn="auto" latinLnBrk="0" hangingPunct="1">
              <a:lnSpc>
                <a:spcPts val="3020"/>
              </a:lnSpc>
              <a:spcBef>
                <a:spcPts val="480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lang="en-US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If the TLB does not contain the physical address corresponding</a:t>
            </a:r>
            <a:r>
              <a:rPr kumimoji="0" lang="en-US" sz="2800" b="0" i="0" u="none" strike="noStrike" kern="1200" cap="none" spc="-5" normalizeH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 to the generated virtual address, the ‘Address Translation Logic’ which is referred to as ‘translation table walk hardware’ takes over.</a:t>
            </a:r>
          </a:p>
          <a:p>
            <a:pPr marL="194945" marR="819150" lvl="0" indent="-182880" algn="just" defTabSz="914400" rtl="0" eaLnBrk="1" fontAlgn="auto" latinLnBrk="0" hangingPunct="1">
              <a:lnSpc>
                <a:spcPts val="3020"/>
              </a:lnSpc>
              <a:spcBef>
                <a:spcPts val="480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lang="en-US" sz="2800" spc="-5" baseline="0" dirty="0">
                <a:latin typeface="Corbel"/>
                <a:cs typeface="Corbel"/>
              </a:rPr>
              <a:t>This action calculates the physical address corresponding to the given logical(virtual)address.</a:t>
            </a:r>
          </a:p>
          <a:p>
            <a:pPr marL="194945" marR="819150" lvl="0" indent="-182880" algn="just" defTabSz="914400" rtl="0" eaLnBrk="1" fontAlgn="auto" latinLnBrk="0" hangingPunct="1">
              <a:lnSpc>
                <a:spcPts val="3020"/>
              </a:lnSpc>
              <a:spcBef>
                <a:spcPts val="480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lang="en-US" sz="2800" b="0" i="0" u="none" strike="noStrike" kern="1200" cap="none" spc="-5" normalizeH="0" noProof="0" dirty="0">
                <a:ln>
                  <a:noFill/>
                </a:ln>
                <a:effectLst/>
                <a:uLnTx/>
                <a:uFillTx/>
                <a:latin typeface="Corbel"/>
                <a:ea typeface="+mn-ea"/>
                <a:cs typeface="Corbel"/>
              </a:rPr>
              <a:t>Memory calculation is done after the physical address is calculated.</a:t>
            </a:r>
          </a:p>
          <a:p>
            <a:pPr marL="194945" marR="819150" lvl="0" indent="-182880" algn="just" defTabSz="914400" rtl="0" eaLnBrk="1" fontAlgn="auto" latinLnBrk="0" hangingPunct="1">
              <a:lnSpc>
                <a:spcPts val="3020"/>
              </a:lnSpc>
              <a:spcBef>
                <a:spcPts val="480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lang="en-US" sz="2800" spc="-5" baseline="0" dirty="0">
                <a:latin typeface="Corbel"/>
                <a:cs typeface="Corbel"/>
              </a:rPr>
              <a:t>The</a:t>
            </a:r>
            <a:r>
              <a:rPr lang="en-US" sz="2800" spc="-5" dirty="0">
                <a:latin typeface="Corbel"/>
                <a:cs typeface="Corbel"/>
              </a:rPr>
              <a:t> results of address calculation is also placed in the TLB, overwriting an existing value there in.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rbel"/>
              <a:cs typeface="Corbel"/>
            </a:endParaRPr>
          </a:p>
        </p:txBody>
      </p:sp>
    </p:spTree>
    <p:extLst>
      <p:ext uri="{BB962C8B-B14F-4D97-AF65-F5344CB8AC3E}">
        <p14:creationId xmlns:p14="http://schemas.microsoft.com/office/powerpoint/2010/main" val="51168559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3968" y="1012309"/>
            <a:ext cx="8765559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5" dirty="0">
                <a:solidFill>
                  <a:srgbClr val="00B0F0"/>
                </a:solidFill>
                <a:latin typeface="Corbel"/>
                <a:cs typeface="Corbel"/>
              </a:rPr>
              <a:t>4.5.3.</a:t>
            </a:r>
            <a:r>
              <a:rPr lang="en-US" sz="3600" spc="-5" dirty="0">
                <a:solidFill>
                  <a:srgbClr val="00B0F0"/>
                </a:solidFill>
                <a:latin typeface="Corbel"/>
                <a:cs typeface="Corbel"/>
              </a:rPr>
              <a:t>2</a:t>
            </a:r>
            <a:r>
              <a:rPr sz="3600" spc="-5" dirty="0">
                <a:solidFill>
                  <a:srgbClr val="00B0F0"/>
                </a:solidFill>
                <a:latin typeface="Corbel"/>
                <a:cs typeface="Corbel"/>
              </a:rPr>
              <a:t> </a:t>
            </a:r>
            <a:r>
              <a:rPr lang="en-US" sz="3600" spc="-5" dirty="0">
                <a:solidFill>
                  <a:srgbClr val="00B0F0"/>
                </a:solidFill>
                <a:latin typeface="Corbel"/>
                <a:cs typeface="Corbel"/>
              </a:rPr>
              <a:t>Address Translation Process</a:t>
            </a:r>
            <a:endParaRPr sz="3600" spc="-5" dirty="0">
              <a:solidFill>
                <a:srgbClr val="00B0F0"/>
              </a:solidFill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3968" y="1979802"/>
            <a:ext cx="10925810" cy="446276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94945" marR="819150" lvl="0" indent="-182880" algn="just" defTabSz="914400" rtl="0" eaLnBrk="1" fontAlgn="auto" latinLnBrk="0" hangingPunct="1">
              <a:lnSpc>
                <a:spcPts val="3020"/>
              </a:lnSpc>
              <a:spcBef>
                <a:spcPts val="480"/>
              </a:spcBef>
              <a:spcAft>
                <a:spcPts val="0"/>
              </a:spcAft>
              <a:buClrTx/>
              <a:buSzTx/>
              <a:buFont typeface="Wingdings"/>
              <a:buChar char=""/>
              <a:tabLst>
                <a:tab pos="195580" algn="l"/>
              </a:tabLst>
              <a:defRPr/>
            </a:pP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/>
              <a:ea typeface="+mn-ea"/>
              <a:cs typeface="Corbel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36840"/>
            <a:ext cx="11942618" cy="5051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18898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5155</TotalTime>
  <Words>3574</Words>
  <Application>Microsoft Office PowerPoint</Application>
  <PresentationFormat>Widescreen</PresentationFormat>
  <Paragraphs>388</Paragraphs>
  <Slides>83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83</vt:i4>
      </vt:variant>
    </vt:vector>
  </HeadingPairs>
  <TitlesOfParts>
    <vt:vector size="91" baseType="lpstr">
      <vt:lpstr>Arial</vt:lpstr>
      <vt:lpstr>Calibri</vt:lpstr>
      <vt:lpstr>Calibri Light</vt:lpstr>
      <vt:lpstr>Corbel</vt:lpstr>
      <vt:lpstr>Times New Roman</vt:lpstr>
      <vt:lpstr>Wingdings</vt:lpstr>
      <vt:lpstr>1_Office Theme</vt:lpstr>
      <vt:lpstr>Office Theme</vt:lpstr>
      <vt:lpstr>PowerPoint Presentation</vt:lpstr>
      <vt:lpstr>INTRODUCTION</vt:lpstr>
      <vt:lpstr> ARM AS A RISC PROCESSOR</vt:lpstr>
      <vt:lpstr>PowerPoint Presentation</vt:lpstr>
      <vt:lpstr>PowerPoint Presentation</vt:lpstr>
      <vt:lpstr>1. SIMD (Single Instruction Multiple Data) instructions</vt:lpstr>
      <vt:lpstr>PowerPoint Presentation</vt:lpstr>
      <vt:lpstr> ADDITIONAL FEATURES</vt:lpstr>
      <vt:lpstr>1.THUMB SET</vt:lpstr>
      <vt:lpstr>PowerPoint Presentation</vt:lpstr>
      <vt:lpstr> Cache </vt:lpstr>
      <vt:lpstr> Cache </vt:lpstr>
      <vt:lpstr> 2.CACHE</vt:lpstr>
      <vt:lpstr>3.LONG MULTIPLIER</vt:lpstr>
      <vt:lpstr> 4.DEBUG UNIT</vt:lpstr>
      <vt:lpstr> 5.EMBEDDED ICE MACRO CELL</vt:lpstr>
      <vt:lpstr> 6.SYNTHESIZABLE</vt:lpstr>
      <vt:lpstr> 7.JAZELLE</vt:lpstr>
      <vt:lpstr>8. ENHANCED DSP INSTRUCTIONS</vt:lpstr>
      <vt:lpstr>9. VECTOR FLOATING POINT UNIT</vt:lpstr>
      <vt:lpstr> NAMING CONVENTIONS</vt:lpstr>
      <vt:lpstr>PowerPoint Presentation</vt:lpstr>
      <vt:lpstr> ARM Instruction Set Architecture Variants</vt:lpstr>
      <vt:lpstr> 4.2 ARM7 ARCHITECTURE</vt:lpstr>
      <vt:lpstr>BLOCK DIAGRAM OF A TYPICAL ARM7  PROCESSOR</vt:lpstr>
      <vt:lpstr>PowerPoint Presentation</vt:lpstr>
      <vt:lpstr> PROGRAMMERS MODEL</vt:lpstr>
      <vt:lpstr>MODES OF OPERATIONS</vt:lpstr>
      <vt:lpstr>MODES OF OPERATIONS</vt:lpstr>
      <vt:lpstr>WHAT IS THE IMPORTANCE OF THESE MODES?</vt:lpstr>
      <vt:lpstr>PowerPoint Presentation</vt:lpstr>
      <vt:lpstr> REGISTER SET</vt:lpstr>
      <vt:lpstr>ARM  REGISTER  SET</vt:lpstr>
      <vt:lpstr>PowerPoint Presentation</vt:lpstr>
      <vt:lpstr>PowerPoint Presentation</vt:lpstr>
      <vt:lpstr>The Uses of  The Link Register:</vt:lpstr>
      <vt:lpstr>THE PROGRAM COUNTER REGISTER (PC)</vt:lpstr>
      <vt:lpstr> PROGRAM STATUS REGISTERS(PSR)</vt:lpstr>
      <vt:lpstr>PowerPoint Presentation</vt:lpstr>
      <vt:lpstr>PowerPoint Presentation</vt:lpstr>
      <vt:lpstr>PowerPoint Presentation</vt:lpstr>
      <vt:lpstr> SAVED PROGRAM STATUS REGISTERS(SPSR)</vt:lpstr>
      <vt:lpstr> THE THUMB STATE REGISTERS</vt:lpstr>
      <vt:lpstr>PowerPoint Presentation</vt:lpstr>
      <vt:lpstr>THE RELATIONSHIP BETWEEN ARM AND  THUMB STATE REGISTERS</vt:lpstr>
      <vt:lpstr>PowerPoint Presentation</vt:lpstr>
      <vt:lpstr> 4.3 INTERRUPTS AND EXCEPTIONS</vt:lpstr>
      <vt:lpstr>THE PROCESSOR HANDLES AN  EXCEPTION</vt:lpstr>
      <vt:lpstr>PowerPoint Presentation</vt:lpstr>
      <vt:lpstr>PowerPoint Presentation</vt:lpstr>
      <vt:lpstr> EXCEPTION/INTERRUPT  VECTORS</vt:lpstr>
      <vt:lpstr>PowerPoint Presentation</vt:lpstr>
      <vt:lpstr> EXCEPTION/INTERRUPT HANDLERS</vt:lpstr>
      <vt:lpstr>EXCEPTION IS  GENERATED ON AN ERROR:</vt:lpstr>
      <vt:lpstr> 1.RESET</vt:lpstr>
      <vt:lpstr>2.UNDEFINED INSTRUCTION</vt:lpstr>
      <vt:lpstr>3. SOFTWARE INTERRUPT</vt:lpstr>
      <vt:lpstr>4. ABORT</vt:lpstr>
      <vt:lpstr>5. PREFETCH ABORT</vt:lpstr>
      <vt:lpstr>PowerPoint Presentation</vt:lpstr>
      <vt:lpstr>7. IRQ</vt:lpstr>
      <vt:lpstr>8. FAST INTERRUPT REQUEST</vt:lpstr>
      <vt:lpstr>4.3.3 PRIORITY OF EXCEPTIONS</vt:lpstr>
      <vt:lpstr>PowerPoint Presentation</vt:lpstr>
      <vt:lpstr>4.4 ARM7 PIPELINE</vt:lpstr>
      <vt:lpstr>FIGURES SHOW THE THREE-STAGE PIPELINE OF ARM7.</vt:lpstr>
      <vt:lpstr>ARM9 and ARM10 </vt:lpstr>
      <vt:lpstr>PowerPoint Presentation</vt:lpstr>
      <vt:lpstr>4.5.1 AMBA</vt:lpstr>
      <vt:lpstr> AMBA Contd…</vt:lpstr>
      <vt:lpstr>COMPONENTS OF AMBA BUS</vt:lpstr>
      <vt:lpstr> These Buses are used in</vt:lpstr>
      <vt:lpstr>Contd…</vt:lpstr>
      <vt:lpstr>PowerPoint Presentation</vt:lpstr>
      <vt:lpstr>4.5.2 COPROCESSORS</vt:lpstr>
      <vt:lpstr>PowerPoint Presentation</vt:lpstr>
      <vt:lpstr>PowerPoint Presentation</vt:lpstr>
      <vt:lpstr>4.5.3 MEMORY MANAGEMENT AND  MEMORY PROTECTION</vt:lpstr>
      <vt:lpstr>PowerPoint Presentation</vt:lpstr>
      <vt:lpstr>PowerPoint Presentation</vt:lpstr>
      <vt:lpstr>4.5.3.1 USING THE Translation Lookaside Buffer</vt:lpstr>
      <vt:lpstr>4.5.3.1 USING THE TLB</vt:lpstr>
      <vt:lpstr>4.5.3.2 Address Translation Process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INTERNAL COMPONENTS OF A   SYSTEM-ON-CHIP (SOC)</dc:title>
  <dc:creator>Shekar Murthy</dc:creator>
  <cp:lastModifiedBy>Admin</cp:lastModifiedBy>
  <cp:revision>102</cp:revision>
  <dcterms:created xsi:type="dcterms:W3CDTF">2024-05-14T04:11:35Z</dcterms:created>
  <dcterms:modified xsi:type="dcterms:W3CDTF">2026-05-21T10:18:19Z</dcterms:modified>
</cp:coreProperties>
</file>