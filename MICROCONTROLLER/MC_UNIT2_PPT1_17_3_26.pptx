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10"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53" r:id="rId19"/>
    <p:sldId id="326" r:id="rId20"/>
    <p:sldId id="354" r:id="rId21"/>
    <p:sldId id="327" r:id="rId22"/>
    <p:sldId id="328" r:id="rId23"/>
    <p:sldId id="329" r:id="rId24"/>
    <p:sldId id="330" r:id="rId25"/>
    <p:sldId id="331" r:id="rId26"/>
    <p:sldId id="332" r:id="rId27"/>
    <p:sldId id="333" r:id="rId28"/>
    <p:sldId id="334" r:id="rId29"/>
    <p:sldId id="355" r:id="rId30"/>
    <p:sldId id="356" r:id="rId31"/>
    <p:sldId id="357" r:id="rId32"/>
    <p:sldId id="335" r:id="rId33"/>
    <p:sldId id="336" r:id="rId34"/>
    <p:sldId id="358" r:id="rId35"/>
    <p:sldId id="337" r:id="rId36"/>
    <p:sldId id="338" r:id="rId37"/>
    <p:sldId id="339" r:id="rId38"/>
    <p:sldId id="340" r:id="rId39"/>
    <p:sldId id="341" r:id="rId40"/>
    <p:sldId id="342" r:id="rId41"/>
    <p:sldId id="343" r:id="rId42"/>
    <p:sldId id="344" r:id="rId43"/>
    <p:sldId id="345" r:id="rId44"/>
    <p:sldId id="346" r:id="rId45"/>
    <p:sldId id="347" r:id="rId46"/>
    <p:sldId id="348" r:id="rId47"/>
    <p:sldId id="349" r:id="rId48"/>
    <p:sldId id="350" r:id="rId49"/>
    <p:sldId id="359" r:id="rId50"/>
    <p:sldId id="360" r:id="rId51"/>
    <p:sldId id="364" r:id="rId52"/>
    <p:sldId id="365" r:id="rId53"/>
    <p:sldId id="366" r:id="rId54"/>
    <p:sldId id="367" r:id="rId55"/>
    <p:sldId id="368" r:id="rId56"/>
    <p:sldId id="380" r:id="rId57"/>
    <p:sldId id="381" r:id="rId58"/>
    <p:sldId id="382" r:id="rId59"/>
    <p:sldId id="383" r:id="rId60"/>
    <p:sldId id="384" r:id="rId61"/>
    <p:sldId id="385" r:id="rId62"/>
    <p:sldId id="386" r:id="rId63"/>
    <p:sldId id="369" r:id="rId64"/>
    <p:sldId id="370" r:id="rId65"/>
    <p:sldId id="375" r:id="rId66"/>
    <p:sldId id="371" r:id="rId67"/>
    <p:sldId id="376" r:id="rId68"/>
    <p:sldId id="372" r:id="rId69"/>
    <p:sldId id="377" r:id="rId70"/>
    <p:sldId id="373" r:id="rId71"/>
    <p:sldId id="374" r:id="rId72"/>
    <p:sldId id="378" r:id="rId73"/>
    <p:sldId id="379"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ED79D-1E5E-DC74-E3D7-8499C7DA83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ADC013-0D88-D113-0C9F-1E7D309CB7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8D456F-7E57-F1D5-B54D-27A9E96B32BA}"/>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5" name="Footer Placeholder 4">
            <a:extLst>
              <a:ext uri="{FF2B5EF4-FFF2-40B4-BE49-F238E27FC236}">
                <a16:creationId xmlns:a16="http://schemas.microsoft.com/office/drawing/2014/main" id="{D10EB963-E50C-5016-90F0-6F89E1DFBD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D1159B-3497-9706-3654-7D4E57CB6AE5}"/>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4113423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CFCD-E1F5-5AA7-BB04-2CA354B1A2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12C217-A528-E077-E891-7F24C9706C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FADE6A-7AB9-6A6F-8683-F28F8F5C0085}"/>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5" name="Footer Placeholder 4">
            <a:extLst>
              <a:ext uri="{FF2B5EF4-FFF2-40B4-BE49-F238E27FC236}">
                <a16:creationId xmlns:a16="http://schemas.microsoft.com/office/drawing/2014/main" id="{EE400850-6A44-A40F-F17F-3A79A6A14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3B298-B74A-7EE0-C5FE-93C094F3EE3C}"/>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119237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45B3B-ACD1-1F29-2A73-D365613F84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849DF4-088F-BA14-3CA3-7C9374CA8B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3B64D2-F2C1-664D-E673-6A841166739E}"/>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5" name="Footer Placeholder 4">
            <a:extLst>
              <a:ext uri="{FF2B5EF4-FFF2-40B4-BE49-F238E27FC236}">
                <a16:creationId xmlns:a16="http://schemas.microsoft.com/office/drawing/2014/main" id="{61FE23A7-3679-B853-1F54-981D86E4FF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9D0A5-6D3D-1D8D-3F2E-B76CD1718E7B}"/>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228501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7E3DC-AD11-B565-3BF5-13680201C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36DA5-FE18-C009-B217-2105FABE3F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A63C1D-7B41-5C05-6BFC-B764A945FA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88EE74-FEBD-5B98-273A-DCC579137C31}"/>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6" name="Footer Placeholder 5">
            <a:extLst>
              <a:ext uri="{FF2B5EF4-FFF2-40B4-BE49-F238E27FC236}">
                <a16:creationId xmlns:a16="http://schemas.microsoft.com/office/drawing/2014/main" id="{1CE46BF4-7B76-A6AF-2FF2-00609A58AB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FC2930-E966-D655-F78B-181FE97B2DC5}"/>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1150941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DA32D-3520-12B7-2AFB-11E05A0B48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D72206-268F-975E-344B-96A4B7D984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0502F2-EE2D-C932-0468-A8D43C096E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58ECFC-CEAA-DBD5-0247-FF5B3A40E0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331AA0-4566-C402-711D-DD19A0EA8E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96B95A-C4B9-573A-5BB4-B633FE551A60}"/>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8" name="Footer Placeholder 7">
            <a:extLst>
              <a:ext uri="{FF2B5EF4-FFF2-40B4-BE49-F238E27FC236}">
                <a16:creationId xmlns:a16="http://schemas.microsoft.com/office/drawing/2014/main" id="{78D91C89-2DCD-FF30-A829-6EACC6E37E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DD96F6-4BF1-7D27-06DC-ED706586B81C}"/>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761796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50E50-D097-166E-5E2D-085C0DF6EE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359FE0-A12E-DEB3-F9EC-BF3DA676F8B0}"/>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4" name="Footer Placeholder 3">
            <a:extLst>
              <a:ext uri="{FF2B5EF4-FFF2-40B4-BE49-F238E27FC236}">
                <a16:creationId xmlns:a16="http://schemas.microsoft.com/office/drawing/2014/main" id="{DB0BC23C-BDD0-5650-B55F-B9E1885FDC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8CE62D-2B71-EE1E-C9FD-1A7951001015}"/>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3598933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3F5D20-9B03-08A6-2618-09F6BACD4C27}"/>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3" name="Footer Placeholder 2">
            <a:extLst>
              <a:ext uri="{FF2B5EF4-FFF2-40B4-BE49-F238E27FC236}">
                <a16:creationId xmlns:a16="http://schemas.microsoft.com/office/drawing/2014/main" id="{8BCE3CE9-925B-1999-3C43-E3258278FF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6321F8-560D-1691-E6F3-C94CB5C3AA7B}"/>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256554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C441D-48DB-2FAB-A2DB-32FAE89D7F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01C852-B3CC-31F7-99AB-5C253E21E9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011CDF-2C4B-700E-0CCE-FFF72B61A7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F95FBD-3735-0CAC-BAF5-A21B09E10E51}"/>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6" name="Footer Placeholder 5">
            <a:extLst>
              <a:ext uri="{FF2B5EF4-FFF2-40B4-BE49-F238E27FC236}">
                <a16:creationId xmlns:a16="http://schemas.microsoft.com/office/drawing/2014/main" id="{F5BD49D1-94BC-3F64-D427-683E298F70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4171E2-6E72-7BFD-4339-C55B65079F81}"/>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899759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B72BA-1E3B-8298-A142-53B3A7BDAC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9C826D-C36D-B4AA-2744-063C85674C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DABA2F-C04B-C244-CABC-CF64F2F94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D6F7DE-B63C-B177-3E6E-02240FAEA44F}"/>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6" name="Footer Placeholder 5">
            <a:extLst>
              <a:ext uri="{FF2B5EF4-FFF2-40B4-BE49-F238E27FC236}">
                <a16:creationId xmlns:a16="http://schemas.microsoft.com/office/drawing/2014/main" id="{64C6E747-23E8-4C9C-2096-87FF65DC58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FB8A1-8E63-EE54-1553-D3616C82C77E}"/>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2439171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0E540-D305-ED82-6E69-0B869FE817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748FE4-AD52-6D14-A000-C1D50AF74A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D586E9-947D-6080-BE30-D7159E8403E5}"/>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5" name="Footer Placeholder 4">
            <a:extLst>
              <a:ext uri="{FF2B5EF4-FFF2-40B4-BE49-F238E27FC236}">
                <a16:creationId xmlns:a16="http://schemas.microsoft.com/office/drawing/2014/main" id="{FAE6A0D8-C1B4-9D1D-B59E-67D6279946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C4211-43AF-E6E8-2A60-3068D36D0946}"/>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2698334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046675-0AA3-1DBC-17D9-F6ED73A563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02ABE0-63A0-49A3-A1F9-20E49177B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26C1F-3CBA-9941-D66C-DA2DEF843BAC}"/>
              </a:ext>
            </a:extLst>
          </p:cNvPr>
          <p:cNvSpPr>
            <a:spLocks noGrp="1"/>
          </p:cNvSpPr>
          <p:nvPr>
            <p:ph type="dt" sz="half" idx="10"/>
          </p:nvPr>
        </p:nvSpPr>
        <p:spPr/>
        <p:txBody>
          <a:bodyPr/>
          <a:lstStyle/>
          <a:p>
            <a:fld id="{476DE8C1-F190-4AE8-98EC-0F13E477CCB4}" type="datetimeFigureOut">
              <a:rPr lang="en-US" smtClean="0"/>
              <a:t>3/18/2026</a:t>
            </a:fld>
            <a:endParaRPr lang="en-US"/>
          </a:p>
        </p:txBody>
      </p:sp>
      <p:sp>
        <p:nvSpPr>
          <p:cNvPr id="5" name="Footer Placeholder 4">
            <a:extLst>
              <a:ext uri="{FF2B5EF4-FFF2-40B4-BE49-F238E27FC236}">
                <a16:creationId xmlns:a16="http://schemas.microsoft.com/office/drawing/2014/main" id="{A1C7534D-BC77-BFF1-0089-F995F99D5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0EA6B-9152-3140-45A2-18CE6A1EF3A9}"/>
              </a:ext>
            </a:extLst>
          </p:cNvPr>
          <p:cNvSpPr>
            <a:spLocks noGrp="1"/>
          </p:cNvSpPr>
          <p:nvPr>
            <p:ph type="sldNum" sz="quarter" idx="12"/>
          </p:nvPr>
        </p:nvSpPr>
        <p:spPr/>
        <p:txBody>
          <a:bodyPr/>
          <a:lstStyle/>
          <a:p>
            <a:fld id="{BF849C9F-A0EC-4373-8527-34C06BD7CE83}" type="slidenum">
              <a:rPr lang="en-US" smtClean="0"/>
              <a:t>‹#›</a:t>
            </a:fld>
            <a:endParaRPr lang="en-US"/>
          </a:p>
        </p:txBody>
      </p:sp>
    </p:spTree>
    <p:extLst>
      <p:ext uri="{BB962C8B-B14F-4D97-AF65-F5344CB8AC3E}">
        <p14:creationId xmlns:p14="http://schemas.microsoft.com/office/powerpoint/2010/main" val="1248865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0665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58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0625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9680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30215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3838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537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55910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28752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48774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2431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232E3-1323-A2DB-3A62-525F2AB987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6F2227-D810-B409-F21D-406CA8E9CE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F5BF8-A494-D533-35CC-3EAA77DEB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6DE8C1-F190-4AE8-98EC-0F13E477CCB4}" type="datetimeFigureOut">
              <a:rPr lang="en-US" smtClean="0"/>
              <a:t>3/18/2026</a:t>
            </a:fld>
            <a:endParaRPr lang="en-US"/>
          </a:p>
        </p:txBody>
      </p:sp>
      <p:sp>
        <p:nvSpPr>
          <p:cNvPr id="5" name="Footer Placeholder 4">
            <a:extLst>
              <a:ext uri="{FF2B5EF4-FFF2-40B4-BE49-F238E27FC236}">
                <a16:creationId xmlns:a16="http://schemas.microsoft.com/office/drawing/2014/main" id="{E8F3409E-ED03-9208-BBD6-F9F5887C1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7EC103-BE88-3D3F-4730-93DECA5D1A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849C9F-A0EC-4373-8527-34C06BD7CE83}" type="slidenum">
              <a:rPr lang="en-US" smtClean="0"/>
              <a:t>‹#›</a:t>
            </a:fld>
            <a:endParaRPr lang="en-US"/>
          </a:p>
        </p:txBody>
      </p:sp>
    </p:spTree>
    <p:extLst>
      <p:ext uri="{BB962C8B-B14F-4D97-AF65-F5344CB8AC3E}">
        <p14:creationId xmlns:p14="http://schemas.microsoft.com/office/powerpoint/2010/main" val="855104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ED9BD2D-6EF9-4018-9E13-14F1BA41D435}"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18-03-2026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0F6AD5-BC14-4DFB-886E-615DD8CBB5F6}"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12810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247294" y="639571"/>
            <a:ext cx="3608704" cy="1379220"/>
          </a:xfrm>
          <a:prstGeom prst="rect">
            <a:avLst/>
          </a:prstGeom>
        </p:spPr>
        <p:txBody>
          <a:bodyPr vert="horz" wrap="square" lIns="0" tIns="12700" rIns="0" bIns="0" rtlCol="0">
            <a:spAutoFit/>
          </a:bodyPr>
          <a:lstStyle/>
          <a:p>
            <a:pPr marL="12700">
              <a:lnSpc>
                <a:spcPts val="5330"/>
              </a:lnSpc>
              <a:spcBef>
                <a:spcPts val="100"/>
              </a:spcBef>
            </a:pPr>
            <a:r>
              <a:rPr sz="4800" spc="-45" dirty="0">
                <a:solidFill>
                  <a:srgbClr val="6F2F9F"/>
                </a:solidFill>
                <a:latin typeface="Calibri Light"/>
                <a:cs typeface="Calibri Light"/>
              </a:rPr>
              <a:t>UNIT-</a:t>
            </a:r>
            <a:r>
              <a:rPr sz="4800" spc="-120" dirty="0">
                <a:solidFill>
                  <a:srgbClr val="6F2F9F"/>
                </a:solidFill>
                <a:latin typeface="Calibri Light"/>
                <a:cs typeface="Calibri Light"/>
              </a:rPr>
              <a:t> </a:t>
            </a:r>
            <a:r>
              <a:rPr sz="4800" dirty="0">
                <a:solidFill>
                  <a:srgbClr val="6F2F9F"/>
                </a:solidFill>
                <a:latin typeface="Calibri Light"/>
                <a:cs typeface="Calibri Light"/>
              </a:rPr>
              <a:t>2</a:t>
            </a:r>
            <a:endParaRPr sz="4800">
              <a:latin typeface="Calibri Light"/>
              <a:cs typeface="Calibri Light"/>
            </a:endParaRPr>
          </a:p>
          <a:p>
            <a:pPr marL="1066800">
              <a:lnSpc>
                <a:spcPts val="5330"/>
              </a:lnSpc>
            </a:pPr>
            <a:r>
              <a:rPr sz="4800" spc="-55" dirty="0">
                <a:solidFill>
                  <a:srgbClr val="6F2F9F"/>
                </a:solidFill>
                <a:latin typeface="Calibri Light"/>
                <a:cs typeface="Calibri Light"/>
              </a:rPr>
              <a:t>Chapter-</a:t>
            </a:r>
            <a:r>
              <a:rPr sz="4800" spc="-170" dirty="0">
                <a:solidFill>
                  <a:srgbClr val="6F2F9F"/>
                </a:solidFill>
                <a:latin typeface="Calibri Light"/>
                <a:cs typeface="Calibri Light"/>
              </a:rPr>
              <a:t> </a:t>
            </a:r>
            <a:r>
              <a:rPr sz="4800" dirty="0">
                <a:solidFill>
                  <a:srgbClr val="6F2F9F"/>
                </a:solidFill>
                <a:latin typeface="Calibri Light"/>
                <a:cs typeface="Calibri Light"/>
              </a:rPr>
              <a:t>2</a:t>
            </a:r>
            <a:endParaRPr sz="4800">
              <a:latin typeface="Calibri Light"/>
              <a:cs typeface="Calibri Light"/>
            </a:endParaRPr>
          </a:p>
        </p:txBody>
      </p:sp>
      <p:sp>
        <p:nvSpPr>
          <p:cNvPr id="6" name="object 6"/>
          <p:cNvSpPr txBox="1">
            <a:spLocks noGrp="1"/>
          </p:cNvSpPr>
          <p:nvPr>
            <p:ph type="title"/>
          </p:nvPr>
        </p:nvSpPr>
        <p:spPr>
          <a:xfrm>
            <a:off x="1194308" y="2563444"/>
            <a:ext cx="10067290" cy="1764030"/>
          </a:xfrm>
          <a:prstGeom prst="rect">
            <a:avLst/>
          </a:prstGeom>
        </p:spPr>
        <p:txBody>
          <a:bodyPr vert="horz" wrap="square" lIns="0" tIns="12700" rIns="0" bIns="0" rtlCol="0">
            <a:spAutoFit/>
          </a:bodyPr>
          <a:lstStyle/>
          <a:p>
            <a:pPr marL="153035">
              <a:lnSpc>
                <a:spcPts val="6840"/>
              </a:lnSpc>
              <a:spcBef>
                <a:spcPts val="100"/>
              </a:spcBef>
            </a:pPr>
            <a:r>
              <a:rPr sz="6000" b="0" spc="170" dirty="0">
                <a:solidFill>
                  <a:srgbClr val="C00000"/>
                </a:solidFill>
                <a:latin typeface="Calibri Light"/>
                <a:cs typeface="Calibri Light"/>
              </a:rPr>
              <a:t>INTERNAL</a:t>
            </a:r>
            <a:r>
              <a:rPr sz="6000" b="0" spc="340" dirty="0">
                <a:solidFill>
                  <a:srgbClr val="C00000"/>
                </a:solidFill>
                <a:latin typeface="Calibri Light"/>
                <a:cs typeface="Calibri Light"/>
              </a:rPr>
              <a:t> </a:t>
            </a:r>
            <a:r>
              <a:rPr sz="6000" b="0" spc="165" dirty="0">
                <a:solidFill>
                  <a:srgbClr val="C00000"/>
                </a:solidFill>
                <a:latin typeface="Calibri Light"/>
                <a:cs typeface="Calibri Light"/>
              </a:rPr>
              <a:t>COMPONENTS</a:t>
            </a:r>
            <a:r>
              <a:rPr sz="6000" b="0" spc="340" dirty="0">
                <a:solidFill>
                  <a:srgbClr val="C00000"/>
                </a:solidFill>
                <a:latin typeface="Calibri Light"/>
                <a:cs typeface="Calibri Light"/>
              </a:rPr>
              <a:t> </a:t>
            </a:r>
            <a:r>
              <a:rPr sz="6000" b="0" spc="95" dirty="0">
                <a:solidFill>
                  <a:srgbClr val="C00000"/>
                </a:solidFill>
                <a:latin typeface="Calibri Light"/>
                <a:cs typeface="Calibri Light"/>
              </a:rPr>
              <a:t>OF</a:t>
            </a:r>
            <a:r>
              <a:rPr sz="6000" b="0" spc="370" dirty="0">
                <a:solidFill>
                  <a:srgbClr val="C00000"/>
                </a:solidFill>
                <a:latin typeface="Calibri Light"/>
                <a:cs typeface="Calibri Light"/>
              </a:rPr>
              <a:t> </a:t>
            </a:r>
            <a:r>
              <a:rPr sz="6000" b="0" dirty="0">
                <a:solidFill>
                  <a:srgbClr val="C00000"/>
                </a:solidFill>
                <a:latin typeface="Calibri Light"/>
                <a:cs typeface="Calibri Light"/>
              </a:rPr>
              <a:t>A</a:t>
            </a:r>
            <a:endParaRPr sz="6000">
              <a:latin typeface="Calibri Light"/>
              <a:cs typeface="Calibri Light"/>
            </a:endParaRPr>
          </a:p>
          <a:p>
            <a:pPr marL="12700">
              <a:lnSpc>
                <a:spcPts val="6840"/>
              </a:lnSpc>
              <a:tabLst>
                <a:tab pos="1381760" algn="l"/>
                <a:tab pos="9887585" algn="l"/>
              </a:tabLst>
            </a:pPr>
            <a:r>
              <a:rPr sz="6000" b="0" u="sng" dirty="0">
                <a:solidFill>
                  <a:srgbClr val="00AFEF"/>
                </a:solidFill>
                <a:uFill>
                  <a:solidFill>
                    <a:srgbClr val="7E7E7E"/>
                  </a:solidFill>
                </a:uFill>
                <a:latin typeface="Calibri Light"/>
                <a:cs typeface="Calibri Light"/>
              </a:rPr>
              <a:t> 	</a:t>
            </a:r>
            <a:r>
              <a:rPr sz="6000" b="0" u="sng" spc="125" dirty="0">
                <a:solidFill>
                  <a:srgbClr val="00AFEF"/>
                </a:solidFill>
                <a:uFill>
                  <a:solidFill>
                    <a:srgbClr val="7E7E7E"/>
                  </a:solidFill>
                </a:uFill>
                <a:latin typeface="Calibri Light"/>
                <a:cs typeface="Calibri Light"/>
              </a:rPr>
              <a:t>SYSTEM-ON-CHIP</a:t>
            </a:r>
            <a:r>
              <a:rPr sz="6000" b="0" u="sng" spc="220" dirty="0">
                <a:solidFill>
                  <a:srgbClr val="00AFEF"/>
                </a:solidFill>
                <a:uFill>
                  <a:solidFill>
                    <a:srgbClr val="7E7E7E"/>
                  </a:solidFill>
                </a:uFill>
                <a:latin typeface="Calibri Light"/>
                <a:cs typeface="Calibri Light"/>
              </a:rPr>
              <a:t> </a:t>
            </a:r>
            <a:r>
              <a:rPr sz="6000" b="0" u="sng" spc="135" dirty="0">
                <a:solidFill>
                  <a:srgbClr val="00AFEF"/>
                </a:solidFill>
                <a:uFill>
                  <a:solidFill>
                    <a:srgbClr val="7E7E7E"/>
                  </a:solidFill>
                </a:uFill>
                <a:latin typeface="Calibri Light"/>
                <a:cs typeface="Calibri Light"/>
              </a:rPr>
              <a:t>(S</a:t>
            </a:r>
            <a:r>
              <a:rPr sz="4800" b="0" u="sng" spc="135" dirty="0">
                <a:solidFill>
                  <a:srgbClr val="00AFEF"/>
                </a:solidFill>
                <a:uFill>
                  <a:solidFill>
                    <a:srgbClr val="7E7E7E"/>
                  </a:solidFill>
                </a:uFill>
                <a:latin typeface="Calibri Light"/>
                <a:cs typeface="Calibri Light"/>
              </a:rPr>
              <a:t>O</a:t>
            </a:r>
            <a:r>
              <a:rPr sz="6000" b="0" u="sng" spc="135" dirty="0">
                <a:solidFill>
                  <a:srgbClr val="00AFEF"/>
                </a:solidFill>
                <a:uFill>
                  <a:solidFill>
                    <a:srgbClr val="7E7E7E"/>
                  </a:solidFill>
                </a:uFill>
                <a:latin typeface="Calibri Light"/>
                <a:cs typeface="Calibri Light"/>
              </a:rPr>
              <a:t>C)	</a:t>
            </a:r>
            <a:endParaRPr sz="600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dirty="0">
              <a:latin typeface="Calibri"/>
              <a:cs typeface="Calibri"/>
            </a:endParaRPr>
          </a:p>
        </p:txBody>
      </p:sp>
      <p:sp>
        <p:nvSpPr>
          <p:cNvPr id="9" name="object 9"/>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a:t>
            </a:r>
            <a:endParaRPr sz="1050">
              <a:latin typeface="Calibri"/>
              <a:cs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6149975" cy="756920"/>
          </a:xfrm>
          <a:prstGeom prst="rect">
            <a:avLst/>
          </a:prstGeom>
        </p:spPr>
        <p:txBody>
          <a:bodyPr vert="horz" wrap="square" lIns="0" tIns="12700" rIns="0" bIns="0" rtlCol="0">
            <a:spAutoFit/>
          </a:bodyPr>
          <a:lstStyle/>
          <a:p>
            <a:pPr marL="12700">
              <a:lnSpc>
                <a:spcPct val="100000"/>
              </a:lnSpc>
              <a:spcBef>
                <a:spcPts val="100"/>
              </a:spcBef>
            </a:pPr>
            <a:r>
              <a:rPr sz="4800" b="0" spc="-45" dirty="0" smtClean="0">
                <a:solidFill>
                  <a:srgbClr val="00AFEF"/>
                </a:solidFill>
                <a:latin typeface="Calibri Light"/>
                <a:cs typeface="Calibri Light"/>
              </a:rPr>
              <a:t>Serial</a:t>
            </a:r>
            <a:r>
              <a:rPr sz="4800" b="0" spc="-105" dirty="0" smtClean="0">
                <a:solidFill>
                  <a:srgbClr val="00AFEF"/>
                </a:solidFill>
                <a:latin typeface="Calibri Light"/>
                <a:cs typeface="Calibri Light"/>
              </a:rPr>
              <a:t> </a:t>
            </a:r>
            <a:r>
              <a:rPr sz="4800" b="0" spc="-60" dirty="0">
                <a:solidFill>
                  <a:srgbClr val="00AFEF"/>
                </a:solidFill>
                <a:latin typeface="Calibri Light"/>
                <a:cs typeface="Calibri Light"/>
              </a:rPr>
              <a:t>Communication</a:t>
            </a:r>
            <a:endParaRPr sz="4800" dirty="0">
              <a:latin typeface="Calibri Light"/>
              <a:cs typeface="Calibri Light"/>
            </a:endParaRPr>
          </a:p>
        </p:txBody>
      </p:sp>
      <p:sp>
        <p:nvSpPr>
          <p:cNvPr id="7" name="object 7"/>
          <p:cNvSpPr txBox="1"/>
          <p:nvPr/>
        </p:nvSpPr>
        <p:spPr>
          <a:xfrm>
            <a:off x="901700" y="1896566"/>
            <a:ext cx="10267315" cy="721360"/>
          </a:xfrm>
          <a:prstGeom prst="rect">
            <a:avLst/>
          </a:prstGeom>
        </p:spPr>
        <p:txBody>
          <a:bodyPr vert="horz" wrap="square" lIns="0" tIns="12700" rIns="0" bIns="0" rtlCol="0">
            <a:spAutoFit/>
          </a:bodyPr>
          <a:lstStyle/>
          <a:p>
            <a:pPr marL="329565" indent="-317500">
              <a:lnSpc>
                <a:spcPts val="2735"/>
              </a:lnSpc>
              <a:spcBef>
                <a:spcPts val="100"/>
              </a:spcBef>
              <a:buClr>
                <a:srgbClr val="E38312"/>
              </a:buClr>
              <a:buSzPct val="83333"/>
              <a:buFont typeface="Wingdings"/>
              <a:buChar char=""/>
              <a:tabLst>
                <a:tab pos="330200" algn="l"/>
                <a:tab pos="1036955" algn="l"/>
                <a:tab pos="1766570" algn="l"/>
                <a:tab pos="2313940" algn="l"/>
                <a:tab pos="3065780" algn="l"/>
                <a:tab pos="3629660" algn="l"/>
                <a:tab pos="4074160" algn="l"/>
                <a:tab pos="4737100" algn="l"/>
                <a:tab pos="5137150" algn="l"/>
                <a:tab pos="6322695" algn="l"/>
                <a:tab pos="6685280" algn="l"/>
                <a:tab pos="7482840" algn="l"/>
                <a:tab pos="8212455" algn="l"/>
                <a:tab pos="9331325" algn="l"/>
              </a:tabLst>
            </a:pPr>
            <a:r>
              <a:rPr sz="2400" spc="-20" dirty="0">
                <a:solidFill>
                  <a:srgbClr val="404040"/>
                </a:solidFill>
                <a:latin typeface="Calibri"/>
                <a:cs typeface="Calibri"/>
              </a:rPr>
              <a:t>Data	</a:t>
            </a:r>
            <a:r>
              <a:rPr sz="2400" spc="-15" dirty="0">
                <a:solidFill>
                  <a:srgbClr val="404040"/>
                </a:solidFill>
                <a:latin typeface="Calibri"/>
                <a:cs typeface="Calibri"/>
              </a:rPr>
              <a:t>from	</a:t>
            </a:r>
            <a:r>
              <a:rPr sz="2400" spc="-5" dirty="0">
                <a:solidFill>
                  <a:srgbClr val="404040"/>
                </a:solidFill>
                <a:latin typeface="Calibri"/>
                <a:cs typeface="Calibri"/>
              </a:rPr>
              <a:t>the	</a:t>
            </a:r>
            <a:r>
              <a:rPr sz="2400" dirty="0">
                <a:solidFill>
                  <a:srgbClr val="404040"/>
                </a:solidFill>
                <a:latin typeface="Calibri"/>
                <a:cs typeface="Calibri"/>
              </a:rPr>
              <a:t>MCU	</a:t>
            </a:r>
            <a:r>
              <a:rPr sz="2400" spc="-15" dirty="0">
                <a:solidFill>
                  <a:srgbClr val="404040"/>
                </a:solidFill>
                <a:latin typeface="Calibri"/>
                <a:cs typeface="Calibri"/>
              </a:rPr>
              <a:t>can	</a:t>
            </a:r>
            <a:r>
              <a:rPr sz="2400" spc="-5" dirty="0">
                <a:solidFill>
                  <a:srgbClr val="404040"/>
                </a:solidFill>
                <a:latin typeface="Calibri"/>
                <a:cs typeface="Calibri"/>
              </a:rPr>
              <a:t>be	</a:t>
            </a:r>
            <a:r>
              <a:rPr sz="2400" spc="-10" dirty="0">
                <a:solidFill>
                  <a:srgbClr val="404040"/>
                </a:solidFill>
                <a:latin typeface="Calibri"/>
                <a:cs typeface="Calibri"/>
              </a:rPr>
              <a:t>sent	</a:t>
            </a:r>
            <a:r>
              <a:rPr sz="2400" spc="-5" dirty="0">
                <a:solidFill>
                  <a:srgbClr val="404040"/>
                </a:solidFill>
                <a:latin typeface="Calibri"/>
                <a:cs typeface="Calibri"/>
              </a:rPr>
              <a:t>or	</a:t>
            </a:r>
            <a:r>
              <a:rPr sz="2400" spc="-10" dirty="0">
                <a:solidFill>
                  <a:srgbClr val="404040"/>
                </a:solidFill>
                <a:latin typeface="Calibri"/>
                <a:cs typeface="Calibri"/>
              </a:rPr>
              <a:t>received	</a:t>
            </a:r>
            <a:r>
              <a:rPr sz="2400" dirty="0">
                <a:solidFill>
                  <a:srgbClr val="404040"/>
                </a:solidFill>
                <a:latin typeface="Calibri"/>
                <a:cs typeface="Calibri"/>
              </a:rPr>
              <a:t>in	</a:t>
            </a:r>
            <a:r>
              <a:rPr sz="2400" spc="-5" dirty="0">
                <a:solidFill>
                  <a:srgbClr val="404040"/>
                </a:solidFill>
                <a:latin typeface="Calibri"/>
                <a:cs typeface="Calibri"/>
              </a:rPr>
              <a:t>serial	</a:t>
            </a:r>
            <a:r>
              <a:rPr sz="2400" spc="-15" dirty="0">
                <a:solidFill>
                  <a:srgbClr val="404040"/>
                </a:solidFill>
                <a:latin typeface="Calibri"/>
                <a:cs typeface="Calibri"/>
              </a:rPr>
              <a:t>form	</a:t>
            </a:r>
            <a:r>
              <a:rPr sz="2400" spc="-10" dirty="0">
                <a:solidFill>
                  <a:srgbClr val="404040"/>
                </a:solidFill>
                <a:latin typeface="Calibri"/>
                <a:cs typeface="Calibri"/>
              </a:rPr>
              <a:t>through	</a:t>
            </a:r>
            <a:r>
              <a:rPr sz="2400" spc="-5" dirty="0">
                <a:solidFill>
                  <a:srgbClr val="404040"/>
                </a:solidFill>
                <a:latin typeface="Calibri"/>
                <a:cs typeface="Calibri"/>
              </a:rPr>
              <a:t>specific</a:t>
            </a:r>
            <a:endParaRPr sz="2400" dirty="0">
              <a:latin typeface="Calibri"/>
              <a:cs typeface="Calibri"/>
            </a:endParaRPr>
          </a:p>
          <a:p>
            <a:pPr marL="104139">
              <a:lnSpc>
                <a:spcPts val="2735"/>
              </a:lnSpc>
            </a:pPr>
            <a:r>
              <a:rPr sz="2400" spc="-15" dirty="0">
                <a:solidFill>
                  <a:srgbClr val="404040"/>
                </a:solidFill>
                <a:latin typeface="Calibri"/>
                <a:cs typeface="Calibri"/>
              </a:rPr>
              <a:t>protocol.</a:t>
            </a:r>
            <a:endParaRPr sz="2400" dirty="0">
              <a:latin typeface="Calibri"/>
              <a:cs typeface="Calibri"/>
            </a:endParaRPr>
          </a:p>
        </p:txBody>
      </p:sp>
      <p:sp>
        <p:nvSpPr>
          <p:cNvPr id="8" name="object 8"/>
          <p:cNvSpPr txBox="1"/>
          <p:nvPr/>
        </p:nvSpPr>
        <p:spPr>
          <a:xfrm>
            <a:off x="901700" y="2650818"/>
            <a:ext cx="10267315" cy="391160"/>
          </a:xfrm>
          <a:prstGeom prst="rect">
            <a:avLst/>
          </a:prstGeom>
        </p:spPr>
        <p:txBody>
          <a:bodyPr vert="horz" wrap="square" lIns="0" tIns="12700" rIns="0" bIns="0" rtlCol="0">
            <a:spAutoFit/>
          </a:bodyPr>
          <a:lstStyle/>
          <a:p>
            <a:pPr marL="323850" indent="-311785">
              <a:lnSpc>
                <a:spcPct val="100000"/>
              </a:lnSpc>
              <a:spcBef>
                <a:spcPts val="100"/>
              </a:spcBef>
              <a:buClr>
                <a:srgbClr val="E38312"/>
              </a:buClr>
              <a:buFont typeface="Wingdings"/>
              <a:buChar char=""/>
              <a:tabLst>
                <a:tab pos="324485" algn="l"/>
                <a:tab pos="1035050" algn="l"/>
                <a:tab pos="2475230" algn="l"/>
                <a:tab pos="3952240" algn="l"/>
                <a:tab pos="4338320" algn="l"/>
                <a:tab pos="4949190" algn="l"/>
                <a:tab pos="5822950" algn="l"/>
                <a:tab pos="7261225" algn="l"/>
                <a:tab pos="9197340" algn="l"/>
              </a:tabLst>
            </a:pPr>
            <a:r>
              <a:rPr sz="2400" spc="-5" dirty="0">
                <a:solidFill>
                  <a:srgbClr val="404040"/>
                </a:solidFill>
                <a:latin typeface="Calibri"/>
                <a:cs typeface="Calibri"/>
              </a:rPr>
              <a:t>On</a:t>
            </a:r>
            <a:r>
              <a:rPr sz="2400" dirty="0">
                <a:solidFill>
                  <a:srgbClr val="404040"/>
                </a:solidFill>
                <a:latin typeface="Calibri"/>
                <a:cs typeface="Calibri"/>
              </a:rPr>
              <a:t>e	impo</a:t>
            </a:r>
            <a:r>
              <a:rPr sz="2400" spc="-15" dirty="0">
                <a:solidFill>
                  <a:srgbClr val="404040"/>
                </a:solidFill>
                <a:latin typeface="Calibri"/>
                <a:cs typeface="Calibri"/>
              </a:rPr>
              <a:t>r</a:t>
            </a:r>
            <a:r>
              <a:rPr sz="2400" spc="-25" dirty="0">
                <a:solidFill>
                  <a:srgbClr val="404040"/>
                </a:solidFill>
                <a:latin typeface="Calibri"/>
                <a:cs typeface="Calibri"/>
              </a:rPr>
              <a:t>t</a:t>
            </a:r>
            <a:r>
              <a:rPr sz="2400" dirty="0">
                <a:solidFill>
                  <a:srgbClr val="404040"/>
                </a:solidFill>
                <a:latin typeface="Calibri"/>
                <a:cs typeface="Calibri"/>
              </a:rPr>
              <a:t>a</a:t>
            </a:r>
            <a:r>
              <a:rPr sz="2400" spc="-25" dirty="0">
                <a:solidFill>
                  <a:srgbClr val="404040"/>
                </a:solidFill>
                <a:latin typeface="Calibri"/>
                <a:cs typeface="Calibri"/>
              </a:rPr>
              <a:t>n</a:t>
            </a:r>
            <a:r>
              <a:rPr sz="2400" dirty="0">
                <a:solidFill>
                  <a:srgbClr val="404040"/>
                </a:solidFill>
                <a:latin typeface="Calibri"/>
                <a:cs typeface="Calibri"/>
              </a:rPr>
              <a:t>t	</a:t>
            </a:r>
            <a:r>
              <a:rPr sz="2400" spc="-5" dirty="0">
                <a:solidFill>
                  <a:srgbClr val="404040"/>
                </a:solidFill>
                <a:latin typeface="Calibri"/>
                <a:cs typeface="Calibri"/>
              </a:rPr>
              <a:t>p</a:t>
            </a:r>
            <a:r>
              <a:rPr sz="2400" spc="5" dirty="0">
                <a:solidFill>
                  <a:srgbClr val="404040"/>
                </a:solidFill>
                <a:latin typeface="Calibri"/>
                <a:cs typeface="Calibri"/>
              </a:rPr>
              <a:t>e</a:t>
            </a:r>
            <a:r>
              <a:rPr sz="2400" dirty="0">
                <a:solidFill>
                  <a:srgbClr val="404040"/>
                </a:solidFill>
                <a:latin typeface="Calibri"/>
                <a:cs typeface="Calibri"/>
              </a:rPr>
              <a:t>ri</a:t>
            </a:r>
            <a:r>
              <a:rPr sz="2400" spc="5" dirty="0">
                <a:solidFill>
                  <a:srgbClr val="404040"/>
                </a:solidFill>
                <a:latin typeface="Calibri"/>
                <a:cs typeface="Calibri"/>
              </a:rPr>
              <a:t>p</a:t>
            </a:r>
            <a:r>
              <a:rPr sz="2400" spc="-5" dirty="0">
                <a:solidFill>
                  <a:srgbClr val="404040"/>
                </a:solidFill>
                <a:latin typeface="Calibri"/>
                <a:cs typeface="Calibri"/>
              </a:rPr>
              <a:t>h</a:t>
            </a:r>
            <a:r>
              <a:rPr sz="2400" spc="5" dirty="0">
                <a:solidFill>
                  <a:srgbClr val="404040"/>
                </a:solidFill>
                <a:latin typeface="Calibri"/>
                <a:cs typeface="Calibri"/>
              </a:rPr>
              <a:t>e</a:t>
            </a:r>
            <a:r>
              <a:rPr sz="2400" spc="-45" dirty="0">
                <a:solidFill>
                  <a:srgbClr val="404040"/>
                </a:solidFill>
                <a:latin typeface="Calibri"/>
                <a:cs typeface="Calibri"/>
              </a:rPr>
              <a:t>r</a:t>
            </a:r>
            <a:r>
              <a:rPr sz="2400" dirty="0">
                <a:solidFill>
                  <a:srgbClr val="404040"/>
                </a:solidFill>
                <a:latin typeface="Calibri"/>
                <a:cs typeface="Calibri"/>
              </a:rPr>
              <a:t>al	is	the	</a:t>
            </a:r>
            <a:r>
              <a:rPr sz="2400" spc="-50" dirty="0">
                <a:solidFill>
                  <a:srgbClr val="404040"/>
                </a:solidFill>
                <a:latin typeface="Calibri"/>
                <a:cs typeface="Calibri"/>
              </a:rPr>
              <a:t>U</a:t>
            </a:r>
            <a:r>
              <a:rPr sz="2400" dirty="0">
                <a:solidFill>
                  <a:srgbClr val="404040"/>
                </a:solidFill>
                <a:latin typeface="Calibri"/>
                <a:cs typeface="Calibri"/>
              </a:rPr>
              <a:t>A</a:t>
            </a:r>
            <a:r>
              <a:rPr sz="2400" spc="-25" dirty="0">
                <a:solidFill>
                  <a:srgbClr val="404040"/>
                </a:solidFill>
                <a:latin typeface="Calibri"/>
                <a:cs typeface="Calibri"/>
              </a:rPr>
              <a:t>R</a:t>
            </a:r>
            <a:r>
              <a:rPr sz="2400" dirty="0">
                <a:solidFill>
                  <a:srgbClr val="404040"/>
                </a:solidFill>
                <a:latin typeface="Calibri"/>
                <a:cs typeface="Calibri"/>
              </a:rPr>
              <a:t>T	</a:t>
            </a:r>
            <a:r>
              <a:rPr sz="2400" spc="-5" dirty="0">
                <a:solidFill>
                  <a:srgbClr val="404040"/>
                </a:solidFill>
                <a:latin typeface="Calibri"/>
                <a:cs typeface="Calibri"/>
              </a:rPr>
              <a:t>(U</a:t>
            </a:r>
            <a:r>
              <a:rPr sz="2400" spc="-15" dirty="0">
                <a:solidFill>
                  <a:srgbClr val="404040"/>
                </a:solidFill>
                <a:latin typeface="Calibri"/>
                <a:cs typeface="Calibri"/>
              </a:rPr>
              <a:t>n</a:t>
            </a:r>
            <a:r>
              <a:rPr sz="2400" dirty="0">
                <a:solidFill>
                  <a:srgbClr val="404040"/>
                </a:solidFill>
                <a:latin typeface="Calibri"/>
                <a:cs typeface="Calibri"/>
              </a:rPr>
              <a:t>i</a:t>
            </a:r>
            <a:r>
              <a:rPr sz="2400" spc="-30" dirty="0">
                <a:solidFill>
                  <a:srgbClr val="404040"/>
                </a:solidFill>
                <a:latin typeface="Calibri"/>
                <a:cs typeface="Calibri"/>
              </a:rPr>
              <a:t>v</a:t>
            </a:r>
            <a:r>
              <a:rPr sz="2400" dirty="0">
                <a:solidFill>
                  <a:srgbClr val="404040"/>
                </a:solidFill>
                <a:latin typeface="Calibri"/>
                <a:cs typeface="Calibri"/>
              </a:rPr>
              <a:t>e</a:t>
            </a:r>
            <a:r>
              <a:rPr sz="2400" spc="-30" dirty="0">
                <a:solidFill>
                  <a:srgbClr val="404040"/>
                </a:solidFill>
                <a:latin typeface="Calibri"/>
                <a:cs typeface="Calibri"/>
              </a:rPr>
              <a:t>r</a:t>
            </a:r>
            <a:r>
              <a:rPr sz="2400" spc="-5" dirty="0">
                <a:solidFill>
                  <a:srgbClr val="404040"/>
                </a:solidFill>
                <a:latin typeface="Calibri"/>
                <a:cs typeface="Calibri"/>
              </a:rPr>
              <a:t>sa</a:t>
            </a:r>
            <a:r>
              <a:rPr sz="2400" dirty="0">
                <a:solidFill>
                  <a:srgbClr val="404040"/>
                </a:solidFill>
                <a:latin typeface="Calibri"/>
                <a:cs typeface="Calibri"/>
              </a:rPr>
              <a:t>l	A</a:t>
            </a:r>
            <a:r>
              <a:rPr sz="2400" spc="-45" dirty="0">
                <a:solidFill>
                  <a:srgbClr val="404040"/>
                </a:solidFill>
                <a:latin typeface="Calibri"/>
                <a:cs typeface="Calibri"/>
              </a:rPr>
              <a:t>s</a:t>
            </a:r>
            <a:r>
              <a:rPr sz="2400" dirty="0">
                <a:solidFill>
                  <a:srgbClr val="404040"/>
                </a:solidFill>
                <a:latin typeface="Calibri"/>
                <a:cs typeface="Calibri"/>
              </a:rPr>
              <a:t>ync</a:t>
            </a:r>
            <a:r>
              <a:rPr sz="2400" spc="5" dirty="0">
                <a:solidFill>
                  <a:srgbClr val="404040"/>
                </a:solidFill>
                <a:latin typeface="Calibri"/>
                <a:cs typeface="Calibri"/>
              </a:rPr>
              <a:t>h</a:t>
            </a:r>
            <a:r>
              <a:rPr sz="2400" spc="-35" dirty="0">
                <a:solidFill>
                  <a:srgbClr val="404040"/>
                </a:solidFill>
                <a:latin typeface="Calibri"/>
                <a:cs typeface="Calibri"/>
              </a:rPr>
              <a:t>r</a:t>
            </a:r>
            <a:r>
              <a:rPr sz="2400" spc="-5" dirty="0">
                <a:solidFill>
                  <a:srgbClr val="404040"/>
                </a:solidFill>
                <a:latin typeface="Calibri"/>
                <a:cs typeface="Calibri"/>
              </a:rPr>
              <a:t>onou</a:t>
            </a:r>
            <a:r>
              <a:rPr sz="2400" dirty="0">
                <a:solidFill>
                  <a:srgbClr val="404040"/>
                </a:solidFill>
                <a:latin typeface="Calibri"/>
                <a:cs typeface="Calibri"/>
              </a:rPr>
              <a:t>s	</a:t>
            </a:r>
            <a:r>
              <a:rPr sz="2400" spc="-35" dirty="0">
                <a:solidFill>
                  <a:srgbClr val="404040"/>
                </a:solidFill>
                <a:latin typeface="Calibri"/>
                <a:cs typeface="Calibri"/>
              </a:rPr>
              <a:t>R</a:t>
            </a:r>
            <a:r>
              <a:rPr sz="2400" dirty="0">
                <a:solidFill>
                  <a:srgbClr val="404040"/>
                </a:solidFill>
                <a:latin typeface="Calibri"/>
                <a:cs typeface="Calibri"/>
              </a:rPr>
              <a:t>ecei</a:t>
            </a:r>
            <a:r>
              <a:rPr sz="2400" spc="-30" dirty="0">
                <a:solidFill>
                  <a:srgbClr val="404040"/>
                </a:solidFill>
                <a:latin typeface="Calibri"/>
                <a:cs typeface="Calibri"/>
              </a:rPr>
              <a:t>v</a:t>
            </a:r>
            <a:r>
              <a:rPr sz="2400" dirty="0">
                <a:solidFill>
                  <a:srgbClr val="404040"/>
                </a:solidFill>
                <a:latin typeface="Calibri"/>
                <a:cs typeface="Calibri"/>
              </a:rPr>
              <a:t>er</a:t>
            </a:r>
            <a:endParaRPr sz="2400" dirty="0">
              <a:latin typeface="Calibri"/>
              <a:cs typeface="Calibri"/>
            </a:endParaRPr>
          </a:p>
        </p:txBody>
      </p:sp>
      <p:sp>
        <p:nvSpPr>
          <p:cNvPr id="9" name="object 9"/>
          <p:cNvSpPr txBox="1"/>
          <p:nvPr/>
        </p:nvSpPr>
        <p:spPr>
          <a:xfrm>
            <a:off x="901700" y="2785649"/>
            <a:ext cx="10844823" cy="3722814"/>
          </a:xfrm>
          <a:prstGeom prst="rect">
            <a:avLst/>
          </a:prstGeom>
        </p:spPr>
        <p:txBody>
          <a:bodyPr vert="horz" wrap="square" lIns="0" tIns="153670" rIns="0" bIns="0" rtlCol="0">
            <a:spAutoFit/>
          </a:bodyPr>
          <a:lstStyle/>
          <a:p>
            <a:pPr marL="104139">
              <a:lnSpc>
                <a:spcPct val="100000"/>
              </a:lnSpc>
              <a:spcBef>
                <a:spcPts val="1210"/>
              </a:spcBef>
            </a:pPr>
            <a:r>
              <a:rPr sz="2400" spc="-25" dirty="0">
                <a:solidFill>
                  <a:srgbClr val="404040"/>
                </a:solidFill>
                <a:latin typeface="Calibri"/>
                <a:cs typeface="Calibri"/>
              </a:rPr>
              <a:t>Transmitter)</a:t>
            </a:r>
            <a:endParaRPr sz="2400" dirty="0">
              <a:latin typeface="Calibri"/>
              <a:cs typeface="Calibri"/>
            </a:endParaRPr>
          </a:p>
          <a:p>
            <a:pPr marL="323850" indent="-311785">
              <a:lnSpc>
                <a:spcPct val="100000"/>
              </a:lnSpc>
              <a:spcBef>
                <a:spcPts val="1115"/>
              </a:spcBef>
              <a:buClr>
                <a:srgbClr val="E38312"/>
              </a:buClr>
              <a:buFont typeface="Wingdings"/>
              <a:buChar char=""/>
              <a:tabLst>
                <a:tab pos="324485" algn="l"/>
              </a:tabLst>
            </a:pPr>
            <a:r>
              <a:rPr sz="2400" dirty="0">
                <a:solidFill>
                  <a:srgbClr val="404040"/>
                </a:solidFill>
                <a:latin typeface="Calibri"/>
                <a:cs typeface="Calibri"/>
              </a:rPr>
              <a:t>All</a:t>
            </a:r>
            <a:r>
              <a:rPr sz="2400" spc="-20" dirty="0">
                <a:solidFill>
                  <a:srgbClr val="404040"/>
                </a:solidFill>
                <a:latin typeface="Calibri"/>
                <a:cs typeface="Calibri"/>
              </a:rPr>
              <a:t> </a:t>
            </a:r>
            <a:r>
              <a:rPr sz="2400" spc="-30" dirty="0">
                <a:solidFill>
                  <a:srgbClr val="404040"/>
                </a:solidFill>
                <a:latin typeface="Calibri"/>
                <a:cs typeface="Calibri"/>
              </a:rPr>
              <a:t>MCU’s</a:t>
            </a:r>
            <a:r>
              <a:rPr sz="2400" spc="-20" dirty="0">
                <a:solidFill>
                  <a:srgbClr val="404040"/>
                </a:solidFill>
                <a:latin typeface="Calibri"/>
                <a:cs typeface="Calibri"/>
              </a:rPr>
              <a:t> have</a:t>
            </a:r>
            <a:r>
              <a:rPr sz="2400" dirty="0">
                <a:solidFill>
                  <a:srgbClr val="404040"/>
                </a:solidFill>
                <a:latin typeface="Calibri"/>
                <a:cs typeface="Calibri"/>
              </a:rPr>
              <a:t> a</a:t>
            </a:r>
            <a:r>
              <a:rPr sz="2400" spc="-5" dirty="0">
                <a:solidFill>
                  <a:srgbClr val="404040"/>
                </a:solidFill>
                <a:latin typeface="Calibri"/>
                <a:cs typeface="Calibri"/>
              </a:rPr>
              <a:t> </a:t>
            </a:r>
            <a:r>
              <a:rPr sz="2400" spc="-20" dirty="0">
                <a:solidFill>
                  <a:srgbClr val="404040"/>
                </a:solidFill>
                <a:latin typeface="Calibri"/>
                <a:cs typeface="Calibri"/>
              </a:rPr>
              <a:t>UART</a:t>
            </a:r>
            <a:r>
              <a:rPr sz="2400" spc="-30" dirty="0">
                <a:solidFill>
                  <a:srgbClr val="404040"/>
                </a:solidFill>
                <a:latin typeface="Calibri"/>
                <a:cs typeface="Calibri"/>
              </a:rPr>
              <a:t> </a:t>
            </a:r>
            <a:r>
              <a:rPr sz="2400" spc="-5" dirty="0">
                <a:solidFill>
                  <a:srgbClr val="404040"/>
                </a:solidFill>
                <a:latin typeface="Calibri"/>
                <a:cs typeface="Calibri"/>
              </a:rPr>
              <a:t>module inside.</a:t>
            </a:r>
            <a:endParaRPr lang="en-US" sz="2400" dirty="0">
              <a:latin typeface="Calibri"/>
              <a:cs typeface="Calibri"/>
            </a:endParaRPr>
          </a:p>
          <a:p>
            <a:pPr marL="323850" indent="-311785">
              <a:lnSpc>
                <a:spcPct val="100000"/>
              </a:lnSpc>
              <a:spcBef>
                <a:spcPts val="1110"/>
              </a:spcBef>
              <a:buClr>
                <a:srgbClr val="E38312"/>
              </a:buClr>
              <a:buFont typeface="Wingdings"/>
              <a:buChar char=""/>
              <a:tabLst>
                <a:tab pos="324485" algn="l"/>
              </a:tabLst>
            </a:pPr>
            <a:r>
              <a:rPr sz="2400" dirty="0">
                <a:solidFill>
                  <a:srgbClr val="404040"/>
                </a:solidFill>
                <a:latin typeface="Calibri"/>
                <a:cs typeface="Calibri"/>
              </a:rPr>
              <a:t>A</a:t>
            </a:r>
            <a:r>
              <a:rPr sz="2400" spc="-15" dirty="0">
                <a:solidFill>
                  <a:srgbClr val="404040"/>
                </a:solidFill>
                <a:latin typeface="Calibri"/>
                <a:cs typeface="Calibri"/>
              </a:rPr>
              <a:t> </a:t>
            </a:r>
            <a:r>
              <a:rPr sz="2400" spc="-10" dirty="0">
                <a:solidFill>
                  <a:srgbClr val="404040"/>
                </a:solidFill>
                <a:latin typeface="Calibri"/>
                <a:cs typeface="Calibri"/>
              </a:rPr>
              <a:t>dedicated</a:t>
            </a:r>
            <a:r>
              <a:rPr sz="2400" spc="5" dirty="0">
                <a:solidFill>
                  <a:srgbClr val="404040"/>
                </a:solidFill>
                <a:latin typeface="Calibri"/>
                <a:cs typeface="Calibri"/>
              </a:rPr>
              <a:t> </a:t>
            </a:r>
            <a:r>
              <a:rPr sz="2400" spc="-15" dirty="0">
                <a:solidFill>
                  <a:srgbClr val="404040"/>
                </a:solidFill>
                <a:latin typeface="Calibri"/>
                <a:cs typeface="Calibri"/>
              </a:rPr>
              <a:t>hardware</a:t>
            </a:r>
            <a:r>
              <a:rPr sz="2400" spc="-5" dirty="0">
                <a:solidFill>
                  <a:srgbClr val="404040"/>
                </a:solidFill>
                <a:latin typeface="Calibri"/>
                <a:cs typeface="Calibri"/>
              </a:rPr>
              <a:t> </a:t>
            </a:r>
            <a:r>
              <a:rPr sz="2400" spc="-20" dirty="0">
                <a:solidFill>
                  <a:srgbClr val="404040"/>
                </a:solidFill>
                <a:latin typeface="Calibri"/>
                <a:cs typeface="Calibri"/>
              </a:rPr>
              <a:t>for</a:t>
            </a:r>
            <a:r>
              <a:rPr sz="2400" spc="-5" dirty="0">
                <a:solidFill>
                  <a:srgbClr val="404040"/>
                </a:solidFill>
                <a:latin typeface="Calibri"/>
                <a:cs typeface="Calibri"/>
              </a:rPr>
              <a:t> serial</a:t>
            </a:r>
            <a:r>
              <a:rPr sz="2400" spc="-10" dirty="0">
                <a:solidFill>
                  <a:srgbClr val="404040"/>
                </a:solidFill>
                <a:latin typeface="Calibri"/>
                <a:cs typeface="Calibri"/>
              </a:rPr>
              <a:t> communication</a:t>
            </a:r>
            <a:r>
              <a:rPr sz="2400" spc="-15" dirty="0">
                <a:solidFill>
                  <a:srgbClr val="404040"/>
                </a:solidFill>
                <a:latin typeface="Calibri"/>
                <a:cs typeface="Calibri"/>
              </a:rPr>
              <a:t> </a:t>
            </a:r>
            <a:r>
              <a:rPr sz="2400" dirty="0">
                <a:solidFill>
                  <a:srgbClr val="404040"/>
                </a:solidFill>
                <a:latin typeface="Calibri"/>
                <a:cs typeface="Calibri"/>
              </a:rPr>
              <a:t>is</a:t>
            </a:r>
            <a:r>
              <a:rPr sz="2400" spc="-20" dirty="0">
                <a:solidFill>
                  <a:srgbClr val="404040"/>
                </a:solidFill>
                <a:latin typeface="Calibri"/>
                <a:cs typeface="Calibri"/>
              </a:rPr>
              <a:t> </a:t>
            </a:r>
            <a:r>
              <a:rPr sz="2400" spc="-5" dirty="0">
                <a:solidFill>
                  <a:srgbClr val="404040"/>
                </a:solidFill>
                <a:latin typeface="Calibri"/>
                <a:cs typeface="Calibri"/>
              </a:rPr>
              <a:t>based</a:t>
            </a:r>
            <a:r>
              <a:rPr sz="2400" spc="15" dirty="0">
                <a:solidFill>
                  <a:srgbClr val="404040"/>
                </a:solidFill>
                <a:latin typeface="Calibri"/>
                <a:cs typeface="Calibri"/>
              </a:rPr>
              <a:t> </a:t>
            </a:r>
            <a:r>
              <a:rPr sz="2400" spc="-5" dirty="0">
                <a:solidFill>
                  <a:srgbClr val="404040"/>
                </a:solidFill>
                <a:latin typeface="Calibri"/>
                <a:cs typeface="Calibri"/>
              </a:rPr>
              <a:t>on </a:t>
            </a:r>
            <a:r>
              <a:rPr sz="2400" spc="-10" dirty="0">
                <a:solidFill>
                  <a:srgbClr val="404040"/>
                </a:solidFill>
                <a:latin typeface="Calibri"/>
                <a:cs typeface="Calibri"/>
              </a:rPr>
              <a:t>RS232C</a:t>
            </a:r>
            <a:r>
              <a:rPr sz="2400" spc="-25" dirty="0">
                <a:solidFill>
                  <a:srgbClr val="404040"/>
                </a:solidFill>
                <a:latin typeface="Calibri"/>
                <a:cs typeface="Calibri"/>
              </a:rPr>
              <a:t> </a:t>
            </a:r>
            <a:r>
              <a:rPr sz="2400" spc="-15" dirty="0">
                <a:solidFill>
                  <a:srgbClr val="404040"/>
                </a:solidFill>
                <a:latin typeface="Calibri"/>
                <a:cs typeface="Calibri"/>
              </a:rPr>
              <a:t>protocol.</a:t>
            </a:r>
            <a:endParaRPr sz="2400" dirty="0">
              <a:latin typeface="Calibri"/>
              <a:cs typeface="Calibri"/>
            </a:endParaRPr>
          </a:p>
          <a:p>
            <a:pPr marL="323850" indent="-311785">
              <a:lnSpc>
                <a:spcPct val="100000"/>
              </a:lnSpc>
              <a:spcBef>
                <a:spcPts val="1115"/>
              </a:spcBef>
              <a:buClr>
                <a:srgbClr val="E38312"/>
              </a:buClr>
              <a:buFont typeface="Wingdings"/>
              <a:buChar char=""/>
              <a:tabLst>
                <a:tab pos="324485" algn="l"/>
              </a:tabLst>
            </a:pP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pins </a:t>
            </a:r>
            <a:r>
              <a:rPr sz="2400" spc="-40" dirty="0" err="1">
                <a:solidFill>
                  <a:srgbClr val="404040"/>
                </a:solidFill>
                <a:latin typeface="Calibri"/>
                <a:cs typeface="Calibri"/>
              </a:rPr>
              <a:t>TxD</a:t>
            </a:r>
            <a:r>
              <a:rPr sz="2400" dirty="0">
                <a:solidFill>
                  <a:srgbClr val="404040"/>
                </a:solidFill>
                <a:latin typeface="Calibri"/>
                <a:cs typeface="Calibri"/>
              </a:rPr>
              <a:t> and</a:t>
            </a:r>
            <a:r>
              <a:rPr sz="2400" spc="-5" dirty="0">
                <a:solidFill>
                  <a:srgbClr val="404040"/>
                </a:solidFill>
                <a:latin typeface="Calibri"/>
                <a:cs typeface="Calibri"/>
              </a:rPr>
              <a:t> </a:t>
            </a:r>
            <a:r>
              <a:rPr sz="2400" dirty="0" err="1">
                <a:solidFill>
                  <a:srgbClr val="404040"/>
                </a:solidFill>
                <a:latin typeface="Calibri"/>
                <a:cs typeface="Calibri"/>
              </a:rPr>
              <a:t>RxD</a:t>
            </a:r>
            <a:r>
              <a:rPr sz="2400" spc="-20" dirty="0">
                <a:solidFill>
                  <a:srgbClr val="404040"/>
                </a:solidFill>
                <a:latin typeface="Calibri"/>
                <a:cs typeface="Calibri"/>
              </a:rPr>
              <a:t> </a:t>
            </a:r>
            <a:r>
              <a:rPr sz="2400" spc="-15" dirty="0">
                <a:solidFill>
                  <a:srgbClr val="404040"/>
                </a:solidFill>
                <a:latin typeface="Calibri"/>
                <a:cs typeface="Calibri"/>
              </a:rPr>
              <a:t>are</a:t>
            </a:r>
            <a:r>
              <a:rPr sz="2400" dirty="0">
                <a:solidFill>
                  <a:srgbClr val="404040"/>
                </a:solidFill>
                <a:latin typeface="Calibri"/>
                <a:cs typeface="Calibri"/>
              </a:rPr>
              <a:t> the</a:t>
            </a:r>
            <a:r>
              <a:rPr sz="2400" spc="-15" dirty="0">
                <a:solidFill>
                  <a:srgbClr val="404040"/>
                </a:solidFill>
                <a:latin typeface="Calibri"/>
                <a:cs typeface="Calibri"/>
              </a:rPr>
              <a:t> </a:t>
            </a:r>
            <a:r>
              <a:rPr sz="2400" spc="-5" dirty="0">
                <a:solidFill>
                  <a:srgbClr val="404040"/>
                </a:solidFill>
                <a:latin typeface="Calibri"/>
                <a:cs typeface="Calibri"/>
              </a:rPr>
              <a:t>serial</a:t>
            </a:r>
            <a:r>
              <a:rPr sz="2400" spc="-10" dirty="0">
                <a:solidFill>
                  <a:srgbClr val="404040"/>
                </a:solidFill>
                <a:latin typeface="Calibri"/>
                <a:cs typeface="Calibri"/>
              </a:rPr>
              <a:t> transmit </a:t>
            </a:r>
            <a:r>
              <a:rPr sz="2400" dirty="0">
                <a:solidFill>
                  <a:srgbClr val="404040"/>
                </a:solidFill>
                <a:latin typeface="Calibri"/>
                <a:cs typeface="Calibri"/>
              </a:rPr>
              <a:t>and</a:t>
            </a:r>
            <a:r>
              <a:rPr sz="2400" spc="-5" dirty="0">
                <a:solidFill>
                  <a:srgbClr val="404040"/>
                </a:solidFill>
                <a:latin typeface="Calibri"/>
                <a:cs typeface="Calibri"/>
              </a:rPr>
              <a:t> </a:t>
            </a:r>
            <a:r>
              <a:rPr sz="2400" spc="-10" dirty="0">
                <a:solidFill>
                  <a:srgbClr val="404040"/>
                </a:solidFill>
                <a:latin typeface="Calibri"/>
                <a:cs typeface="Calibri"/>
              </a:rPr>
              <a:t>receive</a:t>
            </a:r>
            <a:r>
              <a:rPr sz="2400" spc="-5" dirty="0">
                <a:solidFill>
                  <a:srgbClr val="404040"/>
                </a:solidFill>
                <a:latin typeface="Calibri"/>
                <a:cs typeface="Calibri"/>
              </a:rPr>
              <a:t> pins.</a:t>
            </a:r>
            <a:endParaRPr sz="2400" dirty="0">
              <a:latin typeface="Calibri"/>
              <a:cs typeface="Calibri"/>
            </a:endParaRPr>
          </a:p>
          <a:p>
            <a:pPr marL="323850" indent="-311785">
              <a:lnSpc>
                <a:spcPts val="2735"/>
              </a:lnSpc>
              <a:spcBef>
                <a:spcPts val="1115"/>
              </a:spcBef>
              <a:buClr>
                <a:srgbClr val="E38312"/>
              </a:buClr>
              <a:buFont typeface="Wingdings"/>
              <a:buChar char=""/>
              <a:tabLst>
                <a:tab pos="324485" algn="l"/>
              </a:tabLst>
            </a:pPr>
            <a:r>
              <a:rPr sz="2400" spc="-5" dirty="0">
                <a:solidFill>
                  <a:srgbClr val="404040"/>
                </a:solidFill>
                <a:latin typeface="Calibri"/>
                <a:cs typeface="Calibri"/>
              </a:rPr>
              <a:t>Many external modules like GSM</a:t>
            </a:r>
            <a:r>
              <a:rPr lang="en-US" sz="2400" spc="-5" dirty="0">
                <a:solidFill>
                  <a:srgbClr val="404040"/>
                </a:solidFill>
                <a:latin typeface="Calibri"/>
                <a:cs typeface="Calibri"/>
              </a:rPr>
              <a:t>(</a:t>
            </a:r>
            <a:r>
              <a:rPr lang="en-IN" sz="2400" spc="-5" dirty="0">
                <a:solidFill>
                  <a:srgbClr val="404040"/>
                </a:solidFill>
                <a:latin typeface="Calibri"/>
                <a:cs typeface="Calibri"/>
              </a:rPr>
              <a:t>Global System for Mobile Communications)</a:t>
            </a:r>
            <a:r>
              <a:rPr sz="2400" spc="-5" dirty="0">
                <a:solidFill>
                  <a:srgbClr val="404040"/>
                </a:solidFill>
                <a:latin typeface="Calibri"/>
                <a:cs typeface="Calibri"/>
              </a:rPr>
              <a:t> and GPS</a:t>
            </a:r>
            <a:r>
              <a:rPr lang="en-US" sz="2400" spc="-5" dirty="0">
                <a:solidFill>
                  <a:srgbClr val="404040"/>
                </a:solidFill>
                <a:latin typeface="Calibri"/>
                <a:cs typeface="Calibri"/>
              </a:rPr>
              <a:t>(</a:t>
            </a:r>
            <a:r>
              <a:rPr lang="en-IN" sz="2400" spc="-5" dirty="0">
                <a:solidFill>
                  <a:srgbClr val="404040"/>
                </a:solidFill>
                <a:latin typeface="Calibri"/>
                <a:cs typeface="Calibri"/>
              </a:rPr>
              <a:t>Global Positioning System)</a:t>
            </a:r>
            <a:r>
              <a:rPr sz="2400" spc="-5" dirty="0">
                <a:solidFill>
                  <a:srgbClr val="404040"/>
                </a:solidFill>
                <a:latin typeface="Calibri"/>
                <a:cs typeface="Calibri"/>
              </a:rPr>
              <a:t> use the UART pins for interfacing an</a:t>
            </a:r>
            <a:r>
              <a:rPr lang="en-US" sz="2400" spc="-5" dirty="0">
                <a:solidFill>
                  <a:srgbClr val="404040"/>
                </a:solidFill>
                <a:latin typeface="Calibri"/>
                <a:cs typeface="Calibri"/>
              </a:rPr>
              <a:t> </a:t>
            </a:r>
            <a:r>
              <a:rPr sz="2400" spc="-5" dirty="0">
                <a:solidFill>
                  <a:srgbClr val="404040"/>
                </a:solidFill>
                <a:latin typeface="Calibri"/>
                <a:cs typeface="Calibri"/>
              </a:rPr>
              <a:t>MCU.</a:t>
            </a:r>
            <a:endParaRPr lang="en-US" sz="2400" spc="-5" dirty="0">
              <a:solidFill>
                <a:srgbClr val="404040"/>
              </a:solidFill>
              <a:latin typeface="Calibri"/>
              <a:cs typeface="Calibri"/>
            </a:endParaRPr>
          </a:p>
          <a:p>
            <a:pPr marL="323850" indent="-311785">
              <a:lnSpc>
                <a:spcPts val="2735"/>
              </a:lnSpc>
              <a:spcBef>
                <a:spcPts val="1115"/>
              </a:spcBef>
              <a:buClr>
                <a:srgbClr val="E38312"/>
              </a:buClr>
              <a:buFont typeface="Wingdings"/>
              <a:buChar char=""/>
              <a:tabLst>
                <a:tab pos="324485" algn="l"/>
              </a:tabLst>
            </a:pPr>
            <a:r>
              <a:rPr lang="en-US" sz="2400" spc="-5" dirty="0" smtClean="0">
                <a:solidFill>
                  <a:srgbClr val="404040"/>
                </a:solidFill>
                <a:latin typeface="Calibri"/>
                <a:cs typeface="Calibri"/>
              </a:rPr>
              <a:t>Simpler </a:t>
            </a:r>
            <a:r>
              <a:rPr lang="en-US" sz="2400" spc="-5" dirty="0">
                <a:solidFill>
                  <a:srgbClr val="404040"/>
                </a:solidFill>
                <a:latin typeface="Calibri"/>
                <a:cs typeface="Calibri"/>
              </a:rPr>
              <a:t>data transfer protocols like I2C(Inter Integrated Circuit)and SPI(Serial Peripheral Interface)are also available as peripherals in most MCUs.</a:t>
            </a:r>
            <a:endParaRPr sz="2400" spc="-5" dirty="0">
              <a:solidFill>
                <a:srgbClr val="404040"/>
              </a:solidFill>
              <a:latin typeface="Calibri"/>
              <a:cs typeface="Calibri"/>
            </a:endParaRPr>
          </a:p>
        </p:txBody>
      </p:sp>
      <p:sp>
        <p:nvSpPr>
          <p:cNvPr id="10" name="object 10"/>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11" name="object 11"/>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2" name="object 12"/>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a:t>
            </a:r>
            <a:endParaRPr sz="1050">
              <a:latin typeface="Calibri"/>
              <a:cs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6563995" cy="756920"/>
          </a:xfrm>
          <a:prstGeom prst="rect">
            <a:avLst/>
          </a:prstGeom>
        </p:spPr>
        <p:txBody>
          <a:bodyPr vert="horz" wrap="square" lIns="0" tIns="12700" rIns="0" bIns="0" rtlCol="0">
            <a:spAutoFit/>
          </a:bodyPr>
          <a:lstStyle/>
          <a:p>
            <a:pPr marL="12700">
              <a:lnSpc>
                <a:spcPct val="100000"/>
              </a:lnSpc>
              <a:spcBef>
                <a:spcPts val="100"/>
              </a:spcBef>
            </a:pPr>
            <a:r>
              <a:rPr sz="4800" b="0" spc="-55" dirty="0" smtClean="0">
                <a:solidFill>
                  <a:srgbClr val="00AFEF"/>
                </a:solidFill>
                <a:latin typeface="Calibri Light"/>
                <a:cs typeface="Calibri Light"/>
              </a:rPr>
              <a:t>Direct</a:t>
            </a:r>
            <a:r>
              <a:rPr sz="4800" b="0" spc="-135" dirty="0" smtClean="0">
                <a:solidFill>
                  <a:srgbClr val="00AFEF"/>
                </a:solidFill>
                <a:latin typeface="Calibri Light"/>
                <a:cs typeface="Calibri Light"/>
              </a:rPr>
              <a:t> </a:t>
            </a:r>
            <a:r>
              <a:rPr sz="4800" b="0" spc="-40" dirty="0">
                <a:solidFill>
                  <a:srgbClr val="00AFEF"/>
                </a:solidFill>
                <a:latin typeface="Calibri Light"/>
                <a:cs typeface="Calibri Light"/>
              </a:rPr>
              <a:t>Memory</a:t>
            </a:r>
            <a:r>
              <a:rPr sz="4800" b="0" spc="-140" dirty="0">
                <a:solidFill>
                  <a:srgbClr val="00AFEF"/>
                </a:solidFill>
                <a:latin typeface="Calibri Light"/>
                <a:cs typeface="Calibri Light"/>
              </a:rPr>
              <a:t> </a:t>
            </a:r>
            <a:r>
              <a:rPr sz="4800" b="0" spc="-45" dirty="0">
                <a:solidFill>
                  <a:srgbClr val="00AFEF"/>
                </a:solidFill>
                <a:latin typeface="Calibri Light"/>
                <a:cs typeface="Calibri Light"/>
              </a:rPr>
              <a:t>Access</a:t>
            </a:r>
            <a:endParaRPr sz="4800" dirty="0">
              <a:latin typeface="Calibri Light"/>
              <a:cs typeface="Calibri Light"/>
            </a:endParaRPr>
          </a:p>
        </p:txBody>
      </p:sp>
      <p:sp>
        <p:nvSpPr>
          <p:cNvPr id="7" name="object 7"/>
          <p:cNvSpPr txBox="1"/>
          <p:nvPr/>
        </p:nvSpPr>
        <p:spPr>
          <a:xfrm>
            <a:off x="740536" y="1891132"/>
            <a:ext cx="10300970" cy="4005584"/>
          </a:xfrm>
          <a:prstGeom prst="rect">
            <a:avLst/>
          </a:prstGeom>
        </p:spPr>
        <p:txBody>
          <a:bodyPr vert="horz" wrap="square" lIns="0" tIns="47625" rIns="0" bIns="0" rtlCol="0">
            <a:spAutoFit/>
          </a:bodyPr>
          <a:lstStyle/>
          <a:p>
            <a:pPr marL="103505" marR="444500" indent="-91440" algn="just">
              <a:lnSpc>
                <a:spcPts val="2160"/>
              </a:lnSpc>
              <a:spcBef>
                <a:spcPts val="375"/>
              </a:spcBef>
              <a:buClr>
                <a:srgbClr val="E38312"/>
              </a:buClr>
              <a:buFont typeface="Wingdings"/>
              <a:buChar char=""/>
              <a:tabLst>
                <a:tab pos="270510" algn="l"/>
              </a:tabLst>
            </a:pPr>
            <a:r>
              <a:rPr sz="2400" spc="-20" dirty="0">
                <a:solidFill>
                  <a:srgbClr val="404040"/>
                </a:solidFill>
                <a:latin typeface="Calibri"/>
                <a:cs typeface="Calibri"/>
              </a:rPr>
              <a:t>Basically,</a:t>
            </a:r>
            <a:r>
              <a:rPr sz="2400" spc="15" dirty="0">
                <a:solidFill>
                  <a:srgbClr val="404040"/>
                </a:solidFill>
                <a:latin typeface="Calibri"/>
                <a:cs typeface="Calibri"/>
              </a:rPr>
              <a:t> </a:t>
            </a:r>
            <a:r>
              <a:rPr sz="2400" dirty="0">
                <a:solidFill>
                  <a:srgbClr val="404040"/>
                </a:solidFill>
                <a:latin typeface="Calibri"/>
                <a:cs typeface="Calibri"/>
              </a:rPr>
              <a:t>in</a:t>
            </a:r>
            <a:r>
              <a:rPr sz="2400" spc="-5"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20" dirty="0">
                <a:solidFill>
                  <a:srgbClr val="404040"/>
                </a:solidFill>
                <a:latin typeface="Calibri"/>
                <a:cs typeface="Calibri"/>
              </a:rPr>
              <a:t>system</a:t>
            </a:r>
            <a:r>
              <a:rPr sz="2400" spc="10" dirty="0">
                <a:solidFill>
                  <a:srgbClr val="404040"/>
                </a:solidFill>
                <a:latin typeface="Calibri"/>
                <a:cs typeface="Calibri"/>
              </a:rPr>
              <a:t> </a:t>
            </a:r>
            <a:r>
              <a:rPr sz="2400" dirty="0">
                <a:solidFill>
                  <a:srgbClr val="404040"/>
                </a:solidFill>
                <a:latin typeface="Calibri"/>
                <a:cs typeface="Calibri"/>
              </a:rPr>
              <a:t>when</a:t>
            </a:r>
            <a:r>
              <a:rPr sz="2400" spc="-5"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10" dirty="0">
                <a:solidFill>
                  <a:srgbClr val="404040"/>
                </a:solidFill>
                <a:latin typeface="Calibri"/>
                <a:cs typeface="Calibri"/>
              </a:rPr>
              <a:t>data</a:t>
            </a:r>
            <a:r>
              <a:rPr sz="2400" spc="5"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15" dirty="0">
                <a:solidFill>
                  <a:srgbClr val="404040"/>
                </a:solidFill>
                <a:latin typeface="Calibri"/>
                <a:cs typeface="Calibri"/>
              </a:rPr>
              <a:t>to</a:t>
            </a:r>
            <a:r>
              <a:rPr sz="2400" dirty="0">
                <a:solidFill>
                  <a:srgbClr val="404040"/>
                </a:solidFill>
                <a:latin typeface="Calibri"/>
                <a:cs typeface="Calibri"/>
              </a:rPr>
              <a:t> be</a:t>
            </a:r>
            <a:r>
              <a:rPr sz="2400" spc="-5" dirty="0">
                <a:solidFill>
                  <a:srgbClr val="404040"/>
                </a:solidFill>
                <a:latin typeface="Calibri"/>
                <a:cs typeface="Calibri"/>
              </a:rPr>
              <a:t> </a:t>
            </a:r>
            <a:r>
              <a:rPr sz="2400" spc="-10" dirty="0">
                <a:solidFill>
                  <a:srgbClr val="404040"/>
                </a:solidFill>
                <a:latin typeface="Calibri"/>
                <a:cs typeface="Calibri"/>
              </a:rPr>
              <a:t>moved</a:t>
            </a:r>
            <a:r>
              <a:rPr sz="2400" spc="5" dirty="0">
                <a:solidFill>
                  <a:srgbClr val="404040"/>
                </a:solidFill>
                <a:latin typeface="Calibri"/>
                <a:cs typeface="Calibri"/>
              </a:rPr>
              <a:t> </a:t>
            </a:r>
            <a:r>
              <a:rPr sz="2400" spc="-5" dirty="0">
                <a:solidFill>
                  <a:srgbClr val="404040"/>
                </a:solidFill>
                <a:latin typeface="Calibri"/>
                <a:cs typeface="Calibri"/>
              </a:rPr>
              <a:t>between </a:t>
            </a:r>
            <a:r>
              <a:rPr sz="2400" dirty="0">
                <a:solidFill>
                  <a:srgbClr val="404040"/>
                </a:solidFill>
                <a:latin typeface="Calibri"/>
                <a:cs typeface="Calibri"/>
              </a:rPr>
              <a:t>memory and </a:t>
            </a:r>
            <a:r>
              <a:rPr sz="2400" spc="-10" dirty="0">
                <a:solidFill>
                  <a:srgbClr val="404040"/>
                </a:solidFill>
                <a:latin typeface="Calibri"/>
                <a:cs typeface="Calibri"/>
              </a:rPr>
              <a:t>external</a:t>
            </a:r>
            <a:r>
              <a:rPr sz="2400" spc="25" dirty="0">
                <a:solidFill>
                  <a:srgbClr val="404040"/>
                </a:solidFill>
                <a:latin typeface="Calibri"/>
                <a:cs typeface="Calibri"/>
              </a:rPr>
              <a:t> </a:t>
            </a:r>
            <a:r>
              <a:rPr sz="2400" spc="-5" dirty="0">
                <a:solidFill>
                  <a:srgbClr val="404040"/>
                </a:solidFill>
                <a:latin typeface="Calibri"/>
                <a:cs typeface="Calibri"/>
              </a:rPr>
              <a:t>devices,</a:t>
            </a:r>
            <a:r>
              <a:rPr sz="2400" spc="15" dirty="0">
                <a:solidFill>
                  <a:srgbClr val="404040"/>
                </a:solidFill>
                <a:latin typeface="Calibri"/>
                <a:cs typeface="Calibri"/>
              </a:rPr>
              <a:t> </a:t>
            </a:r>
            <a:r>
              <a:rPr sz="2400" dirty="0">
                <a:solidFill>
                  <a:srgbClr val="404040"/>
                </a:solidFill>
                <a:latin typeface="Calibri"/>
                <a:cs typeface="Calibri"/>
              </a:rPr>
              <a:t>it</a:t>
            </a:r>
            <a:r>
              <a:rPr sz="2400" spc="5" dirty="0">
                <a:solidFill>
                  <a:srgbClr val="404040"/>
                </a:solidFill>
                <a:latin typeface="Calibri"/>
                <a:cs typeface="Calibri"/>
              </a:rPr>
              <a:t> </a:t>
            </a:r>
            <a:r>
              <a:rPr sz="2400" spc="-5" dirty="0">
                <a:solidFill>
                  <a:srgbClr val="404040"/>
                </a:solidFill>
                <a:latin typeface="Calibri"/>
                <a:cs typeface="Calibri"/>
              </a:rPr>
              <a:t>is </a:t>
            </a:r>
            <a:r>
              <a:rPr sz="2400" spc="-434" dirty="0">
                <a:solidFill>
                  <a:srgbClr val="404040"/>
                </a:solidFill>
                <a:latin typeface="Calibri"/>
                <a:cs typeface="Calibri"/>
              </a:rPr>
              <a:t> </a:t>
            </a:r>
            <a:r>
              <a:rPr sz="2400" dirty="0">
                <a:solidFill>
                  <a:srgbClr val="404040"/>
                </a:solidFill>
                <a:latin typeface="Calibri"/>
                <a:cs typeface="Calibri"/>
              </a:rPr>
              <a:t>channelled</a:t>
            </a:r>
            <a:r>
              <a:rPr sz="2400" spc="-10" dirty="0">
                <a:solidFill>
                  <a:srgbClr val="404040"/>
                </a:solidFill>
                <a:latin typeface="Calibri"/>
                <a:cs typeface="Calibri"/>
              </a:rPr>
              <a:t> </a:t>
            </a:r>
            <a:r>
              <a:rPr sz="2400" spc="-5" dirty="0">
                <a:solidFill>
                  <a:srgbClr val="404040"/>
                </a:solidFill>
                <a:latin typeface="Calibri"/>
                <a:cs typeface="Calibri"/>
              </a:rPr>
              <a:t>through</a:t>
            </a:r>
            <a:r>
              <a:rPr sz="2400" spc="-20" dirty="0">
                <a:solidFill>
                  <a:srgbClr val="404040"/>
                </a:solidFill>
                <a:latin typeface="Calibri"/>
                <a:cs typeface="Calibri"/>
              </a:rPr>
              <a:t> </a:t>
            </a:r>
            <a:r>
              <a:rPr sz="2400" dirty="0">
                <a:solidFill>
                  <a:srgbClr val="404040"/>
                </a:solidFill>
                <a:latin typeface="Calibri"/>
                <a:cs typeface="Calibri"/>
              </a:rPr>
              <a:t>the</a:t>
            </a:r>
            <a:r>
              <a:rPr sz="2400" spc="-10" dirty="0">
                <a:solidFill>
                  <a:srgbClr val="404040"/>
                </a:solidFill>
                <a:latin typeface="Calibri"/>
                <a:cs typeface="Calibri"/>
              </a:rPr>
              <a:t> </a:t>
            </a:r>
            <a:r>
              <a:rPr sz="2400" spc="-5" dirty="0">
                <a:solidFill>
                  <a:srgbClr val="404040"/>
                </a:solidFill>
                <a:latin typeface="Calibri"/>
                <a:cs typeface="Calibri"/>
              </a:rPr>
              <a:t>CPU</a:t>
            </a:r>
            <a:r>
              <a:rPr sz="2400" spc="-10" dirty="0">
                <a:solidFill>
                  <a:srgbClr val="404040"/>
                </a:solidFill>
                <a:latin typeface="Calibri"/>
                <a:cs typeface="Calibri"/>
              </a:rPr>
              <a:t> </a:t>
            </a:r>
            <a:r>
              <a:rPr sz="2400" spc="-15" dirty="0">
                <a:solidFill>
                  <a:srgbClr val="404040"/>
                </a:solidFill>
                <a:latin typeface="Calibri"/>
                <a:cs typeface="Calibri"/>
              </a:rPr>
              <a:t>registers.</a:t>
            </a:r>
            <a:r>
              <a:rPr sz="2400" spc="20" dirty="0">
                <a:solidFill>
                  <a:srgbClr val="404040"/>
                </a:solidFill>
                <a:latin typeface="Calibri"/>
                <a:cs typeface="Calibri"/>
              </a:rPr>
              <a:t> </a:t>
            </a:r>
            <a:r>
              <a:rPr sz="2400" spc="-10" dirty="0">
                <a:solidFill>
                  <a:srgbClr val="404040"/>
                </a:solidFill>
                <a:latin typeface="Calibri"/>
                <a:cs typeface="Calibri"/>
              </a:rPr>
              <a:t>(For</a:t>
            </a:r>
            <a:r>
              <a:rPr sz="2400" spc="-15" dirty="0">
                <a:solidFill>
                  <a:srgbClr val="404040"/>
                </a:solidFill>
                <a:latin typeface="Calibri"/>
                <a:cs typeface="Calibri"/>
              </a:rPr>
              <a:t> </a:t>
            </a:r>
            <a:r>
              <a:rPr sz="2400" dirty="0">
                <a:solidFill>
                  <a:srgbClr val="404040"/>
                </a:solidFill>
                <a:latin typeface="Calibri"/>
                <a:cs typeface="Calibri"/>
              </a:rPr>
              <a:t>Normal </a:t>
            </a:r>
            <a:r>
              <a:rPr sz="2400" spc="-5" dirty="0">
                <a:solidFill>
                  <a:srgbClr val="404040"/>
                </a:solidFill>
                <a:latin typeface="Calibri"/>
                <a:cs typeface="Calibri"/>
              </a:rPr>
              <a:t>Case)</a:t>
            </a:r>
            <a:endParaRPr sz="2400" dirty="0">
              <a:latin typeface="Calibri"/>
              <a:cs typeface="Calibri"/>
            </a:endParaRPr>
          </a:p>
          <a:p>
            <a:pPr marL="327660" indent="-315595" algn="just">
              <a:lnSpc>
                <a:spcPct val="100000"/>
              </a:lnSpc>
              <a:spcBef>
                <a:spcPts val="1130"/>
              </a:spcBef>
              <a:buClr>
                <a:srgbClr val="E38312"/>
              </a:buClr>
              <a:buFont typeface="Wingdings"/>
              <a:buChar char=""/>
              <a:tabLst>
                <a:tab pos="328295" algn="l"/>
              </a:tabLst>
            </a:pPr>
            <a:r>
              <a:rPr sz="2400" dirty="0">
                <a:solidFill>
                  <a:srgbClr val="404040"/>
                </a:solidFill>
                <a:latin typeface="Calibri"/>
                <a:cs typeface="Calibri"/>
              </a:rPr>
              <a:t>But,</a:t>
            </a:r>
            <a:r>
              <a:rPr sz="2400" spc="5" dirty="0">
                <a:solidFill>
                  <a:srgbClr val="404040"/>
                </a:solidFill>
                <a:latin typeface="Calibri"/>
                <a:cs typeface="Calibri"/>
              </a:rPr>
              <a:t> </a:t>
            </a:r>
            <a:r>
              <a:rPr sz="2400" spc="-5" dirty="0">
                <a:solidFill>
                  <a:srgbClr val="404040"/>
                </a:solidFill>
                <a:latin typeface="Calibri"/>
                <a:cs typeface="Calibri"/>
              </a:rPr>
              <a:t>if</a:t>
            </a:r>
            <a:r>
              <a:rPr sz="2400" spc="5"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dirty="0">
                <a:solidFill>
                  <a:srgbClr val="404040"/>
                </a:solidFill>
                <a:latin typeface="Calibri"/>
                <a:cs typeface="Calibri"/>
              </a:rPr>
              <a:t>lot</a:t>
            </a:r>
            <a:r>
              <a:rPr sz="2400" spc="5" dirty="0">
                <a:solidFill>
                  <a:srgbClr val="404040"/>
                </a:solidFill>
                <a:latin typeface="Calibri"/>
                <a:cs typeface="Calibri"/>
              </a:rPr>
              <a:t> </a:t>
            </a:r>
            <a:r>
              <a:rPr sz="2400" dirty="0">
                <a:solidFill>
                  <a:srgbClr val="404040"/>
                </a:solidFill>
                <a:latin typeface="Calibri"/>
                <a:cs typeface="Calibri"/>
              </a:rPr>
              <a:t>of</a:t>
            </a:r>
            <a:r>
              <a:rPr sz="2400" spc="-5" dirty="0">
                <a:solidFill>
                  <a:srgbClr val="404040"/>
                </a:solidFill>
                <a:latin typeface="Calibri"/>
                <a:cs typeface="Calibri"/>
              </a:rPr>
              <a:t> </a:t>
            </a:r>
            <a:r>
              <a:rPr sz="2400" spc="-15" dirty="0">
                <a:solidFill>
                  <a:srgbClr val="404040"/>
                </a:solidFill>
                <a:latin typeface="Calibri"/>
                <a:cs typeface="Calibri"/>
              </a:rPr>
              <a:t>data</a:t>
            </a:r>
            <a:r>
              <a:rPr sz="2400" spc="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spc="-15" dirty="0">
                <a:solidFill>
                  <a:srgbClr val="404040"/>
                </a:solidFill>
                <a:latin typeface="Calibri"/>
                <a:cs typeface="Calibri"/>
              </a:rPr>
              <a:t>involved,</a:t>
            </a:r>
            <a:r>
              <a:rPr sz="2400" spc="5" dirty="0">
                <a:solidFill>
                  <a:srgbClr val="404040"/>
                </a:solidFill>
                <a:latin typeface="Calibri"/>
                <a:cs typeface="Calibri"/>
              </a:rPr>
              <a:t> </a:t>
            </a:r>
            <a:r>
              <a:rPr sz="2400" dirty="0">
                <a:solidFill>
                  <a:srgbClr val="404040"/>
                </a:solidFill>
                <a:latin typeface="Calibri"/>
                <a:cs typeface="Calibri"/>
              </a:rPr>
              <a:t>it</a:t>
            </a:r>
            <a:r>
              <a:rPr sz="2400" spc="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15" dirty="0">
                <a:solidFill>
                  <a:srgbClr val="404040"/>
                </a:solidFill>
                <a:latin typeface="Calibri"/>
                <a:cs typeface="Calibri"/>
              </a:rPr>
              <a:t>waste</a:t>
            </a:r>
            <a:r>
              <a:rPr sz="2400" spc="15" dirty="0">
                <a:solidFill>
                  <a:srgbClr val="404040"/>
                </a:solidFill>
                <a:latin typeface="Calibri"/>
                <a:cs typeface="Calibri"/>
              </a:rPr>
              <a:t> </a:t>
            </a:r>
            <a:r>
              <a:rPr sz="2400" dirty="0">
                <a:solidFill>
                  <a:srgbClr val="404040"/>
                </a:solidFill>
                <a:latin typeface="Calibri"/>
                <a:cs typeface="Calibri"/>
              </a:rPr>
              <a:t>of</a:t>
            </a:r>
            <a:r>
              <a:rPr sz="2400" spc="-10" dirty="0">
                <a:solidFill>
                  <a:srgbClr val="404040"/>
                </a:solidFill>
                <a:latin typeface="Calibri"/>
                <a:cs typeface="Calibri"/>
              </a:rPr>
              <a:t> </a:t>
            </a:r>
            <a:r>
              <a:rPr sz="2400" spc="-5" dirty="0">
                <a:solidFill>
                  <a:srgbClr val="404040"/>
                </a:solidFill>
                <a:latin typeface="Calibri"/>
                <a:cs typeface="Calibri"/>
              </a:rPr>
              <a:t>time</a:t>
            </a:r>
            <a:r>
              <a:rPr sz="2400" spc="15" dirty="0">
                <a:solidFill>
                  <a:srgbClr val="404040"/>
                </a:solidFill>
                <a:latin typeface="Calibri"/>
                <a:cs typeface="Calibri"/>
              </a:rPr>
              <a:t> </a:t>
            </a:r>
            <a:r>
              <a:rPr sz="2400" dirty="0">
                <a:solidFill>
                  <a:srgbClr val="404040"/>
                </a:solidFill>
                <a:latin typeface="Calibri"/>
                <a:cs typeface="Calibri"/>
              </a:rPr>
              <a:t>and</a:t>
            </a:r>
            <a:r>
              <a:rPr sz="2400" spc="5" dirty="0">
                <a:solidFill>
                  <a:srgbClr val="404040"/>
                </a:solidFill>
                <a:latin typeface="Calibri"/>
                <a:cs typeface="Calibri"/>
              </a:rPr>
              <a:t> </a:t>
            </a:r>
            <a:r>
              <a:rPr sz="2400" spc="-15" dirty="0">
                <a:solidFill>
                  <a:srgbClr val="404040"/>
                </a:solidFill>
                <a:latin typeface="Calibri"/>
                <a:cs typeface="Calibri"/>
              </a:rPr>
              <a:t>effort </a:t>
            </a:r>
            <a:r>
              <a:rPr sz="2400" spc="-10" dirty="0">
                <a:solidFill>
                  <a:srgbClr val="404040"/>
                </a:solidFill>
                <a:latin typeface="Calibri"/>
                <a:cs typeface="Calibri"/>
              </a:rPr>
              <a:t>to</a:t>
            </a:r>
            <a:r>
              <a:rPr sz="2400" dirty="0">
                <a:solidFill>
                  <a:srgbClr val="404040"/>
                </a:solidFill>
                <a:latin typeface="Calibri"/>
                <a:cs typeface="Calibri"/>
              </a:rPr>
              <a:t> </a:t>
            </a:r>
            <a:r>
              <a:rPr sz="2400" spc="-5" dirty="0">
                <a:solidFill>
                  <a:srgbClr val="404040"/>
                </a:solidFill>
                <a:latin typeface="Calibri"/>
                <a:cs typeface="Calibri"/>
              </a:rPr>
              <a:t>use</a:t>
            </a:r>
            <a:r>
              <a:rPr sz="2400" dirty="0">
                <a:solidFill>
                  <a:srgbClr val="404040"/>
                </a:solidFill>
                <a:latin typeface="Calibri"/>
                <a:cs typeface="Calibri"/>
              </a:rPr>
              <a:t> the</a:t>
            </a:r>
            <a:r>
              <a:rPr sz="2400" spc="-10" dirty="0">
                <a:solidFill>
                  <a:srgbClr val="404040"/>
                </a:solidFill>
                <a:latin typeface="Calibri"/>
                <a:cs typeface="Calibri"/>
              </a:rPr>
              <a:t> </a:t>
            </a:r>
            <a:r>
              <a:rPr sz="2400" spc="-5" dirty="0">
                <a:solidFill>
                  <a:srgbClr val="404040"/>
                </a:solidFill>
                <a:latin typeface="Calibri"/>
                <a:cs typeface="Calibri"/>
              </a:rPr>
              <a:t>CPU</a:t>
            </a:r>
            <a:r>
              <a:rPr sz="2400" spc="5" dirty="0">
                <a:solidFill>
                  <a:srgbClr val="404040"/>
                </a:solidFill>
                <a:latin typeface="Calibri"/>
                <a:cs typeface="Calibri"/>
              </a:rPr>
              <a:t> </a:t>
            </a:r>
            <a:r>
              <a:rPr sz="2400" dirty="0">
                <a:solidFill>
                  <a:srgbClr val="404040"/>
                </a:solidFill>
                <a:latin typeface="Calibri"/>
                <a:cs typeface="Calibri"/>
              </a:rPr>
              <a:t>as</a:t>
            </a:r>
            <a:r>
              <a:rPr sz="2400" spc="-5" dirty="0">
                <a:solidFill>
                  <a:srgbClr val="404040"/>
                </a:solidFill>
                <a:latin typeface="Calibri"/>
                <a:cs typeface="Calibri"/>
              </a:rPr>
              <a:t> </a:t>
            </a:r>
            <a:r>
              <a:rPr sz="2400" dirty="0">
                <a:solidFill>
                  <a:srgbClr val="404040"/>
                </a:solidFill>
                <a:latin typeface="Calibri"/>
                <a:cs typeface="Calibri"/>
              </a:rPr>
              <a:t>an</a:t>
            </a:r>
            <a:r>
              <a:rPr sz="2400" spc="10" dirty="0">
                <a:solidFill>
                  <a:srgbClr val="404040"/>
                </a:solidFill>
                <a:latin typeface="Calibri"/>
                <a:cs typeface="Calibri"/>
              </a:rPr>
              <a:t> </a:t>
            </a:r>
            <a:r>
              <a:rPr sz="2400" spc="-25" dirty="0">
                <a:solidFill>
                  <a:srgbClr val="404040"/>
                </a:solidFill>
                <a:latin typeface="Calibri"/>
                <a:cs typeface="Calibri"/>
              </a:rPr>
              <a:t>intermediator.</a:t>
            </a:r>
            <a:endParaRPr sz="2400" dirty="0">
              <a:latin typeface="Calibri"/>
              <a:cs typeface="Calibri"/>
            </a:endParaRPr>
          </a:p>
          <a:p>
            <a:pPr marL="103505" marR="668020" indent="-91440" algn="just">
              <a:lnSpc>
                <a:spcPts val="2160"/>
              </a:lnSpc>
              <a:spcBef>
                <a:spcPts val="1425"/>
              </a:spcBef>
              <a:buClr>
                <a:srgbClr val="E38312"/>
              </a:buClr>
              <a:buFont typeface="Wingdings"/>
              <a:buChar char=""/>
              <a:tabLst>
                <a:tab pos="270510" algn="l"/>
              </a:tabLst>
            </a:pPr>
            <a:r>
              <a:rPr sz="2400" dirty="0">
                <a:solidFill>
                  <a:srgbClr val="404040"/>
                </a:solidFill>
                <a:latin typeface="Calibri"/>
                <a:cs typeface="Calibri"/>
              </a:rPr>
              <a:t>DMA </a:t>
            </a:r>
            <a:r>
              <a:rPr sz="2400" spc="-5" dirty="0">
                <a:solidFill>
                  <a:srgbClr val="404040"/>
                </a:solidFill>
                <a:latin typeface="Calibri"/>
                <a:cs typeface="Calibri"/>
              </a:rPr>
              <a:t>is</a:t>
            </a:r>
            <a:r>
              <a:rPr sz="2400" spc="5" dirty="0">
                <a:solidFill>
                  <a:srgbClr val="404040"/>
                </a:solidFill>
                <a:latin typeface="Calibri"/>
                <a:cs typeface="Calibri"/>
              </a:rPr>
              <a:t> </a:t>
            </a:r>
            <a:r>
              <a:rPr sz="2400" dirty="0">
                <a:solidFill>
                  <a:srgbClr val="404040"/>
                </a:solidFill>
                <a:latin typeface="Calibri"/>
                <a:cs typeface="Calibri"/>
              </a:rPr>
              <a:t>the </a:t>
            </a:r>
            <a:r>
              <a:rPr sz="2400" spc="-5" dirty="0">
                <a:solidFill>
                  <a:srgbClr val="404040"/>
                </a:solidFill>
                <a:latin typeface="Calibri"/>
                <a:cs typeface="Calibri"/>
              </a:rPr>
              <a:t>scenario</a:t>
            </a:r>
            <a:r>
              <a:rPr sz="2400" dirty="0">
                <a:solidFill>
                  <a:srgbClr val="404040"/>
                </a:solidFill>
                <a:latin typeface="Calibri"/>
                <a:cs typeface="Calibri"/>
              </a:rPr>
              <a:t> when the</a:t>
            </a:r>
            <a:r>
              <a:rPr sz="2400" spc="-10" dirty="0">
                <a:solidFill>
                  <a:srgbClr val="404040"/>
                </a:solidFill>
                <a:latin typeface="Calibri"/>
                <a:cs typeface="Calibri"/>
              </a:rPr>
              <a:t> </a:t>
            </a:r>
            <a:r>
              <a:rPr sz="2400" spc="-15" dirty="0">
                <a:solidFill>
                  <a:srgbClr val="404040"/>
                </a:solidFill>
                <a:latin typeface="Calibri"/>
                <a:cs typeface="Calibri"/>
              </a:rPr>
              <a:t>transfer</a:t>
            </a:r>
            <a:r>
              <a:rPr sz="2400" spc="10" dirty="0">
                <a:solidFill>
                  <a:srgbClr val="404040"/>
                </a:solidFill>
                <a:latin typeface="Calibri"/>
                <a:cs typeface="Calibri"/>
              </a:rPr>
              <a:t> </a:t>
            </a:r>
            <a:r>
              <a:rPr sz="2400" spc="-5" dirty="0">
                <a:solidFill>
                  <a:srgbClr val="404040"/>
                </a:solidFill>
                <a:latin typeface="Calibri"/>
                <a:cs typeface="Calibri"/>
              </a:rPr>
              <a:t>of</a:t>
            </a:r>
            <a:r>
              <a:rPr sz="2400" dirty="0">
                <a:solidFill>
                  <a:srgbClr val="404040"/>
                </a:solidFill>
                <a:latin typeface="Calibri"/>
                <a:cs typeface="Calibri"/>
              </a:rPr>
              <a:t> </a:t>
            </a:r>
            <a:r>
              <a:rPr sz="2400" spc="-10" dirty="0">
                <a:solidFill>
                  <a:srgbClr val="404040"/>
                </a:solidFill>
                <a:latin typeface="Calibri"/>
                <a:cs typeface="Calibri"/>
              </a:rPr>
              <a:t>data</a:t>
            </a:r>
            <a:r>
              <a:rPr sz="2400" dirty="0">
                <a:solidFill>
                  <a:srgbClr val="404040"/>
                </a:solidFill>
                <a:latin typeface="Calibri"/>
                <a:cs typeface="Calibri"/>
              </a:rPr>
              <a:t> is</a:t>
            </a:r>
            <a:r>
              <a:rPr sz="2400" spc="5" dirty="0">
                <a:solidFill>
                  <a:srgbClr val="404040"/>
                </a:solidFill>
                <a:latin typeface="Calibri"/>
                <a:cs typeface="Calibri"/>
              </a:rPr>
              <a:t> </a:t>
            </a:r>
            <a:r>
              <a:rPr sz="2400" spc="-5" dirty="0">
                <a:solidFill>
                  <a:srgbClr val="404040"/>
                </a:solidFill>
                <a:latin typeface="Calibri"/>
                <a:cs typeface="Calibri"/>
              </a:rPr>
              <a:t>directly</a:t>
            </a:r>
            <a:r>
              <a:rPr sz="2400" dirty="0">
                <a:solidFill>
                  <a:srgbClr val="404040"/>
                </a:solidFill>
                <a:latin typeface="Calibri"/>
                <a:cs typeface="Calibri"/>
              </a:rPr>
              <a:t> done</a:t>
            </a:r>
            <a:r>
              <a:rPr sz="2400" spc="-20" dirty="0">
                <a:solidFill>
                  <a:srgbClr val="404040"/>
                </a:solidFill>
                <a:latin typeface="Calibri"/>
                <a:cs typeface="Calibri"/>
              </a:rPr>
              <a:t> </a:t>
            </a:r>
            <a:r>
              <a:rPr sz="2400" spc="-5" dirty="0">
                <a:solidFill>
                  <a:srgbClr val="404040"/>
                </a:solidFill>
                <a:latin typeface="Calibri"/>
                <a:cs typeface="Calibri"/>
              </a:rPr>
              <a:t>between</a:t>
            </a:r>
            <a:r>
              <a:rPr sz="2400" spc="-10" dirty="0">
                <a:solidFill>
                  <a:srgbClr val="404040"/>
                </a:solidFill>
                <a:latin typeface="Calibri"/>
                <a:cs typeface="Calibri"/>
              </a:rPr>
              <a:t> </a:t>
            </a:r>
            <a:r>
              <a:rPr lang="en-IN" sz="2400" dirty="0" smtClean="0">
                <a:solidFill>
                  <a:srgbClr val="404040"/>
                </a:solidFill>
                <a:latin typeface="Calibri"/>
                <a:cs typeface="Calibri"/>
              </a:rPr>
              <a:t>an</a:t>
            </a:r>
            <a:r>
              <a:rPr sz="2400" dirty="0" smtClean="0">
                <a:solidFill>
                  <a:srgbClr val="404040"/>
                </a:solidFill>
                <a:latin typeface="Calibri"/>
                <a:cs typeface="Calibri"/>
              </a:rPr>
              <a:t> </a:t>
            </a:r>
            <a:r>
              <a:rPr sz="2400" dirty="0">
                <a:solidFill>
                  <a:srgbClr val="404040"/>
                </a:solidFill>
                <a:latin typeface="Calibri"/>
                <a:cs typeface="Calibri"/>
              </a:rPr>
              <a:t>I/O</a:t>
            </a:r>
            <a:r>
              <a:rPr sz="2400" spc="-15" dirty="0">
                <a:solidFill>
                  <a:srgbClr val="404040"/>
                </a:solidFill>
                <a:latin typeface="Calibri"/>
                <a:cs typeface="Calibri"/>
              </a:rPr>
              <a:t> </a:t>
            </a:r>
            <a:r>
              <a:rPr sz="2400" spc="-5" dirty="0">
                <a:solidFill>
                  <a:srgbClr val="404040"/>
                </a:solidFill>
                <a:latin typeface="Calibri"/>
                <a:cs typeface="Calibri"/>
              </a:rPr>
              <a:t>device</a:t>
            </a:r>
            <a:r>
              <a:rPr sz="2400" spc="5" dirty="0">
                <a:solidFill>
                  <a:srgbClr val="404040"/>
                </a:solidFill>
                <a:latin typeface="Calibri"/>
                <a:cs typeface="Calibri"/>
              </a:rPr>
              <a:t> </a:t>
            </a:r>
            <a:r>
              <a:rPr sz="2400" dirty="0">
                <a:solidFill>
                  <a:srgbClr val="404040"/>
                </a:solidFill>
                <a:latin typeface="Calibri"/>
                <a:cs typeface="Calibri"/>
              </a:rPr>
              <a:t>and </a:t>
            </a:r>
            <a:r>
              <a:rPr sz="2400" spc="-434" dirty="0">
                <a:solidFill>
                  <a:srgbClr val="404040"/>
                </a:solidFill>
                <a:latin typeface="Calibri"/>
                <a:cs typeface="Calibri"/>
              </a:rPr>
              <a:t> </a:t>
            </a:r>
            <a:r>
              <a:rPr sz="2400" spc="-20" dirty="0" smtClean="0">
                <a:solidFill>
                  <a:srgbClr val="404040"/>
                </a:solidFill>
                <a:latin typeface="Calibri"/>
                <a:cs typeface="Calibri"/>
              </a:rPr>
              <a:t>memory</a:t>
            </a:r>
            <a:r>
              <a:rPr lang="en-US" sz="2400" spc="-20" dirty="0" smtClean="0">
                <a:solidFill>
                  <a:srgbClr val="404040"/>
                </a:solidFill>
                <a:latin typeface="Calibri"/>
                <a:cs typeface="Calibri"/>
              </a:rPr>
              <a:t> </a:t>
            </a:r>
            <a:r>
              <a:rPr lang="en-IN" sz="2400" spc="-5" dirty="0" err="1" smtClean="0">
                <a:solidFill>
                  <a:srgbClr val="404040"/>
                </a:solidFill>
                <a:latin typeface="Calibri"/>
                <a:cs typeface="Calibri"/>
              </a:rPr>
              <a:t>i.e</a:t>
            </a:r>
            <a:r>
              <a:rPr lang="en-IN" sz="2400" spc="-5" dirty="0" smtClean="0">
                <a:solidFill>
                  <a:srgbClr val="404040"/>
                </a:solidFill>
                <a:latin typeface="Calibri"/>
                <a:cs typeface="Calibri"/>
              </a:rPr>
              <a:t> t</a:t>
            </a:r>
            <a:r>
              <a:rPr sz="2400" dirty="0" smtClean="0">
                <a:solidFill>
                  <a:srgbClr val="404040"/>
                </a:solidFill>
                <a:latin typeface="Calibri"/>
                <a:cs typeface="Calibri"/>
              </a:rPr>
              <a:t>he</a:t>
            </a:r>
            <a:r>
              <a:rPr sz="2400" spc="-10" dirty="0" smtClean="0">
                <a:solidFill>
                  <a:srgbClr val="404040"/>
                </a:solidFill>
                <a:latin typeface="Calibri"/>
                <a:cs typeface="Calibri"/>
              </a:rPr>
              <a:t> </a:t>
            </a:r>
            <a:r>
              <a:rPr sz="2400" dirty="0">
                <a:solidFill>
                  <a:srgbClr val="404040"/>
                </a:solidFill>
                <a:latin typeface="Calibri"/>
                <a:cs typeface="Calibri"/>
              </a:rPr>
              <a:t>connection</a:t>
            </a:r>
            <a:r>
              <a:rPr sz="2400" spc="-20" dirty="0">
                <a:solidFill>
                  <a:srgbClr val="404040"/>
                </a:solidFill>
                <a:latin typeface="Calibri"/>
                <a:cs typeface="Calibri"/>
              </a:rPr>
              <a:t> </a:t>
            </a:r>
            <a:r>
              <a:rPr sz="2400" spc="-15" dirty="0">
                <a:solidFill>
                  <a:srgbClr val="404040"/>
                </a:solidFill>
                <a:latin typeface="Calibri"/>
                <a:cs typeface="Calibri"/>
              </a:rPr>
              <a:t>to</a:t>
            </a:r>
            <a:r>
              <a:rPr sz="2400" spc="-5" dirty="0">
                <a:solidFill>
                  <a:srgbClr val="404040"/>
                </a:solidFill>
                <a:latin typeface="Calibri"/>
                <a:cs typeface="Calibri"/>
              </a:rPr>
              <a:t> </a:t>
            </a:r>
            <a:r>
              <a:rPr sz="2400" dirty="0">
                <a:solidFill>
                  <a:srgbClr val="404040"/>
                </a:solidFill>
                <a:latin typeface="Calibri"/>
                <a:cs typeface="Calibri"/>
              </a:rPr>
              <a:t>the </a:t>
            </a:r>
            <a:r>
              <a:rPr sz="2400" spc="-5" dirty="0">
                <a:solidFill>
                  <a:srgbClr val="404040"/>
                </a:solidFill>
                <a:latin typeface="Calibri"/>
                <a:cs typeface="Calibri"/>
              </a:rPr>
              <a:t>CPU </a:t>
            </a:r>
            <a:r>
              <a:rPr sz="2400" dirty="0">
                <a:solidFill>
                  <a:srgbClr val="404040"/>
                </a:solidFill>
                <a:latin typeface="Calibri"/>
                <a:cs typeface="Calibri"/>
              </a:rPr>
              <a:t>is </a:t>
            </a:r>
            <a:r>
              <a:rPr sz="2400" spc="-10" dirty="0">
                <a:solidFill>
                  <a:srgbClr val="404040"/>
                </a:solidFill>
                <a:latin typeface="Calibri"/>
                <a:cs typeface="Calibri"/>
              </a:rPr>
              <a:t>blocked</a:t>
            </a:r>
            <a:r>
              <a:rPr sz="2400" spc="-5" dirty="0">
                <a:solidFill>
                  <a:srgbClr val="404040"/>
                </a:solidFill>
                <a:latin typeface="Calibri"/>
                <a:cs typeface="Calibri"/>
              </a:rPr>
              <a:t> </a:t>
            </a:r>
            <a:r>
              <a:rPr sz="2400" dirty="0">
                <a:solidFill>
                  <a:srgbClr val="404040"/>
                </a:solidFill>
                <a:latin typeface="Calibri"/>
                <a:cs typeface="Calibri"/>
              </a:rPr>
              <a:t>when</a:t>
            </a:r>
            <a:r>
              <a:rPr sz="2400" spc="-15" dirty="0">
                <a:solidFill>
                  <a:srgbClr val="404040"/>
                </a:solidFill>
                <a:latin typeface="Calibri"/>
                <a:cs typeface="Calibri"/>
              </a:rPr>
              <a:t> </a:t>
            </a:r>
            <a:r>
              <a:rPr sz="2400" dirty="0">
                <a:solidFill>
                  <a:srgbClr val="404040"/>
                </a:solidFill>
                <a:latin typeface="Calibri"/>
                <a:cs typeface="Calibri"/>
              </a:rPr>
              <a:t>DMA</a:t>
            </a:r>
            <a:r>
              <a:rPr sz="2400" spc="-20"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5" dirty="0">
                <a:solidFill>
                  <a:srgbClr val="404040"/>
                </a:solidFill>
                <a:latin typeface="Calibri"/>
                <a:cs typeface="Calibri"/>
              </a:rPr>
              <a:t>being</a:t>
            </a:r>
            <a:r>
              <a:rPr sz="2400" dirty="0">
                <a:solidFill>
                  <a:srgbClr val="404040"/>
                </a:solidFill>
                <a:latin typeface="Calibri"/>
                <a:cs typeface="Calibri"/>
              </a:rPr>
              <a:t> </a:t>
            </a:r>
            <a:r>
              <a:rPr lang="en-IN" sz="2400" spc="-5" dirty="0" smtClean="0">
                <a:solidFill>
                  <a:srgbClr val="404040"/>
                </a:solidFill>
                <a:latin typeface="Calibri"/>
                <a:cs typeface="Calibri"/>
              </a:rPr>
              <a:t>used</a:t>
            </a:r>
            <a:r>
              <a:rPr sz="2400" spc="-5" dirty="0" smtClean="0">
                <a:solidFill>
                  <a:srgbClr val="404040"/>
                </a:solidFill>
                <a:latin typeface="Calibri"/>
                <a:cs typeface="Calibri"/>
              </a:rPr>
              <a:t>.</a:t>
            </a:r>
            <a:endParaRPr sz="2400" dirty="0">
              <a:latin typeface="Calibri"/>
              <a:cs typeface="Calibri"/>
            </a:endParaRPr>
          </a:p>
          <a:p>
            <a:pPr marL="269875" indent="-257810" algn="just">
              <a:lnSpc>
                <a:spcPts val="2280"/>
              </a:lnSpc>
              <a:spcBef>
                <a:spcPts val="1165"/>
              </a:spcBef>
              <a:buClr>
                <a:srgbClr val="E38312"/>
              </a:buClr>
              <a:buFont typeface="Wingdings"/>
              <a:buChar char=""/>
              <a:tabLst>
                <a:tab pos="270510" algn="l"/>
              </a:tabLst>
            </a:pPr>
            <a:r>
              <a:rPr sz="2400" spc="-10" dirty="0">
                <a:solidFill>
                  <a:srgbClr val="404040"/>
                </a:solidFill>
                <a:latin typeface="Calibri"/>
                <a:cs typeface="Calibri"/>
              </a:rPr>
              <a:t>Many</a:t>
            </a:r>
            <a:r>
              <a:rPr sz="2400" spc="-15" dirty="0">
                <a:solidFill>
                  <a:srgbClr val="404040"/>
                </a:solidFill>
                <a:latin typeface="Calibri"/>
                <a:cs typeface="Calibri"/>
              </a:rPr>
              <a:t> </a:t>
            </a:r>
            <a:r>
              <a:rPr sz="2400" dirty="0">
                <a:solidFill>
                  <a:srgbClr val="404040"/>
                </a:solidFill>
                <a:latin typeface="Calibri"/>
                <a:cs typeface="Calibri"/>
              </a:rPr>
              <a:t>MCUs</a:t>
            </a:r>
            <a:r>
              <a:rPr sz="2400" spc="-5" dirty="0">
                <a:solidFill>
                  <a:srgbClr val="404040"/>
                </a:solidFill>
                <a:latin typeface="Calibri"/>
                <a:cs typeface="Calibri"/>
              </a:rPr>
              <a:t> </a:t>
            </a:r>
            <a:r>
              <a:rPr sz="2400" spc="-15" dirty="0">
                <a:solidFill>
                  <a:srgbClr val="404040"/>
                </a:solidFill>
                <a:latin typeface="Calibri"/>
                <a:cs typeface="Calibri"/>
              </a:rPr>
              <a:t>have</a:t>
            </a:r>
            <a:r>
              <a:rPr sz="2400" spc="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dirty="0">
                <a:solidFill>
                  <a:srgbClr val="404040"/>
                </a:solidFill>
                <a:latin typeface="Calibri"/>
                <a:cs typeface="Calibri"/>
              </a:rPr>
              <a:t>DMA</a:t>
            </a:r>
            <a:r>
              <a:rPr sz="2400" spc="-15" dirty="0">
                <a:solidFill>
                  <a:srgbClr val="404040"/>
                </a:solidFill>
                <a:latin typeface="Calibri"/>
                <a:cs typeface="Calibri"/>
              </a:rPr>
              <a:t> controllers</a:t>
            </a:r>
            <a:r>
              <a:rPr sz="2400" spc="10" dirty="0">
                <a:solidFill>
                  <a:srgbClr val="404040"/>
                </a:solidFill>
                <a:latin typeface="Calibri"/>
                <a:cs typeface="Calibri"/>
              </a:rPr>
              <a:t> </a:t>
            </a:r>
            <a:r>
              <a:rPr sz="2400" dirty="0">
                <a:solidFill>
                  <a:srgbClr val="404040"/>
                </a:solidFill>
                <a:latin typeface="Calibri"/>
                <a:cs typeface="Calibri"/>
              </a:rPr>
              <a:t>inside</a:t>
            </a:r>
            <a:r>
              <a:rPr sz="2400" spc="15" dirty="0">
                <a:solidFill>
                  <a:srgbClr val="404040"/>
                </a:solidFill>
                <a:latin typeface="Calibri"/>
                <a:cs typeface="Calibri"/>
              </a:rPr>
              <a:t> </a:t>
            </a:r>
            <a:r>
              <a:rPr sz="2400" dirty="0">
                <a:solidFill>
                  <a:srgbClr val="404040"/>
                </a:solidFill>
                <a:latin typeface="Calibri"/>
                <a:cs typeface="Calibri"/>
              </a:rPr>
              <a:t>it</a:t>
            </a:r>
            <a:r>
              <a:rPr sz="2400" spc="5" dirty="0">
                <a:solidFill>
                  <a:srgbClr val="404040"/>
                </a:solidFill>
                <a:latin typeface="Calibri"/>
                <a:cs typeface="Calibri"/>
              </a:rPr>
              <a:t> </a:t>
            </a:r>
            <a:r>
              <a:rPr sz="2400" dirty="0">
                <a:solidFill>
                  <a:srgbClr val="404040"/>
                </a:solidFill>
                <a:latin typeface="Calibri"/>
                <a:cs typeface="Calibri"/>
              </a:rPr>
              <a:t>and</a:t>
            </a:r>
            <a:r>
              <a:rPr sz="2400" spc="-5" dirty="0">
                <a:solidFill>
                  <a:srgbClr val="404040"/>
                </a:solidFill>
                <a:latin typeface="Calibri"/>
                <a:cs typeface="Calibri"/>
              </a:rPr>
              <a:t> </a:t>
            </a:r>
            <a:r>
              <a:rPr sz="2400" dirty="0">
                <a:solidFill>
                  <a:srgbClr val="404040"/>
                </a:solidFill>
                <a:latin typeface="Calibri"/>
                <a:cs typeface="Calibri"/>
              </a:rPr>
              <a:t>this</a:t>
            </a:r>
            <a:r>
              <a:rPr sz="2400" spc="-5" dirty="0">
                <a:solidFill>
                  <a:srgbClr val="404040"/>
                </a:solidFill>
                <a:latin typeface="Calibri"/>
                <a:cs typeface="Calibri"/>
              </a:rPr>
              <a:t> </a:t>
            </a:r>
            <a:r>
              <a:rPr sz="2400" dirty="0">
                <a:solidFill>
                  <a:srgbClr val="404040"/>
                </a:solidFill>
                <a:latin typeface="Calibri"/>
                <a:cs typeface="Calibri"/>
              </a:rPr>
              <a:t>unit</a:t>
            </a:r>
            <a:r>
              <a:rPr sz="2400" spc="5" dirty="0">
                <a:solidFill>
                  <a:srgbClr val="404040"/>
                </a:solidFill>
                <a:latin typeface="Calibri"/>
                <a:cs typeface="Calibri"/>
              </a:rPr>
              <a:t> </a:t>
            </a:r>
            <a:r>
              <a:rPr sz="2400" spc="-5" dirty="0">
                <a:solidFill>
                  <a:srgbClr val="404040"/>
                </a:solidFill>
                <a:latin typeface="Calibri"/>
                <a:cs typeface="Calibri"/>
              </a:rPr>
              <a:t>is</a:t>
            </a:r>
            <a:r>
              <a:rPr sz="2400" spc="5" dirty="0">
                <a:solidFill>
                  <a:srgbClr val="404040"/>
                </a:solidFill>
                <a:latin typeface="Calibri"/>
                <a:cs typeface="Calibri"/>
              </a:rPr>
              <a:t> </a:t>
            </a:r>
            <a:r>
              <a:rPr sz="2400" spc="-5" dirty="0">
                <a:solidFill>
                  <a:srgbClr val="404040"/>
                </a:solidFill>
                <a:latin typeface="Calibri"/>
                <a:cs typeface="Calibri"/>
              </a:rPr>
              <a:t>responsible</a:t>
            </a:r>
            <a:r>
              <a:rPr sz="2400" spc="15" dirty="0">
                <a:solidFill>
                  <a:srgbClr val="404040"/>
                </a:solidFill>
                <a:latin typeface="Calibri"/>
                <a:cs typeface="Calibri"/>
              </a:rPr>
              <a:t> </a:t>
            </a:r>
            <a:r>
              <a:rPr sz="2400" spc="-15" dirty="0">
                <a:solidFill>
                  <a:srgbClr val="404040"/>
                </a:solidFill>
                <a:latin typeface="Calibri"/>
                <a:cs typeface="Calibri"/>
              </a:rPr>
              <a:t>for </a:t>
            </a:r>
            <a:r>
              <a:rPr sz="2400" spc="-5" dirty="0">
                <a:solidFill>
                  <a:srgbClr val="404040"/>
                </a:solidFill>
                <a:latin typeface="Calibri"/>
                <a:cs typeface="Calibri"/>
              </a:rPr>
              <a:t>initiating</a:t>
            </a:r>
            <a:r>
              <a:rPr sz="2400" spc="15" dirty="0">
                <a:solidFill>
                  <a:srgbClr val="404040"/>
                </a:solidFill>
                <a:latin typeface="Calibri"/>
                <a:cs typeface="Calibri"/>
              </a:rPr>
              <a:t> </a:t>
            </a:r>
            <a:r>
              <a:rPr sz="2400" dirty="0" smtClean="0">
                <a:solidFill>
                  <a:srgbClr val="404040"/>
                </a:solidFill>
                <a:latin typeface="Calibri"/>
                <a:cs typeface="Calibri"/>
              </a:rPr>
              <a:t>and</a:t>
            </a:r>
            <a:r>
              <a:rPr lang="en-US" sz="2400" dirty="0" smtClean="0">
                <a:solidFill>
                  <a:srgbClr val="404040"/>
                </a:solidFill>
                <a:latin typeface="Calibri"/>
                <a:cs typeface="Calibri"/>
              </a:rPr>
              <a:t> </a:t>
            </a:r>
            <a:r>
              <a:rPr sz="2400" spc="-10" dirty="0" smtClean="0">
                <a:solidFill>
                  <a:srgbClr val="404040"/>
                </a:solidFill>
                <a:latin typeface="Calibri"/>
                <a:cs typeface="Calibri"/>
              </a:rPr>
              <a:t>controlling</a:t>
            </a:r>
            <a:r>
              <a:rPr sz="2400" spc="-5" dirty="0" smtClean="0">
                <a:solidFill>
                  <a:srgbClr val="404040"/>
                </a:solidFill>
                <a:latin typeface="Calibri"/>
                <a:cs typeface="Calibri"/>
              </a:rPr>
              <a:t> </a:t>
            </a:r>
            <a:r>
              <a:rPr sz="2400" spc="-5" dirty="0">
                <a:solidFill>
                  <a:srgbClr val="404040"/>
                </a:solidFill>
                <a:latin typeface="Calibri"/>
                <a:cs typeface="Calibri"/>
              </a:rPr>
              <a:t>DMA</a:t>
            </a:r>
            <a:r>
              <a:rPr sz="2400" spc="-25" dirty="0">
                <a:solidFill>
                  <a:srgbClr val="404040"/>
                </a:solidFill>
                <a:latin typeface="Calibri"/>
                <a:cs typeface="Calibri"/>
              </a:rPr>
              <a:t> </a:t>
            </a:r>
            <a:r>
              <a:rPr sz="2400" spc="-10" dirty="0">
                <a:solidFill>
                  <a:srgbClr val="404040"/>
                </a:solidFill>
                <a:latin typeface="Calibri"/>
                <a:cs typeface="Calibri"/>
              </a:rPr>
              <a:t>operations.</a:t>
            </a:r>
            <a:endParaRPr sz="2400" dirty="0">
              <a:latin typeface="Calibri"/>
              <a:cs typeface="Calibri"/>
            </a:endParaRPr>
          </a:p>
          <a:p>
            <a:pPr marL="103505" marR="218440" indent="-91440" algn="just">
              <a:lnSpc>
                <a:spcPts val="2160"/>
              </a:lnSpc>
              <a:spcBef>
                <a:spcPts val="1420"/>
              </a:spcBef>
              <a:buClr>
                <a:srgbClr val="E38312"/>
              </a:buClr>
              <a:buFont typeface="Wingdings"/>
              <a:buChar char=""/>
              <a:tabLst>
                <a:tab pos="270510" algn="l"/>
              </a:tabLst>
            </a:pPr>
            <a:r>
              <a:rPr sz="2400" dirty="0">
                <a:solidFill>
                  <a:srgbClr val="404040"/>
                </a:solidFill>
                <a:latin typeface="Calibri"/>
                <a:cs typeface="Calibri"/>
              </a:rPr>
              <a:t>When </a:t>
            </a:r>
            <a:r>
              <a:rPr sz="2400" spc="-5" dirty="0">
                <a:solidFill>
                  <a:srgbClr val="404040"/>
                </a:solidFill>
                <a:latin typeface="Calibri"/>
                <a:cs typeface="Calibri"/>
              </a:rPr>
              <a:t>there </a:t>
            </a:r>
            <a:r>
              <a:rPr sz="2400" dirty="0">
                <a:solidFill>
                  <a:srgbClr val="404040"/>
                </a:solidFill>
                <a:latin typeface="Calibri"/>
                <a:cs typeface="Calibri"/>
              </a:rPr>
              <a:t>is a need </a:t>
            </a:r>
            <a:r>
              <a:rPr sz="2400" spc="-15" dirty="0">
                <a:solidFill>
                  <a:srgbClr val="404040"/>
                </a:solidFill>
                <a:latin typeface="Calibri"/>
                <a:cs typeface="Calibri"/>
              </a:rPr>
              <a:t>for </a:t>
            </a:r>
            <a:r>
              <a:rPr sz="2400" dirty="0">
                <a:solidFill>
                  <a:srgbClr val="404040"/>
                </a:solidFill>
                <a:latin typeface="Calibri"/>
                <a:cs typeface="Calibri"/>
              </a:rPr>
              <a:t>DMA, this unit </a:t>
            </a:r>
            <a:r>
              <a:rPr sz="2400" spc="-5" dirty="0">
                <a:solidFill>
                  <a:srgbClr val="404040"/>
                </a:solidFill>
                <a:latin typeface="Calibri"/>
                <a:cs typeface="Calibri"/>
              </a:rPr>
              <a:t>gives </a:t>
            </a:r>
            <a:r>
              <a:rPr sz="2400" dirty="0">
                <a:solidFill>
                  <a:srgbClr val="404040"/>
                </a:solidFill>
                <a:latin typeface="Calibri"/>
                <a:cs typeface="Calibri"/>
              </a:rPr>
              <a:t>a ‘DMA request’ </a:t>
            </a:r>
            <a:r>
              <a:rPr sz="2400" spc="-15" dirty="0">
                <a:solidFill>
                  <a:srgbClr val="404040"/>
                </a:solidFill>
                <a:latin typeface="Calibri"/>
                <a:cs typeface="Calibri"/>
              </a:rPr>
              <a:t>to </a:t>
            </a:r>
            <a:r>
              <a:rPr sz="2400" dirty="0">
                <a:solidFill>
                  <a:srgbClr val="404040"/>
                </a:solidFill>
                <a:latin typeface="Calibri"/>
                <a:cs typeface="Calibri"/>
              </a:rPr>
              <a:t>the </a:t>
            </a:r>
            <a:r>
              <a:rPr sz="2400" spc="-10" dirty="0">
                <a:solidFill>
                  <a:srgbClr val="404040"/>
                </a:solidFill>
                <a:latin typeface="Calibri"/>
                <a:cs typeface="Calibri"/>
              </a:rPr>
              <a:t>CPU, </a:t>
            </a:r>
            <a:r>
              <a:rPr sz="2400" dirty="0">
                <a:solidFill>
                  <a:srgbClr val="404040"/>
                </a:solidFill>
                <a:latin typeface="Calibri"/>
                <a:cs typeface="Calibri"/>
              </a:rPr>
              <a:t>which </a:t>
            </a:r>
            <a:r>
              <a:rPr sz="2400" spc="-5" dirty="0">
                <a:solidFill>
                  <a:srgbClr val="404040"/>
                </a:solidFill>
                <a:latin typeface="Calibri"/>
                <a:cs typeface="Calibri"/>
              </a:rPr>
              <a:t>responds by </a:t>
            </a:r>
            <a:r>
              <a:rPr sz="2400" dirty="0">
                <a:solidFill>
                  <a:srgbClr val="404040"/>
                </a:solidFill>
                <a:latin typeface="Calibri"/>
                <a:cs typeface="Calibri"/>
              </a:rPr>
              <a:t>a </a:t>
            </a:r>
            <a:r>
              <a:rPr sz="2400" spc="-440" dirty="0">
                <a:solidFill>
                  <a:srgbClr val="404040"/>
                </a:solidFill>
                <a:latin typeface="Calibri"/>
                <a:cs typeface="Calibri"/>
              </a:rPr>
              <a:t> </a:t>
            </a:r>
            <a:r>
              <a:rPr sz="2400" dirty="0">
                <a:solidFill>
                  <a:srgbClr val="404040"/>
                </a:solidFill>
                <a:latin typeface="Calibri"/>
                <a:cs typeface="Calibri"/>
              </a:rPr>
              <a:t>‘DMA</a:t>
            </a:r>
            <a:r>
              <a:rPr sz="2400" spc="-25" dirty="0">
                <a:solidFill>
                  <a:srgbClr val="404040"/>
                </a:solidFill>
                <a:latin typeface="Calibri"/>
                <a:cs typeface="Calibri"/>
              </a:rPr>
              <a:t> </a:t>
            </a:r>
            <a:r>
              <a:rPr sz="2400" spc="-5" dirty="0">
                <a:solidFill>
                  <a:srgbClr val="404040"/>
                </a:solidFill>
                <a:latin typeface="Calibri"/>
                <a:cs typeface="Calibri"/>
              </a:rPr>
              <a:t>Acknowledge’</a:t>
            </a:r>
            <a:r>
              <a:rPr sz="2400" spc="-30" dirty="0">
                <a:solidFill>
                  <a:srgbClr val="404040"/>
                </a:solidFill>
                <a:latin typeface="Calibri"/>
                <a:cs typeface="Calibri"/>
              </a:rPr>
              <a:t> </a:t>
            </a:r>
            <a:r>
              <a:rPr sz="2400" dirty="0">
                <a:solidFill>
                  <a:srgbClr val="404040"/>
                </a:solidFill>
                <a:latin typeface="Calibri"/>
                <a:cs typeface="Calibri"/>
              </a:rPr>
              <a:t>signal</a:t>
            </a:r>
            <a:r>
              <a:rPr sz="2400" dirty="0" smtClean="0">
                <a:solidFill>
                  <a:srgbClr val="404040"/>
                </a:solidFill>
                <a:latin typeface="Calibri"/>
                <a:cs typeface="Calibri"/>
              </a:rPr>
              <a:t>.</a:t>
            </a:r>
            <a:endParaRPr lang="en-IN" sz="2400" dirty="0" smtClean="0">
              <a:solidFill>
                <a:srgbClr val="404040"/>
              </a:solidFill>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a:t>
            </a:r>
            <a:endParaRPr sz="1050">
              <a:latin typeface="Calibri"/>
              <a:cs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2199360" y="3154365"/>
            <a:ext cx="7428644" cy="3480462"/>
          </a:xfrm>
          <a:prstGeom prst="rect">
            <a:avLst/>
          </a:prstGeom>
        </p:spPr>
      </p:pic>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4</a:t>
            </a:r>
            <a:endParaRPr sz="1050">
              <a:latin typeface="Calibri"/>
              <a:cs typeface="Calibri"/>
            </a:endParaRPr>
          </a:p>
        </p:txBody>
      </p:sp>
      <p:sp>
        <p:nvSpPr>
          <p:cNvPr id="11" name="TextBox 10"/>
          <p:cNvSpPr txBox="1"/>
          <p:nvPr/>
        </p:nvSpPr>
        <p:spPr>
          <a:xfrm>
            <a:off x="1309510" y="632178"/>
            <a:ext cx="9731995" cy="2308324"/>
          </a:xfrm>
          <a:prstGeom prst="rect">
            <a:avLst/>
          </a:prstGeom>
          <a:noFill/>
        </p:spPr>
        <p:txBody>
          <a:bodyPr wrap="square" rtlCol="0">
            <a:spAutoFit/>
          </a:bodyPr>
          <a:lstStyle/>
          <a:p>
            <a:pPr marL="285750" indent="-285750">
              <a:buFont typeface="Wingdings" panose="05000000000000000000" pitchFamily="2" charset="2"/>
              <a:buChar char="Ø"/>
            </a:pPr>
            <a:r>
              <a:rPr lang="en-US" sz="2400" spc="-20" dirty="0">
                <a:solidFill>
                  <a:srgbClr val="404040"/>
                </a:solidFill>
                <a:latin typeface="Calibri"/>
                <a:cs typeface="Calibri"/>
              </a:rPr>
              <a:t>Then it release its control of the system bus. The DMA controller is now the bus master and it will specify the starting address of the required data block in memory and the number of bytes to be transferred.</a:t>
            </a:r>
          </a:p>
          <a:p>
            <a:pPr marL="285750" indent="-285750">
              <a:buFont typeface="Wingdings" panose="05000000000000000000" pitchFamily="2" charset="2"/>
              <a:buChar char="Ø"/>
            </a:pPr>
            <a:endParaRPr lang="en-IN" sz="2400" spc="-20" dirty="0">
              <a:solidFill>
                <a:srgbClr val="404040"/>
              </a:solidFill>
              <a:latin typeface="Calibri"/>
              <a:cs typeface="Calibri"/>
            </a:endParaRPr>
          </a:p>
          <a:p>
            <a:pPr marL="285750" indent="-285750">
              <a:buFont typeface="Wingdings" panose="05000000000000000000" pitchFamily="2" charset="2"/>
              <a:buChar char="Ø"/>
            </a:pPr>
            <a:r>
              <a:rPr lang="en-IN" sz="2400" spc="-20" dirty="0">
                <a:solidFill>
                  <a:srgbClr val="404040"/>
                </a:solidFill>
                <a:latin typeface="Calibri"/>
                <a:cs typeface="Calibri"/>
              </a:rPr>
              <a:t>Then data transfer between memory and I/O proceeds, and when it is done ,the system bus control is returned to the </a:t>
            </a:r>
            <a:r>
              <a:rPr lang="en-IN" sz="2400" spc="-20" dirty="0" err="1">
                <a:solidFill>
                  <a:srgbClr val="404040"/>
                </a:solidFill>
                <a:latin typeface="Calibri"/>
                <a:cs typeface="Calibri"/>
              </a:rPr>
              <a:t>cpu</a:t>
            </a:r>
            <a:r>
              <a:rPr lang="en-IN" sz="2400" spc="-20" dirty="0">
                <a:solidFill>
                  <a:srgbClr val="404040"/>
                </a:solidFill>
                <a:latin typeface="Calibri"/>
                <a:cs typeface="Calibri"/>
              </a:rPr>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bject 7"/>
          <p:cNvPicPr/>
          <p:nvPr/>
        </p:nvPicPr>
        <p:blipFill>
          <a:blip r:embed="rId2" cstate="print"/>
          <a:stretch>
            <a:fillRect/>
          </a:stretch>
        </p:blipFill>
        <p:spPr>
          <a:xfrm>
            <a:off x="8802256" y="1737360"/>
            <a:ext cx="2954090" cy="2529840"/>
          </a:xfrm>
          <a:prstGeom prst="rect">
            <a:avLst/>
          </a:prstGeom>
        </p:spPr>
      </p:pic>
      <p:sp>
        <p:nvSpPr>
          <p:cNvPr id="8" name="object 8"/>
          <p:cNvSpPr txBox="1">
            <a:spLocks noGrp="1"/>
          </p:cNvSpPr>
          <p:nvPr>
            <p:ph type="title"/>
          </p:nvPr>
        </p:nvSpPr>
        <p:spPr>
          <a:xfrm>
            <a:off x="1176324" y="908684"/>
            <a:ext cx="7025005" cy="756920"/>
          </a:xfrm>
          <a:prstGeom prst="rect">
            <a:avLst/>
          </a:prstGeom>
        </p:spPr>
        <p:txBody>
          <a:bodyPr vert="horz" wrap="square" lIns="0" tIns="12700" rIns="0" bIns="0" rtlCol="0">
            <a:spAutoFit/>
          </a:bodyPr>
          <a:lstStyle/>
          <a:p>
            <a:pPr marL="12700">
              <a:lnSpc>
                <a:spcPct val="100000"/>
              </a:lnSpc>
              <a:spcBef>
                <a:spcPts val="100"/>
              </a:spcBef>
            </a:pPr>
            <a:r>
              <a:rPr sz="4800" b="0" spc="-145" dirty="0" smtClean="0">
                <a:solidFill>
                  <a:srgbClr val="00AFEF"/>
                </a:solidFill>
                <a:latin typeface="Calibri Light"/>
                <a:cs typeface="Calibri Light"/>
              </a:rPr>
              <a:t> </a:t>
            </a:r>
            <a:r>
              <a:rPr sz="4800" b="0" spc="-55" dirty="0">
                <a:solidFill>
                  <a:srgbClr val="00AFEF"/>
                </a:solidFill>
                <a:latin typeface="Calibri Light"/>
                <a:cs typeface="Calibri Light"/>
              </a:rPr>
              <a:t>Semiconductor</a:t>
            </a:r>
            <a:r>
              <a:rPr sz="4800" b="0" spc="-150" dirty="0">
                <a:solidFill>
                  <a:srgbClr val="00AFEF"/>
                </a:solidFill>
                <a:latin typeface="Calibri Light"/>
                <a:cs typeface="Calibri Light"/>
              </a:rPr>
              <a:t> </a:t>
            </a:r>
            <a:r>
              <a:rPr sz="4800" b="0" spc="-40" dirty="0">
                <a:solidFill>
                  <a:srgbClr val="00AFEF"/>
                </a:solidFill>
                <a:latin typeface="Calibri Light"/>
                <a:cs typeface="Calibri Light"/>
              </a:rPr>
              <a:t>Memory</a:t>
            </a:r>
            <a:endParaRPr sz="4800" dirty="0">
              <a:latin typeface="Calibri Light"/>
              <a:cs typeface="Calibri Light"/>
            </a:endParaRPr>
          </a:p>
        </p:txBody>
      </p:sp>
      <p:sp>
        <p:nvSpPr>
          <p:cNvPr id="9" name="object 9"/>
          <p:cNvSpPr txBox="1"/>
          <p:nvPr/>
        </p:nvSpPr>
        <p:spPr>
          <a:xfrm>
            <a:off x="637743" y="1890897"/>
            <a:ext cx="9507855" cy="4006225"/>
          </a:xfrm>
          <a:prstGeom prst="rect">
            <a:avLst/>
          </a:prstGeom>
        </p:spPr>
        <p:txBody>
          <a:bodyPr vert="horz" wrap="square" lIns="0" tIns="154940" rIns="0" bIns="0" rtlCol="0">
            <a:spAutoFit/>
          </a:bodyPr>
          <a:lstStyle/>
          <a:p>
            <a:pPr marL="323850" indent="-311785">
              <a:lnSpc>
                <a:spcPct val="100000"/>
              </a:lnSpc>
              <a:spcBef>
                <a:spcPts val="1120"/>
              </a:spcBef>
              <a:buClr>
                <a:srgbClr val="E38312"/>
              </a:buClr>
              <a:buFont typeface="Wingdings"/>
              <a:buChar char=""/>
              <a:tabLst>
                <a:tab pos="324485" algn="l"/>
              </a:tabLst>
            </a:pPr>
            <a:r>
              <a:rPr sz="2400" spc="-5" dirty="0">
                <a:solidFill>
                  <a:srgbClr val="404040"/>
                </a:solidFill>
                <a:latin typeface="Calibri"/>
                <a:cs typeface="Calibri"/>
              </a:rPr>
              <a:t>Lets</a:t>
            </a:r>
            <a:r>
              <a:rPr sz="2400" spc="-10" dirty="0">
                <a:solidFill>
                  <a:srgbClr val="404040"/>
                </a:solidFill>
                <a:latin typeface="Calibri"/>
                <a:cs typeface="Calibri"/>
              </a:rPr>
              <a:t> </a:t>
            </a:r>
            <a:r>
              <a:rPr sz="2400" spc="-5" dirty="0">
                <a:solidFill>
                  <a:srgbClr val="404040"/>
                </a:solidFill>
                <a:latin typeface="Calibri"/>
                <a:cs typeface="Calibri"/>
              </a:rPr>
              <a:t>see</a:t>
            </a:r>
            <a:r>
              <a:rPr sz="2400" dirty="0">
                <a:solidFill>
                  <a:srgbClr val="404040"/>
                </a:solidFill>
                <a:latin typeface="Calibri"/>
                <a:cs typeface="Calibri"/>
              </a:rPr>
              <a:t> the</a:t>
            </a:r>
            <a:r>
              <a:rPr sz="2400" spc="-20" dirty="0">
                <a:solidFill>
                  <a:srgbClr val="404040"/>
                </a:solidFill>
                <a:latin typeface="Calibri"/>
                <a:cs typeface="Calibri"/>
              </a:rPr>
              <a:t> </a:t>
            </a:r>
            <a:r>
              <a:rPr sz="2400" spc="-5" dirty="0">
                <a:solidFill>
                  <a:srgbClr val="404040"/>
                </a:solidFill>
                <a:latin typeface="Calibri"/>
                <a:cs typeface="Calibri"/>
              </a:rPr>
              <a:t>other</a:t>
            </a:r>
            <a:r>
              <a:rPr sz="2400" spc="-10" dirty="0">
                <a:solidFill>
                  <a:srgbClr val="404040"/>
                </a:solidFill>
                <a:latin typeface="Calibri"/>
                <a:cs typeface="Calibri"/>
              </a:rPr>
              <a:t> component</a:t>
            </a:r>
            <a:r>
              <a:rPr sz="2400" spc="-5" dirty="0">
                <a:solidFill>
                  <a:srgbClr val="404040"/>
                </a:solidFill>
                <a:latin typeface="Calibri"/>
                <a:cs typeface="Calibri"/>
              </a:rPr>
              <a:t> of</a:t>
            </a:r>
            <a:r>
              <a:rPr sz="2400" spc="-10" dirty="0">
                <a:solidFill>
                  <a:srgbClr val="404040"/>
                </a:solidFill>
                <a:latin typeface="Calibri"/>
                <a:cs typeface="Calibri"/>
              </a:rPr>
              <a:t> </a:t>
            </a:r>
            <a:r>
              <a:rPr sz="2400" dirty="0">
                <a:solidFill>
                  <a:srgbClr val="404040"/>
                </a:solidFill>
                <a:latin typeface="Calibri"/>
                <a:cs typeface="Calibri"/>
              </a:rPr>
              <a:t>an</a:t>
            </a:r>
            <a:r>
              <a:rPr sz="2400" spc="-15" dirty="0">
                <a:solidFill>
                  <a:srgbClr val="404040"/>
                </a:solidFill>
                <a:latin typeface="Calibri"/>
                <a:cs typeface="Calibri"/>
              </a:rPr>
              <a:t> </a:t>
            </a:r>
            <a:r>
              <a:rPr sz="2400" spc="-10" dirty="0">
                <a:solidFill>
                  <a:srgbClr val="404040"/>
                </a:solidFill>
                <a:latin typeface="Calibri"/>
                <a:cs typeface="Calibri"/>
              </a:rPr>
              <a:t>MCU,</a:t>
            </a:r>
            <a:r>
              <a:rPr sz="2400" spc="-20" dirty="0">
                <a:solidFill>
                  <a:srgbClr val="404040"/>
                </a:solidFill>
                <a:latin typeface="Calibri"/>
                <a:cs typeface="Calibri"/>
              </a:rPr>
              <a:t> </a:t>
            </a:r>
            <a:r>
              <a:rPr sz="2400" spc="-25" dirty="0">
                <a:solidFill>
                  <a:srgbClr val="404040"/>
                </a:solidFill>
                <a:latin typeface="Calibri"/>
                <a:cs typeface="Calibri"/>
              </a:rPr>
              <a:t>Memory.</a:t>
            </a:r>
            <a:endParaRPr sz="2400" dirty="0">
              <a:latin typeface="Calibri"/>
              <a:cs typeface="Calibri"/>
            </a:endParaRPr>
          </a:p>
          <a:p>
            <a:pPr>
              <a:lnSpc>
                <a:spcPct val="100000"/>
              </a:lnSpc>
              <a:buChar char=""/>
            </a:pPr>
            <a:endParaRPr sz="2700" dirty="0">
              <a:latin typeface="Calibri"/>
              <a:cs typeface="Calibri"/>
            </a:endParaRPr>
          </a:p>
          <a:p>
            <a:pPr>
              <a:lnSpc>
                <a:spcPct val="100000"/>
              </a:lnSpc>
              <a:spcBef>
                <a:spcPts val="15"/>
              </a:spcBef>
              <a:buChar char=""/>
            </a:pPr>
            <a:endParaRPr lang="en-US" sz="3200" dirty="0">
              <a:latin typeface="Calibri"/>
              <a:cs typeface="Calibri"/>
            </a:endParaRPr>
          </a:p>
          <a:p>
            <a:pPr>
              <a:lnSpc>
                <a:spcPct val="100000"/>
              </a:lnSpc>
              <a:spcBef>
                <a:spcPts val="15"/>
              </a:spcBef>
              <a:buChar char=""/>
            </a:pPr>
            <a:endParaRPr sz="3200" dirty="0">
              <a:latin typeface="Calibri"/>
              <a:cs typeface="Calibri"/>
            </a:endParaRPr>
          </a:p>
          <a:p>
            <a:pPr marL="103505" marR="5080" indent="-91440">
              <a:lnSpc>
                <a:spcPts val="2110"/>
              </a:lnSpc>
              <a:spcBef>
                <a:spcPts val="1385"/>
              </a:spcBef>
              <a:buClr>
                <a:srgbClr val="E38312"/>
              </a:buClr>
              <a:buFont typeface="Wingdings"/>
              <a:buChar char=""/>
              <a:tabLst>
                <a:tab pos="299720" algn="l"/>
              </a:tabLst>
            </a:pPr>
            <a:r>
              <a:rPr sz="2200" spc="-10" dirty="0" smtClean="0">
                <a:solidFill>
                  <a:srgbClr val="404040"/>
                </a:solidFill>
                <a:latin typeface="Calibri"/>
                <a:cs typeface="Calibri"/>
              </a:rPr>
              <a:t>The</a:t>
            </a:r>
            <a:r>
              <a:rPr sz="2200" dirty="0" smtClean="0">
                <a:solidFill>
                  <a:srgbClr val="404040"/>
                </a:solidFill>
                <a:latin typeface="Calibri"/>
                <a:cs typeface="Calibri"/>
              </a:rPr>
              <a:t> </a:t>
            </a:r>
            <a:r>
              <a:rPr sz="2200" spc="-10" dirty="0">
                <a:solidFill>
                  <a:srgbClr val="404040"/>
                </a:solidFill>
                <a:latin typeface="Calibri"/>
                <a:cs typeface="Calibri"/>
              </a:rPr>
              <a:t>code</a:t>
            </a:r>
            <a:r>
              <a:rPr sz="2200" spc="15" dirty="0">
                <a:solidFill>
                  <a:srgbClr val="404040"/>
                </a:solidFill>
                <a:latin typeface="Calibri"/>
                <a:cs typeface="Calibri"/>
              </a:rPr>
              <a:t> </a:t>
            </a:r>
            <a:r>
              <a:rPr sz="2200" spc="-5" dirty="0">
                <a:solidFill>
                  <a:srgbClr val="404040"/>
                </a:solidFill>
                <a:latin typeface="Calibri"/>
                <a:cs typeface="Calibri"/>
              </a:rPr>
              <a:t>and</a:t>
            </a:r>
            <a:r>
              <a:rPr sz="2200" dirty="0">
                <a:solidFill>
                  <a:srgbClr val="404040"/>
                </a:solidFill>
                <a:latin typeface="Calibri"/>
                <a:cs typeface="Calibri"/>
              </a:rPr>
              <a:t> </a:t>
            </a:r>
            <a:r>
              <a:rPr sz="2200" spc="-20" dirty="0">
                <a:solidFill>
                  <a:srgbClr val="404040"/>
                </a:solidFill>
                <a:latin typeface="Calibri"/>
                <a:cs typeface="Calibri"/>
              </a:rPr>
              <a:t>data</a:t>
            </a:r>
            <a:r>
              <a:rPr sz="2200" dirty="0">
                <a:solidFill>
                  <a:srgbClr val="404040"/>
                </a:solidFill>
                <a:latin typeface="Calibri"/>
                <a:cs typeface="Calibri"/>
              </a:rPr>
              <a:t> </a:t>
            </a:r>
            <a:r>
              <a:rPr sz="2200" spc="-10" dirty="0">
                <a:solidFill>
                  <a:srgbClr val="404040"/>
                </a:solidFill>
                <a:latin typeface="Calibri"/>
                <a:cs typeface="Calibri"/>
              </a:rPr>
              <a:t>need</a:t>
            </a:r>
            <a:r>
              <a:rPr sz="2200" spc="15" dirty="0">
                <a:solidFill>
                  <a:srgbClr val="404040"/>
                </a:solidFill>
                <a:latin typeface="Calibri"/>
                <a:cs typeface="Calibri"/>
              </a:rPr>
              <a:t> </a:t>
            </a:r>
            <a:r>
              <a:rPr sz="2200" spc="-20" dirty="0">
                <a:solidFill>
                  <a:srgbClr val="404040"/>
                </a:solidFill>
                <a:latin typeface="Calibri"/>
                <a:cs typeface="Calibri"/>
              </a:rPr>
              <a:t>to</a:t>
            </a:r>
            <a:r>
              <a:rPr sz="2200" spc="10" dirty="0">
                <a:solidFill>
                  <a:srgbClr val="404040"/>
                </a:solidFill>
                <a:latin typeface="Calibri"/>
                <a:cs typeface="Calibri"/>
              </a:rPr>
              <a:t> </a:t>
            </a:r>
            <a:r>
              <a:rPr sz="2200" spc="-5" dirty="0">
                <a:solidFill>
                  <a:srgbClr val="404040"/>
                </a:solidFill>
                <a:latin typeface="Calibri"/>
                <a:cs typeface="Calibri"/>
              </a:rPr>
              <a:t>be</a:t>
            </a:r>
            <a:r>
              <a:rPr sz="2200" dirty="0">
                <a:solidFill>
                  <a:srgbClr val="404040"/>
                </a:solidFill>
                <a:latin typeface="Calibri"/>
                <a:cs typeface="Calibri"/>
              </a:rPr>
              <a:t> </a:t>
            </a:r>
            <a:r>
              <a:rPr sz="2200" spc="-15" dirty="0">
                <a:solidFill>
                  <a:srgbClr val="404040"/>
                </a:solidFill>
                <a:latin typeface="Calibri"/>
                <a:cs typeface="Calibri"/>
              </a:rPr>
              <a:t>stored</a:t>
            </a:r>
            <a:r>
              <a:rPr sz="2200" spc="5" dirty="0">
                <a:solidFill>
                  <a:srgbClr val="404040"/>
                </a:solidFill>
                <a:latin typeface="Calibri"/>
                <a:cs typeface="Calibri"/>
              </a:rPr>
              <a:t> </a:t>
            </a:r>
            <a:r>
              <a:rPr sz="2200" spc="-5" dirty="0">
                <a:solidFill>
                  <a:srgbClr val="404040"/>
                </a:solidFill>
                <a:latin typeface="Calibri"/>
                <a:cs typeface="Calibri"/>
              </a:rPr>
              <a:t>in</a:t>
            </a:r>
            <a:r>
              <a:rPr sz="2200" spc="5" dirty="0">
                <a:solidFill>
                  <a:srgbClr val="404040"/>
                </a:solidFill>
                <a:latin typeface="Calibri"/>
                <a:cs typeface="Calibri"/>
              </a:rPr>
              <a:t> </a:t>
            </a:r>
            <a:r>
              <a:rPr sz="2200" spc="-5" dirty="0">
                <a:solidFill>
                  <a:srgbClr val="404040"/>
                </a:solidFill>
                <a:latin typeface="Calibri"/>
                <a:cs typeface="Calibri"/>
              </a:rPr>
              <a:t>memory</a:t>
            </a:r>
            <a:r>
              <a:rPr sz="2200" spc="25" dirty="0">
                <a:solidFill>
                  <a:srgbClr val="404040"/>
                </a:solidFill>
                <a:latin typeface="Calibri"/>
                <a:cs typeface="Calibri"/>
              </a:rPr>
              <a:t> </a:t>
            </a:r>
            <a:r>
              <a:rPr sz="2200" spc="-5" dirty="0">
                <a:solidFill>
                  <a:srgbClr val="404040"/>
                </a:solidFill>
                <a:latin typeface="Calibri"/>
                <a:cs typeface="Calibri"/>
              </a:rPr>
              <a:t>and</a:t>
            </a:r>
            <a:r>
              <a:rPr sz="2200" dirty="0">
                <a:solidFill>
                  <a:srgbClr val="404040"/>
                </a:solidFill>
                <a:latin typeface="Calibri"/>
                <a:cs typeface="Calibri"/>
              </a:rPr>
              <a:t> </a:t>
            </a:r>
            <a:r>
              <a:rPr sz="2200" spc="-5" dirty="0">
                <a:solidFill>
                  <a:srgbClr val="404040"/>
                </a:solidFill>
                <a:latin typeface="Calibri"/>
                <a:cs typeface="Calibri"/>
              </a:rPr>
              <a:t>it</a:t>
            </a:r>
            <a:r>
              <a:rPr sz="2200" spc="5" dirty="0">
                <a:solidFill>
                  <a:srgbClr val="404040"/>
                </a:solidFill>
                <a:latin typeface="Calibri"/>
                <a:cs typeface="Calibri"/>
              </a:rPr>
              <a:t> </a:t>
            </a:r>
            <a:r>
              <a:rPr sz="2200" spc="-5" dirty="0">
                <a:solidFill>
                  <a:srgbClr val="404040"/>
                </a:solidFill>
                <a:latin typeface="Calibri"/>
                <a:cs typeface="Calibri"/>
              </a:rPr>
              <a:t>is</a:t>
            </a:r>
            <a:r>
              <a:rPr sz="2200" spc="5" dirty="0">
                <a:solidFill>
                  <a:srgbClr val="404040"/>
                </a:solidFill>
                <a:latin typeface="Calibri"/>
                <a:cs typeface="Calibri"/>
              </a:rPr>
              <a:t> </a:t>
            </a:r>
            <a:r>
              <a:rPr sz="2200" spc="-5" dirty="0">
                <a:solidFill>
                  <a:srgbClr val="404040"/>
                </a:solidFill>
                <a:latin typeface="Calibri"/>
                <a:cs typeface="Calibri"/>
              </a:rPr>
              <a:t>the</a:t>
            </a:r>
            <a:r>
              <a:rPr sz="2200" spc="15" dirty="0">
                <a:solidFill>
                  <a:srgbClr val="404040"/>
                </a:solidFill>
                <a:latin typeface="Calibri"/>
                <a:cs typeface="Calibri"/>
              </a:rPr>
              <a:t> </a:t>
            </a:r>
            <a:r>
              <a:rPr sz="2200" spc="-10" dirty="0">
                <a:solidFill>
                  <a:srgbClr val="404040"/>
                </a:solidFill>
                <a:latin typeface="Calibri"/>
                <a:cs typeface="Calibri"/>
              </a:rPr>
              <a:t>prime</a:t>
            </a:r>
            <a:r>
              <a:rPr sz="2200" dirty="0">
                <a:solidFill>
                  <a:srgbClr val="404040"/>
                </a:solidFill>
                <a:latin typeface="Calibri"/>
                <a:cs typeface="Calibri"/>
              </a:rPr>
              <a:t> </a:t>
            </a:r>
            <a:r>
              <a:rPr sz="2200" spc="-5" dirty="0">
                <a:solidFill>
                  <a:srgbClr val="404040"/>
                </a:solidFill>
                <a:latin typeface="Calibri"/>
                <a:cs typeface="Calibri"/>
              </a:rPr>
              <a:t>activity</a:t>
            </a:r>
            <a:r>
              <a:rPr sz="2200" spc="5" dirty="0">
                <a:solidFill>
                  <a:srgbClr val="404040"/>
                </a:solidFill>
                <a:latin typeface="Calibri"/>
                <a:cs typeface="Calibri"/>
              </a:rPr>
              <a:t> </a:t>
            </a:r>
            <a:r>
              <a:rPr sz="2200" spc="-5" dirty="0">
                <a:solidFill>
                  <a:srgbClr val="404040"/>
                </a:solidFill>
                <a:latin typeface="Calibri"/>
                <a:cs typeface="Calibri"/>
              </a:rPr>
              <a:t>in </a:t>
            </a:r>
            <a:r>
              <a:rPr sz="2200" spc="-20" dirty="0">
                <a:solidFill>
                  <a:srgbClr val="404040"/>
                </a:solidFill>
                <a:latin typeface="Calibri"/>
                <a:cs typeface="Calibri"/>
              </a:rPr>
              <a:t>any </a:t>
            </a:r>
            <a:r>
              <a:rPr sz="2200" spc="-484" dirty="0">
                <a:solidFill>
                  <a:srgbClr val="404040"/>
                </a:solidFill>
                <a:latin typeface="Calibri"/>
                <a:cs typeface="Calibri"/>
              </a:rPr>
              <a:t> </a:t>
            </a:r>
            <a:r>
              <a:rPr sz="2200" spc="-10" dirty="0">
                <a:solidFill>
                  <a:srgbClr val="404040"/>
                </a:solidFill>
                <a:latin typeface="Calibri"/>
                <a:cs typeface="Calibri"/>
              </a:rPr>
              <a:t>computing</a:t>
            </a:r>
            <a:r>
              <a:rPr sz="2200" spc="5" dirty="0">
                <a:solidFill>
                  <a:srgbClr val="404040"/>
                </a:solidFill>
                <a:latin typeface="Calibri"/>
                <a:cs typeface="Calibri"/>
              </a:rPr>
              <a:t> </a:t>
            </a:r>
            <a:r>
              <a:rPr sz="2200" spc="-20" dirty="0">
                <a:solidFill>
                  <a:srgbClr val="404040"/>
                </a:solidFill>
                <a:latin typeface="Calibri"/>
                <a:cs typeface="Calibri"/>
              </a:rPr>
              <a:t>system.</a:t>
            </a:r>
            <a:endParaRPr sz="2200" dirty="0">
              <a:latin typeface="Calibri"/>
              <a:cs typeface="Calibri"/>
            </a:endParaRPr>
          </a:p>
          <a:p>
            <a:pPr marL="299085" indent="-287020" algn="just">
              <a:lnSpc>
                <a:spcPct val="100000"/>
              </a:lnSpc>
              <a:spcBef>
                <a:spcPts val="890"/>
              </a:spcBef>
              <a:buClr>
                <a:srgbClr val="E38312"/>
              </a:buClr>
              <a:buFont typeface="Wingdings"/>
              <a:buChar char=""/>
              <a:tabLst>
                <a:tab pos="299720" algn="l"/>
              </a:tabLst>
            </a:pPr>
            <a:r>
              <a:rPr sz="2200" spc="-5" dirty="0">
                <a:solidFill>
                  <a:srgbClr val="404040"/>
                </a:solidFill>
                <a:latin typeface="Calibri"/>
                <a:cs typeface="Calibri"/>
              </a:rPr>
              <a:t>Accessing</a:t>
            </a:r>
            <a:r>
              <a:rPr sz="2200" dirty="0">
                <a:solidFill>
                  <a:srgbClr val="404040"/>
                </a:solidFill>
                <a:latin typeface="Calibri"/>
                <a:cs typeface="Calibri"/>
              </a:rPr>
              <a:t> </a:t>
            </a:r>
            <a:r>
              <a:rPr sz="2200" spc="-20" dirty="0">
                <a:solidFill>
                  <a:srgbClr val="404040"/>
                </a:solidFill>
                <a:latin typeface="Calibri"/>
                <a:cs typeface="Calibri"/>
              </a:rPr>
              <a:t>data</a:t>
            </a:r>
            <a:r>
              <a:rPr sz="2200" spc="-5" dirty="0">
                <a:solidFill>
                  <a:srgbClr val="404040"/>
                </a:solidFill>
                <a:latin typeface="Calibri"/>
                <a:cs typeface="Calibri"/>
              </a:rPr>
              <a:t> </a:t>
            </a:r>
            <a:r>
              <a:rPr sz="2200" spc="-15" dirty="0">
                <a:solidFill>
                  <a:srgbClr val="404040"/>
                </a:solidFill>
                <a:latin typeface="Calibri"/>
                <a:cs typeface="Calibri"/>
              </a:rPr>
              <a:t>from</a:t>
            </a:r>
            <a:r>
              <a:rPr sz="2200" dirty="0">
                <a:solidFill>
                  <a:srgbClr val="404040"/>
                </a:solidFill>
                <a:latin typeface="Calibri"/>
                <a:cs typeface="Calibri"/>
              </a:rPr>
              <a:t> memory</a:t>
            </a:r>
            <a:r>
              <a:rPr sz="2200" spc="30" dirty="0">
                <a:solidFill>
                  <a:srgbClr val="404040"/>
                </a:solidFill>
                <a:latin typeface="Calibri"/>
                <a:cs typeface="Calibri"/>
              </a:rPr>
              <a:t> </a:t>
            </a:r>
            <a:r>
              <a:rPr sz="2200" spc="-10" dirty="0">
                <a:solidFill>
                  <a:srgbClr val="404040"/>
                </a:solidFill>
                <a:latin typeface="Calibri"/>
                <a:cs typeface="Calibri"/>
              </a:rPr>
              <a:t>by</a:t>
            </a:r>
            <a:r>
              <a:rPr sz="2200" spc="10" dirty="0">
                <a:solidFill>
                  <a:srgbClr val="404040"/>
                </a:solidFill>
                <a:latin typeface="Calibri"/>
                <a:cs typeface="Calibri"/>
              </a:rPr>
              <a:t> </a:t>
            </a:r>
            <a:r>
              <a:rPr sz="2200" spc="-5" dirty="0">
                <a:solidFill>
                  <a:srgbClr val="404040"/>
                </a:solidFill>
                <a:latin typeface="Calibri"/>
                <a:cs typeface="Calibri"/>
              </a:rPr>
              <a:t>the</a:t>
            </a:r>
            <a:r>
              <a:rPr sz="2200" spc="10" dirty="0">
                <a:solidFill>
                  <a:srgbClr val="404040"/>
                </a:solidFill>
                <a:latin typeface="Calibri"/>
                <a:cs typeface="Calibri"/>
              </a:rPr>
              <a:t> </a:t>
            </a:r>
            <a:r>
              <a:rPr sz="2200" spc="-20" dirty="0">
                <a:solidFill>
                  <a:srgbClr val="404040"/>
                </a:solidFill>
                <a:latin typeface="Calibri"/>
                <a:cs typeface="Calibri"/>
              </a:rPr>
              <a:t>core</a:t>
            </a:r>
            <a:r>
              <a:rPr sz="2200" dirty="0">
                <a:solidFill>
                  <a:srgbClr val="404040"/>
                </a:solidFill>
                <a:latin typeface="Calibri"/>
                <a:cs typeface="Calibri"/>
              </a:rPr>
              <a:t> </a:t>
            </a:r>
            <a:r>
              <a:rPr sz="2200" spc="-5" dirty="0">
                <a:solidFill>
                  <a:srgbClr val="404040"/>
                </a:solidFill>
                <a:latin typeface="Calibri"/>
                <a:cs typeface="Calibri"/>
              </a:rPr>
              <a:t>is</a:t>
            </a:r>
            <a:r>
              <a:rPr sz="2200" spc="10" dirty="0">
                <a:solidFill>
                  <a:srgbClr val="404040"/>
                </a:solidFill>
                <a:latin typeface="Calibri"/>
                <a:cs typeface="Calibri"/>
              </a:rPr>
              <a:t> </a:t>
            </a:r>
            <a:r>
              <a:rPr sz="2200" spc="-10" dirty="0">
                <a:solidFill>
                  <a:srgbClr val="404040"/>
                </a:solidFill>
                <a:latin typeface="Calibri"/>
                <a:cs typeface="Calibri"/>
              </a:rPr>
              <a:t>termed</a:t>
            </a:r>
            <a:r>
              <a:rPr sz="2200" spc="25" dirty="0">
                <a:solidFill>
                  <a:srgbClr val="404040"/>
                </a:solidFill>
                <a:latin typeface="Calibri"/>
                <a:cs typeface="Calibri"/>
              </a:rPr>
              <a:t> </a:t>
            </a:r>
            <a:r>
              <a:rPr sz="2200" spc="-5" dirty="0">
                <a:solidFill>
                  <a:srgbClr val="404040"/>
                </a:solidFill>
                <a:latin typeface="Calibri"/>
                <a:cs typeface="Calibri"/>
              </a:rPr>
              <a:t>as</a:t>
            </a:r>
            <a:r>
              <a:rPr sz="2200" spc="10" dirty="0">
                <a:solidFill>
                  <a:srgbClr val="404040"/>
                </a:solidFill>
                <a:latin typeface="Calibri"/>
                <a:cs typeface="Calibri"/>
              </a:rPr>
              <a:t> </a:t>
            </a:r>
            <a:r>
              <a:rPr sz="2200" spc="-5" dirty="0">
                <a:solidFill>
                  <a:srgbClr val="404040"/>
                </a:solidFill>
                <a:latin typeface="Calibri"/>
                <a:cs typeface="Calibri"/>
              </a:rPr>
              <a:t>Reading/Writing.</a:t>
            </a:r>
            <a:endParaRPr sz="2200" dirty="0">
              <a:latin typeface="Calibri"/>
              <a:cs typeface="Calibri"/>
            </a:endParaRPr>
          </a:p>
          <a:p>
            <a:pPr marL="299085" indent="-287020">
              <a:lnSpc>
                <a:spcPct val="100000"/>
              </a:lnSpc>
              <a:spcBef>
                <a:spcPts val="875"/>
              </a:spcBef>
              <a:buClr>
                <a:srgbClr val="E38312"/>
              </a:buClr>
              <a:buFont typeface="Wingdings"/>
              <a:buChar char=""/>
              <a:tabLst>
                <a:tab pos="299720" algn="l"/>
              </a:tabLst>
            </a:pPr>
            <a:r>
              <a:rPr sz="2200" spc="-5" dirty="0">
                <a:solidFill>
                  <a:srgbClr val="404040"/>
                </a:solidFill>
                <a:latin typeface="Calibri"/>
                <a:cs typeface="Calibri"/>
              </a:rPr>
              <a:t>When</a:t>
            </a:r>
            <a:r>
              <a:rPr sz="2200" spc="5" dirty="0">
                <a:solidFill>
                  <a:srgbClr val="404040"/>
                </a:solidFill>
                <a:latin typeface="Calibri"/>
                <a:cs typeface="Calibri"/>
              </a:rPr>
              <a:t> </a:t>
            </a:r>
            <a:r>
              <a:rPr sz="2200" spc="-20" dirty="0">
                <a:solidFill>
                  <a:srgbClr val="404040"/>
                </a:solidFill>
                <a:latin typeface="Calibri"/>
                <a:cs typeface="Calibri"/>
              </a:rPr>
              <a:t>data</a:t>
            </a:r>
            <a:r>
              <a:rPr sz="2200" dirty="0">
                <a:solidFill>
                  <a:srgbClr val="404040"/>
                </a:solidFill>
                <a:latin typeface="Calibri"/>
                <a:cs typeface="Calibri"/>
              </a:rPr>
              <a:t> </a:t>
            </a:r>
            <a:r>
              <a:rPr sz="2200" spc="-5" dirty="0">
                <a:solidFill>
                  <a:srgbClr val="404040"/>
                </a:solidFill>
                <a:latin typeface="Calibri"/>
                <a:cs typeface="Calibri"/>
              </a:rPr>
              <a:t>is</a:t>
            </a:r>
            <a:r>
              <a:rPr sz="2200" spc="5" dirty="0">
                <a:solidFill>
                  <a:srgbClr val="404040"/>
                </a:solidFill>
                <a:latin typeface="Calibri"/>
                <a:cs typeface="Calibri"/>
              </a:rPr>
              <a:t> </a:t>
            </a:r>
            <a:r>
              <a:rPr sz="2200" spc="-15" dirty="0">
                <a:solidFill>
                  <a:srgbClr val="404040"/>
                </a:solidFill>
                <a:latin typeface="Calibri"/>
                <a:cs typeface="Calibri"/>
              </a:rPr>
              <a:t>written</a:t>
            </a:r>
            <a:r>
              <a:rPr sz="2200" spc="20" dirty="0">
                <a:solidFill>
                  <a:srgbClr val="404040"/>
                </a:solidFill>
                <a:latin typeface="Calibri"/>
                <a:cs typeface="Calibri"/>
              </a:rPr>
              <a:t> </a:t>
            </a:r>
            <a:r>
              <a:rPr sz="2200" spc="-20" dirty="0">
                <a:solidFill>
                  <a:srgbClr val="404040"/>
                </a:solidFill>
                <a:latin typeface="Calibri"/>
                <a:cs typeface="Calibri"/>
              </a:rPr>
              <a:t>into</a:t>
            </a:r>
            <a:r>
              <a:rPr sz="2200" spc="10" dirty="0">
                <a:solidFill>
                  <a:srgbClr val="404040"/>
                </a:solidFill>
                <a:latin typeface="Calibri"/>
                <a:cs typeface="Calibri"/>
              </a:rPr>
              <a:t> </a:t>
            </a:r>
            <a:r>
              <a:rPr sz="2200" spc="-5" dirty="0">
                <a:solidFill>
                  <a:srgbClr val="404040"/>
                </a:solidFill>
                <a:latin typeface="Calibri"/>
                <a:cs typeface="Calibri"/>
              </a:rPr>
              <a:t>the</a:t>
            </a:r>
            <a:r>
              <a:rPr sz="2200" spc="15" dirty="0">
                <a:solidFill>
                  <a:srgbClr val="404040"/>
                </a:solidFill>
                <a:latin typeface="Calibri"/>
                <a:cs typeface="Calibri"/>
              </a:rPr>
              <a:t> </a:t>
            </a:r>
            <a:r>
              <a:rPr sz="2200" spc="-5" dirty="0">
                <a:solidFill>
                  <a:srgbClr val="404040"/>
                </a:solidFill>
                <a:latin typeface="Calibri"/>
                <a:cs typeface="Calibri"/>
              </a:rPr>
              <a:t>memory</a:t>
            </a:r>
            <a:r>
              <a:rPr sz="2200" spc="40" dirty="0">
                <a:solidFill>
                  <a:srgbClr val="404040"/>
                </a:solidFill>
                <a:latin typeface="Calibri"/>
                <a:cs typeface="Calibri"/>
              </a:rPr>
              <a:t> </a:t>
            </a:r>
            <a:r>
              <a:rPr sz="2200" spc="-5" dirty="0">
                <a:solidFill>
                  <a:srgbClr val="404040"/>
                </a:solidFill>
                <a:latin typeface="Calibri"/>
                <a:cs typeface="Calibri"/>
              </a:rPr>
              <a:t>is</a:t>
            </a:r>
            <a:r>
              <a:rPr sz="2200" spc="5" dirty="0">
                <a:solidFill>
                  <a:srgbClr val="404040"/>
                </a:solidFill>
                <a:latin typeface="Calibri"/>
                <a:cs typeface="Calibri"/>
              </a:rPr>
              <a:t> </a:t>
            </a:r>
            <a:r>
              <a:rPr sz="2200" spc="-10" dirty="0">
                <a:solidFill>
                  <a:srgbClr val="404040"/>
                </a:solidFill>
                <a:latin typeface="Calibri"/>
                <a:cs typeface="Calibri"/>
              </a:rPr>
              <a:t>called</a:t>
            </a:r>
            <a:r>
              <a:rPr sz="2200" spc="5" dirty="0">
                <a:solidFill>
                  <a:srgbClr val="404040"/>
                </a:solidFill>
                <a:latin typeface="Calibri"/>
                <a:cs typeface="Calibri"/>
              </a:rPr>
              <a:t> </a:t>
            </a:r>
            <a:r>
              <a:rPr sz="2200" spc="-5" dirty="0">
                <a:solidFill>
                  <a:srgbClr val="404040"/>
                </a:solidFill>
                <a:latin typeface="Calibri"/>
                <a:cs typeface="Calibri"/>
              </a:rPr>
              <a:t>as</a:t>
            </a:r>
            <a:r>
              <a:rPr sz="2200" spc="15" dirty="0">
                <a:solidFill>
                  <a:srgbClr val="404040"/>
                </a:solidFill>
                <a:latin typeface="Calibri"/>
                <a:cs typeface="Calibri"/>
              </a:rPr>
              <a:t> </a:t>
            </a:r>
            <a:r>
              <a:rPr sz="2200" spc="-15" dirty="0">
                <a:solidFill>
                  <a:srgbClr val="404040"/>
                </a:solidFill>
                <a:latin typeface="Calibri"/>
                <a:cs typeface="Calibri"/>
              </a:rPr>
              <a:t>‘Store’</a:t>
            </a:r>
            <a:endParaRPr sz="2200" dirty="0">
              <a:latin typeface="Calibri"/>
              <a:cs typeface="Calibri"/>
            </a:endParaRPr>
          </a:p>
          <a:p>
            <a:pPr marL="299085" indent="-287020">
              <a:lnSpc>
                <a:spcPct val="100000"/>
              </a:lnSpc>
              <a:spcBef>
                <a:spcPts val="875"/>
              </a:spcBef>
              <a:buClr>
                <a:srgbClr val="E38312"/>
              </a:buClr>
              <a:buFont typeface="Wingdings"/>
              <a:buChar char=""/>
              <a:tabLst>
                <a:tab pos="299720" algn="l"/>
              </a:tabLst>
            </a:pPr>
            <a:r>
              <a:rPr sz="2200" spc="-10" dirty="0">
                <a:solidFill>
                  <a:srgbClr val="404040"/>
                </a:solidFill>
                <a:latin typeface="Calibri"/>
                <a:cs typeface="Calibri"/>
              </a:rPr>
              <a:t>Whereas</a:t>
            </a:r>
            <a:r>
              <a:rPr sz="2200" spc="15" dirty="0">
                <a:solidFill>
                  <a:srgbClr val="404040"/>
                </a:solidFill>
                <a:latin typeface="Calibri"/>
                <a:cs typeface="Calibri"/>
              </a:rPr>
              <a:t> </a:t>
            </a:r>
            <a:r>
              <a:rPr sz="2200" spc="-5" dirty="0">
                <a:solidFill>
                  <a:srgbClr val="404040"/>
                </a:solidFill>
                <a:latin typeface="Calibri"/>
                <a:cs typeface="Calibri"/>
              </a:rPr>
              <a:t>the</a:t>
            </a:r>
            <a:r>
              <a:rPr sz="2200" dirty="0">
                <a:solidFill>
                  <a:srgbClr val="404040"/>
                </a:solidFill>
                <a:latin typeface="Calibri"/>
                <a:cs typeface="Calibri"/>
              </a:rPr>
              <a:t> </a:t>
            </a:r>
            <a:r>
              <a:rPr sz="2200" spc="-20" dirty="0">
                <a:solidFill>
                  <a:srgbClr val="404040"/>
                </a:solidFill>
                <a:latin typeface="Calibri"/>
                <a:cs typeface="Calibri"/>
              </a:rPr>
              <a:t>data</a:t>
            </a:r>
            <a:r>
              <a:rPr sz="2200" spc="5" dirty="0">
                <a:solidFill>
                  <a:srgbClr val="404040"/>
                </a:solidFill>
                <a:latin typeface="Calibri"/>
                <a:cs typeface="Calibri"/>
              </a:rPr>
              <a:t> </a:t>
            </a:r>
            <a:r>
              <a:rPr sz="2200" spc="-10" dirty="0">
                <a:solidFill>
                  <a:srgbClr val="404040"/>
                </a:solidFill>
                <a:latin typeface="Calibri"/>
                <a:cs typeface="Calibri"/>
              </a:rPr>
              <a:t>reading</a:t>
            </a:r>
            <a:r>
              <a:rPr sz="2200" spc="-5" dirty="0">
                <a:solidFill>
                  <a:srgbClr val="404040"/>
                </a:solidFill>
                <a:latin typeface="Calibri"/>
                <a:cs typeface="Calibri"/>
              </a:rPr>
              <a:t> </a:t>
            </a:r>
            <a:r>
              <a:rPr sz="2200" spc="-15" dirty="0">
                <a:solidFill>
                  <a:srgbClr val="404040"/>
                </a:solidFill>
                <a:latin typeface="Calibri"/>
                <a:cs typeface="Calibri"/>
              </a:rPr>
              <a:t>from</a:t>
            </a:r>
            <a:r>
              <a:rPr sz="2200" spc="5" dirty="0">
                <a:solidFill>
                  <a:srgbClr val="404040"/>
                </a:solidFill>
                <a:latin typeface="Calibri"/>
                <a:cs typeface="Calibri"/>
              </a:rPr>
              <a:t> </a:t>
            </a:r>
            <a:r>
              <a:rPr sz="2200" spc="-5" dirty="0">
                <a:solidFill>
                  <a:srgbClr val="404040"/>
                </a:solidFill>
                <a:latin typeface="Calibri"/>
                <a:cs typeface="Calibri"/>
              </a:rPr>
              <a:t>it</a:t>
            </a:r>
            <a:r>
              <a:rPr sz="2200" spc="10" dirty="0">
                <a:solidFill>
                  <a:srgbClr val="404040"/>
                </a:solidFill>
                <a:latin typeface="Calibri"/>
                <a:cs typeface="Calibri"/>
              </a:rPr>
              <a:t> </a:t>
            </a:r>
            <a:r>
              <a:rPr sz="2200" spc="-5" dirty="0">
                <a:solidFill>
                  <a:srgbClr val="404040"/>
                </a:solidFill>
                <a:latin typeface="Calibri"/>
                <a:cs typeface="Calibri"/>
              </a:rPr>
              <a:t>is</a:t>
            </a:r>
            <a:r>
              <a:rPr sz="2200" spc="5" dirty="0">
                <a:solidFill>
                  <a:srgbClr val="404040"/>
                </a:solidFill>
                <a:latin typeface="Calibri"/>
                <a:cs typeface="Calibri"/>
              </a:rPr>
              <a:t> </a:t>
            </a:r>
            <a:r>
              <a:rPr sz="2200" spc="-10" dirty="0">
                <a:solidFill>
                  <a:srgbClr val="404040"/>
                </a:solidFill>
                <a:latin typeface="Calibri"/>
                <a:cs typeface="Calibri"/>
              </a:rPr>
              <a:t>called</a:t>
            </a:r>
            <a:r>
              <a:rPr sz="2200" spc="10" dirty="0">
                <a:solidFill>
                  <a:srgbClr val="404040"/>
                </a:solidFill>
                <a:latin typeface="Calibri"/>
                <a:cs typeface="Calibri"/>
              </a:rPr>
              <a:t> </a:t>
            </a:r>
            <a:r>
              <a:rPr sz="2200" spc="-35" dirty="0">
                <a:solidFill>
                  <a:srgbClr val="404040"/>
                </a:solidFill>
                <a:latin typeface="Calibri"/>
                <a:cs typeface="Calibri"/>
              </a:rPr>
              <a:t>‘Load’.</a:t>
            </a:r>
            <a:endParaRPr sz="2200" dirty="0">
              <a:latin typeface="Calibri"/>
              <a:cs typeface="Calibri"/>
            </a:endParaRPr>
          </a:p>
        </p:txBody>
      </p:sp>
      <p:sp>
        <p:nvSpPr>
          <p:cNvPr id="10" name="object 10"/>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11" name="object 11"/>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2" name="object 12"/>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5</a:t>
            </a:r>
            <a:endParaRPr sz="1050">
              <a:latin typeface="Calibri"/>
              <a:cs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p:nvPr/>
        </p:nvSpPr>
        <p:spPr>
          <a:xfrm>
            <a:off x="698703" y="1822830"/>
            <a:ext cx="10753725" cy="391160"/>
          </a:xfrm>
          <a:prstGeom prst="rect">
            <a:avLst/>
          </a:prstGeom>
        </p:spPr>
        <p:txBody>
          <a:bodyPr vert="horz" wrap="square" lIns="0" tIns="12700" rIns="0" bIns="0" rtlCol="0">
            <a:spAutoFit/>
          </a:bodyPr>
          <a:lstStyle/>
          <a:p>
            <a:pPr marL="342900" indent="-330835">
              <a:lnSpc>
                <a:spcPct val="100000"/>
              </a:lnSpc>
              <a:spcBef>
                <a:spcPts val="100"/>
              </a:spcBef>
              <a:buClr>
                <a:srgbClr val="E38312"/>
              </a:buClr>
              <a:buFont typeface="Wingdings"/>
              <a:buChar char=""/>
              <a:tabLst>
                <a:tab pos="343535" algn="l"/>
                <a:tab pos="1254125" algn="l"/>
                <a:tab pos="2763520" algn="l"/>
                <a:tab pos="3467735" algn="l"/>
                <a:tab pos="3793490" algn="l"/>
                <a:tab pos="4832985" algn="l"/>
                <a:tab pos="5982335" algn="l"/>
                <a:tab pos="6415405" algn="l"/>
                <a:tab pos="7162165" algn="l"/>
                <a:tab pos="8660130" algn="l"/>
                <a:tab pos="9160510" algn="l"/>
                <a:tab pos="9754870" algn="l"/>
                <a:tab pos="10487660" algn="l"/>
              </a:tabLst>
            </a:pPr>
            <a:r>
              <a:rPr sz="2400" spc="-5" dirty="0">
                <a:solidFill>
                  <a:srgbClr val="404040"/>
                </a:solidFill>
                <a:latin typeface="Calibri"/>
                <a:cs typeface="Calibri"/>
              </a:rPr>
              <a:t>Thes</a:t>
            </a:r>
            <a:r>
              <a:rPr sz="2400" dirty="0">
                <a:solidFill>
                  <a:srgbClr val="404040"/>
                </a:solidFill>
                <a:latin typeface="Calibri"/>
                <a:cs typeface="Calibri"/>
              </a:rPr>
              <a:t>e	</a:t>
            </a:r>
            <a:r>
              <a:rPr sz="2400" spc="-5" dirty="0">
                <a:solidFill>
                  <a:srgbClr val="404040"/>
                </a:solidFill>
                <a:latin typeface="Calibri"/>
                <a:cs typeface="Calibri"/>
              </a:rPr>
              <a:t>ope</a:t>
            </a:r>
            <a:r>
              <a:rPr sz="2400" spc="-35" dirty="0">
                <a:solidFill>
                  <a:srgbClr val="404040"/>
                </a:solidFill>
                <a:latin typeface="Calibri"/>
                <a:cs typeface="Calibri"/>
              </a:rPr>
              <a:t>r</a:t>
            </a:r>
            <a:r>
              <a:rPr sz="2400" spc="-25" dirty="0">
                <a:solidFill>
                  <a:srgbClr val="404040"/>
                </a:solidFill>
                <a:latin typeface="Calibri"/>
                <a:cs typeface="Calibri"/>
              </a:rPr>
              <a:t>a</a:t>
            </a:r>
            <a:r>
              <a:rPr sz="2400" dirty="0">
                <a:solidFill>
                  <a:srgbClr val="404040"/>
                </a:solidFill>
                <a:latin typeface="Calibri"/>
                <a:cs typeface="Calibri"/>
              </a:rPr>
              <a:t>tions	</a:t>
            </a:r>
            <a:r>
              <a:rPr sz="2400" spc="-25" dirty="0">
                <a:solidFill>
                  <a:srgbClr val="404040"/>
                </a:solidFill>
                <a:latin typeface="Calibri"/>
                <a:cs typeface="Calibri"/>
              </a:rPr>
              <a:t>t</a:t>
            </a:r>
            <a:r>
              <a:rPr sz="2400" spc="-10" dirty="0">
                <a:solidFill>
                  <a:srgbClr val="404040"/>
                </a:solidFill>
                <a:latin typeface="Calibri"/>
                <a:cs typeface="Calibri"/>
              </a:rPr>
              <a:t>a</a:t>
            </a:r>
            <a:r>
              <a:rPr sz="2400" spc="-75" dirty="0">
                <a:solidFill>
                  <a:srgbClr val="404040"/>
                </a:solidFill>
                <a:latin typeface="Calibri"/>
                <a:cs typeface="Calibri"/>
              </a:rPr>
              <a:t>k</a:t>
            </a:r>
            <a:r>
              <a:rPr sz="2400" dirty="0">
                <a:solidFill>
                  <a:srgbClr val="404040"/>
                </a:solidFill>
                <a:latin typeface="Calibri"/>
                <a:cs typeface="Calibri"/>
              </a:rPr>
              <a:t>e	a	cer</a:t>
            </a:r>
            <a:r>
              <a:rPr sz="2400" spc="-40" dirty="0">
                <a:solidFill>
                  <a:srgbClr val="404040"/>
                </a:solidFill>
                <a:latin typeface="Calibri"/>
                <a:cs typeface="Calibri"/>
              </a:rPr>
              <a:t>t</a:t>
            </a:r>
            <a:r>
              <a:rPr sz="2400" dirty="0">
                <a:solidFill>
                  <a:srgbClr val="404040"/>
                </a:solidFill>
                <a:latin typeface="Calibri"/>
                <a:cs typeface="Calibri"/>
              </a:rPr>
              <a:t>ain	amou</a:t>
            </a:r>
            <a:r>
              <a:rPr sz="2400" spc="-25" dirty="0">
                <a:solidFill>
                  <a:srgbClr val="404040"/>
                </a:solidFill>
                <a:latin typeface="Calibri"/>
                <a:cs typeface="Calibri"/>
              </a:rPr>
              <a:t>n</a:t>
            </a:r>
            <a:r>
              <a:rPr sz="2400" dirty="0">
                <a:solidFill>
                  <a:srgbClr val="404040"/>
                </a:solidFill>
                <a:latin typeface="Calibri"/>
                <a:cs typeface="Calibri"/>
              </a:rPr>
              <a:t>t	</a:t>
            </a:r>
            <a:r>
              <a:rPr sz="2400" spc="-10" dirty="0">
                <a:solidFill>
                  <a:srgbClr val="404040"/>
                </a:solidFill>
                <a:latin typeface="Calibri"/>
                <a:cs typeface="Calibri"/>
              </a:rPr>
              <a:t>o</a:t>
            </a:r>
            <a:r>
              <a:rPr sz="2400" dirty="0">
                <a:solidFill>
                  <a:srgbClr val="404040"/>
                </a:solidFill>
                <a:latin typeface="Calibri"/>
                <a:cs typeface="Calibri"/>
              </a:rPr>
              <a:t>f	t</a:t>
            </a:r>
            <a:r>
              <a:rPr sz="2400" spc="-15" dirty="0">
                <a:solidFill>
                  <a:srgbClr val="404040"/>
                </a:solidFill>
                <a:latin typeface="Calibri"/>
                <a:cs typeface="Calibri"/>
              </a:rPr>
              <a:t>i</a:t>
            </a:r>
            <a:r>
              <a:rPr sz="2400" dirty="0">
                <a:solidFill>
                  <a:srgbClr val="404040"/>
                </a:solidFill>
                <a:latin typeface="Calibri"/>
                <a:cs typeface="Calibri"/>
              </a:rPr>
              <a:t>me	</a:t>
            </a:r>
            <a:r>
              <a:rPr sz="2400" spc="-5" dirty="0">
                <a:solidFill>
                  <a:srgbClr val="404040"/>
                </a:solidFill>
                <a:latin typeface="Calibri"/>
                <a:cs typeface="Calibri"/>
              </a:rPr>
              <a:t>dep</a:t>
            </a:r>
            <a:r>
              <a:rPr sz="2400" spc="5" dirty="0">
                <a:solidFill>
                  <a:srgbClr val="404040"/>
                </a:solidFill>
                <a:latin typeface="Calibri"/>
                <a:cs typeface="Calibri"/>
              </a:rPr>
              <a:t>e</a:t>
            </a:r>
            <a:r>
              <a:rPr sz="2400" spc="-5" dirty="0">
                <a:solidFill>
                  <a:srgbClr val="404040"/>
                </a:solidFill>
                <a:latin typeface="Calibri"/>
                <a:cs typeface="Calibri"/>
              </a:rPr>
              <a:t>ndin</a:t>
            </a:r>
            <a:r>
              <a:rPr sz="2400" dirty="0">
                <a:solidFill>
                  <a:srgbClr val="404040"/>
                </a:solidFill>
                <a:latin typeface="Calibri"/>
                <a:cs typeface="Calibri"/>
              </a:rPr>
              <a:t>g	</a:t>
            </a:r>
            <a:r>
              <a:rPr sz="2400" spc="-10" dirty="0">
                <a:solidFill>
                  <a:srgbClr val="404040"/>
                </a:solidFill>
                <a:latin typeface="Calibri"/>
                <a:cs typeface="Calibri"/>
              </a:rPr>
              <a:t>o</a:t>
            </a:r>
            <a:r>
              <a:rPr sz="2400" dirty="0">
                <a:solidFill>
                  <a:srgbClr val="404040"/>
                </a:solidFill>
                <a:latin typeface="Calibri"/>
                <a:cs typeface="Calibri"/>
              </a:rPr>
              <a:t>n	the	type	</a:t>
            </a:r>
            <a:r>
              <a:rPr sz="2400" spc="-10" dirty="0">
                <a:solidFill>
                  <a:srgbClr val="404040"/>
                </a:solidFill>
                <a:latin typeface="Calibri"/>
                <a:cs typeface="Calibri"/>
              </a:rPr>
              <a:t>of</a:t>
            </a:r>
            <a:endParaRPr sz="2400">
              <a:latin typeface="Calibri"/>
              <a:cs typeface="Calibri"/>
            </a:endParaRPr>
          </a:p>
        </p:txBody>
      </p:sp>
      <p:sp>
        <p:nvSpPr>
          <p:cNvPr id="7" name="object 7"/>
          <p:cNvSpPr txBox="1"/>
          <p:nvPr/>
        </p:nvSpPr>
        <p:spPr>
          <a:xfrm>
            <a:off x="698703" y="2010729"/>
            <a:ext cx="10754995" cy="3878579"/>
          </a:xfrm>
          <a:prstGeom prst="rect">
            <a:avLst/>
          </a:prstGeom>
        </p:spPr>
        <p:txBody>
          <a:bodyPr vert="horz" wrap="square" lIns="0" tIns="153670" rIns="0" bIns="0" rtlCol="0">
            <a:spAutoFit/>
          </a:bodyPr>
          <a:lstStyle/>
          <a:p>
            <a:pPr marL="274320">
              <a:lnSpc>
                <a:spcPct val="100000"/>
              </a:lnSpc>
              <a:spcBef>
                <a:spcPts val="1210"/>
              </a:spcBef>
            </a:pPr>
            <a:r>
              <a:rPr sz="2400" spc="-10" dirty="0">
                <a:solidFill>
                  <a:srgbClr val="404040"/>
                </a:solidFill>
                <a:latin typeface="Calibri"/>
                <a:cs typeface="Calibri"/>
              </a:rPr>
              <a:t>technology</a:t>
            </a:r>
            <a:r>
              <a:rPr sz="2400" spc="-20" dirty="0">
                <a:solidFill>
                  <a:srgbClr val="404040"/>
                </a:solidFill>
                <a:latin typeface="Calibri"/>
                <a:cs typeface="Calibri"/>
              </a:rPr>
              <a:t> </a:t>
            </a:r>
            <a:r>
              <a:rPr sz="2400" spc="-5" dirty="0">
                <a:solidFill>
                  <a:srgbClr val="404040"/>
                </a:solidFill>
                <a:latin typeface="Calibri"/>
                <a:cs typeface="Calibri"/>
              </a:rPr>
              <a:t>used</a:t>
            </a:r>
            <a:r>
              <a:rPr sz="2400" spc="-15" dirty="0">
                <a:solidFill>
                  <a:srgbClr val="404040"/>
                </a:solidFill>
                <a:latin typeface="Calibri"/>
                <a:cs typeface="Calibri"/>
              </a:rPr>
              <a:t> </a:t>
            </a:r>
            <a:r>
              <a:rPr sz="2400" spc="-20" dirty="0">
                <a:solidFill>
                  <a:srgbClr val="404040"/>
                </a:solidFill>
                <a:latin typeface="Calibri"/>
                <a:cs typeface="Calibri"/>
              </a:rPr>
              <a:t>for</a:t>
            </a:r>
            <a:r>
              <a:rPr sz="2400" spc="-15" dirty="0">
                <a:solidFill>
                  <a:srgbClr val="404040"/>
                </a:solidFill>
                <a:latin typeface="Calibri"/>
                <a:cs typeface="Calibri"/>
              </a:rPr>
              <a:t> </a:t>
            </a:r>
            <a:r>
              <a:rPr sz="2400" spc="-20" dirty="0">
                <a:solidFill>
                  <a:srgbClr val="404040"/>
                </a:solidFill>
                <a:latin typeface="Calibri"/>
                <a:cs typeface="Calibri"/>
              </a:rPr>
              <a:t>memory.</a:t>
            </a:r>
            <a:endParaRPr sz="2400" dirty="0">
              <a:latin typeface="Calibri"/>
              <a:cs typeface="Calibri"/>
            </a:endParaRPr>
          </a:p>
          <a:p>
            <a:pPr marL="342900" indent="-330835">
              <a:lnSpc>
                <a:spcPts val="2735"/>
              </a:lnSpc>
              <a:spcBef>
                <a:spcPts val="1115"/>
              </a:spcBef>
              <a:buClr>
                <a:srgbClr val="E38312"/>
              </a:buClr>
              <a:buFont typeface="Wingdings"/>
              <a:buChar char=""/>
              <a:tabLst>
                <a:tab pos="343535" algn="l"/>
              </a:tabLst>
            </a:pPr>
            <a:r>
              <a:rPr sz="2400" spc="-5" dirty="0">
                <a:solidFill>
                  <a:srgbClr val="404040"/>
                </a:solidFill>
                <a:latin typeface="Calibri"/>
                <a:cs typeface="Calibri"/>
              </a:rPr>
              <a:t>The</a:t>
            </a:r>
            <a:r>
              <a:rPr sz="2400" spc="250" dirty="0">
                <a:solidFill>
                  <a:srgbClr val="404040"/>
                </a:solidFill>
                <a:latin typeface="Calibri"/>
                <a:cs typeface="Calibri"/>
              </a:rPr>
              <a:t> </a:t>
            </a:r>
            <a:r>
              <a:rPr sz="2400" spc="-10" dirty="0">
                <a:solidFill>
                  <a:srgbClr val="404040"/>
                </a:solidFill>
                <a:latin typeface="Calibri"/>
                <a:cs typeface="Calibri"/>
              </a:rPr>
              <a:t>value</a:t>
            </a:r>
            <a:r>
              <a:rPr sz="2400" spc="254" dirty="0">
                <a:solidFill>
                  <a:srgbClr val="404040"/>
                </a:solidFill>
                <a:latin typeface="Calibri"/>
                <a:cs typeface="Calibri"/>
              </a:rPr>
              <a:t> </a:t>
            </a:r>
            <a:r>
              <a:rPr sz="2400" dirty="0">
                <a:solidFill>
                  <a:srgbClr val="404040"/>
                </a:solidFill>
                <a:latin typeface="Calibri"/>
                <a:cs typeface="Calibri"/>
              </a:rPr>
              <a:t>of</a:t>
            </a:r>
            <a:r>
              <a:rPr sz="2400" spc="250" dirty="0">
                <a:solidFill>
                  <a:srgbClr val="404040"/>
                </a:solidFill>
                <a:latin typeface="Calibri"/>
                <a:cs typeface="Calibri"/>
              </a:rPr>
              <a:t> </a:t>
            </a:r>
            <a:r>
              <a:rPr sz="2400" spc="-5" dirty="0">
                <a:solidFill>
                  <a:srgbClr val="404040"/>
                </a:solidFill>
                <a:latin typeface="Calibri"/>
                <a:cs typeface="Calibri"/>
              </a:rPr>
              <a:t>the</a:t>
            </a:r>
            <a:r>
              <a:rPr sz="2400" spc="254" dirty="0">
                <a:solidFill>
                  <a:srgbClr val="404040"/>
                </a:solidFill>
                <a:latin typeface="Calibri"/>
                <a:cs typeface="Calibri"/>
              </a:rPr>
              <a:t> </a:t>
            </a:r>
            <a:r>
              <a:rPr sz="2400" spc="-5" dirty="0">
                <a:solidFill>
                  <a:srgbClr val="404040"/>
                </a:solidFill>
                <a:latin typeface="Calibri"/>
                <a:cs typeface="Calibri"/>
              </a:rPr>
              <a:t>'access</a:t>
            </a:r>
            <a:r>
              <a:rPr sz="2400" spc="250" dirty="0">
                <a:solidFill>
                  <a:srgbClr val="404040"/>
                </a:solidFill>
                <a:latin typeface="Calibri"/>
                <a:cs typeface="Calibri"/>
              </a:rPr>
              <a:t> </a:t>
            </a:r>
            <a:r>
              <a:rPr sz="2400" spc="-5" dirty="0">
                <a:solidFill>
                  <a:srgbClr val="404040"/>
                </a:solidFill>
                <a:latin typeface="Calibri"/>
                <a:cs typeface="Calibri"/>
              </a:rPr>
              <a:t>times'</a:t>
            </a:r>
            <a:r>
              <a:rPr sz="2400" spc="245" dirty="0">
                <a:solidFill>
                  <a:srgbClr val="404040"/>
                </a:solidFill>
                <a:latin typeface="Calibri"/>
                <a:cs typeface="Calibri"/>
              </a:rPr>
              <a:t> </a:t>
            </a:r>
            <a:r>
              <a:rPr sz="2400" spc="-10" dirty="0">
                <a:solidFill>
                  <a:srgbClr val="404040"/>
                </a:solidFill>
                <a:latin typeface="Calibri"/>
                <a:cs typeface="Calibri"/>
              </a:rPr>
              <a:t>tells</a:t>
            </a:r>
            <a:r>
              <a:rPr sz="2400" spc="245" dirty="0">
                <a:solidFill>
                  <a:srgbClr val="404040"/>
                </a:solidFill>
                <a:latin typeface="Calibri"/>
                <a:cs typeface="Calibri"/>
              </a:rPr>
              <a:t> </a:t>
            </a:r>
            <a:r>
              <a:rPr sz="2400" spc="-10" dirty="0">
                <a:solidFill>
                  <a:srgbClr val="404040"/>
                </a:solidFill>
                <a:latin typeface="Calibri"/>
                <a:cs typeface="Calibri"/>
              </a:rPr>
              <a:t>that</a:t>
            </a:r>
            <a:r>
              <a:rPr sz="2400" spc="245" dirty="0">
                <a:solidFill>
                  <a:srgbClr val="404040"/>
                </a:solidFill>
                <a:latin typeface="Calibri"/>
                <a:cs typeface="Calibri"/>
              </a:rPr>
              <a:t> </a:t>
            </a:r>
            <a:r>
              <a:rPr sz="2400" dirty="0">
                <a:solidFill>
                  <a:srgbClr val="404040"/>
                </a:solidFill>
                <a:latin typeface="Calibri"/>
                <a:cs typeface="Calibri"/>
              </a:rPr>
              <a:t>a</a:t>
            </a:r>
            <a:r>
              <a:rPr sz="2400" spc="240" dirty="0">
                <a:solidFill>
                  <a:srgbClr val="404040"/>
                </a:solidFill>
                <a:latin typeface="Calibri"/>
                <a:cs typeface="Calibri"/>
              </a:rPr>
              <a:t> </a:t>
            </a:r>
            <a:r>
              <a:rPr sz="2400" dirty="0">
                <a:solidFill>
                  <a:srgbClr val="404040"/>
                </a:solidFill>
                <a:latin typeface="Calibri"/>
                <a:cs typeface="Calibri"/>
              </a:rPr>
              <a:t>memory</a:t>
            </a:r>
            <a:r>
              <a:rPr sz="2400" spc="250" dirty="0">
                <a:solidFill>
                  <a:srgbClr val="404040"/>
                </a:solidFill>
                <a:latin typeface="Calibri"/>
                <a:cs typeface="Calibri"/>
              </a:rPr>
              <a:t> </a:t>
            </a:r>
            <a:r>
              <a:rPr sz="2400" dirty="0">
                <a:solidFill>
                  <a:srgbClr val="404040"/>
                </a:solidFill>
                <a:latin typeface="Calibri"/>
                <a:cs typeface="Calibri"/>
              </a:rPr>
              <a:t>is</a:t>
            </a:r>
            <a:r>
              <a:rPr sz="2400" spc="245" dirty="0">
                <a:solidFill>
                  <a:srgbClr val="404040"/>
                </a:solidFill>
                <a:latin typeface="Calibri"/>
                <a:cs typeface="Calibri"/>
              </a:rPr>
              <a:t> </a:t>
            </a:r>
            <a:r>
              <a:rPr sz="2400" spc="-5" dirty="0">
                <a:solidFill>
                  <a:srgbClr val="404040"/>
                </a:solidFill>
                <a:latin typeface="Calibri"/>
                <a:cs typeface="Calibri"/>
              </a:rPr>
              <a:t>either</a:t>
            </a:r>
            <a:r>
              <a:rPr sz="2400" spc="254" dirty="0">
                <a:solidFill>
                  <a:srgbClr val="404040"/>
                </a:solidFill>
                <a:latin typeface="Calibri"/>
                <a:cs typeface="Calibri"/>
              </a:rPr>
              <a:t> </a:t>
            </a:r>
            <a:r>
              <a:rPr sz="2400" spc="-20" dirty="0">
                <a:solidFill>
                  <a:srgbClr val="404040"/>
                </a:solidFill>
                <a:latin typeface="Calibri"/>
                <a:cs typeface="Calibri"/>
              </a:rPr>
              <a:t>fast</a:t>
            </a:r>
            <a:r>
              <a:rPr sz="2400" spc="245" dirty="0">
                <a:solidFill>
                  <a:srgbClr val="404040"/>
                </a:solidFill>
                <a:latin typeface="Calibri"/>
                <a:cs typeface="Calibri"/>
              </a:rPr>
              <a:t> </a:t>
            </a:r>
            <a:r>
              <a:rPr sz="2400" spc="-5" dirty="0">
                <a:solidFill>
                  <a:srgbClr val="404040"/>
                </a:solidFill>
                <a:latin typeface="Calibri"/>
                <a:cs typeface="Calibri"/>
              </a:rPr>
              <a:t>or</a:t>
            </a:r>
            <a:r>
              <a:rPr sz="2400" spc="254" dirty="0">
                <a:solidFill>
                  <a:srgbClr val="404040"/>
                </a:solidFill>
                <a:latin typeface="Calibri"/>
                <a:cs typeface="Calibri"/>
              </a:rPr>
              <a:t> </a:t>
            </a:r>
            <a:r>
              <a:rPr sz="2400" spc="-50" dirty="0">
                <a:solidFill>
                  <a:srgbClr val="404040"/>
                </a:solidFill>
                <a:latin typeface="Calibri"/>
                <a:cs typeface="Calibri"/>
              </a:rPr>
              <a:t>slow,</a:t>
            </a:r>
            <a:r>
              <a:rPr sz="2400" spc="250" dirty="0">
                <a:solidFill>
                  <a:srgbClr val="404040"/>
                </a:solidFill>
                <a:latin typeface="Calibri"/>
                <a:cs typeface="Calibri"/>
              </a:rPr>
              <a:t> </a:t>
            </a:r>
            <a:r>
              <a:rPr sz="2400" dirty="0">
                <a:solidFill>
                  <a:srgbClr val="404040"/>
                </a:solidFill>
                <a:latin typeface="Calibri"/>
                <a:cs typeface="Calibri"/>
              </a:rPr>
              <a:t>and</a:t>
            </a:r>
            <a:r>
              <a:rPr sz="2400" spc="245" dirty="0">
                <a:solidFill>
                  <a:srgbClr val="404040"/>
                </a:solidFill>
                <a:latin typeface="Calibri"/>
                <a:cs typeface="Calibri"/>
              </a:rPr>
              <a:t> </a:t>
            </a:r>
            <a:r>
              <a:rPr sz="2400" spc="-5" dirty="0">
                <a:solidFill>
                  <a:srgbClr val="404040"/>
                </a:solidFill>
                <a:latin typeface="Calibri"/>
                <a:cs typeface="Calibri"/>
              </a:rPr>
              <a:t>this</a:t>
            </a:r>
            <a:endParaRPr sz="2400" dirty="0">
              <a:latin typeface="Calibri"/>
              <a:cs typeface="Calibri"/>
            </a:endParaRPr>
          </a:p>
          <a:p>
            <a:pPr marL="274320">
              <a:lnSpc>
                <a:spcPts val="2735"/>
              </a:lnSpc>
            </a:pPr>
            <a:r>
              <a:rPr sz="2400" spc="-5" dirty="0">
                <a:solidFill>
                  <a:srgbClr val="404040"/>
                </a:solidFill>
                <a:latin typeface="Calibri"/>
                <a:cs typeface="Calibri"/>
              </a:rPr>
              <a:t>depends</a:t>
            </a:r>
            <a:r>
              <a:rPr sz="2400" dirty="0">
                <a:solidFill>
                  <a:srgbClr val="404040"/>
                </a:solidFill>
                <a:latin typeface="Calibri"/>
                <a:cs typeface="Calibri"/>
              </a:rPr>
              <a:t> </a:t>
            </a:r>
            <a:r>
              <a:rPr sz="2400" spc="-5" dirty="0">
                <a:solidFill>
                  <a:srgbClr val="404040"/>
                </a:solidFill>
                <a:latin typeface="Calibri"/>
                <a:cs typeface="Calibri"/>
              </a:rPr>
              <a:t>on</a:t>
            </a:r>
            <a:r>
              <a:rPr sz="2400" spc="-10"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10" dirty="0">
                <a:solidFill>
                  <a:srgbClr val="404040"/>
                </a:solidFill>
                <a:latin typeface="Calibri"/>
                <a:cs typeface="Calibri"/>
              </a:rPr>
              <a:t>technology</a:t>
            </a:r>
            <a:r>
              <a:rPr sz="2400" spc="-25" dirty="0">
                <a:solidFill>
                  <a:srgbClr val="404040"/>
                </a:solidFill>
                <a:latin typeface="Calibri"/>
                <a:cs typeface="Calibri"/>
              </a:rPr>
              <a:t> </a:t>
            </a:r>
            <a:r>
              <a:rPr sz="2400" spc="-5" dirty="0">
                <a:solidFill>
                  <a:srgbClr val="404040"/>
                </a:solidFill>
                <a:latin typeface="Calibri"/>
                <a:cs typeface="Calibri"/>
              </a:rPr>
              <a:t>used.</a:t>
            </a:r>
            <a:endParaRPr sz="2400" dirty="0">
              <a:latin typeface="Calibri"/>
              <a:cs typeface="Calibri"/>
            </a:endParaRPr>
          </a:p>
          <a:p>
            <a:pPr marL="274320" marR="7620" indent="-262255">
              <a:lnSpc>
                <a:spcPts val="2590"/>
              </a:lnSpc>
              <a:spcBef>
                <a:spcPts val="1445"/>
              </a:spcBef>
              <a:buClr>
                <a:srgbClr val="E38312"/>
              </a:buClr>
              <a:buFont typeface="Wingdings"/>
              <a:buChar char=""/>
              <a:tabLst>
                <a:tab pos="343535" algn="l"/>
              </a:tabLst>
            </a:pPr>
            <a:r>
              <a:rPr sz="2400" spc="-20" dirty="0" smtClean="0">
                <a:solidFill>
                  <a:srgbClr val="404040"/>
                </a:solidFill>
                <a:latin typeface="Calibri"/>
                <a:cs typeface="Calibri"/>
              </a:rPr>
              <a:t>So,</a:t>
            </a:r>
            <a:r>
              <a:rPr sz="2400" spc="235" dirty="0" smtClean="0">
                <a:solidFill>
                  <a:srgbClr val="404040"/>
                </a:solidFill>
                <a:latin typeface="Calibri"/>
                <a:cs typeface="Calibri"/>
              </a:rPr>
              <a:t> </a:t>
            </a:r>
            <a:r>
              <a:rPr sz="2400" dirty="0" smtClean="0">
                <a:solidFill>
                  <a:srgbClr val="404040"/>
                </a:solidFill>
                <a:latin typeface="Calibri"/>
                <a:cs typeface="Calibri"/>
              </a:rPr>
              <a:t>in</a:t>
            </a:r>
            <a:r>
              <a:rPr sz="2400" spc="235" dirty="0" smtClean="0">
                <a:solidFill>
                  <a:srgbClr val="404040"/>
                </a:solidFill>
                <a:latin typeface="Calibri"/>
                <a:cs typeface="Calibri"/>
              </a:rPr>
              <a:t> </a:t>
            </a:r>
            <a:r>
              <a:rPr sz="2400" dirty="0" smtClean="0">
                <a:solidFill>
                  <a:srgbClr val="404040"/>
                </a:solidFill>
                <a:latin typeface="Calibri"/>
                <a:cs typeface="Calibri"/>
              </a:rPr>
              <a:t>this</a:t>
            </a:r>
            <a:r>
              <a:rPr sz="2400" spc="229" dirty="0" smtClean="0">
                <a:solidFill>
                  <a:srgbClr val="404040"/>
                </a:solidFill>
                <a:latin typeface="Calibri"/>
                <a:cs typeface="Calibri"/>
              </a:rPr>
              <a:t> </a:t>
            </a:r>
            <a:r>
              <a:rPr sz="2400" spc="-5" dirty="0" smtClean="0">
                <a:solidFill>
                  <a:srgbClr val="404040"/>
                </a:solidFill>
                <a:latin typeface="Calibri"/>
                <a:cs typeface="Calibri"/>
              </a:rPr>
              <a:t>section,</a:t>
            </a:r>
            <a:r>
              <a:rPr sz="2400" spc="235" dirty="0" smtClean="0">
                <a:solidFill>
                  <a:srgbClr val="404040"/>
                </a:solidFill>
                <a:latin typeface="Calibri"/>
                <a:cs typeface="Calibri"/>
              </a:rPr>
              <a:t> </a:t>
            </a:r>
            <a:r>
              <a:rPr sz="2400" spc="-10" dirty="0" smtClean="0">
                <a:solidFill>
                  <a:srgbClr val="404040"/>
                </a:solidFill>
                <a:latin typeface="Calibri"/>
                <a:cs typeface="Calibri"/>
              </a:rPr>
              <a:t>let</a:t>
            </a:r>
            <a:r>
              <a:rPr sz="2400" spc="240" dirty="0" smtClean="0">
                <a:solidFill>
                  <a:srgbClr val="404040"/>
                </a:solidFill>
                <a:latin typeface="Calibri"/>
                <a:cs typeface="Calibri"/>
              </a:rPr>
              <a:t> </a:t>
            </a:r>
            <a:r>
              <a:rPr sz="2400" spc="-10" dirty="0" smtClean="0">
                <a:solidFill>
                  <a:srgbClr val="404040"/>
                </a:solidFill>
                <a:latin typeface="Calibri"/>
                <a:cs typeface="Calibri"/>
              </a:rPr>
              <a:t>us</a:t>
            </a:r>
            <a:r>
              <a:rPr sz="2400" spc="229" dirty="0" smtClean="0">
                <a:solidFill>
                  <a:srgbClr val="404040"/>
                </a:solidFill>
                <a:latin typeface="Calibri"/>
                <a:cs typeface="Calibri"/>
              </a:rPr>
              <a:t> </a:t>
            </a:r>
            <a:r>
              <a:rPr sz="2400" spc="-5" dirty="0" smtClean="0">
                <a:solidFill>
                  <a:srgbClr val="404040"/>
                </a:solidFill>
                <a:latin typeface="Calibri"/>
                <a:cs typeface="Calibri"/>
              </a:rPr>
              <a:t>discuss</a:t>
            </a:r>
            <a:r>
              <a:rPr sz="2400" spc="240" dirty="0" smtClean="0">
                <a:solidFill>
                  <a:srgbClr val="404040"/>
                </a:solidFill>
                <a:latin typeface="Calibri"/>
                <a:cs typeface="Calibri"/>
              </a:rPr>
              <a:t> </a:t>
            </a:r>
            <a:r>
              <a:rPr sz="2400" dirty="0" smtClean="0">
                <a:solidFill>
                  <a:srgbClr val="404040"/>
                </a:solidFill>
                <a:latin typeface="Calibri"/>
                <a:cs typeface="Calibri"/>
              </a:rPr>
              <a:t>the</a:t>
            </a:r>
            <a:r>
              <a:rPr sz="2400" spc="240" dirty="0" smtClean="0">
                <a:solidFill>
                  <a:srgbClr val="404040"/>
                </a:solidFill>
                <a:latin typeface="Calibri"/>
                <a:cs typeface="Calibri"/>
              </a:rPr>
              <a:t> </a:t>
            </a:r>
            <a:r>
              <a:rPr sz="2400" spc="-20" dirty="0">
                <a:solidFill>
                  <a:srgbClr val="404040"/>
                </a:solidFill>
                <a:latin typeface="Calibri"/>
                <a:cs typeface="Calibri"/>
              </a:rPr>
              <a:t>different</a:t>
            </a:r>
            <a:r>
              <a:rPr sz="2400" spc="235" dirty="0">
                <a:solidFill>
                  <a:srgbClr val="404040"/>
                </a:solidFill>
                <a:latin typeface="Calibri"/>
                <a:cs typeface="Calibri"/>
              </a:rPr>
              <a:t> </a:t>
            </a:r>
            <a:r>
              <a:rPr sz="2400" dirty="0">
                <a:solidFill>
                  <a:srgbClr val="404040"/>
                </a:solidFill>
                <a:latin typeface="Calibri"/>
                <a:cs typeface="Calibri"/>
              </a:rPr>
              <a:t>types</a:t>
            </a:r>
            <a:r>
              <a:rPr sz="2400" spc="245" dirty="0">
                <a:solidFill>
                  <a:srgbClr val="404040"/>
                </a:solidFill>
                <a:latin typeface="Calibri"/>
                <a:cs typeface="Calibri"/>
              </a:rPr>
              <a:t> </a:t>
            </a:r>
            <a:r>
              <a:rPr sz="2400" spc="-5" dirty="0">
                <a:solidFill>
                  <a:srgbClr val="404040"/>
                </a:solidFill>
                <a:latin typeface="Calibri"/>
                <a:cs typeface="Calibri"/>
              </a:rPr>
              <a:t>of</a:t>
            </a:r>
            <a:r>
              <a:rPr sz="2400" spc="235" dirty="0">
                <a:solidFill>
                  <a:srgbClr val="404040"/>
                </a:solidFill>
                <a:latin typeface="Calibri"/>
                <a:cs typeface="Calibri"/>
              </a:rPr>
              <a:t> </a:t>
            </a:r>
            <a:r>
              <a:rPr sz="2400" dirty="0">
                <a:solidFill>
                  <a:srgbClr val="404040"/>
                </a:solidFill>
                <a:latin typeface="Calibri"/>
                <a:cs typeface="Calibri"/>
              </a:rPr>
              <a:t>memory</a:t>
            </a:r>
            <a:r>
              <a:rPr sz="2400" spc="250" dirty="0">
                <a:solidFill>
                  <a:srgbClr val="404040"/>
                </a:solidFill>
                <a:latin typeface="Calibri"/>
                <a:cs typeface="Calibri"/>
              </a:rPr>
              <a:t> </a:t>
            </a:r>
            <a:r>
              <a:rPr sz="2400" spc="-5" dirty="0">
                <a:solidFill>
                  <a:srgbClr val="404040"/>
                </a:solidFill>
                <a:latin typeface="Calibri"/>
                <a:cs typeface="Calibri"/>
              </a:rPr>
              <a:t>devices</a:t>
            </a:r>
            <a:r>
              <a:rPr sz="2400" spc="235" dirty="0">
                <a:solidFill>
                  <a:srgbClr val="404040"/>
                </a:solidFill>
                <a:latin typeface="Calibri"/>
                <a:cs typeface="Calibri"/>
              </a:rPr>
              <a:t> </a:t>
            </a:r>
            <a:r>
              <a:rPr sz="2400" dirty="0">
                <a:solidFill>
                  <a:srgbClr val="404040"/>
                </a:solidFill>
                <a:latin typeface="Calibri"/>
                <a:cs typeface="Calibri"/>
              </a:rPr>
              <a:t>which</a:t>
            </a:r>
            <a:r>
              <a:rPr sz="2400" spc="240" dirty="0">
                <a:solidFill>
                  <a:srgbClr val="404040"/>
                </a:solidFill>
                <a:latin typeface="Calibri"/>
                <a:cs typeface="Calibri"/>
              </a:rPr>
              <a:t> </a:t>
            </a:r>
            <a:r>
              <a:rPr sz="2400" spc="-15" dirty="0">
                <a:solidFill>
                  <a:srgbClr val="404040"/>
                </a:solidFill>
                <a:latin typeface="Calibri"/>
                <a:cs typeface="Calibri"/>
              </a:rPr>
              <a:t>are </a:t>
            </a:r>
            <a:r>
              <a:rPr sz="2400" spc="-525" dirty="0">
                <a:solidFill>
                  <a:srgbClr val="404040"/>
                </a:solidFill>
                <a:latin typeface="Calibri"/>
                <a:cs typeface="Calibri"/>
              </a:rPr>
              <a:t> </a:t>
            </a:r>
            <a:r>
              <a:rPr sz="2400" spc="-5" dirty="0">
                <a:solidFill>
                  <a:srgbClr val="404040"/>
                </a:solidFill>
                <a:latin typeface="Calibri"/>
                <a:cs typeface="Calibri"/>
              </a:rPr>
              <a:t>used </a:t>
            </a:r>
            <a:r>
              <a:rPr sz="2400" dirty="0">
                <a:solidFill>
                  <a:srgbClr val="404040"/>
                </a:solidFill>
                <a:latin typeface="Calibri"/>
                <a:cs typeface="Calibri"/>
              </a:rPr>
              <a:t>in</a:t>
            </a:r>
            <a:r>
              <a:rPr sz="2400" spc="-5" dirty="0">
                <a:solidFill>
                  <a:srgbClr val="404040"/>
                </a:solidFill>
                <a:latin typeface="Calibri"/>
                <a:cs typeface="Calibri"/>
              </a:rPr>
              <a:t> embedded</a:t>
            </a:r>
            <a:r>
              <a:rPr sz="2400" spc="5" dirty="0">
                <a:solidFill>
                  <a:srgbClr val="404040"/>
                </a:solidFill>
                <a:latin typeface="Calibri"/>
                <a:cs typeface="Calibri"/>
              </a:rPr>
              <a:t> </a:t>
            </a:r>
            <a:r>
              <a:rPr sz="2400" spc="-5" dirty="0">
                <a:solidFill>
                  <a:srgbClr val="404040"/>
                </a:solidFill>
                <a:latin typeface="Calibri"/>
                <a:cs typeface="Calibri"/>
              </a:rPr>
              <a:t>applications.</a:t>
            </a:r>
            <a:endParaRPr sz="2400" dirty="0">
              <a:latin typeface="Calibri"/>
              <a:cs typeface="Calibri"/>
            </a:endParaRPr>
          </a:p>
          <a:p>
            <a:pPr marL="274320" marR="6350" indent="-262255">
              <a:lnSpc>
                <a:spcPts val="2590"/>
              </a:lnSpc>
              <a:spcBef>
                <a:spcPts val="1400"/>
              </a:spcBef>
              <a:buClr>
                <a:srgbClr val="E38312"/>
              </a:buClr>
              <a:buFont typeface="Wingdings"/>
              <a:buChar char=""/>
              <a:tabLst>
                <a:tab pos="343535" algn="l"/>
              </a:tabLst>
            </a:pPr>
            <a:r>
              <a:rPr sz="2400" spc="-5" dirty="0">
                <a:solidFill>
                  <a:srgbClr val="404040"/>
                </a:solidFill>
                <a:latin typeface="Calibri"/>
                <a:cs typeface="Calibri"/>
              </a:rPr>
              <a:t>Inside</a:t>
            </a:r>
            <a:r>
              <a:rPr sz="2400" spc="215" dirty="0">
                <a:solidFill>
                  <a:srgbClr val="404040"/>
                </a:solidFill>
                <a:latin typeface="Calibri"/>
                <a:cs typeface="Calibri"/>
              </a:rPr>
              <a:t> </a:t>
            </a:r>
            <a:r>
              <a:rPr sz="2400" dirty="0">
                <a:solidFill>
                  <a:srgbClr val="404040"/>
                </a:solidFill>
                <a:latin typeface="Calibri"/>
                <a:cs typeface="Calibri"/>
              </a:rPr>
              <a:t>the</a:t>
            </a:r>
            <a:r>
              <a:rPr sz="2400" spc="204" dirty="0">
                <a:solidFill>
                  <a:srgbClr val="404040"/>
                </a:solidFill>
                <a:latin typeface="Calibri"/>
                <a:cs typeface="Calibri"/>
              </a:rPr>
              <a:t> </a:t>
            </a:r>
            <a:r>
              <a:rPr sz="2400" spc="-5" dirty="0">
                <a:solidFill>
                  <a:srgbClr val="404040"/>
                </a:solidFill>
                <a:latin typeface="Calibri"/>
                <a:cs typeface="Calibri"/>
              </a:rPr>
              <a:t>memory</a:t>
            </a:r>
            <a:r>
              <a:rPr sz="2400" spc="220" dirty="0">
                <a:solidFill>
                  <a:srgbClr val="404040"/>
                </a:solidFill>
                <a:latin typeface="Calibri"/>
                <a:cs typeface="Calibri"/>
              </a:rPr>
              <a:t> </a:t>
            </a:r>
            <a:r>
              <a:rPr sz="2400" spc="-15" dirty="0">
                <a:solidFill>
                  <a:srgbClr val="404040"/>
                </a:solidFill>
                <a:latin typeface="Calibri"/>
                <a:cs typeface="Calibri"/>
              </a:rPr>
              <a:t>hardware,</a:t>
            </a:r>
            <a:r>
              <a:rPr sz="2400" spc="220" dirty="0">
                <a:solidFill>
                  <a:srgbClr val="404040"/>
                </a:solidFill>
                <a:latin typeface="Calibri"/>
                <a:cs typeface="Calibri"/>
              </a:rPr>
              <a:t> </a:t>
            </a:r>
            <a:r>
              <a:rPr sz="2400" dirty="0">
                <a:solidFill>
                  <a:srgbClr val="404040"/>
                </a:solidFill>
                <a:latin typeface="Calibri"/>
                <a:cs typeface="Calibri"/>
              </a:rPr>
              <a:t>each</a:t>
            </a:r>
            <a:r>
              <a:rPr sz="2400" spc="204" dirty="0">
                <a:solidFill>
                  <a:srgbClr val="404040"/>
                </a:solidFill>
                <a:latin typeface="Calibri"/>
                <a:cs typeface="Calibri"/>
              </a:rPr>
              <a:t> </a:t>
            </a:r>
            <a:r>
              <a:rPr sz="2400" spc="-5" dirty="0">
                <a:solidFill>
                  <a:srgbClr val="404040"/>
                </a:solidFill>
                <a:latin typeface="Calibri"/>
                <a:cs typeface="Calibri"/>
              </a:rPr>
              <a:t>address</a:t>
            </a:r>
            <a:r>
              <a:rPr sz="2400" spc="210" dirty="0">
                <a:solidFill>
                  <a:srgbClr val="404040"/>
                </a:solidFill>
                <a:latin typeface="Calibri"/>
                <a:cs typeface="Calibri"/>
              </a:rPr>
              <a:t> </a:t>
            </a:r>
            <a:r>
              <a:rPr sz="2400" spc="-20" dirty="0">
                <a:solidFill>
                  <a:srgbClr val="404040"/>
                </a:solidFill>
                <a:latin typeface="Calibri"/>
                <a:cs typeface="Calibri"/>
              </a:rPr>
              <a:t>stores</a:t>
            </a:r>
            <a:r>
              <a:rPr sz="2400" spc="215" dirty="0">
                <a:solidFill>
                  <a:srgbClr val="404040"/>
                </a:solidFill>
                <a:latin typeface="Calibri"/>
                <a:cs typeface="Calibri"/>
              </a:rPr>
              <a:t> </a:t>
            </a:r>
            <a:r>
              <a:rPr sz="2400" spc="-5" dirty="0">
                <a:solidFill>
                  <a:srgbClr val="404040"/>
                </a:solidFill>
                <a:latin typeface="Calibri"/>
                <a:cs typeface="Calibri"/>
              </a:rPr>
              <a:t>one</a:t>
            </a:r>
            <a:r>
              <a:rPr sz="2400" spc="210" dirty="0">
                <a:solidFill>
                  <a:srgbClr val="404040"/>
                </a:solidFill>
                <a:latin typeface="Calibri"/>
                <a:cs typeface="Calibri"/>
              </a:rPr>
              <a:t> </a:t>
            </a:r>
            <a:r>
              <a:rPr sz="2400" spc="-10" dirty="0">
                <a:solidFill>
                  <a:srgbClr val="404040"/>
                </a:solidFill>
                <a:latin typeface="Calibri"/>
                <a:cs typeface="Calibri"/>
              </a:rPr>
              <a:t>byte</a:t>
            </a:r>
            <a:r>
              <a:rPr sz="2400" spc="225" dirty="0">
                <a:solidFill>
                  <a:srgbClr val="404040"/>
                </a:solidFill>
                <a:latin typeface="Calibri"/>
                <a:cs typeface="Calibri"/>
              </a:rPr>
              <a:t> </a:t>
            </a:r>
            <a:r>
              <a:rPr sz="2400" spc="-5" dirty="0">
                <a:solidFill>
                  <a:srgbClr val="404040"/>
                </a:solidFill>
                <a:latin typeface="Calibri"/>
                <a:cs typeface="Calibri"/>
              </a:rPr>
              <a:t>of</a:t>
            </a:r>
            <a:r>
              <a:rPr sz="2400" spc="210" dirty="0">
                <a:solidFill>
                  <a:srgbClr val="404040"/>
                </a:solidFill>
                <a:latin typeface="Calibri"/>
                <a:cs typeface="Calibri"/>
              </a:rPr>
              <a:t> </a:t>
            </a:r>
            <a:r>
              <a:rPr sz="2400" spc="-15" dirty="0">
                <a:solidFill>
                  <a:srgbClr val="404040"/>
                </a:solidFill>
                <a:latin typeface="Calibri"/>
                <a:cs typeface="Calibri"/>
              </a:rPr>
              <a:t>data.</a:t>
            </a:r>
            <a:r>
              <a:rPr sz="2400" spc="195" dirty="0">
                <a:solidFill>
                  <a:srgbClr val="404040"/>
                </a:solidFill>
                <a:latin typeface="Calibri"/>
                <a:cs typeface="Calibri"/>
              </a:rPr>
              <a:t> </a:t>
            </a:r>
            <a:r>
              <a:rPr sz="2400" spc="-5" dirty="0">
                <a:solidFill>
                  <a:srgbClr val="404040"/>
                </a:solidFill>
                <a:latin typeface="Calibri"/>
                <a:cs typeface="Calibri"/>
              </a:rPr>
              <a:t>It</a:t>
            </a:r>
            <a:r>
              <a:rPr sz="2400" spc="200" dirty="0">
                <a:solidFill>
                  <a:srgbClr val="404040"/>
                </a:solidFill>
                <a:latin typeface="Calibri"/>
                <a:cs typeface="Calibri"/>
              </a:rPr>
              <a:t> </a:t>
            </a:r>
            <a:r>
              <a:rPr sz="2400" dirty="0">
                <a:solidFill>
                  <a:srgbClr val="404040"/>
                </a:solidFill>
                <a:latin typeface="Calibri"/>
                <a:cs typeface="Calibri"/>
              </a:rPr>
              <a:t>means</a:t>
            </a:r>
            <a:r>
              <a:rPr sz="2400" spc="200" dirty="0">
                <a:solidFill>
                  <a:srgbClr val="404040"/>
                </a:solidFill>
                <a:latin typeface="Calibri"/>
                <a:cs typeface="Calibri"/>
              </a:rPr>
              <a:t> </a:t>
            </a:r>
            <a:r>
              <a:rPr sz="2400" spc="-10" dirty="0">
                <a:solidFill>
                  <a:srgbClr val="404040"/>
                </a:solidFill>
                <a:latin typeface="Calibri"/>
                <a:cs typeface="Calibri"/>
              </a:rPr>
              <a:t>that </a:t>
            </a:r>
            <a:r>
              <a:rPr sz="2400" spc="-525" dirty="0">
                <a:solidFill>
                  <a:srgbClr val="404040"/>
                </a:solidFill>
                <a:latin typeface="Calibri"/>
                <a:cs typeface="Calibri"/>
              </a:rPr>
              <a:t> </a:t>
            </a:r>
            <a:r>
              <a:rPr sz="2400" dirty="0">
                <a:solidFill>
                  <a:srgbClr val="404040"/>
                </a:solidFill>
                <a:latin typeface="Calibri"/>
                <a:cs typeface="Calibri"/>
              </a:rPr>
              <a:t>memory</a:t>
            </a:r>
            <a:r>
              <a:rPr sz="2400" spc="-20"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generally</a:t>
            </a:r>
            <a:r>
              <a:rPr sz="2400" spc="-5" dirty="0">
                <a:solidFill>
                  <a:srgbClr val="404040"/>
                </a:solidFill>
                <a:latin typeface="Calibri"/>
                <a:cs typeface="Calibri"/>
              </a:rPr>
              <a:t> 'byte</a:t>
            </a:r>
            <a:r>
              <a:rPr sz="2400" spc="-10" dirty="0">
                <a:solidFill>
                  <a:srgbClr val="404040"/>
                </a:solidFill>
                <a:latin typeface="Calibri"/>
                <a:cs typeface="Calibri"/>
              </a:rPr>
              <a:t> oriented‘</a:t>
            </a:r>
            <a:endParaRPr sz="2400" dirty="0">
              <a:latin typeface="Calibri"/>
              <a:cs typeface="Calibri"/>
            </a:endParaRPr>
          </a:p>
          <a:p>
            <a:pPr marL="274320" marR="8255" indent="-262255">
              <a:lnSpc>
                <a:spcPts val="2590"/>
              </a:lnSpc>
              <a:spcBef>
                <a:spcPts val="1410"/>
              </a:spcBef>
              <a:buClr>
                <a:srgbClr val="E38312"/>
              </a:buClr>
              <a:buFont typeface="Wingdings"/>
              <a:buChar char=""/>
              <a:tabLst>
                <a:tab pos="343535" algn="l"/>
                <a:tab pos="775970" algn="l"/>
                <a:tab pos="1071245" algn="l"/>
                <a:tab pos="1350645" algn="l"/>
                <a:tab pos="2216150" algn="l"/>
                <a:tab pos="2985770" algn="l"/>
                <a:tab pos="3305810" algn="l"/>
                <a:tab pos="4227830" algn="l"/>
                <a:tab pos="4591050" algn="l"/>
                <a:tab pos="5822315" algn="l"/>
                <a:tab pos="6127115" algn="l"/>
                <a:tab pos="7339330" algn="l"/>
                <a:tab pos="7985125" algn="l"/>
                <a:tab pos="8787130" algn="l"/>
                <a:tab pos="9625330" algn="l"/>
                <a:tab pos="10224135" algn="l"/>
              </a:tabLst>
            </a:pPr>
            <a:r>
              <a:rPr sz="2400" dirty="0">
                <a:solidFill>
                  <a:srgbClr val="404040"/>
                </a:solidFill>
                <a:latin typeface="Calibri"/>
                <a:cs typeface="Calibri"/>
              </a:rPr>
              <a:t>So	if	a	</a:t>
            </a:r>
            <a:r>
              <a:rPr sz="2400" spc="-5" dirty="0">
                <a:solidFill>
                  <a:srgbClr val="404040"/>
                </a:solidFill>
                <a:latin typeface="Calibri"/>
                <a:cs typeface="Calibri"/>
              </a:rPr>
              <a:t>32-bi</a:t>
            </a:r>
            <a:r>
              <a:rPr sz="2400" dirty="0">
                <a:solidFill>
                  <a:srgbClr val="404040"/>
                </a:solidFill>
                <a:latin typeface="Calibri"/>
                <a:cs typeface="Calibri"/>
              </a:rPr>
              <a:t>t	</a:t>
            </a:r>
            <a:r>
              <a:rPr sz="2400" spc="-25" dirty="0">
                <a:solidFill>
                  <a:srgbClr val="404040"/>
                </a:solidFill>
                <a:latin typeface="Calibri"/>
                <a:cs typeface="Calibri"/>
              </a:rPr>
              <a:t>w</a:t>
            </a:r>
            <a:r>
              <a:rPr sz="2400" spc="-5" dirty="0">
                <a:solidFill>
                  <a:srgbClr val="404040"/>
                </a:solidFill>
                <a:latin typeface="Calibri"/>
                <a:cs typeface="Calibri"/>
              </a:rPr>
              <a:t>o</a:t>
            </a:r>
            <a:r>
              <a:rPr sz="2400" spc="-40" dirty="0">
                <a:solidFill>
                  <a:srgbClr val="404040"/>
                </a:solidFill>
                <a:latin typeface="Calibri"/>
                <a:cs typeface="Calibri"/>
              </a:rPr>
              <a:t>r</a:t>
            </a:r>
            <a:r>
              <a:rPr sz="2400" dirty="0">
                <a:solidFill>
                  <a:srgbClr val="404040"/>
                </a:solidFill>
                <a:latin typeface="Calibri"/>
                <a:cs typeface="Calibri"/>
              </a:rPr>
              <a:t>d	is	</a:t>
            </a:r>
            <a:r>
              <a:rPr sz="2400" spc="-30" dirty="0">
                <a:solidFill>
                  <a:srgbClr val="404040"/>
                </a:solidFill>
                <a:latin typeface="Calibri"/>
                <a:cs typeface="Calibri"/>
              </a:rPr>
              <a:t>s</a:t>
            </a:r>
            <a:r>
              <a:rPr sz="2400" spc="-25" dirty="0">
                <a:solidFill>
                  <a:srgbClr val="404040"/>
                </a:solidFill>
                <a:latin typeface="Calibri"/>
                <a:cs typeface="Calibri"/>
              </a:rPr>
              <a:t>t</a:t>
            </a:r>
            <a:r>
              <a:rPr sz="2400" spc="-5" dirty="0">
                <a:solidFill>
                  <a:srgbClr val="404040"/>
                </a:solidFill>
                <a:latin typeface="Calibri"/>
                <a:cs typeface="Calibri"/>
              </a:rPr>
              <a:t>o</a:t>
            </a:r>
            <a:r>
              <a:rPr sz="2400" spc="-40" dirty="0">
                <a:solidFill>
                  <a:srgbClr val="404040"/>
                </a:solidFill>
                <a:latin typeface="Calibri"/>
                <a:cs typeface="Calibri"/>
              </a:rPr>
              <a:t>r</a:t>
            </a:r>
            <a:r>
              <a:rPr sz="2400" dirty="0">
                <a:solidFill>
                  <a:srgbClr val="404040"/>
                </a:solidFill>
                <a:latin typeface="Calibri"/>
                <a:cs typeface="Calibri"/>
              </a:rPr>
              <a:t>ed	in	</a:t>
            </a:r>
            <a:r>
              <a:rPr sz="2400" spc="-10" dirty="0">
                <a:solidFill>
                  <a:srgbClr val="404040"/>
                </a:solidFill>
                <a:latin typeface="Calibri"/>
                <a:cs typeface="Calibri"/>
              </a:rPr>
              <a:t>m</a:t>
            </a:r>
            <a:r>
              <a:rPr sz="2400" dirty="0">
                <a:solidFill>
                  <a:srgbClr val="404040"/>
                </a:solidFill>
                <a:latin typeface="Calibri"/>
                <a:cs typeface="Calibri"/>
              </a:rPr>
              <a:t>emo</a:t>
            </a:r>
            <a:r>
              <a:rPr sz="2400" spc="15" dirty="0">
                <a:solidFill>
                  <a:srgbClr val="404040"/>
                </a:solidFill>
                <a:latin typeface="Calibri"/>
                <a:cs typeface="Calibri"/>
              </a:rPr>
              <a:t>r</a:t>
            </a:r>
            <a:r>
              <a:rPr sz="2400" spc="-165" dirty="0">
                <a:solidFill>
                  <a:srgbClr val="404040"/>
                </a:solidFill>
                <a:latin typeface="Calibri"/>
                <a:cs typeface="Calibri"/>
              </a:rPr>
              <a:t>y</a:t>
            </a:r>
            <a:r>
              <a:rPr sz="2400" dirty="0">
                <a:solidFill>
                  <a:srgbClr val="404040"/>
                </a:solidFill>
                <a:latin typeface="Calibri"/>
                <a:cs typeface="Calibri"/>
              </a:rPr>
              <a:t>,	it	</a:t>
            </a:r>
            <a:r>
              <a:rPr sz="2400" spc="-20" dirty="0">
                <a:solidFill>
                  <a:srgbClr val="404040"/>
                </a:solidFill>
                <a:latin typeface="Calibri"/>
                <a:cs typeface="Calibri"/>
              </a:rPr>
              <a:t>o</a:t>
            </a:r>
            <a:r>
              <a:rPr sz="2400" dirty="0">
                <a:solidFill>
                  <a:srgbClr val="404040"/>
                </a:solidFill>
                <a:latin typeface="Calibri"/>
                <a:cs typeface="Calibri"/>
              </a:rPr>
              <a:t>c</a:t>
            </a:r>
            <a:r>
              <a:rPr sz="2400" spc="5" dirty="0">
                <a:solidFill>
                  <a:srgbClr val="404040"/>
                </a:solidFill>
                <a:latin typeface="Calibri"/>
                <a:cs typeface="Calibri"/>
              </a:rPr>
              <a:t>c</a:t>
            </a:r>
            <a:r>
              <a:rPr sz="2400" spc="-5" dirty="0">
                <a:solidFill>
                  <a:srgbClr val="404040"/>
                </a:solidFill>
                <a:latin typeface="Calibri"/>
                <a:cs typeface="Calibri"/>
              </a:rPr>
              <a:t>upie</a:t>
            </a:r>
            <a:r>
              <a:rPr sz="2400" dirty="0">
                <a:solidFill>
                  <a:srgbClr val="404040"/>
                </a:solidFill>
                <a:latin typeface="Calibri"/>
                <a:cs typeface="Calibri"/>
              </a:rPr>
              <a:t>s	</a:t>
            </a:r>
            <a:r>
              <a:rPr sz="2400" spc="-50" dirty="0">
                <a:solidFill>
                  <a:srgbClr val="404040"/>
                </a:solidFill>
                <a:latin typeface="Calibri"/>
                <a:cs typeface="Calibri"/>
              </a:rPr>
              <a:t>f</a:t>
            </a:r>
            <a:r>
              <a:rPr sz="2400" spc="-5" dirty="0">
                <a:solidFill>
                  <a:srgbClr val="404040"/>
                </a:solidFill>
                <a:latin typeface="Calibri"/>
                <a:cs typeface="Calibri"/>
              </a:rPr>
              <a:t>ou</a:t>
            </a:r>
            <a:r>
              <a:rPr sz="2400" dirty="0">
                <a:solidFill>
                  <a:srgbClr val="404040"/>
                </a:solidFill>
                <a:latin typeface="Calibri"/>
                <a:cs typeface="Calibri"/>
              </a:rPr>
              <a:t>r	</a:t>
            </a:r>
            <a:r>
              <a:rPr sz="2400" spc="-15" dirty="0">
                <a:solidFill>
                  <a:srgbClr val="404040"/>
                </a:solidFill>
                <a:latin typeface="Calibri"/>
                <a:cs typeface="Calibri"/>
              </a:rPr>
              <a:t>b</a:t>
            </a:r>
            <a:r>
              <a:rPr sz="2400" spc="15" dirty="0">
                <a:solidFill>
                  <a:srgbClr val="404040"/>
                </a:solidFill>
                <a:latin typeface="Calibri"/>
                <a:cs typeface="Calibri"/>
              </a:rPr>
              <a:t>y</a:t>
            </a:r>
            <a:r>
              <a:rPr sz="2400" spc="-25" dirty="0">
                <a:solidFill>
                  <a:srgbClr val="404040"/>
                </a:solidFill>
                <a:latin typeface="Calibri"/>
                <a:cs typeface="Calibri"/>
              </a:rPr>
              <a:t>t</a:t>
            </a:r>
            <a:r>
              <a:rPr sz="2400" dirty="0">
                <a:solidFill>
                  <a:srgbClr val="404040"/>
                </a:solidFill>
                <a:latin typeface="Calibri"/>
                <a:cs typeface="Calibri"/>
              </a:rPr>
              <a:t>es	</a:t>
            </a:r>
            <a:r>
              <a:rPr sz="2400" spc="-5" dirty="0">
                <a:solidFill>
                  <a:srgbClr val="404040"/>
                </a:solidFill>
                <a:latin typeface="Calibri"/>
                <a:cs typeface="Calibri"/>
              </a:rPr>
              <a:t>sp</a:t>
            </a:r>
            <a:r>
              <a:rPr sz="2400" spc="-15" dirty="0">
                <a:solidFill>
                  <a:srgbClr val="404040"/>
                </a:solidFill>
                <a:latin typeface="Calibri"/>
                <a:cs typeface="Calibri"/>
              </a:rPr>
              <a:t>a</a:t>
            </a:r>
            <a:r>
              <a:rPr sz="2400" dirty="0">
                <a:solidFill>
                  <a:srgbClr val="404040"/>
                </a:solidFill>
                <a:latin typeface="Calibri"/>
                <a:cs typeface="Calibri"/>
              </a:rPr>
              <a:t>ce	and	</a:t>
            </a:r>
            <a:r>
              <a:rPr sz="2400" spc="-50" dirty="0">
                <a:solidFill>
                  <a:srgbClr val="404040"/>
                </a:solidFill>
                <a:latin typeface="Calibri"/>
                <a:cs typeface="Calibri"/>
              </a:rPr>
              <a:t>f</a:t>
            </a:r>
            <a:r>
              <a:rPr sz="2400" spc="-5" dirty="0">
                <a:solidFill>
                  <a:srgbClr val="404040"/>
                </a:solidFill>
                <a:latin typeface="Calibri"/>
                <a:cs typeface="Calibri"/>
              </a:rPr>
              <a:t>our  addresses </a:t>
            </a:r>
            <a:r>
              <a:rPr sz="2400" spc="-15" dirty="0">
                <a:solidFill>
                  <a:srgbClr val="404040"/>
                </a:solidFill>
                <a:latin typeface="Calibri"/>
                <a:cs typeface="Calibri"/>
              </a:rPr>
              <a:t>are</a:t>
            </a:r>
            <a:r>
              <a:rPr sz="2400" spc="-10" dirty="0">
                <a:solidFill>
                  <a:srgbClr val="404040"/>
                </a:solidFill>
                <a:latin typeface="Calibri"/>
                <a:cs typeface="Calibri"/>
              </a:rPr>
              <a:t> </a:t>
            </a:r>
            <a:r>
              <a:rPr sz="2400" spc="-5" dirty="0">
                <a:solidFill>
                  <a:srgbClr val="404040"/>
                </a:solidFill>
                <a:latin typeface="Calibri"/>
                <a:cs typeface="Calibri"/>
              </a:rPr>
              <a:t>used</a:t>
            </a:r>
            <a:r>
              <a:rPr sz="2400" spc="5" dirty="0">
                <a:solidFill>
                  <a:srgbClr val="404040"/>
                </a:solidFill>
                <a:latin typeface="Calibri"/>
                <a:cs typeface="Calibri"/>
              </a:rPr>
              <a:t> </a:t>
            </a:r>
            <a:r>
              <a:rPr sz="2400" spc="-20" dirty="0">
                <a:solidFill>
                  <a:srgbClr val="404040"/>
                </a:solidFill>
                <a:latin typeface="Calibri"/>
                <a:cs typeface="Calibri"/>
              </a:rPr>
              <a:t>for</a:t>
            </a:r>
            <a:r>
              <a:rPr sz="2400" spc="-10" dirty="0">
                <a:solidFill>
                  <a:srgbClr val="404040"/>
                </a:solidFill>
                <a:latin typeface="Calibri"/>
                <a:cs typeface="Calibri"/>
              </a:rPr>
              <a:t> </a:t>
            </a:r>
            <a:r>
              <a:rPr sz="2400" spc="-5" dirty="0">
                <a:solidFill>
                  <a:srgbClr val="404040"/>
                </a:solidFill>
                <a:latin typeface="Calibri"/>
                <a:cs typeface="Calibri"/>
              </a:rPr>
              <a:t>it.</a:t>
            </a:r>
            <a:endParaRPr sz="24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6</a:t>
            </a:r>
            <a:endParaRPr sz="1050">
              <a:latin typeface="Calibri"/>
              <a:cs typeface="Calibri"/>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p:nvPr/>
        </p:nvSpPr>
        <p:spPr>
          <a:xfrm>
            <a:off x="405130" y="1257925"/>
            <a:ext cx="11381740" cy="4998933"/>
          </a:xfrm>
          <a:prstGeom prst="rect">
            <a:avLst/>
          </a:prstGeom>
        </p:spPr>
        <p:txBody>
          <a:bodyPr vert="horz" wrap="square" lIns="0" tIns="53975" rIns="0" bIns="0" rtlCol="0">
            <a:spAutoFit/>
          </a:bodyPr>
          <a:lstStyle/>
          <a:p>
            <a:pPr marL="361950" indent="-311785" algn="just">
              <a:lnSpc>
                <a:spcPct val="100000"/>
              </a:lnSpc>
              <a:spcBef>
                <a:spcPts val="1080"/>
              </a:spcBef>
              <a:buClr>
                <a:srgbClr val="E38312"/>
              </a:buClr>
              <a:buFont typeface="Wingdings"/>
              <a:buChar char=""/>
              <a:tabLst>
                <a:tab pos="362585" algn="l"/>
              </a:tabLst>
            </a:pPr>
            <a:r>
              <a:rPr sz="2400" spc="-15" dirty="0" smtClean="0">
                <a:solidFill>
                  <a:srgbClr val="404040"/>
                </a:solidFill>
                <a:latin typeface="Calibri"/>
                <a:cs typeface="Calibri"/>
              </a:rPr>
              <a:t>For</a:t>
            </a:r>
            <a:r>
              <a:rPr sz="2400" spc="-20" dirty="0" smtClean="0">
                <a:solidFill>
                  <a:srgbClr val="404040"/>
                </a:solidFill>
                <a:latin typeface="Calibri"/>
                <a:cs typeface="Calibri"/>
              </a:rPr>
              <a:t> </a:t>
            </a:r>
            <a:r>
              <a:rPr sz="2400" spc="-5" dirty="0">
                <a:solidFill>
                  <a:srgbClr val="404040"/>
                </a:solidFill>
                <a:latin typeface="Calibri"/>
                <a:cs typeface="Calibri"/>
              </a:rPr>
              <a:t>eg:</a:t>
            </a:r>
            <a:r>
              <a:rPr sz="2400" dirty="0">
                <a:solidFill>
                  <a:srgbClr val="404040"/>
                </a:solidFill>
                <a:latin typeface="Calibri"/>
                <a:cs typeface="Calibri"/>
              </a:rPr>
              <a:t> </a:t>
            </a:r>
            <a:r>
              <a:rPr sz="2400" spc="-5" dirty="0">
                <a:solidFill>
                  <a:srgbClr val="404040"/>
                </a:solidFill>
                <a:latin typeface="Calibri"/>
                <a:cs typeface="Calibri"/>
              </a:rPr>
              <a:t>let</a:t>
            </a:r>
            <a:r>
              <a:rPr sz="2400" spc="-10" dirty="0">
                <a:solidFill>
                  <a:srgbClr val="404040"/>
                </a:solidFill>
                <a:latin typeface="Calibri"/>
                <a:cs typeface="Calibri"/>
              </a:rPr>
              <a:t> </a:t>
            </a:r>
            <a:r>
              <a:rPr sz="2400" spc="-5" dirty="0">
                <a:solidFill>
                  <a:srgbClr val="404040"/>
                </a:solidFill>
                <a:latin typeface="Calibri"/>
                <a:cs typeface="Calibri"/>
              </a:rPr>
              <a:t>us </a:t>
            </a:r>
            <a:r>
              <a:rPr sz="2400" spc="-10" dirty="0">
                <a:solidFill>
                  <a:srgbClr val="404040"/>
                </a:solidFill>
                <a:latin typeface="Calibri"/>
                <a:cs typeface="Calibri"/>
              </a:rPr>
              <a:t>consider</a:t>
            </a:r>
            <a:r>
              <a:rPr sz="2400" dirty="0">
                <a:solidFill>
                  <a:srgbClr val="404040"/>
                </a:solidFill>
                <a:latin typeface="Calibri"/>
                <a:cs typeface="Calibri"/>
              </a:rPr>
              <a:t> an MCU</a:t>
            </a:r>
            <a:r>
              <a:rPr sz="2400" spc="-15" dirty="0">
                <a:solidFill>
                  <a:srgbClr val="404040"/>
                </a:solidFill>
                <a:latin typeface="Calibri"/>
                <a:cs typeface="Calibri"/>
              </a:rPr>
              <a:t> </a:t>
            </a:r>
            <a:r>
              <a:rPr sz="2400" dirty="0">
                <a:solidFill>
                  <a:srgbClr val="404040"/>
                </a:solidFill>
                <a:latin typeface="Calibri"/>
                <a:cs typeface="Calibri"/>
              </a:rPr>
              <a:t>in</a:t>
            </a:r>
            <a:r>
              <a:rPr sz="2400" spc="-5" dirty="0">
                <a:solidFill>
                  <a:srgbClr val="404040"/>
                </a:solidFill>
                <a:latin typeface="Calibri"/>
                <a:cs typeface="Calibri"/>
              </a:rPr>
              <a:t> </a:t>
            </a:r>
            <a:r>
              <a:rPr sz="2400" dirty="0">
                <a:solidFill>
                  <a:srgbClr val="404040"/>
                </a:solidFill>
                <a:latin typeface="Calibri"/>
                <a:cs typeface="Calibri"/>
              </a:rPr>
              <a:t>which</a:t>
            </a:r>
            <a:r>
              <a:rPr sz="2400" spc="-10" dirty="0">
                <a:solidFill>
                  <a:srgbClr val="404040"/>
                </a:solidFill>
                <a:latin typeface="Calibri"/>
                <a:cs typeface="Calibri"/>
              </a:rPr>
              <a:t> </a:t>
            </a:r>
            <a:r>
              <a:rPr sz="2400" spc="-5" dirty="0">
                <a:solidFill>
                  <a:srgbClr val="404040"/>
                </a:solidFill>
                <a:latin typeface="Calibri"/>
                <a:cs typeface="Calibri"/>
              </a:rPr>
              <a:t>32 bits</a:t>
            </a:r>
            <a:r>
              <a:rPr sz="2400" spc="-15" dirty="0">
                <a:solidFill>
                  <a:srgbClr val="404040"/>
                </a:solidFill>
                <a:latin typeface="Calibri"/>
                <a:cs typeface="Calibri"/>
              </a:rPr>
              <a:t> are</a:t>
            </a:r>
            <a:r>
              <a:rPr sz="2400" spc="5" dirty="0">
                <a:solidFill>
                  <a:srgbClr val="404040"/>
                </a:solidFill>
                <a:latin typeface="Calibri"/>
                <a:cs typeface="Calibri"/>
              </a:rPr>
              <a:t> </a:t>
            </a:r>
            <a:r>
              <a:rPr sz="2400" spc="-10" dirty="0">
                <a:solidFill>
                  <a:srgbClr val="404040"/>
                </a:solidFill>
                <a:latin typeface="Calibri"/>
                <a:cs typeface="Calibri"/>
              </a:rPr>
              <a:t>allowed</a:t>
            </a:r>
            <a:r>
              <a:rPr sz="2400" spc="5" dirty="0">
                <a:solidFill>
                  <a:srgbClr val="404040"/>
                </a:solidFill>
                <a:latin typeface="Calibri"/>
                <a:cs typeface="Calibri"/>
              </a:rPr>
              <a:t> </a:t>
            </a:r>
            <a:r>
              <a:rPr sz="2400" spc="-20" dirty="0">
                <a:solidFill>
                  <a:srgbClr val="404040"/>
                </a:solidFill>
                <a:latin typeface="Calibri"/>
                <a:cs typeface="Calibri"/>
              </a:rPr>
              <a:t>for</a:t>
            </a:r>
            <a:r>
              <a:rPr sz="2400" spc="-10" dirty="0">
                <a:solidFill>
                  <a:srgbClr val="404040"/>
                </a:solidFill>
                <a:latin typeface="Calibri"/>
                <a:cs typeface="Calibri"/>
              </a:rPr>
              <a:t> </a:t>
            </a:r>
            <a:r>
              <a:rPr sz="2400" spc="-5" dirty="0">
                <a:solidFill>
                  <a:srgbClr val="404040"/>
                </a:solidFill>
                <a:latin typeface="Calibri"/>
                <a:cs typeface="Calibri"/>
              </a:rPr>
              <a:t>the</a:t>
            </a:r>
            <a:r>
              <a:rPr sz="2400" spc="5" dirty="0">
                <a:solidFill>
                  <a:srgbClr val="404040"/>
                </a:solidFill>
                <a:latin typeface="Calibri"/>
                <a:cs typeface="Calibri"/>
              </a:rPr>
              <a:t> </a:t>
            </a:r>
            <a:r>
              <a:rPr sz="2400" spc="-5" dirty="0">
                <a:solidFill>
                  <a:srgbClr val="404040"/>
                </a:solidFill>
                <a:latin typeface="Calibri"/>
                <a:cs typeface="Calibri"/>
              </a:rPr>
              <a:t>address bus.</a:t>
            </a:r>
            <a:endParaRPr sz="2400" dirty="0">
              <a:latin typeface="Calibri"/>
              <a:cs typeface="Calibri"/>
            </a:endParaRPr>
          </a:p>
          <a:p>
            <a:pPr marL="361950" indent="-311785" algn="just">
              <a:lnSpc>
                <a:spcPct val="100000"/>
              </a:lnSpc>
              <a:spcBef>
                <a:spcPts val="1120"/>
              </a:spcBef>
              <a:buClr>
                <a:srgbClr val="E38312"/>
              </a:buClr>
              <a:buFont typeface="Wingdings"/>
              <a:buChar char=""/>
              <a:tabLst>
                <a:tab pos="362585" algn="l"/>
              </a:tabLst>
            </a:pPr>
            <a:r>
              <a:rPr sz="2400" dirty="0">
                <a:solidFill>
                  <a:srgbClr val="404040"/>
                </a:solidFill>
                <a:latin typeface="Calibri"/>
                <a:cs typeface="Calibri"/>
              </a:rPr>
              <a:t>So</a:t>
            </a:r>
            <a:r>
              <a:rPr sz="2400" spc="-30" dirty="0">
                <a:solidFill>
                  <a:srgbClr val="404040"/>
                </a:solidFill>
                <a:latin typeface="Calibri"/>
                <a:cs typeface="Calibri"/>
              </a:rPr>
              <a:t> </a:t>
            </a:r>
            <a:r>
              <a:rPr sz="2400" spc="-10" dirty="0">
                <a:solidFill>
                  <a:srgbClr val="404040"/>
                </a:solidFill>
                <a:latin typeface="Calibri"/>
                <a:cs typeface="Calibri"/>
              </a:rPr>
              <a:t>there</a:t>
            </a:r>
            <a:r>
              <a:rPr sz="2400" spc="-5" dirty="0">
                <a:solidFill>
                  <a:srgbClr val="404040"/>
                </a:solidFill>
                <a:latin typeface="Calibri"/>
                <a:cs typeface="Calibri"/>
              </a:rPr>
              <a:t> </a:t>
            </a:r>
            <a:r>
              <a:rPr sz="2400" spc="-10" dirty="0">
                <a:solidFill>
                  <a:srgbClr val="404040"/>
                </a:solidFill>
                <a:latin typeface="Calibri"/>
                <a:cs typeface="Calibri"/>
              </a:rPr>
              <a:t>can</a:t>
            </a:r>
            <a:r>
              <a:rPr sz="2400" spc="-5" dirty="0">
                <a:solidFill>
                  <a:srgbClr val="404040"/>
                </a:solidFill>
                <a:latin typeface="Calibri"/>
                <a:cs typeface="Calibri"/>
              </a:rPr>
              <a:t> 2</a:t>
            </a:r>
            <a:r>
              <a:rPr sz="2400" spc="-7" baseline="24305" dirty="0">
                <a:solidFill>
                  <a:srgbClr val="404040"/>
                </a:solidFill>
                <a:latin typeface="Calibri"/>
                <a:cs typeface="Calibri"/>
              </a:rPr>
              <a:t>32</a:t>
            </a:r>
            <a:r>
              <a:rPr sz="2400" spc="262" baseline="24305" dirty="0">
                <a:solidFill>
                  <a:srgbClr val="404040"/>
                </a:solidFill>
                <a:latin typeface="Calibri"/>
                <a:cs typeface="Calibri"/>
              </a:rPr>
              <a:t> </a:t>
            </a:r>
            <a:r>
              <a:rPr sz="2400" spc="-5" dirty="0">
                <a:solidFill>
                  <a:srgbClr val="404040"/>
                </a:solidFill>
                <a:latin typeface="Calibri"/>
                <a:cs typeface="Calibri"/>
              </a:rPr>
              <a:t>bytes</a:t>
            </a:r>
            <a:r>
              <a:rPr sz="2400" spc="-10" dirty="0">
                <a:solidFill>
                  <a:srgbClr val="404040"/>
                </a:solidFill>
                <a:latin typeface="Calibri"/>
                <a:cs typeface="Calibri"/>
              </a:rPr>
              <a:t> </a:t>
            </a:r>
            <a:r>
              <a:rPr sz="2400" spc="-5" dirty="0">
                <a:solidFill>
                  <a:srgbClr val="404040"/>
                </a:solidFill>
                <a:latin typeface="Calibri"/>
                <a:cs typeface="Calibri"/>
              </a:rPr>
              <a:t>or </a:t>
            </a:r>
            <a:r>
              <a:rPr sz="2400" dirty="0">
                <a:solidFill>
                  <a:srgbClr val="404040"/>
                </a:solidFill>
                <a:latin typeface="Calibri"/>
                <a:cs typeface="Calibri"/>
              </a:rPr>
              <a:t>4</a:t>
            </a:r>
            <a:r>
              <a:rPr sz="2400" spc="-15" dirty="0">
                <a:solidFill>
                  <a:srgbClr val="404040"/>
                </a:solidFill>
                <a:latin typeface="Calibri"/>
                <a:cs typeface="Calibri"/>
              </a:rPr>
              <a:t> </a:t>
            </a:r>
            <a:r>
              <a:rPr sz="2400" spc="-5" dirty="0">
                <a:solidFill>
                  <a:srgbClr val="404040"/>
                </a:solidFill>
                <a:latin typeface="Calibri"/>
                <a:cs typeface="Calibri"/>
              </a:rPr>
              <a:t>GB</a:t>
            </a:r>
            <a:r>
              <a:rPr sz="2400" spc="-15" dirty="0">
                <a:solidFill>
                  <a:srgbClr val="404040"/>
                </a:solidFill>
                <a:latin typeface="Calibri"/>
                <a:cs typeface="Calibri"/>
              </a:rPr>
              <a:t> </a:t>
            </a:r>
            <a:r>
              <a:rPr sz="2400" spc="-5" dirty="0">
                <a:solidFill>
                  <a:srgbClr val="404040"/>
                </a:solidFill>
                <a:latin typeface="Calibri"/>
                <a:cs typeface="Calibri"/>
              </a:rPr>
              <a:t>of</a:t>
            </a:r>
            <a:r>
              <a:rPr sz="2400" dirty="0">
                <a:solidFill>
                  <a:srgbClr val="404040"/>
                </a:solidFill>
                <a:latin typeface="Calibri"/>
                <a:cs typeface="Calibri"/>
              </a:rPr>
              <a:t> memory</a:t>
            </a:r>
            <a:r>
              <a:rPr sz="2400" spc="-20" dirty="0">
                <a:solidFill>
                  <a:srgbClr val="404040"/>
                </a:solidFill>
                <a:latin typeface="Calibri"/>
                <a:cs typeface="Calibri"/>
              </a:rPr>
              <a:t> </a:t>
            </a:r>
            <a:r>
              <a:rPr sz="2400" spc="-15" dirty="0">
                <a:solidFill>
                  <a:srgbClr val="404040"/>
                </a:solidFill>
                <a:latin typeface="Calibri"/>
                <a:cs typeface="Calibri"/>
              </a:rPr>
              <a:t>at </a:t>
            </a:r>
            <a:r>
              <a:rPr sz="2400" dirty="0">
                <a:solidFill>
                  <a:srgbClr val="404040"/>
                </a:solidFill>
                <a:latin typeface="Calibri"/>
                <a:cs typeface="Calibri"/>
              </a:rPr>
              <a:t>a</a:t>
            </a:r>
            <a:r>
              <a:rPr sz="2400" spc="-10" dirty="0">
                <a:solidFill>
                  <a:srgbClr val="404040"/>
                </a:solidFill>
                <a:latin typeface="Calibri"/>
                <a:cs typeface="Calibri"/>
              </a:rPr>
              <a:t> </a:t>
            </a:r>
            <a:r>
              <a:rPr sz="2400" spc="-5" dirty="0">
                <a:solidFill>
                  <a:srgbClr val="404040"/>
                </a:solidFill>
                <a:latin typeface="Calibri"/>
                <a:cs typeface="Calibri"/>
              </a:rPr>
              <a:t>maximum.</a:t>
            </a:r>
            <a:endParaRPr sz="2400" dirty="0">
              <a:latin typeface="Calibri"/>
              <a:cs typeface="Calibri"/>
            </a:endParaRPr>
          </a:p>
          <a:p>
            <a:pPr marL="142240" marR="43180" indent="-91440" algn="just">
              <a:lnSpc>
                <a:spcPct val="90100"/>
              </a:lnSpc>
              <a:spcBef>
                <a:spcPts val="1390"/>
              </a:spcBef>
              <a:buClr>
                <a:srgbClr val="E38312"/>
              </a:buClr>
              <a:buFont typeface="Wingdings"/>
              <a:buChar char=""/>
              <a:tabLst>
                <a:tab pos="362585" algn="l"/>
              </a:tabLst>
            </a:pPr>
            <a:r>
              <a:rPr sz="2400" spc="-5" dirty="0">
                <a:solidFill>
                  <a:srgbClr val="404040"/>
                </a:solidFill>
                <a:latin typeface="Calibri"/>
                <a:cs typeface="Calibri"/>
              </a:rPr>
              <a:t>This </a:t>
            </a:r>
            <a:r>
              <a:rPr sz="2400" spc="-10" dirty="0">
                <a:solidFill>
                  <a:srgbClr val="404040"/>
                </a:solidFill>
                <a:latin typeface="Calibri"/>
                <a:cs typeface="Calibri"/>
              </a:rPr>
              <a:t>maximum </a:t>
            </a:r>
            <a:r>
              <a:rPr sz="2400" spc="-5" dirty="0">
                <a:solidFill>
                  <a:srgbClr val="404040"/>
                </a:solidFill>
                <a:latin typeface="Calibri"/>
                <a:cs typeface="Calibri"/>
              </a:rPr>
              <a:t>capacity </a:t>
            </a:r>
            <a:r>
              <a:rPr sz="2400" spc="-15" dirty="0">
                <a:solidFill>
                  <a:srgbClr val="404040"/>
                </a:solidFill>
                <a:latin typeface="Calibri"/>
                <a:cs typeface="Calibri"/>
              </a:rPr>
              <a:t>may </a:t>
            </a:r>
            <a:r>
              <a:rPr sz="2400" spc="-5" dirty="0">
                <a:solidFill>
                  <a:srgbClr val="404040"/>
                </a:solidFill>
                <a:latin typeface="Calibri"/>
                <a:cs typeface="Calibri"/>
              </a:rPr>
              <a:t>not be fully </a:t>
            </a:r>
            <a:r>
              <a:rPr sz="2400" spc="-10" dirty="0">
                <a:solidFill>
                  <a:srgbClr val="404040"/>
                </a:solidFill>
                <a:latin typeface="Calibri"/>
                <a:cs typeface="Calibri"/>
              </a:rPr>
              <a:t>realized </a:t>
            </a:r>
            <a:r>
              <a:rPr sz="2400" dirty="0">
                <a:solidFill>
                  <a:srgbClr val="404040"/>
                </a:solidFill>
                <a:latin typeface="Calibri"/>
                <a:cs typeface="Calibri"/>
              </a:rPr>
              <a:t>inside the chip, </a:t>
            </a:r>
            <a:r>
              <a:rPr sz="2400" spc="-5" dirty="0">
                <a:solidFill>
                  <a:srgbClr val="404040"/>
                </a:solidFill>
                <a:latin typeface="Calibri"/>
                <a:cs typeface="Calibri"/>
              </a:rPr>
              <a:t>because </a:t>
            </a:r>
            <a:r>
              <a:rPr sz="2400" spc="-20" dirty="0">
                <a:solidFill>
                  <a:srgbClr val="404040"/>
                </a:solidFill>
                <a:latin typeface="Calibri"/>
                <a:cs typeface="Calibri"/>
              </a:rPr>
              <a:t>for </a:t>
            </a:r>
            <a:r>
              <a:rPr sz="2400" spc="-15" dirty="0">
                <a:solidFill>
                  <a:srgbClr val="404040"/>
                </a:solidFill>
                <a:latin typeface="Calibri"/>
                <a:cs typeface="Calibri"/>
              </a:rPr>
              <a:t>many </a:t>
            </a:r>
            <a:r>
              <a:rPr sz="2400" spc="-10" dirty="0">
                <a:solidFill>
                  <a:srgbClr val="404040"/>
                </a:solidFill>
                <a:latin typeface="Calibri"/>
                <a:cs typeface="Calibri"/>
              </a:rPr>
              <a:t> </a:t>
            </a:r>
            <a:r>
              <a:rPr sz="2400" spc="-5" dirty="0">
                <a:solidFill>
                  <a:srgbClr val="404040"/>
                </a:solidFill>
                <a:latin typeface="Calibri"/>
                <a:cs typeface="Calibri"/>
              </a:rPr>
              <a:t>applications </a:t>
            </a:r>
            <a:r>
              <a:rPr sz="2400" dirty="0">
                <a:solidFill>
                  <a:srgbClr val="404040"/>
                </a:solidFill>
                <a:latin typeface="Calibri"/>
                <a:cs typeface="Calibri"/>
              </a:rPr>
              <a:t>it </a:t>
            </a:r>
            <a:r>
              <a:rPr sz="2400" spc="-15" dirty="0">
                <a:solidFill>
                  <a:srgbClr val="404040"/>
                </a:solidFill>
                <a:latin typeface="Calibri"/>
                <a:cs typeface="Calibri"/>
              </a:rPr>
              <a:t>may </a:t>
            </a:r>
            <a:r>
              <a:rPr sz="2400" spc="-5" dirty="0">
                <a:solidFill>
                  <a:srgbClr val="404040"/>
                </a:solidFill>
                <a:latin typeface="Calibri"/>
                <a:cs typeface="Calibri"/>
              </a:rPr>
              <a:t>not be necessary </a:t>
            </a:r>
            <a:r>
              <a:rPr sz="2400" dirty="0">
                <a:solidFill>
                  <a:srgbClr val="404040"/>
                </a:solidFill>
                <a:latin typeface="Calibri"/>
                <a:cs typeface="Calibri"/>
              </a:rPr>
              <a:t>and also </a:t>
            </a:r>
            <a:r>
              <a:rPr sz="2400" spc="-5" dirty="0">
                <a:solidFill>
                  <a:srgbClr val="404040"/>
                </a:solidFill>
                <a:latin typeface="Calibri"/>
                <a:cs typeface="Calibri"/>
              </a:rPr>
              <a:t>because </a:t>
            </a:r>
            <a:r>
              <a:rPr sz="2400" dirty="0">
                <a:solidFill>
                  <a:srgbClr val="404040"/>
                </a:solidFill>
                <a:latin typeface="Calibri"/>
                <a:cs typeface="Calibri"/>
              </a:rPr>
              <a:t>it </a:t>
            </a:r>
            <a:r>
              <a:rPr sz="2400" spc="-25" dirty="0">
                <a:solidFill>
                  <a:srgbClr val="404040"/>
                </a:solidFill>
                <a:latin typeface="Calibri"/>
                <a:cs typeface="Calibri"/>
              </a:rPr>
              <a:t>takes </a:t>
            </a:r>
            <a:r>
              <a:rPr sz="2400" dirty="0">
                <a:solidFill>
                  <a:srgbClr val="404040"/>
                </a:solidFill>
                <a:latin typeface="Calibri"/>
                <a:cs typeface="Calibri"/>
              </a:rPr>
              <a:t>chip </a:t>
            </a:r>
            <a:r>
              <a:rPr sz="2400" spc="-10" dirty="0">
                <a:solidFill>
                  <a:srgbClr val="404040"/>
                </a:solidFill>
                <a:latin typeface="Calibri"/>
                <a:cs typeface="Calibri"/>
              </a:rPr>
              <a:t>area </a:t>
            </a:r>
            <a:r>
              <a:rPr sz="2400" dirty="0">
                <a:solidFill>
                  <a:srgbClr val="404040"/>
                </a:solidFill>
                <a:latin typeface="Calibri"/>
                <a:cs typeface="Calibri"/>
              </a:rPr>
              <a:t>and </a:t>
            </a:r>
            <a:r>
              <a:rPr sz="2400" spc="-5" dirty="0">
                <a:solidFill>
                  <a:srgbClr val="404040"/>
                </a:solidFill>
                <a:latin typeface="Calibri"/>
                <a:cs typeface="Calibri"/>
              </a:rPr>
              <a:t>increases </a:t>
            </a:r>
            <a:r>
              <a:rPr sz="2400" dirty="0">
                <a:solidFill>
                  <a:srgbClr val="404040"/>
                </a:solidFill>
                <a:latin typeface="Calibri"/>
                <a:cs typeface="Calibri"/>
              </a:rPr>
              <a:t>the </a:t>
            </a:r>
            <a:r>
              <a:rPr sz="2400" spc="5" dirty="0">
                <a:solidFill>
                  <a:srgbClr val="404040"/>
                </a:solidFill>
                <a:latin typeface="Calibri"/>
                <a:cs typeface="Calibri"/>
              </a:rPr>
              <a:t> </a:t>
            </a:r>
            <a:r>
              <a:rPr sz="2400" dirty="0">
                <a:solidFill>
                  <a:srgbClr val="404040"/>
                </a:solidFill>
                <a:latin typeface="Calibri"/>
                <a:cs typeface="Calibri"/>
              </a:rPr>
              <a:t>price</a:t>
            </a:r>
            <a:r>
              <a:rPr sz="2400" spc="-15" dirty="0">
                <a:solidFill>
                  <a:srgbClr val="404040"/>
                </a:solidFill>
                <a:latin typeface="Calibri"/>
                <a:cs typeface="Calibri"/>
              </a:rPr>
              <a:t> </a:t>
            </a:r>
            <a:r>
              <a:rPr sz="2400" spc="-5" dirty="0">
                <a:solidFill>
                  <a:srgbClr val="404040"/>
                </a:solidFill>
                <a:latin typeface="Calibri"/>
                <a:cs typeface="Calibri"/>
              </a:rPr>
              <a:t>of </a:t>
            </a:r>
            <a:r>
              <a:rPr sz="2400" dirty="0">
                <a:solidFill>
                  <a:srgbClr val="404040"/>
                </a:solidFill>
                <a:latin typeface="Calibri"/>
                <a:cs typeface="Calibri"/>
              </a:rPr>
              <a:t>the chip.</a:t>
            </a:r>
            <a:endParaRPr sz="2400" dirty="0">
              <a:latin typeface="Calibri"/>
              <a:cs typeface="Calibri"/>
            </a:endParaRPr>
          </a:p>
          <a:p>
            <a:pPr marL="361950" indent="-311785">
              <a:lnSpc>
                <a:spcPct val="100000"/>
              </a:lnSpc>
              <a:spcBef>
                <a:spcPts val="1115"/>
              </a:spcBef>
              <a:buClr>
                <a:srgbClr val="E38312"/>
              </a:buClr>
              <a:buFont typeface="Wingdings"/>
              <a:buChar char=""/>
              <a:tabLst>
                <a:tab pos="362585" algn="l"/>
              </a:tabLst>
            </a:pPr>
            <a:r>
              <a:rPr sz="2400" spc="-5" dirty="0">
                <a:solidFill>
                  <a:srgbClr val="404040"/>
                </a:solidFill>
                <a:latin typeface="Calibri"/>
                <a:cs typeface="Calibri"/>
              </a:rPr>
              <a:t>This </a:t>
            </a:r>
            <a:r>
              <a:rPr sz="2400" dirty="0">
                <a:solidFill>
                  <a:srgbClr val="404040"/>
                </a:solidFill>
                <a:latin typeface="Calibri"/>
                <a:cs typeface="Calibri"/>
              </a:rPr>
              <a:t>memory</a:t>
            </a:r>
            <a:r>
              <a:rPr sz="2400" spc="-20" dirty="0">
                <a:solidFill>
                  <a:srgbClr val="404040"/>
                </a:solidFill>
                <a:latin typeface="Calibri"/>
                <a:cs typeface="Calibri"/>
              </a:rPr>
              <a:t> </a:t>
            </a:r>
            <a:r>
              <a:rPr sz="2400" dirty="0">
                <a:solidFill>
                  <a:srgbClr val="404040"/>
                </a:solidFill>
                <a:latin typeface="Calibri"/>
                <a:cs typeface="Calibri"/>
              </a:rPr>
              <a:t>is</a:t>
            </a:r>
            <a:r>
              <a:rPr sz="2400" spc="-15" dirty="0">
                <a:solidFill>
                  <a:srgbClr val="404040"/>
                </a:solidFill>
                <a:latin typeface="Calibri"/>
                <a:cs typeface="Calibri"/>
              </a:rPr>
              <a:t> </a:t>
            </a:r>
            <a:r>
              <a:rPr sz="2400" spc="-10" dirty="0">
                <a:solidFill>
                  <a:srgbClr val="404040"/>
                </a:solidFill>
                <a:latin typeface="Calibri"/>
                <a:cs typeface="Calibri"/>
              </a:rPr>
              <a:t>realized by</a:t>
            </a:r>
            <a:r>
              <a:rPr sz="2400" spc="-5" dirty="0">
                <a:solidFill>
                  <a:srgbClr val="404040"/>
                </a:solidFill>
                <a:latin typeface="Calibri"/>
                <a:cs typeface="Calibri"/>
              </a:rPr>
              <a:t> </a:t>
            </a:r>
            <a:r>
              <a:rPr sz="2400" spc="-15" dirty="0">
                <a:solidFill>
                  <a:srgbClr val="404040"/>
                </a:solidFill>
                <a:latin typeface="Calibri"/>
                <a:cs typeface="Calibri"/>
              </a:rPr>
              <a:t>many </a:t>
            </a:r>
            <a:r>
              <a:rPr sz="2400" dirty="0">
                <a:solidFill>
                  <a:srgbClr val="404040"/>
                </a:solidFill>
                <a:latin typeface="Calibri"/>
                <a:cs typeface="Calibri"/>
              </a:rPr>
              <a:t>types</a:t>
            </a:r>
            <a:r>
              <a:rPr sz="2400" spc="-20" dirty="0">
                <a:solidFill>
                  <a:srgbClr val="404040"/>
                </a:solidFill>
                <a:latin typeface="Calibri"/>
                <a:cs typeface="Calibri"/>
              </a:rPr>
              <a:t> </a:t>
            </a:r>
            <a:r>
              <a:rPr sz="2400" spc="-5" dirty="0">
                <a:solidFill>
                  <a:srgbClr val="404040"/>
                </a:solidFill>
                <a:latin typeface="Calibri"/>
                <a:cs typeface="Calibri"/>
              </a:rPr>
              <a:t>of</a:t>
            </a:r>
            <a:r>
              <a:rPr sz="2400" spc="5" dirty="0">
                <a:solidFill>
                  <a:srgbClr val="404040"/>
                </a:solidFill>
                <a:latin typeface="Calibri"/>
                <a:cs typeface="Calibri"/>
              </a:rPr>
              <a:t> </a:t>
            </a:r>
            <a:r>
              <a:rPr sz="2400" dirty="0">
                <a:solidFill>
                  <a:srgbClr val="404040"/>
                </a:solidFill>
                <a:latin typeface="Calibri"/>
                <a:cs typeface="Calibri"/>
              </a:rPr>
              <a:t>memory</a:t>
            </a:r>
            <a:r>
              <a:rPr sz="2400" spc="-20" dirty="0">
                <a:solidFill>
                  <a:srgbClr val="404040"/>
                </a:solidFill>
                <a:latin typeface="Calibri"/>
                <a:cs typeface="Calibri"/>
              </a:rPr>
              <a:t> </a:t>
            </a:r>
            <a:r>
              <a:rPr sz="2400" spc="-10" dirty="0">
                <a:solidFill>
                  <a:srgbClr val="404040"/>
                </a:solidFill>
                <a:latin typeface="Calibri"/>
                <a:cs typeface="Calibri"/>
              </a:rPr>
              <a:t>components.</a:t>
            </a:r>
            <a:endParaRPr sz="2400" dirty="0">
              <a:latin typeface="Calibri"/>
              <a:cs typeface="Calibri"/>
            </a:endParaRPr>
          </a:p>
          <a:p>
            <a:pPr marL="361950" indent="-311785">
              <a:lnSpc>
                <a:spcPct val="100000"/>
              </a:lnSpc>
              <a:spcBef>
                <a:spcPts val="1115"/>
              </a:spcBef>
              <a:buClr>
                <a:srgbClr val="E38312"/>
              </a:buClr>
              <a:buFont typeface="Wingdings"/>
              <a:buChar char=""/>
              <a:tabLst>
                <a:tab pos="362585" algn="l"/>
              </a:tabLst>
            </a:pPr>
            <a:r>
              <a:rPr sz="2400" spc="-10" dirty="0">
                <a:solidFill>
                  <a:srgbClr val="404040"/>
                </a:solidFill>
                <a:latin typeface="Calibri"/>
                <a:cs typeface="Calibri"/>
              </a:rPr>
              <a:t>There</a:t>
            </a:r>
            <a:r>
              <a:rPr sz="2400" spc="10" dirty="0">
                <a:solidFill>
                  <a:srgbClr val="404040"/>
                </a:solidFill>
                <a:latin typeface="Calibri"/>
                <a:cs typeface="Calibri"/>
              </a:rPr>
              <a:t> </a:t>
            </a:r>
            <a:r>
              <a:rPr sz="2400" dirty="0">
                <a:solidFill>
                  <a:srgbClr val="404040"/>
                </a:solidFill>
                <a:latin typeface="Calibri"/>
                <a:cs typeface="Calibri"/>
              </a:rPr>
              <a:t>will</a:t>
            </a:r>
            <a:r>
              <a:rPr sz="2400" spc="-15" dirty="0">
                <a:solidFill>
                  <a:srgbClr val="404040"/>
                </a:solidFill>
                <a:latin typeface="Calibri"/>
                <a:cs typeface="Calibri"/>
              </a:rPr>
              <a:t> </a:t>
            </a:r>
            <a:r>
              <a:rPr sz="2400" spc="-5" dirty="0">
                <a:solidFill>
                  <a:srgbClr val="404040"/>
                </a:solidFill>
                <a:latin typeface="Calibri"/>
                <a:cs typeface="Calibri"/>
              </a:rPr>
              <a:t>be</a:t>
            </a:r>
            <a:r>
              <a:rPr sz="2400" dirty="0">
                <a:solidFill>
                  <a:srgbClr val="404040"/>
                </a:solidFill>
                <a:latin typeface="Calibri"/>
                <a:cs typeface="Calibri"/>
              </a:rPr>
              <a:t> RAM</a:t>
            </a:r>
            <a:r>
              <a:rPr sz="2400" spc="-25" dirty="0">
                <a:solidFill>
                  <a:srgbClr val="404040"/>
                </a:solidFill>
                <a:latin typeface="Calibri"/>
                <a:cs typeface="Calibri"/>
              </a:rPr>
              <a:t> </a:t>
            </a:r>
            <a:r>
              <a:rPr sz="2400" dirty="0">
                <a:solidFill>
                  <a:srgbClr val="404040"/>
                </a:solidFill>
                <a:latin typeface="Calibri"/>
                <a:cs typeface="Calibri"/>
              </a:rPr>
              <a:t>(Random</a:t>
            </a:r>
            <a:r>
              <a:rPr sz="2400" spc="-15" dirty="0">
                <a:solidFill>
                  <a:srgbClr val="404040"/>
                </a:solidFill>
                <a:latin typeface="Calibri"/>
                <a:cs typeface="Calibri"/>
              </a:rPr>
              <a:t> </a:t>
            </a:r>
            <a:r>
              <a:rPr sz="2400" dirty="0">
                <a:solidFill>
                  <a:srgbClr val="404040"/>
                </a:solidFill>
                <a:latin typeface="Calibri"/>
                <a:cs typeface="Calibri"/>
              </a:rPr>
              <a:t>Access</a:t>
            </a:r>
            <a:r>
              <a:rPr sz="2400" spc="-30" dirty="0">
                <a:solidFill>
                  <a:srgbClr val="404040"/>
                </a:solidFill>
                <a:latin typeface="Calibri"/>
                <a:cs typeface="Calibri"/>
              </a:rPr>
              <a:t> </a:t>
            </a:r>
            <a:r>
              <a:rPr sz="2400" dirty="0">
                <a:solidFill>
                  <a:srgbClr val="404040"/>
                </a:solidFill>
                <a:latin typeface="Calibri"/>
                <a:cs typeface="Calibri"/>
              </a:rPr>
              <a:t>memory)</a:t>
            </a:r>
            <a:r>
              <a:rPr sz="2400" spc="-20" dirty="0">
                <a:solidFill>
                  <a:srgbClr val="404040"/>
                </a:solidFill>
                <a:latin typeface="Calibri"/>
                <a:cs typeface="Calibri"/>
              </a:rPr>
              <a:t> </a:t>
            </a:r>
            <a:r>
              <a:rPr sz="2400" dirty="0">
                <a:solidFill>
                  <a:srgbClr val="404040"/>
                </a:solidFill>
                <a:latin typeface="Calibri"/>
                <a:cs typeface="Calibri"/>
              </a:rPr>
              <a:t>as</a:t>
            </a:r>
            <a:r>
              <a:rPr sz="2400" spc="-15" dirty="0">
                <a:solidFill>
                  <a:srgbClr val="404040"/>
                </a:solidFill>
                <a:latin typeface="Calibri"/>
                <a:cs typeface="Calibri"/>
              </a:rPr>
              <a:t> </a:t>
            </a:r>
            <a:r>
              <a:rPr sz="2400" spc="-10" dirty="0">
                <a:solidFill>
                  <a:srgbClr val="404040"/>
                </a:solidFill>
                <a:latin typeface="Calibri"/>
                <a:cs typeface="Calibri"/>
              </a:rPr>
              <a:t>well </a:t>
            </a:r>
            <a:r>
              <a:rPr sz="2400" dirty="0">
                <a:solidFill>
                  <a:srgbClr val="404040"/>
                </a:solidFill>
                <a:latin typeface="Calibri"/>
                <a:cs typeface="Calibri"/>
              </a:rPr>
              <a:t>as</a:t>
            </a:r>
            <a:r>
              <a:rPr sz="2400" spc="-10" dirty="0">
                <a:solidFill>
                  <a:srgbClr val="404040"/>
                </a:solidFill>
                <a:latin typeface="Calibri"/>
                <a:cs typeface="Calibri"/>
              </a:rPr>
              <a:t> ROM</a:t>
            </a:r>
            <a:r>
              <a:rPr sz="2400" spc="-20" dirty="0">
                <a:solidFill>
                  <a:srgbClr val="404040"/>
                </a:solidFill>
                <a:latin typeface="Calibri"/>
                <a:cs typeface="Calibri"/>
              </a:rPr>
              <a:t> </a:t>
            </a:r>
            <a:r>
              <a:rPr sz="2400" spc="-10" dirty="0">
                <a:solidFill>
                  <a:srgbClr val="404040"/>
                </a:solidFill>
                <a:latin typeface="Calibri"/>
                <a:cs typeface="Calibri"/>
              </a:rPr>
              <a:t>(Read</a:t>
            </a:r>
            <a:r>
              <a:rPr sz="2400" spc="-30" dirty="0">
                <a:solidFill>
                  <a:srgbClr val="404040"/>
                </a:solidFill>
                <a:latin typeface="Calibri"/>
                <a:cs typeface="Calibri"/>
              </a:rPr>
              <a:t> </a:t>
            </a:r>
            <a:r>
              <a:rPr sz="2400" spc="-5" dirty="0">
                <a:solidFill>
                  <a:srgbClr val="404040"/>
                </a:solidFill>
                <a:latin typeface="Calibri"/>
                <a:cs typeface="Calibri"/>
              </a:rPr>
              <a:t>Only </a:t>
            </a:r>
            <a:r>
              <a:rPr sz="2400" dirty="0">
                <a:solidFill>
                  <a:srgbClr val="404040"/>
                </a:solidFill>
                <a:latin typeface="Calibri"/>
                <a:cs typeface="Calibri"/>
              </a:rPr>
              <a:t>memory).</a:t>
            </a:r>
            <a:endParaRPr sz="2400" dirty="0">
              <a:latin typeface="Calibri"/>
              <a:cs typeface="Calibri"/>
            </a:endParaRPr>
          </a:p>
          <a:p>
            <a:pPr marL="361950" indent="-311785">
              <a:lnSpc>
                <a:spcPct val="100000"/>
              </a:lnSpc>
              <a:spcBef>
                <a:spcPts val="1105"/>
              </a:spcBef>
              <a:buClr>
                <a:srgbClr val="E38312"/>
              </a:buClr>
              <a:buFont typeface="Wingdings"/>
              <a:buChar char=""/>
              <a:tabLst>
                <a:tab pos="362585" algn="l"/>
              </a:tabLst>
            </a:pPr>
            <a:r>
              <a:rPr sz="2400" spc="-10" dirty="0">
                <a:solidFill>
                  <a:srgbClr val="404040"/>
                </a:solidFill>
                <a:latin typeface="Calibri"/>
                <a:cs typeface="Calibri"/>
              </a:rPr>
              <a:t>ROM</a:t>
            </a:r>
            <a:r>
              <a:rPr sz="2400" spc="-35" dirty="0">
                <a:solidFill>
                  <a:srgbClr val="404040"/>
                </a:solidFill>
                <a:latin typeface="Calibri"/>
                <a:cs typeface="Calibri"/>
              </a:rPr>
              <a:t> </a:t>
            </a:r>
            <a:r>
              <a:rPr sz="2400" dirty="0">
                <a:solidFill>
                  <a:srgbClr val="404040"/>
                </a:solidFill>
                <a:latin typeface="Calibri"/>
                <a:cs typeface="Calibri"/>
              </a:rPr>
              <a:t>is</a:t>
            </a:r>
            <a:r>
              <a:rPr sz="2400" spc="-25" dirty="0">
                <a:solidFill>
                  <a:srgbClr val="404040"/>
                </a:solidFill>
                <a:latin typeface="Calibri"/>
                <a:cs typeface="Calibri"/>
              </a:rPr>
              <a:t> </a:t>
            </a:r>
            <a:r>
              <a:rPr sz="2400" spc="-5" dirty="0">
                <a:solidFill>
                  <a:srgbClr val="404040"/>
                </a:solidFill>
                <a:latin typeface="Calibri"/>
                <a:cs typeface="Calibri"/>
              </a:rPr>
              <a:t>used</a:t>
            </a:r>
            <a:r>
              <a:rPr sz="2400" spc="-15" dirty="0">
                <a:solidFill>
                  <a:srgbClr val="404040"/>
                </a:solidFill>
                <a:latin typeface="Calibri"/>
                <a:cs typeface="Calibri"/>
              </a:rPr>
              <a:t> to</a:t>
            </a:r>
            <a:r>
              <a:rPr sz="2400" spc="-20" dirty="0">
                <a:solidFill>
                  <a:srgbClr val="404040"/>
                </a:solidFill>
                <a:latin typeface="Calibri"/>
                <a:cs typeface="Calibri"/>
              </a:rPr>
              <a:t> store</a:t>
            </a:r>
            <a:r>
              <a:rPr sz="2400" spc="-5" dirty="0">
                <a:solidFill>
                  <a:srgbClr val="404040"/>
                </a:solidFill>
                <a:latin typeface="Calibri"/>
                <a:cs typeface="Calibri"/>
              </a:rPr>
              <a:t> </a:t>
            </a:r>
            <a:r>
              <a:rPr sz="2400" spc="-10" dirty="0">
                <a:solidFill>
                  <a:srgbClr val="404040"/>
                </a:solidFill>
                <a:latin typeface="Calibri"/>
                <a:cs typeface="Calibri"/>
              </a:rPr>
              <a:t>code</a:t>
            </a:r>
            <a:endParaRPr sz="2400" dirty="0">
              <a:latin typeface="Calibri"/>
              <a:cs typeface="Calibri"/>
            </a:endParaRPr>
          </a:p>
          <a:p>
            <a:pPr marL="361950" indent="-311785">
              <a:lnSpc>
                <a:spcPct val="100000"/>
              </a:lnSpc>
              <a:spcBef>
                <a:spcPts val="1120"/>
              </a:spcBef>
              <a:buClr>
                <a:srgbClr val="E38312"/>
              </a:buClr>
              <a:buFont typeface="Wingdings"/>
              <a:buChar char=""/>
              <a:tabLst>
                <a:tab pos="362585" algn="l"/>
              </a:tabLst>
            </a:pPr>
            <a:r>
              <a:rPr sz="2400" dirty="0">
                <a:solidFill>
                  <a:srgbClr val="404040"/>
                </a:solidFill>
                <a:latin typeface="Calibri"/>
                <a:cs typeface="Calibri"/>
              </a:rPr>
              <a:t>RAM</a:t>
            </a:r>
            <a:r>
              <a:rPr sz="2400" spc="-30"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spc="-5" dirty="0">
                <a:solidFill>
                  <a:srgbClr val="404040"/>
                </a:solidFill>
                <a:latin typeface="Calibri"/>
                <a:cs typeface="Calibri"/>
              </a:rPr>
              <a:t>used </a:t>
            </a:r>
            <a:r>
              <a:rPr sz="2400" dirty="0">
                <a:solidFill>
                  <a:srgbClr val="404040"/>
                </a:solidFill>
                <a:latin typeface="Calibri"/>
                <a:cs typeface="Calibri"/>
              </a:rPr>
              <a:t>as</a:t>
            </a:r>
            <a:r>
              <a:rPr sz="2400" spc="-10" dirty="0">
                <a:solidFill>
                  <a:srgbClr val="404040"/>
                </a:solidFill>
                <a:latin typeface="Calibri"/>
                <a:cs typeface="Calibri"/>
              </a:rPr>
              <a:t> </a:t>
            </a:r>
            <a:r>
              <a:rPr sz="2400" dirty="0">
                <a:solidFill>
                  <a:srgbClr val="404040"/>
                </a:solidFill>
                <a:latin typeface="Calibri"/>
                <a:cs typeface="Calibri"/>
              </a:rPr>
              <a:t>an</a:t>
            </a:r>
            <a:r>
              <a:rPr sz="2400" spc="-10" dirty="0">
                <a:solidFill>
                  <a:srgbClr val="404040"/>
                </a:solidFill>
                <a:latin typeface="Calibri"/>
                <a:cs typeface="Calibri"/>
              </a:rPr>
              <a:t> intermediate</a:t>
            </a:r>
            <a:r>
              <a:rPr sz="2400" spc="-25" dirty="0">
                <a:solidFill>
                  <a:srgbClr val="404040"/>
                </a:solidFill>
                <a:latin typeface="Calibri"/>
                <a:cs typeface="Calibri"/>
              </a:rPr>
              <a:t> </a:t>
            </a:r>
            <a:r>
              <a:rPr sz="2400" spc="-10" dirty="0">
                <a:solidFill>
                  <a:srgbClr val="404040"/>
                </a:solidFill>
                <a:latin typeface="Calibri"/>
                <a:cs typeface="Calibri"/>
              </a:rPr>
              <a:t>area</a:t>
            </a:r>
            <a:r>
              <a:rPr sz="2400" spc="5" dirty="0">
                <a:solidFill>
                  <a:srgbClr val="404040"/>
                </a:solidFill>
                <a:latin typeface="Calibri"/>
                <a:cs typeface="Calibri"/>
              </a:rPr>
              <a:t> </a:t>
            </a:r>
            <a:r>
              <a:rPr sz="2400" spc="-20" dirty="0">
                <a:solidFill>
                  <a:srgbClr val="404040"/>
                </a:solidFill>
                <a:latin typeface="Calibri"/>
                <a:cs typeface="Calibri"/>
              </a:rPr>
              <a:t>for</a:t>
            </a:r>
            <a:r>
              <a:rPr sz="2400" spc="-10" dirty="0">
                <a:solidFill>
                  <a:srgbClr val="404040"/>
                </a:solidFill>
                <a:latin typeface="Calibri"/>
                <a:cs typeface="Calibri"/>
              </a:rPr>
              <a:t> computations.</a:t>
            </a:r>
            <a:endParaRPr sz="2400" dirty="0">
              <a:latin typeface="Calibri"/>
              <a:cs typeface="Calibri"/>
            </a:endParaRPr>
          </a:p>
          <a:p>
            <a:pPr marL="142240" marR="44450" indent="-91440" algn="just">
              <a:lnSpc>
                <a:spcPts val="2590"/>
              </a:lnSpc>
              <a:spcBef>
                <a:spcPts val="1440"/>
              </a:spcBef>
              <a:buClr>
                <a:srgbClr val="E38312"/>
              </a:buClr>
              <a:buFont typeface="Wingdings"/>
              <a:buChar char=""/>
              <a:tabLst>
                <a:tab pos="362585" algn="l"/>
              </a:tabLst>
            </a:pPr>
            <a:r>
              <a:rPr sz="2400" spc="-5" dirty="0">
                <a:solidFill>
                  <a:srgbClr val="404040"/>
                </a:solidFill>
                <a:latin typeface="Calibri"/>
                <a:cs typeface="Calibri"/>
              </a:rPr>
              <a:t>In </a:t>
            </a:r>
            <a:r>
              <a:rPr sz="2400" dirty="0">
                <a:solidFill>
                  <a:srgbClr val="404040"/>
                </a:solidFill>
                <a:latin typeface="Calibri"/>
                <a:cs typeface="Calibri"/>
              </a:rPr>
              <a:t>MCUs, memory is </a:t>
            </a:r>
            <a:r>
              <a:rPr sz="2400" spc="-10" dirty="0">
                <a:solidFill>
                  <a:srgbClr val="404040"/>
                </a:solidFill>
                <a:latin typeface="Calibri"/>
                <a:cs typeface="Calibri"/>
              </a:rPr>
              <a:t>usually </a:t>
            </a:r>
            <a:r>
              <a:rPr sz="2400" dirty="0">
                <a:solidFill>
                  <a:srgbClr val="404040"/>
                </a:solidFill>
                <a:latin typeface="Calibri"/>
                <a:cs typeface="Calibri"/>
              </a:rPr>
              <a:t>inside the chip, </a:t>
            </a:r>
            <a:r>
              <a:rPr sz="2400" spc="-5" dirty="0">
                <a:solidFill>
                  <a:srgbClr val="404040"/>
                </a:solidFill>
                <a:latin typeface="Calibri"/>
                <a:cs typeface="Calibri"/>
              </a:rPr>
              <a:t>but </a:t>
            </a:r>
            <a:r>
              <a:rPr sz="2400" dirty="0">
                <a:solidFill>
                  <a:srgbClr val="404040"/>
                </a:solidFill>
                <a:latin typeface="Calibri"/>
                <a:cs typeface="Calibri"/>
              </a:rPr>
              <a:t>if </a:t>
            </a:r>
            <a:r>
              <a:rPr sz="2400" spc="-10" dirty="0">
                <a:solidFill>
                  <a:srgbClr val="404040"/>
                </a:solidFill>
                <a:latin typeface="Calibri"/>
                <a:cs typeface="Calibri"/>
              </a:rPr>
              <a:t>more </a:t>
            </a:r>
            <a:r>
              <a:rPr sz="2400" dirty="0">
                <a:solidFill>
                  <a:srgbClr val="404040"/>
                </a:solidFill>
                <a:latin typeface="Calibri"/>
                <a:cs typeface="Calibri"/>
              </a:rPr>
              <a:t>memory is </a:t>
            </a:r>
            <a:r>
              <a:rPr sz="2400" spc="-5" dirty="0">
                <a:solidFill>
                  <a:srgbClr val="404040"/>
                </a:solidFill>
                <a:latin typeface="Calibri"/>
                <a:cs typeface="Calibri"/>
              </a:rPr>
              <a:t>needed, </a:t>
            </a:r>
            <a:r>
              <a:rPr sz="2400" dirty="0">
                <a:solidFill>
                  <a:srgbClr val="404040"/>
                </a:solidFill>
                <a:latin typeface="Calibri"/>
                <a:cs typeface="Calibri"/>
              </a:rPr>
              <a:t>it is </a:t>
            </a:r>
            <a:r>
              <a:rPr sz="2400" spc="-10" dirty="0">
                <a:solidFill>
                  <a:srgbClr val="404040"/>
                </a:solidFill>
                <a:latin typeface="Calibri"/>
                <a:cs typeface="Calibri"/>
              </a:rPr>
              <a:t>possible </a:t>
            </a:r>
            <a:r>
              <a:rPr sz="2400" spc="-5" dirty="0">
                <a:solidFill>
                  <a:srgbClr val="404040"/>
                </a:solidFill>
                <a:latin typeface="Calibri"/>
                <a:cs typeface="Calibri"/>
              </a:rPr>
              <a:t> </a:t>
            </a:r>
            <a:r>
              <a:rPr sz="2400" spc="-15" dirty="0">
                <a:solidFill>
                  <a:srgbClr val="404040"/>
                </a:solidFill>
                <a:latin typeface="Calibri"/>
                <a:cs typeface="Calibri"/>
              </a:rPr>
              <a:t>to</a:t>
            </a:r>
            <a:r>
              <a:rPr sz="2400" spc="-10" dirty="0">
                <a:solidFill>
                  <a:srgbClr val="404040"/>
                </a:solidFill>
                <a:latin typeface="Calibri"/>
                <a:cs typeface="Calibri"/>
              </a:rPr>
              <a:t> </a:t>
            </a:r>
            <a:r>
              <a:rPr sz="2400" spc="-20" dirty="0">
                <a:solidFill>
                  <a:srgbClr val="404040"/>
                </a:solidFill>
                <a:latin typeface="Calibri"/>
                <a:cs typeface="Calibri"/>
              </a:rPr>
              <a:t>have</a:t>
            </a:r>
            <a:r>
              <a:rPr sz="2400" dirty="0">
                <a:solidFill>
                  <a:srgbClr val="404040"/>
                </a:solidFill>
                <a:latin typeface="Calibri"/>
                <a:cs typeface="Calibri"/>
              </a:rPr>
              <a:t> </a:t>
            </a:r>
            <a:r>
              <a:rPr sz="2400" spc="-10" dirty="0">
                <a:solidFill>
                  <a:srgbClr val="404040"/>
                </a:solidFill>
                <a:latin typeface="Calibri"/>
                <a:cs typeface="Calibri"/>
              </a:rPr>
              <a:t>off-chip</a:t>
            </a:r>
            <a:r>
              <a:rPr sz="2400" spc="5" dirty="0">
                <a:solidFill>
                  <a:srgbClr val="404040"/>
                </a:solidFill>
                <a:latin typeface="Calibri"/>
                <a:cs typeface="Calibri"/>
              </a:rPr>
              <a:t> </a:t>
            </a:r>
            <a:r>
              <a:rPr sz="2400" dirty="0">
                <a:solidFill>
                  <a:srgbClr val="404040"/>
                </a:solidFill>
                <a:latin typeface="Calibri"/>
                <a:cs typeface="Calibri"/>
              </a:rPr>
              <a:t>memory</a:t>
            </a:r>
            <a:r>
              <a:rPr sz="2400" spc="-20" dirty="0">
                <a:solidFill>
                  <a:srgbClr val="404040"/>
                </a:solidFill>
                <a:latin typeface="Calibri"/>
                <a:cs typeface="Calibri"/>
              </a:rPr>
              <a:t> </a:t>
            </a:r>
            <a:r>
              <a:rPr sz="2400" dirty="0">
                <a:solidFill>
                  <a:srgbClr val="404040"/>
                </a:solidFill>
                <a:latin typeface="Calibri"/>
                <a:cs typeface="Calibri"/>
              </a:rPr>
              <a:t>as</a:t>
            </a:r>
            <a:r>
              <a:rPr sz="2400" spc="-10" dirty="0">
                <a:solidFill>
                  <a:srgbClr val="404040"/>
                </a:solidFill>
                <a:latin typeface="Calibri"/>
                <a:cs typeface="Calibri"/>
              </a:rPr>
              <a:t> well.</a:t>
            </a:r>
            <a:endParaRPr sz="2400" dirty="0">
              <a:latin typeface="Calibri"/>
              <a:cs typeface="Calibri"/>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7</a:t>
            </a:r>
            <a:endParaRPr sz="1050">
              <a:latin typeface="Calibri"/>
              <a:cs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364794" rIns="0" bIns="0" rtlCol="0">
            <a:spAutoFit/>
          </a:bodyPr>
          <a:lstStyle/>
          <a:p>
            <a:pPr marL="2934335" marR="5080" indent="-2425065">
              <a:lnSpc>
                <a:spcPts val="4079"/>
              </a:lnSpc>
              <a:spcBef>
                <a:spcPts val="830"/>
              </a:spcBef>
            </a:pPr>
            <a:r>
              <a:rPr sz="4000" b="0" spc="-75" dirty="0">
                <a:solidFill>
                  <a:srgbClr val="00AFEF"/>
                </a:solidFill>
                <a:latin typeface="Calibri Light"/>
                <a:cs typeface="Calibri Light"/>
              </a:rPr>
              <a:t>Different</a:t>
            </a:r>
            <a:r>
              <a:rPr sz="4000" b="0" spc="-130" dirty="0">
                <a:solidFill>
                  <a:srgbClr val="00AFEF"/>
                </a:solidFill>
                <a:latin typeface="Calibri Light"/>
                <a:cs typeface="Calibri Light"/>
              </a:rPr>
              <a:t> </a:t>
            </a:r>
            <a:r>
              <a:rPr sz="4000" b="0" spc="-45" dirty="0">
                <a:solidFill>
                  <a:srgbClr val="00AFEF"/>
                </a:solidFill>
                <a:latin typeface="Calibri Light"/>
                <a:cs typeface="Calibri Light"/>
              </a:rPr>
              <a:t>types</a:t>
            </a:r>
            <a:r>
              <a:rPr sz="4000" b="0" spc="-120" dirty="0">
                <a:solidFill>
                  <a:srgbClr val="00AFEF"/>
                </a:solidFill>
                <a:latin typeface="Calibri Light"/>
                <a:cs typeface="Calibri Light"/>
              </a:rPr>
              <a:t> </a:t>
            </a:r>
            <a:r>
              <a:rPr sz="4000" b="0" spc="-25" dirty="0">
                <a:solidFill>
                  <a:srgbClr val="00AFEF"/>
                </a:solidFill>
                <a:latin typeface="Calibri Light"/>
                <a:cs typeface="Calibri Light"/>
              </a:rPr>
              <a:t>of</a:t>
            </a:r>
            <a:r>
              <a:rPr sz="4000" b="0" spc="-114" dirty="0">
                <a:solidFill>
                  <a:srgbClr val="00AFEF"/>
                </a:solidFill>
                <a:latin typeface="Calibri Light"/>
                <a:cs typeface="Calibri Light"/>
              </a:rPr>
              <a:t> </a:t>
            </a:r>
            <a:r>
              <a:rPr sz="4000" b="0" spc="-55" dirty="0">
                <a:solidFill>
                  <a:srgbClr val="00AFEF"/>
                </a:solidFill>
                <a:latin typeface="Calibri Light"/>
                <a:cs typeface="Calibri Light"/>
              </a:rPr>
              <a:t>semiconductor</a:t>
            </a:r>
            <a:r>
              <a:rPr sz="4000" b="0" spc="-155" dirty="0">
                <a:solidFill>
                  <a:srgbClr val="00AFEF"/>
                </a:solidFill>
                <a:latin typeface="Calibri Light"/>
                <a:cs typeface="Calibri Light"/>
              </a:rPr>
              <a:t> </a:t>
            </a:r>
            <a:r>
              <a:rPr sz="4000" b="0" spc="-45" dirty="0">
                <a:solidFill>
                  <a:srgbClr val="00AFEF"/>
                </a:solidFill>
                <a:latin typeface="Calibri Light"/>
                <a:cs typeface="Calibri Light"/>
              </a:rPr>
              <a:t>memories</a:t>
            </a:r>
            <a:r>
              <a:rPr sz="4000" b="0" spc="-120" dirty="0">
                <a:solidFill>
                  <a:srgbClr val="00AFEF"/>
                </a:solidFill>
                <a:latin typeface="Calibri Light"/>
                <a:cs typeface="Calibri Light"/>
              </a:rPr>
              <a:t> </a:t>
            </a:r>
            <a:r>
              <a:rPr sz="4000" b="0" spc="-40" dirty="0">
                <a:solidFill>
                  <a:srgbClr val="00AFEF"/>
                </a:solidFill>
                <a:latin typeface="Calibri Light"/>
                <a:cs typeface="Calibri Light"/>
              </a:rPr>
              <a:t>which</a:t>
            </a:r>
            <a:r>
              <a:rPr sz="4000" b="0" spc="-120" dirty="0">
                <a:solidFill>
                  <a:srgbClr val="00AFEF"/>
                </a:solidFill>
                <a:latin typeface="Calibri Light"/>
                <a:cs typeface="Calibri Light"/>
              </a:rPr>
              <a:t> </a:t>
            </a:r>
            <a:r>
              <a:rPr sz="4000" b="0" spc="-60" dirty="0">
                <a:solidFill>
                  <a:srgbClr val="00AFEF"/>
                </a:solidFill>
                <a:latin typeface="Calibri Light"/>
                <a:cs typeface="Calibri Light"/>
              </a:rPr>
              <a:t>are </a:t>
            </a:r>
            <a:r>
              <a:rPr sz="4000" b="0" spc="-885" dirty="0">
                <a:solidFill>
                  <a:srgbClr val="00AFEF"/>
                </a:solidFill>
                <a:latin typeface="Calibri Light"/>
                <a:cs typeface="Calibri Light"/>
              </a:rPr>
              <a:t> </a:t>
            </a:r>
            <a:r>
              <a:rPr sz="4000" b="0" spc="-50" dirty="0">
                <a:solidFill>
                  <a:srgbClr val="00AFEF"/>
                </a:solidFill>
                <a:latin typeface="Calibri Light"/>
                <a:cs typeface="Calibri Light"/>
              </a:rPr>
              <a:t>useful</a:t>
            </a:r>
            <a:r>
              <a:rPr sz="4000" b="0" spc="-120" dirty="0">
                <a:solidFill>
                  <a:srgbClr val="00AFEF"/>
                </a:solidFill>
                <a:latin typeface="Calibri Light"/>
                <a:cs typeface="Calibri Light"/>
              </a:rPr>
              <a:t> </a:t>
            </a:r>
            <a:r>
              <a:rPr sz="4000" b="0" spc="-65" dirty="0">
                <a:solidFill>
                  <a:srgbClr val="00AFEF"/>
                </a:solidFill>
                <a:latin typeface="Calibri Light"/>
                <a:cs typeface="Calibri Light"/>
              </a:rPr>
              <a:t>for</a:t>
            </a:r>
            <a:r>
              <a:rPr sz="4000" b="0" spc="-105" dirty="0">
                <a:solidFill>
                  <a:srgbClr val="00AFEF"/>
                </a:solidFill>
                <a:latin typeface="Calibri Light"/>
                <a:cs typeface="Calibri Light"/>
              </a:rPr>
              <a:t> </a:t>
            </a:r>
            <a:r>
              <a:rPr sz="4000" b="0" spc="-45" dirty="0">
                <a:solidFill>
                  <a:srgbClr val="00AFEF"/>
                </a:solidFill>
                <a:latin typeface="Calibri Light"/>
                <a:cs typeface="Calibri Light"/>
              </a:rPr>
              <a:t>embedded</a:t>
            </a:r>
            <a:r>
              <a:rPr sz="4000" b="0" spc="-140" dirty="0">
                <a:solidFill>
                  <a:srgbClr val="00AFEF"/>
                </a:solidFill>
                <a:latin typeface="Calibri Light"/>
                <a:cs typeface="Calibri Light"/>
              </a:rPr>
              <a:t> </a:t>
            </a:r>
            <a:r>
              <a:rPr sz="4000" b="0" spc="-75" dirty="0">
                <a:solidFill>
                  <a:srgbClr val="00AFEF"/>
                </a:solidFill>
                <a:latin typeface="Calibri Light"/>
                <a:cs typeface="Calibri Light"/>
              </a:rPr>
              <a:t>systems</a:t>
            </a:r>
            <a:endParaRPr sz="4000" dirty="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8</a:t>
            </a:r>
            <a:endParaRPr sz="1050">
              <a:latin typeface="Calibri"/>
              <a:cs typeface="Calibri"/>
            </a:endParaRPr>
          </a:p>
        </p:txBody>
      </p:sp>
      <p:pic>
        <p:nvPicPr>
          <p:cNvPr id="10" name="object 10"/>
          <p:cNvPicPr/>
          <p:nvPr/>
        </p:nvPicPr>
        <p:blipFill>
          <a:blip r:embed="rId2" cstate="print"/>
          <a:stretch>
            <a:fillRect/>
          </a:stretch>
        </p:blipFill>
        <p:spPr>
          <a:xfrm>
            <a:off x="1701074" y="2172145"/>
            <a:ext cx="9040461" cy="3863772"/>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9149080" cy="756920"/>
          </a:xfrm>
          <a:prstGeom prst="rect">
            <a:avLst/>
          </a:prstGeom>
        </p:spPr>
        <p:txBody>
          <a:bodyPr vert="horz" wrap="square" lIns="0" tIns="12700" rIns="0" bIns="0" rtlCol="0">
            <a:spAutoFit/>
          </a:bodyPr>
          <a:lstStyle/>
          <a:p>
            <a:pPr marL="12700">
              <a:lnSpc>
                <a:spcPct val="100000"/>
              </a:lnSpc>
              <a:spcBef>
                <a:spcPts val="100"/>
              </a:spcBef>
            </a:pPr>
            <a:r>
              <a:rPr sz="4800" b="0" spc="-120" dirty="0" smtClean="0">
                <a:solidFill>
                  <a:srgbClr val="00AFEF"/>
                </a:solidFill>
                <a:latin typeface="Calibri Light"/>
                <a:cs typeface="Calibri Light"/>
              </a:rPr>
              <a:t> </a:t>
            </a:r>
            <a:r>
              <a:rPr sz="4800" b="0" spc="-45" dirty="0">
                <a:solidFill>
                  <a:srgbClr val="00AFEF"/>
                </a:solidFill>
                <a:latin typeface="Calibri Light"/>
                <a:cs typeface="Calibri Light"/>
              </a:rPr>
              <a:t>Random</a:t>
            </a:r>
            <a:r>
              <a:rPr sz="4800" b="0" spc="-105" dirty="0">
                <a:solidFill>
                  <a:srgbClr val="00AFEF"/>
                </a:solidFill>
                <a:latin typeface="Calibri Light"/>
                <a:cs typeface="Calibri Light"/>
              </a:rPr>
              <a:t> </a:t>
            </a:r>
            <a:r>
              <a:rPr sz="4800" b="0" spc="-45" dirty="0">
                <a:solidFill>
                  <a:srgbClr val="00AFEF"/>
                </a:solidFill>
                <a:latin typeface="Calibri Light"/>
                <a:cs typeface="Calibri Light"/>
              </a:rPr>
              <a:t>access</a:t>
            </a:r>
            <a:r>
              <a:rPr sz="4800" b="0" spc="-110" dirty="0">
                <a:solidFill>
                  <a:srgbClr val="00AFEF"/>
                </a:solidFill>
                <a:latin typeface="Calibri Light"/>
                <a:cs typeface="Calibri Light"/>
              </a:rPr>
              <a:t> </a:t>
            </a:r>
            <a:r>
              <a:rPr sz="4800" b="0" spc="-40" dirty="0">
                <a:solidFill>
                  <a:srgbClr val="00AFEF"/>
                </a:solidFill>
                <a:latin typeface="Calibri Light"/>
                <a:cs typeface="Calibri Light"/>
              </a:rPr>
              <a:t>memory</a:t>
            </a:r>
            <a:r>
              <a:rPr sz="4800" b="0" spc="-125" dirty="0">
                <a:solidFill>
                  <a:srgbClr val="00AFEF"/>
                </a:solidFill>
                <a:latin typeface="Calibri Light"/>
                <a:cs typeface="Calibri Light"/>
              </a:rPr>
              <a:t> </a:t>
            </a:r>
            <a:r>
              <a:rPr sz="4800" b="0" spc="-45" dirty="0">
                <a:solidFill>
                  <a:srgbClr val="00AFEF"/>
                </a:solidFill>
                <a:latin typeface="Calibri Light"/>
                <a:cs typeface="Calibri Light"/>
              </a:rPr>
              <a:t>(RAM)</a:t>
            </a:r>
            <a:endParaRPr sz="4800" dirty="0">
              <a:latin typeface="Calibri Light"/>
              <a:cs typeface="Calibri Light"/>
            </a:endParaRPr>
          </a:p>
        </p:txBody>
      </p:sp>
      <p:sp>
        <p:nvSpPr>
          <p:cNvPr id="7" name="object 7"/>
          <p:cNvSpPr txBox="1"/>
          <p:nvPr/>
        </p:nvSpPr>
        <p:spPr>
          <a:xfrm>
            <a:off x="935227" y="1921378"/>
            <a:ext cx="10234930" cy="3042920"/>
          </a:xfrm>
          <a:prstGeom prst="rect">
            <a:avLst/>
          </a:prstGeom>
        </p:spPr>
        <p:txBody>
          <a:bodyPr vert="horz" wrap="square" lIns="0" tIns="154940" rIns="0" bIns="0" rtlCol="0">
            <a:spAutoFit/>
          </a:bodyPr>
          <a:lstStyle/>
          <a:p>
            <a:pPr marL="12700">
              <a:lnSpc>
                <a:spcPct val="100000"/>
              </a:lnSpc>
              <a:spcBef>
                <a:spcPts val="1220"/>
              </a:spcBef>
            </a:pPr>
            <a:r>
              <a:rPr sz="2400" spc="-10" dirty="0">
                <a:solidFill>
                  <a:srgbClr val="404040"/>
                </a:solidFill>
                <a:latin typeface="Calibri"/>
                <a:cs typeface="Calibri"/>
              </a:rPr>
              <a:t>Following</a:t>
            </a:r>
            <a:r>
              <a:rPr sz="2400" spc="-25" dirty="0">
                <a:solidFill>
                  <a:srgbClr val="404040"/>
                </a:solidFill>
                <a:latin typeface="Calibri"/>
                <a:cs typeface="Calibri"/>
              </a:rPr>
              <a:t> </a:t>
            </a:r>
            <a:r>
              <a:rPr sz="2400" spc="-15" dirty="0">
                <a:solidFill>
                  <a:srgbClr val="404040"/>
                </a:solidFill>
                <a:latin typeface="Calibri"/>
                <a:cs typeface="Calibri"/>
              </a:rPr>
              <a:t>are</a:t>
            </a:r>
            <a:r>
              <a:rPr sz="2400" spc="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5" dirty="0">
                <a:solidFill>
                  <a:srgbClr val="404040"/>
                </a:solidFill>
                <a:latin typeface="Calibri"/>
                <a:cs typeface="Calibri"/>
              </a:rPr>
              <a:t>distinct</a:t>
            </a:r>
            <a:r>
              <a:rPr sz="2400" spc="-25" dirty="0">
                <a:solidFill>
                  <a:srgbClr val="404040"/>
                </a:solidFill>
                <a:latin typeface="Calibri"/>
                <a:cs typeface="Calibri"/>
              </a:rPr>
              <a:t> </a:t>
            </a:r>
            <a:r>
              <a:rPr sz="2400" spc="-10" dirty="0">
                <a:solidFill>
                  <a:srgbClr val="404040"/>
                </a:solidFill>
                <a:latin typeface="Calibri"/>
                <a:cs typeface="Calibri"/>
              </a:rPr>
              <a:t>characteristics</a:t>
            </a:r>
            <a:r>
              <a:rPr sz="2400" spc="-45" dirty="0">
                <a:solidFill>
                  <a:srgbClr val="404040"/>
                </a:solidFill>
                <a:latin typeface="Calibri"/>
                <a:cs typeface="Calibri"/>
              </a:rPr>
              <a:t> </a:t>
            </a:r>
            <a:r>
              <a:rPr sz="2400" spc="-5" dirty="0">
                <a:solidFill>
                  <a:srgbClr val="404040"/>
                </a:solidFill>
                <a:latin typeface="Calibri"/>
                <a:cs typeface="Calibri"/>
              </a:rPr>
              <a:t>of</a:t>
            </a:r>
            <a:r>
              <a:rPr sz="2400" spc="-10" dirty="0">
                <a:solidFill>
                  <a:srgbClr val="404040"/>
                </a:solidFill>
                <a:latin typeface="Calibri"/>
                <a:cs typeface="Calibri"/>
              </a:rPr>
              <a:t> </a:t>
            </a:r>
            <a:r>
              <a:rPr sz="2400" dirty="0">
                <a:solidFill>
                  <a:srgbClr val="404040"/>
                </a:solidFill>
                <a:latin typeface="Calibri"/>
                <a:cs typeface="Calibri"/>
              </a:rPr>
              <a:t>RAM:</a:t>
            </a:r>
            <a:endParaRPr sz="2400" dirty="0">
              <a:latin typeface="Calibri"/>
              <a:cs typeface="Calibri"/>
            </a:endParaRPr>
          </a:p>
          <a:p>
            <a:pPr marL="974725" indent="-342900">
              <a:lnSpc>
                <a:spcPct val="100000"/>
              </a:lnSpc>
              <a:spcBef>
                <a:spcPts val="1120"/>
              </a:spcBef>
              <a:buClr>
                <a:srgbClr val="E38312"/>
              </a:buClr>
              <a:buFont typeface="Wingdings" panose="05000000000000000000" pitchFamily="2" charset="2"/>
              <a:buChar char="Ø"/>
              <a:tabLst>
                <a:tab pos="909319" algn="l"/>
              </a:tabLst>
            </a:pPr>
            <a:r>
              <a:rPr sz="2400" spc="-5" dirty="0">
                <a:solidFill>
                  <a:srgbClr val="404040"/>
                </a:solidFill>
                <a:latin typeface="Calibri"/>
                <a:cs typeface="Calibri"/>
              </a:rPr>
              <a:t>It</a:t>
            </a:r>
            <a:r>
              <a:rPr sz="2400" spc="-15"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10" dirty="0">
                <a:solidFill>
                  <a:srgbClr val="404040"/>
                </a:solidFill>
                <a:latin typeface="Calibri"/>
                <a:cs typeface="Calibri"/>
              </a:rPr>
              <a:t>volatile,</a:t>
            </a:r>
            <a:r>
              <a:rPr sz="2400" spc="5" dirty="0">
                <a:solidFill>
                  <a:srgbClr val="404040"/>
                </a:solidFill>
                <a:latin typeface="Calibri"/>
                <a:cs typeface="Calibri"/>
              </a:rPr>
              <a:t> </a:t>
            </a:r>
            <a:r>
              <a:rPr sz="2400" spc="-10" dirty="0">
                <a:solidFill>
                  <a:srgbClr val="404040"/>
                </a:solidFill>
                <a:latin typeface="Calibri"/>
                <a:cs typeface="Calibri"/>
              </a:rPr>
              <a:t>that</a:t>
            </a:r>
            <a:r>
              <a:rPr sz="2400" spc="-20"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15" dirty="0">
                <a:solidFill>
                  <a:srgbClr val="404040"/>
                </a:solidFill>
                <a:latin typeface="Calibri"/>
                <a:cs typeface="Calibri"/>
              </a:rPr>
              <a:t>contents</a:t>
            </a:r>
            <a:r>
              <a:rPr sz="2400" spc="-20" dirty="0">
                <a:solidFill>
                  <a:srgbClr val="404040"/>
                </a:solidFill>
                <a:latin typeface="Calibri"/>
                <a:cs typeface="Calibri"/>
              </a:rPr>
              <a:t> </a:t>
            </a:r>
            <a:r>
              <a:rPr sz="2400" spc="-15" dirty="0">
                <a:solidFill>
                  <a:srgbClr val="404040"/>
                </a:solidFill>
                <a:latin typeface="Calibri"/>
                <a:cs typeface="Calibri"/>
              </a:rPr>
              <a:t>are</a:t>
            </a:r>
            <a:r>
              <a:rPr sz="2400" dirty="0">
                <a:solidFill>
                  <a:srgbClr val="404040"/>
                </a:solidFill>
                <a:latin typeface="Calibri"/>
                <a:cs typeface="Calibri"/>
              </a:rPr>
              <a:t> </a:t>
            </a:r>
            <a:r>
              <a:rPr sz="2400" spc="-10" dirty="0">
                <a:solidFill>
                  <a:srgbClr val="404040"/>
                </a:solidFill>
                <a:latin typeface="Calibri"/>
                <a:cs typeface="Calibri"/>
              </a:rPr>
              <a:t>lost </a:t>
            </a:r>
            <a:r>
              <a:rPr sz="2400" dirty="0">
                <a:solidFill>
                  <a:srgbClr val="404040"/>
                </a:solidFill>
                <a:latin typeface="Calibri"/>
                <a:cs typeface="Calibri"/>
              </a:rPr>
              <a:t>when</a:t>
            </a:r>
            <a:r>
              <a:rPr sz="2400" spc="-10" dirty="0">
                <a:solidFill>
                  <a:srgbClr val="404040"/>
                </a:solidFill>
                <a:latin typeface="Calibri"/>
                <a:cs typeface="Calibri"/>
              </a:rPr>
              <a:t> power</a:t>
            </a:r>
            <a:r>
              <a:rPr sz="2400" spc="5" dirty="0">
                <a:solidFill>
                  <a:srgbClr val="404040"/>
                </a:solidFill>
                <a:latin typeface="Calibri"/>
                <a:cs typeface="Calibri"/>
              </a:rPr>
              <a:t> </a:t>
            </a:r>
            <a:r>
              <a:rPr sz="2400" dirty="0">
                <a:solidFill>
                  <a:srgbClr val="404040"/>
                </a:solidFill>
                <a:latin typeface="Calibri"/>
                <a:cs typeface="Calibri"/>
              </a:rPr>
              <a:t>is</a:t>
            </a:r>
            <a:r>
              <a:rPr sz="2400" spc="-20" dirty="0">
                <a:solidFill>
                  <a:srgbClr val="404040"/>
                </a:solidFill>
                <a:latin typeface="Calibri"/>
                <a:cs typeface="Calibri"/>
              </a:rPr>
              <a:t> </a:t>
            </a:r>
            <a:r>
              <a:rPr sz="2400" spc="-5" dirty="0">
                <a:solidFill>
                  <a:srgbClr val="404040"/>
                </a:solidFill>
                <a:latin typeface="Calibri"/>
                <a:cs typeface="Calibri"/>
              </a:rPr>
              <a:t>switched</a:t>
            </a:r>
            <a:r>
              <a:rPr sz="2400" spc="-15" dirty="0">
                <a:solidFill>
                  <a:srgbClr val="404040"/>
                </a:solidFill>
                <a:latin typeface="Calibri"/>
                <a:cs typeface="Calibri"/>
              </a:rPr>
              <a:t> </a:t>
            </a:r>
            <a:r>
              <a:rPr sz="2400" spc="-50" dirty="0">
                <a:solidFill>
                  <a:srgbClr val="404040"/>
                </a:solidFill>
                <a:latin typeface="Calibri"/>
                <a:cs typeface="Calibri"/>
              </a:rPr>
              <a:t>off.</a:t>
            </a:r>
            <a:endParaRPr sz="2400" dirty="0">
              <a:latin typeface="Calibri"/>
              <a:cs typeface="Calibri"/>
            </a:endParaRPr>
          </a:p>
          <a:p>
            <a:pPr marL="975360" marR="6985" indent="-342900" algn="just">
              <a:lnSpc>
                <a:spcPts val="2590"/>
              </a:lnSpc>
              <a:spcBef>
                <a:spcPts val="1445"/>
              </a:spcBef>
              <a:buClr>
                <a:srgbClr val="E38312"/>
              </a:buClr>
              <a:buFont typeface="Wingdings" panose="05000000000000000000" pitchFamily="2" charset="2"/>
              <a:buChar char="Ø"/>
              <a:tabLst>
                <a:tab pos="909319" algn="l"/>
              </a:tabLst>
            </a:pPr>
            <a:r>
              <a:rPr sz="2400" spc="-5" dirty="0">
                <a:solidFill>
                  <a:srgbClr val="404040"/>
                </a:solidFill>
                <a:latin typeface="Calibri"/>
                <a:cs typeface="Calibri"/>
              </a:rPr>
              <a:t>It </a:t>
            </a:r>
            <a:r>
              <a:rPr sz="2400" spc="-10" dirty="0">
                <a:solidFill>
                  <a:srgbClr val="404040"/>
                </a:solidFill>
                <a:latin typeface="Calibri"/>
                <a:cs typeface="Calibri"/>
              </a:rPr>
              <a:t>can </a:t>
            </a:r>
            <a:r>
              <a:rPr sz="2400" spc="-5" dirty="0">
                <a:solidFill>
                  <a:srgbClr val="404040"/>
                </a:solidFill>
                <a:latin typeface="Calibri"/>
                <a:cs typeface="Calibri"/>
              </a:rPr>
              <a:t>be </a:t>
            </a:r>
            <a:r>
              <a:rPr sz="2400" spc="-10" dirty="0">
                <a:solidFill>
                  <a:srgbClr val="404040"/>
                </a:solidFill>
                <a:latin typeface="Calibri"/>
                <a:cs typeface="Calibri"/>
              </a:rPr>
              <a:t>read </a:t>
            </a:r>
            <a:r>
              <a:rPr sz="2400" spc="-15" dirty="0">
                <a:solidFill>
                  <a:srgbClr val="404040"/>
                </a:solidFill>
                <a:latin typeface="Calibri"/>
                <a:cs typeface="Calibri"/>
              </a:rPr>
              <a:t>from </a:t>
            </a:r>
            <a:r>
              <a:rPr sz="2400" dirty="0">
                <a:solidFill>
                  <a:srgbClr val="404040"/>
                </a:solidFill>
                <a:latin typeface="Calibri"/>
                <a:cs typeface="Calibri"/>
              </a:rPr>
              <a:t>and </a:t>
            </a:r>
            <a:r>
              <a:rPr sz="2400" spc="-15" dirty="0">
                <a:solidFill>
                  <a:srgbClr val="404040"/>
                </a:solidFill>
                <a:latin typeface="Calibri"/>
                <a:cs typeface="Calibri"/>
              </a:rPr>
              <a:t>written to by </a:t>
            </a:r>
            <a:r>
              <a:rPr sz="2400" spc="-20" dirty="0">
                <a:solidFill>
                  <a:srgbClr val="404040"/>
                </a:solidFill>
                <a:latin typeface="Calibri"/>
                <a:cs typeface="Calibri"/>
              </a:rPr>
              <a:t>program </a:t>
            </a:r>
            <a:r>
              <a:rPr sz="2400" spc="-5" dirty="0">
                <a:solidFill>
                  <a:srgbClr val="404040"/>
                </a:solidFill>
                <a:latin typeface="Calibri"/>
                <a:cs typeface="Calibri"/>
              </a:rPr>
              <a:t>instructions</a:t>
            </a:r>
            <a:r>
              <a:rPr sz="2400" spc="-5" dirty="0" smtClean="0">
                <a:solidFill>
                  <a:srgbClr val="404040"/>
                </a:solidFill>
                <a:latin typeface="Calibri"/>
                <a:cs typeface="Calibri"/>
              </a:rPr>
              <a:t>,</a:t>
            </a:r>
            <a:r>
              <a:rPr sz="2400" dirty="0" smtClean="0">
                <a:solidFill>
                  <a:srgbClr val="404040"/>
                </a:solidFill>
                <a:latin typeface="Calibri"/>
                <a:cs typeface="Calibri"/>
              </a:rPr>
              <a:t> </a:t>
            </a:r>
            <a:r>
              <a:rPr sz="2400" spc="-5" dirty="0">
                <a:solidFill>
                  <a:srgbClr val="404040"/>
                </a:solidFill>
                <a:latin typeface="Calibri"/>
                <a:cs typeface="Calibri"/>
              </a:rPr>
              <a:t>so </a:t>
            </a:r>
            <a:r>
              <a:rPr lang="en-IN" sz="2400" spc="-5" dirty="0" smtClean="0">
                <a:solidFill>
                  <a:srgbClr val="404040"/>
                </a:solidFill>
                <a:latin typeface="Calibri"/>
                <a:cs typeface="Calibri"/>
              </a:rPr>
              <a:t>it’s </a:t>
            </a:r>
            <a:r>
              <a:rPr sz="2400" dirty="0" smtClean="0">
                <a:solidFill>
                  <a:srgbClr val="404040"/>
                </a:solidFill>
                <a:latin typeface="Calibri"/>
                <a:cs typeface="Calibri"/>
              </a:rPr>
              <a:t> </a:t>
            </a:r>
            <a:r>
              <a:rPr sz="2400" spc="5" dirty="0" smtClean="0">
                <a:solidFill>
                  <a:srgbClr val="404040"/>
                </a:solidFill>
                <a:latin typeface="Calibri"/>
                <a:cs typeface="Calibri"/>
              </a:rPr>
              <a:t> </a:t>
            </a:r>
            <a:r>
              <a:rPr sz="2400" spc="-15" dirty="0">
                <a:solidFill>
                  <a:srgbClr val="404040"/>
                </a:solidFill>
                <a:latin typeface="Calibri"/>
                <a:cs typeface="Calibri"/>
              </a:rPr>
              <a:t>Read/Write</a:t>
            </a:r>
            <a:r>
              <a:rPr sz="2400" spc="-25" dirty="0">
                <a:solidFill>
                  <a:srgbClr val="404040"/>
                </a:solidFill>
                <a:latin typeface="Calibri"/>
                <a:cs typeface="Calibri"/>
              </a:rPr>
              <a:t> </a:t>
            </a:r>
            <a:r>
              <a:rPr sz="2400" spc="-20" dirty="0">
                <a:solidFill>
                  <a:srgbClr val="404040"/>
                </a:solidFill>
                <a:latin typeface="Calibri"/>
                <a:cs typeface="Calibri"/>
              </a:rPr>
              <a:t>memory.</a:t>
            </a:r>
            <a:endParaRPr sz="2400" dirty="0">
              <a:latin typeface="Calibri"/>
              <a:cs typeface="Calibri"/>
            </a:endParaRPr>
          </a:p>
          <a:p>
            <a:pPr marL="975360" marR="5080" indent="-342900" algn="just">
              <a:lnSpc>
                <a:spcPts val="2590"/>
              </a:lnSpc>
              <a:spcBef>
                <a:spcPts val="1395"/>
              </a:spcBef>
              <a:buClr>
                <a:srgbClr val="E38312"/>
              </a:buClr>
              <a:buFont typeface="Wingdings" panose="05000000000000000000" pitchFamily="2" charset="2"/>
              <a:buChar char="Ø"/>
              <a:tabLst>
                <a:tab pos="909319" algn="l"/>
              </a:tabLst>
            </a:pP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memory</a:t>
            </a:r>
            <a:r>
              <a:rPr sz="2400" dirty="0">
                <a:solidFill>
                  <a:srgbClr val="404040"/>
                </a:solidFill>
                <a:latin typeface="Calibri"/>
                <a:cs typeface="Calibri"/>
              </a:rPr>
              <a:t> </a:t>
            </a:r>
            <a:r>
              <a:rPr sz="2400" spc="-5" dirty="0">
                <a:solidFill>
                  <a:srgbClr val="404040"/>
                </a:solidFill>
                <a:latin typeface="Calibri"/>
                <a:cs typeface="Calibri"/>
              </a:rPr>
              <a:t>access time</a:t>
            </a:r>
            <a:r>
              <a:rPr sz="2400" dirty="0">
                <a:solidFill>
                  <a:srgbClr val="404040"/>
                </a:solidFill>
                <a:latin typeface="Calibri"/>
                <a:cs typeface="Calibri"/>
              </a:rPr>
              <a:t> is the </a:t>
            </a:r>
            <a:r>
              <a:rPr sz="2400" spc="-5" dirty="0">
                <a:solidFill>
                  <a:srgbClr val="404040"/>
                </a:solidFill>
                <a:latin typeface="Calibri"/>
                <a:cs typeface="Calibri"/>
              </a:rPr>
              <a:t>same</a:t>
            </a:r>
            <a:r>
              <a:rPr sz="2400" dirty="0">
                <a:solidFill>
                  <a:srgbClr val="404040"/>
                </a:solidFill>
                <a:latin typeface="Calibri"/>
                <a:cs typeface="Calibri"/>
              </a:rPr>
              <a:t> </a:t>
            </a:r>
            <a:r>
              <a:rPr sz="2400" spc="-10" dirty="0">
                <a:solidFill>
                  <a:srgbClr val="404040"/>
                </a:solidFill>
                <a:latin typeface="Calibri"/>
                <a:cs typeface="Calibri"/>
              </a:rPr>
              <a:t>irrespective</a:t>
            </a:r>
            <a:r>
              <a:rPr sz="2400" spc="520" dirty="0">
                <a:solidFill>
                  <a:srgbClr val="404040"/>
                </a:solidFill>
                <a:latin typeface="Calibri"/>
                <a:cs typeface="Calibri"/>
              </a:rPr>
              <a:t> </a:t>
            </a:r>
            <a:r>
              <a:rPr sz="2400" spc="-5" dirty="0">
                <a:solidFill>
                  <a:srgbClr val="404040"/>
                </a:solidFill>
                <a:latin typeface="Calibri"/>
                <a:cs typeface="Calibri"/>
              </a:rPr>
              <a:t>of </a:t>
            </a:r>
            <a:r>
              <a:rPr sz="2400" dirty="0">
                <a:solidFill>
                  <a:srgbClr val="404040"/>
                </a:solidFill>
                <a:latin typeface="Calibri"/>
                <a:cs typeface="Calibri"/>
              </a:rPr>
              <a:t>the </a:t>
            </a:r>
            <a:r>
              <a:rPr sz="2400" spc="-5" dirty="0">
                <a:solidFill>
                  <a:srgbClr val="404040"/>
                </a:solidFill>
                <a:latin typeface="Calibri"/>
                <a:cs typeface="Calibri"/>
              </a:rPr>
              <a:t>location of </a:t>
            </a:r>
            <a:r>
              <a:rPr sz="2400" dirty="0">
                <a:solidFill>
                  <a:srgbClr val="404040"/>
                </a:solidFill>
                <a:latin typeface="Calibri"/>
                <a:cs typeface="Calibri"/>
              </a:rPr>
              <a:t>the </a:t>
            </a:r>
            <a:r>
              <a:rPr sz="2400" spc="5" dirty="0">
                <a:solidFill>
                  <a:srgbClr val="404040"/>
                </a:solidFill>
                <a:latin typeface="Calibri"/>
                <a:cs typeface="Calibri"/>
              </a:rPr>
              <a:t> </a:t>
            </a:r>
            <a:r>
              <a:rPr sz="2400" spc="-15" dirty="0">
                <a:solidFill>
                  <a:srgbClr val="404040"/>
                </a:solidFill>
                <a:latin typeface="Calibri"/>
                <a:cs typeface="Calibri"/>
              </a:rPr>
              <a:t>data</a:t>
            </a:r>
            <a:r>
              <a:rPr sz="2400" spc="-10" dirty="0">
                <a:solidFill>
                  <a:srgbClr val="404040"/>
                </a:solidFill>
                <a:latin typeface="Calibri"/>
                <a:cs typeface="Calibri"/>
              </a:rPr>
              <a:t> </a:t>
            </a:r>
            <a:r>
              <a:rPr sz="2400" spc="-15" dirty="0">
                <a:solidFill>
                  <a:srgbClr val="404040"/>
                </a:solidFill>
                <a:latin typeface="Calibri"/>
                <a:cs typeface="Calibri"/>
              </a:rPr>
              <a:t>we</a:t>
            </a:r>
            <a:r>
              <a:rPr sz="2400" spc="-10" dirty="0">
                <a:solidFill>
                  <a:srgbClr val="404040"/>
                </a:solidFill>
                <a:latin typeface="Calibri"/>
                <a:cs typeface="Calibri"/>
              </a:rPr>
              <a:t> </a:t>
            </a:r>
            <a:r>
              <a:rPr sz="2400" spc="-20" dirty="0">
                <a:solidFill>
                  <a:srgbClr val="404040"/>
                </a:solidFill>
                <a:latin typeface="Calibri"/>
                <a:cs typeface="Calibri"/>
              </a:rPr>
              <a:t>want</a:t>
            </a:r>
            <a:r>
              <a:rPr sz="2400" spc="-15" dirty="0">
                <a:solidFill>
                  <a:srgbClr val="404040"/>
                </a:solidFill>
                <a:latin typeface="Calibri"/>
                <a:cs typeface="Calibri"/>
              </a:rPr>
              <a:t> to</a:t>
            </a:r>
            <a:r>
              <a:rPr sz="2400" spc="-10" dirty="0">
                <a:solidFill>
                  <a:srgbClr val="404040"/>
                </a:solidFill>
                <a:latin typeface="Calibri"/>
                <a:cs typeface="Calibri"/>
              </a:rPr>
              <a:t> </a:t>
            </a:r>
            <a:r>
              <a:rPr sz="2400" spc="-5" dirty="0">
                <a:solidFill>
                  <a:srgbClr val="404040"/>
                </a:solidFill>
                <a:latin typeface="Calibri"/>
                <a:cs typeface="Calibri"/>
              </a:rPr>
              <a:t>access</a:t>
            </a:r>
            <a:r>
              <a:rPr sz="2400" dirty="0">
                <a:solidFill>
                  <a:srgbClr val="404040"/>
                </a:solidFill>
                <a:latin typeface="Calibri"/>
                <a:cs typeface="Calibri"/>
              </a:rPr>
              <a:t> —</a:t>
            </a:r>
            <a:r>
              <a:rPr sz="2400" spc="5" dirty="0">
                <a:solidFill>
                  <a:srgbClr val="404040"/>
                </a:solidFill>
                <a:latin typeface="Calibri"/>
                <a:cs typeface="Calibri"/>
              </a:rPr>
              <a:t> </a:t>
            </a:r>
            <a:r>
              <a:rPr sz="2400" spc="-10" dirty="0">
                <a:solidFill>
                  <a:srgbClr val="404040"/>
                </a:solidFill>
                <a:latin typeface="Calibri"/>
                <a:cs typeface="Calibri"/>
              </a:rPr>
              <a:t>that</a:t>
            </a:r>
            <a:r>
              <a:rPr sz="2400" spc="-5"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20" dirty="0">
                <a:solidFill>
                  <a:srgbClr val="404040"/>
                </a:solidFill>
                <a:latin typeface="Calibri"/>
                <a:cs typeface="Calibri"/>
              </a:rPr>
              <a:t>why</a:t>
            </a:r>
            <a:r>
              <a:rPr sz="2400" spc="-15" dirty="0">
                <a:solidFill>
                  <a:srgbClr val="404040"/>
                </a:solidFill>
                <a:latin typeface="Calibri"/>
                <a:cs typeface="Calibri"/>
              </a:rPr>
              <a:t> </a:t>
            </a:r>
            <a:r>
              <a:rPr sz="2400" dirty="0">
                <a:solidFill>
                  <a:srgbClr val="404040"/>
                </a:solidFill>
                <a:latin typeface="Calibri"/>
                <a:cs typeface="Calibri"/>
              </a:rPr>
              <a:t>it</a:t>
            </a:r>
            <a:r>
              <a:rPr sz="2400" spc="5"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5" dirty="0">
                <a:solidFill>
                  <a:srgbClr val="404040"/>
                </a:solidFill>
                <a:latin typeface="Calibri"/>
                <a:cs typeface="Calibri"/>
              </a:rPr>
              <a:t>called</a:t>
            </a:r>
            <a:r>
              <a:rPr sz="2400" dirty="0">
                <a:solidFill>
                  <a:srgbClr val="404040"/>
                </a:solidFill>
                <a:latin typeface="Calibri"/>
                <a:cs typeface="Calibri"/>
              </a:rPr>
              <a:t> </a:t>
            </a:r>
            <a:r>
              <a:rPr sz="2400" spc="-10" dirty="0">
                <a:solidFill>
                  <a:srgbClr val="404040"/>
                </a:solidFill>
                <a:latin typeface="Calibri"/>
                <a:cs typeface="Calibri"/>
              </a:rPr>
              <a:t>'random</a:t>
            </a:r>
            <a:r>
              <a:rPr sz="2400" spc="520" dirty="0">
                <a:solidFill>
                  <a:srgbClr val="404040"/>
                </a:solidFill>
                <a:latin typeface="Calibri"/>
                <a:cs typeface="Calibri"/>
              </a:rPr>
              <a:t> </a:t>
            </a:r>
            <a:r>
              <a:rPr sz="2400" spc="-5" dirty="0">
                <a:solidFill>
                  <a:srgbClr val="404040"/>
                </a:solidFill>
                <a:latin typeface="Calibri"/>
                <a:cs typeface="Calibri"/>
              </a:rPr>
              <a:t>access'</a:t>
            </a:r>
            <a:r>
              <a:rPr sz="2400" spc="535" dirty="0">
                <a:solidFill>
                  <a:srgbClr val="404040"/>
                </a:solidFill>
                <a:latin typeface="Calibri"/>
                <a:cs typeface="Calibri"/>
              </a:rPr>
              <a:t> </a:t>
            </a:r>
            <a:r>
              <a:rPr sz="2400" dirty="0">
                <a:solidFill>
                  <a:srgbClr val="404040"/>
                </a:solidFill>
                <a:latin typeface="Calibri"/>
                <a:cs typeface="Calibri"/>
              </a:rPr>
              <a:t>in </a:t>
            </a:r>
            <a:r>
              <a:rPr sz="2400" spc="5" dirty="0">
                <a:solidFill>
                  <a:srgbClr val="404040"/>
                </a:solidFill>
                <a:latin typeface="Calibri"/>
                <a:cs typeface="Calibri"/>
              </a:rPr>
              <a:t> </a:t>
            </a:r>
            <a:r>
              <a:rPr sz="2400" spc="-20" dirty="0">
                <a:solidFill>
                  <a:srgbClr val="404040"/>
                </a:solidFill>
                <a:latin typeface="Calibri"/>
                <a:cs typeface="Calibri"/>
              </a:rPr>
              <a:t>contrast </a:t>
            </a:r>
            <a:r>
              <a:rPr sz="2400" spc="-15" dirty="0">
                <a:solidFill>
                  <a:srgbClr val="404040"/>
                </a:solidFill>
                <a:latin typeface="Calibri"/>
                <a:cs typeface="Calibri"/>
              </a:rPr>
              <a:t>to</a:t>
            </a:r>
            <a:r>
              <a:rPr sz="2400" spc="-25" dirty="0">
                <a:solidFill>
                  <a:srgbClr val="404040"/>
                </a:solidFill>
                <a:latin typeface="Calibri"/>
                <a:cs typeface="Calibri"/>
              </a:rPr>
              <a:t> </a:t>
            </a:r>
            <a:r>
              <a:rPr sz="2400" spc="-5" dirty="0">
                <a:solidFill>
                  <a:srgbClr val="404040"/>
                </a:solidFill>
                <a:latin typeface="Calibri"/>
                <a:cs typeface="Calibri"/>
              </a:rPr>
              <a:t>serial</a:t>
            </a:r>
            <a:r>
              <a:rPr sz="2400" spc="5" dirty="0">
                <a:solidFill>
                  <a:srgbClr val="404040"/>
                </a:solidFill>
                <a:latin typeface="Calibri"/>
                <a:cs typeface="Calibri"/>
              </a:rPr>
              <a:t> </a:t>
            </a:r>
            <a:r>
              <a:rPr sz="2400" dirty="0">
                <a:solidFill>
                  <a:srgbClr val="404040"/>
                </a:solidFill>
                <a:latin typeface="Calibri"/>
                <a:cs typeface="Calibri"/>
              </a:rPr>
              <a:t>access</a:t>
            </a:r>
            <a:r>
              <a:rPr sz="2400" spc="-25" dirty="0">
                <a:solidFill>
                  <a:srgbClr val="404040"/>
                </a:solidFill>
                <a:latin typeface="Calibri"/>
                <a:cs typeface="Calibri"/>
              </a:rPr>
              <a:t> </a:t>
            </a:r>
            <a:r>
              <a:rPr sz="2400" dirty="0">
                <a:solidFill>
                  <a:srgbClr val="404040"/>
                </a:solidFill>
                <a:latin typeface="Calibri"/>
                <a:cs typeface="Calibri"/>
              </a:rPr>
              <a:t>in</a:t>
            </a:r>
            <a:r>
              <a:rPr sz="2400" spc="-5" dirty="0">
                <a:solidFill>
                  <a:srgbClr val="404040"/>
                </a:solidFill>
                <a:latin typeface="Calibri"/>
                <a:cs typeface="Calibri"/>
              </a:rPr>
              <a:t> </a:t>
            </a:r>
            <a:r>
              <a:rPr sz="2400" dirty="0">
                <a:solidFill>
                  <a:srgbClr val="404040"/>
                </a:solidFill>
                <a:latin typeface="Calibri"/>
                <a:cs typeface="Calibri"/>
              </a:rPr>
              <a:t>magnetic</a:t>
            </a:r>
            <a:r>
              <a:rPr sz="2400" spc="-30" dirty="0">
                <a:solidFill>
                  <a:srgbClr val="404040"/>
                </a:solidFill>
                <a:latin typeface="Calibri"/>
                <a:cs typeface="Calibri"/>
              </a:rPr>
              <a:t> </a:t>
            </a:r>
            <a:r>
              <a:rPr sz="2400" spc="-20" dirty="0">
                <a:solidFill>
                  <a:srgbClr val="404040"/>
                </a:solidFill>
                <a:latin typeface="Calibri"/>
                <a:cs typeface="Calibri"/>
              </a:rPr>
              <a:t>memory.</a:t>
            </a:r>
            <a:endParaRPr sz="24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1041506" y="6541719"/>
            <a:ext cx="9398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9</a:t>
            </a:r>
            <a:endParaRPr sz="1050">
              <a:latin typeface="Calibri"/>
              <a:cs typeface="Calibri"/>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6058535" cy="756920"/>
          </a:xfrm>
          <a:prstGeom prst="rect">
            <a:avLst/>
          </a:prstGeom>
        </p:spPr>
        <p:txBody>
          <a:bodyPr vert="horz" wrap="square" lIns="0" tIns="12700" rIns="0" bIns="0" rtlCol="0">
            <a:spAutoFit/>
          </a:bodyPr>
          <a:lstStyle/>
          <a:p>
            <a:pPr marL="12700">
              <a:lnSpc>
                <a:spcPct val="100000"/>
              </a:lnSpc>
              <a:spcBef>
                <a:spcPts val="100"/>
              </a:spcBef>
            </a:pPr>
            <a:r>
              <a:rPr sz="4800" b="0" spc="-130" dirty="0" smtClean="0">
                <a:solidFill>
                  <a:srgbClr val="00AFEF"/>
                </a:solidFill>
                <a:latin typeface="Calibri Light"/>
                <a:cs typeface="Calibri Light"/>
              </a:rPr>
              <a:t> </a:t>
            </a:r>
            <a:r>
              <a:rPr sz="4800" b="0" spc="-35" dirty="0">
                <a:solidFill>
                  <a:srgbClr val="00AFEF"/>
                </a:solidFill>
                <a:latin typeface="Calibri Light"/>
                <a:cs typeface="Calibri Light"/>
              </a:rPr>
              <a:t>RAM</a:t>
            </a:r>
            <a:r>
              <a:rPr sz="4800" b="0" spc="-140" dirty="0">
                <a:solidFill>
                  <a:srgbClr val="00AFEF"/>
                </a:solidFill>
                <a:latin typeface="Calibri Light"/>
                <a:cs typeface="Calibri Light"/>
              </a:rPr>
              <a:t> </a:t>
            </a:r>
            <a:r>
              <a:rPr sz="4800" b="0" spc="-50" dirty="0">
                <a:solidFill>
                  <a:srgbClr val="00AFEF"/>
                </a:solidFill>
                <a:latin typeface="Calibri Light"/>
                <a:cs typeface="Calibri Light"/>
              </a:rPr>
              <a:t>technology</a:t>
            </a:r>
            <a:endParaRPr sz="4800" dirty="0">
              <a:latin typeface="Calibri Light"/>
              <a:cs typeface="Calibri Light"/>
            </a:endParaRPr>
          </a:p>
        </p:txBody>
      </p:sp>
      <p:sp>
        <p:nvSpPr>
          <p:cNvPr id="7" name="object 7"/>
          <p:cNvSpPr txBox="1"/>
          <p:nvPr/>
        </p:nvSpPr>
        <p:spPr>
          <a:xfrm>
            <a:off x="1084580" y="1681099"/>
            <a:ext cx="9950450" cy="2054225"/>
          </a:xfrm>
          <a:prstGeom prst="rect">
            <a:avLst/>
          </a:prstGeom>
        </p:spPr>
        <p:txBody>
          <a:bodyPr vert="horz" wrap="square" lIns="0" tIns="154305" rIns="0" bIns="0" rtlCol="0">
            <a:spAutoFit/>
          </a:bodyPr>
          <a:lstStyle/>
          <a:p>
            <a:pPr marL="323850" indent="-311150">
              <a:lnSpc>
                <a:spcPct val="100000"/>
              </a:lnSpc>
              <a:spcBef>
                <a:spcPts val="1215"/>
              </a:spcBef>
              <a:buClr>
                <a:srgbClr val="E38312"/>
              </a:buClr>
              <a:buFont typeface="Wingdings"/>
              <a:buChar char=""/>
              <a:tabLst>
                <a:tab pos="323850" algn="l"/>
              </a:tabLst>
            </a:pPr>
            <a:r>
              <a:rPr sz="2400" spc="-10" dirty="0">
                <a:solidFill>
                  <a:srgbClr val="404040"/>
                </a:solidFill>
                <a:latin typeface="Calibri"/>
                <a:cs typeface="Calibri"/>
              </a:rPr>
              <a:t>RAM is realized by different technologies.</a:t>
            </a:r>
          </a:p>
          <a:p>
            <a:pPr marL="323850" indent="-311150">
              <a:lnSpc>
                <a:spcPct val="100000"/>
              </a:lnSpc>
              <a:spcBef>
                <a:spcPts val="1115"/>
              </a:spcBef>
              <a:buClr>
                <a:srgbClr val="E38312"/>
              </a:buClr>
              <a:buFont typeface="Wingdings"/>
              <a:buChar char=""/>
              <a:tabLst>
                <a:tab pos="323850" algn="l"/>
              </a:tabLst>
            </a:pPr>
            <a:r>
              <a:rPr sz="2400" spc="-10" dirty="0">
                <a:solidFill>
                  <a:srgbClr val="404040"/>
                </a:solidFill>
                <a:latin typeface="Calibri"/>
                <a:cs typeface="Calibri"/>
              </a:rPr>
              <a:t>The fastest type is SRAM which stands for Static RAM.</a:t>
            </a:r>
          </a:p>
          <a:p>
            <a:pPr marL="323850" indent="-311150">
              <a:lnSpc>
                <a:spcPct val="100000"/>
              </a:lnSpc>
              <a:spcBef>
                <a:spcPts val="1120"/>
              </a:spcBef>
              <a:buClr>
                <a:srgbClr val="E38312"/>
              </a:buClr>
              <a:buFont typeface="Wingdings"/>
              <a:buChar char=""/>
              <a:tabLst>
                <a:tab pos="323850" algn="l"/>
              </a:tabLst>
            </a:pPr>
            <a:r>
              <a:rPr sz="2400" spc="-10" dirty="0">
                <a:solidFill>
                  <a:srgbClr val="404040"/>
                </a:solidFill>
                <a:latin typeface="Calibri"/>
                <a:cs typeface="Calibri"/>
              </a:rPr>
              <a:t>In this type, storage is in the form of a voltage.</a:t>
            </a:r>
          </a:p>
          <a:p>
            <a:pPr marL="323850" indent="-311150">
              <a:lnSpc>
                <a:spcPct val="100000"/>
              </a:lnSpc>
              <a:spcBef>
                <a:spcPts val="1100"/>
              </a:spcBef>
              <a:buClr>
                <a:srgbClr val="E38312"/>
              </a:buClr>
              <a:buFont typeface="Wingdings"/>
              <a:buChar char=""/>
              <a:tabLst>
                <a:tab pos="323850" algn="l"/>
              </a:tabLst>
            </a:pPr>
            <a:r>
              <a:rPr sz="2400" spc="-10" dirty="0">
                <a:solidFill>
                  <a:srgbClr val="404040"/>
                </a:solidFill>
                <a:latin typeface="Calibri"/>
                <a:cs typeface="Calibri"/>
              </a:rPr>
              <a:t>So the content remains stable or static, as long as power supply is maintained</a:t>
            </a:r>
            <a:r>
              <a:rPr sz="2000" spc="-5" dirty="0">
                <a:solidFill>
                  <a:srgbClr val="404040"/>
                </a:solidFill>
                <a:latin typeface="Calibri"/>
                <a:cs typeface="Calibri"/>
              </a:rPr>
              <a:t>.</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10</a:t>
            </a:r>
            <a:endParaRPr sz="1050">
              <a:latin typeface="Calibri"/>
              <a:cs typeface="Calibri"/>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1009853"/>
            <a:ext cx="4675505" cy="757555"/>
          </a:xfrm>
          <a:prstGeom prst="rect">
            <a:avLst/>
          </a:prstGeom>
        </p:spPr>
        <p:txBody>
          <a:bodyPr vert="horz" wrap="square" lIns="0" tIns="12700" rIns="0" bIns="0" rtlCol="0">
            <a:spAutoFit/>
          </a:bodyPr>
          <a:lstStyle/>
          <a:p>
            <a:pPr marL="12700">
              <a:lnSpc>
                <a:spcPct val="100000"/>
              </a:lnSpc>
              <a:spcBef>
                <a:spcPts val="100"/>
              </a:spcBef>
            </a:pPr>
            <a:r>
              <a:rPr sz="4800" b="0" spc="-130" dirty="0" smtClean="0">
                <a:solidFill>
                  <a:srgbClr val="00AFEF"/>
                </a:solidFill>
                <a:latin typeface="Calibri Light"/>
                <a:cs typeface="Calibri Light"/>
              </a:rPr>
              <a:t> </a:t>
            </a:r>
            <a:r>
              <a:rPr sz="4800" b="0" spc="-40" dirty="0" smtClean="0">
                <a:solidFill>
                  <a:srgbClr val="00AFEF"/>
                </a:solidFill>
                <a:latin typeface="Calibri Light"/>
                <a:cs typeface="Calibri Light"/>
              </a:rPr>
              <a:t>S</a:t>
            </a:r>
            <a:r>
              <a:rPr lang="en-IN" sz="4800" b="0" spc="-40" dirty="0" err="1" smtClean="0">
                <a:solidFill>
                  <a:srgbClr val="00AFEF"/>
                </a:solidFill>
                <a:latin typeface="Calibri Light"/>
                <a:cs typeface="Calibri Light"/>
              </a:rPr>
              <a:t>tatic</a:t>
            </a:r>
            <a:r>
              <a:rPr lang="en-IN" sz="4800" b="0" spc="-40" dirty="0" smtClean="0">
                <a:solidFill>
                  <a:srgbClr val="00AFEF"/>
                </a:solidFill>
                <a:latin typeface="Calibri Light"/>
                <a:cs typeface="Calibri Light"/>
              </a:rPr>
              <a:t> </a:t>
            </a:r>
            <a:r>
              <a:rPr sz="4800" b="0" spc="-40" dirty="0" smtClean="0">
                <a:solidFill>
                  <a:srgbClr val="00AFEF"/>
                </a:solidFill>
                <a:latin typeface="Calibri Light"/>
                <a:cs typeface="Calibri Light"/>
              </a:rPr>
              <a:t>RAM</a:t>
            </a:r>
            <a:r>
              <a:rPr sz="4800" b="0" spc="-150" dirty="0" smtClean="0">
                <a:solidFill>
                  <a:srgbClr val="00AFEF"/>
                </a:solidFill>
                <a:latin typeface="Calibri Light"/>
                <a:cs typeface="Calibri Light"/>
              </a:rPr>
              <a:t> </a:t>
            </a:r>
            <a:r>
              <a:rPr sz="4800" b="0" spc="-40" dirty="0">
                <a:solidFill>
                  <a:srgbClr val="00AFEF"/>
                </a:solidFill>
                <a:latin typeface="Calibri Light"/>
                <a:cs typeface="Calibri Light"/>
              </a:rPr>
              <a:t>chip</a:t>
            </a:r>
            <a:endParaRPr sz="4800" dirty="0">
              <a:latin typeface="Calibri Light"/>
              <a:cs typeface="Calibri Light"/>
            </a:endParaRPr>
          </a:p>
        </p:txBody>
      </p:sp>
      <p:sp>
        <p:nvSpPr>
          <p:cNvPr id="7" name="object 7"/>
          <p:cNvSpPr txBox="1"/>
          <p:nvPr/>
        </p:nvSpPr>
        <p:spPr>
          <a:xfrm>
            <a:off x="1001452" y="2464868"/>
            <a:ext cx="6272183" cy="1931106"/>
          </a:xfrm>
          <a:prstGeom prst="rect">
            <a:avLst/>
          </a:prstGeom>
        </p:spPr>
        <p:txBody>
          <a:bodyPr vert="horz" wrap="square" lIns="0" tIns="47625" rIns="0" bIns="0" rtlCol="0">
            <a:spAutoFit/>
          </a:bodyPr>
          <a:lstStyle/>
          <a:p>
            <a:pPr marL="104139" marR="250825" indent="-92075">
              <a:lnSpc>
                <a:spcPts val="2160"/>
              </a:lnSpc>
              <a:spcBef>
                <a:spcPts val="375"/>
              </a:spcBef>
              <a:buClr>
                <a:srgbClr val="E38312"/>
              </a:buClr>
              <a:buFont typeface="Wingdings"/>
              <a:buChar char=""/>
              <a:tabLst>
                <a:tab pos="270510" algn="l"/>
              </a:tabLst>
            </a:pPr>
            <a:r>
              <a:rPr sz="2400" dirty="0">
                <a:solidFill>
                  <a:srgbClr val="404040"/>
                </a:solidFill>
                <a:latin typeface="Calibri"/>
                <a:cs typeface="Calibri"/>
              </a:rPr>
              <a:t>SRAM chip </a:t>
            </a:r>
            <a:r>
              <a:rPr sz="2400" spc="-5" dirty="0">
                <a:solidFill>
                  <a:srgbClr val="404040"/>
                </a:solidFill>
                <a:latin typeface="Calibri"/>
                <a:cs typeface="Calibri"/>
              </a:rPr>
              <a:t>with </a:t>
            </a:r>
            <a:r>
              <a:rPr sz="2400" dirty="0">
                <a:solidFill>
                  <a:srgbClr val="404040"/>
                </a:solidFill>
                <a:latin typeface="Calibri"/>
                <a:cs typeface="Calibri"/>
              </a:rPr>
              <a:t>a </a:t>
            </a:r>
            <a:r>
              <a:rPr sz="2400" spc="-5" dirty="0">
                <a:solidFill>
                  <a:srgbClr val="404040"/>
                </a:solidFill>
                <a:latin typeface="Calibri"/>
                <a:cs typeface="Calibri"/>
              </a:rPr>
              <a:t>32-bit address </a:t>
            </a:r>
            <a:r>
              <a:rPr sz="2400" dirty="0">
                <a:solidFill>
                  <a:srgbClr val="404040"/>
                </a:solidFill>
                <a:latin typeface="Calibri"/>
                <a:cs typeface="Calibri"/>
              </a:rPr>
              <a:t>bus and an </a:t>
            </a:r>
            <a:r>
              <a:rPr sz="2400" spc="-5" dirty="0">
                <a:solidFill>
                  <a:srgbClr val="404040"/>
                </a:solidFill>
                <a:latin typeface="Calibri"/>
                <a:cs typeface="Calibri"/>
              </a:rPr>
              <a:t>8-bit </a:t>
            </a:r>
            <a:r>
              <a:rPr sz="2400" spc="-440" dirty="0">
                <a:solidFill>
                  <a:srgbClr val="404040"/>
                </a:solidFill>
                <a:latin typeface="Calibri"/>
                <a:cs typeface="Calibri"/>
              </a:rPr>
              <a:t> </a:t>
            </a:r>
            <a:r>
              <a:rPr sz="2400" spc="-15" dirty="0">
                <a:solidFill>
                  <a:srgbClr val="404040"/>
                </a:solidFill>
                <a:latin typeface="Calibri"/>
                <a:cs typeface="Calibri"/>
              </a:rPr>
              <a:t>data </a:t>
            </a:r>
            <a:r>
              <a:rPr sz="2400" dirty="0">
                <a:solidFill>
                  <a:srgbClr val="404040"/>
                </a:solidFill>
                <a:latin typeface="Calibri"/>
                <a:cs typeface="Calibri"/>
              </a:rPr>
              <a:t>bus and the </a:t>
            </a:r>
            <a:r>
              <a:rPr sz="2400" spc="-10" dirty="0">
                <a:solidFill>
                  <a:srgbClr val="404040"/>
                </a:solidFill>
                <a:latin typeface="Calibri"/>
                <a:cs typeface="Calibri"/>
              </a:rPr>
              <a:t>control </a:t>
            </a:r>
            <a:r>
              <a:rPr sz="2400" dirty="0">
                <a:solidFill>
                  <a:srgbClr val="404040"/>
                </a:solidFill>
                <a:latin typeface="Calibri"/>
                <a:cs typeface="Calibri"/>
              </a:rPr>
              <a:t>signals </a:t>
            </a:r>
            <a:r>
              <a:rPr sz="2400" spc="-15" dirty="0">
                <a:solidFill>
                  <a:srgbClr val="404040"/>
                </a:solidFill>
                <a:latin typeface="Calibri"/>
                <a:cs typeface="Calibri"/>
              </a:rPr>
              <a:t>for </a:t>
            </a:r>
            <a:r>
              <a:rPr sz="2400" spc="-5" dirty="0">
                <a:solidFill>
                  <a:srgbClr val="404040"/>
                </a:solidFill>
                <a:latin typeface="Calibri"/>
                <a:cs typeface="Calibri"/>
              </a:rPr>
              <a:t>reading </a:t>
            </a:r>
            <a:r>
              <a:rPr sz="2400" dirty="0">
                <a:solidFill>
                  <a:srgbClr val="404040"/>
                </a:solidFill>
                <a:latin typeface="Calibri"/>
                <a:cs typeface="Calibri"/>
              </a:rPr>
              <a:t>and </a:t>
            </a:r>
            <a:r>
              <a:rPr sz="2400" spc="5" dirty="0">
                <a:solidFill>
                  <a:srgbClr val="404040"/>
                </a:solidFill>
                <a:latin typeface="Calibri"/>
                <a:cs typeface="Calibri"/>
              </a:rPr>
              <a:t> </a:t>
            </a:r>
            <a:r>
              <a:rPr sz="2400" spc="-5" dirty="0">
                <a:solidFill>
                  <a:srgbClr val="404040"/>
                </a:solidFill>
                <a:latin typeface="Calibri"/>
                <a:cs typeface="Calibri"/>
              </a:rPr>
              <a:t>writing.</a:t>
            </a:r>
            <a:endParaRPr sz="2400" dirty="0">
              <a:latin typeface="Calibri"/>
              <a:cs typeface="Calibri"/>
            </a:endParaRPr>
          </a:p>
          <a:p>
            <a:pPr marL="104139" marR="5080" indent="-92075">
              <a:lnSpc>
                <a:spcPts val="2160"/>
              </a:lnSpc>
              <a:spcBef>
                <a:spcPts val="1405"/>
              </a:spcBef>
              <a:buClr>
                <a:srgbClr val="E38312"/>
              </a:buClr>
              <a:buFont typeface="Wingdings"/>
              <a:buChar char=""/>
              <a:tabLst>
                <a:tab pos="270510" algn="l"/>
              </a:tabLst>
            </a:pPr>
            <a:r>
              <a:rPr sz="2400" spc="-10" dirty="0">
                <a:solidFill>
                  <a:srgbClr val="404040"/>
                </a:solidFill>
                <a:latin typeface="Calibri"/>
                <a:cs typeface="Calibri"/>
              </a:rPr>
              <a:t>There</a:t>
            </a:r>
            <a:r>
              <a:rPr sz="2400" spc="1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dirty="0">
                <a:solidFill>
                  <a:srgbClr val="404040"/>
                </a:solidFill>
                <a:latin typeface="Calibri"/>
                <a:cs typeface="Calibri"/>
              </a:rPr>
              <a:t>also</a:t>
            </a:r>
            <a:r>
              <a:rPr sz="2400" spc="5" dirty="0">
                <a:solidFill>
                  <a:srgbClr val="404040"/>
                </a:solidFill>
                <a:latin typeface="Calibri"/>
                <a:cs typeface="Calibri"/>
              </a:rPr>
              <a:t> </a:t>
            </a:r>
            <a:r>
              <a:rPr sz="2400" dirty="0">
                <a:solidFill>
                  <a:srgbClr val="404040"/>
                </a:solidFill>
                <a:latin typeface="Calibri"/>
                <a:cs typeface="Calibri"/>
              </a:rPr>
              <a:t>a</a:t>
            </a:r>
            <a:r>
              <a:rPr sz="2400" spc="-10" dirty="0">
                <a:solidFill>
                  <a:srgbClr val="404040"/>
                </a:solidFill>
                <a:latin typeface="Calibri"/>
                <a:cs typeface="Calibri"/>
              </a:rPr>
              <a:t> </a:t>
            </a:r>
            <a:r>
              <a:rPr sz="2400" i="1" spc="-5" dirty="0">
                <a:solidFill>
                  <a:srgbClr val="404040"/>
                </a:solidFill>
                <a:latin typeface="Calibri"/>
                <a:cs typeface="Calibri"/>
              </a:rPr>
              <a:t>CS </a:t>
            </a:r>
            <a:r>
              <a:rPr sz="2400" dirty="0">
                <a:solidFill>
                  <a:srgbClr val="404040"/>
                </a:solidFill>
                <a:latin typeface="Calibri"/>
                <a:cs typeface="Calibri"/>
              </a:rPr>
              <a:t>(Chip</a:t>
            </a:r>
            <a:r>
              <a:rPr sz="2400" spc="-10" dirty="0">
                <a:solidFill>
                  <a:srgbClr val="404040"/>
                </a:solidFill>
                <a:latin typeface="Calibri"/>
                <a:cs typeface="Calibri"/>
              </a:rPr>
              <a:t> </a:t>
            </a:r>
            <a:r>
              <a:rPr sz="2400" spc="-5" dirty="0">
                <a:solidFill>
                  <a:srgbClr val="404040"/>
                </a:solidFill>
                <a:latin typeface="Calibri"/>
                <a:cs typeface="Calibri"/>
              </a:rPr>
              <a:t>Select)</a:t>
            </a:r>
            <a:r>
              <a:rPr sz="2400" spc="15" dirty="0">
                <a:solidFill>
                  <a:srgbClr val="404040"/>
                </a:solidFill>
                <a:latin typeface="Calibri"/>
                <a:cs typeface="Calibri"/>
              </a:rPr>
              <a:t> </a:t>
            </a:r>
            <a:r>
              <a:rPr sz="2400" spc="-5" dirty="0">
                <a:solidFill>
                  <a:srgbClr val="404040"/>
                </a:solidFill>
                <a:latin typeface="Calibri"/>
                <a:cs typeface="Calibri"/>
              </a:rPr>
              <a:t>signal</a:t>
            </a:r>
            <a:r>
              <a:rPr sz="2400" dirty="0">
                <a:solidFill>
                  <a:srgbClr val="404040"/>
                </a:solidFill>
                <a:latin typeface="Calibri"/>
                <a:cs typeface="Calibri"/>
              </a:rPr>
              <a:t> </a:t>
            </a:r>
            <a:r>
              <a:rPr sz="2400" spc="-5" dirty="0">
                <a:solidFill>
                  <a:srgbClr val="404040"/>
                </a:solidFill>
                <a:latin typeface="Calibri"/>
                <a:cs typeface="Calibri"/>
              </a:rPr>
              <a:t>which</a:t>
            </a:r>
            <a:r>
              <a:rPr sz="2400" dirty="0">
                <a:solidFill>
                  <a:srgbClr val="404040"/>
                </a:solidFill>
                <a:latin typeface="Calibri"/>
                <a:cs typeface="Calibri"/>
              </a:rPr>
              <a:t> </a:t>
            </a:r>
            <a:r>
              <a:rPr sz="2400" spc="-5" dirty="0">
                <a:solidFill>
                  <a:srgbClr val="404040"/>
                </a:solidFill>
                <a:latin typeface="Calibri"/>
                <a:cs typeface="Calibri"/>
              </a:rPr>
              <a:t>ensures </a:t>
            </a:r>
            <a:r>
              <a:rPr sz="2400" spc="-440" dirty="0">
                <a:solidFill>
                  <a:srgbClr val="404040"/>
                </a:solidFill>
                <a:latin typeface="Calibri"/>
                <a:cs typeface="Calibri"/>
              </a:rPr>
              <a:t> </a:t>
            </a:r>
            <a:r>
              <a:rPr sz="2400" spc="-5" dirty="0">
                <a:solidFill>
                  <a:srgbClr val="404040"/>
                </a:solidFill>
                <a:latin typeface="Calibri"/>
                <a:cs typeface="Calibri"/>
              </a:rPr>
              <a:t>that </a:t>
            </a:r>
            <a:r>
              <a:rPr sz="2400" dirty="0">
                <a:solidFill>
                  <a:srgbClr val="404040"/>
                </a:solidFill>
                <a:latin typeface="Calibri"/>
                <a:cs typeface="Calibri"/>
              </a:rPr>
              <a:t>this</a:t>
            </a:r>
            <a:r>
              <a:rPr sz="2400" spc="5" dirty="0">
                <a:solidFill>
                  <a:srgbClr val="404040"/>
                </a:solidFill>
                <a:latin typeface="Calibri"/>
                <a:cs typeface="Calibri"/>
              </a:rPr>
              <a:t> </a:t>
            </a:r>
            <a:r>
              <a:rPr sz="2400" dirty="0">
                <a:solidFill>
                  <a:srgbClr val="404040"/>
                </a:solidFill>
                <a:latin typeface="Calibri"/>
                <a:cs typeface="Calibri"/>
              </a:rPr>
              <a:t>chip</a:t>
            </a:r>
            <a:r>
              <a:rPr sz="2400" spc="-20"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dirty="0">
                <a:solidFill>
                  <a:srgbClr val="404040"/>
                </a:solidFill>
                <a:latin typeface="Calibri"/>
                <a:cs typeface="Calibri"/>
              </a:rPr>
              <a:t>accessed</a:t>
            </a:r>
            <a:r>
              <a:rPr sz="2400" spc="15" dirty="0">
                <a:solidFill>
                  <a:srgbClr val="404040"/>
                </a:solidFill>
                <a:latin typeface="Calibri"/>
                <a:cs typeface="Calibri"/>
              </a:rPr>
              <a:t> </a:t>
            </a:r>
            <a:r>
              <a:rPr sz="2400" spc="-5" dirty="0">
                <a:solidFill>
                  <a:srgbClr val="404040"/>
                </a:solidFill>
                <a:latin typeface="Calibri"/>
                <a:cs typeface="Calibri"/>
              </a:rPr>
              <a:t>only</a:t>
            </a:r>
            <a:r>
              <a:rPr sz="2400" spc="-20" dirty="0">
                <a:solidFill>
                  <a:srgbClr val="404040"/>
                </a:solidFill>
                <a:latin typeface="Calibri"/>
                <a:cs typeface="Calibri"/>
              </a:rPr>
              <a:t> </a:t>
            </a:r>
            <a:r>
              <a:rPr sz="2400" spc="-10" dirty="0">
                <a:solidFill>
                  <a:srgbClr val="404040"/>
                </a:solidFill>
                <a:latin typeface="Calibri"/>
                <a:cs typeface="Calibri"/>
              </a:rPr>
              <a:t>after</a:t>
            </a:r>
            <a:r>
              <a:rPr sz="2400" spc="10" dirty="0">
                <a:solidFill>
                  <a:srgbClr val="404040"/>
                </a:solidFill>
                <a:latin typeface="Calibri"/>
                <a:cs typeface="Calibri"/>
              </a:rPr>
              <a:t> </a:t>
            </a:r>
            <a:r>
              <a:rPr sz="2400" dirty="0">
                <a:solidFill>
                  <a:srgbClr val="404040"/>
                </a:solidFill>
                <a:latin typeface="Calibri"/>
                <a:cs typeface="Calibri"/>
              </a:rPr>
              <a:t>it </a:t>
            </a:r>
            <a:r>
              <a:rPr sz="2400" spc="-5" dirty="0">
                <a:solidFill>
                  <a:srgbClr val="404040"/>
                </a:solidFill>
                <a:latin typeface="Calibri"/>
                <a:cs typeface="Calibri"/>
              </a:rPr>
              <a:t>is</a:t>
            </a:r>
            <a:r>
              <a:rPr sz="2400" spc="10" dirty="0">
                <a:solidFill>
                  <a:srgbClr val="404040"/>
                </a:solidFill>
                <a:latin typeface="Calibri"/>
                <a:cs typeface="Calibri"/>
              </a:rPr>
              <a:t> </a:t>
            </a:r>
            <a:r>
              <a:rPr sz="2400" spc="-5" dirty="0">
                <a:solidFill>
                  <a:srgbClr val="404040"/>
                </a:solidFill>
                <a:latin typeface="Calibri"/>
                <a:cs typeface="Calibri"/>
              </a:rPr>
              <a:t>selected.</a:t>
            </a:r>
            <a:endParaRPr sz="24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11</a:t>
            </a:r>
            <a:endParaRPr sz="1050">
              <a:latin typeface="Calibri"/>
              <a:cs typeface="Calibri"/>
            </a:endParaRPr>
          </a:p>
        </p:txBody>
      </p:sp>
      <p:pic>
        <p:nvPicPr>
          <p:cNvPr id="11" name="object 11"/>
          <p:cNvPicPr/>
          <p:nvPr/>
        </p:nvPicPr>
        <p:blipFill>
          <a:blip r:embed="rId2" cstate="print"/>
          <a:stretch>
            <a:fillRect/>
          </a:stretch>
        </p:blipFill>
        <p:spPr>
          <a:xfrm>
            <a:off x="7994997" y="2269513"/>
            <a:ext cx="3165254" cy="327355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941654"/>
            <a:ext cx="4621530" cy="757555"/>
          </a:xfrm>
          <a:prstGeom prst="rect">
            <a:avLst/>
          </a:prstGeom>
        </p:spPr>
        <p:txBody>
          <a:bodyPr vert="horz" wrap="square" lIns="0" tIns="12700" rIns="0" bIns="0" rtlCol="0">
            <a:spAutoFit/>
          </a:bodyPr>
          <a:lstStyle/>
          <a:p>
            <a:pPr marL="12700">
              <a:lnSpc>
                <a:spcPct val="100000"/>
              </a:lnSpc>
              <a:spcBef>
                <a:spcPts val="100"/>
              </a:spcBef>
            </a:pPr>
            <a:r>
              <a:rPr sz="4800" b="0" spc="-40" dirty="0">
                <a:solidFill>
                  <a:srgbClr val="00AFEF"/>
                </a:solidFill>
                <a:latin typeface="Calibri Light"/>
                <a:cs typeface="Calibri Light"/>
              </a:rPr>
              <a:t>Memory</a:t>
            </a:r>
            <a:r>
              <a:rPr sz="4800" b="0" spc="-160" dirty="0">
                <a:solidFill>
                  <a:srgbClr val="00AFEF"/>
                </a:solidFill>
                <a:latin typeface="Calibri Light"/>
                <a:cs typeface="Calibri Light"/>
              </a:rPr>
              <a:t> </a:t>
            </a:r>
            <a:r>
              <a:rPr sz="4800" b="0" spc="-55" dirty="0">
                <a:solidFill>
                  <a:srgbClr val="00AFEF"/>
                </a:solidFill>
                <a:latin typeface="Calibri Light"/>
                <a:cs typeface="Calibri Light"/>
              </a:rPr>
              <a:t>read</a:t>
            </a:r>
            <a:r>
              <a:rPr sz="4800" b="0" spc="-120" dirty="0">
                <a:solidFill>
                  <a:srgbClr val="00AFEF"/>
                </a:solidFill>
                <a:latin typeface="Calibri Light"/>
                <a:cs typeface="Calibri Light"/>
              </a:rPr>
              <a:t> </a:t>
            </a:r>
            <a:r>
              <a:rPr sz="4800" b="0" spc="-55" dirty="0">
                <a:solidFill>
                  <a:srgbClr val="00AFEF"/>
                </a:solidFill>
                <a:latin typeface="Calibri Light"/>
                <a:cs typeface="Calibri Light"/>
              </a:rPr>
              <a:t>cycle</a:t>
            </a:r>
            <a:endParaRPr sz="4800" dirty="0">
              <a:latin typeface="Calibri Light"/>
              <a:cs typeface="Calibri Light"/>
            </a:endParaRPr>
          </a:p>
        </p:txBody>
      </p:sp>
      <p:sp>
        <p:nvSpPr>
          <p:cNvPr id="7" name="object 7"/>
          <p:cNvSpPr txBox="1"/>
          <p:nvPr/>
        </p:nvSpPr>
        <p:spPr>
          <a:xfrm>
            <a:off x="1084580" y="1684756"/>
            <a:ext cx="9039860" cy="3362459"/>
          </a:xfrm>
          <a:prstGeom prst="rect">
            <a:avLst/>
          </a:prstGeom>
        </p:spPr>
        <p:txBody>
          <a:bodyPr vert="horz" wrap="square" lIns="0" tIns="160020" rIns="0" bIns="0" rtlCol="0">
            <a:spAutoFit/>
          </a:bodyPr>
          <a:lstStyle/>
          <a:p>
            <a:pPr marL="12065">
              <a:lnSpc>
                <a:spcPct val="100000"/>
              </a:lnSpc>
              <a:spcBef>
                <a:spcPts val="1260"/>
              </a:spcBef>
              <a:buClr>
                <a:srgbClr val="E38312"/>
              </a:buClr>
              <a:buSzPct val="95000"/>
              <a:tabLst>
                <a:tab pos="215900" algn="l"/>
              </a:tabLst>
            </a:pP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reading</a:t>
            </a:r>
            <a:r>
              <a:rPr sz="2400" spc="-10" dirty="0">
                <a:solidFill>
                  <a:srgbClr val="404040"/>
                </a:solidFill>
                <a:latin typeface="Calibri"/>
                <a:cs typeface="Calibri"/>
              </a:rPr>
              <a:t> </a:t>
            </a:r>
            <a:r>
              <a:rPr sz="2400" spc="-5" dirty="0">
                <a:solidFill>
                  <a:srgbClr val="404040"/>
                </a:solidFill>
                <a:latin typeface="Calibri"/>
                <a:cs typeface="Calibri"/>
              </a:rPr>
              <a:t>cycle</a:t>
            </a:r>
            <a:r>
              <a:rPr sz="2400" spc="-10" dirty="0">
                <a:solidFill>
                  <a:srgbClr val="404040"/>
                </a:solidFill>
                <a:latin typeface="Calibri"/>
                <a:cs typeface="Calibri"/>
              </a:rPr>
              <a:t> </a:t>
            </a:r>
            <a:r>
              <a:rPr sz="2400" spc="-5" dirty="0">
                <a:solidFill>
                  <a:srgbClr val="404040"/>
                </a:solidFill>
                <a:latin typeface="Calibri"/>
                <a:cs typeface="Calibri"/>
              </a:rPr>
              <a:t>of one byte of </a:t>
            </a:r>
            <a:r>
              <a:rPr sz="2400" spc="-15" dirty="0">
                <a:solidFill>
                  <a:srgbClr val="404040"/>
                </a:solidFill>
                <a:latin typeface="Calibri"/>
                <a:cs typeface="Calibri"/>
              </a:rPr>
              <a:t>data</a:t>
            </a:r>
            <a:r>
              <a:rPr sz="2400" spc="5" dirty="0">
                <a:solidFill>
                  <a:srgbClr val="404040"/>
                </a:solidFill>
                <a:latin typeface="Calibri"/>
                <a:cs typeface="Calibri"/>
              </a:rPr>
              <a:t> </a:t>
            </a:r>
            <a:r>
              <a:rPr sz="2400" spc="-15" dirty="0">
                <a:solidFill>
                  <a:srgbClr val="404040"/>
                </a:solidFill>
                <a:latin typeface="Calibri"/>
                <a:cs typeface="Calibri"/>
              </a:rPr>
              <a:t>from</a:t>
            </a:r>
            <a:r>
              <a:rPr sz="2400" dirty="0">
                <a:solidFill>
                  <a:srgbClr val="404040"/>
                </a:solidFill>
                <a:latin typeface="Calibri"/>
                <a:cs typeface="Calibri"/>
              </a:rPr>
              <a:t> this</a:t>
            </a:r>
            <a:r>
              <a:rPr sz="2400" spc="10" dirty="0">
                <a:solidFill>
                  <a:srgbClr val="404040"/>
                </a:solidFill>
                <a:latin typeface="Calibri"/>
                <a:cs typeface="Calibri"/>
              </a:rPr>
              <a:t> </a:t>
            </a:r>
            <a:r>
              <a:rPr sz="2400" dirty="0">
                <a:solidFill>
                  <a:srgbClr val="404040"/>
                </a:solidFill>
                <a:latin typeface="Calibri"/>
                <a:cs typeface="Calibri"/>
              </a:rPr>
              <a:t>SRAM</a:t>
            </a:r>
            <a:r>
              <a:rPr sz="2400" spc="-10" dirty="0">
                <a:solidFill>
                  <a:srgbClr val="404040"/>
                </a:solidFill>
                <a:latin typeface="Calibri"/>
                <a:cs typeface="Calibri"/>
              </a:rPr>
              <a:t> </a:t>
            </a:r>
            <a:r>
              <a:rPr sz="2400" dirty="0">
                <a:solidFill>
                  <a:srgbClr val="404040"/>
                </a:solidFill>
                <a:latin typeface="Calibri"/>
                <a:cs typeface="Calibri"/>
              </a:rPr>
              <a:t>chip </a:t>
            </a:r>
            <a:r>
              <a:rPr sz="2400" spc="-5" dirty="0">
                <a:solidFill>
                  <a:srgbClr val="404040"/>
                </a:solidFill>
                <a:latin typeface="Calibri"/>
                <a:cs typeface="Calibri"/>
              </a:rPr>
              <a:t>has</a:t>
            </a:r>
            <a:r>
              <a:rPr sz="2400" dirty="0">
                <a:solidFill>
                  <a:srgbClr val="404040"/>
                </a:solidFill>
                <a:latin typeface="Calibri"/>
                <a:cs typeface="Calibri"/>
              </a:rPr>
              <a:t> the</a:t>
            </a:r>
            <a:r>
              <a:rPr sz="2400" spc="5" dirty="0">
                <a:solidFill>
                  <a:srgbClr val="404040"/>
                </a:solidFill>
                <a:latin typeface="Calibri"/>
                <a:cs typeface="Calibri"/>
              </a:rPr>
              <a:t> </a:t>
            </a:r>
            <a:r>
              <a:rPr sz="2400" spc="-10" dirty="0">
                <a:solidFill>
                  <a:srgbClr val="404040"/>
                </a:solidFill>
                <a:latin typeface="Calibri"/>
                <a:cs typeface="Calibri"/>
              </a:rPr>
              <a:t>following </a:t>
            </a:r>
            <a:r>
              <a:rPr sz="2400" spc="-15" dirty="0">
                <a:solidFill>
                  <a:srgbClr val="404040"/>
                </a:solidFill>
                <a:latin typeface="Calibri"/>
                <a:cs typeface="Calibri"/>
              </a:rPr>
              <a:t>steps:</a:t>
            </a:r>
            <a:endParaRPr sz="2400" dirty="0">
              <a:latin typeface="Calibri"/>
              <a:cs typeface="Calibri"/>
            </a:endParaRPr>
          </a:p>
          <a:p>
            <a:pPr marL="215265" indent="-203200">
              <a:lnSpc>
                <a:spcPct val="100000"/>
              </a:lnSpc>
              <a:spcBef>
                <a:spcPts val="1165"/>
              </a:spcBef>
              <a:buClr>
                <a:srgbClr val="E38312"/>
              </a:buClr>
              <a:buSzPct val="95000"/>
              <a:buFont typeface="Wingdings"/>
              <a:buChar char=""/>
              <a:tabLst>
                <a:tab pos="215900" algn="l"/>
              </a:tabLst>
            </a:pPr>
            <a:r>
              <a:rPr sz="2400" spc="-5" dirty="0">
                <a:solidFill>
                  <a:srgbClr val="404040"/>
                </a:solidFill>
                <a:latin typeface="Calibri"/>
                <a:cs typeface="Calibri"/>
              </a:rPr>
              <a:t>The address of</a:t>
            </a:r>
            <a:r>
              <a:rPr sz="2400" dirty="0">
                <a:solidFill>
                  <a:srgbClr val="404040"/>
                </a:solidFill>
                <a:latin typeface="Calibri"/>
                <a:cs typeface="Calibri"/>
              </a:rPr>
              <a:t> the</a:t>
            </a:r>
            <a:r>
              <a:rPr sz="2400" spc="5" dirty="0">
                <a:solidFill>
                  <a:srgbClr val="404040"/>
                </a:solidFill>
                <a:latin typeface="Calibri"/>
                <a:cs typeface="Calibri"/>
              </a:rPr>
              <a:t> </a:t>
            </a:r>
            <a:r>
              <a:rPr sz="2400" spc="-5" dirty="0">
                <a:solidFill>
                  <a:srgbClr val="404040"/>
                </a:solidFill>
                <a:latin typeface="Calibri"/>
                <a:cs typeface="Calibri"/>
              </a:rPr>
              <a:t>location </a:t>
            </a:r>
            <a:r>
              <a:rPr sz="2400" dirty="0">
                <a:solidFill>
                  <a:srgbClr val="404040"/>
                </a:solidFill>
                <a:latin typeface="Calibri"/>
                <a:cs typeface="Calibri"/>
              </a:rPr>
              <a:t>whose</a:t>
            </a:r>
            <a:r>
              <a:rPr sz="2400" spc="-10" dirty="0">
                <a:solidFill>
                  <a:srgbClr val="404040"/>
                </a:solidFill>
                <a:latin typeface="Calibri"/>
                <a:cs typeface="Calibri"/>
              </a:rPr>
              <a:t> </a:t>
            </a:r>
            <a:r>
              <a:rPr sz="2400" spc="-15" dirty="0">
                <a:solidFill>
                  <a:srgbClr val="404040"/>
                </a:solidFill>
                <a:latin typeface="Calibri"/>
                <a:cs typeface="Calibri"/>
              </a:rPr>
              <a:t>content</a:t>
            </a:r>
            <a:r>
              <a:rPr sz="2400" spc="5"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15" dirty="0">
                <a:solidFill>
                  <a:srgbClr val="404040"/>
                </a:solidFill>
                <a:latin typeface="Calibri"/>
                <a:cs typeface="Calibri"/>
              </a:rPr>
              <a:t>to</a:t>
            </a:r>
            <a:r>
              <a:rPr sz="2400" dirty="0">
                <a:solidFill>
                  <a:srgbClr val="404040"/>
                </a:solidFill>
                <a:latin typeface="Calibri"/>
                <a:cs typeface="Calibri"/>
              </a:rPr>
              <a:t> be</a:t>
            </a:r>
            <a:r>
              <a:rPr sz="2400" spc="-5" dirty="0">
                <a:solidFill>
                  <a:srgbClr val="404040"/>
                </a:solidFill>
                <a:latin typeface="Calibri"/>
                <a:cs typeface="Calibri"/>
              </a:rPr>
              <a:t> read,</a:t>
            </a:r>
            <a:r>
              <a:rPr sz="2400" spc="10"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dirty="0">
                <a:solidFill>
                  <a:srgbClr val="404040"/>
                </a:solidFill>
                <a:latin typeface="Calibri"/>
                <a:cs typeface="Calibri"/>
              </a:rPr>
              <a:t>placed</a:t>
            </a:r>
            <a:r>
              <a:rPr sz="2400" spc="5" dirty="0">
                <a:solidFill>
                  <a:srgbClr val="404040"/>
                </a:solidFill>
                <a:latin typeface="Calibri"/>
                <a:cs typeface="Calibri"/>
              </a:rPr>
              <a:t> </a:t>
            </a:r>
            <a:r>
              <a:rPr sz="2400" spc="-5" dirty="0">
                <a:solidFill>
                  <a:srgbClr val="404040"/>
                </a:solidFill>
                <a:latin typeface="Calibri"/>
                <a:cs typeface="Calibri"/>
              </a:rPr>
              <a:t>on</a:t>
            </a:r>
            <a:r>
              <a:rPr sz="2400" spc="-10"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5" dirty="0">
                <a:solidFill>
                  <a:srgbClr val="404040"/>
                </a:solidFill>
                <a:latin typeface="Calibri"/>
                <a:cs typeface="Calibri"/>
              </a:rPr>
              <a:t>address bus.</a:t>
            </a:r>
            <a:endParaRPr sz="2400" dirty="0">
              <a:latin typeface="Calibri"/>
              <a:cs typeface="Calibri"/>
            </a:endParaRPr>
          </a:p>
          <a:p>
            <a:pPr marL="215265" indent="-203200">
              <a:lnSpc>
                <a:spcPct val="100000"/>
              </a:lnSpc>
              <a:spcBef>
                <a:spcPts val="1155"/>
              </a:spcBef>
              <a:buClr>
                <a:srgbClr val="E38312"/>
              </a:buClr>
              <a:buSzPct val="95000"/>
              <a:buFont typeface="Wingdings"/>
              <a:buChar char=""/>
              <a:tabLst>
                <a:tab pos="215900" algn="l"/>
              </a:tabLst>
            </a:pPr>
            <a:r>
              <a:rPr sz="2400" spc="-5" dirty="0">
                <a:solidFill>
                  <a:srgbClr val="404040"/>
                </a:solidFill>
                <a:latin typeface="Calibri"/>
                <a:cs typeface="Calibri"/>
              </a:rPr>
              <a:t>The</a:t>
            </a:r>
            <a:r>
              <a:rPr sz="2400" spc="-10" dirty="0">
                <a:solidFill>
                  <a:srgbClr val="404040"/>
                </a:solidFill>
                <a:latin typeface="Calibri"/>
                <a:cs typeface="Calibri"/>
              </a:rPr>
              <a:t> </a:t>
            </a:r>
            <a:r>
              <a:rPr sz="2400" dirty="0">
                <a:solidFill>
                  <a:srgbClr val="404040"/>
                </a:solidFill>
                <a:latin typeface="Calibri"/>
                <a:cs typeface="Calibri"/>
              </a:rPr>
              <a:t>chip</a:t>
            </a:r>
            <a:r>
              <a:rPr sz="2400" spc="-20" dirty="0">
                <a:solidFill>
                  <a:srgbClr val="404040"/>
                </a:solidFill>
                <a:latin typeface="Calibri"/>
                <a:cs typeface="Calibri"/>
              </a:rPr>
              <a:t> </a:t>
            </a:r>
            <a:r>
              <a:rPr sz="2400" dirty="0">
                <a:solidFill>
                  <a:srgbClr val="404040"/>
                </a:solidFill>
                <a:latin typeface="Calibri"/>
                <a:cs typeface="Calibri"/>
              </a:rPr>
              <a:t>is </a:t>
            </a:r>
            <a:r>
              <a:rPr sz="2400" spc="-5" dirty="0">
                <a:solidFill>
                  <a:srgbClr val="404040"/>
                </a:solidFill>
                <a:latin typeface="Calibri"/>
                <a:cs typeface="Calibri"/>
              </a:rPr>
              <a:t>selected</a:t>
            </a:r>
            <a:r>
              <a:rPr sz="2400" spc="25" dirty="0">
                <a:solidFill>
                  <a:srgbClr val="404040"/>
                </a:solidFill>
                <a:latin typeface="Calibri"/>
                <a:cs typeface="Calibri"/>
              </a:rPr>
              <a:t> </a:t>
            </a:r>
            <a:r>
              <a:rPr sz="2400" spc="-5" dirty="0">
                <a:solidFill>
                  <a:srgbClr val="404040"/>
                </a:solidFill>
                <a:latin typeface="Calibri"/>
                <a:cs typeface="Calibri"/>
              </a:rPr>
              <a:t>by</a:t>
            </a:r>
            <a:r>
              <a:rPr sz="2400" spc="-15" dirty="0">
                <a:solidFill>
                  <a:srgbClr val="404040"/>
                </a:solidFill>
                <a:latin typeface="Calibri"/>
                <a:cs typeface="Calibri"/>
              </a:rPr>
              <a:t> </a:t>
            </a:r>
            <a:r>
              <a:rPr sz="2400" spc="-5" dirty="0">
                <a:solidFill>
                  <a:srgbClr val="404040"/>
                </a:solidFill>
                <a:latin typeface="Calibri"/>
                <a:cs typeface="Calibri"/>
              </a:rPr>
              <a:t>making </a:t>
            </a:r>
            <a:r>
              <a:rPr sz="2400" b="1" i="1" dirty="0" smtClean="0">
                <a:solidFill>
                  <a:srgbClr val="404040"/>
                </a:solidFill>
                <a:latin typeface="Calibri"/>
                <a:cs typeface="Calibri"/>
              </a:rPr>
              <a:t>CS</a:t>
            </a:r>
            <a:r>
              <a:rPr sz="2400" b="1" i="1" spc="-20" dirty="0" smtClean="0">
                <a:solidFill>
                  <a:srgbClr val="404040"/>
                </a:solidFill>
                <a:latin typeface="Calibri"/>
                <a:cs typeface="Calibri"/>
              </a:rPr>
              <a:t> </a:t>
            </a:r>
            <a:r>
              <a:rPr sz="2400" spc="-40" dirty="0">
                <a:solidFill>
                  <a:srgbClr val="404040"/>
                </a:solidFill>
                <a:latin typeface="Calibri"/>
                <a:cs typeface="Calibri"/>
              </a:rPr>
              <a:t>low.</a:t>
            </a:r>
            <a:endParaRPr sz="2400" dirty="0">
              <a:latin typeface="Calibri"/>
              <a:cs typeface="Calibri"/>
            </a:endParaRPr>
          </a:p>
          <a:p>
            <a:pPr marL="215265" indent="-203200">
              <a:lnSpc>
                <a:spcPct val="100000"/>
              </a:lnSpc>
              <a:spcBef>
                <a:spcPts val="1165"/>
              </a:spcBef>
              <a:buClr>
                <a:srgbClr val="E38312"/>
              </a:buClr>
              <a:buSzPct val="95000"/>
              <a:buFont typeface="Wingdings"/>
              <a:buChar char=""/>
              <a:tabLst>
                <a:tab pos="215900" algn="l"/>
              </a:tabLst>
            </a:pPr>
            <a:r>
              <a:rPr sz="2400" spc="-5" dirty="0">
                <a:solidFill>
                  <a:srgbClr val="404040"/>
                </a:solidFill>
                <a:latin typeface="Calibri"/>
                <a:cs typeface="Calibri"/>
              </a:rPr>
              <a:t>The </a:t>
            </a:r>
            <a:r>
              <a:rPr sz="2400" b="1" i="1" dirty="0" smtClean="0">
                <a:solidFill>
                  <a:srgbClr val="404040"/>
                </a:solidFill>
                <a:latin typeface="Calibri"/>
                <a:cs typeface="Calibri"/>
              </a:rPr>
              <a:t>RD</a:t>
            </a:r>
            <a:r>
              <a:rPr sz="2400" b="1" i="1" spc="-20" dirty="0" smtClean="0">
                <a:solidFill>
                  <a:srgbClr val="404040"/>
                </a:solidFill>
                <a:latin typeface="Calibri"/>
                <a:cs typeface="Calibri"/>
              </a:rPr>
              <a:t> </a:t>
            </a:r>
            <a:r>
              <a:rPr sz="2400" spc="-5" dirty="0">
                <a:solidFill>
                  <a:srgbClr val="404040"/>
                </a:solidFill>
                <a:latin typeface="Calibri"/>
                <a:cs typeface="Calibri"/>
              </a:rPr>
              <a:t>signal</a:t>
            </a:r>
            <a:r>
              <a:rPr sz="2400" dirty="0">
                <a:solidFill>
                  <a:srgbClr val="404040"/>
                </a:solidFill>
                <a:latin typeface="Calibri"/>
                <a:cs typeface="Calibri"/>
              </a:rPr>
              <a:t> </a:t>
            </a:r>
            <a:r>
              <a:rPr sz="2400" spc="-5" dirty="0">
                <a:solidFill>
                  <a:srgbClr val="404040"/>
                </a:solidFill>
                <a:latin typeface="Calibri"/>
                <a:cs typeface="Calibri"/>
              </a:rPr>
              <a:t>is</a:t>
            </a:r>
            <a:r>
              <a:rPr sz="2400" spc="5" dirty="0">
                <a:solidFill>
                  <a:srgbClr val="404040"/>
                </a:solidFill>
                <a:latin typeface="Calibri"/>
                <a:cs typeface="Calibri"/>
              </a:rPr>
              <a:t> </a:t>
            </a:r>
            <a:r>
              <a:rPr sz="2400" spc="-10" dirty="0">
                <a:solidFill>
                  <a:srgbClr val="404040"/>
                </a:solidFill>
                <a:latin typeface="Calibri"/>
                <a:cs typeface="Calibri"/>
              </a:rPr>
              <a:t>activated.</a:t>
            </a:r>
            <a:endParaRPr sz="2400" dirty="0">
              <a:latin typeface="Calibri"/>
              <a:cs typeface="Calibri"/>
            </a:endParaRPr>
          </a:p>
          <a:p>
            <a:pPr marL="215265" indent="-203200">
              <a:lnSpc>
                <a:spcPct val="100000"/>
              </a:lnSpc>
              <a:spcBef>
                <a:spcPts val="1165"/>
              </a:spcBef>
              <a:buClr>
                <a:srgbClr val="E38312"/>
              </a:buClr>
              <a:buSzPct val="95000"/>
              <a:buFont typeface="Wingdings"/>
              <a:buChar char=""/>
              <a:tabLst>
                <a:tab pos="215900" algn="l"/>
              </a:tabLst>
            </a:pPr>
            <a:r>
              <a:rPr sz="2400" spc="-5" dirty="0">
                <a:solidFill>
                  <a:srgbClr val="404040"/>
                </a:solidFill>
                <a:latin typeface="Calibri"/>
                <a:cs typeface="Calibri"/>
              </a:rPr>
              <a:t>The </a:t>
            </a:r>
            <a:r>
              <a:rPr sz="2400" spc="-15" dirty="0">
                <a:solidFill>
                  <a:srgbClr val="404040"/>
                </a:solidFill>
                <a:latin typeface="Calibri"/>
                <a:cs typeface="Calibri"/>
              </a:rPr>
              <a:t>data</a:t>
            </a:r>
            <a:r>
              <a:rPr sz="2400" spc="5" dirty="0">
                <a:solidFill>
                  <a:srgbClr val="404040"/>
                </a:solidFill>
                <a:latin typeface="Calibri"/>
                <a:cs typeface="Calibri"/>
              </a:rPr>
              <a:t> </a:t>
            </a:r>
            <a:r>
              <a:rPr sz="2400" spc="-10" dirty="0">
                <a:solidFill>
                  <a:srgbClr val="404040"/>
                </a:solidFill>
                <a:latin typeface="Calibri"/>
                <a:cs typeface="Calibri"/>
              </a:rPr>
              <a:t>appears</a:t>
            </a:r>
            <a:r>
              <a:rPr sz="2400" spc="5" dirty="0">
                <a:solidFill>
                  <a:srgbClr val="404040"/>
                </a:solidFill>
                <a:latin typeface="Calibri"/>
                <a:cs typeface="Calibri"/>
              </a:rPr>
              <a:t> </a:t>
            </a:r>
            <a:r>
              <a:rPr sz="2400" spc="-5" dirty="0">
                <a:solidFill>
                  <a:srgbClr val="404040"/>
                </a:solidFill>
                <a:latin typeface="Calibri"/>
                <a:cs typeface="Calibri"/>
              </a:rPr>
              <a:t>on</a:t>
            </a:r>
            <a:r>
              <a:rPr sz="2400" dirty="0">
                <a:solidFill>
                  <a:srgbClr val="404040"/>
                </a:solidFill>
                <a:latin typeface="Calibri"/>
                <a:cs typeface="Calibri"/>
              </a:rPr>
              <a:t> the</a:t>
            </a:r>
            <a:r>
              <a:rPr sz="2400" spc="-10" dirty="0">
                <a:solidFill>
                  <a:srgbClr val="404040"/>
                </a:solidFill>
                <a:latin typeface="Calibri"/>
                <a:cs typeface="Calibri"/>
              </a:rPr>
              <a:t> </a:t>
            </a:r>
            <a:r>
              <a:rPr sz="2400" spc="-15" dirty="0">
                <a:solidFill>
                  <a:srgbClr val="404040"/>
                </a:solidFill>
                <a:latin typeface="Calibri"/>
                <a:cs typeface="Calibri"/>
              </a:rPr>
              <a:t>data</a:t>
            </a:r>
            <a:r>
              <a:rPr sz="2400" dirty="0">
                <a:solidFill>
                  <a:srgbClr val="404040"/>
                </a:solidFill>
                <a:latin typeface="Calibri"/>
                <a:cs typeface="Calibri"/>
              </a:rPr>
              <a:t> bus</a:t>
            </a:r>
            <a:r>
              <a:rPr sz="2400" spc="-5" dirty="0">
                <a:solidFill>
                  <a:srgbClr val="404040"/>
                </a:solidFill>
                <a:latin typeface="Calibri"/>
                <a:cs typeface="Calibri"/>
              </a:rPr>
              <a:t> </a:t>
            </a:r>
            <a:r>
              <a:rPr sz="2400" spc="-10" dirty="0">
                <a:solidFill>
                  <a:srgbClr val="404040"/>
                </a:solidFill>
                <a:latin typeface="Calibri"/>
                <a:cs typeface="Calibri"/>
              </a:rPr>
              <a:t>after</a:t>
            </a:r>
            <a:r>
              <a:rPr sz="2400" spc="15"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5" dirty="0">
                <a:solidFill>
                  <a:srgbClr val="404040"/>
                </a:solidFill>
                <a:latin typeface="Calibri"/>
                <a:cs typeface="Calibri"/>
              </a:rPr>
              <a:t>minimum</a:t>
            </a:r>
            <a:r>
              <a:rPr sz="2400" spc="15" dirty="0">
                <a:solidFill>
                  <a:srgbClr val="404040"/>
                </a:solidFill>
                <a:latin typeface="Calibri"/>
                <a:cs typeface="Calibri"/>
              </a:rPr>
              <a:t> </a:t>
            </a:r>
            <a:r>
              <a:rPr sz="2400" spc="-5" dirty="0">
                <a:solidFill>
                  <a:srgbClr val="404040"/>
                </a:solidFill>
                <a:latin typeface="Calibri"/>
                <a:cs typeface="Calibri"/>
              </a:rPr>
              <a:t>time.</a:t>
            </a:r>
            <a:endParaRPr sz="24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12</a:t>
            </a:r>
            <a:endParaRPr sz="1050">
              <a:latin typeface="Calibri"/>
              <a:cs typeface="Calibri"/>
            </a:endParaRPr>
          </a:p>
        </p:txBody>
      </p:sp>
      <p:cxnSp>
        <p:nvCxnSpPr>
          <p:cNvPr id="3" name="Straight Connector 2"/>
          <p:cNvCxnSpPr/>
          <p:nvPr/>
        </p:nvCxnSpPr>
        <p:spPr>
          <a:xfrm>
            <a:off x="5181980" y="3602182"/>
            <a:ext cx="2490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898073" y="4128655"/>
            <a:ext cx="263236" cy="1385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4603750" cy="756920"/>
          </a:xfrm>
          <a:prstGeom prst="rect">
            <a:avLst/>
          </a:prstGeom>
        </p:spPr>
        <p:txBody>
          <a:bodyPr vert="horz" wrap="square" lIns="0" tIns="12700" rIns="0" bIns="0" rtlCol="0">
            <a:spAutoFit/>
          </a:bodyPr>
          <a:lstStyle/>
          <a:p>
            <a:pPr marL="12700">
              <a:lnSpc>
                <a:spcPct val="100000"/>
              </a:lnSpc>
              <a:spcBef>
                <a:spcPts val="100"/>
              </a:spcBef>
            </a:pPr>
            <a:r>
              <a:rPr sz="4800" b="0" spc="-65" dirty="0">
                <a:solidFill>
                  <a:srgbClr val="00AFEF"/>
                </a:solidFill>
                <a:latin typeface="Calibri Light"/>
                <a:cs typeface="Calibri Light"/>
              </a:rPr>
              <a:t>Asynchronous</a:t>
            </a:r>
            <a:r>
              <a:rPr sz="4800" b="0" spc="-165" dirty="0">
                <a:solidFill>
                  <a:srgbClr val="00AFEF"/>
                </a:solidFill>
                <a:latin typeface="Calibri Light"/>
                <a:cs typeface="Calibri Light"/>
              </a:rPr>
              <a:t> </a:t>
            </a:r>
            <a:r>
              <a:rPr sz="4800" b="0" spc="-55" dirty="0">
                <a:solidFill>
                  <a:srgbClr val="00AFEF"/>
                </a:solidFill>
                <a:latin typeface="Calibri Light"/>
                <a:cs typeface="Calibri Light"/>
              </a:rPr>
              <a:t>read</a:t>
            </a:r>
            <a:endParaRPr sz="4800">
              <a:latin typeface="Calibri Light"/>
              <a:cs typeface="Calibri Light"/>
            </a:endParaRPr>
          </a:p>
        </p:txBody>
      </p:sp>
      <p:sp>
        <p:nvSpPr>
          <p:cNvPr id="7" name="object 7"/>
          <p:cNvSpPr txBox="1"/>
          <p:nvPr/>
        </p:nvSpPr>
        <p:spPr>
          <a:xfrm>
            <a:off x="636117" y="1831975"/>
            <a:ext cx="4344035" cy="2155825"/>
          </a:xfrm>
          <a:prstGeom prst="rect">
            <a:avLst/>
          </a:prstGeom>
        </p:spPr>
        <p:txBody>
          <a:bodyPr vert="horz" wrap="square" lIns="0" tIns="47625" rIns="0" bIns="0" rtlCol="0">
            <a:spAutoFit/>
          </a:bodyPr>
          <a:lstStyle/>
          <a:p>
            <a:pPr marL="128905" marR="30480" indent="-91440">
              <a:lnSpc>
                <a:spcPts val="2160"/>
              </a:lnSpc>
              <a:spcBef>
                <a:spcPts val="375"/>
              </a:spcBef>
              <a:buClr>
                <a:srgbClr val="E38312"/>
              </a:buClr>
              <a:buSzPct val="95000"/>
              <a:buFont typeface="Wingdings"/>
              <a:buChar char=""/>
              <a:tabLst>
                <a:tab pos="241300" algn="l"/>
              </a:tabLst>
            </a:pPr>
            <a:r>
              <a:rPr sz="2000" spc="5" dirty="0">
                <a:solidFill>
                  <a:srgbClr val="404040"/>
                </a:solidFill>
                <a:latin typeface="Calibri"/>
                <a:cs typeface="Calibri"/>
              </a:rPr>
              <a:t>t</a:t>
            </a:r>
            <a:r>
              <a:rPr sz="1950" spc="7" baseline="-21367" dirty="0">
                <a:solidFill>
                  <a:srgbClr val="404040"/>
                </a:solidFill>
                <a:latin typeface="Calibri"/>
                <a:cs typeface="Calibri"/>
              </a:rPr>
              <a:t>AA</a:t>
            </a:r>
            <a:r>
              <a:rPr sz="2000" spc="5" dirty="0">
                <a:solidFill>
                  <a:srgbClr val="404040"/>
                </a:solidFill>
                <a:latin typeface="Calibri"/>
                <a:cs typeface="Calibri"/>
              </a:rPr>
              <a:t>, </a:t>
            </a:r>
            <a:r>
              <a:rPr sz="2000" dirty="0">
                <a:solidFill>
                  <a:srgbClr val="404040"/>
                </a:solidFill>
                <a:latin typeface="Calibri"/>
                <a:cs typeface="Calibri"/>
              </a:rPr>
              <a:t>the </a:t>
            </a:r>
            <a:r>
              <a:rPr sz="2000" b="1" spc="-10" dirty="0">
                <a:solidFill>
                  <a:srgbClr val="404040"/>
                </a:solidFill>
                <a:latin typeface="Calibri"/>
                <a:cs typeface="Calibri"/>
              </a:rPr>
              <a:t>read </a:t>
            </a:r>
            <a:r>
              <a:rPr sz="2000" b="1" dirty="0">
                <a:solidFill>
                  <a:srgbClr val="404040"/>
                </a:solidFill>
                <a:latin typeface="Calibri"/>
                <a:cs typeface="Calibri"/>
              </a:rPr>
              <a:t>access time. </a:t>
            </a:r>
            <a:r>
              <a:rPr sz="2000" spc="-5" dirty="0">
                <a:solidFill>
                  <a:srgbClr val="404040"/>
                </a:solidFill>
                <a:latin typeface="Calibri"/>
                <a:cs typeface="Calibri"/>
              </a:rPr>
              <a:t>This </a:t>
            </a:r>
            <a:r>
              <a:rPr sz="2000" dirty="0">
                <a:solidFill>
                  <a:srgbClr val="404040"/>
                </a:solidFill>
                <a:latin typeface="Calibri"/>
                <a:cs typeface="Calibri"/>
              </a:rPr>
              <a:t>is </a:t>
            </a:r>
            <a:r>
              <a:rPr sz="2000" spc="5" dirty="0">
                <a:solidFill>
                  <a:srgbClr val="404040"/>
                </a:solidFill>
                <a:latin typeface="Calibri"/>
                <a:cs typeface="Calibri"/>
              </a:rPr>
              <a:t> </a:t>
            </a:r>
            <a:r>
              <a:rPr sz="2000" spc="-5" dirty="0">
                <a:solidFill>
                  <a:srgbClr val="404040"/>
                </a:solidFill>
                <a:latin typeface="Calibri"/>
                <a:cs typeface="Calibri"/>
              </a:rPr>
              <a:t>defined </a:t>
            </a:r>
            <a:r>
              <a:rPr sz="2000" dirty="0">
                <a:solidFill>
                  <a:srgbClr val="404040"/>
                </a:solidFill>
                <a:latin typeface="Calibri"/>
                <a:cs typeface="Calibri"/>
              </a:rPr>
              <a:t>as the time </a:t>
            </a:r>
            <a:r>
              <a:rPr sz="2000" spc="-20" dirty="0">
                <a:solidFill>
                  <a:srgbClr val="404040"/>
                </a:solidFill>
                <a:latin typeface="Calibri"/>
                <a:cs typeface="Calibri"/>
              </a:rPr>
              <a:t>taken </a:t>
            </a:r>
            <a:r>
              <a:rPr sz="2000" spc="-15" dirty="0">
                <a:solidFill>
                  <a:srgbClr val="404040"/>
                </a:solidFill>
                <a:latin typeface="Calibri"/>
                <a:cs typeface="Calibri"/>
              </a:rPr>
              <a:t>for </a:t>
            </a:r>
            <a:r>
              <a:rPr sz="2000" dirty="0">
                <a:solidFill>
                  <a:srgbClr val="404040"/>
                </a:solidFill>
                <a:latin typeface="Calibri"/>
                <a:cs typeface="Calibri"/>
              </a:rPr>
              <a:t>the </a:t>
            </a:r>
            <a:r>
              <a:rPr sz="2000" spc="-10" dirty="0">
                <a:solidFill>
                  <a:srgbClr val="404040"/>
                </a:solidFill>
                <a:latin typeface="Calibri"/>
                <a:cs typeface="Calibri"/>
              </a:rPr>
              <a:t>data to </a:t>
            </a:r>
            <a:r>
              <a:rPr sz="2000" spc="-440" dirty="0">
                <a:solidFill>
                  <a:srgbClr val="404040"/>
                </a:solidFill>
                <a:latin typeface="Calibri"/>
                <a:cs typeface="Calibri"/>
              </a:rPr>
              <a:t> </a:t>
            </a:r>
            <a:r>
              <a:rPr sz="2000" dirty="0">
                <a:solidFill>
                  <a:srgbClr val="404040"/>
                </a:solidFill>
                <a:latin typeface="Calibri"/>
                <a:cs typeface="Calibri"/>
              </a:rPr>
              <a:t>appear </a:t>
            </a:r>
            <a:r>
              <a:rPr sz="2000" spc="-5" dirty="0">
                <a:solidFill>
                  <a:srgbClr val="404040"/>
                </a:solidFill>
                <a:latin typeface="Calibri"/>
                <a:cs typeface="Calibri"/>
              </a:rPr>
              <a:t>on </a:t>
            </a:r>
            <a:r>
              <a:rPr sz="2000" dirty="0">
                <a:solidFill>
                  <a:srgbClr val="404040"/>
                </a:solidFill>
                <a:latin typeface="Calibri"/>
                <a:cs typeface="Calibri"/>
              </a:rPr>
              <a:t>the </a:t>
            </a:r>
            <a:r>
              <a:rPr sz="2000" spc="-10" dirty="0">
                <a:solidFill>
                  <a:srgbClr val="404040"/>
                </a:solidFill>
                <a:latin typeface="Calibri"/>
                <a:cs typeface="Calibri"/>
              </a:rPr>
              <a:t>data </a:t>
            </a:r>
            <a:r>
              <a:rPr sz="2000" dirty="0">
                <a:solidFill>
                  <a:srgbClr val="404040"/>
                </a:solidFill>
                <a:latin typeface="Calibri"/>
                <a:cs typeface="Calibri"/>
              </a:rPr>
              <a:t>bus, </a:t>
            </a:r>
            <a:r>
              <a:rPr sz="2000" spc="-10" dirty="0">
                <a:solidFill>
                  <a:srgbClr val="404040"/>
                </a:solidFill>
                <a:latin typeface="Calibri"/>
                <a:cs typeface="Calibri"/>
              </a:rPr>
              <a:t>after </a:t>
            </a:r>
            <a:r>
              <a:rPr sz="2000" dirty="0">
                <a:solidFill>
                  <a:srgbClr val="404040"/>
                </a:solidFill>
                <a:latin typeface="Calibri"/>
                <a:cs typeface="Calibri"/>
              </a:rPr>
              <a:t>the </a:t>
            </a:r>
            <a:r>
              <a:rPr sz="2000" spc="5" dirty="0">
                <a:solidFill>
                  <a:srgbClr val="404040"/>
                </a:solidFill>
                <a:latin typeface="Calibri"/>
                <a:cs typeface="Calibri"/>
              </a:rPr>
              <a:t> </a:t>
            </a:r>
            <a:r>
              <a:rPr sz="2000" spc="-5" dirty="0">
                <a:solidFill>
                  <a:srgbClr val="404040"/>
                </a:solidFill>
                <a:latin typeface="Calibri"/>
                <a:cs typeface="Calibri"/>
              </a:rPr>
              <a:t>address is</a:t>
            </a:r>
            <a:r>
              <a:rPr sz="2000" spc="5" dirty="0">
                <a:solidFill>
                  <a:srgbClr val="404040"/>
                </a:solidFill>
                <a:latin typeface="Calibri"/>
                <a:cs typeface="Calibri"/>
              </a:rPr>
              <a:t> </a:t>
            </a:r>
            <a:r>
              <a:rPr sz="2000" spc="-5" dirty="0">
                <a:solidFill>
                  <a:srgbClr val="404040"/>
                </a:solidFill>
                <a:latin typeface="Calibri"/>
                <a:cs typeface="Calibri"/>
              </a:rPr>
              <a:t>placed </a:t>
            </a:r>
            <a:r>
              <a:rPr sz="2000" dirty="0">
                <a:solidFill>
                  <a:srgbClr val="404040"/>
                </a:solidFill>
                <a:latin typeface="Calibri"/>
                <a:cs typeface="Calibri"/>
              </a:rPr>
              <a:t>on</a:t>
            </a:r>
            <a:r>
              <a:rPr sz="2000" spc="-25" dirty="0">
                <a:solidFill>
                  <a:srgbClr val="404040"/>
                </a:solidFill>
                <a:latin typeface="Calibri"/>
                <a:cs typeface="Calibri"/>
              </a:rPr>
              <a:t> </a:t>
            </a:r>
            <a:r>
              <a:rPr sz="2000" dirty="0">
                <a:solidFill>
                  <a:srgbClr val="404040"/>
                </a:solidFill>
                <a:latin typeface="Calibri"/>
                <a:cs typeface="Calibri"/>
              </a:rPr>
              <a:t>the </a:t>
            </a:r>
            <a:r>
              <a:rPr sz="2000" spc="-5" dirty="0">
                <a:solidFill>
                  <a:srgbClr val="404040"/>
                </a:solidFill>
                <a:latin typeface="Calibri"/>
                <a:cs typeface="Calibri"/>
              </a:rPr>
              <a:t>address</a:t>
            </a:r>
            <a:r>
              <a:rPr sz="2000" dirty="0">
                <a:solidFill>
                  <a:srgbClr val="404040"/>
                </a:solidFill>
                <a:latin typeface="Calibri"/>
                <a:cs typeface="Calibri"/>
              </a:rPr>
              <a:t> </a:t>
            </a:r>
            <a:r>
              <a:rPr sz="2000" spc="-5" dirty="0">
                <a:solidFill>
                  <a:srgbClr val="404040"/>
                </a:solidFill>
                <a:latin typeface="Calibri"/>
                <a:cs typeface="Calibri"/>
              </a:rPr>
              <a:t>bus.</a:t>
            </a:r>
            <a:endParaRPr sz="2000">
              <a:latin typeface="Calibri"/>
              <a:cs typeface="Calibri"/>
            </a:endParaRPr>
          </a:p>
          <a:p>
            <a:pPr marL="128905" marR="70485" indent="-91440">
              <a:lnSpc>
                <a:spcPts val="2160"/>
              </a:lnSpc>
              <a:spcBef>
                <a:spcPts val="1405"/>
              </a:spcBef>
              <a:buClr>
                <a:srgbClr val="E38312"/>
              </a:buClr>
              <a:buSzPct val="95000"/>
              <a:buFont typeface="Wingdings"/>
              <a:buChar char=""/>
              <a:tabLst>
                <a:tab pos="241300" algn="l"/>
              </a:tabLst>
            </a:pPr>
            <a:r>
              <a:rPr sz="2000" i="1" dirty="0">
                <a:solidFill>
                  <a:srgbClr val="404040"/>
                </a:solidFill>
                <a:latin typeface="Calibri"/>
                <a:cs typeface="Calibri"/>
              </a:rPr>
              <a:t>t</a:t>
            </a:r>
            <a:r>
              <a:rPr sz="1950" i="1" baseline="-21367" dirty="0">
                <a:solidFill>
                  <a:srgbClr val="404040"/>
                </a:solidFill>
                <a:latin typeface="Calibri"/>
                <a:cs typeface="Calibri"/>
              </a:rPr>
              <a:t>RC</a:t>
            </a:r>
            <a:r>
              <a:rPr sz="2000" i="1" dirty="0">
                <a:solidFill>
                  <a:srgbClr val="404040"/>
                </a:solidFill>
                <a:latin typeface="Calibri"/>
                <a:cs typeface="Calibri"/>
              </a:rPr>
              <a:t>,</a:t>
            </a:r>
            <a:r>
              <a:rPr sz="2000" i="1" spc="5" dirty="0">
                <a:solidFill>
                  <a:srgbClr val="404040"/>
                </a:solidFill>
                <a:latin typeface="Calibri"/>
                <a:cs typeface="Calibri"/>
              </a:rPr>
              <a:t> </a:t>
            </a:r>
            <a:r>
              <a:rPr sz="2000" dirty="0">
                <a:solidFill>
                  <a:srgbClr val="404040"/>
                </a:solidFill>
                <a:latin typeface="Calibri"/>
                <a:cs typeface="Calibri"/>
              </a:rPr>
              <a:t>the</a:t>
            </a:r>
            <a:r>
              <a:rPr sz="2000" spc="-10" dirty="0">
                <a:solidFill>
                  <a:srgbClr val="404040"/>
                </a:solidFill>
                <a:latin typeface="Calibri"/>
                <a:cs typeface="Calibri"/>
              </a:rPr>
              <a:t> read</a:t>
            </a:r>
            <a:r>
              <a:rPr sz="2000" dirty="0">
                <a:solidFill>
                  <a:srgbClr val="404040"/>
                </a:solidFill>
                <a:latin typeface="Calibri"/>
                <a:cs typeface="Calibri"/>
              </a:rPr>
              <a:t> </a:t>
            </a:r>
            <a:r>
              <a:rPr sz="2000" spc="-5" dirty="0">
                <a:solidFill>
                  <a:srgbClr val="404040"/>
                </a:solidFill>
                <a:latin typeface="Calibri"/>
                <a:cs typeface="Calibri"/>
              </a:rPr>
              <a:t>cycle</a:t>
            </a:r>
            <a:r>
              <a:rPr sz="2000" spc="-15"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dirty="0">
                <a:solidFill>
                  <a:srgbClr val="404040"/>
                </a:solidFill>
                <a:latin typeface="Calibri"/>
                <a:cs typeface="Calibri"/>
              </a:rPr>
              <a:t>the</a:t>
            </a:r>
            <a:r>
              <a:rPr sz="2000" spc="-10" dirty="0">
                <a:solidFill>
                  <a:srgbClr val="404040"/>
                </a:solidFill>
                <a:latin typeface="Calibri"/>
                <a:cs typeface="Calibri"/>
              </a:rPr>
              <a:t> </a:t>
            </a:r>
            <a:r>
              <a:rPr sz="2000" spc="-5" dirty="0">
                <a:solidFill>
                  <a:srgbClr val="404040"/>
                </a:solidFill>
                <a:latin typeface="Calibri"/>
                <a:cs typeface="Calibri"/>
              </a:rPr>
              <a:t>minimum</a:t>
            </a:r>
            <a:r>
              <a:rPr sz="2000" spc="10" dirty="0">
                <a:solidFill>
                  <a:srgbClr val="404040"/>
                </a:solidFill>
                <a:latin typeface="Calibri"/>
                <a:cs typeface="Calibri"/>
              </a:rPr>
              <a:t> </a:t>
            </a:r>
            <a:r>
              <a:rPr sz="2000" spc="-5" dirty="0">
                <a:solidFill>
                  <a:srgbClr val="404040"/>
                </a:solidFill>
                <a:latin typeface="Calibri"/>
                <a:cs typeface="Calibri"/>
              </a:rPr>
              <a:t>time </a:t>
            </a:r>
            <a:r>
              <a:rPr sz="2000" spc="-434" dirty="0">
                <a:solidFill>
                  <a:srgbClr val="404040"/>
                </a:solidFill>
                <a:latin typeface="Calibri"/>
                <a:cs typeface="Calibri"/>
              </a:rPr>
              <a:t> </a:t>
            </a:r>
            <a:r>
              <a:rPr sz="2000" spc="-5" dirty="0">
                <a:solidFill>
                  <a:srgbClr val="404040"/>
                </a:solidFill>
                <a:latin typeface="Calibri"/>
                <a:cs typeface="Calibri"/>
              </a:rPr>
              <a:t>that </a:t>
            </a:r>
            <a:r>
              <a:rPr sz="2000" spc="-10" dirty="0">
                <a:solidFill>
                  <a:srgbClr val="404040"/>
                </a:solidFill>
                <a:latin typeface="Calibri"/>
                <a:cs typeface="Calibri"/>
              </a:rPr>
              <a:t>must</a:t>
            </a:r>
            <a:r>
              <a:rPr sz="2000" dirty="0">
                <a:solidFill>
                  <a:srgbClr val="404040"/>
                </a:solidFill>
                <a:latin typeface="Calibri"/>
                <a:cs typeface="Calibri"/>
              </a:rPr>
              <a:t> </a:t>
            </a:r>
            <a:r>
              <a:rPr sz="2000" spc="-5" dirty="0">
                <a:solidFill>
                  <a:srgbClr val="404040"/>
                </a:solidFill>
                <a:latin typeface="Calibri"/>
                <a:cs typeface="Calibri"/>
              </a:rPr>
              <a:t>elapse</a:t>
            </a:r>
            <a:r>
              <a:rPr sz="2000" spc="15" dirty="0">
                <a:solidFill>
                  <a:srgbClr val="404040"/>
                </a:solidFill>
                <a:latin typeface="Calibri"/>
                <a:cs typeface="Calibri"/>
              </a:rPr>
              <a:t> </a:t>
            </a:r>
            <a:r>
              <a:rPr sz="2000" spc="-15" dirty="0">
                <a:solidFill>
                  <a:srgbClr val="404040"/>
                </a:solidFill>
                <a:latin typeface="Calibri"/>
                <a:cs typeface="Calibri"/>
              </a:rPr>
              <a:t>before</a:t>
            </a:r>
            <a:r>
              <a:rPr sz="2000" spc="-20"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10" dirty="0">
                <a:solidFill>
                  <a:srgbClr val="404040"/>
                </a:solidFill>
                <a:latin typeface="Calibri"/>
                <a:cs typeface="Calibri"/>
              </a:rPr>
              <a:t>next</a:t>
            </a:r>
            <a:r>
              <a:rPr sz="2000" dirty="0">
                <a:solidFill>
                  <a:srgbClr val="404040"/>
                </a:solidFill>
                <a:latin typeface="Calibri"/>
                <a:cs typeface="Calibri"/>
              </a:rPr>
              <a:t> </a:t>
            </a:r>
            <a:r>
              <a:rPr sz="2000" spc="-10" dirty="0">
                <a:solidFill>
                  <a:srgbClr val="404040"/>
                </a:solidFill>
                <a:latin typeface="Calibri"/>
                <a:cs typeface="Calibri"/>
              </a:rPr>
              <a:t>read </a:t>
            </a:r>
            <a:r>
              <a:rPr sz="2000" spc="-5" dirty="0">
                <a:solidFill>
                  <a:srgbClr val="404040"/>
                </a:solidFill>
                <a:latin typeface="Calibri"/>
                <a:cs typeface="Calibri"/>
              </a:rPr>
              <a:t> </a:t>
            </a:r>
            <a:r>
              <a:rPr sz="2000" spc="-10" dirty="0">
                <a:solidFill>
                  <a:srgbClr val="404040"/>
                </a:solidFill>
                <a:latin typeface="Calibri"/>
                <a:cs typeface="Calibri"/>
              </a:rPr>
              <a:t>operation</a:t>
            </a:r>
            <a:r>
              <a:rPr sz="2000" spc="-15" dirty="0">
                <a:solidFill>
                  <a:srgbClr val="404040"/>
                </a:solidFill>
                <a:latin typeface="Calibri"/>
                <a:cs typeface="Calibri"/>
              </a:rPr>
              <a:t> </a:t>
            </a:r>
            <a:r>
              <a:rPr sz="2000" spc="-5" dirty="0">
                <a:solidFill>
                  <a:srgbClr val="404040"/>
                </a:solidFill>
                <a:latin typeface="Calibri"/>
                <a:cs typeface="Calibri"/>
              </a:rPr>
              <a:t>can</a:t>
            </a:r>
            <a:r>
              <a:rPr sz="2000" dirty="0">
                <a:solidFill>
                  <a:srgbClr val="404040"/>
                </a:solidFill>
                <a:latin typeface="Calibri"/>
                <a:cs typeface="Calibri"/>
              </a:rPr>
              <a:t> </a:t>
            </a:r>
            <a:r>
              <a:rPr sz="2000" spc="-5" dirty="0">
                <a:solidFill>
                  <a:srgbClr val="404040"/>
                </a:solidFill>
                <a:latin typeface="Calibri"/>
                <a:cs typeface="Calibri"/>
              </a:rPr>
              <a:t>be</a:t>
            </a:r>
            <a:r>
              <a:rPr sz="2000" spc="-15" dirty="0">
                <a:solidFill>
                  <a:srgbClr val="404040"/>
                </a:solidFill>
                <a:latin typeface="Calibri"/>
                <a:cs typeface="Calibri"/>
              </a:rPr>
              <a:t> </a:t>
            </a:r>
            <a:r>
              <a:rPr sz="2000" spc="-10" dirty="0">
                <a:solidFill>
                  <a:srgbClr val="404040"/>
                </a:solidFill>
                <a:latin typeface="Calibri"/>
                <a:cs typeface="Calibri"/>
              </a:rPr>
              <a:t>started.</a:t>
            </a:r>
            <a:endParaRPr sz="20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13</a:t>
            </a:r>
            <a:endParaRPr sz="1050">
              <a:latin typeface="Calibri"/>
              <a:cs typeface="Calibri"/>
            </a:endParaRPr>
          </a:p>
        </p:txBody>
      </p:sp>
      <p:pic>
        <p:nvPicPr>
          <p:cNvPr id="11" name="object 11"/>
          <p:cNvPicPr/>
          <p:nvPr/>
        </p:nvPicPr>
        <p:blipFill>
          <a:blip r:embed="rId2" cstate="print"/>
          <a:stretch>
            <a:fillRect/>
          </a:stretch>
        </p:blipFill>
        <p:spPr>
          <a:xfrm>
            <a:off x="5291943" y="1968707"/>
            <a:ext cx="6157532" cy="392520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4770755" cy="756920"/>
          </a:xfrm>
          <a:prstGeom prst="rect">
            <a:avLst/>
          </a:prstGeom>
        </p:spPr>
        <p:txBody>
          <a:bodyPr vert="horz" wrap="square" lIns="0" tIns="12700" rIns="0" bIns="0" rtlCol="0">
            <a:spAutoFit/>
          </a:bodyPr>
          <a:lstStyle/>
          <a:p>
            <a:pPr marL="12700">
              <a:lnSpc>
                <a:spcPct val="100000"/>
              </a:lnSpc>
              <a:spcBef>
                <a:spcPts val="100"/>
              </a:spcBef>
            </a:pPr>
            <a:r>
              <a:rPr sz="4800" b="0" spc="-40" dirty="0">
                <a:solidFill>
                  <a:srgbClr val="00AFEF"/>
                </a:solidFill>
                <a:latin typeface="Calibri Light"/>
                <a:cs typeface="Calibri Light"/>
              </a:rPr>
              <a:t>Memory</a:t>
            </a:r>
            <a:r>
              <a:rPr sz="4800" b="0" spc="-165" dirty="0">
                <a:solidFill>
                  <a:srgbClr val="00AFEF"/>
                </a:solidFill>
                <a:latin typeface="Calibri Light"/>
                <a:cs typeface="Calibri Light"/>
              </a:rPr>
              <a:t> </a:t>
            </a:r>
            <a:r>
              <a:rPr sz="4800" b="0" spc="-50" dirty="0">
                <a:solidFill>
                  <a:srgbClr val="00AFEF"/>
                </a:solidFill>
                <a:latin typeface="Calibri Light"/>
                <a:cs typeface="Calibri Light"/>
              </a:rPr>
              <a:t>write</a:t>
            </a:r>
            <a:r>
              <a:rPr sz="4800" b="0" spc="-155" dirty="0">
                <a:solidFill>
                  <a:srgbClr val="00AFEF"/>
                </a:solidFill>
                <a:latin typeface="Calibri Light"/>
                <a:cs typeface="Calibri Light"/>
              </a:rPr>
              <a:t> </a:t>
            </a:r>
            <a:r>
              <a:rPr sz="4800" b="0" spc="-55" dirty="0">
                <a:solidFill>
                  <a:srgbClr val="00AFEF"/>
                </a:solidFill>
                <a:latin typeface="Calibri Light"/>
                <a:cs typeface="Calibri Light"/>
              </a:rPr>
              <a:t>cycle</a:t>
            </a:r>
            <a:endParaRPr sz="4800" dirty="0">
              <a:latin typeface="Calibri Light"/>
              <a:cs typeface="Calibri Light"/>
            </a:endParaRPr>
          </a:p>
        </p:txBody>
      </p:sp>
      <p:sp>
        <p:nvSpPr>
          <p:cNvPr id="7" name="object 7"/>
          <p:cNvSpPr txBox="1"/>
          <p:nvPr/>
        </p:nvSpPr>
        <p:spPr>
          <a:xfrm>
            <a:off x="1176324" y="1684756"/>
            <a:ext cx="7446009" cy="2738755"/>
          </a:xfrm>
          <a:prstGeom prst="rect">
            <a:avLst/>
          </a:prstGeom>
        </p:spPr>
        <p:txBody>
          <a:bodyPr vert="horz" wrap="square" lIns="0" tIns="160020" rIns="0" bIns="0" rtlCol="0">
            <a:spAutoFit/>
          </a:bodyPr>
          <a:lstStyle/>
          <a:p>
            <a:pPr marL="12700">
              <a:lnSpc>
                <a:spcPct val="100000"/>
              </a:lnSpc>
              <a:spcBef>
                <a:spcPts val="1260"/>
              </a:spcBef>
            </a:pPr>
            <a:r>
              <a:rPr sz="2000" spc="-10" dirty="0">
                <a:solidFill>
                  <a:srgbClr val="404040"/>
                </a:solidFill>
                <a:latin typeface="Calibri"/>
                <a:cs typeface="Calibri"/>
              </a:rPr>
              <a:t>Writing</a:t>
            </a:r>
            <a:r>
              <a:rPr sz="2000" spc="-5" dirty="0">
                <a:solidFill>
                  <a:srgbClr val="404040"/>
                </a:solidFill>
                <a:latin typeface="Calibri"/>
                <a:cs typeface="Calibri"/>
              </a:rPr>
              <a:t> has similar</a:t>
            </a:r>
            <a:r>
              <a:rPr sz="2000" spc="10" dirty="0">
                <a:solidFill>
                  <a:srgbClr val="404040"/>
                </a:solidFill>
                <a:latin typeface="Calibri"/>
                <a:cs typeface="Calibri"/>
              </a:rPr>
              <a:t> </a:t>
            </a:r>
            <a:r>
              <a:rPr sz="2000" spc="-15" dirty="0">
                <a:solidFill>
                  <a:srgbClr val="404040"/>
                </a:solidFill>
                <a:latin typeface="Calibri"/>
                <a:cs typeface="Calibri"/>
              </a:rPr>
              <a:t>steps</a:t>
            </a:r>
            <a:r>
              <a:rPr sz="2000" spc="20" dirty="0">
                <a:solidFill>
                  <a:srgbClr val="404040"/>
                </a:solidFill>
                <a:latin typeface="Calibri"/>
                <a:cs typeface="Calibri"/>
              </a:rPr>
              <a:t> </a:t>
            </a:r>
            <a:r>
              <a:rPr sz="2000" dirty="0">
                <a:solidFill>
                  <a:srgbClr val="404040"/>
                </a:solidFill>
                <a:latin typeface="Calibri"/>
                <a:cs typeface="Calibri"/>
              </a:rPr>
              <a:t>as</a:t>
            </a:r>
            <a:r>
              <a:rPr sz="2000" spc="-5" dirty="0">
                <a:solidFill>
                  <a:srgbClr val="404040"/>
                </a:solidFill>
                <a:latin typeface="Calibri"/>
                <a:cs typeface="Calibri"/>
              </a:rPr>
              <a:t> reading:</a:t>
            </a:r>
            <a:endParaRPr sz="2000" dirty="0">
              <a:latin typeface="Calibri"/>
              <a:cs typeface="Calibri"/>
            </a:endParaRPr>
          </a:p>
          <a:p>
            <a:pPr marL="193675" marR="1817370">
              <a:lnSpc>
                <a:spcPct val="148100"/>
              </a:lnSpc>
              <a:spcBef>
                <a:spcPts val="10"/>
              </a:spcBef>
            </a:pPr>
            <a:r>
              <a:rPr sz="2000" spc="-5" dirty="0">
                <a:solidFill>
                  <a:srgbClr val="E38312"/>
                </a:solidFill>
                <a:latin typeface="Calibri"/>
                <a:cs typeface="Calibri"/>
              </a:rPr>
              <a:t>1.</a:t>
            </a:r>
            <a:r>
              <a:rPr sz="2000" spc="-5" dirty="0">
                <a:solidFill>
                  <a:srgbClr val="404040"/>
                </a:solidFill>
                <a:latin typeface="Calibri"/>
                <a:cs typeface="Calibri"/>
              </a:rPr>
              <a:t>On</a:t>
            </a:r>
            <a:r>
              <a:rPr sz="2000" spc="-1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address</a:t>
            </a:r>
            <a:r>
              <a:rPr sz="2000" spc="-10" dirty="0">
                <a:solidFill>
                  <a:srgbClr val="404040"/>
                </a:solidFill>
                <a:latin typeface="Calibri"/>
                <a:cs typeface="Calibri"/>
              </a:rPr>
              <a:t> </a:t>
            </a:r>
            <a:r>
              <a:rPr sz="2000" spc="-5" dirty="0">
                <a:solidFill>
                  <a:srgbClr val="404040"/>
                </a:solidFill>
                <a:latin typeface="Calibri"/>
                <a:cs typeface="Calibri"/>
              </a:rPr>
              <a:t>bus,</a:t>
            </a:r>
            <a:r>
              <a:rPr sz="2000" dirty="0">
                <a:solidFill>
                  <a:srgbClr val="404040"/>
                </a:solidFill>
                <a:latin typeface="Calibri"/>
                <a:cs typeface="Calibri"/>
              </a:rPr>
              <a:t> the </a:t>
            </a:r>
            <a:r>
              <a:rPr sz="2000" spc="-15" dirty="0">
                <a:solidFill>
                  <a:srgbClr val="404040"/>
                </a:solidFill>
                <a:latin typeface="Calibri"/>
                <a:cs typeface="Calibri"/>
              </a:rPr>
              <a:t>relevant</a:t>
            </a:r>
            <a:r>
              <a:rPr sz="2000" spc="15" dirty="0">
                <a:solidFill>
                  <a:srgbClr val="404040"/>
                </a:solidFill>
                <a:latin typeface="Calibri"/>
                <a:cs typeface="Calibri"/>
              </a:rPr>
              <a:t> </a:t>
            </a:r>
            <a:r>
              <a:rPr sz="2000" spc="-5" dirty="0">
                <a:solidFill>
                  <a:srgbClr val="404040"/>
                </a:solidFill>
                <a:latin typeface="Calibri"/>
                <a:cs typeface="Calibri"/>
              </a:rPr>
              <a:t>address</a:t>
            </a:r>
            <a:r>
              <a:rPr sz="2000" spc="-10" dirty="0">
                <a:solidFill>
                  <a:srgbClr val="404040"/>
                </a:solidFill>
                <a:latin typeface="Calibri"/>
                <a:cs typeface="Calibri"/>
              </a:rPr>
              <a:t> </a:t>
            </a:r>
            <a:r>
              <a:rPr sz="2000" dirty="0">
                <a:solidFill>
                  <a:srgbClr val="404040"/>
                </a:solidFill>
                <a:latin typeface="Calibri"/>
                <a:cs typeface="Calibri"/>
              </a:rPr>
              <a:t>is</a:t>
            </a:r>
            <a:r>
              <a:rPr sz="2000" spc="15" dirty="0">
                <a:solidFill>
                  <a:srgbClr val="404040"/>
                </a:solidFill>
                <a:latin typeface="Calibri"/>
                <a:cs typeface="Calibri"/>
              </a:rPr>
              <a:t> </a:t>
            </a:r>
            <a:r>
              <a:rPr sz="2000" spc="-5" dirty="0">
                <a:solidFill>
                  <a:srgbClr val="404040"/>
                </a:solidFill>
                <a:latin typeface="Calibri"/>
                <a:cs typeface="Calibri"/>
              </a:rPr>
              <a:t>placed. </a:t>
            </a:r>
            <a:r>
              <a:rPr sz="2000" spc="-434" dirty="0">
                <a:solidFill>
                  <a:srgbClr val="404040"/>
                </a:solidFill>
                <a:latin typeface="Calibri"/>
                <a:cs typeface="Calibri"/>
              </a:rPr>
              <a:t> </a:t>
            </a:r>
            <a:r>
              <a:rPr sz="2000" spc="-5" dirty="0">
                <a:solidFill>
                  <a:srgbClr val="E38312"/>
                </a:solidFill>
                <a:latin typeface="Calibri"/>
                <a:cs typeface="Calibri"/>
              </a:rPr>
              <a:t>2.</a:t>
            </a:r>
            <a:r>
              <a:rPr sz="2000" spc="-5" dirty="0">
                <a:solidFill>
                  <a:srgbClr val="404040"/>
                </a:solidFill>
                <a:latin typeface="Calibri"/>
                <a:cs typeface="Calibri"/>
              </a:rPr>
              <a:t>The </a:t>
            </a:r>
            <a:r>
              <a:rPr sz="2000" i="1" spc="-5" dirty="0">
                <a:solidFill>
                  <a:srgbClr val="404040"/>
                </a:solidFill>
                <a:latin typeface="Calibri"/>
                <a:cs typeface="Calibri"/>
              </a:rPr>
              <a:t>CS </a:t>
            </a:r>
            <a:r>
              <a:rPr sz="2000" spc="-5" dirty="0">
                <a:solidFill>
                  <a:srgbClr val="404040"/>
                </a:solidFill>
                <a:latin typeface="Calibri"/>
                <a:cs typeface="Calibri"/>
              </a:rPr>
              <a:t>signal</a:t>
            </a:r>
            <a:r>
              <a:rPr sz="2000" dirty="0">
                <a:solidFill>
                  <a:srgbClr val="404040"/>
                </a:solidFill>
                <a:latin typeface="Calibri"/>
                <a:cs typeface="Calibri"/>
              </a:rPr>
              <a:t> </a:t>
            </a:r>
            <a:r>
              <a:rPr sz="2000" spc="-5" dirty="0">
                <a:solidFill>
                  <a:srgbClr val="404040"/>
                </a:solidFill>
                <a:latin typeface="Calibri"/>
                <a:cs typeface="Calibri"/>
              </a:rPr>
              <a:t>is</a:t>
            </a:r>
            <a:r>
              <a:rPr sz="2000" dirty="0">
                <a:solidFill>
                  <a:srgbClr val="404040"/>
                </a:solidFill>
                <a:latin typeface="Calibri"/>
                <a:cs typeface="Calibri"/>
              </a:rPr>
              <a:t> </a:t>
            </a:r>
            <a:r>
              <a:rPr sz="2000" spc="-10" dirty="0">
                <a:solidFill>
                  <a:srgbClr val="404040"/>
                </a:solidFill>
                <a:latin typeface="Calibri"/>
                <a:cs typeface="Calibri"/>
              </a:rPr>
              <a:t>activated.</a:t>
            </a:r>
            <a:endParaRPr sz="2000" dirty="0">
              <a:latin typeface="Calibri"/>
              <a:cs typeface="Calibri"/>
            </a:endParaRPr>
          </a:p>
          <a:p>
            <a:pPr marL="193675" marR="2334260">
              <a:lnSpc>
                <a:spcPct val="148500"/>
              </a:lnSpc>
            </a:pPr>
            <a:r>
              <a:rPr sz="2000" spc="-5" dirty="0">
                <a:solidFill>
                  <a:srgbClr val="E38312"/>
                </a:solidFill>
                <a:latin typeface="Calibri"/>
                <a:cs typeface="Calibri"/>
              </a:rPr>
              <a:t>3.</a:t>
            </a:r>
            <a:r>
              <a:rPr sz="2000" spc="-5" dirty="0">
                <a:solidFill>
                  <a:srgbClr val="404040"/>
                </a:solidFill>
                <a:latin typeface="Calibri"/>
                <a:cs typeface="Calibri"/>
              </a:rPr>
              <a:t>The </a:t>
            </a:r>
            <a:r>
              <a:rPr sz="2000" spc="-15" dirty="0">
                <a:solidFill>
                  <a:srgbClr val="404040"/>
                </a:solidFill>
                <a:latin typeface="Calibri"/>
                <a:cs typeface="Calibri"/>
              </a:rPr>
              <a:t>data</a:t>
            </a:r>
            <a:r>
              <a:rPr sz="2000" dirty="0">
                <a:solidFill>
                  <a:srgbClr val="404040"/>
                </a:solidFill>
                <a:latin typeface="Calibri"/>
                <a:cs typeface="Calibri"/>
              </a:rPr>
              <a:t> </a:t>
            </a:r>
            <a:r>
              <a:rPr sz="2000" spc="-15" dirty="0">
                <a:solidFill>
                  <a:srgbClr val="404040"/>
                </a:solidFill>
                <a:latin typeface="Calibri"/>
                <a:cs typeface="Calibri"/>
              </a:rPr>
              <a:t>for</a:t>
            </a:r>
            <a:r>
              <a:rPr sz="2000" spc="-10" dirty="0">
                <a:solidFill>
                  <a:srgbClr val="404040"/>
                </a:solidFill>
                <a:latin typeface="Calibri"/>
                <a:cs typeface="Calibri"/>
              </a:rPr>
              <a:t> </a:t>
            </a:r>
            <a:r>
              <a:rPr sz="2000" spc="-5" dirty="0">
                <a:solidFill>
                  <a:srgbClr val="404040"/>
                </a:solidFill>
                <a:latin typeface="Calibri"/>
                <a:cs typeface="Calibri"/>
              </a:rPr>
              <a:t>writing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placed on</a:t>
            </a:r>
            <a:r>
              <a:rPr sz="2000" spc="-10"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15" dirty="0">
                <a:solidFill>
                  <a:srgbClr val="404040"/>
                </a:solidFill>
                <a:latin typeface="Calibri"/>
                <a:cs typeface="Calibri"/>
              </a:rPr>
              <a:t>data</a:t>
            </a:r>
            <a:r>
              <a:rPr sz="2000" dirty="0">
                <a:solidFill>
                  <a:srgbClr val="404040"/>
                </a:solidFill>
                <a:latin typeface="Calibri"/>
                <a:cs typeface="Calibri"/>
              </a:rPr>
              <a:t> </a:t>
            </a:r>
            <a:r>
              <a:rPr sz="2000" spc="-5" dirty="0">
                <a:solidFill>
                  <a:srgbClr val="404040"/>
                </a:solidFill>
                <a:latin typeface="Calibri"/>
                <a:cs typeface="Calibri"/>
              </a:rPr>
              <a:t>bus. </a:t>
            </a:r>
            <a:r>
              <a:rPr sz="2000" spc="-434" dirty="0">
                <a:solidFill>
                  <a:srgbClr val="404040"/>
                </a:solidFill>
                <a:latin typeface="Calibri"/>
                <a:cs typeface="Calibri"/>
              </a:rPr>
              <a:t> </a:t>
            </a:r>
            <a:r>
              <a:rPr sz="2000" spc="-5" dirty="0">
                <a:solidFill>
                  <a:srgbClr val="E38312"/>
                </a:solidFill>
                <a:latin typeface="Calibri"/>
                <a:cs typeface="Calibri"/>
              </a:rPr>
              <a:t>4.</a:t>
            </a:r>
            <a:r>
              <a:rPr sz="2000" spc="-5" dirty="0">
                <a:solidFill>
                  <a:srgbClr val="404040"/>
                </a:solidFill>
                <a:latin typeface="Calibri"/>
                <a:cs typeface="Calibri"/>
              </a:rPr>
              <a:t>The </a:t>
            </a:r>
            <a:r>
              <a:rPr sz="2000" i="1" dirty="0">
                <a:solidFill>
                  <a:srgbClr val="404040"/>
                </a:solidFill>
                <a:latin typeface="Calibri"/>
                <a:cs typeface="Calibri"/>
              </a:rPr>
              <a:t>WR</a:t>
            </a:r>
            <a:r>
              <a:rPr sz="2000" i="1" spc="-20" dirty="0">
                <a:solidFill>
                  <a:srgbClr val="404040"/>
                </a:solidFill>
                <a:latin typeface="Calibri"/>
                <a:cs typeface="Calibri"/>
              </a:rPr>
              <a:t> </a:t>
            </a:r>
            <a:r>
              <a:rPr sz="2000" spc="-5" dirty="0">
                <a:solidFill>
                  <a:srgbClr val="404040"/>
                </a:solidFill>
                <a:latin typeface="Calibri"/>
                <a:cs typeface="Calibri"/>
              </a:rPr>
              <a:t>signal</a:t>
            </a:r>
            <a:r>
              <a:rPr sz="2000" dirty="0">
                <a:solidFill>
                  <a:srgbClr val="404040"/>
                </a:solidFill>
                <a:latin typeface="Calibri"/>
                <a:cs typeface="Calibri"/>
              </a:rPr>
              <a:t> </a:t>
            </a:r>
            <a:r>
              <a:rPr sz="2000" spc="-5" dirty="0">
                <a:solidFill>
                  <a:srgbClr val="404040"/>
                </a:solidFill>
                <a:latin typeface="Calibri"/>
                <a:cs typeface="Calibri"/>
              </a:rPr>
              <a:t>is</a:t>
            </a:r>
            <a:r>
              <a:rPr sz="2000" dirty="0">
                <a:solidFill>
                  <a:srgbClr val="404040"/>
                </a:solidFill>
                <a:latin typeface="Calibri"/>
                <a:cs typeface="Calibri"/>
              </a:rPr>
              <a:t> </a:t>
            </a:r>
            <a:r>
              <a:rPr sz="2000" spc="-10" dirty="0">
                <a:solidFill>
                  <a:srgbClr val="404040"/>
                </a:solidFill>
                <a:latin typeface="Calibri"/>
                <a:cs typeface="Calibri"/>
              </a:rPr>
              <a:t>activated.</a:t>
            </a:r>
            <a:endParaRPr sz="2000" dirty="0">
              <a:latin typeface="Calibri"/>
              <a:cs typeface="Calibri"/>
            </a:endParaRPr>
          </a:p>
          <a:p>
            <a:pPr marL="193675">
              <a:lnSpc>
                <a:spcPct val="100000"/>
              </a:lnSpc>
              <a:spcBef>
                <a:spcPts val="1155"/>
              </a:spcBef>
            </a:pPr>
            <a:r>
              <a:rPr sz="2000" spc="-5" dirty="0">
                <a:solidFill>
                  <a:srgbClr val="E38312"/>
                </a:solidFill>
                <a:latin typeface="Calibri"/>
                <a:cs typeface="Calibri"/>
              </a:rPr>
              <a:t>5.</a:t>
            </a:r>
            <a:r>
              <a:rPr sz="2000" spc="-5" dirty="0">
                <a:solidFill>
                  <a:srgbClr val="404040"/>
                </a:solidFill>
                <a:latin typeface="Calibri"/>
                <a:cs typeface="Calibri"/>
              </a:rPr>
              <a:t>The</a:t>
            </a:r>
            <a:r>
              <a:rPr sz="2000" dirty="0">
                <a:solidFill>
                  <a:srgbClr val="404040"/>
                </a:solidFill>
                <a:latin typeface="Calibri"/>
                <a:cs typeface="Calibri"/>
              </a:rPr>
              <a:t> </a:t>
            </a:r>
            <a:r>
              <a:rPr sz="2000" spc="-15" dirty="0">
                <a:solidFill>
                  <a:srgbClr val="404040"/>
                </a:solidFill>
                <a:latin typeface="Calibri"/>
                <a:cs typeface="Calibri"/>
              </a:rPr>
              <a:t>data</a:t>
            </a:r>
            <a:r>
              <a:rPr sz="2000" spc="5"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considered </a:t>
            </a:r>
            <a:r>
              <a:rPr sz="2000" spc="-10" dirty="0">
                <a:solidFill>
                  <a:srgbClr val="404040"/>
                </a:solidFill>
                <a:latin typeface="Calibri"/>
                <a:cs typeface="Calibri"/>
              </a:rPr>
              <a:t>valid</a:t>
            </a:r>
            <a:r>
              <a:rPr sz="2000" dirty="0">
                <a:solidFill>
                  <a:srgbClr val="404040"/>
                </a:solidFill>
                <a:latin typeface="Calibri"/>
                <a:cs typeface="Calibri"/>
              </a:rPr>
              <a:t> and</a:t>
            </a:r>
            <a:r>
              <a:rPr sz="2000" spc="5" dirty="0">
                <a:solidFill>
                  <a:srgbClr val="404040"/>
                </a:solidFill>
                <a:latin typeface="Calibri"/>
                <a:cs typeface="Calibri"/>
              </a:rPr>
              <a:t> </a:t>
            </a:r>
            <a:r>
              <a:rPr sz="2000" spc="-5" dirty="0">
                <a:solidFill>
                  <a:srgbClr val="404040"/>
                </a:solidFill>
                <a:latin typeface="Calibri"/>
                <a:cs typeface="Calibri"/>
              </a:rPr>
              <a:t>is</a:t>
            </a:r>
            <a:r>
              <a:rPr sz="2000" dirty="0">
                <a:solidFill>
                  <a:srgbClr val="404040"/>
                </a:solidFill>
                <a:latin typeface="Calibri"/>
                <a:cs typeface="Calibri"/>
              </a:rPr>
              <a:t> </a:t>
            </a:r>
            <a:r>
              <a:rPr sz="2000" spc="-10" dirty="0">
                <a:solidFill>
                  <a:srgbClr val="404040"/>
                </a:solidFill>
                <a:latin typeface="Calibri"/>
                <a:cs typeface="Calibri"/>
              </a:rPr>
              <a:t>written</a:t>
            </a:r>
            <a:r>
              <a:rPr sz="2000" spc="20" dirty="0">
                <a:solidFill>
                  <a:srgbClr val="404040"/>
                </a:solidFill>
                <a:latin typeface="Calibri"/>
                <a:cs typeface="Calibri"/>
              </a:rPr>
              <a:t> </a:t>
            </a:r>
            <a:r>
              <a:rPr sz="2000" dirty="0">
                <a:solidFill>
                  <a:srgbClr val="404040"/>
                </a:solidFill>
                <a:latin typeface="Calibri"/>
                <a:cs typeface="Calibri"/>
              </a:rPr>
              <a:t>in</a:t>
            </a:r>
            <a:r>
              <a:rPr sz="2000" spc="-10"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addressed</a:t>
            </a:r>
            <a:r>
              <a:rPr sz="2000" dirty="0">
                <a:solidFill>
                  <a:srgbClr val="404040"/>
                </a:solidFill>
                <a:latin typeface="Calibri"/>
                <a:cs typeface="Calibri"/>
              </a:rPr>
              <a:t> </a:t>
            </a:r>
            <a:r>
              <a:rPr sz="2000" spc="-5" dirty="0">
                <a:solidFill>
                  <a:srgbClr val="404040"/>
                </a:solidFill>
                <a:latin typeface="Calibri"/>
                <a:cs typeface="Calibri"/>
              </a:rPr>
              <a:t>location.</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14</a:t>
            </a:r>
            <a:endParaRPr sz="1050">
              <a:latin typeface="Calibri"/>
              <a:cs typeface="Calibri"/>
            </a:endParaRPr>
          </a:p>
        </p:txBody>
      </p:sp>
      <p:cxnSp>
        <p:nvCxnSpPr>
          <p:cNvPr id="3" name="Straight Connector 2"/>
          <p:cNvCxnSpPr/>
          <p:nvPr/>
        </p:nvCxnSpPr>
        <p:spPr>
          <a:xfrm>
            <a:off x="1995055" y="2660073"/>
            <a:ext cx="304800" cy="138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95055" y="3602182"/>
            <a:ext cx="304800" cy="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4846955" cy="756920"/>
          </a:xfrm>
          <a:prstGeom prst="rect">
            <a:avLst/>
          </a:prstGeom>
        </p:spPr>
        <p:txBody>
          <a:bodyPr vert="horz" wrap="square" lIns="0" tIns="12700" rIns="0" bIns="0" rtlCol="0">
            <a:spAutoFit/>
          </a:bodyPr>
          <a:lstStyle/>
          <a:p>
            <a:pPr marL="12700">
              <a:lnSpc>
                <a:spcPct val="100000"/>
              </a:lnSpc>
              <a:spcBef>
                <a:spcPts val="100"/>
              </a:spcBef>
            </a:pPr>
            <a:r>
              <a:rPr sz="4800" b="0" spc="-65" dirty="0">
                <a:solidFill>
                  <a:srgbClr val="00AFEF"/>
                </a:solidFill>
                <a:latin typeface="Calibri Light"/>
                <a:cs typeface="Calibri Light"/>
              </a:rPr>
              <a:t>Asynchronous</a:t>
            </a:r>
            <a:r>
              <a:rPr sz="4800" b="0" spc="-165" dirty="0">
                <a:solidFill>
                  <a:srgbClr val="00AFEF"/>
                </a:solidFill>
                <a:latin typeface="Calibri Light"/>
                <a:cs typeface="Calibri Light"/>
              </a:rPr>
              <a:t> </a:t>
            </a:r>
            <a:r>
              <a:rPr sz="4800" b="0" spc="-85" dirty="0">
                <a:solidFill>
                  <a:srgbClr val="00AFEF"/>
                </a:solidFill>
                <a:latin typeface="Calibri Light"/>
                <a:cs typeface="Calibri Light"/>
              </a:rPr>
              <a:t>Write</a:t>
            </a:r>
            <a:endParaRPr sz="4800">
              <a:latin typeface="Calibri Light"/>
              <a:cs typeface="Calibri Light"/>
            </a:endParaRPr>
          </a:p>
        </p:txBody>
      </p:sp>
      <p:sp>
        <p:nvSpPr>
          <p:cNvPr id="7" name="object 7"/>
          <p:cNvSpPr txBox="1"/>
          <p:nvPr/>
        </p:nvSpPr>
        <p:spPr>
          <a:xfrm>
            <a:off x="973743" y="2316885"/>
            <a:ext cx="5607166" cy="1638269"/>
          </a:xfrm>
          <a:prstGeom prst="rect">
            <a:avLst/>
          </a:prstGeom>
        </p:spPr>
        <p:txBody>
          <a:bodyPr vert="horz" wrap="square" lIns="0" tIns="47625" rIns="0" bIns="0" rtlCol="0">
            <a:spAutoFit/>
          </a:bodyPr>
          <a:lstStyle/>
          <a:p>
            <a:pPr marL="104139" marR="299085" indent="-92075">
              <a:lnSpc>
                <a:spcPts val="2160"/>
              </a:lnSpc>
              <a:spcBef>
                <a:spcPts val="375"/>
              </a:spcBef>
              <a:buClr>
                <a:srgbClr val="E38312"/>
              </a:buClr>
              <a:buSzPct val="95000"/>
              <a:buFont typeface="Wingdings"/>
              <a:buChar char=""/>
              <a:tabLst>
                <a:tab pos="130175" algn="l"/>
              </a:tabLst>
            </a:pPr>
            <a:r>
              <a:rPr sz="2000" dirty="0">
                <a:solidFill>
                  <a:srgbClr val="404040"/>
                </a:solidFill>
                <a:latin typeface="Calibri"/>
                <a:cs typeface="Calibri"/>
              </a:rPr>
              <a:t>In</a:t>
            </a:r>
            <a:r>
              <a:rPr sz="2000" spc="-5" dirty="0">
                <a:solidFill>
                  <a:srgbClr val="404040"/>
                </a:solidFill>
                <a:latin typeface="Calibri"/>
                <a:cs typeface="Calibri"/>
              </a:rPr>
              <a:t> th</a:t>
            </a:r>
            <a:r>
              <a:rPr lang="en-US" sz="2000" spc="-5" dirty="0">
                <a:solidFill>
                  <a:srgbClr val="404040"/>
                </a:solidFill>
                <a:latin typeface="Calibri"/>
                <a:cs typeface="Calibri"/>
              </a:rPr>
              <a:t>i</a:t>
            </a:r>
            <a:r>
              <a:rPr sz="2000" spc="-5" dirty="0">
                <a:solidFill>
                  <a:srgbClr val="404040"/>
                </a:solidFill>
                <a:latin typeface="Calibri"/>
                <a:cs typeface="Calibri"/>
              </a:rPr>
              <a:t>s</a:t>
            </a:r>
            <a:r>
              <a:rPr sz="2000" dirty="0">
                <a:solidFill>
                  <a:srgbClr val="404040"/>
                </a:solidFill>
                <a:latin typeface="Calibri"/>
                <a:cs typeface="Calibri"/>
              </a:rPr>
              <a:t> </a:t>
            </a:r>
            <a:r>
              <a:rPr sz="2000" spc="-10" dirty="0">
                <a:solidFill>
                  <a:srgbClr val="404040"/>
                </a:solidFill>
                <a:latin typeface="Calibri"/>
                <a:cs typeface="Calibri"/>
              </a:rPr>
              <a:t>diagram,</a:t>
            </a:r>
            <a:r>
              <a:rPr sz="2000" spc="5" dirty="0">
                <a:solidFill>
                  <a:srgbClr val="404040"/>
                </a:solidFill>
                <a:latin typeface="Calibri"/>
                <a:cs typeface="Calibri"/>
              </a:rPr>
              <a:t> </a:t>
            </a:r>
            <a:r>
              <a:rPr sz="2000" spc="-10" dirty="0">
                <a:solidFill>
                  <a:srgbClr val="404040"/>
                </a:solidFill>
                <a:latin typeface="Calibri"/>
                <a:cs typeface="Calibri"/>
              </a:rPr>
              <a:t>we </a:t>
            </a:r>
            <a:r>
              <a:rPr sz="2000" spc="-5" dirty="0">
                <a:solidFill>
                  <a:srgbClr val="404040"/>
                </a:solidFill>
                <a:latin typeface="Calibri"/>
                <a:cs typeface="Calibri"/>
              </a:rPr>
              <a:t>find</a:t>
            </a:r>
            <a:r>
              <a:rPr sz="2000" dirty="0">
                <a:solidFill>
                  <a:srgbClr val="404040"/>
                </a:solidFill>
                <a:latin typeface="Calibri"/>
                <a:cs typeface="Calibri"/>
              </a:rPr>
              <a:t> </a:t>
            </a:r>
            <a:r>
              <a:rPr sz="2000" spc="-5" dirty="0">
                <a:solidFill>
                  <a:srgbClr val="404040"/>
                </a:solidFill>
                <a:latin typeface="Calibri"/>
                <a:cs typeface="Calibri"/>
              </a:rPr>
              <a:t>that</a:t>
            </a:r>
            <a:r>
              <a:rPr sz="2000" dirty="0">
                <a:solidFill>
                  <a:srgbClr val="404040"/>
                </a:solidFill>
                <a:latin typeface="Calibri"/>
                <a:cs typeface="Calibri"/>
              </a:rPr>
              <a:t> </a:t>
            </a:r>
            <a:r>
              <a:rPr sz="2000" dirty="0" smtClean="0">
                <a:solidFill>
                  <a:srgbClr val="404040"/>
                </a:solidFill>
                <a:latin typeface="Calibri"/>
                <a:cs typeface="Calibri"/>
              </a:rPr>
              <a:t> </a:t>
            </a:r>
            <a:r>
              <a:rPr sz="2000" dirty="0">
                <a:solidFill>
                  <a:srgbClr val="404040"/>
                </a:solidFill>
                <a:latin typeface="Calibri"/>
                <a:cs typeface="Calibri"/>
              </a:rPr>
              <a:t>the </a:t>
            </a:r>
            <a:r>
              <a:rPr sz="2000" spc="5" dirty="0">
                <a:solidFill>
                  <a:srgbClr val="404040"/>
                </a:solidFill>
                <a:latin typeface="Calibri"/>
                <a:cs typeface="Calibri"/>
              </a:rPr>
              <a:t> </a:t>
            </a:r>
            <a:r>
              <a:rPr sz="2000" spc="-10" dirty="0">
                <a:solidFill>
                  <a:srgbClr val="404040"/>
                </a:solidFill>
                <a:latin typeface="Calibri"/>
                <a:cs typeface="Calibri"/>
              </a:rPr>
              <a:t>operations </a:t>
            </a:r>
            <a:r>
              <a:rPr sz="2000" spc="-5" dirty="0">
                <a:solidFill>
                  <a:srgbClr val="404040"/>
                </a:solidFill>
                <a:latin typeface="Calibri"/>
                <a:cs typeface="Calibri"/>
              </a:rPr>
              <a:t>of reading </a:t>
            </a:r>
            <a:r>
              <a:rPr sz="2000" dirty="0">
                <a:solidFill>
                  <a:srgbClr val="404040"/>
                </a:solidFill>
                <a:latin typeface="Calibri"/>
                <a:cs typeface="Calibri"/>
              </a:rPr>
              <a:t>and </a:t>
            </a:r>
            <a:r>
              <a:rPr sz="2000" spc="-5" dirty="0">
                <a:solidFill>
                  <a:srgbClr val="404040"/>
                </a:solidFill>
                <a:latin typeface="Calibri"/>
                <a:cs typeface="Calibri"/>
              </a:rPr>
              <a:t>writing </a:t>
            </a:r>
            <a:r>
              <a:rPr sz="2000" i="1" spc="-5" dirty="0">
                <a:solidFill>
                  <a:srgbClr val="404040"/>
                </a:solidFill>
                <a:latin typeface="Calibri"/>
                <a:cs typeface="Calibri"/>
              </a:rPr>
              <a:t>are </a:t>
            </a:r>
            <a:r>
              <a:rPr sz="2000" spc="-5" dirty="0">
                <a:solidFill>
                  <a:srgbClr val="404040"/>
                </a:solidFill>
                <a:latin typeface="Calibri"/>
                <a:cs typeface="Calibri"/>
              </a:rPr>
              <a:t>not </a:t>
            </a:r>
            <a:r>
              <a:rPr sz="2000" spc="-440" dirty="0">
                <a:solidFill>
                  <a:srgbClr val="404040"/>
                </a:solidFill>
                <a:latin typeface="Calibri"/>
                <a:cs typeface="Calibri"/>
              </a:rPr>
              <a:t> </a:t>
            </a:r>
            <a:r>
              <a:rPr sz="2000" spc="-5" dirty="0">
                <a:solidFill>
                  <a:srgbClr val="404040"/>
                </a:solidFill>
                <a:latin typeface="Calibri"/>
                <a:cs typeface="Calibri"/>
              </a:rPr>
              <a:t>timed by </a:t>
            </a:r>
            <a:r>
              <a:rPr sz="2000" spc="-10" dirty="0">
                <a:solidFill>
                  <a:srgbClr val="404040"/>
                </a:solidFill>
                <a:latin typeface="Calibri"/>
                <a:cs typeface="Calibri"/>
              </a:rPr>
              <a:t>any </a:t>
            </a:r>
            <a:r>
              <a:rPr sz="2000" dirty="0">
                <a:solidFill>
                  <a:srgbClr val="404040"/>
                </a:solidFill>
                <a:latin typeface="Calibri"/>
                <a:cs typeface="Calibri"/>
              </a:rPr>
              <a:t>clock, and hence </a:t>
            </a:r>
            <a:r>
              <a:rPr sz="2000" spc="-10" dirty="0">
                <a:solidFill>
                  <a:srgbClr val="404040"/>
                </a:solidFill>
                <a:latin typeface="Calibri"/>
                <a:cs typeface="Calibri"/>
              </a:rPr>
              <a:t>are </a:t>
            </a:r>
            <a:r>
              <a:rPr sz="2000" spc="-5" dirty="0">
                <a:solidFill>
                  <a:srgbClr val="404040"/>
                </a:solidFill>
                <a:latin typeface="Calibri"/>
                <a:cs typeface="Calibri"/>
              </a:rPr>
              <a:t> 'asynchronous'.</a:t>
            </a:r>
            <a:endParaRPr sz="2000" dirty="0">
              <a:latin typeface="Calibri"/>
              <a:cs typeface="Calibri"/>
            </a:endParaRPr>
          </a:p>
          <a:p>
            <a:pPr marL="104139" marR="5080" indent="-92075">
              <a:lnSpc>
                <a:spcPts val="2160"/>
              </a:lnSpc>
              <a:spcBef>
                <a:spcPts val="1420"/>
              </a:spcBef>
              <a:buClr>
                <a:srgbClr val="E38312"/>
              </a:buClr>
              <a:buSzPct val="95000"/>
              <a:buFont typeface="Wingdings"/>
              <a:buChar char=""/>
              <a:tabLst>
                <a:tab pos="130175" algn="l"/>
              </a:tabLst>
            </a:pPr>
            <a:r>
              <a:rPr sz="2000" spc="-25" dirty="0" smtClean="0">
                <a:solidFill>
                  <a:srgbClr val="404040"/>
                </a:solidFill>
                <a:latin typeface="Calibri"/>
                <a:cs typeface="Calibri"/>
              </a:rPr>
              <a:t> </a:t>
            </a:r>
            <a:r>
              <a:rPr sz="2000" dirty="0">
                <a:solidFill>
                  <a:srgbClr val="404040"/>
                </a:solidFill>
                <a:latin typeface="Calibri"/>
                <a:cs typeface="Calibri"/>
              </a:rPr>
              <a:t>SRAMs</a:t>
            </a:r>
            <a:r>
              <a:rPr sz="2000" spc="-20"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timed</a:t>
            </a:r>
            <a:r>
              <a:rPr sz="2000" spc="10" dirty="0">
                <a:solidFill>
                  <a:srgbClr val="404040"/>
                </a:solidFill>
                <a:latin typeface="Calibri"/>
                <a:cs typeface="Calibri"/>
              </a:rPr>
              <a:t> </a:t>
            </a:r>
            <a:r>
              <a:rPr sz="2000" spc="-5" dirty="0">
                <a:solidFill>
                  <a:srgbClr val="404040"/>
                </a:solidFill>
                <a:latin typeface="Calibri"/>
                <a:cs typeface="Calibri"/>
              </a:rPr>
              <a:t>by</a:t>
            </a:r>
            <a:r>
              <a:rPr sz="2000" spc="-20"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dirty="0">
                <a:solidFill>
                  <a:srgbClr val="404040"/>
                </a:solidFill>
                <a:latin typeface="Calibri"/>
                <a:cs typeface="Calibri"/>
              </a:rPr>
              <a:t>clock</a:t>
            </a:r>
            <a:r>
              <a:rPr sz="2000" spc="-15" dirty="0">
                <a:solidFill>
                  <a:srgbClr val="404040"/>
                </a:solidFill>
                <a:latin typeface="Calibri"/>
                <a:cs typeface="Calibri"/>
              </a:rPr>
              <a:t> </a:t>
            </a:r>
            <a:r>
              <a:rPr sz="2000" dirty="0">
                <a:solidFill>
                  <a:srgbClr val="404040"/>
                </a:solidFill>
                <a:latin typeface="Calibri"/>
                <a:cs typeface="Calibri"/>
              </a:rPr>
              <a:t>signals </a:t>
            </a:r>
            <a:r>
              <a:rPr sz="2000" spc="-440" dirty="0">
                <a:solidFill>
                  <a:srgbClr val="404040"/>
                </a:solidFill>
                <a:latin typeface="Calibri"/>
                <a:cs typeface="Calibri"/>
              </a:rPr>
              <a:t> </a:t>
            </a:r>
            <a:r>
              <a:rPr sz="2000" spc="-5" dirty="0">
                <a:solidFill>
                  <a:srgbClr val="404040"/>
                </a:solidFill>
                <a:latin typeface="Calibri"/>
                <a:cs typeface="Calibri"/>
              </a:rPr>
              <a:t>of</a:t>
            </a:r>
            <a:r>
              <a:rPr sz="2000" spc="-15" dirty="0">
                <a:solidFill>
                  <a:srgbClr val="404040"/>
                </a:solidFill>
                <a:latin typeface="Calibri"/>
                <a:cs typeface="Calibri"/>
              </a:rPr>
              <a:t> </a:t>
            </a:r>
            <a:r>
              <a:rPr sz="2000" dirty="0">
                <a:solidFill>
                  <a:srgbClr val="404040"/>
                </a:solidFill>
                <a:latin typeface="Calibri"/>
                <a:cs typeface="Calibri"/>
              </a:rPr>
              <a:t>the </a:t>
            </a:r>
            <a:r>
              <a:rPr sz="2000" spc="-20" dirty="0">
                <a:solidFill>
                  <a:srgbClr val="404040"/>
                </a:solidFill>
                <a:latin typeface="Calibri"/>
                <a:cs typeface="Calibri"/>
              </a:rPr>
              <a:t>system</a:t>
            </a:r>
            <a:r>
              <a:rPr sz="2000" spc="5" dirty="0">
                <a:solidFill>
                  <a:srgbClr val="404040"/>
                </a:solidFill>
                <a:latin typeface="Calibri"/>
                <a:cs typeface="Calibri"/>
              </a:rPr>
              <a:t> </a:t>
            </a:r>
            <a:r>
              <a:rPr sz="2000" spc="-5" dirty="0">
                <a:solidFill>
                  <a:srgbClr val="404040"/>
                </a:solidFill>
                <a:latin typeface="Calibri"/>
                <a:cs typeface="Calibri"/>
              </a:rPr>
              <a:t>they</a:t>
            </a:r>
            <a:r>
              <a:rPr sz="2000"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part </a:t>
            </a:r>
            <a:r>
              <a:rPr sz="2000" spc="-40" dirty="0" smtClean="0">
                <a:solidFill>
                  <a:srgbClr val="404040"/>
                </a:solidFill>
                <a:latin typeface="Calibri"/>
                <a:cs typeface="Calibri"/>
              </a:rPr>
              <a:t>of</a:t>
            </a:r>
            <a:r>
              <a:rPr lang="en-US" sz="2000" spc="-40" dirty="0">
                <a:solidFill>
                  <a:srgbClr val="404040"/>
                </a:solidFill>
                <a:latin typeface="Calibri"/>
                <a:cs typeface="Calibri"/>
              </a:rPr>
              <a:t> </a:t>
            </a:r>
            <a:r>
              <a:rPr sz="2000" spc="-5" dirty="0" smtClean="0">
                <a:solidFill>
                  <a:srgbClr val="404040"/>
                </a:solidFill>
                <a:latin typeface="Calibri"/>
                <a:cs typeface="Calibri"/>
              </a:rPr>
              <a:t> </a:t>
            </a:r>
            <a:r>
              <a:rPr sz="2000" spc="-5" dirty="0">
                <a:solidFill>
                  <a:srgbClr val="404040"/>
                </a:solidFill>
                <a:latin typeface="Calibri"/>
                <a:cs typeface="Calibri"/>
              </a:rPr>
              <a:t>'Synchronous</a:t>
            </a:r>
            <a:r>
              <a:rPr sz="2000" spc="-45" dirty="0">
                <a:solidFill>
                  <a:srgbClr val="404040"/>
                </a:solidFill>
                <a:latin typeface="Calibri"/>
                <a:cs typeface="Calibri"/>
              </a:rPr>
              <a:t> </a:t>
            </a:r>
            <a:r>
              <a:rPr sz="2000" dirty="0">
                <a:solidFill>
                  <a:srgbClr val="404040"/>
                </a:solidFill>
                <a:latin typeface="Calibri"/>
                <a:cs typeface="Calibri"/>
              </a:rPr>
              <a:t>SRAMs'.</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15</a:t>
            </a:r>
            <a:endParaRPr sz="1050">
              <a:latin typeface="Calibri"/>
              <a:cs typeface="Calibri"/>
            </a:endParaRPr>
          </a:p>
        </p:txBody>
      </p:sp>
      <p:pic>
        <p:nvPicPr>
          <p:cNvPr id="11" name="object 11"/>
          <p:cNvPicPr/>
          <p:nvPr/>
        </p:nvPicPr>
        <p:blipFill>
          <a:blip r:embed="rId2" cstate="print"/>
          <a:stretch>
            <a:fillRect/>
          </a:stretch>
        </p:blipFill>
        <p:spPr>
          <a:xfrm>
            <a:off x="6456217" y="2074130"/>
            <a:ext cx="5001492" cy="358563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24941"/>
            <a:ext cx="7048500" cy="757555"/>
          </a:xfrm>
          <a:prstGeom prst="rect">
            <a:avLst/>
          </a:prstGeom>
        </p:spPr>
        <p:txBody>
          <a:bodyPr vert="horz" wrap="square" lIns="0" tIns="12700" rIns="0" bIns="0" rtlCol="0">
            <a:spAutoFit/>
          </a:bodyPr>
          <a:lstStyle/>
          <a:p>
            <a:pPr marL="12700">
              <a:lnSpc>
                <a:spcPct val="100000"/>
              </a:lnSpc>
              <a:spcBef>
                <a:spcPts val="100"/>
              </a:spcBef>
            </a:pPr>
            <a:r>
              <a:rPr sz="4800" b="0" spc="-120" dirty="0" smtClean="0">
                <a:solidFill>
                  <a:srgbClr val="00AFEF"/>
                </a:solidFill>
                <a:latin typeface="Calibri Light"/>
                <a:cs typeface="Calibri Light"/>
              </a:rPr>
              <a:t> </a:t>
            </a:r>
            <a:r>
              <a:rPr sz="4800" b="0" spc="-45" dirty="0">
                <a:solidFill>
                  <a:srgbClr val="00AFEF"/>
                </a:solidFill>
                <a:latin typeface="Calibri Light"/>
                <a:cs typeface="Calibri Light"/>
              </a:rPr>
              <a:t>Dynamic</a:t>
            </a:r>
            <a:r>
              <a:rPr sz="4800" b="0" spc="-110" dirty="0">
                <a:solidFill>
                  <a:srgbClr val="00AFEF"/>
                </a:solidFill>
                <a:latin typeface="Calibri Light"/>
                <a:cs typeface="Calibri Light"/>
              </a:rPr>
              <a:t> </a:t>
            </a:r>
            <a:r>
              <a:rPr sz="4800" b="0" spc="-35" dirty="0">
                <a:solidFill>
                  <a:srgbClr val="00AFEF"/>
                </a:solidFill>
                <a:latin typeface="Calibri Light"/>
                <a:cs typeface="Calibri Light"/>
              </a:rPr>
              <a:t>RAM</a:t>
            </a:r>
            <a:r>
              <a:rPr sz="4800" b="0" spc="-130" dirty="0">
                <a:solidFill>
                  <a:srgbClr val="00AFEF"/>
                </a:solidFill>
                <a:latin typeface="Calibri Light"/>
                <a:cs typeface="Calibri Light"/>
              </a:rPr>
              <a:t> </a:t>
            </a:r>
            <a:r>
              <a:rPr sz="4800" b="0" spc="-40" dirty="0">
                <a:solidFill>
                  <a:srgbClr val="00AFEF"/>
                </a:solidFill>
                <a:latin typeface="Calibri Light"/>
                <a:cs typeface="Calibri Light"/>
              </a:rPr>
              <a:t>(DRAM)</a:t>
            </a:r>
            <a:endParaRPr sz="4800" dirty="0">
              <a:latin typeface="Calibri Light"/>
              <a:cs typeface="Calibri Light"/>
            </a:endParaRPr>
          </a:p>
        </p:txBody>
      </p:sp>
      <p:sp>
        <p:nvSpPr>
          <p:cNvPr id="7" name="object 7"/>
          <p:cNvSpPr txBox="1"/>
          <p:nvPr/>
        </p:nvSpPr>
        <p:spPr>
          <a:xfrm>
            <a:off x="240146" y="1831975"/>
            <a:ext cx="9070110" cy="4690387"/>
          </a:xfrm>
          <a:prstGeom prst="rect">
            <a:avLst/>
          </a:prstGeom>
        </p:spPr>
        <p:txBody>
          <a:bodyPr vert="horz" wrap="square" lIns="0" tIns="47625" rIns="0" bIns="0" rtlCol="0">
            <a:spAutoFit/>
          </a:bodyPr>
          <a:lstStyle/>
          <a:p>
            <a:pPr marL="104139" marR="86360" indent="-92075">
              <a:lnSpc>
                <a:spcPts val="2160"/>
              </a:lnSpc>
              <a:spcBef>
                <a:spcPts val="375"/>
              </a:spcBef>
              <a:buClr>
                <a:srgbClr val="E38312"/>
              </a:buClr>
              <a:buFont typeface="Wingdings"/>
              <a:buChar char=""/>
              <a:tabLst>
                <a:tab pos="270510" algn="l"/>
              </a:tabLst>
            </a:pPr>
            <a:r>
              <a:rPr sz="2000" spc="5" dirty="0">
                <a:solidFill>
                  <a:srgbClr val="404040"/>
                </a:solidFill>
                <a:latin typeface="Calibri"/>
                <a:cs typeface="Calibri"/>
              </a:rPr>
              <a:t>DRAM</a:t>
            </a:r>
            <a:r>
              <a:rPr sz="2000" spc="-2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used </a:t>
            </a:r>
            <a:r>
              <a:rPr sz="2000" dirty="0">
                <a:solidFill>
                  <a:srgbClr val="404040"/>
                </a:solidFill>
                <a:latin typeface="Calibri"/>
                <a:cs typeface="Calibri"/>
              </a:rPr>
              <a:t>as</a:t>
            </a:r>
            <a:r>
              <a:rPr sz="2000" spc="5" dirty="0">
                <a:solidFill>
                  <a:srgbClr val="404040"/>
                </a:solidFill>
                <a:latin typeface="Calibri"/>
                <a:cs typeface="Calibri"/>
              </a:rPr>
              <a:t> </a:t>
            </a:r>
            <a:r>
              <a:rPr sz="2000" dirty="0">
                <a:solidFill>
                  <a:srgbClr val="404040"/>
                </a:solidFill>
                <a:latin typeface="Calibri"/>
                <a:cs typeface="Calibri"/>
              </a:rPr>
              <a:t>primary</a:t>
            </a:r>
            <a:r>
              <a:rPr sz="2000" spc="-5" dirty="0">
                <a:solidFill>
                  <a:srgbClr val="404040"/>
                </a:solidFill>
                <a:latin typeface="Calibri"/>
                <a:cs typeface="Calibri"/>
              </a:rPr>
              <a:t> (main)</a:t>
            </a:r>
            <a:r>
              <a:rPr sz="2000" spc="15" dirty="0">
                <a:solidFill>
                  <a:srgbClr val="404040"/>
                </a:solidFill>
                <a:latin typeface="Calibri"/>
                <a:cs typeface="Calibri"/>
              </a:rPr>
              <a:t> </a:t>
            </a:r>
            <a:r>
              <a:rPr sz="2000" dirty="0">
                <a:solidFill>
                  <a:srgbClr val="404040"/>
                </a:solidFill>
                <a:latin typeface="Calibri"/>
                <a:cs typeface="Calibri"/>
              </a:rPr>
              <a:t>memory </a:t>
            </a:r>
            <a:r>
              <a:rPr lang="en-US" sz="2000" dirty="0" smtClean="0">
                <a:solidFill>
                  <a:srgbClr val="404040"/>
                </a:solidFill>
                <a:latin typeface="Calibri"/>
                <a:cs typeface="Calibri"/>
              </a:rPr>
              <a:t> in </a:t>
            </a:r>
            <a:r>
              <a:rPr sz="2000" dirty="0" smtClean="0">
                <a:solidFill>
                  <a:srgbClr val="404040"/>
                </a:solidFill>
                <a:latin typeface="Calibri"/>
                <a:cs typeface="Calibri"/>
              </a:rPr>
              <a:t>PCs</a:t>
            </a:r>
            <a:r>
              <a:rPr sz="2000" spc="-10" dirty="0" smtClean="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also</a:t>
            </a:r>
            <a:r>
              <a:rPr sz="2000" spc="5" dirty="0">
                <a:solidFill>
                  <a:srgbClr val="404040"/>
                </a:solidFill>
                <a:latin typeface="Calibri"/>
                <a:cs typeface="Calibri"/>
              </a:rPr>
              <a:t> </a:t>
            </a:r>
            <a:r>
              <a:rPr sz="2000" dirty="0">
                <a:solidFill>
                  <a:srgbClr val="404040"/>
                </a:solidFill>
                <a:latin typeface="Calibri"/>
                <a:cs typeface="Calibri"/>
              </a:rPr>
              <a:t>as RAM</a:t>
            </a:r>
            <a:r>
              <a:rPr sz="2000" spc="-10" dirty="0">
                <a:solidFill>
                  <a:srgbClr val="404040"/>
                </a:solidFill>
                <a:latin typeface="Calibri"/>
                <a:cs typeface="Calibri"/>
              </a:rPr>
              <a:t> </a:t>
            </a:r>
            <a:r>
              <a:rPr sz="2000" dirty="0">
                <a:solidFill>
                  <a:srgbClr val="404040"/>
                </a:solidFill>
                <a:latin typeface="Calibri"/>
                <a:cs typeface="Calibri"/>
              </a:rPr>
              <a:t>in </a:t>
            </a:r>
            <a:r>
              <a:rPr sz="2000" spc="-434" dirty="0">
                <a:solidFill>
                  <a:srgbClr val="404040"/>
                </a:solidFill>
                <a:latin typeface="Calibri"/>
                <a:cs typeface="Calibri"/>
              </a:rPr>
              <a:t> </a:t>
            </a:r>
            <a:r>
              <a:rPr sz="2000" spc="-10" dirty="0">
                <a:solidFill>
                  <a:srgbClr val="404040"/>
                </a:solidFill>
                <a:latin typeface="Calibri"/>
                <a:cs typeface="Calibri"/>
              </a:rPr>
              <a:t>many</a:t>
            </a:r>
            <a:r>
              <a:rPr sz="2000" spc="-15" dirty="0">
                <a:solidFill>
                  <a:srgbClr val="404040"/>
                </a:solidFill>
                <a:latin typeface="Calibri"/>
                <a:cs typeface="Calibri"/>
              </a:rPr>
              <a:t> </a:t>
            </a:r>
            <a:r>
              <a:rPr sz="2000" spc="-5" dirty="0">
                <a:solidFill>
                  <a:srgbClr val="404040"/>
                </a:solidFill>
                <a:latin typeface="Calibri"/>
                <a:cs typeface="Calibri"/>
              </a:rPr>
              <a:t>embedded </a:t>
            </a:r>
            <a:r>
              <a:rPr sz="2000" spc="-10" dirty="0">
                <a:solidFill>
                  <a:srgbClr val="404040"/>
                </a:solidFill>
                <a:latin typeface="Calibri"/>
                <a:cs typeface="Calibri"/>
              </a:rPr>
              <a:t>boards.</a:t>
            </a:r>
            <a:r>
              <a:rPr sz="2000" spc="-15" dirty="0">
                <a:solidFill>
                  <a:srgbClr val="404040"/>
                </a:solidFill>
                <a:latin typeface="Calibri"/>
                <a:cs typeface="Calibri"/>
              </a:rPr>
              <a:t> </a:t>
            </a:r>
            <a:r>
              <a:rPr sz="2000" dirty="0">
                <a:solidFill>
                  <a:srgbClr val="404040"/>
                </a:solidFill>
                <a:latin typeface="Calibri"/>
                <a:cs typeface="Calibri"/>
              </a:rPr>
              <a:t>It</a:t>
            </a:r>
            <a:r>
              <a:rPr sz="2000" spc="-10"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spc="-5" dirty="0">
                <a:solidFill>
                  <a:srgbClr val="404040"/>
                </a:solidFill>
                <a:latin typeface="Calibri"/>
                <a:cs typeface="Calibri"/>
              </a:rPr>
              <a:t>named</a:t>
            </a:r>
            <a:r>
              <a:rPr sz="2000" spc="-10" dirty="0">
                <a:solidFill>
                  <a:srgbClr val="404040"/>
                </a:solidFill>
                <a:latin typeface="Calibri"/>
                <a:cs typeface="Calibri"/>
              </a:rPr>
              <a:t> </a:t>
            </a:r>
            <a:r>
              <a:rPr sz="2000" spc="-5" dirty="0" smtClean="0">
                <a:solidFill>
                  <a:srgbClr val="404040"/>
                </a:solidFill>
                <a:latin typeface="Calibri"/>
                <a:cs typeface="Calibri"/>
              </a:rPr>
              <a:t>'</a:t>
            </a:r>
            <a:r>
              <a:rPr lang="en-US" sz="2000" spc="-5" dirty="0" smtClean="0">
                <a:solidFill>
                  <a:srgbClr val="404040"/>
                </a:solidFill>
                <a:latin typeface="Calibri"/>
                <a:cs typeface="Calibri"/>
              </a:rPr>
              <a:t>D</a:t>
            </a:r>
            <a:r>
              <a:rPr sz="2000" spc="-5" dirty="0" smtClean="0">
                <a:solidFill>
                  <a:srgbClr val="404040"/>
                </a:solidFill>
                <a:latin typeface="Calibri"/>
                <a:cs typeface="Calibri"/>
              </a:rPr>
              <a:t>ynamic</a:t>
            </a:r>
            <a:r>
              <a:rPr sz="2000" spc="-15" dirty="0" smtClean="0">
                <a:solidFill>
                  <a:srgbClr val="404040"/>
                </a:solidFill>
                <a:latin typeface="Calibri"/>
                <a:cs typeface="Calibri"/>
              </a:rPr>
              <a:t> </a:t>
            </a:r>
            <a:r>
              <a:rPr sz="2000" spc="5" dirty="0" smtClean="0">
                <a:solidFill>
                  <a:srgbClr val="404040"/>
                </a:solidFill>
                <a:latin typeface="Calibri"/>
                <a:cs typeface="Calibri"/>
              </a:rPr>
              <a:t>R</a:t>
            </a:r>
            <a:r>
              <a:rPr lang="en-US" sz="2000" spc="5" dirty="0" smtClean="0">
                <a:solidFill>
                  <a:srgbClr val="404040"/>
                </a:solidFill>
                <a:latin typeface="Calibri"/>
                <a:cs typeface="Calibri"/>
              </a:rPr>
              <a:t>AM</a:t>
            </a:r>
            <a:r>
              <a:rPr sz="2000" spc="5" dirty="0" smtClean="0">
                <a:solidFill>
                  <a:srgbClr val="404040"/>
                </a:solidFill>
                <a:latin typeface="Calibri"/>
                <a:cs typeface="Calibri"/>
              </a:rPr>
              <a:t>’</a:t>
            </a:r>
            <a:endParaRPr sz="2000" dirty="0">
              <a:latin typeface="Calibri"/>
              <a:cs typeface="Calibri"/>
            </a:endParaRPr>
          </a:p>
          <a:p>
            <a:pPr marL="270510" indent="-257810">
              <a:lnSpc>
                <a:spcPts val="2280"/>
              </a:lnSpc>
              <a:spcBef>
                <a:spcPts val="1130"/>
              </a:spcBef>
              <a:buClr>
                <a:srgbClr val="E38312"/>
              </a:buClr>
              <a:buFont typeface="Wingdings"/>
              <a:buChar char=""/>
              <a:tabLst>
                <a:tab pos="270510" algn="l"/>
              </a:tabLst>
            </a:pPr>
            <a:r>
              <a:rPr sz="2000" dirty="0">
                <a:solidFill>
                  <a:srgbClr val="404040"/>
                </a:solidFill>
                <a:latin typeface="Calibri"/>
                <a:cs typeface="Calibri"/>
              </a:rPr>
              <a:t>Because </a:t>
            </a:r>
            <a:r>
              <a:rPr sz="2000" spc="-15" dirty="0">
                <a:solidFill>
                  <a:srgbClr val="404040"/>
                </a:solidFill>
                <a:latin typeface="Calibri"/>
                <a:cs typeface="Calibri"/>
              </a:rPr>
              <a:t>data</a:t>
            </a:r>
            <a:r>
              <a:rPr sz="2000" spc="5"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15" dirty="0">
                <a:solidFill>
                  <a:srgbClr val="404040"/>
                </a:solidFill>
                <a:latin typeface="Calibri"/>
                <a:cs typeface="Calibri"/>
              </a:rPr>
              <a:t>stored</a:t>
            </a:r>
            <a:r>
              <a:rPr sz="2000" spc="5" dirty="0">
                <a:solidFill>
                  <a:srgbClr val="404040"/>
                </a:solidFill>
                <a:latin typeface="Calibri"/>
                <a:cs typeface="Calibri"/>
              </a:rPr>
              <a:t> </a:t>
            </a:r>
            <a:r>
              <a:rPr sz="2000" dirty="0">
                <a:solidFill>
                  <a:srgbClr val="404040"/>
                </a:solidFill>
                <a:latin typeface="Calibri"/>
                <a:cs typeface="Calibri"/>
              </a:rPr>
              <a:t>as</a:t>
            </a:r>
            <a:r>
              <a:rPr sz="2000" spc="10" dirty="0">
                <a:solidFill>
                  <a:srgbClr val="404040"/>
                </a:solidFill>
                <a:latin typeface="Calibri"/>
                <a:cs typeface="Calibri"/>
              </a:rPr>
              <a:t> </a:t>
            </a:r>
            <a:r>
              <a:rPr sz="2000" spc="-10" dirty="0">
                <a:solidFill>
                  <a:srgbClr val="404040"/>
                </a:solidFill>
                <a:latin typeface="Calibri"/>
                <a:cs typeface="Calibri"/>
              </a:rPr>
              <a:t>voltage</a:t>
            </a:r>
            <a:r>
              <a:rPr sz="2000" spc="-5" dirty="0">
                <a:solidFill>
                  <a:srgbClr val="404040"/>
                </a:solidFill>
                <a:latin typeface="Calibri"/>
                <a:cs typeface="Calibri"/>
              </a:rPr>
              <a:t> </a:t>
            </a:r>
            <a:r>
              <a:rPr sz="2000" dirty="0">
                <a:solidFill>
                  <a:srgbClr val="404040"/>
                </a:solidFill>
                <a:latin typeface="Calibri"/>
                <a:cs typeface="Calibri"/>
              </a:rPr>
              <a:t>in</a:t>
            </a:r>
            <a:r>
              <a:rPr sz="2000" spc="5"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capacitor</a:t>
            </a:r>
            <a:r>
              <a:rPr sz="2000" dirty="0">
                <a:solidFill>
                  <a:srgbClr val="404040"/>
                </a:solidFill>
                <a:latin typeface="Calibri"/>
                <a:cs typeface="Calibri"/>
              </a:rPr>
              <a:t> </a:t>
            </a:r>
            <a:r>
              <a:rPr sz="2000" spc="-5" dirty="0">
                <a:solidFill>
                  <a:srgbClr val="404040"/>
                </a:solidFill>
                <a:latin typeface="Calibri"/>
                <a:cs typeface="Calibri"/>
              </a:rPr>
              <a:t>which </a:t>
            </a:r>
            <a:r>
              <a:rPr sz="2000" spc="-10" dirty="0">
                <a:solidFill>
                  <a:srgbClr val="404040"/>
                </a:solidFill>
                <a:latin typeface="Calibri"/>
                <a:cs typeface="Calibri"/>
              </a:rPr>
              <a:t>leaks</a:t>
            </a:r>
            <a:r>
              <a:rPr sz="2000" spc="10" dirty="0">
                <a:solidFill>
                  <a:srgbClr val="404040"/>
                </a:solidFill>
                <a:latin typeface="Calibri"/>
                <a:cs typeface="Calibri"/>
              </a:rPr>
              <a:t> </a:t>
            </a:r>
            <a:r>
              <a:rPr sz="2000" spc="-20" dirty="0">
                <a:solidFill>
                  <a:srgbClr val="404040"/>
                </a:solidFill>
                <a:latin typeface="Calibri"/>
                <a:cs typeface="Calibri"/>
              </a:rPr>
              <a:t>away</a:t>
            </a:r>
            <a:r>
              <a:rPr sz="2000" dirty="0">
                <a:solidFill>
                  <a:srgbClr val="404040"/>
                </a:solidFill>
                <a:latin typeface="Calibri"/>
                <a:cs typeface="Calibri"/>
              </a:rPr>
              <a:t> with</a:t>
            </a:r>
            <a:r>
              <a:rPr sz="2000" spc="-5" dirty="0">
                <a:solidFill>
                  <a:srgbClr val="404040"/>
                </a:solidFill>
                <a:latin typeface="Calibri"/>
                <a:cs typeface="Calibri"/>
              </a:rPr>
              <a:t> </a:t>
            </a:r>
            <a:r>
              <a:rPr sz="2000" spc="-5" dirty="0" smtClean="0">
                <a:solidFill>
                  <a:srgbClr val="404040"/>
                </a:solidFill>
                <a:latin typeface="Calibri"/>
                <a:cs typeface="Calibri"/>
              </a:rPr>
              <a:t>time</a:t>
            </a:r>
            <a:r>
              <a:rPr lang="en-US" sz="2000" spc="-5" dirty="0" smtClean="0">
                <a:solidFill>
                  <a:srgbClr val="404040"/>
                </a:solidFill>
                <a:latin typeface="Calibri"/>
                <a:cs typeface="Calibri"/>
              </a:rPr>
              <a:t>, and </a:t>
            </a:r>
            <a:r>
              <a:rPr sz="2000" dirty="0" smtClean="0">
                <a:solidFill>
                  <a:srgbClr val="404040"/>
                </a:solidFill>
                <a:latin typeface="Calibri"/>
                <a:cs typeface="Calibri"/>
              </a:rPr>
              <a:t>thus</a:t>
            </a:r>
            <a:r>
              <a:rPr sz="2000" spc="5" dirty="0" smtClean="0">
                <a:solidFill>
                  <a:srgbClr val="404040"/>
                </a:solidFill>
                <a:latin typeface="Calibri"/>
                <a:cs typeface="Calibri"/>
              </a:rPr>
              <a:t> </a:t>
            </a:r>
            <a:r>
              <a:rPr sz="2000" dirty="0">
                <a:solidFill>
                  <a:srgbClr val="404040"/>
                </a:solidFill>
                <a:latin typeface="Calibri"/>
                <a:cs typeface="Calibri"/>
              </a:rPr>
              <a:t>is </a:t>
            </a:r>
            <a:r>
              <a:rPr sz="2000" spc="-5" dirty="0">
                <a:solidFill>
                  <a:srgbClr val="404040"/>
                </a:solidFill>
                <a:latin typeface="Calibri"/>
                <a:cs typeface="Calibri"/>
              </a:rPr>
              <a:t>dynamic</a:t>
            </a:r>
            <a:r>
              <a:rPr sz="2000" dirty="0">
                <a:solidFill>
                  <a:srgbClr val="404040"/>
                </a:solidFill>
                <a:latin typeface="Calibri"/>
                <a:cs typeface="Calibri"/>
              </a:rPr>
              <a:t> </a:t>
            </a:r>
            <a:r>
              <a:rPr sz="2000" spc="-5" dirty="0" smtClean="0">
                <a:solidFill>
                  <a:srgbClr val="404040"/>
                </a:solidFill>
                <a:latin typeface="Calibri"/>
                <a:cs typeface="Calibri"/>
              </a:rPr>
              <a:t>or</a:t>
            </a:r>
            <a:r>
              <a:rPr lang="en-US" sz="2000" spc="-5" dirty="0" smtClean="0">
                <a:solidFill>
                  <a:srgbClr val="404040"/>
                </a:solidFill>
                <a:latin typeface="Calibri"/>
                <a:cs typeface="Calibri"/>
              </a:rPr>
              <a:t> </a:t>
            </a:r>
            <a:r>
              <a:rPr sz="2000" dirty="0" smtClean="0">
                <a:solidFill>
                  <a:srgbClr val="404040"/>
                </a:solidFill>
                <a:latin typeface="Calibri"/>
                <a:cs typeface="Calibri"/>
              </a:rPr>
              <a:t>changing</a:t>
            </a:r>
            <a:r>
              <a:rPr sz="2000" spc="-45" dirty="0" smtClean="0">
                <a:solidFill>
                  <a:srgbClr val="404040"/>
                </a:solidFill>
                <a:latin typeface="Calibri"/>
                <a:cs typeface="Calibri"/>
              </a:rPr>
              <a:t> </a:t>
            </a:r>
            <a:r>
              <a:rPr sz="2000" spc="-5" dirty="0">
                <a:solidFill>
                  <a:srgbClr val="404040"/>
                </a:solidFill>
                <a:latin typeface="Calibri"/>
                <a:cs typeface="Calibri"/>
              </a:rPr>
              <a:t>with</a:t>
            </a:r>
            <a:r>
              <a:rPr sz="2000" spc="-15" dirty="0">
                <a:solidFill>
                  <a:srgbClr val="404040"/>
                </a:solidFill>
                <a:latin typeface="Calibri"/>
                <a:cs typeface="Calibri"/>
              </a:rPr>
              <a:t> </a:t>
            </a:r>
            <a:r>
              <a:rPr sz="2000" spc="-5" dirty="0">
                <a:solidFill>
                  <a:srgbClr val="404040"/>
                </a:solidFill>
                <a:latin typeface="Calibri"/>
                <a:cs typeface="Calibri"/>
              </a:rPr>
              <a:t>time.</a:t>
            </a:r>
            <a:endParaRPr sz="2000" dirty="0">
              <a:latin typeface="Calibri"/>
              <a:cs typeface="Calibri"/>
            </a:endParaRPr>
          </a:p>
          <a:p>
            <a:pPr marL="270510" indent="-257810">
              <a:lnSpc>
                <a:spcPct val="100000"/>
              </a:lnSpc>
              <a:spcBef>
                <a:spcPts val="1155"/>
              </a:spcBef>
              <a:buClr>
                <a:srgbClr val="E38312"/>
              </a:buClr>
              <a:buFont typeface="Wingdings"/>
              <a:buChar char=""/>
              <a:tabLst>
                <a:tab pos="270510" algn="l"/>
              </a:tabLst>
            </a:pPr>
            <a:r>
              <a:rPr sz="2000" dirty="0">
                <a:solidFill>
                  <a:srgbClr val="404040"/>
                </a:solidFill>
                <a:latin typeface="Calibri"/>
                <a:cs typeface="Calibri"/>
              </a:rPr>
              <a:t>It </a:t>
            </a:r>
            <a:r>
              <a:rPr sz="2000" spc="-10" dirty="0">
                <a:solidFill>
                  <a:srgbClr val="404040"/>
                </a:solidFill>
                <a:latin typeface="Calibri"/>
                <a:cs typeface="Calibri"/>
              </a:rPr>
              <a:t>consists</a:t>
            </a:r>
            <a:r>
              <a:rPr sz="2000" spc="15" dirty="0">
                <a:solidFill>
                  <a:srgbClr val="404040"/>
                </a:solidFill>
                <a:latin typeface="Calibri"/>
                <a:cs typeface="Calibri"/>
              </a:rPr>
              <a:t> </a:t>
            </a:r>
            <a:r>
              <a:rPr sz="2000" spc="-5" dirty="0">
                <a:solidFill>
                  <a:srgbClr val="404040"/>
                </a:solidFill>
                <a:latin typeface="Calibri"/>
                <a:cs typeface="Calibri"/>
              </a:rPr>
              <a:t>of </a:t>
            </a:r>
            <a:r>
              <a:rPr sz="2000" dirty="0">
                <a:solidFill>
                  <a:srgbClr val="404040"/>
                </a:solidFill>
                <a:latin typeface="Calibri"/>
                <a:cs typeface="Calibri"/>
              </a:rPr>
              <a:t>a</a:t>
            </a:r>
            <a:r>
              <a:rPr sz="2000" spc="-5" dirty="0">
                <a:solidFill>
                  <a:srgbClr val="404040"/>
                </a:solidFill>
                <a:latin typeface="Calibri"/>
                <a:cs typeface="Calibri"/>
              </a:rPr>
              <a:t> single</a:t>
            </a:r>
            <a:r>
              <a:rPr sz="2000" spc="5" dirty="0">
                <a:solidFill>
                  <a:srgbClr val="404040"/>
                </a:solidFill>
                <a:latin typeface="Calibri"/>
                <a:cs typeface="Calibri"/>
              </a:rPr>
              <a:t> </a:t>
            </a:r>
            <a:r>
              <a:rPr sz="2000" spc="-5" dirty="0">
                <a:solidFill>
                  <a:srgbClr val="404040"/>
                </a:solidFill>
                <a:latin typeface="Calibri"/>
                <a:cs typeface="Calibri"/>
              </a:rPr>
              <a:t>field</a:t>
            </a:r>
            <a:r>
              <a:rPr sz="2000" spc="5" dirty="0">
                <a:solidFill>
                  <a:srgbClr val="404040"/>
                </a:solidFill>
                <a:latin typeface="Calibri"/>
                <a:cs typeface="Calibri"/>
              </a:rPr>
              <a:t> </a:t>
            </a:r>
            <a:r>
              <a:rPr sz="2000" spc="-15" dirty="0">
                <a:solidFill>
                  <a:srgbClr val="404040"/>
                </a:solidFill>
                <a:latin typeface="Calibri"/>
                <a:cs typeface="Calibri"/>
              </a:rPr>
              <a:t>effect</a:t>
            </a:r>
            <a:r>
              <a:rPr sz="2000" spc="10" dirty="0">
                <a:solidFill>
                  <a:srgbClr val="404040"/>
                </a:solidFill>
                <a:latin typeface="Calibri"/>
                <a:cs typeface="Calibri"/>
              </a:rPr>
              <a:t> </a:t>
            </a:r>
            <a:r>
              <a:rPr sz="2000" spc="-10" dirty="0">
                <a:solidFill>
                  <a:srgbClr val="404040"/>
                </a:solidFill>
                <a:latin typeface="Calibri"/>
                <a:cs typeface="Calibri"/>
              </a:rPr>
              <a:t>transistor</a:t>
            </a:r>
            <a:r>
              <a:rPr sz="2000" spc="25" dirty="0">
                <a:solidFill>
                  <a:srgbClr val="404040"/>
                </a:solidFill>
                <a:latin typeface="Calibri"/>
                <a:cs typeface="Calibri"/>
              </a:rPr>
              <a:t> </a:t>
            </a:r>
            <a:r>
              <a:rPr sz="2000" dirty="0">
                <a:solidFill>
                  <a:srgbClr val="404040"/>
                </a:solidFill>
                <a:latin typeface="Calibri"/>
                <a:cs typeface="Calibri"/>
              </a:rPr>
              <a:t>(FET)</a:t>
            </a:r>
            <a:r>
              <a:rPr sz="2000" spc="-5"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a:t>
            </a:r>
            <a:r>
              <a:rPr sz="2000" spc="-20" dirty="0">
                <a:solidFill>
                  <a:srgbClr val="404040"/>
                </a:solidFill>
                <a:latin typeface="Calibri"/>
                <a:cs typeface="Calibri"/>
              </a:rPr>
              <a:t>capacitor,</a:t>
            </a:r>
            <a:r>
              <a:rPr sz="2000" spc="10" dirty="0">
                <a:solidFill>
                  <a:srgbClr val="404040"/>
                </a:solidFill>
                <a:latin typeface="Calibri"/>
                <a:cs typeface="Calibri"/>
              </a:rPr>
              <a:t> </a:t>
            </a:r>
            <a:r>
              <a:rPr sz="2000" dirty="0">
                <a:solidFill>
                  <a:srgbClr val="404040"/>
                </a:solidFill>
                <a:latin typeface="Calibri"/>
                <a:cs typeface="Calibri"/>
              </a:rPr>
              <a:t>which</a:t>
            </a:r>
            <a:r>
              <a:rPr sz="2000" spc="-15"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dirty="0">
                <a:solidFill>
                  <a:srgbClr val="404040"/>
                </a:solidFill>
                <a:latin typeface="Calibri"/>
                <a:cs typeface="Calibri"/>
              </a:rPr>
              <a:t>the</a:t>
            </a:r>
            <a:r>
              <a:rPr sz="2000" spc="-10" dirty="0">
                <a:solidFill>
                  <a:srgbClr val="404040"/>
                </a:solidFill>
                <a:latin typeface="Calibri"/>
                <a:cs typeface="Calibri"/>
              </a:rPr>
              <a:t> </a:t>
            </a:r>
            <a:r>
              <a:rPr sz="2000" spc="-15" dirty="0">
                <a:solidFill>
                  <a:srgbClr val="404040"/>
                </a:solidFill>
                <a:latin typeface="Calibri"/>
                <a:cs typeface="Calibri"/>
              </a:rPr>
              <a:t>storage</a:t>
            </a:r>
            <a:r>
              <a:rPr sz="2000" spc="5" dirty="0">
                <a:solidFill>
                  <a:srgbClr val="404040"/>
                </a:solidFill>
                <a:latin typeface="Calibri"/>
                <a:cs typeface="Calibri"/>
              </a:rPr>
              <a:t> </a:t>
            </a:r>
            <a:r>
              <a:rPr sz="2000" spc="-5" dirty="0">
                <a:solidFill>
                  <a:srgbClr val="404040"/>
                </a:solidFill>
                <a:latin typeface="Calibri"/>
                <a:cs typeface="Calibri"/>
              </a:rPr>
              <a:t>element.</a:t>
            </a:r>
            <a:endParaRPr sz="2000" dirty="0">
              <a:latin typeface="Calibri"/>
              <a:cs typeface="Calibri"/>
            </a:endParaRPr>
          </a:p>
          <a:p>
            <a:pPr marL="270510" indent="-257810">
              <a:lnSpc>
                <a:spcPct val="100000"/>
              </a:lnSpc>
              <a:spcBef>
                <a:spcPts val="1160"/>
              </a:spcBef>
              <a:buClr>
                <a:srgbClr val="E38312"/>
              </a:buClr>
              <a:buFont typeface="Wingdings"/>
              <a:buChar char=""/>
              <a:tabLst>
                <a:tab pos="270510" algn="l"/>
              </a:tabLst>
            </a:pPr>
            <a:r>
              <a:rPr sz="2000" spc="-5" dirty="0">
                <a:solidFill>
                  <a:srgbClr val="404040"/>
                </a:solidFill>
                <a:latin typeface="Calibri"/>
                <a:cs typeface="Calibri"/>
              </a:rPr>
              <a:t>The</a:t>
            </a:r>
            <a:r>
              <a:rPr sz="2000" dirty="0">
                <a:solidFill>
                  <a:srgbClr val="404040"/>
                </a:solidFill>
                <a:latin typeface="Calibri"/>
                <a:cs typeface="Calibri"/>
              </a:rPr>
              <a:t> </a:t>
            </a:r>
            <a:r>
              <a:rPr sz="2000" spc="-5" dirty="0">
                <a:solidFill>
                  <a:srgbClr val="404040"/>
                </a:solidFill>
                <a:latin typeface="Calibri"/>
                <a:cs typeface="Calibri"/>
              </a:rPr>
              <a:t>amount</a:t>
            </a:r>
            <a:r>
              <a:rPr sz="2000" spc="-10" dirty="0">
                <a:solidFill>
                  <a:srgbClr val="404040"/>
                </a:solidFill>
                <a:latin typeface="Calibri"/>
                <a:cs typeface="Calibri"/>
              </a:rPr>
              <a:t> </a:t>
            </a:r>
            <a:r>
              <a:rPr sz="2000" spc="-5" dirty="0">
                <a:solidFill>
                  <a:srgbClr val="404040"/>
                </a:solidFill>
                <a:latin typeface="Calibri"/>
                <a:cs typeface="Calibri"/>
              </a:rPr>
              <a:t>of charge</a:t>
            </a:r>
            <a:r>
              <a:rPr sz="2000" spc="-10" dirty="0">
                <a:solidFill>
                  <a:srgbClr val="404040"/>
                </a:solidFill>
                <a:latin typeface="Calibri"/>
                <a:cs typeface="Calibri"/>
              </a:rPr>
              <a:t> </a:t>
            </a:r>
            <a:r>
              <a:rPr sz="2000" dirty="0">
                <a:solidFill>
                  <a:srgbClr val="404040"/>
                </a:solidFill>
                <a:latin typeface="Calibri"/>
                <a:cs typeface="Calibri"/>
              </a:rPr>
              <a:t>in</a:t>
            </a:r>
            <a:r>
              <a:rPr sz="2000" spc="-10"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capacitor</a:t>
            </a:r>
            <a:r>
              <a:rPr sz="2000" spc="-15" dirty="0">
                <a:solidFill>
                  <a:srgbClr val="404040"/>
                </a:solidFill>
                <a:latin typeface="Calibri"/>
                <a:cs typeface="Calibri"/>
              </a:rPr>
              <a:t> </a:t>
            </a:r>
            <a:r>
              <a:rPr sz="2000" dirty="0">
                <a:solidFill>
                  <a:srgbClr val="404040"/>
                </a:solidFill>
                <a:latin typeface="Calibri"/>
                <a:cs typeface="Calibri"/>
              </a:rPr>
              <a:t>decides</a:t>
            </a:r>
            <a:r>
              <a:rPr sz="2000" spc="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dirty="0">
                <a:solidFill>
                  <a:srgbClr val="404040"/>
                </a:solidFill>
                <a:latin typeface="Calibri"/>
                <a:cs typeface="Calibri"/>
              </a:rPr>
              <a:t>cell</a:t>
            </a:r>
            <a:r>
              <a:rPr sz="2000" spc="5" dirty="0">
                <a:solidFill>
                  <a:srgbClr val="404040"/>
                </a:solidFill>
                <a:latin typeface="Calibri"/>
                <a:cs typeface="Calibri"/>
              </a:rPr>
              <a:t> </a:t>
            </a:r>
            <a:r>
              <a:rPr sz="2000" dirty="0">
                <a:solidFill>
                  <a:srgbClr val="404040"/>
                </a:solidFill>
                <a:latin typeface="Calibri"/>
                <a:cs typeface="Calibri"/>
              </a:rPr>
              <a:t>logic</a:t>
            </a:r>
            <a:r>
              <a:rPr sz="2000" spc="-10" dirty="0">
                <a:solidFill>
                  <a:srgbClr val="404040"/>
                </a:solidFill>
                <a:latin typeface="Calibri"/>
                <a:cs typeface="Calibri"/>
              </a:rPr>
              <a:t> </a:t>
            </a:r>
            <a:r>
              <a:rPr sz="2000" spc="-5" dirty="0">
                <a:solidFill>
                  <a:srgbClr val="404040"/>
                </a:solidFill>
                <a:latin typeface="Calibri"/>
                <a:cs typeface="Calibri"/>
              </a:rPr>
              <a:t>of </a:t>
            </a:r>
            <a:r>
              <a:rPr sz="2000" dirty="0">
                <a:solidFill>
                  <a:srgbClr val="404040"/>
                </a:solidFill>
                <a:latin typeface="Calibri"/>
                <a:cs typeface="Calibri"/>
              </a:rPr>
              <a:t>either</a:t>
            </a:r>
            <a:r>
              <a:rPr sz="2000" spc="10" dirty="0">
                <a:solidFill>
                  <a:srgbClr val="404040"/>
                </a:solidFill>
                <a:latin typeface="Calibri"/>
                <a:cs typeface="Calibri"/>
              </a:rPr>
              <a:t> </a:t>
            </a:r>
            <a:r>
              <a:rPr sz="2000" dirty="0">
                <a:solidFill>
                  <a:srgbClr val="404040"/>
                </a:solidFill>
                <a:latin typeface="Calibri"/>
                <a:cs typeface="Calibri"/>
              </a:rPr>
              <a:t>a</a:t>
            </a:r>
            <a:r>
              <a:rPr sz="2000" spc="-10" dirty="0">
                <a:solidFill>
                  <a:srgbClr val="404040"/>
                </a:solidFill>
                <a:latin typeface="Calibri"/>
                <a:cs typeface="Calibri"/>
              </a:rPr>
              <a:t> </a:t>
            </a:r>
            <a:r>
              <a:rPr sz="2000" dirty="0">
                <a:solidFill>
                  <a:srgbClr val="404040"/>
                </a:solidFill>
                <a:latin typeface="Calibri"/>
                <a:cs typeface="Calibri"/>
              </a:rPr>
              <a:t>'1'</a:t>
            </a:r>
            <a:r>
              <a:rPr sz="2000" spc="-15" dirty="0">
                <a:solidFill>
                  <a:srgbClr val="404040"/>
                </a:solidFill>
                <a:latin typeface="Calibri"/>
                <a:cs typeface="Calibri"/>
              </a:rPr>
              <a:t> </a:t>
            </a:r>
            <a:r>
              <a:rPr sz="2000" spc="-5" dirty="0">
                <a:solidFill>
                  <a:srgbClr val="404040"/>
                </a:solidFill>
                <a:latin typeface="Calibri"/>
                <a:cs typeface="Calibri"/>
              </a:rPr>
              <a:t>or </a:t>
            </a:r>
            <a:r>
              <a:rPr sz="2000" dirty="0">
                <a:solidFill>
                  <a:srgbClr val="404040"/>
                </a:solidFill>
                <a:latin typeface="Calibri"/>
                <a:cs typeface="Calibri"/>
              </a:rPr>
              <a:t>'0'.</a:t>
            </a:r>
            <a:endParaRPr sz="2000" dirty="0">
              <a:latin typeface="Calibri"/>
              <a:cs typeface="Calibri"/>
            </a:endParaRPr>
          </a:p>
          <a:p>
            <a:pPr marL="270510" indent="-257810">
              <a:lnSpc>
                <a:spcPts val="2280"/>
              </a:lnSpc>
              <a:spcBef>
                <a:spcPts val="1165"/>
              </a:spcBef>
              <a:buClr>
                <a:srgbClr val="E38312"/>
              </a:buClr>
              <a:buFont typeface="Wingdings"/>
              <a:buChar char=""/>
              <a:tabLst>
                <a:tab pos="270510" algn="l"/>
              </a:tabLst>
            </a:pPr>
            <a:r>
              <a:rPr sz="2000" dirty="0">
                <a:solidFill>
                  <a:srgbClr val="404040"/>
                </a:solidFill>
                <a:latin typeface="Calibri"/>
                <a:cs typeface="Calibri"/>
              </a:rPr>
              <a:t>A</a:t>
            </a:r>
            <a:r>
              <a:rPr sz="2000" spc="5" dirty="0">
                <a:solidFill>
                  <a:srgbClr val="404040"/>
                </a:solidFill>
                <a:latin typeface="Calibri"/>
                <a:cs typeface="Calibri"/>
              </a:rPr>
              <a:t> </a:t>
            </a:r>
            <a:r>
              <a:rPr sz="2000" spc="-20" dirty="0" smtClean="0">
                <a:solidFill>
                  <a:srgbClr val="404040"/>
                </a:solidFill>
                <a:latin typeface="Calibri"/>
                <a:cs typeface="Calibri"/>
              </a:rPr>
              <a:t>capacitor</a:t>
            </a:r>
            <a:r>
              <a:rPr lang="en-US" sz="2000" spc="-20" dirty="0" smtClean="0">
                <a:solidFill>
                  <a:srgbClr val="404040"/>
                </a:solidFill>
                <a:latin typeface="Calibri"/>
                <a:cs typeface="Calibri"/>
              </a:rPr>
              <a:t> </a:t>
            </a:r>
            <a:r>
              <a:rPr sz="2000" spc="-5" dirty="0" smtClean="0">
                <a:solidFill>
                  <a:srgbClr val="404040"/>
                </a:solidFill>
                <a:latin typeface="Calibri"/>
                <a:cs typeface="Calibri"/>
              </a:rPr>
              <a:t>does </a:t>
            </a:r>
            <a:r>
              <a:rPr sz="2000" spc="-5" dirty="0">
                <a:solidFill>
                  <a:srgbClr val="404040"/>
                </a:solidFill>
                <a:latin typeface="Calibri"/>
                <a:cs typeface="Calibri"/>
              </a:rPr>
              <a:t>not </a:t>
            </a:r>
            <a:r>
              <a:rPr sz="2000" spc="-15" dirty="0">
                <a:solidFill>
                  <a:srgbClr val="404040"/>
                </a:solidFill>
                <a:latin typeface="Calibri"/>
                <a:cs typeface="Calibri"/>
              </a:rPr>
              <a:t>retain</a:t>
            </a:r>
            <a:r>
              <a:rPr sz="2000" dirty="0">
                <a:solidFill>
                  <a:srgbClr val="404040"/>
                </a:solidFill>
                <a:latin typeface="Calibri"/>
                <a:cs typeface="Calibri"/>
              </a:rPr>
              <a:t> the</a:t>
            </a:r>
            <a:r>
              <a:rPr sz="2000" spc="5" dirty="0">
                <a:solidFill>
                  <a:srgbClr val="404040"/>
                </a:solidFill>
                <a:latin typeface="Calibri"/>
                <a:cs typeface="Calibri"/>
              </a:rPr>
              <a:t> </a:t>
            </a:r>
            <a:r>
              <a:rPr sz="2000" spc="-5" dirty="0">
                <a:solidFill>
                  <a:srgbClr val="404040"/>
                </a:solidFill>
                <a:latin typeface="Calibri"/>
                <a:cs typeface="Calibri"/>
              </a:rPr>
              <a:t>charge</a:t>
            </a:r>
            <a:r>
              <a:rPr sz="2000" spc="-25" dirty="0">
                <a:solidFill>
                  <a:srgbClr val="404040"/>
                </a:solidFill>
                <a:latin typeface="Calibri"/>
                <a:cs typeface="Calibri"/>
              </a:rPr>
              <a:t> </a:t>
            </a:r>
            <a:r>
              <a:rPr sz="2000" dirty="0">
                <a:solidFill>
                  <a:srgbClr val="404040"/>
                </a:solidFill>
                <a:latin typeface="Calibri"/>
                <a:cs typeface="Calibri"/>
              </a:rPr>
              <a:t>it</a:t>
            </a:r>
            <a:r>
              <a:rPr sz="2000" spc="5" dirty="0">
                <a:solidFill>
                  <a:srgbClr val="404040"/>
                </a:solidFill>
                <a:latin typeface="Calibri"/>
                <a:cs typeface="Calibri"/>
              </a:rPr>
              <a:t> </a:t>
            </a:r>
            <a:r>
              <a:rPr sz="2000" spc="-10" dirty="0">
                <a:solidFill>
                  <a:srgbClr val="404040"/>
                </a:solidFill>
                <a:latin typeface="Calibri"/>
                <a:cs typeface="Calibri"/>
              </a:rPr>
              <a:t>contains</a:t>
            </a:r>
            <a:r>
              <a:rPr sz="2000" spc="-5" dirty="0">
                <a:solidFill>
                  <a:srgbClr val="404040"/>
                </a:solidFill>
                <a:latin typeface="Calibri"/>
                <a:cs typeface="Calibri"/>
              </a:rPr>
              <a:t> unless</a:t>
            </a:r>
            <a:r>
              <a:rPr sz="2000" spc="5" dirty="0">
                <a:solidFill>
                  <a:srgbClr val="404040"/>
                </a:solidFill>
                <a:latin typeface="Calibri"/>
                <a:cs typeface="Calibri"/>
              </a:rPr>
              <a:t> </a:t>
            </a:r>
            <a:r>
              <a:rPr sz="2000" spc="-5" dirty="0">
                <a:solidFill>
                  <a:srgbClr val="404040"/>
                </a:solidFill>
                <a:latin typeface="Calibri"/>
                <a:cs typeface="Calibri"/>
              </a:rPr>
              <a:t>it</a:t>
            </a:r>
            <a:r>
              <a:rPr sz="2000" spc="10"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lang="en-US" sz="2000" spc="-5" dirty="0" smtClean="0">
                <a:solidFill>
                  <a:srgbClr val="404040"/>
                </a:solidFill>
                <a:latin typeface="Calibri"/>
                <a:cs typeface="Calibri"/>
              </a:rPr>
              <a:t>recharge </a:t>
            </a:r>
            <a:r>
              <a:rPr sz="2000" spc="-15" dirty="0" smtClean="0">
                <a:solidFill>
                  <a:srgbClr val="404040"/>
                </a:solidFill>
                <a:latin typeface="Calibri"/>
                <a:cs typeface="Calibri"/>
              </a:rPr>
              <a:t>continuously</a:t>
            </a:r>
            <a:r>
              <a:rPr sz="2000" spc="-15" dirty="0">
                <a:solidFill>
                  <a:srgbClr val="404040"/>
                </a:solidFill>
                <a:latin typeface="Calibri"/>
                <a:cs typeface="Calibri"/>
              </a:rPr>
              <a:t>.</a:t>
            </a:r>
            <a:endParaRPr sz="2000" dirty="0">
              <a:latin typeface="Calibri"/>
              <a:cs typeface="Calibri"/>
            </a:endParaRPr>
          </a:p>
          <a:p>
            <a:pPr marL="104139" marR="5080" indent="-92075">
              <a:lnSpc>
                <a:spcPts val="2160"/>
              </a:lnSpc>
              <a:spcBef>
                <a:spcPts val="1425"/>
              </a:spcBef>
              <a:buClr>
                <a:srgbClr val="E38312"/>
              </a:buClr>
              <a:buFont typeface="Wingdings"/>
              <a:buChar char=""/>
              <a:tabLst>
                <a:tab pos="270510" algn="l"/>
              </a:tabLst>
            </a:pPr>
            <a:r>
              <a:rPr sz="2000" spc="-5" dirty="0">
                <a:solidFill>
                  <a:srgbClr val="404040"/>
                </a:solidFill>
                <a:latin typeface="Calibri"/>
                <a:cs typeface="Calibri"/>
              </a:rPr>
              <a:t>This</a:t>
            </a:r>
            <a:r>
              <a:rPr sz="2000" spc="10" dirty="0">
                <a:solidFill>
                  <a:srgbClr val="404040"/>
                </a:solidFill>
                <a:latin typeface="Calibri"/>
                <a:cs typeface="Calibri"/>
              </a:rPr>
              <a:t> </a:t>
            </a:r>
            <a:r>
              <a:rPr sz="2000" dirty="0">
                <a:solidFill>
                  <a:srgbClr val="404040"/>
                </a:solidFill>
                <a:latin typeface="Calibri"/>
                <a:cs typeface="Calibri"/>
              </a:rPr>
              <a:t>action</a:t>
            </a:r>
            <a:r>
              <a:rPr sz="2000" spc="5" dirty="0">
                <a:solidFill>
                  <a:srgbClr val="404040"/>
                </a:solidFill>
                <a:latin typeface="Calibri"/>
                <a:cs typeface="Calibri"/>
              </a:rPr>
              <a:t> </a:t>
            </a:r>
            <a:r>
              <a:rPr sz="2000" spc="-5" dirty="0">
                <a:solidFill>
                  <a:srgbClr val="404040"/>
                </a:solidFill>
                <a:latin typeface="Calibri"/>
                <a:cs typeface="Calibri"/>
              </a:rPr>
              <a:t>of</a:t>
            </a:r>
            <a:r>
              <a:rPr sz="2000" spc="-10" dirty="0">
                <a:solidFill>
                  <a:srgbClr val="404040"/>
                </a:solidFill>
                <a:latin typeface="Calibri"/>
                <a:cs typeface="Calibri"/>
              </a:rPr>
              <a:t> </a:t>
            </a:r>
            <a:r>
              <a:rPr sz="2000" spc="-5" dirty="0">
                <a:solidFill>
                  <a:srgbClr val="404040"/>
                </a:solidFill>
                <a:latin typeface="Calibri"/>
                <a:cs typeface="Calibri"/>
              </a:rPr>
              <a:t>recharging</a:t>
            </a:r>
            <a:r>
              <a:rPr sz="2000" spc="-10" dirty="0">
                <a:solidFill>
                  <a:srgbClr val="404040"/>
                </a:solidFill>
                <a:latin typeface="Calibri"/>
                <a:cs typeface="Calibri"/>
              </a:rPr>
              <a:t> </a:t>
            </a:r>
            <a:r>
              <a:rPr sz="2000" dirty="0">
                <a:solidFill>
                  <a:srgbClr val="404040"/>
                </a:solidFill>
                <a:latin typeface="Calibri"/>
                <a:cs typeface="Calibri"/>
              </a:rPr>
              <a:t>the</a:t>
            </a:r>
            <a:r>
              <a:rPr sz="2000" spc="10" dirty="0">
                <a:solidFill>
                  <a:srgbClr val="404040"/>
                </a:solidFill>
                <a:latin typeface="Calibri"/>
                <a:cs typeface="Calibri"/>
              </a:rPr>
              <a:t> </a:t>
            </a:r>
            <a:r>
              <a:rPr sz="2000" spc="-5" dirty="0">
                <a:solidFill>
                  <a:srgbClr val="404040"/>
                </a:solidFill>
                <a:latin typeface="Calibri"/>
                <a:cs typeface="Calibri"/>
              </a:rPr>
              <a:t>capacitor</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15" dirty="0">
                <a:solidFill>
                  <a:srgbClr val="404040"/>
                </a:solidFill>
                <a:latin typeface="Calibri"/>
                <a:cs typeface="Calibri"/>
              </a:rPr>
              <a:t>referred</a:t>
            </a:r>
            <a:r>
              <a:rPr sz="2000" spc="5" dirty="0">
                <a:solidFill>
                  <a:srgbClr val="404040"/>
                </a:solidFill>
                <a:latin typeface="Calibri"/>
                <a:cs typeface="Calibri"/>
              </a:rPr>
              <a:t> </a:t>
            </a:r>
            <a:r>
              <a:rPr sz="2000" spc="-10" dirty="0">
                <a:solidFill>
                  <a:srgbClr val="404040"/>
                </a:solidFill>
                <a:latin typeface="Calibri"/>
                <a:cs typeface="Calibri"/>
              </a:rPr>
              <a:t>to</a:t>
            </a:r>
            <a:r>
              <a:rPr sz="2000" spc="5" dirty="0">
                <a:solidFill>
                  <a:srgbClr val="404040"/>
                </a:solidFill>
                <a:latin typeface="Calibri"/>
                <a:cs typeface="Calibri"/>
              </a:rPr>
              <a:t> </a:t>
            </a:r>
            <a:r>
              <a:rPr sz="2000" dirty="0">
                <a:solidFill>
                  <a:srgbClr val="404040"/>
                </a:solidFill>
                <a:latin typeface="Calibri"/>
                <a:cs typeface="Calibri"/>
              </a:rPr>
              <a:t>as</a:t>
            </a:r>
            <a:r>
              <a:rPr sz="2000" spc="5" dirty="0">
                <a:solidFill>
                  <a:srgbClr val="404040"/>
                </a:solidFill>
                <a:latin typeface="Calibri"/>
                <a:cs typeface="Calibri"/>
              </a:rPr>
              <a:t> </a:t>
            </a:r>
            <a:r>
              <a:rPr sz="2000" spc="-10" dirty="0">
                <a:solidFill>
                  <a:srgbClr val="404040"/>
                </a:solidFill>
                <a:latin typeface="Calibri"/>
                <a:cs typeface="Calibri"/>
              </a:rPr>
              <a:t>'refreshing'</a:t>
            </a:r>
            <a:r>
              <a:rPr sz="2000" spc="-15" dirty="0">
                <a:solidFill>
                  <a:srgbClr val="404040"/>
                </a:solidFill>
                <a:latin typeface="Calibri"/>
                <a:cs typeface="Calibri"/>
              </a:rPr>
              <a:t> </a:t>
            </a:r>
            <a:r>
              <a:rPr sz="2000" dirty="0">
                <a:solidFill>
                  <a:srgbClr val="404040"/>
                </a:solidFill>
                <a:latin typeface="Calibri"/>
                <a:cs typeface="Calibri"/>
              </a:rPr>
              <a:t>and is</a:t>
            </a:r>
            <a:r>
              <a:rPr sz="2000" spc="10" dirty="0">
                <a:solidFill>
                  <a:srgbClr val="404040"/>
                </a:solidFill>
                <a:latin typeface="Calibri"/>
                <a:cs typeface="Calibri"/>
              </a:rPr>
              <a:t> </a:t>
            </a:r>
            <a:r>
              <a:rPr sz="2000" dirty="0">
                <a:solidFill>
                  <a:srgbClr val="404040"/>
                </a:solidFill>
                <a:latin typeface="Calibri"/>
                <a:cs typeface="Calibri"/>
              </a:rPr>
              <a:t>done</a:t>
            </a:r>
            <a:r>
              <a:rPr sz="2000" spc="-10" dirty="0">
                <a:solidFill>
                  <a:srgbClr val="404040"/>
                </a:solidFill>
                <a:latin typeface="Calibri"/>
                <a:cs typeface="Calibri"/>
              </a:rPr>
              <a:t> </a:t>
            </a:r>
            <a:r>
              <a:rPr sz="2000" spc="-15" dirty="0">
                <a:solidFill>
                  <a:srgbClr val="404040"/>
                </a:solidFill>
                <a:latin typeface="Calibri"/>
                <a:cs typeface="Calibri"/>
              </a:rPr>
              <a:t>at</a:t>
            </a:r>
            <a:r>
              <a:rPr sz="2000" spc="5" dirty="0">
                <a:solidFill>
                  <a:srgbClr val="404040"/>
                </a:solidFill>
                <a:latin typeface="Calibri"/>
                <a:cs typeface="Calibri"/>
              </a:rPr>
              <a:t> </a:t>
            </a:r>
            <a:r>
              <a:rPr sz="2000" spc="-5" dirty="0">
                <a:solidFill>
                  <a:srgbClr val="404040"/>
                </a:solidFill>
                <a:latin typeface="Calibri"/>
                <a:cs typeface="Calibri"/>
              </a:rPr>
              <a:t>regular </a:t>
            </a:r>
            <a:r>
              <a:rPr sz="2000" spc="-10" dirty="0" smtClean="0">
                <a:solidFill>
                  <a:srgbClr val="404040"/>
                </a:solidFill>
                <a:latin typeface="Calibri"/>
                <a:cs typeface="Calibri"/>
              </a:rPr>
              <a:t>intervals.</a:t>
            </a:r>
            <a:endParaRPr lang="en-US" sz="2000" spc="-10" dirty="0" smtClean="0">
              <a:solidFill>
                <a:srgbClr val="404040"/>
              </a:solidFill>
              <a:latin typeface="Calibri"/>
              <a:cs typeface="Calibri"/>
            </a:endParaRPr>
          </a:p>
          <a:p>
            <a:pPr marL="104139" marR="5080" indent="-92075">
              <a:lnSpc>
                <a:spcPts val="2160"/>
              </a:lnSpc>
              <a:spcBef>
                <a:spcPts val="1425"/>
              </a:spcBef>
              <a:buClr>
                <a:srgbClr val="E38312"/>
              </a:buClr>
              <a:buFont typeface="Wingdings"/>
              <a:buChar char=""/>
              <a:tabLst>
                <a:tab pos="270510" algn="l"/>
              </a:tabLst>
            </a:pPr>
            <a:r>
              <a:rPr lang="en-US" sz="2000" spc="-10" dirty="0" smtClean="0">
                <a:solidFill>
                  <a:srgbClr val="404040"/>
                </a:solidFill>
                <a:latin typeface="Calibri"/>
                <a:cs typeface="Calibri"/>
              </a:rPr>
              <a:t>The frequency of refreshing depends on the design of cell and the technology used.</a:t>
            </a:r>
          </a:p>
          <a:p>
            <a:pPr marL="104139" marR="5080" indent="-92075">
              <a:lnSpc>
                <a:spcPts val="2160"/>
              </a:lnSpc>
              <a:spcBef>
                <a:spcPts val="1425"/>
              </a:spcBef>
              <a:buClr>
                <a:srgbClr val="E38312"/>
              </a:buClr>
              <a:buFont typeface="Wingdings"/>
              <a:buChar char=""/>
              <a:tabLst>
                <a:tab pos="270510" algn="l"/>
              </a:tabLst>
            </a:pPr>
            <a:r>
              <a:rPr lang="en-US" sz="2000" spc="-10" dirty="0" smtClean="0">
                <a:solidFill>
                  <a:srgbClr val="404040"/>
                </a:solidFill>
                <a:latin typeface="Calibri"/>
                <a:cs typeface="Calibri"/>
              </a:rPr>
              <a:t>Refreshing is done by performing a read or write into the cells at regular intervals.</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16</a:t>
            </a:r>
            <a:endParaRPr sz="1050">
              <a:latin typeface="Calibri"/>
              <a:cs typeface="Calibri"/>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10256" y="1986840"/>
            <a:ext cx="2735877" cy="37435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3580" y="5330312"/>
            <a:ext cx="2239281"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png"/>
          <p:cNvSpPr>
            <a:spLocks noChangeAspect="1" noChangeArrowheads="1"/>
          </p:cNvSpPr>
          <p:nvPr/>
        </p:nvSpPr>
        <p:spPr bwMode="auto">
          <a:xfrm>
            <a:off x="2415450" y="138389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p:cNvSpPr txBox="1"/>
          <p:nvPr/>
        </p:nvSpPr>
        <p:spPr>
          <a:xfrm>
            <a:off x="768377" y="607579"/>
            <a:ext cx="10753063" cy="2308324"/>
          </a:xfrm>
          <a:prstGeom prst="rect">
            <a:avLst/>
          </a:prstGeom>
          <a:noFill/>
        </p:spPr>
        <p:txBody>
          <a:bodyPr wrap="square" rtlCol="0">
            <a:spAutoFit/>
          </a:bodyPr>
          <a:lstStyle/>
          <a:p>
            <a:r>
              <a:rPr lang="en-US" sz="2400" b="1" u="sng" dirty="0"/>
              <a:t>THE READ Cycle of DRAM:</a:t>
            </a:r>
          </a:p>
          <a:p>
            <a:r>
              <a:rPr lang="en-US" sz="2400" dirty="0" smtClean="0"/>
              <a:t>The </a:t>
            </a:r>
            <a:r>
              <a:rPr lang="en-US" sz="2400" dirty="0"/>
              <a:t>memory controller associated with DRAM has the function  of splitting the address into two, as rows and </a:t>
            </a:r>
            <a:r>
              <a:rPr lang="en-US" sz="2400" dirty="0" smtClean="0"/>
              <a:t>columns. The </a:t>
            </a:r>
            <a:r>
              <a:rPr lang="en-US" sz="2400" dirty="0"/>
              <a:t>address supplied by the processor is split into two  and is given to the DRAM address lines in time multiplexed form, as row and column address. The DRAM controller generates the control signals for reading and writing to the DRAM.</a:t>
            </a:r>
            <a:endParaRPr lang="en-IN" sz="2400"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377" y="2844800"/>
            <a:ext cx="9760287" cy="4013201"/>
          </a:xfrm>
          <a:prstGeom prst="rect">
            <a:avLst/>
          </a:prstGeom>
        </p:spPr>
      </p:pic>
    </p:spTree>
    <p:extLst>
      <p:ext uri="{BB962C8B-B14F-4D97-AF65-F5344CB8AC3E}">
        <p14:creationId xmlns:p14="http://schemas.microsoft.com/office/powerpoint/2010/main" val="6444466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56309"/>
            <a:ext cx="4817745" cy="756920"/>
          </a:xfrm>
          <a:prstGeom prst="rect">
            <a:avLst/>
          </a:prstGeom>
        </p:spPr>
        <p:txBody>
          <a:bodyPr vert="horz" wrap="square" lIns="0" tIns="12700" rIns="0" bIns="0" rtlCol="0">
            <a:spAutoFit/>
          </a:bodyPr>
          <a:lstStyle/>
          <a:p>
            <a:pPr marL="12700">
              <a:lnSpc>
                <a:spcPct val="100000"/>
              </a:lnSpc>
              <a:spcBef>
                <a:spcPts val="100"/>
              </a:spcBef>
            </a:pPr>
            <a:r>
              <a:rPr sz="4800" b="0" spc="-65" dirty="0">
                <a:solidFill>
                  <a:srgbClr val="00AFEF"/>
                </a:solidFill>
                <a:latin typeface="Calibri Light"/>
                <a:cs typeface="Calibri Light"/>
              </a:rPr>
              <a:t>Read</a:t>
            </a:r>
            <a:r>
              <a:rPr sz="4800" b="0" spc="-125" dirty="0">
                <a:solidFill>
                  <a:srgbClr val="00AFEF"/>
                </a:solidFill>
                <a:latin typeface="Calibri Light"/>
                <a:cs typeface="Calibri Light"/>
              </a:rPr>
              <a:t> </a:t>
            </a:r>
            <a:r>
              <a:rPr sz="4800" b="0" spc="-55" dirty="0">
                <a:solidFill>
                  <a:srgbClr val="00AFEF"/>
                </a:solidFill>
                <a:latin typeface="Calibri Light"/>
                <a:cs typeface="Calibri Light"/>
              </a:rPr>
              <a:t>cycle</a:t>
            </a:r>
            <a:r>
              <a:rPr sz="4800" b="0" spc="-125" dirty="0">
                <a:solidFill>
                  <a:srgbClr val="00AFEF"/>
                </a:solidFill>
                <a:latin typeface="Calibri Light"/>
                <a:cs typeface="Calibri Light"/>
              </a:rPr>
              <a:t> </a:t>
            </a:r>
            <a:r>
              <a:rPr sz="4800" b="0" spc="-25" dirty="0">
                <a:solidFill>
                  <a:srgbClr val="00AFEF"/>
                </a:solidFill>
                <a:latin typeface="Calibri Light"/>
                <a:cs typeface="Calibri Light"/>
              </a:rPr>
              <a:t>of</a:t>
            </a:r>
            <a:r>
              <a:rPr sz="4800" b="0" spc="-135" dirty="0">
                <a:solidFill>
                  <a:srgbClr val="00AFEF"/>
                </a:solidFill>
                <a:latin typeface="Calibri Light"/>
                <a:cs typeface="Calibri Light"/>
              </a:rPr>
              <a:t> </a:t>
            </a:r>
            <a:r>
              <a:rPr sz="4800" b="0" spc="-40" dirty="0">
                <a:solidFill>
                  <a:srgbClr val="00AFEF"/>
                </a:solidFill>
                <a:latin typeface="Calibri Light"/>
                <a:cs typeface="Calibri Light"/>
              </a:rPr>
              <a:t>DRAM</a:t>
            </a:r>
            <a:endParaRPr sz="4800">
              <a:latin typeface="Calibri Light"/>
              <a:cs typeface="Calibri Light"/>
            </a:endParaRPr>
          </a:p>
        </p:txBody>
      </p:sp>
      <p:sp>
        <p:nvSpPr>
          <p:cNvPr id="7" name="object 7"/>
          <p:cNvSpPr txBox="1"/>
          <p:nvPr/>
        </p:nvSpPr>
        <p:spPr>
          <a:xfrm>
            <a:off x="1084580" y="1535134"/>
            <a:ext cx="10083165" cy="4610100"/>
          </a:xfrm>
          <a:prstGeom prst="rect">
            <a:avLst/>
          </a:prstGeom>
        </p:spPr>
        <p:txBody>
          <a:bodyPr vert="horz" wrap="square" lIns="0" tIns="191770" rIns="0" bIns="0" rtlCol="0">
            <a:spAutoFit/>
          </a:bodyPr>
          <a:lstStyle/>
          <a:p>
            <a:pPr marL="104139">
              <a:lnSpc>
                <a:spcPct val="100000"/>
              </a:lnSpc>
              <a:spcBef>
                <a:spcPts val="1510"/>
              </a:spcBef>
            </a:pPr>
            <a:r>
              <a:rPr sz="2400" b="1" spc="-5" dirty="0">
                <a:solidFill>
                  <a:srgbClr val="404040"/>
                </a:solidFill>
                <a:latin typeface="Calibri"/>
                <a:cs typeface="Calibri"/>
              </a:rPr>
              <a:t>The </a:t>
            </a:r>
            <a:r>
              <a:rPr sz="2400" b="1" spc="-15" dirty="0" smtClean="0">
                <a:solidFill>
                  <a:srgbClr val="404040"/>
                </a:solidFill>
                <a:latin typeface="Calibri"/>
                <a:cs typeface="Calibri"/>
              </a:rPr>
              <a:t>steps</a:t>
            </a:r>
            <a:r>
              <a:rPr lang="en-US" sz="2400" b="1" spc="-15" dirty="0" smtClean="0">
                <a:solidFill>
                  <a:srgbClr val="404040"/>
                </a:solidFill>
                <a:latin typeface="Calibri"/>
                <a:cs typeface="Calibri"/>
              </a:rPr>
              <a:t> involved </a:t>
            </a:r>
            <a:r>
              <a:rPr sz="2400" b="1" spc="5" dirty="0" smtClean="0">
                <a:solidFill>
                  <a:srgbClr val="404040"/>
                </a:solidFill>
                <a:latin typeface="Calibri"/>
                <a:cs typeface="Calibri"/>
              </a:rPr>
              <a:t> </a:t>
            </a:r>
            <a:r>
              <a:rPr sz="2400" b="1" dirty="0">
                <a:solidFill>
                  <a:srgbClr val="404040"/>
                </a:solidFill>
                <a:latin typeface="Calibri"/>
                <a:cs typeface="Calibri"/>
              </a:rPr>
              <a:t>in</a:t>
            </a:r>
            <a:r>
              <a:rPr sz="2400" b="1" spc="-10" dirty="0">
                <a:solidFill>
                  <a:srgbClr val="404040"/>
                </a:solidFill>
                <a:latin typeface="Calibri"/>
                <a:cs typeface="Calibri"/>
              </a:rPr>
              <a:t> </a:t>
            </a:r>
            <a:r>
              <a:rPr sz="2400" b="1" spc="-5" dirty="0">
                <a:solidFill>
                  <a:srgbClr val="404040"/>
                </a:solidFill>
                <a:latin typeface="Calibri"/>
                <a:cs typeface="Calibri"/>
              </a:rPr>
              <a:t>the</a:t>
            </a:r>
            <a:r>
              <a:rPr sz="2400" b="1" spc="5" dirty="0">
                <a:solidFill>
                  <a:srgbClr val="404040"/>
                </a:solidFill>
                <a:latin typeface="Calibri"/>
                <a:cs typeface="Calibri"/>
              </a:rPr>
              <a:t> </a:t>
            </a:r>
            <a:r>
              <a:rPr sz="2400" b="1" spc="-10" dirty="0">
                <a:solidFill>
                  <a:srgbClr val="404040"/>
                </a:solidFill>
                <a:latin typeface="Calibri"/>
                <a:cs typeface="Calibri"/>
              </a:rPr>
              <a:t>Read</a:t>
            </a:r>
            <a:r>
              <a:rPr sz="2400" b="1" spc="-20" dirty="0">
                <a:solidFill>
                  <a:srgbClr val="404040"/>
                </a:solidFill>
                <a:latin typeface="Calibri"/>
                <a:cs typeface="Calibri"/>
              </a:rPr>
              <a:t> </a:t>
            </a:r>
            <a:r>
              <a:rPr sz="2400" b="1" spc="-10" dirty="0" smtClean="0">
                <a:solidFill>
                  <a:srgbClr val="404040"/>
                </a:solidFill>
                <a:latin typeface="Calibri"/>
                <a:cs typeface="Calibri"/>
              </a:rPr>
              <a:t>cycle</a:t>
            </a:r>
            <a:r>
              <a:rPr lang="en-US" sz="2400" b="1" spc="-15" dirty="0">
                <a:solidFill>
                  <a:srgbClr val="404040"/>
                </a:solidFill>
                <a:latin typeface="Calibri"/>
                <a:cs typeface="Calibri"/>
              </a:rPr>
              <a:t>:</a:t>
            </a:r>
            <a:endParaRPr sz="2400" dirty="0" smtClean="0">
              <a:latin typeface="Calibri"/>
              <a:cs typeface="Calibri"/>
            </a:endParaRPr>
          </a:p>
          <a:p>
            <a:pPr marL="469900" indent="-457834">
              <a:lnSpc>
                <a:spcPct val="100000"/>
              </a:lnSpc>
              <a:spcBef>
                <a:spcPts val="1405"/>
              </a:spcBef>
              <a:buClr>
                <a:srgbClr val="E38312"/>
              </a:buClr>
              <a:buFont typeface="Wingdings" panose="05000000000000000000" pitchFamily="2" charset="2"/>
              <a:buChar char="Ø"/>
              <a:tabLst>
                <a:tab pos="469900" algn="l"/>
                <a:tab pos="470534" algn="l"/>
              </a:tabLst>
            </a:pPr>
            <a:r>
              <a:rPr sz="2400" spc="-5" dirty="0" smtClean="0">
                <a:solidFill>
                  <a:srgbClr val="404040"/>
                </a:solidFill>
                <a:latin typeface="Calibri"/>
                <a:cs typeface="Calibri"/>
              </a:rPr>
              <a:t>The</a:t>
            </a:r>
            <a:r>
              <a:rPr sz="2400" dirty="0" smtClean="0">
                <a:solidFill>
                  <a:srgbClr val="404040"/>
                </a:solidFill>
                <a:latin typeface="Calibri"/>
                <a:cs typeface="Calibri"/>
              </a:rPr>
              <a:t> </a:t>
            </a:r>
            <a:r>
              <a:rPr sz="2400" spc="-20" dirty="0" smtClean="0">
                <a:solidFill>
                  <a:srgbClr val="404040"/>
                </a:solidFill>
                <a:latin typeface="Calibri"/>
                <a:cs typeface="Calibri"/>
              </a:rPr>
              <a:t>row</a:t>
            </a:r>
            <a:r>
              <a:rPr sz="2400" spc="-25" dirty="0" smtClean="0">
                <a:solidFill>
                  <a:srgbClr val="404040"/>
                </a:solidFill>
                <a:latin typeface="Calibri"/>
                <a:cs typeface="Calibri"/>
              </a:rPr>
              <a:t> </a:t>
            </a:r>
            <a:r>
              <a:rPr sz="2400" spc="-5" dirty="0" smtClean="0">
                <a:solidFill>
                  <a:srgbClr val="404040"/>
                </a:solidFill>
                <a:latin typeface="Calibri"/>
                <a:cs typeface="Calibri"/>
              </a:rPr>
              <a:t>address </a:t>
            </a:r>
            <a:r>
              <a:rPr sz="2400" dirty="0" smtClean="0">
                <a:solidFill>
                  <a:srgbClr val="404040"/>
                </a:solidFill>
                <a:latin typeface="Calibri"/>
                <a:cs typeface="Calibri"/>
              </a:rPr>
              <a:t>is</a:t>
            </a:r>
            <a:r>
              <a:rPr sz="2400" spc="-20" dirty="0" smtClean="0">
                <a:solidFill>
                  <a:srgbClr val="404040"/>
                </a:solidFill>
                <a:latin typeface="Calibri"/>
                <a:cs typeface="Calibri"/>
              </a:rPr>
              <a:t> </a:t>
            </a:r>
            <a:r>
              <a:rPr sz="2400" spc="-5" dirty="0" smtClean="0">
                <a:solidFill>
                  <a:srgbClr val="404040"/>
                </a:solidFill>
                <a:latin typeface="Calibri"/>
                <a:cs typeface="Calibri"/>
              </a:rPr>
              <a:t>placed</a:t>
            </a:r>
            <a:r>
              <a:rPr sz="2400" spc="-10" dirty="0" smtClean="0">
                <a:solidFill>
                  <a:srgbClr val="404040"/>
                </a:solidFill>
                <a:latin typeface="Calibri"/>
                <a:cs typeface="Calibri"/>
              </a:rPr>
              <a:t> </a:t>
            </a:r>
            <a:r>
              <a:rPr sz="2400" spc="-5" dirty="0" smtClean="0">
                <a:solidFill>
                  <a:srgbClr val="404040"/>
                </a:solidFill>
                <a:latin typeface="Calibri"/>
                <a:cs typeface="Calibri"/>
              </a:rPr>
              <a:t>on</a:t>
            </a:r>
            <a:r>
              <a:rPr sz="2400" spc="-15" dirty="0" smtClean="0">
                <a:solidFill>
                  <a:srgbClr val="404040"/>
                </a:solidFill>
                <a:latin typeface="Calibri"/>
                <a:cs typeface="Calibri"/>
              </a:rPr>
              <a:t> </a:t>
            </a:r>
            <a:r>
              <a:rPr sz="2400" dirty="0" smtClean="0">
                <a:solidFill>
                  <a:srgbClr val="404040"/>
                </a:solidFill>
                <a:latin typeface="Calibri"/>
                <a:cs typeface="Calibri"/>
              </a:rPr>
              <a:t>the</a:t>
            </a:r>
            <a:r>
              <a:rPr sz="2400" spc="-10" dirty="0" smtClean="0">
                <a:solidFill>
                  <a:srgbClr val="404040"/>
                </a:solidFill>
                <a:latin typeface="Calibri"/>
                <a:cs typeface="Calibri"/>
              </a:rPr>
              <a:t> </a:t>
            </a:r>
            <a:r>
              <a:rPr sz="2400" spc="-20" dirty="0" smtClean="0">
                <a:solidFill>
                  <a:srgbClr val="404040"/>
                </a:solidFill>
                <a:latin typeface="Calibri"/>
                <a:cs typeface="Calibri"/>
              </a:rPr>
              <a:t>rows</a:t>
            </a:r>
            <a:endParaRPr lang="en-US" sz="2400" spc="-20" dirty="0" smtClean="0">
              <a:solidFill>
                <a:srgbClr val="404040"/>
              </a:solidFill>
              <a:latin typeface="Calibri"/>
              <a:cs typeface="Calibri"/>
            </a:endParaRPr>
          </a:p>
          <a:p>
            <a:pPr marL="469900" indent="-457834">
              <a:lnSpc>
                <a:spcPct val="100000"/>
              </a:lnSpc>
              <a:spcBef>
                <a:spcPts val="1405"/>
              </a:spcBef>
              <a:buClr>
                <a:srgbClr val="E38312"/>
              </a:buClr>
              <a:buFont typeface="Wingdings" panose="05000000000000000000" pitchFamily="2" charset="2"/>
              <a:buChar char="Ø"/>
              <a:tabLst>
                <a:tab pos="469900" algn="l"/>
                <a:tab pos="470534" algn="l"/>
              </a:tabLst>
            </a:pPr>
            <a:r>
              <a:rPr sz="2400" spc="-5" dirty="0" smtClean="0">
                <a:solidFill>
                  <a:srgbClr val="404040"/>
                </a:solidFill>
                <a:latin typeface="Calibri"/>
                <a:cs typeface="Calibri"/>
              </a:rPr>
              <a:t>The</a:t>
            </a:r>
            <a:r>
              <a:rPr sz="2400" dirty="0" smtClean="0">
                <a:solidFill>
                  <a:srgbClr val="404040"/>
                </a:solidFill>
                <a:latin typeface="Calibri"/>
                <a:cs typeface="Calibri"/>
              </a:rPr>
              <a:t> </a:t>
            </a:r>
            <a:r>
              <a:rPr sz="2400" spc="-20" dirty="0">
                <a:solidFill>
                  <a:srgbClr val="404040"/>
                </a:solidFill>
                <a:latin typeface="Calibri"/>
                <a:cs typeface="Calibri"/>
              </a:rPr>
              <a:t>row </a:t>
            </a:r>
            <a:r>
              <a:rPr sz="2400" spc="-5" dirty="0">
                <a:solidFill>
                  <a:srgbClr val="404040"/>
                </a:solidFill>
                <a:latin typeface="Calibri"/>
                <a:cs typeface="Calibri"/>
              </a:rPr>
              <a:t>address</a:t>
            </a:r>
            <a:r>
              <a:rPr sz="2400" dirty="0">
                <a:solidFill>
                  <a:srgbClr val="404040"/>
                </a:solidFill>
                <a:latin typeface="Calibri"/>
                <a:cs typeface="Calibri"/>
              </a:rPr>
              <a:t> </a:t>
            </a:r>
            <a:r>
              <a:rPr sz="2400" spc="-15" dirty="0">
                <a:solidFill>
                  <a:srgbClr val="404040"/>
                </a:solidFill>
                <a:latin typeface="Calibri"/>
                <a:cs typeface="Calibri"/>
              </a:rPr>
              <a:t>strobe</a:t>
            </a:r>
            <a:r>
              <a:rPr sz="2400" spc="-20" dirty="0">
                <a:solidFill>
                  <a:srgbClr val="404040"/>
                </a:solidFill>
                <a:latin typeface="Calibri"/>
                <a:cs typeface="Calibri"/>
              </a:rPr>
              <a:t> </a:t>
            </a:r>
            <a:r>
              <a:rPr sz="2400" dirty="0">
                <a:solidFill>
                  <a:srgbClr val="404040"/>
                </a:solidFill>
                <a:latin typeface="Calibri"/>
                <a:cs typeface="Calibri"/>
              </a:rPr>
              <a:t>RAS</a:t>
            </a:r>
            <a:r>
              <a:rPr sz="2400" spc="-20" dirty="0">
                <a:solidFill>
                  <a:srgbClr val="404040"/>
                </a:solidFill>
                <a:latin typeface="Calibri"/>
                <a:cs typeface="Calibri"/>
              </a:rPr>
              <a:t> </a:t>
            </a:r>
            <a:r>
              <a:rPr sz="2400" spc="-5" dirty="0">
                <a:solidFill>
                  <a:srgbClr val="404040"/>
                </a:solidFill>
                <a:latin typeface="Calibri"/>
                <a:cs typeface="Calibri"/>
              </a:rPr>
              <a:t>signal</a:t>
            </a:r>
            <a:r>
              <a:rPr sz="2400" spc="-20" dirty="0">
                <a:solidFill>
                  <a:srgbClr val="404040"/>
                </a:solidFill>
                <a:latin typeface="Calibri"/>
                <a:cs typeface="Calibri"/>
              </a:rPr>
              <a:t> </a:t>
            </a:r>
            <a:r>
              <a:rPr sz="2400" dirty="0">
                <a:solidFill>
                  <a:srgbClr val="404040"/>
                </a:solidFill>
                <a:latin typeface="Calibri"/>
                <a:cs typeface="Calibri"/>
              </a:rPr>
              <a:t>is</a:t>
            </a:r>
            <a:r>
              <a:rPr sz="2400" spc="-15" dirty="0">
                <a:solidFill>
                  <a:srgbClr val="404040"/>
                </a:solidFill>
                <a:latin typeface="Calibri"/>
                <a:cs typeface="Calibri"/>
              </a:rPr>
              <a:t> </a:t>
            </a:r>
            <a:r>
              <a:rPr sz="2400" dirty="0">
                <a:solidFill>
                  <a:srgbClr val="404040"/>
                </a:solidFill>
                <a:latin typeface="Calibri"/>
                <a:cs typeface="Calibri"/>
              </a:rPr>
              <a:t>then</a:t>
            </a:r>
            <a:r>
              <a:rPr sz="2400" spc="-5" dirty="0">
                <a:solidFill>
                  <a:srgbClr val="404040"/>
                </a:solidFill>
                <a:latin typeface="Calibri"/>
                <a:cs typeface="Calibri"/>
              </a:rPr>
              <a:t> </a:t>
            </a:r>
            <a:r>
              <a:rPr sz="2400" spc="-10" dirty="0">
                <a:solidFill>
                  <a:srgbClr val="404040"/>
                </a:solidFill>
                <a:latin typeface="Calibri"/>
                <a:cs typeface="Calibri"/>
              </a:rPr>
              <a:t>activated.</a:t>
            </a:r>
            <a:endParaRPr sz="2400" dirty="0">
              <a:latin typeface="Calibri"/>
              <a:cs typeface="Calibri"/>
            </a:endParaRPr>
          </a:p>
          <a:p>
            <a:pPr marL="469900" indent="-457834">
              <a:lnSpc>
                <a:spcPct val="100000"/>
              </a:lnSpc>
              <a:spcBef>
                <a:spcPts val="190"/>
              </a:spcBef>
              <a:buClr>
                <a:srgbClr val="E38312"/>
              </a:buClr>
              <a:buFont typeface="Wingdings" panose="05000000000000000000" pitchFamily="2" charset="2"/>
              <a:buChar char="Ø"/>
              <a:tabLst>
                <a:tab pos="469900" algn="l"/>
                <a:tab pos="470534" algn="l"/>
              </a:tabLst>
            </a:pP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address</a:t>
            </a:r>
            <a:r>
              <a:rPr sz="2400" spc="-20" dirty="0">
                <a:solidFill>
                  <a:srgbClr val="404040"/>
                </a:solidFill>
                <a:latin typeface="Calibri"/>
                <a:cs typeface="Calibri"/>
              </a:rPr>
              <a:t> </a:t>
            </a:r>
            <a:r>
              <a:rPr sz="2400" spc="-10" dirty="0">
                <a:solidFill>
                  <a:srgbClr val="404040"/>
                </a:solidFill>
                <a:latin typeface="Calibri"/>
                <a:cs typeface="Calibri"/>
              </a:rPr>
              <a:t>latch</a:t>
            </a:r>
            <a:r>
              <a:rPr sz="2400" spc="-15" dirty="0">
                <a:solidFill>
                  <a:srgbClr val="404040"/>
                </a:solidFill>
                <a:latin typeface="Calibri"/>
                <a:cs typeface="Calibri"/>
              </a:rPr>
              <a:t> </a:t>
            </a:r>
            <a:r>
              <a:rPr sz="2400" dirty="0">
                <a:solidFill>
                  <a:srgbClr val="404040"/>
                </a:solidFill>
                <a:latin typeface="Calibri"/>
                <a:cs typeface="Calibri"/>
              </a:rPr>
              <a:t>inside</a:t>
            </a:r>
            <a:r>
              <a:rPr sz="2400" spc="-15" dirty="0">
                <a:solidFill>
                  <a:srgbClr val="404040"/>
                </a:solidFill>
                <a:latin typeface="Calibri"/>
                <a:cs typeface="Calibri"/>
              </a:rPr>
              <a:t> </a:t>
            </a:r>
            <a:r>
              <a:rPr sz="2400" dirty="0">
                <a:solidFill>
                  <a:srgbClr val="404040"/>
                </a:solidFill>
                <a:latin typeface="Calibri"/>
                <a:cs typeface="Calibri"/>
              </a:rPr>
              <a:t>the</a:t>
            </a:r>
            <a:r>
              <a:rPr sz="2400" spc="-20" dirty="0">
                <a:solidFill>
                  <a:srgbClr val="404040"/>
                </a:solidFill>
                <a:latin typeface="Calibri"/>
                <a:cs typeface="Calibri"/>
              </a:rPr>
              <a:t> </a:t>
            </a:r>
            <a:r>
              <a:rPr sz="2400" dirty="0">
                <a:solidFill>
                  <a:srgbClr val="404040"/>
                </a:solidFill>
                <a:latin typeface="Calibri"/>
                <a:cs typeface="Calibri"/>
              </a:rPr>
              <a:t>chip</a:t>
            </a:r>
            <a:r>
              <a:rPr sz="2400" spc="-5" dirty="0">
                <a:solidFill>
                  <a:srgbClr val="404040"/>
                </a:solidFill>
                <a:latin typeface="Calibri"/>
                <a:cs typeface="Calibri"/>
              </a:rPr>
              <a:t> </a:t>
            </a:r>
            <a:r>
              <a:rPr sz="2400" spc="-15" dirty="0">
                <a:solidFill>
                  <a:srgbClr val="404040"/>
                </a:solidFill>
                <a:latin typeface="Calibri"/>
                <a:cs typeface="Calibri"/>
              </a:rPr>
              <a:t>saves</a:t>
            </a:r>
            <a:r>
              <a:rPr sz="2400" spc="-10"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20" dirty="0">
                <a:solidFill>
                  <a:srgbClr val="404040"/>
                </a:solidFill>
                <a:latin typeface="Calibri"/>
                <a:cs typeface="Calibri"/>
              </a:rPr>
              <a:t>row</a:t>
            </a:r>
            <a:r>
              <a:rPr sz="2400" spc="-25" dirty="0">
                <a:solidFill>
                  <a:srgbClr val="404040"/>
                </a:solidFill>
                <a:latin typeface="Calibri"/>
                <a:cs typeface="Calibri"/>
              </a:rPr>
              <a:t> </a:t>
            </a:r>
            <a:r>
              <a:rPr sz="2400" spc="-5" dirty="0">
                <a:solidFill>
                  <a:srgbClr val="404040"/>
                </a:solidFill>
                <a:latin typeface="Calibri"/>
                <a:cs typeface="Calibri"/>
              </a:rPr>
              <a:t>address.</a:t>
            </a:r>
            <a:endParaRPr sz="2400" dirty="0">
              <a:latin typeface="Calibri"/>
              <a:cs typeface="Calibri"/>
            </a:endParaRPr>
          </a:p>
          <a:p>
            <a:pPr marL="469900" indent="-457834">
              <a:lnSpc>
                <a:spcPct val="100000"/>
              </a:lnSpc>
              <a:spcBef>
                <a:spcPts val="5"/>
              </a:spcBef>
              <a:buClr>
                <a:srgbClr val="E38312"/>
              </a:buClr>
              <a:buFont typeface="Wingdings" panose="05000000000000000000" pitchFamily="2" charset="2"/>
              <a:buChar char="Ø"/>
              <a:tabLst>
                <a:tab pos="469900" algn="l"/>
                <a:tab pos="470534" algn="l"/>
              </a:tabLst>
            </a:pPr>
            <a:r>
              <a:rPr sz="2400" spc="-5" dirty="0">
                <a:solidFill>
                  <a:srgbClr val="404040"/>
                </a:solidFill>
                <a:latin typeface="Calibri"/>
                <a:cs typeface="Calibri"/>
              </a:rPr>
              <a:t>Next,</a:t>
            </a:r>
            <a:r>
              <a:rPr sz="2400" spc="-25" dirty="0">
                <a:solidFill>
                  <a:srgbClr val="404040"/>
                </a:solidFill>
                <a:latin typeface="Calibri"/>
                <a:cs typeface="Calibri"/>
              </a:rPr>
              <a:t> </a:t>
            </a:r>
            <a:r>
              <a:rPr sz="2400" dirty="0">
                <a:solidFill>
                  <a:srgbClr val="404040"/>
                </a:solidFill>
                <a:latin typeface="Calibri"/>
                <a:cs typeface="Calibri"/>
              </a:rPr>
              <a:t>the</a:t>
            </a:r>
            <a:r>
              <a:rPr sz="2400" spc="-15" dirty="0">
                <a:solidFill>
                  <a:srgbClr val="404040"/>
                </a:solidFill>
                <a:latin typeface="Calibri"/>
                <a:cs typeface="Calibri"/>
              </a:rPr>
              <a:t> </a:t>
            </a:r>
            <a:r>
              <a:rPr sz="2400" spc="-10" dirty="0">
                <a:solidFill>
                  <a:srgbClr val="404040"/>
                </a:solidFill>
                <a:latin typeface="Calibri"/>
                <a:cs typeface="Calibri"/>
              </a:rPr>
              <a:t>column</a:t>
            </a:r>
            <a:r>
              <a:rPr sz="2400" spc="-5" dirty="0">
                <a:solidFill>
                  <a:srgbClr val="404040"/>
                </a:solidFill>
                <a:latin typeface="Calibri"/>
                <a:cs typeface="Calibri"/>
              </a:rPr>
              <a:t> address</a:t>
            </a:r>
            <a:r>
              <a:rPr sz="2400" spc="-15" dirty="0">
                <a:solidFill>
                  <a:srgbClr val="404040"/>
                </a:solidFill>
                <a:latin typeface="Calibri"/>
                <a:cs typeface="Calibri"/>
              </a:rPr>
              <a:t> </a:t>
            </a:r>
            <a:r>
              <a:rPr sz="2400" dirty="0">
                <a:solidFill>
                  <a:srgbClr val="404040"/>
                </a:solidFill>
                <a:latin typeface="Calibri"/>
                <a:cs typeface="Calibri"/>
              </a:rPr>
              <a:t>is</a:t>
            </a:r>
            <a:r>
              <a:rPr sz="2400" spc="-15" dirty="0">
                <a:solidFill>
                  <a:srgbClr val="404040"/>
                </a:solidFill>
                <a:latin typeface="Calibri"/>
                <a:cs typeface="Calibri"/>
              </a:rPr>
              <a:t> </a:t>
            </a:r>
            <a:r>
              <a:rPr sz="2400" spc="-5" dirty="0">
                <a:solidFill>
                  <a:srgbClr val="404040"/>
                </a:solidFill>
                <a:latin typeface="Calibri"/>
                <a:cs typeface="Calibri"/>
              </a:rPr>
              <a:t>placed</a:t>
            </a:r>
            <a:r>
              <a:rPr sz="2400" spc="-10" dirty="0">
                <a:solidFill>
                  <a:srgbClr val="404040"/>
                </a:solidFill>
                <a:latin typeface="Calibri"/>
                <a:cs typeface="Calibri"/>
              </a:rPr>
              <a:t> </a:t>
            </a:r>
            <a:r>
              <a:rPr sz="2400" spc="-5" dirty="0">
                <a:solidFill>
                  <a:srgbClr val="404040"/>
                </a:solidFill>
                <a:latin typeface="Calibri"/>
                <a:cs typeface="Calibri"/>
              </a:rPr>
              <a:t>on</a:t>
            </a:r>
            <a:r>
              <a:rPr sz="2400" spc="-10"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same</a:t>
            </a:r>
            <a:r>
              <a:rPr sz="2400" spc="-15" dirty="0">
                <a:solidFill>
                  <a:srgbClr val="404040"/>
                </a:solidFill>
                <a:latin typeface="Calibri"/>
                <a:cs typeface="Calibri"/>
              </a:rPr>
              <a:t> </a:t>
            </a:r>
            <a:r>
              <a:rPr sz="2400" spc="-5" dirty="0">
                <a:solidFill>
                  <a:srgbClr val="404040"/>
                </a:solidFill>
                <a:latin typeface="Calibri"/>
                <a:cs typeface="Calibri"/>
              </a:rPr>
              <a:t>address.</a:t>
            </a:r>
            <a:endParaRPr sz="2400" dirty="0">
              <a:latin typeface="Calibri"/>
              <a:cs typeface="Calibri"/>
            </a:endParaRPr>
          </a:p>
          <a:p>
            <a:pPr marL="469900" indent="-457834">
              <a:lnSpc>
                <a:spcPct val="100000"/>
              </a:lnSpc>
              <a:buClr>
                <a:srgbClr val="E38312"/>
              </a:buClr>
              <a:buFont typeface="Wingdings" panose="05000000000000000000" pitchFamily="2" charset="2"/>
              <a:buChar char="Ø"/>
              <a:tabLst>
                <a:tab pos="469900" algn="l"/>
                <a:tab pos="470534" algn="l"/>
              </a:tabLst>
            </a:pPr>
            <a:r>
              <a:rPr sz="2400" spc="-5" dirty="0">
                <a:solidFill>
                  <a:srgbClr val="404040"/>
                </a:solidFill>
                <a:latin typeface="Calibri"/>
                <a:cs typeface="Calibri"/>
              </a:rPr>
              <a:t>The</a:t>
            </a:r>
            <a:r>
              <a:rPr sz="2400" spc="5" dirty="0">
                <a:solidFill>
                  <a:srgbClr val="404040"/>
                </a:solidFill>
                <a:latin typeface="Calibri"/>
                <a:cs typeface="Calibri"/>
              </a:rPr>
              <a:t> </a:t>
            </a:r>
            <a:r>
              <a:rPr sz="2400" spc="-10" dirty="0">
                <a:solidFill>
                  <a:srgbClr val="404040"/>
                </a:solidFill>
                <a:latin typeface="Calibri"/>
                <a:cs typeface="Calibri"/>
              </a:rPr>
              <a:t>column</a:t>
            </a:r>
            <a:r>
              <a:rPr sz="2400" spc="-20" dirty="0">
                <a:solidFill>
                  <a:srgbClr val="404040"/>
                </a:solidFill>
                <a:latin typeface="Calibri"/>
                <a:cs typeface="Calibri"/>
              </a:rPr>
              <a:t> </a:t>
            </a:r>
            <a:r>
              <a:rPr sz="2400" spc="-5" dirty="0">
                <a:solidFill>
                  <a:srgbClr val="404040"/>
                </a:solidFill>
                <a:latin typeface="Calibri"/>
                <a:cs typeface="Calibri"/>
              </a:rPr>
              <a:t>address</a:t>
            </a:r>
            <a:r>
              <a:rPr sz="2400" spc="5" dirty="0">
                <a:solidFill>
                  <a:srgbClr val="404040"/>
                </a:solidFill>
                <a:latin typeface="Calibri"/>
                <a:cs typeface="Calibri"/>
              </a:rPr>
              <a:t> </a:t>
            </a:r>
            <a:r>
              <a:rPr sz="2400" spc="-15" dirty="0">
                <a:solidFill>
                  <a:srgbClr val="404040"/>
                </a:solidFill>
                <a:latin typeface="Calibri"/>
                <a:cs typeface="Calibri"/>
              </a:rPr>
              <a:t>strobe</a:t>
            </a:r>
            <a:r>
              <a:rPr sz="2400" spc="-20" dirty="0">
                <a:solidFill>
                  <a:srgbClr val="404040"/>
                </a:solidFill>
                <a:latin typeface="Calibri"/>
                <a:cs typeface="Calibri"/>
              </a:rPr>
              <a:t> </a:t>
            </a:r>
            <a:r>
              <a:rPr sz="2400" spc="-5" dirty="0">
                <a:solidFill>
                  <a:srgbClr val="404040"/>
                </a:solidFill>
                <a:latin typeface="Calibri"/>
                <a:cs typeface="Calibri"/>
              </a:rPr>
              <a:t>CAS</a:t>
            </a:r>
            <a:r>
              <a:rPr sz="2400" spc="-30" dirty="0">
                <a:solidFill>
                  <a:srgbClr val="404040"/>
                </a:solidFill>
                <a:latin typeface="Calibri"/>
                <a:cs typeface="Calibri"/>
              </a:rPr>
              <a:t> </a:t>
            </a:r>
            <a:r>
              <a:rPr sz="2400" spc="-5" dirty="0">
                <a:solidFill>
                  <a:srgbClr val="404040"/>
                </a:solidFill>
                <a:latin typeface="Calibri"/>
                <a:cs typeface="Calibri"/>
              </a:rPr>
              <a:t>signal</a:t>
            </a:r>
            <a:r>
              <a:rPr sz="2400" dirty="0">
                <a:solidFill>
                  <a:srgbClr val="404040"/>
                </a:solidFill>
                <a:latin typeface="Calibri"/>
                <a:cs typeface="Calibri"/>
              </a:rPr>
              <a:t> is</a:t>
            </a:r>
            <a:r>
              <a:rPr sz="2400" spc="-15" dirty="0">
                <a:solidFill>
                  <a:srgbClr val="404040"/>
                </a:solidFill>
                <a:latin typeface="Calibri"/>
                <a:cs typeface="Calibri"/>
              </a:rPr>
              <a:t> </a:t>
            </a:r>
            <a:r>
              <a:rPr sz="2400" dirty="0">
                <a:solidFill>
                  <a:srgbClr val="404040"/>
                </a:solidFill>
                <a:latin typeface="Calibri"/>
                <a:cs typeface="Calibri"/>
              </a:rPr>
              <a:t>then</a:t>
            </a:r>
            <a:r>
              <a:rPr sz="2400" spc="-20" dirty="0">
                <a:solidFill>
                  <a:srgbClr val="404040"/>
                </a:solidFill>
                <a:latin typeface="Calibri"/>
                <a:cs typeface="Calibri"/>
              </a:rPr>
              <a:t> </a:t>
            </a:r>
            <a:r>
              <a:rPr sz="2400" spc="-10" dirty="0">
                <a:solidFill>
                  <a:srgbClr val="404040"/>
                </a:solidFill>
                <a:latin typeface="Calibri"/>
                <a:cs typeface="Calibri"/>
              </a:rPr>
              <a:t>activated.</a:t>
            </a:r>
            <a:endParaRPr sz="2400" dirty="0">
              <a:latin typeface="Calibri"/>
              <a:cs typeface="Calibri"/>
            </a:endParaRPr>
          </a:p>
          <a:p>
            <a:pPr marL="469900" indent="-457834">
              <a:lnSpc>
                <a:spcPct val="100000"/>
              </a:lnSpc>
              <a:buClr>
                <a:srgbClr val="E38312"/>
              </a:buClr>
              <a:buFont typeface="Wingdings" panose="05000000000000000000" pitchFamily="2" charset="2"/>
              <a:buChar char="Ø"/>
              <a:tabLst>
                <a:tab pos="469900" algn="l"/>
                <a:tab pos="470534" algn="l"/>
              </a:tabLst>
            </a:pPr>
            <a:r>
              <a:rPr sz="2400" spc="-5" dirty="0">
                <a:solidFill>
                  <a:srgbClr val="404040"/>
                </a:solidFill>
                <a:latin typeface="Calibri"/>
                <a:cs typeface="Calibri"/>
              </a:rPr>
              <a:t>The</a:t>
            </a:r>
            <a:r>
              <a:rPr sz="2400" spc="5" dirty="0">
                <a:solidFill>
                  <a:srgbClr val="404040"/>
                </a:solidFill>
                <a:latin typeface="Calibri"/>
                <a:cs typeface="Calibri"/>
              </a:rPr>
              <a:t> </a:t>
            </a:r>
            <a:r>
              <a:rPr sz="2400" spc="-5" dirty="0">
                <a:solidFill>
                  <a:srgbClr val="404040"/>
                </a:solidFill>
                <a:latin typeface="Calibri"/>
                <a:cs typeface="Calibri"/>
              </a:rPr>
              <a:t>address</a:t>
            </a:r>
            <a:r>
              <a:rPr sz="2400" spc="-15" dirty="0">
                <a:solidFill>
                  <a:srgbClr val="404040"/>
                </a:solidFill>
                <a:latin typeface="Calibri"/>
                <a:cs typeface="Calibri"/>
              </a:rPr>
              <a:t> </a:t>
            </a:r>
            <a:r>
              <a:rPr sz="2400" spc="-10" dirty="0">
                <a:solidFill>
                  <a:srgbClr val="404040"/>
                </a:solidFill>
                <a:latin typeface="Calibri"/>
                <a:cs typeface="Calibri"/>
              </a:rPr>
              <a:t>latch</a:t>
            </a:r>
            <a:r>
              <a:rPr sz="2400" spc="-15" dirty="0">
                <a:solidFill>
                  <a:srgbClr val="404040"/>
                </a:solidFill>
                <a:latin typeface="Calibri"/>
                <a:cs typeface="Calibri"/>
              </a:rPr>
              <a:t> </a:t>
            </a:r>
            <a:r>
              <a:rPr sz="2400" dirty="0">
                <a:solidFill>
                  <a:srgbClr val="404040"/>
                </a:solidFill>
                <a:latin typeface="Calibri"/>
                <a:cs typeface="Calibri"/>
              </a:rPr>
              <a:t>inside</a:t>
            </a:r>
            <a:r>
              <a:rPr sz="2400" spc="-10" dirty="0">
                <a:solidFill>
                  <a:srgbClr val="404040"/>
                </a:solidFill>
                <a:latin typeface="Calibri"/>
                <a:cs typeface="Calibri"/>
              </a:rPr>
              <a:t> </a:t>
            </a:r>
            <a:r>
              <a:rPr sz="2400" dirty="0">
                <a:solidFill>
                  <a:srgbClr val="404040"/>
                </a:solidFill>
                <a:latin typeface="Calibri"/>
                <a:cs typeface="Calibri"/>
              </a:rPr>
              <a:t>the</a:t>
            </a:r>
            <a:r>
              <a:rPr sz="2400" spc="-15" dirty="0">
                <a:solidFill>
                  <a:srgbClr val="404040"/>
                </a:solidFill>
                <a:latin typeface="Calibri"/>
                <a:cs typeface="Calibri"/>
              </a:rPr>
              <a:t> </a:t>
            </a:r>
            <a:r>
              <a:rPr sz="2400" dirty="0">
                <a:solidFill>
                  <a:srgbClr val="404040"/>
                </a:solidFill>
                <a:latin typeface="Calibri"/>
                <a:cs typeface="Calibri"/>
              </a:rPr>
              <a:t>chip</a:t>
            </a:r>
            <a:r>
              <a:rPr sz="2400" spc="-5" dirty="0">
                <a:solidFill>
                  <a:srgbClr val="404040"/>
                </a:solidFill>
                <a:latin typeface="Calibri"/>
                <a:cs typeface="Calibri"/>
              </a:rPr>
              <a:t> </a:t>
            </a:r>
            <a:r>
              <a:rPr sz="2400" spc="-15" dirty="0">
                <a:solidFill>
                  <a:srgbClr val="404040"/>
                </a:solidFill>
                <a:latin typeface="Calibri"/>
                <a:cs typeface="Calibri"/>
              </a:rPr>
              <a:t>saves</a:t>
            </a:r>
            <a:r>
              <a:rPr sz="2400" spc="-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10" dirty="0">
                <a:solidFill>
                  <a:srgbClr val="404040"/>
                </a:solidFill>
                <a:latin typeface="Calibri"/>
                <a:cs typeface="Calibri"/>
              </a:rPr>
              <a:t>column</a:t>
            </a:r>
            <a:r>
              <a:rPr sz="2400" spc="-20" dirty="0">
                <a:solidFill>
                  <a:srgbClr val="404040"/>
                </a:solidFill>
                <a:latin typeface="Calibri"/>
                <a:cs typeface="Calibri"/>
              </a:rPr>
              <a:t> </a:t>
            </a:r>
            <a:r>
              <a:rPr sz="2400" spc="-5" dirty="0">
                <a:solidFill>
                  <a:srgbClr val="404040"/>
                </a:solidFill>
                <a:latin typeface="Calibri"/>
                <a:cs typeface="Calibri"/>
              </a:rPr>
              <a:t>address</a:t>
            </a:r>
            <a:r>
              <a:rPr sz="2400" dirty="0">
                <a:solidFill>
                  <a:srgbClr val="404040"/>
                </a:solidFill>
                <a:latin typeface="Calibri"/>
                <a:cs typeface="Calibri"/>
              </a:rPr>
              <a:t> </a:t>
            </a:r>
            <a:r>
              <a:rPr sz="2400" spc="-5" dirty="0">
                <a:solidFill>
                  <a:srgbClr val="404040"/>
                </a:solidFill>
                <a:latin typeface="Calibri"/>
                <a:cs typeface="Calibri"/>
              </a:rPr>
              <a:t>also.</a:t>
            </a:r>
            <a:endParaRPr sz="2400" dirty="0">
              <a:latin typeface="Calibri"/>
              <a:cs typeface="Calibri"/>
            </a:endParaRPr>
          </a:p>
          <a:p>
            <a:pPr marL="469900" indent="-457834">
              <a:lnSpc>
                <a:spcPct val="100000"/>
              </a:lnSpc>
              <a:buClr>
                <a:srgbClr val="E38312"/>
              </a:buClr>
              <a:buFont typeface="Wingdings" panose="05000000000000000000" pitchFamily="2" charset="2"/>
              <a:buChar char="Ø"/>
              <a:tabLst>
                <a:tab pos="469900" algn="l"/>
                <a:tab pos="470534" algn="l"/>
              </a:tabLst>
            </a:pP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CAS</a:t>
            </a:r>
            <a:r>
              <a:rPr sz="2400" spc="-30" dirty="0">
                <a:solidFill>
                  <a:srgbClr val="404040"/>
                </a:solidFill>
                <a:latin typeface="Calibri"/>
                <a:cs typeface="Calibri"/>
              </a:rPr>
              <a:t> </a:t>
            </a:r>
            <a:r>
              <a:rPr sz="2400" spc="-5" dirty="0">
                <a:solidFill>
                  <a:srgbClr val="404040"/>
                </a:solidFill>
                <a:latin typeface="Calibri"/>
                <a:cs typeface="Calibri"/>
              </a:rPr>
              <a:t>pin</a:t>
            </a:r>
            <a:r>
              <a:rPr sz="2400" spc="-10" dirty="0">
                <a:solidFill>
                  <a:srgbClr val="404040"/>
                </a:solidFill>
                <a:latin typeface="Calibri"/>
                <a:cs typeface="Calibri"/>
              </a:rPr>
              <a:t> </a:t>
            </a:r>
            <a:r>
              <a:rPr sz="2400" dirty="0">
                <a:solidFill>
                  <a:srgbClr val="404040"/>
                </a:solidFill>
                <a:latin typeface="Calibri"/>
                <a:cs typeface="Calibri"/>
              </a:rPr>
              <a:t>also</a:t>
            </a:r>
            <a:r>
              <a:rPr sz="2400" spc="-15" dirty="0">
                <a:solidFill>
                  <a:srgbClr val="404040"/>
                </a:solidFill>
                <a:latin typeface="Calibri"/>
                <a:cs typeface="Calibri"/>
              </a:rPr>
              <a:t> </a:t>
            </a:r>
            <a:r>
              <a:rPr sz="2400" spc="-5" dirty="0">
                <a:solidFill>
                  <a:srgbClr val="404040"/>
                </a:solidFill>
                <a:latin typeface="Calibri"/>
                <a:cs typeface="Calibri"/>
              </a:rPr>
              <a:t>serves </a:t>
            </a:r>
            <a:r>
              <a:rPr sz="2400" dirty="0">
                <a:solidFill>
                  <a:srgbClr val="404040"/>
                </a:solidFill>
                <a:latin typeface="Calibri"/>
                <a:cs typeface="Calibri"/>
              </a:rPr>
              <a:t>as</a:t>
            </a:r>
            <a:r>
              <a:rPr sz="2400" spc="-1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output</a:t>
            </a:r>
            <a:r>
              <a:rPr sz="2400" spc="-15" dirty="0">
                <a:solidFill>
                  <a:srgbClr val="404040"/>
                </a:solidFill>
                <a:latin typeface="Calibri"/>
                <a:cs typeface="Calibri"/>
              </a:rPr>
              <a:t> </a:t>
            </a:r>
            <a:r>
              <a:rPr sz="2400" dirty="0">
                <a:solidFill>
                  <a:srgbClr val="404040"/>
                </a:solidFill>
                <a:latin typeface="Calibri"/>
                <a:cs typeface="Calibri"/>
              </a:rPr>
              <a:t>enable.</a:t>
            </a:r>
            <a:endParaRPr sz="2400" dirty="0">
              <a:latin typeface="Calibri"/>
              <a:cs typeface="Calibri"/>
            </a:endParaRPr>
          </a:p>
          <a:p>
            <a:pPr marL="469900" indent="-457834">
              <a:lnSpc>
                <a:spcPct val="100000"/>
              </a:lnSpc>
              <a:buClr>
                <a:srgbClr val="E38312"/>
              </a:buClr>
              <a:buFont typeface="Wingdings" panose="05000000000000000000" pitchFamily="2" charset="2"/>
              <a:buChar char="Ø"/>
              <a:tabLst>
                <a:tab pos="469900" algn="l"/>
                <a:tab pos="470534" algn="l"/>
              </a:tabLst>
            </a:pPr>
            <a:r>
              <a:rPr sz="2400" dirty="0">
                <a:solidFill>
                  <a:srgbClr val="404040"/>
                </a:solidFill>
                <a:latin typeface="Calibri"/>
                <a:cs typeface="Calibri"/>
              </a:rPr>
              <a:t>With</a:t>
            </a:r>
            <a:r>
              <a:rPr sz="2400" spc="-10" dirty="0">
                <a:solidFill>
                  <a:srgbClr val="404040"/>
                </a:solidFill>
                <a:latin typeface="Calibri"/>
                <a:cs typeface="Calibri"/>
              </a:rPr>
              <a:t> </a:t>
            </a:r>
            <a:r>
              <a:rPr sz="2400" dirty="0">
                <a:solidFill>
                  <a:srgbClr val="404040"/>
                </a:solidFill>
                <a:latin typeface="Calibri"/>
                <a:cs typeface="Calibri"/>
              </a:rPr>
              <a:t>this,</a:t>
            </a:r>
            <a:r>
              <a:rPr sz="2400" spc="-5" dirty="0">
                <a:solidFill>
                  <a:srgbClr val="404040"/>
                </a:solidFill>
                <a:latin typeface="Calibri"/>
                <a:cs typeface="Calibri"/>
              </a:rPr>
              <a:t> the</a:t>
            </a:r>
            <a:r>
              <a:rPr sz="2400" dirty="0">
                <a:solidFill>
                  <a:srgbClr val="404040"/>
                </a:solidFill>
                <a:latin typeface="Calibri"/>
                <a:cs typeface="Calibri"/>
              </a:rPr>
              <a:t> </a:t>
            </a:r>
            <a:r>
              <a:rPr sz="2400" spc="-15" dirty="0">
                <a:solidFill>
                  <a:srgbClr val="404040"/>
                </a:solidFill>
                <a:latin typeface="Calibri"/>
                <a:cs typeface="Calibri"/>
              </a:rPr>
              <a:t>data</a:t>
            </a:r>
            <a:r>
              <a:rPr sz="2400" spc="5" dirty="0">
                <a:solidFill>
                  <a:srgbClr val="404040"/>
                </a:solidFill>
                <a:latin typeface="Calibri"/>
                <a:cs typeface="Calibri"/>
              </a:rPr>
              <a:t> </a:t>
            </a:r>
            <a:r>
              <a:rPr sz="2400" dirty="0">
                <a:solidFill>
                  <a:srgbClr val="404040"/>
                </a:solidFill>
                <a:latin typeface="Calibri"/>
                <a:cs typeface="Calibri"/>
              </a:rPr>
              <a:t>in </a:t>
            </a: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selected</a:t>
            </a:r>
            <a:r>
              <a:rPr sz="2400" spc="5" dirty="0">
                <a:solidFill>
                  <a:srgbClr val="404040"/>
                </a:solidFill>
                <a:latin typeface="Calibri"/>
                <a:cs typeface="Calibri"/>
              </a:rPr>
              <a:t> </a:t>
            </a:r>
            <a:r>
              <a:rPr sz="2400" spc="-5" dirty="0">
                <a:solidFill>
                  <a:srgbClr val="404040"/>
                </a:solidFill>
                <a:latin typeface="Calibri"/>
                <a:cs typeface="Calibri"/>
              </a:rPr>
              <a:t>address</a:t>
            </a:r>
            <a:r>
              <a:rPr sz="2400" spc="-20"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10" dirty="0">
                <a:solidFill>
                  <a:srgbClr val="404040"/>
                </a:solidFill>
                <a:latin typeface="Calibri"/>
                <a:cs typeface="Calibri"/>
              </a:rPr>
              <a:t>available</a:t>
            </a:r>
            <a:r>
              <a:rPr sz="2400" spc="10" dirty="0">
                <a:solidFill>
                  <a:srgbClr val="404040"/>
                </a:solidFill>
                <a:latin typeface="Calibri"/>
                <a:cs typeface="Calibri"/>
              </a:rPr>
              <a:t> </a:t>
            </a:r>
            <a:r>
              <a:rPr sz="2400" spc="-15" dirty="0">
                <a:solidFill>
                  <a:srgbClr val="404040"/>
                </a:solidFill>
                <a:latin typeface="Calibri"/>
                <a:cs typeface="Calibri"/>
              </a:rPr>
              <a:t>at</a:t>
            </a:r>
            <a:r>
              <a:rPr sz="2400" spc="-5" dirty="0">
                <a:solidFill>
                  <a:srgbClr val="404040"/>
                </a:solidFill>
                <a:latin typeface="Calibri"/>
                <a:cs typeface="Calibri"/>
              </a:rPr>
              <a:t> the</a:t>
            </a:r>
            <a:r>
              <a:rPr sz="2400" spc="5" dirty="0">
                <a:solidFill>
                  <a:srgbClr val="404040"/>
                </a:solidFill>
                <a:latin typeface="Calibri"/>
                <a:cs typeface="Calibri"/>
              </a:rPr>
              <a:t> </a:t>
            </a:r>
            <a:r>
              <a:rPr sz="2400" spc="-5" dirty="0">
                <a:solidFill>
                  <a:srgbClr val="404040"/>
                </a:solidFill>
                <a:latin typeface="Calibri"/>
                <a:cs typeface="Calibri"/>
              </a:rPr>
              <a:t>output</a:t>
            </a:r>
            <a:r>
              <a:rPr sz="2400" spc="-10" dirty="0">
                <a:solidFill>
                  <a:srgbClr val="404040"/>
                </a:solidFill>
                <a:latin typeface="Calibri"/>
                <a:cs typeface="Calibri"/>
              </a:rPr>
              <a:t> </a:t>
            </a:r>
            <a:r>
              <a:rPr sz="2400" spc="-20" dirty="0">
                <a:solidFill>
                  <a:srgbClr val="404040"/>
                </a:solidFill>
                <a:latin typeface="Calibri"/>
                <a:cs typeface="Calibri"/>
              </a:rPr>
              <a:t>buffers</a:t>
            </a:r>
            <a:r>
              <a:rPr sz="2400" dirty="0">
                <a:solidFill>
                  <a:srgbClr val="404040"/>
                </a:solidFill>
                <a:latin typeface="Calibri"/>
                <a:cs typeface="Calibri"/>
              </a:rPr>
              <a:t> </a:t>
            </a:r>
            <a:r>
              <a:rPr sz="2400" spc="-10" dirty="0">
                <a:solidFill>
                  <a:srgbClr val="404040"/>
                </a:solidFill>
                <a:latin typeface="Calibri"/>
                <a:cs typeface="Calibri"/>
              </a:rPr>
              <a:t>of</a:t>
            </a:r>
            <a:endParaRPr sz="2400" dirty="0">
              <a:latin typeface="Calibri"/>
              <a:cs typeface="Calibri"/>
            </a:endParaRPr>
          </a:p>
          <a:p>
            <a:pPr marL="469900">
              <a:lnSpc>
                <a:spcPct val="100000"/>
              </a:lnSpc>
            </a:pPr>
            <a:r>
              <a:rPr sz="2400" dirty="0">
                <a:solidFill>
                  <a:srgbClr val="404040"/>
                </a:solidFill>
                <a:latin typeface="Calibri"/>
                <a:cs typeface="Calibri"/>
              </a:rPr>
              <a:t>the chip,</a:t>
            </a:r>
            <a:r>
              <a:rPr sz="2400" spc="-15" dirty="0">
                <a:solidFill>
                  <a:srgbClr val="404040"/>
                </a:solidFill>
                <a:latin typeface="Calibri"/>
                <a:cs typeface="Calibri"/>
              </a:rPr>
              <a:t> </a:t>
            </a:r>
            <a:r>
              <a:rPr sz="2400" dirty="0">
                <a:solidFill>
                  <a:srgbClr val="404040"/>
                </a:solidFill>
                <a:latin typeface="Calibri"/>
                <a:cs typeface="Calibri"/>
              </a:rPr>
              <a:t>and</a:t>
            </a:r>
            <a:r>
              <a:rPr sz="2400" spc="-5" dirty="0">
                <a:solidFill>
                  <a:srgbClr val="404040"/>
                </a:solidFill>
                <a:latin typeface="Calibri"/>
                <a:cs typeface="Calibri"/>
              </a:rPr>
              <a:t> </a:t>
            </a:r>
            <a:r>
              <a:rPr sz="2400" dirty="0">
                <a:solidFill>
                  <a:srgbClr val="404040"/>
                </a:solidFill>
                <a:latin typeface="Calibri"/>
                <a:cs typeface="Calibri"/>
              </a:rPr>
              <a:t>it</a:t>
            </a:r>
            <a:r>
              <a:rPr sz="2400" spc="-15" dirty="0">
                <a:solidFill>
                  <a:srgbClr val="404040"/>
                </a:solidFill>
                <a:latin typeface="Calibri"/>
                <a:cs typeface="Calibri"/>
              </a:rPr>
              <a:t> </a:t>
            </a:r>
            <a:r>
              <a:rPr sz="2400" dirty="0">
                <a:solidFill>
                  <a:srgbClr val="404040"/>
                </a:solidFill>
                <a:latin typeface="Calibri"/>
                <a:cs typeface="Calibri"/>
              </a:rPr>
              <a:t>is</a:t>
            </a:r>
            <a:r>
              <a:rPr sz="2400" spc="-5" dirty="0">
                <a:solidFill>
                  <a:srgbClr val="404040"/>
                </a:solidFill>
                <a:latin typeface="Calibri"/>
                <a:cs typeface="Calibri"/>
              </a:rPr>
              <a:t> </a:t>
            </a:r>
            <a:r>
              <a:rPr sz="2400" spc="-20" dirty="0">
                <a:solidFill>
                  <a:srgbClr val="404040"/>
                </a:solidFill>
                <a:latin typeface="Calibri"/>
                <a:cs typeface="Calibri"/>
              </a:rPr>
              <a:t>transferred</a:t>
            </a:r>
            <a:r>
              <a:rPr sz="2400" dirty="0">
                <a:solidFill>
                  <a:srgbClr val="404040"/>
                </a:solidFill>
                <a:latin typeface="Calibri"/>
                <a:cs typeface="Calibri"/>
              </a:rPr>
              <a:t> </a:t>
            </a:r>
            <a:r>
              <a:rPr sz="2400" spc="-15" dirty="0">
                <a:solidFill>
                  <a:srgbClr val="404040"/>
                </a:solidFill>
                <a:latin typeface="Calibri"/>
                <a:cs typeface="Calibri"/>
              </a:rPr>
              <a:t>to</a:t>
            </a:r>
            <a:r>
              <a:rPr sz="2400" spc="-5" dirty="0">
                <a:solidFill>
                  <a:srgbClr val="404040"/>
                </a:solidFill>
                <a:latin typeface="Calibri"/>
                <a:cs typeface="Calibri"/>
              </a:rPr>
              <a:t> </a:t>
            </a:r>
            <a:r>
              <a:rPr sz="2400" dirty="0">
                <a:solidFill>
                  <a:srgbClr val="404040"/>
                </a:solidFill>
                <a:latin typeface="Calibri"/>
                <a:cs typeface="Calibri"/>
              </a:rPr>
              <a:t>the </a:t>
            </a:r>
            <a:r>
              <a:rPr sz="2400" spc="-15" dirty="0">
                <a:solidFill>
                  <a:srgbClr val="404040"/>
                </a:solidFill>
                <a:latin typeface="Calibri"/>
                <a:cs typeface="Calibri"/>
              </a:rPr>
              <a:t>data </a:t>
            </a:r>
            <a:r>
              <a:rPr sz="2400" spc="-5" dirty="0">
                <a:solidFill>
                  <a:srgbClr val="404040"/>
                </a:solidFill>
                <a:latin typeface="Calibri"/>
                <a:cs typeface="Calibri"/>
              </a:rPr>
              <a:t>bus</a:t>
            </a:r>
            <a:r>
              <a:rPr sz="2400" spc="-10" dirty="0">
                <a:solidFill>
                  <a:srgbClr val="404040"/>
                </a:solidFill>
                <a:latin typeface="Calibri"/>
                <a:cs typeface="Calibri"/>
              </a:rPr>
              <a:t> </a:t>
            </a:r>
            <a:r>
              <a:rPr sz="2400" spc="-5" dirty="0">
                <a:solidFill>
                  <a:srgbClr val="404040"/>
                </a:solidFill>
                <a:latin typeface="Calibri"/>
                <a:cs typeface="Calibri"/>
              </a:rPr>
              <a:t>of </a:t>
            </a:r>
            <a:r>
              <a:rPr sz="2400" dirty="0">
                <a:solidFill>
                  <a:srgbClr val="404040"/>
                </a:solidFill>
                <a:latin typeface="Calibri"/>
                <a:cs typeface="Calibri"/>
              </a:rPr>
              <a:t>the </a:t>
            </a:r>
            <a:r>
              <a:rPr sz="2400" spc="-35" dirty="0">
                <a:solidFill>
                  <a:srgbClr val="404040"/>
                </a:solidFill>
                <a:latin typeface="Calibri"/>
                <a:cs typeface="Calibri"/>
              </a:rPr>
              <a:t>processor.</a:t>
            </a:r>
            <a:endParaRPr sz="2400" dirty="0">
              <a:latin typeface="Calibri"/>
              <a:cs typeface="Calibri"/>
            </a:endParaRPr>
          </a:p>
          <a:p>
            <a:pPr marL="469900" indent="-457834">
              <a:lnSpc>
                <a:spcPct val="100000"/>
              </a:lnSpc>
              <a:buClr>
                <a:srgbClr val="E38312"/>
              </a:buClr>
              <a:buFont typeface="Wingdings" panose="05000000000000000000" pitchFamily="2" charset="2"/>
              <a:buChar char="Ø"/>
              <a:tabLst>
                <a:tab pos="469900" algn="l"/>
                <a:tab pos="470534" algn="l"/>
              </a:tabLst>
            </a:pPr>
            <a:r>
              <a:rPr sz="2400" spc="-5" dirty="0">
                <a:solidFill>
                  <a:srgbClr val="404040"/>
                </a:solidFill>
                <a:latin typeface="Calibri"/>
                <a:cs typeface="Calibri"/>
              </a:rPr>
              <a:t>CAS</a:t>
            </a:r>
            <a:r>
              <a:rPr sz="2400" spc="-25" dirty="0">
                <a:solidFill>
                  <a:srgbClr val="404040"/>
                </a:solidFill>
                <a:latin typeface="Calibri"/>
                <a:cs typeface="Calibri"/>
              </a:rPr>
              <a:t> </a:t>
            </a:r>
            <a:r>
              <a:rPr sz="2400" dirty="0">
                <a:solidFill>
                  <a:srgbClr val="404040"/>
                </a:solidFill>
                <a:latin typeface="Calibri"/>
                <a:cs typeface="Calibri"/>
              </a:rPr>
              <a:t>and</a:t>
            </a:r>
            <a:r>
              <a:rPr sz="2400" spc="-5" dirty="0">
                <a:solidFill>
                  <a:srgbClr val="404040"/>
                </a:solidFill>
                <a:latin typeface="Calibri"/>
                <a:cs typeface="Calibri"/>
              </a:rPr>
              <a:t> </a:t>
            </a:r>
            <a:r>
              <a:rPr sz="2400" dirty="0">
                <a:solidFill>
                  <a:srgbClr val="404040"/>
                </a:solidFill>
                <a:latin typeface="Calibri"/>
                <a:cs typeface="Calibri"/>
              </a:rPr>
              <a:t>RAS</a:t>
            </a:r>
            <a:r>
              <a:rPr sz="2400" spc="-15" dirty="0">
                <a:solidFill>
                  <a:srgbClr val="404040"/>
                </a:solidFill>
                <a:latin typeface="Calibri"/>
                <a:cs typeface="Calibri"/>
              </a:rPr>
              <a:t> </a:t>
            </a:r>
            <a:r>
              <a:rPr sz="2400" spc="-10" dirty="0">
                <a:solidFill>
                  <a:srgbClr val="404040"/>
                </a:solidFill>
                <a:latin typeface="Calibri"/>
                <a:cs typeface="Calibri"/>
              </a:rPr>
              <a:t>return</a:t>
            </a:r>
            <a:r>
              <a:rPr sz="2400" spc="-5" dirty="0">
                <a:solidFill>
                  <a:srgbClr val="404040"/>
                </a:solidFill>
                <a:latin typeface="Calibri"/>
                <a:cs typeface="Calibri"/>
              </a:rPr>
              <a:t> </a:t>
            </a:r>
            <a:r>
              <a:rPr sz="2400" spc="-15" dirty="0">
                <a:solidFill>
                  <a:srgbClr val="404040"/>
                </a:solidFill>
                <a:latin typeface="Calibri"/>
                <a:cs typeface="Calibri"/>
              </a:rPr>
              <a:t>to</a:t>
            </a:r>
            <a:r>
              <a:rPr sz="2400" spc="-25" dirty="0">
                <a:solidFill>
                  <a:srgbClr val="404040"/>
                </a:solidFill>
                <a:latin typeface="Calibri"/>
                <a:cs typeface="Calibri"/>
              </a:rPr>
              <a:t> </a:t>
            </a:r>
            <a:r>
              <a:rPr sz="2400" dirty="0">
                <a:solidFill>
                  <a:srgbClr val="404040"/>
                </a:solidFill>
                <a:latin typeface="Calibri"/>
                <a:cs typeface="Calibri"/>
              </a:rPr>
              <a:t>their</a:t>
            </a:r>
            <a:r>
              <a:rPr sz="2400" spc="5" dirty="0">
                <a:solidFill>
                  <a:srgbClr val="404040"/>
                </a:solidFill>
                <a:latin typeface="Calibri"/>
                <a:cs typeface="Calibri"/>
              </a:rPr>
              <a:t> </a:t>
            </a:r>
            <a:r>
              <a:rPr sz="2400" spc="-10" dirty="0">
                <a:solidFill>
                  <a:srgbClr val="404040"/>
                </a:solidFill>
                <a:latin typeface="Calibri"/>
                <a:cs typeface="Calibri"/>
              </a:rPr>
              <a:t>previous</a:t>
            </a:r>
            <a:r>
              <a:rPr sz="2400" dirty="0">
                <a:solidFill>
                  <a:srgbClr val="404040"/>
                </a:solidFill>
                <a:latin typeface="Calibri"/>
                <a:cs typeface="Calibri"/>
              </a:rPr>
              <a:t> </a:t>
            </a:r>
            <a:r>
              <a:rPr sz="2400" spc="-25" dirty="0">
                <a:solidFill>
                  <a:srgbClr val="404040"/>
                </a:solidFill>
                <a:latin typeface="Calibri"/>
                <a:cs typeface="Calibri"/>
              </a:rPr>
              <a:t>state </a:t>
            </a:r>
            <a:r>
              <a:rPr sz="2400" spc="-15" dirty="0">
                <a:solidFill>
                  <a:srgbClr val="404040"/>
                </a:solidFill>
                <a:latin typeface="Calibri"/>
                <a:cs typeface="Calibri"/>
              </a:rPr>
              <a:t>to</a:t>
            </a:r>
            <a:r>
              <a:rPr sz="2400" spc="-10" dirty="0">
                <a:solidFill>
                  <a:srgbClr val="404040"/>
                </a:solidFill>
                <a:latin typeface="Calibri"/>
                <a:cs typeface="Calibri"/>
              </a:rPr>
              <a:t> complete</a:t>
            </a:r>
            <a:r>
              <a:rPr sz="2400" spc="-15" dirty="0">
                <a:solidFill>
                  <a:srgbClr val="404040"/>
                </a:solidFill>
                <a:latin typeface="Calibri"/>
                <a:cs typeface="Calibri"/>
              </a:rPr>
              <a:t> </a:t>
            </a:r>
            <a:r>
              <a:rPr sz="2400" dirty="0">
                <a:solidFill>
                  <a:srgbClr val="404040"/>
                </a:solidFill>
                <a:latin typeface="Calibri"/>
                <a:cs typeface="Calibri"/>
              </a:rPr>
              <a:t>the </a:t>
            </a:r>
            <a:r>
              <a:rPr sz="2400" spc="-10" dirty="0">
                <a:solidFill>
                  <a:srgbClr val="404040"/>
                </a:solidFill>
                <a:latin typeface="Calibri"/>
                <a:cs typeface="Calibri"/>
              </a:rPr>
              <a:t>read</a:t>
            </a:r>
            <a:r>
              <a:rPr sz="2400" spc="-5" dirty="0">
                <a:solidFill>
                  <a:srgbClr val="404040"/>
                </a:solidFill>
                <a:latin typeface="Calibri"/>
                <a:cs typeface="Calibri"/>
              </a:rPr>
              <a:t> cycle.</a:t>
            </a:r>
            <a:endParaRPr sz="24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17</a:t>
            </a:r>
            <a:endParaRPr sz="1050">
              <a:latin typeface="Calibri"/>
              <a:cs typeface="Calibri"/>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727" y="443346"/>
            <a:ext cx="10841775" cy="5970518"/>
          </a:xfrm>
          <a:prstGeom prst="rect">
            <a:avLst/>
          </a:prstGeom>
        </p:spPr>
      </p:pic>
    </p:spTree>
    <p:extLst>
      <p:ext uri="{BB962C8B-B14F-4D97-AF65-F5344CB8AC3E}">
        <p14:creationId xmlns:p14="http://schemas.microsoft.com/office/powerpoint/2010/main" val="560384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1829435" cy="756920"/>
          </a:xfrm>
          <a:prstGeom prst="rect">
            <a:avLst/>
          </a:prstGeom>
        </p:spPr>
        <p:txBody>
          <a:bodyPr vert="horz" wrap="square" lIns="0" tIns="12700" rIns="0" bIns="0" rtlCol="0">
            <a:spAutoFit/>
          </a:bodyPr>
          <a:lstStyle/>
          <a:p>
            <a:pPr marL="12700">
              <a:lnSpc>
                <a:spcPct val="100000"/>
              </a:lnSpc>
              <a:spcBef>
                <a:spcPts val="100"/>
              </a:spcBef>
            </a:pPr>
            <a:r>
              <a:rPr sz="4800" b="0" spc="-55" dirty="0">
                <a:solidFill>
                  <a:srgbClr val="00AFEF"/>
                </a:solidFill>
                <a:latin typeface="Calibri Light"/>
                <a:cs typeface="Calibri Light"/>
              </a:rPr>
              <a:t>S</a:t>
            </a:r>
            <a:r>
              <a:rPr sz="4800" b="0" spc="-45" dirty="0">
                <a:solidFill>
                  <a:srgbClr val="00AFEF"/>
                </a:solidFill>
                <a:latin typeface="Calibri Light"/>
                <a:cs typeface="Calibri Light"/>
              </a:rPr>
              <a:t>D</a:t>
            </a:r>
            <a:r>
              <a:rPr sz="4800" b="0" spc="-50" dirty="0">
                <a:solidFill>
                  <a:srgbClr val="00AFEF"/>
                </a:solidFill>
                <a:latin typeface="Calibri Light"/>
                <a:cs typeface="Calibri Light"/>
              </a:rPr>
              <a:t>R</a:t>
            </a:r>
            <a:r>
              <a:rPr sz="4800" b="0" spc="-60" dirty="0">
                <a:solidFill>
                  <a:srgbClr val="00AFEF"/>
                </a:solidFill>
                <a:latin typeface="Calibri Light"/>
                <a:cs typeface="Calibri Light"/>
              </a:rPr>
              <a:t>A</a:t>
            </a:r>
            <a:r>
              <a:rPr sz="4800" b="0" dirty="0">
                <a:solidFill>
                  <a:srgbClr val="00AFEF"/>
                </a:solidFill>
                <a:latin typeface="Calibri Light"/>
                <a:cs typeface="Calibri Light"/>
              </a:rPr>
              <a:t>M</a:t>
            </a:r>
            <a:endParaRPr sz="4800">
              <a:latin typeface="Calibri Light"/>
              <a:cs typeface="Calibri Light"/>
            </a:endParaRPr>
          </a:p>
        </p:txBody>
      </p:sp>
      <p:sp>
        <p:nvSpPr>
          <p:cNvPr id="7" name="object 7"/>
          <p:cNvSpPr txBox="1"/>
          <p:nvPr/>
        </p:nvSpPr>
        <p:spPr>
          <a:xfrm>
            <a:off x="1045391" y="2194208"/>
            <a:ext cx="10463118" cy="3585597"/>
          </a:xfrm>
          <a:prstGeom prst="rect">
            <a:avLst/>
          </a:prstGeom>
        </p:spPr>
        <p:txBody>
          <a:bodyPr vert="horz" wrap="square" lIns="0" tIns="160020" rIns="0" bIns="0" rtlCol="0">
            <a:spAutoFit/>
          </a:bodyPr>
          <a:lstStyle/>
          <a:p>
            <a:pPr marL="215265" indent="-203200">
              <a:lnSpc>
                <a:spcPct val="150000"/>
              </a:lnSpc>
              <a:spcBef>
                <a:spcPts val="1260"/>
              </a:spcBef>
              <a:buClr>
                <a:srgbClr val="E38312"/>
              </a:buClr>
              <a:buSzPct val="95000"/>
              <a:buFont typeface="Wingdings"/>
              <a:buChar char=""/>
              <a:tabLst>
                <a:tab pos="215900" algn="l"/>
              </a:tabLst>
            </a:pPr>
            <a:r>
              <a:rPr sz="2000" spc="-5" dirty="0">
                <a:solidFill>
                  <a:srgbClr val="404040"/>
                </a:solidFill>
                <a:latin typeface="Calibri"/>
                <a:cs typeface="Calibri"/>
              </a:rPr>
              <a:t>This</a:t>
            </a:r>
            <a:r>
              <a:rPr sz="2000" spc="-25" dirty="0">
                <a:solidFill>
                  <a:srgbClr val="404040"/>
                </a:solidFill>
                <a:latin typeface="Calibri"/>
                <a:cs typeface="Calibri"/>
              </a:rPr>
              <a:t> </a:t>
            </a:r>
            <a:r>
              <a:rPr sz="2000" dirty="0">
                <a:solidFill>
                  <a:srgbClr val="404040"/>
                </a:solidFill>
                <a:latin typeface="Calibri"/>
                <a:cs typeface="Calibri"/>
              </a:rPr>
              <a:t>is </a:t>
            </a:r>
            <a:r>
              <a:rPr sz="2000" spc="-5" dirty="0">
                <a:solidFill>
                  <a:srgbClr val="404040"/>
                </a:solidFill>
                <a:latin typeface="Calibri"/>
                <a:cs typeface="Calibri"/>
              </a:rPr>
              <a:t>'Synchronous'</a:t>
            </a:r>
            <a:r>
              <a:rPr sz="2000" spc="-50" dirty="0">
                <a:solidFill>
                  <a:srgbClr val="404040"/>
                </a:solidFill>
                <a:latin typeface="Calibri"/>
                <a:cs typeface="Calibri"/>
              </a:rPr>
              <a:t> </a:t>
            </a:r>
            <a:r>
              <a:rPr sz="2000" dirty="0">
                <a:solidFill>
                  <a:srgbClr val="404040"/>
                </a:solidFill>
                <a:latin typeface="Calibri"/>
                <a:cs typeface="Calibri"/>
              </a:rPr>
              <a:t>DRAM</a:t>
            </a:r>
            <a:r>
              <a:rPr sz="2000" spc="-35" dirty="0">
                <a:solidFill>
                  <a:srgbClr val="404040"/>
                </a:solidFill>
                <a:latin typeface="Calibri"/>
                <a:cs typeface="Calibri"/>
              </a:rPr>
              <a:t> </a:t>
            </a:r>
            <a:r>
              <a:rPr sz="2000" dirty="0">
                <a:solidFill>
                  <a:srgbClr val="404040"/>
                </a:solidFill>
                <a:latin typeface="Calibri"/>
                <a:cs typeface="Calibri"/>
              </a:rPr>
              <a:t>—</a:t>
            </a:r>
            <a:endParaRPr sz="2000" dirty="0">
              <a:latin typeface="Calibri"/>
              <a:cs typeface="Calibri"/>
            </a:endParaRPr>
          </a:p>
          <a:p>
            <a:pPr marL="270510" indent="-257810">
              <a:lnSpc>
                <a:spcPct val="150000"/>
              </a:lnSpc>
              <a:spcBef>
                <a:spcPts val="1165"/>
              </a:spcBef>
              <a:buClr>
                <a:srgbClr val="E38312"/>
              </a:buClr>
              <a:buSzPct val="95000"/>
              <a:buFont typeface="Wingdings"/>
              <a:buChar char=""/>
              <a:tabLst>
                <a:tab pos="270510" algn="l"/>
              </a:tabLst>
            </a:pPr>
            <a:r>
              <a:rPr sz="2000" dirty="0">
                <a:solidFill>
                  <a:srgbClr val="404040"/>
                </a:solidFill>
                <a:latin typeface="Calibri"/>
                <a:cs typeface="Calibri"/>
              </a:rPr>
              <a:t>DRAM</a:t>
            </a:r>
            <a:r>
              <a:rPr sz="2000" spc="-20" dirty="0">
                <a:solidFill>
                  <a:srgbClr val="404040"/>
                </a:solidFill>
                <a:latin typeface="Calibri"/>
                <a:cs typeface="Calibri"/>
              </a:rPr>
              <a:t> </a:t>
            </a:r>
            <a:r>
              <a:rPr sz="2000" dirty="0">
                <a:solidFill>
                  <a:srgbClr val="404040"/>
                </a:solidFill>
                <a:latin typeface="Calibri"/>
                <a:cs typeface="Calibri"/>
              </a:rPr>
              <a:t>whose</a:t>
            </a:r>
            <a:r>
              <a:rPr sz="2000" spc="-15" dirty="0">
                <a:solidFill>
                  <a:srgbClr val="404040"/>
                </a:solidFill>
                <a:latin typeface="Calibri"/>
                <a:cs typeface="Calibri"/>
              </a:rPr>
              <a:t> </a:t>
            </a:r>
            <a:r>
              <a:rPr sz="2000" spc="-10" dirty="0">
                <a:solidFill>
                  <a:srgbClr val="404040"/>
                </a:solidFill>
                <a:latin typeface="Calibri"/>
                <a:cs typeface="Calibri"/>
              </a:rPr>
              <a:t>operations</a:t>
            </a:r>
            <a:r>
              <a:rPr sz="2000" spc="-5" dirty="0">
                <a:solidFill>
                  <a:srgbClr val="404040"/>
                </a:solidFill>
                <a:latin typeface="Calibri"/>
                <a:cs typeface="Calibri"/>
              </a:rPr>
              <a:t> </a:t>
            </a:r>
            <a:r>
              <a:rPr sz="2000" spc="-10" dirty="0">
                <a:solidFill>
                  <a:srgbClr val="404040"/>
                </a:solidFill>
                <a:latin typeface="Calibri"/>
                <a:cs typeface="Calibri"/>
              </a:rPr>
              <a:t>are</a:t>
            </a:r>
            <a:r>
              <a:rPr sz="2000" spc="10" dirty="0">
                <a:solidFill>
                  <a:srgbClr val="404040"/>
                </a:solidFill>
                <a:latin typeface="Calibri"/>
                <a:cs typeface="Calibri"/>
              </a:rPr>
              <a:t> </a:t>
            </a:r>
            <a:r>
              <a:rPr sz="2000" spc="-10" dirty="0">
                <a:solidFill>
                  <a:srgbClr val="404040"/>
                </a:solidFill>
                <a:latin typeface="Calibri"/>
                <a:cs typeface="Calibri"/>
              </a:rPr>
              <a:t>synchronized</a:t>
            </a:r>
            <a:r>
              <a:rPr sz="2000" spc="-35" dirty="0">
                <a:solidFill>
                  <a:srgbClr val="404040"/>
                </a:solidFill>
                <a:latin typeface="Calibri"/>
                <a:cs typeface="Calibri"/>
              </a:rPr>
              <a:t> </a:t>
            </a:r>
            <a:r>
              <a:rPr sz="2000" spc="-5" dirty="0">
                <a:solidFill>
                  <a:srgbClr val="404040"/>
                </a:solidFill>
                <a:latin typeface="Calibri"/>
                <a:cs typeface="Calibri"/>
              </a:rPr>
              <a:t>by</a:t>
            </a:r>
            <a:r>
              <a:rPr sz="2000" dirty="0">
                <a:solidFill>
                  <a:srgbClr val="404040"/>
                </a:solidFill>
                <a:latin typeface="Calibri"/>
                <a:cs typeface="Calibri"/>
              </a:rPr>
              <a:t> a</a:t>
            </a:r>
            <a:r>
              <a:rPr sz="2000" spc="-20" dirty="0">
                <a:solidFill>
                  <a:srgbClr val="404040"/>
                </a:solidFill>
                <a:latin typeface="Calibri"/>
                <a:cs typeface="Calibri"/>
              </a:rPr>
              <a:t> </a:t>
            </a:r>
            <a:r>
              <a:rPr sz="2000" dirty="0">
                <a:solidFill>
                  <a:srgbClr val="404040"/>
                </a:solidFill>
                <a:latin typeface="Calibri"/>
                <a:cs typeface="Calibri"/>
              </a:rPr>
              <a:t>clock.</a:t>
            </a:r>
            <a:endParaRPr sz="2000" dirty="0">
              <a:latin typeface="Calibri"/>
              <a:cs typeface="Calibri"/>
            </a:endParaRPr>
          </a:p>
          <a:p>
            <a:pPr marL="104139" marR="5080" indent="-92075">
              <a:lnSpc>
                <a:spcPct val="150000"/>
              </a:lnSpc>
              <a:spcBef>
                <a:spcPts val="1425"/>
              </a:spcBef>
              <a:buClr>
                <a:srgbClr val="E38312"/>
              </a:buClr>
              <a:buSzPct val="95000"/>
              <a:buFont typeface="Wingdings"/>
              <a:buChar char=""/>
              <a:tabLst>
                <a:tab pos="215900" algn="l"/>
              </a:tabLst>
            </a:pPr>
            <a:r>
              <a:rPr sz="2000" spc="-5" dirty="0">
                <a:solidFill>
                  <a:srgbClr val="404040"/>
                </a:solidFill>
                <a:latin typeface="Calibri"/>
                <a:cs typeface="Calibri"/>
              </a:rPr>
              <a:t>This </a:t>
            </a:r>
            <a:r>
              <a:rPr sz="2000" dirty="0">
                <a:solidFill>
                  <a:srgbClr val="404040"/>
                </a:solidFill>
                <a:latin typeface="Calibri"/>
                <a:cs typeface="Calibri"/>
              </a:rPr>
              <a:t>is the </a:t>
            </a:r>
            <a:r>
              <a:rPr sz="2000" spc="5" dirty="0">
                <a:solidFill>
                  <a:srgbClr val="404040"/>
                </a:solidFill>
                <a:latin typeface="Calibri"/>
                <a:cs typeface="Calibri"/>
              </a:rPr>
              <a:t>DRAM </a:t>
            </a:r>
            <a:r>
              <a:rPr sz="2000" dirty="0">
                <a:solidFill>
                  <a:srgbClr val="404040"/>
                </a:solidFill>
                <a:latin typeface="Calibri"/>
                <a:cs typeface="Calibri"/>
              </a:rPr>
              <a:t>which is actually </a:t>
            </a:r>
            <a:r>
              <a:rPr sz="2000" spc="-5" dirty="0">
                <a:solidFill>
                  <a:srgbClr val="404040"/>
                </a:solidFill>
                <a:latin typeface="Calibri"/>
                <a:cs typeface="Calibri"/>
              </a:rPr>
              <a:t>used </a:t>
            </a:r>
            <a:r>
              <a:rPr sz="2000" spc="-5" dirty="0" smtClean="0">
                <a:solidFill>
                  <a:srgbClr val="404040"/>
                </a:solidFill>
                <a:latin typeface="Calibri"/>
                <a:cs typeface="Calibri"/>
              </a:rPr>
              <a:t>now</a:t>
            </a:r>
            <a:r>
              <a:rPr lang="en-US" sz="2000" spc="-5" dirty="0" smtClean="0">
                <a:solidFill>
                  <a:srgbClr val="404040"/>
                </a:solidFill>
                <a:latin typeface="Calibri"/>
                <a:cs typeface="Calibri"/>
              </a:rPr>
              <a:t>.</a:t>
            </a:r>
          </a:p>
          <a:p>
            <a:pPr marL="104139" marR="5080" indent="-92075">
              <a:lnSpc>
                <a:spcPct val="150000"/>
              </a:lnSpc>
              <a:spcBef>
                <a:spcPts val="1425"/>
              </a:spcBef>
              <a:buClr>
                <a:srgbClr val="E38312"/>
              </a:buClr>
              <a:buSzPct val="95000"/>
              <a:buFont typeface="Wingdings"/>
              <a:buChar char=""/>
              <a:tabLst>
                <a:tab pos="215900" algn="l"/>
              </a:tabLst>
            </a:pPr>
            <a:r>
              <a:rPr sz="2000" spc="-5" dirty="0" smtClean="0">
                <a:solidFill>
                  <a:srgbClr val="404040"/>
                </a:solidFill>
                <a:latin typeface="Calibri"/>
                <a:cs typeface="Calibri"/>
              </a:rPr>
              <a:t> </a:t>
            </a:r>
            <a:r>
              <a:rPr lang="en-US" sz="2000" spc="-5" dirty="0" smtClean="0">
                <a:solidFill>
                  <a:srgbClr val="404040"/>
                </a:solidFill>
                <a:latin typeface="Calibri"/>
                <a:cs typeface="Calibri"/>
              </a:rPr>
              <a:t>SRAM t</a:t>
            </a:r>
            <a:r>
              <a:rPr sz="2000" spc="-15" dirty="0" smtClean="0">
                <a:solidFill>
                  <a:srgbClr val="404040"/>
                </a:solidFill>
                <a:latin typeface="Calibri"/>
                <a:cs typeface="Calibri"/>
              </a:rPr>
              <a:t>echnolog</a:t>
            </a:r>
            <a:r>
              <a:rPr lang="en-US" sz="2000" spc="-15" dirty="0" smtClean="0">
                <a:solidFill>
                  <a:srgbClr val="404040"/>
                </a:solidFill>
                <a:latin typeface="Calibri"/>
                <a:cs typeface="Calibri"/>
              </a:rPr>
              <a:t>y</a:t>
            </a:r>
            <a:r>
              <a:rPr sz="2000" dirty="0" smtClean="0">
                <a:solidFill>
                  <a:srgbClr val="404040"/>
                </a:solidFill>
                <a:latin typeface="Calibri"/>
                <a:cs typeface="Calibri"/>
              </a:rPr>
              <a:t> </a:t>
            </a:r>
            <a:r>
              <a:rPr sz="2000" dirty="0">
                <a:solidFill>
                  <a:srgbClr val="404040"/>
                </a:solidFill>
                <a:latin typeface="Calibri"/>
                <a:cs typeface="Calibri"/>
              </a:rPr>
              <a:t>is the </a:t>
            </a:r>
            <a:r>
              <a:rPr sz="2000" spc="-5" dirty="0">
                <a:solidFill>
                  <a:srgbClr val="404040"/>
                </a:solidFill>
                <a:latin typeface="Calibri"/>
                <a:cs typeface="Calibri"/>
              </a:rPr>
              <a:t>same </a:t>
            </a:r>
            <a:r>
              <a:rPr sz="2000" dirty="0">
                <a:solidFill>
                  <a:srgbClr val="404040"/>
                </a:solidFill>
                <a:latin typeface="Calibri"/>
                <a:cs typeface="Calibri"/>
              </a:rPr>
              <a:t>as DRAM but </a:t>
            </a:r>
            <a:r>
              <a:rPr sz="2000" spc="5" dirty="0">
                <a:solidFill>
                  <a:srgbClr val="404040"/>
                </a:solidFill>
                <a:latin typeface="Calibri"/>
                <a:cs typeface="Calibri"/>
              </a:rPr>
              <a:t> </a:t>
            </a:r>
            <a:r>
              <a:rPr sz="2000" spc="-5" dirty="0">
                <a:solidFill>
                  <a:srgbClr val="404040"/>
                </a:solidFill>
                <a:latin typeface="Calibri"/>
                <a:cs typeface="Calibri"/>
              </a:rPr>
              <a:t>because</a:t>
            </a:r>
            <a:r>
              <a:rPr sz="2000" spc="-15" dirty="0">
                <a:solidFill>
                  <a:srgbClr val="404040"/>
                </a:solidFill>
                <a:latin typeface="Calibri"/>
                <a:cs typeface="Calibri"/>
              </a:rPr>
              <a:t> </a:t>
            </a:r>
            <a:r>
              <a:rPr sz="2000" spc="-5" dirty="0">
                <a:solidFill>
                  <a:srgbClr val="404040"/>
                </a:solidFill>
                <a:latin typeface="Calibri"/>
                <a:cs typeface="Calibri"/>
              </a:rPr>
              <a:t>of being</a:t>
            </a:r>
            <a:r>
              <a:rPr sz="2000" dirty="0">
                <a:solidFill>
                  <a:srgbClr val="404040"/>
                </a:solidFill>
                <a:latin typeface="Calibri"/>
                <a:cs typeface="Calibri"/>
              </a:rPr>
              <a:t> </a:t>
            </a:r>
            <a:r>
              <a:rPr sz="2000" spc="-10" dirty="0">
                <a:solidFill>
                  <a:srgbClr val="404040"/>
                </a:solidFill>
                <a:latin typeface="Calibri"/>
                <a:cs typeface="Calibri"/>
              </a:rPr>
              <a:t>synchronous</a:t>
            </a:r>
            <a:r>
              <a:rPr sz="2000" spc="-35" dirty="0">
                <a:solidFill>
                  <a:srgbClr val="404040"/>
                </a:solidFill>
                <a:latin typeface="Calibri"/>
                <a:cs typeface="Calibri"/>
              </a:rPr>
              <a:t> </a:t>
            </a:r>
            <a:r>
              <a:rPr sz="2000" spc="-5" dirty="0">
                <a:solidFill>
                  <a:srgbClr val="404040"/>
                </a:solidFill>
                <a:latin typeface="Calibri"/>
                <a:cs typeface="Calibri"/>
              </a:rPr>
              <a:t>with</a:t>
            </a:r>
            <a:r>
              <a:rPr sz="2000" spc="1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20" dirty="0">
                <a:solidFill>
                  <a:srgbClr val="404040"/>
                </a:solidFill>
                <a:latin typeface="Calibri"/>
                <a:cs typeface="Calibri"/>
              </a:rPr>
              <a:t>system</a:t>
            </a:r>
            <a:r>
              <a:rPr sz="2000" spc="20" dirty="0">
                <a:solidFill>
                  <a:srgbClr val="404040"/>
                </a:solidFill>
                <a:latin typeface="Calibri"/>
                <a:cs typeface="Calibri"/>
              </a:rPr>
              <a:t> </a:t>
            </a:r>
            <a:r>
              <a:rPr sz="2000" dirty="0">
                <a:solidFill>
                  <a:srgbClr val="404040"/>
                </a:solidFill>
                <a:latin typeface="Calibri"/>
                <a:cs typeface="Calibri"/>
              </a:rPr>
              <a:t>clock</a:t>
            </a:r>
            <a:r>
              <a:rPr sz="2000" spc="10"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t>
            </a:r>
            <a:r>
              <a:rPr sz="2000" spc="-10" dirty="0">
                <a:solidFill>
                  <a:srgbClr val="404040"/>
                </a:solidFill>
                <a:latin typeface="Calibri"/>
                <a:cs typeface="Calibri"/>
              </a:rPr>
              <a:t>controlled</a:t>
            </a:r>
            <a:r>
              <a:rPr sz="2000" spc="5" dirty="0">
                <a:solidFill>
                  <a:srgbClr val="404040"/>
                </a:solidFill>
                <a:latin typeface="Calibri"/>
                <a:cs typeface="Calibri"/>
              </a:rPr>
              <a:t> </a:t>
            </a:r>
            <a:r>
              <a:rPr sz="2000" spc="-5" dirty="0">
                <a:solidFill>
                  <a:srgbClr val="404040"/>
                </a:solidFill>
                <a:latin typeface="Calibri"/>
                <a:cs typeface="Calibri"/>
              </a:rPr>
              <a:t>by</a:t>
            </a:r>
            <a:r>
              <a:rPr sz="2000" spc="-20"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'finite</a:t>
            </a:r>
            <a:r>
              <a:rPr sz="2000" spc="20" dirty="0">
                <a:solidFill>
                  <a:srgbClr val="404040"/>
                </a:solidFill>
                <a:latin typeface="Calibri"/>
                <a:cs typeface="Calibri"/>
              </a:rPr>
              <a:t> </a:t>
            </a:r>
            <a:r>
              <a:rPr sz="2000" spc="-20" dirty="0">
                <a:solidFill>
                  <a:srgbClr val="404040"/>
                </a:solidFill>
                <a:latin typeface="Calibri"/>
                <a:cs typeface="Calibri"/>
              </a:rPr>
              <a:t>state</a:t>
            </a:r>
            <a:r>
              <a:rPr sz="2000" spc="30" dirty="0">
                <a:solidFill>
                  <a:srgbClr val="404040"/>
                </a:solidFill>
                <a:latin typeface="Calibri"/>
                <a:cs typeface="Calibri"/>
              </a:rPr>
              <a:t> </a:t>
            </a:r>
            <a:r>
              <a:rPr sz="2000" dirty="0">
                <a:solidFill>
                  <a:srgbClr val="404040"/>
                </a:solidFill>
                <a:latin typeface="Calibri"/>
                <a:cs typeface="Calibri"/>
              </a:rPr>
              <a:t>machine',</a:t>
            </a:r>
            <a:endParaRPr sz="2000" dirty="0">
              <a:latin typeface="Calibri"/>
              <a:cs typeface="Calibri"/>
            </a:endParaRPr>
          </a:p>
          <a:p>
            <a:pPr marL="270510" indent="-257810">
              <a:lnSpc>
                <a:spcPct val="150000"/>
              </a:lnSpc>
              <a:spcBef>
                <a:spcPts val="1135"/>
              </a:spcBef>
              <a:buClr>
                <a:srgbClr val="E38312"/>
              </a:buClr>
              <a:buSzPct val="95000"/>
              <a:buFont typeface="Wingdings"/>
              <a:buChar char=""/>
              <a:tabLst>
                <a:tab pos="270510" algn="l"/>
              </a:tabLst>
            </a:pPr>
            <a:r>
              <a:rPr lang="en-US" sz="2000" spc="-10" dirty="0">
                <a:solidFill>
                  <a:srgbClr val="404040"/>
                </a:solidFill>
                <a:latin typeface="Calibri"/>
                <a:cs typeface="Calibri"/>
              </a:rPr>
              <a:t>M</a:t>
            </a:r>
            <a:r>
              <a:rPr sz="2000" spc="-10" dirty="0" smtClean="0">
                <a:solidFill>
                  <a:srgbClr val="404040"/>
                </a:solidFill>
                <a:latin typeface="Calibri"/>
                <a:cs typeface="Calibri"/>
              </a:rPr>
              <a:t>any</a:t>
            </a:r>
            <a:r>
              <a:rPr sz="2000" spc="5" dirty="0" smtClean="0">
                <a:solidFill>
                  <a:srgbClr val="404040"/>
                </a:solidFill>
                <a:latin typeface="Calibri"/>
                <a:cs typeface="Calibri"/>
              </a:rPr>
              <a:t> </a:t>
            </a:r>
            <a:r>
              <a:rPr sz="2000" spc="-10" dirty="0">
                <a:solidFill>
                  <a:srgbClr val="404040"/>
                </a:solidFill>
                <a:latin typeface="Calibri"/>
                <a:cs typeface="Calibri"/>
              </a:rPr>
              <a:t>attributes</a:t>
            </a:r>
            <a:r>
              <a:rPr sz="2000" spc="25" dirty="0">
                <a:solidFill>
                  <a:srgbClr val="404040"/>
                </a:solidFill>
                <a:latin typeface="Calibri"/>
                <a:cs typeface="Calibri"/>
              </a:rPr>
              <a:t> </a:t>
            </a:r>
            <a:r>
              <a:rPr sz="2000" spc="-5" dirty="0">
                <a:solidFill>
                  <a:srgbClr val="404040"/>
                </a:solidFill>
                <a:latin typeface="Calibri"/>
                <a:cs typeface="Calibri"/>
              </a:rPr>
              <a:t>pertaining </a:t>
            </a:r>
            <a:r>
              <a:rPr sz="2000" spc="-15" dirty="0">
                <a:solidFill>
                  <a:srgbClr val="404040"/>
                </a:solidFill>
                <a:latin typeface="Calibri"/>
                <a:cs typeface="Calibri"/>
              </a:rPr>
              <a:t>to</a:t>
            </a:r>
            <a:r>
              <a:rPr sz="2000" spc="-5" dirty="0">
                <a:solidFill>
                  <a:srgbClr val="404040"/>
                </a:solidFill>
                <a:latin typeface="Calibri"/>
                <a:cs typeface="Calibri"/>
              </a:rPr>
              <a:t> </a:t>
            </a:r>
            <a:r>
              <a:rPr sz="2000" dirty="0">
                <a:solidFill>
                  <a:srgbClr val="404040"/>
                </a:solidFill>
                <a:latin typeface="Calibri"/>
                <a:cs typeface="Calibri"/>
              </a:rPr>
              <a:t>memory</a:t>
            </a:r>
            <a:r>
              <a:rPr sz="2000" spc="10" dirty="0">
                <a:solidFill>
                  <a:srgbClr val="404040"/>
                </a:solidFill>
                <a:latin typeface="Calibri"/>
                <a:cs typeface="Calibri"/>
              </a:rPr>
              <a:t> </a:t>
            </a:r>
            <a:r>
              <a:rPr sz="2000" spc="-10" dirty="0">
                <a:solidFill>
                  <a:srgbClr val="404040"/>
                </a:solidFill>
                <a:latin typeface="Calibri"/>
                <a:cs typeface="Calibri"/>
              </a:rPr>
              <a:t>operations </a:t>
            </a:r>
            <a:r>
              <a:rPr sz="2000" spc="-5" dirty="0">
                <a:solidFill>
                  <a:srgbClr val="404040"/>
                </a:solidFill>
                <a:latin typeface="Calibri"/>
                <a:cs typeface="Calibri"/>
              </a:rPr>
              <a:t>can</a:t>
            </a:r>
            <a:r>
              <a:rPr sz="2000" spc="10" dirty="0">
                <a:solidFill>
                  <a:srgbClr val="404040"/>
                </a:solidFill>
                <a:latin typeface="Calibri"/>
                <a:cs typeface="Calibri"/>
              </a:rPr>
              <a:t> </a:t>
            </a:r>
            <a:r>
              <a:rPr sz="2000" spc="-5" dirty="0">
                <a:solidFill>
                  <a:srgbClr val="404040"/>
                </a:solidFill>
                <a:latin typeface="Calibri"/>
                <a:cs typeface="Calibri"/>
              </a:rPr>
              <a:t>be</a:t>
            </a:r>
            <a:r>
              <a:rPr sz="2000" spc="-10" dirty="0">
                <a:solidFill>
                  <a:srgbClr val="404040"/>
                </a:solidFill>
                <a:latin typeface="Calibri"/>
                <a:cs typeface="Calibri"/>
              </a:rPr>
              <a:t> </a:t>
            </a:r>
            <a:r>
              <a:rPr sz="2000" spc="-5" dirty="0">
                <a:solidFill>
                  <a:srgbClr val="404040"/>
                </a:solidFill>
                <a:latin typeface="Calibri"/>
                <a:cs typeface="Calibri"/>
              </a:rPr>
              <a:t>finely</a:t>
            </a:r>
            <a:r>
              <a:rPr sz="2000" spc="10" dirty="0">
                <a:solidFill>
                  <a:srgbClr val="404040"/>
                </a:solidFill>
                <a:latin typeface="Calibri"/>
                <a:cs typeface="Calibri"/>
              </a:rPr>
              <a:t> </a:t>
            </a:r>
            <a:r>
              <a:rPr sz="2000" dirty="0">
                <a:solidFill>
                  <a:srgbClr val="404040"/>
                </a:solidFill>
                <a:latin typeface="Calibri"/>
                <a:cs typeface="Calibri"/>
              </a:rPr>
              <a:t>tuned.</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18</a:t>
            </a:r>
            <a:endParaRPr sz="1050">
              <a:latin typeface="Calibri"/>
              <a:cs typeface="Calibri"/>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11400"/>
            <a:ext cx="2156423" cy="751488"/>
          </a:xfrm>
          <a:prstGeom prst="rect">
            <a:avLst/>
          </a:prstGeom>
        </p:spPr>
        <p:txBody>
          <a:bodyPr vert="horz" wrap="square" lIns="0" tIns="12700" rIns="0" bIns="0" rtlCol="0">
            <a:spAutoFit/>
          </a:bodyPr>
          <a:lstStyle/>
          <a:p>
            <a:pPr marL="12700">
              <a:lnSpc>
                <a:spcPct val="100000"/>
              </a:lnSpc>
              <a:spcBef>
                <a:spcPts val="100"/>
              </a:spcBef>
            </a:pPr>
            <a:r>
              <a:rPr sz="4800" b="0" spc="-45" dirty="0" smtClean="0">
                <a:solidFill>
                  <a:srgbClr val="404040"/>
                </a:solidFill>
                <a:latin typeface="Calibri Light"/>
                <a:cs typeface="Calibri Light"/>
              </a:rPr>
              <a:t>D</a:t>
            </a:r>
            <a:r>
              <a:rPr lang="en-US" sz="4800" b="0" spc="-45" dirty="0" smtClean="0">
                <a:solidFill>
                  <a:srgbClr val="404040"/>
                </a:solidFill>
                <a:latin typeface="Calibri Light"/>
                <a:cs typeface="Calibri Light"/>
              </a:rPr>
              <a:t>D</a:t>
            </a:r>
            <a:r>
              <a:rPr sz="4800" b="0" spc="-50" dirty="0" smtClean="0">
                <a:solidFill>
                  <a:srgbClr val="404040"/>
                </a:solidFill>
                <a:latin typeface="Calibri Light"/>
                <a:cs typeface="Calibri Light"/>
              </a:rPr>
              <a:t>R</a:t>
            </a:r>
            <a:r>
              <a:rPr sz="4800" b="0" spc="-60" dirty="0" smtClean="0">
                <a:solidFill>
                  <a:srgbClr val="404040"/>
                </a:solidFill>
                <a:latin typeface="Calibri Light"/>
                <a:cs typeface="Calibri Light"/>
              </a:rPr>
              <a:t>A</a:t>
            </a:r>
            <a:r>
              <a:rPr sz="4800" b="0" dirty="0" smtClean="0">
                <a:solidFill>
                  <a:srgbClr val="404040"/>
                </a:solidFill>
                <a:latin typeface="Calibri Light"/>
                <a:cs typeface="Calibri Light"/>
              </a:rPr>
              <a:t>M</a:t>
            </a:r>
            <a:endParaRPr sz="4800" dirty="0">
              <a:latin typeface="Calibri Light"/>
              <a:cs typeface="Calibri Light"/>
            </a:endParaRPr>
          </a:p>
        </p:txBody>
      </p:sp>
      <p:sp>
        <p:nvSpPr>
          <p:cNvPr id="7" name="object 7"/>
          <p:cNvSpPr txBox="1"/>
          <p:nvPr/>
        </p:nvSpPr>
        <p:spPr>
          <a:xfrm>
            <a:off x="1084580" y="1684756"/>
            <a:ext cx="10041890" cy="1656714"/>
          </a:xfrm>
          <a:prstGeom prst="rect">
            <a:avLst/>
          </a:prstGeom>
        </p:spPr>
        <p:txBody>
          <a:bodyPr vert="horz" wrap="square" lIns="0" tIns="160020" rIns="0" bIns="0" rtlCol="0">
            <a:spAutoFit/>
          </a:bodyPr>
          <a:lstStyle/>
          <a:p>
            <a:pPr marL="215265" indent="-203200">
              <a:lnSpc>
                <a:spcPct val="100000"/>
              </a:lnSpc>
              <a:spcBef>
                <a:spcPts val="1260"/>
              </a:spcBef>
              <a:buClr>
                <a:srgbClr val="E38312"/>
              </a:buClr>
              <a:buSzPct val="95000"/>
              <a:buFont typeface="Wingdings"/>
              <a:buChar char=""/>
              <a:tabLst>
                <a:tab pos="215900" algn="l"/>
              </a:tabLst>
            </a:pPr>
            <a:r>
              <a:rPr sz="2000" spc="-5" dirty="0">
                <a:solidFill>
                  <a:srgbClr val="404040"/>
                </a:solidFill>
                <a:latin typeface="Calibri"/>
                <a:cs typeface="Calibri"/>
              </a:rPr>
              <a:t>This</a:t>
            </a:r>
            <a:r>
              <a:rPr sz="2000" spc="-15"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dirty="0">
                <a:solidFill>
                  <a:srgbClr val="404040"/>
                </a:solidFill>
                <a:latin typeface="Calibri"/>
                <a:cs typeface="Calibri"/>
              </a:rPr>
              <a:t>an SDRAM</a:t>
            </a:r>
            <a:r>
              <a:rPr sz="2000" spc="-20" dirty="0">
                <a:solidFill>
                  <a:srgbClr val="404040"/>
                </a:solidFill>
                <a:latin typeface="Calibri"/>
                <a:cs typeface="Calibri"/>
              </a:rPr>
              <a:t> </a:t>
            </a:r>
            <a:r>
              <a:rPr sz="2000" dirty="0">
                <a:solidFill>
                  <a:srgbClr val="404040"/>
                </a:solidFill>
                <a:latin typeface="Calibri"/>
                <a:cs typeface="Calibri"/>
              </a:rPr>
              <a:t>which</a:t>
            </a:r>
            <a:r>
              <a:rPr sz="2000" spc="-5" dirty="0">
                <a:solidFill>
                  <a:srgbClr val="404040"/>
                </a:solidFill>
                <a:latin typeface="Calibri"/>
                <a:cs typeface="Calibri"/>
              </a:rPr>
              <a:t> has </a:t>
            </a:r>
            <a:r>
              <a:rPr sz="2000" dirty="0">
                <a:solidFill>
                  <a:srgbClr val="404040"/>
                </a:solidFill>
                <a:latin typeface="Calibri"/>
                <a:cs typeface="Calibri"/>
              </a:rPr>
              <a:t>'Double</a:t>
            </a:r>
            <a:r>
              <a:rPr sz="2000" spc="-45" dirty="0">
                <a:solidFill>
                  <a:srgbClr val="404040"/>
                </a:solidFill>
                <a:latin typeface="Calibri"/>
                <a:cs typeface="Calibri"/>
              </a:rPr>
              <a:t> </a:t>
            </a:r>
            <a:r>
              <a:rPr sz="2000" spc="-15" dirty="0">
                <a:solidFill>
                  <a:srgbClr val="404040"/>
                </a:solidFill>
                <a:latin typeface="Calibri"/>
                <a:cs typeface="Calibri"/>
              </a:rPr>
              <a:t>Data</a:t>
            </a:r>
            <a:r>
              <a:rPr sz="2000" dirty="0">
                <a:solidFill>
                  <a:srgbClr val="404040"/>
                </a:solidFill>
                <a:latin typeface="Calibri"/>
                <a:cs typeface="Calibri"/>
              </a:rPr>
              <a:t> </a:t>
            </a:r>
            <a:r>
              <a:rPr sz="2000" spc="-10" dirty="0">
                <a:solidFill>
                  <a:srgbClr val="404040"/>
                </a:solidFill>
                <a:latin typeface="Calibri"/>
                <a:cs typeface="Calibri"/>
              </a:rPr>
              <a:t>Rate'.</a:t>
            </a:r>
            <a:endParaRPr sz="2000" dirty="0">
              <a:latin typeface="Calibri"/>
              <a:cs typeface="Calibri"/>
            </a:endParaRPr>
          </a:p>
          <a:p>
            <a:pPr marL="215265" indent="-203200">
              <a:lnSpc>
                <a:spcPts val="2280"/>
              </a:lnSpc>
              <a:spcBef>
                <a:spcPts val="1165"/>
              </a:spcBef>
              <a:buClr>
                <a:srgbClr val="E38312"/>
              </a:buClr>
              <a:buSzPct val="95000"/>
              <a:buFont typeface="Wingdings"/>
              <a:buChar char=""/>
              <a:tabLst>
                <a:tab pos="215900" algn="l"/>
              </a:tabLst>
            </a:pPr>
            <a:r>
              <a:rPr sz="2000" spc="-5" dirty="0">
                <a:solidFill>
                  <a:srgbClr val="404040"/>
                </a:solidFill>
                <a:latin typeface="Calibri"/>
                <a:cs typeface="Calibri"/>
              </a:rPr>
              <a:t>The</a:t>
            </a:r>
            <a:r>
              <a:rPr sz="2000" dirty="0">
                <a:solidFill>
                  <a:srgbClr val="404040"/>
                </a:solidFill>
                <a:latin typeface="Calibri"/>
                <a:cs typeface="Calibri"/>
              </a:rPr>
              <a:t> 'double</a:t>
            </a:r>
            <a:r>
              <a:rPr sz="2000" spc="-30" dirty="0">
                <a:solidFill>
                  <a:srgbClr val="404040"/>
                </a:solidFill>
                <a:latin typeface="Calibri"/>
                <a:cs typeface="Calibri"/>
              </a:rPr>
              <a:t> </a:t>
            </a:r>
            <a:r>
              <a:rPr sz="2000" spc="-15" dirty="0">
                <a:solidFill>
                  <a:srgbClr val="404040"/>
                </a:solidFill>
                <a:latin typeface="Calibri"/>
                <a:cs typeface="Calibri"/>
              </a:rPr>
              <a:t>data</a:t>
            </a:r>
            <a:r>
              <a:rPr sz="2000" spc="20" dirty="0">
                <a:solidFill>
                  <a:srgbClr val="404040"/>
                </a:solidFill>
                <a:latin typeface="Calibri"/>
                <a:cs typeface="Calibri"/>
              </a:rPr>
              <a:t> </a:t>
            </a:r>
            <a:r>
              <a:rPr sz="2000" spc="-25" dirty="0">
                <a:solidFill>
                  <a:srgbClr val="404040"/>
                </a:solidFill>
                <a:latin typeface="Calibri"/>
                <a:cs typeface="Calibri"/>
              </a:rPr>
              <a:t>rate</a:t>
            </a:r>
            <a:r>
              <a:rPr sz="2000" spc="10" dirty="0">
                <a:solidFill>
                  <a:srgbClr val="404040"/>
                </a:solidFill>
                <a:latin typeface="Calibri"/>
                <a:cs typeface="Calibri"/>
              </a:rPr>
              <a:t> </a:t>
            </a:r>
            <a:r>
              <a:rPr sz="2000" spc="-10" dirty="0">
                <a:solidFill>
                  <a:srgbClr val="404040"/>
                </a:solidFill>
                <a:latin typeface="Calibri"/>
                <a:cs typeface="Calibri"/>
              </a:rPr>
              <a:t>occurs</a:t>
            </a:r>
            <a:r>
              <a:rPr sz="2000" spc="10" dirty="0">
                <a:solidFill>
                  <a:srgbClr val="404040"/>
                </a:solidFill>
                <a:latin typeface="Calibri"/>
                <a:cs typeface="Calibri"/>
              </a:rPr>
              <a:t> </a:t>
            </a:r>
            <a:r>
              <a:rPr sz="2000" spc="-5" dirty="0">
                <a:solidFill>
                  <a:srgbClr val="404040"/>
                </a:solidFill>
                <a:latin typeface="Calibri"/>
                <a:cs typeface="Calibri"/>
              </a:rPr>
              <a:t>because</a:t>
            </a:r>
            <a:r>
              <a:rPr sz="2000" dirty="0">
                <a:solidFill>
                  <a:srgbClr val="404040"/>
                </a:solidFill>
                <a:latin typeface="Calibri"/>
                <a:cs typeface="Calibri"/>
              </a:rPr>
              <a:t> it</a:t>
            </a:r>
            <a:r>
              <a:rPr sz="2000" spc="10" dirty="0">
                <a:solidFill>
                  <a:srgbClr val="404040"/>
                </a:solidFill>
                <a:latin typeface="Calibri"/>
                <a:cs typeface="Calibri"/>
              </a:rPr>
              <a:t> </a:t>
            </a:r>
            <a:r>
              <a:rPr sz="2000" spc="-20" dirty="0">
                <a:solidFill>
                  <a:srgbClr val="404040"/>
                </a:solidFill>
                <a:latin typeface="Calibri"/>
                <a:cs typeface="Calibri"/>
              </a:rPr>
              <a:t>transfers</a:t>
            </a:r>
            <a:r>
              <a:rPr sz="2000" spc="30" dirty="0">
                <a:solidFill>
                  <a:srgbClr val="404040"/>
                </a:solidFill>
                <a:latin typeface="Calibri"/>
                <a:cs typeface="Calibri"/>
              </a:rPr>
              <a:t> </a:t>
            </a:r>
            <a:r>
              <a:rPr sz="2000" spc="-15" dirty="0">
                <a:solidFill>
                  <a:srgbClr val="404040"/>
                </a:solidFill>
                <a:latin typeface="Calibri"/>
                <a:cs typeface="Calibri"/>
              </a:rPr>
              <a:t>data</a:t>
            </a:r>
            <a:r>
              <a:rPr sz="2000" spc="10" dirty="0">
                <a:solidFill>
                  <a:srgbClr val="404040"/>
                </a:solidFill>
                <a:latin typeface="Calibri"/>
                <a:cs typeface="Calibri"/>
              </a:rPr>
              <a:t> </a:t>
            </a:r>
            <a:r>
              <a:rPr sz="2000" spc="-10" dirty="0">
                <a:solidFill>
                  <a:srgbClr val="404040"/>
                </a:solidFill>
                <a:latin typeface="Calibri"/>
                <a:cs typeface="Calibri"/>
              </a:rPr>
              <a:t>at</a:t>
            </a:r>
            <a:r>
              <a:rPr sz="2000" spc="15" dirty="0">
                <a:solidFill>
                  <a:srgbClr val="404040"/>
                </a:solidFill>
                <a:latin typeface="Calibri"/>
                <a:cs typeface="Calibri"/>
              </a:rPr>
              <a:t> </a:t>
            </a:r>
            <a:r>
              <a:rPr sz="2000" spc="-5" dirty="0">
                <a:solidFill>
                  <a:srgbClr val="404040"/>
                </a:solidFill>
                <a:latin typeface="Calibri"/>
                <a:cs typeface="Calibri"/>
              </a:rPr>
              <a:t>both </a:t>
            </a:r>
            <a:r>
              <a:rPr sz="2000" dirty="0">
                <a:solidFill>
                  <a:srgbClr val="404040"/>
                </a:solidFill>
                <a:latin typeface="Calibri"/>
                <a:cs typeface="Calibri"/>
              </a:rPr>
              <a:t>the</a:t>
            </a:r>
            <a:r>
              <a:rPr sz="2000" spc="10" dirty="0">
                <a:solidFill>
                  <a:srgbClr val="404040"/>
                </a:solidFill>
                <a:latin typeface="Calibri"/>
                <a:cs typeface="Calibri"/>
              </a:rPr>
              <a:t> </a:t>
            </a:r>
            <a:r>
              <a:rPr sz="2000" spc="-5" dirty="0">
                <a:solidFill>
                  <a:srgbClr val="404040"/>
                </a:solidFill>
                <a:latin typeface="Calibri"/>
                <a:cs typeface="Calibri"/>
              </a:rPr>
              <a:t>rising</a:t>
            </a:r>
            <a:r>
              <a:rPr sz="2000" spc="15"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t>
            </a:r>
            <a:r>
              <a:rPr sz="2000" spc="-10" dirty="0">
                <a:solidFill>
                  <a:srgbClr val="404040"/>
                </a:solidFill>
                <a:latin typeface="Calibri"/>
                <a:cs typeface="Calibri"/>
              </a:rPr>
              <a:t>falling</a:t>
            </a:r>
            <a:r>
              <a:rPr sz="2000" spc="15" dirty="0">
                <a:solidFill>
                  <a:srgbClr val="404040"/>
                </a:solidFill>
                <a:latin typeface="Calibri"/>
                <a:cs typeface="Calibri"/>
              </a:rPr>
              <a:t> </a:t>
            </a:r>
            <a:r>
              <a:rPr sz="2000" spc="-5" dirty="0">
                <a:solidFill>
                  <a:srgbClr val="404040"/>
                </a:solidFill>
                <a:latin typeface="Calibri"/>
                <a:cs typeface="Calibri"/>
              </a:rPr>
              <a:t>edges of</a:t>
            </a:r>
            <a:r>
              <a:rPr sz="2000" dirty="0">
                <a:solidFill>
                  <a:srgbClr val="404040"/>
                </a:solidFill>
                <a:latin typeface="Calibri"/>
                <a:cs typeface="Calibri"/>
              </a:rPr>
              <a:t> the</a:t>
            </a:r>
            <a:endParaRPr sz="2000" dirty="0">
              <a:latin typeface="Calibri"/>
              <a:cs typeface="Calibri"/>
            </a:endParaRPr>
          </a:p>
          <a:p>
            <a:pPr marL="104139">
              <a:lnSpc>
                <a:spcPts val="2280"/>
              </a:lnSpc>
            </a:pPr>
            <a:r>
              <a:rPr sz="2000" dirty="0">
                <a:solidFill>
                  <a:srgbClr val="404040"/>
                </a:solidFill>
                <a:latin typeface="Calibri"/>
                <a:cs typeface="Calibri"/>
              </a:rPr>
              <a:t>clock.</a:t>
            </a:r>
            <a:endParaRPr sz="2000" dirty="0">
              <a:latin typeface="Calibri"/>
              <a:cs typeface="Calibri"/>
            </a:endParaRPr>
          </a:p>
          <a:p>
            <a:pPr marL="215265" indent="-203200">
              <a:lnSpc>
                <a:spcPct val="100000"/>
              </a:lnSpc>
              <a:spcBef>
                <a:spcPts val="1155"/>
              </a:spcBef>
              <a:buClr>
                <a:srgbClr val="E38312"/>
              </a:buClr>
              <a:buSzPct val="95000"/>
              <a:buFont typeface="Wingdings"/>
              <a:buChar char=""/>
              <a:tabLst>
                <a:tab pos="215900" algn="l"/>
              </a:tabLst>
            </a:pPr>
            <a:r>
              <a:rPr sz="2000" dirty="0">
                <a:solidFill>
                  <a:srgbClr val="404040"/>
                </a:solidFill>
                <a:latin typeface="Calibri"/>
                <a:cs typeface="Calibri"/>
              </a:rPr>
              <a:t>DDR-2</a:t>
            </a:r>
            <a:r>
              <a:rPr sz="2000" spc="-25" dirty="0">
                <a:solidFill>
                  <a:srgbClr val="404040"/>
                </a:solidFill>
                <a:latin typeface="Calibri"/>
                <a:cs typeface="Calibri"/>
              </a:rPr>
              <a:t> </a:t>
            </a:r>
            <a:r>
              <a:rPr sz="2000" dirty="0">
                <a:solidFill>
                  <a:srgbClr val="404040"/>
                </a:solidFill>
                <a:latin typeface="Calibri"/>
                <a:cs typeface="Calibri"/>
              </a:rPr>
              <a:t>and</a:t>
            </a:r>
            <a:r>
              <a:rPr sz="2000" spc="-10" dirty="0">
                <a:solidFill>
                  <a:srgbClr val="404040"/>
                </a:solidFill>
                <a:latin typeface="Calibri"/>
                <a:cs typeface="Calibri"/>
              </a:rPr>
              <a:t> </a:t>
            </a:r>
            <a:r>
              <a:rPr sz="2000" dirty="0">
                <a:solidFill>
                  <a:srgbClr val="404040"/>
                </a:solidFill>
                <a:latin typeface="Calibri"/>
                <a:cs typeface="Calibri"/>
              </a:rPr>
              <a:t>DDR-3</a:t>
            </a:r>
            <a:r>
              <a:rPr sz="2000" spc="-25"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10" dirty="0">
                <a:solidFill>
                  <a:srgbClr val="404040"/>
                </a:solidFill>
                <a:latin typeface="Calibri"/>
                <a:cs typeface="Calibri"/>
              </a:rPr>
              <a:t>just</a:t>
            </a:r>
            <a:r>
              <a:rPr sz="2000" spc="5" dirty="0">
                <a:solidFill>
                  <a:srgbClr val="404040"/>
                </a:solidFill>
                <a:latin typeface="Calibri"/>
                <a:cs typeface="Calibri"/>
              </a:rPr>
              <a:t> </a:t>
            </a:r>
            <a:r>
              <a:rPr sz="2000" spc="-15" dirty="0">
                <a:solidFill>
                  <a:srgbClr val="404040"/>
                </a:solidFill>
                <a:latin typeface="Calibri"/>
                <a:cs typeface="Calibri"/>
              </a:rPr>
              <a:t>faster</a:t>
            </a:r>
            <a:r>
              <a:rPr sz="2000" spc="15" dirty="0">
                <a:solidFill>
                  <a:srgbClr val="404040"/>
                </a:solidFill>
                <a:latin typeface="Calibri"/>
                <a:cs typeface="Calibri"/>
              </a:rPr>
              <a:t> </a:t>
            </a:r>
            <a:r>
              <a:rPr sz="2000" spc="-15" dirty="0">
                <a:solidFill>
                  <a:srgbClr val="404040"/>
                </a:solidFill>
                <a:latin typeface="Calibri"/>
                <a:cs typeface="Calibri"/>
              </a:rPr>
              <a:t>versions</a:t>
            </a:r>
            <a:r>
              <a:rPr sz="2000" spc="30" dirty="0">
                <a:solidFill>
                  <a:srgbClr val="404040"/>
                </a:solidFill>
                <a:latin typeface="Calibri"/>
                <a:cs typeface="Calibri"/>
              </a:rPr>
              <a:t> </a:t>
            </a:r>
            <a:r>
              <a:rPr sz="2000" spc="-5" dirty="0">
                <a:solidFill>
                  <a:srgbClr val="404040"/>
                </a:solidFill>
                <a:latin typeface="Calibri"/>
                <a:cs typeface="Calibri"/>
              </a:rPr>
              <a:t>of </a:t>
            </a:r>
            <a:r>
              <a:rPr sz="2000" dirty="0">
                <a:solidFill>
                  <a:srgbClr val="404040"/>
                </a:solidFill>
                <a:latin typeface="Calibri"/>
                <a:cs typeface="Calibri"/>
              </a:rPr>
              <a:t>DDR</a:t>
            </a:r>
            <a:r>
              <a:rPr sz="2000" spc="-25" dirty="0">
                <a:solidFill>
                  <a:srgbClr val="404040"/>
                </a:solidFill>
                <a:latin typeface="Calibri"/>
                <a:cs typeface="Calibri"/>
              </a:rPr>
              <a:t> </a:t>
            </a:r>
            <a:r>
              <a:rPr sz="2000" dirty="0">
                <a:solidFill>
                  <a:srgbClr val="404040"/>
                </a:solidFill>
                <a:latin typeface="Calibri"/>
                <a:cs typeface="Calibri"/>
              </a:rPr>
              <a:t>SDRAMs and</a:t>
            </a:r>
            <a:r>
              <a:rPr sz="2000" spc="-10" dirty="0">
                <a:solidFill>
                  <a:srgbClr val="404040"/>
                </a:solidFill>
                <a:latin typeface="Calibri"/>
                <a:cs typeface="Calibri"/>
              </a:rPr>
              <a:t> </a:t>
            </a:r>
            <a:r>
              <a:rPr sz="2000" spc="-5" dirty="0">
                <a:solidFill>
                  <a:srgbClr val="404040"/>
                </a:solidFill>
                <a:latin typeface="Calibri"/>
                <a:cs typeface="Calibri"/>
              </a:rPr>
              <a:t>use</a:t>
            </a:r>
            <a:r>
              <a:rPr sz="2000" dirty="0">
                <a:solidFill>
                  <a:srgbClr val="404040"/>
                </a:solidFill>
                <a:latin typeface="Calibri"/>
                <a:cs typeface="Calibri"/>
              </a:rPr>
              <a:t> </a:t>
            </a:r>
            <a:r>
              <a:rPr sz="2000" spc="-5" dirty="0">
                <a:solidFill>
                  <a:srgbClr val="404040"/>
                </a:solidFill>
                <a:latin typeface="Calibri"/>
                <a:cs typeface="Calibri"/>
              </a:rPr>
              <a:t>special</a:t>
            </a:r>
            <a:r>
              <a:rPr sz="2000" spc="10" dirty="0">
                <a:solidFill>
                  <a:srgbClr val="404040"/>
                </a:solidFill>
                <a:latin typeface="Calibri"/>
                <a:cs typeface="Calibri"/>
              </a:rPr>
              <a:t> </a:t>
            </a:r>
            <a:r>
              <a:rPr sz="2000" spc="-5" dirty="0">
                <a:solidFill>
                  <a:srgbClr val="404040"/>
                </a:solidFill>
                <a:latin typeface="Calibri"/>
                <a:cs typeface="Calibri"/>
              </a:rPr>
              <a:t>techniques</a:t>
            </a:r>
            <a:r>
              <a:rPr sz="2000" spc="5" dirty="0">
                <a:solidFill>
                  <a:srgbClr val="404040"/>
                </a:solidFill>
                <a:latin typeface="Calibri"/>
                <a:cs typeface="Calibri"/>
              </a:rPr>
              <a:t> </a:t>
            </a:r>
            <a:r>
              <a:rPr sz="2000" spc="-15" dirty="0">
                <a:solidFill>
                  <a:srgbClr val="404040"/>
                </a:solidFill>
                <a:latin typeface="Calibri"/>
                <a:cs typeface="Calibri"/>
              </a:rPr>
              <a:t>for</a:t>
            </a:r>
            <a:r>
              <a:rPr sz="2000" spc="-10" dirty="0">
                <a:solidFill>
                  <a:srgbClr val="404040"/>
                </a:solidFill>
                <a:latin typeface="Calibri"/>
                <a:cs typeface="Calibri"/>
              </a:rPr>
              <a:t> </a:t>
            </a:r>
            <a:r>
              <a:rPr sz="2000" spc="-5" dirty="0">
                <a:solidFill>
                  <a:srgbClr val="404040"/>
                </a:solidFill>
                <a:latin typeface="Calibri"/>
                <a:cs typeface="Calibri"/>
              </a:rPr>
              <a:t>speed.</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19</a:t>
            </a:r>
            <a:endParaRPr sz="1050">
              <a:latin typeface="Calibri"/>
              <a:cs typeface="Calibri"/>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286892"/>
            <a:ext cx="7858125" cy="756920"/>
          </a:xfrm>
          <a:prstGeom prst="rect">
            <a:avLst/>
          </a:prstGeom>
        </p:spPr>
        <p:txBody>
          <a:bodyPr vert="horz" wrap="square" lIns="0" tIns="12700" rIns="0" bIns="0" rtlCol="0">
            <a:spAutoFit/>
          </a:bodyPr>
          <a:lstStyle/>
          <a:p>
            <a:pPr marL="12700">
              <a:lnSpc>
                <a:spcPct val="100000"/>
              </a:lnSpc>
              <a:spcBef>
                <a:spcPts val="100"/>
              </a:spcBef>
            </a:pPr>
            <a:r>
              <a:rPr sz="4800" b="0" spc="-114" dirty="0" smtClean="0">
                <a:solidFill>
                  <a:srgbClr val="404040"/>
                </a:solidFill>
                <a:latin typeface="Calibri Light"/>
                <a:cs typeface="Calibri Light"/>
              </a:rPr>
              <a:t> </a:t>
            </a:r>
            <a:r>
              <a:rPr sz="4800" b="0" spc="-65" dirty="0">
                <a:solidFill>
                  <a:srgbClr val="404040"/>
                </a:solidFill>
                <a:latin typeface="Calibri Light"/>
                <a:cs typeface="Calibri Light"/>
              </a:rPr>
              <a:t>Read</a:t>
            </a:r>
            <a:r>
              <a:rPr sz="4800" b="0" spc="-114" dirty="0">
                <a:solidFill>
                  <a:srgbClr val="404040"/>
                </a:solidFill>
                <a:latin typeface="Calibri Light"/>
                <a:cs typeface="Calibri Light"/>
              </a:rPr>
              <a:t> </a:t>
            </a:r>
            <a:r>
              <a:rPr sz="4800" b="0" spc="-40" dirty="0">
                <a:solidFill>
                  <a:srgbClr val="404040"/>
                </a:solidFill>
                <a:latin typeface="Calibri Light"/>
                <a:cs typeface="Calibri Light"/>
              </a:rPr>
              <a:t>only</a:t>
            </a:r>
            <a:r>
              <a:rPr sz="4800" b="0" spc="-125" dirty="0">
                <a:solidFill>
                  <a:srgbClr val="404040"/>
                </a:solidFill>
                <a:latin typeface="Calibri Light"/>
                <a:cs typeface="Calibri Light"/>
              </a:rPr>
              <a:t> </a:t>
            </a:r>
            <a:r>
              <a:rPr sz="4800" b="0" spc="-40" dirty="0">
                <a:solidFill>
                  <a:srgbClr val="404040"/>
                </a:solidFill>
                <a:latin typeface="Calibri Light"/>
                <a:cs typeface="Calibri Light"/>
              </a:rPr>
              <a:t>memory</a:t>
            </a:r>
            <a:r>
              <a:rPr sz="4800" b="0" spc="-125" dirty="0">
                <a:solidFill>
                  <a:srgbClr val="404040"/>
                </a:solidFill>
                <a:latin typeface="Calibri Light"/>
                <a:cs typeface="Calibri Light"/>
              </a:rPr>
              <a:t> </a:t>
            </a:r>
            <a:r>
              <a:rPr sz="4800" b="0" spc="-50" dirty="0">
                <a:solidFill>
                  <a:srgbClr val="404040"/>
                </a:solidFill>
                <a:latin typeface="Calibri Light"/>
                <a:cs typeface="Calibri Light"/>
              </a:rPr>
              <a:t>(ROM)</a:t>
            </a:r>
            <a:endParaRPr sz="4800" dirty="0">
              <a:latin typeface="Calibri Light"/>
              <a:cs typeface="Calibri Light"/>
            </a:endParaRPr>
          </a:p>
        </p:txBody>
      </p:sp>
      <p:sp>
        <p:nvSpPr>
          <p:cNvPr id="7" name="object 7"/>
          <p:cNvSpPr txBox="1"/>
          <p:nvPr/>
        </p:nvSpPr>
        <p:spPr>
          <a:xfrm>
            <a:off x="1084580" y="1831975"/>
            <a:ext cx="9964420" cy="1962150"/>
          </a:xfrm>
          <a:prstGeom prst="rect">
            <a:avLst/>
          </a:prstGeom>
        </p:spPr>
        <p:txBody>
          <a:bodyPr vert="horz" wrap="square" lIns="0" tIns="47625" rIns="0" bIns="0" rtlCol="0">
            <a:spAutoFit/>
          </a:bodyPr>
          <a:lstStyle/>
          <a:p>
            <a:pPr marL="104139" marR="5080" indent="-92075">
              <a:lnSpc>
                <a:spcPts val="2160"/>
              </a:lnSpc>
              <a:spcBef>
                <a:spcPts val="375"/>
              </a:spcBef>
              <a:buClr>
                <a:srgbClr val="E38312"/>
              </a:buClr>
              <a:buSzPct val="95000"/>
              <a:buFont typeface="Wingdings"/>
              <a:buChar char=""/>
              <a:tabLst>
                <a:tab pos="215900" algn="l"/>
              </a:tabLst>
            </a:pPr>
            <a:r>
              <a:rPr sz="2000" spc="-5" dirty="0">
                <a:solidFill>
                  <a:srgbClr val="404040"/>
                </a:solidFill>
                <a:latin typeface="Calibri"/>
                <a:cs typeface="Calibri"/>
              </a:rPr>
              <a:t>This</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'Read </a:t>
            </a:r>
            <a:r>
              <a:rPr sz="2000" dirty="0">
                <a:solidFill>
                  <a:srgbClr val="404040"/>
                </a:solidFill>
                <a:latin typeface="Calibri"/>
                <a:cs typeface="Calibri"/>
              </a:rPr>
              <a:t>Only</a:t>
            </a:r>
            <a:r>
              <a:rPr sz="2000" spc="-20" dirty="0">
                <a:solidFill>
                  <a:srgbClr val="404040"/>
                </a:solidFill>
                <a:latin typeface="Calibri"/>
                <a:cs typeface="Calibri"/>
              </a:rPr>
              <a:t> </a:t>
            </a:r>
            <a:r>
              <a:rPr sz="2000" dirty="0">
                <a:solidFill>
                  <a:srgbClr val="404040"/>
                </a:solidFill>
                <a:latin typeface="Calibri"/>
                <a:cs typeface="Calibri"/>
              </a:rPr>
              <a:t>Memory'</a:t>
            </a:r>
            <a:r>
              <a:rPr sz="2000" spc="-20" dirty="0">
                <a:solidFill>
                  <a:srgbClr val="404040"/>
                </a:solidFill>
                <a:latin typeface="Calibri"/>
                <a:cs typeface="Calibri"/>
              </a:rPr>
              <a:t> </a:t>
            </a:r>
            <a:r>
              <a:rPr sz="2000" dirty="0">
                <a:solidFill>
                  <a:srgbClr val="404040"/>
                </a:solidFill>
                <a:latin typeface="Calibri"/>
                <a:cs typeface="Calibri"/>
              </a:rPr>
              <a:t>which</a:t>
            </a:r>
            <a:r>
              <a:rPr sz="2000" spc="-20" dirty="0">
                <a:solidFill>
                  <a:srgbClr val="404040"/>
                </a:solidFill>
                <a:latin typeface="Calibri"/>
                <a:cs typeface="Calibri"/>
              </a:rPr>
              <a:t> </a:t>
            </a:r>
            <a:r>
              <a:rPr sz="2000" dirty="0">
                <a:solidFill>
                  <a:srgbClr val="404040"/>
                </a:solidFill>
                <a:latin typeface="Calibri"/>
                <a:cs typeface="Calibri"/>
              </a:rPr>
              <a:t>means</a:t>
            </a:r>
            <a:r>
              <a:rPr sz="2000" spc="10" dirty="0">
                <a:solidFill>
                  <a:srgbClr val="404040"/>
                </a:solidFill>
                <a:latin typeface="Calibri"/>
                <a:cs typeface="Calibri"/>
              </a:rPr>
              <a:t> </a:t>
            </a:r>
            <a:r>
              <a:rPr sz="2000" spc="-5" dirty="0">
                <a:solidFill>
                  <a:srgbClr val="404040"/>
                </a:solidFill>
                <a:latin typeface="Calibri"/>
                <a:cs typeface="Calibri"/>
              </a:rPr>
              <a:t>that</a:t>
            </a:r>
            <a:r>
              <a:rPr sz="2000" dirty="0">
                <a:solidFill>
                  <a:srgbClr val="404040"/>
                </a:solidFill>
                <a:latin typeface="Calibri"/>
                <a:cs typeface="Calibri"/>
              </a:rPr>
              <a:t> once</a:t>
            </a:r>
            <a:r>
              <a:rPr sz="2000" spc="-5" dirty="0">
                <a:solidFill>
                  <a:srgbClr val="404040"/>
                </a:solidFill>
                <a:latin typeface="Calibri"/>
                <a:cs typeface="Calibri"/>
              </a:rPr>
              <a:t> </a:t>
            </a:r>
            <a:r>
              <a:rPr sz="2000" spc="-10" dirty="0">
                <a:solidFill>
                  <a:srgbClr val="404040"/>
                </a:solidFill>
                <a:latin typeface="Calibri"/>
                <a:cs typeface="Calibri"/>
              </a:rPr>
              <a:t>written</a:t>
            </a:r>
            <a:r>
              <a:rPr sz="2000" dirty="0">
                <a:solidFill>
                  <a:srgbClr val="404040"/>
                </a:solidFill>
                <a:latin typeface="Calibri"/>
                <a:cs typeface="Calibri"/>
              </a:rPr>
              <a:t> </a:t>
            </a:r>
            <a:r>
              <a:rPr sz="2000" spc="-20" dirty="0">
                <a:solidFill>
                  <a:srgbClr val="404040"/>
                </a:solidFill>
                <a:latin typeface="Calibri"/>
                <a:cs typeface="Calibri"/>
              </a:rPr>
              <a:t>to,</a:t>
            </a:r>
            <a:r>
              <a:rPr sz="2000" dirty="0">
                <a:solidFill>
                  <a:srgbClr val="404040"/>
                </a:solidFill>
                <a:latin typeface="Calibri"/>
                <a:cs typeface="Calibri"/>
              </a:rPr>
              <a:t> the</a:t>
            </a:r>
            <a:r>
              <a:rPr sz="2000" spc="5" dirty="0">
                <a:solidFill>
                  <a:srgbClr val="404040"/>
                </a:solidFill>
                <a:latin typeface="Calibri"/>
                <a:cs typeface="Calibri"/>
              </a:rPr>
              <a:t> </a:t>
            </a:r>
            <a:r>
              <a:rPr sz="2000" spc="-10" dirty="0">
                <a:solidFill>
                  <a:srgbClr val="404040"/>
                </a:solidFill>
                <a:latin typeface="Calibri"/>
                <a:cs typeface="Calibri"/>
              </a:rPr>
              <a:t>contents</a:t>
            </a:r>
            <a:r>
              <a:rPr sz="2000" dirty="0">
                <a:solidFill>
                  <a:srgbClr val="404040"/>
                </a:solidFill>
                <a:latin typeface="Calibri"/>
                <a:cs typeface="Calibri"/>
              </a:rPr>
              <a:t> </a:t>
            </a:r>
            <a:r>
              <a:rPr sz="2000" spc="-5" dirty="0">
                <a:solidFill>
                  <a:srgbClr val="404040"/>
                </a:solidFill>
                <a:latin typeface="Calibri"/>
                <a:cs typeface="Calibri"/>
              </a:rPr>
              <a:t>remain</a:t>
            </a:r>
            <a:r>
              <a:rPr sz="2000" dirty="0">
                <a:solidFill>
                  <a:srgbClr val="404040"/>
                </a:solidFill>
                <a:latin typeface="Calibri"/>
                <a:cs typeface="Calibri"/>
              </a:rPr>
              <a:t> unchanged </a:t>
            </a:r>
            <a:r>
              <a:rPr sz="2000" spc="-440" dirty="0">
                <a:solidFill>
                  <a:srgbClr val="404040"/>
                </a:solidFill>
                <a:latin typeface="Calibri"/>
                <a:cs typeface="Calibri"/>
              </a:rPr>
              <a:t> </a:t>
            </a:r>
            <a:r>
              <a:rPr sz="2000" spc="-5" dirty="0">
                <a:solidFill>
                  <a:srgbClr val="404040"/>
                </a:solidFill>
                <a:latin typeface="Calibri"/>
                <a:cs typeface="Calibri"/>
              </a:rPr>
              <a:t>until</a:t>
            </a:r>
            <a:r>
              <a:rPr sz="2000" spc="-10" dirty="0">
                <a:solidFill>
                  <a:srgbClr val="404040"/>
                </a:solidFill>
                <a:latin typeface="Calibri"/>
                <a:cs typeface="Calibri"/>
              </a:rPr>
              <a:t> we deliberately</a:t>
            </a:r>
            <a:r>
              <a:rPr sz="2000" spc="30" dirty="0">
                <a:solidFill>
                  <a:srgbClr val="404040"/>
                </a:solidFill>
                <a:latin typeface="Calibri"/>
                <a:cs typeface="Calibri"/>
              </a:rPr>
              <a:t> </a:t>
            </a:r>
            <a:r>
              <a:rPr sz="2000" dirty="0">
                <a:solidFill>
                  <a:srgbClr val="404040"/>
                </a:solidFill>
                <a:latin typeface="Calibri"/>
                <a:cs typeface="Calibri"/>
              </a:rPr>
              <a:t>change</a:t>
            </a:r>
            <a:r>
              <a:rPr sz="2000" spc="-40" dirty="0">
                <a:solidFill>
                  <a:srgbClr val="404040"/>
                </a:solidFill>
                <a:latin typeface="Calibri"/>
                <a:cs typeface="Calibri"/>
              </a:rPr>
              <a:t> </a:t>
            </a:r>
            <a:r>
              <a:rPr sz="2000" dirty="0">
                <a:solidFill>
                  <a:srgbClr val="404040"/>
                </a:solidFill>
                <a:latin typeface="Calibri"/>
                <a:cs typeface="Calibri"/>
              </a:rPr>
              <a:t>it</a:t>
            </a:r>
            <a:r>
              <a:rPr sz="2000" spc="15" dirty="0">
                <a:solidFill>
                  <a:srgbClr val="404040"/>
                </a:solidFill>
                <a:latin typeface="Calibri"/>
                <a:cs typeface="Calibri"/>
              </a:rPr>
              <a:t> </a:t>
            </a:r>
            <a:r>
              <a:rPr sz="2000" spc="-5" dirty="0">
                <a:solidFill>
                  <a:srgbClr val="404040"/>
                </a:solidFill>
                <a:latin typeface="Calibri"/>
                <a:cs typeface="Calibri"/>
              </a:rPr>
              <a:t>by</a:t>
            </a:r>
            <a:r>
              <a:rPr sz="2000" spc="-15" dirty="0">
                <a:solidFill>
                  <a:srgbClr val="404040"/>
                </a:solidFill>
                <a:latin typeface="Calibri"/>
                <a:cs typeface="Calibri"/>
              </a:rPr>
              <a:t> </a:t>
            </a:r>
            <a:r>
              <a:rPr sz="2000" spc="-5" dirty="0">
                <a:solidFill>
                  <a:srgbClr val="404040"/>
                </a:solidFill>
                <a:latin typeface="Calibri"/>
                <a:cs typeface="Calibri"/>
              </a:rPr>
              <a:t>special</a:t>
            </a:r>
            <a:r>
              <a:rPr sz="2000" spc="5" dirty="0">
                <a:solidFill>
                  <a:srgbClr val="404040"/>
                </a:solidFill>
                <a:latin typeface="Calibri"/>
                <a:cs typeface="Calibri"/>
              </a:rPr>
              <a:t> </a:t>
            </a:r>
            <a:r>
              <a:rPr sz="2000" dirty="0">
                <a:solidFill>
                  <a:srgbClr val="404040"/>
                </a:solidFill>
                <a:latin typeface="Calibri"/>
                <a:cs typeface="Calibri"/>
              </a:rPr>
              <a:t>means </a:t>
            </a:r>
            <a:r>
              <a:rPr sz="2000" spc="-5" dirty="0">
                <a:solidFill>
                  <a:srgbClr val="404040"/>
                </a:solidFill>
                <a:latin typeface="Calibri"/>
                <a:cs typeface="Calibri"/>
              </a:rPr>
              <a:t>of </a:t>
            </a:r>
            <a:r>
              <a:rPr sz="2000" spc="-10" dirty="0">
                <a:solidFill>
                  <a:srgbClr val="404040"/>
                </a:solidFill>
                <a:latin typeface="Calibri"/>
                <a:cs typeface="Calibri"/>
              </a:rPr>
              <a:t>erasing</a:t>
            </a:r>
            <a:r>
              <a:rPr sz="2000" spc="10"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re-writing</a:t>
            </a:r>
            <a:r>
              <a:rPr sz="2000" spc="5" dirty="0">
                <a:solidFill>
                  <a:srgbClr val="404040"/>
                </a:solidFill>
                <a:latin typeface="Calibri"/>
                <a:cs typeface="Calibri"/>
              </a:rPr>
              <a:t> </a:t>
            </a:r>
            <a:r>
              <a:rPr sz="2000" spc="-15" dirty="0">
                <a:solidFill>
                  <a:srgbClr val="404040"/>
                </a:solidFill>
                <a:latin typeface="Calibri"/>
                <a:cs typeface="Calibri"/>
              </a:rPr>
              <a:t>into</a:t>
            </a:r>
            <a:r>
              <a:rPr sz="2000" spc="-5" dirty="0">
                <a:solidFill>
                  <a:srgbClr val="404040"/>
                </a:solidFill>
                <a:latin typeface="Calibri"/>
                <a:cs typeface="Calibri"/>
              </a:rPr>
              <a:t> </a:t>
            </a:r>
            <a:r>
              <a:rPr sz="2000" dirty="0">
                <a:solidFill>
                  <a:srgbClr val="404040"/>
                </a:solidFill>
                <a:latin typeface="Calibri"/>
                <a:cs typeface="Calibri"/>
              </a:rPr>
              <a:t>it.</a:t>
            </a:r>
            <a:endParaRPr sz="2000">
              <a:latin typeface="Calibri"/>
              <a:cs typeface="Calibri"/>
            </a:endParaRPr>
          </a:p>
          <a:p>
            <a:pPr marL="215265" indent="-203200">
              <a:lnSpc>
                <a:spcPct val="100000"/>
              </a:lnSpc>
              <a:spcBef>
                <a:spcPts val="1130"/>
              </a:spcBef>
              <a:buClr>
                <a:srgbClr val="E38312"/>
              </a:buClr>
              <a:buSzPct val="95000"/>
              <a:buFont typeface="Wingdings"/>
              <a:buChar char=""/>
              <a:tabLst>
                <a:tab pos="215900" algn="l"/>
              </a:tabLst>
            </a:pPr>
            <a:r>
              <a:rPr sz="2000" spc="-10" dirty="0">
                <a:solidFill>
                  <a:srgbClr val="404040"/>
                </a:solidFill>
                <a:latin typeface="Calibri"/>
                <a:cs typeface="Calibri"/>
              </a:rPr>
              <a:t>ROM</a:t>
            </a:r>
            <a:r>
              <a:rPr sz="2000" spc="-5" dirty="0">
                <a:solidFill>
                  <a:srgbClr val="404040"/>
                </a:solidFill>
                <a:latin typeface="Calibri"/>
                <a:cs typeface="Calibri"/>
              </a:rPr>
              <a:t> is</a:t>
            </a:r>
            <a:r>
              <a:rPr sz="2000" dirty="0">
                <a:solidFill>
                  <a:srgbClr val="404040"/>
                </a:solidFill>
                <a:latin typeface="Calibri"/>
                <a:cs typeface="Calibri"/>
              </a:rPr>
              <a:t> </a:t>
            </a:r>
            <a:r>
              <a:rPr sz="2000" spc="-5" dirty="0">
                <a:solidFill>
                  <a:srgbClr val="404040"/>
                </a:solidFill>
                <a:latin typeface="Calibri"/>
                <a:cs typeface="Calibri"/>
              </a:rPr>
              <a:t>used</a:t>
            </a:r>
            <a:r>
              <a:rPr sz="2000" spc="-10" dirty="0">
                <a:solidFill>
                  <a:srgbClr val="404040"/>
                </a:solidFill>
                <a:latin typeface="Calibri"/>
                <a:cs typeface="Calibri"/>
              </a:rPr>
              <a:t> </a:t>
            </a:r>
            <a:r>
              <a:rPr sz="2000" spc="-15" dirty="0">
                <a:solidFill>
                  <a:srgbClr val="404040"/>
                </a:solidFill>
                <a:latin typeface="Calibri"/>
                <a:cs typeface="Calibri"/>
              </a:rPr>
              <a:t>for</a:t>
            </a:r>
            <a:r>
              <a:rPr sz="2000" spc="-20" dirty="0">
                <a:solidFill>
                  <a:srgbClr val="404040"/>
                </a:solidFill>
                <a:latin typeface="Calibri"/>
                <a:cs typeface="Calibri"/>
              </a:rPr>
              <a:t> </a:t>
            </a:r>
            <a:r>
              <a:rPr sz="2000" spc="-10" dirty="0">
                <a:solidFill>
                  <a:srgbClr val="404040"/>
                </a:solidFill>
                <a:latin typeface="Calibri"/>
                <a:cs typeface="Calibri"/>
              </a:rPr>
              <a:t>keeping</a:t>
            </a:r>
            <a:r>
              <a:rPr sz="2000" spc="-25" dirty="0">
                <a:solidFill>
                  <a:srgbClr val="404040"/>
                </a:solidFill>
                <a:latin typeface="Calibri"/>
                <a:cs typeface="Calibri"/>
              </a:rPr>
              <a:t> </a:t>
            </a:r>
            <a:r>
              <a:rPr sz="2000" spc="-10" dirty="0">
                <a:solidFill>
                  <a:srgbClr val="404040"/>
                </a:solidFill>
                <a:latin typeface="Calibri"/>
                <a:cs typeface="Calibri"/>
              </a:rPr>
              <a:t>information</a:t>
            </a:r>
            <a:r>
              <a:rPr sz="2000" spc="-5" dirty="0">
                <a:solidFill>
                  <a:srgbClr val="404040"/>
                </a:solidFill>
                <a:latin typeface="Calibri"/>
                <a:cs typeface="Calibri"/>
              </a:rPr>
              <a:t> </a:t>
            </a:r>
            <a:r>
              <a:rPr sz="2000" dirty="0">
                <a:solidFill>
                  <a:srgbClr val="404040"/>
                </a:solidFill>
                <a:latin typeface="Calibri"/>
                <a:cs typeface="Calibri"/>
              </a:rPr>
              <a:t>'firmly'.</a:t>
            </a:r>
            <a:endParaRPr sz="2000">
              <a:latin typeface="Calibri"/>
              <a:cs typeface="Calibri"/>
            </a:endParaRPr>
          </a:p>
          <a:p>
            <a:pPr marL="215265" indent="-203200">
              <a:lnSpc>
                <a:spcPct val="100000"/>
              </a:lnSpc>
              <a:spcBef>
                <a:spcPts val="1155"/>
              </a:spcBef>
              <a:buClr>
                <a:srgbClr val="E38312"/>
              </a:buClr>
              <a:buSzPct val="95000"/>
              <a:buFont typeface="Wingdings"/>
              <a:buChar char=""/>
              <a:tabLst>
                <a:tab pos="215900" algn="l"/>
              </a:tabLst>
            </a:pPr>
            <a:r>
              <a:rPr sz="2000" spc="-5" dirty="0">
                <a:solidFill>
                  <a:srgbClr val="404040"/>
                </a:solidFill>
                <a:latin typeface="Calibri"/>
                <a:cs typeface="Calibri"/>
              </a:rPr>
              <a:t>The only</a:t>
            </a:r>
            <a:r>
              <a:rPr sz="2000" spc="-20" dirty="0">
                <a:solidFill>
                  <a:srgbClr val="404040"/>
                </a:solidFill>
                <a:latin typeface="Calibri"/>
                <a:cs typeface="Calibri"/>
              </a:rPr>
              <a:t> </a:t>
            </a:r>
            <a:r>
              <a:rPr sz="2000" spc="-10" dirty="0">
                <a:solidFill>
                  <a:srgbClr val="404040"/>
                </a:solidFill>
                <a:latin typeface="Calibri"/>
                <a:cs typeface="Calibri"/>
              </a:rPr>
              <a:t>operation</a:t>
            </a:r>
            <a:r>
              <a:rPr sz="2000" spc="-5" dirty="0">
                <a:solidFill>
                  <a:srgbClr val="404040"/>
                </a:solidFill>
                <a:latin typeface="Calibri"/>
                <a:cs typeface="Calibri"/>
              </a:rPr>
              <a:t> </a:t>
            </a:r>
            <a:r>
              <a:rPr sz="2000" spc="-10" dirty="0">
                <a:solidFill>
                  <a:srgbClr val="404040"/>
                </a:solidFill>
                <a:latin typeface="Calibri"/>
                <a:cs typeface="Calibri"/>
              </a:rPr>
              <a:t>we </a:t>
            </a:r>
            <a:r>
              <a:rPr sz="2000" spc="-5" dirty="0">
                <a:solidFill>
                  <a:srgbClr val="404040"/>
                </a:solidFill>
                <a:latin typeface="Calibri"/>
                <a:cs typeface="Calibri"/>
              </a:rPr>
              <a:t>can</a:t>
            </a:r>
            <a:r>
              <a:rPr sz="2000" spc="5" dirty="0">
                <a:solidFill>
                  <a:srgbClr val="404040"/>
                </a:solidFill>
                <a:latin typeface="Calibri"/>
                <a:cs typeface="Calibri"/>
              </a:rPr>
              <a:t> </a:t>
            </a:r>
            <a:r>
              <a:rPr sz="2000" spc="-5" dirty="0">
                <a:solidFill>
                  <a:srgbClr val="404040"/>
                </a:solidFill>
                <a:latin typeface="Calibri"/>
                <a:cs typeface="Calibri"/>
              </a:rPr>
              <a:t>do</a:t>
            </a:r>
            <a:r>
              <a:rPr sz="2000" spc="-25" dirty="0">
                <a:solidFill>
                  <a:srgbClr val="404040"/>
                </a:solidFill>
                <a:latin typeface="Calibri"/>
                <a:cs typeface="Calibri"/>
              </a:rPr>
              <a:t> </a:t>
            </a:r>
            <a:r>
              <a:rPr sz="2000" spc="-5" dirty="0">
                <a:solidFill>
                  <a:srgbClr val="404040"/>
                </a:solidFill>
                <a:latin typeface="Calibri"/>
                <a:cs typeface="Calibri"/>
              </a:rPr>
              <a:t>on</a:t>
            </a:r>
            <a:r>
              <a:rPr sz="2000" dirty="0">
                <a:solidFill>
                  <a:srgbClr val="404040"/>
                </a:solidFill>
                <a:latin typeface="Calibri"/>
                <a:cs typeface="Calibri"/>
              </a:rPr>
              <a:t> </a:t>
            </a:r>
            <a:r>
              <a:rPr sz="2000" spc="-10" dirty="0">
                <a:solidFill>
                  <a:srgbClr val="404040"/>
                </a:solidFill>
                <a:latin typeface="Calibri"/>
                <a:cs typeface="Calibri"/>
              </a:rPr>
              <a:t>ROM</a:t>
            </a:r>
            <a:r>
              <a:rPr sz="2000" spc="-15"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reading</a:t>
            </a:r>
            <a:r>
              <a:rPr sz="2000" dirty="0">
                <a:solidFill>
                  <a:srgbClr val="404040"/>
                </a:solidFill>
                <a:latin typeface="Calibri"/>
                <a:cs typeface="Calibri"/>
              </a:rPr>
              <a:t> </a:t>
            </a:r>
            <a:r>
              <a:rPr sz="2000" spc="-5" dirty="0">
                <a:solidFill>
                  <a:srgbClr val="404040"/>
                </a:solidFill>
                <a:latin typeface="Calibri"/>
                <a:cs typeface="Calibri"/>
              </a:rPr>
              <a:t>its</a:t>
            </a:r>
            <a:r>
              <a:rPr sz="2000" spc="15" dirty="0">
                <a:solidFill>
                  <a:srgbClr val="404040"/>
                </a:solidFill>
                <a:latin typeface="Calibri"/>
                <a:cs typeface="Calibri"/>
              </a:rPr>
              <a:t> </a:t>
            </a:r>
            <a:r>
              <a:rPr sz="2000" spc="-10" dirty="0">
                <a:solidFill>
                  <a:srgbClr val="404040"/>
                </a:solidFill>
                <a:latin typeface="Calibri"/>
                <a:cs typeface="Calibri"/>
              </a:rPr>
              <a:t>contents.</a:t>
            </a:r>
            <a:endParaRPr sz="2000">
              <a:latin typeface="Calibri"/>
              <a:cs typeface="Calibri"/>
            </a:endParaRPr>
          </a:p>
          <a:p>
            <a:pPr marL="215265" indent="-203200">
              <a:lnSpc>
                <a:spcPct val="100000"/>
              </a:lnSpc>
              <a:spcBef>
                <a:spcPts val="1165"/>
              </a:spcBef>
              <a:buClr>
                <a:srgbClr val="E38312"/>
              </a:buClr>
              <a:buSzPct val="95000"/>
              <a:buFont typeface="Wingdings"/>
              <a:buChar char=""/>
              <a:tabLst>
                <a:tab pos="215900" algn="l"/>
              </a:tabLst>
            </a:pPr>
            <a:r>
              <a:rPr sz="2000" spc="-35" dirty="0">
                <a:solidFill>
                  <a:srgbClr val="404040"/>
                </a:solidFill>
                <a:latin typeface="Calibri"/>
                <a:cs typeface="Calibri"/>
              </a:rPr>
              <a:t>We</a:t>
            </a:r>
            <a:r>
              <a:rPr sz="2000" spc="-10" dirty="0">
                <a:solidFill>
                  <a:srgbClr val="404040"/>
                </a:solidFill>
                <a:latin typeface="Calibri"/>
                <a:cs typeface="Calibri"/>
              </a:rPr>
              <a:t> </a:t>
            </a:r>
            <a:r>
              <a:rPr sz="2000" spc="-5" dirty="0">
                <a:solidFill>
                  <a:srgbClr val="404040"/>
                </a:solidFill>
                <a:latin typeface="Calibri"/>
                <a:cs typeface="Calibri"/>
              </a:rPr>
              <a:t>use </a:t>
            </a:r>
            <a:r>
              <a:rPr sz="2000" dirty="0">
                <a:solidFill>
                  <a:srgbClr val="404040"/>
                </a:solidFill>
                <a:latin typeface="Calibri"/>
                <a:cs typeface="Calibri"/>
              </a:rPr>
              <a:t>the</a:t>
            </a:r>
            <a:r>
              <a:rPr sz="2000" spc="-5" dirty="0">
                <a:solidFill>
                  <a:srgbClr val="404040"/>
                </a:solidFill>
                <a:latin typeface="Calibri"/>
                <a:cs typeface="Calibri"/>
              </a:rPr>
              <a:t> </a:t>
            </a:r>
            <a:r>
              <a:rPr sz="2000" spc="-15" dirty="0">
                <a:solidFill>
                  <a:srgbClr val="404040"/>
                </a:solidFill>
                <a:latin typeface="Calibri"/>
                <a:cs typeface="Calibri"/>
              </a:rPr>
              <a:t>word</a:t>
            </a:r>
            <a:r>
              <a:rPr sz="2000" spc="-5" dirty="0">
                <a:solidFill>
                  <a:srgbClr val="404040"/>
                </a:solidFill>
                <a:latin typeface="Calibri"/>
                <a:cs typeface="Calibri"/>
              </a:rPr>
              <a:t> </a:t>
            </a:r>
            <a:r>
              <a:rPr sz="2000" spc="-10" dirty="0">
                <a:solidFill>
                  <a:srgbClr val="404040"/>
                </a:solidFill>
                <a:latin typeface="Calibri"/>
                <a:cs typeface="Calibri"/>
              </a:rPr>
              <a:t>`firmware'</a:t>
            </a:r>
            <a:r>
              <a:rPr sz="2000" spc="10" dirty="0">
                <a:solidFill>
                  <a:srgbClr val="404040"/>
                </a:solidFill>
                <a:latin typeface="Calibri"/>
                <a:cs typeface="Calibri"/>
              </a:rPr>
              <a:t> </a:t>
            </a:r>
            <a:r>
              <a:rPr sz="2000" dirty="0">
                <a:solidFill>
                  <a:srgbClr val="404040"/>
                </a:solidFill>
                <a:latin typeface="Calibri"/>
                <a:cs typeface="Calibri"/>
              </a:rPr>
              <a:t>when</a:t>
            </a:r>
            <a:r>
              <a:rPr sz="2000" spc="-20" dirty="0">
                <a:solidFill>
                  <a:srgbClr val="404040"/>
                </a:solidFill>
                <a:latin typeface="Calibri"/>
                <a:cs typeface="Calibri"/>
              </a:rPr>
              <a:t> </a:t>
            </a:r>
            <a:r>
              <a:rPr sz="2000" spc="-10" dirty="0">
                <a:solidFill>
                  <a:srgbClr val="404040"/>
                </a:solidFill>
                <a:latin typeface="Calibri"/>
                <a:cs typeface="Calibri"/>
              </a:rPr>
              <a:t>we </a:t>
            </a:r>
            <a:r>
              <a:rPr sz="2000" spc="-20" dirty="0">
                <a:solidFill>
                  <a:srgbClr val="404040"/>
                </a:solidFill>
                <a:latin typeface="Calibri"/>
                <a:cs typeface="Calibri"/>
              </a:rPr>
              <a:t>refer</a:t>
            </a:r>
            <a:r>
              <a:rPr sz="2000" dirty="0">
                <a:solidFill>
                  <a:srgbClr val="404040"/>
                </a:solidFill>
                <a:latin typeface="Calibri"/>
                <a:cs typeface="Calibri"/>
              </a:rPr>
              <a:t> </a:t>
            </a:r>
            <a:r>
              <a:rPr sz="2000" spc="-15" dirty="0">
                <a:solidFill>
                  <a:srgbClr val="404040"/>
                </a:solidFill>
                <a:latin typeface="Calibri"/>
                <a:cs typeface="Calibri"/>
              </a:rPr>
              <a:t>to</a:t>
            </a:r>
            <a:r>
              <a:rPr sz="2000" spc="-5" dirty="0">
                <a:solidFill>
                  <a:srgbClr val="404040"/>
                </a:solidFill>
                <a:latin typeface="Calibri"/>
                <a:cs typeface="Calibri"/>
              </a:rPr>
              <a:t> </a:t>
            </a:r>
            <a:r>
              <a:rPr sz="2000" dirty="0">
                <a:solidFill>
                  <a:srgbClr val="404040"/>
                </a:solidFill>
                <a:latin typeface="Calibri"/>
                <a:cs typeface="Calibri"/>
              </a:rPr>
              <a:t>the </a:t>
            </a:r>
            <a:r>
              <a:rPr sz="2000" spc="-10" dirty="0">
                <a:solidFill>
                  <a:srgbClr val="404040"/>
                </a:solidFill>
                <a:latin typeface="Calibri"/>
                <a:cs typeface="Calibri"/>
              </a:rPr>
              <a:t>contents</a:t>
            </a:r>
            <a:r>
              <a:rPr sz="2000" dirty="0">
                <a:solidFill>
                  <a:srgbClr val="404040"/>
                </a:solidFill>
                <a:latin typeface="Calibri"/>
                <a:cs typeface="Calibri"/>
              </a:rPr>
              <a:t> </a:t>
            </a:r>
            <a:r>
              <a:rPr sz="2000" spc="-5" dirty="0">
                <a:solidFill>
                  <a:srgbClr val="404040"/>
                </a:solidFill>
                <a:latin typeface="Calibri"/>
                <a:cs typeface="Calibri"/>
              </a:rPr>
              <a:t>of</a:t>
            </a:r>
            <a:r>
              <a:rPr sz="2000" spc="-10" dirty="0">
                <a:solidFill>
                  <a:srgbClr val="404040"/>
                </a:solidFill>
                <a:latin typeface="Calibri"/>
                <a:cs typeface="Calibri"/>
              </a:rPr>
              <a:t> </a:t>
            </a:r>
            <a:r>
              <a:rPr sz="2000" spc="-5" dirty="0">
                <a:solidFill>
                  <a:srgbClr val="404040"/>
                </a:solidFill>
                <a:latin typeface="Calibri"/>
                <a:cs typeface="Calibri"/>
              </a:rPr>
              <a:t>ROM.</a:t>
            </a:r>
            <a:endParaRPr sz="20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20</a:t>
            </a:r>
            <a:endParaRPr sz="1050">
              <a:latin typeface="Calibri"/>
              <a:cs typeface="Calibri"/>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498729"/>
            <a:ext cx="7740650" cy="1238250"/>
          </a:xfrm>
          <a:prstGeom prst="rect">
            <a:avLst/>
          </a:prstGeom>
        </p:spPr>
        <p:txBody>
          <a:bodyPr vert="horz" wrap="square" lIns="0" tIns="111760" rIns="0" bIns="0" rtlCol="0">
            <a:spAutoFit/>
          </a:bodyPr>
          <a:lstStyle/>
          <a:p>
            <a:pPr marL="12700" marR="5080">
              <a:lnSpc>
                <a:spcPts val="4390"/>
              </a:lnSpc>
              <a:spcBef>
                <a:spcPts val="880"/>
              </a:spcBef>
            </a:pPr>
            <a:r>
              <a:rPr sz="4300" b="0" spc="-60" dirty="0">
                <a:solidFill>
                  <a:srgbClr val="404040"/>
                </a:solidFill>
                <a:latin typeface="Calibri Light"/>
                <a:cs typeface="Calibri Light"/>
              </a:rPr>
              <a:t>Where</a:t>
            </a:r>
            <a:r>
              <a:rPr sz="4300" b="0" spc="-95" dirty="0">
                <a:solidFill>
                  <a:srgbClr val="404040"/>
                </a:solidFill>
                <a:latin typeface="Calibri Light"/>
                <a:cs typeface="Calibri Light"/>
              </a:rPr>
              <a:t> </a:t>
            </a:r>
            <a:r>
              <a:rPr sz="4300" b="0" spc="-40" dirty="0">
                <a:solidFill>
                  <a:srgbClr val="404040"/>
                </a:solidFill>
                <a:latin typeface="Calibri Light"/>
                <a:cs typeface="Calibri Light"/>
              </a:rPr>
              <a:t>does</a:t>
            </a:r>
            <a:r>
              <a:rPr sz="4300" b="0" spc="-110" dirty="0">
                <a:solidFill>
                  <a:srgbClr val="404040"/>
                </a:solidFill>
                <a:latin typeface="Calibri Light"/>
                <a:cs typeface="Calibri Light"/>
              </a:rPr>
              <a:t> </a:t>
            </a:r>
            <a:r>
              <a:rPr sz="4300" b="0" spc="-50" dirty="0">
                <a:solidFill>
                  <a:srgbClr val="404040"/>
                </a:solidFill>
                <a:latin typeface="Calibri Light"/>
                <a:cs typeface="Calibri Light"/>
              </a:rPr>
              <a:t>ROM</a:t>
            </a:r>
            <a:r>
              <a:rPr sz="4300" b="0" spc="-110" dirty="0">
                <a:solidFill>
                  <a:srgbClr val="404040"/>
                </a:solidFill>
                <a:latin typeface="Calibri Light"/>
                <a:cs typeface="Calibri Light"/>
              </a:rPr>
              <a:t> </a:t>
            </a:r>
            <a:r>
              <a:rPr sz="4300" b="0" spc="-45" dirty="0">
                <a:solidFill>
                  <a:srgbClr val="404040"/>
                </a:solidFill>
                <a:latin typeface="Calibri Light"/>
                <a:cs typeface="Calibri Light"/>
              </a:rPr>
              <a:t>find</a:t>
            </a:r>
            <a:r>
              <a:rPr sz="4300" b="0" spc="-100" dirty="0">
                <a:solidFill>
                  <a:srgbClr val="404040"/>
                </a:solidFill>
                <a:latin typeface="Calibri Light"/>
                <a:cs typeface="Calibri Light"/>
              </a:rPr>
              <a:t> </a:t>
            </a:r>
            <a:r>
              <a:rPr sz="4300" b="0" spc="-55" dirty="0">
                <a:solidFill>
                  <a:srgbClr val="404040"/>
                </a:solidFill>
                <a:latin typeface="Calibri Light"/>
                <a:cs typeface="Calibri Light"/>
              </a:rPr>
              <a:t>application</a:t>
            </a:r>
            <a:r>
              <a:rPr sz="4300" b="0" spc="-130" dirty="0">
                <a:solidFill>
                  <a:srgbClr val="404040"/>
                </a:solidFill>
                <a:latin typeface="Calibri Light"/>
                <a:cs typeface="Calibri Light"/>
              </a:rPr>
              <a:t> </a:t>
            </a:r>
            <a:r>
              <a:rPr sz="4300" b="0" spc="-30" dirty="0">
                <a:solidFill>
                  <a:srgbClr val="404040"/>
                </a:solidFill>
                <a:latin typeface="Calibri Light"/>
                <a:cs typeface="Calibri Light"/>
              </a:rPr>
              <a:t>in </a:t>
            </a:r>
            <a:r>
              <a:rPr sz="4300" b="0" spc="-960" dirty="0">
                <a:solidFill>
                  <a:srgbClr val="404040"/>
                </a:solidFill>
                <a:latin typeface="Calibri Light"/>
                <a:cs typeface="Calibri Light"/>
              </a:rPr>
              <a:t> </a:t>
            </a:r>
            <a:r>
              <a:rPr sz="4300" b="0" spc="-50" dirty="0">
                <a:solidFill>
                  <a:srgbClr val="404040"/>
                </a:solidFill>
                <a:latin typeface="Calibri Light"/>
                <a:cs typeface="Calibri Light"/>
              </a:rPr>
              <a:t>embedded</a:t>
            </a:r>
            <a:r>
              <a:rPr sz="4300" b="0" spc="-90" dirty="0">
                <a:solidFill>
                  <a:srgbClr val="404040"/>
                </a:solidFill>
                <a:latin typeface="Calibri Light"/>
                <a:cs typeface="Calibri Light"/>
              </a:rPr>
              <a:t> </a:t>
            </a:r>
            <a:r>
              <a:rPr sz="4300" b="0" spc="-75" dirty="0">
                <a:solidFill>
                  <a:srgbClr val="404040"/>
                </a:solidFill>
                <a:latin typeface="Calibri Light"/>
                <a:cs typeface="Calibri Light"/>
              </a:rPr>
              <a:t>systems?</a:t>
            </a:r>
            <a:endParaRPr sz="4300">
              <a:latin typeface="Calibri Light"/>
              <a:cs typeface="Calibri Light"/>
            </a:endParaRPr>
          </a:p>
        </p:txBody>
      </p:sp>
      <p:sp>
        <p:nvSpPr>
          <p:cNvPr id="7" name="object 7"/>
          <p:cNvSpPr txBox="1"/>
          <p:nvPr/>
        </p:nvSpPr>
        <p:spPr>
          <a:xfrm>
            <a:off x="1059180" y="2132421"/>
            <a:ext cx="10101071" cy="3988656"/>
          </a:xfrm>
          <a:prstGeom prst="rect">
            <a:avLst/>
          </a:prstGeom>
        </p:spPr>
        <p:txBody>
          <a:bodyPr vert="horz" wrap="square" lIns="0" tIns="47625" rIns="0" bIns="0" rtlCol="0">
            <a:spAutoFit/>
          </a:bodyPr>
          <a:lstStyle/>
          <a:p>
            <a:pPr marL="129539" marR="1651635" indent="-92075">
              <a:lnSpc>
                <a:spcPct val="150000"/>
              </a:lnSpc>
              <a:spcBef>
                <a:spcPts val="375"/>
              </a:spcBef>
              <a:buClr>
                <a:srgbClr val="E38312"/>
              </a:buClr>
              <a:buSzPct val="95000"/>
              <a:buFont typeface="Wingdings"/>
              <a:buChar char=""/>
              <a:tabLst>
                <a:tab pos="241300" algn="l"/>
              </a:tabLst>
            </a:pPr>
            <a:r>
              <a:rPr sz="2000" dirty="0">
                <a:solidFill>
                  <a:srgbClr val="404040"/>
                </a:solidFill>
                <a:latin typeface="Calibri"/>
                <a:cs typeface="Calibri"/>
              </a:rPr>
              <a:t>In embedded</a:t>
            </a:r>
            <a:r>
              <a:rPr sz="2000" spc="-10" dirty="0">
                <a:solidFill>
                  <a:srgbClr val="404040"/>
                </a:solidFill>
                <a:latin typeface="Calibri"/>
                <a:cs typeface="Calibri"/>
              </a:rPr>
              <a:t> </a:t>
            </a:r>
            <a:r>
              <a:rPr sz="2000" spc="-20" dirty="0">
                <a:solidFill>
                  <a:srgbClr val="404040"/>
                </a:solidFill>
                <a:latin typeface="Calibri"/>
                <a:cs typeface="Calibri"/>
              </a:rPr>
              <a:t>systems,</a:t>
            </a:r>
            <a:r>
              <a:rPr sz="2000" spc="25" dirty="0">
                <a:solidFill>
                  <a:srgbClr val="404040"/>
                </a:solidFill>
                <a:latin typeface="Calibri"/>
                <a:cs typeface="Calibri"/>
              </a:rPr>
              <a:t> </a:t>
            </a:r>
            <a:r>
              <a:rPr sz="2000" dirty="0">
                <a:solidFill>
                  <a:srgbClr val="404040"/>
                </a:solidFill>
                <a:latin typeface="Calibri"/>
                <a:cs typeface="Calibri"/>
              </a:rPr>
              <a:t>once</a:t>
            </a:r>
            <a:r>
              <a:rPr sz="2000" spc="-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application</a:t>
            </a:r>
            <a:r>
              <a:rPr sz="2000" spc="-10" dirty="0">
                <a:solidFill>
                  <a:srgbClr val="404040"/>
                </a:solidFill>
                <a:latin typeface="Calibri"/>
                <a:cs typeface="Calibri"/>
              </a:rPr>
              <a:t> </a:t>
            </a:r>
            <a:r>
              <a:rPr sz="2000" spc="-5" dirty="0">
                <a:solidFill>
                  <a:srgbClr val="404040"/>
                </a:solidFill>
                <a:latin typeface="Calibri"/>
                <a:cs typeface="Calibri"/>
              </a:rPr>
              <a:t>code </a:t>
            </a:r>
            <a:r>
              <a:rPr sz="2000" dirty="0">
                <a:solidFill>
                  <a:srgbClr val="404040"/>
                </a:solidFill>
                <a:latin typeface="Calibri"/>
                <a:cs typeface="Calibri"/>
              </a:rPr>
              <a:t>is</a:t>
            </a:r>
            <a:r>
              <a:rPr sz="2000" spc="-5" dirty="0">
                <a:solidFill>
                  <a:srgbClr val="404040"/>
                </a:solidFill>
                <a:latin typeface="Calibri"/>
                <a:cs typeface="Calibri"/>
              </a:rPr>
              <a:t> </a:t>
            </a:r>
            <a:r>
              <a:rPr sz="2000" spc="-15" dirty="0">
                <a:solidFill>
                  <a:srgbClr val="404040"/>
                </a:solidFill>
                <a:latin typeface="Calibri"/>
                <a:cs typeface="Calibri"/>
              </a:rPr>
              <a:t>tested</a:t>
            </a:r>
            <a:r>
              <a:rPr sz="2000" spc="30" dirty="0">
                <a:solidFill>
                  <a:srgbClr val="404040"/>
                </a:solidFill>
                <a:latin typeface="Calibri"/>
                <a:cs typeface="Calibri"/>
              </a:rPr>
              <a:t> </a:t>
            </a:r>
            <a:r>
              <a:rPr sz="2000" dirty="0">
                <a:solidFill>
                  <a:srgbClr val="404040"/>
                </a:solidFill>
                <a:latin typeface="Calibri"/>
                <a:cs typeface="Calibri"/>
              </a:rPr>
              <a:t>and</a:t>
            </a:r>
            <a:r>
              <a:rPr sz="2000" spc="-10" dirty="0">
                <a:solidFill>
                  <a:srgbClr val="404040"/>
                </a:solidFill>
                <a:latin typeface="Calibri"/>
                <a:cs typeface="Calibri"/>
              </a:rPr>
              <a:t> found</a:t>
            </a:r>
            <a:r>
              <a:rPr sz="2000" spc="-30" dirty="0">
                <a:solidFill>
                  <a:srgbClr val="404040"/>
                </a:solidFill>
                <a:latin typeface="Calibri"/>
                <a:cs typeface="Calibri"/>
              </a:rPr>
              <a:t> </a:t>
            </a:r>
            <a:r>
              <a:rPr sz="2000" spc="-15" dirty="0">
                <a:solidFill>
                  <a:srgbClr val="404040"/>
                </a:solidFill>
                <a:latin typeface="Calibri"/>
                <a:cs typeface="Calibri"/>
              </a:rPr>
              <a:t>to</a:t>
            </a:r>
            <a:r>
              <a:rPr sz="2000" dirty="0">
                <a:solidFill>
                  <a:srgbClr val="404040"/>
                </a:solidFill>
                <a:latin typeface="Calibri"/>
                <a:cs typeface="Calibri"/>
              </a:rPr>
              <a:t> be </a:t>
            </a:r>
            <a:r>
              <a:rPr sz="2000" spc="-434" dirty="0">
                <a:solidFill>
                  <a:srgbClr val="404040"/>
                </a:solidFill>
                <a:latin typeface="Calibri"/>
                <a:cs typeface="Calibri"/>
              </a:rPr>
              <a:t> </a:t>
            </a:r>
            <a:r>
              <a:rPr sz="2000" spc="-5" dirty="0">
                <a:solidFill>
                  <a:srgbClr val="404040"/>
                </a:solidFill>
                <a:latin typeface="Calibri"/>
                <a:cs typeface="Calibri"/>
              </a:rPr>
              <a:t>working,</a:t>
            </a:r>
            <a:r>
              <a:rPr sz="2000" spc="-25" dirty="0">
                <a:solidFill>
                  <a:srgbClr val="404040"/>
                </a:solidFill>
                <a:latin typeface="Calibri"/>
                <a:cs typeface="Calibri"/>
              </a:rPr>
              <a:t> </a:t>
            </a:r>
            <a:r>
              <a:rPr sz="2000" dirty="0">
                <a:solidFill>
                  <a:srgbClr val="404040"/>
                </a:solidFill>
                <a:latin typeface="Calibri"/>
                <a:cs typeface="Calibri"/>
              </a:rPr>
              <a:t>it</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15" dirty="0">
                <a:solidFill>
                  <a:srgbClr val="404040"/>
                </a:solidFill>
                <a:latin typeface="Calibri"/>
                <a:cs typeface="Calibri"/>
              </a:rPr>
              <a:t>stored</a:t>
            </a:r>
            <a:r>
              <a:rPr sz="2000" spc="15" dirty="0">
                <a:solidFill>
                  <a:srgbClr val="404040"/>
                </a:solidFill>
                <a:latin typeface="Calibri"/>
                <a:cs typeface="Calibri"/>
              </a:rPr>
              <a:t> </a:t>
            </a:r>
            <a:r>
              <a:rPr sz="2000" dirty="0">
                <a:solidFill>
                  <a:srgbClr val="404040"/>
                </a:solidFill>
                <a:latin typeface="Calibri"/>
                <a:cs typeface="Calibri"/>
              </a:rPr>
              <a:t>in</a:t>
            </a:r>
            <a:r>
              <a:rPr sz="2000" spc="-10" dirty="0">
                <a:solidFill>
                  <a:srgbClr val="404040"/>
                </a:solidFill>
                <a:latin typeface="Calibri"/>
                <a:cs typeface="Calibri"/>
              </a:rPr>
              <a:t> </a:t>
            </a:r>
            <a:r>
              <a:rPr sz="2000" spc="-5" dirty="0">
                <a:solidFill>
                  <a:srgbClr val="404040"/>
                </a:solidFill>
                <a:latin typeface="Calibri"/>
                <a:cs typeface="Calibri"/>
              </a:rPr>
              <a:t>ROM.</a:t>
            </a:r>
            <a:endParaRPr sz="2000" dirty="0">
              <a:latin typeface="Calibri"/>
              <a:cs typeface="Calibri"/>
            </a:endParaRPr>
          </a:p>
          <a:p>
            <a:pPr marL="240665" indent="-203200">
              <a:lnSpc>
                <a:spcPct val="150000"/>
              </a:lnSpc>
              <a:spcBef>
                <a:spcPts val="1130"/>
              </a:spcBef>
              <a:buClr>
                <a:srgbClr val="E38312"/>
              </a:buClr>
              <a:buSzPct val="95000"/>
              <a:buFont typeface="Wingdings"/>
              <a:buChar char=""/>
              <a:tabLst>
                <a:tab pos="241300" algn="l"/>
              </a:tabLst>
            </a:pPr>
            <a:r>
              <a:rPr sz="2000" spc="-5" dirty="0">
                <a:solidFill>
                  <a:srgbClr val="404040"/>
                </a:solidFill>
                <a:latin typeface="Calibri"/>
                <a:cs typeface="Calibri"/>
              </a:rPr>
              <a:t>Thus, </a:t>
            </a:r>
            <a:r>
              <a:rPr sz="2000" spc="-10" dirty="0">
                <a:solidFill>
                  <a:srgbClr val="404040"/>
                </a:solidFill>
                <a:latin typeface="Calibri"/>
                <a:cs typeface="Calibri"/>
              </a:rPr>
              <a:t>ROM</a:t>
            </a:r>
            <a:r>
              <a:rPr sz="2000" spc="5" dirty="0">
                <a:solidFill>
                  <a:srgbClr val="404040"/>
                </a:solidFill>
                <a:latin typeface="Calibri"/>
                <a:cs typeface="Calibri"/>
              </a:rPr>
              <a:t> </a:t>
            </a:r>
            <a:r>
              <a:rPr sz="2000" spc="-5" dirty="0">
                <a:solidFill>
                  <a:srgbClr val="404040"/>
                </a:solidFill>
                <a:latin typeface="Calibri"/>
                <a:cs typeface="Calibri"/>
              </a:rPr>
              <a:t>is</a:t>
            </a:r>
            <a:r>
              <a:rPr sz="2000" spc="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memory</a:t>
            </a:r>
            <a:r>
              <a:rPr sz="2000" dirty="0">
                <a:solidFill>
                  <a:srgbClr val="404040"/>
                </a:solidFill>
                <a:latin typeface="Calibri"/>
                <a:cs typeface="Calibri"/>
              </a:rPr>
              <a:t> </a:t>
            </a:r>
            <a:r>
              <a:rPr sz="2000" spc="-10" dirty="0">
                <a:solidFill>
                  <a:srgbClr val="404040"/>
                </a:solidFill>
                <a:latin typeface="Calibri"/>
                <a:cs typeface="Calibri"/>
              </a:rPr>
              <a:t>area</a:t>
            </a:r>
            <a:r>
              <a:rPr sz="2000" spc="5" dirty="0">
                <a:solidFill>
                  <a:srgbClr val="404040"/>
                </a:solidFill>
                <a:latin typeface="Calibri"/>
                <a:cs typeface="Calibri"/>
              </a:rPr>
              <a:t> </a:t>
            </a:r>
            <a:r>
              <a:rPr sz="2000" spc="-10" dirty="0">
                <a:solidFill>
                  <a:srgbClr val="404040"/>
                </a:solidFill>
                <a:latin typeface="Calibri"/>
                <a:cs typeface="Calibri"/>
              </a:rPr>
              <a:t>where</a:t>
            </a:r>
            <a:r>
              <a:rPr sz="2000" spc="5" dirty="0">
                <a:solidFill>
                  <a:srgbClr val="404040"/>
                </a:solidFill>
                <a:latin typeface="Calibri"/>
                <a:cs typeface="Calibri"/>
              </a:rPr>
              <a:t> </a:t>
            </a:r>
            <a:r>
              <a:rPr sz="2000" spc="-5" dirty="0">
                <a:solidFill>
                  <a:srgbClr val="404040"/>
                </a:solidFill>
                <a:latin typeface="Calibri"/>
                <a:cs typeface="Calibri"/>
              </a:rPr>
              <a:t>code</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15" dirty="0">
                <a:solidFill>
                  <a:srgbClr val="404040"/>
                </a:solidFill>
                <a:latin typeface="Calibri"/>
                <a:cs typeface="Calibri"/>
              </a:rPr>
              <a:t>stored.</a:t>
            </a:r>
            <a:endParaRPr sz="2000" dirty="0">
              <a:latin typeface="Calibri"/>
              <a:cs typeface="Calibri"/>
            </a:endParaRPr>
          </a:p>
          <a:p>
            <a:pPr marL="295910" indent="-257810">
              <a:lnSpc>
                <a:spcPct val="150000"/>
              </a:lnSpc>
              <a:spcBef>
                <a:spcPts val="1155"/>
              </a:spcBef>
              <a:buClr>
                <a:srgbClr val="E38312"/>
              </a:buClr>
              <a:buSzPct val="95000"/>
              <a:buFont typeface="Wingdings"/>
              <a:buChar char=""/>
              <a:tabLst>
                <a:tab pos="295910" algn="l"/>
              </a:tabLst>
            </a:pPr>
            <a:r>
              <a:rPr sz="2000" dirty="0">
                <a:solidFill>
                  <a:srgbClr val="404040"/>
                </a:solidFill>
                <a:latin typeface="Calibri"/>
                <a:cs typeface="Calibri"/>
              </a:rPr>
              <a:t>In</a:t>
            </a:r>
            <a:r>
              <a:rPr sz="2000" spc="5" dirty="0">
                <a:solidFill>
                  <a:srgbClr val="404040"/>
                </a:solidFill>
                <a:latin typeface="Calibri"/>
                <a:cs typeface="Calibri"/>
              </a:rPr>
              <a:t> </a:t>
            </a:r>
            <a:r>
              <a:rPr sz="2000" spc="-5" dirty="0">
                <a:solidFill>
                  <a:srgbClr val="404040"/>
                </a:solidFill>
                <a:latin typeface="Calibri"/>
                <a:cs typeface="Calibri"/>
              </a:rPr>
              <a:t>advanced</a:t>
            </a:r>
            <a:r>
              <a:rPr sz="2000" spc="-10" dirty="0">
                <a:solidFill>
                  <a:srgbClr val="404040"/>
                </a:solidFill>
                <a:latin typeface="Calibri"/>
                <a:cs typeface="Calibri"/>
              </a:rPr>
              <a:t> </a:t>
            </a:r>
            <a:r>
              <a:rPr sz="2000" spc="-5" dirty="0">
                <a:solidFill>
                  <a:srgbClr val="404040"/>
                </a:solidFill>
                <a:latin typeface="Calibri"/>
                <a:cs typeface="Calibri"/>
              </a:rPr>
              <a:t>embedded</a:t>
            </a:r>
            <a:r>
              <a:rPr sz="2000" spc="5" dirty="0">
                <a:solidFill>
                  <a:srgbClr val="404040"/>
                </a:solidFill>
                <a:latin typeface="Calibri"/>
                <a:cs typeface="Calibri"/>
              </a:rPr>
              <a:t> </a:t>
            </a:r>
            <a:r>
              <a:rPr sz="2000" spc="-20" dirty="0">
                <a:solidFill>
                  <a:srgbClr val="404040"/>
                </a:solidFill>
                <a:latin typeface="Calibri"/>
                <a:cs typeface="Calibri"/>
              </a:rPr>
              <a:t>systems,</a:t>
            </a:r>
            <a:r>
              <a:rPr sz="2000" spc="25" dirty="0">
                <a:solidFill>
                  <a:srgbClr val="404040"/>
                </a:solidFill>
                <a:latin typeface="Calibri"/>
                <a:cs typeface="Calibri"/>
              </a:rPr>
              <a:t> </a:t>
            </a:r>
            <a:r>
              <a:rPr sz="2000" spc="-10" dirty="0">
                <a:solidFill>
                  <a:srgbClr val="404040"/>
                </a:solidFill>
                <a:latin typeface="Calibri"/>
                <a:cs typeface="Calibri"/>
              </a:rPr>
              <a:t>operating</a:t>
            </a:r>
            <a:r>
              <a:rPr sz="2000" spc="10" dirty="0">
                <a:solidFill>
                  <a:srgbClr val="404040"/>
                </a:solidFill>
                <a:latin typeface="Calibri"/>
                <a:cs typeface="Calibri"/>
              </a:rPr>
              <a:t> </a:t>
            </a:r>
            <a:r>
              <a:rPr sz="2000" spc="-20" dirty="0">
                <a:solidFill>
                  <a:srgbClr val="404040"/>
                </a:solidFill>
                <a:latin typeface="Calibri"/>
                <a:cs typeface="Calibri"/>
              </a:rPr>
              <a:t>systems</a:t>
            </a:r>
            <a:r>
              <a:rPr sz="2000" spc="30" dirty="0">
                <a:solidFill>
                  <a:srgbClr val="404040"/>
                </a:solidFill>
                <a:latin typeface="Calibri"/>
                <a:cs typeface="Calibri"/>
              </a:rPr>
              <a:t> </a:t>
            </a:r>
            <a:r>
              <a:rPr sz="2000" spc="-10" dirty="0">
                <a:solidFill>
                  <a:srgbClr val="404040"/>
                </a:solidFill>
                <a:latin typeface="Calibri"/>
                <a:cs typeface="Calibri"/>
              </a:rPr>
              <a:t>are</a:t>
            </a:r>
            <a:r>
              <a:rPr sz="2000" spc="10" dirty="0">
                <a:solidFill>
                  <a:srgbClr val="404040"/>
                </a:solidFill>
                <a:latin typeface="Calibri"/>
                <a:cs typeface="Calibri"/>
              </a:rPr>
              <a:t> </a:t>
            </a:r>
            <a:r>
              <a:rPr sz="2000" spc="-5" dirty="0">
                <a:solidFill>
                  <a:srgbClr val="404040"/>
                </a:solidFill>
                <a:latin typeface="Calibri"/>
                <a:cs typeface="Calibri"/>
              </a:rPr>
              <a:t>also</a:t>
            </a:r>
            <a:r>
              <a:rPr sz="2000" spc="20" dirty="0">
                <a:solidFill>
                  <a:srgbClr val="404040"/>
                </a:solidFill>
                <a:latin typeface="Calibri"/>
                <a:cs typeface="Calibri"/>
              </a:rPr>
              <a:t> </a:t>
            </a:r>
            <a:r>
              <a:rPr sz="2000" spc="-15" dirty="0">
                <a:solidFill>
                  <a:srgbClr val="404040"/>
                </a:solidFill>
                <a:latin typeface="Calibri"/>
                <a:cs typeface="Calibri"/>
              </a:rPr>
              <a:t>stored</a:t>
            </a:r>
            <a:r>
              <a:rPr sz="2000" spc="25" dirty="0">
                <a:solidFill>
                  <a:srgbClr val="404040"/>
                </a:solidFill>
                <a:latin typeface="Calibri"/>
                <a:cs typeface="Calibri"/>
              </a:rPr>
              <a:t> </a:t>
            </a:r>
            <a:r>
              <a:rPr sz="2000" dirty="0">
                <a:solidFill>
                  <a:srgbClr val="404040"/>
                </a:solidFill>
                <a:latin typeface="Calibri"/>
                <a:cs typeface="Calibri"/>
              </a:rPr>
              <a:t>in </a:t>
            </a:r>
            <a:r>
              <a:rPr sz="2000" spc="-5" dirty="0">
                <a:solidFill>
                  <a:srgbClr val="404040"/>
                </a:solidFill>
                <a:latin typeface="Calibri"/>
                <a:cs typeface="Calibri"/>
              </a:rPr>
              <a:t>ROM.</a:t>
            </a:r>
            <a:endParaRPr sz="2000" dirty="0">
              <a:latin typeface="Calibri"/>
              <a:cs typeface="Calibri"/>
            </a:endParaRPr>
          </a:p>
          <a:p>
            <a:pPr marL="240665" indent="-203200">
              <a:lnSpc>
                <a:spcPct val="150000"/>
              </a:lnSpc>
              <a:spcBef>
                <a:spcPts val="1165"/>
              </a:spcBef>
              <a:buClr>
                <a:srgbClr val="E38312"/>
              </a:buClr>
              <a:buSzPct val="95000"/>
              <a:buFont typeface="Wingdings"/>
              <a:buChar char=""/>
              <a:tabLst>
                <a:tab pos="241300" algn="l"/>
              </a:tabLst>
            </a:pPr>
            <a:r>
              <a:rPr sz="2000" spc="-10" dirty="0">
                <a:solidFill>
                  <a:srgbClr val="404040"/>
                </a:solidFill>
                <a:latin typeface="Calibri"/>
                <a:cs typeface="Calibri"/>
              </a:rPr>
              <a:t>ROM </a:t>
            </a:r>
            <a:r>
              <a:rPr sz="2000" dirty="0">
                <a:solidFill>
                  <a:srgbClr val="404040"/>
                </a:solidFill>
                <a:latin typeface="Calibri"/>
                <a:cs typeface="Calibri"/>
              </a:rPr>
              <a:t>is</a:t>
            </a:r>
            <a:r>
              <a:rPr sz="2000" spc="-15" dirty="0">
                <a:solidFill>
                  <a:srgbClr val="404040"/>
                </a:solidFill>
                <a:latin typeface="Calibri"/>
                <a:cs typeface="Calibri"/>
              </a:rPr>
              <a:t> </a:t>
            </a:r>
            <a:r>
              <a:rPr sz="2000" dirty="0">
                <a:solidFill>
                  <a:srgbClr val="404040"/>
                </a:solidFill>
                <a:latin typeface="Calibri"/>
                <a:cs typeface="Calibri"/>
              </a:rPr>
              <a:t>also </a:t>
            </a:r>
            <a:r>
              <a:rPr sz="2000" spc="-5" dirty="0">
                <a:solidFill>
                  <a:srgbClr val="404040"/>
                </a:solidFill>
                <a:latin typeface="Calibri"/>
                <a:cs typeface="Calibri"/>
              </a:rPr>
              <a:t>used</a:t>
            </a:r>
            <a:r>
              <a:rPr sz="2000" spc="-15" dirty="0">
                <a:solidFill>
                  <a:srgbClr val="404040"/>
                </a:solidFill>
                <a:latin typeface="Calibri"/>
                <a:cs typeface="Calibri"/>
              </a:rPr>
              <a:t> </a:t>
            </a:r>
            <a:r>
              <a:rPr sz="2000" dirty="0">
                <a:solidFill>
                  <a:srgbClr val="404040"/>
                </a:solidFill>
                <a:latin typeface="Calibri"/>
                <a:cs typeface="Calibri"/>
              </a:rPr>
              <a:t>as</a:t>
            </a:r>
            <a:r>
              <a:rPr sz="2000" spc="-5" dirty="0">
                <a:solidFill>
                  <a:srgbClr val="404040"/>
                </a:solidFill>
                <a:latin typeface="Calibri"/>
                <a:cs typeface="Calibri"/>
              </a:rPr>
              <a:t> </a:t>
            </a:r>
            <a:r>
              <a:rPr sz="2000" dirty="0">
                <a:solidFill>
                  <a:srgbClr val="404040"/>
                </a:solidFill>
                <a:latin typeface="Calibri"/>
                <a:cs typeface="Calibri"/>
              </a:rPr>
              <a:t>a </a:t>
            </a:r>
            <a:r>
              <a:rPr sz="2000" spc="-15" dirty="0">
                <a:solidFill>
                  <a:srgbClr val="404040"/>
                </a:solidFill>
                <a:latin typeface="Calibri"/>
                <a:cs typeface="Calibri"/>
              </a:rPr>
              <a:t>storage</a:t>
            </a:r>
            <a:r>
              <a:rPr sz="2000" spc="-5" dirty="0">
                <a:solidFill>
                  <a:srgbClr val="404040"/>
                </a:solidFill>
                <a:latin typeface="Calibri"/>
                <a:cs typeface="Calibri"/>
              </a:rPr>
              <a:t> </a:t>
            </a:r>
            <a:r>
              <a:rPr sz="2000" spc="-15" dirty="0">
                <a:solidFill>
                  <a:srgbClr val="404040"/>
                </a:solidFill>
                <a:latin typeface="Calibri"/>
                <a:cs typeface="Calibri"/>
              </a:rPr>
              <a:t>for</a:t>
            </a:r>
            <a:r>
              <a:rPr sz="2000" spc="-20" dirty="0">
                <a:solidFill>
                  <a:srgbClr val="404040"/>
                </a:solidFill>
                <a:latin typeface="Calibri"/>
                <a:cs typeface="Calibri"/>
              </a:rPr>
              <a:t> </a:t>
            </a:r>
            <a:r>
              <a:rPr sz="2000" spc="-10" dirty="0">
                <a:solidFill>
                  <a:srgbClr val="404040"/>
                </a:solidFill>
                <a:latin typeface="Calibri"/>
                <a:cs typeface="Calibri"/>
              </a:rPr>
              <a:t>data.</a:t>
            </a:r>
            <a:endParaRPr sz="2000" dirty="0">
              <a:latin typeface="Calibri"/>
              <a:cs typeface="Calibri"/>
            </a:endParaRPr>
          </a:p>
          <a:p>
            <a:pPr marL="240665" indent="-203200">
              <a:lnSpc>
                <a:spcPct val="150000"/>
              </a:lnSpc>
              <a:spcBef>
                <a:spcPts val="1165"/>
              </a:spcBef>
              <a:buClr>
                <a:srgbClr val="E38312"/>
              </a:buClr>
              <a:buSzPct val="95000"/>
              <a:buFont typeface="Wingdings"/>
              <a:buChar char=""/>
              <a:tabLst>
                <a:tab pos="241300" algn="l"/>
              </a:tabLst>
            </a:pPr>
            <a:r>
              <a:rPr sz="2000" spc="-5" dirty="0">
                <a:solidFill>
                  <a:srgbClr val="404040"/>
                </a:solidFill>
                <a:latin typeface="Calibri"/>
                <a:cs typeface="Calibri"/>
              </a:rPr>
              <a:t>Think</a:t>
            </a:r>
            <a:r>
              <a:rPr sz="2000" dirty="0">
                <a:solidFill>
                  <a:srgbClr val="404040"/>
                </a:solidFill>
                <a:latin typeface="Calibri"/>
                <a:cs typeface="Calibri"/>
              </a:rPr>
              <a:t> </a:t>
            </a:r>
            <a:r>
              <a:rPr sz="2000" spc="-5" dirty="0">
                <a:solidFill>
                  <a:srgbClr val="404040"/>
                </a:solidFill>
                <a:latin typeface="Calibri"/>
                <a:cs typeface="Calibri"/>
              </a:rPr>
              <a:t>of </a:t>
            </a:r>
            <a:r>
              <a:rPr sz="2000" dirty="0">
                <a:solidFill>
                  <a:srgbClr val="404040"/>
                </a:solidFill>
                <a:latin typeface="Calibri"/>
                <a:cs typeface="Calibri"/>
              </a:rPr>
              <a:t>the</a:t>
            </a:r>
            <a:r>
              <a:rPr sz="2000" spc="5" dirty="0">
                <a:solidFill>
                  <a:srgbClr val="404040"/>
                </a:solidFill>
                <a:latin typeface="Calibri"/>
                <a:cs typeface="Calibri"/>
              </a:rPr>
              <a:t> </a:t>
            </a:r>
            <a:r>
              <a:rPr sz="2000" spc="-10" dirty="0">
                <a:solidFill>
                  <a:srgbClr val="404040"/>
                </a:solidFill>
                <a:latin typeface="Calibri"/>
                <a:cs typeface="Calibri"/>
              </a:rPr>
              <a:t>data</a:t>
            </a:r>
            <a:r>
              <a:rPr sz="2000" spc="5" dirty="0">
                <a:solidFill>
                  <a:srgbClr val="404040"/>
                </a:solidFill>
                <a:latin typeface="Calibri"/>
                <a:cs typeface="Calibri"/>
              </a:rPr>
              <a:t> </a:t>
            </a:r>
            <a:r>
              <a:rPr sz="2000" spc="-10" dirty="0">
                <a:solidFill>
                  <a:srgbClr val="404040"/>
                </a:solidFill>
                <a:latin typeface="Calibri"/>
                <a:cs typeface="Calibri"/>
              </a:rPr>
              <a:t>we</a:t>
            </a:r>
            <a:r>
              <a:rPr sz="2000" spc="-5" dirty="0">
                <a:solidFill>
                  <a:srgbClr val="404040"/>
                </a:solidFill>
                <a:latin typeface="Calibri"/>
                <a:cs typeface="Calibri"/>
              </a:rPr>
              <a:t> </a:t>
            </a:r>
            <a:r>
              <a:rPr sz="2000" spc="-20" dirty="0">
                <a:solidFill>
                  <a:srgbClr val="404040"/>
                </a:solidFill>
                <a:latin typeface="Calibri"/>
                <a:cs typeface="Calibri"/>
              </a:rPr>
              <a:t>store</a:t>
            </a:r>
            <a:r>
              <a:rPr sz="2000" spc="15" dirty="0">
                <a:solidFill>
                  <a:srgbClr val="404040"/>
                </a:solidFill>
                <a:latin typeface="Calibri"/>
                <a:cs typeface="Calibri"/>
              </a:rPr>
              <a:t> </a:t>
            </a:r>
            <a:r>
              <a:rPr lang="en-US" sz="2000" spc="5" dirty="0" smtClean="0">
                <a:solidFill>
                  <a:srgbClr val="404040"/>
                </a:solidFill>
                <a:latin typeface="Calibri"/>
                <a:cs typeface="Calibri"/>
              </a:rPr>
              <a:t>in</a:t>
            </a:r>
            <a:r>
              <a:rPr sz="1950" spc="240" baseline="-21367" dirty="0" smtClean="0">
                <a:solidFill>
                  <a:srgbClr val="404040"/>
                </a:solidFill>
                <a:latin typeface="Calibri"/>
                <a:cs typeface="Calibri"/>
              </a:rPr>
              <a:t> </a:t>
            </a:r>
            <a:r>
              <a:rPr sz="2000" spc="-5" dirty="0">
                <a:solidFill>
                  <a:srgbClr val="404040"/>
                </a:solidFill>
                <a:latin typeface="Calibri"/>
                <a:cs typeface="Calibri"/>
              </a:rPr>
              <a:t>our </a:t>
            </a:r>
            <a:r>
              <a:rPr sz="2000" dirty="0" smtClean="0">
                <a:solidFill>
                  <a:srgbClr val="404040"/>
                </a:solidFill>
                <a:latin typeface="Calibri"/>
                <a:cs typeface="Calibri"/>
              </a:rPr>
              <a:t>US</a:t>
            </a:r>
            <a:r>
              <a:rPr lang="en-US" sz="2000" dirty="0" smtClean="0">
                <a:solidFill>
                  <a:srgbClr val="404040"/>
                </a:solidFill>
                <a:latin typeface="Calibri"/>
                <a:cs typeface="Calibri"/>
              </a:rPr>
              <a:t>B</a:t>
            </a:r>
            <a:r>
              <a:rPr sz="2000" spc="-5" dirty="0" smtClean="0">
                <a:solidFill>
                  <a:srgbClr val="404040"/>
                </a:solidFill>
                <a:latin typeface="Calibri"/>
                <a:cs typeface="Calibri"/>
              </a:rPr>
              <a:t> </a:t>
            </a:r>
            <a:r>
              <a:rPr sz="2000" spc="-10" dirty="0">
                <a:solidFill>
                  <a:srgbClr val="404040"/>
                </a:solidFill>
                <a:latin typeface="Calibri"/>
                <a:cs typeface="Calibri"/>
              </a:rPr>
              <a:t>sticks,</a:t>
            </a:r>
            <a:r>
              <a:rPr sz="2000" spc="25" dirty="0">
                <a:solidFill>
                  <a:srgbClr val="404040"/>
                </a:solidFill>
                <a:latin typeface="Calibri"/>
                <a:cs typeface="Calibri"/>
              </a:rPr>
              <a:t> </a:t>
            </a:r>
            <a:r>
              <a:rPr sz="2000" dirty="0">
                <a:solidFill>
                  <a:srgbClr val="404040"/>
                </a:solidFill>
                <a:latin typeface="Calibri"/>
                <a:cs typeface="Calibri"/>
              </a:rPr>
              <a:t>memory </a:t>
            </a:r>
            <a:r>
              <a:rPr sz="2000" spc="-10" dirty="0">
                <a:solidFill>
                  <a:srgbClr val="404040"/>
                </a:solidFill>
                <a:latin typeface="Calibri"/>
                <a:cs typeface="Calibri"/>
              </a:rPr>
              <a:t>cards</a:t>
            </a:r>
            <a:r>
              <a:rPr sz="2000" dirty="0">
                <a:solidFill>
                  <a:srgbClr val="404040"/>
                </a:solidFill>
                <a:latin typeface="Calibri"/>
                <a:cs typeface="Calibri"/>
              </a:rPr>
              <a:t> </a:t>
            </a:r>
            <a:r>
              <a:rPr sz="2000" spc="-5" dirty="0">
                <a:solidFill>
                  <a:srgbClr val="404040"/>
                </a:solidFill>
                <a:latin typeface="Calibri"/>
                <a:cs typeface="Calibri"/>
              </a:rPr>
              <a:t>of</a:t>
            </a:r>
            <a:r>
              <a:rPr sz="2000" dirty="0">
                <a:solidFill>
                  <a:srgbClr val="404040"/>
                </a:solidFill>
                <a:latin typeface="Calibri"/>
                <a:cs typeface="Calibri"/>
              </a:rPr>
              <a:t> </a:t>
            </a:r>
            <a:r>
              <a:rPr sz="2000" spc="-5" dirty="0">
                <a:solidFill>
                  <a:srgbClr val="404040"/>
                </a:solidFill>
                <a:latin typeface="Calibri"/>
                <a:cs typeface="Calibri"/>
              </a:rPr>
              <a:t>mobile</a:t>
            </a:r>
            <a:r>
              <a:rPr sz="2000" spc="10" dirty="0">
                <a:solidFill>
                  <a:srgbClr val="404040"/>
                </a:solidFill>
                <a:latin typeface="Calibri"/>
                <a:cs typeface="Calibri"/>
              </a:rPr>
              <a:t> </a:t>
            </a:r>
            <a:r>
              <a:rPr sz="2000" spc="-5" dirty="0">
                <a:solidFill>
                  <a:srgbClr val="404040"/>
                </a:solidFill>
                <a:latin typeface="Calibri"/>
                <a:cs typeface="Calibri"/>
              </a:rPr>
              <a:t>phones,</a:t>
            </a:r>
            <a:r>
              <a:rPr sz="2000" spc="-20" dirty="0">
                <a:solidFill>
                  <a:srgbClr val="404040"/>
                </a:solidFill>
                <a:latin typeface="Calibri"/>
                <a:cs typeface="Calibri"/>
              </a:rPr>
              <a:t> </a:t>
            </a:r>
            <a:r>
              <a:rPr sz="2000" spc="-10" dirty="0">
                <a:solidFill>
                  <a:srgbClr val="404040"/>
                </a:solidFill>
                <a:latin typeface="Calibri"/>
                <a:cs typeface="Calibri"/>
              </a:rPr>
              <a:t>cameras</a:t>
            </a:r>
            <a:r>
              <a:rPr sz="2000" spc="15" dirty="0">
                <a:solidFill>
                  <a:srgbClr val="404040"/>
                </a:solidFill>
                <a:latin typeface="Calibri"/>
                <a:cs typeface="Calibri"/>
              </a:rPr>
              <a:t> </a:t>
            </a:r>
            <a:r>
              <a:rPr sz="2000" spc="-10" dirty="0">
                <a:solidFill>
                  <a:srgbClr val="404040"/>
                </a:solidFill>
                <a:latin typeface="Calibri"/>
                <a:cs typeface="Calibri"/>
              </a:rPr>
              <a:t>etc.</a:t>
            </a:r>
            <a:endParaRPr sz="2000" dirty="0">
              <a:latin typeface="Calibri"/>
              <a:cs typeface="Calibri"/>
            </a:endParaRPr>
          </a:p>
          <a:p>
            <a:pPr marL="240665" indent="-203200">
              <a:lnSpc>
                <a:spcPct val="150000"/>
              </a:lnSpc>
              <a:spcBef>
                <a:spcPts val="1155"/>
              </a:spcBef>
              <a:buClr>
                <a:srgbClr val="E38312"/>
              </a:buClr>
              <a:buSzPct val="95000"/>
              <a:buFont typeface="Wingdings"/>
              <a:buChar char=""/>
              <a:tabLst>
                <a:tab pos="241300" algn="l"/>
              </a:tabLst>
            </a:pPr>
            <a:r>
              <a:rPr sz="2000" dirty="0">
                <a:solidFill>
                  <a:srgbClr val="404040"/>
                </a:solidFill>
                <a:latin typeface="Calibri"/>
                <a:cs typeface="Calibri"/>
              </a:rPr>
              <a:t>All</a:t>
            </a:r>
            <a:r>
              <a:rPr sz="2000" spc="-10" dirty="0">
                <a:solidFill>
                  <a:srgbClr val="404040"/>
                </a:solidFill>
                <a:latin typeface="Calibri"/>
                <a:cs typeface="Calibri"/>
              </a:rPr>
              <a:t> </a:t>
            </a:r>
            <a:r>
              <a:rPr sz="2000" dirty="0" smtClean="0">
                <a:solidFill>
                  <a:srgbClr val="404040"/>
                </a:solidFill>
                <a:latin typeface="Calibri"/>
                <a:cs typeface="Calibri"/>
              </a:rPr>
              <a:t>the</a:t>
            </a:r>
            <a:r>
              <a:rPr lang="en-US" sz="2000" dirty="0" smtClean="0">
                <a:solidFill>
                  <a:srgbClr val="404040"/>
                </a:solidFill>
                <a:latin typeface="Calibri"/>
                <a:cs typeface="Calibri"/>
              </a:rPr>
              <a:t>se </a:t>
            </a:r>
            <a:r>
              <a:rPr sz="2000" spc="-10" dirty="0" smtClean="0">
                <a:solidFill>
                  <a:srgbClr val="404040"/>
                </a:solidFill>
                <a:latin typeface="Calibri"/>
                <a:cs typeface="Calibri"/>
              </a:rPr>
              <a:t>are</a:t>
            </a:r>
            <a:r>
              <a:rPr sz="2000" spc="-5" dirty="0" smtClean="0">
                <a:solidFill>
                  <a:srgbClr val="404040"/>
                </a:solidFill>
                <a:latin typeface="Calibri"/>
                <a:cs typeface="Calibri"/>
              </a:rPr>
              <a:t> </a:t>
            </a:r>
            <a:r>
              <a:rPr sz="2000" spc="-5" dirty="0">
                <a:solidFill>
                  <a:srgbClr val="404040"/>
                </a:solidFill>
                <a:latin typeface="Calibri"/>
                <a:cs typeface="Calibri"/>
              </a:rPr>
              <a:t>instances</a:t>
            </a:r>
            <a:r>
              <a:rPr sz="2000" spc="10" dirty="0">
                <a:solidFill>
                  <a:srgbClr val="404040"/>
                </a:solidFill>
                <a:latin typeface="Calibri"/>
                <a:cs typeface="Calibri"/>
              </a:rPr>
              <a:t> </a:t>
            </a:r>
            <a:r>
              <a:rPr sz="2000" spc="-5" dirty="0">
                <a:solidFill>
                  <a:srgbClr val="404040"/>
                </a:solidFill>
                <a:latin typeface="Calibri"/>
                <a:cs typeface="Calibri"/>
              </a:rPr>
              <a:t>of</a:t>
            </a:r>
            <a:r>
              <a:rPr sz="2000" spc="-15" dirty="0">
                <a:solidFill>
                  <a:srgbClr val="404040"/>
                </a:solidFill>
                <a:latin typeface="Calibri"/>
                <a:cs typeface="Calibri"/>
              </a:rPr>
              <a:t> </a:t>
            </a:r>
            <a:r>
              <a:rPr sz="2000" spc="-10" dirty="0">
                <a:solidFill>
                  <a:srgbClr val="404040"/>
                </a:solidFill>
                <a:latin typeface="Calibri"/>
                <a:cs typeface="Calibri"/>
              </a:rPr>
              <a:t>ROM</a:t>
            </a:r>
            <a:r>
              <a:rPr sz="2000" spc="-5" dirty="0">
                <a:solidFill>
                  <a:srgbClr val="404040"/>
                </a:solidFill>
                <a:latin typeface="Calibri"/>
                <a:cs typeface="Calibri"/>
              </a:rPr>
              <a:t> </a:t>
            </a:r>
            <a:r>
              <a:rPr sz="2000" spc="-15" dirty="0">
                <a:solidFill>
                  <a:srgbClr val="404040"/>
                </a:solidFill>
                <a:latin typeface="Calibri"/>
                <a:cs typeface="Calibri"/>
              </a:rPr>
              <a:t>storage.</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21</a:t>
            </a:r>
            <a:endParaRPr sz="1050">
              <a:latin typeface="Calibri"/>
              <a:cs typeface="Calibri"/>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24941"/>
            <a:ext cx="3914140" cy="757555"/>
          </a:xfrm>
          <a:prstGeom prst="rect">
            <a:avLst/>
          </a:prstGeom>
        </p:spPr>
        <p:txBody>
          <a:bodyPr vert="horz" wrap="square" lIns="0" tIns="12700" rIns="0" bIns="0" rtlCol="0">
            <a:spAutoFit/>
          </a:bodyPr>
          <a:lstStyle/>
          <a:p>
            <a:pPr marL="12700">
              <a:lnSpc>
                <a:spcPct val="100000"/>
              </a:lnSpc>
              <a:spcBef>
                <a:spcPts val="100"/>
              </a:spcBef>
            </a:pPr>
            <a:r>
              <a:rPr sz="4800" b="0" i="1" spc="-130" dirty="0" smtClean="0">
                <a:solidFill>
                  <a:srgbClr val="404040"/>
                </a:solidFill>
                <a:latin typeface="Calibri Light"/>
                <a:cs typeface="Calibri Light"/>
              </a:rPr>
              <a:t> </a:t>
            </a:r>
            <a:r>
              <a:rPr sz="4800" b="0" i="1" spc="-50" dirty="0">
                <a:solidFill>
                  <a:srgbClr val="404040"/>
                </a:solidFill>
                <a:latin typeface="Calibri Light"/>
                <a:cs typeface="Calibri Light"/>
              </a:rPr>
              <a:t>EPROM</a:t>
            </a:r>
            <a:endParaRPr sz="4800" dirty="0">
              <a:latin typeface="Calibri Light"/>
              <a:cs typeface="Calibri Light"/>
            </a:endParaRPr>
          </a:p>
        </p:txBody>
      </p:sp>
      <p:sp>
        <p:nvSpPr>
          <p:cNvPr id="7" name="object 7"/>
          <p:cNvSpPr txBox="1"/>
          <p:nvPr/>
        </p:nvSpPr>
        <p:spPr>
          <a:xfrm>
            <a:off x="1084580" y="1684756"/>
            <a:ext cx="8610600" cy="2777683"/>
          </a:xfrm>
          <a:prstGeom prst="rect">
            <a:avLst/>
          </a:prstGeom>
        </p:spPr>
        <p:txBody>
          <a:bodyPr vert="horz" wrap="square" lIns="0" tIns="160020" rIns="0" bIns="0" rtlCol="0">
            <a:spAutoFit/>
          </a:bodyPr>
          <a:lstStyle/>
          <a:p>
            <a:pPr marL="215265" indent="-203200">
              <a:lnSpc>
                <a:spcPct val="100000"/>
              </a:lnSpc>
              <a:spcBef>
                <a:spcPts val="1260"/>
              </a:spcBef>
              <a:buClr>
                <a:srgbClr val="E38312"/>
              </a:buClr>
              <a:buSzPct val="95000"/>
              <a:buFont typeface="Wingdings"/>
              <a:buChar char=""/>
              <a:tabLst>
                <a:tab pos="215900" algn="l"/>
              </a:tabLst>
            </a:pPr>
            <a:r>
              <a:rPr sz="2000" i="1" spc="-5" dirty="0">
                <a:solidFill>
                  <a:srgbClr val="404040"/>
                </a:solidFill>
                <a:latin typeface="Calibri"/>
                <a:cs typeface="Calibri"/>
              </a:rPr>
              <a:t>This </a:t>
            </a:r>
            <a:r>
              <a:rPr sz="2000" spc="-10" dirty="0">
                <a:solidFill>
                  <a:srgbClr val="404040"/>
                </a:solidFill>
                <a:latin typeface="Calibri"/>
                <a:cs typeface="Calibri"/>
              </a:rPr>
              <a:t>stands</a:t>
            </a:r>
            <a:r>
              <a:rPr sz="2000" spc="15" dirty="0">
                <a:solidFill>
                  <a:srgbClr val="404040"/>
                </a:solidFill>
                <a:latin typeface="Calibri"/>
                <a:cs typeface="Calibri"/>
              </a:rPr>
              <a:t> </a:t>
            </a:r>
            <a:r>
              <a:rPr sz="2000" spc="-15" dirty="0">
                <a:solidFill>
                  <a:srgbClr val="404040"/>
                </a:solidFill>
                <a:latin typeface="Calibri"/>
                <a:cs typeface="Calibri"/>
              </a:rPr>
              <a:t>for</a:t>
            </a:r>
            <a:r>
              <a:rPr sz="2000" spc="-20" dirty="0">
                <a:solidFill>
                  <a:srgbClr val="404040"/>
                </a:solidFill>
                <a:latin typeface="Calibri"/>
                <a:cs typeface="Calibri"/>
              </a:rPr>
              <a:t> </a:t>
            </a:r>
            <a:r>
              <a:rPr lang="en-IN" sz="2000" dirty="0"/>
              <a:t>Erasable</a:t>
            </a:r>
            <a:r>
              <a:rPr sz="2000" spc="25" dirty="0" smtClean="0">
                <a:solidFill>
                  <a:srgbClr val="404040"/>
                </a:solidFill>
                <a:latin typeface="Calibri"/>
                <a:cs typeface="Calibri"/>
              </a:rPr>
              <a:t> </a:t>
            </a:r>
            <a:r>
              <a:rPr sz="2000" spc="-10" dirty="0">
                <a:solidFill>
                  <a:srgbClr val="404040"/>
                </a:solidFill>
                <a:latin typeface="Calibri"/>
                <a:cs typeface="Calibri"/>
              </a:rPr>
              <a:t>Programmable</a:t>
            </a:r>
            <a:r>
              <a:rPr sz="2000" spc="5" dirty="0">
                <a:solidFill>
                  <a:srgbClr val="404040"/>
                </a:solidFill>
                <a:latin typeface="Calibri"/>
                <a:cs typeface="Calibri"/>
              </a:rPr>
              <a:t> </a:t>
            </a:r>
            <a:r>
              <a:rPr sz="2000" spc="-10" dirty="0">
                <a:solidFill>
                  <a:srgbClr val="404040"/>
                </a:solidFill>
                <a:latin typeface="Calibri"/>
                <a:cs typeface="Calibri"/>
              </a:rPr>
              <a:t>ROM</a:t>
            </a:r>
            <a:r>
              <a:rPr sz="2000" dirty="0">
                <a:solidFill>
                  <a:srgbClr val="404040"/>
                </a:solidFill>
                <a:latin typeface="Calibri"/>
                <a:cs typeface="Calibri"/>
              </a:rPr>
              <a:t> (E-PROM)</a:t>
            </a:r>
            <a:endParaRPr sz="2000" dirty="0">
              <a:latin typeface="Calibri"/>
              <a:cs typeface="Calibri"/>
            </a:endParaRPr>
          </a:p>
          <a:p>
            <a:pPr marL="215265" indent="-203200">
              <a:lnSpc>
                <a:spcPct val="100000"/>
              </a:lnSpc>
              <a:spcBef>
                <a:spcPts val="1165"/>
              </a:spcBef>
              <a:buClr>
                <a:srgbClr val="E38312"/>
              </a:buClr>
              <a:buSzPct val="95000"/>
              <a:buFont typeface="Wingdings"/>
              <a:buChar char=""/>
              <a:tabLst>
                <a:tab pos="215900" algn="l"/>
              </a:tabLst>
            </a:pPr>
            <a:r>
              <a:rPr sz="2000" dirty="0">
                <a:solidFill>
                  <a:srgbClr val="404040"/>
                </a:solidFill>
                <a:latin typeface="Calibri"/>
                <a:cs typeface="Calibri"/>
              </a:rPr>
              <a:t>Which</a:t>
            </a:r>
            <a:r>
              <a:rPr sz="2000" spc="-15" dirty="0">
                <a:solidFill>
                  <a:srgbClr val="404040"/>
                </a:solidFill>
                <a:latin typeface="Calibri"/>
                <a:cs typeface="Calibri"/>
              </a:rPr>
              <a:t> data</a:t>
            </a:r>
            <a:r>
              <a:rPr sz="2000" spc="5" dirty="0">
                <a:solidFill>
                  <a:srgbClr val="404040"/>
                </a:solidFill>
                <a:latin typeface="Calibri"/>
                <a:cs typeface="Calibri"/>
              </a:rPr>
              <a:t> </a:t>
            </a:r>
            <a:r>
              <a:rPr sz="2000" dirty="0">
                <a:solidFill>
                  <a:srgbClr val="404040"/>
                </a:solidFill>
                <a:latin typeface="Calibri"/>
                <a:cs typeface="Calibri"/>
              </a:rPr>
              <a:t>can</a:t>
            </a:r>
            <a:r>
              <a:rPr sz="2000" spc="-5" dirty="0">
                <a:solidFill>
                  <a:srgbClr val="404040"/>
                </a:solidFill>
                <a:latin typeface="Calibri"/>
                <a:cs typeface="Calibri"/>
              </a:rPr>
              <a:t> be </a:t>
            </a:r>
            <a:r>
              <a:rPr sz="2000" dirty="0">
                <a:solidFill>
                  <a:srgbClr val="404040"/>
                </a:solidFill>
                <a:latin typeface="Calibri"/>
                <a:cs typeface="Calibri"/>
              </a:rPr>
              <a:t>burned</a:t>
            </a:r>
            <a:r>
              <a:rPr sz="2000" spc="-15" dirty="0">
                <a:solidFill>
                  <a:srgbClr val="404040"/>
                </a:solidFill>
                <a:latin typeface="Calibri"/>
                <a:cs typeface="Calibri"/>
              </a:rPr>
              <a:t> </a:t>
            </a:r>
            <a:r>
              <a:rPr sz="2000" spc="-5" dirty="0">
                <a:solidFill>
                  <a:srgbClr val="404040"/>
                </a:solidFill>
                <a:latin typeface="Calibri"/>
                <a:cs typeface="Calibri"/>
              </a:rPr>
              <a:t>or</a:t>
            </a:r>
            <a:r>
              <a:rPr sz="2000" spc="-10" dirty="0">
                <a:solidFill>
                  <a:srgbClr val="404040"/>
                </a:solidFill>
                <a:latin typeface="Calibri"/>
                <a:cs typeface="Calibri"/>
              </a:rPr>
              <a:t> </a:t>
            </a:r>
            <a:r>
              <a:rPr sz="2000" spc="-5" dirty="0">
                <a:solidFill>
                  <a:srgbClr val="404040"/>
                </a:solidFill>
                <a:latin typeface="Calibri"/>
                <a:cs typeface="Calibri"/>
              </a:rPr>
              <a:t>erased,</a:t>
            </a:r>
            <a:r>
              <a:rPr sz="2000" spc="5" dirty="0">
                <a:solidFill>
                  <a:srgbClr val="404040"/>
                </a:solidFill>
                <a:latin typeface="Calibri"/>
                <a:cs typeface="Calibri"/>
              </a:rPr>
              <a:t> </a:t>
            </a:r>
            <a:r>
              <a:rPr sz="2000" spc="-5" dirty="0">
                <a:solidFill>
                  <a:srgbClr val="404040"/>
                </a:solidFill>
                <a:latin typeface="Calibri"/>
                <a:cs typeface="Calibri"/>
              </a:rPr>
              <a:t>by using</a:t>
            </a:r>
            <a:r>
              <a:rPr sz="2000" spc="-10"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a:t>
            </a:r>
            <a:r>
              <a:rPr sz="2000" spc="-5" dirty="0">
                <a:solidFill>
                  <a:srgbClr val="404040"/>
                </a:solidFill>
                <a:latin typeface="Calibri"/>
                <a:cs typeface="Calibri"/>
              </a:rPr>
              <a:t>device</a:t>
            </a:r>
            <a:r>
              <a:rPr sz="2000" spc="5" dirty="0">
                <a:solidFill>
                  <a:srgbClr val="404040"/>
                </a:solidFill>
                <a:latin typeface="Calibri"/>
                <a:cs typeface="Calibri"/>
              </a:rPr>
              <a:t> </a:t>
            </a:r>
            <a:r>
              <a:rPr sz="2000" spc="-5" dirty="0">
                <a:solidFill>
                  <a:srgbClr val="404040"/>
                </a:solidFill>
                <a:latin typeface="Calibri"/>
                <a:cs typeface="Calibri"/>
              </a:rPr>
              <a:t>called</a:t>
            </a:r>
            <a:r>
              <a:rPr sz="2000" spc="5" dirty="0">
                <a:solidFill>
                  <a:srgbClr val="404040"/>
                </a:solidFill>
                <a:latin typeface="Calibri"/>
                <a:cs typeface="Calibri"/>
              </a:rPr>
              <a:t> </a:t>
            </a:r>
            <a:r>
              <a:rPr sz="2000" spc="-5" dirty="0">
                <a:solidFill>
                  <a:srgbClr val="404040"/>
                </a:solidFill>
                <a:latin typeface="Calibri"/>
                <a:cs typeface="Calibri"/>
              </a:rPr>
              <a:t>PROM</a:t>
            </a:r>
            <a:r>
              <a:rPr sz="2000" spc="10" dirty="0">
                <a:solidFill>
                  <a:srgbClr val="404040"/>
                </a:solidFill>
                <a:latin typeface="Calibri"/>
                <a:cs typeface="Calibri"/>
              </a:rPr>
              <a:t> </a:t>
            </a:r>
            <a:r>
              <a:rPr sz="2000" spc="-30" dirty="0">
                <a:solidFill>
                  <a:srgbClr val="404040"/>
                </a:solidFill>
                <a:latin typeface="Calibri"/>
                <a:cs typeface="Calibri"/>
              </a:rPr>
              <a:t>programmer.</a:t>
            </a:r>
            <a:endParaRPr sz="2000" dirty="0">
              <a:latin typeface="Calibri"/>
              <a:cs typeface="Calibri"/>
            </a:endParaRPr>
          </a:p>
          <a:p>
            <a:pPr marL="215265" indent="-203200">
              <a:lnSpc>
                <a:spcPct val="100000"/>
              </a:lnSpc>
              <a:spcBef>
                <a:spcPts val="1155"/>
              </a:spcBef>
              <a:buClr>
                <a:srgbClr val="E38312"/>
              </a:buClr>
              <a:buSzPct val="95000"/>
              <a:buFont typeface="Wingdings"/>
              <a:buChar char=""/>
              <a:tabLst>
                <a:tab pos="215900" algn="l"/>
              </a:tabLst>
            </a:pPr>
            <a:r>
              <a:rPr sz="2000" spc="-95" dirty="0">
                <a:solidFill>
                  <a:srgbClr val="404040"/>
                </a:solidFill>
                <a:latin typeface="Calibri"/>
                <a:cs typeface="Calibri"/>
              </a:rPr>
              <a:t>To</a:t>
            </a:r>
            <a:r>
              <a:rPr sz="2000" spc="-10" dirty="0">
                <a:solidFill>
                  <a:srgbClr val="404040"/>
                </a:solidFill>
                <a:latin typeface="Calibri"/>
                <a:cs typeface="Calibri"/>
              </a:rPr>
              <a:t> erase</a:t>
            </a:r>
            <a:r>
              <a:rPr sz="2000" spc="5" dirty="0">
                <a:solidFill>
                  <a:srgbClr val="404040"/>
                </a:solidFill>
                <a:latin typeface="Calibri"/>
                <a:cs typeface="Calibri"/>
              </a:rPr>
              <a:t> </a:t>
            </a:r>
            <a:r>
              <a:rPr sz="2000" dirty="0">
                <a:solidFill>
                  <a:srgbClr val="404040"/>
                </a:solidFill>
                <a:latin typeface="Calibri"/>
                <a:cs typeface="Calibri"/>
              </a:rPr>
              <a:t>the </a:t>
            </a:r>
            <a:r>
              <a:rPr sz="2000" spc="-10" dirty="0">
                <a:solidFill>
                  <a:srgbClr val="404040"/>
                </a:solidFill>
                <a:latin typeface="Calibri"/>
                <a:cs typeface="Calibri"/>
              </a:rPr>
              <a:t>contents,</a:t>
            </a:r>
            <a:r>
              <a:rPr sz="2000" dirty="0">
                <a:solidFill>
                  <a:srgbClr val="404040"/>
                </a:solidFill>
                <a:latin typeface="Calibri"/>
                <a:cs typeface="Calibri"/>
              </a:rPr>
              <a:t> it is</a:t>
            </a:r>
            <a:r>
              <a:rPr sz="2000" spc="5" dirty="0">
                <a:solidFill>
                  <a:srgbClr val="404040"/>
                </a:solidFill>
                <a:latin typeface="Calibri"/>
                <a:cs typeface="Calibri"/>
              </a:rPr>
              <a:t> </a:t>
            </a:r>
            <a:r>
              <a:rPr sz="2000" spc="-10" dirty="0">
                <a:solidFill>
                  <a:srgbClr val="404040"/>
                </a:solidFill>
                <a:latin typeface="Calibri"/>
                <a:cs typeface="Calibri"/>
              </a:rPr>
              <a:t>exposed </a:t>
            </a:r>
            <a:r>
              <a:rPr sz="2000" spc="-15" dirty="0">
                <a:solidFill>
                  <a:srgbClr val="404040"/>
                </a:solidFill>
                <a:latin typeface="Calibri"/>
                <a:cs typeface="Calibri"/>
              </a:rPr>
              <a:t>to</a:t>
            </a:r>
            <a:r>
              <a:rPr sz="2000" dirty="0">
                <a:solidFill>
                  <a:srgbClr val="404040"/>
                </a:solidFill>
                <a:latin typeface="Calibri"/>
                <a:cs typeface="Calibri"/>
              </a:rPr>
              <a:t> </a:t>
            </a:r>
            <a:r>
              <a:rPr sz="2000" spc="-10" dirty="0">
                <a:solidFill>
                  <a:srgbClr val="404040"/>
                </a:solidFill>
                <a:latin typeface="Calibri"/>
                <a:cs typeface="Calibri"/>
              </a:rPr>
              <a:t>ultraviolet</a:t>
            </a:r>
            <a:r>
              <a:rPr sz="2000" spc="10" dirty="0">
                <a:solidFill>
                  <a:srgbClr val="404040"/>
                </a:solidFill>
                <a:latin typeface="Calibri"/>
                <a:cs typeface="Calibri"/>
              </a:rPr>
              <a:t> </a:t>
            </a:r>
            <a:r>
              <a:rPr sz="2000" spc="-5" dirty="0">
                <a:solidFill>
                  <a:srgbClr val="404040"/>
                </a:solidFill>
                <a:latin typeface="Calibri"/>
                <a:cs typeface="Calibri"/>
              </a:rPr>
              <a:t>light.</a:t>
            </a:r>
            <a:endParaRPr sz="2000" dirty="0">
              <a:latin typeface="Calibri"/>
              <a:cs typeface="Calibri"/>
            </a:endParaRPr>
          </a:p>
          <a:p>
            <a:pPr marL="270510" indent="-257810">
              <a:lnSpc>
                <a:spcPct val="100000"/>
              </a:lnSpc>
              <a:spcBef>
                <a:spcPts val="1165"/>
              </a:spcBef>
              <a:buClr>
                <a:srgbClr val="E38312"/>
              </a:buClr>
              <a:buSzPct val="95000"/>
              <a:buFont typeface="Wingdings"/>
              <a:buChar char=""/>
              <a:tabLst>
                <a:tab pos="270510" algn="l"/>
              </a:tabLst>
            </a:pPr>
            <a:r>
              <a:rPr sz="2000" dirty="0">
                <a:solidFill>
                  <a:srgbClr val="404040"/>
                </a:solidFill>
                <a:latin typeface="Calibri"/>
                <a:cs typeface="Calibri"/>
              </a:rPr>
              <a:t>All</a:t>
            </a:r>
            <a:r>
              <a:rPr sz="2000" spc="5" dirty="0">
                <a:solidFill>
                  <a:srgbClr val="404040"/>
                </a:solidFill>
                <a:latin typeface="Calibri"/>
                <a:cs typeface="Calibri"/>
              </a:rPr>
              <a:t> </a:t>
            </a:r>
            <a:r>
              <a:rPr sz="2000" dirty="0">
                <a:solidFill>
                  <a:srgbClr val="404040"/>
                </a:solidFill>
                <a:latin typeface="Calibri"/>
                <a:cs typeface="Calibri"/>
              </a:rPr>
              <a:t>this </a:t>
            </a:r>
            <a:r>
              <a:rPr sz="2000" spc="-5" dirty="0">
                <a:solidFill>
                  <a:srgbClr val="404040"/>
                </a:solidFill>
                <a:latin typeface="Calibri"/>
                <a:cs typeface="Calibri"/>
              </a:rPr>
              <a:t>needs </a:t>
            </a:r>
            <a:r>
              <a:rPr sz="2000" dirty="0">
                <a:solidFill>
                  <a:srgbClr val="404040"/>
                </a:solidFill>
                <a:latin typeface="Calibri"/>
                <a:cs typeface="Calibri"/>
              </a:rPr>
              <a:t>the chip</a:t>
            </a:r>
            <a:r>
              <a:rPr sz="2000" spc="-10" dirty="0">
                <a:solidFill>
                  <a:srgbClr val="404040"/>
                </a:solidFill>
                <a:latin typeface="Calibri"/>
                <a:cs typeface="Calibri"/>
              </a:rPr>
              <a:t> </a:t>
            </a:r>
            <a:r>
              <a:rPr sz="2000" spc="-15" dirty="0">
                <a:solidFill>
                  <a:srgbClr val="404040"/>
                </a:solidFill>
                <a:latin typeface="Calibri"/>
                <a:cs typeface="Calibri"/>
              </a:rPr>
              <a:t>to</a:t>
            </a:r>
            <a:r>
              <a:rPr sz="2000" spc="-10" dirty="0">
                <a:solidFill>
                  <a:srgbClr val="404040"/>
                </a:solidFill>
                <a:latin typeface="Calibri"/>
                <a:cs typeface="Calibri"/>
              </a:rPr>
              <a:t> </a:t>
            </a:r>
            <a:r>
              <a:rPr sz="2000" spc="-5" dirty="0">
                <a:solidFill>
                  <a:srgbClr val="404040"/>
                </a:solidFill>
                <a:latin typeface="Calibri"/>
                <a:cs typeface="Calibri"/>
              </a:rPr>
              <a:t>be</a:t>
            </a:r>
            <a:r>
              <a:rPr sz="2000" dirty="0">
                <a:solidFill>
                  <a:srgbClr val="404040"/>
                </a:solidFill>
                <a:latin typeface="Calibri"/>
                <a:cs typeface="Calibri"/>
              </a:rPr>
              <a:t> </a:t>
            </a:r>
            <a:r>
              <a:rPr sz="2000" spc="-10" dirty="0">
                <a:solidFill>
                  <a:srgbClr val="404040"/>
                </a:solidFill>
                <a:latin typeface="Calibri"/>
                <a:cs typeface="Calibri"/>
              </a:rPr>
              <a:t>removed</a:t>
            </a:r>
            <a:r>
              <a:rPr sz="2000" dirty="0">
                <a:solidFill>
                  <a:srgbClr val="404040"/>
                </a:solidFill>
                <a:latin typeface="Calibri"/>
                <a:cs typeface="Calibri"/>
              </a:rPr>
              <a:t> </a:t>
            </a:r>
            <a:r>
              <a:rPr sz="2000" spc="-10" dirty="0">
                <a:solidFill>
                  <a:srgbClr val="404040"/>
                </a:solidFill>
                <a:latin typeface="Calibri"/>
                <a:cs typeface="Calibri"/>
              </a:rPr>
              <a:t>from</a:t>
            </a:r>
            <a:r>
              <a:rPr sz="2000" spc="-5" dirty="0">
                <a:solidFill>
                  <a:srgbClr val="404040"/>
                </a:solidFill>
                <a:latin typeface="Calibri"/>
                <a:cs typeface="Calibri"/>
              </a:rPr>
              <a:t> its</a:t>
            </a:r>
            <a:r>
              <a:rPr sz="2000" spc="10" dirty="0">
                <a:solidFill>
                  <a:srgbClr val="404040"/>
                </a:solidFill>
                <a:latin typeface="Calibri"/>
                <a:cs typeface="Calibri"/>
              </a:rPr>
              <a:t> </a:t>
            </a:r>
            <a:r>
              <a:rPr sz="2000" spc="-5" dirty="0">
                <a:solidFill>
                  <a:srgbClr val="404040"/>
                </a:solidFill>
                <a:latin typeface="Calibri"/>
                <a:cs typeface="Calibri"/>
              </a:rPr>
              <a:t>circuit</a:t>
            </a:r>
            <a:r>
              <a:rPr sz="2000" spc="-5" dirty="0" smtClean="0">
                <a:solidFill>
                  <a:srgbClr val="404040"/>
                </a:solidFill>
                <a:latin typeface="Calibri"/>
                <a:cs typeface="Calibri"/>
              </a:rPr>
              <a:t>.</a:t>
            </a:r>
            <a:endParaRPr lang="en-US" sz="2000" spc="-5" dirty="0" smtClean="0">
              <a:solidFill>
                <a:srgbClr val="404040"/>
              </a:solidFill>
              <a:latin typeface="Calibri"/>
              <a:cs typeface="Calibri"/>
            </a:endParaRPr>
          </a:p>
          <a:p>
            <a:pPr marL="270510" indent="-257810">
              <a:spcBef>
                <a:spcPts val="1165"/>
              </a:spcBef>
              <a:buClr>
                <a:srgbClr val="E38312"/>
              </a:buClr>
              <a:buSzPct val="95000"/>
              <a:buFont typeface="Wingdings"/>
              <a:buChar char=""/>
              <a:tabLst>
                <a:tab pos="270510" algn="l"/>
              </a:tabLst>
            </a:pPr>
            <a:r>
              <a:rPr lang="en-US" sz="2000" spc="-5" dirty="0">
                <a:solidFill>
                  <a:srgbClr val="404040"/>
                </a:solidFill>
                <a:cs typeface="Calibri"/>
              </a:rPr>
              <a:t>For UV light exposure, there is a window on the chip.</a:t>
            </a:r>
            <a:endParaRPr lang="en-US" sz="2000" dirty="0">
              <a:cs typeface="Calibri"/>
            </a:endParaRPr>
          </a:p>
          <a:p>
            <a:pPr marL="270510" indent="-257810">
              <a:lnSpc>
                <a:spcPct val="100000"/>
              </a:lnSpc>
              <a:spcBef>
                <a:spcPts val="1165"/>
              </a:spcBef>
              <a:buClr>
                <a:srgbClr val="E38312"/>
              </a:buClr>
              <a:buSzPct val="95000"/>
              <a:buFont typeface="Wingdings"/>
              <a:buChar char=""/>
              <a:tabLst>
                <a:tab pos="270510" algn="l"/>
              </a:tabLst>
            </a:pP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22</a:t>
            </a:r>
            <a:endParaRPr sz="1050">
              <a:latin typeface="Calibri"/>
              <a:cs typeface="Calibri"/>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969390"/>
            <a:ext cx="4411345" cy="756920"/>
          </a:xfrm>
          <a:prstGeom prst="rect">
            <a:avLst/>
          </a:prstGeom>
        </p:spPr>
        <p:txBody>
          <a:bodyPr vert="horz" wrap="square" lIns="0" tIns="12700" rIns="0" bIns="0" rtlCol="0">
            <a:spAutoFit/>
          </a:bodyPr>
          <a:lstStyle/>
          <a:p>
            <a:pPr marL="12700">
              <a:lnSpc>
                <a:spcPct val="100000"/>
              </a:lnSpc>
              <a:spcBef>
                <a:spcPts val="100"/>
              </a:spcBef>
            </a:pPr>
            <a:r>
              <a:rPr sz="4800" b="0" i="1" spc="-100" dirty="0" smtClean="0">
                <a:solidFill>
                  <a:srgbClr val="404040"/>
                </a:solidFill>
                <a:latin typeface="Calibri Light"/>
                <a:cs typeface="Calibri Light"/>
              </a:rPr>
              <a:t> </a:t>
            </a:r>
            <a:r>
              <a:rPr sz="4800" b="0" i="1" spc="-100" dirty="0">
                <a:solidFill>
                  <a:srgbClr val="404040"/>
                </a:solidFill>
                <a:latin typeface="Calibri Light"/>
                <a:cs typeface="Calibri Light"/>
              </a:rPr>
              <a:t>OTP</a:t>
            </a:r>
            <a:r>
              <a:rPr sz="4800" b="0" i="1" spc="-95" dirty="0">
                <a:solidFill>
                  <a:srgbClr val="404040"/>
                </a:solidFill>
                <a:latin typeface="Calibri Light"/>
                <a:cs typeface="Calibri Light"/>
              </a:rPr>
              <a:t> </a:t>
            </a:r>
            <a:r>
              <a:rPr sz="4800" b="0" i="1" spc="-50" dirty="0">
                <a:solidFill>
                  <a:srgbClr val="404040"/>
                </a:solidFill>
                <a:latin typeface="Calibri Light"/>
                <a:cs typeface="Calibri Light"/>
              </a:rPr>
              <a:t>ROM</a:t>
            </a:r>
            <a:endParaRPr sz="4800" dirty="0">
              <a:latin typeface="Calibri Light"/>
              <a:cs typeface="Calibri Light"/>
            </a:endParaRPr>
          </a:p>
        </p:txBody>
      </p:sp>
      <p:sp>
        <p:nvSpPr>
          <p:cNvPr id="7" name="object 7"/>
          <p:cNvSpPr txBox="1"/>
          <p:nvPr/>
        </p:nvSpPr>
        <p:spPr>
          <a:xfrm>
            <a:off x="1176324" y="1831975"/>
            <a:ext cx="9319260" cy="2112758"/>
          </a:xfrm>
          <a:prstGeom prst="rect">
            <a:avLst/>
          </a:prstGeom>
        </p:spPr>
        <p:txBody>
          <a:bodyPr vert="horz" wrap="square" lIns="0" tIns="47625" rIns="0" bIns="0" rtlCol="0">
            <a:spAutoFit/>
          </a:bodyPr>
          <a:lstStyle/>
          <a:p>
            <a:pPr marL="355600" marR="5080" indent="-342900">
              <a:lnSpc>
                <a:spcPts val="2160"/>
              </a:lnSpc>
              <a:spcBef>
                <a:spcPts val="375"/>
              </a:spcBef>
              <a:buFont typeface="Wingdings" panose="05000000000000000000" pitchFamily="2" charset="2"/>
              <a:buChar char="Ø"/>
            </a:pPr>
            <a:r>
              <a:rPr sz="2000" dirty="0">
                <a:solidFill>
                  <a:srgbClr val="404040"/>
                </a:solidFill>
                <a:latin typeface="Calibri"/>
                <a:cs typeface="Calibri"/>
              </a:rPr>
              <a:t>If</a:t>
            </a:r>
            <a:r>
              <a:rPr sz="2000" spc="-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same</a:t>
            </a:r>
            <a:r>
              <a:rPr sz="2000" spc="10" dirty="0">
                <a:solidFill>
                  <a:srgbClr val="404040"/>
                </a:solidFill>
                <a:latin typeface="Calibri"/>
                <a:cs typeface="Calibri"/>
              </a:rPr>
              <a:t> </a:t>
            </a:r>
            <a:r>
              <a:rPr sz="2000" spc="-10" dirty="0">
                <a:solidFill>
                  <a:srgbClr val="404040"/>
                </a:solidFill>
                <a:latin typeface="Calibri"/>
                <a:cs typeface="Calibri"/>
              </a:rPr>
              <a:t>information</a:t>
            </a:r>
            <a:r>
              <a:rPr sz="2000" spc="5"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spc="-15" dirty="0">
                <a:solidFill>
                  <a:srgbClr val="404040"/>
                </a:solidFill>
                <a:latin typeface="Calibri"/>
                <a:cs typeface="Calibri"/>
              </a:rPr>
              <a:t>to</a:t>
            </a:r>
            <a:r>
              <a:rPr sz="2000" dirty="0">
                <a:solidFill>
                  <a:srgbClr val="404040"/>
                </a:solidFill>
                <a:latin typeface="Calibri"/>
                <a:cs typeface="Calibri"/>
              </a:rPr>
              <a:t> be</a:t>
            </a:r>
            <a:r>
              <a:rPr sz="2000" spc="-5" dirty="0">
                <a:solidFill>
                  <a:srgbClr val="404040"/>
                </a:solidFill>
                <a:latin typeface="Calibri"/>
                <a:cs typeface="Calibri"/>
              </a:rPr>
              <a:t> </a:t>
            </a:r>
            <a:r>
              <a:rPr sz="2000" dirty="0">
                <a:solidFill>
                  <a:srgbClr val="404040"/>
                </a:solidFill>
                <a:latin typeface="Calibri"/>
                <a:cs typeface="Calibri"/>
              </a:rPr>
              <a:t>burned</a:t>
            </a:r>
            <a:r>
              <a:rPr sz="2000" spc="-15" dirty="0">
                <a:solidFill>
                  <a:srgbClr val="404040"/>
                </a:solidFill>
                <a:latin typeface="Calibri"/>
                <a:cs typeface="Calibri"/>
              </a:rPr>
              <a:t> into</a:t>
            </a:r>
            <a:r>
              <a:rPr sz="2000" dirty="0">
                <a:solidFill>
                  <a:srgbClr val="404040"/>
                </a:solidFill>
                <a:latin typeface="Calibri"/>
                <a:cs typeface="Calibri"/>
              </a:rPr>
              <a:t> </a:t>
            </a:r>
            <a:r>
              <a:rPr sz="2000" spc="-10" dirty="0">
                <a:solidFill>
                  <a:srgbClr val="404040"/>
                </a:solidFill>
                <a:latin typeface="Calibri"/>
                <a:cs typeface="Calibri"/>
              </a:rPr>
              <a:t>many</a:t>
            </a:r>
            <a:r>
              <a:rPr sz="2000" spc="5" dirty="0">
                <a:solidFill>
                  <a:srgbClr val="404040"/>
                </a:solidFill>
                <a:latin typeface="Calibri"/>
                <a:cs typeface="Calibri"/>
              </a:rPr>
              <a:t> </a:t>
            </a:r>
            <a:r>
              <a:rPr sz="2000" spc="-10" dirty="0">
                <a:solidFill>
                  <a:srgbClr val="404040"/>
                </a:solidFill>
                <a:latin typeface="Calibri"/>
                <a:cs typeface="Calibri"/>
              </a:rPr>
              <a:t>ROM</a:t>
            </a:r>
            <a:r>
              <a:rPr sz="2000" spc="5" dirty="0">
                <a:solidFill>
                  <a:srgbClr val="404040"/>
                </a:solidFill>
                <a:latin typeface="Calibri"/>
                <a:cs typeface="Calibri"/>
              </a:rPr>
              <a:t> </a:t>
            </a:r>
            <a:r>
              <a:rPr sz="2000" spc="-5" dirty="0">
                <a:solidFill>
                  <a:srgbClr val="404040"/>
                </a:solidFill>
                <a:latin typeface="Calibri"/>
                <a:cs typeface="Calibri"/>
              </a:rPr>
              <a:t>chips</a:t>
            </a:r>
            <a:r>
              <a:rPr sz="2000" spc="-10" dirty="0">
                <a:solidFill>
                  <a:srgbClr val="404040"/>
                </a:solidFill>
                <a:latin typeface="Calibri"/>
                <a:cs typeface="Calibri"/>
              </a:rPr>
              <a:t> </a:t>
            </a:r>
            <a:r>
              <a:rPr sz="2000" dirty="0">
                <a:solidFill>
                  <a:srgbClr val="404040"/>
                </a:solidFill>
                <a:latin typeface="Calibri"/>
                <a:cs typeface="Calibri"/>
              </a:rPr>
              <a:t>and these</a:t>
            </a:r>
            <a:r>
              <a:rPr sz="2000" spc="5" dirty="0">
                <a:solidFill>
                  <a:srgbClr val="404040"/>
                </a:solidFill>
                <a:latin typeface="Calibri"/>
                <a:cs typeface="Calibri"/>
              </a:rPr>
              <a:t> </a:t>
            </a:r>
            <a:r>
              <a:rPr sz="2000" spc="-5" dirty="0">
                <a:solidFill>
                  <a:srgbClr val="404040"/>
                </a:solidFill>
                <a:latin typeface="Calibri"/>
                <a:cs typeface="Calibri"/>
              </a:rPr>
              <a:t>chips</a:t>
            </a:r>
            <a:r>
              <a:rPr sz="2000" spc="5"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5" dirty="0">
                <a:solidFill>
                  <a:srgbClr val="404040"/>
                </a:solidFill>
                <a:latin typeface="Calibri"/>
                <a:cs typeface="Calibri"/>
              </a:rPr>
              <a:t>part</a:t>
            </a:r>
            <a:r>
              <a:rPr sz="2000" dirty="0">
                <a:solidFill>
                  <a:srgbClr val="404040"/>
                </a:solidFill>
                <a:latin typeface="Calibri"/>
                <a:cs typeface="Calibri"/>
              </a:rPr>
              <a:t> </a:t>
            </a:r>
            <a:r>
              <a:rPr sz="2000" spc="-5" dirty="0">
                <a:solidFill>
                  <a:srgbClr val="404040"/>
                </a:solidFill>
                <a:latin typeface="Calibri"/>
                <a:cs typeface="Calibri"/>
              </a:rPr>
              <a:t>of</a:t>
            </a:r>
            <a:r>
              <a:rPr sz="2000" dirty="0">
                <a:solidFill>
                  <a:srgbClr val="404040"/>
                </a:solidFill>
                <a:latin typeface="Calibri"/>
                <a:cs typeface="Calibri"/>
              </a:rPr>
              <a:t> a </a:t>
            </a:r>
            <a:r>
              <a:rPr sz="2000" spc="-434" dirty="0">
                <a:solidFill>
                  <a:srgbClr val="404040"/>
                </a:solidFill>
                <a:latin typeface="Calibri"/>
                <a:cs typeface="Calibri"/>
              </a:rPr>
              <a:t> </a:t>
            </a:r>
            <a:r>
              <a:rPr sz="2000" spc="-5" dirty="0">
                <a:solidFill>
                  <a:srgbClr val="404040"/>
                </a:solidFill>
                <a:latin typeface="Calibri"/>
                <a:cs typeface="Calibri"/>
              </a:rPr>
              <a:t>consumer</a:t>
            </a:r>
            <a:r>
              <a:rPr sz="2000" spc="-15" dirty="0">
                <a:solidFill>
                  <a:srgbClr val="404040"/>
                </a:solidFill>
                <a:latin typeface="Calibri"/>
                <a:cs typeface="Calibri"/>
              </a:rPr>
              <a:t> </a:t>
            </a:r>
            <a:r>
              <a:rPr sz="2000" spc="-5" dirty="0">
                <a:solidFill>
                  <a:srgbClr val="404040"/>
                </a:solidFill>
                <a:latin typeface="Calibri"/>
                <a:cs typeface="Calibri"/>
              </a:rPr>
              <a:t>product,</a:t>
            </a:r>
            <a:r>
              <a:rPr sz="2000" spc="-15" dirty="0">
                <a:solidFill>
                  <a:srgbClr val="404040"/>
                </a:solidFill>
                <a:latin typeface="Calibri"/>
                <a:cs typeface="Calibri"/>
              </a:rPr>
              <a:t> </a:t>
            </a:r>
            <a:r>
              <a:rPr sz="2000" dirty="0">
                <a:solidFill>
                  <a:srgbClr val="404040"/>
                </a:solidFill>
                <a:latin typeface="Calibri"/>
                <a:cs typeface="Calibri"/>
              </a:rPr>
              <a:t>the need</a:t>
            </a:r>
            <a:r>
              <a:rPr sz="2000" spc="-10" dirty="0">
                <a:solidFill>
                  <a:srgbClr val="404040"/>
                </a:solidFill>
                <a:latin typeface="Calibri"/>
                <a:cs typeface="Calibri"/>
              </a:rPr>
              <a:t> </a:t>
            </a:r>
            <a:r>
              <a:rPr sz="2000" spc="-15" dirty="0">
                <a:solidFill>
                  <a:srgbClr val="404040"/>
                </a:solidFill>
                <a:latin typeface="Calibri"/>
                <a:cs typeface="Calibri"/>
              </a:rPr>
              <a:t>for </a:t>
            </a:r>
            <a:r>
              <a:rPr sz="2000" spc="-10" dirty="0">
                <a:solidFill>
                  <a:srgbClr val="404040"/>
                </a:solidFill>
                <a:latin typeface="Calibri"/>
                <a:cs typeface="Calibri"/>
              </a:rPr>
              <a:t>'re-programming'</a:t>
            </a:r>
            <a:r>
              <a:rPr sz="2000" spc="-30"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spc="-10" dirty="0">
                <a:solidFill>
                  <a:srgbClr val="404040"/>
                </a:solidFill>
                <a:latin typeface="Calibri"/>
                <a:cs typeface="Calibri"/>
              </a:rPr>
              <a:t>absent.</a:t>
            </a:r>
            <a:endParaRPr sz="2000" dirty="0">
              <a:latin typeface="Calibri"/>
              <a:cs typeface="Calibri"/>
            </a:endParaRPr>
          </a:p>
          <a:p>
            <a:pPr marL="355600" indent="-342900">
              <a:lnSpc>
                <a:spcPct val="100000"/>
              </a:lnSpc>
              <a:spcBef>
                <a:spcPts val="1130"/>
              </a:spcBef>
              <a:buFont typeface="Wingdings" panose="05000000000000000000" pitchFamily="2" charset="2"/>
              <a:buChar char="Ø"/>
            </a:pPr>
            <a:r>
              <a:rPr sz="2000" dirty="0">
                <a:solidFill>
                  <a:srgbClr val="404040"/>
                </a:solidFill>
                <a:latin typeface="Calibri"/>
                <a:cs typeface="Calibri"/>
              </a:rPr>
              <a:t>In</a:t>
            </a:r>
            <a:r>
              <a:rPr sz="2000" spc="-10" dirty="0">
                <a:solidFill>
                  <a:srgbClr val="404040"/>
                </a:solidFill>
                <a:latin typeface="Calibri"/>
                <a:cs typeface="Calibri"/>
              </a:rPr>
              <a:t> </a:t>
            </a:r>
            <a:r>
              <a:rPr sz="2000" spc="-5" dirty="0">
                <a:solidFill>
                  <a:srgbClr val="404040"/>
                </a:solidFill>
                <a:latin typeface="Calibri"/>
                <a:cs typeface="Calibri"/>
              </a:rPr>
              <a:t>such</a:t>
            </a:r>
            <a:r>
              <a:rPr sz="2000" spc="5" dirty="0">
                <a:solidFill>
                  <a:srgbClr val="404040"/>
                </a:solidFill>
                <a:latin typeface="Calibri"/>
                <a:cs typeface="Calibri"/>
              </a:rPr>
              <a:t> </a:t>
            </a:r>
            <a:r>
              <a:rPr sz="2000" dirty="0">
                <a:solidFill>
                  <a:srgbClr val="404040"/>
                </a:solidFill>
                <a:latin typeface="Calibri"/>
                <a:cs typeface="Calibri"/>
              </a:rPr>
              <a:t>a</a:t>
            </a:r>
            <a:r>
              <a:rPr sz="2000" spc="-15" dirty="0">
                <a:solidFill>
                  <a:srgbClr val="404040"/>
                </a:solidFill>
                <a:latin typeface="Calibri"/>
                <a:cs typeface="Calibri"/>
              </a:rPr>
              <a:t> </a:t>
            </a:r>
            <a:r>
              <a:rPr sz="2000" spc="-5" dirty="0">
                <a:solidFill>
                  <a:srgbClr val="404040"/>
                </a:solidFill>
                <a:latin typeface="Calibri"/>
                <a:cs typeface="Calibri"/>
              </a:rPr>
              <a:t>case,</a:t>
            </a:r>
            <a:r>
              <a:rPr sz="2000" spc="5" dirty="0">
                <a:solidFill>
                  <a:srgbClr val="404040"/>
                </a:solidFill>
                <a:latin typeface="Calibri"/>
                <a:cs typeface="Calibri"/>
              </a:rPr>
              <a:t> </a:t>
            </a:r>
            <a:r>
              <a:rPr sz="2000" dirty="0">
                <a:solidFill>
                  <a:srgbClr val="404040"/>
                </a:solidFill>
                <a:latin typeface="Calibri"/>
                <a:cs typeface="Calibri"/>
              </a:rPr>
              <a:t>a</a:t>
            </a:r>
            <a:r>
              <a:rPr sz="2000" spc="10" dirty="0">
                <a:solidFill>
                  <a:srgbClr val="404040"/>
                </a:solidFill>
                <a:latin typeface="Calibri"/>
                <a:cs typeface="Calibri"/>
              </a:rPr>
              <a:t> </a:t>
            </a:r>
            <a:r>
              <a:rPr sz="2000" spc="-10" dirty="0">
                <a:solidFill>
                  <a:srgbClr val="404040"/>
                </a:solidFill>
                <a:latin typeface="Calibri"/>
                <a:cs typeface="Calibri"/>
              </a:rPr>
              <a:t>set</a:t>
            </a:r>
            <a:r>
              <a:rPr sz="2000" spc="15" dirty="0">
                <a:solidFill>
                  <a:srgbClr val="404040"/>
                </a:solidFill>
                <a:latin typeface="Calibri"/>
                <a:cs typeface="Calibri"/>
              </a:rPr>
              <a:t> </a:t>
            </a:r>
            <a:r>
              <a:rPr sz="2000" dirty="0">
                <a:solidFill>
                  <a:srgbClr val="404040"/>
                </a:solidFill>
                <a:latin typeface="Calibri"/>
                <a:cs typeface="Calibri"/>
              </a:rPr>
              <a:t>of</a:t>
            </a:r>
            <a:r>
              <a:rPr sz="2000" spc="-15" dirty="0">
                <a:solidFill>
                  <a:srgbClr val="404040"/>
                </a:solidFill>
                <a:latin typeface="Calibri"/>
                <a:cs typeface="Calibri"/>
              </a:rPr>
              <a:t> </a:t>
            </a:r>
            <a:r>
              <a:rPr sz="2000" spc="-5" dirty="0">
                <a:solidFill>
                  <a:srgbClr val="404040"/>
                </a:solidFill>
                <a:latin typeface="Calibri"/>
                <a:cs typeface="Calibri"/>
              </a:rPr>
              <a:t>ROMs </a:t>
            </a:r>
            <a:r>
              <a:rPr sz="2000" spc="-10" dirty="0">
                <a:solidFill>
                  <a:srgbClr val="404040"/>
                </a:solidFill>
                <a:latin typeface="Calibri"/>
                <a:cs typeface="Calibri"/>
              </a:rPr>
              <a:t>are</a:t>
            </a:r>
            <a:r>
              <a:rPr sz="2000" spc="5" dirty="0">
                <a:solidFill>
                  <a:srgbClr val="404040"/>
                </a:solidFill>
                <a:latin typeface="Calibri"/>
                <a:cs typeface="Calibri"/>
              </a:rPr>
              <a:t> </a:t>
            </a:r>
            <a:r>
              <a:rPr sz="2000" spc="-20" dirty="0">
                <a:solidFill>
                  <a:srgbClr val="404040"/>
                </a:solidFill>
                <a:latin typeface="Calibri"/>
                <a:cs typeface="Calibri"/>
              </a:rPr>
              <a:t>taken</a:t>
            </a:r>
            <a:r>
              <a:rPr sz="2000" dirty="0">
                <a:solidFill>
                  <a:srgbClr val="404040"/>
                </a:solidFill>
                <a:latin typeface="Calibri"/>
                <a:cs typeface="Calibri"/>
              </a:rPr>
              <a:t> </a:t>
            </a:r>
            <a:r>
              <a:rPr sz="2000" spc="-10" dirty="0">
                <a:solidFill>
                  <a:srgbClr val="404040"/>
                </a:solidFill>
                <a:latin typeface="Calibri"/>
                <a:cs typeface="Calibri"/>
              </a:rPr>
              <a:t>to </a:t>
            </a:r>
            <a:r>
              <a:rPr sz="2000" dirty="0">
                <a:solidFill>
                  <a:srgbClr val="404040"/>
                </a:solidFill>
                <a:latin typeface="Calibri"/>
                <a:cs typeface="Calibri"/>
              </a:rPr>
              <a:t>a</a:t>
            </a:r>
            <a:r>
              <a:rPr sz="2000" spc="5" dirty="0">
                <a:solidFill>
                  <a:srgbClr val="404040"/>
                </a:solidFill>
                <a:latin typeface="Calibri"/>
                <a:cs typeface="Calibri"/>
              </a:rPr>
              <a:t> </a:t>
            </a:r>
            <a:r>
              <a:rPr sz="2000" spc="-10" dirty="0">
                <a:solidFill>
                  <a:srgbClr val="404040"/>
                </a:solidFill>
                <a:latin typeface="Calibri"/>
                <a:cs typeface="Calibri"/>
              </a:rPr>
              <a:t>factory</a:t>
            </a:r>
            <a:r>
              <a:rPr sz="2000" spc="-5" dirty="0">
                <a:solidFill>
                  <a:srgbClr val="404040"/>
                </a:solidFill>
                <a:latin typeface="Calibri"/>
                <a:cs typeface="Calibri"/>
              </a:rPr>
              <a:t> </a:t>
            </a:r>
            <a:r>
              <a:rPr sz="2000" dirty="0">
                <a:solidFill>
                  <a:srgbClr val="404040"/>
                </a:solidFill>
                <a:latin typeface="Calibri"/>
                <a:cs typeface="Calibri"/>
              </a:rPr>
              <a:t>and</a:t>
            </a:r>
            <a:r>
              <a:rPr sz="2000" spc="-15" dirty="0">
                <a:solidFill>
                  <a:srgbClr val="404040"/>
                </a:solidFill>
                <a:latin typeface="Calibri"/>
                <a:cs typeface="Calibri"/>
              </a:rPr>
              <a:t> </a:t>
            </a:r>
            <a:r>
              <a:rPr sz="2000" spc="-10" dirty="0">
                <a:solidFill>
                  <a:srgbClr val="404040"/>
                </a:solidFill>
                <a:latin typeface="Calibri"/>
                <a:cs typeface="Calibri"/>
              </a:rPr>
              <a:t>programmed</a:t>
            </a:r>
            <a:r>
              <a:rPr sz="2000" spc="15" dirty="0">
                <a:solidFill>
                  <a:srgbClr val="404040"/>
                </a:solidFill>
                <a:latin typeface="Calibri"/>
                <a:cs typeface="Calibri"/>
              </a:rPr>
              <a:t> </a:t>
            </a:r>
            <a:r>
              <a:rPr lang="en-US" sz="2000" spc="15" dirty="0" smtClean="0">
                <a:solidFill>
                  <a:srgbClr val="404040"/>
                </a:solidFill>
                <a:latin typeface="Calibri"/>
                <a:cs typeface="Calibri"/>
              </a:rPr>
              <a:t> once(</a:t>
            </a:r>
            <a:r>
              <a:rPr sz="2000" i="1" dirty="0" err="1" smtClean="0">
                <a:solidFill>
                  <a:srgbClr val="404040"/>
                </a:solidFill>
                <a:latin typeface="Calibri"/>
                <a:cs typeface="Calibri"/>
              </a:rPr>
              <a:t>en</a:t>
            </a:r>
            <a:r>
              <a:rPr sz="2000" i="1" spc="-20" dirty="0" smtClean="0">
                <a:solidFill>
                  <a:srgbClr val="404040"/>
                </a:solidFill>
                <a:latin typeface="Calibri"/>
                <a:cs typeface="Calibri"/>
              </a:rPr>
              <a:t> </a:t>
            </a:r>
            <a:r>
              <a:rPr sz="2000" i="1" dirty="0" smtClean="0">
                <a:solidFill>
                  <a:srgbClr val="404040"/>
                </a:solidFill>
                <a:latin typeface="Calibri"/>
                <a:cs typeface="Calibri"/>
              </a:rPr>
              <a:t>masse</a:t>
            </a:r>
            <a:r>
              <a:rPr lang="en-US" sz="2000" i="1" dirty="0" smtClean="0">
                <a:solidFill>
                  <a:srgbClr val="404040"/>
                </a:solidFill>
                <a:latin typeface="Calibri"/>
                <a:cs typeface="Calibri"/>
              </a:rPr>
              <a:t>) </a:t>
            </a:r>
            <a:r>
              <a:rPr lang="en-US" sz="2000" i="1" dirty="0" err="1" smtClean="0">
                <a:solidFill>
                  <a:srgbClr val="404040"/>
                </a:solidFill>
                <a:latin typeface="Calibri"/>
                <a:cs typeface="Calibri"/>
              </a:rPr>
              <a:t>i.e</a:t>
            </a:r>
            <a:r>
              <a:rPr lang="en-US" sz="2000" i="1" dirty="0" smtClean="0">
                <a:solidFill>
                  <a:srgbClr val="404040"/>
                </a:solidFill>
                <a:latin typeface="Calibri"/>
                <a:cs typeface="Calibri"/>
              </a:rPr>
              <a:t> </a:t>
            </a:r>
            <a:r>
              <a:rPr lang="nb-NO" sz="2000" dirty="0"/>
              <a:t>refers to </a:t>
            </a:r>
            <a:r>
              <a:rPr lang="nb-NO" sz="2000" spc="-10" dirty="0">
                <a:solidFill>
                  <a:srgbClr val="404040"/>
                </a:solidFill>
                <a:latin typeface="Calibri"/>
                <a:cs typeface="Calibri"/>
              </a:rPr>
              <a:t>Mask ROM programming.</a:t>
            </a:r>
            <a:endParaRPr sz="2000" spc="-10" dirty="0">
              <a:solidFill>
                <a:srgbClr val="404040"/>
              </a:solidFill>
              <a:latin typeface="Calibri"/>
              <a:cs typeface="Calibri"/>
            </a:endParaRPr>
          </a:p>
          <a:p>
            <a:pPr marL="355600" marR="960755" indent="-342900">
              <a:lnSpc>
                <a:spcPts val="2160"/>
              </a:lnSpc>
              <a:spcBef>
                <a:spcPts val="1425"/>
              </a:spcBef>
              <a:buFont typeface="Wingdings" panose="05000000000000000000" pitchFamily="2" charset="2"/>
              <a:buChar char="Ø"/>
            </a:pPr>
            <a:r>
              <a:rPr sz="2000" dirty="0">
                <a:solidFill>
                  <a:srgbClr val="404040"/>
                </a:solidFill>
                <a:latin typeface="Calibri"/>
                <a:cs typeface="Calibri"/>
              </a:rPr>
              <a:t>No</a:t>
            </a:r>
            <a:r>
              <a:rPr sz="2000" spc="-10" dirty="0">
                <a:solidFill>
                  <a:srgbClr val="404040"/>
                </a:solidFill>
                <a:latin typeface="Calibri"/>
                <a:cs typeface="Calibri"/>
              </a:rPr>
              <a:t> </a:t>
            </a:r>
            <a:r>
              <a:rPr sz="2000" spc="-5" dirty="0">
                <a:solidFill>
                  <a:srgbClr val="404040"/>
                </a:solidFill>
                <a:latin typeface="Calibri"/>
                <a:cs typeface="Calibri"/>
              </a:rPr>
              <a:t>facility</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given </a:t>
            </a:r>
            <a:r>
              <a:rPr sz="2000" spc="-15" dirty="0">
                <a:solidFill>
                  <a:srgbClr val="404040"/>
                </a:solidFill>
                <a:latin typeface="Calibri"/>
                <a:cs typeface="Calibri"/>
              </a:rPr>
              <a:t>to</a:t>
            </a:r>
            <a:r>
              <a:rPr sz="2000" dirty="0">
                <a:solidFill>
                  <a:srgbClr val="404040"/>
                </a:solidFill>
                <a:latin typeface="Calibri"/>
                <a:cs typeface="Calibri"/>
              </a:rPr>
              <a:t> </a:t>
            </a:r>
            <a:r>
              <a:rPr sz="2000" spc="-15" dirty="0">
                <a:solidFill>
                  <a:srgbClr val="404040"/>
                </a:solidFill>
                <a:latin typeface="Calibri"/>
                <a:cs typeface="Calibri"/>
              </a:rPr>
              <a:t>re-program</a:t>
            </a:r>
            <a:r>
              <a:rPr sz="2000" spc="-10" dirty="0">
                <a:solidFill>
                  <a:srgbClr val="404040"/>
                </a:solidFill>
                <a:latin typeface="Calibri"/>
                <a:cs typeface="Calibri"/>
              </a:rPr>
              <a:t> </a:t>
            </a:r>
            <a:r>
              <a:rPr sz="2000" dirty="0">
                <a:solidFill>
                  <a:srgbClr val="404040"/>
                </a:solidFill>
                <a:latin typeface="Calibri"/>
                <a:cs typeface="Calibri"/>
              </a:rPr>
              <a:t>them and </a:t>
            </a:r>
            <a:r>
              <a:rPr sz="2000" spc="-5" dirty="0">
                <a:solidFill>
                  <a:srgbClr val="404040"/>
                </a:solidFill>
                <a:latin typeface="Calibri"/>
                <a:cs typeface="Calibri"/>
              </a:rPr>
              <a:t>such</a:t>
            </a:r>
            <a:r>
              <a:rPr sz="2000" dirty="0">
                <a:solidFill>
                  <a:srgbClr val="404040"/>
                </a:solidFill>
                <a:latin typeface="Calibri"/>
                <a:cs typeface="Calibri"/>
              </a:rPr>
              <a:t> </a:t>
            </a:r>
            <a:r>
              <a:rPr sz="2000" spc="-5" dirty="0">
                <a:solidFill>
                  <a:srgbClr val="404040"/>
                </a:solidFill>
                <a:latin typeface="Calibri"/>
                <a:cs typeface="Calibri"/>
              </a:rPr>
              <a:t>ROMs</a:t>
            </a:r>
            <a:r>
              <a:rPr sz="2000" spc="-15"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5" dirty="0">
                <a:solidFill>
                  <a:srgbClr val="404040"/>
                </a:solidFill>
                <a:latin typeface="Calibri"/>
                <a:cs typeface="Calibri"/>
              </a:rPr>
              <a:t>called</a:t>
            </a:r>
            <a:r>
              <a:rPr sz="2000" spc="5" dirty="0">
                <a:solidFill>
                  <a:srgbClr val="404040"/>
                </a:solidFill>
                <a:latin typeface="Calibri"/>
                <a:cs typeface="Calibri"/>
              </a:rPr>
              <a:t> </a:t>
            </a:r>
            <a:r>
              <a:rPr sz="2000" spc="-15" dirty="0">
                <a:solidFill>
                  <a:srgbClr val="404040"/>
                </a:solidFill>
                <a:latin typeface="Calibri"/>
                <a:cs typeface="Calibri"/>
              </a:rPr>
              <a:t>OTP</a:t>
            </a:r>
            <a:r>
              <a:rPr sz="2000" spc="-20" dirty="0">
                <a:solidFill>
                  <a:srgbClr val="404040"/>
                </a:solidFill>
                <a:latin typeface="Calibri"/>
                <a:cs typeface="Calibri"/>
              </a:rPr>
              <a:t> </a:t>
            </a:r>
            <a:r>
              <a:rPr sz="2000" dirty="0">
                <a:solidFill>
                  <a:srgbClr val="404040"/>
                </a:solidFill>
                <a:latin typeface="Calibri"/>
                <a:cs typeface="Calibri"/>
              </a:rPr>
              <a:t>(One</a:t>
            </a:r>
            <a:r>
              <a:rPr sz="2000" spc="-5" dirty="0">
                <a:solidFill>
                  <a:srgbClr val="404040"/>
                </a:solidFill>
                <a:latin typeface="Calibri"/>
                <a:cs typeface="Calibri"/>
              </a:rPr>
              <a:t> Time </a:t>
            </a:r>
            <a:r>
              <a:rPr sz="2000" spc="-440" dirty="0">
                <a:solidFill>
                  <a:srgbClr val="404040"/>
                </a:solidFill>
                <a:latin typeface="Calibri"/>
                <a:cs typeface="Calibri"/>
              </a:rPr>
              <a:t> </a:t>
            </a:r>
            <a:r>
              <a:rPr sz="2000" spc="-10" dirty="0">
                <a:solidFill>
                  <a:srgbClr val="404040"/>
                </a:solidFill>
                <a:latin typeface="Calibri"/>
                <a:cs typeface="Calibri"/>
              </a:rPr>
              <a:t>Programmable)</a:t>
            </a:r>
            <a:r>
              <a:rPr sz="2000" spc="5" dirty="0">
                <a:solidFill>
                  <a:srgbClr val="404040"/>
                </a:solidFill>
                <a:latin typeface="Calibri"/>
                <a:cs typeface="Calibri"/>
              </a:rPr>
              <a:t> </a:t>
            </a:r>
            <a:r>
              <a:rPr sz="2000" spc="-5" dirty="0">
                <a:solidFill>
                  <a:srgbClr val="404040"/>
                </a:solidFill>
                <a:latin typeface="Calibri"/>
                <a:cs typeface="Calibri"/>
              </a:rPr>
              <a:t>ROMs.</a:t>
            </a: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23</a:t>
            </a:r>
            <a:endParaRPr sz="1050">
              <a:latin typeface="Calibri"/>
              <a:cs typeface="Calibri"/>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233017" y="1009853"/>
            <a:ext cx="9940290" cy="757555"/>
          </a:xfrm>
          <a:prstGeom prst="rect">
            <a:avLst/>
          </a:prstGeom>
        </p:spPr>
        <p:txBody>
          <a:bodyPr vert="horz" wrap="square" lIns="0" tIns="12700" rIns="0" bIns="0" rtlCol="0">
            <a:spAutoFit/>
          </a:bodyPr>
          <a:lstStyle/>
          <a:p>
            <a:pPr marL="12700">
              <a:lnSpc>
                <a:spcPct val="100000"/>
              </a:lnSpc>
              <a:spcBef>
                <a:spcPts val="100"/>
              </a:spcBef>
              <a:tabLst>
                <a:tab pos="9926955" algn="l"/>
              </a:tabLst>
            </a:pPr>
            <a:r>
              <a:rPr sz="4800" b="0" i="1" u="sng" spc="-85" dirty="0" smtClean="0">
                <a:solidFill>
                  <a:srgbClr val="404040"/>
                </a:solidFill>
                <a:uFill>
                  <a:solidFill>
                    <a:srgbClr val="7E7E7E"/>
                  </a:solidFill>
                </a:uFill>
                <a:latin typeface="Calibri Light"/>
                <a:cs typeface="Calibri Light"/>
              </a:rPr>
              <a:t> </a:t>
            </a:r>
            <a:r>
              <a:rPr sz="4800" b="0" i="1" u="sng" spc="-50" dirty="0">
                <a:solidFill>
                  <a:srgbClr val="404040"/>
                </a:solidFill>
                <a:uFill>
                  <a:solidFill>
                    <a:srgbClr val="7E7E7E"/>
                  </a:solidFill>
                </a:uFill>
                <a:latin typeface="Calibri Light"/>
                <a:cs typeface="Calibri Light"/>
              </a:rPr>
              <a:t>EEPROM	</a:t>
            </a:r>
            <a:endParaRPr sz="4800" dirty="0">
              <a:latin typeface="Calibri Light"/>
              <a:cs typeface="Calibri Light"/>
            </a:endParaRPr>
          </a:p>
        </p:txBody>
      </p:sp>
      <p:sp>
        <p:nvSpPr>
          <p:cNvPr id="6" name="object 6"/>
          <p:cNvSpPr txBox="1"/>
          <p:nvPr/>
        </p:nvSpPr>
        <p:spPr>
          <a:xfrm>
            <a:off x="1176324" y="1684756"/>
            <a:ext cx="9840595" cy="4175502"/>
          </a:xfrm>
          <a:prstGeom prst="rect">
            <a:avLst/>
          </a:prstGeom>
        </p:spPr>
        <p:txBody>
          <a:bodyPr vert="horz" wrap="square" lIns="0" tIns="160020" rIns="0" bIns="0" rtlCol="0">
            <a:spAutoFit/>
          </a:bodyPr>
          <a:lstStyle/>
          <a:p>
            <a:pPr marL="355600" indent="-342900">
              <a:lnSpc>
                <a:spcPct val="100000"/>
              </a:lnSpc>
              <a:spcBef>
                <a:spcPts val="1260"/>
              </a:spcBef>
              <a:buFont typeface="Wingdings" panose="05000000000000000000" pitchFamily="2" charset="2"/>
              <a:buChar char="Ø"/>
            </a:pPr>
            <a:r>
              <a:rPr sz="2000" spc="-5" dirty="0">
                <a:solidFill>
                  <a:srgbClr val="404040"/>
                </a:solidFill>
                <a:latin typeface="Calibri"/>
                <a:cs typeface="Calibri"/>
              </a:rPr>
              <a:t>This </a:t>
            </a:r>
            <a:r>
              <a:rPr sz="2000" dirty="0">
                <a:solidFill>
                  <a:srgbClr val="404040"/>
                </a:solidFill>
                <a:latin typeface="Calibri"/>
                <a:cs typeface="Calibri"/>
              </a:rPr>
              <a:t>is</a:t>
            </a:r>
            <a:r>
              <a:rPr sz="2000" spc="15" dirty="0">
                <a:solidFill>
                  <a:srgbClr val="404040"/>
                </a:solidFill>
                <a:latin typeface="Calibri"/>
                <a:cs typeface="Calibri"/>
              </a:rPr>
              <a:t> </a:t>
            </a:r>
            <a:r>
              <a:rPr sz="2000" spc="-5" dirty="0">
                <a:solidFill>
                  <a:srgbClr val="404040"/>
                </a:solidFill>
                <a:latin typeface="Calibri"/>
                <a:cs typeface="Calibri"/>
              </a:rPr>
              <a:t>'Electrically</a:t>
            </a:r>
            <a:r>
              <a:rPr sz="2000" spc="15" dirty="0">
                <a:solidFill>
                  <a:srgbClr val="404040"/>
                </a:solidFill>
                <a:latin typeface="Calibri"/>
                <a:cs typeface="Calibri"/>
              </a:rPr>
              <a:t> </a:t>
            </a:r>
            <a:r>
              <a:rPr sz="2000" spc="-5" dirty="0">
                <a:solidFill>
                  <a:srgbClr val="404040"/>
                </a:solidFill>
                <a:latin typeface="Calibri"/>
                <a:cs typeface="Calibri"/>
              </a:rPr>
              <a:t>Erasable </a:t>
            </a:r>
            <a:r>
              <a:rPr sz="2000" spc="-10" dirty="0">
                <a:solidFill>
                  <a:srgbClr val="404040"/>
                </a:solidFill>
                <a:latin typeface="Calibri"/>
                <a:cs typeface="Calibri"/>
              </a:rPr>
              <a:t>programmable</a:t>
            </a:r>
            <a:r>
              <a:rPr sz="2000" spc="10" dirty="0">
                <a:solidFill>
                  <a:srgbClr val="404040"/>
                </a:solidFill>
                <a:latin typeface="Calibri"/>
                <a:cs typeface="Calibri"/>
              </a:rPr>
              <a:t> </a:t>
            </a:r>
            <a:r>
              <a:rPr sz="2000" spc="-5" dirty="0">
                <a:solidFill>
                  <a:srgbClr val="404040"/>
                </a:solidFill>
                <a:latin typeface="Calibri"/>
                <a:cs typeface="Calibri"/>
              </a:rPr>
              <a:t>ROM'.</a:t>
            </a:r>
            <a:endParaRPr sz="2000" dirty="0">
              <a:latin typeface="Calibri"/>
              <a:cs typeface="Calibri"/>
            </a:endParaRPr>
          </a:p>
          <a:p>
            <a:pPr marL="355600" indent="-342900">
              <a:lnSpc>
                <a:spcPts val="2280"/>
              </a:lnSpc>
              <a:spcBef>
                <a:spcPts val="1165"/>
              </a:spcBef>
              <a:buFont typeface="Wingdings" panose="05000000000000000000" pitchFamily="2" charset="2"/>
              <a:buChar char="Ø"/>
            </a:pPr>
            <a:r>
              <a:rPr sz="2000" spc="-5" dirty="0">
                <a:solidFill>
                  <a:srgbClr val="404040"/>
                </a:solidFill>
                <a:latin typeface="Calibri"/>
                <a:cs typeface="Calibri"/>
              </a:rPr>
              <a:t>The</a:t>
            </a:r>
            <a:r>
              <a:rPr sz="2000" dirty="0">
                <a:solidFill>
                  <a:srgbClr val="404040"/>
                </a:solidFill>
                <a:latin typeface="Calibri"/>
                <a:cs typeface="Calibri"/>
              </a:rPr>
              <a:t> </a:t>
            </a:r>
            <a:r>
              <a:rPr sz="2000" spc="-10" dirty="0">
                <a:solidFill>
                  <a:srgbClr val="404040"/>
                </a:solidFill>
                <a:latin typeface="Calibri"/>
                <a:cs typeface="Calibri"/>
              </a:rPr>
              <a:t>difference</a:t>
            </a:r>
            <a:r>
              <a:rPr sz="2000" spc="5" dirty="0">
                <a:solidFill>
                  <a:srgbClr val="404040"/>
                </a:solidFill>
                <a:latin typeface="Calibri"/>
                <a:cs typeface="Calibri"/>
              </a:rPr>
              <a:t> </a:t>
            </a:r>
            <a:r>
              <a:rPr sz="2000" dirty="0">
                <a:solidFill>
                  <a:srgbClr val="404040"/>
                </a:solidFill>
                <a:latin typeface="Calibri"/>
                <a:cs typeface="Calibri"/>
              </a:rPr>
              <a:t>in</a:t>
            </a:r>
            <a:r>
              <a:rPr sz="2000" spc="-5" dirty="0">
                <a:solidFill>
                  <a:srgbClr val="404040"/>
                </a:solidFill>
                <a:latin typeface="Calibri"/>
                <a:cs typeface="Calibri"/>
              </a:rPr>
              <a:t> </a:t>
            </a:r>
            <a:r>
              <a:rPr sz="2000" dirty="0">
                <a:solidFill>
                  <a:srgbClr val="404040"/>
                </a:solidFill>
                <a:latin typeface="Calibri"/>
                <a:cs typeface="Calibri"/>
              </a:rPr>
              <a:t>this</a:t>
            </a:r>
            <a:r>
              <a:rPr sz="2000" spc="15"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that</a:t>
            </a:r>
            <a:r>
              <a:rPr sz="2000" spc="5" dirty="0">
                <a:solidFill>
                  <a:srgbClr val="404040"/>
                </a:solidFill>
                <a:latin typeface="Calibri"/>
                <a:cs typeface="Calibri"/>
              </a:rPr>
              <a:t> </a:t>
            </a:r>
            <a:r>
              <a:rPr sz="2000" spc="-10" dirty="0">
                <a:solidFill>
                  <a:srgbClr val="404040"/>
                </a:solidFill>
                <a:latin typeface="Calibri"/>
                <a:cs typeface="Calibri"/>
              </a:rPr>
              <a:t>erasing</a:t>
            </a:r>
            <a:r>
              <a:rPr sz="2000" dirty="0">
                <a:solidFill>
                  <a:srgbClr val="404040"/>
                </a:solidFill>
                <a:latin typeface="Calibri"/>
                <a:cs typeface="Calibri"/>
              </a:rPr>
              <a:t> and </a:t>
            </a:r>
            <a:r>
              <a:rPr sz="2000" spc="-5" dirty="0">
                <a:solidFill>
                  <a:srgbClr val="404040"/>
                </a:solidFill>
                <a:latin typeface="Calibri"/>
                <a:cs typeface="Calibri"/>
              </a:rPr>
              <a:t>writing</a:t>
            </a:r>
            <a:r>
              <a:rPr sz="2000" spc="10" dirty="0">
                <a:solidFill>
                  <a:srgbClr val="404040"/>
                </a:solidFill>
                <a:latin typeface="Calibri"/>
                <a:cs typeface="Calibri"/>
              </a:rPr>
              <a:t> </a:t>
            </a:r>
            <a:r>
              <a:rPr sz="2000" spc="-15" dirty="0">
                <a:solidFill>
                  <a:srgbClr val="404040"/>
                </a:solidFill>
                <a:latin typeface="Calibri"/>
                <a:cs typeface="Calibri"/>
              </a:rPr>
              <a:t>data</a:t>
            </a:r>
            <a:r>
              <a:rPr sz="2000" spc="5" dirty="0">
                <a:solidFill>
                  <a:srgbClr val="404040"/>
                </a:solidFill>
                <a:latin typeface="Calibri"/>
                <a:cs typeface="Calibri"/>
              </a:rPr>
              <a:t> </a:t>
            </a:r>
            <a:r>
              <a:rPr sz="2000" dirty="0">
                <a:solidFill>
                  <a:srgbClr val="404040"/>
                </a:solidFill>
                <a:latin typeface="Calibri"/>
                <a:cs typeface="Calibri"/>
              </a:rPr>
              <a:t>can</a:t>
            </a:r>
            <a:r>
              <a:rPr sz="2000" spc="-20" dirty="0">
                <a:solidFill>
                  <a:srgbClr val="404040"/>
                </a:solidFill>
                <a:latin typeface="Calibri"/>
                <a:cs typeface="Calibri"/>
              </a:rPr>
              <a:t> </a:t>
            </a:r>
            <a:r>
              <a:rPr sz="2000" spc="-5" dirty="0">
                <a:solidFill>
                  <a:srgbClr val="404040"/>
                </a:solidFill>
                <a:latin typeface="Calibri"/>
                <a:cs typeface="Calibri"/>
              </a:rPr>
              <a:t>be</a:t>
            </a:r>
            <a:r>
              <a:rPr sz="2000" dirty="0">
                <a:solidFill>
                  <a:srgbClr val="404040"/>
                </a:solidFill>
                <a:latin typeface="Calibri"/>
                <a:cs typeface="Calibri"/>
              </a:rPr>
              <a:t> done</a:t>
            </a:r>
            <a:r>
              <a:rPr sz="2000" spc="-20" dirty="0">
                <a:solidFill>
                  <a:srgbClr val="404040"/>
                </a:solidFill>
                <a:latin typeface="Calibri"/>
                <a:cs typeface="Calibri"/>
              </a:rPr>
              <a:t> </a:t>
            </a:r>
            <a:r>
              <a:rPr sz="2000" spc="-5" dirty="0">
                <a:solidFill>
                  <a:srgbClr val="404040"/>
                </a:solidFill>
                <a:latin typeface="Calibri"/>
                <a:cs typeface="Calibri"/>
              </a:rPr>
              <a:t>while</a:t>
            </a:r>
            <a:r>
              <a:rPr sz="2000" dirty="0">
                <a:solidFill>
                  <a:srgbClr val="404040"/>
                </a:solidFill>
                <a:latin typeface="Calibri"/>
                <a:cs typeface="Calibri"/>
              </a:rPr>
              <a:t> the</a:t>
            </a:r>
            <a:r>
              <a:rPr sz="2000" spc="5" dirty="0">
                <a:solidFill>
                  <a:srgbClr val="404040"/>
                </a:solidFill>
                <a:latin typeface="Calibri"/>
                <a:cs typeface="Calibri"/>
              </a:rPr>
              <a:t> </a:t>
            </a:r>
            <a:r>
              <a:rPr sz="2000" dirty="0">
                <a:solidFill>
                  <a:srgbClr val="404040"/>
                </a:solidFill>
                <a:latin typeface="Calibri"/>
                <a:cs typeface="Calibri"/>
              </a:rPr>
              <a:t>chip</a:t>
            </a:r>
            <a:r>
              <a:rPr sz="2000" spc="-5"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dirty="0">
                <a:solidFill>
                  <a:srgbClr val="404040"/>
                </a:solidFill>
                <a:latin typeface="Calibri"/>
                <a:cs typeface="Calibri"/>
              </a:rPr>
              <a:t>in</a:t>
            </a:r>
            <a:r>
              <a:rPr sz="2000" spc="5" dirty="0">
                <a:solidFill>
                  <a:srgbClr val="404040"/>
                </a:solidFill>
                <a:latin typeface="Calibri"/>
                <a:cs typeface="Calibri"/>
              </a:rPr>
              <a:t> </a:t>
            </a:r>
            <a:r>
              <a:rPr sz="2000" dirty="0">
                <a:solidFill>
                  <a:srgbClr val="404040"/>
                </a:solidFill>
                <a:latin typeface="Calibri"/>
                <a:cs typeface="Calibri"/>
              </a:rPr>
              <a:t>a</a:t>
            </a:r>
            <a:r>
              <a:rPr sz="2000" spc="10" dirty="0">
                <a:solidFill>
                  <a:srgbClr val="404040"/>
                </a:solidFill>
                <a:latin typeface="Calibri"/>
                <a:cs typeface="Calibri"/>
              </a:rPr>
              <a:t> </a:t>
            </a:r>
            <a:r>
              <a:rPr sz="2000" spc="-5" dirty="0">
                <a:solidFill>
                  <a:srgbClr val="404040"/>
                </a:solidFill>
                <a:latin typeface="Calibri"/>
                <a:cs typeface="Calibri"/>
              </a:rPr>
              <a:t>circuit,</a:t>
            </a:r>
            <a:endParaRPr sz="2000" dirty="0">
              <a:latin typeface="Calibri"/>
              <a:cs typeface="Calibri"/>
            </a:endParaRPr>
          </a:p>
          <a:p>
            <a:pPr marL="355600" indent="-342900">
              <a:lnSpc>
                <a:spcPts val="2280"/>
              </a:lnSpc>
              <a:buFont typeface="Wingdings" panose="05000000000000000000" pitchFamily="2" charset="2"/>
              <a:buChar char="Ø"/>
            </a:pPr>
            <a:r>
              <a:rPr sz="2000" spc="-5" dirty="0">
                <a:solidFill>
                  <a:srgbClr val="404040"/>
                </a:solidFill>
                <a:latin typeface="Calibri"/>
                <a:cs typeface="Calibri"/>
              </a:rPr>
              <a:t>but</a:t>
            </a:r>
            <a:r>
              <a:rPr sz="2000" dirty="0">
                <a:solidFill>
                  <a:srgbClr val="404040"/>
                </a:solidFill>
                <a:latin typeface="Calibri"/>
                <a:cs typeface="Calibri"/>
              </a:rPr>
              <a:t> 'higher</a:t>
            </a:r>
            <a:r>
              <a:rPr sz="2000" spc="-15" dirty="0">
                <a:solidFill>
                  <a:srgbClr val="404040"/>
                </a:solidFill>
                <a:latin typeface="Calibri"/>
                <a:cs typeface="Calibri"/>
              </a:rPr>
              <a:t> </a:t>
            </a:r>
            <a:r>
              <a:rPr sz="2000" dirty="0">
                <a:solidFill>
                  <a:srgbClr val="404040"/>
                </a:solidFill>
                <a:latin typeface="Calibri"/>
                <a:cs typeface="Calibri"/>
              </a:rPr>
              <a:t>than</a:t>
            </a:r>
            <a:r>
              <a:rPr sz="2000" spc="10" dirty="0">
                <a:solidFill>
                  <a:srgbClr val="404040"/>
                </a:solidFill>
                <a:latin typeface="Calibri"/>
                <a:cs typeface="Calibri"/>
              </a:rPr>
              <a:t> </a:t>
            </a:r>
            <a:r>
              <a:rPr sz="2000" spc="-5" dirty="0">
                <a:solidFill>
                  <a:srgbClr val="404040"/>
                </a:solidFill>
                <a:latin typeface="Calibri"/>
                <a:cs typeface="Calibri"/>
              </a:rPr>
              <a:t>normal</a:t>
            </a:r>
            <a:r>
              <a:rPr sz="2000" dirty="0">
                <a:solidFill>
                  <a:srgbClr val="404040"/>
                </a:solidFill>
                <a:latin typeface="Calibri"/>
                <a:cs typeface="Calibri"/>
              </a:rPr>
              <a:t> </a:t>
            </a:r>
            <a:r>
              <a:rPr sz="2000" spc="-10" dirty="0">
                <a:solidFill>
                  <a:srgbClr val="404040"/>
                </a:solidFill>
                <a:latin typeface="Calibri"/>
                <a:cs typeface="Calibri"/>
              </a:rPr>
              <a:t>voltages'</a:t>
            </a:r>
            <a:r>
              <a:rPr sz="2000" spc="10" dirty="0">
                <a:solidFill>
                  <a:srgbClr val="404040"/>
                </a:solidFill>
                <a:latin typeface="Calibri"/>
                <a:cs typeface="Calibri"/>
              </a:rPr>
              <a:t> </a:t>
            </a:r>
            <a:r>
              <a:rPr sz="2000" spc="-10" dirty="0">
                <a:solidFill>
                  <a:srgbClr val="404040"/>
                </a:solidFill>
                <a:latin typeface="Calibri"/>
                <a:cs typeface="Calibri"/>
              </a:rPr>
              <a:t>are</a:t>
            </a:r>
            <a:r>
              <a:rPr sz="2000" spc="10" dirty="0">
                <a:solidFill>
                  <a:srgbClr val="404040"/>
                </a:solidFill>
                <a:latin typeface="Calibri"/>
                <a:cs typeface="Calibri"/>
              </a:rPr>
              <a:t> </a:t>
            </a:r>
            <a:r>
              <a:rPr sz="2000" spc="-5" dirty="0">
                <a:solidFill>
                  <a:srgbClr val="404040"/>
                </a:solidFill>
                <a:latin typeface="Calibri"/>
                <a:cs typeface="Calibri"/>
              </a:rPr>
              <a:t>needed</a:t>
            </a:r>
            <a:r>
              <a:rPr sz="2000" spc="-10" dirty="0">
                <a:solidFill>
                  <a:srgbClr val="404040"/>
                </a:solidFill>
                <a:latin typeface="Calibri"/>
                <a:cs typeface="Calibri"/>
              </a:rPr>
              <a:t> </a:t>
            </a:r>
            <a:r>
              <a:rPr sz="2000" spc="-15" dirty="0">
                <a:solidFill>
                  <a:srgbClr val="404040"/>
                </a:solidFill>
                <a:latin typeface="Calibri"/>
                <a:cs typeface="Calibri"/>
              </a:rPr>
              <a:t>for</a:t>
            </a:r>
            <a:r>
              <a:rPr sz="2000" spc="-10" dirty="0">
                <a:solidFill>
                  <a:srgbClr val="404040"/>
                </a:solidFill>
                <a:latin typeface="Calibri"/>
                <a:cs typeface="Calibri"/>
              </a:rPr>
              <a:t> erasing</a:t>
            </a:r>
            <a:r>
              <a:rPr sz="2000" spc="5"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re-writing.</a:t>
            </a:r>
            <a:endParaRPr sz="2000" dirty="0">
              <a:latin typeface="Calibri"/>
              <a:cs typeface="Calibri"/>
            </a:endParaRPr>
          </a:p>
          <a:p>
            <a:pPr marL="355600" marR="193675" indent="-342900">
              <a:lnSpc>
                <a:spcPts val="2160"/>
              </a:lnSpc>
              <a:spcBef>
                <a:spcPts val="1425"/>
              </a:spcBef>
              <a:buFont typeface="Wingdings" panose="05000000000000000000" pitchFamily="2" charset="2"/>
              <a:buChar char="Ø"/>
            </a:pPr>
            <a:r>
              <a:rPr sz="2000" spc="-5" dirty="0">
                <a:solidFill>
                  <a:srgbClr val="404040"/>
                </a:solidFill>
                <a:latin typeface="Calibri"/>
                <a:cs typeface="Calibri"/>
              </a:rPr>
              <a:t>EEPROMs</a:t>
            </a:r>
            <a:r>
              <a:rPr sz="2000" spc="-15"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5" dirty="0">
                <a:solidFill>
                  <a:srgbClr val="404040"/>
                </a:solidFill>
                <a:latin typeface="Calibri"/>
                <a:cs typeface="Calibri"/>
              </a:rPr>
              <a:t>constructed</a:t>
            </a:r>
            <a:r>
              <a:rPr sz="2000" dirty="0">
                <a:solidFill>
                  <a:srgbClr val="404040"/>
                </a:solidFill>
                <a:latin typeface="Calibri"/>
                <a:cs typeface="Calibri"/>
              </a:rPr>
              <a:t> </a:t>
            </a:r>
            <a:r>
              <a:rPr sz="2000" spc="-20" dirty="0">
                <a:solidFill>
                  <a:srgbClr val="404040"/>
                </a:solidFill>
                <a:latin typeface="Calibri"/>
                <a:cs typeface="Calibri"/>
              </a:rPr>
              <a:t>like</a:t>
            </a:r>
            <a:r>
              <a:rPr sz="2000" spc="15" dirty="0">
                <a:solidFill>
                  <a:srgbClr val="404040"/>
                </a:solidFill>
                <a:latin typeface="Calibri"/>
                <a:cs typeface="Calibri"/>
              </a:rPr>
              <a:t> </a:t>
            </a:r>
            <a:r>
              <a:rPr sz="2000" spc="-5" dirty="0">
                <a:solidFill>
                  <a:srgbClr val="404040"/>
                </a:solidFill>
                <a:latin typeface="Calibri"/>
                <a:cs typeface="Calibri"/>
              </a:rPr>
              <a:t>EPROMS,</a:t>
            </a:r>
            <a:r>
              <a:rPr sz="2000" spc="-10" dirty="0">
                <a:solidFill>
                  <a:srgbClr val="404040"/>
                </a:solidFill>
                <a:latin typeface="Calibri"/>
                <a:cs typeface="Calibri"/>
              </a:rPr>
              <a:t> </a:t>
            </a:r>
            <a:r>
              <a:rPr sz="2000" dirty="0">
                <a:solidFill>
                  <a:srgbClr val="404040"/>
                </a:solidFill>
                <a:latin typeface="Calibri"/>
                <a:cs typeface="Calibri"/>
              </a:rPr>
              <a:t>but</a:t>
            </a:r>
            <a:r>
              <a:rPr sz="2000" spc="-5" dirty="0">
                <a:solidFill>
                  <a:srgbClr val="404040"/>
                </a:solidFill>
                <a:latin typeface="Calibri"/>
                <a:cs typeface="Calibri"/>
              </a:rPr>
              <a:t> allow</a:t>
            </a:r>
            <a:r>
              <a:rPr sz="2000" spc="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10" dirty="0">
                <a:solidFill>
                  <a:srgbClr val="404040"/>
                </a:solidFill>
                <a:latin typeface="Calibri"/>
                <a:cs typeface="Calibri"/>
              </a:rPr>
              <a:t>erasing</a:t>
            </a:r>
            <a:r>
              <a:rPr sz="2000" dirty="0">
                <a:solidFill>
                  <a:srgbClr val="404040"/>
                </a:solidFill>
                <a:latin typeface="Calibri"/>
                <a:cs typeface="Calibri"/>
              </a:rPr>
              <a:t> </a:t>
            </a:r>
            <a:r>
              <a:rPr sz="2000" spc="-5" dirty="0">
                <a:solidFill>
                  <a:srgbClr val="404040"/>
                </a:solidFill>
                <a:latin typeface="Calibri"/>
                <a:cs typeface="Calibri"/>
              </a:rPr>
              <a:t>of</a:t>
            </a:r>
            <a:r>
              <a:rPr sz="2000" dirty="0">
                <a:solidFill>
                  <a:srgbClr val="404040"/>
                </a:solidFill>
                <a:latin typeface="Calibri"/>
                <a:cs typeface="Calibri"/>
              </a:rPr>
              <a:t> individual</a:t>
            </a:r>
            <a:r>
              <a:rPr sz="2000" spc="5" dirty="0">
                <a:solidFill>
                  <a:srgbClr val="404040"/>
                </a:solidFill>
                <a:latin typeface="Calibri"/>
                <a:cs typeface="Calibri"/>
              </a:rPr>
              <a:t> </a:t>
            </a:r>
            <a:r>
              <a:rPr sz="2000" spc="-5" dirty="0">
                <a:solidFill>
                  <a:srgbClr val="404040"/>
                </a:solidFill>
                <a:latin typeface="Calibri"/>
                <a:cs typeface="Calibri"/>
              </a:rPr>
              <a:t>bytes</a:t>
            </a:r>
            <a:r>
              <a:rPr sz="2000" spc="5" dirty="0">
                <a:solidFill>
                  <a:srgbClr val="404040"/>
                </a:solidFill>
                <a:latin typeface="Calibri"/>
                <a:cs typeface="Calibri"/>
              </a:rPr>
              <a:t> </a:t>
            </a:r>
            <a:r>
              <a:rPr sz="2000" spc="-5" dirty="0">
                <a:solidFill>
                  <a:srgbClr val="404040"/>
                </a:solidFill>
                <a:latin typeface="Calibri"/>
                <a:cs typeface="Calibri"/>
              </a:rPr>
              <a:t>or</a:t>
            </a:r>
            <a:r>
              <a:rPr sz="2000" spc="-10"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spc="-10" dirty="0">
                <a:solidFill>
                  <a:srgbClr val="404040"/>
                </a:solidFill>
                <a:latin typeface="Calibri"/>
                <a:cs typeface="Calibri"/>
              </a:rPr>
              <a:t>entire </a:t>
            </a:r>
            <a:r>
              <a:rPr sz="2000" spc="-434" dirty="0">
                <a:solidFill>
                  <a:srgbClr val="404040"/>
                </a:solidFill>
                <a:latin typeface="Calibri"/>
                <a:cs typeface="Calibri"/>
              </a:rPr>
              <a:t> </a:t>
            </a:r>
            <a:r>
              <a:rPr sz="2000" dirty="0">
                <a:solidFill>
                  <a:srgbClr val="404040"/>
                </a:solidFill>
                <a:latin typeface="Calibri"/>
                <a:cs typeface="Calibri"/>
              </a:rPr>
              <a:t>memory</a:t>
            </a:r>
            <a:r>
              <a:rPr sz="2000" spc="-10" dirty="0">
                <a:solidFill>
                  <a:srgbClr val="404040"/>
                </a:solidFill>
                <a:latin typeface="Calibri"/>
                <a:cs typeface="Calibri"/>
              </a:rPr>
              <a:t> </a:t>
            </a:r>
            <a:r>
              <a:rPr sz="2000" dirty="0">
                <a:solidFill>
                  <a:srgbClr val="404040"/>
                </a:solidFill>
                <a:latin typeface="Calibri"/>
                <a:cs typeface="Calibri"/>
              </a:rPr>
              <a:t>without</a:t>
            </a:r>
            <a:r>
              <a:rPr sz="2000" spc="-10" dirty="0">
                <a:solidFill>
                  <a:srgbClr val="404040"/>
                </a:solidFill>
                <a:latin typeface="Calibri"/>
                <a:cs typeface="Calibri"/>
              </a:rPr>
              <a:t> </a:t>
            </a:r>
            <a:r>
              <a:rPr sz="2000" dirty="0">
                <a:solidFill>
                  <a:srgbClr val="404040"/>
                </a:solidFill>
                <a:latin typeface="Calibri"/>
                <a:cs typeface="Calibri"/>
              </a:rPr>
              <a:t>UV </a:t>
            </a:r>
            <a:r>
              <a:rPr sz="2000" spc="-5" dirty="0">
                <a:solidFill>
                  <a:srgbClr val="404040"/>
                </a:solidFill>
                <a:latin typeface="Calibri"/>
                <a:cs typeface="Calibri"/>
              </a:rPr>
              <a:t>light.</a:t>
            </a:r>
            <a:endParaRPr sz="2000" dirty="0">
              <a:latin typeface="Calibri"/>
              <a:cs typeface="Calibri"/>
            </a:endParaRPr>
          </a:p>
          <a:p>
            <a:pPr marL="411480" indent="-342900">
              <a:lnSpc>
                <a:spcPts val="2280"/>
              </a:lnSpc>
              <a:spcBef>
                <a:spcPts val="1135"/>
              </a:spcBef>
              <a:buFont typeface="Wingdings" panose="05000000000000000000" pitchFamily="2" charset="2"/>
              <a:buChar char="Ø"/>
            </a:pPr>
            <a:r>
              <a:rPr sz="2000" spc="-5" dirty="0">
                <a:solidFill>
                  <a:srgbClr val="404040"/>
                </a:solidFill>
                <a:latin typeface="Calibri"/>
                <a:cs typeface="Calibri"/>
              </a:rPr>
              <a:t>The</a:t>
            </a:r>
            <a:r>
              <a:rPr sz="2000" dirty="0">
                <a:solidFill>
                  <a:srgbClr val="404040"/>
                </a:solidFill>
                <a:latin typeface="Calibri"/>
                <a:cs typeface="Calibri"/>
              </a:rPr>
              <a:t> </a:t>
            </a:r>
            <a:r>
              <a:rPr sz="2000" spc="-10" dirty="0">
                <a:solidFill>
                  <a:srgbClr val="404040"/>
                </a:solidFill>
                <a:latin typeface="Calibri"/>
                <a:cs typeface="Calibri"/>
              </a:rPr>
              <a:t>problem</a:t>
            </a:r>
            <a:r>
              <a:rPr sz="2000" spc="-5" dirty="0">
                <a:solidFill>
                  <a:srgbClr val="404040"/>
                </a:solidFill>
                <a:latin typeface="Calibri"/>
                <a:cs typeface="Calibri"/>
              </a:rPr>
              <a:t> with</a:t>
            </a:r>
            <a:r>
              <a:rPr sz="2000" spc="10" dirty="0">
                <a:solidFill>
                  <a:srgbClr val="404040"/>
                </a:solidFill>
                <a:latin typeface="Calibri"/>
                <a:cs typeface="Calibri"/>
              </a:rPr>
              <a:t> </a:t>
            </a:r>
            <a:r>
              <a:rPr sz="2000" spc="-5" dirty="0">
                <a:solidFill>
                  <a:srgbClr val="404040"/>
                </a:solidFill>
                <a:latin typeface="Calibri"/>
                <a:cs typeface="Calibri"/>
              </a:rPr>
              <a:t>EEPROM</a:t>
            </a:r>
            <a:r>
              <a:rPr sz="2000" spc="-25" dirty="0">
                <a:solidFill>
                  <a:srgbClr val="404040"/>
                </a:solidFill>
                <a:latin typeface="Calibri"/>
                <a:cs typeface="Calibri"/>
              </a:rPr>
              <a:t> </a:t>
            </a:r>
            <a:r>
              <a:rPr sz="2000" dirty="0">
                <a:solidFill>
                  <a:srgbClr val="404040"/>
                </a:solidFill>
                <a:latin typeface="Calibri"/>
                <a:cs typeface="Calibri"/>
              </a:rPr>
              <a:t>is</a:t>
            </a:r>
            <a:r>
              <a:rPr sz="2000" spc="15" dirty="0">
                <a:solidFill>
                  <a:srgbClr val="404040"/>
                </a:solidFill>
                <a:latin typeface="Calibri"/>
                <a:cs typeface="Calibri"/>
              </a:rPr>
              <a:t> </a:t>
            </a:r>
            <a:r>
              <a:rPr sz="2000" spc="-5" dirty="0">
                <a:solidFill>
                  <a:srgbClr val="404040"/>
                </a:solidFill>
                <a:latin typeface="Calibri"/>
                <a:cs typeface="Calibri"/>
              </a:rPr>
              <a:t>that</a:t>
            </a:r>
            <a:r>
              <a:rPr sz="2000" spc="5" dirty="0">
                <a:solidFill>
                  <a:srgbClr val="404040"/>
                </a:solidFill>
                <a:latin typeface="Calibri"/>
                <a:cs typeface="Calibri"/>
              </a:rPr>
              <a:t> </a:t>
            </a:r>
            <a:r>
              <a:rPr sz="2000" dirty="0">
                <a:solidFill>
                  <a:srgbClr val="404040"/>
                </a:solidFill>
                <a:latin typeface="Calibri"/>
                <a:cs typeface="Calibri"/>
              </a:rPr>
              <a:t>only</a:t>
            </a:r>
            <a:r>
              <a:rPr sz="2000" spc="-15" dirty="0">
                <a:solidFill>
                  <a:srgbClr val="404040"/>
                </a:solidFill>
                <a:latin typeface="Calibri"/>
                <a:cs typeface="Calibri"/>
              </a:rPr>
              <a:t> </a:t>
            </a:r>
            <a:r>
              <a:rPr sz="2000" spc="-5" dirty="0">
                <a:solidFill>
                  <a:srgbClr val="404040"/>
                </a:solidFill>
                <a:latin typeface="Calibri"/>
                <a:cs typeface="Calibri"/>
              </a:rPr>
              <a:t>one byte </a:t>
            </a:r>
            <a:r>
              <a:rPr sz="2000" spc="-15" dirty="0">
                <a:solidFill>
                  <a:srgbClr val="404040"/>
                </a:solidFill>
                <a:latin typeface="Calibri"/>
                <a:cs typeface="Calibri"/>
              </a:rPr>
              <a:t>at</a:t>
            </a:r>
            <a:r>
              <a:rPr sz="2000" spc="10"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a:t>
            </a:r>
            <a:r>
              <a:rPr sz="2000" spc="-5" dirty="0">
                <a:solidFill>
                  <a:srgbClr val="404040"/>
                </a:solidFill>
                <a:latin typeface="Calibri"/>
                <a:cs typeface="Calibri"/>
              </a:rPr>
              <a:t>time</a:t>
            </a:r>
            <a:r>
              <a:rPr sz="2000" spc="15" dirty="0">
                <a:solidFill>
                  <a:srgbClr val="404040"/>
                </a:solidFill>
                <a:latin typeface="Calibri"/>
                <a:cs typeface="Calibri"/>
              </a:rPr>
              <a:t> </a:t>
            </a:r>
            <a:r>
              <a:rPr sz="2000" spc="-5" dirty="0">
                <a:solidFill>
                  <a:srgbClr val="404040"/>
                </a:solidFill>
                <a:latin typeface="Calibri"/>
                <a:cs typeface="Calibri"/>
              </a:rPr>
              <a:t>can</a:t>
            </a:r>
            <a:r>
              <a:rPr sz="2000" spc="-15" dirty="0">
                <a:solidFill>
                  <a:srgbClr val="404040"/>
                </a:solidFill>
                <a:latin typeface="Calibri"/>
                <a:cs typeface="Calibri"/>
              </a:rPr>
              <a:t> </a:t>
            </a:r>
            <a:r>
              <a:rPr sz="2000" spc="-5" dirty="0">
                <a:solidFill>
                  <a:srgbClr val="404040"/>
                </a:solidFill>
                <a:latin typeface="Calibri"/>
                <a:cs typeface="Calibri"/>
              </a:rPr>
              <a:t>be</a:t>
            </a:r>
            <a:r>
              <a:rPr sz="2000" dirty="0">
                <a:solidFill>
                  <a:srgbClr val="404040"/>
                </a:solidFill>
                <a:latin typeface="Calibri"/>
                <a:cs typeface="Calibri"/>
              </a:rPr>
              <a:t> </a:t>
            </a:r>
            <a:r>
              <a:rPr sz="2000" spc="-5" dirty="0">
                <a:solidFill>
                  <a:srgbClr val="404040"/>
                </a:solidFill>
                <a:latin typeface="Calibri"/>
                <a:cs typeface="Calibri"/>
              </a:rPr>
              <a:t>erased</a:t>
            </a:r>
            <a:r>
              <a:rPr sz="2000" spc="10"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t>
            </a:r>
            <a:r>
              <a:rPr sz="2000" spc="-10" dirty="0">
                <a:solidFill>
                  <a:srgbClr val="404040"/>
                </a:solidFill>
                <a:latin typeface="Calibri"/>
                <a:cs typeface="Calibri"/>
              </a:rPr>
              <a:t>re-written,</a:t>
            </a:r>
            <a:r>
              <a:rPr sz="2000" spc="10" dirty="0">
                <a:solidFill>
                  <a:srgbClr val="404040"/>
                </a:solidFill>
                <a:latin typeface="Calibri"/>
                <a:cs typeface="Calibri"/>
              </a:rPr>
              <a:t> </a:t>
            </a:r>
            <a:r>
              <a:rPr sz="2000" spc="-5" dirty="0">
                <a:solidFill>
                  <a:srgbClr val="404040"/>
                </a:solidFill>
                <a:latin typeface="Calibri"/>
                <a:cs typeface="Calibri"/>
              </a:rPr>
              <a:t>so</a:t>
            </a:r>
            <a:r>
              <a:rPr sz="2000" spc="5" dirty="0">
                <a:solidFill>
                  <a:srgbClr val="404040"/>
                </a:solidFill>
                <a:latin typeface="Calibri"/>
                <a:cs typeface="Calibri"/>
              </a:rPr>
              <a:t> </a:t>
            </a:r>
            <a:r>
              <a:rPr sz="2000" dirty="0" smtClean="0">
                <a:solidFill>
                  <a:srgbClr val="404040"/>
                </a:solidFill>
                <a:latin typeface="Calibri"/>
                <a:cs typeface="Calibri"/>
              </a:rPr>
              <a:t>the</a:t>
            </a:r>
            <a:r>
              <a:rPr lang="en-US" sz="2000" dirty="0" smtClean="0">
                <a:solidFill>
                  <a:srgbClr val="404040"/>
                </a:solidFill>
                <a:latin typeface="Calibri"/>
                <a:cs typeface="Calibri"/>
              </a:rPr>
              <a:t> </a:t>
            </a:r>
            <a:r>
              <a:rPr sz="2000" spc="-5" dirty="0" smtClean="0">
                <a:solidFill>
                  <a:srgbClr val="404040"/>
                </a:solidFill>
                <a:latin typeface="Calibri"/>
                <a:cs typeface="Calibri"/>
              </a:rPr>
              <a:t>whole</a:t>
            </a:r>
            <a:r>
              <a:rPr sz="2000" spc="-20" dirty="0" smtClean="0">
                <a:solidFill>
                  <a:srgbClr val="404040"/>
                </a:solidFill>
                <a:latin typeface="Calibri"/>
                <a:cs typeface="Calibri"/>
              </a:rPr>
              <a:t> </a:t>
            </a:r>
            <a:r>
              <a:rPr sz="2000" spc="-10" dirty="0">
                <a:solidFill>
                  <a:srgbClr val="404040"/>
                </a:solidFill>
                <a:latin typeface="Calibri"/>
                <a:cs typeface="Calibri"/>
              </a:rPr>
              <a:t>process</a:t>
            </a:r>
            <a:r>
              <a:rPr sz="2000" dirty="0">
                <a:solidFill>
                  <a:srgbClr val="404040"/>
                </a:solidFill>
                <a:latin typeface="Calibri"/>
                <a:cs typeface="Calibri"/>
              </a:rPr>
              <a:t> is</a:t>
            </a:r>
            <a:r>
              <a:rPr sz="2000" spc="-5" dirty="0">
                <a:solidFill>
                  <a:srgbClr val="404040"/>
                </a:solidFill>
                <a:latin typeface="Calibri"/>
                <a:cs typeface="Calibri"/>
              </a:rPr>
              <a:t> </a:t>
            </a:r>
            <a:r>
              <a:rPr sz="2000" spc="-10" dirty="0">
                <a:solidFill>
                  <a:srgbClr val="404040"/>
                </a:solidFill>
                <a:latin typeface="Calibri"/>
                <a:cs typeface="Calibri"/>
              </a:rPr>
              <a:t>too</a:t>
            </a:r>
            <a:r>
              <a:rPr sz="2000" spc="-5" dirty="0">
                <a:solidFill>
                  <a:srgbClr val="404040"/>
                </a:solidFill>
                <a:latin typeface="Calibri"/>
                <a:cs typeface="Calibri"/>
              </a:rPr>
              <a:t> </a:t>
            </a:r>
            <a:r>
              <a:rPr sz="2000" spc="-10" dirty="0">
                <a:solidFill>
                  <a:srgbClr val="404040"/>
                </a:solidFill>
                <a:latin typeface="Calibri"/>
                <a:cs typeface="Calibri"/>
              </a:rPr>
              <a:t>slow</a:t>
            </a:r>
            <a:r>
              <a:rPr sz="2000" dirty="0">
                <a:solidFill>
                  <a:srgbClr val="404040"/>
                </a:solidFill>
                <a:latin typeface="Calibri"/>
                <a:cs typeface="Calibri"/>
              </a:rPr>
              <a:t> </a:t>
            </a:r>
            <a:r>
              <a:rPr sz="2000" spc="-15" dirty="0">
                <a:solidFill>
                  <a:srgbClr val="404040"/>
                </a:solidFill>
                <a:latin typeface="Calibri"/>
                <a:cs typeface="Calibri"/>
              </a:rPr>
              <a:t>for</a:t>
            </a:r>
            <a:r>
              <a:rPr sz="2000" spc="-20" dirty="0">
                <a:solidFill>
                  <a:srgbClr val="404040"/>
                </a:solidFill>
                <a:latin typeface="Calibri"/>
                <a:cs typeface="Calibri"/>
              </a:rPr>
              <a:t> </a:t>
            </a:r>
            <a:r>
              <a:rPr sz="2000" spc="-10" dirty="0">
                <a:solidFill>
                  <a:srgbClr val="404040"/>
                </a:solidFill>
                <a:latin typeface="Calibri"/>
                <a:cs typeface="Calibri"/>
              </a:rPr>
              <a:t>large</a:t>
            </a:r>
            <a:r>
              <a:rPr sz="2000" spc="-5" dirty="0">
                <a:solidFill>
                  <a:srgbClr val="404040"/>
                </a:solidFill>
                <a:latin typeface="Calibri"/>
                <a:cs typeface="Calibri"/>
              </a:rPr>
              <a:t> amounts</a:t>
            </a:r>
            <a:r>
              <a:rPr sz="2000" dirty="0">
                <a:solidFill>
                  <a:srgbClr val="404040"/>
                </a:solidFill>
                <a:latin typeface="Calibri"/>
                <a:cs typeface="Calibri"/>
              </a:rPr>
              <a:t> of</a:t>
            </a:r>
            <a:r>
              <a:rPr sz="2000" spc="-15" dirty="0">
                <a:solidFill>
                  <a:srgbClr val="404040"/>
                </a:solidFill>
                <a:latin typeface="Calibri"/>
                <a:cs typeface="Calibri"/>
              </a:rPr>
              <a:t> </a:t>
            </a:r>
            <a:r>
              <a:rPr sz="2000" spc="-10" dirty="0">
                <a:solidFill>
                  <a:srgbClr val="404040"/>
                </a:solidFill>
                <a:latin typeface="Calibri"/>
                <a:cs typeface="Calibri"/>
              </a:rPr>
              <a:t>data.</a:t>
            </a:r>
            <a:endParaRPr sz="2000" dirty="0">
              <a:latin typeface="Calibri"/>
              <a:cs typeface="Calibri"/>
            </a:endParaRPr>
          </a:p>
          <a:p>
            <a:pPr marL="355600" marR="5080" indent="-342900">
              <a:lnSpc>
                <a:spcPts val="2160"/>
              </a:lnSpc>
              <a:spcBef>
                <a:spcPts val="1440"/>
              </a:spcBef>
              <a:buFont typeface="Wingdings" panose="05000000000000000000" pitchFamily="2" charset="2"/>
              <a:buChar char="Ø"/>
            </a:pPr>
            <a:r>
              <a:rPr sz="2000" spc="-15" dirty="0">
                <a:solidFill>
                  <a:srgbClr val="404040"/>
                </a:solidFill>
                <a:latin typeface="Calibri"/>
                <a:cs typeface="Calibri"/>
              </a:rPr>
              <a:t>So,</a:t>
            </a:r>
            <a:r>
              <a:rPr sz="2000" spc="5" dirty="0">
                <a:solidFill>
                  <a:srgbClr val="404040"/>
                </a:solidFill>
                <a:latin typeface="Calibri"/>
                <a:cs typeface="Calibri"/>
              </a:rPr>
              <a:t> </a:t>
            </a:r>
            <a:r>
              <a:rPr sz="2000" spc="-5" dirty="0">
                <a:solidFill>
                  <a:srgbClr val="404040"/>
                </a:solidFill>
                <a:latin typeface="Calibri"/>
                <a:cs typeface="Calibri"/>
              </a:rPr>
              <a:t>EEPROMs</a:t>
            </a:r>
            <a:r>
              <a:rPr sz="2000" spc="-20" dirty="0">
                <a:solidFill>
                  <a:srgbClr val="404040"/>
                </a:solidFill>
                <a:latin typeface="Calibri"/>
                <a:cs typeface="Calibri"/>
              </a:rPr>
              <a:t> </a:t>
            </a:r>
            <a:r>
              <a:rPr sz="2000" spc="-10" dirty="0">
                <a:solidFill>
                  <a:srgbClr val="404040"/>
                </a:solidFill>
                <a:latin typeface="Calibri"/>
                <a:cs typeface="Calibri"/>
              </a:rPr>
              <a:t>are</a:t>
            </a:r>
            <a:r>
              <a:rPr sz="2000" spc="10" dirty="0">
                <a:solidFill>
                  <a:srgbClr val="404040"/>
                </a:solidFill>
                <a:latin typeface="Calibri"/>
                <a:cs typeface="Calibri"/>
              </a:rPr>
              <a:t> </a:t>
            </a:r>
            <a:r>
              <a:rPr sz="2000" spc="-5" dirty="0">
                <a:solidFill>
                  <a:srgbClr val="404040"/>
                </a:solidFill>
                <a:latin typeface="Calibri"/>
                <a:cs typeface="Calibri"/>
              </a:rPr>
              <a:t>used</a:t>
            </a:r>
            <a:r>
              <a:rPr sz="2000" spc="10" dirty="0">
                <a:solidFill>
                  <a:srgbClr val="404040"/>
                </a:solidFill>
                <a:latin typeface="Calibri"/>
                <a:cs typeface="Calibri"/>
              </a:rPr>
              <a:t> </a:t>
            </a:r>
            <a:r>
              <a:rPr sz="2000" dirty="0">
                <a:solidFill>
                  <a:srgbClr val="404040"/>
                </a:solidFill>
                <a:latin typeface="Calibri"/>
                <a:cs typeface="Calibri"/>
              </a:rPr>
              <a:t>in</a:t>
            </a:r>
            <a:r>
              <a:rPr sz="2000" spc="-5" dirty="0">
                <a:solidFill>
                  <a:srgbClr val="404040"/>
                </a:solidFill>
                <a:latin typeface="Calibri"/>
                <a:cs typeface="Calibri"/>
              </a:rPr>
              <a:t> </a:t>
            </a:r>
            <a:r>
              <a:rPr sz="2000" spc="-20" dirty="0">
                <a:solidFill>
                  <a:srgbClr val="404040"/>
                </a:solidFill>
                <a:latin typeface="Calibri"/>
                <a:cs typeface="Calibri"/>
              </a:rPr>
              <a:t>systems</a:t>
            </a:r>
            <a:r>
              <a:rPr sz="2000" spc="30" dirty="0">
                <a:solidFill>
                  <a:srgbClr val="404040"/>
                </a:solidFill>
                <a:latin typeface="Calibri"/>
                <a:cs typeface="Calibri"/>
              </a:rPr>
              <a:t> </a:t>
            </a:r>
            <a:r>
              <a:rPr sz="2000" dirty="0">
                <a:solidFill>
                  <a:srgbClr val="404040"/>
                </a:solidFill>
                <a:latin typeface="Calibri"/>
                <a:cs typeface="Calibri"/>
              </a:rPr>
              <a:t>which </a:t>
            </a:r>
            <a:r>
              <a:rPr sz="2000" spc="-5" dirty="0">
                <a:solidFill>
                  <a:srgbClr val="404040"/>
                </a:solidFill>
                <a:latin typeface="Calibri"/>
                <a:cs typeface="Calibri"/>
              </a:rPr>
              <a:t>need</a:t>
            </a:r>
            <a:r>
              <a:rPr sz="2000" spc="5" dirty="0">
                <a:solidFill>
                  <a:srgbClr val="404040"/>
                </a:solidFill>
                <a:latin typeface="Calibri"/>
                <a:cs typeface="Calibri"/>
              </a:rPr>
              <a:t> </a:t>
            </a:r>
            <a:r>
              <a:rPr sz="2000" spc="-15" dirty="0">
                <a:solidFill>
                  <a:srgbClr val="404040"/>
                </a:solidFill>
                <a:latin typeface="Calibri"/>
                <a:cs typeface="Calibri"/>
              </a:rPr>
              <a:t>to</a:t>
            </a:r>
            <a:r>
              <a:rPr sz="2000" dirty="0">
                <a:solidFill>
                  <a:srgbClr val="404040"/>
                </a:solidFill>
                <a:latin typeface="Calibri"/>
                <a:cs typeface="Calibri"/>
              </a:rPr>
              <a:t> </a:t>
            </a:r>
            <a:r>
              <a:rPr sz="2000" spc="-20" dirty="0">
                <a:solidFill>
                  <a:srgbClr val="404040"/>
                </a:solidFill>
                <a:latin typeface="Calibri"/>
                <a:cs typeface="Calibri"/>
              </a:rPr>
              <a:t>store</a:t>
            </a:r>
            <a:r>
              <a:rPr sz="2000" spc="10" dirty="0">
                <a:solidFill>
                  <a:srgbClr val="404040"/>
                </a:solidFill>
                <a:latin typeface="Calibri"/>
                <a:cs typeface="Calibri"/>
              </a:rPr>
              <a:t> </a:t>
            </a:r>
            <a:r>
              <a:rPr sz="2000" spc="-5" dirty="0">
                <a:solidFill>
                  <a:srgbClr val="404040"/>
                </a:solidFill>
                <a:latin typeface="Calibri"/>
                <a:cs typeface="Calibri"/>
              </a:rPr>
              <a:t>small</a:t>
            </a:r>
            <a:r>
              <a:rPr sz="2000" spc="20" dirty="0">
                <a:solidFill>
                  <a:srgbClr val="404040"/>
                </a:solidFill>
                <a:latin typeface="Calibri"/>
                <a:cs typeface="Calibri"/>
              </a:rPr>
              <a:t> </a:t>
            </a:r>
            <a:r>
              <a:rPr sz="2000" spc="-5" dirty="0">
                <a:solidFill>
                  <a:srgbClr val="404040"/>
                </a:solidFill>
                <a:latin typeface="Calibri"/>
                <a:cs typeface="Calibri"/>
              </a:rPr>
              <a:t>amounts</a:t>
            </a:r>
            <a:r>
              <a:rPr sz="2000" spc="10" dirty="0">
                <a:solidFill>
                  <a:srgbClr val="404040"/>
                </a:solidFill>
                <a:latin typeface="Calibri"/>
                <a:cs typeface="Calibri"/>
              </a:rPr>
              <a:t> </a:t>
            </a:r>
            <a:r>
              <a:rPr sz="2000" spc="-5" dirty="0">
                <a:solidFill>
                  <a:srgbClr val="404040"/>
                </a:solidFill>
                <a:latin typeface="Calibri"/>
                <a:cs typeface="Calibri"/>
              </a:rPr>
              <a:t>of </a:t>
            </a:r>
            <a:r>
              <a:rPr sz="2000" spc="-10" dirty="0">
                <a:solidFill>
                  <a:srgbClr val="404040"/>
                </a:solidFill>
                <a:latin typeface="Calibri"/>
                <a:cs typeface="Calibri"/>
              </a:rPr>
              <a:t>information</a:t>
            </a:r>
            <a:r>
              <a:rPr sz="2000" spc="10" dirty="0">
                <a:solidFill>
                  <a:srgbClr val="404040"/>
                </a:solidFill>
                <a:latin typeface="Calibri"/>
                <a:cs typeface="Calibri"/>
              </a:rPr>
              <a:t> </a:t>
            </a:r>
            <a:r>
              <a:rPr sz="2000" dirty="0">
                <a:solidFill>
                  <a:srgbClr val="404040"/>
                </a:solidFill>
                <a:latin typeface="Calibri"/>
                <a:cs typeface="Calibri"/>
              </a:rPr>
              <a:t>which</a:t>
            </a:r>
            <a:r>
              <a:rPr sz="2000" spc="5" dirty="0">
                <a:solidFill>
                  <a:srgbClr val="404040"/>
                </a:solidFill>
                <a:latin typeface="Calibri"/>
                <a:cs typeface="Calibri"/>
              </a:rPr>
              <a:t> </a:t>
            </a:r>
            <a:r>
              <a:rPr sz="2000" spc="-15" dirty="0">
                <a:solidFill>
                  <a:srgbClr val="404040"/>
                </a:solidFill>
                <a:latin typeface="Calibri"/>
                <a:cs typeface="Calibri"/>
              </a:rPr>
              <a:t>may </a:t>
            </a:r>
            <a:r>
              <a:rPr sz="2000" spc="-434" dirty="0">
                <a:solidFill>
                  <a:srgbClr val="404040"/>
                </a:solidFill>
                <a:latin typeface="Calibri"/>
                <a:cs typeface="Calibri"/>
              </a:rPr>
              <a:t> </a:t>
            </a:r>
            <a:r>
              <a:rPr sz="2000" spc="-5" dirty="0">
                <a:solidFill>
                  <a:srgbClr val="404040"/>
                </a:solidFill>
                <a:latin typeface="Calibri"/>
                <a:cs typeface="Calibri"/>
              </a:rPr>
              <a:t>be</a:t>
            </a:r>
            <a:r>
              <a:rPr sz="2000" spc="-10" dirty="0">
                <a:solidFill>
                  <a:srgbClr val="404040"/>
                </a:solidFill>
                <a:latin typeface="Calibri"/>
                <a:cs typeface="Calibri"/>
              </a:rPr>
              <a:t> required</a:t>
            </a:r>
            <a:r>
              <a:rPr sz="2000" spc="5" dirty="0">
                <a:solidFill>
                  <a:srgbClr val="404040"/>
                </a:solidFill>
                <a:latin typeface="Calibri"/>
                <a:cs typeface="Calibri"/>
              </a:rPr>
              <a:t> </a:t>
            </a:r>
            <a:r>
              <a:rPr sz="2000" spc="-10" dirty="0">
                <a:solidFill>
                  <a:srgbClr val="404040"/>
                </a:solidFill>
                <a:latin typeface="Calibri"/>
                <a:cs typeface="Calibri"/>
              </a:rPr>
              <a:t>to</a:t>
            </a:r>
            <a:r>
              <a:rPr sz="2000" spc="-5" dirty="0">
                <a:solidFill>
                  <a:srgbClr val="404040"/>
                </a:solidFill>
                <a:latin typeface="Calibri"/>
                <a:cs typeface="Calibri"/>
              </a:rPr>
              <a:t> be</a:t>
            </a:r>
            <a:r>
              <a:rPr sz="2000" dirty="0">
                <a:solidFill>
                  <a:srgbClr val="404040"/>
                </a:solidFill>
                <a:latin typeface="Calibri"/>
                <a:cs typeface="Calibri"/>
              </a:rPr>
              <a:t> </a:t>
            </a:r>
            <a:r>
              <a:rPr sz="2000" spc="-15" dirty="0">
                <a:solidFill>
                  <a:srgbClr val="404040"/>
                </a:solidFill>
                <a:latin typeface="Calibri"/>
                <a:cs typeface="Calibri"/>
              </a:rPr>
              <a:t>rarely</a:t>
            </a:r>
            <a:r>
              <a:rPr sz="2000" spc="5" dirty="0">
                <a:solidFill>
                  <a:srgbClr val="404040"/>
                </a:solidFill>
                <a:latin typeface="Calibri"/>
                <a:cs typeface="Calibri"/>
              </a:rPr>
              <a:t> </a:t>
            </a:r>
            <a:r>
              <a:rPr sz="2000" dirty="0">
                <a:solidFill>
                  <a:srgbClr val="404040"/>
                </a:solidFill>
                <a:latin typeface="Calibri"/>
                <a:cs typeface="Calibri"/>
              </a:rPr>
              <a:t>changed,</a:t>
            </a:r>
            <a:r>
              <a:rPr sz="2000" spc="-25" dirty="0">
                <a:solidFill>
                  <a:srgbClr val="404040"/>
                </a:solidFill>
                <a:latin typeface="Calibri"/>
                <a:cs typeface="Calibri"/>
              </a:rPr>
              <a:t> </a:t>
            </a:r>
            <a:r>
              <a:rPr sz="2000" spc="-20" dirty="0">
                <a:solidFill>
                  <a:srgbClr val="404040"/>
                </a:solidFill>
                <a:latin typeface="Calibri"/>
                <a:cs typeface="Calibri"/>
              </a:rPr>
              <a:t>like</a:t>
            </a:r>
            <a:r>
              <a:rPr sz="2000" spc="15" dirty="0">
                <a:solidFill>
                  <a:srgbClr val="404040"/>
                </a:solidFill>
                <a:latin typeface="Calibri"/>
                <a:cs typeface="Calibri"/>
              </a:rPr>
              <a:t> </a:t>
            </a:r>
            <a:r>
              <a:rPr sz="2000" spc="-10" dirty="0">
                <a:solidFill>
                  <a:srgbClr val="404040"/>
                </a:solidFill>
                <a:latin typeface="Calibri"/>
                <a:cs typeface="Calibri"/>
              </a:rPr>
              <a:t>calibration</a:t>
            </a:r>
            <a:r>
              <a:rPr sz="2000" spc="5" dirty="0">
                <a:solidFill>
                  <a:srgbClr val="404040"/>
                </a:solidFill>
                <a:latin typeface="Calibri"/>
                <a:cs typeface="Calibri"/>
              </a:rPr>
              <a:t> </a:t>
            </a:r>
            <a:r>
              <a:rPr sz="2000" spc="-5" dirty="0">
                <a:solidFill>
                  <a:srgbClr val="404040"/>
                </a:solidFill>
                <a:latin typeface="Calibri"/>
                <a:cs typeface="Calibri"/>
              </a:rPr>
              <a:t>tables,</a:t>
            </a:r>
            <a:r>
              <a:rPr sz="2000" spc="10" dirty="0">
                <a:solidFill>
                  <a:srgbClr val="404040"/>
                </a:solidFill>
                <a:latin typeface="Calibri"/>
                <a:cs typeface="Calibri"/>
              </a:rPr>
              <a:t> </a:t>
            </a:r>
            <a:r>
              <a:rPr sz="2000" spc="-10" dirty="0">
                <a:solidFill>
                  <a:srgbClr val="404040"/>
                </a:solidFill>
                <a:latin typeface="Calibri"/>
                <a:cs typeface="Calibri"/>
              </a:rPr>
              <a:t>configuration</a:t>
            </a:r>
            <a:r>
              <a:rPr sz="2000" spc="-20" dirty="0">
                <a:solidFill>
                  <a:srgbClr val="404040"/>
                </a:solidFill>
                <a:latin typeface="Calibri"/>
                <a:cs typeface="Calibri"/>
              </a:rPr>
              <a:t> </a:t>
            </a:r>
            <a:r>
              <a:rPr sz="2000" spc="-10" dirty="0">
                <a:solidFill>
                  <a:srgbClr val="404040"/>
                </a:solidFill>
                <a:latin typeface="Calibri"/>
                <a:cs typeface="Calibri"/>
              </a:rPr>
              <a:t>information</a:t>
            </a:r>
            <a:r>
              <a:rPr sz="2000" spc="5" dirty="0">
                <a:solidFill>
                  <a:srgbClr val="404040"/>
                </a:solidFill>
                <a:latin typeface="Calibri"/>
                <a:cs typeface="Calibri"/>
              </a:rPr>
              <a:t> </a:t>
            </a:r>
            <a:r>
              <a:rPr sz="2000" spc="-10" dirty="0">
                <a:solidFill>
                  <a:srgbClr val="404040"/>
                </a:solidFill>
                <a:latin typeface="Calibri"/>
                <a:cs typeface="Calibri"/>
              </a:rPr>
              <a:t>etc.</a:t>
            </a:r>
            <a:endParaRPr sz="2000" dirty="0">
              <a:latin typeface="Calibri"/>
              <a:cs typeface="Calibri"/>
            </a:endParaRPr>
          </a:p>
          <a:p>
            <a:pPr marL="355600" indent="-342900">
              <a:lnSpc>
                <a:spcPct val="100000"/>
              </a:lnSpc>
              <a:spcBef>
                <a:spcPts val="1120"/>
              </a:spcBef>
              <a:buFont typeface="Wingdings" panose="05000000000000000000" pitchFamily="2" charset="2"/>
              <a:buChar char="Ø"/>
            </a:pPr>
            <a:r>
              <a:rPr sz="2000" spc="-10" dirty="0">
                <a:solidFill>
                  <a:srgbClr val="404040"/>
                </a:solidFill>
                <a:latin typeface="Calibri"/>
                <a:cs typeface="Calibri"/>
              </a:rPr>
              <a:t>Many</a:t>
            </a:r>
            <a:r>
              <a:rPr sz="2000" spc="-20" dirty="0">
                <a:solidFill>
                  <a:srgbClr val="404040"/>
                </a:solidFill>
                <a:latin typeface="Calibri"/>
                <a:cs typeface="Calibri"/>
              </a:rPr>
              <a:t> </a:t>
            </a:r>
            <a:r>
              <a:rPr sz="2000" dirty="0">
                <a:solidFill>
                  <a:srgbClr val="404040"/>
                </a:solidFill>
                <a:latin typeface="Calibri"/>
                <a:cs typeface="Calibri"/>
              </a:rPr>
              <a:t>MCUs</a:t>
            </a:r>
            <a:r>
              <a:rPr sz="2000" spc="-15" dirty="0">
                <a:solidFill>
                  <a:srgbClr val="404040"/>
                </a:solidFill>
                <a:latin typeface="Calibri"/>
                <a:cs typeface="Calibri"/>
              </a:rPr>
              <a:t> </a:t>
            </a:r>
            <a:r>
              <a:rPr sz="2000" spc="-5" dirty="0">
                <a:solidFill>
                  <a:srgbClr val="404040"/>
                </a:solidFill>
                <a:latin typeface="Calibri"/>
                <a:cs typeface="Calibri"/>
              </a:rPr>
              <a:t>(PIC,</a:t>
            </a:r>
            <a:r>
              <a:rPr sz="2000" spc="10" dirty="0">
                <a:solidFill>
                  <a:srgbClr val="404040"/>
                </a:solidFill>
                <a:latin typeface="Calibri"/>
                <a:cs typeface="Calibri"/>
              </a:rPr>
              <a:t> </a:t>
            </a:r>
            <a:r>
              <a:rPr sz="2000" spc="-15" dirty="0">
                <a:solidFill>
                  <a:srgbClr val="404040"/>
                </a:solidFill>
                <a:latin typeface="Calibri"/>
                <a:cs typeface="Calibri"/>
              </a:rPr>
              <a:t>for </a:t>
            </a:r>
            <a:r>
              <a:rPr sz="2000" spc="-10" dirty="0">
                <a:solidFill>
                  <a:srgbClr val="404040"/>
                </a:solidFill>
                <a:latin typeface="Calibri"/>
                <a:cs typeface="Calibri"/>
              </a:rPr>
              <a:t>example)</a:t>
            </a:r>
            <a:r>
              <a:rPr sz="2000" spc="20" dirty="0">
                <a:solidFill>
                  <a:srgbClr val="404040"/>
                </a:solidFill>
                <a:latin typeface="Calibri"/>
                <a:cs typeface="Calibri"/>
              </a:rPr>
              <a:t> </a:t>
            </a:r>
            <a:r>
              <a:rPr sz="2000" spc="-20" dirty="0">
                <a:solidFill>
                  <a:srgbClr val="404040"/>
                </a:solidFill>
                <a:latin typeface="Calibri"/>
                <a:cs typeface="Calibri"/>
              </a:rPr>
              <a:t>have</a:t>
            </a:r>
            <a:r>
              <a:rPr sz="2000" spc="5" dirty="0">
                <a:solidFill>
                  <a:srgbClr val="404040"/>
                </a:solidFill>
                <a:latin typeface="Calibri"/>
                <a:cs typeface="Calibri"/>
              </a:rPr>
              <a:t> </a:t>
            </a:r>
            <a:r>
              <a:rPr sz="2000" dirty="0">
                <a:solidFill>
                  <a:srgbClr val="404040"/>
                </a:solidFill>
                <a:latin typeface="Calibri"/>
                <a:cs typeface="Calibri"/>
              </a:rPr>
              <a:t>a </a:t>
            </a:r>
            <a:r>
              <a:rPr sz="2000" spc="-5" dirty="0">
                <a:solidFill>
                  <a:srgbClr val="404040"/>
                </a:solidFill>
                <a:latin typeface="Calibri"/>
                <a:cs typeface="Calibri"/>
              </a:rPr>
              <a:t>small</a:t>
            </a:r>
            <a:r>
              <a:rPr sz="2000" spc="15" dirty="0">
                <a:solidFill>
                  <a:srgbClr val="404040"/>
                </a:solidFill>
                <a:latin typeface="Calibri"/>
                <a:cs typeface="Calibri"/>
              </a:rPr>
              <a:t> </a:t>
            </a:r>
            <a:r>
              <a:rPr sz="2000" spc="-5" dirty="0">
                <a:solidFill>
                  <a:srgbClr val="404040"/>
                </a:solidFill>
                <a:latin typeface="Calibri"/>
                <a:cs typeface="Calibri"/>
              </a:rPr>
              <a:t>amount</a:t>
            </a:r>
            <a:r>
              <a:rPr sz="2000" dirty="0">
                <a:solidFill>
                  <a:srgbClr val="404040"/>
                </a:solidFill>
                <a:latin typeface="Calibri"/>
                <a:cs typeface="Calibri"/>
              </a:rPr>
              <a:t> </a:t>
            </a:r>
            <a:r>
              <a:rPr sz="2000" spc="-5" dirty="0">
                <a:solidFill>
                  <a:srgbClr val="404040"/>
                </a:solidFill>
                <a:latin typeface="Calibri"/>
                <a:cs typeface="Calibri"/>
              </a:rPr>
              <a:t>of</a:t>
            </a:r>
            <a:r>
              <a:rPr sz="2000" dirty="0">
                <a:solidFill>
                  <a:srgbClr val="404040"/>
                </a:solidFill>
                <a:latin typeface="Calibri"/>
                <a:cs typeface="Calibri"/>
              </a:rPr>
              <a:t> </a:t>
            </a:r>
            <a:r>
              <a:rPr sz="2000" spc="-5" dirty="0">
                <a:solidFill>
                  <a:srgbClr val="404040"/>
                </a:solidFill>
                <a:latin typeface="Calibri"/>
                <a:cs typeface="Calibri"/>
              </a:rPr>
              <a:t>EEPROM</a:t>
            </a:r>
            <a:r>
              <a:rPr sz="2000" spc="-30" dirty="0">
                <a:solidFill>
                  <a:srgbClr val="404040"/>
                </a:solidFill>
                <a:latin typeface="Calibri"/>
                <a:cs typeface="Calibri"/>
              </a:rPr>
              <a:t> </a:t>
            </a:r>
            <a:r>
              <a:rPr sz="2000" spc="-5" dirty="0">
                <a:solidFill>
                  <a:srgbClr val="404040"/>
                </a:solidFill>
                <a:latin typeface="Calibri"/>
                <a:cs typeface="Calibri"/>
              </a:rPr>
              <a:t>inside</a:t>
            </a:r>
            <a:r>
              <a:rPr sz="2000" spc="15" dirty="0">
                <a:solidFill>
                  <a:srgbClr val="404040"/>
                </a:solidFill>
                <a:latin typeface="Calibri"/>
                <a:cs typeface="Calibri"/>
              </a:rPr>
              <a:t> </a:t>
            </a:r>
            <a:r>
              <a:rPr sz="2000" dirty="0">
                <a:solidFill>
                  <a:srgbClr val="404040"/>
                </a:solidFill>
                <a:latin typeface="Calibri"/>
                <a:cs typeface="Calibri"/>
              </a:rPr>
              <a:t>them.</a:t>
            </a:r>
            <a:endParaRPr sz="2000" dirty="0">
              <a:latin typeface="Calibri"/>
              <a:cs typeface="Calibri"/>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24</a:t>
            </a:r>
            <a:endParaRPr sz="1050">
              <a:latin typeface="Calibri"/>
              <a:cs typeface="Calibri"/>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24941"/>
            <a:ext cx="4690110" cy="757555"/>
          </a:xfrm>
          <a:prstGeom prst="rect">
            <a:avLst/>
          </a:prstGeom>
        </p:spPr>
        <p:txBody>
          <a:bodyPr vert="horz" wrap="square" lIns="0" tIns="12700" rIns="0" bIns="0" rtlCol="0">
            <a:spAutoFit/>
          </a:bodyPr>
          <a:lstStyle/>
          <a:p>
            <a:pPr marL="12700">
              <a:lnSpc>
                <a:spcPct val="100000"/>
              </a:lnSpc>
              <a:spcBef>
                <a:spcPts val="100"/>
              </a:spcBef>
            </a:pPr>
            <a:r>
              <a:rPr sz="4800" b="0" i="1" spc="-95" dirty="0" smtClean="0">
                <a:solidFill>
                  <a:srgbClr val="404040"/>
                </a:solidFill>
                <a:latin typeface="Calibri Light"/>
                <a:cs typeface="Calibri Light"/>
              </a:rPr>
              <a:t> </a:t>
            </a:r>
            <a:r>
              <a:rPr sz="4800" b="0" i="1" spc="-50" dirty="0">
                <a:solidFill>
                  <a:srgbClr val="404040"/>
                </a:solidFill>
                <a:latin typeface="Calibri Light"/>
                <a:cs typeface="Calibri Light"/>
              </a:rPr>
              <a:t>Flash</a:t>
            </a:r>
            <a:r>
              <a:rPr sz="4800" b="0" i="1" spc="-85" dirty="0">
                <a:solidFill>
                  <a:srgbClr val="404040"/>
                </a:solidFill>
                <a:latin typeface="Calibri Light"/>
                <a:cs typeface="Calibri Light"/>
              </a:rPr>
              <a:t> </a:t>
            </a:r>
            <a:r>
              <a:rPr sz="4800" b="0" i="1" spc="-50" dirty="0">
                <a:solidFill>
                  <a:srgbClr val="404040"/>
                </a:solidFill>
                <a:latin typeface="Calibri Light"/>
                <a:cs typeface="Calibri Light"/>
              </a:rPr>
              <a:t>ROM</a:t>
            </a:r>
            <a:endParaRPr sz="4800" dirty="0">
              <a:latin typeface="Calibri Light"/>
              <a:cs typeface="Calibri Light"/>
            </a:endParaRPr>
          </a:p>
        </p:txBody>
      </p:sp>
      <p:sp>
        <p:nvSpPr>
          <p:cNvPr id="7" name="object 7"/>
          <p:cNvSpPr txBox="1"/>
          <p:nvPr/>
        </p:nvSpPr>
        <p:spPr>
          <a:xfrm>
            <a:off x="1176324" y="1831975"/>
            <a:ext cx="9986645" cy="2907847"/>
          </a:xfrm>
          <a:prstGeom prst="rect">
            <a:avLst/>
          </a:prstGeom>
        </p:spPr>
        <p:txBody>
          <a:bodyPr vert="horz" wrap="square" lIns="0" tIns="47625" rIns="0" bIns="0" rtlCol="0">
            <a:spAutoFit/>
          </a:bodyPr>
          <a:lstStyle/>
          <a:p>
            <a:pPr marL="355600" marR="5080" indent="-342900">
              <a:lnSpc>
                <a:spcPts val="2160"/>
              </a:lnSpc>
              <a:spcBef>
                <a:spcPts val="375"/>
              </a:spcBef>
              <a:buFont typeface="Wingdings" panose="05000000000000000000" pitchFamily="2" charset="2"/>
              <a:buChar char="Ø"/>
            </a:pPr>
            <a:r>
              <a:rPr sz="2000" spc="-5" dirty="0">
                <a:solidFill>
                  <a:srgbClr val="404040"/>
                </a:solidFill>
                <a:latin typeface="Calibri"/>
                <a:cs typeface="Calibri"/>
              </a:rPr>
              <a:t>This </a:t>
            </a:r>
            <a:r>
              <a:rPr sz="2000" dirty="0">
                <a:solidFill>
                  <a:srgbClr val="404040"/>
                </a:solidFill>
                <a:latin typeface="Calibri"/>
                <a:cs typeface="Calibri"/>
              </a:rPr>
              <a:t>is</a:t>
            </a:r>
            <a:r>
              <a:rPr sz="2000" spc="15" dirty="0">
                <a:solidFill>
                  <a:srgbClr val="404040"/>
                </a:solidFill>
                <a:latin typeface="Calibri"/>
                <a:cs typeface="Calibri"/>
              </a:rPr>
              <a:t> </a:t>
            </a:r>
            <a:r>
              <a:rPr sz="2000" dirty="0">
                <a:solidFill>
                  <a:srgbClr val="404040"/>
                </a:solidFill>
                <a:latin typeface="Calibri"/>
                <a:cs typeface="Calibri"/>
              </a:rPr>
              <a:t>the</a:t>
            </a:r>
            <a:r>
              <a:rPr sz="2000" spc="10" dirty="0">
                <a:solidFill>
                  <a:srgbClr val="404040"/>
                </a:solidFill>
                <a:latin typeface="Calibri"/>
                <a:cs typeface="Calibri"/>
              </a:rPr>
              <a:t> </a:t>
            </a:r>
            <a:r>
              <a:rPr sz="2000" dirty="0">
                <a:solidFill>
                  <a:srgbClr val="404040"/>
                </a:solidFill>
                <a:latin typeface="Calibri"/>
                <a:cs typeface="Calibri"/>
              </a:rPr>
              <a:t>type</a:t>
            </a:r>
            <a:r>
              <a:rPr sz="2000" spc="-15" dirty="0">
                <a:solidFill>
                  <a:srgbClr val="404040"/>
                </a:solidFill>
                <a:latin typeface="Calibri"/>
                <a:cs typeface="Calibri"/>
              </a:rPr>
              <a:t> </a:t>
            </a:r>
            <a:r>
              <a:rPr sz="2000" spc="-5" dirty="0">
                <a:solidFill>
                  <a:srgbClr val="404040"/>
                </a:solidFill>
                <a:latin typeface="Calibri"/>
                <a:cs typeface="Calibri"/>
              </a:rPr>
              <a:t>of</a:t>
            </a:r>
            <a:r>
              <a:rPr sz="2000" dirty="0">
                <a:solidFill>
                  <a:srgbClr val="404040"/>
                </a:solidFill>
                <a:latin typeface="Calibri"/>
                <a:cs typeface="Calibri"/>
              </a:rPr>
              <a:t> </a:t>
            </a:r>
            <a:r>
              <a:rPr sz="2000" spc="-10" dirty="0">
                <a:solidFill>
                  <a:srgbClr val="404040"/>
                </a:solidFill>
                <a:latin typeface="Calibri"/>
                <a:cs typeface="Calibri"/>
              </a:rPr>
              <a:t>ROM</a:t>
            </a:r>
            <a:r>
              <a:rPr sz="2000" dirty="0">
                <a:solidFill>
                  <a:srgbClr val="404040"/>
                </a:solidFill>
                <a:latin typeface="Calibri"/>
                <a:cs typeface="Calibri"/>
              </a:rPr>
              <a:t> which</a:t>
            </a:r>
            <a:r>
              <a:rPr sz="2000" spc="5"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erasable</a:t>
            </a:r>
            <a:r>
              <a:rPr sz="2000" spc="15" dirty="0">
                <a:solidFill>
                  <a:srgbClr val="404040"/>
                </a:solidFill>
                <a:latin typeface="Calibri"/>
                <a:cs typeface="Calibri"/>
              </a:rPr>
              <a:t> </a:t>
            </a:r>
            <a:r>
              <a:rPr sz="2000" dirty="0">
                <a:solidFill>
                  <a:srgbClr val="404040"/>
                </a:solidFill>
                <a:latin typeface="Calibri"/>
                <a:cs typeface="Calibri"/>
              </a:rPr>
              <a:t>and </a:t>
            </a:r>
            <a:r>
              <a:rPr sz="2000" spc="-10" dirty="0">
                <a:solidFill>
                  <a:srgbClr val="404040"/>
                </a:solidFill>
                <a:latin typeface="Calibri"/>
                <a:cs typeface="Calibri"/>
              </a:rPr>
              <a:t>re-writable</a:t>
            </a:r>
            <a:r>
              <a:rPr sz="2000" spc="30" dirty="0">
                <a:solidFill>
                  <a:srgbClr val="404040"/>
                </a:solidFill>
                <a:latin typeface="Calibri"/>
                <a:cs typeface="Calibri"/>
              </a:rPr>
              <a:t> </a:t>
            </a:r>
            <a:r>
              <a:rPr sz="2000" spc="-5" dirty="0">
                <a:solidFill>
                  <a:srgbClr val="404040"/>
                </a:solidFill>
                <a:latin typeface="Calibri"/>
                <a:cs typeface="Calibri"/>
              </a:rPr>
              <a:t>with</a:t>
            </a:r>
            <a:r>
              <a:rPr sz="2000" spc="5" dirty="0">
                <a:solidFill>
                  <a:srgbClr val="404040"/>
                </a:solidFill>
                <a:latin typeface="Calibri"/>
                <a:cs typeface="Calibri"/>
              </a:rPr>
              <a:t> </a:t>
            </a:r>
            <a:r>
              <a:rPr sz="2000" spc="-5" dirty="0">
                <a:solidFill>
                  <a:srgbClr val="404040"/>
                </a:solidFill>
                <a:latin typeface="Calibri"/>
                <a:cs typeface="Calibri"/>
              </a:rPr>
              <a:t>normal</a:t>
            </a:r>
            <a:r>
              <a:rPr sz="2000" spc="10" dirty="0">
                <a:solidFill>
                  <a:srgbClr val="404040"/>
                </a:solidFill>
                <a:latin typeface="Calibri"/>
                <a:cs typeface="Calibri"/>
              </a:rPr>
              <a:t> </a:t>
            </a:r>
            <a:r>
              <a:rPr sz="2000" spc="-5" dirty="0">
                <a:solidFill>
                  <a:srgbClr val="404040"/>
                </a:solidFill>
                <a:latin typeface="Calibri"/>
                <a:cs typeface="Calibri"/>
              </a:rPr>
              <a:t>circuit</a:t>
            </a:r>
            <a:r>
              <a:rPr sz="2000" spc="5" dirty="0">
                <a:solidFill>
                  <a:srgbClr val="404040"/>
                </a:solidFill>
                <a:latin typeface="Calibri"/>
                <a:cs typeface="Calibri"/>
              </a:rPr>
              <a:t> </a:t>
            </a:r>
            <a:r>
              <a:rPr sz="2000" spc="-10" dirty="0">
                <a:solidFill>
                  <a:srgbClr val="404040"/>
                </a:solidFill>
                <a:latin typeface="Calibri"/>
                <a:cs typeface="Calibri"/>
              </a:rPr>
              <a:t>voltages</a:t>
            </a:r>
            <a:r>
              <a:rPr sz="2000" spc="5" dirty="0">
                <a:solidFill>
                  <a:srgbClr val="404040"/>
                </a:solidFill>
                <a:latin typeface="Calibri"/>
                <a:cs typeface="Calibri"/>
              </a:rPr>
              <a:t> </a:t>
            </a:r>
            <a:r>
              <a:rPr sz="2000" dirty="0">
                <a:solidFill>
                  <a:srgbClr val="404040"/>
                </a:solidFill>
                <a:latin typeface="Calibri"/>
                <a:cs typeface="Calibri"/>
              </a:rPr>
              <a:t>and</a:t>
            </a:r>
            <a:r>
              <a:rPr sz="2000" spc="10" dirty="0">
                <a:solidFill>
                  <a:srgbClr val="404040"/>
                </a:solidFill>
                <a:latin typeface="Calibri"/>
                <a:cs typeface="Calibri"/>
              </a:rPr>
              <a:t> </a:t>
            </a:r>
            <a:r>
              <a:rPr sz="2000" spc="-5" dirty="0">
                <a:solidFill>
                  <a:srgbClr val="404040"/>
                </a:solidFill>
                <a:latin typeface="Calibri"/>
                <a:cs typeface="Calibri"/>
              </a:rPr>
              <a:t>also</a:t>
            </a:r>
            <a:r>
              <a:rPr sz="2000" spc="5" dirty="0">
                <a:solidFill>
                  <a:srgbClr val="404040"/>
                </a:solidFill>
                <a:latin typeface="Calibri"/>
                <a:cs typeface="Calibri"/>
              </a:rPr>
              <a:t> </a:t>
            </a:r>
            <a:r>
              <a:rPr sz="2000" spc="-15" dirty="0">
                <a:solidFill>
                  <a:srgbClr val="404040"/>
                </a:solidFill>
                <a:latin typeface="Calibri"/>
                <a:cs typeface="Calibri"/>
              </a:rPr>
              <a:t>at </a:t>
            </a:r>
            <a:r>
              <a:rPr sz="2000" spc="-434" dirty="0">
                <a:solidFill>
                  <a:srgbClr val="404040"/>
                </a:solidFill>
                <a:latin typeface="Calibri"/>
                <a:cs typeface="Calibri"/>
              </a:rPr>
              <a:t> </a:t>
            </a:r>
            <a:r>
              <a:rPr sz="2000" spc="-5" dirty="0">
                <a:solidFill>
                  <a:srgbClr val="404040"/>
                </a:solidFill>
                <a:latin typeface="Calibri"/>
                <a:cs typeface="Calibri"/>
              </a:rPr>
              <a:t>high</a:t>
            </a:r>
            <a:r>
              <a:rPr sz="2000" spc="-25" dirty="0">
                <a:solidFill>
                  <a:srgbClr val="404040"/>
                </a:solidFill>
                <a:latin typeface="Calibri"/>
                <a:cs typeface="Calibri"/>
              </a:rPr>
              <a:t> </a:t>
            </a:r>
            <a:r>
              <a:rPr sz="2000" spc="-5" dirty="0">
                <a:solidFill>
                  <a:srgbClr val="404040"/>
                </a:solidFill>
                <a:latin typeface="Calibri"/>
                <a:cs typeface="Calibri"/>
              </a:rPr>
              <a:t>speeds.</a:t>
            </a:r>
            <a:endParaRPr sz="2000" dirty="0">
              <a:latin typeface="Calibri"/>
              <a:cs typeface="Calibri"/>
            </a:endParaRPr>
          </a:p>
          <a:p>
            <a:pPr marL="411480" indent="-342900">
              <a:lnSpc>
                <a:spcPct val="100000"/>
              </a:lnSpc>
              <a:spcBef>
                <a:spcPts val="1130"/>
              </a:spcBef>
              <a:buFont typeface="Wingdings" panose="05000000000000000000" pitchFamily="2" charset="2"/>
              <a:buChar char="Ø"/>
            </a:pPr>
            <a:r>
              <a:rPr sz="2000" dirty="0">
                <a:solidFill>
                  <a:srgbClr val="404040"/>
                </a:solidFill>
                <a:latin typeface="Calibri"/>
                <a:cs typeface="Calibri"/>
              </a:rPr>
              <a:t>Dr</a:t>
            </a:r>
            <a:r>
              <a:rPr sz="2000" spc="-20" dirty="0">
                <a:solidFill>
                  <a:srgbClr val="404040"/>
                </a:solidFill>
                <a:latin typeface="Calibri"/>
                <a:cs typeface="Calibri"/>
              </a:rPr>
              <a:t> </a:t>
            </a:r>
            <a:r>
              <a:rPr sz="2000" dirty="0">
                <a:solidFill>
                  <a:srgbClr val="404040"/>
                </a:solidFill>
                <a:latin typeface="Calibri"/>
                <a:cs typeface="Calibri"/>
              </a:rPr>
              <a:t>Fujio</a:t>
            </a:r>
            <a:r>
              <a:rPr sz="2000" spc="-15" dirty="0">
                <a:solidFill>
                  <a:srgbClr val="404040"/>
                </a:solidFill>
                <a:latin typeface="Calibri"/>
                <a:cs typeface="Calibri"/>
              </a:rPr>
              <a:t> </a:t>
            </a:r>
            <a:r>
              <a:rPr sz="2000" spc="-10" dirty="0">
                <a:solidFill>
                  <a:srgbClr val="404040"/>
                </a:solidFill>
                <a:latin typeface="Calibri"/>
                <a:cs typeface="Calibri"/>
              </a:rPr>
              <a:t>Masuko</a:t>
            </a:r>
            <a:r>
              <a:rPr sz="2000" dirty="0">
                <a:solidFill>
                  <a:srgbClr val="404040"/>
                </a:solidFill>
                <a:latin typeface="Calibri"/>
                <a:cs typeface="Calibri"/>
              </a:rPr>
              <a:t> of</a:t>
            </a:r>
            <a:r>
              <a:rPr sz="2000" spc="-20" dirty="0">
                <a:solidFill>
                  <a:srgbClr val="404040"/>
                </a:solidFill>
                <a:latin typeface="Calibri"/>
                <a:cs typeface="Calibri"/>
              </a:rPr>
              <a:t> </a:t>
            </a:r>
            <a:r>
              <a:rPr sz="2000" spc="-30" dirty="0">
                <a:solidFill>
                  <a:srgbClr val="404040"/>
                </a:solidFill>
                <a:latin typeface="Calibri"/>
                <a:cs typeface="Calibri"/>
              </a:rPr>
              <a:t>Toshiba</a:t>
            </a:r>
            <a:r>
              <a:rPr sz="2000" spc="-10" dirty="0">
                <a:solidFill>
                  <a:srgbClr val="404040"/>
                </a:solidFill>
                <a:latin typeface="Calibri"/>
                <a:cs typeface="Calibri"/>
              </a:rPr>
              <a:t> </a:t>
            </a:r>
            <a:r>
              <a:rPr sz="2000" dirty="0">
                <a:solidFill>
                  <a:srgbClr val="404040"/>
                </a:solidFill>
                <a:latin typeface="Calibri"/>
                <a:cs typeface="Calibri"/>
              </a:rPr>
              <a:t>is </a:t>
            </a:r>
            <a:r>
              <a:rPr sz="2000" spc="-5" dirty="0">
                <a:solidFill>
                  <a:srgbClr val="404040"/>
                </a:solidFill>
                <a:latin typeface="Calibri"/>
                <a:cs typeface="Calibri"/>
              </a:rPr>
              <a:t>credited</a:t>
            </a:r>
            <a:r>
              <a:rPr sz="2000" dirty="0">
                <a:solidFill>
                  <a:srgbClr val="404040"/>
                </a:solidFill>
                <a:latin typeface="Calibri"/>
                <a:cs typeface="Calibri"/>
              </a:rPr>
              <a:t> </a:t>
            </a:r>
            <a:r>
              <a:rPr sz="2000" spc="-10" dirty="0">
                <a:solidFill>
                  <a:srgbClr val="404040"/>
                </a:solidFill>
                <a:latin typeface="Calibri"/>
                <a:cs typeface="Calibri"/>
              </a:rPr>
              <a:t>to </a:t>
            </a:r>
            <a:r>
              <a:rPr sz="2000" dirty="0">
                <a:solidFill>
                  <a:srgbClr val="404040"/>
                </a:solidFill>
                <a:latin typeface="Calibri"/>
                <a:cs typeface="Calibri"/>
              </a:rPr>
              <a:t>be</a:t>
            </a:r>
            <a:r>
              <a:rPr sz="2000" spc="-10" dirty="0">
                <a:solidFill>
                  <a:srgbClr val="404040"/>
                </a:solidFill>
                <a:latin typeface="Calibri"/>
                <a:cs typeface="Calibri"/>
              </a:rPr>
              <a:t> </a:t>
            </a:r>
            <a:r>
              <a:rPr sz="2000" dirty="0">
                <a:solidFill>
                  <a:srgbClr val="404040"/>
                </a:solidFill>
                <a:latin typeface="Calibri"/>
                <a:cs typeface="Calibri"/>
              </a:rPr>
              <a:t>the </a:t>
            </a:r>
            <a:r>
              <a:rPr sz="2000" spc="-15" dirty="0">
                <a:solidFill>
                  <a:srgbClr val="404040"/>
                </a:solidFill>
                <a:latin typeface="Calibri"/>
                <a:cs typeface="Calibri"/>
              </a:rPr>
              <a:t>inventor</a:t>
            </a:r>
            <a:r>
              <a:rPr sz="2000" spc="5" dirty="0">
                <a:solidFill>
                  <a:srgbClr val="404040"/>
                </a:solidFill>
                <a:latin typeface="Calibri"/>
                <a:cs typeface="Calibri"/>
              </a:rPr>
              <a:t> </a:t>
            </a:r>
            <a:r>
              <a:rPr sz="2000" dirty="0">
                <a:solidFill>
                  <a:srgbClr val="404040"/>
                </a:solidFill>
                <a:latin typeface="Calibri"/>
                <a:cs typeface="Calibri"/>
              </a:rPr>
              <a:t>of</a:t>
            </a:r>
            <a:r>
              <a:rPr sz="2000" spc="-20" dirty="0">
                <a:solidFill>
                  <a:srgbClr val="404040"/>
                </a:solidFill>
                <a:latin typeface="Calibri"/>
                <a:cs typeface="Calibri"/>
              </a:rPr>
              <a:t> </a:t>
            </a:r>
            <a:r>
              <a:rPr sz="2000" spc="-5" dirty="0">
                <a:solidFill>
                  <a:srgbClr val="404040"/>
                </a:solidFill>
                <a:latin typeface="Calibri"/>
                <a:cs typeface="Calibri"/>
              </a:rPr>
              <a:t>Flash </a:t>
            </a:r>
            <a:r>
              <a:rPr sz="2000" spc="-20" dirty="0">
                <a:solidFill>
                  <a:srgbClr val="404040"/>
                </a:solidFill>
                <a:latin typeface="Calibri"/>
                <a:cs typeface="Calibri"/>
              </a:rPr>
              <a:t>memory.</a:t>
            </a:r>
            <a:endParaRPr sz="2000" dirty="0">
              <a:latin typeface="Calibri"/>
              <a:cs typeface="Calibri"/>
            </a:endParaRPr>
          </a:p>
          <a:p>
            <a:pPr marL="355600" indent="-342900">
              <a:lnSpc>
                <a:spcPct val="100000"/>
              </a:lnSpc>
              <a:spcBef>
                <a:spcPts val="1155"/>
              </a:spcBef>
              <a:buFont typeface="Wingdings" panose="05000000000000000000" pitchFamily="2" charset="2"/>
              <a:buChar char="Ø"/>
            </a:pPr>
            <a:r>
              <a:rPr sz="2000" spc="-35" dirty="0">
                <a:solidFill>
                  <a:srgbClr val="404040"/>
                </a:solidFill>
                <a:latin typeface="Calibri"/>
                <a:cs typeface="Calibri"/>
              </a:rPr>
              <a:t>We</a:t>
            </a:r>
            <a:r>
              <a:rPr sz="2000" spc="-15" dirty="0">
                <a:solidFill>
                  <a:srgbClr val="404040"/>
                </a:solidFill>
                <a:latin typeface="Calibri"/>
                <a:cs typeface="Calibri"/>
              </a:rPr>
              <a:t> </a:t>
            </a:r>
            <a:r>
              <a:rPr sz="2000" dirty="0">
                <a:solidFill>
                  <a:srgbClr val="404040"/>
                </a:solidFill>
                <a:latin typeface="Calibri"/>
                <a:cs typeface="Calibri"/>
              </a:rPr>
              <a:t>all</a:t>
            </a:r>
            <a:r>
              <a:rPr sz="2000" spc="-15"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5" dirty="0">
                <a:solidFill>
                  <a:srgbClr val="404040"/>
                </a:solidFill>
                <a:latin typeface="Calibri"/>
                <a:cs typeface="Calibri"/>
              </a:rPr>
              <a:t>used</a:t>
            </a:r>
            <a:r>
              <a:rPr sz="2000" spc="-15" dirty="0">
                <a:solidFill>
                  <a:srgbClr val="404040"/>
                </a:solidFill>
                <a:latin typeface="Calibri"/>
                <a:cs typeface="Calibri"/>
              </a:rPr>
              <a:t> to</a:t>
            </a:r>
            <a:r>
              <a:rPr sz="2000" spc="-10" dirty="0">
                <a:solidFill>
                  <a:srgbClr val="404040"/>
                </a:solidFill>
                <a:latin typeface="Calibri"/>
                <a:cs typeface="Calibri"/>
              </a:rPr>
              <a:t> </a:t>
            </a:r>
            <a:r>
              <a:rPr sz="2000" dirty="0">
                <a:solidFill>
                  <a:srgbClr val="404040"/>
                </a:solidFill>
                <a:latin typeface="Calibri"/>
                <a:cs typeface="Calibri"/>
              </a:rPr>
              <a:t>Flash</a:t>
            </a:r>
            <a:r>
              <a:rPr sz="2000" spc="10" dirty="0">
                <a:solidFill>
                  <a:srgbClr val="404040"/>
                </a:solidFill>
                <a:latin typeface="Calibri"/>
                <a:cs typeface="Calibri"/>
              </a:rPr>
              <a:t> </a:t>
            </a:r>
            <a:r>
              <a:rPr sz="2000" spc="-5" dirty="0">
                <a:solidFill>
                  <a:srgbClr val="404040"/>
                </a:solidFill>
                <a:latin typeface="Calibri"/>
                <a:cs typeface="Calibri"/>
              </a:rPr>
              <a:t>devices</a:t>
            </a:r>
            <a:r>
              <a:rPr sz="2000" spc="-5" dirty="0" smtClean="0">
                <a:solidFill>
                  <a:srgbClr val="404040"/>
                </a:solidFill>
                <a:latin typeface="Calibri"/>
                <a:cs typeface="Calibri"/>
              </a:rPr>
              <a:t>.</a:t>
            </a:r>
            <a:endParaRPr lang="en-US" sz="2000" spc="-5" dirty="0" smtClean="0">
              <a:solidFill>
                <a:srgbClr val="404040"/>
              </a:solidFill>
              <a:latin typeface="Calibri"/>
              <a:cs typeface="Calibri"/>
            </a:endParaRPr>
          </a:p>
          <a:p>
            <a:pPr marL="355600" indent="-342900">
              <a:lnSpc>
                <a:spcPct val="100000"/>
              </a:lnSpc>
              <a:spcBef>
                <a:spcPts val="1155"/>
              </a:spcBef>
              <a:buFont typeface="Wingdings" panose="05000000000000000000" pitchFamily="2" charset="2"/>
              <a:buChar char="Ø"/>
            </a:pPr>
            <a:r>
              <a:rPr lang="en-US" sz="2000" spc="-5" dirty="0">
                <a:solidFill>
                  <a:srgbClr val="404040"/>
                </a:solidFill>
                <a:cs typeface="Calibri"/>
              </a:rPr>
              <a:t>For EEPROMs  erasure could be done only one byte at a time. </a:t>
            </a:r>
          </a:p>
          <a:p>
            <a:pPr marL="355600" indent="-342900">
              <a:lnSpc>
                <a:spcPct val="100000"/>
              </a:lnSpc>
              <a:spcBef>
                <a:spcPts val="1155"/>
              </a:spcBef>
              <a:buFont typeface="Wingdings" panose="05000000000000000000" pitchFamily="2" charset="2"/>
              <a:buChar char="Ø"/>
            </a:pPr>
            <a:r>
              <a:rPr lang="en-US" sz="2000" spc="-5" dirty="0">
                <a:solidFill>
                  <a:srgbClr val="404040"/>
                </a:solidFill>
                <a:cs typeface="Calibri"/>
              </a:rPr>
              <a:t>Here a large chunk(called a block) of around 512 bytes can be erased in a flash.</a:t>
            </a:r>
          </a:p>
          <a:p>
            <a:pPr marL="12700">
              <a:lnSpc>
                <a:spcPct val="100000"/>
              </a:lnSpc>
              <a:spcBef>
                <a:spcPts val="1155"/>
              </a:spcBef>
            </a:pPr>
            <a:endParaRPr sz="2000" dirty="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25</a:t>
            </a:r>
            <a:endParaRPr sz="1050">
              <a:latin typeface="Calibri"/>
              <a:cs typeface="Calibri"/>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24941"/>
            <a:ext cx="4690110" cy="757555"/>
          </a:xfrm>
          <a:prstGeom prst="rect">
            <a:avLst/>
          </a:prstGeom>
        </p:spPr>
        <p:txBody>
          <a:bodyPr vert="horz" wrap="square" lIns="0" tIns="12700" rIns="0" bIns="0" rtlCol="0">
            <a:spAutoFit/>
          </a:bodyPr>
          <a:lstStyle/>
          <a:p>
            <a:pPr marL="12700">
              <a:lnSpc>
                <a:spcPct val="100000"/>
              </a:lnSpc>
              <a:spcBef>
                <a:spcPts val="100"/>
              </a:spcBef>
            </a:pPr>
            <a:r>
              <a:rPr sz="4800" b="0" i="1" spc="-95" dirty="0" smtClean="0">
                <a:solidFill>
                  <a:srgbClr val="404040"/>
                </a:solidFill>
                <a:latin typeface="Calibri Light"/>
                <a:cs typeface="Calibri Light"/>
              </a:rPr>
              <a:t> </a:t>
            </a:r>
            <a:r>
              <a:rPr sz="4800" b="0" i="1" spc="-50" dirty="0">
                <a:solidFill>
                  <a:srgbClr val="404040"/>
                </a:solidFill>
                <a:latin typeface="Calibri Light"/>
                <a:cs typeface="Calibri Light"/>
              </a:rPr>
              <a:t>Flash</a:t>
            </a:r>
            <a:r>
              <a:rPr sz="4800" b="0" i="1" spc="-85" dirty="0">
                <a:solidFill>
                  <a:srgbClr val="404040"/>
                </a:solidFill>
                <a:latin typeface="Calibri Light"/>
                <a:cs typeface="Calibri Light"/>
              </a:rPr>
              <a:t> </a:t>
            </a:r>
            <a:r>
              <a:rPr sz="4800" b="0" i="1" spc="-50" dirty="0">
                <a:solidFill>
                  <a:srgbClr val="404040"/>
                </a:solidFill>
                <a:latin typeface="Calibri Light"/>
                <a:cs typeface="Calibri Light"/>
              </a:rPr>
              <a:t>ROM</a:t>
            </a:r>
            <a:endParaRPr sz="4800" dirty="0">
              <a:latin typeface="Calibri Light"/>
              <a:cs typeface="Calibri Light"/>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25</a:t>
            </a:r>
            <a:endParaRPr sz="1050">
              <a:latin typeface="Calibri"/>
              <a:cs typeface="Calibri"/>
            </a:endParaRPr>
          </a:p>
        </p:txBody>
      </p:sp>
      <p:sp>
        <p:nvSpPr>
          <p:cNvPr id="2" name="Rectangle 1"/>
          <p:cNvSpPr/>
          <p:nvPr/>
        </p:nvSpPr>
        <p:spPr>
          <a:xfrm>
            <a:off x="1034473" y="2136339"/>
            <a:ext cx="9938072" cy="2246769"/>
          </a:xfrm>
          <a:prstGeom prst="rect">
            <a:avLst/>
          </a:prstGeom>
        </p:spPr>
        <p:txBody>
          <a:bodyPr wrap="square">
            <a:spAutoFit/>
          </a:bodyPr>
          <a:lstStyle/>
          <a:p>
            <a:pPr marL="342900" indent="-342900">
              <a:buFont typeface="Wingdings" panose="05000000000000000000" pitchFamily="2" charset="2"/>
              <a:buChar char="Ø"/>
            </a:pPr>
            <a:r>
              <a:rPr lang="en-US" sz="2000" spc="-5" dirty="0">
                <a:solidFill>
                  <a:srgbClr val="404040"/>
                </a:solidFill>
                <a:cs typeface="Calibri"/>
              </a:rPr>
              <a:t>There are two types of flash, namely NOR and NAND</a:t>
            </a:r>
            <a:r>
              <a:rPr lang="en-US" sz="2000" spc="-5" dirty="0" smtClean="0">
                <a:solidFill>
                  <a:srgbClr val="404040"/>
                </a:solidFill>
                <a:cs typeface="Calibri"/>
              </a:rPr>
              <a:t>.</a:t>
            </a:r>
          </a:p>
          <a:p>
            <a:pPr marL="342900" indent="-342900">
              <a:buFont typeface="Wingdings" panose="05000000000000000000" pitchFamily="2" charset="2"/>
              <a:buChar char="Ø"/>
            </a:pPr>
            <a:r>
              <a:rPr lang="en-US" sz="2000" spc="-5" dirty="0" smtClean="0">
                <a:solidFill>
                  <a:srgbClr val="404040"/>
                </a:solidFill>
                <a:cs typeface="Calibri"/>
              </a:rPr>
              <a:t>In </a:t>
            </a:r>
            <a:r>
              <a:rPr lang="en-US" sz="2000" spc="-5" dirty="0">
                <a:solidFill>
                  <a:srgbClr val="404040"/>
                </a:solidFill>
                <a:cs typeface="Calibri"/>
              </a:rPr>
              <a:t>NOR flash, words can be read from any random location (see Fig. </a:t>
            </a:r>
            <a:r>
              <a:rPr lang="en-US" sz="2000" spc="-5" dirty="0" smtClean="0">
                <a:solidFill>
                  <a:srgbClr val="404040"/>
                </a:solidFill>
                <a:cs typeface="Calibri"/>
              </a:rPr>
              <a:t>2.25(a)). </a:t>
            </a:r>
            <a:r>
              <a:rPr lang="en-US" sz="2000" spc="-5" dirty="0">
                <a:solidFill>
                  <a:srgbClr val="404040"/>
                </a:solidFill>
                <a:cs typeface="Calibri"/>
              </a:rPr>
              <a:t>It is called NOR flash because it exhibits NOR logic. </a:t>
            </a:r>
            <a:r>
              <a:rPr lang="en-US" sz="2000" spc="-5" dirty="0" smtClean="0">
                <a:solidFill>
                  <a:srgbClr val="404040"/>
                </a:solidFill>
                <a:cs typeface="Calibri"/>
              </a:rPr>
              <a:t>I .e  </a:t>
            </a:r>
            <a:r>
              <a:rPr lang="en-US" sz="2000" spc="-5" dirty="0">
                <a:solidFill>
                  <a:srgbClr val="404040"/>
                </a:solidFill>
                <a:cs typeface="Calibri"/>
              </a:rPr>
              <a:t>if one of the word lines is taken high, the corresponding gate transistor pulls the output bit line to a low.</a:t>
            </a:r>
          </a:p>
          <a:p>
            <a:pPr marL="342900" indent="-342900">
              <a:buFont typeface="Wingdings" panose="05000000000000000000" pitchFamily="2" charset="2"/>
              <a:buChar char="Ø"/>
            </a:pPr>
            <a:r>
              <a:rPr lang="en-US" sz="2000" spc="-5" dirty="0">
                <a:solidFill>
                  <a:srgbClr val="404040"/>
                </a:solidFill>
                <a:cs typeface="Calibri"/>
              </a:rPr>
              <a:t>In NAND flash, the transistors are connected in series. Only if all word lines are pulled high, the output bit line is pulled low. This is essentially NAND logic, and hence the name (see Fig. </a:t>
            </a:r>
            <a:r>
              <a:rPr lang="en-US" sz="2000" spc="-5" dirty="0" smtClean="0">
                <a:solidFill>
                  <a:srgbClr val="404040"/>
                </a:solidFill>
                <a:cs typeface="Calibri"/>
              </a:rPr>
              <a:t>2.25(b)).</a:t>
            </a:r>
            <a:endParaRPr lang="en-US" sz="2000" spc="-5" dirty="0">
              <a:solidFill>
                <a:srgbClr val="404040"/>
              </a:solidFill>
              <a:cs typeface="Calibri"/>
            </a:endParaRPr>
          </a:p>
        </p:txBody>
      </p:sp>
    </p:spTree>
    <p:extLst>
      <p:ext uri="{BB962C8B-B14F-4D97-AF65-F5344CB8AC3E}">
        <p14:creationId xmlns:p14="http://schemas.microsoft.com/office/powerpoint/2010/main" val="5220855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25</a:t>
            </a:r>
            <a:endParaRPr sz="1050">
              <a:latin typeface="Calibri"/>
              <a:cs typeface="Calibri"/>
            </a:endParaRPr>
          </a:p>
        </p:txBody>
      </p:sp>
      <p:pic>
        <p:nvPicPr>
          <p:cNvPr id="11" name="Picture 10"/>
          <p:cNvPicPr>
            <a:picLocks noChangeAspect="1"/>
          </p:cNvPicPr>
          <p:nvPr/>
        </p:nvPicPr>
        <p:blipFill>
          <a:blip r:embed="rId2"/>
          <a:stretch>
            <a:fillRect/>
          </a:stretch>
        </p:blipFill>
        <p:spPr>
          <a:xfrm>
            <a:off x="1078095" y="926720"/>
            <a:ext cx="9351818" cy="5133975"/>
          </a:xfrm>
          <a:prstGeom prst="rect">
            <a:avLst/>
          </a:prstGeom>
        </p:spPr>
      </p:pic>
    </p:spTree>
    <p:extLst>
      <p:ext uri="{BB962C8B-B14F-4D97-AF65-F5344CB8AC3E}">
        <p14:creationId xmlns:p14="http://schemas.microsoft.com/office/powerpoint/2010/main" val="35937733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24941"/>
            <a:ext cx="4690110" cy="757555"/>
          </a:xfrm>
          <a:prstGeom prst="rect">
            <a:avLst/>
          </a:prstGeom>
        </p:spPr>
        <p:txBody>
          <a:bodyPr vert="horz" wrap="square" lIns="0" tIns="12700" rIns="0" bIns="0" rtlCol="0">
            <a:spAutoFit/>
          </a:bodyPr>
          <a:lstStyle/>
          <a:p>
            <a:pPr marL="12700">
              <a:lnSpc>
                <a:spcPct val="100000"/>
              </a:lnSpc>
              <a:spcBef>
                <a:spcPts val="100"/>
              </a:spcBef>
            </a:pPr>
            <a:r>
              <a:rPr sz="4800" b="0" i="1" spc="-95" dirty="0" smtClean="0">
                <a:solidFill>
                  <a:srgbClr val="404040"/>
                </a:solidFill>
                <a:latin typeface="Calibri Light"/>
                <a:cs typeface="Calibri Light"/>
              </a:rPr>
              <a:t> </a:t>
            </a:r>
            <a:r>
              <a:rPr sz="4800" b="0" i="1" spc="-50" dirty="0">
                <a:solidFill>
                  <a:srgbClr val="404040"/>
                </a:solidFill>
                <a:latin typeface="Calibri Light"/>
                <a:cs typeface="Calibri Light"/>
              </a:rPr>
              <a:t>Flash</a:t>
            </a:r>
            <a:r>
              <a:rPr sz="4800" b="0" i="1" spc="-85" dirty="0">
                <a:solidFill>
                  <a:srgbClr val="404040"/>
                </a:solidFill>
                <a:latin typeface="Calibri Light"/>
                <a:cs typeface="Calibri Light"/>
              </a:rPr>
              <a:t> </a:t>
            </a:r>
            <a:r>
              <a:rPr sz="4800" b="0" i="1" spc="-50" dirty="0">
                <a:solidFill>
                  <a:srgbClr val="404040"/>
                </a:solidFill>
                <a:latin typeface="Calibri Light"/>
                <a:cs typeface="Calibri Light"/>
              </a:rPr>
              <a:t>ROM</a:t>
            </a:r>
            <a:endParaRPr sz="4800" dirty="0">
              <a:latin typeface="Calibri Light"/>
              <a:cs typeface="Calibri Light"/>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25</a:t>
            </a:r>
            <a:endParaRPr sz="1050">
              <a:latin typeface="Calibri"/>
              <a:cs typeface="Calibri"/>
            </a:endParaRPr>
          </a:p>
        </p:txBody>
      </p:sp>
      <p:sp>
        <p:nvSpPr>
          <p:cNvPr id="2" name="Rectangle 1"/>
          <p:cNvSpPr/>
          <p:nvPr/>
        </p:nvSpPr>
        <p:spPr>
          <a:xfrm>
            <a:off x="1348509" y="2551837"/>
            <a:ext cx="8986982" cy="1938992"/>
          </a:xfrm>
          <a:prstGeom prst="rect">
            <a:avLst/>
          </a:prstGeom>
        </p:spPr>
        <p:txBody>
          <a:bodyPr wrap="square">
            <a:spAutoFit/>
          </a:bodyPr>
          <a:lstStyle/>
          <a:p>
            <a:pPr marL="342900" indent="-342900">
              <a:buFont typeface="Wingdings" panose="05000000000000000000" pitchFamily="2" charset="2"/>
              <a:buChar char="Ø"/>
            </a:pPr>
            <a:r>
              <a:rPr lang="en-US" sz="2000" spc="-5" dirty="0">
                <a:solidFill>
                  <a:srgbClr val="404040"/>
                </a:solidFill>
                <a:cs typeface="Calibri"/>
              </a:rPr>
              <a:t>The application </a:t>
            </a:r>
            <a:r>
              <a:rPr lang="en-US" sz="2000" spc="-5" dirty="0" smtClean="0">
                <a:solidFill>
                  <a:srgbClr val="404040"/>
                </a:solidFill>
                <a:cs typeface="Calibri"/>
              </a:rPr>
              <a:t>are as </a:t>
            </a:r>
            <a:r>
              <a:rPr lang="en-US" sz="2000" spc="-5" dirty="0">
                <a:solidFill>
                  <a:srgbClr val="404040"/>
                </a:solidFill>
                <a:cs typeface="Calibri"/>
              </a:rPr>
              <a:t>of NAND and NOR logic are different</a:t>
            </a:r>
            <a:r>
              <a:rPr lang="en-US" sz="2000" spc="-5" dirty="0" smtClean="0">
                <a:solidFill>
                  <a:srgbClr val="404040"/>
                </a:solidFill>
                <a:cs typeface="Calibri"/>
              </a:rPr>
              <a:t>.</a:t>
            </a:r>
          </a:p>
          <a:p>
            <a:pPr marL="342900" indent="-342900">
              <a:buFont typeface="Wingdings" panose="05000000000000000000" pitchFamily="2" charset="2"/>
              <a:buChar char="Ø"/>
            </a:pPr>
            <a:r>
              <a:rPr lang="en-US" sz="2000" spc="-5" dirty="0" smtClean="0">
                <a:solidFill>
                  <a:srgbClr val="404040"/>
                </a:solidFill>
                <a:cs typeface="Calibri"/>
              </a:rPr>
              <a:t> NOR </a:t>
            </a:r>
            <a:r>
              <a:rPr lang="en-US" sz="2000" spc="-5" dirty="0">
                <a:solidFill>
                  <a:srgbClr val="404040"/>
                </a:solidFill>
                <a:cs typeface="Calibri"/>
              </a:rPr>
              <a:t>flash can be read randomly, it is used for storing BIOS in PCs, operating systems in mobile phones, tablets, and boot code in general embedded systems, etc</a:t>
            </a:r>
            <a:r>
              <a:rPr lang="en-US" sz="2000" spc="-5" dirty="0" smtClean="0">
                <a:solidFill>
                  <a:srgbClr val="404040"/>
                </a:solidFill>
                <a:cs typeface="Calibri"/>
              </a:rPr>
              <a:t>.</a:t>
            </a:r>
          </a:p>
          <a:p>
            <a:pPr marL="342900" indent="-342900">
              <a:buFont typeface="Wingdings" panose="05000000000000000000" pitchFamily="2" charset="2"/>
              <a:buChar char="Ø"/>
            </a:pPr>
            <a:r>
              <a:rPr lang="en-US" sz="2000" spc="-5" dirty="0" smtClean="0">
                <a:solidFill>
                  <a:srgbClr val="404040"/>
                </a:solidFill>
                <a:cs typeface="Calibri"/>
              </a:rPr>
              <a:t> </a:t>
            </a:r>
            <a:r>
              <a:rPr lang="en-US" sz="2000" spc="-5" dirty="0">
                <a:solidFill>
                  <a:srgbClr val="404040"/>
                </a:solidFill>
                <a:cs typeface="Calibri"/>
              </a:rPr>
              <a:t>NAND flash is used where serial reading and retrieval is sufficient and is used for storage in USB sticks, cameras, mobile phones, etc.</a:t>
            </a:r>
            <a:endParaRPr lang="en-IN" sz="2000" spc="-5" dirty="0">
              <a:solidFill>
                <a:srgbClr val="404040"/>
              </a:solidFill>
              <a:cs typeface="Calibri"/>
            </a:endParaRPr>
          </a:p>
        </p:txBody>
      </p:sp>
    </p:spTree>
    <p:extLst>
      <p:ext uri="{BB962C8B-B14F-4D97-AF65-F5344CB8AC3E}">
        <p14:creationId xmlns:p14="http://schemas.microsoft.com/office/powerpoint/2010/main" val="115852875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176324" y="996822"/>
            <a:ext cx="9996805" cy="756920"/>
          </a:xfrm>
          <a:prstGeom prst="rect">
            <a:avLst/>
          </a:prstGeom>
        </p:spPr>
        <p:txBody>
          <a:bodyPr vert="horz" wrap="square" lIns="0" tIns="12700" rIns="0" bIns="0" rtlCol="0">
            <a:spAutoFit/>
          </a:bodyPr>
          <a:lstStyle/>
          <a:p>
            <a:pPr marL="12700">
              <a:lnSpc>
                <a:spcPct val="100000"/>
              </a:lnSpc>
              <a:spcBef>
                <a:spcPts val="100"/>
              </a:spcBef>
              <a:tabLst>
                <a:tab pos="9983470" algn="l"/>
              </a:tabLst>
            </a:pPr>
            <a:r>
              <a:rPr sz="4800" b="0" u="sng" spc="-30" dirty="0" smtClean="0">
                <a:solidFill>
                  <a:srgbClr val="404040"/>
                </a:solidFill>
                <a:uFill>
                  <a:solidFill>
                    <a:srgbClr val="7E7E7E"/>
                  </a:solidFill>
                </a:uFill>
                <a:latin typeface="Calibri Light"/>
                <a:cs typeface="Calibri Light"/>
              </a:rPr>
              <a:t>SD</a:t>
            </a:r>
            <a:r>
              <a:rPr lang="en-US" sz="4800" b="0" u="sng" spc="-30" dirty="0" smtClean="0">
                <a:solidFill>
                  <a:srgbClr val="404040"/>
                </a:solidFill>
                <a:uFill>
                  <a:solidFill>
                    <a:srgbClr val="7E7E7E"/>
                  </a:solidFill>
                </a:uFill>
                <a:latin typeface="Calibri Light"/>
                <a:cs typeface="Calibri Light"/>
              </a:rPr>
              <a:t>(</a:t>
            </a:r>
            <a:r>
              <a:rPr lang="en-IN" sz="4800" u="sng" spc="-30" dirty="0" smtClean="0">
                <a:solidFill>
                  <a:srgbClr val="404040"/>
                </a:solidFill>
                <a:uFill>
                  <a:solidFill>
                    <a:srgbClr val="7E7E7E"/>
                  </a:solidFill>
                </a:uFill>
                <a:latin typeface="Calibri Light"/>
                <a:cs typeface="Calibri Light"/>
              </a:rPr>
              <a:t>Secure </a:t>
            </a:r>
            <a:r>
              <a:rPr lang="en-IN" sz="4800" u="sng" spc="-30" dirty="0">
                <a:solidFill>
                  <a:srgbClr val="404040"/>
                </a:solidFill>
                <a:uFill>
                  <a:solidFill>
                    <a:srgbClr val="7E7E7E"/>
                  </a:solidFill>
                </a:uFill>
                <a:latin typeface="Calibri Light"/>
                <a:cs typeface="Calibri Light"/>
              </a:rPr>
              <a:t>Digital</a:t>
            </a:r>
            <a:r>
              <a:rPr lang="en-IN" sz="4800" spc="-5" dirty="0" smtClean="0">
                <a:solidFill>
                  <a:srgbClr val="404040"/>
                </a:solidFill>
                <a:latin typeface="Calibri"/>
                <a:cs typeface="Calibri"/>
              </a:rPr>
              <a:t>)</a:t>
            </a:r>
            <a:r>
              <a:rPr sz="4800" b="0" u="sng" spc="-135" dirty="0" smtClean="0">
                <a:solidFill>
                  <a:srgbClr val="404040"/>
                </a:solidFill>
                <a:uFill>
                  <a:solidFill>
                    <a:srgbClr val="7E7E7E"/>
                  </a:solidFill>
                </a:uFill>
                <a:latin typeface="Calibri Light"/>
                <a:cs typeface="Calibri Light"/>
              </a:rPr>
              <a:t> </a:t>
            </a:r>
            <a:r>
              <a:rPr sz="4800" b="0" u="sng" spc="-70" dirty="0">
                <a:solidFill>
                  <a:srgbClr val="404040"/>
                </a:solidFill>
                <a:uFill>
                  <a:solidFill>
                    <a:srgbClr val="7E7E7E"/>
                  </a:solidFill>
                </a:uFill>
                <a:latin typeface="Calibri Light"/>
                <a:cs typeface="Calibri Light"/>
              </a:rPr>
              <a:t>card	</a:t>
            </a:r>
            <a:endParaRPr sz="4800" dirty="0">
              <a:latin typeface="Calibri Light"/>
              <a:cs typeface="Calibri Light"/>
            </a:endParaRPr>
          </a:p>
        </p:txBody>
      </p:sp>
      <p:sp>
        <p:nvSpPr>
          <p:cNvPr id="6" name="object 6"/>
          <p:cNvSpPr txBox="1"/>
          <p:nvPr/>
        </p:nvSpPr>
        <p:spPr>
          <a:xfrm>
            <a:off x="1268688" y="2091156"/>
            <a:ext cx="9446260" cy="1674817"/>
          </a:xfrm>
          <a:prstGeom prst="rect">
            <a:avLst/>
          </a:prstGeom>
        </p:spPr>
        <p:txBody>
          <a:bodyPr vert="horz" wrap="square" lIns="0" tIns="160020" rIns="0" bIns="0" rtlCol="0">
            <a:spAutoFit/>
          </a:bodyPr>
          <a:lstStyle/>
          <a:p>
            <a:pPr marL="411480" indent="-342900">
              <a:lnSpc>
                <a:spcPct val="100000"/>
              </a:lnSpc>
              <a:spcBef>
                <a:spcPts val="1165"/>
              </a:spcBef>
              <a:buFont typeface="Wingdings" panose="05000000000000000000" pitchFamily="2" charset="2"/>
              <a:buChar char="Ø"/>
            </a:pPr>
            <a:r>
              <a:rPr sz="2000" spc="-5" dirty="0" smtClean="0">
                <a:solidFill>
                  <a:srgbClr val="404040"/>
                </a:solidFill>
                <a:latin typeface="Calibri"/>
                <a:cs typeface="Calibri"/>
              </a:rPr>
              <a:t>These</a:t>
            </a:r>
            <a:r>
              <a:rPr sz="2000" spc="5" dirty="0" smtClean="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5" dirty="0">
                <a:solidFill>
                  <a:srgbClr val="404040"/>
                </a:solidFill>
                <a:latin typeface="Calibri"/>
                <a:cs typeface="Calibri"/>
              </a:rPr>
              <a:t>flash</a:t>
            </a:r>
            <a:r>
              <a:rPr sz="2000" spc="20" dirty="0">
                <a:solidFill>
                  <a:srgbClr val="404040"/>
                </a:solidFill>
                <a:latin typeface="Calibri"/>
                <a:cs typeface="Calibri"/>
              </a:rPr>
              <a:t> </a:t>
            </a:r>
            <a:r>
              <a:rPr sz="2000" dirty="0">
                <a:solidFill>
                  <a:srgbClr val="404040"/>
                </a:solidFill>
                <a:latin typeface="Calibri"/>
                <a:cs typeface="Calibri"/>
              </a:rPr>
              <a:t>memory</a:t>
            </a:r>
            <a:r>
              <a:rPr sz="2000" spc="-5" dirty="0">
                <a:solidFill>
                  <a:srgbClr val="404040"/>
                </a:solidFill>
                <a:latin typeface="Calibri"/>
                <a:cs typeface="Calibri"/>
              </a:rPr>
              <a:t> </a:t>
            </a:r>
            <a:r>
              <a:rPr sz="2000" spc="-10" dirty="0">
                <a:solidFill>
                  <a:srgbClr val="404040"/>
                </a:solidFill>
                <a:latin typeface="Calibri"/>
                <a:cs typeface="Calibri"/>
              </a:rPr>
              <a:t>cards</a:t>
            </a:r>
            <a:r>
              <a:rPr sz="2000" spc="-5" dirty="0">
                <a:solidFill>
                  <a:srgbClr val="404040"/>
                </a:solidFill>
                <a:latin typeface="Calibri"/>
                <a:cs typeface="Calibri"/>
              </a:rPr>
              <a:t> with</a:t>
            </a:r>
            <a:r>
              <a:rPr sz="2000" spc="10" dirty="0">
                <a:solidFill>
                  <a:srgbClr val="404040"/>
                </a:solidFill>
                <a:latin typeface="Calibri"/>
                <a:cs typeface="Calibri"/>
              </a:rPr>
              <a:t> </a:t>
            </a:r>
            <a:r>
              <a:rPr sz="2000" spc="-5" dirty="0">
                <a:solidFill>
                  <a:srgbClr val="404040"/>
                </a:solidFill>
                <a:latin typeface="Calibri"/>
                <a:cs typeface="Calibri"/>
              </a:rPr>
              <a:t>security</a:t>
            </a:r>
            <a:r>
              <a:rPr sz="2000" dirty="0">
                <a:solidFill>
                  <a:srgbClr val="404040"/>
                </a:solidFill>
                <a:latin typeface="Calibri"/>
                <a:cs typeface="Calibri"/>
              </a:rPr>
              <a:t> </a:t>
            </a:r>
            <a:r>
              <a:rPr sz="2000" spc="-15" dirty="0">
                <a:solidFill>
                  <a:srgbClr val="404040"/>
                </a:solidFill>
                <a:latin typeface="Calibri"/>
                <a:cs typeface="Calibri"/>
              </a:rPr>
              <a:t>features</a:t>
            </a:r>
            <a:r>
              <a:rPr sz="2000" spc="15" dirty="0">
                <a:solidFill>
                  <a:srgbClr val="404040"/>
                </a:solidFill>
                <a:latin typeface="Calibri"/>
                <a:cs typeface="Calibri"/>
              </a:rPr>
              <a:t> </a:t>
            </a:r>
            <a:r>
              <a:rPr sz="2000" dirty="0">
                <a:solidFill>
                  <a:srgbClr val="404040"/>
                </a:solidFill>
                <a:latin typeface="Calibri"/>
                <a:cs typeface="Calibri"/>
              </a:rPr>
              <a:t>added</a:t>
            </a:r>
            <a:r>
              <a:rPr sz="2000" spc="-15" dirty="0">
                <a:solidFill>
                  <a:srgbClr val="404040"/>
                </a:solidFill>
                <a:latin typeface="Calibri"/>
                <a:cs typeface="Calibri"/>
              </a:rPr>
              <a:t> to</a:t>
            </a:r>
            <a:r>
              <a:rPr sz="2000" dirty="0">
                <a:solidFill>
                  <a:srgbClr val="404040"/>
                </a:solidFill>
                <a:latin typeface="Calibri"/>
                <a:cs typeface="Calibri"/>
              </a:rPr>
              <a:t> it.</a:t>
            </a:r>
            <a:endParaRPr sz="2000" dirty="0">
              <a:latin typeface="Calibri"/>
              <a:cs typeface="Calibri"/>
            </a:endParaRPr>
          </a:p>
          <a:p>
            <a:pPr marL="355600" indent="-342900">
              <a:lnSpc>
                <a:spcPct val="100000"/>
              </a:lnSpc>
              <a:spcBef>
                <a:spcPts val="1155"/>
              </a:spcBef>
              <a:buFont typeface="Wingdings" panose="05000000000000000000" pitchFamily="2" charset="2"/>
              <a:buChar char="Ø"/>
            </a:pPr>
            <a:r>
              <a:rPr sz="2000" spc="-5" dirty="0">
                <a:solidFill>
                  <a:srgbClr val="404040"/>
                </a:solidFill>
                <a:latin typeface="Calibri"/>
                <a:cs typeface="Calibri"/>
              </a:rPr>
              <a:t>The</a:t>
            </a:r>
            <a:r>
              <a:rPr sz="2000" spc="5" dirty="0">
                <a:solidFill>
                  <a:srgbClr val="404040"/>
                </a:solidFill>
                <a:latin typeface="Calibri"/>
                <a:cs typeface="Calibri"/>
              </a:rPr>
              <a:t> </a:t>
            </a:r>
            <a:r>
              <a:rPr sz="2000" spc="-5" dirty="0">
                <a:solidFill>
                  <a:srgbClr val="404040"/>
                </a:solidFill>
                <a:latin typeface="Calibri"/>
                <a:cs typeface="Calibri"/>
              </a:rPr>
              <a:t>security </a:t>
            </a:r>
            <a:r>
              <a:rPr sz="2000" spc="-15" dirty="0">
                <a:solidFill>
                  <a:srgbClr val="404040"/>
                </a:solidFill>
                <a:latin typeface="Calibri"/>
                <a:cs typeface="Calibri"/>
              </a:rPr>
              <a:t>features</a:t>
            </a:r>
            <a:r>
              <a:rPr sz="2000" spc="25" dirty="0">
                <a:solidFill>
                  <a:srgbClr val="404040"/>
                </a:solidFill>
                <a:latin typeface="Calibri"/>
                <a:cs typeface="Calibri"/>
              </a:rPr>
              <a:t> </a:t>
            </a:r>
            <a:r>
              <a:rPr sz="2000" dirty="0">
                <a:solidFill>
                  <a:srgbClr val="404040"/>
                </a:solidFill>
                <a:latin typeface="Calibri"/>
                <a:cs typeface="Calibri"/>
              </a:rPr>
              <a:t>include</a:t>
            </a:r>
            <a:r>
              <a:rPr sz="2000" spc="-5" dirty="0">
                <a:solidFill>
                  <a:srgbClr val="404040"/>
                </a:solidFill>
                <a:latin typeface="Calibri"/>
                <a:cs typeface="Calibri"/>
              </a:rPr>
              <a:t> cryptographic</a:t>
            </a:r>
            <a:r>
              <a:rPr sz="2000" spc="-30" dirty="0">
                <a:solidFill>
                  <a:srgbClr val="404040"/>
                </a:solidFill>
                <a:latin typeface="Calibri"/>
                <a:cs typeface="Calibri"/>
              </a:rPr>
              <a:t> </a:t>
            </a:r>
            <a:r>
              <a:rPr sz="2000" spc="-10" dirty="0">
                <a:solidFill>
                  <a:srgbClr val="404040"/>
                </a:solidFill>
                <a:latin typeface="Calibri"/>
                <a:cs typeface="Calibri"/>
              </a:rPr>
              <a:t>protection</a:t>
            </a:r>
            <a:r>
              <a:rPr sz="2000" spc="10" dirty="0">
                <a:solidFill>
                  <a:srgbClr val="404040"/>
                </a:solidFill>
                <a:latin typeface="Calibri"/>
                <a:cs typeface="Calibri"/>
              </a:rPr>
              <a:t> </a:t>
            </a:r>
            <a:r>
              <a:rPr sz="2000" spc="-15" dirty="0">
                <a:solidFill>
                  <a:srgbClr val="404040"/>
                </a:solidFill>
                <a:latin typeface="Calibri"/>
                <a:cs typeface="Calibri"/>
              </a:rPr>
              <a:t>for</a:t>
            </a:r>
            <a:r>
              <a:rPr sz="2000" spc="-20" dirty="0">
                <a:solidFill>
                  <a:srgbClr val="404040"/>
                </a:solidFill>
                <a:latin typeface="Calibri"/>
                <a:cs typeface="Calibri"/>
              </a:rPr>
              <a:t> </a:t>
            </a:r>
            <a:r>
              <a:rPr sz="2000" spc="-5" dirty="0">
                <a:solidFill>
                  <a:srgbClr val="404040"/>
                </a:solidFill>
                <a:latin typeface="Calibri"/>
                <a:cs typeface="Calibri"/>
              </a:rPr>
              <a:t>copyrighted</a:t>
            </a:r>
            <a:r>
              <a:rPr sz="2000" spc="-15" dirty="0">
                <a:solidFill>
                  <a:srgbClr val="404040"/>
                </a:solidFill>
                <a:latin typeface="Calibri"/>
                <a:cs typeface="Calibri"/>
              </a:rPr>
              <a:t> </a:t>
            </a:r>
            <a:r>
              <a:rPr sz="2000" spc="-10" dirty="0">
                <a:solidFill>
                  <a:srgbClr val="404040"/>
                </a:solidFill>
                <a:latin typeface="Calibri"/>
                <a:cs typeface="Calibri"/>
              </a:rPr>
              <a:t>data.</a:t>
            </a:r>
            <a:endParaRPr sz="2000" dirty="0">
              <a:latin typeface="Calibri"/>
              <a:cs typeface="Calibri"/>
            </a:endParaRPr>
          </a:p>
          <a:p>
            <a:pPr marL="355600" marR="5080" indent="-342900">
              <a:lnSpc>
                <a:spcPts val="2160"/>
              </a:lnSpc>
              <a:spcBef>
                <a:spcPts val="1435"/>
              </a:spcBef>
              <a:buFont typeface="Wingdings" panose="05000000000000000000" pitchFamily="2" charset="2"/>
              <a:buChar char="Ø"/>
            </a:pPr>
            <a:r>
              <a:rPr sz="2000" spc="-5" dirty="0">
                <a:solidFill>
                  <a:srgbClr val="404040"/>
                </a:solidFill>
                <a:latin typeface="Calibri"/>
                <a:cs typeface="Calibri"/>
              </a:rPr>
              <a:t>SD </a:t>
            </a:r>
            <a:r>
              <a:rPr sz="2000" spc="-10" dirty="0">
                <a:solidFill>
                  <a:srgbClr val="404040"/>
                </a:solidFill>
                <a:latin typeface="Calibri"/>
                <a:cs typeface="Calibri"/>
              </a:rPr>
              <a:t>cards</a:t>
            </a:r>
            <a:r>
              <a:rPr sz="2000" spc="-5" dirty="0">
                <a:solidFill>
                  <a:srgbClr val="404040"/>
                </a:solidFill>
                <a:latin typeface="Calibri"/>
                <a:cs typeface="Calibri"/>
              </a:rPr>
              <a:t> </a:t>
            </a:r>
            <a:r>
              <a:rPr sz="2000" spc="-10" dirty="0">
                <a:solidFill>
                  <a:srgbClr val="404040"/>
                </a:solidFill>
                <a:latin typeface="Calibri"/>
                <a:cs typeface="Calibri"/>
              </a:rPr>
              <a:t>are</a:t>
            </a:r>
            <a:r>
              <a:rPr sz="2000" spc="15" dirty="0">
                <a:solidFill>
                  <a:srgbClr val="404040"/>
                </a:solidFill>
                <a:latin typeface="Calibri"/>
                <a:cs typeface="Calibri"/>
              </a:rPr>
              <a:t> </a:t>
            </a:r>
            <a:r>
              <a:rPr sz="2000" spc="-5" dirty="0">
                <a:solidFill>
                  <a:srgbClr val="404040"/>
                </a:solidFill>
                <a:latin typeface="Calibri"/>
                <a:cs typeface="Calibri"/>
              </a:rPr>
              <a:t>widely used </a:t>
            </a:r>
            <a:r>
              <a:rPr sz="2000" spc="-15" dirty="0">
                <a:solidFill>
                  <a:srgbClr val="404040"/>
                </a:solidFill>
                <a:latin typeface="Calibri"/>
                <a:cs typeface="Calibri"/>
              </a:rPr>
              <a:t>for</a:t>
            </a:r>
            <a:r>
              <a:rPr sz="2000" spc="-10" dirty="0">
                <a:solidFill>
                  <a:srgbClr val="404040"/>
                </a:solidFill>
                <a:latin typeface="Calibri"/>
                <a:cs typeface="Calibri"/>
              </a:rPr>
              <a:t> </a:t>
            </a:r>
            <a:r>
              <a:rPr sz="2000" spc="-15" dirty="0">
                <a:solidFill>
                  <a:srgbClr val="404040"/>
                </a:solidFill>
                <a:latin typeface="Calibri"/>
                <a:cs typeface="Calibri"/>
              </a:rPr>
              <a:t>storage</a:t>
            </a:r>
            <a:r>
              <a:rPr sz="2000" spc="5" dirty="0">
                <a:solidFill>
                  <a:srgbClr val="404040"/>
                </a:solidFill>
                <a:latin typeface="Calibri"/>
                <a:cs typeface="Calibri"/>
              </a:rPr>
              <a:t> </a:t>
            </a:r>
            <a:r>
              <a:rPr sz="2000" dirty="0">
                <a:solidFill>
                  <a:srgbClr val="404040"/>
                </a:solidFill>
                <a:latin typeface="Calibri"/>
                <a:cs typeface="Calibri"/>
              </a:rPr>
              <a:t>in</a:t>
            </a:r>
            <a:r>
              <a:rPr sz="2000" spc="-5" dirty="0">
                <a:solidFill>
                  <a:srgbClr val="404040"/>
                </a:solidFill>
                <a:latin typeface="Calibri"/>
                <a:cs typeface="Calibri"/>
              </a:rPr>
              <a:t> </a:t>
            </a:r>
            <a:r>
              <a:rPr sz="2000" spc="-10" dirty="0">
                <a:solidFill>
                  <a:srgbClr val="404040"/>
                </a:solidFill>
                <a:latin typeface="Calibri"/>
                <a:cs typeface="Calibri"/>
              </a:rPr>
              <a:t>many</a:t>
            </a:r>
            <a:r>
              <a:rPr sz="2000" spc="5" dirty="0">
                <a:solidFill>
                  <a:srgbClr val="404040"/>
                </a:solidFill>
                <a:latin typeface="Calibri"/>
                <a:cs typeface="Calibri"/>
              </a:rPr>
              <a:t> </a:t>
            </a:r>
            <a:r>
              <a:rPr sz="2000" spc="-5" dirty="0">
                <a:solidFill>
                  <a:srgbClr val="404040"/>
                </a:solidFill>
                <a:latin typeface="Calibri"/>
                <a:cs typeface="Calibri"/>
              </a:rPr>
              <a:t>of</a:t>
            </a:r>
            <a:r>
              <a:rPr sz="2000" spc="-10" dirty="0">
                <a:solidFill>
                  <a:srgbClr val="404040"/>
                </a:solidFill>
                <a:latin typeface="Calibri"/>
                <a:cs typeface="Calibri"/>
              </a:rPr>
              <a:t> </a:t>
            </a:r>
            <a:r>
              <a:rPr lang="en-US" sz="2000" dirty="0">
                <a:solidFill>
                  <a:srgbClr val="404040"/>
                </a:solidFill>
                <a:latin typeface="Calibri"/>
                <a:cs typeface="Calibri"/>
              </a:rPr>
              <a:t>o</a:t>
            </a:r>
            <a:r>
              <a:rPr sz="2000" dirty="0" smtClean="0">
                <a:solidFill>
                  <a:srgbClr val="404040"/>
                </a:solidFill>
                <a:latin typeface="Calibri"/>
                <a:cs typeface="Calibri"/>
              </a:rPr>
              <a:t>ur</a:t>
            </a:r>
            <a:r>
              <a:rPr sz="2000" spc="-5" dirty="0" smtClean="0">
                <a:solidFill>
                  <a:srgbClr val="404040"/>
                </a:solidFill>
                <a:latin typeface="Calibri"/>
                <a:cs typeface="Calibri"/>
              </a:rPr>
              <a:t> </a:t>
            </a:r>
            <a:r>
              <a:rPr sz="2000" dirty="0">
                <a:solidFill>
                  <a:srgbClr val="404040"/>
                </a:solidFill>
                <a:latin typeface="Calibri"/>
                <a:cs typeface="Calibri"/>
              </a:rPr>
              <a:t>hand-held</a:t>
            </a:r>
            <a:r>
              <a:rPr sz="2000" spc="-20" dirty="0">
                <a:solidFill>
                  <a:srgbClr val="404040"/>
                </a:solidFill>
                <a:latin typeface="Calibri"/>
                <a:cs typeface="Calibri"/>
              </a:rPr>
              <a:t> </a:t>
            </a:r>
            <a:r>
              <a:rPr sz="2000" spc="-5" dirty="0">
                <a:solidFill>
                  <a:srgbClr val="404040"/>
                </a:solidFill>
                <a:latin typeface="Calibri"/>
                <a:cs typeface="Calibri"/>
              </a:rPr>
              <a:t>devices,</a:t>
            </a:r>
            <a:r>
              <a:rPr sz="2000" spc="5" dirty="0">
                <a:solidFill>
                  <a:srgbClr val="404040"/>
                </a:solidFill>
                <a:latin typeface="Calibri"/>
                <a:cs typeface="Calibri"/>
              </a:rPr>
              <a:t> </a:t>
            </a:r>
            <a:r>
              <a:rPr sz="2000" dirty="0">
                <a:solidFill>
                  <a:srgbClr val="404040"/>
                </a:solidFill>
                <a:latin typeface="Calibri"/>
                <a:cs typeface="Calibri"/>
              </a:rPr>
              <a:t>and </a:t>
            </a:r>
            <a:r>
              <a:rPr sz="2000" spc="-10" dirty="0">
                <a:solidFill>
                  <a:srgbClr val="404040"/>
                </a:solidFill>
                <a:latin typeface="Calibri"/>
                <a:cs typeface="Calibri"/>
              </a:rPr>
              <a:t>are</a:t>
            </a:r>
            <a:r>
              <a:rPr sz="2000" spc="5" dirty="0">
                <a:solidFill>
                  <a:srgbClr val="404040"/>
                </a:solidFill>
                <a:latin typeface="Calibri"/>
                <a:cs typeface="Calibri"/>
              </a:rPr>
              <a:t> </a:t>
            </a:r>
            <a:r>
              <a:rPr sz="2000" spc="-10" dirty="0">
                <a:solidFill>
                  <a:srgbClr val="404040"/>
                </a:solidFill>
                <a:latin typeface="Calibri"/>
                <a:cs typeface="Calibri"/>
              </a:rPr>
              <a:t>available</a:t>
            </a:r>
            <a:r>
              <a:rPr sz="2000" spc="15" dirty="0">
                <a:solidFill>
                  <a:srgbClr val="404040"/>
                </a:solidFill>
                <a:latin typeface="Calibri"/>
                <a:cs typeface="Calibri"/>
              </a:rPr>
              <a:t> </a:t>
            </a:r>
            <a:r>
              <a:rPr sz="2000" dirty="0">
                <a:solidFill>
                  <a:srgbClr val="404040"/>
                </a:solidFill>
                <a:latin typeface="Calibri"/>
                <a:cs typeface="Calibri"/>
              </a:rPr>
              <a:t>in </a:t>
            </a:r>
            <a:r>
              <a:rPr sz="2000" spc="-440" dirty="0">
                <a:solidFill>
                  <a:srgbClr val="404040"/>
                </a:solidFill>
                <a:latin typeface="Calibri"/>
                <a:cs typeface="Calibri"/>
              </a:rPr>
              <a:t> </a:t>
            </a:r>
            <a:r>
              <a:rPr sz="2000" spc="-10" dirty="0">
                <a:solidFill>
                  <a:srgbClr val="404040"/>
                </a:solidFill>
                <a:latin typeface="Calibri"/>
                <a:cs typeface="Calibri"/>
              </a:rPr>
              <a:t>various </a:t>
            </a:r>
            <a:r>
              <a:rPr sz="2000" spc="-15" dirty="0">
                <a:solidFill>
                  <a:srgbClr val="404040"/>
                </a:solidFill>
                <a:latin typeface="Calibri"/>
                <a:cs typeface="Calibri"/>
              </a:rPr>
              <a:t>storage</a:t>
            </a:r>
            <a:r>
              <a:rPr sz="2000" spc="-10"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t>
            </a:r>
            <a:r>
              <a:rPr sz="2000" spc="-10" dirty="0">
                <a:solidFill>
                  <a:srgbClr val="404040"/>
                </a:solidFill>
                <a:latin typeface="Calibri"/>
                <a:cs typeface="Calibri"/>
              </a:rPr>
              <a:t>physical</a:t>
            </a:r>
            <a:r>
              <a:rPr sz="2000" spc="-15" dirty="0">
                <a:solidFill>
                  <a:srgbClr val="404040"/>
                </a:solidFill>
                <a:latin typeface="Calibri"/>
                <a:cs typeface="Calibri"/>
              </a:rPr>
              <a:t> </a:t>
            </a:r>
            <a:r>
              <a:rPr sz="2000" spc="-10" dirty="0">
                <a:solidFill>
                  <a:srgbClr val="404040"/>
                </a:solidFill>
                <a:latin typeface="Calibri"/>
                <a:cs typeface="Calibri"/>
              </a:rPr>
              <a:t>sizes.</a:t>
            </a:r>
            <a:endParaRPr sz="2000" dirty="0">
              <a:latin typeface="Calibri"/>
              <a:cs typeface="Calibri"/>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26</a:t>
            </a:r>
            <a:endParaRPr sz="1050">
              <a:latin typeface="Calibri"/>
              <a:cs typeface="Calibri"/>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176324" y="928496"/>
            <a:ext cx="9996805" cy="756920"/>
          </a:xfrm>
          <a:prstGeom prst="rect">
            <a:avLst/>
          </a:prstGeom>
        </p:spPr>
        <p:txBody>
          <a:bodyPr vert="horz" wrap="square" lIns="0" tIns="12700" rIns="0" bIns="0" rtlCol="0">
            <a:spAutoFit/>
          </a:bodyPr>
          <a:lstStyle/>
          <a:p>
            <a:pPr marL="12700">
              <a:lnSpc>
                <a:spcPct val="100000"/>
              </a:lnSpc>
              <a:spcBef>
                <a:spcPts val="100"/>
              </a:spcBef>
              <a:tabLst>
                <a:tab pos="9983470" algn="l"/>
              </a:tabLst>
            </a:pPr>
            <a:r>
              <a:rPr sz="4800" b="0" u="sng" spc="-140" dirty="0" smtClean="0">
                <a:solidFill>
                  <a:srgbClr val="404040"/>
                </a:solidFill>
                <a:uFill>
                  <a:solidFill>
                    <a:srgbClr val="7E7E7E"/>
                  </a:solidFill>
                </a:uFill>
                <a:latin typeface="Calibri Light"/>
                <a:cs typeface="Calibri Light"/>
              </a:rPr>
              <a:t> </a:t>
            </a:r>
            <a:r>
              <a:rPr sz="4800" b="0" u="sng" spc="-45" dirty="0">
                <a:solidFill>
                  <a:srgbClr val="404040"/>
                </a:solidFill>
                <a:uFill>
                  <a:solidFill>
                    <a:srgbClr val="7E7E7E"/>
                  </a:solidFill>
                </a:uFill>
                <a:latin typeface="Calibri Light"/>
                <a:cs typeface="Calibri Light"/>
              </a:rPr>
              <a:t>Cache	</a:t>
            </a:r>
            <a:endParaRPr sz="4800" dirty="0">
              <a:latin typeface="Calibri Light"/>
              <a:cs typeface="Calibri Light"/>
            </a:endParaRPr>
          </a:p>
        </p:txBody>
      </p:sp>
      <p:sp>
        <p:nvSpPr>
          <p:cNvPr id="6" name="object 6"/>
          <p:cNvSpPr txBox="1"/>
          <p:nvPr/>
        </p:nvSpPr>
        <p:spPr>
          <a:xfrm>
            <a:off x="1176324" y="1831975"/>
            <a:ext cx="9772015" cy="5062283"/>
          </a:xfrm>
          <a:prstGeom prst="rect">
            <a:avLst/>
          </a:prstGeom>
        </p:spPr>
        <p:txBody>
          <a:bodyPr vert="horz" wrap="square" lIns="0" tIns="47625" rIns="0" bIns="0" rtlCol="0">
            <a:spAutoFit/>
          </a:bodyPr>
          <a:lstStyle/>
          <a:p>
            <a:pPr marL="355600" marR="5080" indent="-342900">
              <a:lnSpc>
                <a:spcPts val="2160"/>
              </a:lnSpc>
              <a:spcBef>
                <a:spcPts val="375"/>
              </a:spcBef>
              <a:buFont typeface="Wingdings" panose="05000000000000000000" pitchFamily="2" charset="2"/>
              <a:buChar char="Ø"/>
            </a:pPr>
            <a:r>
              <a:rPr sz="2000" spc="-5" dirty="0">
                <a:solidFill>
                  <a:srgbClr val="404040"/>
                </a:solidFill>
                <a:latin typeface="Calibri"/>
                <a:cs typeface="Calibri"/>
              </a:rPr>
              <a:t>This</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dirty="0">
                <a:solidFill>
                  <a:srgbClr val="404040"/>
                </a:solidFill>
                <a:latin typeface="Calibri"/>
                <a:cs typeface="Calibri"/>
              </a:rPr>
              <a:t>a memory </a:t>
            </a:r>
            <a:r>
              <a:rPr sz="2000" spc="-5" dirty="0">
                <a:solidFill>
                  <a:srgbClr val="404040"/>
                </a:solidFill>
                <a:latin typeface="Calibri"/>
                <a:cs typeface="Calibri"/>
              </a:rPr>
              <a:t>concept</a:t>
            </a:r>
            <a:r>
              <a:rPr sz="2000" spc="-15" dirty="0">
                <a:solidFill>
                  <a:srgbClr val="404040"/>
                </a:solidFill>
                <a:latin typeface="Calibri"/>
                <a:cs typeface="Calibri"/>
              </a:rPr>
              <a:t> </a:t>
            </a:r>
            <a:r>
              <a:rPr sz="2000" spc="-5" dirty="0">
                <a:solidFill>
                  <a:srgbClr val="404040"/>
                </a:solidFill>
                <a:latin typeface="Calibri"/>
                <a:cs typeface="Calibri"/>
              </a:rPr>
              <a:t>meant</a:t>
            </a:r>
            <a:r>
              <a:rPr sz="2000" spc="10" dirty="0">
                <a:solidFill>
                  <a:srgbClr val="404040"/>
                </a:solidFill>
                <a:latin typeface="Calibri"/>
                <a:cs typeface="Calibri"/>
              </a:rPr>
              <a:t> </a:t>
            </a:r>
            <a:r>
              <a:rPr sz="2000" spc="-15" dirty="0">
                <a:solidFill>
                  <a:srgbClr val="404040"/>
                </a:solidFill>
                <a:latin typeface="Calibri"/>
                <a:cs typeface="Calibri"/>
              </a:rPr>
              <a:t>for </a:t>
            </a:r>
            <a:r>
              <a:rPr sz="2000" spc="-5" dirty="0">
                <a:solidFill>
                  <a:srgbClr val="404040"/>
                </a:solidFill>
                <a:latin typeface="Calibri"/>
                <a:cs typeface="Calibri"/>
              </a:rPr>
              <a:t>speeding</a:t>
            </a:r>
            <a:r>
              <a:rPr sz="2000" dirty="0">
                <a:solidFill>
                  <a:srgbClr val="404040"/>
                </a:solidFill>
                <a:latin typeface="Calibri"/>
                <a:cs typeface="Calibri"/>
              </a:rPr>
              <a:t> </a:t>
            </a:r>
            <a:r>
              <a:rPr sz="2000" spc="-5" dirty="0">
                <a:solidFill>
                  <a:srgbClr val="404040"/>
                </a:solidFill>
                <a:latin typeface="Calibri"/>
                <a:cs typeface="Calibri"/>
              </a:rPr>
              <a:t>up</a:t>
            </a:r>
            <a:r>
              <a:rPr sz="2000" spc="-15" dirty="0">
                <a:solidFill>
                  <a:srgbClr val="404040"/>
                </a:solidFill>
                <a:latin typeface="Calibri"/>
                <a:cs typeface="Calibri"/>
              </a:rPr>
              <a:t> </a:t>
            </a:r>
            <a:r>
              <a:rPr sz="2000" dirty="0">
                <a:solidFill>
                  <a:srgbClr val="404040"/>
                </a:solidFill>
                <a:latin typeface="Calibri"/>
                <a:cs typeface="Calibri"/>
              </a:rPr>
              <a:t>memory</a:t>
            </a:r>
            <a:r>
              <a:rPr sz="2000" spc="-5" dirty="0">
                <a:solidFill>
                  <a:srgbClr val="404040"/>
                </a:solidFill>
                <a:latin typeface="Calibri"/>
                <a:cs typeface="Calibri"/>
              </a:rPr>
              <a:t> </a:t>
            </a:r>
            <a:r>
              <a:rPr sz="2000" dirty="0">
                <a:solidFill>
                  <a:srgbClr val="404040"/>
                </a:solidFill>
                <a:latin typeface="Calibri"/>
                <a:cs typeface="Calibri"/>
              </a:rPr>
              <a:t>accesses.</a:t>
            </a:r>
            <a:r>
              <a:rPr sz="2000" spc="20" dirty="0">
                <a:solidFill>
                  <a:srgbClr val="404040"/>
                </a:solidFill>
                <a:latin typeface="Calibri"/>
                <a:cs typeface="Calibri"/>
              </a:rPr>
              <a:t> </a:t>
            </a:r>
            <a:endParaRPr lang="en-US" sz="2000" spc="20" dirty="0" smtClean="0">
              <a:solidFill>
                <a:srgbClr val="404040"/>
              </a:solidFill>
              <a:latin typeface="Calibri"/>
              <a:cs typeface="Calibri"/>
            </a:endParaRPr>
          </a:p>
          <a:p>
            <a:pPr marL="355600" marR="5080" indent="-342900">
              <a:lnSpc>
                <a:spcPts val="2160"/>
              </a:lnSpc>
              <a:spcBef>
                <a:spcPts val="375"/>
              </a:spcBef>
              <a:buFont typeface="Wingdings" panose="05000000000000000000" pitchFamily="2" charset="2"/>
              <a:buChar char="Ø"/>
            </a:pPr>
            <a:r>
              <a:rPr sz="2000" dirty="0" smtClean="0">
                <a:solidFill>
                  <a:srgbClr val="404040"/>
                </a:solidFill>
                <a:latin typeface="Calibri"/>
                <a:cs typeface="Calibri"/>
              </a:rPr>
              <a:t>Caches</a:t>
            </a:r>
            <a:r>
              <a:rPr sz="2000" spc="-15" dirty="0" smtClean="0">
                <a:solidFill>
                  <a:srgbClr val="404040"/>
                </a:solidFill>
                <a:latin typeface="Calibri"/>
                <a:cs typeface="Calibri"/>
              </a:rPr>
              <a:t> </a:t>
            </a:r>
            <a:r>
              <a:rPr sz="2000" spc="-10" dirty="0">
                <a:solidFill>
                  <a:srgbClr val="404040"/>
                </a:solidFill>
                <a:latin typeface="Calibri"/>
                <a:cs typeface="Calibri"/>
              </a:rPr>
              <a:t>are</a:t>
            </a:r>
            <a:r>
              <a:rPr sz="2000" dirty="0">
                <a:solidFill>
                  <a:srgbClr val="404040"/>
                </a:solidFill>
                <a:latin typeface="Calibri"/>
                <a:cs typeface="Calibri"/>
              </a:rPr>
              <a:t> </a:t>
            </a:r>
            <a:r>
              <a:rPr sz="2000" spc="-15" dirty="0">
                <a:solidFill>
                  <a:srgbClr val="404040"/>
                </a:solidFill>
                <a:latin typeface="Calibri"/>
                <a:cs typeface="Calibri"/>
              </a:rPr>
              <a:t>always</a:t>
            </a:r>
            <a:r>
              <a:rPr sz="2000" spc="15" dirty="0">
                <a:solidFill>
                  <a:srgbClr val="404040"/>
                </a:solidFill>
                <a:latin typeface="Calibri"/>
                <a:cs typeface="Calibri"/>
              </a:rPr>
              <a:t> </a:t>
            </a:r>
            <a:r>
              <a:rPr sz="2000" spc="-5" dirty="0">
                <a:solidFill>
                  <a:srgbClr val="404040"/>
                </a:solidFill>
                <a:latin typeface="Calibri"/>
                <a:cs typeface="Calibri"/>
              </a:rPr>
              <a:t>used</a:t>
            </a:r>
            <a:r>
              <a:rPr sz="2000" spc="-10" dirty="0">
                <a:solidFill>
                  <a:srgbClr val="404040"/>
                </a:solidFill>
                <a:latin typeface="Calibri"/>
                <a:cs typeface="Calibri"/>
              </a:rPr>
              <a:t> </a:t>
            </a:r>
            <a:r>
              <a:rPr sz="2000" dirty="0">
                <a:solidFill>
                  <a:srgbClr val="404040"/>
                </a:solidFill>
                <a:latin typeface="Calibri"/>
                <a:cs typeface="Calibri"/>
              </a:rPr>
              <a:t>in </a:t>
            </a:r>
            <a:r>
              <a:rPr sz="2000" spc="5" dirty="0">
                <a:solidFill>
                  <a:srgbClr val="404040"/>
                </a:solidFill>
                <a:latin typeface="Calibri"/>
                <a:cs typeface="Calibri"/>
              </a:rPr>
              <a:t> </a:t>
            </a:r>
            <a:r>
              <a:rPr sz="2000" spc="-10" dirty="0">
                <a:solidFill>
                  <a:srgbClr val="404040"/>
                </a:solidFill>
                <a:latin typeface="Calibri"/>
                <a:cs typeface="Calibri"/>
              </a:rPr>
              <a:t>general </a:t>
            </a:r>
            <a:r>
              <a:rPr sz="2000" dirty="0">
                <a:solidFill>
                  <a:srgbClr val="404040"/>
                </a:solidFill>
                <a:latin typeface="Calibri"/>
                <a:cs typeface="Calibri"/>
              </a:rPr>
              <a:t>purpose</a:t>
            </a:r>
            <a:r>
              <a:rPr sz="2000" spc="-5" dirty="0">
                <a:solidFill>
                  <a:srgbClr val="404040"/>
                </a:solidFill>
                <a:latin typeface="Calibri"/>
                <a:cs typeface="Calibri"/>
              </a:rPr>
              <a:t> computing</a:t>
            </a:r>
            <a:r>
              <a:rPr sz="2000" spc="-25" dirty="0">
                <a:solidFill>
                  <a:srgbClr val="404040"/>
                </a:solidFill>
                <a:latin typeface="Calibri"/>
                <a:cs typeface="Calibri"/>
              </a:rPr>
              <a:t> </a:t>
            </a:r>
            <a:r>
              <a:rPr sz="2000" spc="-20" dirty="0">
                <a:solidFill>
                  <a:srgbClr val="404040"/>
                </a:solidFill>
                <a:latin typeface="Calibri"/>
                <a:cs typeface="Calibri"/>
              </a:rPr>
              <a:t>systems,</a:t>
            </a:r>
            <a:r>
              <a:rPr sz="2000" spc="30" dirty="0">
                <a:solidFill>
                  <a:srgbClr val="404040"/>
                </a:solidFill>
                <a:latin typeface="Calibri"/>
                <a:cs typeface="Calibri"/>
              </a:rPr>
              <a:t> </a:t>
            </a:r>
            <a:r>
              <a:rPr sz="2000" dirty="0">
                <a:solidFill>
                  <a:srgbClr val="404040"/>
                </a:solidFill>
                <a:latin typeface="Calibri"/>
                <a:cs typeface="Calibri"/>
              </a:rPr>
              <a:t>but</a:t>
            </a:r>
            <a:r>
              <a:rPr sz="2000" spc="-5" dirty="0">
                <a:solidFill>
                  <a:srgbClr val="404040"/>
                </a:solidFill>
                <a:latin typeface="Calibri"/>
                <a:cs typeface="Calibri"/>
              </a:rPr>
              <a:t> </a:t>
            </a:r>
            <a:r>
              <a:rPr sz="2000" dirty="0">
                <a:solidFill>
                  <a:srgbClr val="404040"/>
                </a:solidFill>
                <a:latin typeface="Calibri"/>
                <a:cs typeface="Calibri"/>
              </a:rPr>
              <a:t>in the</a:t>
            </a:r>
            <a:r>
              <a:rPr sz="2000" spc="10" dirty="0">
                <a:solidFill>
                  <a:srgbClr val="404040"/>
                </a:solidFill>
                <a:latin typeface="Calibri"/>
                <a:cs typeface="Calibri"/>
              </a:rPr>
              <a:t> </a:t>
            </a:r>
            <a:r>
              <a:rPr sz="2000" dirty="0">
                <a:solidFill>
                  <a:srgbClr val="404040"/>
                </a:solidFill>
                <a:latin typeface="Calibri"/>
                <a:cs typeface="Calibri"/>
              </a:rPr>
              <a:t>embedded </a:t>
            </a:r>
            <a:r>
              <a:rPr sz="2000" spc="-5" dirty="0">
                <a:solidFill>
                  <a:srgbClr val="404040"/>
                </a:solidFill>
                <a:latin typeface="Calibri"/>
                <a:cs typeface="Calibri"/>
              </a:rPr>
              <a:t>domain,</a:t>
            </a:r>
            <a:r>
              <a:rPr sz="2000" spc="-10" dirty="0">
                <a:solidFill>
                  <a:srgbClr val="404040"/>
                </a:solidFill>
                <a:latin typeface="Calibri"/>
                <a:cs typeface="Calibri"/>
              </a:rPr>
              <a:t> </a:t>
            </a:r>
            <a:r>
              <a:rPr sz="2000" spc="-5" dirty="0">
                <a:solidFill>
                  <a:srgbClr val="404040"/>
                </a:solidFill>
                <a:latin typeface="Calibri"/>
                <a:cs typeface="Calibri"/>
              </a:rPr>
              <a:t>only</a:t>
            </a:r>
            <a:r>
              <a:rPr sz="2000" spc="-15" dirty="0">
                <a:solidFill>
                  <a:srgbClr val="404040"/>
                </a:solidFill>
                <a:latin typeface="Calibri"/>
                <a:cs typeface="Calibri"/>
              </a:rPr>
              <a:t> </a:t>
            </a:r>
            <a:r>
              <a:rPr sz="2000" dirty="0">
                <a:solidFill>
                  <a:srgbClr val="404040"/>
                </a:solidFill>
                <a:latin typeface="Calibri"/>
                <a:cs typeface="Calibri"/>
              </a:rPr>
              <a:t>high-end</a:t>
            </a:r>
            <a:r>
              <a:rPr sz="2000" spc="-5" dirty="0">
                <a:solidFill>
                  <a:srgbClr val="404040"/>
                </a:solidFill>
                <a:latin typeface="Calibri"/>
                <a:cs typeface="Calibri"/>
              </a:rPr>
              <a:t> </a:t>
            </a:r>
            <a:r>
              <a:rPr sz="2000" dirty="0">
                <a:solidFill>
                  <a:srgbClr val="404040"/>
                </a:solidFill>
                <a:latin typeface="Calibri"/>
                <a:cs typeface="Calibri"/>
              </a:rPr>
              <a:t>MCUs</a:t>
            </a:r>
            <a:r>
              <a:rPr sz="2000" spc="10" dirty="0">
                <a:solidFill>
                  <a:srgbClr val="404040"/>
                </a:solidFill>
                <a:latin typeface="Calibri"/>
                <a:cs typeface="Calibri"/>
              </a:rPr>
              <a:t> </a:t>
            </a:r>
            <a:r>
              <a:rPr sz="2000" spc="-5" dirty="0">
                <a:solidFill>
                  <a:srgbClr val="404040"/>
                </a:solidFill>
                <a:latin typeface="Calibri"/>
                <a:cs typeface="Calibri"/>
              </a:rPr>
              <a:t>use</a:t>
            </a:r>
            <a:r>
              <a:rPr sz="2000" dirty="0">
                <a:solidFill>
                  <a:srgbClr val="404040"/>
                </a:solidFill>
                <a:latin typeface="Calibri"/>
                <a:cs typeface="Calibri"/>
              </a:rPr>
              <a:t> it.</a:t>
            </a:r>
            <a:endParaRPr sz="2000" dirty="0">
              <a:latin typeface="Calibri"/>
              <a:cs typeface="Calibri"/>
            </a:endParaRPr>
          </a:p>
          <a:p>
            <a:pPr marL="355600" indent="-342900">
              <a:lnSpc>
                <a:spcPts val="2280"/>
              </a:lnSpc>
              <a:spcBef>
                <a:spcPts val="1130"/>
              </a:spcBef>
              <a:buFont typeface="Wingdings" panose="05000000000000000000" pitchFamily="2" charset="2"/>
              <a:buChar char="Ø"/>
            </a:pPr>
            <a:r>
              <a:rPr sz="2000" spc="-5" dirty="0">
                <a:solidFill>
                  <a:srgbClr val="404040"/>
                </a:solidFill>
                <a:latin typeface="Calibri"/>
                <a:cs typeface="Calibri"/>
              </a:rPr>
              <a:t>The</a:t>
            </a:r>
            <a:r>
              <a:rPr sz="2000" spc="5" dirty="0">
                <a:solidFill>
                  <a:srgbClr val="404040"/>
                </a:solidFill>
                <a:latin typeface="Calibri"/>
                <a:cs typeface="Calibri"/>
              </a:rPr>
              <a:t> </a:t>
            </a:r>
            <a:r>
              <a:rPr sz="2000" dirty="0">
                <a:solidFill>
                  <a:srgbClr val="404040"/>
                </a:solidFill>
                <a:latin typeface="Calibri"/>
                <a:cs typeface="Calibri"/>
              </a:rPr>
              <a:t>cache</a:t>
            </a:r>
            <a:r>
              <a:rPr sz="2000" spc="-15"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a:t>
            </a:r>
            <a:r>
              <a:rPr sz="2000" dirty="0">
                <a:solidFill>
                  <a:srgbClr val="404040"/>
                </a:solidFill>
                <a:latin typeface="Calibri"/>
                <a:cs typeface="Calibri"/>
              </a:rPr>
              <a:t>type</a:t>
            </a:r>
            <a:r>
              <a:rPr sz="2000" spc="-15" dirty="0">
                <a:solidFill>
                  <a:srgbClr val="404040"/>
                </a:solidFill>
                <a:latin typeface="Calibri"/>
                <a:cs typeface="Calibri"/>
              </a:rPr>
              <a:t> </a:t>
            </a:r>
            <a:r>
              <a:rPr sz="2000" dirty="0">
                <a:solidFill>
                  <a:srgbClr val="404040"/>
                </a:solidFill>
                <a:latin typeface="Calibri"/>
                <a:cs typeface="Calibri"/>
              </a:rPr>
              <a:t>of</a:t>
            </a:r>
            <a:r>
              <a:rPr sz="2000" spc="-10" dirty="0">
                <a:solidFill>
                  <a:srgbClr val="404040"/>
                </a:solidFill>
                <a:latin typeface="Calibri"/>
                <a:cs typeface="Calibri"/>
              </a:rPr>
              <a:t> </a:t>
            </a:r>
            <a:r>
              <a:rPr sz="2000" spc="-5" dirty="0">
                <a:solidFill>
                  <a:srgbClr val="404040"/>
                </a:solidFill>
                <a:latin typeface="Calibri"/>
                <a:cs typeface="Calibri"/>
              </a:rPr>
              <a:t>memory</a:t>
            </a:r>
            <a:r>
              <a:rPr sz="2000" spc="5" dirty="0">
                <a:solidFill>
                  <a:srgbClr val="404040"/>
                </a:solidFill>
                <a:latin typeface="Calibri"/>
                <a:cs typeface="Calibri"/>
              </a:rPr>
              <a:t> </a:t>
            </a:r>
            <a:r>
              <a:rPr sz="2000" dirty="0">
                <a:solidFill>
                  <a:srgbClr val="404040"/>
                </a:solidFill>
                <a:latin typeface="Calibri"/>
                <a:cs typeface="Calibri"/>
              </a:rPr>
              <a:t>which</a:t>
            </a:r>
            <a:r>
              <a:rPr sz="2000" spc="-15" dirty="0">
                <a:solidFill>
                  <a:srgbClr val="404040"/>
                </a:solidFill>
                <a:latin typeface="Calibri"/>
                <a:cs typeface="Calibri"/>
              </a:rPr>
              <a:t> </a:t>
            </a:r>
            <a:r>
              <a:rPr sz="2000" dirty="0">
                <a:solidFill>
                  <a:srgbClr val="404040"/>
                </a:solidFill>
                <a:latin typeface="Calibri"/>
                <a:cs typeface="Calibri"/>
              </a:rPr>
              <a:t>is</a:t>
            </a:r>
            <a:r>
              <a:rPr sz="2000" spc="5" dirty="0">
                <a:solidFill>
                  <a:srgbClr val="404040"/>
                </a:solidFill>
                <a:latin typeface="Calibri"/>
                <a:cs typeface="Calibri"/>
              </a:rPr>
              <a:t> </a:t>
            </a:r>
            <a:r>
              <a:rPr sz="2000" spc="-5" dirty="0">
                <a:solidFill>
                  <a:srgbClr val="404040"/>
                </a:solidFill>
                <a:latin typeface="Calibri"/>
                <a:cs typeface="Calibri"/>
              </a:rPr>
              <a:t>placed </a:t>
            </a:r>
            <a:r>
              <a:rPr sz="2000" dirty="0">
                <a:solidFill>
                  <a:srgbClr val="404040"/>
                </a:solidFill>
                <a:latin typeface="Calibri"/>
                <a:cs typeface="Calibri"/>
              </a:rPr>
              <a:t>close</a:t>
            </a:r>
            <a:r>
              <a:rPr sz="2000" spc="15" dirty="0">
                <a:solidFill>
                  <a:srgbClr val="404040"/>
                </a:solidFill>
                <a:latin typeface="Calibri"/>
                <a:cs typeface="Calibri"/>
              </a:rPr>
              <a:t> </a:t>
            </a:r>
            <a:r>
              <a:rPr sz="2000" spc="-10" dirty="0">
                <a:solidFill>
                  <a:srgbClr val="404040"/>
                </a:solidFill>
                <a:latin typeface="Calibri"/>
                <a:cs typeface="Calibri"/>
              </a:rPr>
              <a:t>to </a:t>
            </a:r>
            <a:r>
              <a:rPr sz="2000" dirty="0">
                <a:solidFill>
                  <a:srgbClr val="404040"/>
                </a:solidFill>
                <a:latin typeface="Calibri"/>
                <a:cs typeface="Calibri"/>
              </a:rPr>
              <a:t>the</a:t>
            </a:r>
            <a:r>
              <a:rPr sz="2000" spc="5" dirty="0">
                <a:solidFill>
                  <a:srgbClr val="404040"/>
                </a:solidFill>
                <a:latin typeface="Calibri"/>
                <a:cs typeface="Calibri"/>
              </a:rPr>
              <a:t> </a:t>
            </a:r>
            <a:r>
              <a:rPr sz="2000" spc="-10" dirty="0">
                <a:solidFill>
                  <a:srgbClr val="404040"/>
                </a:solidFill>
                <a:latin typeface="Calibri"/>
                <a:cs typeface="Calibri"/>
              </a:rPr>
              <a:t>processing</a:t>
            </a:r>
            <a:r>
              <a:rPr sz="2000" spc="10" dirty="0">
                <a:solidFill>
                  <a:srgbClr val="404040"/>
                </a:solidFill>
                <a:latin typeface="Calibri"/>
                <a:cs typeface="Calibri"/>
              </a:rPr>
              <a:t> </a:t>
            </a:r>
            <a:r>
              <a:rPr sz="2000" dirty="0">
                <a:solidFill>
                  <a:srgbClr val="404040"/>
                </a:solidFill>
                <a:latin typeface="Calibri"/>
                <a:cs typeface="Calibri"/>
              </a:rPr>
              <a:t>engine,</a:t>
            </a:r>
            <a:r>
              <a:rPr sz="2000" spc="-15" dirty="0">
                <a:solidFill>
                  <a:srgbClr val="404040"/>
                </a:solidFill>
                <a:latin typeface="Calibri"/>
                <a:cs typeface="Calibri"/>
              </a:rPr>
              <a:t> </a:t>
            </a:r>
            <a:r>
              <a:rPr sz="2000" dirty="0">
                <a:solidFill>
                  <a:srgbClr val="404040"/>
                </a:solidFill>
                <a:latin typeface="Calibri"/>
                <a:cs typeface="Calibri"/>
              </a:rPr>
              <a:t>and</a:t>
            </a:r>
            <a:r>
              <a:rPr sz="2000" spc="5" dirty="0">
                <a:solidFill>
                  <a:srgbClr val="404040"/>
                </a:solidFill>
                <a:latin typeface="Calibri"/>
                <a:cs typeface="Calibri"/>
              </a:rPr>
              <a:t> </a:t>
            </a:r>
            <a:r>
              <a:rPr sz="2000" spc="-5" dirty="0">
                <a:solidFill>
                  <a:srgbClr val="404040"/>
                </a:solidFill>
                <a:latin typeface="Calibri"/>
                <a:cs typeface="Calibri"/>
              </a:rPr>
              <a:t>is</a:t>
            </a:r>
            <a:r>
              <a:rPr sz="2000" spc="5" dirty="0">
                <a:solidFill>
                  <a:srgbClr val="404040"/>
                </a:solidFill>
                <a:latin typeface="Calibri"/>
                <a:cs typeface="Calibri"/>
              </a:rPr>
              <a:t> </a:t>
            </a:r>
            <a:r>
              <a:rPr sz="2000" spc="-20" dirty="0">
                <a:solidFill>
                  <a:srgbClr val="404040"/>
                </a:solidFill>
                <a:latin typeface="Calibri"/>
                <a:cs typeface="Calibri"/>
              </a:rPr>
              <a:t>fast</a:t>
            </a:r>
            <a:r>
              <a:rPr sz="2000" spc="20" dirty="0">
                <a:solidFill>
                  <a:srgbClr val="404040"/>
                </a:solidFill>
                <a:latin typeface="Calibri"/>
                <a:cs typeface="Calibri"/>
              </a:rPr>
              <a:t> </a:t>
            </a:r>
            <a:r>
              <a:rPr sz="2000" dirty="0">
                <a:solidFill>
                  <a:srgbClr val="404040"/>
                </a:solidFill>
                <a:latin typeface="Calibri"/>
                <a:cs typeface="Calibri"/>
              </a:rPr>
              <a:t>in</a:t>
            </a:r>
            <a:endParaRPr sz="2000" dirty="0">
              <a:latin typeface="Calibri"/>
              <a:cs typeface="Calibri"/>
            </a:endParaRPr>
          </a:p>
          <a:p>
            <a:pPr marL="355600" indent="-342900">
              <a:lnSpc>
                <a:spcPts val="2280"/>
              </a:lnSpc>
              <a:buFont typeface="Wingdings" panose="05000000000000000000" pitchFamily="2" charset="2"/>
              <a:buChar char="Ø"/>
            </a:pPr>
            <a:r>
              <a:rPr sz="2000" spc="-5" dirty="0">
                <a:solidFill>
                  <a:srgbClr val="404040"/>
                </a:solidFill>
                <a:latin typeface="Calibri"/>
                <a:cs typeface="Calibri"/>
              </a:rPr>
              <a:t>response</a:t>
            </a:r>
            <a:r>
              <a:rPr sz="2000" spc="-10" dirty="0">
                <a:solidFill>
                  <a:srgbClr val="404040"/>
                </a:solidFill>
                <a:latin typeface="Calibri"/>
                <a:cs typeface="Calibri"/>
              </a:rPr>
              <a:t> </a:t>
            </a:r>
            <a:r>
              <a:rPr sz="2000" dirty="0">
                <a:solidFill>
                  <a:srgbClr val="404040"/>
                </a:solidFill>
                <a:latin typeface="Calibri"/>
                <a:cs typeface="Calibri"/>
              </a:rPr>
              <a:t>and</a:t>
            </a:r>
            <a:r>
              <a:rPr sz="2000" spc="-10" dirty="0">
                <a:solidFill>
                  <a:srgbClr val="404040"/>
                </a:solidFill>
                <a:latin typeface="Calibri"/>
                <a:cs typeface="Calibri"/>
              </a:rPr>
              <a:t> </a:t>
            </a:r>
            <a:r>
              <a:rPr sz="2000" spc="-5" dirty="0">
                <a:solidFill>
                  <a:srgbClr val="404040"/>
                </a:solidFill>
                <a:latin typeface="Calibri"/>
                <a:cs typeface="Calibri"/>
              </a:rPr>
              <a:t>low</a:t>
            </a:r>
            <a:r>
              <a:rPr sz="2000" spc="-20" dirty="0">
                <a:solidFill>
                  <a:srgbClr val="404040"/>
                </a:solidFill>
                <a:latin typeface="Calibri"/>
                <a:cs typeface="Calibri"/>
              </a:rPr>
              <a:t> </a:t>
            </a:r>
            <a:r>
              <a:rPr sz="2000" dirty="0">
                <a:solidFill>
                  <a:srgbClr val="404040"/>
                </a:solidFill>
                <a:latin typeface="Calibri"/>
                <a:cs typeface="Calibri"/>
              </a:rPr>
              <a:t>in</a:t>
            </a:r>
            <a:r>
              <a:rPr sz="2000" spc="-5" dirty="0">
                <a:solidFill>
                  <a:srgbClr val="404040"/>
                </a:solidFill>
                <a:latin typeface="Calibri"/>
                <a:cs typeface="Calibri"/>
              </a:rPr>
              <a:t> </a:t>
            </a:r>
            <a:r>
              <a:rPr sz="2000" spc="-10" dirty="0">
                <a:solidFill>
                  <a:srgbClr val="404040"/>
                </a:solidFill>
                <a:latin typeface="Calibri"/>
                <a:cs typeface="Calibri"/>
              </a:rPr>
              <a:t>volume.</a:t>
            </a:r>
            <a:endParaRPr sz="2000" dirty="0">
              <a:latin typeface="Calibri"/>
              <a:cs typeface="Calibri"/>
            </a:endParaRPr>
          </a:p>
          <a:p>
            <a:pPr marL="355600" indent="-342900">
              <a:lnSpc>
                <a:spcPct val="100000"/>
              </a:lnSpc>
              <a:spcBef>
                <a:spcPts val="1155"/>
              </a:spcBef>
              <a:buFont typeface="Wingdings" panose="05000000000000000000" pitchFamily="2" charset="2"/>
              <a:buChar char="Ø"/>
            </a:pPr>
            <a:r>
              <a:rPr sz="2000" dirty="0">
                <a:solidFill>
                  <a:srgbClr val="404040"/>
                </a:solidFill>
                <a:latin typeface="Calibri"/>
                <a:cs typeface="Calibri"/>
              </a:rPr>
              <a:t>It</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used</a:t>
            </a:r>
            <a:r>
              <a:rPr sz="2000" dirty="0">
                <a:solidFill>
                  <a:srgbClr val="404040"/>
                </a:solidFill>
                <a:latin typeface="Calibri"/>
                <a:cs typeface="Calibri"/>
              </a:rPr>
              <a:t> </a:t>
            </a:r>
            <a:r>
              <a:rPr sz="2000" spc="-10" dirty="0">
                <a:solidFill>
                  <a:srgbClr val="404040"/>
                </a:solidFill>
                <a:latin typeface="Calibri"/>
                <a:cs typeface="Calibri"/>
              </a:rPr>
              <a:t>to</a:t>
            </a:r>
            <a:r>
              <a:rPr sz="2000" spc="-5" dirty="0">
                <a:solidFill>
                  <a:srgbClr val="404040"/>
                </a:solidFill>
                <a:latin typeface="Calibri"/>
                <a:cs typeface="Calibri"/>
              </a:rPr>
              <a:t> </a:t>
            </a:r>
            <a:r>
              <a:rPr sz="2000" spc="-20" dirty="0">
                <a:solidFill>
                  <a:srgbClr val="404040"/>
                </a:solidFill>
                <a:latin typeface="Calibri"/>
                <a:cs typeface="Calibri"/>
              </a:rPr>
              <a:t>store</a:t>
            </a:r>
            <a:r>
              <a:rPr sz="2000" spc="15" dirty="0">
                <a:solidFill>
                  <a:srgbClr val="404040"/>
                </a:solidFill>
                <a:latin typeface="Calibri"/>
                <a:cs typeface="Calibri"/>
              </a:rPr>
              <a:t> </a:t>
            </a:r>
            <a:r>
              <a:rPr sz="2000" dirty="0">
                <a:solidFill>
                  <a:srgbClr val="404040"/>
                </a:solidFill>
                <a:latin typeface="Calibri"/>
                <a:cs typeface="Calibri"/>
              </a:rPr>
              <a:t>a</a:t>
            </a:r>
            <a:r>
              <a:rPr sz="2000" spc="15" dirty="0">
                <a:solidFill>
                  <a:srgbClr val="404040"/>
                </a:solidFill>
                <a:latin typeface="Calibri"/>
                <a:cs typeface="Calibri"/>
              </a:rPr>
              <a:t> </a:t>
            </a:r>
            <a:r>
              <a:rPr sz="2000" spc="-5" dirty="0">
                <a:solidFill>
                  <a:srgbClr val="404040"/>
                </a:solidFill>
                <a:latin typeface="Calibri"/>
                <a:cs typeface="Calibri"/>
              </a:rPr>
              <a:t>copy</a:t>
            </a:r>
            <a:r>
              <a:rPr sz="2000" spc="-25" dirty="0">
                <a:solidFill>
                  <a:srgbClr val="404040"/>
                </a:solidFill>
                <a:latin typeface="Calibri"/>
                <a:cs typeface="Calibri"/>
              </a:rPr>
              <a:t> </a:t>
            </a:r>
            <a:r>
              <a:rPr lang="en-US" sz="2000" spc="-25" dirty="0" smtClean="0">
                <a:solidFill>
                  <a:srgbClr val="404040"/>
                </a:solidFill>
                <a:latin typeface="Calibri"/>
                <a:cs typeface="Calibri"/>
              </a:rPr>
              <a:t>of </a:t>
            </a:r>
            <a:r>
              <a:rPr sz="2000" spc="-10" dirty="0" smtClean="0">
                <a:solidFill>
                  <a:srgbClr val="404040"/>
                </a:solidFill>
                <a:latin typeface="Calibri"/>
                <a:cs typeface="Calibri"/>
              </a:rPr>
              <a:t>important</a:t>
            </a:r>
            <a:r>
              <a:rPr sz="2000" spc="10" dirty="0" smtClean="0">
                <a:solidFill>
                  <a:srgbClr val="404040"/>
                </a:solidFill>
                <a:latin typeface="Calibri"/>
                <a:cs typeface="Calibri"/>
              </a:rPr>
              <a:t> </a:t>
            </a:r>
            <a:r>
              <a:rPr sz="2000" spc="-15" dirty="0">
                <a:solidFill>
                  <a:srgbClr val="404040"/>
                </a:solidFill>
                <a:latin typeface="Calibri"/>
                <a:cs typeface="Calibri"/>
              </a:rPr>
              <a:t>data</a:t>
            </a:r>
            <a:r>
              <a:rPr sz="2000" dirty="0">
                <a:solidFill>
                  <a:srgbClr val="404040"/>
                </a:solidFill>
                <a:latin typeface="Calibri"/>
                <a:cs typeface="Calibri"/>
              </a:rPr>
              <a:t> and </a:t>
            </a:r>
            <a:r>
              <a:rPr sz="2000" spc="-5" dirty="0">
                <a:solidFill>
                  <a:srgbClr val="404040"/>
                </a:solidFill>
                <a:latin typeface="Calibri"/>
                <a:cs typeface="Calibri"/>
              </a:rPr>
              <a:t>code</a:t>
            </a:r>
            <a:r>
              <a:rPr sz="2000" spc="-20" dirty="0">
                <a:solidFill>
                  <a:srgbClr val="404040"/>
                </a:solidFill>
                <a:latin typeface="Calibri"/>
                <a:cs typeface="Calibri"/>
              </a:rPr>
              <a:t> </a:t>
            </a:r>
            <a:r>
              <a:rPr sz="2000" dirty="0">
                <a:solidFill>
                  <a:srgbClr val="404040"/>
                </a:solidFill>
                <a:latin typeface="Calibri"/>
                <a:cs typeface="Calibri"/>
              </a:rPr>
              <a:t>which </a:t>
            </a:r>
            <a:r>
              <a:rPr sz="2000" spc="-5" dirty="0">
                <a:solidFill>
                  <a:srgbClr val="404040"/>
                </a:solidFill>
                <a:latin typeface="Calibri"/>
                <a:cs typeface="Calibri"/>
              </a:rPr>
              <a:t>needs</a:t>
            </a:r>
            <a:r>
              <a:rPr sz="2000" dirty="0">
                <a:solidFill>
                  <a:srgbClr val="404040"/>
                </a:solidFill>
                <a:latin typeface="Calibri"/>
                <a:cs typeface="Calibri"/>
              </a:rPr>
              <a:t> </a:t>
            </a:r>
            <a:r>
              <a:rPr sz="2000" spc="-10" dirty="0">
                <a:solidFill>
                  <a:srgbClr val="404040"/>
                </a:solidFill>
                <a:latin typeface="Calibri"/>
                <a:cs typeface="Calibri"/>
              </a:rPr>
              <a:t>to</a:t>
            </a:r>
            <a:r>
              <a:rPr sz="2000" spc="-5" dirty="0">
                <a:solidFill>
                  <a:srgbClr val="404040"/>
                </a:solidFill>
                <a:latin typeface="Calibri"/>
                <a:cs typeface="Calibri"/>
              </a:rPr>
              <a:t> be</a:t>
            </a:r>
            <a:r>
              <a:rPr sz="2000" dirty="0">
                <a:solidFill>
                  <a:srgbClr val="404040"/>
                </a:solidFill>
                <a:latin typeface="Calibri"/>
                <a:cs typeface="Calibri"/>
              </a:rPr>
              <a:t> accessed </a:t>
            </a:r>
            <a:r>
              <a:rPr sz="2000" spc="-15" dirty="0">
                <a:solidFill>
                  <a:srgbClr val="404040"/>
                </a:solidFill>
                <a:latin typeface="Calibri"/>
                <a:cs typeface="Calibri"/>
              </a:rPr>
              <a:t>at</a:t>
            </a:r>
            <a:r>
              <a:rPr sz="2000" spc="15"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a:t>
            </a:r>
            <a:r>
              <a:rPr sz="2000" spc="-10" dirty="0">
                <a:solidFill>
                  <a:srgbClr val="404040"/>
                </a:solidFill>
                <a:latin typeface="Calibri"/>
                <a:cs typeface="Calibri"/>
              </a:rPr>
              <a:t>rapid</a:t>
            </a:r>
            <a:r>
              <a:rPr sz="2000" spc="5" dirty="0">
                <a:solidFill>
                  <a:srgbClr val="404040"/>
                </a:solidFill>
                <a:latin typeface="Calibri"/>
                <a:cs typeface="Calibri"/>
              </a:rPr>
              <a:t> </a:t>
            </a:r>
            <a:r>
              <a:rPr sz="2000" spc="-20" dirty="0">
                <a:solidFill>
                  <a:srgbClr val="404040"/>
                </a:solidFill>
                <a:latin typeface="Calibri"/>
                <a:cs typeface="Calibri"/>
              </a:rPr>
              <a:t>rate</a:t>
            </a:r>
            <a:r>
              <a:rPr sz="2000" spc="-20" dirty="0" smtClean="0">
                <a:solidFill>
                  <a:srgbClr val="404040"/>
                </a:solidFill>
                <a:latin typeface="Calibri"/>
                <a:cs typeface="Calibri"/>
              </a:rPr>
              <a:t>.</a:t>
            </a:r>
            <a:endParaRPr lang="en-US" sz="2000" spc="-20" dirty="0" smtClean="0">
              <a:solidFill>
                <a:srgbClr val="404040"/>
              </a:solidFill>
              <a:latin typeface="Calibri"/>
              <a:cs typeface="Calibri"/>
            </a:endParaRPr>
          </a:p>
          <a:p>
            <a:pPr marL="355600" indent="-342900">
              <a:lnSpc>
                <a:spcPct val="100000"/>
              </a:lnSpc>
              <a:spcBef>
                <a:spcPts val="1155"/>
              </a:spcBef>
              <a:buFont typeface="Wingdings" panose="05000000000000000000" pitchFamily="2" charset="2"/>
              <a:buChar char="Ø"/>
            </a:pPr>
            <a:r>
              <a:rPr lang="en-US" sz="2000" spc="-20" dirty="0" smtClean="0">
                <a:solidFill>
                  <a:srgbClr val="404040"/>
                </a:solidFill>
                <a:latin typeface="Calibri"/>
                <a:cs typeface="Calibri"/>
              </a:rPr>
              <a:t>When the required information is found in the cache is called a hit. Otherwise it is a cache miss.</a:t>
            </a:r>
          </a:p>
          <a:p>
            <a:pPr marL="355600" indent="-342900">
              <a:lnSpc>
                <a:spcPct val="100000"/>
              </a:lnSpc>
              <a:spcBef>
                <a:spcPts val="1155"/>
              </a:spcBef>
              <a:buFont typeface="Wingdings" panose="05000000000000000000" pitchFamily="2" charset="2"/>
              <a:buChar char="Ø"/>
            </a:pPr>
            <a:r>
              <a:rPr lang="en-US" sz="2000" spc="-20" dirty="0" smtClean="0">
                <a:solidFill>
                  <a:srgbClr val="404040"/>
                </a:solidFill>
                <a:latin typeface="Calibri"/>
                <a:cs typeface="Calibri"/>
              </a:rPr>
              <a:t>It is not possible to guarantee that a required item will be found in cache when it is needed.</a:t>
            </a:r>
          </a:p>
          <a:p>
            <a:pPr marL="355600" indent="-342900">
              <a:lnSpc>
                <a:spcPct val="100000"/>
              </a:lnSpc>
              <a:spcBef>
                <a:spcPts val="1155"/>
              </a:spcBef>
              <a:buFont typeface="Wingdings" panose="05000000000000000000" pitchFamily="2" charset="2"/>
              <a:buChar char="Ø"/>
            </a:pPr>
            <a:r>
              <a:rPr lang="en-US" sz="2000" spc="-20" dirty="0" smtClean="0">
                <a:solidFill>
                  <a:srgbClr val="404040"/>
                </a:solidFill>
                <a:latin typeface="Calibri"/>
                <a:cs typeface="Calibri"/>
              </a:rPr>
              <a:t>Caches are not preferred for time critical applications where delays cannot be tolerated.</a:t>
            </a:r>
          </a:p>
          <a:p>
            <a:pPr marL="355600" indent="-342900">
              <a:lnSpc>
                <a:spcPct val="100000"/>
              </a:lnSpc>
              <a:spcBef>
                <a:spcPts val="1155"/>
              </a:spcBef>
              <a:buFont typeface="Wingdings" panose="05000000000000000000" pitchFamily="2" charset="2"/>
              <a:buChar char="Ø"/>
            </a:pPr>
            <a:r>
              <a:rPr lang="en-US" sz="2000" spc="-20" dirty="0" smtClean="0">
                <a:solidFill>
                  <a:srgbClr val="404040"/>
                </a:solidFill>
                <a:latin typeface="Calibri"/>
                <a:cs typeface="Calibri"/>
              </a:rPr>
              <a:t>In such systems ,a Tightly </a:t>
            </a:r>
            <a:r>
              <a:rPr lang="en-US" sz="2000" spc="-20" dirty="0">
                <a:solidFill>
                  <a:srgbClr val="404040"/>
                </a:solidFill>
                <a:latin typeface="Calibri"/>
                <a:cs typeface="Calibri"/>
              </a:rPr>
              <a:t>C</a:t>
            </a:r>
            <a:r>
              <a:rPr lang="en-US" sz="2000" spc="-20" dirty="0" smtClean="0">
                <a:solidFill>
                  <a:srgbClr val="404040"/>
                </a:solidFill>
                <a:latin typeface="Calibri"/>
                <a:cs typeface="Calibri"/>
              </a:rPr>
              <a:t>oupled Memory(TCM) is considered to be a better option.</a:t>
            </a:r>
          </a:p>
          <a:p>
            <a:pPr marL="355600" indent="-342900">
              <a:lnSpc>
                <a:spcPct val="100000"/>
              </a:lnSpc>
              <a:spcBef>
                <a:spcPts val="1155"/>
              </a:spcBef>
              <a:buFont typeface="Wingdings" panose="05000000000000000000" pitchFamily="2" charset="2"/>
              <a:buChar char="Ø"/>
            </a:pPr>
            <a:endParaRPr sz="2000" dirty="0">
              <a:latin typeface="Calibri"/>
              <a:cs typeface="Calibri"/>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27</a:t>
            </a:r>
            <a:endParaRPr sz="1050">
              <a:latin typeface="Calibri"/>
              <a:cs typeface="Calibri"/>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176324" y="928496"/>
            <a:ext cx="9996805" cy="756920"/>
          </a:xfrm>
          <a:prstGeom prst="rect">
            <a:avLst/>
          </a:prstGeom>
        </p:spPr>
        <p:txBody>
          <a:bodyPr vert="horz" wrap="square" lIns="0" tIns="12700" rIns="0" bIns="0" rtlCol="0">
            <a:spAutoFit/>
          </a:bodyPr>
          <a:lstStyle/>
          <a:p>
            <a:pPr marL="12700">
              <a:lnSpc>
                <a:spcPct val="100000"/>
              </a:lnSpc>
              <a:spcBef>
                <a:spcPts val="100"/>
              </a:spcBef>
              <a:tabLst>
                <a:tab pos="9983470" algn="l"/>
              </a:tabLst>
            </a:pPr>
            <a:r>
              <a:rPr sz="4800" b="0" u="sng" spc="-140" dirty="0" smtClean="0">
                <a:solidFill>
                  <a:srgbClr val="404040"/>
                </a:solidFill>
                <a:uFill>
                  <a:solidFill>
                    <a:srgbClr val="7E7E7E"/>
                  </a:solidFill>
                </a:uFill>
                <a:latin typeface="Calibri Light"/>
                <a:cs typeface="Calibri Light"/>
              </a:rPr>
              <a:t> </a:t>
            </a:r>
            <a:r>
              <a:rPr sz="4800" b="0" u="sng" spc="-45" dirty="0">
                <a:solidFill>
                  <a:srgbClr val="404040"/>
                </a:solidFill>
                <a:uFill>
                  <a:solidFill>
                    <a:srgbClr val="7E7E7E"/>
                  </a:solidFill>
                </a:uFill>
                <a:latin typeface="Calibri Light"/>
                <a:cs typeface="Calibri Light"/>
              </a:rPr>
              <a:t>Cache	</a:t>
            </a:r>
            <a:endParaRPr sz="4800" dirty="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27</a:t>
            </a:r>
            <a:endParaRPr sz="1050">
              <a:latin typeface="Calibri"/>
              <a:cs typeface="Calibri"/>
            </a:endParaRPr>
          </a:p>
        </p:txBody>
      </p:sp>
      <p:sp>
        <p:nvSpPr>
          <p:cNvPr id="2" name="TextBox 1"/>
          <p:cNvSpPr txBox="1"/>
          <p:nvPr/>
        </p:nvSpPr>
        <p:spPr>
          <a:xfrm>
            <a:off x="1733854" y="2064327"/>
            <a:ext cx="9439275" cy="406265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2000" dirty="0" smtClean="0"/>
              <a:t>In TCM’s critical information(which is pre decided) is stored and used without the </a:t>
            </a:r>
            <a:r>
              <a:rPr lang="en-US" sz="2000" dirty="0" err="1" smtClean="0"/>
              <a:t>indeterminancy</a:t>
            </a:r>
            <a:r>
              <a:rPr lang="en-US" sz="2000" dirty="0" smtClean="0"/>
              <a:t> of caches.</a:t>
            </a:r>
          </a:p>
          <a:p>
            <a:pPr marL="285750" indent="-285750" algn="just">
              <a:lnSpc>
                <a:spcPct val="150000"/>
              </a:lnSpc>
              <a:buFont typeface="Wingdings" panose="05000000000000000000" pitchFamily="2" charset="2"/>
              <a:buChar char="Ø"/>
            </a:pPr>
            <a:r>
              <a:rPr lang="en-US" sz="2000" dirty="0" smtClean="0"/>
              <a:t>Cache storage is dynamic.</a:t>
            </a:r>
          </a:p>
          <a:p>
            <a:pPr marL="285750" indent="-285750" algn="just">
              <a:lnSpc>
                <a:spcPct val="150000"/>
              </a:lnSpc>
              <a:buFont typeface="Wingdings" panose="05000000000000000000" pitchFamily="2" charset="2"/>
              <a:buChar char="Ø"/>
            </a:pPr>
            <a:r>
              <a:rPr lang="en-US" sz="2000" dirty="0" smtClean="0"/>
              <a:t>It stores information that is likely to be frequently needed.</a:t>
            </a:r>
          </a:p>
          <a:p>
            <a:pPr marL="285750" indent="-285750" algn="just">
              <a:lnSpc>
                <a:spcPct val="150000"/>
              </a:lnSpc>
              <a:buFont typeface="Wingdings" panose="05000000000000000000" pitchFamily="2" charset="2"/>
              <a:buChar char="Ø"/>
            </a:pPr>
            <a:r>
              <a:rPr lang="en-US" sz="2000" dirty="0" smtClean="0"/>
              <a:t>Thus, the content of cache is continuously changed according to the decisions of what is considered important.</a:t>
            </a:r>
          </a:p>
          <a:p>
            <a:pPr marL="285750" indent="-285750" algn="just">
              <a:lnSpc>
                <a:spcPct val="150000"/>
              </a:lnSpc>
              <a:buFont typeface="Wingdings" panose="05000000000000000000" pitchFamily="2" charset="2"/>
              <a:buChar char="Ø"/>
            </a:pPr>
            <a:r>
              <a:rPr lang="en-US" sz="2000" dirty="0" smtClean="0"/>
              <a:t>TCMs contain static information that is predetermined to be very important .</a:t>
            </a:r>
          </a:p>
          <a:p>
            <a:pPr marL="285750" indent="-285750" algn="just">
              <a:lnSpc>
                <a:spcPct val="150000"/>
              </a:lnSpc>
              <a:buFont typeface="Wingdings" panose="05000000000000000000" pitchFamily="2" charset="2"/>
              <a:buChar char="Ø"/>
            </a:pPr>
            <a:r>
              <a:rPr lang="en-US" sz="2000" dirty="0" smtClean="0"/>
              <a:t>Critical procedures, interrupt routines </a:t>
            </a:r>
            <a:r>
              <a:rPr lang="en-US" sz="2000" dirty="0" err="1" smtClean="0"/>
              <a:t>etc</a:t>
            </a:r>
            <a:r>
              <a:rPr lang="en-US" sz="2000" dirty="0" smtClean="0"/>
              <a:t> are usually TCM hold.</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7168648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8353425" cy="756920"/>
          </a:xfrm>
          <a:prstGeom prst="rect">
            <a:avLst/>
          </a:prstGeom>
        </p:spPr>
        <p:txBody>
          <a:bodyPr vert="horz" wrap="square" lIns="0" tIns="12700" rIns="0" bIns="0" rtlCol="0">
            <a:spAutoFit/>
          </a:bodyPr>
          <a:lstStyle/>
          <a:p>
            <a:pPr marL="12700">
              <a:lnSpc>
                <a:spcPct val="100000"/>
              </a:lnSpc>
              <a:spcBef>
                <a:spcPts val="100"/>
              </a:spcBef>
            </a:pPr>
            <a:r>
              <a:rPr sz="4800" b="0" spc="-120" dirty="0" smtClean="0">
                <a:solidFill>
                  <a:srgbClr val="00AFEF"/>
                </a:solidFill>
                <a:latin typeface="Calibri Light"/>
                <a:cs typeface="Calibri Light"/>
              </a:rPr>
              <a:t> </a:t>
            </a:r>
            <a:r>
              <a:rPr sz="4800" b="0" spc="-45" dirty="0">
                <a:solidFill>
                  <a:srgbClr val="00AFEF"/>
                </a:solidFill>
                <a:latin typeface="Calibri Light"/>
                <a:cs typeface="Calibri Light"/>
              </a:rPr>
              <a:t>Designing</a:t>
            </a:r>
            <a:r>
              <a:rPr sz="4800" b="0" spc="-120" dirty="0">
                <a:solidFill>
                  <a:srgbClr val="00AFEF"/>
                </a:solidFill>
                <a:latin typeface="Calibri Light"/>
                <a:cs typeface="Calibri Light"/>
              </a:rPr>
              <a:t> </a:t>
            </a:r>
            <a:r>
              <a:rPr sz="4800" b="0" spc="-40" dirty="0">
                <a:solidFill>
                  <a:srgbClr val="00AFEF"/>
                </a:solidFill>
                <a:latin typeface="Calibri Light"/>
                <a:cs typeface="Calibri Light"/>
              </a:rPr>
              <a:t>Low</a:t>
            </a:r>
            <a:r>
              <a:rPr sz="4800" b="0" spc="-135" dirty="0">
                <a:solidFill>
                  <a:srgbClr val="00AFEF"/>
                </a:solidFill>
                <a:latin typeface="Calibri Light"/>
                <a:cs typeface="Calibri Light"/>
              </a:rPr>
              <a:t> </a:t>
            </a:r>
            <a:r>
              <a:rPr sz="4800" b="0" spc="-75" dirty="0">
                <a:solidFill>
                  <a:srgbClr val="00AFEF"/>
                </a:solidFill>
                <a:latin typeface="Calibri Light"/>
                <a:cs typeface="Calibri Light"/>
              </a:rPr>
              <a:t>Power</a:t>
            </a:r>
            <a:r>
              <a:rPr sz="4800" b="0" spc="-145" dirty="0">
                <a:solidFill>
                  <a:srgbClr val="00AFEF"/>
                </a:solidFill>
                <a:latin typeface="Calibri Light"/>
                <a:cs typeface="Calibri Light"/>
              </a:rPr>
              <a:t> </a:t>
            </a:r>
            <a:r>
              <a:rPr sz="4800" b="0" spc="-75" dirty="0">
                <a:solidFill>
                  <a:srgbClr val="00AFEF"/>
                </a:solidFill>
                <a:latin typeface="Calibri Light"/>
                <a:cs typeface="Calibri Light"/>
              </a:rPr>
              <a:t>Systems</a:t>
            </a:r>
            <a:endParaRPr sz="4800" dirty="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28</a:t>
            </a:r>
            <a:endParaRPr sz="1050">
              <a:latin typeface="Calibri"/>
              <a:cs typeface="Calibri"/>
            </a:endParaRPr>
          </a:p>
        </p:txBody>
      </p:sp>
      <p:sp>
        <p:nvSpPr>
          <p:cNvPr id="10" name="object 10"/>
          <p:cNvSpPr txBox="1"/>
          <p:nvPr/>
        </p:nvSpPr>
        <p:spPr>
          <a:xfrm>
            <a:off x="1084580" y="2054428"/>
            <a:ext cx="10090150" cy="2729865"/>
          </a:xfrm>
          <a:prstGeom prst="rect">
            <a:avLst/>
          </a:prstGeom>
        </p:spPr>
        <p:txBody>
          <a:bodyPr vert="horz" wrap="square" lIns="0" tIns="60325" rIns="0" bIns="0" rtlCol="0">
            <a:spAutoFit/>
          </a:bodyPr>
          <a:lstStyle/>
          <a:p>
            <a:pPr marL="104139" marR="5080" indent="-92075">
              <a:lnSpc>
                <a:spcPts val="3030"/>
              </a:lnSpc>
              <a:spcBef>
                <a:spcPts val="475"/>
              </a:spcBef>
              <a:buClr>
                <a:srgbClr val="E38312"/>
              </a:buClr>
              <a:buSzPct val="96428"/>
              <a:buFont typeface="Wingdings"/>
              <a:buChar char=""/>
              <a:tabLst>
                <a:tab pos="295910" algn="l"/>
                <a:tab pos="704215" algn="l"/>
                <a:tab pos="1332230" algn="l"/>
                <a:tab pos="2512060" algn="l"/>
                <a:tab pos="3553460" algn="l"/>
                <a:tab pos="5008880" algn="l"/>
                <a:tab pos="5938520" algn="l"/>
                <a:tab pos="6967220" algn="l"/>
                <a:tab pos="7475220" algn="l"/>
                <a:tab pos="8090534" algn="l"/>
                <a:tab pos="8943975" algn="l"/>
                <a:tab pos="9486900" algn="l"/>
              </a:tabLst>
            </a:pPr>
            <a:r>
              <a:rPr sz="2800" spc="-30" dirty="0">
                <a:solidFill>
                  <a:srgbClr val="404040"/>
                </a:solidFill>
                <a:latin typeface="Calibri"/>
                <a:cs typeface="Calibri"/>
              </a:rPr>
              <a:t>I</a:t>
            </a:r>
            <a:r>
              <a:rPr sz="2800" spc="-5" dirty="0">
                <a:solidFill>
                  <a:srgbClr val="404040"/>
                </a:solidFill>
                <a:latin typeface="Calibri"/>
                <a:cs typeface="Calibri"/>
              </a:rPr>
              <a:t>n</a:t>
            </a:r>
            <a:r>
              <a:rPr sz="2800" dirty="0">
                <a:solidFill>
                  <a:srgbClr val="404040"/>
                </a:solidFill>
                <a:latin typeface="Calibri"/>
                <a:cs typeface="Calibri"/>
              </a:rPr>
              <a:t>	</a:t>
            </a:r>
            <a:r>
              <a:rPr sz="2800" spc="-30" dirty="0">
                <a:solidFill>
                  <a:srgbClr val="404040"/>
                </a:solidFill>
                <a:latin typeface="Calibri"/>
                <a:cs typeface="Calibri"/>
              </a:rPr>
              <a:t>o</a:t>
            </a:r>
            <a:r>
              <a:rPr sz="2800" spc="-35" dirty="0">
                <a:solidFill>
                  <a:srgbClr val="404040"/>
                </a:solidFill>
                <a:latin typeface="Calibri"/>
                <a:cs typeface="Calibri"/>
              </a:rPr>
              <a:t>u</a:t>
            </a:r>
            <a:r>
              <a:rPr sz="2800" spc="-5" dirty="0">
                <a:solidFill>
                  <a:srgbClr val="404040"/>
                </a:solidFill>
                <a:latin typeface="Calibri"/>
                <a:cs typeface="Calibri"/>
              </a:rPr>
              <a:t>r</a:t>
            </a:r>
            <a:r>
              <a:rPr sz="2800" dirty="0">
                <a:solidFill>
                  <a:srgbClr val="404040"/>
                </a:solidFill>
                <a:latin typeface="Calibri"/>
                <a:cs typeface="Calibri"/>
              </a:rPr>
              <a:t>	</a:t>
            </a:r>
            <a:r>
              <a:rPr sz="2800" spc="-5" dirty="0">
                <a:solidFill>
                  <a:srgbClr val="404040"/>
                </a:solidFill>
                <a:latin typeface="Calibri"/>
                <a:cs typeface="Calibri"/>
              </a:rPr>
              <a:t>c</a:t>
            </a:r>
            <a:r>
              <a:rPr sz="2800" spc="-45" dirty="0">
                <a:solidFill>
                  <a:srgbClr val="404040"/>
                </a:solidFill>
                <a:latin typeface="Calibri"/>
                <a:cs typeface="Calibri"/>
              </a:rPr>
              <a:t>u</a:t>
            </a:r>
            <a:r>
              <a:rPr sz="2800" spc="-25" dirty="0">
                <a:solidFill>
                  <a:srgbClr val="404040"/>
                </a:solidFill>
                <a:latin typeface="Calibri"/>
                <a:cs typeface="Calibri"/>
              </a:rPr>
              <a:t>r</a:t>
            </a:r>
            <a:r>
              <a:rPr sz="2800" spc="-70" dirty="0">
                <a:solidFill>
                  <a:srgbClr val="404040"/>
                </a:solidFill>
                <a:latin typeface="Calibri"/>
                <a:cs typeface="Calibri"/>
              </a:rPr>
              <a:t>r</a:t>
            </a:r>
            <a:r>
              <a:rPr sz="2800" spc="-30" dirty="0">
                <a:solidFill>
                  <a:srgbClr val="404040"/>
                </a:solidFill>
                <a:latin typeface="Calibri"/>
                <a:cs typeface="Calibri"/>
              </a:rPr>
              <a:t>e</a:t>
            </a:r>
            <a:r>
              <a:rPr sz="2800" spc="-60" dirty="0">
                <a:solidFill>
                  <a:srgbClr val="404040"/>
                </a:solidFill>
                <a:latin typeface="Calibri"/>
                <a:cs typeface="Calibri"/>
              </a:rPr>
              <a:t>n</a:t>
            </a:r>
            <a:r>
              <a:rPr sz="2800" spc="-5" dirty="0">
                <a:solidFill>
                  <a:srgbClr val="404040"/>
                </a:solidFill>
                <a:latin typeface="Calibri"/>
                <a:cs typeface="Calibri"/>
              </a:rPr>
              <a:t>t</a:t>
            </a:r>
            <a:r>
              <a:rPr sz="2800" dirty="0">
                <a:solidFill>
                  <a:srgbClr val="404040"/>
                </a:solidFill>
                <a:latin typeface="Calibri"/>
                <a:cs typeface="Calibri"/>
              </a:rPr>
              <a:t>	</a:t>
            </a:r>
            <a:r>
              <a:rPr sz="2800" spc="-50" dirty="0">
                <a:solidFill>
                  <a:srgbClr val="404040"/>
                </a:solidFill>
                <a:latin typeface="Calibri"/>
                <a:cs typeface="Calibri"/>
              </a:rPr>
              <a:t>w</a:t>
            </a:r>
            <a:r>
              <a:rPr sz="2800" spc="-30" dirty="0">
                <a:solidFill>
                  <a:srgbClr val="404040"/>
                </a:solidFill>
                <a:latin typeface="Calibri"/>
                <a:cs typeface="Calibri"/>
              </a:rPr>
              <a:t>o</a:t>
            </a:r>
            <a:r>
              <a:rPr sz="2800" spc="-35" dirty="0">
                <a:solidFill>
                  <a:srgbClr val="404040"/>
                </a:solidFill>
                <a:latin typeface="Calibri"/>
                <a:cs typeface="Calibri"/>
              </a:rPr>
              <a:t>rl</a:t>
            </a:r>
            <a:r>
              <a:rPr sz="2800" spc="-25" dirty="0">
                <a:solidFill>
                  <a:srgbClr val="404040"/>
                </a:solidFill>
                <a:latin typeface="Calibri"/>
                <a:cs typeface="Calibri"/>
              </a:rPr>
              <a:t>d</a:t>
            </a:r>
            <a:r>
              <a:rPr sz="2800" spc="-5" dirty="0">
                <a:solidFill>
                  <a:srgbClr val="404040"/>
                </a:solidFill>
                <a:latin typeface="Calibri"/>
                <a:cs typeface="Calibri"/>
              </a:rPr>
              <a:t>,</a:t>
            </a:r>
            <a:r>
              <a:rPr sz="2800" dirty="0">
                <a:solidFill>
                  <a:srgbClr val="404040"/>
                </a:solidFill>
                <a:latin typeface="Calibri"/>
                <a:cs typeface="Calibri"/>
              </a:rPr>
              <a:t>	</a:t>
            </a:r>
            <a:r>
              <a:rPr sz="2800" spc="-45" dirty="0" smtClean="0">
                <a:solidFill>
                  <a:srgbClr val="404040"/>
                </a:solidFill>
                <a:latin typeface="Calibri"/>
                <a:cs typeface="Calibri"/>
              </a:rPr>
              <a:t>e</a:t>
            </a:r>
            <a:r>
              <a:rPr sz="2800" spc="-60" dirty="0" smtClean="0">
                <a:solidFill>
                  <a:srgbClr val="404040"/>
                </a:solidFill>
                <a:latin typeface="Calibri"/>
                <a:cs typeface="Calibri"/>
              </a:rPr>
              <a:t>v</a:t>
            </a:r>
            <a:r>
              <a:rPr sz="2800" spc="-30" dirty="0" smtClean="0">
                <a:solidFill>
                  <a:srgbClr val="404040"/>
                </a:solidFill>
                <a:latin typeface="Calibri"/>
                <a:cs typeface="Calibri"/>
              </a:rPr>
              <a:t>e</a:t>
            </a:r>
            <a:r>
              <a:rPr sz="2800" spc="-25" dirty="0" smtClean="0">
                <a:solidFill>
                  <a:srgbClr val="404040"/>
                </a:solidFill>
                <a:latin typeface="Calibri"/>
                <a:cs typeface="Calibri"/>
              </a:rPr>
              <a:t>r</a:t>
            </a:r>
            <a:r>
              <a:rPr sz="2800" spc="-75" dirty="0" smtClean="0">
                <a:solidFill>
                  <a:srgbClr val="404040"/>
                </a:solidFill>
                <a:latin typeface="Calibri"/>
                <a:cs typeface="Calibri"/>
              </a:rPr>
              <a:t>y</a:t>
            </a:r>
            <a:r>
              <a:rPr sz="2800" spc="-30" dirty="0" smtClean="0">
                <a:solidFill>
                  <a:srgbClr val="404040"/>
                </a:solidFill>
                <a:latin typeface="Calibri"/>
                <a:cs typeface="Calibri"/>
              </a:rPr>
              <a:t>o</a:t>
            </a:r>
            <a:r>
              <a:rPr sz="2800" spc="-35" dirty="0" smtClean="0">
                <a:solidFill>
                  <a:srgbClr val="404040"/>
                </a:solidFill>
                <a:latin typeface="Calibri"/>
                <a:cs typeface="Calibri"/>
              </a:rPr>
              <a:t>n</a:t>
            </a:r>
            <a:r>
              <a:rPr sz="2800" spc="-5" dirty="0" smtClean="0">
                <a:solidFill>
                  <a:srgbClr val="404040"/>
                </a:solidFill>
                <a:latin typeface="Calibri"/>
                <a:cs typeface="Calibri"/>
              </a:rPr>
              <a:t>e</a:t>
            </a:r>
            <a:r>
              <a:rPr lang="en-US" sz="2800" dirty="0">
                <a:solidFill>
                  <a:srgbClr val="404040"/>
                </a:solidFill>
                <a:latin typeface="Calibri"/>
                <a:cs typeface="Calibri"/>
              </a:rPr>
              <a:t> </a:t>
            </a:r>
            <a:r>
              <a:rPr lang="en-US" sz="2800" spc="-245" dirty="0">
                <a:solidFill>
                  <a:srgbClr val="404040"/>
                </a:solidFill>
                <a:latin typeface="Calibri"/>
                <a:cs typeface="Calibri"/>
              </a:rPr>
              <a:t>t</a:t>
            </a:r>
            <a:r>
              <a:rPr sz="2800" spc="-40" dirty="0" smtClean="0">
                <a:solidFill>
                  <a:srgbClr val="404040"/>
                </a:solidFill>
                <a:latin typeface="Calibri"/>
                <a:cs typeface="Calibri"/>
              </a:rPr>
              <a:t>a</a:t>
            </a:r>
            <a:r>
              <a:rPr sz="2800" spc="-35" dirty="0" smtClean="0">
                <a:solidFill>
                  <a:srgbClr val="404040"/>
                </a:solidFill>
                <a:latin typeface="Calibri"/>
                <a:cs typeface="Calibri"/>
              </a:rPr>
              <a:t>l</a:t>
            </a:r>
            <a:r>
              <a:rPr sz="2800" spc="-55" dirty="0" smtClean="0">
                <a:solidFill>
                  <a:srgbClr val="404040"/>
                </a:solidFill>
                <a:latin typeface="Calibri"/>
                <a:cs typeface="Calibri"/>
              </a:rPr>
              <a:t>k</a:t>
            </a:r>
            <a:r>
              <a:rPr sz="2800" spc="-35" dirty="0" smtClean="0">
                <a:solidFill>
                  <a:srgbClr val="404040"/>
                </a:solidFill>
                <a:latin typeface="Calibri"/>
                <a:cs typeface="Calibri"/>
              </a:rPr>
              <a:t>s</a:t>
            </a:r>
            <a:r>
              <a:rPr lang="en-US" sz="2800" spc="-35" dirty="0" smtClean="0">
                <a:solidFill>
                  <a:srgbClr val="404040"/>
                </a:solidFill>
                <a:latin typeface="Calibri"/>
                <a:cs typeface="Calibri"/>
              </a:rPr>
              <a:t> </a:t>
            </a:r>
            <a:r>
              <a:rPr sz="2800" dirty="0">
                <a:solidFill>
                  <a:srgbClr val="404040"/>
                </a:solidFill>
                <a:latin typeface="Calibri"/>
                <a:cs typeface="Calibri"/>
              </a:rPr>
              <a:t>	</a:t>
            </a:r>
            <a:r>
              <a:rPr sz="2800" spc="-30" dirty="0">
                <a:solidFill>
                  <a:srgbClr val="404040"/>
                </a:solidFill>
                <a:latin typeface="Calibri"/>
                <a:cs typeface="Calibri"/>
              </a:rPr>
              <a:t>o</a:t>
            </a:r>
            <a:r>
              <a:rPr sz="2800" spc="-5" dirty="0">
                <a:solidFill>
                  <a:srgbClr val="404040"/>
                </a:solidFill>
                <a:latin typeface="Calibri"/>
                <a:cs typeface="Calibri"/>
              </a:rPr>
              <a:t>n</a:t>
            </a:r>
            <a:r>
              <a:rPr sz="2800" dirty="0">
                <a:solidFill>
                  <a:srgbClr val="404040"/>
                </a:solidFill>
                <a:latin typeface="Calibri"/>
                <a:cs typeface="Calibri"/>
              </a:rPr>
              <a:t>	</a:t>
            </a:r>
            <a:r>
              <a:rPr sz="2800" spc="-20" dirty="0" smtClean="0">
                <a:solidFill>
                  <a:srgbClr val="404040"/>
                </a:solidFill>
                <a:latin typeface="Calibri"/>
                <a:cs typeface="Calibri"/>
              </a:rPr>
              <a:t>t</a:t>
            </a:r>
            <a:r>
              <a:rPr sz="2800" spc="-25" dirty="0" smtClean="0">
                <a:solidFill>
                  <a:srgbClr val="404040"/>
                </a:solidFill>
                <a:latin typeface="Calibri"/>
                <a:cs typeface="Calibri"/>
              </a:rPr>
              <a:t>h</a:t>
            </a:r>
            <a:r>
              <a:rPr sz="2800" spc="-5" dirty="0" smtClean="0">
                <a:solidFill>
                  <a:srgbClr val="404040"/>
                </a:solidFill>
                <a:latin typeface="Calibri"/>
                <a:cs typeface="Calibri"/>
              </a:rPr>
              <a:t>e</a:t>
            </a:r>
            <a:r>
              <a:rPr lang="en-US" sz="2800" spc="-5" dirty="0" smtClean="0">
                <a:solidFill>
                  <a:srgbClr val="404040"/>
                </a:solidFill>
                <a:latin typeface="Calibri"/>
                <a:cs typeface="Calibri"/>
              </a:rPr>
              <a:t> </a:t>
            </a:r>
            <a:r>
              <a:rPr sz="2800" dirty="0">
                <a:solidFill>
                  <a:srgbClr val="404040"/>
                </a:solidFill>
                <a:latin typeface="Calibri"/>
                <a:cs typeface="Calibri"/>
              </a:rPr>
              <a:t>	</a:t>
            </a:r>
            <a:r>
              <a:rPr sz="2800" spc="-35" dirty="0">
                <a:solidFill>
                  <a:srgbClr val="404040"/>
                </a:solidFill>
                <a:latin typeface="Calibri"/>
                <a:cs typeface="Calibri"/>
              </a:rPr>
              <a:t>n</a:t>
            </a:r>
            <a:r>
              <a:rPr sz="2800" spc="-30" dirty="0">
                <a:solidFill>
                  <a:srgbClr val="404040"/>
                </a:solidFill>
                <a:latin typeface="Calibri"/>
                <a:cs typeface="Calibri"/>
              </a:rPr>
              <a:t>ee</a:t>
            </a:r>
            <a:r>
              <a:rPr sz="2800" spc="-5" dirty="0">
                <a:solidFill>
                  <a:srgbClr val="404040"/>
                </a:solidFill>
                <a:latin typeface="Calibri"/>
                <a:cs typeface="Calibri"/>
              </a:rPr>
              <a:t>d</a:t>
            </a:r>
            <a:r>
              <a:rPr sz="2800" dirty="0">
                <a:solidFill>
                  <a:srgbClr val="404040"/>
                </a:solidFill>
                <a:latin typeface="Calibri"/>
                <a:cs typeface="Calibri"/>
              </a:rPr>
              <a:t>	</a:t>
            </a:r>
            <a:r>
              <a:rPr sz="2800" spc="-95" dirty="0">
                <a:solidFill>
                  <a:srgbClr val="404040"/>
                </a:solidFill>
                <a:latin typeface="Calibri"/>
                <a:cs typeface="Calibri"/>
              </a:rPr>
              <a:t>f</a:t>
            </a:r>
            <a:r>
              <a:rPr sz="2800" spc="-30" dirty="0">
                <a:solidFill>
                  <a:srgbClr val="404040"/>
                </a:solidFill>
                <a:latin typeface="Calibri"/>
                <a:cs typeface="Calibri"/>
              </a:rPr>
              <a:t>o</a:t>
            </a:r>
            <a:r>
              <a:rPr sz="2800" spc="-5" dirty="0">
                <a:solidFill>
                  <a:srgbClr val="404040"/>
                </a:solidFill>
                <a:latin typeface="Calibri"/>
                <a:cs typeface="Calibri"/>
              </a:rPr>
              <a:t>r</a:t>
            </a:r>
            <a:r>
              <a:rPr sz="2800" dirty="0">
                <a:solidFill>
                  <a:srgbClr val="404040"/>
                </a:solidFill>
                <a:latin typeface="Calibri"/>
                <a:cs typeface="Calibri"/>
              </a:rPr>
              <a:t>	</a:t>
            </a:r>
            <a:r>
              <a:rPr sz="2800" spc="-35" dirty="0">
                <a:solidFill>
                  <a:srgbClr val="404040"/>
                </a:solidFill>
                <a:latin typeface="Calibri"/>
                <a:cs typeface="Calibri"/>
              </a:rPr>
              <a:t>'l</a:t>
            </a:r>
            <a:r>
              <a:rPr sz="2800" spc="-40" dirty="0">
                <a:solidFill>
                  <a:srgbClr val="404040"/>
                </a:solidFill>
                <a:latin typeface="Calibri"/>
                <a:cs typeface="Calibri"/>
              </a:rPr>
              <a:t>o</a:t>
            </a:r>
            <a:r>
              <a:rPr sz="2800" spc="-5" dirty="0">
                <a:solidFill>
                  <a:srgbClr val="404040"/>
                </a:solidFill>
                <a:latin typeface="Calibri"/>
                <a:cs typeface="Calibri"/>
              </a:rPr>
              <a:t>w  </a:t>
            </a:r>
            <a:r>
              <a:rPr sz="2800" spc="-30" dirty="0">
                <a:solidFill>
                  <a:srgbClr val="404040"/>
                </a:solidFill>
                <a:latin typeface="Calibri"/>
                <a:cs typeface="Calibri"/>
              </a:rPr>
              <a:t>power</a:t>
            </a:r>
            <a:r>
              <a:rPr sz="2800" spc="-55" dirty="0">
                <a:solidFill>
                  <a:srgbClr val="404040"/>
                </a:solidFill>
                <a:latin typeface="Calibri"/>
                <a:cs typeface="Calibri"/>
              </a:rPr>
              <a:t> </a:t>
            </a:r>
            <a:r>
              <a:rPr sz="2800" spc="-30" dirty="0">
                <a:solidFill>
                  <a:srgbClr val="404040"/>
                </a:solidFill>
                <a:latin typeface="Calibri"/>
                <a:cs typeface="Calibri"/>
              </a:rPr>
              <a:t>design'.</a:t>
            </a:r>
            <a:endParaRPr sz="2800" dirty="0">
              <a:latin typeface="Calibri"/>
              <a:cs typeface="Calibri"/>
            </a:endParaRPr>
          </a:p>
          <a:p>
            <a:pPr marL="104139" marR="12700" indent="-92075">
              <a:lnSpc>
                <a:spcPts val="3020"/>
              </a:lnSpc>
              <a:spcBef>
                <a:spcPts val="1400"/>
              </a:spcBef>
              <a:buClr>
                <a:srgbClr val="E38312"/>
              </a:buClr>
              <a:buSzPct val="96428"/>
              <a:buFont typeface="Wingdings"/>
              <a:buChar char=""/>
              <a:tabLst>
                <a:tab pos="295910" algn="l"/>
                <a:tab pos="4051300" algn="l"/>
                <a:tab pos="6042025" algn="l"/>
              </a:tabLst>
            </a:pPr>
            <a:r>
              <a:rPr sz="2800" spc="-20" dirty="0">
                <a:solidFill>
                  <a:srgbClr val="404040"/>
                </a:solidFill>
                <a:latin typeface="Calibri"/>
                <a:cs typeface="Calibri"/>
              </a:rPr>
              <a:t>The</a:t>
            </a:r>
            <a:r>
              <a:rPr sz="2800" spc="340" dirty="0">
                <a:solidFill>
                  <a:srgbClr val="404040"/>
                </a:solidFill>
                <a:latin typeface="Calibri"/>
                <a:cs typeface="Calibri"/>
              </a:rPr>
              <a:t> </a:t>
            </a:r>
            <a:r>
              <a:rPr sz="2800" spc="-15" dirty="0">
                <a:solidFill>
                  <a:srgbClr val="404040"/>
                </a:solidFill>
                <a:latin typeface="Calibri"/>
                <a:cs typeface="Calibri"/>
              </a:rPr>
              <a:t>requirement</a:t>
            </a:r>
            <a:r>
              <a:rPr sz="2800" spc="365" dirty="0">
                <a:solidFill>
                  <a:srgbClr val="404040"/>
                </a:solidFill>
                <a:latin typeface="Calibri"/>
                <a:cs typeface="Calibri"/>
              </a:rPr>
              <a:t> </a:t>
            </a:r>
            <a:r>
              <a:rPr sz="2800" spc="-5" dirty="0">
                <a:solidFill>
                  <a:srgbClr val="404040"/>
                </a:solidFill>
                <a:latin typeface="Calibri"/>
                <a:cs typeface="Calibri"/>
              </a:rPr>
              <a:t>of</a:t>
            </a:r>
            <a:r>
              <a:rPr sz="2800" spc="380" dirty="0">
                <a:solidFill>
                  <a:srgbClr val="404040"/>
                </a:solidFill>
                <a:latin typeface="Calibri"/>
                <a:cs typeface="Calibri"/>
              </a:rPr>
              <a:t> </a:t>
            </a:r>
            <a:r>
              <a:rPr sz="2800" spc="-10" dirty="0">
                <a:solidFill>
                  <a:srgbClr val="404040"/>
                </a:solidFill>
                <a:latin typeface="Calibri"/>
                <a:cs typeface="Calibri"/>
              </a:rPr>
              <a:t>high	</a:t>
            </a:r>
            <a:r>
              <a:rPr sz="2800" spc="-15" dirty="0">
                <a:solidFill>
                  <a:srgbClr val="404040"/>
                </a:solidFill>
                <a:latin typeface="Calibri"/>
                <a:cs typeface="Calibri"/>
              </a:rPr>
              <a:t>performance	</a:t>
            </a:r>
            <a:r>
              <a:rPr sz="2800" dirty="0">
                <a:solidFill>
                  <a:srgbClr val="404040"/>
                </a:solidFill>
                <a:latin typeface="Calibri"/>
                <a:cs typeface="Calibri"/>
              </a:rPr>
              <a:t>(which</a:t>
            </a:r>
            <a:r>
              <a:rPr sz="2800" spc="320" dirty="0">
                <a:solidFill>
                  <a:srgbClr val="404040"/>
                </a:solidFill>
                <a:latin typeface="Calibri"/>
                <a:cs typeface="Calibri"/>
              </a:rPr>
              <a:t> </a:t>
            </a:r>
            <a:r>
              <a:rPr sz="2800" spc="-5" dirty="0">
                <a:solidFill>
                  <a:srgbClr val="404040"/>
                </a:solidFill>
                <a:latin typeface="Calibri"/>
                <a:cs typeface="Calibri"/>
              </a:rPr>
              <a:t>means</a:t>
            </a:r>
            <a:r>
              <a:rPr sz="2800" spc="325" dirty="0">
                <a:solidFill>
                  <a:srgbClr val="404040"/>
                </a:solidFill>
                <a:latin typeface="Calibri"/>
                <a:cs typeface="Calibri"/>
              </a:rPr>
              <a:t> </a:t>
            </a:r>
            <a:r>
              <a:rPr sz="2800" spc="-10" dirty="0">
                <a:solidFill>
                  <a:srgbClr val="404040"/>
                </a:solidFill>
                <a:latin typeface="Calibri"/>
                <a:cs typeface="Calibri"/>
              </a:rPr>
              <a:t>computation </a:t>
            </a:r>
            <a:r>
              <a:rPr sz="2800" spc="-620" dirty="0">
                <a:solidFill>
                  <a:srgbClr val="404040"/>
                </a:solidFill>
                <a:latin typeface="Calibri"/>
                <a:cs typeface="Calibri"/>
              </a:rPr>
              <a:t> </a:t>
            </a:r>
            <a:r>
              <a:rPr sz="2800" spc="-15" dirty="0">
                <a:solidFill>
                  <a:srgbClr val="404040"/>
                </a:solidFill>
                <a:latin typeface="Calibri"/>
                <a:cs typeface="Calibri"/>
              </a:rPr>
              <a:t>at</a:t>
            </a:r>
            <a:r>
              <a:rPr sz="2800" dirty="0">
                <a:solidFill>
                  <a:srgbClr val="404040"/>
                </a:solidFill>
                <a:latin typeface="Calibri"/>
                <a:cs typeface="Calibri"/>
              </a:rPr>
              <a:t> </a:t>
            </a:r>
            <a:r>
              <a:rPr sz="2800" spc="-10" dirty="0">
                <a:solidFill>
                  <a:srgbClr val="404040"/>
                </a:solidFill>
                <a:latin typeface="Calibri"/>
                <a:cs typeface="Calibri"/>
              </a:rPr>
              <a:t>high</a:t>
            </a:r>
            <a:r>
              <a:rPr sz="2800" spc="15" dirty="0">
                <a:solidFill>
                  <a:srgbClr val="404040"/>
                </a:solidFill>
                <a:latin typeface="Calibri"/>
                <a:cs typeface="Calibri"/>
              </a:rPr>
              <a:t> </a:t>
            </a:r>
            <a:r>
              <a:rPr sz="2800" spc="-10" dirty="0">
                <a:solidFill>
                  <a:srgbClr val="404040"/>
                </a:solidFill>
                <a:latin typeface="Calibri"/>
                <a:cs typeface="Calibri"/>
              </a:rPr>
              <a:t>speed)</a:t>
            </a:r>
            <a:r>
              <a:rPr sz="2800" spc="30" dirty="0">
                <a:solidFill>
                  <a:srgbClr val="404040"/>
                </a:solidFill>
                <a:latin typeface="Calibri"/>
                <a:cs typeface="Calibri"/>
              </a:rPr>
              <a:t> </a:t>
            </a:r>
            <a:r>
              <a:rPr sz="2800" spc="-10" dirty="0">
                <a:solidFill>
                  <a:srgbClr val="404040"/>
                </a:solidFill>
                <a:latin typeface="Calibri"/>
                <a:cs typeface="Calibri"/>
              </a:rPr>
              <a:t>has</a:t>
            </a:r>
            <a:r>
              <a:rPr sz="2800" spc="45" dirty="0">
                <a:solidFill>
                  <a:srgbClr val="404040"/>
                </a:solidFill>
                <a:latin typeface="Calibri"/>
                <a:cs typeface="Calibri"/>
              </a:rPr>
              <a:t> </a:t>
            </a:r>
            <a:r>
              <a:rPr sz="2800" spc="-10" dirty="0">
                <a:solidFill>
                  <a:srgbClr val="404040"/>
                </a:solidFill>
                <a:latin typeface="Calibri"/>
                <a:cs typeface="Calibri"/>
              </a:rPr>
              <a:t>been</a:t>
            </a:r>
            <a:r>
              <a:rPr sz="2800" spc="30" dirty="0">
                <a:solidFill>
                  <a:srgbClr val="404040"/>
                </a:solidFill>
                <a:latin typeface="Calibri"/>
                <a:cs typeface="Calibri"/>
              </a:rPr>
              <a:t> </a:t>
            </a:r>
            <a:r>
              <a:rPr sz="2800" spc="-10" dirty="0">
                <a:solidFill>
                  <a:srgbClr val="404040"/>
                </a:solidFill>
                <a:latin typeface="Calibri"/>
                <a:cs typeface="Calibri"/>
              </a:rPr>
              <a:t>modified</a:t>
            </a:r>
            <a:r>
              <a:rPr sz="2800" spc="65" dirty="0">
                <a:solidFill>
                  <a:srgbClr val="404040"/>
                </a:solidFill>
                <a:latin typeface="Calibri"/>
                <a:cs typeface="Calibri"/>
              </a:rPr>
              <a:t> </a:t>
            </a:r>
            <a:r>
              <a:rPr sz="2800" spc="-15" dirty="0">
                <a:solidFill>
                  <a:srgbClr val="404040"/>
                </a:solidFill>
                <a:latin typeface="Calibri"/>
                <a:cs typeface="Calibri"/>
              </a:rPr>
              <a:t>to</a:t>
            </a:r>
            <a:r>
              <a:rPr sz="2800" spc="20" dirty="0">
                <a:solidFill>
                  <a:srgbClr val="404040"/>
                </a:solidFill>
                <a:latin typeface="Calibri"/>
                <a:cs typeface="Calibri"/>
              </a:rPr>
              <a:t> </a:t>
            </a:r>
            <a:r>
              <a:rPr sz="2800" spc="-10" dirty="0">
                <a:solidFill>
                  <a:srgbClr val="404040"/>
                </a:solidFill>
                <a:latin typeface="Calibri"/>
                <a:cs typeface="Calibri"/>
              </a:rPr>
              <a:t>'performance</a:t>
            </a:r>
            <a:r>
              <a:rPr sz="2800" spc="85" dirty="0">
                <a:solidFill>
                  <a:srgbClr val="404040"/>
                </a:solidFill>
                <a:latin typeface="Calibri"/>
                <a:cs typeface="Calibri"/>
              </a:rPr>
              <a:t> </a:t>
            </a:r>
            <a:r>
              <a:rPr sz="2800" spc="-10" dirty="0">
                <a:solidFill>
                  <a:srgbClr val="404040"/>
                </a:solidFill>
                <a:latin typeface="Calibri"/>
                <a:cs typeface="Calibri"/>
              </a:rPr>
              <a:t>per</a:t>
            </a:r>
            <a:r>
              <a:rPr sz="2800" spc="20" dirty="0">
                <a:solidFill>
                  <a:srgbClr val="404040"/>
                </a:solidFill>
                <a:latin typeface="Calibri"/>
                <a:cs typeface="Calibri"/>
              </a:rPr>
              <a:t> </a:t>
            </a:r>
            <a:r>
              <a:rPr sz="2800" spc="-25" dirty="0">
                <a:solidFill>
                  <a:srgbClr val="404040"/>
                </a:solidFill>
                <a:latin typeface="Calibri"/>
                <a:cs typeface="Calibri"/>
              </a:rPr>
              <a:t>watt'</a:t>
            </a:r>
            <a:endParaRPr sz="2800" dirty="0">
              <a:latin typeface="Calibri"/>
              <a:cs typeface="Calibri"/>
            </a:endParaRPr>
          </a:p>
          <a:p>
            <a:pPr marL="104139" marR="7620" indent="-92075">
              <a:lnSpc>
                <a:spcPts val="3020"/>
              </a:lnSpc>
              <a:spcBef>
                <a:spcPts val="1415"/>
              </a:spcBef>
              <a:buClr>
                <a:srgbClr val="E38312"/>
              </a:buClr>
              <a:buSzPct val="96428"/>
              <a:buFont typeface="Wingdings"/>
              <a:buChar char=""/>
              <a:tabLst>
                <a:tab pos="295910" algn="l"/>
                <a:tab pos="1292860" algn="l"/>
                <a:tab pos="2388235" algn="l"/>
                <a:tab pos="3117215" algn="l"/>
                <a:tab pos="3871595" algn="l"/>
                <a:tab pos="4196080" algn="l"/>
                <a:tab pos="4818380" algn="l"/>
                <a:tab pos="5876290" algn="l"/>
                <a:tab pos="7562215" algn="l"/>
                <a:tab pos="7917180" algn="l"/>
                <a:tab pos="8630285" algn="l"/>
                <a:tab pos="9453245" algn="l"/>
              </a:tabLst>
            </a:pPr>
            <a:r>
              <a:rPr sz="2800" spc="-5" dirty="0">
                <a:solidFill>
                  <a:srgbClr val="404040"/>
                </a:solidFill>
                <a:latin typeface="Calibri"/>
                <a:cs typeface="Calibri"/>
              </a:rPr>
              <a:t>w</a:t>
            </a:r>
            <a:r>
              <a:rPr sz="2800" spc="5" dirty="0">
                <a:solidFill>
                  <a:srgbClr val="404040"/>
                </a:solidFill>
                <a:latin typeface="Calibri"/>
                <a:cs typeface="Calibri"/>
              </a:rPr>
              <a:t>h</a:t>
            </a:r>
            <a:r>
              <a:rPr sz="2800" spc="-5" dirty="0">
                <a:solidFill>
                  <a:srgbClr val="404040"/>
                </a:solidFill>
                <a:latin typeface="Calibri"/>
                <a:cs typeface="Calibri"/>
              </a:rPr>
              <a:t>i</a:t>
            </a:r>
            <a:r>
              <a:rPr sz="2800" dirty="0">
                <a:solidFill>
                  <a:srgbClr val="404040"/>
                </a:solidFill>
                <a:latin typeface="Calibri"/>
                <a:cs typeface="Calibri"/>
              </a:rPr>
              <a:t>c</a:t>
            </a:r>
            <a:r>
              <a:rPr sz="2800" spc="-5" dirty="0">
                <a:solidFill>
                  <a:srgbClr val="404040"/>
                </a:solidFill>
                <a:latin typeface="Calibri"/>
                <a:cs typeface="Calibri"/>
              </a:rPr>
              <a:t>h</a:t>
            </a:r>
            <a:r>
              <a:rPr sz="2800" dirty="0">
                <a:solidFill>
                  <a:srgbClr val="404040"/>
                </a:solidFill>
                <a:latin typeface="Calibri"/>
                <a:cs typeface="Calibri"/>
              </a:rPr>
              <a:t>	</a:t>
            </a:r>
            <a:r>
              <a:rPr sz="2800" spc="-5" dirty="0">
                <a:solidFill>
                  <a:srgbClr val="404040"/>
                </a:solidFill>
                <a:latin typeface="Calibri"/>
                <a:cs typeface="Calibri"/>
              </a:rPr>
              <a:t>m</a:t>
            </a:r>
            <a:r>
              <a:rPr sz="2800" dirty="0">
                <a:solidFill>
                  <a:srgbClr val="404040"/>
                </a:solidFill>
                <a:latin typeface="Calibri"/>
                <a:cs typeface="Calibri"/>
              </a:rPr>
              <a:t>e</a:t>
            </a:r>
            <a:r>
              <a:rPr sz="2800" spc="-5" dirty="0">
                <a:solidFill>
                  <a:srgbClr val="404040"/>
                </a:solidFill>
                <a:latin typeface="Calibri"/>
                <a:cs typeface="Calibri"/>
              </a:rPr>
              <a:t>a</a:t>
            </a:r>
            <a:r>
              <a:rPr sz="2800" spc="5" dirty="0">
                <a:solidFill>
                  <a:srgbClr val="404040"/>
                </a:solidFill>
                <a:latin typeface="Calibri"/>
                <a:cs typeface="Calibri"/>
              </a:rPr>
              <a:t>n</a:t>
            </a:r>
            <a:r>
              <a:rPr sz="2800" spc="-5" dirty="0">
                <a:solidFill>
                  <a:srgbClr val="404040"/>
                </a:solidFill>
                <a:latin typeface="Calibri"/>
                <a:cs typeface="Calibri"/>
              </a:rPr>
              <a:t>s</a:t>
            </a:r>
            <a:r>
              <a:rPr sz="2800" dirty="0">
                <a:solidFill>
                  <a:srgbClr val="404040"/>
                </a:solidFill>
                <a:latin typeface="Calibri"/>
                <a:cs typeface="Calibri"/>
              </a:rPr>
              <a:t>	</a:t>
            </a:r>
            <a:r>
              <a:rPr sz="2800" spc="5" dirty="0">
                <a:solidFill>
                  <a:srgbClr val="404040"/>
                </a:solidFill>
                <a:latin typeface="Calibri"/>
                <a:cs typeface="Calibri"/>
              </a:rPr>
              <a:t>t</a:t>
            </a:r>
            <a:r>
              <a:rPr sz="2800" spc="-10" dirty="0">
                <a:solidFill>
                  <a:srgbClr val="404040"/>
                </a:solidFill>
                <a:latin typeface="Calibri"/>
                <a:cs typeface="Calibri"/>
              </a:rPr>
              <a:t>h</a:t>
            </a:r>
            <a:r>
              <a:rPr sz="2800" spc="-30" dirty="0">
                <a:solidFill>
                  <a:srgbClr val="404040"/>
                </a:solidFill>
                <a:latin typeface="Calibri"/>
                <a:cs typeface="Calibri"/>
              </a:rPr>
              <a:t>a</a:t>
            </a:r>
            <a:r>
              <a:rPr sz="2800" spc="-5" dirty="0">
                <a:solidFill>
                  <a:srgbClr val="404040"/>
                </a:solidFill>
                <a:latin typeface="Calibri"/>
                <a:cs typeface="Calibri"/>
              </a:rPr>
              <a:t>t</a:t>
            </a:r>
            <a:r>
              <a:rPr sz="2800" dirty="0">
                <a:solidFill>
                  <a:srgbClr val="404040"/>
                </a:solidFill>
                <a:latin typeface="Calibri"/>
                <a:cs typeface="Calibri"/>
              </a:rPr>
              <a:t>	</a:t>
            </a:r>
            <a:r>
              <a:rPr sz="2800" spc="5" dirty="0">
                <a:solidFill>
                  <a:srgbClr val="404040"/>
                </a:solidFill>
                <a:latin typeface="Calibri"/>
                <a:cs typeface="Calibri"/>
              </a:rPr>
              <a:t>o</a:t>
            </a:r>
            <a:r>
              <a:rPr sz="2800" spc="-10" dirty="0">
                <a:solidFill>
                  <a:srgbClr val="404040"/>
                </a:solidFill>
                <a:latin typeface="Calibri"/>
                <a:cs typeface="Calibri"/>
              </a:rPr>
              <a:t>nl</a:t>
            </a:r>
            <a:r>
              <a:rPr sz="2800" spc="-5" dirty="0">
                <a:solidFill>
                  <a:srgbClr val="404040"/>
                </a:solidFill>
                <a:latin typeface="Calibri"/>
                <a:cs typeface="Calibri"/>
              </a:rPr>
              <a:t>y</a:t>
            </a:r>
            <a:r>
              <a:rPr sz="2800" dirty="0">
                <a:solidFill>
                  <a:srgbClr val="404040"/>
                </a:solidFill>
                <a:latin typeface="Calibri"/>
                <a:cs typeface="Calibri"/>
              </a:rPr>
              <a:t>	</a:t>
            </a:r>
            <a:r>
              <a:rPr sz="2800" spc="-15" dirty="0">
                <a:solidFill>
                  <a:srgbClr val="404040"/>
                </a:solidFill>
                <a:latin typeface="Calibri"/>
                <a:cs typeface="Calibri"/>
              </a:rPr>
              <a:t>i</a:t>
            </a:r>
            <a:r>
              <a:rPr sz="2800" spc="-5" dirty="0">
                <a:solidFill>
                  <a:srgbClr val="404040"/>
                </a:solidFill>
                <a:latin typeface="Calibri"/>
                <a:cs typeface="Calibri"/>
              </a:rPr>
              <a:t>f</a:t>
            </a:r>
            <a:r>
              <a:rPr sz="2800" dirty="0">
                <a:solidFill>
                  <a:srgbClr val="404040"/>
                </a:solidFill>
                <a:latin typeface="Calibri"/>
                <a:cs typeface="Calibri"/>
              </a:rPr>
              <a:t>	t</a:t>
            </a:r>
            <a:r>
              <a:rPr sz="2800" spc="-10" dirty="0">
                <a:solidFill>
                  <a:srgbClr val="404040"/>
                </a:solidFill>
                <a:latin typeface="Calibri"/>
                <a:cs typeface="Calibri"/>
              </a:rPr>
              <a:t>h</a:t>
            </a:r>
            <a:r>
              <a:rPr sz="2800" spc="-5" dirty="0">
                <a:solidFill>
                  <a:srgbClr val="404040"/>
                </a:solidFill>
                <a:latin typeface="Calibri"/>
                <a:cs typeface="Calibri"/>
              </a:rPr>
              <a:t>e</a:t>
            </a:r>
            <a:r>
              <a:rPr sz="2800" dirty="0">
                <a:solidFill>
                  <a:srgbClr val="404040"/>
                </a:solidFill>
                <a:latin typeface="Calibri"/>
                <a:cs typeface="Calibri"/>
              </a:rPr>
              <a:t>	</a:t>
            </a:r>
            <a:r>
              <a:rPr sz="2800" spc="-10" dirty="0">
                <a:solidFill>
                  <a:srgbClr val="404040"/>
                </a:solidFill>
                <a:latin typeface="Calibri"/>
                <a:cs typeface="Calibri"/>
              </a:rPr>
              <a:t>p</a:t>
            </a:r>
            <a:r>
              <a:rPr sz="2800" spc="-25" dirty="0">
                <a:solidFill>
                  <a:srgbClr val="404040"/>
                </a:solidFill>
                <a:latin typeface="Calibri"/>
                <a:cs typeface="Calibri"/>
              </a:rPr>
              <a:t>o</a:t>
            </a:r>
            <a:r>
              <a:rPr sz="2800" spc="-40" dirty="0">
                <a:solidFill>
                  <a:srgbClr val="404040"/>
                </a:solidFill>
                <a:latin typeface="Calibri"/>
                <a:cs typeface="Calibri"/>
              </a:rPr>
              <a:t>w</a:t>
            </a:r>
            <a:r>
              <a:rPr sz="2800" spc="-5" dirty="0">
                <a:solidFill>
                  <a:srgbClr val="404040"/>
                </a:solidFill>
                <a:latin typeface="Calibri"/>
                <a:cs typeface="Calibri"/>
              </a:rPr>
              <a:t>er</a:t>
            </a:r>
            <a:r>
              <a:rPr sz="2800" dirty="0">
                <a:solidFill>
                  <a:srgbClr val="404040"/>
                </a:solidFill>
                <a:latin typeface="Calibri"/>
                <a:cs typeface="Calibri"/>
              </a:rPr>
              <a:t>	</a:t>
            </a:r>
            <a:r>
              <a:rPr sz="2800" spc="-10" dirty="0">
                <a:solidFill>
                  <a:srgbClr val="404040"/>
                </a:solidFill>
                <a:latin typeface="Calibri"/>
                <a:cs typeface="Calibri"/>
              </a:rPr>
              <a:t>d</a:t>
            </a:r>
            <a:r>
              <a:rPr sz="2800" spc="-20" dirty="0">
                <a:solidFill>
                  <a:srgbClr val="404040"/>
                </a:solidFill>
                <a:latin typeface="Calibri"/>
                <a:cs typeface="Calibri"/>
              </a:rPr>
              <a:t>i</a:t>
            </a:r>
            <a:r>
              <a:rPr sz="2800" spc="-10" dirty="0">
                <a:solidFill>
                  <a:srgbClr val="404040"/>
                </a:solidFill>
                <a:latin typeface="Calibri"/>
                <a:cs typeface="Calibri"/>
              </a:rPr>
              <a:t>ss</a:t>
            </a:r>
            <a:r>
              <a:rPr sz="2800" spc="-15" dirty="0">
                <a:solidFill>
                  <a:srgbClr val="404040"/>
                </a:solidFill>
                <a:latin typeface="Calibri"/>
                <a:cs typeface="Calibri"/>
              </a:rPr>
              <a:t>i</a:t>
            </a:r>
            <a:r>
              <a:rPr sz="2800" spc="-10" dirty="0">
                <a:solidFill>
                  <a:srgbClr val="404040"/>
                </a:solidFill>
                <a:latin typeface="Calibri"/>
                <a:cs typeface="Calibri"/>
              </a:rPr>
              <a:t>p</a:t>
            </a:r>
            <a:r>
              <a:rPr sz="2800" spc="-30" dirty="0">
                <a:solidFill>
                  <a:srgbClr val="404040"/>
                </a:solidFill>
                <a:latin typeface="Calibri"/>
                <a:cs typeface="Calibri"/>
              </a:rPr>
              <a:t>a</a:t>
            </a:r>
            <a:r>
              <a:rPr sz="2800" spc="-5" dirty="0">
                <a:solidFill>
                  <a:srgbClr val="404040"/>
                </a:solidFill>
                <a:latin typeface="Calibri"/>
                <a:cs typeface="Calibri"/>
              </a:rPr>
              <a:t>t</a:t>
            </a:r>
            <a:r>
              <a:rPr sz="2800" spc="-25" dirty="0">
                <a:solidFill>
                  <a:srgbClr val="404040"/>
                </a:solidFill>
                <a:latin typeface="Calibri"/>
                <a:cs typeface="Calibri"/>
              </a:rPr>
              <a:t>i</a:t>
            </a:r>
            <a:r>
              <a:rPr sz="2800" spc="-10" dirty="0">
                <a:solidFill>
                  <a:srgbClr val="404040"/>
                </a:solidFill>
                <a:latin typeface="Calibri"/>
                <a:cs typeface="Calibri"/>
              </a:rPr>
              <a:t>o</a:t>
            </a:r>
            <a:r>
              <a:rPr sz="2800" spc="-5" dirty="0">
                <a:solidFill>
                  <a:srgbClr val="404040"/>
                </a:solidFill>
                <a:latin typeface="Calibri"/>
                <a:cs typeface="Calibri"/>
              </a:rPr>
              <a:t>n</a:t>
            </a:r>
            <a:r>
              <a:rPr sz="2800" dirty="0">
                <a:solidFill>
                  <a:srgbClr val="404040"/>
                </a:solidFill>
                <a:latin typeface="Calibri"/>
                <a:cs typeface="Calibri"/>
              </a:rPr>
              <a:t>	</a:t>
            </a:r>
            <a:r>
              <a:rPr sz="2800" spc="-15" dirty="0">
                <a:solidFill>
                  <a:srgbClr val="404040"/>
                </a:solidFill>
                <a:latin typeface="Calibri"/>
                <a:cs typeface="Calibri"/>
              </a:rPr>
              <a:t>i</a:t>
            </a:r>
            <a:r>
              <a:rPr sz="2800" spc="-5" dirty="0">
                <a:solidFill>
                  <a:srgbClr val="404040"/>
                </a:solidFill>
                <a:latin typeface="Calibri"/>
                <a:cs typeface="Calibri"/>
              </a:rPr>
              <a:t>s</a:t>
            </a:r>
            <a:r>
              <a:rPr sz="2800" dirty="0">
                <a:solidFill>
                  <a:srgbClr val="404040"/>
                </a:solidFill>
                <a:latin typeface="Calibri"/>
                <a:cs typeface="Calibri"/>
              </a:rPr>
              <a:t>	</a:t>
            </a:r>
            <a:r>
              <a:rPr sz="2800" spc="-5" dirty="0">
                <a:solidFill>
                  <a:srgbClr val="404040"/>
                </a:solidFill>
                <a:latin typeface="Calibri"/>
                <a:cs typeface="Calibri"/>
              </a:rPr>
              <a:t>l</a:t>
            </a:r>
            <a:r>
              <a:rPr sz="2800" spc="-35" dirty="0">
                <a:solidFill>
                  <a:srgbClr val="404040"/>
                </a:solidFill>
                <a:latin typeface="Calibri"/>
                <a:cs typeface="Calibri"/>
              </a:rPr>
              <a:t>o</a:t>
            </a:r>
            <a:r>
              <a:rPr sz="2800" spc="-240" dirty="0">
                <a:solidFill>
                  <a:srgbClr val="404040"/>
                </a:solidFill>
                <a:latin typeface="Calibri"/>
                <a:cs typeface="Calibri"/>
              </a:rPr>
              <a:t>w</a:t>
            </a:r>
            <a:r>
              <a:rPr sz="2800" spc="-5" dirty="0">
                <a:solidFill>
                  <a:srgbClr val="404040"/>
                </a:solidFill>
                <a:latin typeface="Calibri"/>
                <a:cs typeface="Calibri"/>
              </a:rPr>
              <a:t>,</a:t>
            </a:r>
            <a:r>
              <a:rPr sz="2800" dirty="0">
                <a:solidFill>
                  <a:srgbClr val="404040"/>
                </a:solidFill>
                <a:latin typeface="Calibri"/>
                <a:cs typeface="Calibri"/>
              </a:rPr>
              <a:t>	</a:t>
            </a:r>
            <a:r>
              <a:rPr sz="2800" spc="-10" dirty="0">
                <a:solidFill>
                  <a:srgbClr val="404040"/>
                </a:solidFill>
                <a:latin typeface="Calibri"/>
                <a:cs typeface="Calibri"/>
              </a:rPr>
              <a:t>d</a:t>
            </a:r>
            <a:r>
              <a:rPr sz="2800" spc="-25" dirty="0">
                <a:solidFill>
                  <a:srgbClr val="404040"/>
                </a:solidFill>
                <a:latin typeface="Calibri"/>
                <a:cs typeface="Calibri"/>
              </a:rPr>
              <a:t>o</a:t>
            </a:r>
            <a:r>
              <a:rPr sz="2800" spc="-5" dirty="0">
                <a:solidFill>
                  <a:srgbClr val="404040"/>
                </a:solidFill>
                <a:latin typeface="Calibri"/>
                <a:cs typeface="Calibri"/>
              </a:rPr>
              <a:t>es</a:t>
            </a:r>
            <a:r>
              <a:rPr sz="2800" dirty="0">
                <a:solidFill>
                  <a:srgbClr val="404040"/>
                </a:solidFill>
                <a:latin typeface="Calibri"/>
                <a:cs typeface="Calibri"/>
              </a:rPr>
              <a:t>	</a:t>
            </a:r>
            <a:r>
              <a:rPr sz="2800" spc="-10" dirty="0">
                <a:solidFill>
                  <a:srgbClr val="404040"/>
                </a:solidFill>
                <a:latin typeface="Calibri"/>
                <a:cs typeface="Calibri"/>
              </a:rPr>
              <a:t>high  </a:t>
            </a:r>
            <a:r>
              <a:rPr sz="2800" spc="-15" dirty="0">
                <a:solidFill>
                  <a:srgbClr val="404040"/>
                </a:solidFill>
                <a:latin typeface="Calibri"/>
                <a:cs typeface="Calibri"/>
              </a:rPr>
              <a:t>performance</a:t>
            </a:r>
            <a:r>
              <a:rPr sz="2800" spc="-40" dirty="0">
                <a:solidFill>
                  <a:srgbClr val="404040"/>
                </a:solidFill>
                <a:latin typeface="Calibri"/>
                <a:cs typeface="Calibri"/>
              </a:rPr>
              <a:t> </a:t>
            </a:r>
            <a:r>
              <a:rPr sz="2800" spc="-10" dirty="0">
                <a:solidFill>
                  <a:srgbClr val="404040"/>
                </a:solidFill>
                <a:latin typeface="Calibri"/>
                <a:cs typeface="Calibri"/>
              </a:rPr>
              <a:t>become</a:t>
            </a:r>
            <a:r>
              <a:rPr sz="2800" spc="-15" dirty="0">
                <a:solidFill>
                  <a:srgbClr val="404040"/>
                </a:solidFill>
                <a:latin typeface="Calibri"/>
                <a:cs typeface="Calibri"/>
              </a:rPr>
              <a:t> </a:t>
            </a:r>
            <a:r>
              <a:rPr sz="2800" spc="-10" dirty="0">
                <a:solidFill>
                  <a:srgbClr val="404040"/>
                </a:solidFill>
                <a:latin typeface="Calibri"/>
                <a:cs typeface="Calibri"/>
              </a:rPr>
              <a:t>acceptable.</a:t>
            </a:r>
            <a:endParaRPr sz="2800" dirty="0">
              <a:latin typeface="Calibri"/>
              <a:cs typeface="Calibri"/>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413080"/>
            <a:ext cx="9589135" cy="1238885"/>
          </a:xfrm>
          <a:prstGeom prst="rect">
            <a:avLst/>
          </a:prstGeom>
        </p:spPr>
        <p:txBody>
          <a:bodyPr vert="horz" wrap="square" lIns="0" tIns="112395" rIns="0" bIns="0" rtlCol="0">
            <a:spAutoFit/>
          </a:bodyPr>
          <a:lstStyle/>
          <a:p>
            <a:pPr marL="12700" marR="5080">
              <a:lnSpc>
                <a:spcPts val="4390"/>
              </a:lnSpc>
              <a:spcBef>
                <a:spcPts val="885"/>
              </a:spcBef>
            </a:pPr>
            <a:r>
              <a:rPr sz="4300" b="0" spc="-114" dirty="0">
                <a:solidFill>
                  <a:srgbClr val="404040"/>
                </a:solidFill>
                <a:latin typeface="Calibri Light"/>
                <a:cs typeface="Calibri Light"/>
              </a:rPr>
              <a:t>How</a:t>
            </a:r>
            <a:r>
              <a:rPr sz="4300" b="0" spc="-340" dirty="0">
                <a:solidFill>
                  <a:srgbClr val="404040"/>
                </a:solidFill>
                <a:latin typeface="Calibri Light"/>
                <a:cs typeface="Calibri Light"/>
              </a:rPr>
              <a:t> </a:t>
            </a:r>
            <a:r>
              <a:rPr sz="4300" b="0" spc="-85" dirty="0">
                <a:solidFill>
                  <a:srgbClr val="404040"/>
                </a:solidFill>
                <a:latin typeface="Calibri Light"/>
                <a:cs typeface="Calibri Light"/>
              </a:rPr>
              <a:t>do</a:t>
            </a:r>
            <a:r>
              <a:rPr sz="4300" b="0" spc="-310" dirty="0">
                <a:solidFill>
                  <a:srgbClr val="404040"/>
                </a:solidFill>
                <a:latin typeface="Calibri Light"/>
                <a:cs typeface="Calibri Light"/>
              </a:rPr>
              <a:t> </a:t>
            </a:r>
            <a:r>
              <a:rPr sz="4300" b="0" spc="-105" dirty="0">
                <a:solidFill>
                  <a:srgbClr val="404040"/>
                </a:solidFill>
                <a:latin typeface="Calibri Light"/>
                <a:cs typeface="Calibri Light"/>
              </a:rPr>
              <a:t>we</a:t>
            </a:r>
            <a:r>
              <a:rPr sz="4300" b="0" spc="-325" dirty="0">
                <a:solidFill>
                  <a:srgbClr val="404040"/>
                </a:solidFill>
                <a:latin typeface="Calibri Light"/>
                <a:cs typeface="Calibri Light"/>
              </a:rPr>
              <a:t> </a:t>
            </a:r>
            <a:r>
              <a:rPr sz="4300" b="0" spc="-140" dirty="0">
                <a:solidFill>
                  <a:srgbClr val="404040"/>
                </a:solidFill>
                <a:latin typeface="Calibri Light"/>
                <a:cs typeface="Calibri Light"/>
              </a:rPr>
              <a:t>quantify</a:t>
            </a:r>
            <a:r>
              <a:rPr sz="4300" b="0" spc="-340" dirty="0">
                <a:solidFill>
                  <a:srgbClr val="404040"/>
                </a:solidFill>
                <a:latin typeface="Calibri Light"/>
                <a:cs typeface="Calibri Light"/>
              </a:rPr>
              <a:t> </a:t>
            </a:r>
            <a:r>
              <a:rPr sz="4300" b="0" spc="-110" dirty="0">
                <a:solidFill>
                  <a:srgbClr val="404040"/>
                </a:solidFill>
                <a:latin typeface="Calibri Light"/>
                <a:cs typeface="Calibri Light"/>
              </a:rPr>
              <a:t>the</a:t>
            </a:r>
            <a:r>
              <a:rPr sz="4300" b="0" spc="-325" dirty="0">
                <a:solidFill>
                  <a:srgbClr val="404040"/>
                </a:solidFill>
                <a:latin typeface="Calibri Light"/>
                <a:cs typeface="Calibri Light"/>
              </a:rPr>
              <a:t> </a:t>
            </a:r>
            <a:r>
              <a:rPr sz="4300" b="0" spc="-145" dirty="0">
                <a:solidFill>
                  <a:srgbClr val="404040"/>
                </a:solidFill>
                <a:latin typeface="Calibri Light"/>
                <a:cs typeface="Calibri Light"/>
              </a:rPr>
              <a:t>power</a:t>
            </a:r>
            <a:r>
              <a:rPr sz="4300" b="0" spc="-330" dirty="0">
                <a:solidFill>
                  <a:srgbClr val="404040"/>
                </a:solidFill>
                <a:latin typeface="Calibri Light"/>
                <a:cs typeface="Calibri Light"/>
              </a:rPr>
              <a:t> </a:t>
            </a:r>
            <a:r>
              <a:rPr sz="4300" b="0" spc="-165" dirty="0">
                <a:solidFill>
                  <a:srgbClr val="404040"/>
                </a:solidFill>
                <a:latin typeface="Calibri Light"/>
                <a:cs typeface="Calibri Light"/>
              </a:rPr>
              <a:t>requirements</a:t>
            </a:r>
            <a:r>
              <a:rPr sz="4300" b="0" spc="-335" dirty="0">
                <a:solidFill>
                  <a:srgbClr val="404040"/>
                </a:solidFill>
                <a:latin typeface="Calibri Light"/>
                <a:cs typeface="Calibri Light"/>
              </a:rPr>
              <a:t> </a:t>
            </a:r>
            <a:r>
              <a:rPr sz="4300" b="0" spc="-80" dirty="0">
                <a:solidFill>
                  <a:srgbClr val="404040"/>
                </a:solidFill>
                <a:latin typeface="Calibri Light"/>
                <a:cs typeface="Calibri Light"/>
              </a:rPr>
              <a:t>of </a:t>
            </a:r>
            <a:r>
              <a:rPr sz="4300" b="0" spc="-960" dirty="0">
                <a:solidFill>
                  <a:srgbClr val="404040"/>
                </a:solidFill>
                <a:latin typeface="Calibri Light"/>
                <a:cs typeface="Calibri Light"/>
              </a:rPr>
              <a:t> </a:t>
            </a:r>
            <a:r>
              <a:rPr sz="4300" b="0" spc="-155" dirty="0">
                <a:solidFill>
                  <a:srgbClr val="404040"/>
                </a:solidFill>
                <a:latin typeface="Calibri Light"/>
                <a:cs typeface="Calibri Light"/>
              </a:rPr>
              <a:t>a</a:t>
            </a:r>
            <a:r>
              <a:rPr sz="4300" b="0" spc="-245" dirty="0">
                <a:solidFill>
                  <a:srgbClr val="404040"/>
                </a:solidFill>
                <a:latin typeface="Calibri Light"/>
                <a:cs typeface="Calibri Light"/>
              </a:rPr>
              <a:t>n</a:t>
            </a:r>
            <a:r>
              <a:rPr sz="4300" b="0" spc="-5" dirty="0">
                <a:solidFill>
                  <a:srgbClr val="404040"/>
                </a:solidFill>
                <a:latin typeface="Calibri Light"/>
                <a:cs typeface="Calibri Light"/>
              </a:rPr>
              <a:t>y</a:t>
            </a:r>
            <a:r>
              <a:rPr sz="4300" b="0" spc="-325" dirty="0">
                <a:solidFill>
                  <a:srgbClr val="404040"/>
                </a:solidFill>
                <a:latin typeface="Calibri Light"/>
                <a:cs typeface="Calibri Light"/>
              </a:rPr>
              <a:t> </a:t>
            </a:r>
            <a:r>
              <a:rPr sz="4300" b="0" spc="-250" dirty="0">
                <a:solidFill>
                  <a:srgbClr val="404040"/>
                </a:solidFill>
                <a:latin typeface="Calibri Light"/>
                <a:cs typeface="Calibri Light"/>
              </a:rPr>
              <a:t>s</a:t>
            </a:r>
            <a:r>
              <a:rPr sz="4300" b="0" spc="-210" dirty="0">
                <a:solidFill>
                  <a:srgbClr val="404040"/>
                </a:solidFill>
                <a:latin typeface="Calibri Light"/>
                <a:cs typeface="Calibri Light"/>
              </a:rPr>
              <a:t>y</a:t>
            </a:r>
            <a:r>
              <a:rPr sz="4300" b="0" spc="-215" dirty="0">
                <a:solidFill>
                  <a:srgbClr val="404040"/>
                </a:solidFill>
                <a:latin typeface="Calibri Light"/>
                <a:cs typeface="Calibri Light"/>
              </a:rPr>
              <a:t>s</a:t>
            </a:r>
            <a:r>
              <a:rPr sz="4300" b="0" spc="-195" dirty="0">
                <a:solidFill>
                  <a:srgbClr val="404040"/>
                </a:solidFill>
                <a:latin typeface="Calibri Light"/>
                <a:cs typeface="Calibri Light"/>
              </a:rPr>
              <a:t>t</a:t>
            </a:r>
            <a:r>
              <a:rPr sz="4300" b="0" spc="-165" dirty="0">
                <a:solidFill>
                  <a:srgbClr val="404040"/>
                </a:solidFill>
                <a:latin typeface="Calibri Light"/>
                <a:cs typeface="Calibri Light"/>
              </a:rPr>
              <a:t>e</a:t>
            </a:r>
            <a:r>
              <a:rPr sz="4300" b="0" spc="-5" dirty="0">
                <a:solidFill>
                  <a:srgbClr val="404040"/>
                </a:solidFill>
                <a:latin typeface="Calibri Light"/>
                <a:cs typeface="Calibri Light"/>
              </a:rPr>
              <a:t>m</a:t>
            </a:r>
            <a:r>
              <a:rPr sz="4300" b="0" spc="-330" dirty="0">
                <a:solidFill>
                  <a:srgbClr val="404040"/>
                </a:solidFill>
                <a:latin typeface="Calibri Light"/>
                <a:cs typeface="Calibri Light"/>
              </a:rPr>
              <a:t> </a:t>
            </a:r>
            <a:r>
              <a:rPr sz="4300" b="0" spc="-145" dirty="0">
                <a:solidFill>
                  <a:srgbClr val="404040"/>
                </a:solidFill>
                <a:latin typeface="Calibri Light"/>
                <a:cs typeface="Calibri Light"/>
              </a:rPr>
              <a:t>o</a:t>
            </a:r>
            <a:r>
              <a:rPr sz="4300" b="0" spc="-5" dirty="0">
                <a:solidFill>
                  <a:srgbClr val="404040"/>
                </a:solidFill>
                <a:latin typeface="Calibri Light"/>
                <a:cs typeface="Calibri Light"/>
              </a:rPr>
              <a:t>r</a:t>
            </a:r>
            <a:r>
              <a:rPr sz="4300" b="0" spc="-310" dirty="0">
                <a:solidFill>
                  <a:srgbClr val="404040"/>
                </a:solidFill>
                <a:latin typeface="Calibri Light"/>
                <a:cs typeface="Calibri Light"/>
              </a:rPr>
              <a:t> </a:t>
            </a:r>
            <a:r>
              <a:rPr sz="4300" b="0" spc="-190" dirty="0">
                <a:solidFill>
                  <a:srgbClr val="404040"/>
                </a:solidFill>
                <a:latin typeface="Calibri Light"/>
                <a:cs typeface="Calibri Light"/>
              </a:rPr>
              <a:t>c</a:t>
            </a:r>
            <a:r>
              <a:rPr sz="4300" b="0" spc="-145" dirty="0">
                <a:solidFill>
                  <a:srgbClr val="404040"/>
                </a:solidFill>
                <a:latin typeface="Calibri Light"/>
                <a:cs typeface="Calibri Light"/>
              </a:rPr>
              <a:t>o</a:t>
            </a:r>
            <a:r>
              <a:rPr sz="4300" b="0" spc="-155" dirty="0">
                <a:solidFill>
                  <a:srgbClr val="404040"/>
                </a:solidFill>
                <a:latin typeface="Calibri Light"/>
                <a:cs typeface="Calibri Light"/>
              </a:rPr>
              <a:t>m</a:t>
            </a:r>
            <a:r>
              <a:rPr sz="4300" b="0" spc="-150" dirty="0">
                <a:solidFill>
                  <a:srgbClr val="404040"/>
                </a:solidFill>
                <a:latin typeface="Calibri Light"/>
                <a:cs typeface="Calibri Light"/>
              </a:rPr>
              <a:t>p</a:t>
            </a:r>
            <a:r>
              <a:rPr sz="4300" b="0" spc="-145" dirty="0">
                <a:solidFill>
                  <a:srgbClr val="404040"/>
                </a:solidFill>
                <a:latin typeface="Calibri Light"/>
                <a:cs typeface="Calibri Light"/>
              </a:rPr>
              <a:t>o</a:t>
            </a:r>
            <a:r>
              <a:rPr sz="4300" b="0" spc="-150" dirty="0">
                <a:solidFill>
                  <a:srgbClr val="404040"/>
                </a:solidFill>
                <a:latin typeface="Calibri Light"/>
                <a:cs typeface="Calibri Light"/>
              </a:rPr>
              <a:t>n</a:t>
            </a:r>
            <a:r>
              <a:rPr sz="4300" b="0" spc="-165" dirty="0">
                <a:solidFill>
                  <a:srgbClr val="404040"/>
                </a:solidFill>
                <a:latin typeface="Calibri Light"/>
                <a:cs typeface="Calibri Light"/>
              </a:rPr>
              <a:t>e</a:t>
            </a:r>
            <a:r>
              <a:rPr sz="4300" b="0" spc="-185" dirty="0">
                <a:solidFill>
                  <a:srgbClr val="404040"/>
                </a:solidFill>
                <a:latin typeface="Calibri Light"/>
                <a:cs typeface="Calibri Light"/>
              </a:rPr>
              <a:t>n</a:t>
            </a:r>
            <a:r>
              <a:rPr sz="4300" b="0" spc="-160" dirty="0">
                <a:solidFill>
                  <a:srgbClr val="404040"/>
                </a:solidFill>
                <a:latin typeface="Calibri Light"/>
                <a:cs typeface="Calibri Light"/>
              </a:rPr>
              <a:t>t</a:t>
            </a:r>
            <a:r>
              <a:rPr sz="4300" b="0" spc="-5" dirty="0">
                <a:solidFill>
                  <a:srgbClr val="404040"/>
                </a:solidFill>
                <a:latin typeface="Calibri Light"/>
                <a:cs typeface="Calibri Light"/>
              </a:rPr>
              <a:t>?</a:t>
            </a:r>
            <a:endParaRPr sz="430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29</a:t>
            </a:r>
            <a:endParaRPr sz="1050">
              <a:latin typeface="Calibri"/>
              <a:cs typeface="Calibri"/>
            </a:endParaRPr>
          </a:p>
        </p:txBody>
      </p:sp>
      <p:sp>
        <p:nvSpPr>
          <p:cNvPr id="10" name="object 10"/>
          <p:cNvSpPr txBox="1"/>
          <p:nvPr/>
        </p:nvSpPr>
        <p:spPr>
          <a:xfrm>
            <a:off x="1084580" y="1822830"/>
            <a:ext cx="10089515" cy="3229610"/>
          </a:xfrm>
          <a:prstGeom prst="rect">
            <a:avLst/>
          </a:prstGeom>
        </p:spPr>
        <p:txBody>
          <a:bodyPr vert="horz" wrap="square" lIns="0" tIns="53975" rIns="0" bIns="0" rtlCol="0">
            <a:spAutoFit/>
          </a:bodyPr>
          <a:lstStyle/>
          <a:p>
            <a:pPr marL="104139" marR="6985" indent="-92075" algn="just">
              <a:lnSpc>
                <a:spcPts val="2590"/>
              </a:lnSpc>
              <a:spcBef>
                <a:spcPts val="425"/>
              </a:spcBef>
              <a:buClr>
                <a:srgbClr val="E38312"/>
              </a:buClr>
              <a:buSzPct val="95833"/>
              <a:buFont typeface="Wingdings"/>
              <a:buChar char=""/>
              <a:tabLst>
                <a:tab pos="255904" algn="l"/>
              </a:tabLst>
            </a:pPr>
            <a:r>
              <a:rPr sz="2400" spc="-5" dirty="0">
                <a:solidFill>
                  <a:srgbClr val="404040"/>
                </a:solidFill>
                <a:latin typeface="Calibri"/>
                <a:cs typeface="Calibri"/>
              </a:rPr>
              <a:t>The term 'Thermal Design </a:t>
            </a:r>
            <a:r>
              <a:rPr sz="2400" spc="-20" dirty="0">
                <a:solidFill>
                  <a:srgbClr val="404040"/>
                </a:solidFill>
                <a:latin typeface="Calibri"/>
                <a:cs typeface="Calibri"/>
              </a:rPr>
              <a:t>Power' </a:t>
            </a:r>
            <a:r>
              <a:rPr sz="2400" spc="-5" dirty="0">
                <a:solidFill>
                  <a:srgbClr val="404040"/>
                </a:solidFill>
                <a:latin typeface="Calibri"/>
                <a:cs typeface="Calibri"/>
              </a:rPr>
              <a:t>(TDP) </a:t>
            </a:r>
            <a:r>
              <a:rPr sz="2400" dirty="0">
                <a:solidFill>
                  <a:srgbClr val="404040"/>
                </a:solidFill>
                <a:latin typeface="Calibri"/>
                <a:cs typeface="Calibri"/>
              </a:rPr>
              <a:t>is </a:t>
            </a:r>
            <a:r>
              <a:rPr sz="2400" spc="-5" dirty="0">
                <a:solidFill>
                  <a:srgbClr val="404040"/>
                </a:solidFill>
                <a:latin typeface="Calibri"/>
                <a:cs typeface="Calibri"/>
              </a:rPr>
              <a:t>used </a:t>
            </a:r>
            <a:r>
              <a:rPr sz="2400" spc="-20" dirty="0">
                <a:solidFill>
                  <a:srgbClr val="404040"/>
                </a:solidFill>
                <a:latin typeface="Calibri"/>
                <a:cs typeface="Calibri"/>
              </a:rPr>
              <a:t>to </a:t>
            </a:r>
            <a:r>
              <a:rPr sz="2400" spc="-15" dirty="0">
                <a:solidFill>
                  <a:srgbClr val="404040"/>
                </a:solidFill>
                <a:latin typeface="Calibri"/>
                <a:cs typeface="Calibri"/>
              </a:rPr>
              <a:t>compare </a:t>
            </a:r>
            <a:r>
              <a:rPr sz="2400" spc="-20" dirty="0">
                <a:solidFill>
                  <a:srgbClr val="404040"/>
                </a:solidFill>
                <a:latin typeface="Calibri"/>
                <a:cs typeface="Calibri"/>
              </a:rPr>
              <a:t>different systems </a:t>
            </a:r>
            <a:r>
              <a:rPr sz="2400" spc="25" dirty="0">
                <a:solidFill>
                  <a:srgbClr val="404040"/>
                </a:solidFill>
                <a:latin typeface="Calibri"/>
                <a:cs typeface="Calibri"/>
              </a:rPr>
              <a:t>in </a:t>
            </a:r>
            <a:r>
              <a:rPr sz="2400" spc="30" dirty="0">
                <a:solidFill>
                  <a:srgbClr val="404040"/>
                </a:solidFill>
                <a:latin typeface="Calibri"/>
                <a:cs typeface="Calibri"/>
              </a:rPr>
              <a:t> </a:t>
            </a:r>
            <a:r>
              <a:rPr sz="2400" spc="-5" dirty="0">
                <a:solidFill>
                  <a:srgbClr val="404040"/>
                </a:solidFill>
                <a:latin typeface="Calibri"/>
                <a:cs typeface="Calibri"/>
              </a:rPr>
              <a:t>terms</a:t>
            </a:r>
            <a:r>
              <a:rPr sz="2400" spc="5" dirty="0">
                <a:solidFill>
                  <a:srgbClr val="404040"/>
                </a:solidFill>
                <a:latin typeface="Calibri"/>
                <a:cs typeface="Calibri"/>
              </a:rPr>
              <a:t> </a:t>
            </a:r>
            <a:r>
              <a:rPr sz="2400" spc="-5" dirty="0">
                <a:solidFill>
                  <a:srgbClr val="404040"/>
                </a:solidFill>
                <a:latin typeface="Calibri"/>
                <a:cs typeface="Calibri"/>
              </a:rPr>
              <a:t>of</a:t>
            </a:r>
            <a:r>
              <a:rPr sz="2400" spc="20" dirty="0">
                <a:solidFill>
                  <a:srgbClr val="404040"/>
                </a:solidFill>
                <a:latin typeface="Calibri"/>
                <a:cs typeface="Calibri"/>
              </a:rPr>
              <a:t> </a:t>
            </a:r>
            <a:r>
              <a:rPr sz="2400" spc="-50" dirty="0">
                <a:solidFill>
                  <a:srgbClr val="404040"/>
                </a:solidFill>
                <a:latin typeface="Calibri"/>
                <a:cs typeface="Calibri"/>
              </a:rPr>
              <a:t>power.</a:t>
            </a:r>
            <a:endParaRPr sz="2400">
              <a:latin typeface="Calibri"/>
              <a:cs typeface="Calibri"/>
            </a:endParaRPr>
          </a:p>
          <a:p>
            <a:pPr marL="104139" marR="5080" indent="-92075" algn="just">
              <a:lnSpc>
                <a:spcPts val="2590"/>
              </a:lnSpc>
              <a:spcBef>
                <a:spcPts val="1410"/>
              </a:spcBef>
              <a:buClr>
                <a:srgbClr val="E38312"/>
              </a:buClr>
              <a:buSzPct val="95833"/>
              <a:buFont typeface="Wingdings"/>
              <a:buChar char=""/>
              <a:tabLst>
                <a:tab pos="255904" algn="l"/>
              </a:tabLst>
            </a:pPr>
            <a:r>
              <a:rPr sz="2400" spc="-5" dirty="0">
                <a:solidFill>
                  <a:srgbClr val="404040"/>
                </a:solidFill>
                <a:latin typeface="Calibri"/>
                <a:cs typeface="Calibri"/>
              </a:rPr>
              <a:t>TDP </a:t>
            </a:r>
            <a:r>
              <a:rPr sz="2400" spc="5" dirty="0">
                <a:solidFill>
                  <a:srgbClr val="404040"/>
                </a:solidFill>
                <a:latin typeface="Calibri"/>
                <a:cs typeface="Calibri"/>
              </a:rPr>
              <a:t>is </a:t>
            </a:r>
            <a:r>
              <a:rPr sz="2400" dirty="0">
                <a:solidFill>
                  <a:srgbClr val="404040"/>
                </a:solidFill>
                <a:latin typeface="Calibri"/>
                <a:cs typeface="Calibri"/>
              </a:rPr>
              <a:t>defined </a:t>
            </a:r>
            <a:r>
              <a:rPr sz="2400" spc="5" dirty="0">
                <a:solidFill>
                  <a:srgbClr val="404040"/>
                </a:solidFill>
                <a:latin typeface="Calibri"/>
                <a:cs typeface="Calibri"/>
              </a:rPr>
              <a:t>as </a:t>
            </a:r>
            <a:r>
              <a:rPr sz="2400" dirty="0">
                <a:solidFill>
                  <a:srgbClr val="404040"/>
                </a:solidFill>
                <a:latin typeface="Calibri"/>
                <a:cs typeface="Calibri"/>
              </a:rPr>
              <a:t>the </a:t>
            </a:r>
            <a:r>
              <a:rPr sz="2400" spc="-10" dirty="0">
                <a:solidFill>
                  <a:srgbClr val="404040"/>
                </a:solidFill>
                <a:latin typeface="Calibri"/>
                <a:cs typeface="Calibri"/>
              </a:rPr>
              <a:t>maximum </a:t>
            </a:r>
            <a:r>
              <a:rPr sz="2400" spc="-5" dirty="0">
                <a:solidFill>
                  <a:srgbClr val="404040"/>
                </a:solidFill>
                <a:latin typeface="Calibri"/>
                <a:cs typeface="Calibri"/>
              </a:rPr>
              <a:t>amount of </a:t>
            </a:r>
            <a:r>
              <a:rPr sz="2400" spc="-10" dirty="0">
                <a:solidFill>
                  <a:srgbClr val="404040"/>
                </a:solidFill>
                <a:latin typeface="Calibri"/>
                <a:cs typeface="Calibri"/>
              </a:rPr>
              <a:t>power </a:t>
            </a:r>
            <a:r>
              <a:rPr sz="2400" spc="-15" dirty="0">
                <a:solidFill>
                  <a:srgbClr val="404040"/>
                </a:solidFill>
                <a:latin typeface="Calibri"/>
                <a:cs typeface="Calibri"/>
              </a:rPr>
              <a:t>(in </a:t>
            </a:r>
            <a:r>
              <a:rPr sz="2400" spc="-40" dirty="0">
                <a:solidFill>
                  <a:srgbClr val="404040"/>
                </a:solidFill>
                <a:latin typeface="Calibri"/>
                <a:cs typeface="Calibri"/>
              </a:rPr>
              <a:t>watts), </a:t>
            </a:r>
            <a:r>
              <a:rPr sz="2400" spc="-20" dirty="0">
                <a:solidFill>
                  <a:srgbClr val="404040"/>
                </a:solidFill>
                <a:latin typeface="Calibri"/>
                <a:cs typeface="Calibri"/>
              </a:rPr>
              <a:t>the </a:t>
            </a:r>
            <a:r>
              <a:rPr sz="2400" spc="-30" dirty="0">
                <a:solidFill>
                  <a:srgbClr val="404040"/>
                </a:solidFill>
                <a:latin typeface="Calibri"/>
                <a:cs typeface="Calibri"/>
              </a:rPr>
              <a:t>cooling </a:t>
            </a:r>
            <a:r>
              <a:rPr sz="2400" spc="-45" dirty="0">
                <a:solidFill>
                  <a:srgbClr val="404040"/>
                </a:solidFill>
                <a:latin typeface="Calibri"/>
                <a:cs typeface="Calibri"/>
              </a:rPr>
              <a:t>system </a:t>
            </a:r>
            <a:r>
              <a:rPr sz="2400" spc="-40" dirty="0">
                <a:solidFill>
                  <a:srgbClr val="404040"/>
                </a:solidFill>
                <a:latin typeface="Calibri"/>
                <a:cs typeface="Calibri"/>
              </a:rPr>
              <a:t> </a:t>
            </a:r>
            <a:r>
              <a:rPr sz="2400" spc="-30" dirty="0">
                <a:solidFill>
                  <a:srgbClr val="404040"/>
                </a:solidFill>
                <a:latin typeface="Calibri"/>
                <a:cs typeface="Calibri"/>
              </a:rPr>
              <a:t>must</a:t>
            </a:r>
            <a:r>
              <a:rPr sz="2400" spc="-80" dirty="0">
                <a:solidFill>
                  <a:srgbClr val="404040"/>
                </a:solidFill>
                <a:latin typeface="Calibri"/>
                <a:cs typeface="Calibri"/>
              </a:rPr>
              <a:t> </a:t>
            </a:r>
            <a:r>
              <a:rPr sz="2400" spc="-15" dirty="0">
                <a:solidFill>
                  <a:srgbClr val="404040"/>
                </a:solidFill>
                <a:latin typeface="Calibri"/>
                <a:cs typeface="Calibri"/>
              </a:rPr>
              <a:t>be</a:t>
            </a:r>
            <a:r>
              <a:rPr sz="2400" spc="-45" dirty="0">
                <a:solidFill>
                  <a:srgbClr val="404040"/>
                </a:solidFill>
                <a:latin typeface="Calibri"/>
                <a:cs typeface="Calibri"/>
              </a:rPr>
              <a:t> </a:t>
            </a:r>
            <a:r>
              <a:rPr sz="2400" spc="-20" dirty="0">
                <a:solidFill>
                  <a:srgbClr val="404040"/>
                </a:solidFill>
                <a:latin typeface="Calibri"/>
                <a:cs typeface="Calibri"/>
              </a:rPr>
              <a:t>able</a:t>
            </a:r>
            <a:r>
              <a:rPr sz="2400" spc="-45" dirty="0">
                <a:solidFill>
                  <a:srgbClr val="404040"/>
                </a:solidFill>
                <a:latin typeface="Calibri"/>
                <a:cs typeface="Calibri"/>
              </a:rPr>
              <a:t> </a:t>
            </a:r>
            <a:r>
              <a:rPr sz="2400" spc="-25" dirty="0">
                <a:solidFill>
                  <a:srgbClr val="404040"/>
                </a:solidFill>
                <a:latin typeface="Calibri"/>
                <a:cs typeface="Calibri"/>
              </a:rPr>
              <a:t>to</a:t>
            </a:r>
            <a:r>
              <a:rPr sz="2400" spc="-70" dirty="0">
                <a:solidFill>
                  <a:srgbClr val="404040"/>
                </a:solidFill>
                <a:latin typeface="Calibri"/>
                <a:cs typeface="Calibri"/>
              </a:rPr>
              <a:t> </a:t>
            </a:r>
            <a:r>
              <a:rPr sz="2400" spc="-30" dirty="0">
                <a:solidFill>
                  <a:srgbClr val="404040"/>
                </a:solidFill>
                <a:latin typeface="Calibri"/>
                <a:cs typeface="Calibri"/>
              </a:rPr>
              <a:t>dissipate.</a:t>
            </a:r>
            <a:endParaRPr sz="2400">
              <a:latin typeface="Calibri"/>
              <a:cs typeface="Calibri"/>
            </a:endParaRPr>
          </a:p>
          <a:p>
            <a:pPr marL="104139" marR="8255" indent="-92075" algn="just">
              <a:lnSpc>
                <a:spcPts val="2590"/>
              </a:lnSpc>
              <a:spcBef>
                <a:spcPts val="1410"/>
              </a:spcBef>
              <a:buClr>
                <a:srgbClr val="E38312"/>
              </a:buClr>
              <a:buSzPct val="95833"/>
              <a:buFont typeface="Wingdings"/>
              <a:buChar char=""/>
              <a:tabLst>
                <a:tab pos="321310" algn="l"/>
              </a:tabLst>
            </a:pPr>
            <a:r>
              <a:rPr sz="2400" spc="-15" dirty="0">
                <a:solidFill>
                  <a:srgbClr val="404040"/>
                </a:solidFill>
                <a:latin typeface="Calibri"/>
                <a:cs typeface="Calibri"/>
              </a:rPr>
              <a:t>It </a:t>
            </a:r>
            <a:r>
              <a:rPr sz="2400" spc="-20" dirty="0">
                <a:solidFill>
                  <a:srgbClr val="404040"/>
                </a:solidFill>
                <a:latin typeface="Calibri"/>
                <a:cs typeface="Calibri"/>
              </a:rPr>
              <a:t>does not mean the </a:t>
            </a:r>
            <a:r>
              <a:rPr sz="2400" spc="-10" dirty="0">
                <a:solidFill>
                  <a:srgbClr val="404040"/>
                </a:solidFill>
                <a:latin typeface="Calibri"/>
                <a:cs typeface="Calibri"/>
              </a:rPr>
              <a:t>maximum </a:t>
            </a:r>
            <a:r>
              <a:rPr sz="2400" spc="-20" dirty="0">
                <a:solidFill>
                  <a:srgbClr val="404040"/>
                </a:solidFill>
                <a:latin typeface="Calibri"/>
                <a:cs typeface="Calibri"/>
              </a:rPr>
              <a:t>wattage, </a:t>
            </a:r>
            <a:r>
              <a:rPr sz="2400" spc="-5" dirty="0">
                <a:solidFill>
                  <a:srgbClr val="404040"/>
                </a:solidFill>
                <a:latin typeface="Calibri"/>
                <a:cs typeface="Calibri"/>
              </a:rPr>
              <a:t>but </a:t>
            </a:r>
            <a:r>
              <a:rPr sz="2400" dirty="0">
                <a:solidFill>
                  <a:srgbClr val="404040"/>
                </a:solidFill>
                <a:latin typeface="Calibri"/>
                <a:cs typeface="Calibri"/>
              </a:rPr>
              <a:t>is </a:t>
            </a:r>
            <a:r>
              <a:rPr sz="2400" spc="-5" dirty="0">
                <a:solidFill>
                  <a:srgbClr val="404040"/>
                </a:solidFill>
                <a:latin typeface="Calibri"/>
                <a:cs typeface="Calibri"/>
              </a:rPr>
              <a:t>meant </a:t>
            </a:r>
            <a:r>
              <a:rPr sz="2400" spc="-10" dirty="0">
                <a:solidFill>
                  <a:srgbClr val="404040"/>
                </a:solidFill>
                <a:latin typeface="Calibri"/>
                <a:cs typeface="Calibri"/>
              </a:rPr>
              <a:t>to give </a:t>
            </a:r>
            <a:r>
              <a:rPr sz="2400" dirty="0">
                <a:solidFill>
                  <a:srgbClr val="404040"/>
                </a:solidFill>
                <a:latin typeface="Calibri"/>
                <a:cs typeface="Calibri"/>
              </a:rPr>
              <a:t>an idea </a:t>
            </a:r>
            <a:r>
              <a:rPr sz="2400" spc="-5" dirty="0">
                <a:solidFill>
                  <a:srgbClr val="404040"/>
                </a:solidFill>
                <a:latin typeface="Calibri"/>
                <a:cs typeface="Calibri"/>
              </a:rPr>
              <a:t>of how </a:t>
            </a:r>
            <a:r>
              <a:rPr sz="2400" dirty="0">
                <a:solidFill>
                  <a:srgbClr val="404040"/>
                </a:solidFill>
                <a:latin typeface="Calibri"/>
                <a:cs typeface="Calibri"/>
              </a:rPr>
              <a:t> much</a:t>
            </a:r>
            <a:r>
              <a:rPr sz="2400" spc="5" dirty="0">
                <a:solidFill>
                  <a:srgbClr val="404040"/>
                </a:solidFill>
                <a:latin typeface="Calibri"/>
                <a:cs typeface="Calibri"/>
              </a:rPr>
              <a:t> </a:t>
            </a:r>
            <a:r>
              <a:rPr sz="2400" spc="-5" dirty="0">
                <a:solidFill>
                  <a:srgbClr val="404040"/>
                </a:solidFill>
                <a:latin typeface="Calibri"/>
                <a:cs typeface="Calibri"/>
              </a:rPr>
              <a:t>power</a:t>
            </a:r>
            <a:r>
              <a:rPr sz="2400" dirty="0">
                <a:solidFill>
                  <a:srgbClr val="404040"/>
                </a:solidFill>
                <a:latin typeface="Calibri"/>
                <a:cs typeface="Calibri"/>
              </a:rPr>
              <a:t> </a:t>
            </a:r>
            <a:r>
              <a:rPr sz="2400" spc="-5" dirty="0">
                <a:solidFill>
                  <a:srgbClr val="404040"/>
                </a:solidFill>
                <a:latin typeface="Calibri"/>
                <a:cs typeface="Calibri"/>
              </a:rPr>
              <a:t>would</a:t>
            </a:r>
            <a:r>
              <a:rPr sz="2400" dirty="0">
                <a:solidFill>
                  <a:srgbClr val="404040"/>
                </a:solidFill>
                <a:latin typeface="Calibri"/>
                <a:cs typeface="Calibri"/>
              </a:rPr>
              <a:t> </a:t>
            </a:r>
            <a:r>
              <a:rPr sz="2400" spc="-10" dirty="0">
                <a:solidFill>
                  <a:srgbClr val="404040"/>
                </a:solidFill>
                <a:latin typeface="Calibri"/>
                <a:cs typeface="Calibri"/>
              </a:rPr>
              <a:t>be</a:t>
            </a:r>
            <a:r>
              <a:rPr sz="2400" spc="-5" dirty="0">
                <a:solidFill>
                  <a:srgbClr val="404040"/>
                </a:solidFill>
                <a:latin typeface="Calibri"/>
                <a:cs typeface="Calibri"/>
              </a:rPr>
              <a:t> </a:t>
            </a:r>
            <a:r>
              <a:rPr sz="2400" spc="-15" dirty="0">
                <a:solidFill>
                  <a:srgbClr val="404040"/>
                </a:solidFill>
                <a:latin typeface="Calibri"/>
                <a:cs typeface="Calibri"/>
              </a:rPr>
              <a:t>necessary</a:t>
            </a:r>
            <a:r>
              <a:rPr sz="2400" spc="-10" dirty="0">
                <a:solidFill>
                  <a:srgbClr val="404040"/>
                </a:solidFill>
                <a:latin typeface="Calibri"/>
                <a:cs typeface="Calibri"/>
              </a:rPr>
              <a:t> </a:t>
            </a:r>
            <a:r>
              <a:rPr sz="2400" spc="-20" dirty="0">
                <a:solidFill>
                  <a:srgbClr val="404040"/>
                </a:solidFill>
                <a:latin typeface="Calibri"/>
                <a:cs typeface="Calibri"/>
              </a:rPr>
              <a:t>to</a:t>
            </a:r>
            <a:r>
              <a:rPr sz="2400" spc="-15" dirty="0">
                <a:solidFill>
                  <a:srgbClr val="404040"/>
                </a:solidFill>
                <a:latin typeface="Calibri"/>
                <a:cs typeface="Calibri"/>
              </a:rPr>
              <a:t> </a:t>
            </a:r>
            <a:r>
              <a:rPr sz="2400" spc="-10" dirty="0">
                <a:solidFill>
                  <a:srgbClr val="404040"/>
                </a:solidFill>
                <a:latin typeface="Calibri"/>
                <a:cs typeface="Calibri"/>
              </a:rPr>
              <a:t>run</a:t>
            </a:r>
            <a:r>
              <a:rPr sz="2400" spc="-5" dirty="0">
                <a:solidFill>
                  <a:srgbClr val="404040"/>
                </a:solidFill>
                <a:latin typeface="Calibri"/>
                <a:cs typeface="Calibri"/>
              </a:rPr>
              <a:t> </a:t>
            </a:r>
            <a:r>
              <a:rPr sz="2400" spc="-20" dirty="0">
                <a:solidFill>
                  <a:srgbClr val="404040"/>
                </a:solidFill>
                <a:latin typeface="Calibri"/>
                <a:cs typeface="Calibri"/>
              </a:rPr>
              <a:t>applications</a:t>
            </a:r>
            <a:r>
              <a:rPr sz="2400" spc="-15" dirty="0">
                <a:solidFill>
                  <a:srgbClr val="404040"/>
                </a:solidFill>
                <a:latin typeface="Calibri"/>
                <a:cs typeface="Calibri"/>
              </a:rPr>
              <a:t> </a:t>
            </a:r>
            <a:r>
              <a:rPr sz="2400" spc="-35" dirty="0">
                <a:solidFill>
                  <a:srgbClr val="404040"/>
                </a:solidFill>
                <a:latin typeface="Calibri"/>
                <a:cs typeface="Calibri"/>
              </a:rPr>
              <a:t>for</a:t>
            </a:r>
            <a:r>
              <a:rPr sz="2400" spc="-30" dirty="0">
                <a:solidFill>
                  <a:srgbClr val="404040"/>
                </a:solidFill>
                <a:latin typeface="Calibri"/>
                <a:cs typeface="Calibri"/>
              </a:rPr>
              <a:t> </a:t>
            </a:r>
            <a:r>
              <a:rPr sz="2400" spc="-15" dirty="0">
                <a:solidFill>
                  <a:srgbClr val="404040"/>
                </a:solidFill>
                <a:latin typeface="Calibri"/>
                <a:cs typeface="Calibri"/>
              </a:rPr>
              <a:t>which</a:t>
            </a:r>
            <a:r>
              <a:rPr sz="2400" spc="-10"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40" dirty="0">
                <a:solidFill>
                  <a:srgbClr val="404040"/>
                </a:solidFill>
                <a:latin typeface="Calibri"/>
                <a:cs typeface="Calibri"/>
              </a:rPr>
              <a:t>system</a:t>
            </a:r>
            <a:r>
              <a:rPr sz="2400" spc="-35" dirty="0">
                <a:solidFill>
                  <a:srgbClr val="404040"/>
                </a:solidFill>
                <a:latin typeface="Calibri"/>
                <a:cs typeface="Calibri"/>
              </a:rPr>
              <a:t> </a:t>
            </a:r>
            <a:r>
              <a:rPr sz="2400" spc="-15" dirty="0">
                <a:solidFill>
                  <a:srgbClr val="404040"/>
                </a:solidFill>
                <a:latin typeface="Calibri"/>
                <a:cs typeface="Calibri"/>
              </a:rPr>
              <a:t>is </a:t>
            </a:r>
            <a:r>
              <a:rPr sz="2400" spc="-10" dirty="0">
                <a:solidFill>
                  <a:srgbClr val="404040"/>
                </a:solidFill>
                <a:latin typeface="Calibri"/>
                <a:cs typeface="Calibri"/>
              </a:rPr>
              <a:t> </a:t>
            </a:r>
            <a:r>
              <a:rPr sz="2400" spc="-15" dirty="0">
                <a:solidFill>
                  <a:srgbClr val="404040"/>
                </a:solidFill>
                <a:latin typeface="Calibri"/>
                <a:cs typeface="Calibri"/>
              </a:rPr>
              <a:t>designed</a:t>
            </a:r>
            <a:r>
              <a:rPr sz="2400" spc="-65" dirty="0">
                <a:solidFill>
                  <a:srgbClr val="404040"/>
                </a:solidFill>
                <a:latin typeface="Calibri"/>
                <a:cs typeface="Calibri"/>
              </a:rPr>
              <a:t> </a:t>
            </a:r>
            <a:r>
              <a:rPr sz="2400" spc="-85" dirty="0">
                <a:solidFill>
                  <a:srgbClr val="404040"/>
                </a:solidFill>
                <a:latin typeface="Calibri"/>
                <a:cs typeface="Calibri"/>
              </a:rPr>
              <a:t>for.</a:t>
            </a:r>
            <a:endParaRPr sz="2400">
              <a:latin typeface="Calibri"/>
              <a:cs typeface="Calibri"/>
            </a:endParaRPr>
          </a:p>
          <a:p>
            <a:pPr marL="255270" indent="-243204" algn="just">
              <a:lnSpc>
                <a:spcPct val="100000"/>
              </a:lnSpc>
              <a:spcBef>
                <a:spcPts val="1075"/>
              </a:spcBef>
              <a:buClr>
                <a:srgbClr val="E38312"/>
              </a:buClr>
              <a:buSzPct val="95833"/>
              <a:buFont typeface="Wingdings"/>
              <a:buChar char=""/>
              <a:tabLst>
                <a:tab pos="255904" algn="l"/>
              </a:tabLst>
            </a:pPr>
            <a:r>
              <a:rPr sz="2400" spc="-20" dirty="0">
                <a:solidFill>
                  <a:srgbClr val="404040"/>
                </a:solidFill>
                <a:latin typeface="Calibri"/>
                <a:cs typeface="Calibri"/>
              </a:rPr>
              <a:t>There</a:t>
            </a:r>
            <a:r>
              <a:rPr sz="2400" spc="-25" dirty="0">
                <a:solidFill>
                  <a:srgbClr val="404040"/>
                </a:solidFill>
                <a:latin typeface="Calibri"/>
                <a:cs typeface="Calibri"/>
              </a:rPr>
              <a:t> </a:t>
            </a:r>
            <a:r>
              <a:rPr sz="2400" spc="-10" dirty="0">
                <a:solidFill>
                  <a:srgbClr val="404040"/>
                </a:solidFill>
                <a:latin typeface="Calibri"/>
                <a:cs typeface="Calibri"/>
              </a:rPr>
              <a:t>is</a:t>
            </a:r>
            <a:r>
              <a:rPr sz="2400" spc="-45" dirty="0">
                <a:solidFill>
                  <a:srgbClr val="404040"/>
                </a:solidFill>
                <a:latin typeface="Calibri"/>
                <a:cs typeface="Calibri"/>
              </a:rPr>
              <a:t> </a:t>
            </a:r>
            <a:r>
              <a:rPr sz="2400" dirty="0">
                <a:solidFill>
                  <a:srgbClr val="404040"/>
                </a:solidFill>
                <a:latin typeface="Calibri"/>
                <a:cs typeface="Calibri"/>
              </a:rPr>
              <a:t>a</a:t>
            </a:r>
            <a:r>
              <a:rPr sz="2400" spc="-35" dirty="0">
                <a:solidFill>
                  <a:srgbClr val="404040"/>
                </a:solidFill>
                <a:latin typeface="Calibri"/>
                <a:cs typeface="Calibri"/>
              </a:rPr>
              <a:t> </a:t>
            </a:r>
            <a:r>
              <a:rPr sz="2400" spc="-15" dirty="0">
                <a:solidFill>
                  <a:srgbClr val="404040"/>
                </a:solidFill>
                <a:latin typeface="Calibri"/>
                <a:cs typeface="Calibri"/>
              </a:rPr>
              <a:t>TDP</a:t>
            </a:r>
            <a:r>
              <a:rPr sz="2400" spc="-20" dirty="0">
                <a:solidFill>
                  <a:srgbClr val="404040"/>
                </a:solidFill>
                <a:latin typeface="Calibri"/>
                <a:cs typeface="Calibri"/>
              </a:rPr>
              <a:t> value</a:t>
            </a:r>
            <a:r>
              <a:rPr sz="2400" spc="5" dirty="0">
                <a:solidFill>
                  <a:srgbClr val="404040"/>
                </a:solidFill>
                <a:latin typeface="Calibri"/>
                <a:cs typeface="Calibri"/>
              </a:rPr>
              <a:t> </a:t>
            </a:r>
            <a:r>
              <a:rPr sz="2400" spc="-30" dirty="0">
                <a:solidFill>
                  <a:srgbClr val="404040"/>
                </a:solidFill>
                <a:latin typeface="Calibri"/>
                <a:cs typeface="Calibri"/>
              </a:rPr>
              <a:t>for</a:t>
            </a:r>
            <a:r>
              <a:rPr sz="2400" spc="-20" dirty="0">
                <a:solidFill>
                  <a:srgbClr val="404040"/>
                </a:solidFill>
                <a:latin typeface="Calibri"/>
                <a:cs typeface="Calibri"/>
              </a:rPr>
              <a:t> </a:t>
            </a:r>
            <a:r>
              <a:rPr sz="2400" dirty="0">
                <a:solidFill>
                  <a:srgbClr val="404040"/>
                </a:solidFill>
                <a:latin typeface="Calibri"/>
                <a:cs typeface="Calibri"/>
              </a:rPr>
              <a:t>a</a:t>
            </a:r>
            <a:r>
              <a:rPr sz="2400" spc="-25" dirty="0">
                <a:solidFill>
                  <a:srgbClr val="404040"/>
                </a:solidFill>
                <a:latin typeface="Calibri"/>
                <a:cs typeface="Calibri"/>
              </a:rPr>
              <a:t> </a:t>
            </a:r>
            <a:r>
              <a:rPr sz="2400" spc="-40" dirty="0">
                <a:solidFill>
                  <a:srgbClr val="404040"/>
                </a:solidFill>
                <a:latin typeface="Calibri"/>
                <a:cs typeface="Calibri"/>
              </a:rPr>
              <a:t>processor,</a:t>
            </a:r>
            <a:r>
              <a:rPr sz="2400" spc="-10" dirty="0">
                <a:solidFill>
                  <a:srgbClr val="404040"/>
                </a:solidFill>
                <a:latin typeface="Calibri"/>
                <a:cs typeface="Calibri"/>
              </a:rPr>
              <a:t> </a:t>
            </a:r>
            <a:r>
              <a:rPr sz="2400" spc="-5" dirty="0">
                <a:solidFill>
                  <a:srgbClr val="404040"/>
                </a:solidFill>
                <a:latin typeface="Calibri"/>
                <a:cs typeface="Calibri"/>
              </a:rPr>
              <a:t>as</a:t>
            </a:r>
            <a:r>
              <a:rPr sz="2400" spc="-30" dirty="0">
                <a:solidFill>
                  <a:srgbClr val="404040"/>
                </a:solidFill>
                <a:latin typeface="Calibri"/>
                <a:cs typeface="Calibri"/>
              </a:rPr>
              <a:t> </a:t>
            </a:r>
            <a:r>
              <a:rPr sz="2400" spc="-15" dirty="0">
                <a:solidFill>
                  <a:srgbClr val="404040"/>
                </a:solidFill>
                <a:latin typeface="Calibri"/>
                <a:cs typeface="Calibri"/>
              </a:rPr>
              <a:t>well </a:t>
            </a:r>
            <a:r>
              <a:rPr sz="2400" spc="-5" dirty="0">
                <a:solidFill>
                  <a:srgbClr val="404040"/>
                </a:solidFill>
                <a:latin typeface="Calibri"/>
                <a:cs typeface="Calibri"/>
              </a:rPr>
              <a:t>as</a:t>
            </a:r>
            <a:r>
              <a:rPr sz="2400" spc="-25" dirty="0">
                <a:solidFill>
                  <a:srgbClr val="404040"/>
                </a:solidFill>
                <a:latin typeface="Calibri"/>
                <a:cs typeface="Calibri"/>
              </a:rPr>
              <a:t> </a:t>
            </a:r>
            <a:r>
              <a:rPr sz="2400" spc="-15" dirty="0">
                <a:solidFill>
                  <a:srgbClr val="404040"/>
                </a:solidFill>
                <a:latin typeface="Calibri"/>
                <a:cs typeface="Calibri"/>
              </a:rPr>
              <a:t>TDP</a:t>
            </a:r>
            <a:r>
              <a:rPr sz="2400" spc="-20" dirty="0">
                <a:solidFill>
                  <a:srgbClr val="404040"/>
                </a:solidFill>
                <a:latin typeface="Calibri"/>
                <a:cs typeface="Calibri"/>
              </a:rPr>
              <a:t> values</a:t>
            </a:r>
            <a:r>
              <a:rPr sz="2400" spc="-5" dirty="0">
                <a:solidFill>
                  <a:srgbClr val="404040"/>
                </a:solidFill>
                <a:latin typeface="Calibri"/>
                <a:cs typeface="Calibri"/>
              </a:rPr>
              <a:t> </a:t>
            </a:r>
            <a:r>
              <a:rPr sz="2400" spc="-30" dirty="0">
                <a:solidFill>
                  <a:srgbClr val="404040"/>
                </a:solidFill>
                <a:latin typeface="Calibri"/>
                <a:cs typeface="Calibri"/>
              </a:rPr>
              <a:t>for</a:t>
            </a:r>
            <a:r>
              <a:rPr sz="2400" spc="-15" dirty="0">
                <a:solidFill>
                  <a:srgbClr val="404040"/>
                </a:solidFill>
                <a:latin typeface="Calibri"/>
                <a:cs typeface="Calibri"/>
              </a:rPr>
              <a:t> </a:t>
            </a:r>
            <a:r>
              <a:rPr sz="2400" spc="-30" dirty="0">
                <a:solidFill>
                  <a:srgbClr val="404040"/>
                </a:solidFill>
                <a:latin typeface="Calibri"/>
                <a:cs typeface="Calibri"/>
              </a:rPr>
              <a:t>systems.</a:t>
            </a:r>
            <a:endParaRPr sz="240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401738"/>
            <a:ext cx="10324196" cy="1335622"/>
          </a:xfrm>
          <a:prstGeom prst="rect">
            <a:avLst/>
          </a:prstGeom>
        </p:spPr>
        <p:txBody>
          <a:bodyPr vert="horz" wrap="square" lIns="0" tIns="12065" rIns="0" bIns="0" rtlCol="0">
            <a:spAutoFit/>
          </a:bodyPr>
          <a:lstStyle/>
          <a:p>
            <a:pPr marL="12700">
              <a:lnSpc>
                <a:spcPct val="100000"/>
              </a:lnSpc>
              <a:spcBef>
                <a:spcPts val="95"/>
              </a:spcBef>
            </a:pPr>
            <a:r>
              <a:rPr sz="4300" b="0" spc="-155" dirty="0">
                <a:solidFill>
                  <a:srgbClr val="404040"/>
                </a:solidFill>
                <a:latin typeface="Calibri Light"/>
                <a:cs typeface="Calibri Light"/>
              </a:rPr>
              <a:t>W</a:t>
            </a:r>
            <a:r>
              <a:rPr sz="4300" b="0" spc="-150" dirty="0">
                <a:solidFill>
                  <a:srgbClr val="404040"/>
                </a:solidFill>
                <a:latin typeface="Calibri Light"/>
                <a:cs typeface="Calibri Light"/>
              </a:rPr>
              <a:t>h</a:t>
            </a:r>
            <a:r>
              <a:rPr sz="4300" b="0" spc="-180" dirty="0">
                <a:solidFill>
                  <a:srgbClr val="404040"/>
                </a:solidFill>
                <a:latin typeface="Calibri Light"/>
                <a:cs typeface="Calibri Light"/>
              </a:rPr>
              <a:t>a</a:t>
            </a:r>
            <a:r>
              <a:rPr sz="4300" b="0" spc="-5" dirty="0">
                <a:solidFill>
                  <a:srgbClr val="404040"/>
                </a:solidFill>
                <a:latin typeface="Calibri Light"/>
                <a:cs typeface="Calibri Light"/>
              </a:rPr>
              <a:t>t</a:t>
            </a:r>
            <a:r>
              <a:rPr sz="4300" b="0" spc="-285" dirty="0">
                <a:solidFill>
                  <a:srgbClr val="404040"/>
                </a:solidFill>
                <a:latin typeface="Calibri Light"/>
                <a:cs typeface="Calibri Light"/>
              </a:rPr>
              <a:t> </a:t>
            </a:r>
            <a:r>
              <a:rPr sz="4300" b="0" spc="-150" dirty="0">
                <a:solidFill>
                  <a:srgbClr val="404040"/>
                </a:solidFill>
                <a:latin typeface="Calibri Light"/>
                <a:cs typeface="Calibri Light"/>
              </a:rPr>
              <a:t>i</a:t>
            </a:r>
            <a:r>
              <a:rPr sz="4300" b="0" spc="-5" dirty="0">
                <a:solidFill>
                  <a:srgbClr val="404040"/>
                </a:solidFill>
                <a:latin typeface="Calibri Light"/>
                <a:cs typeface="Calibri Light"/>
              </a:rPr>
              <a:t>s</a:t>
            </a:r>
            <a:r>
              <a:rPr sz="4300" b="0" spc="-285" dirty="0">
                <a:solidFill>
                  <a:srgbClr val="404040"/>
                </a:solidFill>
                <a:latin typeface="Calibri Light"/>
                <a:cs typeface="Calibri Light"/>
              </a:rPr>
              <a:t> </a:t>
            </a:r>
            <a:r>
              <a:rPr sz="4300" b="0" spc="-150" dirty="0">
                <a:solidFill>
                  <a:srgbClr val="404040"/>
                </a:solidFill>
                <a:latin typeface="Calibri Light"/>
                <a:cs typeface="Calibri Light"/>
              </a:rPr>
              <a:t>th</a:t>
            </a:r>
            <a:r>
              <a:rPr sz="4300" b="0" spc="-5" dirty="0">
                <a:solidFill>
                  <a:srgbClr val="404040"/>
                </a:solidFill>
                <a:latin typeface="Calibri Light"/>
                <a:cs typeface="Calibri Light"/>
              </a:rPr>
              <a:t>e</a:t>
            </a:r>
            <a:r>
              <a:rPr sz="4300" b="0" spc="-285" dirty="0">
                <a:solidFill>
                  <a:srgbClr val="404040"/>
                </a:solidFill>
                <a:latin typeface="Calibri Light"/>
                <a:cs typeface="Calibri Light"/>
              </a:rPr>
              <a:t> </a:t>
            </a:r>
            <a:r>
              <a:rPr sz="4300" b="0" spc="-155" dirty="0" smtClean="0">
                <a:solidFill>
                  <a:srgbClr val="404040"/>
                </a:solidFill>
                <a:latin typeface="Calibri Light"/>
                <a:cs typeface="Calibri Light"/>
              </a:rPr>
              <a:t>T</a:t>
            </a:r>
            <a:r>
              <a:rPr lang="en-US" sz="4300" b="0" spc="-155" dirty="0" smtClean="0">
                <a:solidFill>
                  <a:srgbClr val="404040"/>
                </a:solidFill>
                <a:latin typeface="Calibri Light"/>
                <a:cs typeface="Calibri Light"/>
              </a:rPr>
              <a:t>hermal </a:t>
            </a:r>
            <a:r>
              <a:rPr sz="4300" b="0" spc="-160" dirty="0" smtClean="0">
                <a:solidFill>
                  <a:srgbClr val="404040"/>
                </a:solidFill>
                <a:latin typeface="Calibri Light"/>
                <a:cs typeface="Calibri Light"/>
              </a:rPr>
              <a:t>D</a:t>
            </a:r>
            <a:r>
              <a:rPr lang="en-US" sz="4300" b="0" spc="-160" dirty="0" smtClean="0">
                <a:solidFill>
                  <a:srgbClr val="404040"/>
                </a:solidFill>
                <a:latin typeface="Calibri Light"/>
                <a:cs typeface="Calibri Light"/>
              </a:rPr>
              <a:t>esign </a:t>
            </a:r>
            <a:r>
              <a:rPr sz="4300" b="0" spc="-5" dirty="0" smtClean="0">
                <a:solidFill>
                  <a:srgbClr val="404040"/>
                </a:solidFill>
                <a:latin typeface="Calibri Light"/>
                <a:cs typeface="Calibri Light"/>
              </a:rPr>
              <a:t>P</a:t>
            </a:r>
            <a:r>
              <a:rPr lang="en-US" sz="4300" b="0" spc="-5" dirty="0" smtClean="0">
                <a:solidFill>
                  <a:srgbClr val="404040"/>
                </a:solidFill>
                <a:latin typeface="Calibri Light"/>
                <a:cs typeface="Calibri Light"/>
              </a:rPr>
              <a:t>ower</a:t>
            </a:r>
            <a:r>
              <a:rPr sz="4300" b="0" spc="-275" dirty="0" smtClean="0">
                <a:solidFill>
                  <a:srgbClr val="404040"/>
                </a:solidFill>
                <a:latin typeface="Calibri Light"/>
                <a:cs typeface="Calibri Light"/>
              </a:rPr>
              <a:t> </a:t>
            </a:r>
            <a:r>
              <a:rPr sz="4300" b="0" spc="-305" dirty="0" smtClean="0">
                <a:solidFill>
                  <a:srgbClr val="404040"/>
                </a:solidFill>
                <a:latin typeface="Calibri Light"/>
                <a:cs typeface="Calibri Light"/>
              </a:rPr>
              <a:t> </a:t>
            </a:r>
            <a:r>
              <a:rPr sz="4300" b="0" spc="-245" dirty="0">
                <a:solidFill>
                  <a:srgbClr val="404040"/>
                </a:solidFill>
                <a:latin typeface="Calibri Light"/>
                <a:cs typeface="Calibri Light"/>
              </a:rPr>
              <a:t>s</a:t>
            </a:r>
            <a:r>
              <a:rPr sz="4300" b="0" spc="-200" dirty="0">
                <a:solidFill>
                  <a:srgbClr val="404040"/>
                </a:solidFill>
                <a:latin typeface="Calibri Light"/>
                <a:cs typeface="Calibri Light"/>
              </a:rPr>
              <a:t>y</a:t>
            </a:r>
            <a:r>
              <a:rPr sz="4300" b="0" spc="-204" dirty="0">
                <a:solidFill>
                  <a:srgbClr val="404040"/>
                </a:solidFill>
                <a:latin typeface="Calibri Light"/>
                <a:cs typeface="Calibri Light"/>
              </a:rPr>
              <a:t>s</a:t>
            </a:r>
            <a:r>
              <a:rPr sz="4300" b="0" spc="-180" dirty="0">
                <a:solidFill>
                  <a:srgbClr val="404040"/>
                </a:solidFill>
                <a:latin typeface="Calibri Light"/>
                <a:cs typeface="Calibri Light"/>
              </a:rPr>
              <a:t>t</a:t>
            </a:r>
            <a:r>
              <a:rPr sz="4300" b="0" spc="-150" dirty="0">
                <a:solidFill>
                  <a:srgbClr val="404040"/>
                </a:solidFill>
                <a:latin typeface="Calibri Light"/>
                <a:cs typeface="Calibri Light"/>
              </a:rPr>
              <a:t>e</a:t>
            </a:r>
            <a:r>
              <a:rPr sz="4300" b="0" spc="-155" dirty="0">
                <a:solidFill>
                  <a:srgbClr val="404040"/>
                </a:solidFill>
                <a:latin typeface="Calibri Light"/>
                <a:cs typeface="Calibri Light"/>
              </a:rPr>
              <a:t>m</a:t>
            </a:r>
            <a:r>
              <a:rPr sz="4300" b="0" spc="-5" dirty="0">
                <a:solidFill>
                  <a:srgbClr val="404040"/>
                </a:solidFill>
                <a:latin typeface="Calibri Light"/>
                <a:cs typeface="Calibri Light"/>
              </a:rPr>
              <a:t>s</a:t>
            </a:r>
            <a:r>
              <a:rPr sz="4300" b="0" spc="-285" dirty="0">
                <a:solidFill>
                  <a:srgbClr val="404040"/>
                </a:solidFill>
                <a:latin typeface="Calibri Light"/>
                <a:cs typeface="Calibri Light"/>
              </a:rPr>
              <a:t> </a:t>
            </a:r>
            <a:r>
              <a:rPr sz="4300" b="0" spc="-190" dirty="0">
                <a:solidFill>
                  <a:srgbClr val="404040"/>
                </a:solidFill>
                <a:latin typeface="Calibri Light"/>
                <a:cs typeface="Calibri Light"/>
              </a:rPr>
              <a:t>w</a:t>
            </a:r>
            <a:r>
              <a:rPr sz="4300" b="0" spc="-5" dirty="0">
                <a:solidFill>
                  <a:srgbClr val="404040"/>
                </a:solidFill>
                <a:latin typeface="Calibri Light"/>
                <a:cs typeface="Calibri Light"/>
              </a:rPr>
              <a:t>e</a:t>
            </a:r>
            <a:r>
              <a:rPr sz="4300" b="0" spc="-300" dirty="0">
                <a:solidFill>
                  <a:srgbClr val="404040"/>
                </a:solidFill>
                <a:latin typeface="Calibri Light"/>
                <a:cs typeface="Calibri Light"/>
              </a:rPr>
              <a:t> </a:t>
            </a:r>
            <a:r>
              <a:rPr sz="4300" b="0" spc="-155" dirty="0">
                <a:solidFill>
                  <a:srgbClr val="404040"/>
                </a:solidFill>
                <a:latin typeface="Calibri Light"/>
                <a:cs typeface="Calibri Light"/>
              </a:rPr>
              <a:t>s</a:t>
            </a:r>
            <a:r>
              <a:rPr sz="4300" b="0" spc="-150" dirty="0">
                <a:solidFill>
                  <a:srgbClr val="404040"/>
                </a:solidFill>
                <a:latin typeface="Calibri Light"/>
                <a:cs typeface="Calibri Light"/>
              </a:rPr>
              <a:t>e</a:t>
            </a:r>
            <a:r>
              <a:rPr sz="4300" b="0" spc="-5" dirty="0">
                <a:solidFill>
                  <a:srgbClr val="404040"/>
                </a:solidFill>
                <a:latin typeface="Calibri Light"/>
                <a:cs typeface="Calibri Light"/>
              </a:rPr>
              <a:t>e</a:t>
            </a:r>
            <a:r>
              <a:rPr sz="4300" b="0" spc="-280" dirty="0">
                <a:solidFill>
                  <a:srgbClr val="404040"/>
                </a:solidFill>
                <a:latin typeface="Calibri Light"/>
                <a:cs typeface="Calibri Light"/>
              </a:rPr>
              <a:t> </a:t>
            </a:r>
            <a:r>
              <a:rPr sz="4300" b="0" spc="-150" dirty="0">
                <a:solidFill>
                  <a:srgbClr val="404040"/>
                </a:solidFill>
                <a:latin typeface="Calibri Light"/>
                <a:cs typeface="Calibri Light"/>
              </a:rPr>
              <a:t>a</a:t>
            </a:r>
            <a:r>
              <a:rPr sz="4300" b="0" spc="-245" dirty="0">
                <a:solidFill>
                  <a:srgbClr val="404040"/>
                </a:solidFill>
                <a:latin typeface="Calibri Light"/>
                <a:cs typeface="Calibri Light"/>
              </a:rPr>
              <a:t>r</a:t>
            </a:r>
            <a:r>
              <a:rPr sz="4300" b="0" spc="-145" dirty="0">
                <a:solidFill>
                  <a:srgbClr val="404040"/>
                </a:solidFill>
                <a:latin typeface="Calibri Light"/>
                <a:cs typeface="Calibri Light"/>
              </a:rPr>
              <a:t>o</a:t>
            </a:r>
            <a:r>
              <a:rPr sz="4300" b="0" spc="-150" dirty="0">
                <a:solidFill>
                  <a:srgbClr val="404040"/>
                </a:solidFill>
                <a:latin typeface="Calibri Light"/>
                <a:cs typeface="Calibri Light"/>
              </a:rPr>
              <a:t>un</a:t>
            </a:r>
            <a:r>
              <a:rPr sz="4300" b="0" spc="-5" dirty="0">
                <a:solidFill>
                  <a:srgbClr val="404040"/>
                </a:solidFill>
                <a:latin typeface="Calibri Light"/>
                <a:cs typeface="Calibri Light"/>
              </a:rPr>
              <a:t>d</a:t>
            </a:r>
            <a:r>
              <a:rPr sz="4300" b="0" spc="-280" dirty="0">
                <a:solidFill>
                  <a:srgbClr val="404040"/>
                </a:solidFill>
                <a:latin typeface="Calibri Light"/>
                <a:cs typeface="Calibri Light"/>
              </a:rPr>
              <a:t> </a:t>
            </a:r>
            <a:r>
              <a:rPr sz="4300" b="0" spc="-150" dirty="0">
                <a:solidFill>
                  <a:srgbClr val="404040"/>
                </a:solidFill>
                <a:latin typeface="Calibri Light"/>
                <a:cs typeface="Calibri Light"/>
              </a:rPr>
              <a:t>u</a:t>
            </a:r>
            <a:r>
              <a:rPr sz="4300" b="0" spc="-155" dirty="0">
                <a:solidFill>
                  <a:srgbClr val="404040"/>
                </a:solidFill>
                <a:latin typeface="Calibri Light"/>
                <a:cs typeface="Calibri Light"/>
              </a:rPr>
              <a:t>s</a:t>
            </a:r>
            <a:r>
              <a:rPr sz="4300" b="0" spc="-5" dirty="0">
                <a:solidFill>
                  <a:srgbClr val="404040"/>
                </a:solidFill>
                <a:latin typeface="Calibri Light"/>
                <a:cs typeface="Calibri Light"/>
              </a:rPr>
              <a:t>?</a:t>
            </a:r>
            <a:endParaRPr sz="4300" dirty="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30</a:t>
            </a:r>
            <a:endParaRPr sz="1050">
              <a:latin typeface="Calibri"/>
              <a:cs typeface="Calibri"/>
            </a:endParaRPr>
          </a:p>
        </p:txBody>
      </p:sp>
      <p:sp>
        <p:nvSpPr>
          <p:cNvPr id="10" name="object 10"/>
          <p:cNvSpPr txBox="1"/>
          <p:nvPr/>
        </p:nvSpPr>
        <p:spPr>
          <a:xfrm>
            <a:off x="1084580" y="1555140"/>
            <a:ext cx="10594802" cy="5446106"/>
          </a:xfrm>
          <a:prstGeom prst="rect">
            <a:avLst/>
          </a:prstGeom>
        </p:spPr>
        <p:txBody>
          <a:bodyPr vert="horz" wrap="square" lIns="0" tIns="198120" rIns="0" bIns="0" rtlCol="0">
            <a:spAutoFit/>
          </a:bodyPr>
          <a:lstStyle/>
          <a:p>
            <a:pPr marL="234950" indent="-222885">
              <a:lnSpc>
                <a:spcPct val="100000"/>
              </a:lnSpc>
              <a:spcBef>
                <a:spcPts val="1560"/>
              </a:spcBef>
              <a:buClr>
                <a:srgbClr val="E38312"/>
              </a:buClr>
              <a:buSzPct val="95454"/>
              <a:buFont typeface="Wingdings"/>
              <a:buChar char=""/>
              <a:tabLst>
                <a:tab pos="235585" algn="l"/>
              </a:tabLst>
            </a:pPr>
            <a:r>
              <a:rPr sz="2200" spc="-5" dirty="0">
                <a:solidFill>
                  <a:srgbClr val="404040"/>
                </a:solidFill>
                <a:latin typeface="Calibri"/>
                <a:cs typeface="Calibri"/>
              </a:rPr>
              <a:t>A</a:t>
            </a:r>
            <a:r>
              <a:rPr sz="2200" spc="-10" dirty="0">
                <a:solidFill>
                  <a:srgbClr val="404040"/>
                </a:solidFill>
                <a:latin typeface="Calibri"/>
                <a:cs typeface="Calibri"/>
              </a:rPr>
              <a:t> </a:t>
            </a:r>
            <a:r>
              <a:rPr sz="2200" spc="-5" dirty="0">
                <a:solidFill>
                  <a:srgbClr val="404040"/>
                </a:solidFill>
                <a:latin typeface="Calibri"/>
                <a:cs typeface="Calibri"/>
              </a:rPr>
              <a:t>smart</a:t>
            </a:r>
            <a:r>
              <a:rPr sz="2200" spc="-30" dirty="0">
                <a:solidFill>
                  <a:srgbClr val="404040"/>
                </a:solidFill>
                <a:latin typeface="Calibri"/>
                <a:cs typeface="Calibri"/>
              </a:rPr>
              <a:t> </a:t>
            </a:r>
            <a:r>
              <a:rPr sz="2200" spc="-10" dirty="0">
                <a:solidFill>
                  <a:srgbClr val="404040"/>
                </a:solidFill>
                <a:latin typeface="Calibri"/>
                <a:cs typeface="Calibri"/>
              </a:rPr>
              <a:t>phone</a:t>
            </a:r>
            <a:r>
              <a:rPr sz="2200" spc="-15" dirty="0">
                <a:solidFill>
                  <a:srgbClr val="404040"/>
                </a:solidFill>
                <a:latin typeface="Calibri"/>
                <a:cs typeface="Calibri"/>
              </a:rPr>
              <a:t> </a:t>
            </a:r>
            <a:r>
              <a:rPr sz="2200" spc="-10" dirty="0">
                <a:solidFill>
                  <a:srgbClr val="404040"/>
                </a:solidFill>
                <a:latin typeface="Calibri"/>
                <a:cs typeface="Calibri"/>
              </a:rPr>
              <a:t>has</a:t>
            </a:r>
            <a:r>
              <a:rPr sz="2200" spc="-25" dirty="0">
                <a:solidFill>
                  <a:srgbClr val="404040"/>
                </a:solidFill>
                <a:latin typeface="Calibri"/>
                <a:cs typeface="Calibri"/>
              </a:rPr>
              <a:t> </a:t>
            </a:r>
            <a:r>
              <a:rPr sz="2200" spc="-5" dirty="0">
                <a:solidFill>
                  <a:srgbClr val="404040"/>
                </a:solidFill>
                <a:latin typeface="Calibri"/>
                <a:cs typeface="Calibri"/>
              </a:rPr>
              <a:t>a</a:t>
            </a:r>
            <a:r>
              <a:rPr sz="2200" spc="-15" dirty="0">
                <a:solidFill>
                  <a:srgbClr val="404040"/>
                </a:solidFill>
                <a:latin typeface="Calibri"/>
                <a:cs typeface="Calibri"/>
              </a:rPr>
              <a:t> </a:t>
            </a:r>
            <a:r>
              <a:rPr sz="2200" spc="-10" dirty="0">
                <a:solidFill>
                  <a:srgbClr val="404040"/>
                </a:solidFill>
                <a:latin typeface="Calibri"/>
                <a:cs typeface="Calibri"/>
              </a:rPr>
              <a:t>typical</a:t>
            </a:r>
            <a:r>
              <a:rPr sz="2200" spc="-25" dirty="0">
                <a:solidFill>
                  <a:srgbClr val="404040"/>
                </a:solidFill>
                <a:latin typeface="Calibri"/>
                <a:cs typeface="Calibri"/>
              </a:rPr>
              <a:t> </a:t>
            </a:r>
            <a:r>
              <a:rPr sz="2200" spc="-10" dirty="0">
                <a:solidFill>
                  <a:srgbClr val="404040"/>
                </a:solidFill>
                <a:latin typeface="Calibri"/>
                <a:cs typeface="Calibri"/>
              </a:rPr>
              <a:t>value</a:t>
            </a:r>
            <a:r>
              <a:rPr sz="2200" spc="-45" dirty="0">
                <a:solidFill>
                  <a:srgbClr val="404040"/>
                </a:solidFill>
                <a:latin typeface="Calibri"/>
                <a:cs typeface="Calibri"/>
              </a:rPr>
              <a:t> </a:t>
            </a:r>
            <a:r>
              <a:rPr sz="2200" dirty="0">
                <a:solidFill>
                  <a:srgbClr val="404040"/>
                </a:solidFill>
                <a:latin typeface="Calibri"/>
                <a:cs typeface="Calibri"/>
              </a:rPr>
              <a:t>of</a:t>
            </a:r>
            <a:r>
              <a:rPr sz="2200" spc="-5" dirty="0">
                <a:solidFill>
                  <a:srgbClr val="404040"/>
                </a:solidFill>
                <a:latin typeface="Calibri"/>
                <a:cs typeface="Calibri"/>
              </a:rPr>
              <a:t> 4-5</a:t>
            </a:r>
            <a:r>
              <a:rPr sz="2200" spc="-25" dirty="0">
                <a:solidFill>
                  <a:srgbClr val="404040"/>
                </a:solidFill>
                <a:latin typeface="Calibri"/>
                <a:cs typeface="Calibri"/>
              </a:rPr>
              <a:t> </a:t>
            </a:r>
            <a:r>
              <a:rPr sz="2200" spc="-5" dirty="0">
                <a:solidFill>
                  <a:srgbClr val="404040"/>
                </a:solidFill>
                <a:latin typeface="Calibri"/>
                <a:cs typeface="Calibri"/>
              </a:rPr>
              <a:t>W</a:t>
            </a:r>
            <a:endParaRPr sz="2200" dirty="0">
              <a:latin typeface="Calibri"/>
              <a:cs typeface="Calibri"/>
            </a:endParaRPr>
          </a:p>
          <a:p>
            <a:pPr marL="234950" indent="-222885">
              <a:lnSpc>
                <a:spcPct val="100000"/>
              </a:lnSpc>
              <a:spcBef>
                <a:spcPts val="1465"/>
              </a:spcBef>
              <a:buClr>
                <a:srgbClr val="E38312"/>
              </a:buClr>
              <a:buSzPct val="95454"/>
              <a:buFont typeface="Wingdings"/>
              <a:buChar char=""/>
              <a:tabLst>
                <a:tab pos="235585" algn="l"/>
              </a:tabLst>
            </a:pPr>
            <a:r>
              <a:rPr sz="2200" spc="-5" dirty="0">
                <a:solidFill>
                  <a:srgbClr val="404040"/>
                </a:solidFill>
                <a:latin typeface="Calibri"/>
                <a:cs typeface="Calibri"/>
              </a:rPr>
              <a:t>A</a:t>
            </a:r>
            <a:r>
              <a:rPr sz="2200" spc="-15" dirty="0">
                <a:solidFill>
                  <a:srgbClr val="404040"/>
                </a:solidFill>
                <a:latin typeface="Calibri"/>
                <a:cs typeface="Calibri"/>
              </a:rPr>
              <a:t> </a:t>
            </a:r>
            <a:r>
              <a:rPr sz="2200" spc="-10" dirty="0">
                <a:solidFill>
                  <a:srgbClr val="404040"/>
                </a:solidFill>
                <a:latin typeface="Calibri"/>
                <a:cs typeface="Calibri"/>
              </a:rPr>
              <a:t>tablet</a:t>
            </a:r>
            <a:r>
              <a:rPr sz="2200" spc="-40" dirty="0">
                <a:solidFill>
                  <a:srgbClr val="404040"/>
                </a:solidFill>
                <a:latin typeface="Calibri"/>
                <a:cs typeface="Calibri"/>
              </a:rPr>
              <a:t> </a:t>
            </a:r>
            <a:r>
              <a:rPr sz="2200" spc="-15" dirty="0">
                <a:solidFill>
                  <a:srgbClr val="404040"/>
                </a:solidFill>
                <a:latin typeface="Calibri"/>
                <a:cs typeface="Calibri"/>
              </a:rPr>
              <a:t>may</a:t>
            </a:r>
            <a:r>
              <a:rPr sz="2200" spc="-20" dirty="0">
                <a:solidFill>
                  <a:srgbClr val="404040"/>
                </a:solidFill>
                <a:latin typeface="Calibri"/>
                <a:cs typeface="Calibri"/>
              </a:rPr>
              <a:t> have</a:t>
            </a:r>
            <a:r>
              <a:rPr sz="2200" spc="-25" dirty="0">
                <a:solidFill>
                  <a:srgbClr val="404040"/>
                </a:solidFill>
                <a:latin typeface="Calibri"/>
                <a:cs typeface="Calibri"/>
              </a:rPr>
              <a:t> </a:t>
            </a:r>
            <a:r>
              <a:rPr sz="2200" spc="-5" dirty="0">
                <a:solidFill>
                  <a:srgbClr val="404040"/>
                </a:solidFill>
                <a:latin typeface="Calibri"/>
                <a:cs typeface="Calibri"/>
              </a:rPr>
              <a:t>up</a:t>
            </a:r>
            <a:r>
              <a:rPr sz="2200" spc="-25" dirty="0">
                <a:solidFill>
                  <a:srgbClr val="404040"/>
                </a:solidFill>
                <a:latin typeface="Calibri"/>
                <a:cs typeface="Calibri"/>
              </a:rPr>
              <a:t> </a:t>
            </a:r>
            <a:r>
              <a:rPr sz="2200" spc="-20" dirty="0">
                <a:solidFill>
                  <a:srgbClr val="404040"/>
                </a:solidFill>
                <a:latin typeface="Calibri"/>
                <a:cs typeface="Calibri"/>
              </a:rPr>
              <a:t>to</a:t>
            </a:r>
            <a:r>
              <a:rPr sz="2200" spc="-5" dirty="0">
                <a:solidFill>
                  <a:srgbClr val="404040"/>
                </a:solidFill>
                <a:latin typeface="Calibri"/>
                <a:cs typeface="Calibri"/>
              </a:rPr>
              <a:t> </a:t>
            </a:r>
            <a:r>
              <a:rPr sz="2200" spc="-15" dirty="0">
                <a:solidFill>
                  <a:srgbClr val="404040"/>
                </a:solidFill>
                <a:latin typeface="Calibri"/>
                <a:cs typeface="Calibri"/>
              </a:rPr>
              <a:t>around</a:t>
            </a:r>
            <a:r>
              <a:rPr sz="2200" spc="-50" dirty="0">
                <a:solidFill>
                  <a:srgbClr val="404040"/>
                </a:solidFill>
                <a:latin typeface="Calibri"/>
                <a:cs typeface="Calibri"/>
              </a:rPr>
              <a:t> </a:t>
            </a:r>
            <a:r>
              <a:rPr sz="2200" spc="-5" dirty="0">
                <a:solidFill>
                  <a:srgbClr val="404040"/>
                </a:solidFill>
                <a:latin typeface="Calibri"/>
                <a:cs typeface="Calibri"/>
              </a:rPr>
              <a:t>12</a:t>
            </a:r>
            <a:r>
              <a:rPr sz="2200" spc="-25" dirty="0">
                <a:solidFill>
                  <a:srgbClr val="404040"/>
                </a:solidFill>
                <a:latin typeface="Calibri"/>
                <a:cs typeface="Calibri"/>
              </a:rPr>
              <a:t> </a:t>
            </a:r>
            <a:r>
              <a:rPr sz="2200" spc="-5" dirty="0">
                <a:solidFill>
                  <a:srgbClr val="404040"/>
                </a:solidFill>
                <a:latin typeface="Calibri"/>
                <a:cs typeface="Calibri"/>
              </a:rPr>
              <a:t>W</a:t>
            </a:r>
            <a:endParaRPr sz="2200" dirty="0">
              <a:latin typeface="Calibri"/>
              <a:cs typeface="Calibri"/>
            </a:endParaRPr>
          </a:p>
          <a:p>
            <a:pPr marL="234950" indent="-222885">
              <a:lnSpc>
                <a:spcPct val="100000"/>
              </a:lnSpc>
              <a:spcBef>
                <a:spcPts val="1465"/>
              </a:spcBef>
              <a:buClr>
                <a:srgbClr val="E38312"/>
              </a:buClr>
              <a:buSzPct val="95454"/>
              <a:buFont typeface="Wingdings"/>
              <a:buChar char=""/>
              <a:tabLst>
                <a:tab pos="235585" algn="l"/>
              </a:tabLst>
            </a:pPr>
            <a:r>
              <a:rPr sz="2200" spc="-10" dirty="0">
                <a:solidFill>
                  <a:srgbClr val="404040"/>
                </a:solidFill>
                <a:latin typeface="Calibri"/>
                <a:cs typeface="Calibri"/>
              </a:rPr>
              <a:t>Low</a:t>
            </a:r>
            <a:r>
              <a:rPr sz="2200" spc="-20" dirty="0">
                <a:solidFill>
                  <a:srgbClr val="404040"/>
                </a:solidFill>
                <a:latin typeface="Calibri"/>
                <a:cs typeface="Calibri"/>
              </a:rPr>
              <a:t> </a:t>
            </a:r>
            <a:r>
              <a:rPr sz="2200" spc="-15" dirty="0">
                <a:solidFill>
                  <a:srgbClr val="404040"/>
                </a:solidFill>
                <a:latin typeface="Calibri"/>
                <a:cs typeface="Calibri"/>
              </a:rPr>
              <a:t>power </a:t>
            </a:r>
            <a:r>
              <a:rPr sz="2200" spc="-10" dirty="0">
                <a:solidFill>
                  <a:srgbClr val="404040"/>
                </a:solidFill>
                <a:latin typeface="Calibri"/>
                <a:cs typeface="Calibri"/>
              </a:rPr>
              <a:t>embedded</a:t>
            </a:r>
            <a:r>
              <a:rPr sz="2200" spc="-5" dirty="0">
                <a:solidFill>
                  <a:srgbClr val="404040"/>
                </a:solidFill>
                <a:latin typeface="Calibri"/>
                <a:cs typeface="Calibri"/>
              </a:rPr>
              <a:t> </a:t>
            </a:r>
            <a:r>
              <a:rPr sz="2200" spc="-20" dirty="0">
                <a:solidFill>
                  <a:srgbClr val="404040"/>
                </a:solidFill>
                <a:latin typeface="Calibri"/>
                <a:cs typeface="Calibri"/>
              </a:rPr>
              <a:t>systems are </a:t>
            </a:r>
            <a:r>
              <a:rPr sz="2200" spc="-25" dirty="0">
                <a:solidFill>
                  <a:srgbClr val="404040"/>
                </a:solidFill>
                <a:latin typeface="Calibri"/>
                <a:cs typeface="Calibri"/>
              </a:rPr>
              <a:t>expected</a:t>
            </a:r>
            <a:r>
              <a:rPr sz="2200" spc="25" dirty="0">
                <a:solidFill>
                  <a:srgbClr val="404040"/>
                </a:solidFill>
                <a:latin typeface="Calibri"/>
                <a:cs typeface="Calibri"/>
              </a:rPr>
              <a:t> </a:t>
            </a:r>
            <a:r>
              <a:rPr sz="2200" spc="-25" dirty="0">
                <a:solidFill>
                  <a:srgbClr val="404040"/>
                </a:solidFill>
                <a:latin typeface="Calibri"/>
                <a:cs typeface="Calibri"/>
              </a:rPr>
              <a:t>to</a:t>
            </a:r>
            <a:r>
              <a:rPr sz="2200" dirty="0">
                <a:solidFill>
                  <a:srgbClr val="404040"/>
                </a:solidFill>
                <a:latin typeface="Calibri"/>
                <a:cs typeface="Calibri"/>
              </a:rPr>
              <a:t> </a:t>
            </a:r>
            <a:r>
              <a:rPr sz="2200" spc="-20" dirty="0">
                <a:solidFill>
                  <a:srgbClr val="404040"/>
                </a:solidFill>
                <a:latin typeface="Calibri"/>
                <a:cs typeface="Calibri"/>
              </a:rPr>
              <a:t>maintain</a:t>
            </a:r>
            <a:r>
              <a:rPr sz="2200" dirty="0">
                <a:solidFill>
                  <a:srgbClr val="404040"/>
                </a:solidFill>
                <a:latin typeface="Calibri"/>
                <a:cs typeface="Calibri"/>
              </a:rPr>
              <a:t> </a:t>
            </a:r>
            <a:r>
              <a:rPr sz="2200" spc="-5" dirty="0">
                <a:solidFill>
                  <a:srgbClr val="404040"/>
                </a:solidFill>
                <a:latin typeface="Calibri"/>
                <a:cs typeface="Calibri"/>
              </a:rPr>
              <a:t>a</a:t>
            </a:r>
            <a:r>
              <a:rPr sz="2200" spc="-30" dirty="0">
                <a:solidFill>
                  <a:srgbClr val="404040"/>
                </a:solidFill>
                <a:latin typeface="Calibri"/>
                <a:cs typeface="Calibri"/>
              </a:rPr>
              <a:t> </a:t>
            </a:r>
            <a:r>
              <a:rPr sz="2200" spc="-20" dirty="0">
                <a:solidFill>
                  <a:srgbClr val="404040"/>
                </a:solidFill>
                <a:latin typeface="Calibri"/>
                <a:cs typeface="Calibri"/>
              </a:rPr>
              <a:t>value</a:t>
            </a:r>
            <a:r>
              <a:rPr sz="2200" spc="-15" dirty="0">
                <a:solidFill>
                  <a:srgbClr val="404040"/>
                </a:solidFill>
                <a:latin typeface="Calibri"/>
                <a:cs typeface="Calibri"/>
              </a:rPr>
              <a:t> below</a:t>
            </a:r>
            <a:r>
              <a:rPr sz="2200" dirty="0">
                <a:solidFill>
                  <a:srgbClr val="404040"/>
                </a:solidFill>
                <a:latin typeface="Calibri"/>
                <a:cs typeface="Calibri"/>
              </a:rPr>
              <a:t> </a:t>
            </a:r>
            <a:r>
              <a:rPr sz="2200" spc="-5" dirty="0">
                <a:solidFill>
                  <a:srgbClr val="404040"/>
                </a:solidFill>
                <a:latin typeface="Calibri"/>
                <a:cs typeface="Calibri"/>
              </a:rPr>
              <a:t>4</a:t>
            </a:r>
            <a:r>
              <a:rPr sz="2200" spc="-15" dirty="0">
                <a:solidFill>
                  <a:srgbClr val="404040"/>
                </a:solidFill>
                <a:latin typeface="Calibri"/>
                <a:cs typeface="Calibri"/>
              </a:rPr>
              <a:t> </a:t>
            </a:r>
            <a:r>
              <a:rPr sz="2200" spc="-120" dirty="0" smtClean="0">
                <a:solidFill>
                  <a:srgbClr val="404040"/>
                </a:solidFill>
                <a:latin typeface="Calibri"/>
                <a:cs typeface="Calibri"/>
              </a:rPr>
              <a:t>W</a:t>
            </a:r>
            <a:r>
              <a:rPr lang="en-US" sz="2200" spc="-120" dirty="0" smtClean="0">
                <a:solidFill>
                  <a:srgbClr val="404040"/>
                </a:solidFill>
                <a:latin typeface="Calibri"/>
                <a:cs typeface="Calibri"/>
              </a:rPr>
              <a:t>(Hand held devices)</a:t>
            </a:r>
            <a:r>
              <a:rPr sz="2200" spc="-120" dirty="0" smtClean="0">
                <a:solidFill>
                  <a:srgbClr val="404040"/>
                </a:solidFill>
                <a:latin typeface="Calibri"/>
                <a:cs typeface="Calibri"/>
              </a:rPr>
              <a:t>.</a:t>
            </a:r>
            <a:endParaRPr sz="2200" dirty="0">
              <a:latin typeface="Calibri"/>
              <a:cs typeface="Calibri"/>
            </a:endParaRPr>
          </a:p>
          <a:p>
            <a:pPr marL="447040" lvl="1" indent="-343535" algn="just">
              <a:lnSpc>
                <a:spcPct val="100000"/>
              </a:lnSpc>
              <a:spcBef>
                <a:spcPts val="1465"/>
              </a:spcBef>
              <a:buClr>
                <a:srgbClr val="E38312"/>
              </a:buClr>
              <a:buFont typeface="Wingdings"/>
              <a:buChar char=""/>
              <a:tabLst>
                <a:tab pos="447675" algn="l"/>
              </a:tabLst>
            </a:pPr>
            <a:r>
              <a:rPr sz="2200" spc="-10" dirty="0">
                <a:solidFill>
                  <a:srgbClr val="404040"/>
                </a:solidFill>
                <a:latin typeface="Calibri"/>
                <a:cs typeface="Calibri"/>
              </a:rPr>
              <a:t>TDP</a:t>
            </a:r>
            <a:r>
              <a:rPr sz="2200" spc="-45" dirty="0">
                <a:solidFill>
                  <a:srgbClr val="404040"/>
                </a:solidFill>
                <a:latin typeface="Calibri"/>
                <a:cs typeface="Calibri"/>
              </a:rPr>
              <a:t> </a:t>
            </a:r>
            <a:r>
              <a:rPr sz="2200" spc="-30" dirty="0">
                <a:solidFill>
                  <a:srgbClr val="404040"/>
                </a:solidFill>
                <a:latin typeface="Calibri"/>
                <a:cs typeface="Calibri"/>
              </a:rPr>
              <a:t>rating</a:t>
            </a:r>
            <a:r>
              <a:rPr sz="2200" spc="-65" dirty="0">
                <a:solidFill>
                  <a:srgbClr val="404040"/>
                </a:solidFill>
                <a:latin typeface="Calibri"/>
                <a:cs typeface="Calibri"/>
              </a:rPr>
              <a:t> </a:t>
            </a:r>
            <a:r>
              <a:rPr sz="2200" spc="-10" dirty="0">
                <a:solidFill>
                  <a:srgbClr val="404040"/>
                </a:solidFill>
                <a:latin typeface="Calibri"/>
                <a:cs typeface="Calibri"/>
              </a:rPr>
              <a:t>is</a:t>
            </a:r>
            <a:r>
              <a:rPr sz="2200" spc="-35" dirty="0">
                <a:solidFill>
                  <a:srgbClr val="404040"/>
                </a:solidFill>
                <a:latin typeface="Calibri"/>
                <a:cs typeface="Calibri"/>
              </a:rPr>
              <a:t> </a:t>
            </a:r>
            <a:r>
              <a:rPr sz="2200" spc="-15" dirty="0">
                <a:solidFill>
                  <a:srgbClr val="404040"/>
                </a:solidFill>
                <a:latin typeface="Calibri"/>
                <a:cs typeface="Calibri"/>
              </a:rPr>
              <a:t>very</a:t>
            </a:r>
            <a:r>
              <a:rPr sz="2200" spc="-45" dirty="0">
                <a:solidFill>
                  <a:srgbClr val="404040"/>
                </a:solidFill>
                <a:latin typeface="Calibri"/>
                <a:cs typeface="Calibri"/>
              </a:rPr>
              <a:t> </a:t>
            </a:r>
            <a:r>
              <a:rPr sz="2200" spc="-20" dirty="0" smtClean="0">
                <a:solidFill>
                  <a:srgbClr val="404040"/>
                </a:solidFill>
                <a:latin typeface="Calibri"/>
                <a:cs typeface="Calibri"/>
              </a:rPr>
              <a:t>important</a:t>
            </a:r>
            <a:r>
              <a:rPr sz="2200" spc="-30" dirty="0" smtClean="0">
                <a:solidFill>
                  <a:srgbClr val="404040"/>
                </a:solidFill>
                <a:latin typeface="Calibri"/>
                <a:cs typeface="Calibri"/>
              </a:rPr>
              <a:t>.</a:t>
            </a:r>
            <a:endParaRPr sz="2200" dirty="0">
              <a:latin typeface="Calibri"/>
              <a:cs typeface="Calibri"/>
            </a:endParaRPr>
          </a:p>
          <a:p>
            <a:pPr marL="447040" marR="5080" lvl="1" indent="-342900" algn="just">
              <a:lnSpc>
                <a:spcPct val="110000"/>
              </a:lnSpc>
              <a:spcBef>
                <a:spcPts val="1390"/>
              </a:spcBef>
              <a:buClr>
                <a:srgbClr val="E38312"/>
              </a:buClr>
              <a:buFont typeface="Wingdings"/>
              <a:buChar char=""/>
              <a:tabLst>
                <a:tab pos="447675" algn="l"/>
              </a:tabLst>
            </a:pPr>
            <a:r>
              <a:rPr sz="2200" spc="-15" dirty="0">
                <a:solidFill>
                  <a:srgbClr val="404040"/>
                </a:solidFill>
                <a:latin typeface="Calibri"/>
                <a:cs typeface="Calibri"/>
              </a:rPr>
              <a:t>While </a:t>
            </a:r>
            <a:r>
              <a:rPr sz="2200" spc="-25" dirty="0">
                <a:solidFill>
                  <a:srgbClr val="404040"/>
                </a:solidFill>
                <a:latin typeface="Calibri"/>
                <a:cs typeface="Calibri"/>
              </a:rPr>
              <a:t>starting </a:t>
            </a:r>
            <a:r>
              <a:rPr sz="2200" spc="-5" dirty="0">
                <a:solidFill>
                  <a:srgbClr val="404040"/>
                </a:solidFill>
                <a:latin typeface="Calibri"/>
                <a:cs typeface="Calibri"/>
              </a:rPr>
              <a:t>a </a:t>
            </a:r>
            <a:r>
              <a:rPr sz="2200" spc="-15" dirty="0">
                <a:solidFill>
                  <a:srgbClr val="404040"/>
                </a:solidFill>
                <a:latin typeface="Calibri"/>
                <a:cs typeface="Calibri"/>
              </a:rPr>
              <a:t>design </a:t>
            </a:r>
            <a:r>
              <a:rPr sz="2200" spc="-30" dirty="0">
                <a:solidFill>
                  <a:srgbClr val="404040"/>
                </a:solidFill>
                <a:latin typeface="Calibri"/>
                <a:cs typeface="Calibri"/>
              </a:rPr>
              <a:t>for </a:t>
            </a:r>
            <a:r>
              <a:rPr sz="2200" spc="-20" dirty="0">
                <a:solidFill>
                  <a:srgbClr val="404040"/>
                </a:solidFill>
                <a:latin typeface="Calibri"/>
                <a:cs typeface="Calibri"/>
              </a:rPr>
              <a:t>which </a:t>
            </a:r>
            <a:r>
              <a:rPr sz="2200" spc="-15" dirty="0">
                <a:solidFill>
                  <a:srgbClr val="404040"/>
                </a:solidFill>
                <a:latin typeface="Calibri"/>
                <a:cs typeface="Calibri"/>
              </a:rPr>
              <a:t>power </a:t>
            </a:r>
            <a:r>
              <a:rPr sz="2200" spc="-20" dirty="0">
                <a:solidFill>
                  <a:srgbClr val="404040"/>
                </a:solidFill>
                <a:latin typeface="Calibri"/>
                <a:cs typeface="Calibri"/>
              </a:rPr>
              <a:t>specifications are stringent, </a:t>
            </a:r>
            <a:r>
              <a:rPr sz="2200" spc="-5" dirty="0">
                <a:solidFill>
                  <a:srgbClr val="404040"/>
                </a:solidFill>
                <a:latin typeface="Calibri"/>
                <a:cs typeface="Calibri"/>
              </a:rPr>
              <a:t>it </a:t>
            </a:r>
            <a:r>
              <a:rPr sz="2200" spc="-10" dirty="0">
                <a:solidFill>
                  <a:srgbClr val="404040"/>
                </a:solidFill>
                <a:latin typeface="Calibri"/>
                <a:cs typeface="Calibri"/>
              </a:rPr>
              <a:t>is </a:t>
            </a:r>
            <a:r>
              <a:rPr sz="2200" spc="-20" dirty="0">
                <a:solidFill>
                  <a:srgbClr val="404040"/>
                </a:solidFill>
                <a:latin typeface="Calibri"/>
                <a:cs typeface="Calibri"/>
              </a:rPr>
              <a:t>important </a:t>
            </a:r>
            <a:r>
              <a:rPr sz="2200" spc="-50" dirty="0">
                <a:solidFill>
                  <a:srgbClr val="404040"/>
                </a:solidFill>
                <a:latin typeface="Calibri"/>
                <a:cs typeface="Calibri"/>
              </a:rPr>
              <a:t>to </a:t>
            </a:r>
            <a:r>
              <a:rPr sz="2200" spc="-45" dirty="0">
                <a:solidFill>
                  <a:srgbClr val="404040"/>
                </a:solidFill>
                <a:latin typeface="Calibri"/>
                <a:cs typeface="Calibri"/>
              </a:rPr>
              <a:t> </a:t>
            </a:r>
            <a:r>
              <a:rPr sz="2200" spc="-20" dirty="0">
                <a:solidFill>
                  <a:srgbClr val="404040"/>
                </a:solidFill>
                <a:latin typeface="Calibri"/>
                <a:cs typeface="Calibri"/>
              </a:rPr>
              <a:t>verify</a:t>
            </a:r>
            <a:r>
              <a:rPr sz="2200" spc="-15" dirty="0">
                <a:solidFill>
                  <a:srgbClr val="404040"/>
                </a:solidFill>
                <a:latin typeface="Calibri"/>
                <a:cs typeface="Calibri"/>
              </a:rPr>
              <a:t> and</a:t>
            </a:r>
            <a:r>
              <a:rPr sz="2200" spc="-10" dirty="0">
                <a:solidFill>
                  <a:srgbClr val="404040"/>
                </a:solidFill>
                <a:latin typeface="Calibri"/>
                <a:cs typeface="Calibri"/>
              </a:rPr>
              <a:t> </a:t>
            </a:r>
            <a:r>
              <a:rPr sz="2200" spc="-30" dirty="0">
                <a:solidFill>
                  <a:srgbClr val="404040"/>
                </a:solidFill>
                <a:latin typeface="Calibri"/>
                <a:cs typeface="Calibri"/>
              </a:rPr>
              <a:t>make</a:t>
            </a:r>
            <a:r>
              <a:rPr sz="2200" spc="-25" dirty="0">
                <a:solidFill>
                  <a:srgbClr val="404040"/>
                </a:solidFill>
                <a:latin typeface="Calibri"/>
                <a:cs typeface="Calibri"/>
              </a:rPr>
              <a:t> </a:t>
            </a:r>
            <a:r>
              <a:rPr sz="2200" spc="-20" dirty="0">
                <a:solidFill>
                  <a:srgbClr val="404040"/>
                </a:solidFill>
                <a:latin typeface="Calibri"/>
                <a:cs typeface="Calibri"/>
              </a:rPr>
              <a:t>sure</a:t>
            </a:r>
            <a:r>
              <a:rPr sz="2200" spc="-15" dirty="0">
                <a:solidFill>
                  <a:srgbClr val="404040"/>
                </a:solidFill>
                <a:latin typeface="Calibri"/>
                <a:cs typeface="Calibri"/>
              </a:rPr>
              <a:t> </a:t>
            </a:r>
            <a:r>
              <a:rPr sz="2200" spc="-20" dirty="0">
                <a:solidFill>
                  <a:srgbClr val="404040"/>
                </a:solidFill>
                <a:latin typeface="Calibri"/>
                <a:cs typeface="Calibri"/>
              </a:rPr>
              <a:t>that</a:t>
            </a:r>
            <a:r>
              <a:rPr sz="2200" spc="-15" dirty="0">
                <a:solidFill>
                  <a:srgbClr val="404040"/>
                </a:solidFill>
                <a:latin typeface="Calibri"/>
                <a:cs typeface="Calibri"/>
              </a:rPr>
              <a:t> the</a:t>
            </a:r>
            <a:r>
              <a:rPr sz="2200" spc="-10" dirty="0">
                <a:solidFill>
                  <a:srgbClr val="404040"/>
                </a:solidFill>
                <a:latin typeface="Calibri"/>
                <a:cs typeface="Calibri"/>
              </a:rPr>
              <a:t> </a:t>
            </a:r>
            <a:r>
              <a:rPr sz="2200" spc="-15" dirty="0">
                <a:solidFill>
                  <a:srgbClr val="404040"/>
                </a:solidFill>
                <a:latin typeface="Calibri"/>
                <a:cs typeface="Calibri"/>
              </a:rPr>
              <a:t>processor</a:t>
            </a:r>
            <a:r>
              <a:rPr sz="2200" spc="-10" dirty="0">
                <a:solidFill>
                  <a:srgbClr val="404040"/>
                </a:solidFill>
                <a:latin typeface="Calibri"/>
                <a:cs typeface="Calibri"/>
              </a:rPr>
              <a:t> </a:t>
            </a:r>
            <a:r>
              <a:rPr sz="2200" spc="-15" dirty="0">
                <a:solidFill>
                  <a:srgbClr val="404040"/>
                </a:solidFill>
                <a:latin typeface="Calibri"/>
                <a:cs typeface="Calibri"/>
              </a:rPr>
              <a:t>has</a:t>
            </a:r>
            <a:r>
              <a:rPr sz="2200" spc="-10" dirty="0">
                <a:solidFill>
                  <a:srgbClr val="404040"/>
                </a:solidFill>
                <a:latin typeface="Calibri"/>
                <a:cs typeface="Calibri"/>
              </a:rPr>
              <a:t> </a:t>
            </a:r>
            <a:r>
              <a:rPr sz="2200" spc="-15" dirty="0">
                <a:solidFill>
                  <a:srgbClr val="404040"/>
                </a:solidFill>
                <a:latin typeface="Calibri"/>
                <a:cs typeface="Calibri"/>
              </a:rPr>
              <a:t>low</a:t>
            </a:r>
            <a:r>
              <a:rPr sz="2200" spc="-10" dirty="0">
                <a:solidFill>
                  <a:srgbClr val="404040"/>
                </a:solidFill>
                <a:latin typeface="Calibri"/>
                <a:cs typeface="Calibri"/>
              </a:rPr>
              <a:t> TDP</a:t>
            </a:r>
            <a:r>
              <a:rPr sz="2200" spc="-5" dirty="0">
                <a:solidFill>
                  <a:srgbClr val="404040"/>
                </a:solidFill>
                <a:latin typeface="Calibri"/>
                <a:cs typeface="Calibri"/>
              </a:rPr>
              <a:t> </a:t>
            </a:r>
            <a:r>
              <a:rPr sz="2200" spc="-15" dirty="0" smtClean="0">
                <a:solidFill>
                  <a:srgbClr val="404040"/>
                </a:solidFill>
                <a:latin typeface="Calibri"/>
                <a:cs typeface="Calibri"/>
              </a:rPr>
              <a:t>(</a:t>
            </a:r>
            <a:r>
              <a:rPr lang="en-US" sz="2200" spc="-15" dirty="0" smtClean="0">
                <a:solidFill>
                  <a:srgbClr val="404040"/>
                </a:solidFill>
                <a:latin typeface="Calibri"/>
                <a:cs typeface="Calibri"/>
              </a:rPr>
              <a:t>like</a:t>
            </a:r>
            <a:r>
              <a:rPr sz="2200" spc="-10" dirty="0" smtClean="0">
                <a:solidFill>
                  <a:srgbClr val="404040"/>
                </a:solidFill>
                <a:latin typeface="Calibri"/>
                <a:cs typeface="Calibri"/>
              </a:rPr>
              <a:t> </a:t>
            </a:r>
            <a:r>
              <a:rPr sz="2200" spc="-20" dirty="0">
                <a:solidFill>
                  <a:srgbClr val="404040"/>
                </a:solidFill>
                <a:latin typeface="Calibri"/>
                <a:cs typeface="Calibri"/>
              </a:rPr>
              <a:t>Displays,</a:t>
            </a:r>
            <a:r>
              <a:rPr sz="2200" spc="455" dirty="0">
                <a:solidFill>
                  <a:srgbClr val="404040"/>
                </a:solidFill>
                <a:latin typeface="Calibri"/>
                <a:cs typeface="Calibri"/>
              </a:rPr>
              <a:t> </a:t>
            </a:r>
            <a:r>
              <a:rPr sz="2200" spc="-20" dirty="0">
                <a:solidFill>
                  <a:srgbClr val="404040"/>
                </a:solidFill>
                <a:latin typeface="Calibri"/>
                <a:cs typeface="Calibri"/>
              </a:rPr>
              <a:t>Sensors</a:t>
            </a:r>
            <a:r>
              <a:rPr sz="2200" spc="455" dirty="0">
                <a:solidFill>
                  <a:srgbClr val="404040"/>
                </a:solidFill>
                <a:latin typeface="Calibri"/>
                <a:cs typeface="Calibri"/>
              </a:rPr>
              <a:t> </a:t>
            </a:r>
            <a:r>
              <a:rPr sz="2200" spc="-25" dirty="0">
                <a:solidFill>
                  <a:srgbClr val="404040"/>
                </a:solidFill>
                <a:latin typeface="Calibri"/>
                <a:cs typeface="Calibri"/>
              </a:rPr>
              <a:t>etc.. </a:t>
            </a:r>
            <a:r>
              <a:rPr sz="2200" spc="-484" dirty="0">
                <a:solidFill>
                  <a:srgbClr val="404040"/>
                </a:solidFill>
                <a:latin typeface="Calibri"/>
                <a:cs typeface="Calibri"/>
              </a:rPr>
              <a:t> </a:t>
            </a:r>
            <a:r>
              <a:rPr sz="2200" spc="-15" dirty="0">
                <a:solidFill>
                  <a:srgbClr val="404040"/>
                </a:solidFill>
                <a:latin typeface="Calibri"/>
                <a:cs typeface="Calibri"/>
              </a:rPr>
              <a:t>Should</a:t>
            </a:r>
            <a:r>
              <a:rPr sz="2200" spc="-30" dirty="0">
                <a:solidFill>
                  <a:srgbClr val="404040"/>
                </a:solidFill>
                <a:latin typeface="Calibri"/>
                <a:cs typeface="Calibri"/>
              </a:rPr>
              <a:t> </a:t>
            </a:r>
            <a:r>
              <a:rPr sz="2200" spc="-15" dirty="0">
                <a:solidFill>
                  <a:srgbClr val="404040"/>
                </a:solidFill>
                <a:latin typeface="Calibri"/>
                <a:cs typeface="Calibri"/>
              </a:rPr>
              <a:t>belong</a:t>
            </a:r>
            <a:r>
              <a:rPr sz="2200" spc="-10" dirty="0">
                <a:solidFill>
                  <a:srgbClr val="404040"/>
                </a:solidFill>
                <a:latin typeface="Calibri"/>
                <a:cs typeface="Calibri"/>
              </a:rPr>
              <a:t> </a:t>
            </a:r>
            <a:r>
              <a:rPr sz="2200" spc="-25" dirty="0">
                <a:solidFill>
                  <a:srgbClr val="404040"/>
                </a:solidFill>
                <a:latin typeface="Calibri"/>
                <a:cs typeface="Calibri"/>
              </a:rPr>
              <a:t>to</a:t>
            </a:r>
            <a:r>
              <a:rPr sz="2200" dirty="0">
                <a:solidFill>
                  <a:srgbClr val="404040"/>
                </a:solidFill>
                <a:latin typeface="Calibri"/>
                <a:cs typeface="Calibri"/>
              </a:rPr>
              <a:t> </a:t>
            </a:r>
            <a:r>
              <a:rPr sz="2200" spc="-15" dirty="0">
                <a:solidFill>
                  <a:srgbClr val="404040"/>
                </a:solidFill>
                <a:latin typeface="Calibri"/>
                <a:cs typeface="Calibri"/>
              </a:rPr>
              <a:t>‘</a:t>
            </a:r>
            <a:r>
              <a:rPr sz="2200" spc="-15" dirty="0" smtClean="0">
                <a:solidFill>
                  <a:srgbClr val="404040"/>
                </a:solidFill>
                <a:latin typeface="Calibri"/>
                <a:cs typeface="Calibri"/>
              </a:rPr>
              <a:t>L</a:t>
            </a:r>
            <a:r>
              <a:rPr lang="en-US" sz="2200" spc="-15" dirty="0" smtClean="0">
                <a:solidFill>
                  <a:srgbClr val="404040"/>
                </a:solidFill>
                <a:latin typeface="Calibri"/>
                <a:cs typeface="Calibri"/>
              </a:rPr>
              <a:t>ow </a:t>
            </a:r>
            <a:r>
              <a:rPr sz="2200" spc="-15" dirty="0" smtClean="0">
                <a:solidFill>
                  <a:srgbClr val="404040"/>
                </a:solidFill>
                <a:latin typeface="Calibri"/>
                <a:cs typeface="Calibri"/>
              </a:rPr>
              <a:t>P</a:t>
            </a:r>
            <a:r>
              <a:rPr lang="en-US" sz="2200" spc="-15" dirty="0" smtClean="0">
                <a:solidFill>
                  <a:srgbClr val="404040"/>
                </a:solidFill>
                <a:latin typeface="Calibri"/>
                <a:cs typeface="Calibri"/>
              </a:rPr>
              <a:t>ower </a:t>
            </a:r>
            <a:r>
              <a:rPr sz="2200" spc="-15" dirty="0" smtClean="0">
                <a:solidFill>
                  <a:srgbClr val="404040"/>
                </a:solidFill>
                <a:latin typeface="Calibri"/>
                <a:cs typeface="Calibri"/>
              </a:rPr>
              <a:t>D</a:t>
            </a:r>
            <a:r>
              <a:rPr lang="en-US" sz="2200" spc="-15" dirty="0" smtClean="0">
                <a:solidFill>
                  <a:srgbClr val="404040"/>
                </a:solidFill>
                <a:latin typeface="Calibri"/>
                <a:cs typeface="Calibri"/>
              </a:rPr>
              <a:t>issipating</a:t>
            </a:r>
            <a:r>
              <a:rPr sz="2200" spc="-15" dirty="0" smtClean="0">
                <a:solidFill>
                  <a:srgbClr val="404040"/>
                </a:solidFill>
                <a:latin typeface="Calibri"/>
                <a:cs typeface="Calibri"/>
              </a:rPr>
              <a:t>’ </a:t>
            </a:r>
            <a:r>
              <a:rPr sz="2200" spc="-25" dirty="0">
                <a:solidFill>
                  <a:srgbClr val="404040"/>
                </a:solidFill>
                <a:latin typeface="Calibri"/>
                <a:cs typeface="Calibri"/>
              </a:rPr>
              <a:t>category</a:t>
            </a:r>
            <a:r>
              <a:rPr sz="2200" spc="-25" dirty="0" smtClean="0">
                <a:solidFill>
                  <a:srgbClr val="404040"/>
                </a:solidFill>
                <a:latin typeface="Calibri"/>
                <a:cs typeface="Calibri"/>
              </a:rPr>
              <a:t>).</a:t>
            </a:r>
            <a:endParaRPr lang="en-US" sz="2200" spc="-25" dirty="0" smtClean="0">
              <a:solidFill>
                <a:srgbClr val="404040"/>
              </a:solidFill>
              <a:latin typeface="Calibri"/>
              <a:cs typeface="Calibri"/>
            </a:endParaRPr>
          </a:p>
          <a:p>
            <a:pPr marL="447040" marR="5080" lvl="1" indent="-342900" algn="just">
              <a:lnSpc>
                <a:spcPct val="110000"/>
              </a:lnSpc>
              <a:spcBef>
                <a:spcPts val="1390"/>
              </a:spcBef>
              <a:buClr>
                <a:srgbClr val="E38312"/>
              </a:buClr>
              <a:buFont typeface="Wingdings"/>
              <a:buChar char=""/>
              <a:tabLst>
                <a:tab pos="447675" algn="l"/>
              </a:tabLst>
            </a:pPr>
            <a:r>
              <a:rPr lang="en-US" sz="2400" spc="-25" dirty="0">
                <a:solidFill>
                  <a:srgbClr val="404040"/>
                </a:solidFill>
                <a:cs typeface="Calibri"/>
              </a:rPr>
              <a:t>For</a:t>
            </a:r>
            <a:r>
              <a:rPr lang="en-US" sz="2400" spc="-20" dirty="0">
                <a:solidFill>
                  <a:srgbClr val="404040"/>
                </a:solidFill>
                <a:cs typeface="Calibri"/>
              </a:rPr>
              <a:t> </a:t>
            </a:r>
            <a:r>
              <a:rPr lang="en-US" sz="2400" spc="-15" dirty="0">
                <a:solidFill>
                  <a:srgbClr val="404040"/>
                </a:solidFill>
                <a:cs typeface="Calibri"/>
              </a:rPr>
              <a:t>any </a:t>
            </a:r>
            <a:r>
              <a:rPr lang="en-US" sz="2400" spc="-15" dirty="0" smtClean="0">
                <a:solidFill>
                  <a:srgbClr val="404040"/>
                </a:solidFill>
                <a:cs typeface="Calibri"/>
              </a:rPr>
              <a:t>systems </a:t>
            </a:r>
            <a:r>
              <a:rPr lang="en-US" sz="2400" spc="-15" dirty="0">
                <a:solidFill>
                  <a:srgbClr val="404040"/>
                </a:solidFill>
                <a:cs typeface="Calibri"/>
              </a:rPr>
              <a:t>,there </a:t>
            </a:r>
            <a:r>
              <a:rPr lang="en-US" sz="2400" spc="-25" dirty="0">
                <a:solidFill>
                  <a:srgbClr val="404040"/>
                </a:solidFill>
                <a:cs typeface="Calibri"/>
              </a:rPr>
              <a:t>are </a:t>
            </a:r>
            <a:r>
              <a:rPr lang="en-US" sz="2400" spc="-5" dirty="0">
                <a:solidFill>
                  <a:srgbClr val="404040"/>
                </a:solidFill>
                <a:cs typeface="Calibri"/>
              </a:rPr>
              <a:t>2 aspects in keeping </a:t>
            </a:r>
            <a:r>
              <a:rPr lang="en-US" sz="2400" spc="-5" dirty="0" smtClean="0">
                <a:solidFill>
                  <a:srgbClr val="404040"/>
                </a:solidFill>
                <a:cs typeface="Calibri"/>
              </a:rPr>
              <a:t>low </a:t>
            </a:r>
            <a:r>
              <a:rPr lang="en-US" sz="2400" spc="-5" dirty="0">
                <a:solidFill>
                  <a:srgbClr val="404040"/>
                </a:solidFill>
                <a:cs typeface="Calibri"/>
              </a:rPr>
              <a:t>power dissipation</a:t>
            </a:r>
            <a:r>
              <a:rPr lang="en-US" sz="2400" spc="-10" dirty="0">
                <a:solidFill>
                  <a:srgbClr val="404040"/>
                </a:solidFill>
                <a:cs typeface="Calibri"/>
              </a:rPr>
              <a:t> </a:t>
            </a:r>
            <a:r>
              <a:rPr lang="en-US" sz="2400" spc="-30" dirty="0" smtClean="0">
                <a:solidFill>
                  <a:srgbClr val="404040"/>
                </a:solidFill>
                <a:cs typeface="Calibri"/>
              </a:rPr>
              <a:t>:</a:t>
            </a:r>
          </a:p>
          <a:p>
            <a:pPr marL="447040" marR="5080" lvl="1" indent="-342900" algn="just">
              <a:lnSpc>
                <a:spcPct val="110000"/>
              </a:lnSpc>
              <a:spcBef>
                <a:spcPts val="1390"/>
              </a:spcBef>
              <a:buClr>
                <a:srgbClr val="E38312"/>
              </a:buClr>
              <a:buFont typeface="Wingdings"/>
              <a:buChar char=""/>
              <a:tabLst>
                <a:tab pos="447675" algn="l"/>
              </a:tabLst>
            </a:pPr>
            <a:r>
              <a:rPr lang="en-US" sz="2400" spc="-30" dirty="0" smtClean="0">
                <a:solidFill>
                  <a:srgbClr val="404040"/>
                </a:solidFill>
                <a:cs typeface="Calibri"/>
              </a:rPr>
              <a:t> </a:t>
            </a:r>
            <a:r>
              <a:rPr lang="en-US" sz="2400" spc="-25" dirty="0" smtClean="0">
                <a:solidFill>
                  <a:srgbClr val="404040"/>
                </a:solidFill>
                <a:cs typeface="Calibri"/>
              </a:rPr>
              <a:t> </a:t>
            </a:r>
            <a:r>
              <a:rPr lang="en-US" sz="2400" spc="-15" dirty="0" smtClean="0">
                <a:solidFill>
                  <a:srgbClr val="404040"/>
                </a:solidFill>
                <a:cs typeface="Calibri"/>
              </a:rPr>
              <a:t>Design stage</a:t>
            </a:r>
            <a:r>
              <a:rPr lang="en-US" sz="2400" spc="-5" dirty="0" smtClean="0">
                <a:solidFill>
                  <a:srgbClr val="404040"/>
                </a:solidFill>
                <a:cs typeface="Calibri"/>
              </a:rPr>
              <a:t>  &amp;</a:t>
            </a:r>
            <a:r>
              <a:rPr lang="en-US" sz="2400" spc="-20" dirty="0" smtClean="0">
                <a:solidFill>
                  <a:srgbClr val="404040"/>
                </a:solidFill>
                <a:cs typeface="Calibri"/>
              </a:rPr>
              <a:t> </a:t>
            </a:r>
            <a:r>
              <a:rPr lang="en-US" sz="2400" spc="-35" dirty="0">
                <a:solidFill>
                  <a:srgbClr val="404040"/>
                </a:solidFill>
                <a:cs typeface="Calibri"/>
              </a:rPr>
              <a:t>Power</a:t>
            </a:r>
            <a:r>
              <a:rPr lang="en-US" sz="2400" spc="-10" dirty="0">
                <a:solidFill>
                  <a:srgbClr val="404040"/>
                </a:solidFill>
                <a:cs typeface="Calibri"/>
              </a:rPr>
              <a:t> </a:t>
            </a:r>
            <a:r>
              <a:rPr lang="en-US" sz="2400" spc="-20" dirty="0">
                <a:solidFill>
                  <a:srgbClr val="404040"/>
                </a:solidFill>
                <a:cs typeface="Calibri"/>
              </a:rPr>
              <a:t>management</a:t>
            </a:r>
            <a:r>
              <a:rPr lang="en-US" sz="2400" spc="-15" dirty="0">
                <a:solidFill>
                  <a:srgbClr val="404040"/>
                </a:solidFill>
                <a:cs typeface="Calibri"/>
              </a:rPr>
              <a:t> </a:t>
            </a:r>
            <a:r>
              <a:rPr lang="en-US" sz="2400" spc="-20" dirty="0" smtClean="0">
                <a:solidFill>
                  <a:srgbClr val="404040"/>
                </a:solidFill>
                <a:cs typeface="Calibri"/>
              </a:rPr>
              <a:t>usage.</a:t>
            </a:r>
            <a:endParaRPr lang="en-US" sz="2400" dirty="0">
              <a:cs typeface="Calibri"/>
            </a:endParaRPr>
          </a:p>
          <a:p>
            <a:pPr marL="447040" marR="5080" lvl="1" indent="-342900" algn="just">
              <a:lnSpc>
                <a:spcPct val="110000"/>
              </a:lnSpc>
              <a:spcBef>
                <a:spcPts val="1390"/>
              </a:spcBef>
              <a:buClr>
                <a:srgbClr val="E38312"/>
              </a:buClr>
              <a:buFont typeface="Wingdings"/>
              <a:buChar char=""/>
              <a:tabLst>
                <a:tab pos="447675" algn="l"/>
              </a:tabLst>
            </a:pPr>
            <a:endParaRPr sz="2200" dirty="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233017" y="1022045"/>
            <a:ext cx="9940290" cy="680720"/>
          </a:xfrm>
          <a:prstGeom prst="rect">
            <a:avLst/>
          </a:prstGeom>
        </p:spPr>
        <p:txBody>
          <a:bodyPr vert="horz" wrap="square" lIns="0" tIns="12065" rIns="0" bIns="0" rtlCol="0">
            <a:spAutoFit/>
          </a:bodyPr>
          <a:lstStyle/>
          <a:p>
            <a:pPr marL="12700">
              <a:lnSpc>
                <a:spcPct val="100000"/>
              </a:lnSpc>
              <a:spcBef>
                <a:spcPts val="95"/>
              </a:spcBef>
              <a:tabLst>
                <a:tab pos="9926955" algn="l"/>
              </a:tabLst>
            </a:pPr>
            <a:r>
              <a:rPr sz="4300" b="0" u="sng" spc="-135" dirty="0" smtClean="0">
                <a:solidFill>
                  <a:srgbClr val="00AFEF"/>
                </a:solidFill>
                <a:uFill>
                  <a:solidFill>
                    <a:srgbClr val="7E7E7E"/>
                  </a:solidFill>
                </a:uFill>
                <a:latin typeface="Calibri Light"/>
                <a:cs typeface="Calibri Light"/>
              </a:rPr>
              <a:t> </a:t>
            </a:r>
            <a:r>
              <a:rPr sz="4300" b="0" u="sng" spc="-45" dirty="0">
                <a:solidFill>
                  <a:srgbClr val="00AFEF"/>
                </a:solidFill>
                <a:uFill>
                  <a:solidFill>
                    <a:srgbClr val="7E7E7E"/>
                  </a:solidFill>
                </a:uFill>
                <a:latin typeface="Calibri Light"/>
                <a:cs typeface="Calibri Light"/>
              </a:rPr>
              <a:t>Design</a:t>
            </a:r>
            <a:r>
              <a:rPr sz="4300" b="0" u="sng" spc="-105" dirty="0">
                <a:solidFill>
                  <a:srgbClr val="00AFEF"/>
                </a:solidFill>
                <a:uFill>
                  <a:solidFill>
                    <a:srgbClr val="7E7E7E"/>
                  </a:solidFill>
                </a:uFill>
                <a:latin typeface="Calibri Light"/>
                <a:cs typeface="Calibri Light"/>
              </a:rPr>
              <a:t> </a:t>
            </a:r>
            <a:r>
              <a:rPr sz="4300" b="0" u="sng" spc="-70" dirty="0">
                <a:solidFill>
                  <a:srgbClr val="00AFEF"/>
                </a:solidFill>
                <a:uFill>
                  <a:solidFill>
                    <a:srgbClr val="7E7E7E"/>
                  </a:solidFill>
                </a:uFill>
                <a:latin typeface="Calibri Light"/>
                <a:cs typeface="Calibri Light"/>
              </a:rPr>
              <a:t>stage	</a:t>
            </a:r>
            <a:endParaRPr sz="4300" dirty="0">
              <a:latin typeface="Calibri Light"/>
              <a:cs typeface="Calibri Light"/>
            </a:endParaRPr>
          </a:p>
        </p:txBody>
      </p:sp>
      <p:sp>
        <p:nvSpPr>
          <p:cNvPr id="6" name="object 6"/>
          <p:cNvSpPr txBox="1"/>
          <p:nvPr/>
        </p:nvSpPr>
        <p:spPr>
          <a:xfrm>
            <a:off x="1439925" y="1681099"/>
            <a:ext cx="9942830" cy="2891155"/>
          </a:xfrm>
          <a:prstGeom prst="rect">
            <a:avLst/>
          </a:prstGeom>
        </p:spPr>
        <p:txBody>
          <a:bodyPr vert="horz" wrap="square" lIns="0" tIns="154305" rIns="0" bIns="0" rtlCol="0">
            <a:spAutoFit/>
          </a:bodyPr>
          <a:lstStyle/>
          <a:p>
            <a:pPr marL="311150" indent="-299085">
              <a:lnSpc>
                <a:spcPct val="100000"/>
              </a:lnSpc>
              <a:spcBef>
                <a:spcPts val="1215"/>
              </a:spcBef>
              <a:buFont typeface="Calibri"/>
              <a:buAutoNum type="arabicPeriod"/>
              <a:tabLst>
                <a:tab pos="311785" algn="l"/>
              </a:tabLst>
            </a:pPr>
            <a:r>
              <a:rPr sz="2400" b="1" spc="-5" dirty="0">
                <a:solidFill>
                  <a:srgbClr val="404040"/>
                </a:solidFill>
                <a:latin typeface="Calibri"/>
                <a:cs typeface="Calibri"/>
              </a:rPr>
              <a:t>Processor</a:t>
            </a:r>
            <a:r>
              <a:rPr sz="2400" b="1" spc="-65" dirty="0">
                <a:solidFill>
                  <a:srgbClr val="404040"/>
                </a:solidFill>
                <a:latin typeface="Calibri"/>
                <a:cs typeface="Calibri"/>
              </a:rPr>
              <a:t> </a:t>
            </a:r>
            <a:r>
              <a:rPr sz="2400" b="1" spc="-5" dirty="0">
                <a:solidFill>
                  <a:srgbClr val="404040"/>
                </a:solidFill>
                <a:latin typeface="Calibri"/>
                <a:cs typeface="Calibri"/>
              </a:rPr>
              <a:t>Design:</a:t>
            </a:r>
            <a:endParaRPr sz="2400" dirty="0">
              <a:latin typeface="Calibri"/>
              <a:cs typeface="Calibri"/>
            </a:endParaRPr>
          </a:p>
          <a:p>
            <a:pPr marL="2021205" lvl="1" indent="-476250">
              <a:lnSpc>
                <a:spcPct val="100000"/>
              </a:lnSpc>
              <a:spcBef>
                <a:spcPts val="1115"/>
              </a:spcBef>
              <a:buClr>
                <a:srgbClr val="E38312"/>
              </a:buClr>
              <a:buFont typeface="Wingdings"/>
              <a:buChar char=""/>
              <a:tabLst>
                <a:tab pos="2021205" algn="l"/>
                <a:tab pos="2021839" algn="l"/>
              </a:tabLst>
            </a:pPr>
            <a:r>
              <a:rPr sz="2400" spc="-5" dirty="0">
                <a:solidFill>
                  <a:srgbClr val="404040"/>
                </a:solidFill>
                <a:latin typeface="Calibri"/>
                <a:cs typeface="Calibri"/>
              </a:rPr>
              <a:t>In</a:t>
            </a:r>
            <a:r>
              <a:rPr sz="2400" spc="-10" dirty="0">
                <a:solidFill>
                  <a:srgbClr val="404040"/>
                </a:solidFill>
                <a:latin typeface="Calibri"/>
                <a:cs typeface="Calibri"/>
              </a:rPr>
              <a:t> </a:t>
            </a:r>
            <a:r>
              <a:rPr sz="2400" dirty="0">
                <a:solidFill>
                  <a:srgbClr val="404040"/>
                </a:solidFill>
                <a:latin typeface="Calibri"/>
                <a:cs typeface="Calibri"/>
              </a:rPr>
              <a:t>the </a:t>
            </a:r>
            <a:r>
              <a:rPr sz="2400" spc="-5" dirty="0">
                <a:solidFill>
                  <a:srgbClr val="404040"/>
                </a:solidFill>
                <a:latin typeface="Calibri"/>
                <a:cs typeface="Calibri"/>
              </a:rPr>
              <a:t>IC</a:t>
            </a:r>
            <a:r>
              <a:rPr sz="2400" spc="-15" dirty="0">
                <a:solidFill>
                  <a:srgbClr val="404040"/>
                </a:solidFill>
                <a:latin typeface="Calibri"/>
                <a:cs typeface="Calibri"/>
              </a:rPr>
              <a:t> </a:t>
            </a:r>
            <a:r>
              <a:rPr sz="2400" spc="-5" dirty="0">
                <a:solidFill>
                  <a:srgbClr val="404040"/>
                </a:solidFill>
                <a:latin typeface="Calibri"/>
                <a:cs typeface="Calibri"/>
              </a:rPr>
              <a:t>design </a:t>
            </a:r>
            <a:r>
              <a:rPr sz="2400" spc="-25" dirty="0">
                <a:solidFill>
                  <a:srgbClr val="404040"/>
                </a:solidFill>
                <a:latin typeface="Calibri"/>
                <a:cs typeface="Calibri"/>
              </a:rPr>
              <a:t>itself,</a:t>
            </a:r>
            <a:r>
              <a:rPr sz="2400" spc="-20" dirty="0">
                <a:solidFill>
                  <a:srgbClr val="404040"/>
                </a:solidFill>
                <a:latin typeface="Calibri"/>
                <a:cs typeface="Calibri"/>
              </a:rPr>
              <a:t> </a:t>
            </a:r>
            <a:r>
              <a:rPr sz="2400" spc="-15" dirty="0">
                <a:solidFill>
                  <a:srgbClr val="404040"/>
                </a:solidFill>
                <a:latin typeface="Calibri"/>
                <a:cs typeface="Calibri"/>
              </a:rPr>
              <a:t>many</a:t>
            </a:r>
            <a:r>
              <a:rPr sz="2400" dirty="0">
                <a:solidFill>
                  <a:srgbClr val="404040"/>
                </a:solidFill>
                <a:latin typeface="Calibri"/>
                <a:cs typeface="Calibri"/>
              </a:rPr>
              <a:t> </a:t>
            </a:r>
            <a:r>
              <a:rPr sz="2400" spc="-5" dirty="0">
                <a:solidFill>
                  <a:srgbClr val="404040"/>
                </a:solidFill>
                <a:latin typeface="Calibri"/>
                <a:cs typeface="Calibri"/>
              </a:rPr>
              <a:t>techniques </a:t>
            </a:r>
            <a:r>
              <a:rPr sz="2400" spc="-15" dirty="0">
                <a:solidFill>
                  <a:srgbClr val="404040"/>
                </a:solidFill>
                <a:latin typeface="Calibri"/>
                <a:cs typeface="Calibri"/>
              </a:rPr>
              <a:t>are</a:t>
            </a:r>
            <a:r>
              <a:rPr sz="2400" spc="-5" dirty="0">
                <a:solidFill>
                  <a:srgbClr val="404040"/>
                </a:solidFill>
                <a:latin typeface="Calibri"/>
                <a:cs typeface="Calibri"/>
              </a:rPr>
              <a:t> being</a:t>
            </a:r>
            <a:r>
              <a:rPr sz="2400" dirty="0">
                <a:solidFill>
                  <a:srgbClr val="404040"/>
                </a:solidFill>
                <a:latin typeface="Calibri"/>
                <a:cs typeface="Calibri"/>
              </a:rPr>
              <a:t> </a:t>
            </a:r>
            <a:r>
              <a:rPr sz="2400" spc="-5" dirty="0">
                <a:solidFill>
                  <a:srgbClr val="404040"/>
                </a:solidFill>
                <a:latin typeface="Calibri"/>
                <a:cs typeface="Calibri"/>
              </a:rPr>
              <a:t>used.</a:t>
            </a:r>
            <a:endParaRPr sz="2400" dirty="0">
              <a:latin typeface="Calibri"/>
              <a:cs typeface="Calibri"/>
            </a:endParaRPr>
          </a:p>
          <a:p>
            <a:pPr marL="2021205" lvl="1" indent="-476250">
              <a:lnSpc>
                <a:spcPct val="100000"/>
              </a:lnSpc>
              <a:spcBef>
                <a:spcPts val="1120"/>
              </a:spcBef>
              <a:buClr>
                <a:srgbClr val="E38312"/>
              </a:buClr>
              <a:buFont typeface="Wingdings"/>
              <a:buChar char=""/>
              <a:tabLst>
                <a:tab pos="2021205" algn="l"/>
                <a:tab pos="2021839" algn="l"/>
              </a:tabLst>
            </a:pPr>
            <a:r>
              <a:rPr sz="2400" dirty="0">
                <a:solidFill>
                  <a:srgbClr val="404040"/>
                </a:solidFill>
                <a:latin typeface="Calibri"/>
                <a:cs typeface="Calibri"/>
              </a:rPr>
              <a:t>Use</a:t>
            </a:r>
            <a:r>
              <a:rPr sz="2400" spc="-10" dirty="0">
                <a:solidFill>
                  <a:srgbClr val="404040"/>
                </a:solidFill>
                <a:latin typeface="Calibri"/>
                <a:cs typeface="Calibri"/>
              </a:rPr>
              <a:t> </a:t>
            </a:r>
            <a:r>
              <a:rPr sz="2400" spc="-5" dirty="0">
                <a:solidFill>
                  <a:srgbClr val="404040"/>
                </a:solidFill>
                <a:latin typeface="Calibri"/>
                <a:cs typeface="Calibri"/>
              </a:rPr>
              <a:t>of</a:t>
            </a:r>
            <a:r>
              <a:rPr sz="2400" dirty="0">
                <a:solidFill>
                  <a:srgbClr val="404040"/>
                </a:solidFill>
                <a:latin typeface="Calibri"/>
                <a:cs typeface="Calibri"/>
              </a:rPr>
              <a:t> </a:t>
            </a:r>
            <a:r>
              <a:rPr sz="2400" spc="-10" dirty="0">
                <a:solidFill>
                  <a:srgbClr val="404040"/>
                </a:solidFill>
                <a:latin typeface="Calibri"/>
                <a:cs typeface="Calibri"/>
              </a:rPr>
              <a:t>extremely</a:t>
            </a:r>
            <a:r>
              <a:rPr sz="2400" spc="-30" dirty="0">
                <a:solidFill>
                  <a:srgbClr val="404040"/>
                </a:solidFill>
                <a:latin typeface="Calibri"/>
                <a:cs typeface="Calibri"/>
              </a:rPr>
              <a:t> </a:t>
            </a:r>
            <a:r>
              <a:rPr sz="2400" spc="-10" dirty="0">
                <a:solidFill>
                  <a:srgbClr val="404040"/>
                </a:solidFill>
                <a:latin typeface="Calibri"/>
                <a:cs typeface="Calibri"/>
              </a:rPr>
              <a:t>low power</a:t>
            </a:r>
            <a:r>
              <a:rPr sz="2400" spc="5" dirty="0">
                <a:solidFill>
                  <a:srgbClr val="404040"/>
                </a:solidFill>
                <a:latin typeface="Calibri"/>
                <a:cs typeface="Calibri"/>
              </a:rPr>
              <a:t> </a:t>
            </a:r>
            <a:r>
              <a:rPr sz="2400" spc="-5" dirty="0">
                <a:solidFill>
                  <a:srgbClr val="404040"/>
                </a:solidFill>
                <a:latin typeface="Calibri"/>
                <a:cs typeface="Calibri"/>
              </a:rPr>
              <a:t>supply </a:t>
            </a:r>
            <a:r>
              <a:rPr sz="2400" spc="-15" dirty="0">
                <a:solidFill>
                  <a:srgbClr val="404040"/>
                </a:solidFill>
                <a:latin typeface="Calibri"/>
                <a:cs typeface="Calibri"/>
              </a:rPr>
              <a:t>voltages</a:t>
            </a:r>
            <a:endParaRPr sz="2400" dirty="0">
              <a:latin typeface="Calibri"/>
              <a:cs typeface="Calibri"/>
            </a:endParaRPr>
          </a:p>
          <a:p>
            <a:pPr marL="2021205" lvl="1" indent="-476250">
              <a:lnSpc>
                <a:spcPct val="100000"/>
              </a:lnSpc>
              <a:spcBef>
                <a:spcPts val="1100"/>
              </a:spcBef>
              <a:buClr>
                <a:srgbClr val="E38312"/>
              </a:buClr>
              <a:buFont typeface="Wingdings"/>
              <a:buChar char=""/>
              <a:tabLst>
                <a:tab pos="2021205" algn="l"/>
                <a:tab pos="2021839" algn="l"/>
              </a:tabLst>
            </a:pPr>
            <a:r>
              <a:rPr sz="2400" spc="-5" dirty="0">
                <a:solidFill>
                  <a:srgbClr val="404040"/>
                </a:solidFill>
                <a:latin typeface="Calibri"/>
                <a:cs typeface="Calibri"/>
              </a:rPr>
              <a:t>Adopting</a:t>
            </a:r>
            <a:r>
              <a:rPr sz="2400" spc="-15" dirty="0">
                <a:solidFill>
                  <a:srgbClr val="404040"/>
                </a:solidFill>
                <a:latin typeface="Calibri"/>
                <a:cs typeface="Calibri"/>
              </a:rPr>
              <a:t> </a:t>
            </a:r>
            <a:r>
              <a:rPr sz="2400" spc="-5" dirty="0">
                <a:solidFill>
                  <a:srgbClr val="404040"/>
                </a:solidFill>
                <a:latin typeface="Calibri"/>
                <a:cs typeface="Calibri"/>
              </a:rPr>
              <a:t>techniques </a:t>
            </a:r>
            <a:r>
              <a:rPr sz="2400" spc="-20" dirty="0">
                <a:solidFill>
                  <a:srgbClr val="404040"/>
                </a:solidFill>
                <a:latin typeface="Calibri"/>
                <a:cs typeface="Calibri"/>
              </a:rPr>
              <a:t>for</a:t>
            </a:r>
            <a:r>
              <a:rPr sz="2400" spc="5" dirty="0">
                <a:solidFill>
                  <a:srgbClr val="404040"/>
                </a:solidFill>
                <a:latin typeface="Calibri"/>
                <a:cs typeface="Calibri"/>
              </a:rPr>
              <a:t> </a:t>
            </a:r>
            <a:r>
              <a:rPr sz="2400" spc="-10" dirty="0">
                <a:solidFill>
                  <a:srgbClr val="404040"/>
                </a:solidFill>
                <a:latin typeface="Calibri"/>
                <a:cs typeface="Calibri"/>
              </a:rPr>
              <a:t>low</a:t>
            </a:r>
            <a:r>
              <a:rPr sz="2400" spc="-20" dirty="0">
                <a:solidFill>
                  <a:srgbClr val="404040"/>
                </a:solidFill>
                <a:latin typeface="Calibri"/>
                <a:cs typeface="Calibri"/>
              </a:rPr>
              <a:t> </a:t>
            </a:r>
            <a:r>
              <a:rPr sz="2400" spc="-15" dirty="0">
                <a:solidFill>
                  <a:srgbClr val="404040"/>
                </a:solidFill>
                <a:latin typeface="Calibri"/>
                <a:cs typeface="Calibri"/>
              </a:rPr>
              <a:t>static</a:t>
            </a:r>
            <a:r>
              <a:rPr sz="2400" spc="-25" dirty="0">
                <a:solidFill>
                  <a:srgbClr val="404040"/>
                </a:solidFill>
                <a:latin typeface="Calibri"/>
                <a:cs typeface="Calibri"/>
              </a:rPr>
              <a:t> </a:t>
            </a:r>
            <a:r>
              <a:rPr sz="2400" dirty="0">
                <a:solidFill>
                  <a:srgbClr val="404040"/>
                </a:solidFill>
                <a:latin typeface="Calibri"/>
                <a:cs typeface="Calibri"/>
              </a:rPr>
              <a:t>and </a:t>
            </a:r>
            <a:r>
              <a:rPr sz="2400" spc="-10" dirty="0">
                <a:solidFill>
                  <a:srgbClr val="404040"/>
                </a:solidFill>
                <a:latin typeface="Calibri"/>
                <a:cs typeface="Calibri"/>
              </a:rPr>
              <a:t>leakage currents,</a:t>
            </a:r>
            <a:endParaRPr sz="2400" dirty="0">
              <a:latin typeface="Calibri"/>
              <a:cs typeface="Calibri"/>
            </a:endParaRPr>
          </a:p>
          <a:p>
            <a:pPr marL="2163445" marR="5080" lvl="1" indent="-617855">
              <a:lnSpc>
                <a:spcPts val="2590"/>
              </a:lnSpc>
              <a:spcBef>
                <a:spcPts val="1445"/>
              </a:spcBef>
              <a:buClr>
                <a:srgbClr val="E38312"/>
              </a:buClr>
              <a:buFont typeface="Wingdings"/>
              <a:buChar char=""/>
              <a:tabLst>
                <a:tab pos="2022475" algn="l"/>
                <a:tab pos="2023110" algn="l"/>
              </a:tabLst>
            </a:pPr>
            <a:r>
              <a:rPr sz="2400" dirty="0">
                <a:solidFill>
                  <a:srgbClr val="404040"/>
                </a:solidFill>
                <a:latin typeface="Calibri"/>
                <a:cs typeface="Calibri"/>
              </a:rPr>
              <a:t>insertion</a:t>
            </a:r>
            <a:r>
              <a:rPr sz="2400" spc="70" dirty="0">
                <a:solidFill>
                  <a:srgbClr val="404040"/>
                </a:solidFill>
                <a:latin typeface="Calibri"/>
                <a:cs typeface="Calibri"/>
              </a:rPr>
              <a:t> </a:t>
            </a:r>
            <a:r>
              <a:rPr sz="2400" spc="-10" dirty="0">
                <a:solidFill>
                  <a:srgbClr val="404040"/>
                </a:solidFill>
                <a:latin typeface="Calibri"/>
                <a:cs typeface="Calibri"/>
              </a:rPr>
              <a:t>of</a:t>
            </a:r>
            <a:r>
              <a:rPr sz="2400" spc="85" dirty="0">
                <a:solidFill>
                  <a:srgbClr val="404040"/>
                </a:solidFill>
                <a:latin typeface="Calibri"/>
                <a:cs typeface="Calibri"/>
              </a:rPr>
              <a:t> </a:t>
            </a:r>
            <a:r>
              <a:rPr sz="2400" spc="-5" dirty="0">
                <a:solidFill>
                  <a:srgbClr val="404040"/>
                </a:solidFill>
                <a:latin typeface="Calibri"/>
                <a:cs typeface="Calibri"/>
              </a:rPr>
              <a:t>sleep</a:t>
            </a:r>
            <a:r>
              <a:rPr sz="2400" spc="85" dirty="0">
                <a:solidFill>
                  <a:srgbClr val="404040"/>
                </a:solidFill>
                <a:latin typeface="Calibri"/>
                <a:cs typeface="Calibri"/>
              </a:rPr>
              <a:t> </a:t>
            </a:r>
            <a:r>
              <a:rPr sz="2400" spc="-15" dirty="0">
                <a:solidFill>
                  <a:srgbClr val="404040"/>
                </a:solidFill>
                <a:latin typeface="Calibri"/>
                <a:cs typeface="Calibri"/>
              </a:rPr>
              <a:t>transistors</a:t>
            </a:r>
            <a:r>
              <a:rPr sz="2400" spc="75" dirty="0">
                <a:solidFill>
                  <a:srgbClr val="404040"/>
                </a:solidFill>
                <a:latin typeface="Calibri"/>
                <a:cs typeface="Calibri"/>
              </a:rPr>
              <a:t> </a:t>
            </a:r>
            <a:r>
              <a:rPr sz="2400" dirty="0">
                <a:solidFill>
                  <a:srgbClr val="404040"/>
                </a:solidFill>
                <a:latin typeface="Calibri"/>
                <a:cs typeface="Calibri"/>
              </a:rPr>
              <a:t>and</a:t>
            </a:r>
            <a:r>
              <a:rPr sz="2400" spc="80" dirty="0">
                <a:solidFill>
                  <a:srgbClr val="404040"/>
                </a:solidFill>
                <a:latin typeface="Calibri"/>
                <a:cs typeface="Calibri"/>
              </a:rPr>
              <a:t> </a:t>
            </a:r>
            <a:r>
              <a:rPr sz="2400" spc="-15" dirty="0">
                <a:solidFill>
                  <a:srgbClr val="404040"/>
                </a:solidFill>
                <a:latin typeface="Calibri"/>
                <a:cs typeface="Calibri"/>
              </a:rPr>
              <a:t>many</a:t>
            </a:r>
            <a:r>
              <a:rPr sz="2400" spc="95" dirty="0">
                <a:solidFill>
                  <a:srgbClr val="404040"/>
                </a:solidFill>
                <a:latin typeface="Calibri"/>
                <a:cs typeface="Calibri"/>
              </a:rPr>
              <a:t> </a:t>
            </a:r>
            <a:r>
              <a:rPr sz="2400" spc="-5" dirty="0">
                <a:solidFill>
                  <a:srgbClr val="404040"/>
                </a:solidFill>
                <a:latin typeface="Calibri"/>
                <a:cs typeface="Calibri"/>
              </a:rPr>
              <a:t>other</a:t>
            </a:r>
            <a:r>
              <a:rPr sz="2400" spc="80" dirty="0">
                <a:solidFill>
                  <a:srgbClr val="404040"/>
                </a:solidFill>
                <a:latin typeface="Calibri"/>
                <a:cs typeface="Calibri"/>
              </a:rPr>
              <a:t> </a:t>
            </a:r>
            <a:r>
              <a:rPr sz="2400" spc="-5" dirty="0">
                <a:solidFill>
                  <a:srgbClr val="404040"/>
                </a:solidFill>
                <a:latin typeface="Calibri"/>
                <a:cs typeface="Calibri"/>
              </a:rPr>
              <a:t>methods</a:t>
            </a:r>
            <a:r>
              <a:rPr sz="2400" spc="70" dirty="0">
                <a:solidFill>
                  <a:srgbClr val="404040"/>
                </a:solidFill>
                <a:latin typeface="Calibri"/>
                <a:cs typeface="Calibri"/>
              </a:rPr>
              <a:t> </a:t>
            </a:r>
            <a:r>
              <a:rPr sz="2400" spc="-15" dirty="0">
                <a:solidFill>
                  <a:srgbClr val="404040"/>
                </a:solidFill>
                <a:latin typeface="Calibri"/>
                <a:cs typeface="Calibri"/>
              </a:rPr>
              <a:t>to</a:t>
            </a:r>
            <a:r>
              <a:rPr sz="2400" spc="80" dirty="0">
                <a:solidFill>
                  <a:srgbClr val="404040"/>
                </a:solidFill>
                <a:latin typeface="Calibri"/>
                <a:cs typeface="Calibri"/>
              </a:rPr>
              <a:t> </a:t>
            </a:r>
            <a:r>
              <a:rPr sz="2400" spc="-10" dirty="0">
                <a:solidFill>
                  <a:srgbClr val="404040"/>
                </a:solidFill>
                <a:latin typeface="Calibri"/>
                <a:cs typeface="Calibri"/>
              </a:rPr>
              <a:t>lower </a:t>
            </a:r>
            <a:r>
              <a:rPr sz="2400" spc="-530" dirty="0">
                <a:solidFill>
                  <a:srgbClr val="404040"/>
                </a:solidFill>
                <a:latin typeface="Calibri"/>
                <a:cs typeface="Calibri"/>
              </a:rPr>
              <a:t> </a:t>
            </a:r>
            <a:r>
              <a:rPr sz="2400" spc="-5" dirty="0">
                <a:solidFill>
                  <a:srgbClr val="404040"/>
                </a:solidFill>
                <a:latin typeface="Calibri"/>
                <a:cs typeface="Calibri"/>
              </a:rPr>
              <a:t>the TDP</a:t>
            </a:r>
            <a:r>
              <a:rPr sz="2400" spc="-10" dirty="0">
                <a:solidFill>
                  <a:srgbClr val="404040"/>
                </a:solidFill>
                <a:latin typeface="Calibri"/>
                <a:cs typeface="Calibri"/>
              </a:rPr>
              <a:t> </a:t>
            </a:r>
            <a:r>
              <a:rPr sz="2400" spc="-5" dirty="0">
                <a:solidFill>
                  <a:srgbClr val="404040"/>
                </a:solidFill>
                <a:latin typeface="Calibri"/>
                <a:cs typeface="Calibri"/>
              </a:rPr>
              <a:t>of</a:t>
            </a:r>
            <a:r>
              <a:rPr sz="2400" spc="5" dirty="0">
                <a:solidFill>
                  <a:srgbClr val="404040"/>
                </a:solidFill>
                <a:latin typeface="Calibri"/>
                <a:cs typeface="Calibri"/>
              </a:rPr>
              <a:t> </a:t>
            </a:r>
            <a:r>
              <a:rPr sz="2400" spc="-5" dirty="0">
                <a:solidFill>
                  <a:srgbClr val="404040"/>
                </a:solidFill>
                <a:latin typeface="Calibri"/>
                <a:cs typeface="Calibri"/>
              </a:rPr>
              <a:t>the</a:t>
            </a:r>
            <a:r>
              <a:rPr sz="2400" dirty="0">
                <a:solidFill>
                  <a:srgbClr val="404040"/>
                </a:solidFill>
                <a:latin typeface="Calibri"/>
                <a:cs typeface="Calibri"/>
              </a:rPr>
              <a:t> </a:t>
            </a:r>
            <a:r>
              <a:rPr sz="2400" spc="-10" dirty="0">
                <a:solidFill>
                  <a:srgbClr val="404040"/>
                </a:solidFill>
                <a:latin typeface="Calibri"/>
                <a:cs typeface="Calibri"/>
              </a:rPr>
              <a:t>processor</a:t>
            </a:r>
            <a:r>
              <a:rPr sz="2400" spc="-5" dirty="0">
                <a:solidFill>
                  <a:srgbClr val="404040"/>
                </a:solidFill>
                <a:latin typeface="Calibri"/>
                <a:cs typeface="Calibri"/>
              </a:rPr>
              <a:t> </a:t>
            </a:r>
            <a:r>
              <a:rPr sz="2400" spc="-15" dirty="0">
                <a:solidFill>
                  <a:srgbClr val="404040"/>
                </a:solidFill>
                <a:latin typeface="Calibri"/>
                <a:cs typeface="Calibri"/>
              </a:rPr>
              <a:t>are</a:t>
            </a:r>
            <a:r>
              <a:rPr sz="2400" spc="-5" dirty="0">
                <a:solidFill>
                  <a:srgbClr val="404040"/>
                </a:solidFill>
                <a:latin typeface="Calibri"/>
                <a:cs typeface="Calibri"/>
              </a:rPr>
              <a:t> adopted.</a:t>
            </a:r>
            <a:endParaRPr sz="2400" dirty="0">
              <a:latin typeface="Calibri"/>
              <a:cs typeface="Calibri"/>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31</a:t>
            </a:r>
            <a:endParaRPr sz="105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4659630" cy="756920"/>
          </a:xfrm>
          <a:prstGeom prst="rect">
            <a:avLst/>
          </a:prstGeom>
        </p:spPr>
        <p:txBody>
          <a:bodyPr vert="horz" wrap="square" lIns="0" tIns="12700" rIns="0" bIns="0" rtlCol="0">
            <a:spAutoFit/>
          </a:bodyPr>
          <a:lstStyle/>
          <a:p>
            <a:pPr marL="12700">
              <a:lnSpc>
                <a:spcPct val="100000"/>
              </a:lnSpc>
              <a:spcBef>
                <a:spcPts val="100"/>
              </a:spcBef>
            </a:pPr>
            <a:r>
              <a:rPr sz="4800" b="0" spc="-40" dirty="0">
                <a:solidFill>
                  <a:srgbClr val="00AFEF"/>
                </a:solidFill>
                <a:latin typeface="Calibri Light"/>
                <a:cs typeface="Calibri Light"/>
              </a:rPr>
              <a:t>2.13.1</a:t>
            </a:r>
            <a:r>
              <a:rPr sz="4800" b="0" spc="-150" dirty="0">
                <a:solidFill>
                  <a:srgbClr val="00AFEF"/>
                </a:solidFill>
                <a:latin typeface="Calibri Light"/>
                <a:cs typeface="Calibri Light"/>
              </a:rPr>
              <a:t> </a:t>
            </a:r>
            <a:r>
              <a:rPr sz="4800" b="0" spc="-40" dirty="0">
                <a:solidFill>
                  <a:srgbClr val="00AFEF"/>
                </a:solidFill>
                <a:latin typeface="Calibri Light"/>
                <a:cs typeface="Calibri Light"/>
              </a:rPr>
              <a:t>Design</a:t>
            </a:r>
            <a:r>
              <a:rPr sz="4800" b="0" spc="-155" dirty="0">
                <a:solidFill>
                  <a:srgbClr val="00AFEF"/>
                </a:solidFill>
                <a:latin typeface="Calibri Light"/>
                <a:cs typeface="Calibri Light"/>
              </a:rPr>
              <a:t> </a:t>
            </a:r>
            <a:r>
              <a:rPr sz="4800" b="0" spc="-75" dirty="0">
                <a:solidFill>
                  <a:srgbClr val="00AFEF"/>
                </a:solidFill>
                <a:latin typeface="Calibri Light"/>
                <a:cs typeface="Calibri Light"/>
              </a:rPr>
              <a:t>stage</a:t>
            </a:r>
            <a:endParaRPr sz="4800">
              <a:latin typeface="Calibri Light"/>
              <a:cs typeface="Calibri Light"/>
            </a:endParaRPr>
          </a:p>
        </p:txBody>
      </p:sp>
      <p:sp>
        <p:nvSpPr>
          <p:cNvPr id="7" name="object 7"/>
          <p:cNvSpPr txBox="1"/>
          <p:nvPr/>
        </p:nvSpPr>
        <p:spPr>
          <a:xfrm>
            <a:off x="1359153" y="1688719"/>
            <a:ext cx="10216515" cy="4311650"/>
          </a:xfrm>
          <a:prstGeom prst="rect">
            <a:avLst/>
          </a:prstGeom>
        </p:spPr>
        <p:txBody>
          <a:bodyPr vert="horz" wrap="square" lIns="0" tIns="117475" rIns="0" bIns="0" rtlCol="0">
            <a:spAutoFit/>
          </a:bodyPr>
          <a:lstStyle/>
          <a:p>
            <a:pPr marL="315595" indent="-303530">
              <a:lnSpc>
                <a:spcPct val="100000"/>
              </a:lnSpc>
              <a:spcBef>
                <a:spcPts val="925"/>
              </a:spcBef>
              <a:buAutoNum type="arabicPeriod" startAt="2"/>
              <a:tabLst>
                <a:tab pos="316230" algn="l"/>
              </a:tabLst>
            </a:pPr>
            <a:r>
              <a:rPr sz="2400" b="1" spc="-20" dirty="0">
                <a:solidFill>
                  <a:srgbClr val="404040"/>
                </a:solidFill>
                <a:latin typeface="Calibri"/>
                <a:cs typeface="Calibri"/>
              </a:rPr>
              <a:t>System</a:t>
            </a:r>
            <a:r>
              <a:rPr sz="2400" b="1" spc="-40" dirty="0">
                <a:solidFill>
                  <a:srgbClr val="404040"/>
                </a:solidFill>
                <a:latin typeface="Calibri"/>
                <a:cs typeface="Calibri"/>
              </a:rPr>
              <a:t> </a:t>
            </a:r>
            <a:r>
              <a:rPr sz="2400" b="1" spc="-5" dirty="0">
                <a:solidFill>
                  <a:srgbClr val="404040"/>
                </a:solidFill>
                <a:latin typeface="Calibri"/>
                <a:cs typeface="Calibri"/>
              </a:rPr>
              <a:t>Design:</a:t>
            </a:r>
            <a:endParaRPr sz="2400">
              <a:latin typeface="Calibri"/>
              <a:cs typeface="Calibri"/>
            </a:endParaRPr>
          </a:p>
          <a:p>
            <a:pPr marL="2071370" marR="8255" lvl="1" indent="-94615" algn="just">
              <a:lnSpc>
                <a:spcPts val="2300"/>
              </a:lnSpc>
              <a:spcBef>
                <a:spcPts val="1390"/>
              </a:spcBef>
              <a:buClr>
                <a:srgbClr val="E38312"/>
              </a:buClr>
              <a:buFont typeface="Wingdings"/>
              <a:buChar char=""/>
              <a:tabLst>
                <a:tab pos="2317750" algn="l"/>
              </a:tabLst>
            </a:pPr>
            <a:r>
              <a:rPr sz="2400" spc="-10" dirty="0">
                <a:solidFill>
                  <a:srgbClr val="404040"/>
                </a:solidFill>
                <a:latin typeface="Calibri"/>
                <a:cs typeface="Calibri"/>
              </a:rPr>
              <a:t>Here </a:t>
            </a:r>
            <a:r>
              <a:rPr sz="2400" dirty="0">
                <a:solidFill>
                  <a:srgbClr val="404040"/>
                </a:solidFill>
                <a:latin typeface="Calibri"/>
                <a:cs typeface="Calibri"/>
              </a:rPr>
              <a:t>the </a:t>
            </a:r>
            <a:r>
              <a:rPr sz="2400" spc="-5" dirty="0">
                <a:solidFill>
                  <a:srgbClr val="404040"/>
                </a:solidFill>
                <a:latin typeface="Calibri"/>
                <a:cs typeface="Calibri"/>
              </a:rPr>
              <a:t>designer needs </a:t>
            </a:r>
            <a:r>
              <a:rPr sz="2400" spc="-15" dirty="0">
                <a:solidFill>
                  <a:srgbClr val="404040"/>
                </a:solidFill>
                <a:latin typeface="Calibri"/>
                <a:cs typeface="Calibri"/>
              </a:rPr>
              <a:t>to </a:t>
            </a:r>
            <a:r>
              <a:rPr sz="2400" spc="-5" dirty="0">
                <a:solidFill>
                  <a:srgbClr val="404040"/>
                </a:solidFill>
                <a:latin typeface="Calibri"/>
                <a:cs typeface="Calibri"/>
              </a:rPr>
              <a:t>choose low </a:t>
            </a:r>
            <a:r>
              <a:rPr sz="2400" spc="-10" dirty="0">
                <a:solidFill>
                  <a:srgbClr val="404040"/>
                </a:solidFill>
                <a:latin typeface="Calibri"/>
                <a:cs typeface="Calibri"/>
              </a:rPr>
              <a:t>power </a:t>
            </a:r>
            <a:r>
              <a:rPr sz="2400" dirty="0">
                <a:solidFill>
                  <a:srgbClr val="404040"/>
                </a:solidFill>
                <a:latin typeface="Calibri"/>
                <a:cs typeface="Calibri"/>
              </a:rPr>
              <a:t>I/O </a:t>
            </a:r>
            <a:r>
              <a:rPr sz="2400" spc="-5" dirty="0">
                <a:solidFill>
                  <a:srgbClr val="404040"/>
                </a:solidFill>
                <a:latin typeface="Calibri"/>
                <a:cs typeface="Calibri"/>
              </a:rPr>
              <a:t>devices, </a:t>
            </a:r>
            <a:r>
              <a:rPr sz="2400" dirty="0">
                <a:solidFill>
                  <a:srgbClr val="404040"/>
                </a:solidFill>
                <a:latin typeface="Calibri"/>
                <a:cs typeface="Calibri"/>
              </a:rPr>
              <a:t>and </a:t>
            </a:r>
            <a:r>
              <a:rPr sz="2400" spc="5" dirty="0">
                <a:solidFill>
                  <a:srgbClr val="404040"/>
                </a:solidFill>
                <a:latin typeface="Calibri"/>
                <a:cs typeface="Calibri"/>
              </a:rPr>
              <a:t> </a:t>
            </a:r>
            <a:r>
              <a:rPr sz="2400" spc="-5" dirty="0">
                <a:solidFill>
                  <a:srgbClr val="404040"/>
                </a:solidFill>
                <a:latin typeface="Calibri"/>
                <a:cs typeface="Calibri"/>
              </a:rPr>
              <a:t>of</a:t>
            </a:r>
            <a:r>
              <a:rPr sz="2400" spc="-10" dirty="0">
                <a:solidFill>
                  <a:srgbClr val="404040"/>
                </a:solidFill>
                <a:latin typeface="Calibri"/>
                <a:cs typeface="Calibri"/>
              </a:rPr>
              <a:t> low complexity</a:t>
            </a:r>
            <a:r>
              <a:rPr sz="2400" spc="-20" dirty="0">
                <a:solidFill>
                  <a:srgbClr val="404040"/>
                </a:solidFill>
                <a:latin typeface="Calibri"/>
                <a:cs typeface="Calibri"/>
              </a:rPr>
              <a:t> </a:t>
            </a:r>
            <a:r>
              <a:rPr sz="2400" spc="-15" dirty="0">
                <a:solidFill>
                  <a:srgbClr val="404040"/>
                </a:solidFill>
                <a:latin typeface="Calibri"/>
                <a:cs typeface="Calibri"/>
              </a:rPr>
              <a:t>hardware.</a:t>
            </a:r>
            <a:endParaRPr sz="2400">
              <a:latin typeface="Calibri"/>
              <a:cs typeface="Calibri"/>
            </a:endParaRPr>
          </a:p>
          <a:p>
            <a:pPr marL="2071370" marR="7620" lvl="1" indent="-94615" algn="just">
              <a:lnSpc>
                <a:spcPct val="80000"/>
              </a:lnSpc>
              <a:spcBef>
                <a:spcPts val="1415"/>
              </a:spcBef>
              <a:buClr>
                <a:srgbClr val="E38312"/>
              </a:buClr>
              <a:buFont typeface="Wingdings"/>
              <a:buChar char=""/>
              <a:tabLst>
                <a:tab pos="2249805" algn="l"/>
              </a:tabLst>
            </a:pPr>
            <a:r>
              <a:rPr sz="2400" spc="-5" dirty="0">
                <a:solidFill>
                  <a:srgbClr val="404040"/>
                </a:solidFill>
                <a:latin typeface="Calibri"/>
                <a:cs typeface="Calibri"/>
              </a:rPr>
              <a:t>The</a:t>
            </a:r>
            <a:r>
              <a:rPr sz="2400" dirty="0">
                <a:solidFill>
                  <a:srgbClr val="404040"/>
                </a:solidFill>
                <a:latin typeface="Calibri"/>
                <a:cs typeface="Calibri"/>
              </a:rPr>
              <a:t> clock</a:t>
            </a:r>
            <a:r>
              <a:rPr sz="2400" spc="5" dirty="0">
                <a:solidFill>
                  <a:srgbClr val="404040"/>
                </a:solidFill>
                <a:latin typeface="Calibri"/>
                <a:cs typeface="Calibri"/>
              </a:rPr>
              <a:t> </a:t>
            </a:r>
            <a:r>
              <a:rPr sz="2400" spc="-5" dirty="0">
                <a:solidFill>
                  <a:srgbClr val="404040"/>
                </a:solidFill>
                <a:latin typeface="Calibri"/>
                <a:cs typeface="Calibri"/>
              </a:rPr>
              <a:t>frequency</a:t>
            </a:r>
            <a:r>
              <a:rPr sz="2400" dirty="0">
                <a:solidFill>
                  <a:srgbClr val="404040"/>
                </a:solidFill>
                <a:latin typeface="Calibri"/>
                <a:cs typeface="Calibri"/>
              </a:rPr>
              <a:t> </a:t>
            </a:r>
            <a:r>
              <a:rPr sz="2400" spc="-5" dirty="0">
                <a:solidFill>
                  <a:srgbClr val="404040"/>
                </a:solidFill>
                <a:latin typeface="Calibri"/>
                <a:cs typeface="Calibri"/>
              </a:rPr>
              <a:t>used</a:t>
            </a:r>
            <a:r>
              <a:rPr sz="2400" dirty="0">
                <a:solidFill>
                  <a:srgbClr val="404040"/>
                </a:solidFill>
                <a:latin typeface="Calibri"/>
                <a:cs typeface="Calibri"/>
              </a:rPr>
              <a:t> is</a:t>
            </a:r>
            <a:r>
              <a:rPr sz="2400" spc="5"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20" dirty="0">
                <a:solidFill>
                  <a:srgbClr val="404040"/>
                </a:solidFill>
                <a:latin typeface="Calibri"/>
                <a:cs typeface="Calibri"/>
              </a:rPr>
              <a:t>matter</a:t>
            </a:r>
            <a:r>
              <a:rPr sz="2400" spc="-15" dirty="0">
                <a:solidFill>
                  <a:srgbClr val="404040"/>
                </a:solidFill>
                <a:latin typeface="Calibri"/>
                <a:cs typeface="Calibri"/>
              </a:rPr>
              <a:t> </a:t>
            </a:r>
            <a:r>
              <a:rPr sz="2400" spc="-5" dirty="0">
                <a:solidFill>
                  <a:srgbClr val="404040"/>
                </a:solidFill>
                <a:latin typeface="Calibri"/>
                <a:cs typeface="Calibri"/>
              </a:rPr>
              <a:t>of</a:t>
            </a:r>
            <a:r>
              <a:rPr sz="2400" dirty="0">
                <a:solidFill>
                  <a:srgbClr val="404040"/>
                </a:solidFill>
                <a:latin typeface="Calibri"/>
                <a:cs typeface="Calibri"/>
              </a:rPr>
              <a:t> </a:t>
            </a:r>
            <a:r>
              <a:rPr sz="2400" spc="-5" dirty="0">
                <a:solidFill>
                  <a:srgbClr val="404040"/>
                </a:solidFill>
                <a:latin typeface="Calibri"/>
                <a:cs typeface="Calibri"/>
              </a:rPr>
              <a:t>importance</a:t>
            </a:r>
            <a:r>
              <a:rPr sz="2400" spc="530" dirty="0">
                <a:solidFill>
                  <a:srgbClr val="404040"/>
                </a:solidFill>
                <a:latin typeface="Calibri"/>
                <a:cs typeface="Calibri"/>
              </a:rPr>
              <a:t> </a:t>
            </a:r>
            <a:r>
              <a:rPr sz="2400" dirty="0">
                <a:solidFill>
                  <a:srgbClr val="404040"/>
                </a:solidFill>
                <a:latin typeface="Calibri"/>
                <a:cs typeface="Calibri"/>
              </a:rPr>
              <a:t>as</a:t>
            </a:r>
            <a:r>
              <a:rPr sz="2400" spc="545" dirty="0">
                <a:solidFill>
                  <a:srgbClr val="404040"/>
                </a:solidFill>
                <a:latin typeface="Calibri"/>
                <a:cs typeface="Calibri"/>
              </a:rPr>
              <a:t> </a:t>
            </a:r>
            <a:r>
              <a:rPr sz="2400" spc="-5" dirty="0">
                <a:solidFill>
                  <a:srgbClr val="404040"/>
                </a:solidFill>
                <a:latin typeface="Calibri"/>
                <a:cs typeface="Calibri"/>
              </a:rPr>
              <a:t>high </a:t>
            </a:r>
            <a:r>
              <a:rPr sz="2400" spc="-530" dirty="0">
                <a:solidFill>
                  <a:srgbClr val="404040"/>
                </a:solidFill>
                <a:latin typeface="Calibri"/>
                <a:cs typeface="Calibri"/>
              </a:rPr>
              <a:t> </a:t>
            </a:r>
            <a:r>
              <a:rPr sz="2400" spc="-5" dirty="0">
                <a:solidFill>
                  <a:srgbClr val="404040"/>
                </a:solidFill>
                <a:latin typeface="Calibri"/>
                <a:cs typeface="Calibri"/>
              </a:rPr>
              <a:t>clock</a:t>
            </a:r>
            <a:r>
              <a:rPr sz="2400" spc="-30" dirty="0">
                <a:solidFill>
                  <a:srgbClr val="404040"/>
                </a:solidFill>
                <a:latin typeface="Calibri"/>
                <a:cs typeface="Calibri"/>
              </a:rPr>
              <a:t> </a:t>
            </a:r>
            <a:r>
              <a:rPr sz="2400" spc="-5" dirty="0">
                <a:solidFill>
                  <a:srgbClr val="404040"/>
                </a:solidFill>
                <a:latin typeface="Calibri"/>
                <a:cs typeface="Calibri"/>
              </a:rPr>
              <a:t>speeds</a:t>
            </a:r>
            <a:r>
              <a:rPr sz="2400" spc="10" dirty="0">
                <a:solidFill>
                  <a:srgbClr val="404040"/>
                </a:solidFill>
                <a:latin typeface="Calibri"/>
                <a:cs typeface="Calibri"/>
              </a:rPr>
              <a:t> </a:t>
            </a:r>
            <a:r>
              <a:rPr sz="2400" spc="-5" dirty="0">
                <a:solidFill>
                  <a:srgbClr val="404040"/>
                </a:solidFill>
                <a:latin typeface="Calibri"/>
                <a:cs typeface="Calibri"/>
              </a:rPr>
              <a:t>directly</a:t>
            </a:r>
            <a:r>
              <a:rPr sz="2400" spc="-15" dirty="0">
                <a:solidFill>
                  <a:srgbClr val="404040"/>
                </a:solidFill>
                <a:latin typeface="Calibri"/>
                <a:cs typeface="Calibri"/>
              </a:rPr>
              <a:t> translate</a:t>
            </a:r>
            <a:r>
              <a:rPr sz="2400" spc="-10" dirty="0">
                <a:solidFill>
                  <a:srgbClr val="404040"/>
                </a:solidFill>
                <a:latin typeface="Calibri"/>
                <a:cs typeface="Calibri"/>
              </a:rPr>
              <a:t> </a:t>
            </a:r>
            <a:r>
              <a:rPr sz="2400" spc="-15" dirty="0">
                <a:solidFill>
                  <a:srgbClr val="404040"/>
                </a:solidFill>
                <a:latin typeface="Calibri"/>
                <a:cs typeface="Calibri"/>
              </a:rPr>
              <a:t>to</a:t>
            </a:r>
            <a:r>
              <a:rPr sz="2400" spc="-10" dirty="0">
                <a:solidFill>
                  <a:srgbClr val="404040"/>
                </a:solidFill>
                <a:latin typeface="Calibri"/>
                <a:cs typeface="Calibri"/>
              </a:rPr>
              <a:t> </a:t>
            </a:r>
            <a:r>
              <a:rPr sz="2400" spc="-5" dirty="0">
                <a:solidFill>
                  <a:srgbClr val="404040"/>
                </a:solidFill>
                <a:latin typeface="Calibri"/>
                <a:cs typeface="Calibri"/>
              </a:rPr>
              <a:t>higher </a:t>
            </a:r>
            <a:r>
              <a:rPr sz="2400" spc="-50" dirty="0">
                <a:solidFill>
                  <a:srgbClr val="404040"/>
                </a:solidFill>
                <a:latin typeface="Calibri"/>
                <a:cs typeface="Calibri"/>
              </a:rPr>
              <a:t>power.</a:t>
            </a:r>
            <a:endParaRPr sz="2400">
              <a:latin typeface="Calibri"/>
              <a:cs typeface="Calibri"/>
            </a:endParaRPr>
          </a:p>
          <a:p>
            <a:pPr marL="2071370" marR="6985" lvl="1" indent="-94615" algn="just">
              <a:lnSpc>
                <a:spcPct val="80000"/>
              </a:lnSpc>
              <a:spcBef>
                <a:spcPts val="1405"/>
              </a:spcBef>
              <a:buClr>
                <a:srgbClr val="E38312"/>
              </a:buClr>
              <a:buFont typeface="Wingdings"/>
              <a:buChar char=""/>
              <a:tabLst>
                <a:tab pos="2249805" algn="l"/>
              </a:tabLst>
            </a:pPr>
            <a:r>
              <a:rPr sz="2400" dirty="0">
                <a:solidFill>
                  <a:srgbClr val="404040"/>
                </a:solidFill>
                <a:latin typeface="Calibri"/>
                <a:cs typeface="Calibri"/>
              </a:rPr>
              <a:t>Unless</a:t>
            </a:r>
            <a:r>
              <a:rPr sz="2400" spc="500" dirty="0">
                <a:solidFill>
                  <a:srgbClr val="404040"/>
                </a:solidFill>
                <a:latin typeface="Calibri"/>
                <a:cs typeface="Calibri"/>
              </a:rPr>
              <a:t> </a:t>
            </a:r>
            <a:r>
              <a:rPr sz="2400" spc="-10" dirty="0">
                <a:solidFill>
                  <a:srgbClr val="404040"/>
                </a:solidFill>
                <a:latin typeface="Calibri"/>
                <a:cs typeface="Calibri"/>
              </a:rPr>
              <a:t>there  </a:t>
            </a:r>
            <a:r>
              <a:rPr sz="2400" dirty="0">
                <a:solidFill>
                  <a:srgbClr val="404040"/>
                </a:solidFill>
                <a:latin typeface="Calibri"/>
                <a:cs typeface="Calibri"/>
              </a:rPr>
              <a:t>is</a:t>
            </a:r>
            <a:r>
              <a:rPr sz="2400" spc="509" dirty="0">
                <a:solidFill>
                  <a:srgbClr val="404040"/>
                </a:solidFill>
                <a:latin typeface="Calibri"/>
                <a:cs typeface="Calibri"/>
              </a:rPr>
              <a:t> </a:t>
            </a:r>
            <a:r>
              <a:rPr sz="2400" dirty="0">
                <a:solidFill>
                  <a:srgbClr val="404040"/>
                </a:solidFill>
                <a:latin typeface="Calibri"/>
                <a:cs typeface="Calibri"/>
              </a:rPr>
              <a:t>a</a:t>
            </a:r>
            <a:r>
              <a:rPr sz="2400" spc="520" dirty="0">
                <a:solidFill>
                  <a:srgbClr val="404040"/>
                </a:solidFill>
                <a:latin typeface="Calibri"/>
                <a:cs typeface="Calibri"/>
              </a:rPr>
              <a:t> </a:t>
            </a:r>
            <a:r>
              <a:rPr sz="2400" spc="-10" dirty="0">
                <a:solidFill>
                  <a:srgbClr val="404040"/>
                </a:solidFill>
                <a:latin typeface="Calibri"/>
                <a:cs typeface="Calibri"/>
              </a:rPr>
              <a:t>real</a:t>
            </a:r>
            <a:r>
              <a:rPr sz="2400" spc="505" dirty="0">
                <a:solidFill>
                  <a:srgbClr val="404040"/>
                </a:solidFill>
                <a:latin typeface="Calibri"/>
                <a:cs typeface="Calibri"/>
              </a:rPr>
              <a:t> </a:t>
            </a:r>
            <a:r>
              <a:rPr sz="2400" spc="-10" dirty="0">
                <a:solidFill>
                  <a:srgbClr val="404040"/>
                </a:solidFill>
                <a:latin typeface="Calibri"/>
                <a:cs typeface="Calibri"/>
              </a:rPr>
              <a:t>requirement</a:t>
            </a:r>
            <a:r>
              <a:rPr sz="2400" spc="515" dirty="0">
                <a:solidFill>
                  <a:srgbClr val="404040"/>
                </a:solidFill>
                <a:latin typeface="Calibri"/>
                <a:cs typeface="Calibri"/>
              </a:rPr>
              <a:t> </a:t>
            </a:r>
            <a:r>
              <a:rPr sz="2400" spc="-20" dirty="0">
                <a:solidFill>
                  <a:srgbClr val="404040"/>
                </a:solidFill>
                <a:latin typeface="Calibri"/>
                <a:cs typeface="Calibri"/>
              </a:rPr>
              <a:t>for</a:t>
            </a:r>
            <a:r>
              <a:rPr sz="2400" spc="-10" dirty="0">
                <a:solidFill>
                  <a:srgbClr val="404040"/>
                </a:solidFill>
                <a:latin typeface="Calibri"/>
                <a:cs typeface="Calibri"/>
              </a:rPr>
              <a:t> </a:t>
            </a:r>
            <a:r>
              <a:rPr sz="2400" spc="-5" dirty="0">
                <a:solidFill>
                  <a:srgbClr val="404040"/>
                </a:solidFill>
                <a:latin typeface="Calibri"/>
                <a:cs typeface="Calibri"/>
              </a:rPr>
              <a:t>high</a:t>
            </a:r>
            <a:r>
              <a:rPr sz="2400" spc="515" dirty="0">
                <a:solidFill>
                  <a:srgbClr val="404040"/>
                </a:solidFill>
                <a:latin typeface="Calibri"/>
                <a:cs typeface="Calibri"/>
              </a:rPr>
              <a:t> </a:t>
            </a:r>
            <a:r>
              <a:rPr sz="2400" spc="-5" dirty="0">
                <a:solidFill>
                  <a:srgbClr val="404040"/>
                </a:solidFill>
                <a:latin typeface="Calibri"/>
                <a:cs typeface="Calibri"/>
              </a:rPr>
              <a:t>speed,</a:t>
            </a:r>
            <a:r>
              <a:rPr sz="2400" spc="520" dirty="0">
                <a:solidFill>
                  <a:srgbClr val="404040"/>
                </a:solidFill>
                <a:latin typeface="Calibri"/>
                <a:cs typeface="Calibri"/>
              </a:rPr>
              <a:t> </a:t>
            </a:r>
            <a:r>
              <a:rPr sz="2400" spc="-15" dirty="0">
                <a:solidFill>
                  <a:srgbClr val="404040"/>
                </a:solidFill>
                <a:latin typeface="Calibri"/>
                <a:cs typeface="Calibri"/>
              </a:rPr>
              <a:t>refraining </a:t>
            </a:r>
            <a:r>
              <a:rPr sz="2400" spc="-535" dirty="0">
                <a:solidFill>
                  <a:srgbClr val="404040"/>
                </a:solidFill>
                <a:latin typeface="Calibri"/>
                <a:cs typeface="Calibri"/>
              </a:rPr>
              <a:t> </a:t>
            </a:r>
            <a:r>
              <a:rPr sz="2400" spc="-15" dirty="0">
                <a:solidFill>
                  <a:srgbClr val="404040"/>
                </a:solidFill>
                <a:latin typeface="Calibri"/>
                <a:cs typeface="Calibri"/>
              </a:rPr>
              <a:t>from</a:t>
            </a:r>
            <a:r>
              <a:rPr sz="2400" spc="-20" dirty="0">
                <a:solidFill>
                  <a:srgbClr val="404040"/>
                </a:solidFill>
                <a:latin typeface="Calibri"/>
                <a:cs typeface="Calibri"/>
              </a:rPr>
              <a:t> </a:t>
            </a:r>
            <a:r>
              <a:rPr sz="2400" spc="-5" dirty="0">
                <a:solidFill>
                  <a:srgbClr val="404040"/>
                </a:solidFill>
                <a:latin typeface="Calibri"/>
                <a:cs typeface="Calibri"/>
              </a:rPr>
              <a:t>using</a:t>
            </a:r>
            <a:r>
              <a:rPr sz="2400" spc="-10" dirty="0">
                <a:solidFill>
                  <a:srgbClr val="404040"/>
                </a:solidFill>
                <a:latin typeface="Calibri"/>
                <a:cs typeface="Calibri"/>
              </a:rPr>
              <a:t> </a:t>
            </a:r>
            <a:r>
              <a:rPr sz="2400" spc="-5" dirty="0">
                <a:solidFill>
                  <a:srgbClr val="404040"/>
                </a:solidFill>
                <a:latin typeface="Calibri"/>
                <a:cs typeface="Calibri"/>
              </a:rPr>
              <a:t>high</a:t>
            </a:r>
            <a:r>
              <a:rPr sz="2400" spc="-10" dirty="0">
                <a:solidFill>
                  <a:srgbClr val="404040"/>
                </a:solidFill>
                <a:latin typeface="Calibri"/>
                <a:cs typeface="Calibri"/>
              </a:rPr>
              <a:t> </a:t>
            </a:r>
            <a:r>
              <a:rPr sz="2400" dirty="0">
                <a:solidFill>
                  <a:srgbClr val="404040"/>
                </a:solidFill>
                <a:latin typeface="Calibri"/>
                <a:cs typeface="Calibri"/>
              </a:rPr>
              <a:t>clock</a:t>
            </a:r>
            <a:r>
              <a:rPr sz="2400" spc="-25" dirty="0">
                <a:solidFill>
                  <a:srgbClr val="404040"/>
                </a:solidFill>
                <a:latin typeface="Calibri"/>
                <a:cs typeface="Calibri"/>
              </a:rPr>
              <a:t> </a:t>
            </a:r>
            <a:r>
              <a:rPr sz="2400" spc="-5" dirty="0">
                <a:solidFill>
                  <a:srgbClr val="404040"/>
                </a:solidFill>
                <a:latin typeface="Calibri"/>
                <a:cs typeface="Calibri"/>
              </a:rPr>
              <a:t>frequencies</a:t>
            </a:r>
            <a:r>
              <a:rPr sz="2400" spc="5" dirty="0">
                <a:solidFill>
                  <a:srgbClr val="404040"/>
                </a:solidFill>
                <a:latin typeface="Calibri"/>
                <a:cs typeface="Calibri"/>
              </a:rPr>
              <a:t> </a:t>
            </a:r>
            <a:r>
              <a:rPr sz="2400" dirty="0">
                <a:solidFill>
                  <a:srgbClr val="404040"/>
                </a:solidFill>
                <a:latin typeface="Calibri"/>
                <a:cs typeface="Calibri"/>
              </a:rPr>
              <a:t>is</a:t>
            </a:r>
            <a:r>
              <a:rPr sz="2400" spc="-20"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dirty="0">
                <a:solidFill>
                  <a:srgbClr val="404040"/>
                </a:solidFill>
                <a:latin typeface="Calibri"/>
                <a:cs typeface="Calibri"/>
              </a:rPr>
              <a:t>rule </a:t>
            </a:r>
            <a:r>
              <a:rPr sz="2400" spc="-15" dirty="0">
                <a:solidFill>
                  <a:srgbClr val="404040"/>
                </a:solidFill>
                <a:latin typeface="Calibri"/>
                <a:cs typeface="Calibri"/>
              </a:rPr>
              <a:t>to</a:t>
            </a:r>
            <a:r>
              <a:rPr sz="2400" spc="-25" dirty="0">
                <a:solidFill>
                  <a:srgbClr val="404040"/>
                </a:solidFill>
                <a:latin typeface="Calibri"/>
                <a:cs typeface="Calibri"/>
              </a:rPr>
              <a:t> </a:t>
            </a:r>
            <a:r>
              <a:rPr sz="2400" spc="-5" dirty="0">
                <a:solidFill>
                  <a:srgbClr val="404040"/>
                </a:solidFill>
                <a:latin typeface="Calibri"/>
                <a:cs typeface="Calibri"/>
              </a:rPr>
              <a:t>be</a:t>
            </a:r>
            <a:r>
              <a:rPr sz="2400" spc="5" dirty="0">
                <a:solidFill>
                  <a:srgbClr val="404040"/>
                </a:solidFill>
                <a:latin typeface="Calibri"/>
                <a:cs typeface="Calibri"/>
              </a:rPr>
              <a:t> </a:t>
            </a:r>
            <a:r>
              <a:rPr sz="2400" spc="-5" dirty="0">
                <a:solidFill>
                  <a:srgbClr val="404040"/>
                </a:solidFill>
                <a:latin typeface="Calibri"/>
                <a:cs typeface="Calibri"/>
              </a:rPr>
              <a:t>adhered</a:t>
            </a:r>
            <a:r>
              <a:rPr sz="2400" spc="10" dirty="0">
                <a:solidFill>
                  <a:srgbClr val="404040"/>
                </a:solidFill>
                <a:latin typeface="Calibri"/>
                <a:cs typeface="Calibri"/>
              </a:rPr>
              <a:t> </a:t>
            </a:r>
            <a:r>
              <a:rPr sz="2400" spc="-15" dirty="0">
                <a:solidFill>
                  <a:srgbClr val="404040"/>
                </a:solidFill>
                <a:latin typeface="Calibri"/>
                <a:cs typeface="Calibri"/>
              </a:rPr>
              <a:t>to.</a:t>
            </a:r>
            <a:endParaRPr sz="2400">
              <a:latin typeface="Calibri"/>
              <a:cs typeface="Calibri"/>
            </a:endParaRPr>
          </a:p>
          <a:p>
            <a:pPr marL="2317115" lvl="1" indent="-340995" algn="just">
              <a:lnSpc>
                <a:spcPct val="100000"/>
              </a:lnSpc>
              <a:spcBef>
                <a:spcPts val="830"/>
              </a:spcBef>
              <a:buClr>
                <a:srgbClr val="E38312"/>
              </a:buClr>
              <a:buFont typeface="Wingdings"/>
              <a:buChar char=""/>
              <a:tabLst>
                <a:tab pos="2317750" algn="l"/>
              </a:tabLst>
            </a:pPr>
            <a:r>
              <a:rPr sz="2400" spc="-5" dirty="0">
                <a:solidFill>
                  <a:srgbClr val="404040"/>
                </a:solidFill>
                <a:latin typeface="Calibri"/>
                <a:cs typeface="Calibri"/>
              </a:rPr>
              <a:t>Higher</a:t>
            </a:r>
            <a:r>
              <a:rPr sz="2400" spc="-15" dirty="0">
                <a:solidFill>
                  <a:srgbClr val="404040"/>
                </a:solidFill>
                <a:latin typeface="Calibri"/>
                <a:cs typeface="Calibri"/>
              </a:rPr>
              <a:t> </a:t>
            </a:r>
            <a:r>
              <a:rPr sz="2400" spc="-5" dirty="0">
                <a:solidFill>
                  <a:srgbClr val="404040"/>
                </a:solidFill>
                <a:latin typeface="Calibri"/>
                <a:cs typeface="Calibri"/>
              </a:rPr>
              <a:t>bus</a:t>
            </a:r>
            <a:r>
              <a:rPr sz="2400" spc="-15" dirty="0">
                <a:solidFill>
                  <a:srgbClr val="404040"/>
                </a:solidFill>
                <a:latin typeface="Calibri"/>
                <a:cs typeface="Calibri"/>
              </a:rPr>
              <a:t> </a:t>
            </a:r>
            <a:r>
              <a:rPr sz="2400" dirty="0">
                <a:solidFill>
                  <a:srgbClr val="404040"/>
                </a:solidFill>
                <a:latin typeface="Calibri"/>
                <a:cs typeface="Calibri"/>
              </a:rPr>
              <a:t>widths</a:t>
            </a:r>
            <a:r>
              <a:rPr sz="2400" spc="-15" dirty="0">
                <a:solidFill>
                  <a:srgbClr val="404040"/>
                </a:solidFill>
                <a:latin typeface="Calibri"/>
                <a:cs typeface="Calibri"/>
              </a:rPr>
              <a:t> </a:t>
            </a:r>
            <a:r>
              <a:rPr sz="2400" dirty="0">
                <a:solidFill>
                  <a:srgbClr val="404040"/>
                </a:solidFill>
                <a:latin typeface="Calibri"/>
                <a:cs typeface="Calibri"/>
              </a:rPr>
              <a:t>also</a:t>
            </a:r>
            <a:r>
              <a:rPr sz="2400" spc="-15" dirty="0">
                <a:solidFill>
                  <a:srgbClr val="404040"/>
                </a:solidFill>
                <a:latin typeface="Calibri"/>
                <a:cs typeface="Calibri"/>
              </a:rPr>
              <a:t> </a:t>
            </a:r>
            <a:r>
              <a:rPr sz="2400" spc="-10" dirty="0">
                <a:solidFill>
                  <a:srgbClr val="404040"/>
                </a:solidFill>
                <a:latin typeface="Calibri"/>
                <a:cs typeface="Calibri"/>
              </a:rPr>
              <a:t>contribute</a:t>
            </a:r>
            <a:r>
              <a:rPr sz="2400" spc="-15" dirty="0">
                <a:solidFill>
                  <a:srgbClr val="404040"/>
                </a:solidFill>
                <a:latin typeface="Calibri"/>
                <a:cs typeface="Calibri"/>
              </a:rPr>
              <a:t> to </a:t>
            </a:r>
            <a:r>
              <a:rPr sz="2400" spc="-5" dirty="0">
                <a:solidFill>
                  <a:srgbClr val="404040"/>
                </a:solidFill>
                <a:latin typeface="Calibri"/>
                <a:cs typeface="Calibri"/>
              </a:rPr>
              <a:t>higher</a:t>
            </a:r>
            <a:r>
              <a:rPr sz="2400" spc="-10" dirty="0">
                <a:solidFill>
                  <a:srgbClr val="404040"/>
                </a:solidFill>
                <a:latin typeface="Calibri"/>
                <a:cs typeface="Calibri"/>
              </a:rPr>
              <a:t> </a:t>
            </a:r>
            <a:r>
              <a:rPr sz="2400" spc="-50" dirty="0">
                <a:solidFill>
                  <a:srgbClr val="404040"/>
                </a:solidFill>
                <a:latin typeface="Calibri"/>
                <a:cs typeface="Calibri"/>
              </a:rPr>
              <a:t>power.</a:t>
            </a:r>
            <a:endParaRPr sz="2400">
              <a:latin typeface="Calibri"/>
              <a:cs typeface="Calibri"/>
            </a:endParaRPr>
          </a:p>
          <a:p>
            <a:pPr marL="2071370" marR="5080" lvl="1" indent="-94615" algn="just">
              <a:lnSpc>
                <a:spcPct val="80000"/>
              </a:lnSpc>
              <a:spcBef>
                <a:spcPts val="1395"/>
              </a:spcBef>
              <a:buClr>
                <a:srgbClr val="E38312"/>
              </a:buClr>
              <a:buFont typeface="Wingdings"/>
              <a:buChar char=""/>
              <a:tabLst>
                <a:tab pos="2317750" algn="l"/>
              </a:tabLst>
            </a:pPr>
            <a:r>
              <a:rPr sz="2400" spc="-5" dirty="0">
                <a:solidFill>
                  <a:srgbClr val="404040"/>
                </a:solidFill>
                <a:latin typeface="Calibri"/>
                <a:cs typeface="Calibri"/>
              </a:rPr>
              <a:t>It </a:t>
            </a:r>
            <a:r>
              <a:rPr sz="2400" dirty="0">
                <a:solidFill>
                  <a:srgbClr val="404040"/>
                </a:solidFill>
                <a:latin typeface="Calibri"/>
                <a:cs typeface="Calibri"/>
              </a:rPr>
              <a:t>is </a:t>
            </a:r>
            <a:r>
              <a:rPr sz="2400" spc="-5" dirty="0">
                <a:solidFill>
                  <a:srgbClr val="404040"/>
                </a:solidFill>
                <a:latin typeface="Calibri"/>
                <a:cs typeface="Calibri"/>
              </a:rPr>
              <a:t>up </a:t>
            </a:r>
            <a:r>
              <a:rPr sz="2400" spc="-15" dirty="0">
                <a:solidFill>
                  <a:srgbClr val="404040"/>
                </a:solidFill>
                <a:latin typeface="Calibri"/>
                <a:cs typeface="Calibri"/>
              </a:rPr>
              <a:t>to </a:t>
            </a:r>
            <a:r>
              <a:rPr sz="2400" spc="-10" dirty="0">
                <a:solidFill>
                  <a:srgbClr val="404040"/>
                </a:solidFill>
                <a:latin typeface="Calibri"/>
                <a:cs typeface="Calibri"/>
              </a:rPr>
              <a:t>the </a:t>
            </a:r>
            <a:r>
              <a:rPr sz="2400" spc="-15" dirty="0">
                <a:solidFill>
                  <a:srgbClr val="404040"/>
                </a:solidFill>
                <a:latin typeface="Calibri"/>
                <a:cs typeface="Calibri"/>
              </a:rPr>
              <a:t>hardware </a:t>
            </a:r>
            <a:r>
              <a:rPr sz="2400" spc="-5" dirty="0">
                <a:solidFill>
                  <a:srgbClr val="404040"/>
                </a:solidFill>
                <a:latin typeface="Calibri"/>
                <a:cs typeface="Calibri"/>
              </a:rPr>
              <a:t>designer </a:t>
            </a:r>
            <a:r>
              <a:rPr sz="2400" spc="-20" dirty="0">
                <a:solidFill>
                  <a:srgbClr val="404040"/>
                </a:solidFill>
                <a:latin typeface="Calibri"/>
                <a:cs typeface="Calibri"/>
              </a:rPr>
              <a:t>to </a:t>
            </a:r>
            <a:r>
              <a:rPr sz="2400" spc="-30" dirty="0">
                <a:solidFill>
                  <a:srgbClr val="404040"/>
                </a:solidFill>
                <a:latin typeface="Calibri"/>
                <a:cs typeface="Calibri"/>
              </a:rPr>
              <a:t>take </a:t>
            </a:r>
            <a:r>
              <a:rPr sz="2400" spc="-15" dirty="0">
                <a:solidFill>
                  <a:srgbClr val="404040"/>
                </a:solidFill>
                <a:latin typeface="Calibri"/>
                <a:cs typeface="Calibri"/>
              </a:rPr>
              <a:t>care </a:t>
            </a:r>
            <a:r>
              <a:rPr sz="2400" spc="-5" dirty="0">
                <a:solidFill>
                  <a:srgbClr val="404040"/>
                </a:solidFill>
                <a:latin typeface="Calibri"/>
                <a:cs typeface="Calibri"/>
              </a:rPr>
              <a:t>of </a:t>
            </a:r>
            <a:r>
              <a:rPr sz="2400" dirty="0">
                <a:solidFill>
                  <a:srgbClr val="404040"/>
                </a:solidFill>
                <a:latin typeface="Calibri"/>
                <a:cs typeface="Calibri"/>
              </a:rPr>
              <a:t>these </a:t>
            </a:r>
            <a:r>
              <a:rPr sz="2400" spc="-20" dirty="0">
                <a:solidFill>
                  <a:srgbClr val="404040"/>
                </a:solidFill>
                <a:latin typeface="Calibri"/>
                <a:cs typeface="Calibri"/>
              </a:rPr>
              <a:t>matters, </a:t>
            </a:r>
            <a:r>
              <a:rPr sz="2400" spc="-15" dirty="0">
                <a:solidFill>
                  <a:srgbClr val="404040"/>
                </a:solidFill>
                <a:latin typeface="Calibri"/>
                <a:cs typeface="Calibri"/>
              </a:rPr>
              <a:t> </a:t>
            </a:r>
            <a:r>
              <a:rPr sz="2400" dirty="0">
                <a:solidFill>
                  <a:srgbClr val="404040"/>
                </a:solidFill>
                <a:latin typeface="Calibri"/>
                <a:cs typeface="Calibri"/>
              </a:rPr>
              <a:t>while the </a:t>
            </a:r>
            <a:r>
              <a:rPr sz="2400" spc="-15" dirty="0">
                <a:solidFill>
                  <a:srgbClr val="404040"/>
                </a:solidFill>
                <a:latin typeface="Calibri"/>
                <a:cs typeface="Calibri"/>
              </a:rPr>
              <a:t>software </a:t>
            </a:r>
            <a:r>
              <a:rPr sz="2400" spc="-5" dirty="0">
                <a:solidFill>
                  <a:srgbClr val="404040"/>
                </a:solidFill>
                <a:latin typeface="Calibri"/>
                <a:cs typeface="Calibri"/>
              </a:rPr>
              <a:t>designer should </a:t>
            </a:r>
            <a:r>
              <a:rPr sz="2400" spc="-10" dirty="0">
                <a:solidFill>
                  <a:srgbClr val="404040"/>
                </a:solidFill>
                <a:latin typeface="Calibri"/>
                <a:cs typeface="Calibri"/>
              </a:rPr>
              <a:t>write optimum code </a:t>
            </a:r>
            <a:r>
              <a:rPr sz="2400" dirty="0">
                <a:solidFill>
                  <a:srgbClr val="404040"/>
                </a:solidFill>
                <a:latin typeface="Calibri"/>
                <a:cs typeface="Calibri"/>
              </a:rPr>
              <a:t>which </a:t>
            </a:r>
            <a:r>
              <a:rPr sz="2400" spc="5" dirty="0">
                <a:solidFill>
                  <a:srgbClr val="404040"/>
                </a:solidFill>
                <a:latin typeface="Calibri"/>
                <a:cs typeface="Calibri"/>
              </a:rPr>
              <a:t> </a:t>
            </a:r>
            <a:r>
              <a:rPr sz="2400" spc="-5" dirty="0">
                <a:solidFill>
                  <a:srgbClr val="404040"/>
                </a:solidFill>
                <a:latin typeface="Calibri"/>
                <a:cs typeface="Calibri"/>
              </a:rPr>
              <a:t>uses</a:t>
            </a:r>
            <a:r>
              <a:rPr sz="2400" spc="-10" dirty="0">
                <a:solidFill>
                  <a:srgbClr val="404040"/>
                </a:solidFill>
                <a:latin typeface="Calibri"/>
                <a:cs typeface="Calibri"/>
              </a:rPr>
              <a:t> </a:t>
            </a:r>
            <a:r>
              <a:rPr sz="2400" spc="-5" dirty="0">
                <a:solidFill>
                  <a:srgbClr val="404040"/>
                </a:solidFill>
                <a:latin typeface="Calibri"/>
                <a:cs typeface="Calibri"/>
              </a:rPr>
              <a:t>the</a:t>
            </a:r>
            <a:r>
              <a:rPr sz="2400" dirty="0">
                <a:solidFill>
                  <a:srgbClr val="404040"/>
                </a:solidFill>
                <a:latin typeface="Calibri"/>
                <a:cs typeface="Calibri"/>
              </a:rPr>
              <a:t> </a:t>
            </a:r>
            <a:r>
              <a:rPr sz="2400" spc="-15" dirty="0">
                <a:solidFill>
                  <a:srgbClr val="404040"/>
                </a:solidFill>
                <a:latin typeface="Calibri"/>
                <a:cs typeface="Calibri"/>
              </a:rPr>
              <a:t>hardware</a:t>
            </a:r>
            <a:r>
              <a:rPr sz="2400" spc="-10" dirty="0">
                <a:solidFill>
                  <a:srgbClr val="404040"/>
                </a:solidFill>
                <a:latin typeface="Calibri"/>
                <a:cs typeface="Calibri"/>
              </a:rPr>
              <a:t> </a:t>
            </a:r>
            <a:r>
              <a:rPr sz="2400" spc="-20" dirty="0">
                <a:solidFill>
                  <a:srgbClr val="404040"/>
                </a:solidFill>
                <a:latin typeface="Calibri"/>
                <a:cs typeface="Calibri"/>
              </a:rPr>
              <a:t>efficiently.</a:t>
            </a:r>
            <a:endParaRPr sz="24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32</a:t>
            </a:r>
            <a:endParaRPr sz="105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24941"/>
            <a:ext cx="6495415" cy="757555"/>
          </a:xfrm>
          <a:prstGeom prst="rect">
            <a:avLst/>
          </a:prstGeom>
        </p:spPr>
        <p:txBody>
          <a:bodyPr vert="horz" wrap="square" lIns="0" tIns="12700" rIns="0" bIns="0" rtlCol="0">
            <a:spAutoFit/>
          </a:bodyPr>
          <a:lstStyle/>
          <a:p>
            <a:pPr marL="12700">
              <a:lnSpc>
                <a:spcPct val="100000"/>
              </a:lnSpc>
              <a:spcBef>
                <a:spcPts val="100"/>
              </a:spcBef>
            </a:pPr>
            <a:r>
              <a:rPr sz="4800" b="0" spc="-45" dirty="0">
                <a:solidFill>
                  <a:srgbClr val="00AFEF"/>
                </a:solidFill>
                <a:latin typeface="Calibri Light"/>
                <a:cs typeface="Calibri Light"/>
              </a:rPr>
              <a:t>2.13.2</a:t>
            </a:r>
            <a:r>
              <a:rPr sz="4800" b="0" spc="-114" dirty="0">
                <a:solidFill>
                  <a:srgbClr val="00AFEF"/>
                </a:solidFill>
                <a:latin typeface="Calibri Light"/>
                <a:cs typeface="Calibri Light"/>
              </a:rPr>
              <a:t> </a:t>
            </a:r>
            <a:r>
              <a:rPr sz="4800" b="0" spc="-75" dirty="0">
                <a:solidFill>
                  <a:srgbClr val="00AFEF"/>
                </a:solidFill>
                <a:latin typeface="Calibri Light"/>
                <a:cs typeface="Calibri Light"/>
              </a:rPr>
              <a:t>Power</a:t>
            </a:r>
            <a:r>
              <a:rPr sz="4800" b="0" spc="-135" dirty="0">
                <a:solidFill>
                  <a:srgbClr val="00AFEF"/>
                </a:solidFill>
                <a:latin typeface="Calibri Light"/>
                <a:cs typeface="Calibri Light"/>
              </a:rPr>
              <a:t> </a:t>
            </a:r>
            <a:r>
              <a:rPr sz="4800" b="0" spc="-55" dirty="0">
                <a:solidFill>
                  <a:srgbClr val="00AFEF"/>
                </a:solidFill>
                <a:latin typeface="Calibri Light"/>
                <a:cs typeface="Calibri Light"/>
              </a:rPr>
              <a:t>management</a:t>
            </a:r>
            <a:endParaRPr sz="4800">
              <a:latin typeface="Calibri Light"/>
              <a:cs typeface="Calibri Light"/>
            </a:endParaRPr>
          </a:p>
        </p:txBody>
      </p:sp>
      <p:sp>
        <p:nvSpPr>
          <p:cNvPr id="7" name="object 7"/>
          <p:cNvSpPr txBox="1"/>
          <p:nvPr/>
        </p:nvSpPr>
        <p:spPr>
          <a:xfrm>
            <a:off x="407619" y="1493926"/>
            <a:ext cx="11125835" cy="4891405"/>
          </a:xfrm>
          <a:prstGeom prst="rect">
            <a:avLst/>
          </a:prstGeom>
        </p:spPr>
        <p:txBody>
          <a:bodyPr vert="horz" wrap="square" lIns="0" tIns="155575" rIns="0" bIns="0" rtlCol="0">
            <a:spAutoFit/>
          </a:bodyPr>
          <a:lstStyle/>
          <a:p>
            <a:pPr marL="234950" indent="-222885">
              <a:lnSpc>
                <a:spcPct val="100000"/>
              </a:lnSpc>
              <a:spcBef>
                <a:spcPts val="1225"/>
              </a:spcBef>
              <a:buClr>
                <a:srgbClr val="E38312"/>
              </a:buClr>
              <a:buSzPct val="95454"/>
              <a:buFont typeface="Wingdings"/>
              <a:buChar char=""/>
              <a:tabLst>
                <a:tab pos="235585" algn="l"/>
              </a:tabLst>
            </a:pPr>
            <a:r>
              <a:rPr sz="2200" spc="-15" dirty="0">
                <a:solidFill>
                  <a:srgbClr val="404040"/>
                </a:solidFill>
                <a:latin typeface="Calibri"/>
                <a:cs typeface="Calibri"/>
              </a:rPr>
              <a:t>Many</a:t>
            </a:r>
            <a:r>
              <a:rPr sz="2200" dirty="0">
                <a:solidFill>
                  <a:srgbClr val="404040"/>
                </a:solidFill>
                <a:latin typeface="Calibri"/>
                <a:cs typeface="Calibri"/>
              </a:rPr>
              <a:t> </a:t>
            </a:r>
            <a:r>
              <a:rPr sz="2200" spc="-10" dirty="0">
                <a:solidFill>
                  <a:srgbClr val="404040"/>
                </a:solidFill>
                <a:latin typeface="Calibri"/>
                <a:cs typeface="Calibri"/>
              </a:rPr>
              <a:t>embedded</a:t>
            </a:r>
            <a:r>
              <a:rPr sz="2200" spc="30" dirty="0">
                <a:solidFill>
                  <a:srgbClr val="404040"/>
                </a:solidFill>
                <a:latin typeface="Calibri"/>
                <a:cs typeface="Calibri"/>
              </a:rPr>
              <a:t> </a:t>
            </a:r>
            <a:r>
              <a:rPr sz="2200" spc="-20" dirty="0">
                <a:solidFill>
                  <a:srgbClr val="404040"/>
                </a:solidFill>
                <a:latin typeface="Calibri"/>
                <a:cs typeface="Calibri"/>
              </a:rPr>
              <a:t>systems</a:t>
            </a:r>
            <a:r>
              <a:rPr sz="2200" spc="25" dirty="0">
                <a:solidFill>
                  <a:srgbClr val="404040"/>
                </a:solidFill>
                <a:latin typeface="Calibri"/>
                <a:cs typeface="Calibri"/>
              </a:rPr>
              <a:t> </a:t>
            </a:r>
            <a:r>
              <a:rPr sz="2200" spc="-10" dirty="0">
                <a:solidFill>
                  <a:srgbClr val="404040"/>
                </a:solidFill>
                <a:latin typeface="Calibri"/>
                <a:cs typeface="Calibri"/>
              </a:rPr>
              <a:t>are</a:t>
            </a:r>
            <a:r>
              <a:rPr sz="2200" dirty="0">
                <a:solidFill>
                  <a:srgbClr val="404040"/>
                </a:solidFill>
                <a:latin typeface="Calibri"/>
                <a:cs typeface="Calibri"/>
              </a:rPr>
              <a:t> </a:t>
            </a:r>
            <a:r>
              <a:rPr sz="2200" spc="-5" dirty="0">
                <a:solidFill>
                  <a:srgbClr val="404040"/>
                </a:solidFill>
                <a:latin typeface="Calibri"/>
                <a:cs typeface="Calibri"/>
              </a:rPr>
              <a:t>in </a:t>
            </a:r>
            <a:r>
              <a:rPr sz="2200" spc="-10" dirty="0">
                <a:solidFill>
                  <a:srgbClr val="404040"/>
                </a:solidFill>
                <a:latin typeface="Calibri"/>
                <a:cs typeface="Calibri"/>
              </a:rPr>
              <a:t>inactive</a:t>
            </a:r>
            <a:r>
              <a:rPr sz="2200" spc="-5" dirty="0">
                <a:solidFill>
                  <a:srgbClr val="404040"/>
                </a:solidFill>
                <a:latin typeface="Calibri"/>
                <a:cs typeface="Calibri"/>
              </a:rPr>
              <a:t> </a:t>
            </a:r>
            <a:r>
              <a:rPr sz="2200" spc="-20" dirty="0">
                <a:solidFill>
                  <a:srgbClr val="404040"/>
                </a:solidFill>
                <a:latin typeface="Calibri"/>
                <a:cs typeface="Calibri"/>
              </a:rPr>
              <a:t>states</a:t>
            </a:r>
            <a:r>
              <a:rPr sz="2200" spc="15" dirty="0">
                <a:solidFill>
                  <a:srgbClr val="404040"/>
                </a:solidFill>
                <a:latin typeface="Calibri"/>
                <a:cs typeface="Calibri"/>
              </a:rPr>
              <a:t> </a:t>
            </a:r>
            <a:r>
              <a:rPr sz="2200" spc="-10" dirty="0">
                <a:solidFill>
                  <a:srgbClr val="404040"/>
                </a:solidFill>
                <a:latin typeface="Calibri"/>
                <a:cs typeface="Calibri"/>
              </a:rPr>
              <a:t>until</a:t>
            </a:r>
            <a:r>
              <a:rPr sz="2200" spc="10" dirty="0">
                <a:solidFill>
                  <a:srgbClr val="404040"/>
                </a:solidFill>
                <a:latin typeface="Calibri"/>
                <a:cs typeface="Calibri"/>
              </a:rPr>
              <a:t> </a:t>
            </a:r>
            <a:r>
              <a:rPr sz="2200" spc="-10" dirty="0">
                <a:solidFill>
                  <a:srgbClr val="404040"/>
                </a:solidFill>
                <a:latin typeface="Calibri"/>
                <a:cs typeface="Calibri"/>
              </a:rPr>
              <a:t>they</a:t>
            </a:r>
            <a:r>
              <a:rPr sz="2200" spc="25" dirty="0">
                <a:solidFill>
                  <a:srgbClr val="404040"/>
                </a:solidFill>
                <a:latin typeface="Calibri"/>
                <a:cs typeface="Calibri"/>
              </a:rPr>
              <a:t> </a:t>
            </a:r>
            <a:r>
              <a:rPr sz="2200" spc="-10" dirty="0">
                <a:solidFill>
                  <a:srgbClr val="404040"/>
                </a:solidFill>
                <a:latin typeface="Calibri"/>
                <a:cs typeface="Calibri"/>
              </a:rPr>
              <a:t>are</a:t>
            </a:r>
            <a:r>
              <a:rPr sz="2200" spc="5" dirty="0">
                <a:solidFill>
                  <a:srgbClr val="404040"/>
                </a:solidFill>
                <a:latin typeface="Calibri"/>
                <a:cs typeface="Calibri"/>
              </a:rPr>
              <a:t> </a:t>
            </a:r>
            <a:r>
              <a:rPr sz="2200" spc="-10" dirty="0">
                <a:solidFill>
                  <a:srgbClr val="404040"/>
                </a:solidFill>
                <a:latin typeface="Calibri"/>
                <a:cs typeface="Calibri"/>
              </a:rPr>
              <a:t>called</a:t>
            </a:r>
            <a:r>
              <a:rPr sz="2200" dirty="0">
                <a:solidFill>
                  <a:srgbClr val="404040"/>
                </a:solidFill>
                <a:latin typeface="Calibri"/>
                <a:cs typeface="Calibri"/>
              </a:rPr>
              <a:t> </a:t>
            </a:r>
            <a:r>
              <a:rPr sz="2200" spc="-10" dirty="0">
                <a:solidFill>
                  <a:srgbClr val="404040"/>
                </a:solidFill>
                <a:latin typeface="Calibri"/>
                <a:cs typeface="Calibri"/>
              </a:rPr>
              <a:t>upon</a:t>
            </a:r>
            <a:r>
              <a:rPr sz="2200" spc="5" dirty="0">
                <a:solidFill>
                  <a:srgbClr val="404040"/>
                </a:solidFill>
                <a:latin typeface="Calibri"/>
                <a:cs typeface="Calibri"/>
              </a:rPr>
              <a:t> </a:t>
            </a:r>
            <a:r>
              <a:rPr sz="2200" spc="-20" dirty="0">
                <a:solidFill>
                  <a:srgbClr val="404040"/>
                </a:solidFill>
                <a:latin typeface="Calibri"/>
                <a:cs typeface="Calibri"/>
              </a:rPr>
              <a:t>for</a:t>
            </a:r>
            <a:r>
              <a:rPr sz="2200" spc="15" dirty="0">
                <a:solidFill>
                  <a:srgbClr val="404040"/>
                </a:solidFill>
                <a:latin typeface="Calibri"/>
                <a:cs typeface="Calibri"/>
              </a:rPr>
              <a:t> </a:t>
            </a:r>
            <a:r>
              <a:rPr sz="2200" spc="-5" dirty="0">
                <a:solidFill>
                  <a:srgbClr val="404040"/>
                </a:solidFill>
                <a:latin typeface="Calibri"/>
                <a:cs typeface="Calibri"/>
              </a:rPr>
              <a:t>some</a:t>
            </a:r>
            <a:r>
              <a:rPr sz="2200" spc="30" dirty="0">
                <a:solidFill>
                  <a:srgbClr val="404040"/>
                </a:solidFill>
                <a:latin typeface="Calibri"/>
                <a:cs typeface="Calibri"/>
              </a:rPr>
              <a:t> </a:t>
            </a:r>
            <a:r>
              <a:rPr sz="2200" spc="-10" dirty="0">
                <a:solidFill>
                  <a:srgbClr val="404040"/>
                </a:solidFill>
                <a:latin typeface="Calibri"/>
                <a:cs typeface="Calibri"/>
              </a:rPr>
              <a:t>work.</a:t>
            </a:r>
            <a:endParaRPr sz="2200">
              <a:latin typeface="Calibri"/>
              <a:cs typeface="Calibri"/>
            </a:endParaRPr>
          </a:p>
          <a:p>
            <a:pPr marL="234950" indent="-222885">
              <a:lnSpc>
                <a:spcPct val="100000"/>
              </a:lnSpc>
              <a:spcBef>
                <a:spcPts val="1130"/>
              </a:spcBef>
              <a:buClr>
                <a:srgbClr val="E38312"/>
              </a:buClr>
              <a:buSzPct val="95454"/>
              <a:buFont typeface="Wingdings"/>
              <a:buChar char=""/>
              <a:tabLst>
                <a:tab pos="235585" algn="l"/>
              </a:tabLst>
            </a:pPr>
            <a:r>
              <a:rPr sz="2200" spc="-10" dirty="0">
                <a:solidFill>
                  <a:srgbClr val="404040"/>
                </a:solidFill>
                <a:latin typeface="Calibri"/>
                <a:cs typeface="Calibri"/>
              </a:rPr>
              <a:t>Think</a:t>
            </a:r>
            <a:r>
              <a:rPr sz="2200" spc="5" dirty="0">
                <a:solidFill>
                  <a:srgbClr val="404040"/>
                </a:solidFill>
                <a:latin typeface="Calibri"/>
                <a:cs typeface="Calibri"/>
              </a:rPr>
              <a:t> </a:t>
            </a:r>
            <a:r>
              <a:rPr sz="2200" dirty="0">
                <a:solidFill>
                  <a:srgbClr val="404040"/>
                </a:solidFill>
                <a:latin typeface="Calibri"/>
                <a:cs typeface="Calibri"/>
              </a:rPr>
              <a:t>of</a:t>
            </a:r>
            <a:r>
              <a:rPr sz="2200" spc="10" dirty="0">
                <a:solidFill>
                  <a:srgbClr val="404040"/>
                </a:solidFill>
                <a:latin typeface="Calibri"/>
                <a:cs typeface="Calibri"/>
              </a:rPr>
              <a:t> </a:t>
            </a:r>
            <a:r>
              <a:rPr sz="2200" spc="-5" dirty="0">
                <a:solidFill>
                  <a:srgbClr val="404040"/>
                </a:solidFill>
                <a:latin typeface="Calibri"/>
                <a:cs typeface="Calibri"/>
              </a:rPr>
              <a:t>mobile</a:t>
            </a:r>
            <a:r>
              <a:rPr sz="2200" spc="10" dirty="0">
                <a:solidFill>
                  <a:srgbClr val="404040"/>
                </a:solidFill>
                <a:latin typeface="Calibri"/>
                <a:cs typeface="Calibri"/>
              </a:rPr>
              <a:t> </a:t>
            </a:r>
            <a:r>
              <a:rPr sz="2200" spc="-10" dirty="0">
                <a:solidFill>
                  <a:srgbClr val="404040"/>
                </a:solidFill>
                <a:latin typeface="Calibri"/>
                <a:cs typeface="Calibri"/>
              </a:rPr>
              <a:t>phones</a:t>
            </a:r>
            <a:r>
              <a:rPr sz="2200" spc="20" dirty="0">
                <a:solidFill>
                  <a:srgbClr val="404040"/>
                </a:solidFill>
                <a:latin typeface="Calibri"/>
                <a:cs typeface="Calibri"/>
              </a:rPr>
              <a:t> </a:t>
            </a:r>
            <a:r>
              <a:rPr sz="2200" spc="-5" dirty="0">
                <a:solidFill>
                  <a:srgbClr val="404040"/>
                </a:solidFill>
                <a:latin typeface="Calibri"/>
                <a:cs typeface="Calibri"/>
              </a:rPr>
              <a:t>and</a:t>
            </a:r>
            <a:r>
              <a:rPr sz="2200" spc="-15" dirty="0">
                <a:solidFill>
                  <a:srgbClr val="404040"/>
                </a:solidFill>
                <a:latin typeface="Calibri"/>
                <a:cs typeface="Calibri"/>
              </a:rPr>
              <a:t> many</a:t>
            </a:r>
            <a:r>
              <a:rPr sz="2200" spc="10" dirty="0">
                <a:solidFill>
                  <a:srgbClr val="404040"/>
                </a:solidFill>
                <a:latin typeface="Calibri"/>
                <a:cs typeface="Calibri"/>
              </a:rPr>
              <a:t> </a:t>
            </a:r>
            <a:r>
              <a:rPr sz="2200" spc="-5" dirty="0">
                <a:solidFill>
                  <a:srgbClr val="404040"/>
                </a:solidFill>
                <a:latin typeface="Calibri"/>
                <a:cs typeface="Calibri"/>
              </a:rPr>
              <a:t>other</a:t>
            </a:r>
            <a:r>
              <a:rPr sz="2200" spc="10" dirty="0">
                <a:solidFill>
                  <a:srgbClr val="404040"/>
                </a:solidFill>
                <a:latin typeface="Calibri"/>
                <a:cs typeface="Calibri"/>
              </a:rPr>
              <a:t> </a:t>
            </a:r>
            <a:r>
              <a:rPr sz="2200" spc="-10" dirty="0">
                <a:solidFill>
                  <a:srgbClr val="404040"/>
                </a:solidFill>
                <a:latin typeface="Calibri"/>
                <a:cs typeface="Calibri"/>
              </a:rPr>
              <a:t>handheld</a:t>
            </a:r>
            <a:r>
              <a:rPr sz="2200" dirty="0">
                <a:solidFill>
                  <a:srgbClr val="404040"/>
                </a:solidFill>
                <a:latin typeface="Calibri"/>
                <a:cs typeface="Calibri"/>
              </a:rPr>
              <a:t> </a:t>
            </a:r>
            <a:r>
              <a:rPr sz="2200" spc="-5" dirty="0">
                <a:solidFill>
                  <a:srgbClr val="404040"/>
                </a:solidFill>
                <a:latin typeface="Calibri"/>
                <a:cs typeface="Calibri"/>
              </a:rPr>
              <a:t>devices.</a:t>
            </a:r>
            <a:endParaRPr sz="2200">
              <a:latin typeface="Calibri"/>
              <a:cs typeface="Calibri"/>
            </a:endParaRPr>
          </a:p>
          <a:p>
            <a:pPr marL="234950" indent="-222885">
              <a:lnSpc>
                <a:spcPct val="100000"/>
              </a:lnSpc>
              <a:spcBef>
                <a:spcPts val="1140"/>
              </a:spcBef>
              <a:buClr>
                <a:srgbClr val="E38312"/>
              </a:buClr>
              <a:buSzPct val="95454"/>
              <a:buFont typeface="Wingdings"/>
              <a:buChar char=""/>
              <a:tabLst>
                <a:tab pos="235585" algn="l"/>
              </a:tabLst>
            </a:pPr>
            <a:r>
              <a:rPr sz="2200" spc="-5" dirty="0">
                <a:solidFill>
                  <a:srgbClr val="404040"/>
                </a:solidFill>
                <a:latin typeface="Calibri"/>
                <a:cs typeface="Calibri"/>
              </a:rPr>
              <a:t>All these</a:t>
            </a:r>
            <a:r>
              <a:rPr sz="2200" spc="25" dirty="0">
                <a:solidFill>
                  <a:srgbClr val="404040"/>
                </a:solidFill>
                <a:latin typeface="Calibri"/>
                <a:cs typeface="Calibri"/>
              </a:rPr>
              <a:t> </a:t>
            </a:r>
            <a:r>
              <a:rPr sz="2200" spc="-10" dirty="0">
                <a:solidFill>
                  <a:srgbClr val="404040"/>
                </a:solidFill>
                <a:latin typeface="Calibri"/>
                <a:cs typeface="Calibri"/>
              </a:rPr>
              <a:t>devices</a:t>
            </a:r>
            <a:r>
              <a:rPr sz="2200" spc="15" dirty="0">
                <a:solidFill>
                  <a:srgbClr val="404040"/>
                </a:solidFill>
                <a:latin typeface="Calibri"/>
                <a:cs typeface="Calibri"/>
              </a:rPr>
              <a:t> </a:t>
            </a:r>
            <a:r>
              <a:rPr sz="2200" spc="-10" dirty="0">
                <a:solidFill>
                  <a:srgbClr val="404040"/>
                </a:solidFill>
                <a:latin typeface="Calibri"/>
                <a:cs typeface="Calibri"/>
              </a:rPr>
              <a:t>are</a:t>
            </a:r>
            <a:r>
              <a:rPr sz="2200" spc="-5" dirty="0">
                <a:solidFill>
                  <a:srgbClr val="404040"/>
                </a:solidFill>
                <a:latin typeface="Calibri"/>
                <a:cs typeface="Calibri"/>
              </a:rPr>
              <a:t> in</a:t>
            </a:r>
            <a:r>
              <a:rPr sz="2200" dirty="0">
                <a:solidFill>
                  <a:srgbClr val="404040"/>
                </a:solidFill>
                <a:latin typeface="Calibri"/>
                <a:cs typeface="Calibri"/>
              </a:rPr>
              <a:t> </a:t>
            </a:r>
            <a:r>
              <a:rPr sz="2200" spc="-5" dirty="0">
                <a:solidFill>
                  <a:srgbClr val="404040"/>
                </a:solidFill>
                <a:latin typeface="Calibri"/>
                <a:cs typeface="Calibri"/>
              </a:rPr>
              <a:t>either</a:t>
            </a:r>
            <a:r>
              <a:rPr sz="2200" spc="20" dirty="0">
                <a:solidFill>
                  <a:srgbClr val="404040"/>
                </a:solidFill>
                <a:latin typeface="Calibri"/>
                <a:cs typeface="Calibri"/>
              </a:rPr>
              <a:t> </a:t>
            </a:r>
            <a:r>
              <a:rPr sz="2200" spc="-5" dirty="0">
                <a:solidFill>
                  <a:srgbClr val="404040"/>
                </a:solidFill>
                <a:latin typeface="Calibri"/>
                <a:cs typeface="Calibri"/>
              </a:rPr>
              <a:t>the</a:t>
            </a:r>
            <a:r>
              <a:rPr sz="2200" spc="20" dirty="0">
                <a:solidFill>
                  <a:srgbClr val="404040"/>
                </a:solidFill>
                <a:latin typeface="Calibri"/>
                <a:cs typeface="Calibri"/>
              </a:rPr>
              <a:t> </a:t>
            </a:r>
            <a:r>
              <a:rPr sz="2200" spc="-5" dirty="0">
                <a:solidFill>
                  <a:srgbClr val="404040"/>
                </a:solidFill>
                <a:latin typeface="Calibri"/>
                <a:cs typeface="Calibri"/>
              </a:rPr>
              <a:t>idle </a:t>
            </a:r>
            <a:r>
              <a:rPr sz="2200" spc="-25" dirty="0">
                <a:solidFill>
                  <a:srgbClr val="404040"/>
                </a:solidFill>
                <a:latin typeface="Calibri"/>
                <a:cs typeface="Calibri"/>
              </a:rPr>
              <a:t>state</a:t>
            </a:r>
            <a:r>
              <a:rPr sz="2200" spc="20" dirty="0">
                <a:solidFill>
                  <a:srgbClr val="404040"/>
                </a:solidFill>
                <a:latin typeface="Calibri"/>
                <a:cs typeface="Calibri"/>
              </a:rPr>
              <a:t> </a:t>
            </a:r>
            <a:r>
              <a:rPr sz="2200" dirty="0">
                <a:solidFill>
                  <a:srgbClr val="404040"/>
                </a:solidFill>
                <a:latin typeface="Calibri"/>
                <a:cs typeface="Calibri"/>
              </a:rPr>
              <a:t>or </a:t>
            </a:r>
            <a:r>
              <a:rPr sz="2200" spc="-10" dirty="0">
                <a:solidFill>
                  <a:srgbClr val="404040"/>
                </a:solidFill>
                <a:latin typeface="Calibri"/>
                <a:cs typeface="Calibri"/>
              </a:rPr>
              <a:t>deep</a:t>
            </a:r>
            <a:r>
              <a:rPr sz="2200" spc="15" dirty="0">
                <a:solidFill>
                  <a:srgbClr val="404040"/>
                </a:solidFill>
                <a:latin typeface="Calibri"/>
                <a:cs typeface="Calibri"/>
              </a:rPr>
              <a:t> </a:t>
            </a:r>
            <a:r>
              <a:rPr sz="2200" spc="-10" dirty="0">
                <a:solidFill>
                  <a:srgbClr val="404040"/>
                </a:solidFill>
                <a:latin typeface="Calibri"/>
                <a:cs typeface="Calibri"/>
              </a:rPr>
              <a:t>sleep</a:t>
            </a:r>
            <a:r>
              <a:rPr sz="2200" spc="30" dirty="0">
                <a:solidFill>
                  <a:srgbClr val="404040"/>
                </a:solidFill>
                <a:latin typeface="Calibri"/>
                <a:cs typeface="Calibri"/>
              </a:rPr>
              <a:t> </a:t>
            </a:r>
            <a:r>
              <a:rPr sz="2200" spc="-20" dirty="0">
                <a:solidFill>
                  <a:srgbClr val="404040"/>
                </a:solidFill>
                <a:latin typeface="Calibri"/>
                <a:cs typeface="Calibri"/>
              </a:rPr>
              <a:t>states.</a:t>
            </a:r>
            <a:endParaRPr sz="2200">
              <a:latin typeface="Calibri"/>
              <a:cs typeface="Calibri"/>
            </a:endParaRPr>
          </a:p>
          <a:p>
            <a:pPr marL="104139" marR="9525" indent="-91440">
              <a:lnSpc>
                <a:spcPts val="2380"/>
              </a:lnSpc>
              <a:spcBef>
                <a:spcPts val="1440"/>
              </a:spcBef>
              <a:buClr>
                <a:srgbClr val="E38312"/>
              </a:buClr>
              <a:buSzPct val="95454"/>
              <a:buFont typeface="Wingdings"/>
              <a:buChar char=""/>
              <a:tabLst>
                <a:tab pos="235585" algn="l"/>
              </a:tabLst>
            </a:pPr>
            <a:r>
              <a:rPr sz="2200" spc="-5" dirty="0">
                <a:solidFill>
                  <a:srgbClr val="404040"/>
                </a:solidFill>
                <a:latin typeface="Calibri"/>
                <a:cs typeface="Calibri"/>
              </a:rPr>
              <a:t>These</a:t>
            </a:r>
            <a:r>
              <a:rPr sz="2200" spc="434" dirty="0">
                <a:solidFill>
                  <a:srgbClr val="404040"/>
                </a:solidFill>
                <a:latin typeface="Calibri"/>
                <a:cs typeface="Calibri"/>
              </a:rPr>
              <a:t> </a:t>
            </a:r>
            <a:r>
              <a:rPr sz="2200" spc="-5" dirty="0">
                <a:solidFill>
                  <a:srgbClr val="404040"/>
                </a:solidFill>
                <a:latin typeface="Calibri"/>
                <a:cs typeface="Calibri"/>
              </a:rPr>
              <a:t>sleep</a:t>
            </a:r>
            <a:r>
              <a:rPr sz="2200" spc="455" dirty="0">
                <a:solidFill>
                  <a:srgbClr val="404040"/>
                </a:solidFill>
                <a:latin typeface="Calibri"/>
                <a:cs typeface="Calibri"/>
              </a:rPr>
              <a:t> </a:t>
            </a:r>
            <a:r>
              <a:rPr sz="2200" spc="-20" dirty="0">
                <a:solidFill>
                  <a:srgbClr val="404040"/>
                </a:solidFill>
                <a:latin typeface="Calibri"/>
                <a:cs typeface="Calibri"/>
              </a:rPr>
              <a:t>states</a:t>
            </a:r>
            <a:r>
              <a:rPr sz="2200" spc="450" dirty="0">
                <a:solidFill>
                  <a:srgbClr val="404040"/>
                </a:solidFill>
                <a:latin typeface="Calibri"/>
                <a:cs typeface="Calibri"/>
              </a:rPr>
              <a:t> </a:t>
            </a:r>
            <a:r>
              <a:rPr sz="2200" spc="-20" dirty="0">
                <a:solidFill>
                  <a:srgbClr val="404040"/>
                </a:solidFill>
                <a:latin typeface="Calibri"/>
                <a:cs typeface="Calibri"/>
              </a:rPr>
              <a:t>have</a:t>
            </a:r>
            <a:r>
              <a:rPr sz="2200" spc="445" dirty="0">
                <a:solidFill>
                  <a:srgbClr val="404040"/>
                </a:solidFill>
                <a:latin typeface="Calibri"/>
                <a:cs typeface="Calibri"/>
              </a:rPr>
              <a:t> </a:t>
            </a:r>
            <a:r>
              <a:rPr sz="2200" spc="-10" dirty="0">
                <a:solidFill>
                  <a:srgbClr val="404040"/>
                </a:solidFill>
                <a:latin typeface="Calibri"/>
                <a:cs typeface="Calibri"/>
              </a:rPr>
              <a:t>been</a:t>
            </a:r>
            <a:r>
              <a:rPr sz="2200" spc="450" dirty="0">
                <a:solidFill>
                  <a:srgbClr val="404040"/>
                </a:solidFill>
                <a:latin typeface="Calibri"/>
                <a:cs typeface="Calibri"/>
              </a:rPr>
              <a:t> </a:t>
            </a:r>
            <a:r>
              <a:rPr sz="2200" spc="-10" dirty="0">
                <a:solidFill>
                  <a:srgbClr val="404040"/>
                </a:solidFill>
                <a:latin typeface="Calibri"/>
                <a:cs typeface="Calibri"/>
              </a:rPr>
              <a:t>implemented</a:t>
            </a:r>
            <a:r>
              <a:rPr sz="2200" spc="440" dirty="0">
                <a:solidFill>
                  <a:srgbClr val="404040"/>
                </a:solidFill>
                <a:latin typeface="Calibri"/>
                <a:cs typeface="Calibri"/>
              </a:rPr>
              <a:t> </a:t>
            </a:r>
            <a:r>
              <a:rPr sz="2200" spc="-5" dirty="0">
                <a:solidFill>
                  <a:srgbClr val="404040"/>
                </a:solidFill>
                <a:latin typeface="Calibri"/>
                <a:cs typeface="Calibri"/>
              </a:rPr>
              <a:t>in</a:t>
            </a:r>
            <a:r>
              <a:rPr sz="2200" spc="440" dirty="0">
                <a:solidFill>
                  <a:srgbClr val="404040"/>
                </a:solidFill>
                <a:latin typeface="Calibri"/>
                <a:cs typeface="Calibri"/>
              </a:rPr>
              <a:t> </a:t>
            </a:r>
            <a:r>
              <a:rPr sz="2200" spc="-5" dirty="0">
                <a:solidFill>
                  <a:srgbClr val="404040"/>
                </a:solidFill>
                <a:latin typeface="Calibri"/>
                <a:cs typeface="Calibri"/>
              </a:rPr>
              <a:t>the</a:t>
            </a:r>
            <a:r>
              <a:rPr sz="2200" spc="440" dirty="0">
                <a:solidFill>
                  <a:srgbClr val="404040"/>
                </a:solidFill>
                <a:latin typeface="Calibri"/>
                <a:cs typeface="Calibri"/>
              </a:rPr>
              <a:t> </a:t>
            </a:r>
            <a:r>
              <a:rPr sz="2200" spc="-10" dirty="0">
                <a:solidFill>
                  <a:srgbClr val="404040"/>
                </a:solidFill>
                <a:latin typeface="Calibri"/>
                <a:cs typeface="Calibri"/>
              </a:rPr>
              <a:t>processor</a:t>
            </a:r>
            <a:r>
              <a:rPr sz="2200" spc="440" dirty="0">
                <a:solidFill>
                  <a:srgbClr val="404040"/>
                </a:solidFill>
                <a:latin typeface="Calibri"/>
                <a:cs typeface="Calibri"/>
              </a:rPr>
              <a:t> </a:t>
            </a:r>
            <a:r>
              <a:rPr sz="2200" spc="-5" dirty="0">
                <a:solidFill>
                  <a:srgbClr val="404040"/>
                </a:solidFill>
                <a:latin typeface="Calibri"/>
                <a:cs typeface="Calibri"/>
              </a:rPr>
              <a:t>design</a:t>
            </a:r>
            <a:r>
              <a:rPr sz="2200" spc="430" dirty="0">
                <a:solidFill>
                  <a:srgbClr val="404040"/>
                </a:solidFill>
                <a:latin typeface="Calibri"/>
                <a:cs typeface="Calibri"/>
              </a:rPr>
              <a:t> </a:t>
            </a:r>
            <a:r>
              <a:rPr sz="2200" spc="-20" dirty="0">
                <a:solidFill>
                  <a:srgbClr val="404040"/>
                </a:solidFill>
                <a:latin typeface="Calibri"/>
                <a:cs typeface="Calibri"/>
              </a:rPr>
              <a:t>itself,</a:t>
            </a:r>
            <a:r>
              <a:rPr sz="2200" spc="455" dirty="0">
                <a:solidFill>
                  <a:srgbClr val="404040"/>
                </a:solidFill>
                <a:latin typeface="Calibri"/>
                <a:cs typeface="Calibri"/>
              </a:rPr>
              <a:t> </a:t>
            </a:r>
            <a:r>
              <a:rPr sz="2200" spc="-10" dirty="0">
                <a:solidFill>
                  <a:srgbClr val="404040"/>
                </a:solidFill>
                <a:latin typeface="Calibri"/>
                <a:cs typeface="Calibri"/>
              </a:rPr>
              <a:t>but</a:t>
            </a:r>
            <a:r>
              <a:rPr sz="2200" spc="430" dirty="0">
                <a:solidFill>
                  <a:srgbClr val="404040"/>
                </a:solidFill>
                <a:latin typeface="Calibri"/>
                <a:cs typeface="Calibri"/>
              </a:rPr>
              <a:t> </a:t>
            </a:r>
            <a:r>
              <a:rPr sz="2200" spc="-5" dirty="0">
                <a:solidFill>
                  <a:srgbClr val="404040"/>
                </a:solidFill>
                <a:latin typeface="Calibri"/>
                <a:cs typeface="Calibri"/>
              </a:rPr>
              <a:t>it</a:t>
            </a:r>
            <a:r>
              <a:rPr sz="2200" spc="440" dirty="0">
                <a:solidFill>
                  <a:srgbClr val="404040"/>
                </a:solidFill>
                <a:latin typeface="Calibri"/>
                <a:cs typeface="Calibri"/>
              </a:rPr>
              <a:t> </a:t>
            </a:r>
            <a:r>
              <a:rPr sz="2200" spc="-10" dirty="0">
                <a:solidFill>
                  <a:srgbClr val="404040"/>
                </a:solidFill>
                <a:latin typeface="Calibri"/>
                <a:cs typeface="Calibri"/>
              </a:rPr>
              <a:t>requires</a:t>
            </a:r>
            <a:r>
              <a:rPr sz="2200" spc="430" dirty="0">
                <a:solidFill>
                  <a:srgbClr val="404040"/>
                </a:solidFill>
                <a:latin typeface="Calibri"/>
                <a:cs typeface="Calibri"/>
              </a:rPr>
              <a:t> </a:t>
            </a:r>
            <a:r>
              <a:rPr sz="2200" spc="-5" dirty="0">
                <a:solidFill>
                  <a:srgbClr val="404040"/>
                </a:solidFill>
                <a:latin typeface="Calibri"/>
                <a:cs typeface="Calibri"/>
              </a:rPr>
              <a:t>a </a:t>
            </a:r>
            <a:r>
              <a:rPr sz="2200" spc="-480" dirty="0">
                <a:solidFill>
                  <a:srgbClr val="404040"/>
                </a:solidFill>
                <a:latin typeface="Calibri"/>
                <a:cs typeface="Calibri"/>
              </a:rPr>
              <a:t> </a:t>
            </a:r>
            <a:r>
              <a:rPr sz="2200" spc="-15" dirty="0">
                <a:solidFill>
                  <a:srgbClr val="404040"/>
                </a:solidFill>
                <a:latin typeface="Calibri"/>
                <a:cs typeface="Calibri"/>
              </a:rPr>
              <a:t>protocol</a:t>
            </a:r>
            <a:r>
              <a:rPr sz="2200" spc="10" dirty="0">
                <a:solidFill>
                  <a:srgbClr val="404040"/>
                </a:solidFill>
                <a:latin typeface="Calibri"/>
                <a:cs typeface="Calibri"/>
              </a:rPr>
              <a:t> </a:t>
            </a:r>
            <a:r>
              <a:rPr sz="2200" spc="-20" dirty="0">
                <a:solidFill>
                  <a:srgbClr val="404040"/>
                </a:solidFill>
                <a:latin typeface="Calibri"/>
                <a:cs typeface="Calibri"/>
              </a:rPr>
              <a:t>to</a:t>
            </a:r>
            <a:r>
              <a:rPr sz="2200" spc="10" dirty="0">
                <a:solidFill>
                  <a:srgbClr val="404040"/>
                </a:solidFill>
                <a:latin typeface="Calibri"/>
                <a:cs typeface="Calibri"/>
              </a:rPr>
              <a:t> </a:t>
            </a:r>
            <a:r>
              <a:rPr sz="2200" spc="-10" dirty="0">
                <a:solidFill>
                  <a:srgbClr val="404040"/>
                </a:solidFill>
                <a:latin typeface="Calibri"/>
                <a:cs typeface="Calibri"/>
              </a:rPr>
              <a:t>ensure</a:t>
            </a:r>
            <a:r>
              <a:rPr sz="2200" spc="-15" dirty="0">
                <a:solidFill>
                  <a:srgbClr val="404040"/>
                </a:solidFill>
                <a:latin typeface="Calibri"/>
                <a:cs typeface="Calibri"/>
              </a:rPr>
              <a:t> </a:t>
            </a:r>
            <a:r>
              <a:rPr sz="2200" spc="-10" dirty="0">
                <a:solidFill>
                  <a:srgbClr val="404040"/>
                </a:solidFill>
                <a:latin typeface="Calibri"/>
                <a:cs typeface="Calibri"/>
              </a:rPr>
              <a:t>that</a:t>
            </a:r>
            <a:r>
              <a:rPr sz="2200" spc="5" dirty="0">
                <a:solidFill>
                  <a:srgbClr val="404040"/>
                </a:solidFill>
                <a:latin typeface="Calibri"/>
                <a:cs typeface="Calibri"/>
              </a:rPr>
              <a:t> </a:t>
            </a:r>
            <a:r>
              <a:rPr sz="2200" spc="-5" dirty="0">
                <a:solidFill>
                  <a:srgbClr val="404040"/>
                </a:solidFill>
                <a:latin typeface="Calibri"/>
                <a:cs typeface="Calibri"/>
              </a:rPr>
              <a:t>it</a:t>
            </a:r>
            <a:r>
              <a:rPr sz="2200" spc="-10" dirty="0">
                <a:solidFill>
                  <a:srgbClr val="404040"/>
                </a:solidFill>
                <a:latin typeface="Calibri"/>
                <a:cs typeface="Calibri"/>
              </a:rPr>
              <a:t> </a:t>
            </a:r>
            <a:r>
              <a:rPr sz="2200" spc="-15" dirty="0">
                <a:solidFill>
                  <a:srgbClr val="404040"/>
                </a:solidFill>
                <a:latin typeface="Calibri"/>
                <a:cs typeface="Calibri"/>
              </a:rPr>
              <a:t>works</a:t>
            </a:r>
            <a:r>
              <a:rPr sz="2200" spc="25" dirty="0">
                <a:solidFill>
                  <a:srgbClr val="404040"/>
                </a:solidFill>
                <a:latin typeface="Calibri"/>
                <a:cs typeface="Calibri"/>
              </a:rPr>
              <a:t> </a:t>
            </a:r>
            <a:r>
              <a:rPr sz="2200" spc="-5" dirty="0">
                <a:solidFill>
                  <a:srgbClr val="404040"/>
                </a:solidFill>
                <a:latin typeface="Calibri"/>
                <a:cs typeface="Calibri"/>
              </a:rPr>
              <a:t>as </a:t>
            </a:r>
            <a:r>
              <a:rPr sz="2200" spc="-10" dirty="0">
                <a:solidFill>
                  <a:srgbClr val="404040"/>
                </a:solidFill>
                <a:latin typeface="Calibri"/>
                <a:cs typeface="Calibri"/>
              </a:rPr>
              <a:t>required.</a:t>
            </a:r>
            <a:endParaRPr sz="2200">
              <a:latin typeface="Calibri"/>
              <a:cs typeface="Calibri"/>
            </a:endParaRPr>
          </a:p>
          <a:p>
            <a:pPr marL="104139" marR="5080" indent="-91440" algn="just">
              <a:lnSpc>
                <a:spcPct val="90100"/>
              </a:lnSpc>
              <a:spcBef>
                <a:spcPts val="1350"/>
              </a:spcBef>
              <a:buClr>
                <a:srgbClr val="E38312"/>
              </a:buClr>
              <a:buSzPct val="95454"/>
              <a:buFont typeface="Wingdings"/>
              <a:buChar char=""/>
              <a:tabLst>
                <a:tab pos="235585" algn="l"/>
              </a:tabLst>
            </a:pPr>
            <a:r>
              <a:rPr sz="2200" spc="-5" dirty="0">
                <a:solidFill>
                  <a:srgbClr val="404040"/>
                </a:solidFill>
                <a:latin typeface="Calibri"/>
                <a:cs typeface="Calibri"/>
              </a:rPr>
              <a:t>In</a:t>
            </a:r>
            <a:r>
              <a:rPr sz="2200" spc="285" dirty="0">
                <a:solidFill>
                  <a:srgbClr val="404040"/>
                </a:solidFill>
                <a:latin typeface="Calibri"/>
                <a:cs typeface="Calibri"/>
              </a:rPr>
              <a:t> </a:t>
            </a:r>
            <a:r>
              <a:rPr sz="2200" spc="-5" dirty="0">
                <a:solidFill>
                  <a:srgbClr val="404040"/>
                </a:solidFill>
                <a:latin typeface="Calibri"/>
                <a:cs typeface="Calibri"/>
              </a:rPr>
              <a:t>this</a:t>
            </a:r>
            <a:r>
              <a:rPr sz="2200" spc="295" dirty="0">
                <a:solidFill>
                  <a:srgbClr val="404040"/>
                </a:solidFill>
                <a:latin typeface="Calibri"/>
                <a:cs typeface="Calibri"/>
              </a:rPr>
              <a:t> </a:t>
            </a:r>
            <a:r>
              <a:rPr sz="2200" spc="-15" dirty="0">
                <a:solidFill>
                  <a:srgbClr val="404040"/>
                </a:solidFill>
                <a:latin typeface="Calibri"/>
                <a:cs typeface="Calibri"/>
              </a:rPr>
              <a:t>context,</a:t>
            </a:r>
            <a:r>
              <a:rPr sz="2200" spc="295" dirty="0">
                <a:solidFill>
                  <a:srgbClr val="404040"/>
                </a:solidFill>
                <a:latin typeface="Calibri"/>
                <a:cs typeface="Calibri"/>
              </a:rPr>
              <a:t> </a:t>
            </a:r>
            <a:r>
              <a:rPr sz="2200" spc="-5" dirty="0">
                <a:solidFill>
                  <a:srgbClr val="404040"/>
                </a:solidFill>
                <a:latin typeface="Calibri"/>
                <a:cs typeface="Calibri"/>
              </a:rPr>
              <a:t>there</a:t>
            </a:r>
            <a:r>
              <a:rPr sz="2200" spc="295" dirty="0">
                <a:solidFill>
                  <a:srgbClr val="404040"/>
                </a:solidFill>
                <a:latin typeface="Calibri"/>
                <a:cs typeface="Calibri"/>
              </a:rPr>
              <a:t> </a:t>
            </a:r>
            <a:r>
              <a:rPr sz="2200" spc="-5" dirty="0">
                <a:solidFill>
                  <a:srgbClr val="404040"/>
                </a:solidFill>
                <a:latin typeface="Calibri"/>
                <a:cs typeface="Calibri"/>
              </a:rPr>
              <a:t>is</a:t>
            </a:r>
            <a:r>
              <a:rPr sz="2200" spc="300" dirty="0">
                <a:solidFill>
                  <a:srgbClr val="404040"/>
                </a:solidFill>
                <a:latin typeface="Calibri"/>
                <a:cs typeface="Calibri"/>
              </a:rPr>
              <a:t> </a:t>
            </a:r>
            <a:r>
              <a:rPr sz="2200" spc="-5" dirty="0">
                <a:solidFill>
                  <a:srgbClr val="404040"/>
                </a:solidFill>
                <a:latin typeface="Calibri"/>
                <a:cs typeface="Calibri"/>
              </a:rPr>
              <a:t>a</a:t>
            </a:r>
            <a:r>
              <a:rPr sz="2200" spc="310" dirty="0">
                <a:solidFill>
                  <a:srgbClr val="404040"/>
                </a:solidFill>
                <a:latin typeface="Calibri"/>
                <a:cs typeface="Calibri"/>
              </a:rPr>
              <a:t> </a:t>
            </a:r>
            <a:r>
              <a:rPr sz="2200" spc="-10" dirty="0">
                <a:solidFill>
                  <a:srgbClr val="404040"/>
                </a:solidFill>
                <a:latin typeface="Calibri"/>
                <a:cs typeface="Calibri"/>
              </a:rPr>
              <a:t>power</a:t>
            </a:r>
            <a:r>
              <a:rPr sz="2200" spc="305" dirty="0">
                <a:solidFill>
                  <a:srgbClr val="404040"/>
                </a:solidFill>
                <a:latin typeface="Calibri"/>
                <a:cs typeface="Calibri"/>
              </a:rPr>
              <a:t> </a:t>
            </a:r>
            <a:r>
              <a:rPr sz="2200" spc="-10" dirty="0">
                <a:solidFill>
                  <a:srgbClr val="404040"/>
                </a:solidFill>
                <a:latin typeface="Calibri"/>
                <a:cs typeface="Calibri"/>
              </a:rPr>
              <a:t>management</a:t>
            </a:r>
            <a:r>
              <a:rPr sz="2200" spc="300" dirty="0">
                <a:solidFill>
                  <a:srgbClr val="404040"/>
                </a:solidFill>
                <a:latin typeface="Calibri"/>
                <a:cs typeface="Calibri"/>
              </a:rPr>
              <a:t> </a:t>
            </a:r>
            <a:r>
              <a:rPr sz="2200" spc="-15" dirty="0">
                <a:solidFill>
                  <a:srgbClr val="404040"/>
                </a:solidFill>
                <a:latin typeface="Calibri"/>
                <a:cs typeface="Calibri"/>
              </a:rPr>
              <a:t>strategy</a:t>
            </a:r>
            <a:r>
              <a:rPr sz="2200" spc="310" dirty="0">
                <a:solidFill>
                  <a:srgbClr val="404040"/>
                </a:solidFill>
                <a:latin typeface="Calibri"/>
                <a:cs typeface="Calibri"/>
              </a:rPr>
              <a:t> </a:t>
            </a:r>
            <a:r>
              <a:rPr sz="2200" spc="-5" dirty="0">
                <a:solidFill>
                  <a:srgbClr val="404040"/>
                </a:solidFill>
                <a:latin typeface="Calibri"/>
                <a:cs typeface="Calibri"/>
              </a:rPr>
              <a:t>named</a:t>
            </a:r>
            <a:r>
              <a:rPr sz="2200" spc="315" dirty="0">
                <a:solidFill>
                  <a:srgbClr val="404040"/>
                </a:solidFill>
                <a:latin typeface="Calibri"/>
                <a:cs typeface="Calibri"/>
              </a:rPr>
              <a:t> </a:t>
            </a:r>
            <a:r>
              <a:rPr sz="2200" spc="-10" dirty="0">
                <a:solidFill>
                  <a:srgbClr val="404040"/>
                </a:solidFill>
                <a:latin typeface="Calibri"/>
                <a:cs typeface="Calibri"/>
              </a:rPr>
              <a:t>ACPI</a:t>
            </a:r>
            <a:r>
              <a:rPr sz="2200" spc="300" dirty="0">
                <a:solidFill>
                  <a:srgbClr val="404040"/>
                </a:solidFill>
                <a:latin typeface="Calibri"/>
                <a:cs typeface="Calibri"/>
              </a:rPr>
              <a:t> </a:t>
            </a:r>
            <a:r>
              <a:rPr sz="2200" spc="-10" dirty="0">
                <a:solidFill>
                  <a:srgbClr val="404040"/>
                </a:solidFill>
                <a:latin typeface="Calibri"/>
                <a:cs typeface="Calibri"/>
              </a:rPr>
              <a:t>(Advanced</a:t>
            </a:r>
            <a:r>
              <a:rPr sz="2200" spc="295" dirty="0">
                <a:solidFill>
                  <a:srgbClr val="404040"/>
                </a:solidFill>
                <a:latin typeface="Calibri"/>
                <a:cs typeface="Calibri"/>
              </a:rPr>
              <a:t> </a:t>
            </a:r>
            <a:r>
              <a:rPr sz="2200" spc="-10" dirty="0">
                <a:solidFill>
                  <a:srgbClr val="404040"/>
                </a:solidFill>
                <a:latin typeface="Calibri"/>
                <a:cs typeface="Calibri"/>
              </a:rPr>
              <a:t>Configuration </a:t>
            </a:r>
            <a:r>
              <a:rPr sz="2200" spc="-484" dirty="0">
                <a:solidFill>
                  <a:srgbClr val="404040"/>
                </a:solidFill>
                <a:latin typeface="Calibri"/>
                <a:cs typeface="Calibri"/>
              </a:rPr>
              <a:t> </a:t>
            </a:r>
            <a:r>
              <a:rPr sz="2200" spc="-5" dirty="0">
                <a:solidFill>
                  <a:srgbClr val="404040"/>
                </a:solidFill>
                <a:latin typeface="Calibri"/>
                <a:cs typeface="Calibri"/>
              </a:rPr>
              <a:t>and</a:t>
            </a:r>
            <a:r>
              <a:rPr sz="2200" dirty="0">
                <a:solidFill>
                  <a:srgbClr val="404040"/>
                </a:solidFill>
                <a:latin typeface="Calibri"/>
                <a:cs typeface="Calibri"/>
              </a:rPr>
              <a:t> </a:t>
            </a:r>
            <a:r>
              <a:rPr sz="2200" spc="-20" dirty="0">
                <a:solidFill>
                  <a:srgbClr val="404040"/>
                </a:solidFill>
                <a:latin typeface="Calibri"/>
                <a:cs typeface="Calibri"/>
              </a:rPr>
              <a:t>Power</a:t>
            </a:r>
            <a:r>
              <a:rPr sz="2200" spc="-15" dirty="0">
                <a:solidFill>
                  <a:srgbClr val="404040"/>
                </a:solidFill>
                <a:latin typeface="Calibri"/>
                <a:cs typeface="Calibri"/>
              </a:rPr>
              <a:t> Interface)</a:t>
            </a:r>
            <a:r>
              <a:rPr sz="2200" spc="-10" dirty="0">
                <a:solidFill>
                  <a:srgbClr val="404040"/>
                </a:solidFill>
                <a:latin typeface="Calibri"/>
                <a:cs typeface="Calibri"/>
              </a:rPr>
              <a:t> </a:t>
            </a:r>
            <a:r>
              <a:rPr sz="2200" spc="-5" dirty="0">
                <a:solidFill>
                  <a:srgbClr val="404040"/>
                </a:solidFill>
                <a:latin typeface="Calibri"/>
                <a:cs typeface="Calibri"/>
              </a:rPr>
              <a:t>which</a:t>
            </a:r>
            <a:r>
              <a:rPr sz="2200" dirty="0">
                <a:solidFill>
                  <a:srgbClr val="404040"/>
                </a:solidFill>
                <a:latin typeface="Calibri"/>
                <a:cs typeface="Calibri"/>
              </a:rPr>
              <a:t> </a:t>
            </a:r>
            <a:r>
              <a:rPr sz="2200" spc="-10" dirty="0">
                <a:solidFill>
                  <a:srgbClr val="404040"/>
                </a:solidFill>
                <a:latin typeface="Calibri"/>
                <a:cs typeface="Calibri"/>
              </a:rPr>
              <a:t>has</a:t>
            </a:r>
            <a:r>
              <a:rPr sz="2200" spc="-5" dirty="0">
                <a:solidFill>
                  <a:srgbClr val="404040"/>
                </a:solidFill>
                <a:latin typeface="Calibri"/>
                <a:cs typeface="Calibri"/>
              </a:rPr>
              <a:t> been</a:t>
            </a:r>
            <a:r>
              <a:rPr sz="2200" dirty="0">
                <a:solidFill>
                  <a:srgbClr val="404040"/>
                </a:solidFill>
                <a:latin typeface="Calibri"/>
                <a:cs typeface="Calibri"/>
              </a:rPr>
              <a:t> </a:t>
            </a:r>
            <a:r>
              <a:rPr sz="2200" spc="-15" dirty="0">
                <a:solidFill>
                  <a:srgbClr val="404040"/>
                </a:solidFill>
                <a:latin typeface="Calibri"/>
                <a:cs typeface="Calibri"/>
              </a:rPr>
              <a:t>formalized</a:t>
            </a:r>
            <a:r>
              <a:rPr sz="2200" spc="-10" dirty="0">
                <a:solidFill>
                  <a:srgbClr val="404040"/>
                </a:solidFill>
                <a:latin typeface="Calibri"/>
                <a:cs typeface="Calibri"/>
              </a:rPr>
              <a:t> </a:t>
            </a:r>
            <a:r>
              <a:rPr sz="2200" spc="-20" dirty="0">
                <a:solidFill>
                  <a:srgbClr val="404040"/>
                </a:solidFill>
                <a:latin typeface="Calibri"/>
                <a:cs typeface="Calibri"/>
              </a:rPr>
              <a:t>for</a:t>
            </a:r>
            <a:r>
              <a:rPr sz="2200" spc="-15" dirty="0">
                <a:solidFill>
                  <a:srgbClr val="404040"/>
                </a:solidFill>
                <a:latin typeface="Calibri"/>
                <a:cs typeface="Calibri"/>
              </a:rPr>
              <a:t> </a:t>
            </a:r>
            <a:r>
              <a:rPr sz="2200" spc="-5" dirty="0">
                <a:solidFill>
                  <a:srgbClr val="404040"/>
                </a:solidFill>
                <a:latin typeface="Calibri"/>
                <a:cs typeface="Calibri"/>
              </a:rPr>
              <a:t>computing</a:t>
            </a:r>
            <a:r>
              <a:rPr sz="2200" dirty="0">
                <a:solidFill>
                  <a:srgbClr val="404040"/>
                </a:solidFill>
                <a:latin typeface="Calibri"/>
                <a:cs typeface="Calibri"/>
              </a:rPr>
              <a:t> </a:t>
            </a:r>
            <a:r>
              <a:rPr sz="2200" spc="-10" dirty="0">
                <a:solidFill>
                  <a:srgbClr val="404040"/>
                </a:solidFill>
                <a:latin typeface="Calibri"/>
                <a:cs typeface="Calibri"/>
              </a:rPr>
              <a:t>devices</a:t>
            </a:r>
            <a:r>
              <a:rPr sz="2200" spc="-5" dirty="0">
                <a:solidFill>
                  <a:srgbClr val="404040"/>
                </a:solidFill>
                <a:latin typeface="Calibri"/>
                <a:cs typeface="Calibri"/>
              </a:rPr>
              <a:t> —</a:t>
            </a:r>
            <a:r>
              <a:rPr sz="2200" dirty="0">
                <a:solidFill>
                  <a:srgbClr val="404040"/>
                </a:solidFill>
                <a:latin typeface="Calibri"/>
                <a:cs typeface="Calibri"/>
              </a:rPr>
              <a:t> PCs</a:t>
            </a:r>
            <a:r>
              <a:rPr sz="2200" spc="5" dirty="0">
                <a:solidFill>
                  <a:srgbClr val="404040"/>
                </a:solidFill>
                <a:latin typeface="Calibri"/>
                <a:cs typeface="Calibri"/>
              </a:rPr>
              <a:t> </a:t>
            </a:r>
            <a:r>
              <a:rPr sz="2200" spc="-5" dirty="0">
                <a:solidFill>
                  <a:srgbClr val="404040"/>
                </a:solidFill>
                <a:latin typeface="Calibri"/>
                <a:cs typeface="Calibri"/>
              </a:rPr>
              <a:t>as</a:t>
            </a:r>
            <a:r>
              <a:rPr sz="2200" dirty="0">
                <a:solidFill>
                  <a:srgbClr val="404040"/>
                </a:solidFill>
                <a:latin typeface="Calibri"/>
                <a:cs typeface="Calibri"/>
              </a:rPr>
              <a:t> </a:t>
            </a:r>
            <a:r>
              <a:rPr sz="2200" spc="-10" dirty="0">
                <a:solidFill>
                  <a:srgbClr val="404040"/>
                </a:solidFill>
                <a:latin typeface="Calibri"/>
                <a:cs typeface="Calibri"/>
              </a:rPr>
              <a:t>well</a:t>
            </a:r>
            <a:r>
              <a:rPr sz="2200" spc="-5" dirty="0">
                <a:solidFill>
                  <a:srgbClr val="404040"/>
                </a:solidFill>
                <a:latin typeface="Calibri"/>
                <a:cs typeface="Calibri"/>
              </a:rPr>
              <a:t> as </a:t>
            </a:r>
            <a:r>
              <a:rPr sz="2200" dirty="0">
                <a:solidFill>
                  <a:srgbClr val="404040"/>
                </a:solidFill>
                <a:latin typeface="Calibri"/>
                <a:cs typeface="Calibri"/>
              </a:rPr>
              <a:t> </a:t>
            </a:r>
            <a:r>
              <a:rPr sz="2200" spc="-10" dirty="0">
                <a:solidFill>
                  <a:srgbClr val="404040"/>
                </a:solidFill>
                <a:latin typeface="Calibri"/>
                <a:cs typeface="Calibri"/>
              </a:rPr>
              <a:t>embedded</a:t>
            </a:r>
            <a:r>
              <a:rPr sz="2200" spc="15" dirty="0">
                <a:solidFill>
                  <a:srgbClr val="404040"/>
                </a:solidFill>
                <a:latin typeface="Calibri"/>
                <a:cs typeface="Calibri"/>
              </a:rPr>
              <a:t> </a:t>
            </a:r>
            <a:r>
              <a:rPr sz="2200" spc="-5" dirty="0">
                <a:solidFill>
                  <a:srgbClr val="404040"/>
                </a:solidFill>
                <a:latin typeface="Calibri"/>
                <a:cs typeface="Calibri"/>
              </a:rPr>
              <a:t>devices.</a:t>
            </a:r>
            <a:endParaRPr sz="2200">
              <a:latin typeface="Calibri"/>
              <a:cs typeface="Calibri"/>
            </a:endParaRPr>
          </a:p>
          <a:p>
            <a:pPr marL="104139" marR="5080" indent="-91440">
              <a:lnSpc>
                <a:spcPts val="2380"/>
              </a:lnSpc>
              <a:spcBef>
                <a:spcPts val="1435"/>
              </a:spcBef>
              <a:buClr>
                <a:srgbClr val="E38312"/>
              </a:buClr>
              <a:buSzPct val="95454"/>
              <a:buFont typeface="Wingdings"/>
              <a:buChar char=""/>
              <a:tabLst>
                <a:tab pos="235585" algn="l"/>
              </a:tabLst>
            </a:pPr>
            <a:r>
              <a:rPr sz="2200" spc="-10" dirty="0">
                <a:solidFill>
                  <a:srgbClr val="404040"/>
                </a:solidFill>
                <a:latin typeface="Calibri"/>
                <a:cs typeface="Calibri"/>
              </a:rPr>
              <a:t>This</a:t>
            </a:r>
            <a:r>
              <a:rPr sz="2200" spc="175" dirty="0">
                <a:solidFill>
                  <a:srgbClr val="404040"/>
                </a:solidFill>
                <a:latin typeface="Calibri"/>
                <a:cs typeface="Calibri"/>
              </a:rPr>
              <a:t> </a:t>
            </a:r>
            <a:r>
              <a:rPr sz="2200" spc="-15" dirty="0">
                <a:solidFill>
                  <a:srgbClr val="404040"/>
                </a:solidFill>
                <a:latin typeface="Calibri"/>
                <a:cs typeface="Calibri"/>
              </a:rPr>
              <a:t>protocol</a:t>
            </a:r>
            <a:r>
              <a:rPr sz="2200" spc="190" dirty="0">
                <a:solidFill>
                  <a:srgbClr val="404040"/>
                </a:solidFill>
                <a:latin typeface="Calibri"/>
                <a:cs typeface="Calibri"/>
              </a:rPr>
              <a:t> </a:t>
            </a:r>
            <a:r>
              <a:rPr sz="2200" spc="-5" dirty="0">
                <a:solidFill>
                  <a:srgbClr val="404040"/>
                </a:solidFill>
                <a:latin typeface="Calibri"/>
                <a:cs typeface="Calibri"/>
              </a:rPr>
              <a:t>is</a:t>
            </a:r>
            <a:r>
              <a:rPr sz="2200" spc="185" dirty="0">
                <a:solidFill>
                  <a:srgbClr val="404040"/>
                </a:solidFill>
                <a:latin typeface="Calibri"/>
                <a:cs typeface="Calibri"/>
              </a:rPr>
              <a:t> </a:t>
            </a:r>
            <a:r>
              <a:rPr sz="2200" spc="-5" dirty="0">
                <a:solidFill>
                  <a:srgbClr val="404040"/>
                </a:solidFill>
                <a:latin typeface="Calibri"/>
                <a:cs typeface="Calibri"/>
              </a:rPr>
              <a:t>embedded</a:t>
            </a:r>
            <a:r>
              <a:rPr sz="2200" spc="170" dirty="0">
                <a:solidFill>
                  <a:srgbClr val="404040"/>
                </a:solidFill>
                <a:latin typeface="Calibri"/>
                <a:cs typeface="Calibri"/>
              </a:rPr>
              <a:t> </a:t>
            </a:r>
            <a:r>
              <a:rPr sz="2200" spc="-20" dirty="0">
                <a:solidFill>
                  <a:srgbClr val="404040"/>
                </a:solidFill>
                <a:latin typeface="Calibri"/>
                <a:cs typeface="Calibri"/>
              </a:rPr>
              <a:t>into</a:t>
            </a:r>
            <a:r>
              <a:rPr sz="2200" spc="195" dirty="0">
                <a:solidFill>
                  <a:srgbClr val="404040"/>
                </a:solidFill>
                <a:latin typeface="Calibri"/>
                <a:cs typeface="Calibri"/>
              </a:rPr>
              <a:t> </a:t>
            </a:r>
            <a:r>
              <a:rPr sz="2200" spc="-5" dirty="0">
                <a:solidFill>
                  <a:srgbClr val="404040"/>
                </a:solidFill>
                <a:latin typeface="Calibri"/>
                <a:cs typeface="Calibri"/>
              </a:rPr>
              <a:t>the</a:t>
            </a:r>
            <a:r>
              <a:rPr sz="2200" spc="190" dirty="0">
                <a:solidFill>
                  <a:srgbClr val="404040"/>
                </a:solidFill>
                <a:latin typeface="Calibri"/>
                <a:cs typeface="Calibri"/>
              </a:rPr>
              <a:t> </a:t>
            </a:r>
            <a:r>
              <a:rPr sz="2200" spc="-10" dirty="0">
                <a:solidFill>
                  <a:srgbClr val="404040"/>
                </a:solidFill>
                <a:latin typeface="Calibri"/>
                <a:cs typeface="Calibri"/>
              </a:rPr>
              <a:t>Operating</a:t>
            </a:r>
            <a:r>
              <a:rPr sz="2200" spc="180" dirty="0">
                <a:solidFill>
                  <a:srgbClr val="404040"/>
                </a:solidFill>
                <a:latin typeface="Calibri"/>
                <a:cs typeface="Calibri"/>
              </a:rPr>
              <a:t> </a:t>
            </a:r>
            <a:r>
              <a:rPr sz="2200" spc="-20" dirty="0">
                <a:solidFill>
                  <a:srgbClr val="404040"/>
                </a:solidFill>
                <a:latin typeface="Calibri"/>
                <a:cs typeface="Calibri"/>
              </a:rPr>
              <a:t>System</a:t>
            </a:r>
            <a:r>
              <a:rPr sz="2200" spc="180" dirty="0">
                <a:solidFill>
                  <a:srgbClr val="404040"/>
                </a:solidFill>
                <a:latin typeface="Calibri"/>
                <a:cs typeface="Calibri"/>
              </a:rPr>
              <a:t> </a:t>
            </a:r>
            <a:r>
              <a:rPr sz="2200" spc="-10" dirty="0">
                <a:solidFill>
                  <a:srgbClr val="404040"/>
                </a:solidFill>
                <a:latin typeface="Calibri"/>
                <a:cs typeface="Calibri"/>
              </a:rPr>
              <a:t>such</a:t>
            </a:r>
            <a:r>
              <a:rPr sz="2200" spc="185" dirty="0">
                <a:solidFill>
                  <a:srgbClr val="404040"/>
                </a:solidFill>
                <a:latin typeface="Calibri"/>
                <a:cs typeface="Calibri"/>
              </a:rPr>
              <a:t> </a:t>
            </a:r>
            <a:r>
              <a:rPr sz="2200" spc="-10" dirty="0">
                <a:solidFill>
                  <a:srgbClr val="404040"/>
                </a:solidFill>
                <a:latin typeface="Calibri"/>
                <a:cs typeface="Calibri"/>
              </a:rPr>
              <a:t>that</a:t>
            </a:r>
            <a:r>
              <a:rPr sz="2200" spc="170" dirty="0">
                <a:solidFill>
                  <a:srgbClr val="404040"/>
                </a:solidFill>
                <a:latin typeface="Calibri"/>
                <a:cs typeface="Calibri"/>
              </a:rPr>
              <a:t> </a:t>
            </a:r>
            <a:r>
              <a:rPr sz="2200" dirty="0">
                <a:solidFill>
                  <a:srgbClr val="404040"/>
                </a:solidFill>
                <a:latin typeface="Calibri"/>
                <a:cs typeface="Calibri"/>
              </a:rPr>
              <a:t>it</a:t>
            </a:r>
            <a:r>
              <a:rPr sz="2200" spc="180" dirty="0">
                <a:solidFill>
                  <a:srgbClr val="404040"/>
                </a:solidFill>
                <a:latin typeface="Calibri"/>
                <a:cs typeface="Calibri"/>
              </a:rPr>
              <a:t> </a:t>
            </a:r>
            <a:r>
              <a:rPr sz="2200" spc="-10" dirty="0">
                <a:solidFill>
                  <a:srgbClr val="404040"/>
                </a:solidFill>
                <a:latin typeface="Calibri"/>
                <a:cs typeface="Calibri"/>
              </a:rPr>
              <a:t>becomes</a:t>
            </a:r>
            <a:r>
              <a:rPr sz="2200" spc="195" dirty="0">
                <a:solidFill>
                  <a:srgbClr val="404040"/>
                </a:solidFill>
                <a:latin typeface="Calibri"/>
                <a:cs typeface="Calibri"/>
              </a:rPr>
              <a:t> </a:t>
            </a:r>
            <a:r>
              <a:rPr sz="2200" spc="-10" dirty="0">
                <a:solidFill>
                  <a:srgbClr val="404040"/>
                </a:solidFill>
                <a:latin typeface="Calibri"/>
                <a:cs typeface="Calibri"/>
              </a:rPr>
              <a:t>operational</a:t>
            </a:r>
            <a:r>
              <a:rPr sz="2200" spc="180" dirty="0">
                <a:solidFill>
                  <a:srgbClr val="404040"/>
                </a:solidFill>
                <a:latin typeface="Calibri"/>
                <a:cs typeface="Calibri"/>
              </a:rPr>
              <a:t> </a:t>
            </a:r>
            <a:r>
              <a:rPr sz="2200" spc="-10" dirty="0">
                <a:solidFill>
                  <a:srgbClr val="404040"/>
                </a:solidFill>
                <a:latin typeface="Calibri"/>
                <a:cs typeface="Calibri"/>
              </a:rPr>
              <a:t>during </a:t>
            </a:r>
            <a:r>
              <a:rPr sz="2200" spc="-484" dirty="0">
                <a:solidFill>
                  <a:srgbClr val="404040"/>
                </a:solidFill>
                <a:latin typeface="Calibri"/>
                <a:cs typeface="Calibri"/>
              </a:rPr>
              <a:t> </a:t>
            </a:r>
            <a:r>
              <a:rPr sz="2200" spc="-5" dirty="0">
                <a:solidFill>
                  <a:srgbClr val="404040"/>
                </a:solidFill>
                <a:latin typeface="Calibri"/>
                <a:cs typeface="Calibri"/>
              </a:rPr>
              <a:t>the</a:t>
            </a:r>
            <a:r>
              <a:rPr sz="2200" spc="5" dirty="0">
                <a:solidFill>
                  <a:srgbClr val="404040"/>
                </a:solidFill>
                <a:latin typeface="Calibri"/>
                <a:cs typeface="Calibri"/>
              </a:rPr>
              <a:t> </a:t>
            </a:r>
            <a:r>
              <a:rPr sz="2200" spc="-5" dirty="0">
                <a:solidFill>
                  <a:srgbClr val="404040"/>
                </a:solidFill>
                <a:latin typeface="Calibri"/>
                <a:cs typeface="Calibri"/>
              </a:rPr>
              <a:t>time</a:t>
            </a:r>
            <a:r>
              <a:rPr sz="2200" spc="15" dirty="0">
                <a:solidFill>
                  <a:srgbClr val="404040"/>
                </a:solidFill>
                <a:latin typeface="Calibri"/>
                <a:cs typeface="Calibri"/>
              </a:rPr>
              <a:t> </a:t>
            </a:r>
            <a:r>
              <a:rPr sz="2200" spc="-5" dirty="0">
                <a:solidFill>
                  <a:srgbClr val="404040"/>
                </a:solidFill>
                <a:latin typeface="Calibri"/>
                <a:cs typeface="Calibri"/>
              </a:rPr>
              <a:t>the</a:t>
            </a:r>
            <a:r>
              <a:rPr sz="2200" spc="10" dirty="0">
                <a:solidFill>
                  <a:srgbClr val="404040"/>
                </a:solidFill>
                <a:latin typeface="Calibri"/>
                <a:cs typeface="Calibri"/>
              </a:rPr>
              <a:t> </a:t>
            </a:r>
            <a:r>
              <a:rPr sz="2200" spc="-10" dirty="0">
                <a:solidFill>
                  <a:srgbClr val="404040"/>
                </a:solidFill>
                <a:latin typeface="Calibri"/>
                <a:cs typeface="Calibri"/>
              </a:rPr>
              <a:t>device</a:t>
            </a:r>
            <a:r>
              <a:rPr sz="2200" spc="5" dirty="0">
                <a:solidFill>
                  <a:srgbClr val="404040"/>
                </a:solidFill>
                <a:latin typeface="Calibri"/>
                <a:cs typeface="Calibri"/>
              </a:rPr>
              <a:t> </a:t>
            </a:r>
            <a:r>
              <a:rPr sz="2200" spc="-5" dirty="0">
                <a:solidFill>
                  <a:srgbClr val="404040"/>
                </a:solidFill>
                <a:latin typeface="Calibri"/>
                <a:cs typeface="Calibri"/>
              </a:rPr>
              <a:t>is </a:t>
            </a:r>
            <a:r>
              <a:rPr sz="2200" spc="-10" dirty="0">
                <a:solidFill>
                  <a:srgbClr val="404040"/>
                </a:solidFill>
                <a:latin typeface="Calibri"/>
                <a:cs typeface="Calibri"/>
              </a:rPr>
              <a:t>being</a:t>
            </a:r>
            <a:r>
              <a:rPr sz="2200" spc="5" dirty="0">
                <a:solidFill>
                  <a:srgbClr val="404040"/>
                </a:solidFill>
                <a:latin typeface="Calibri"/>
                <a:cs typeface="Calibri"/>
              </a:rPr>
              <a:t> </a:t>
            </a:r>
            <a:r>
              <a:rPr sz="2200" spc="-5" dirty="0">
                <a:solidFill>
                  <a:srgbClr val="404040"/>
                </a:solidFill>
                <a:latin typeface="Calibri"/>
                <a:cs typeface="Calibri"/>
              </a:rPr>
              <a:t>used.</a:t>
            </a:r>
            <a:endParaRPr sz="2200">
              <a:latin typeface="Calibri"/>
              <a:cs typeface="Calibri"/>
            </a:endParaRPr>
          </a:p>
          <a:p>
            <a:pPr marL="104139" marR="7620" indent="-91440">
              <a:lnSpc>
                <a:spcPts val="2380"/>
              </a:lnSpc>
              <a:spcBef>
                <a:spcPts val="1395"/>
              </a:spcBef>
              <a:buClr>
                <a:srgbClr val="E38312"/>
              </a:buClr>
              <a:buSzPct val="95454"/>
              <a:buFont typeface="Wingdings"/>
              <a:buChar char=""/>
              <a:tabLst>
                <a:tab pos="297815" algn="l"/>
              </a:tabLst>
            </a:pPr>
            <a:r>
              <a:rPr sz="2200" spc="-20" dirty="0">
                <a:solidFill>
                  <a:srgbClr val="404040"/>
                </a:solidFill>
                <a:latin typeface="Calibri"/>
                <a:cs typeface="Calibri"/>
              </a:rPr>
              <a:t>Voltages</a:t>
            </a:r>
            <a:r>
              <a:rPr sz="2200" spc="20" dirty="0">
                <a:solidFill>
                  <a:srgbClr val="404040"/>
                </a:solidFill>
                <a:latin typeface="Calibri"/>
                <a:cs typeface="Calibri"/>
              </a:rPr>
              <a:t> </a:t>
            </a:r>
            <a:r>
              <a:rPr sz="2200" spc="-5" dirty="0">
                <a:solidFill>
                  <a:srgbClr val="404040"/>
                </a:solidFill>
                <a:latin typeface="Calibri"/>
                <a:cs typeface="Calibri"/>
              </a:rPr>
              <a:t>and</a:t>
            </a:r>
            <a:r>
              <a:rPr sz="2200" spc="15" dirty="0">
                <a:solidFill>
                  <a:srgbClr val="404040"/>
                </a:solidFill>
                <a:latin typeface="Calibri"/>
                <a:cs typeface="Calibri"/>
              </a:rPr>
              <a:t> </a:t>
            </a:r>
            <a:r>
              <a:rPr sz="2200" spc="-10" dirty="0">
                <a:solidFill>
                  <a:srgbClr val="404040"/>
                </a:solidFill>
                <a:latin typeface="Calibri"/>
                <a:cs typeface="Calibri"/>
              </a:rPr>
              <a:t>frequencies</a:t>
            </a:r>
            <a:r>
              <a:rPr sz="2200" spc="25" dirty="0">
                <a:solidFill>
                  <a:srgbClr val="404040"/>
                </a:solidFill>
                <a:latin typeface="Calibri"/>
                <a:cs typeface="Calibri"/>
              </a:rPr>
              <a:t> </a:t>
            </a:r>
            <a:r>
              <a:rPr sz="2200" spc="-10" dirty="0">
                <a:solidFill>
                  <a:srgbClr val="404040"/>
                </a:solidFill>
                <a:latin typeface="Calibri"/>
                <a:cs typeface="Calibri"/>
              </a:rPr>
              <a:t>are</a:t>
            </a:r>
            <a:r>
              <a:rPr sz="2200" spc="15" dirty="0">
                <a:solidFill>
                  <a:srgbClr val="404040"/>
                </a:solidFill>
                <a:latin typeface="Calibri"/>
                <a:cs typeface="Calibri"/>
              </a:rPr>
              <a:t> </a:t>
            </a:r>
            <a:r>
              <a:rPr sz="2200" spc="-10" dirty="0">
                <a:solidFill>
                  <a:srgbClr val="404040"/>
                </a:solidFill>
                <a:latin typeface="Calibri"/>
                <a:cs typeface="Calibri"/>
              </a:rPr>
              <a:t>dynamically</a:t>
            </a:r>
            <a:r>
              <a:rPr sz="2200" spc="30" dirty="0">
                <a:solidFill>
                  <a:srgbClr val="404040"/>
                </a:solidFill>
                <a:latin typeface="Calibri"/>
                <a:cs typeface="Calibri"/>
              </a:rPr>
              <a:t> </a:t>
            </a:r>
            <a:r>
              <a:rPr sz="2200" spc="-15" dirty="0">
                <a:solidFill>
                  <a:srgbClr val="404040"/>
                </a:solidFill>
                <a:latin typeface="Calibri"/>
                <a:cs typeface="Calibri"/>
              </a:rPr>
              <a:t>controlled</a:t>
            </a:r>
            <a:r>
              <a:rPr sz="2200" spc="30" dirty="0">
                <a:solidFill>
                  <a:srgbClr val="404040"/>
                </a:solidFill>
                <a:latin typeface="Calibri"/>
                <a:cs typeface="Calibri"/>
              </a:rPr>
              <a:t> </a:t>
            </a:r>
            <a:r>
              <a:rPr sz="2200" spc="-5" dirty="0">
                <a:solidFill>
                  <a:srgbClr val="404040"/>
                </a:solidFill>
                <a:latin typeface="Calibri"/>
                <a:cs typeface="Calibri"/>
              </a:rPr>
              <a:t>and</a:t>
            </a:r>
            <a:r>
              <a:rPr sz="2200" spc="15" dirty="0">
                <a:solidFill>
                  <a:srgbClr val="404040"/>
                </a:solidFill>
                <a:latin typeface="Calibri"/>
                <a:cs typeface="Calibri"/>
              </a:rPr>
              <a:t> </a:t>
            </a:r>
            <a:r>
              <a:rPr sz="2200" spc="-10" dirty="0">
                <a:solidFill>
                  <a:srgbClr val="404040"/>
                </a:solidFill>
                <a:latin typeface="Calibri"/>
                <a:cs typeface="Calibri"/>
              </a:rPr>
              <a:t>modulated</a:t>
            </a:r>
            <a:r>
              <a:rPr sz="2200" spc="20" dirty="0">
                <a:solidFill>
                  <a:srgbClr val="404040"/>
                </a:solidFill>
                <a:latin typeface="Calibri"/>
                <a:cs typeface="Calibri"/>
              </a:rPr>
              <a:t> </a:t>
            </a:r>
            <a:r>
              <a:rPr sz="2200" spc="-20" dirty="0">
                <a:solidFill>
                  <a:srgbClr val="404040"/>
                </a:solidFill>
                <a:latin typeface="Calibri"/>
                <a:cs typeface="Calibri"/>
              </a:rPr>
              <a:t>to</a:t>
            </a:r>
            <a:r>
              <a:rPr sz="2200" spc="30" dirty="0">
                <a:solidFill>
                  <a:srgbClr val="404040"/>
                </a:solidFill>
                <a:latin typeface="Calibri"/>
                <a:cs typeface="Calibri"/>
              </a:rPr>
              <a:t> </a:t>
            </a:r>
            <a:r>
              <a:rPr sz="2200" spc="-15" dirty="0">
                <a:solidFill>
                  <a:srgbClr val="404040"/>
                </a:solidFill>
                <a:latin typeface="Calibri"/>
                <a:cs typeface="Calibri"/>
              </a:rPr>
              <a:t>get</a:t>
            </a:r>
            <a:r>
              <a:rPr sz="2200" spc="30" dirty="0">
                <a:solidFill>
                  <a:srgbClr val="404040"/>
                </a:solidFill>
                <a:latin typeface="Calibri"/>
                <a:cs typeface="Calibri"/>
              </a:rPr>
              <a:t> </a:t>
            </a:r>
            <a:r>
              <a:rPr sz="2200" spc="-10" dirty="0">
                <a:solidFill>
                  <a:srgbClr val="404040"/>
                </a:solidFill>
                <a:latin typeface="Calibri"/>
                <a:cs typeface="Calibri"/>
              </a:rPr>
              <a:t>performance</a:t>
            </a:r>
            <a:r>
              <a:rPr sz="2200" spc="15" dirty="0">
                <a:solidFill>
                  <a:srgbClr val="404040"/>
                </a:solidFill>
                <a:latin typeface="Calibri"/>
                <a:cs typeface="Calibri"/>
              </a:rPr>
              <a:t> </a:t>
            </a:r>
            <a:r>
              <a:rPr sz="2200" spc="-5" dirty="0">
                <a:solidFill>
                  <a:srgbClr val="404040"/>
                </a:solidFill>
                <a:latin typeface="Calibri"/>
                <a:cs typeface="Calibri"/>
              </a:rPr>
              <a:t>in</a:t>
            </a:r>
            <a:r>
              <a:rPr sz="2200" spc="10" dirty="0">
                <a:solidFill>
                  <a:srgbClr val="404040"/>
                </a:solidFill>
                <a:latin typeface="Calibri"/>
                <a:cs typeface="Calibri"/>
              </a:rPr>
              <a:t> </a:t>
            </a:r>
            <a:r>
              <a:rPr sz="2200" spc="-5" dirty="0">
                <a:solidFill>
                  <a:srgbClr val="404040"/>
                </a:solidFill>
                <a:latin typeface="Calibri"/>
                <a:cs typeface="Calibri"/>
              </a:rPr>
              <a:t>tune </a:t>
            </a:r>
            <a:r>
              <a:rPr sz="2200" spc="-484" dirty="0">
                <a:solidFill>
                  <a:srgbClr val="404040"/>
                </a:solidFill>
                <a:latin typeface="Calibri"/>
                <a:cs typeface="Calibri"/>
              </a:rPr>
              <a:t> </a:t>
            </a:r>
            <a:r>
              <a:rPr sz="2200" spc="-5" dirty="0">
                <a:solidFill>
                  <a:srgbClr val="404040"/>
                </a:solidFill>
                <a:latin typeface="Calibri"/>
                <a:cs typeface="Calibri"/>
              </a:rPr>
              <a:t>with the</a:t>
            </a:r>
            <a:r>
              <a:rPr sz="2200" dirty="0">
                <a:solidFill>
                  <a:srgbClr val="404040"/>
                </a:solidFill>
                <a:latin typeface="Calibri"/>
                <a:cs typeface="Calibri"/>
              </a:rPr>
              <a:t> </a:t>
            </a:r>
            <a:r>
              <a:rPr sz="2200" spc="-10" dirty="0">
                <a:solidFill>
                  <a:srgbClr val="404040"/>
                </a:solidFill>
                <a:latin typeface="Calibri"/>
                <a:cs typeface="Calibri"/>
              </a:rPr>
              <a:t>requirements</a:t>
            </a:r>
            <a:r>
              <a:rPr sz="2200" spc="15" dirty="0">
                <a:solidFill>
                  <a:srgbClr val="404040"/>
                </a:solidFill>
                <a:latin typeface="Calibri"/>
                <a:cs typeface="Calibri"/>
              </a:rPr>
              <a:t> </a:t>
            </a:r>
            <a:r>
              <a:rPr sz="2200" dirty="0">
                <a:solidFill>
                  <a:srgbClr val="404040"/>
                </a:solidFill>
                <a:latin typeface="Calibri"/>
                <a:cs typeface="Calibri"/>
              </a:rPr>
              <a:t>of</a:t>
            </a:r>
            <a:r>
              <a:rPr sz="2200" spc="5" dirty="0">
                <a:solidFill>
                  <a:srgbClr val="404040"/>
                </a:solidFill>
                <a:latin typeface="Calibri"/>
                <a:cs typeface="Calibri"/>
              </a:rPr>
              <a:t> </a:t>
            </a:r>
            <a:r>
              <a:rPr sz="2200" spc="-5" dirty="0">
                <a:solidFill>
                  <a:srgbClr val="404040"/>
                </a:solidFill>
                <a:latin typeface="Calibri"/>
                <a:cs typeface="Calibri"/>
              </a:rPr>
              <a:t>low</a:t>
            </a:r>
            <a:r>
              <a:rPr sz="2200" dirty="0">
                <a:solidFill>
                  <a:srgbClr val="404040"/>
                </a:solidFill>
                <a:latin typeface="Calibri"/>
                <a:cs typeface="Calibri"/>
              </a:rPr>
              <a:t> </a:t>
            </a:r>
            <a:r>
              <a:rPr sz="2200" spc="-45" dirty="0">
                <a:solidFill>
                  <a:srgbClr val="404040"/>
                </a:solidFill>
                <a:latin typeface="Calibri"/>
                <a:cs typeface="Calibri"/>
              </a:rPr>
              <a:t>power.</a:t>
            </a:r>
            <a:endParaRPr sz="2200">
              <a:latin typeface="Calibri"/>
              <a:cs typeface="Calibri"/>
            </a:endParaRPr>
          </a:p>
        </p:txBody>
      </p:sp>
      <p:sp>
        <p:nvSpPr>
          <p:cNvPr id="8" name="object 8"/>
          <p:cNvSpPr txBox="1"/>
          <p:nvPr/>
        </p:nvSpPr>
        <p:spPr>
          <a:xfrm>
            <a:off x="1176324" y="6554825"/>
            <a:ext cx="5835015" cy="162560"/>
          </a:xfrm>
          <a:prstGeom prst="rect">
            <a:avLst/>
          </a:prstGeom>
        </p:spPr>
        <p:txBody>
          <a:bodyPr vert="horz" wrap="square" lIns="0" tIns="12700" rIns="0" bIns="0" rtlCol="0">
            <a:spAutoFit/>
          </a:bodyPr>
          <a:lstStyle/>
          <a:p>
            <a:pPr marL="12700">
              <a:lnSpc>
                <a:spcPct val="100000"/>
              </a:lnSpc>
              <a:spcBef>
                <a:spcPts val="100"/>
              </a:spcBef>
              <a:tabLst>
                <a:tab pos="4018279" algn="l"/>
              </a:tabLst>
            </a:pPr>
            <a:r>
              <a:rPr sz="900" spc="-5" dirty="0">
                <a:solidFill>
                  <a:srgbClr val="FFFFFF"/>
                </a:solidFill>
                <a:latin typeface="Calibri"/>
                <a:cs typeface="Calibri"/>
              </a:rPr>
              <a:t>23-06-2020	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33</a:t>
            </a:r>
            <a:endParaRPr sz="1050">
              <a:latin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1813686"/>
            <a:ext cx="3010535" cy="452120"/>
          </a:xfrm>
          <a:prstGeom prst="rect">
            <a:avLst/>
          </a:prstGeom>
        </p:spPr>
        <p:txBody>
          <a:bodyPr vert="horz" wrap="square" lIns="0" tIns="12065" rIns="0" bIns="0" rtlCol="0">
            <a:spAutoFit/>
          </a:bodyPr>
          <a:lstStyle/>
          <a:p>
            <a:pPr marL="12700">
              <a:lnSpc>
                <a:spcPct val="100000"/>
              </a:lnSpc>
              <a:spcBef>
                <a:spcPts val="95"/>
              </a:spcBef>
            </a:pPr>
            <a:r>
              <a:rPr sz="2800" spc="-15" dirty="0">
                <a:solidFill>
                  <a:srgbClr val="404040"/>
                </a:solidFill>
                <a:latin typeface="Calibri"/>
                <a:cs typeface="Calibri"/>
              </a:rPr>
              <a:t>What</a:t>
            </a:r>
            <a:r>
              <a:rPr sz="2800" spc="-5" dirty="0">
                <a:solidFill>
                  <a:srgbClr val="404040"/>
                </a:solidFill>
                <a:latin typeface="Calibri"/>
                <a:cs typeface="Calibri"/>
              </a:rPr>
              <a:t> does</a:t>
            </a:r>
            <a:r>
              <a:rPr sz="2800" spc="-15" dirty="0">
                <a:solidFill>
                  <a:srgbClr val="404040"/>
                </a:solidFill>
                <a:latin typeface="Calibri"/>
                <a:cs typeface="Calibri"/>
              </a:rPr>
              <a:t> ACPI</a:t>
            </a:r>
            <a:r>
              <a:rPr sz="2800" spc="5" dirty="0">
                <a:solidFill>
                  <a:srgbClr val="404040"/>
                </a:solidFill>
                <a:latin typeface="Calibri"/>
                <a:cs typeface="Calibri"/>
              </a:rPr>
              <a:t> </a:t>
            </a:r>
            <a:r>
              <a:rPr sz="2800" spc="-5" dirty="0">
                <a:solidFill>
                  <a:srgbClr val="404040"/>
                </a:solidFill>
                <a:latin typeface="Calibri"/>
                <a:cs typeface="Calibri"/>
              </a:rPr>
              <a:t>do?</a:t>
            </a:r>
            <a:endParaRPr sz="2800">
              <a:latin typeface="Calibri"/>
              <a:cs typeface="Calibri"/>
            </a:endParaRPr>
          </a:p>
        </p:txBody>
      </p:sp>
      <p:sp>
        <p:nvSpPr>
          <p:cNvPr id="7" name="object 7"/>
          <p:cNvSpPr txBox="1"/>
          <p:nvPr/>
        </p:nvSpPr>
        <p:spPr>
          <a:xfrm>
            <a:off x="1176324" y="2375738"/>
            <a:ext cx="9992360" cy="1220470"/>
          </a:xfrm>
          <a:prstGeom prst="rect">
            <a:avLst/>
          </a:prstGeom>
        </p:spPr>
        <p:txBody>
          <a:bodyPr vert="horz" wrap="square" lIns="0" tIns="55244" rIns="0" bIns="0" rtlCol="0">
            <a:spAutoFit/>
          </a:bodyPr>
          <a:lstStyle/>
          <a:p>
            <a:pPr marL="12700" marR="5080" algn="just">
              <a:lnSpc>
                <a:spcPct val="90000"/>
              </a:lnSpc>
              <a:spcBef>
                <a:spcPts val="434"/>
              </a:spcBef>
            </a:pPr>
            <a:r>
              <a:rPr sz="2800" spc="-5" dirty="0">
                <a:solidFill>
                  <a:srgbClr val="404040"/>
                </a:solidFill>
                <a:latin typeface="Calibri"/>
                <a:cs typeface="Calibri"/>
              </a:rPr>
              <a:t>It </a:t>
            </a:r>
            <a:r>
              <a:rPr sz="2800" spc="-10" dirty="0">
                <a:solidFill>
                  <a:srgbClr val="404040"/>
                </a:solidFill>
                <a:latin typeface="Calibri"/>
                <a:cs typeface="Calibri"/>
              </a:rPr>
              <a:t>defines </a:t>
            </a:r>
            <a:r>
              <a:rPr sz="2800" spc="-5" dirty="0">
                <a:solidFill>
                  <a:srgbClr val="404040"/>
                </a:solidFill>
                <a:latin typeface="Calibri"/>
                <a:cs typeface="Calibri"/>
              </a:rPr>
              <a:t>a number of </a:t>
            </a:r>
            <a:r>
              <a:rPr sz="2800" spc="-25" dirty="0">
                <a:solidFill>
                  <a:srgbClr val="404040"/>
                </a:solidFill>
                <a:latin typeface="Calibri"/>
                <a:cs typeface="Calibri"/>
              </a:rPr>
              <a:t>states </a:t>
            </a:r>
            <a:r>
              <a:rPr sz="2800" spc="-20" dirty="0">
                <a:solidFill>
                  <a:srgbClr val="404040"/>
                </a:solidFill>
                <a:latin typeface="Calibri"/>
                <a:cs typeface="Calibri"/>
              </a:rPr>
              <a:t>from </a:t>
            </a:r>
            <a:r>
              <a:rPr sz="2800" spc="-10" dirty="0">
                <a:solidFill>
                  <a:srgbClr val="404040"/>
                </a:solidFill>
                <a:latin typeface="Calibri"/>
                <a:cs typeface="Calibri"/>
              </a:rPr>
              <a:t>active </a:t>
            </a:r>
            <a:r>
              <a:rPr sz="2800" spc="-20" dirty="0">
                <a:solidFill>
                  <a:srgbClr val="404040"/>
                </a:solidFill>
                <a:latin typeface="Calibri"/>
                <a:cs typeface="Calibri"/>
              </a:rPr>
              <a:t>to </a:t>
            </a:r>
            <a:r>
              <a:rPr sz="2800" spc="-5" dirty="0">
                <a:solidFill>
                  <a:srgbClr val="404040"/>
                </a:solidFill>
                <a:latin typeface="Calibri"/>
                <a:cs typeface="Calibri"/>
              </a:rPr>
              <a:t>sleep </a:t>
            </a:r>
            <a:r>
              <a:rPr sz="2800" dirty="0">
                <a:solidFill>
                  <a:srgbClr val="404040"/>
                </a:solidFill>
                <a:latin typeface="Calibri"/>
                <a:cs typeface="Calibri"/>
              </a:rPr>
              <a:t>and </a:t>
            </a:r>
            <a:r>
              <a:rPr sz="2800" spc="-15" dirty="0">
                <a:solidFill>
                  <a:srgbClr val="404040"/>
                </a:solidFill>
                <a:latin typeface="Calibri"/>
                <a:cs typeface="Calibri"/>
              </a:rPr>
              <a:t>off </a:t>
            </a:r>
            <a:r>
              <a:rPr sz="2800" spc="-20" dirty="0">
                <a:solidFill>
                  <a:srgbClr val="404040"/>
                </a:solidFill>
                <a:latin typeface="Calibri"/>
                <a:cs typeface="Calibri"/>
              </a:rPr>
              <a:t>states, </a:t>
            </a:r>
            <a:r>
              <a:rPr sz="2800" spc="-30" dirty="0">
                <a:solidFill>
                  <a:srgbClr val="404040"/>
                </a:solidFill>
                <a:latin typeface="Calibri"/>
                <a:cs typeface="Calibri"/>
              </a:rPr>
              <a:t>for </a:t>
            </a:r>
            <a:r>
              <a:rPr sz="2800" spc="-25" dirty="0">
                <a:solidFill>
                  <a:srgbClr val="404040"/>
                </a:solidFill>
                <a:latin typeface="Calibri"/>
                <a:cs typeface="Calibri"/>
              </a:rPr>
              <a:t> </a:t>
            </a:r>
            <a:r>
              <a:rPr sz="2800" spc="-10" dirty="0">
                <a:solidFill>
                  <a:srgbClr val="404040"/>
                </a:solidFill>
                <a:latin typeface="Calibri"/>
                <a:cs typeface="Calibri"/>
              </a:rPr>
              <a:t>various</a:t>
            </a:r>
            <a:r>
              <a:rPr sz="2800" spc="-5" dirty="0">
                <a:solidFill>
                  <a:srgbClr val="404040"/>
                </a:solidFill>
                <a:latin typeface="Calibri"/>
                <a:cs typeface="Calibri"/>
              </a:rPr>
              <a:t> </a:t>
            </a:r>
            <a:r>
              <a:rPr sz="2800" spc="-10" dirty="0">
                <a:solidFill>
                  <a:srgbClr val="404040"/>
                </a:solidFill>
                <a:latin typeface="Calibri"/>
                <a:cs typeface="Calibri"/>
              </a:rPr>
              <a:t>levels</a:t>
            </a:r>
            <a:r>
              <a:rPr sz="2800" spc="-5" dirty="0">
                <a:solidFill>
                  <a:srgbClr val="404040"/>
                </a:solidFill>
                <a:latin typeface="Calibri"/>
                <a:cs typeface="Calibri"/>
              </a:rPr>
              <a:t> of</a:t>
            </a:r>
            <a:r>
              <a:rPr sz="2800" dirty="0">
                <a:solidFill>
                  <a:srgbClr val="404040"/>
                </a:solidFill>
                <a:latin typeface="Calibri"/>
                <a:cs typeface="Calibri"/>
              </a:rPr>
              <a:t> </a:t>
            </a:r>
            <a:r>
              <a:rPr sz="2800" spc="-15" dirty="0">
                <a:solidFill>
                  <a:srgbClr val="404040"/>
                </a:solidFill>
                <a:latin typeface="Calibri"/>
                <a:cs typeface="Calibri"/>
              </a:rPr>
              <a:t>performance</a:t>
            </a:r>
            <a:r>
              <a:rPr sz="2800" spc="-10" dirty="0">
                <a:solidFill>
                  <a:srgbClr val="404040"/>
                </a:solidFill>
                <a:latin typeface="Calibri"/>
                <a:cs typeface="Calibri"/>
              </a:rPr>
              <a:t> </a:t>
            </a:r>
            <a:r>
              <a:rPr sz="2800" spc="-5" dirty="0">
                <a:solidFill>
                  <a:srgbClr val="404040"/>
                </a:solidFill>
                <a:latin typeface="Calibri"/>
                <a:cs typeface="Calibri"/>
              </a:rPr>
              <a:t>and</a:t>
            </a:r>
            <a:r>
              <a:rPr sz="2800" dirty="0">
                <a:solidFill>
                  <a:srgbClr val="404040"/>
                </a:solidFill>
                <a:latin typeface="Calibri"/>
                <a:cs typeface="Calibri"/>
              </a:rPr>
              <a:t> </a:t>
            </a:r>
            <a:r>
              <a:rPr sz="2800" spc="-15" dirty="0">
                <a:solidFill>
                  <a:srgbClr val="404040"/>
                </a:solidFill>
                <a:latin typeface="Calibri"/>
                <a:cs typeface="Calibri"/>
              </a:rPr>
              <a:t>requirements</a:t>
            </a:r>
            <a:r>
              <a:rPr sz="2800" spc="-10" dirty="0">
                <a:solidFill>
                  <a:srgbClr val="404040"/>
                </a:solidFill>
                <a:latin typeface="Calibri"/>
                <a:cs typeface="Calibri"/>
              </a:rPr>
              <a:t> </a:t>
            </a:r>
            <a:r>
              <a:rPr sz="2800" spc="-25" dirty="0">
                <a:solidFill>
                  <a:srgbClr val="404040"/>
                </a:solidFill>
                <a:latin typeface="Calibri"/>
                <a:cs typeface="Calibri"/>
              </a:rPr>
              <a:t>for</a:t>
            </a:r>
            <a:r>
              <a:rPr sz="2800" spc="-20" dirty="0">
                <a:solidFill>
                  <a:srgbClr val="404040"/>
                </a:solidFill>
                <a:latin typeface="Calibri"/>
                <a:cs typeface="Calibri"/>
              </a:rPr>
              <a:t> </a:t>
            </a:r>
            <a:r>
              <a:rPr sz="2800" spc="-5" dirty="0">
                <a:solidFill>
                  <a:srgbClr val="404040"/>
                </a:solidFill>
                <a:latin typeface="Calibri"/>
                <a:cs typeface="Calibri"/>
              </a:rPr>
              <a:t>PCs,</a:t>
            </a:r>
            <a:r>
              <a:rPr sz="2800" dirty="0">
                <a:solidFill>
                  <a:srgbClr val="404040"/>
                </a:solidFill>
                <a:latin typeface="Calibri"/>
                <a:cs typeface="Calibri"/>
              </a:rPr>
              <a:t> </a:t>
            </a:r>
            <a:r>
              <a:rPr sz="2800" spc="-5" dirty="0">
                <a:solidFill>
                  <a:srgbClr val="404040"/>
                </a:solidFill>
                <a:latin typeface="Calibri"/>
                <a:cs typeface="Calibri"/>
              </a:rPr>
              <a:t>phones, </a:t>
            </a:r>
            <a:r>
              <a:rPr sz="2800" spc="-620" dirty="0">
                <a:solidFill>
                  <a:srgbClr val="404040"/>
                </a:solidFill>
                <a:latin typeface="Calibri"/>
                <a:cs typeface="Calibri"/>
              </a:rPr>
              <a:t> </a:t>
            </a:r>
            <a:r>
              <a:rPr sz="2800" spc="-15" dirty="0">
                <a:solidFill>
                  <a:srgbClr val="404040"/>
                </a:solidFill>
                <a:latin typeface="Calibri"/>
                <a:cs typeface="Calibri"/>
              </a:rPr>
              <a:t>tablets</a:t>
            </a:r>
            <a:r>
              <a:rPr sz="2800" spc="5" dirty="0">
                <a:solidFill>
                  <a:srgbClr val="404040"/>
                </a:solidFill>
                <a:latin typeface="Calibri"/>
                <a:cs typeface="Calibri"/>
              </a:rPr>
              <a:t> </a:t>
            </a:r>
            <a:r>
              <a:rPr sz="2800" spc="-15" dirty="0">
                <a:solidFill>
                  <a:srgbClr val="404040"/>
                </a:solidFill>
                <a:latin typeface="Calibri"/>
                <a:cs typeface="Calibri"/>
              </a:rPr>
              <a:t>etc.</a:t>
            </a:r>
            <a:endParaRPr sz="28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34</a:t>
            </a:r>
            <a:endParaRPr sz="105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176324" y="955370"/>
            <a:ext cx="9996805" cy="757555"/>
          </a:xfrm>
          <a:prstGeom prst="rect">
            <a:avLst/>
          </a:prstGeom>
        </p:spPr>
        <p:txBody>
          <a:bodyPr vert="horz" wrap="square" lIns="0" tIns="12700" rIns="0" bIns="0" rtlCol="0">
            <a:spAutoFit/>
          </a:bodyPr>
          <a:lstStyle/>
          <a:p>
            <a:pPr marL="12700">
              <a:lnSpc>
                <a:spcPct val="100000"/>
              </a:lnSpc>
              <a:spcBef>
                <a:spcPts val="100"/>
              </a:spcBef>
              <a:tabLst>
                <a:tab pos="9983470" algn="l"/>
              </a:tabLst>
            </a:pPr>
            <a:r>
              <a:rPr sz="4800" b="0" u="sng" spc="-40" dirty="0">
                <a:solidFill>
                  <a:srgbClr val="00AFEF"/>
                </a:solidFill>
                <a:uFill>
                  <a:solidFill>
                    <a:srgbClr val="7E7E7E"/>
                  </a:solidFill>
                </a:uFill>
                <a:latin typeface="Calibri Light"/>
                <a:cs typeface="Calibri Light"/>
              </a:rPr>
              <a:t>2.14</a:t>
            </a:r>
            <a:r>
              <a:rPr sz="4800" b="0" u="sng" spc="-114" dirty="0">
                <a:solidFill>
                  <a:srgbClr val="00AFEF"/>
                </a:solidFill>
                <a:uFill>
                  <a:solidFill>
                    <a:srgbClr val="7E7E7E"/>
                  </a:solidFill>
                </a:uFill>
                <a:latin typeface="Calibri Light"/>
                <a:cs typeface="Calibri Light"/>
              </a:rPr>
              <a:t> </a:t>
            </a:r>
            <a:r>
              <a:rPr sz="4800" b="0" u="sng" spc="-35" dirty="0">
                <a:solidFill>
                  <a:srgbClr val="00AFEF"/>
                </a:solidFill>
                <a:uFill>
                  <a:solidFill>
                    <a:srgbClr val="7E7E7E"/>
                  </a:solidFill>
                </a:uFill>
                <a:latin typeface="Calibri Light"/>
                <a:cs typeface="Calibri Light"/>
              </a:rPr>
              <a:t>BUS</a:t>
            </a:r>
            <a:r>
              <a:rPr sz="4800" b="0" u="sng" spc="-105" dirty="0">
                <a:solidFill>
                  <a:srgbClr val="00AFEF"/>
                </a:solidFill>
                <a:uFill>
                  <a:solidFill>
                    <a:srgbClr val="7E7E7E"/>
                  </a:solidFill>
                </a:uFill>
                <a:latin typeface="Calibri Light"/>
                <a:cs typeface="Calibri Light"/>
              </a:rPr>
              <a:t> </a:t>
            </a:r>
            <a:r>
              <a:rPr sz="4800" b="0" u="sng" spc="-55" dirty="0">
                <a:solidFill>
                  <a:srgbClr val="00AFEF"/>
                </a:solidFill>
                <a:uFill>
                  <a:solidFill>
                    <a:srgbClr val="7E7E7E"/>
                  </a:solidFill>
                </a:uFill>
                <a:latin typeface="Calibri Light"/>
                <a:cs typeface="Calibri Light"/>
              </a:rPr>
              <a:t>ARCHITECTURE	</a:t>
            </a:r>
            <a:endParaRPr sz="4800">
              <a:latin typeface="Calibri Light"/>
              <a:cs typeface="Calibri Light"/>
            </a:endParaRPr>
          </a:p>
        </p:txBody>
      </p:sp>
      <p:sp>
        <p:nvSpPr>
          <p:cNvPr id="6" name="object 6"/>
          <p:cNvSpPr txBox="1"/>
          <p:nvPr/>
        </p:nvSpPr>
        <p:spPr>
          <a:xfrm>
            <a:off x="1084580" y="1936496"/>
            <a:ext cx="9264650" cy="720725"/>
          </a:xfrm>
          <a:prstGeom prst="rect">
            <a:avLst/>
          </a:prstGeom>
        </p:spPr>
        <p:txBody>
          <a:bodyPr vert="horz" wrap="square" lIns="0" tIns="53975" rIns="0" bIns="0" rtlCol="0">
            <a:spAutoFit/>
          </a:bodyPr>
          <a:lstStyle/>
          <a:p>
            <a:pPr marL="104139" marR="5080" indent="-92075">
              <a:lnSpc>
                <a:spcPts val="2590"/>
              </a:lnSpc>
              <a:spcBef>
                <a:spcPts val="425"/>
              </a:spcBef>
              <a:buClr>
                <a:srgbClr val="E38312"/>
              </a:buClr>
              <a:buFont typeface="Wingdings"/>
              <a:buChar char=""/>
              <a:tabLst>
                <a:tab pos="323850" algn="l"/>
              </a:tabLst>
            </a:pPr>
            <a:r>
              <a:rPr sz="2400" dirty="0">
                <a:solidFill>
                  <a:srgbClr val="404040"/>
                </a:solidFill>
                <a:latin typeface="Calibri"/>
                <a:cs typeface="Calibri"/>
              </a:rPr>
              <a:t>A </a:t>
            </a:r>
            <a:r>
              <a:rPr sz="2400" spc="-5" dirty="0">
                <a:solidFill>
                  <a:srgbClr val="404040"/>
                </a:solidFill>
                <a:latin typeface="Calibri"/>
                <a:cs typeface="Calibri"/>
              </a:rPr>
              <a:t>bus </a:t>
            </a:r>
            <a:r>
              <a:rPr sz="2400" dirty="0">
                <a:solidFill>
                  <a:srgbClr val="404040"/>
                </a:solidFill>
                <a:latin typeface="Calibri"/>
                <a:cs typeface="Calibri"/>
              </a:rPr>
              <a:t>is a </a:t>
            </a:r>
            <a:r>
              <a:rPr sz="2400" spc="-10" dirty="0">
                <a:solidFill>
                  <a:srgbClr val="404040"/>
                </a:solidFill>
                <a:latin typeface="Calibri"/>
                <a:cs typeface="Calibri"/>
              </a:rPr>
              <a:t>group </a:t>
            </a:r>
            <a:r>
              <a:rPr sz="2400" spc="-5" dirty="0">
                <a:solidFill>
                  <a:srgbClr val="404040"/>
                </a:solidFill>
                <a:latin typeface="Calibri"/>
                <a:cs typeface="Calibri"/>
              </a:rPr>
              <a:t>of </a:t>
            </a:r>
            <a:r>
              <a:rPr sz="2400" spc="-10" dirty="0">
                <a:solidFill>
                  <a:srgbClr val="404040"/>
                </a:solidFill>
                <a:latin typeface="Calibri"/>
                <a:cs typeface="Calibri"/>
              </a:rPr>
              <a:t>wires that </a:t>
            </a:r>
            <a:r>
              <a:rPr sz="2400" spc="-20" dirty="0">
                <a:solidFill>
                  <a:srgbClr val="404040"/>
                </a:solidFill>
                <a:latin typeface="Calibri"/>
                <a:cs typeface="Calibri"/>
              </a:rPr>
              <a:t>transfers </a:t>
            </a:r>
            <a:r>
              <a:rPr sz="2400" spc="-10" dirty="0">
                <a:solidFill>
                  <a:srgbClr val="404040"/>
                </a:solidFill>
                <a:latin typeface="Calibri"/>
                <a:cs typeface="Calibri"/>
              </a:rPr>
              <a:t>information </a:t>
            </a:r>
            <a:r>
              <a:rPr sz="2400" dirty="0">
                <a:solidFill>
                  <a:srgbClr val="404040"/>
                </a:solidFill>
                <a:latin typeface="Calibri"/>
                <a:cs typeface="Calibri"/>
              </a:rPr>
              <a:t>within a </a:t>
            </a:r>
            <a:r>
              <a:rPr sz="2400" spc="-10" dirty="0">
                <a:solidFill>
                  <a:srgbClr val="404040"/>
                </a:solidFill>
                <a:latin typeface="Calibri"/>
                <a:cs typeface="Calibri"/>
              </a:rPr>
              <a:t>computer </a:t>
            </a:r>
            <a:r>
              <a:rPr sz="2400" spc="-5" dirty="0">
                <a:solidFill>
                  <a:srgbClr val="404040"/>
                </a:solidFill>
                <a:latin typeface="Calibri"/>
                <a:cs typeface="Calibri"/>
              </a:rPr>
              <a:t>or </a:t>
            </a:r>
            <a:r>
              <a:rPr sz="2400" spc="-530" dirty="0">
                <a:solidFill>
                  <a:srgbClr val="404040"/>
                </a:solidFill>
                <a:latin typeface="Calibri"/>
                <a:cs typeface="Calibri"/>
              </a:rPr>
              <a:t> </a:t>
            </a:r>
            <a:r>
              <a:rPr sz="2400" spc="-5" dirty="0">
                <a:solidFill>
                  <a:srgbClr val="404040"/>
                </a:solidFill>
                <a:latin typeface="Calibri"/>
                <a:cs typeface="Calibri"/>
              </a:rPr>
              <a:t>between</a:t>
            </a:r>
            <a:r>
              <a:rPr sz="2400" spc="-10" dirty="0">
                <a:solidFill>
                  <a:srgbClr val="404040"/>
                </a:solidFill>
                <a:latin typeface="Calibri"/>
                <a:cs typeface="Calibri"/>
              </a:rPr>
              <a:t> </a:t>
            </a:r>
            <a:r>
              <a:rPr sz="2400" spc="-15" dirty="0">
                <a:solidFill>
                  <a:srgbClr val="404040"/>
                </a:solidFill>
                <a:latin typeface="Calibri"/>
                <a:cs typeface="Calibri"/>
              </a:rPr>
              <a:t>computers.</a:t>
            </a:r>
            <a:endParaRPr sz="2400">
              <a:latin typeface="Calibri"/>
              <a:cs typeface="Calibri"/>
            </a:endParaRPr>
          </a:p>
        </p:txBody>
      </p:sp>
      <p:sp>
        <p:nvSpPr>
          <p:cNvPr id="7" name="object 7"/>
          <p:cNvSpPr txBox="1"/>
          <p:nvPr/>
        </p:nvSpPr>
        <p:spPr>
          <a:xfrm>
            <a:off x="7731632" y="2826511"/>
            <a:ext cx="1772920" cy="391160"/>
          </a:xfrm>
          <a:prstGeom prst="rect">
            <a:avLst/>
          </a:prstGeom>
        </p:spPr>
        <p:txBody>
          <a:bodyPr vert="horz" wrap="square" lIns="0" tIns="12700" rIns="0" bIns="0" rtlCol="0">
            <a:spAutoFit/>
          </a:bodyPr>
          <a:lstStyle/>
          <a:p>
            <a:pPr marL="12700">
              <a:lnSpc>
                <a:spcPct val="100000"/>
              </a:lnSpc>
              <a:spcBef>
                <a:spcPts val="100"/>
              </a:spcBef>
              <a:tabLst>
                <a:tab pos="864869" algn="l"/>
              </a:tabLst>
            </a:pPr>
            <a:r>
              <a:rPr sz="2400" spc="-5" dirty="0">
                <a:solidFill>
                  <a:srgbClr val="404040"/>
                </a:solidFill>
                <a:latin typeface="Calibri"/>
                <a:cs typeface="Calibri"/>
              </a:rPr>
              <a:t>s</a:t>
            </a:r>
            <a:r>
              <a:rPr sz="2400" spc="-10" dirty="0">
                <a:solidFill>
                  <a:srgbClr val="404040"/>
                </a:solidFill>
                <a:latin typeface="Calibri"/>
                <a:cs typeface="Calibri"/>
              </a:rPr>
              <a:t>o</a:t>
            </a:r>
            <a:r>
              <a:rPr sz="2400" dirty="0">
                <a:solidFill>
                  <a:srgbClr val="404040"/>
                </a:solidFill>
                <a:latin typeface="Calibri"/>
                <a:cs typeface="Calibri"/>
              </a:rPr>
              <a:t>me	c</a:t>
            </a:r>
            <a:r>
              <a:rPr sz="2400" spc="20" dirty="0">
                <a:solidFill>
                  <a:srgbClr val="404040"/>
                </a:solidFill>
                <a:latin typeface="Calibri"/>
                <a:cs typeface="Calibri"/>
              </a:rPr>
              <a:t>o</a:t>
            </a:r>
            <a:r>
              <a:rPr sz="2400" spc="-5" dirty="0">
                <a:solidFill>
                  <a:srgbClr val="404040"/>
                </a:solidFill>
                <a:latin typeface="Calibri"/>
                <a:cs typeface="Calibri"/>
              </a:rPr>
              <a:t>n</a:t>
            </a:r>
            <a:r>
              <a:rPr sz="2400" spc="20" dirty="0">
                <a:solidFill>
                  <a:srgbClr val="404040"/>
                </a:solidFill>
                <a:latin typeface="Calibri"/>
                <a:cs typeface="Calibri"/>
              </a:rPr>
              <a:t>t</a:t>
            </a:r>
            <a:r>
              <a:rPr sz="2400" spc="-10" dirty="0">
                <a:solidFill>
                  <a:srgbClr val="404040"/>
                </a:solidFill>
                <a:latin typeface="Calibri"/>
                <a:cs typeface="Calibri"/>
              </a:rPr>
              <a:t>r</a:t>
            </a:r>
            <a:r>
              <a:rPr sz="2400" spc="15" dirty="0">
                <a:solidFill>
                  <a:srgbClr val="404040"/>
                </a:solidFill>
                <a:latin typeface="Calibri"/>
                <a:cs typeface="Calibri"/>
              </a:rPr>
              <a:t>o</a:t>
            </a:r>
            <a:r>
              <a:rPr sz="2400" dirty="0">
                <a:solidFill>
                  <a:srgbClr val="404040"/>
                </a:solidFill>
                <a:latin typeface="Calibri"/>
                <a:cs typeface="Calibri"/>
              </a:rPr>
              <a:t>l</a:t>
            </a:r>
            <a:endParaRPr sz="2400">
              <a:latin typeface="Calibri"/>
              <a:cs typeface="Calibri"/>
            </a:endParaRPr>
          </a:p>
        </p:txBody>
      </p:sp>
      <p:sp>
        <p:nvSpPr>
          <p:cNvPr id="8" name="object 8"/>
          <p:cNvSpPr txBox="1"/>
          <p:nvPr/>
        </p:nvSpPr>
        <p:spPr>
          <a:xfrm>
            <a:off x="1084580" y="2790277"/>
            <a:ext cx="8423275" cy="3299460"/>
          </a:xfrm>
          <a:prstGeom prst="rect">
            <a:avLst/>
          </a:prstGeom>
        </p:spPr>
        <p:txBody>
          <a:bodyPr vert="horz" wrap="square" lIns="0" tIns="12065" rIns="0" bIns="0" rtlCol="0">
            <a:spAutoFit/>
          </a:bodyPr>
          <a:lstStyle/>
          <a:p>
            <a:pPr marL="104139" marR="1936750" indent="-92075">
              <a:lnSpc>
                <a:spcPct val="110000"/>
              </a:lnSpc>
              <a:spcBef>
                <a:spcPts val="95"/>
              </a:spcBef>
              <a:buClr>
                <a:srgbClr val="E38312"/>
              </a:buClr>
              <a:buFont typeface="Wingdings"/>
              <a:buChar char=""/>
              <a:tabLst>
                <a:tab pos="323850" algn="l"/>
                <a:tab pos="962025" algn="l"/>
                <a:tab pos="2602230" algn="l"/>
                <a:tab pos="3300095" algn="l"/>
                <a:tab pos="3790950" algn="l"/>
                <a:tab pos="4275455" algn="l"/>
                <a:tab pos="5488940" algn="l"/>
                <a:tab pos="6216015" algn="l"/>
              </a:tabLst>
            </a:pPr>
            <a:r>
              <a:rPr sz="2400" spc="-5" dirty="0">
                <a:solidFill>
                  <a:srgbClr val="404040"/>
                </a:solidFill>
                <a:latin typeface="Calibri"/>
                <a:cs typeface="Calibri"/>
              </a:rPr>
              <a:t>Th</a:t>
            </a:r>
            <a:r>
              <a:rPr sz="2400" dirty="0">
                <a:solidFill>
                  <a:srgbClr val="404040"/>
                </a:solidFill>
                <a:latin typeface="Calibri"/>
                <a:cs typeface="Calibri"/>
              </a:rPr>
              <a:t>e	i</a:t>
            </a:r>
            <a:r>
              <a:rPr sz="2400" spc="-15" dirty="0">
                <a:solidFill>
                  <a:srgbClr val="404040"/>
                </a:solidFill>
                <a:latin typeface="Calibri"/>
                <a:cs typeface="Calibri"/>
              </a:rPr>
              <a:t>n</a:t>
            </a:r>
            <a:r>
              <a:rPr sz="2400" spc="-50" dirty="0">
                <a:solidFill>
                  <a:srgbClr val="404040"/>
                </a:solidFill>
                <a:latin typeface="Calibri"/>
                <a:cs typeface="Calibri"/>
              </a:rPr>
              <a:t>f</a:t>
            </a:r>
            <a:r>
              <a:rPr sz="2400" spc="-5" dirty="0">
                <a:solidFill>
                  <a:srgbClr val="404040"/>
                </a:solidFill>
                <a:latin typeface="Calibri"/>
                <a:cs typeface="Calibri"/>
              </a:rPr>
              <a:t>orm</a:t>
            </a:r>
            <a:r>
              <a:rPr sz="2400" spc="-25" dirty="0">
                <a:solidFill>
                  <a:srgbClr val="404040"/>
                </a:solidFill>
                <a:latin typeface="Calibri"/>
                <a:cs typeface="Calibri"/>
              </a:rPr>
              <a:t>a</a:t>
            </a:r>
            <a:r>
              <a:rPr sz="2400" dirty="0">
                <a:solidFill>
                  <a:srgbClr val="404040"/>
                </a:solidFill>
                <a:latin typeface="Calibri"/>
                <a:cs typeface="Calibri"/>
              </a:rPr>
              <a:t>tion	m</a:t>
            </a:r>
            <a:r>
              <a:rPr sz="2400" spc="-45" dirty="0">
                <a:solidFill>
                  <a:srgbClr val="404040"/>
                </a:solidFill>
                <a:latin typeface="Calibri"/>
                <a:cs typeface="Calibri"/>
              </a:rPr>
              <a:t>a</a:t>
            </a:r>
            <a:r>
              <a:rPr sz="2400" dirty="0">
                <a:solidFill>
                  <a:srgbClr val="404040"/>
                </a:solidFill>
                <a:latin typeface="Calibri"/>
                <a:cs typeface="Calibri"/>
              </a:rPr>
              <a:t>y	</a:t>
            </a:r>
            <a:r>
              <a:rPr sz="2400" spc="-5" dirty="0">
                <a:solidFill>
                  <a:srgbClr val="404040"/>
                </a:solidFill>
                <a:latin typeface="Calibri"/>
                <a:cs typeface="Calibri"/>
              </a:rPr>
              <a:t>b</a:t>
            </a:r>
            <a:r>
              <a:rPr sz="2400" dirty="0">
                <a:solidFill>
                  <a:srgbClr val="404040"/>
                </a:solidFill>
                <a:latin typeface="Calibri"/>
                <a:cs typeface="Calibri"/>
              </a:rPr>
              <a:t>e	an	add</a:t>
            </a:r>
            <a:r>
              <a:rPr sz="2400" spc="-35" dirty="0">
                <a:solidFill>
                  <a:srgbClr val="404040"/>
                </a:solidFill>
                <a:latin typeface="Calibri"/>
                <a:cs typeface="Calibri"/>
              </a:rPr>
              <a:t>r</a:t>
            </a:r>
            <a:r>
              <a:rPr sz="2400" dirty="0">
                <a:solidFill>
                  <a:srgbClr val="404040"/>
                </a:solidFill>
                <a:latin typeface="Calibri"/>
                <a:cs typeface="Calibri"/>
              </a:rPr>
              <a:t>ess,	</a:t>
            </a:r>
            <a:r>
              <a:rPr sz="2400" spc="-5" dirty="0">
                <a:solidFill>
                  <a:srgbClr val="404040"/>
                </a:solidFill>
                <a:latin typeface="Calibri"/>
                <a:cs typeface="Calibri"/>
              </a:rPr>
              <a:t>d</a:t>
            </a:r>
            <a:r>
              <a:rPr sz="2400" spc="-25" dirty="0">
                <a:solidFill>
                  <a:srgbClr val="404040"/>
                </a:solidFill>
                <a:latin typeface="Calibri"/>
                <a:cs typeface="Calibri"/>
              </a:rPr>
              <a:t>at</a:t>
            </a:r>
            <a:r>
              <a:rPr sz="2400" dirty="0">
                <a:solidFill>
                  <a:srgbClr val="404040"/>
                </a:solidFill>
                <a:latin typeface="Calibri"/>
                <a:cs typeface="Calibri"/>
              </a:rPr>
              <a:t>a	</a:t>
            </a:r>
            <a:r>
              <a:rPr sz="2400" spc="-20" dirty="0">
                <a:solidFill>
                  <a:srgbClr val="404040"/>
                </a:solidFill>
                <a:latin typeface="Calibri"/>
                <a:cs typeface="Calibri"/>
              </a:rPr>
              <a:t>or  </a:t>
            </a:r>
            <a:r>
              <a:rPr sz="2400" spc="15" dirty="0">
                <a:solidFill>
                  <a:srgbClr val="404040"/>
                </a:solidFill>
                <a:latin typeface="Calibri"/>
                <a:cs typeface="Calibri"/>
              </a:rPr>
              <a:t>signals.</a:t>
            </a:r>
            <a:endParaRPr sz="2400">
              <a:latin typeface="Calibri"/>
              <a:cs typeface="Calibri"/>
            </a:endParaRPr>
          </a:p>
          <a:p>
            <a:pPr marL="104139" marR="5715" indent="-92075">
              <a:lnSpc>
                <a:spcPct val="110000"/>
              </a:lnSpc>
              <a:spcBef>
                <a:spcPts val="1205"/>
              </a:spcBef>
              <a:buClr>
                <a:srgbClr val="E38312"/>
              </a:buClr>
              <a:buFont typeface="Wingdings"/>
              <a:buChar char=""/>
              <a:tabLst>
                <a:tab pos="327025" algn="l"/>
                <a:tab pos="1229995" algn="l"/>
                <a:tab pos="2875280" algn="l"/>
                <a:tab pos="3862704" algn="l"/>
                <a:tab pos="4575810" algn="l"/>
                <a:tab pos="4874895" algn="l"/>
                <a:tab pos="5549900" algn="l"/>
                <a:tab pos="5876290" algn="l"/>
                <a:tab pos="6587490" algn="l"/>
                <a:tab pos="7211695" algn="l"/>
                <a:tab pos="8263255" algn="l"/>
              </a:tabLst>
            </a:pPr>
            <a:r>
              <a:rPr sz="2400" spc="20" dirty="0">
                <a:solidFill>
                  <a:srgbClr val="404040"/>
                </a:solidFill>
                <a:latin typeface="Calibri"/>
                <a:cs typeface="Calibri"/>
              </a:rPr>
              <a:t>Wh</a:t>
            </a:r>
            <a:r>
              <a:rPr sz="2400" spc="25" dirty="0">
                <a:solidFill>
                  <a:srgbClr val="404040"/>
                </a:solidFill>
                <a:latin typeface="Calibri"/>
                <a:cs typeface="Calibri"/>
              </a:rPr>
              <a:t>e</a:t>
            </a:r>
            <a:r>
              <a:rPr sz="2400" dirty="0">
                <a:solidFill>
                  <a:srgbClr val="404040"/>
                </a:solidFill>
                <a:latin typeface="Calibri"/>
                <a:cs typeface="Calibri"/>
              </a:rPr>
              <a:t>n	</a:t>
            </a:r>
            <a:r>
              <a:rPr sz="2400" spc="20" dirty="0">
                <a:solidFill>
                  <a:srgbClr val="404040"/>
                </a:solidFill>
                <a:latin typeface="Calibri"/>
                <a:cs typeface="Calibri"/>
              </a:rPr>
              <a:t>i</a:t>
            </a:r>
            <a:r>
              <a:rPr sz="2400" spc="5" dirty="0">
                <a:solidFill>
                  <a:srgbClr val="404040"/>
                </a:solidFill>
                <a:latin typeface="Calibri"/>
                <a:cs typeface="Calibri"/>
              </a:rPr>
              <a:t>n</a:t>
            </a:r>
            <a:r>
              <a:rPr sz="2400" spc="-25" dirty="0">
                <a:solidFill>
                  <a:srgbClr val="404040"/>
                </a:solidFill>
                <a:latin typeface="Calibri"/>
                <a:cs typeface="Calibri"/>
              </a:rPr>
              <a:t>f</a:t>
            </a:r>
            <a:r>
              <a:rPr sz="2400" spc="25" dirty="0">
                <a:solidFill>
                  <a:srgbClr val="404040"/>
                </a:solidFill>
                <a:latin typeface="Calibri"/>
                <a:cs typeface="Calibri"/>
              </a:rPr>
              <a:t>o</a:t>
            </a:r>
            <a:r>
              <a:rPr sz="2400" spc="20" dirty="0">
                <a:solidFill>
                  <a:srgbClr val="404040"/>
                </a:solidFill>
                <a:latin typeface="Calibri"/>
                <a:cs typeface="Calibri"/>
              </a:rPr>
              <a:t>rm</a:t>
            </a:r>
            <a:r>
              <a:rPr sz="2400" dirty="0">
                <a:solidFill>
                  <a:srgbClr val="404040"/>
                </a:solidFill>
                <a:latin typeface="Calibri"/>
                <a:cs typeface="Calibri"/>
              </a:rPr>
              <a:t>a</a:t>
            </a:r>
            <a:r>
              <a:rPr sz="2400" spc="20" dirty="0">
                <a:solidFill>
                  <a:srgbClr val="404040"/>
                </a:solidFill>
                <a:latin typeface="Calibri"/>
                <a:cs typeface="Calibri"/>
              </a:rPr>
              <a:t>ti</a:t>
            </a:r>
            <a:r>
              <a:rPr sz="2400" spc="15" dirty="0">
                <a:solidFill>
                  <a:srgbClr val="404040"/>
                </a:solidFill>
                <a:latin typeface="Calibri"/>
                <a:cs typeface="Calibri"/>
              </a:rPr>
              <a:t>o</a:t>
            </a:r>
            <a:r>
              <a:rPr sz="2400" dirty="0">
                <a:solidFill>
                  <a:srgbClr val="404040"/>
                </a:solidFill>
                <a:latin typeface="Calibri"/>
                <a:cs typeface="Calibri"/>
              </a:rPr>
              <a:t>n	</a:t>
            </a:r>
            <a:r>
              <a:rPr sz="2400" spc="20" dirty="0">
                <a:solidFill>
                  <a:srgbClr val="404040"/>
                </a:solidFill>
                <a:latin typeface="Calibri"/>
                <a:cs typeface="Calibri"/>
              </a:rPr>
              <a:t>t</a:t>
            </a:r>
            <a:r>
              <a:rPr sz="2400" spc="-25" dirty="0">
                <a:solidFill>
                  <a:srgbClr val="404040"/>
                </a:solidFill>
                <a:latin typeface="Calibri"/>
                <a:cs typeface="Calibri"/>
              </a:rPr>
              <a:t>ra</a:t>
            </a:r>
            <a:r>
              <a:rPr sz="2400" dirty="0">
                <a:solidFill>
                  <a:srgbClr val="404040"/>
                </a:solidFill>
                <a:latin typeface="Calibri"/>
                <a:cs typeface="Calibri"/>
              </a:rPr>
              <a:t>v</a:t>
            </a:r>
            <a:r>
              <a:rPr sz="2400" spc="20" dirty="0">
                <a:solidFill>
                  <a:srgbClr val="404040"/>
                </a:solidFill>
                <a:latin typeface="Calibri"/>
                <a:cs typeface="Calibri"/>
              </a:rPr>
              <a:t>el</a:t>
            </a:r>
            <a:r>
              <a:rPr sz="2400" dirty="0">
                <a:solidFill>
                  <a:srgbClr val="404040"/>
                </a:solidFill>
                <a:latin typeface="Calibri"/>
                <a:cs typeface="Calibri"/>
              </a:rPr>
              <a:t>s	</a:t>
            </a:r>
            <a:r>
              <a:rPr sz="2400" spc="15" dirty="0">
                <a:solidFill>
                  <a:srgbClr val="404040"/>
                </a:solidFill>
                <a:latin typeface="Calibri"/>
                <a:cs typeface="Calibri"/>
              </a:rPr>
              <a:t>o</a:t>
            </a:r>
            <a:r>
              <a:rPr sz="2400" dirty="0">
                <a:solidFill>
                  <a:srgbClr val="404040"/>
                </a:solidFill>
                <a:latin typeface="Calibri"/>
                <a:cs typeface="Calibri"/>
              </a:rPr>
              <a:t>v</a:t>
            </a:r>
            <a:r>
              <a:rPr sz="2400" spc="20" dirty="0">
                <a:solidFill>
                  <a:srgbClr val="404040"/>
                </a:solidFill>
                <a:latin typeface="Calibri"/>
                <a:cs typeface="Calibri"/>
              </a:rPr>
              <a:t>e</a:t>
            </a:r>
            <a:r>
              <a:rPr sz="2400" dirty="0">
                <a:solidFill>
                  <a:srgbClr val="404040"/>
                </a:solidFill>
                <a:latin typeface="Calibri"/>
                <a:cs typeface="Calibri"/>
              </a:rPr>
              <a:t>r	a	</a:t>
            </a:r>
            <a:r>
              <a:rPr sz="2400" spc="20" dirty="0">
                <a:solidFill>
                  <a:srgbClr val="404040"/>
                </a:solidFill>
                <a:latin typeface="Calibri"/>
                <a:cs typeface="Calibri"/>
              </a:rPr>
              <a:t>bu</a:t>
            </a:r>
            <a:r>
              <a:rPr sz="2400" spc="15" dirty="0">
                <a:solidFill>
                  <a:srgbClr val="404040"/>
                </a:solidFill>
                <a:latin typeface="Calibri"/>
                <a:cs typeface="Calibri"/>
              </a:rPr>
              <a:t>s</a:t>
            </a:r>
            <a:r>
              <a:rPr sz="2400" dirty="0">
                <a:solidFill>
                  <a:srgbClr val="404040"/>
                </a:solidFill>
                <a:latin typeface="Calibri"/>
                <a:cs typeface="Calibri"/>
              </a:rPr>
              <a:t>,	</a:t>
            </a:r>
            <a:r>
              <a:rPr sz="2400" spc="25" dirty="0">
                <a:solidFill>
                  <a:srgbClr val="404040"/>
                </a:solidFill>
                <a:latin typeface="Calibri"/>
                <a:cs typeface="Calibri"/>
              </a:rPr>
              <a:t>i</a:t>
            </a:r>
            <a:r>
              <a:rPr sz="2400" dirty="0">
                <a:solidFill>
                  <a:srgbClr val="404040"/>
                </a:solidFill>
                <a:latin typeface="Calibri"/>
                <a:cs typeface="Calibri"/>
              </a:rPr>
              <a:t>t	</a:t>
            </a:r>
            <a:r>
              <a:rPr sz="2400" spc="20" dirty="0">
                <a:solidFill>
                  <a:srgbClr val="404040"/>
                </a:solidFill>
                <a:latin typeface="Calibri"/>
                <a:cs typeface="Calibri"/>
              </a:rPr>
              <a:t>u</a:t>
            </a:r>
            <a:r>
              <a:rPr sz="2400" spc="30" dirty="0">
                <a:solidFill>
                  <a:srgbClr val="404040"/>
                </a:solidFill>
                <a:latin typeface="Calibri"/>
                <a:cs typeface="Calibri"/>
              </a:rPr>
              <a:t>s</a:t>
            </a:r>
            <a:r>
              <a:rPr sz="2400" spc="25" dirty="0">
                <a:solidFill>
                  <a:srgbClr val="404040"/>
                </a:solidFill>
                <a:latin typeface="Calibri"/>
                <a:cs typeface="Calibri"/>
              </a:rPr>
              <a:t>e</a:t>
            </a:r>
            <a:r>
              <a:rPr sz="2400" dirty="0">
                <a:solidFill>
                  <a:srgbClr val="404040"/>
                </a:solidFill>
                <a:latin typeface="Calibri"/>
                <a:cs typeface="Calibri"/>
              </a:rPr>
              <a:t>s	</a:t>
            </a:r>
            <a:r>
              <a:rPr sz="2400" spc="20" dirty="0">
                <a:solidFill>
                  <a:srgbClr val="404040"/>
                </a:solidFill>
                <a:latin typeface="Calibri"/>
                <a:cs typeface="Calibri"/>
              </a:rPr>
              <a:t>an</a:t>
            </a:r>
            <a:r>
              <a:rPr sz="2400" dirty="0">
                <a:solidFill>
                  <a:srgbClr val="404040"/>
                </a:solidFill>
                <a:latin typeface="Calibri"/>
                <a:cs typeface="Calibri"/>
              </a:rPr>
              <a:t>d	</a:t>
            </a:r>
            <a:r>
              <a:rPr sz="2400" spc="-25" dirty="0">
                <a:solidFill>
                  <a:srgbClr val="404040"/>
                </a:solidFill>
                <a:latin typeface="Calibri"/>
                <a:cs typeface="Calibri"/>
              </a:rPr>
              <a:t>f</a:t>
            </a:r>
            <a:r>
              <a:rPr sz="2400" spc="15" dirty="0">
                <a:solidFill>
                  <a:srgbClr val="404040"/>
                </a:solidFill>
                <a:latin typeface="Calibri"/>
                <a:cs typeface="Calibri"/>
              </a:rPr>
              <a:t>o</a:t>
            </a:r>
            <a:r>
              <a:rPr sz="2400" spc="20" dirty="0">
                <a:solidFill>
                  <a:srgbClr val="404040"/>
                </a:solidFill>
                <a:latin typeface="Calibri"/>
                <a:cs typeface="Calibri"/>
              </a:rPr>
              <a:t>l</a:t>
            </a:r>
            <a:r>
              <a:rPr sz="2400" spc="30" dirty="0">
                <a:solidFill>
                  <a:srgbClr val="404040"/>
                </a:solidFill>
                <a:latin typeface="Calibri"/>
                <a:cs typeface="Calibri"/>
              </a:rPr>
              <a:t>l</a:t>
            </a:r>
            <a:r>
              <a:rPr sz="2400" spc="-5" dirty="0">
                <a:solidFill>
                  <a:srgbClr val="404040"/>
                </a:solidFill>
                <a:latin typeface="Calibri"/>
                <a:cs typeface="Calibri"/>
              </a:rPr>
              <a:t>ow</a:t>
            </a:r>
            <a:r>
              <a:rPr sz="2400" dirty="0">
                <a:solidFill>
                  <a:srgbClr val="404040"/>
                </a:solidFill>
                <a:latin typeface="Calibri"/>
                <a:cs typeface="Calibri"/>
              </a:rPr>
              <a:t>s	a  </a:t>
            </a:r>
            <a:r>
              <a:rPr sz="2400" spc="-15" dirty="0">
                <a:solidFill>
                  <a:srgbClr val="404040"/>
                </a:solidFill>
                <a:latin typeface="Calibri"/>
                <a:cs typeface="Calibri"/>
              </a:rPr>
              <a:t>protocol.</a:t>
            </a:r>
            <a:endParaRPr sz="2400">
              <a:latin typeface="Calibri"/>
              <a:cs typeface="Calibri"/>
            </a:endParaRPr>
          </a:p>
          <a:p>
            <a:pPr marL="323850" indent="-311150">
              <a:lnSpc>
                <a:spcPct val="100000"/>
              </a:lnSpc>
              <a:spcBef>
                <a:spcPts val="1485"/>
              </a:spcBef>
              <a:buClr>
                <a:srgbClr val="E38312"/>
              </a:buClr>
              <a:buFont typeface="Wingdings"/>
              <a:buChar char=""/>
              <a:tabLst>
                <a:tab pos="323850" algn="l"/>
                <a:tab pos="666115" algn="l"/>
                <a:tab pos="1868805" algn="l"/>
                <a:tab pos="2223770" algn="l"/>
                <a:tab pos="2534920" algn="l"/>
                <a:tab pos="3073400" algn="l"/>
                <a:tab pos="3490595" algn="l"/>
                <a:tab pos="4264660" algn="l"/>
                <a:tab pos="5728335" algn="l"/>
                <a:tab pos="6442710" algn="l"/>
                <a:tab pos="7023734" algn="l"/>
                <a:tab pos="8157845" algn="l"/>
              </a:tabLst>
            </a:pPr>
            <a:r>
              <a:rPr sz="2400" dirty="0">
                <a:solidFill>
                  <a:srgbClr val="404040"/>
                </a:solidFill>
                <a:latin typeface="Calibri"/>
                <a:cs typeface="Calibri"/>
              </a:rPr>
              <a:t>A	</a:t>
            </a:r>
            <a:r>
              <a:rPr sz="2400" spc="-5" dirty="0">
                <a:solidFill>
                  <a:srgbClr val="404040"/>
                </a:solidFill>
                <a:latin typeface="Calibri"/>
                <a:cs typeface="Calibri"/>
              </a:rPr>
              <a:t>p</a:t>
            </a:r>
            <a:r>
              <a:rPr sz="2400" spc="-40" dirty="0">
                <a:solidFill>
                  <a:srgbClr val="404040"/>
                </a:solidFill>
                <a:latin typeface="Calibri"/>
                <a:cs typeface="Calibri"/>
              </a:rPr>
              <a:t>r</a:t>
            </a:r>
            <a:r>
              <a:rPr sz="2400" spc="-5" dirty="0">
                <a:solidFill>
                  <a:srgbClr val="404040"/>
                </a:solidFill>
                <a:latin typeface="Calibri"/>
                <a:cs typeface="Calibri"/>
              </a:rPr>
              <a:t>o</a:t>
            </a:r>
            <a:r>
              <a:rPr sz="2400" spc="-35" dirty="0">
                <a:solidFill>
                  <a:srgbClr val="404040"/>
                </a:solidFill>
                <a:latin typeface="Calibri"/>
                <a:cs typeface="Calibri"/>
              </a:rPr>
              <a:t>t</a:t>
            </a:r>
            <a:r>
              <a:rPr sz="2400" spc="-5" dirty="0">
                <a:solidFill>
                  <a:srgbClr val="404040"/>
                </a:solidFill>
                <a:latin typeface="Calibri"/>
                <a:cs typeface="Calibri"/>
              </a:rPr>
              <a:t>o</a:t>
            </a:r>
            <a:r>
              <a:rPr sz="2400" spc="-30" dirty="0">
                <a:solidFill>
                  <a:srgbClr val="404040"/>
                </a:solidFill>
                <a:latin typeface="Calibri"/>
                <a:cs typeface="Calibri"/>
              </a:rPr>
              <a:t>c</a:t>
            </a:r>
            <a:r>
              <a:rPr sz="2400" spc="-5" dirty="0">
                <a:solidFill>
                  <a:srgbClr val="404040"/>
                </a:solidFill>
                <a:latin typeface="Calibri"/>
                <a:cs typeface="Calibri"/>
              </a:rPr>
              <a:t>o</a:t>
            </a:r>
            <a:r>
              <a:rPr sz="2400" dirty="0">
                <a:solidFill>
                  <a:srgbClr val="404040"/>
                </a:solidFill>
                <a:latin typeface="Calibri"/>
                <a:cs typeface="Calibri"/>
              </a:rPr>
              <a:t>l	is	a	</a:t>
            </a:r>
            <a:r>
              <a:rPr sz="2400" spc="-5" dirty="0">
                <a:solidFill>
                  <a:srgbClr val="404040"/>
                </a:solidFill>
                <a:latin typeface="Calibri"/>
                <a:cs typeface="Calibri"/>
              </a:rPr>
              <a:t>s</a:t>
            </a:r>
            <a:r>
              <a:rPr sz="2400" spc="-15" dirty="0">
                <a:solidFill>
                  <a:srgbClr val="404040"/>
                </a:solidFill>
                <a:latin typeface="Calibri"/>
                <a:cs typeface="Calibri"/>
              </a:rPr>
              <a:t>e</a:t>
            </a:r>
            <a:r>
              <a:rPr sz="2400" dirty="0">
                <a:solidFill>
                  <a:srgbClr val="404040"/>
                </a:solidFill>
                <a:latin typeface="Calibri"/>
                <a:cs typeface="Calibri"/>
              </a:rPr>
              <a:t>t	</a:t>
            </a:r>
            <a:r>
              <a:rPr sz="2400" spc="-20" dirty="0">
                <a:solidFill>
                  <a:srgbClr val="404040"/>
                </a:solidFill>
                <a:latin typeface="Calibri"/>
                <a:cs typeface="Calibri"/>
              </a:rPr>
              <a:t>o</a:t>
            </a:r>
            <a:r>
              <a:rPr sz="2400" dirty="0">
                <a:solidFill>
                  <a:srgbClr val="404040"/>
                </a:solidFill>
                <a:latin typeface="Calibri"/>
                <a:cs typeface="Calibri"/>
              </a:rPr>
              <a:t>f	rules	ass</a:t>
            </a:r>
            <a:r>
              <a:rPr sz="2400" spc="-15" dirty="0">
                <a:solidFill>
                  <a:srgbClr val="404040"/>
                </a:solidFill>
                <a:latin typeface="Calibri"/>
                <a:cs typeface="Calibri"/>
              </a:rPr>
              <a:t>o</a:t>
            </a:r>
            <a:r>
              <a:rPr sz="2400" dirty="0">
                <a:solidFill>
                  <a:srgbClr val="404040"/>
                </a:solidFill>
                <a:latin typeface="Calibri"/>
                <a:cs typeface="Calibri"/>
              </a:rPr>
              <a:t>ci</a:t>
            </a:r>
            <a:r>
              <a:rPr sz="2400" spc="-20" dirty="0">
                <a:solidFill>
                  <a:srgbClr val="404040"/>
                </a:solidFill>
                <a:latin typeface="Calibri"/>
                <a:cs typeface="Calibri"/>
              </a:rPr>
              <a:t>a</a:t>
            </a:r>
            <a:r>
              <a:rPr sz="2400" spc="-25" dirty="0">
                <a:solidFill>
                  <a:srgbClr val="404040"/>
                </a:solidFill>
                <a:latin typeface="Calibri"/>
                <a:cs typeface="Calibri"/>
              </a:rPr>
              <a:t>t</a:t>
            </a:r>
            <a:r>
              <a:rPr sz="2400" dirty="0">
                <a:solidFill>
                  <a:srgbClr val="404040"/>
                </a:solidFill>
                <a:latin typeface="Calibri"/>
                <a:cs typeface="Calibri"/>
              </a:rPr>
              <a:t>ed	wi</a:t>
            </a:r>
            <a:r>
              <a:rPr sz="2400" spc="-15" dirty="0">
                <a:solidFill>
                  <a:srgbClr val="404040"/>
                </a:solidFill>
                <a:latin typeface="Calibri"/>
                <a:cs typeface="Calibri"/>
              </a:rPr>
              <a:t>t</a:t>
            </a:r>
            <a:r>
              <a:rPr sz="2400" dirty="0">
                <a:solidFill>
                  <a:srgbClr val="404040"/>
                </a:solidFill>
                <a:latin typeface="Calibri"/>
                <a:cs typeface="Calibri"/>
              </a:rPr>
              <a:t>h	</a:t>
            </a:r>
            <a:r>
              <a:rPr sz="2400" spc="-5" dirty="0">
                <a:solidFill>
                  <a:srgbClr val="404040"/>
                </a:solidFill>
                <a:latin typeface="Calibri"/>
                <a:cs typeface="Calibri"/>
              </a:rPr>
              <a:t>th</a:t>
            </a:r>
            <a:r>
              <a:rPr sz="2400" dirty="0">
                <a:solidFill>
                  <a:srgbClr val="404040"/>
                </a:solidFill>
                <a:latin typeface="Calibri"/>
                <a:cs typeface="Calibri"/>
              </a:rPr>
              <a:t>e	t</a:t>
            </a:r>
            <a:r>
              <a:rPr sz="2400" spc="-60" dirty="0">
                <a:solidFill>
                  <a:srgbClr val="404040"/>
                </a:solidFill>
                <a:latin typeface="Calibri"/>
                <a:cs typeface="Calibri"/>
              </a:rPr>
              <a:t>r</a:t>
            </a:r>
            <a:r>
              <a:rPr sz="2400" dirty="0">
                <a:solidFill>
                  <a:srgbClr val="404040"/>
                </a:solidFill>
                <a:latin typeface="Calibri"/>
                <a:cs typeface="Calibri"/>
              </a:rPr>
              <a:t>an</a:t>
            </a:r>
            <a:r>
              <a:rPr sz="2400" spc="-20" dirty="0">
                <a:solidFill>
                  <a:srgbClr val="404040"/>
                </a:solidFill>
                <a:latin typeface="Calibri"/>
                <a:cs typeface="Calibri"/>
              </a:rPr>
              <a:t>s</a:t>
            </a:r>
            <a:r>
              <a:rPr sz="2400" spc="-60" dirty="0">
                <a:solidFill>
                  <a:srgbClr val="404040"/>
                </a:solidFill>
                <a:latin typeface="Calibri"/>
                <a:cs typeface="Calibri"/>
              </a:rPr>
              <a:t>f</a:t>
            </a:r>
            <a:r>
              <a:rPr sz="2400" dirty="0">
                <a:solidFill>
                  <a:srgbClr val="404040"/>
                </a:solidFill>
                <a:latin typeface="Calibri"/>
                <a:cs typeface="Calibri"/>
              </a:rPr>
              <a:t>er	</a:t>
            </a:r>
            <a:r>
              <a:rPr sz="2400" spc="-10" dirty="0">
                <a:solidFill>
                  <a:srgbClr val="404040"/>
                </a:solidFill>
                <a:latin typeface="Calibri"/>
                <a:cs typeface="Calibri"/>
              </a:rPr>
              <a:t>of</a:t>
            </a:r>
            <a:endParaRPr sz="2400">
              <a:latin typeface="Calibri"/>
              <a:cs typeface="Calibri"/>
            </a:endParaRPr>
          </a:p>
          <a:p>
            <a:pPr marL="104139">
              <a:lnSpc>
                <a:spcPct val="100000"/>
              </a:lnSpc>
              <a:spcBef>
                <a:spcPts val="290"/>
              </a:spcBef>
            </a:pPr>
            <a:r>
              <a:rPr sz="2400" spc="-10" dirty="0">
                <a:solidFill>
                  <a:srgbClr val="404040"/>
                </a:solidFill>
                <a:latin typeface="Calibri"/>
                <a:cs typeface="Calibri"/>
              </a:rPr>
              <a:t>information</a:t>
            </a:r>
            <a:r>
              <a:rPr sz="2400" spc="-35" dirty="0">
                <a:solidFill>
                  <a:srgbClr val="404040"/>
                </a:solidFill>
                <a:latin typeface="Calibri"/>
                <a:cs typeface="Calibri"/>
              </a:rPr>
              <a:t> </a:t>
            </a:r>
            <a:r>
              <a:rPr sz="2400" spc="-15" dirty="0">
                <a:solidFill>
                  <a:srgbClr val="404040"/>
                </a:solidFill>
                <a:latin typeface="Calibri"/>
                <a:cs typeface="Calibri"/>
              </a:rPr>
              <a:t>over</a:t>
            </a:r>
            <a:r>
              <a:rPr sz="2400" dirty="0">
                <a:solidFill>
                  <a:srgbClr val="404040"/>
                </a:solidFill>
                <a:latin typeface="Calibri"/>
                <a:cs typeface="Calibri"/>
              </a:rPr>
              <a:t> a</a:t>
            </a:r>
            <a:r>
              <a:rPr sz="2400" spc="-20" dirty="0">
                <a:solidFill>
                  <a:srgbClr val="404040"/>
                </a:solidFill>
                <a:latin typeface="Calibri"/>
                <a:cs typeface="Calibri"/>
              </a:rPr>
              <a:t> </a:t>
            </a:r>
            <a:r>
              <a:rPr sz="2400" spc="-5" dirty="0">
                <a:solidFill>
                  <a:srgbClr val="404040"/>
                </a:solidFill>
                <a:latin typeface="Calibri"/>
                <a:cs typeface="Calibri"/>
              </a:rPr>
              <a:t>specific</a:t>
            </a:r>
            <a:r>
              <a:rPr sz="2400" spc="-20" dirty="0">
                <a:solidFill>
                  <a:srgbClr val="404040"/>
                </a:solidFill>
                <a:latin typeface="Calibri"/>
                <a:cs typeface="Calibri"/>
              </a:rPr>
              <a:t> </a:t>
            </a:r>
            <a:r>
              <a:rPr sz="2400" spc="-5" dirty="0">
                <a:solidFill>
                  <a:srgbClr val="404040"/>
                </a:solidFill>
                <a:latin typeface="Calibri"/>
                <a:cs typeface="Calibri"/>
              </a:rPr>
              <a:t>bus.</a:t>
            </a:r>
            <a:endParaRPr sz="2400">
              <a:latin typeface="Calibri"/>
              <a:cs typeface="Calibri"/>
            </a:endParaRPr>
          </a:p>
          <a:p>
            <a:pPr marL="325120" indent="-313055">
              <a:lnSpc>
                <a:spcPct val="100000"/>
              </a:lnSpc>
              <a:spcBef>
                <a:spcPts val="1490"/>
              </a:spcBef>
              <a:buClr>
                <a:srgbClr val="E38312"/>
              </a:buClr>
              <a:buFont typeface="Wingdings"/>
              <a:buChar char=""/>
              <a:tabLst>
                <a:tab pos="325755" algn="l"/>
              </a:tabLst>
            </a:pPr>
            <a:r>
              <a:rPr sz="2400" dirty="0">
                <a:solidFill>
                  <a:srgbClr val="404040"/>
                </a:solidFill>
                <a:latin typeface="Calibri"/>
                <a:cs typeface="Calibri"/>
              </a:rPr>
              <a:t>A</a:t>
            </a:r>
            <a:r>
              <a:rPr sz="2400" spc="5" dirty="0">
                <a:solidFill>
                  <a:srgbClr val="404040"/>
                </a:solidFill>
                <a:latin typeface="Calibri"/>
                <a:cs typeface="Calibri"/>
              </a:rPr>
              <a:t> bus</a:t>
            </a:r>
            <a:r>
              <a:rPr sz="2400" dirty="0">
                <a:solidFill>
                  <a:srgbClr val="404040"/>
                </a:solidFill>
                <a:latin typeface="Calibri"/>
                <a:cs typeface="Calibri"/>
              </a:rPr>
              <a:t> </a:t>
            </a:r>
            <a:r>
              <a:rPr sz="2400" spc="-10" dirty="0">
                <a:solidFill>
                  <a:srgbClr val="404040"/>
                </a:solidFill>
                <a:latin typeface="Calibri"/>
                <a:cs typeface="Calibri"/>
              </a:rPr>
              <a:t>may</a:t>
            </a:r>
            <a:r>
              <a:rPr sz="2400" spc="15" dirty="0">
                <a:solidFill>
                  <a:srgbClr val="404040"/>
                </a:solidFill>
                <a:latin typeface="Calibri"/>
                <a:cs typeface="Calibri"/>
              </a:rPr>
              <a:t> </a:t>
            </a:r>
            <a:r>
              <a:rPr sz="2400" spc="5" dirty="0">
                <a:solidFill>
                  <a:srgbClr val="404040"/>
                </a:solidFill>
                <a:latin typeface="Calibri"/>
                <a:cs typeface="Calibri"/>
              </a:rPr>
              <a:t>be</a:t>
            </a:r>
            <a:r>
              <a:rPr sz="2400" spc="10" dirty="0">
                <a:solidFill>
                  <a:srgbClr val="404040"/>
                </a:solidFill>
                <a:latin typeface="Calibri"/>
                <a:cs typeface="Calibri"/>
              </a:rPr>
              <a:t> </a:t>
            </a:r>
            <a:r>
              <a:rPr sz="2400" spc="5" dirty="0">
                <a:solidFill>
                  <a:srgbClr val="404040"/>
                </a:solidFill>
                <a:latin typeface="Calibri"/>
                <a:cs typeface="Calibri"/>
              </a:rPr>
              <a:t>classified</a:t>
            </a:r>
            <a:r>
              <a:rPr sz="2400" spc="20" dirty="0">
                <a:solidFill>
                  <a:srgbClr val="404040"/>
                </a:solidFill>
                <a:latin typeface="Calibri"/>
                <a:cs typeface="Calibri"/>
              </a:rPr>
              <a:t> </a:t>
            </a:r>
            <a:r>
              <a:rPr sz="2400" spc="5" dirty="0">
                <a:solidFill>
                  <a:srgbClr val="404040"/>
                </a:solidFill>
                <a:latin typeface="Calibri"/>
                <a:cs typeface="Calibri"/>
              </a:rPr>
              <a:t>as</a:t>
            </a:r>
            <a:r>
              <a:rPr sz="2400" dirty="0">
                <a:solidFill>
                  <a:srgbClr val="404040"/>
                </a:solidFill>
                <a:latin typeface="Calibri"/>
                <a:cs typeface="Calibri"/>
              </a:rPr>
              <a:t> internal</a:t>
            </a:r>
            <a:r>
              <a:rPr sz="2400" spc="10" dirty="0">
                <a:solidFill>
                  <a:srgbClr val="404040"/>
                </a:solidFill>
                <a:latin typeface="Calibri"/>
                <a:cs typeface="Calibri"/>
              </a:rPr>
              <a:t> </a:t>
            </a:r>
            <a:r>
              <a:rPr sz="2400" dirty="0">
                <a:solidFill>
                  <a:srgbClr val="404040"/>
                </a:solidFill>
                <a:latin typeface="Calibri"/>
                <a:cs typeface="Calibri"/>
              </a:rPr>
              <a:t>or</a:t>
            </a:r>
            <a:r>
              <a:rPr sz="2400" spc="5" dirty="0">
                <a:solidFill>
                  <a:srgbClr val="404040"/>
                </a:solidFill>
                <a:latin typeface="Calibri"/>
                <a:cs typeface="Calibri"/>
              </a:rPr>
              <a:t> external.</a:t>
            </a:r>
            <a:endParaRPr sz="2400">
              <a:latin typeface="Calibri"/>
              <a:cs typeface="Calibri"/>
            </a:endParaRPr>
          </a:p>
        </p:txBody>
      </p:sp>
      <p:sp>
        <p:nvSpPr>
          <p:cNvPr id="9" name="object 9"/>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10" name="object 10"/>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1" name="object 11"/>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35</a:t>
            </a:r>
            <a:endParaRPr sz="1050">
              <a:latin typeface="Calibri"/>
              <a:cs typeface="Calibri"/>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p:nvPr/>
        </p:nvSpPr>
        <p:spPr>
          <a:xfrm>
            <a:off x="1084580" y="1839595"/>
            <a:ext cx="9857740" cy="3549650"/>
          </a:xfrm>
          <a:prstGeom prst="rect">
            <a:avLst/>
          </a:prstGeom>
        </p:spPr>
        <p:txBody>
          <a:bodyPr vert="horz" wrap="square" lIns="0" tIns="12700" rIns="0" bIns="0" rtlCol="0">
            <a:spAutoFit/>
          </a:bodyPr>
          <a:lstStyle/>
          <a:p>
            <a:pPr marL="104139" marR="5080" indent="-92075" algn="just">
              <a:lnSpc>
                <a:spcPct val="110000"/>
              </a:lnSpc>
              <a:spcBef>
                <a:spcPts val="100"/>
              </a:spcBef>
              <a:buClr>
                <a:srgbClr val="E38312"/>
              </a:buClr>
              <a:buFont typeface="Wingdings"/>
              <a:buChar char=""/>
              <a:tabLst>
                <a:tab pos="323850" algn="l"/>
              </a:tabLst>
            </a:pPr>
            <a:r>
              <a:rPr sz="2400" spc="-5" dirty="0">
                <a:solidFill>
                  <a:srgbClr val="404040"/>
                </a:solidFill>
                <a:latin typeface="Calibri"/>
                <a:cs typeface="Calibri"/>
              </a:rPr>
              <a:t>External </a:t>
            </a:r>
            <a:r>
              <a:rPr sz="2400" spc="-10" dirty="0">
                <a:solidFill>
                  <a:srgbClr val="404040"/>
                </a:solidFill>
                <a:latin typeface="Calibri"/>
                <a:cs typeface="Calibri"/>
              </a:rPr>
              <a:t>buses </a:t>
            </a:r>
            <a:r>
              <a:rPr sz="2400" spc="-15" dirty="0">
                <a:solidFill>
                  <a:srgbClr val="404040"/>
                </a:solidFill>
                <a:latin typeface="Calibri"/>
                <a:cs typeface="Calibri"/>
              </a:rPr>
              <a:t>are </a:t>
            </a:r>
            <a:r>
              <a:rPr sz="2400" spc="-5" dirty="0">
                <a:solidFill>
                  <a:srgbClr val="404040"/>
                </a:solidFill>
                <a:latin typeface="Calibri"/>
                <a:cs typeface="Calibri"/>
              </a:rPr>
              <a:t>those </a:t>
            </a:r>
            <a:r>
              <a:rPr sz="2400" spc="-10" dirty="0">
                <a:solidFill>
                  <a:srgbClr val="404040"/>
                </a:solidFill>
                <a:latin typeface="Calibri"/>
                <a:cs typeface="Calibri"/>
              </a:rPr>
              <a:t>that </a:t>
            </a:r>
            <a:r>
              <a:rPr sz="2400" spc="-20" dirty="0">
                <a:solidFill>
                  <a:srgbClr val="404040"/>
                </a:solidFill>
                <a:latin typeface="Calibri"/>
                <a:cs typeface="Calibri"/>
              </a:rPr>
              <a:t>transfer </a:t>
            </a:r>
            <a:r>
              <a:rPr sz="2400" dirty="0">
                <a:solidFill>
                  <a:srgbClr val="404040"/>
                </a:solidFill>
                <a:latin typeface="Calibri"/>
                <a:cs typeface="Calibri"/>
              </a:rPr>
              <a:t>the </a:t>
            </a:r>
            <a:r>
              <a:rPr sz="2400" spc="-10" dirty="0">
                <a:solidFill>
                  <a:srgbClr val="404040"/>
                </a:solidFill>
                <a:latin typeface="Calibri"/>
                <a:cs typeface="Calibri"/>
              </a:rPr>
              <a:t>information between </a:t>
            </a:r>
            <a:r>
              <a:rPr sz="2400" dirty="0">
                <a:solidFill>
                  <a:srgbClr val="404040"/>
                </a:solidFill>
                <a:latin typeface="Calibri"/>
                <a:cs typeface="Calibri"/>
              </a:rPr>
              <a:t>a </a:t>
            </a:r>
            <a:r>
              <a:rPr sz="2400" spc="-25" dirty="0">
                <a:solidFill>
                  <a:srgbClr val="404040"/>
                </a:solidFill>
                <a:latin typeface="Calibri"/>
                <a:cs typeface="Calibri"/>
              </a:rPr>
              <a:t>system </a:t>
            </a:r>
            <a:r>
              <a:rPr sz="2400" dirty="0">
                <a:solidFill>
                  <a:srgbClr val="404040"/>
                </a:solidFill>
                <a:latin typeface="Calibri"/>
                <a:cs typeface="Calibri"/>
              </a:rPr>
              <a:t>and </a:t>
            </a:r>
            <a:r>
              <a:rPr sz="2400" spc="-530" dirty="0">
                <a:solidFill>
                  <a:srgbClr val="404040"/>
                </a:solidFill>
                <a:latin typeface="Calibri"/>
                <a:cs typeface="Calibri"/>
              </a:rPr>
              <a:t> </a:t>
            </a:r>
            <a:r>
              <a:rPr sz="2400" spc="-10" dirty="0">
                <a:solidFill>
                  <a:srgbClr val="404040"/>
                </a:solidFill>
                <a:latin typeface="Calibri"/>
                <a:cs typeface="Calibri"/>
              </a:rPr>
              <a:t>components </a:t>
            </a:r>
            <a:r>
              <a:rPr sz="2400" spc="-5" dirty="0">
                <a:solidFill>
                  <a:srgbClr val="404040"/>
                </a:solidFill>
                <a:latin typeface="Calibri"/>
                <a:cs typeface="Calibri"/>
              </a:rPr>
              <a:t>outside </a:t>
            </a:r>
            <a:r>
              <a:rPr sz="2400" dirty="0">
                <a:solidFill>
                  <a:srgbClr val="404040"/>
                </a:solidFill>
                <a:latin typeface="Calibri"/>
                <a:cs typeface="Calibri"/>
              </a:rPr>
              <a:t>the </a:t>
            </a:r>
            <a:r>
              <a:rPr sz="2400" spc="-20" dirty="0">
                <a:solidFill>
                  <a:srgbClr val="404040"/>
                </a:solidFill>
                <a:latin typeface="Calibri"/>
                <a:cs typeface="Calibri"/>
              </a:rPr>
              <a:t>system. </a:t>
            </a:r>
            <a:r>
              <a:rPr sz="2400" spc="-15" dirty="0">
                <a:solidFill>
                  <a:srgbClr val="404040"/>
                </a:solidFill>
                <a:latin typeface="Calibri"/>
                <a:cs typeface="Calibri"/>
              </a:rPr>
              <a:t>For </a:t>
            </a:r>
            <a:r>
              <a:rPr sz="2400" spc="-10" dirty="0">
                <a:solidFill>
                  <a:srgbClr val="404040"/>
                </a:solidFill>
                <a:latin typeface="Calibri"/>
                <a:cs typeface="Calibri"/>
              </a:rPr>
              <a:t>example, </a:t>
            </a:r>
            <a:r>
              <a:rPr sz="2400" spc="-5" dirty="0">
                <a:solidFill>
                  <a:srgbClr val="404040"/>
                </a:solidFill>
                <a:latin typeface="Calibri"/>
                <a:cs typeface="Calibri"/>
              </a:rPr>
              <a:t>the </a:t>
            </a:r>
            <a:r>
              <a:rPr sz="2400" dirty="0">
                <a:solidFill>
                  <a:srgbClr val="404040"/>
                </a:solidFill>
                <a:latin typeface="Calibri"/>
                <a:cs typeface="Calibri"/>
              </a:rPr>
              <a:t>USB </a:t>
            </a:r>
            <a:r>
              <a:rPr sz="2400" spc="-10" dirty="0">
                <a:solidFill>
                  <a:srgbClr val="404040"/>
                </a:solidFill>
                <a:latin typeface="Calibri"/>
                <a:cs typeface="Calibri"/>
              </a:rPr>
              <a:t>(Universal </a:t>
            </a:r>
            <a:r>
              <a:rPr sz="2400" spc="-5" dirty="0">
                <a:solidFill>
                  <a:srgbClr val="404040"/>
                </a:solidFill>
                <a:latin typeface="Calibri"/>
                <a:cs typeface="Calibri"/>
              </a:rPr>
              <a:t>Serial </a:t>
            </a:r>
            <a:r>
              <a:rPr sz="2400" dirty="0">
                <a:solidFill>
                  <a:srgbClr val="404040"/>
                </a:solidFill>
                <a:latin typeface="Calibri"/>
                <a:cs typeface="Calibri"/>
              </a:rPr>
              <a:t>Bus) is </a:t>
            </a:r>
            <a:r>
              <a:rPr sz="2400" spc="5" dirty="0">
                <a:solidFill>
                  <a:srgbClr val="404040"/>
                </a:solidFill>
                <a:latin typeface="Calibri"/>
                <a:cs typeface="Calibri"/>
              </a:rPr>
              <a:t> </a:t>
            </a:r>
            <a:r>
              <a:rPr sz="2400" dirty="0">
                <a:solidFill>
                  <a:srgbClr val="404040"/>
                </a:solidFill>
                <a:latin typeface="Calibri"/>
                <a:cs typeface="Calibri"/>
              </a:rPr>
              <a:t>an</a:t>
            </a:r>
            <a:r>
              <a:rPr sz="2400" spc="-10" dirty="0">
                <a:solidFill>
                  <a:srgbClr val="404040"/>
                </a:solidFill>
                <a:latin typeface="Calibri"/>
                <a:cs typeface="Calibri"/>
              </a:rPr>
              <a:t> external</a:t>
            </a:r>
            <a:r>
              <a:rPr sz="2400" spc="-20" dirty="0">
                <a:solidFill>
                  <a:srgbClr val="404040"/>
                </a:solidFill>
                <a:latin typeface="Calibri"/>
                <a:cs typeface="Calibri"/>
              </a:rPr>
              <a:t> </a:t>
            </a:r>
            <a:r>
              <a:rPr sz="2400" spc="-5" dirty="0">
                <a:solidFill>
                  <a:srgbClr val="404040"/>
                </a:solidFill>
                <a:latin typeface="Calibri"/>
                <a:cs typeface="Calibri"/>
              </a:rPr>
              <a:t>bus.</a:t>
            </a:r>
            <a:endParaRPr sz="2400" dirty="0">
              <a:latin typeface="Calibri"/>
              <a:cs typeface="Calibri"/>
            </a:endParaRPr>
          </a:p>
          <a:p>
            <a:pPr marL="104139" marR="8890" indent="-92075" algn="just">
              <a:lnSpc>
                <a:spcPct val="110000"/>
              </a:lnSpc>
              <a:spcBef>
                <a:spcPts val="1200"/>
              </a:spcBef>
              <a:buClr>
                <a:srgbClr val="E38312"/>
              </a:buClr>
              <a:buFont typeface="Wingdings"/>
              <a:buChar char=""/>
              <a:tabLst>
                <a:tab pos="323850" algn="l"/>
              </a:tabLst>
            </a:pPr>
            <a:r>
              <a:rPr sz="2400" dirty="0">
                <a:solidFill>
                  <a:srgbClr val="404040"/>
                </a:solidFill>
                <a:latin typeface="Calibri"/>
                <a:cs typeface="Calibri"/>
              </a:rPr>
              <a:t>Buses</a:t>
            </a:r>
            <a:r>
              <a:rPr sz="2400" spc="5" dirty="0">
                <a:solidFill>
                  <a:srgbClr val="404040"/>
                </a:solidFill>
                <a:latin typeface="Calibri"/>
                <a:cs typeface="Calibri"/>
              </a:rPr>
              <a:t> </a:t>
            </a:r>
            <a:r>
              <a:rPr sz="2400" spc="-10" dirty="0">
                <a:solidFill>
                  <a:srgbClr val="404040"/>
                </a:solidFill>
                <a:latin typeface="Calibri"/>
                <a:cs typeface="Calibri"/>
              </a:rPr>
              <a:t>that</a:t>
            </a:r>
            <a:r>
              <a:rPr sz="2400" spc="-5" dirty="0">
                <a:solidFill>
                  <a:srgbClr val="404040"/>
                </a:solidFill>
                <a:latin typeface="Calibri"/>
                <a:cs typeface="Calibri"/>
              </a:rPr>
              <a:t> </a:t>
            </a:r>
            <a:r>
              <a:rPr sz="2400" spc="-15" dirty="0">
                <a:solidFill>
                  <a:srgbClr val="404040"/>
                </a:solidFill>
                <a:latin typeface="Calibri"/>
                <a:cs typeface="Calibri"/>
              </a:rPr>
              <a:t>communicate</a:t>
            </a:r>
            <a:r>
              <a:rPr sz="2400" spc="-10" dirty="0">
                <a:solidFill>
                  <a:srgbClr val="404040"/>
                </a:solidFill>
                <a:latin typeface="Calibri"/>
                <a:cs typeface="Calibri"/>
              </a:rPr>
              <a:t> between</a:t>
            </a:r>
            <a:r>
              <a:rPr sz="2400" spc="-5" dirty="0">
                <a:solidFill>
                  <a:srgbClr val="404040"/>
                </a:solidFill>
                <a:latin typeface="Calibri"/>
                <a:cs typeface="Calibri"/>
              </a:rPr>
              <a:t> </a:t>
            </a:r>
            <a:r>
              <a:rPr sz="2400" spc="-10" dirty="0">
                <a:solidFill>
                  <a:srgbClr val="404040"/>
                </a:solidFill>
                <a:latin typeface="Calibri"/>
                <a:cs typeface="Calibri"/>
              </a:rPr>
              <a:t>components</a:t>
            </a:r>
            <a:r>
              <a:rPr sz="2400" spc="-5" dirty="0">
                <a:solidFill>
                  <a:srgbClr val="404040"/>
                </a:solidFill>
                <a:latin typeface="Calibri"/>
                <a:cs typeface="Calibri"/>
              </a:rPr>
              <a:t> on</a:t>
            </a:r>
            <a:r>
              <a:rPr sz="2400" dirty="0">
                <a:solidFill>
                  <a:srgbClr val="404040"/>
                </a:solidFill>
                <a:latin typeface="Calibri"/>
                <a:cs typeface="Calibri"/>
              </a:rPr>
              <a:t> the</a:t>
            </a:r>
            <a:r>
              <a:rPr sz="2400" spc="5" dirty="0">
                <a:solidFill>
                  <a:srgbClr val="404040"/>
                </a:solidFill>
                <a:latin typeface="Calibri"/>
                <a:cs typeface="Calibri"/>
              </a:rPr>
              <a:t> </a:t>
            </a:r>
            <a:r>
              <a:rPr sz="2400" spc="-5" dirty="0">
                <a:solidFill>
                  <a:srgbClr val="404040"/>
                </a:solidFill>
                <a:latin typeface="Calibri"/>
                <a:cs typeface="Calibri"/>
              </a:rPr>
              <a:t>same</a:t>
            </a:r>
            <a:r>
              <a:rPr sz="2400" dirty="0">
                <a:solidFill>
                  <a:srgbClr val="404040"/>
                </a:solidFill>
                <a:latin typeface="Calibri"/>
                <a:cs typeface="Calibri"/>
              </a:rPr>
              <a:t> </a:t>
            </a:r>
            <a:r>
              <a:rPr sz="2400" spc="-15" dirty="0">
                <a:solidFill>
                  <a:srgbClr val="404040"/>
                </a:solidFill>
                <a:latin typeface="Calibri"/>
                <a:cs typeface="Calibri"/>
              </a:rPr>
              <a:t>board</a:t>
            </a:r>
            <a:r>
              <a:rPr sz="2400" spc="-10" dirty="0">
                <a:solidFill>
                  <a:srgbClr val="404040"/>
                </a:solidFill>
                <a:latin typeface="Calibri"/>
                <a:cs typeface="Calibri"/>
              </a:rPr>
              <a:t> are </a:t>
            </a:r>
            <a:r>
              <a:rPr sz="2400" spc="-5" dirty="0">
                <a:solidFill>
                  <a:srgbClr val="404040"/>
                </a:solidFill>
                <a:latin typeface="Calibri"/>
                <a:cs typeface="Calibri"/>
              </a:rPr>
              <a:t> </a:t>
            </a:r>
            <a:r>
              <a:rPr sz="2400" spc="-20" dirty="0">
                <a:solidFill>
                  <a:srgbClr val="404040"/>
                </a:solidFill>
                <a:latin typeface="Calibri"/>
                <a:cs typeface="Calibri"/>
              </a:rPr>
              <a:t>referred</a:t>
            </a:r>
            <a:r>
              <a:rPr sz="2400" spc="10" dirty="0">
                <a:solidFill>
                  <a:srgbClr val="404040"/>
                </a:solidFill>
                <a:latin typeface="Calibri"/>
                <a:cs typeface="Calibri"/>
              </a:rPr>
              <a:t> </a:t>
            </a:r>
            <a:r>
              <a:rPr sz="2400" spc="-15" dirty="0">
                <a:solidFill>
                  <a:srgbClr val="404040"/>
                </a:solidFill>
                <a:latin typeface="Calibri"/>
                <a:cs typeface="Calibri"/>
              </a:rPr>
              <a:t>to</a:t>
            </a:r>
            <a:r>
              <a:rPr sz="2400" spc="-10" dirty="0">
                <a:solidFill>
                  <a:srgbClr val="404040"/>
                </a:solidFill>
                <a:latin typeface="Calibri"/>
                <a:cs typeface="Calibri"/>
              </a:rPr>
              <a:t> </a:t>
            </a:r>
            <a:r>
              <a:rPr sz="2400" dirty="0">
                <a:solidFill>
                  <a:srgbClr val="404040"/>
                </a:solidFill>
                <a:latin typeface="Calibri"/>
                <a:cs typeface="Calibri"/>
              </a:rPr>
              <a:t>as</a:t>
            </a:r>
            <a:r>
              <a:rPr sz="2400" spc="-20" dirty="0">
                <a:solidFill>
                  <a:srgbClr val="404040"/>
                </a:solidFill>
                <a:latin typeface="Calibri"/>
                <a:cs typeface="Calibri"/>
              </a:rPr>
              <a:t> </a:t>
            </a:r>
            <a:r>
              <a:rPr sz="2400" spc="-10" dirty="0">
                <a:solidFill>
                  <a:srgbClr val="404040"/>
                </a:solidFill>
                <a:latin typeface="Calibri"/>
                <a:cs typeface="Calibri"/>
              </a:rPr>
              <a:t>on-board</a:t>
            </a:r>
            <a:r>
              <a:rPr sz="2400" dirty="0">
                <a:solidFill>
                  <a:srgbClr val="404040"/>
                </a:solidFill>
                <a:latin typeface="Calibri"/>
                <a:cs typeface="Calibri"/>
              </a:rPr>
              <a:t> </a:t>
            </a:r>
            <a:r>
              <a:rPr sz="2400" spc="-5" dirty="0" smtClean="0">
                <a:solidFill>
                  <a:srgbClr val="404040"/>
                </a:solidFill>
                <a:latin typeface="Calibri"/>
                <a:cs typeface="Calibri"/>
              </a:rPr>
              <a:t>buses</a:t>
            </a:r>
            <a:r>
              <a:rPr lang="en-US" sz="2400" spc="-5" dirty="0" smtClean="0">
                <a:solidFill>
                  <a:srgbClr val="404040"/>
                </a:solidFill>
                <a:latin typeface="Calibri"/>
                <a:cs typeface="Calibri"/>
              </a:rPr>
              <a:t> or internal bus</a:t>
            </a:r>
            <a:r>
              <a:rPr sz="2400" spc="-5" dirty="0" smtClean="0">
                <a:solidFill>
                  <a:srgbClr val="404040"/>
                </a:solidFill>
                <a:latin typeface="Calibri"/>
                <a:cs typeface="Calibri"/>
              </a:rPr>
              <a:t>.</a:t>
            </a:r>
            <a:endParaRPr sz="2400" dirty="0">
              <a:latin typeface="Calibri"/>
              <a:cs typeface="Calibri"/>
            </a:endParaRPr>
          </a:p>
          <a:p>
            <a:pPr marL="104139" marR="5080" indent="-92075" algn="just">
              <a:lnSpc>
                <a:spcPct val="110100"/>
              </a:lnSpc>
              <a:spcBef>
                <a:spcPts val="1195"/>
              </a:spcBef>
              <a:buClr>
                <a:srgbClr val="E38312"/>
              </a:buClr>
              <a:buFont typeface="Wingdings"/>
              <a:buChar char=""/>
              <a:tabLst>
                <a:tab pos="392430" algn="l"/>
              </a:tabLst>
            </a:pPr>
            <a:r>
              <a:rPr sz="2400" spc="-5" dirty="0">
                <a:solidFill>
                  <a:srgbClr val="404040"/>
                </a:solidFill>
                <a:latin typeface="Calibri"/>
                <a:cs typeface="Calibri"/>
              </a:rPr>
              <a:t>In</a:t>
            </a:r>
            <a:r>
              <a:rPr sz="2400" dirty="0">
                <a:solidFill>
                  <a:srgbClr val="404040"/>
                </a:solidFill>
                <a:latin typeface="Calibri"/>
                <a:cs typeface="Calibri"/>
              </a:rPr>
              <a:t> </a:t>
            </a:r>
            <a:r>
              <a:rPr sz="2400" spc="-5" dirty="0">
                <a:solidFill>
                  <a:srgbClr val="404040"/>
                </a:solidFill>
                <a:latin typeface="Calibri"/>
                <a:cs typeface="Calibri"/>
              </a:rPr>
              <a:t>this</a:t>
            </a:r>
            <a:r>
              <a:rPr sz="2400" dirty="0">
                <a:solidFill>
                  <a:srgbClr val="404040"/>
                </a:solidFill>
                <a:latin typeface="Calibri"/>
                <a:cs typeface="Calibri"/>
              </a:rPr>
              <a:t> </a:t>
            </a:r>
            <a:r>
              <a:rPr sz="2400" spc="-5" dirty="0">
                <a:solidFill>
                  <a:srgbClr val="404040"/>
                </a:solidFill>
                <a:latin typeface="Calibri"/>
                <a:cs typeface="Calibri"/>
              </a:rPr>
              <a:t>section,</a:t>
            </a:r>
            <a:r>
              <a:rPr sz="2400" dirty="0">
                <a:solidFill>
                  <a:srgbClr val="404040"/>
                </a:solidFill>
                <a:latin typeface="Calibri"/>
                <a:cs typeface="Calibri"/>
              </a:rPr>
              <a:t> </a:t>
            </a:r>
            <a:r>
              <a:rPr sz="2400" spc="-15" dirty="0">
                <a:solidFill>
                  <a:srgbClr val="404040"/>
                </a:solidFill>
                <a:latin typeface="Calibri"/>
                <a:cs typeface="Calibri"/>
              </a:rPr>
              <a:t>we</a:t>
            </a:r>
            <a:r>
              <a:rPr sz="2400" spc="-10" dirty="0">
                <a:solidFill>
                  <a:srgbClr val="404040"/>
                </a:solidFill>
                <a:latin typeface="Calibri"/>
                <a:cs typeface="Calibri"/>
              </a:rPr>
              <a:t> </a:t>
            </a:r>
            <a:r>
              <a:rPr sz="2400" dirty="0">
                <a:solidFill>
                  <a:srgbClr val="404040"/>
                </a:solidFill>
                <a:latin typeface="Calibri"/>
                <a:cs typeface="Calibri"/>
              </a:rPr>
              <a:t>will</a:t>
            </a:r>
            <a:r>
              <a:rPr sz="2400" spc="5" dirty="0">
                <a:solidFill>
                  <a:srgbClr val="404040"/>
                </a:solidFill>
                <a:latin typeface="Calibri"/>
                <a:cs typeface="Calibri"/>
              </a:rPr>
              <a:t> </a:t>
            </a:r>
            <a:r>
              <a:rPr sz="2400" spc="-5" dirty="0">
                <a:solidFill>
                  <a:srgbClr val="404040"/>
                </a:solidFill>
                <a:latin typeface="Calibri"/>
                <a:cs typeface="Calibri"/>
              </a:rPr>
              <a:t>discuss</a:t>
            </a:r>
            <a:r>
              <a:rPr sz="2400" dirty="0">
                <a:solidFill>
                  <a:srgbClr val="404040"/>
                </a:solidFill>
                <a:latin typeface="Calibri"/>
                <a:cs typeface="Calibri"/>
              </a:rPr>
              <a:t> </a:t>
            </a:r>
            <a:r>
              <a:rPr sz="2400" spc="-10" dirty="0">
                <a:solidFill>
                  <a:srgbClr val="404040"/>
                </a:solidFill>
                <a:latin typeface="Calibri"/>
                <a:cs typeface="Calibri"/>
              </a:rPr>
              <a:t>two</a:t>
            </a:r>
            <a:r>
              <a:rPr sz="2400" spc="-5" dirty="0">
                <a:solidFill>
                  <a:srgbClr val="404040"/>
                </a:solidFill>
                <a:latin typeface="Calibri"/>
                <a:cs typeface="Calibri"/>
              </a:rPr>
              <a:t> popular</a:t>
            </a:r>
            <a:r>
              <a:rPr sz="2400" dirty="0">
                <a:solidFill>
                  <a:srgbClr val="404040"/>
                </a:solidFill>
                <a:latin typeface="Calibri"/>
                <a:cs typeface="Calibri"/>
              </a:rPr>
              <a:t> </a:t>
            </a:r>
            <a:r>
              <a:rPr sz="2400" spc="-10" dirty="0">
                <a:solidFill>
                  <a:srgbClr val="404040"/>
                </a:solidFill>
                <a:latin typeface="Calibri"/>
                <a:cs typeface="Calibri"/>
              </a:rPr>
              <a:t>on-board</a:t>
            </a:r>
            <a:r>
              <a:rPr sz="2400" spc="-5" dirty="0">
                <a:solidFill>
                  <a:srgbClr val="404040"/>
                </a:solidFill>
                <a:latin typeface="Calibri"/>
                <a:cs typeface="Calibri"/>
              </a:rPr>
              <a:t> buses</a:t>
            </a:r>
            <a:r>
              <a:rPr sz="2400" spc="530" dirty="0">
                <a:solidFill>
                  <a:srgbClr val="404040"/>
                </a:solidFill>
                <a:latin typeface="Calibri"/>
                <a:cs typeface="Calibri"/>
              </a:rPr>
              <a:t> </a:t>
            </a:r>
            <a:r>
              <a:rPr sz="2400" dirty="0">
                <a:solidFill>
                  <a:srgbClr val="404040"/>
                </a:solidFill>
                <a:latin typeface="Calibri"/>
                <a:cs typeface="Calibri"/>
              </a:rPr>
              <a:t>—</a:t>
            </a:r>
            <a:r>
              <a:rPr sz="2400" spc="545" dirty="0">
                <a:solidFill>
                  <a:srgbClr val="404040"/>
                </a:solidFill>
                <a:latin typeface="Calibri"/>
                <a:cs typeface="Calibri"/>
              </a:rPr>
              <a:t> </a:t>
            </a:r>
            <a:r>
              <a:rPr sz="2400" dirty="0">
                <a:solidFill>
                  <a:srgbClr val="404040"/>
                </a:solidFill>
                <a:latin typeface="Calibri"/>
                <a:cs typeface="Calibri"/>
              </a:rPr>
              <a:t>the </a:t>
            </a:r>
            <a:r>
              <a:rPr sz="2400" spc="5" dirty="0">
                <a:solidFill>
                  <a:srgbClr val="404040"/>
                </a:solidFill>
                <a:latin typeface="Calibri"/>
                <a:cs typeface="Calibri"/>
              </a:rPr>
              <a:t> </a:t>
            </a:r>
            <a:r>
              <a:rPr sz="2400" spc="-15" dirty="0">
                <a:solidFill>
                  <a:srgbClr val="404040"/>
                </a:solidFill>
                <a:latin typeface="Calibri"/>
                <a:cs typeface="Calibri"/>
              </a:rPr>
              <a:t>controllers </a:t>
            </a:r>
            <a:r>
              <a:rPr sz="2400" spc="-25" dirty="0">
                <a:solidFill>
                  <a:srgbClr val="404040"/>
                </a:solidFill>
                <a:latin typeface="Calibri"/>
                <a:cs typeface="Calibri"/>
              </a:rPr>
              <a:t>for </a:t>
            </a:r>
            <a:r>
              <a:rPr sz="2400" spc="-5" dirty="0">
                <a:solidFill>
                  <a:srgbClr val="404040"/>
                </a:solidFill>
                <a:latin typeface="Calibri"/>
                <a:cs typeface="Calibri"/>
              </a:rPr>
              <a:t>such buses </a:t>
            </a:r>
            <a:r>
              <a:rPr sz="2400" spc="-15" dirty="0">
                <a:solidFill>
                  <a:srgbClr val="404040"/>
                </a:solidFill>
                <a:latin typeface="Calibri"/>
                <a:cs typeface="Calibri"/>
              </a:rPr>
              <a:t>are </a:t>
            </a:r>
            <a:r>
              <a:rPr sz="2400" spc="-10" dirty="0">
                <a:solidFill>
                  <a:srgbClr val="404040"/>
                </a:solidFill>
                <a:latin typeface="Calibri"/>
                <a:cs typeface="Calibri"/>
              </a:rPr>
              <a:t>present </a:t>
            </a:r>
            <a:r>
              <a:rPr sz="2400" dirty="0">
                <a:solidFill>
                  <a:srgbClr val="404040"/>
                </a:solidFill>
                <a:latin typeface="Calibri"/>
                <a:cs typeface="Calibri"/>
              </a:rPr>
              <a:t>in all </a:t>
            </a:r>
            <a:r>
              <a:rPr sz="2400" spc="-5" dirty="0">
                <a:solidFill>
                  <a:srgbClr val="404040"/>
                </a:solidFill>
                <a:latin typeface="Calibri"/>
                <a:cs typeface="Calibri"/>
              </a:rPr>
              <a:t>MCUs, </a:t>
            </a:r>
            <a:r>
              <a:rPr sz="2400" dirty="0">
                <a:solidFill>
                  <a:srgbClr val="404040"/>
                </a:solidFill>
                <a:latin typeface="Calibri"/>
                <a:cs typeface="Calibri"/>
              </a:rPr>
              <a:t>and </a:t>
            </a:r>
            <a:r>
              <a:rPr sz="2400" spc="-10" dirty="0">
                <a:solidFill>
                  <a:srgbClr val="404040"/>
                </a:solidFill>
                <a:latin typeface="Calibri"/>
                <a:cs typeface="Calibri"/>
              </a:rPr>
              <a:t>that </a:t>
            </a:r>
            <a:r>
              <a:rPr sz="2400" spc="-20" dirty="0">
                <a:solidFill>
                  <a:srgbClr val="404040"/>
                </a:solidFill>
                <a:latin typeface="Calibri"/>
                <a:cs typeface="Calibri"/>
              </a:rPr>
              <a:t>makes </a:t>
            </a:r>
            <a:r>
              <a:rPr sz="2400" dirty="0">
                <a:solidFill>
                  <a:srgbClr val="404040"/>
                </a:solidFill>
                <a:latin typeface="Calibri"/>
                <a:cs typeface="Calibri"/>
              </a:rPr>
              <a:t>it </a:t>
            </a:r>
            <a:r>
              <a:rPr sz="2400" spc="-5" dirty="0">
                <a:solidFill>
                  <a:srgbClr val="404040"/>
                </a:solidFill>
                <a:latin typeface="Calibri"/>
                <a:cs typeface="Calibri"/>
              </a:rPr>
              <a:t>necessary </a:t>
            </a:r>
            <a:r>
              <a:rPr sz="2400" dirty="0">
                <a:solidFill>
                  <a:srgbClr val="404040"/>
                </a:solidFill>
                <a:latin typeface="Calibri"/>
                <a:cs typeface="Calibri"/>
              </a:rPr>
              <a:t> </a:t>
            </a:r>
            <a:r>
              <a:rPr sz="2400" spc="-20" dirty="0">
                <a:solidFill>
                  <a:srgbClr val="404040"/>
                </a:solidFill>
                <a:latin typeface="Calibri"/>
                <a:cs typeface="Calibri"/>
              </a:rPr>
              <a:t>for</a:t>
            </a:r>
            <a:r>
              <a:rPr sz="2400" spc="-10" dirty="0">
                <a:solidFill>
                  <a:srgbClr val="404040"/>
                </a:solidFill>
                <a:latin typeface="Calibri"/>
                <a:cs typeface="Calibri"/>
              </a:rPr>
              <a:t> </a:t>
            </a:r>
            <a:r>
              <a:rPr sz="2400" dirty="0">
                <a:solidFill>
                  <a:srgbClr val="404040"/>
                </a:solidFill>
                <a:latin typeface="Calibri"/>
                <a:cs typeface="Calibri"/>
              </a:rPr>
              <a:t>a</a:t>
            </a:r>
            <a:r>
              <a:rPr sz="2400" spc="-5" dirty="0">
                <a:solidFill>
                  <a:srgbClr val="404040"/>
                </a:solidFill>
                <a:latin typeface="Calibri"/>
                <a:cs typeface="Calibri"/>
              </a:rPr>
              <a:t> </a:t>
            </a:r>
            <a:r>
              <a:rPr sz="2400" spc="-10" dirty="0">
                <a:solidFill>
                  <a:srgbClr val="404040"/>
                </a:solidFill>
                <a:latin typeface="Calibri"/>
                <a:cs typeface="Calibri"/>
              </a:rPr>
              <a:t>brief</a:t>
            </a:r>
            <a:r>
              <a:rPr sz="2400" dirty="0">
                <a:solidFill>
                  <a:srgbClr val="404040"/>
                </a:solidFill>
                <a:latin typeface="Calibri"/>
                <a:cs typeface="Calibri"/>
              </a:rPr>
              <a:t> </a:t>
            </a:r>
            <a:r>
              <a:rPr sz="2400" spc="-5" dirty="0">
                <a:solidFill>
                  <a:srgbClr val="404040"/>
                </a:solidFill>
                <a:latin typeface="Calibri"/>
                <a:cs typeface="Calibri"/>
              </a:rPr>
              <a:t>discussion</a:t>
            </a:r>
            <a:r>
              <a:rPr sz="2400" spc="5" dirty="0">
                <a:solidFill>
                  <a:srgbClr val="404040"/>
                </a:solidFill>
                <a:latin typeface="Calibri"/>
                <a:cs typeface="Calibri"/>
              </a:rPr>
              <a:t> </a:t>
            </a:r>
            <a:r>
              <a:rPr sz="2400" spc="-5" dirty="0">
                <a:solidFill>
                  <a:srgbClr val="404040"/>
                </a:solidFill>
                <a:latin typeface="Calibri"/>
                <a:cs typeface="Calibri"/>
              </a:rPr>
              <a:t>on </a:t>
            </a:r>
            <a:r>
              <a:rPr sz="2400" spc="-10" dirty="0">
                <a:solidFill>
                  <a:srgbClr val="404040"/>
                </a:solidFill>
                <a:latin typeface="Calibri"/>
                <a:cs typeface="Calibri"/>
              </a:rPr>
              <a:t>two</a:t>
            </a:r>
            <a:r>
              <a:rPr sz="2400" spc="-15" dirty="0">
                <a:solidFill>
                  <a:srgbClr val="404040"/>
                </a:solidFill>
                <a:latin typeface="Calibri"/>
                <a:cs typeface="Calibri"/>
              </a:rPr>
              <a:t> </a:t>
            </a:r>
            <a:r>
              <a:rPr sz="2400" spc="-5" dirty="0">
                <a:solidFill>
                  <a:srgbClr val="404040"/>
                </a:solidFill>
                <a:latin typeface="Calibri"/>
                <a:cs typeface="Calibri"/>
              </a:rPr>
              <a:t>of </a:t>
            </a:r>
            <a:r>
              <a:rPr sz="2400" dirty="0">
                <a:solidFill>
                  <a:srgbClr val="404040"/>
                </a:solidFill>
                <a:latin typeface="Calibri"/>
                <a:cs typeface="Calibri"/>
              </a:rPr>
              <a:t>them.</a:t>
            </a:r>
            <a:endParaRPr sz="2400" dirty="0">
              <a:latin typeface="Calibri"/>
              <a:cs typeface="Calibri"/>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36</a:t>
            </a:r>
            <a:endParaRPr sz="1050">
              <a:latin typeface="Calibri"/>
              <a:cs typeface="Calibri"/>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73328"/>
            <a:ext cx="9368790" cy="757555"/>
          </a:xfrm>
          <a:prstGeom prst="rect">
            <a:avLst/>
          </a:prstGeom>
        </p:spPr>
        <p:txBody>
          <a:bodyPr vert="horz" wrap="square" lIns="0" tIns="12700" rIns="0" bIns="0" rtlCol="0">
            <a:spAutoFit/>
          </a:bodyPr>
          <a:lstStyle/>
          <a:p>
            <a:pPr marL="12700">
              <a:lnSpc>
                <a:spcPct val="100000"/>
              </a:lnSpc>
              <a:spcBef>
                <a:spcPts val="100"/>
              </a:spcBef>
            </a:pPr>
            <a:r>
              <a:rPr sz="4800" b="0" spc="-105" dirty="0" smtClean="0">
                <a:solidFill>
                  <a:srgbClr val="00AFEF"/>
                </a:solidFill>
                <a:latin typeface="Calibri Light"/>
                <a:cs typeface="Calibri Light"/>
              </a:rPr>
              <a:t> </a:t>
            </a:r>
            <a:r>
              <a:rPr sz="4800" b="0" spc="-60" dirty="0">
                <a:solidFill>
                  <a:srgbClr val="00AFEF"/>
                </a:solidFill>
                <a:latin typeface="Calibri Light"/>
                <a:cs typeface="Calibri Light"/>
              </a:rPr>
              <a:t>Inter</a:t>
            </a:r>
            <a:r>
              <a:rPr sz="4800" b="0" spc="-105" dirty="0">
                <a:solidFill>
                  <a:srgbClr val="00AFEF"/>
                </a:solidFill>
                <a:latin typeface="Calibri Light"/>
                <a:cs typeface="Calibri Light"/>
              </a:rPr>
              <a:t> </a:t>
            </a:r>
            <a:r>
              <a:rPr sz="4800" b="0" spc="-75" dirty="0">
                <a:solidFill>
                  <a:srgbClr val="00AFEF"/>
                </a:solidFill>
                <a:latin typeface="Calibri Light"/>
                <a:cs typeface="Calibri Light"/>
              </a:rPr>
              <a:t>integrated</a:t>
            </a:r>
            <a:r>
              <a:rPr sz="4800" b="0" spc="-105" dirty="0">
                <a:solidFill>
                  <a:srgbClr val="00AFEF"/>
                </a:solidFill>
                <a:latin typeface="Calibri Light"/>
                <a:cs typeface="Calibri Light"/>
              </a:rPr>
              <a:t> </a:t>
            </a:r>
            <a:r>
              <a:rPr sz="4800" b="0" spc="-55" dirty="0">
                <a:solidFill>
                  <a:srgbClr val="00AFEF"/>
                </a:solidFill>
                <a:latin typeface="Calibri Light"/>
                <a:cs typeface="Calibri Light"/>
              </a:rPr>
              <a:t>circuit</a:t>
            </a:r>
            <a:r>
              <a:rPr sz="4800" b="0" spc="-114" dirty="0">
                <a:solidFill>
                  <a:srgbClr val="00AFEF"/>
                </a:solidFill>
                <a:latin typeface="Calibri Light"/>
                <a:cs typeface="Calibri Light"/>
              </a:rPr>
              <a:t> </a:t>
            </a:r>
            <a:r>
              <a:rPr sz="4800" b="0" spc="-35" dirty="0">
                <a:solidFill>
                  <a:srgbClr val="00AFEF"/>
                </a:solidFill>
                <a:latin typeface="Calibri Light"/>
                <a:cs typeface="Calibri Light"/>
              </a:rPr>
              <a:t>bus</a:t>
            </a:r>
            <a:r>
              <a:rPr sz="4800" b="0" spc="-85" dirty="0">
                <a:solidFill>
                  <a:srgbClr val="00AFEF"/>
                </a:solidFill>
                <a:latin typeface="Calibri Light"/>
                <a:cs typeface="Calibri Light"/>
              </a:rPr>
              <a:t> </a:t>
            </a:r>
            <a:r>
              <a:rPr sz="4800" b="0" spc="-50" dirty="0">
                <a:solidFill>
                  <a:srgbClr val="00AFEF"/>
                </a:solidFill>
                <a:latin typeface="Calibri Light"/>
                <a:cs typeface="Calibri Light"/>
              </a:rPr>
              <a:t>(12C)</a:t>
            </a:r>
            <a:endParaRPr sz="4800" dirty="0">
              <a:latin typeface="Calibri Light"/>
              <a:cs typeface="Calibri Light"/>
            </a:endParaRPr>
          </a:p>
        </p:txBody>
      </p:sp>
      <p:sp>
        <p:nvSpPr>
          <p:cNvPr id="7" name="object 7"/>
          <p:cNvSpPr txBox="1"/>
          <p:nvPr/>
        </p:nvSpPr>
        <p:spPr>
          <a:xfrm>
            <a:off x="710590" y="1744218"/>
            <a:ext cx="9972040" cy="4257040"/>
          </a:xfrm>
          <a:prstGeom prst="rect">
            <a:avLst/>
          </a:prstGeom>
        </p:spPr>
        <p:txBody>
          <a:bodyPr vert="horz" wrap="square" lIns="0" tIns="12700" rIns="0" bIns="0" rtlCol="0">
            <a:spAutoFit/>
          </a:bodyPr>
          <a:lstStyle/>
          <a:p>
            <a:pPr marL="104139" marR="5715" indent="-92075">
              <a:lnSpc>
                <a:spcPct val="110000"/>
              </a:lnSpc>
              <a:spcBef>
                <a:spcPts val="100"/>
              </a:spcBef>
              <a:buClr>
                <a:srgbClr val="E38312"/>
              </a:buClr>
              <a:buSzPct val="95833"/>
              <a:buFont typeface="Wingdings"/>
              <a:buChar char=""/>
              <a:tabLst>
                <a:tab pos="285115" algn="l"/>
                <a:tab pos="954405" algn="l"/>
                <a:tab pos="1316990" algn="l"/>
                <a:tab pos="1637030" algn="l"/>
                <a:tab pos="2922270" algn="l"/>
                <a:tab pos="3611245" algn="l"/>
                <a:tab pos="5086350" algn="l"/>
                <a:tab pos="5557520" algn="l"/>
                <a:tab pos="6534150" algn="l"/>
                <a:tab pos="7174230" algn="l"/>
                <a:tab pos="7537450" algn="l"/>
                <a:tab pos="8840470" algn="l"/>
                <a:tab pos="9604375" algn="l"/>
              </a:tabLst>
            </a:pPr>
            <a:r>
              <a:rPr sz="2400" spc="-5" dirty="0">
                <a:solidFill>
                  <a:srgbClr val="404040"/>
                </a:solidFill>
                <a:latin typeface="Calibri"/>
                <a:cs typeface="Calibri"/>
              </a:rPr>
              <a:t>Thi</a:t>
            </a:r>
            <a:r>
              <a:rPr sz="2400" dirty="0">
                <a:solidFill>
                  <a:srgbClr val="404040"/>
                </a:solidFill>
                <a:latin typeface="Calibri"/>
                <a:cs typeface="Calibri"/>
              </a:rPr>
              <a:t>s	is	a	</a:t>
            </a:r>
            <a:r>
              <a:rPr sz="2400" spc="-15" dirty="0">
                <a:solidFill>
                  <a:srgbClr val="404040"/>
                </a:solidFill>
                <a:latin typeface="Calibri"/>
                <a:cs typeface="Calibri"/>
              </a:rPr>
              <a:t>t</a:t>
            </a:r>
            <a:r>
              <a:rPr sz="2400" spc="-25" dirty="0">
                <a:solidFill>
                  <a:srgbClr val="404040"/>
                </a:solidFill>
                <a:latin typeface="Calibri"/>
                <a:cs typeface="Calibri"/>
              </a:rPr>
              <a:t>w</a:t>
            </a:r>
            <a:r>
              <a:rPr sz="2400" spc="-10" dirty="0">
                <a:solidFill>
                  <a:srgbClr val="404040"/>
                </a:solidFill>
                <a:latin typeface="Calibri"/>
                <a:cs typeface="Calibri"/>
              </a:rPr>
              <a:t>o</a:t>
            </a:r>
            <a:r>
              <a:rPr sz="2400" spc="-5" dirty="0">
                <a:solidFill>
                  <a:srgbClr val="404040"/>
                </a:solidFill>
                <a:latin typeface="Calibri"/>
                <a:cs typeface="Calibri"/>
              </a:rPr>
              <a:t>-</a:t>
            </a:r>
            <a:r>
              <a:rPr sz="2400" dirty="0">
                <a:solidFill>
                  <a:srgbClr val="404040"/>
                </a:solidFill>
                <a:latin typeface="Calibri"/>
                <a:cs typeface="Calibri"/>
              </a:rPr>
              <a:t>wi</a:t>
            </a:r>
            <a:r>
              <a:rPr sz="2400" spc="-35" dirty="0">
                <a:solidFill>
                  <a:srgbClr val="404040"/>
                </a:solidFill>
                <a:latin typeface="Calibri"/>
                <a:cs typeface="Calibri"/>
              </a:rPr>
              <a:t>r</a:t>
            </a:r>
            <a:r>
              <a:rPr sz="2400" dirty="0">
                <a:solidFill>
                  <a:srgbClr val="404040"/>
                </a:solidFill>
                <a:latin typeface="Calibri"/>
                <a:cs typeface="Calibri"/>
              </a:rPr>
              <a:t>e	</a:t>
            </a:r>
            <a:r>
              <a:rPr sz="2400" spc="-5" dirty="0">
                <a:solidFill>
                  <a:srgbClr val="404040"/>
                </a:solidFill>
                <a:latin typeface="Calibri"/>
                <a:cs typeface="Calibri"/>
              </a:rPr>
              <a:t>bus</a:t>
            </a:r>
            <a:r>
              <a:rPr sz="2400" dirty="0">
                <a:solidFill>
                  <a:srgbClr val="404040"/>
                </a:solidFill>
                <a:latin typeface="Calibri"/>
                <a:cs typeface="Calibri"/>
              </a:rPr>
              <a:t>,	</a:t>
            </a:r>
            <a:r>
              <a:rPr sz="2400" spc="-5" dirty="0">
                <a:solidFill>
                  <a:srgbClr val="404040"/>
                </a:solidFill>
                <a:latin typeface="Calibri"/>
                <a:cs typeface="Calibri"/>
              </a:rPr>
              <a:t>d</a:t>
            </a:r>
            <a:r>
              <a:rPr sz="2400" spc="-10" dirty="0">
                <a:solidFill>
                  <a:srgbClr val="404040"/>
                </a:solidFill>
                <a:latin typeface="Calibri"/>
                <a:cs typeface="Calibri"/>
              </a:rPr>
              <a:t>e</a:t>
            </a:r>
            <a:r>
              <a:rPr sz="2400" spc="-30" dirty="0">
                <a:solidFill>
                  <a:srgbClr val="404040"/>
                </a:solidFill>
                <a:latin typeface="Calibri"/>
                <a:cs typeface="Calibri"/>
              </a:rPr>
              <a:t>v</a:t>
            </a:r>
            <a:r>
              <a:rPr sz="2400" dirty="0">
                <a:solidFill>
                  <a:srgbClr val="404040"/>
                </a:solidFill>
                <a:latin typeface="Calibri"/>
                <a:cs typeface="Calibri"/>
              </a:rPr>
              <a:t>elop</a:t>
            </a:r>
            <a:r>
              <a:rPr sz="2400" spc="15" dirty="0">
                <a:solidFill>
                  <a:srgbClr val="404040"/>
                </a:solidFill>
                <a:latin typeface="Calibri"/>
                <a:cs typeface="Calibri"/>
              </a:rPr>
              <a:t>e</a:t>
            </a:r>
            <a:r>
              <a:rPr sz="2400" dirty="0">
                <a:solidFill>
                  <a:srgbClr val="404040"/>
                </a:solidFill>
                <a:latin typeface="Calibri"/>
                <a:cs typeface="Calibri"/>
              </a:rPr>
              <a:t>d	</a:t>
            </a:r>
            <a:r>
              <a:rPr sz="2400" spc="-15" dirty="0">
                <a:solidFill>
                  <a:srgbClr val="404040"/>
                </a:solidFill>
                <a:latin typeface="Calibri"/>
                <a:cs typeface="Calibri"/>
              </a:rPr>
              <a:t>b</a:t>
            </a:r>
            <a:r>
              <a:rPr sz="2400" dirty="0">
                <a:solidFill>
                  <a:srgbClr val="404040"/>
                </a:solidFill>
                <a:latin typeface="Calibri"/>
                <a:cs typeface="Calibri"/>
              </a:rPr>
              <a:t>y	Phili</a:t>
            </a:r>
            <a:r>
              <a:rPr sz="2400" spc="-30" dirty="0">
                <a:solidFill>
                  <a:srgbClr val="404040"/>
                </a:solidFill>
                <a:latin typeface="Calibri"/>
                <a:cs typeface="Calibri"/>
              </a:rPr>
              <a:t>p</a:t>
            </a:r>
            <a:r>
              <a:rPr sz="2400" dirty="0">
                <a:solidFill>
                  <a:srgbClr val="404040"/>
                </a:solidFill>
                <a:latin typeface="Calibri"/>
                <a:cs typeface="Calibri"/>
              </a:rPr>
              <a:t>s	and	is	</a:t>
            </a:r>
            <a:r>
              <a:rPr sz="2400" spc="-40" dirty="0">
                <a:solidFill>
                  <a:srgbClr val="404040"/>
                </a:solidFill>
                <a:latin typeface="Calibri"/>
                <a:cs typeface="Calibri"/>
              </a:rPr>
              <a:t>g</a:t>
            </a:r>
            <a:r>
              <a:rPr sz="2400" dirty="0">
                <a:solidFill>
                  <a:srgbClr val="404040"/>
                </a:solidFill>
                <a:latin typeface="Calibri"/>
                <a:cs typeface="Calibri"/>
              </a:rPr>
              <a:t>en</a:t>
            </a:r>
            <a:r>
              <a:rPr sz="2400" spc="5" dirty="0">
                <a:solidFill>
                  <a:srgbClr val="404040"/>
                </a:solidFill>
                <a:latin typeface="Calibri"/>
                <a:cs typeface="Calibri"/>
              </a:rPr>
              <a:t>e</a:t>
            </a:r>
            <a:r>
              <a:rPr sz="2400" spc="-45" dirty="0">
                <a:solidFill>
                  <a:srgbClr val="404040"/>
                </a:solidFill>
                <a:latin typeface="Calibri"/>
                <a:cs typeface="Calibri"/>
              </a:rPr>
              <a:t>r</a:t>
            </a:r>
            <a:r>
              <a:rPr sz="2400" dirty="0">
                <a:solidFill>
                  <a:srgbClr val="404040"/>
                </a:solidFill>
                <a:latin typeface="Calibri"/>
                <a:cs typeface="Calibri"/>
              </a:rPr>
              <a:t>ally	</a:t>
            </a:r>
            <a:r>
              <a:rPr sz="2400" spc="-5" dirty="0">
                <a:solidFill>
                  <a:srgbClr val="404040"/>
                </a:solidFill>
                <a:latin typeface="Calibri"/>
                <a:cs typeface="Calibri"/>
              </a:rPr>
              <a:t>u</a:t>
            </a:r>
            <a:r>
              <a:rPr sz="2400" spc="-20" dirty="0">
                <a:solidFill>
                  <a:srgbClr val="404040"/>
                </a:solidFill>
                <a:latin typeface="Calibri"/>
                <a:cs typeface="Calibri"/>
              </a:rPr>
              <a:t>s</a:t>
            </a:r>
            <a:r>
              <a:rPr sz="2400" dirty="0">
                <a:solidFill>
                  <a:srgbClr val="404040"/>
                </a:solidFill>
                <a:latin typeface="Calibri"/>
                <a:cs typeface="Calibri"/>
              </a:rPr>
              <a:t>ed	</a:t>
            </a:r>
            <a:r>
              <a:rPr sz="2400" spc="-50" dirty="0">
                <a:solidFill>
                  <a:srgbClr val="404040"/>
                </a:solidFill>
                <a:latin typeface="Calibri"/>
                <a:cs typeface="Calibri"/>
              </a:rPr>
              <a:t>f</a:t>
            </a:r>
            <a:r>
              <a:rPr sz="2400" spc="-5" dirty="0">
                <a:solidFill>
                  <a:srgbClr val="404040"/>
                </a:solidFill>
                <a:latin typeface="Calibri"/>
                <a:cs typeface="Calibri"/>
              </a:rPr>
              <a:t>or  </a:t>
            </a:r>
            <a:r>
              <a:rPr sz="2400" spc="-10" dirty="0">
                <a:solidFill>
                  <a:srgbClr val="404040"/>
                </a:solidFill>
                <a:latin typeface="Calibri"/>
                <a:cs typeface="Calibri"/>
              </a:rPr>
              <a:t>communication</a:t>
            </a:r>
            <a:r>
              <a:rPr sz="2400" spc="-35" dirty="0">
                <a:solidFill>
                  <a:srgbClr val="404040"/>
                </a:solidFill>
                <a:latin typeface="Calibri"/>
                <a:cs typeface="Calibri"/>
              </a:rPr>
              <a:t> </a:t>
            </a:r>
            <a:r>
              <a:rPr sz="2400" spc="-5" dirty="0">
                <a:solidFill>
                  <a:srgbClr val="404040"/>
                </a:solidFill>
                <a:latin typeface="Calibri"/>
                <a:cs typeface="Calibri"/>
              </a:rPr>
              <a:t>between</a:t>
            </a:r>
            <a:r>
              <a:rPr sz="2400" dirty="0">
                <a:solidFill>
                  <a:srgbClr val="404040"/>
                </a:solidFill>
                <a:latin typeface="Calibri"/>
                <a:cs typeface="Calibri"/>
              </a:rPr>
              <a:t> ICs</a:t>
            </a:r>
            <a:r>
              <a:rPr sz="2400" spc="-20" dirty="0">
                <a:solidFill>
                  <a:srgbClr val="404040"/>
                </a:solidFill>
                <a:latin typeface="Calibri"/>
                <a:cs typeface="Calibri"/>
              </a:rPr>
              <a:t> </a:t>
            </a:r>
            <a:r>
              <a:rPr sz="2400" spc="-5" dirty="0">
                <a:solidFill>
                  <a:srgbClr val="404040"/>
                </a:solidFill>
                <a:latin typeface="Calibri"/>
                <a:cs typeface="Calibri"/>
              </a:rPr>
              <a:t>on </a:t>
            </a:r>
            <a:r>
              <a:rPr sz="2400" dirty="0">
                <a:solidFill>
                  <a:srgbClr val="404040"/>
                </a:solidFill>
                <a:latin typeface="Calibri"/>
                <a:cs typeface="Calibri"/>
              </a:rPr>
              <a:t>the </a:t>
            </a:r>
            <a:r>
              <a:rPr sz="2400" spc="-10" dirty="0">
                <a:solidFill>
                  <a:srgbClr val="404040"/>
                </a:solidFill>
                <a:latin typeface="Calibri"/>
                <a:cs typeface="Calibri"/>
              </a:rPr>
              <a:t>board.</a:t>
            </a:r>
            <a:endParaRPr sz="2400">
              <a:latin typeface="Calibri"/>
              <a:cs typeface="Calibri"/>
            </a:endParaRPr>
          </a:p>
          <a:p>
            <a:pPr marL="104139" marR="6350" indent="-92075">
              <a:lnSpc>
                <a:spcPct val="110000"/>
              </a:lnSpc>
              <a:spcBef>
                <a:spcPts val="1200"/>
              </a:spcBef>
              <a:buClr>
                <a:srgbClr val="E38312"/>
              </a:buClr>
              <a:buSzPct val="95833"/>
              <a:buFont typeface="Wingdings"/>
              <a:buChar char=""/>
              <a:tabLst>
                <a:tab pos="353060" algn="l"/>
              </a:tabLst>
            </a:pPr>
            <a:r>
              <a:rPr sz="2400" spc="-15" dirty="0">
                <a:solidFill>
                  <a:srgbClr val="404040"/>
                </a:solidFill>
                <a:latin typeface="Calibri"/>
                <a:cs typeface="Calibri"/>
              </a:rPr>
              <a:t>For</a:t>
            </a:r>
            <a:r>
              <a:rPr sz="2400" spc="340" dirty="0">
                <a:solidFill>
                  <a:srgbClr val="404040"/>
                </a:solidFill>
                <a:latin typeface="Calibri"/>
                <a:cs typeface="Calibri"/>
              </a:rPr>
              <a:t> </a:t>
            </a:r>
            <a:r>
              <a:rPr sz="2400" spc="-15" dirty="0">
                <a:solidFill>
                  <a:srgbClr val="404040"/>
                </a:solidFill>
                <a:latin typeface="Calibri"/>
                <a:cs typeface="Calibri"/>
              </a:rPr>
              <a:t>example,</a:t>
            </a:r>
            <a:r>
              <a:rPr sz="2400" spc="350" dirty="0">
                <a:solidFill>
                  <a:srgbClr val="404040"/>
                </a:solidFill>
                <a:latin typeface="Calibri"/>
                <a:cs typeface="Calibri"/>
              </a:rPr>
              <a:t> </a:t>
            </a:r>
            <a:r>
              <a:rPr sz="2400" dirty="0">
                <a:solidFill>
                  <a:srgbClr val="404040"/>
                </a:solidFill>
                <a:latin typeface="Calibri"/>
                <a:cs typeface="Calibri"/>
              </a:rPr>
              <a:t>an</a:t>
            </a:r>
            <a:r>
              <a:rPr sz="2400" spc="345" dirty="0">
                <a:solidFill>
                  <a:srgbClr val="404040"/>
                </a:solidFill>
                <a:latin typeface="Calibri"/>
                <a:cs typeface="Calibri"/>
              </a:rPr>
              <a:t> </a:t>
            </a:r>
            <a:r>
              <a:rPr sz="2400" spc="-10" dirty="0">
                <a:solidFill>
                  <a:srgbClr val="404040"/>
                </a:solidFill>
                <a:latin typeface="Calibri"/>
                <a:cs typeface="Calibri"/>
              </a:rPr>
              <a:t>MCU</a:t>
            </a:r>
            <a:r>
              <a:rPr sz="2400" spc="335" dirty="0">
                <a:solidFill>
                  <a:srgbClr val="404040"/>
                </a:solidFill>
                <a:latin typeface="Calibri"/>
                <a:cs typeface="Calibri"/>
              </a:rPr>
              <a:t> </a:t>
            </a:r>
            <a:r>
              <a:rPr sz="2400" spc="-15" dirty="0">
                <a:solidFill>
                  <a:srgbClr val="404040"/>
                </a:solidFill>
                <a:latin typeface="Calibri"/>
                <a:cs typeface="Calibri"/>
              </a:rPr>
              <a:t>may</a:t>
            </a:r>
            <a:r>
              <a:rPr sz="2400" spc="340" dirty="0">
                <a:solidFill>
                  <a:srgbClr val="404040"/>
                </a:solidFill>
                <a:latin typeface="Calibri"/>
                <a:cs typeface="Calibri"/>
              </a:rPr>
              <a:t> </a:t>
            </a:r>
            <a:r>
              <a:rPr sz="2400" spc="-15" dirty="0">
                <a:solidFill>
                  <a:srgbClr val="404040"/>
                </a:solidFill>
                <a:latin typeface="Calibri"/>
                <a:cs typeface="Calibri"/>
              </a:rPr>
              <a:t>communicate</a:t>
            </a:r>
            <a:r>
              <a:rPr sz="2400" spc="345" dirty="0">
                <a:solidFill>
                  <a:srgbClr val="404040"/>
                </a:solidFill>
                <a:latin typeface="Calibri"/>
                <a:cs typeface="Calibri"/>
              </a:rPr>
              <a:t> </a:t>
            </a:r>
            <a:r>
              <a:rPr sz="2400" spc="-10" dirty="0">
                <a:solidFill>
                  <a:srgbClr val="404040"/>
                </a:solidFill>
                <a:latin typeface="Calibri"/>
                <a:cs typeface="Calibri"/>
              </a:rPr>
              <a:t>with</a:t>
            </a:r>
            <a:r>
              <a:rPr sz="2400" spc="345" dirty="0">
                <a:solidFill>
                  <a:srgbClr val="404040"/>
                </a:solidFill>
                <a:latin typeface="Calibri"/>
                <a:cs typeface="Calibri"/>
              </a:rPr>
              <a:t> </a:t>
            </a:r>
            <a:r>
              <a:rPr sz="2400" spc="-5" dirty="0">
                <a:solidFill>
                  <a:srgbClr val="404040"/>
                </a:solidFill>
                <a:latin typeface="Calibri"/>
                <a:cs typeface="Calibri"/>
              </a:rPr>
              <a:t>other</a:t>
            </a:r>
            <a:r>
              <a:rPr sz="2400" spc="350" dirty="0">
                <a:solidFill>
                  <a:srgbClr val="404040"/>
                </a:solidFill>
                <a:latin typeface="Calibri"/>
                <a:cs typeface="Calibri"/>
              </a:rPr>
              <a:t> </a:t>
            </a:r>
            <a:r>
              <a:rPr sz="2400" spc="-5" dirty="0">
                <a:solidFill>
                  <a:srgbClr val="404040"/>
                </a:solidFill>
                <a:latin typeface="Calibri"/>
                <a:cs typeface="Calibri"/>
              </a:rPr>
              <a:t>ICs</a:t>
            </a:r>
            <a:r>
              <a:rPr sz="2400" spc="330" dirty="0">
                <a:solidFill>
                  <a:srgbClr val="404040"/>
                </a:solidFill>
                <a:latin typeface="Calibri"/>
                <a:cs typeface="Calibri"/>
              </a:rPr>
              <a:t> </a:t>
            </a:r>
            <a:r>
              <a:rPr sz="2400" spc="-20" dirty="0">
                <a:solidFill>
                  <a:srgbClr val="404040"/>
                </a:solidFill>
                <a:latin typeface="Calibri"/>
                <a:cs typeface="Calibri"/>
              </a:rPr>
              <a:t>like</a:t>
            </a:r>
            <a:r>
              <a:rPr sz="2400" spc="340" dirty="0">
                <a:solidFill>
                  <a:srgbClr val="404040"/>
                </a:solidFill>
                <a:latin typeface="Calibri"/>
                <a:cs typeface="Calibri"/>
              </a:rPr>
              <a:t> </a:t>
            </a:r>
            <a:r>
              <a:rPr sz="2400" dirty="0">
                <a:solidFill>
                  <a:srgbClr val="404040"/>
                </a:solidFill>
                <a:latin typeface="Calibri"/>
                <a:cs typeface="Calibri"/>
              </a:rPr>
              <a:t>a</a:t>
            </a:r>
            <a:r>
              <a:rPr sz="2400" spc="335" dirty="0">
                <a:solidFill>
                  <a:srgbClr val="404040"/>
                </a:solidFill>
                <a:latin typeface="Calibri"/>
                <a:cs typeface="Calibri"/>
              </a:rPr>
              <a:t> </a:t>
            </a:r>
            <a:r>
              <a:rPr sz="2400" spc="-15" dirty="0">
                <a:solidFill>
                  <a:srgbClr val="404040"/>
                </a:solidFill>
                <a:latin typeface="Calibri"/>
                <a:cs typeface="Calibri"/>
              </a:rPr>
              <a:t>temperature </a:t>
            </a:r>
            <a:r>
              <a:rPr sz="2400" spc="-525" dirty="0">
                <a:solidFill>
                  <a:srgbClr val="404040"/>
                </a:solidFill>
                <a:latin typeface="Calibri"/>
                <a:cs typeface="Calibri"/>
              </a:rPr>
              <a:t> </a:t>
            </a:r>
            <a:r>
              <a:rPr sz="2400" spc="-35" dirty="0">
                <a:solidFill>
                  <a:srgbClr val="404040"/>
                </a:solidFill>
                <a:latin typeface="Calibri"/>
                <a:cs typeface="Calibri"/>
              </a:rPr>
              <a:t>monitor,</a:t>
            </a:r>
            <a:r>
              <a:rPr sz="2400" spc="-15" dirty="0">
                <a:solidFill>
                  <a:srgbClr val="404040"/>
                </a:solidFill>
                <a:latin typeface="Calibri"/>
                <a:cs typeface="Calibri"/>
              </a:rPr>
              <a:t> </a:t>
            </a:r>
            <a:r>
              <a:rPr sz="2400" spc="-10" dirty="0">
                <a:solidFill>
                  <a:srgbClr val="404040"/>
                </a:solidFill>
                <a:latin typeface="Calibri"/>
                <a:cs typeface="Calibri"/>
              </a:rPr>
              <a:t>EEPROM,</a:t>
            </a:r>
            <a:r>
              <a:rPr sz="2400" spc="-15" dirty="0">
                <a:solidFill>
                  <a:srgbClr val="404040"/>
                </a:solidFill>
                <a:latin typeface="Calibri"/>
                <a:cs typeface="Calibri"/>
              </a:rPr>
              <a:t> </a:t>
            </a:r>
            <a:r>
              <a:rPr sz="2400" dirty="0">
                <a:solidFill>
                  <a:srgbClr val="404040"/>
                </a:solidFill>
                <a:latin typeface="Calibri"/>
                <a:cs typeface="Calibri"/>
              </a:rPr>
              <a:t>ADC</a:t>
            </a:r>
            <a:r>
              <a:rPr sz="2400" spc="-10" dirty="0">
                <a:solidFill>
                  <a:srgbClr val="404040"/>
                </a:solidFill>
                <a:latin typeface="Calibri"/>
                <a:cs typeface="Calibri"/>
              </a:rPr>
              <a:t> etc,</a:t>
            </a:r>
            <a:r>
              <a:rPr sz="2400" spc="-30" dirty="0">
                <a:solidFill>
                  <a:srgbClr val="404040"/>
                </a:solidFill>
                <a:latin typeface="Calibri"/>
                <a:cs typeface="Calibri"/>
              </a:rPr>
              <a:t> </a:t>
            </a:r>
            <a:r>
              <a:rPr sz="2400" dirty="0">
                <a:solidFill>
                  <a:srgbClr val="404040"/>
                </a:solidFill>
                <a:latin typeface="Calibri"/>
                <a:cs typeface="Calibri"/>
              </a:rPr>
              <a:t>if</a:t>
            </a:r>
            <a:r>
              <a:rPr sz="2400" spc="-5" dirty="0">
                <a:solidFill>
                  <a:srgbClr val="404040"/>
                </a:solidFill>
                <a:latin typeface="Calibri"/>
                <a:cs typeface="Calibri"/>
              </a:rPr>
              <a:t> they</a:t>
            </a:r>
            <a:r>
              <a:rPr sz="2400" spc="-10" dirty="0">
                <a:solidFill>
                  <a:srgbClr val="404040"/>
                </a:solidFill>
                <a:latin typeface="Calibri"/>
                <a:cs typeface="Calibri"/>
              </a:rPr>
              <a:t> </a:t>
            </a:r>
            <a:r>
              <a:rPr sz="2400" dirty="0">
                <a:solidFill>
                  <a:srgbClr val="404040"/>
                </a:solidFill>
                <a:latin typeface="Calibri"/>
                <a:cs typeface="Calibri"/>
              </a:rPr>
              <a:t>also</a:t>
            </a:r>
            <a:r>
              <a:rPr sz="2400" spc="-10" dirty="0">
                <a:solidFill>
                  <a:srgbClr val="404040"/>
                </a:solidFill>
                <a:latin typeface="Calibri"/>
                <a:cs typeface="Calibri"/>
              </a:rPr>
              <a:t> </a:t>
            </a:r>
            <a:r>
              <a:rPr sz="2400" spc="-20" dirty="0">
                <a:solidFill>
                  <a:srgbClr val="404040"/>
                </a:solidFill>
                <a:latin typeface="Calibri"/>
                <a:cs typeface="Calibri"/>
              </a:rPr>
              <a:t>have</a:t>
            </a:r>
            <a:r>
              <a:rPr sz="2400" spc="5" dirty="0">
                <a:solidFill>
                  <a:srgbClr val="404040"/>
                </a:solidFill>
                <a:latin typeface="Calibri"/>
                <a:cs typeface="Calibri"/>
              </a:rPr>
              <a:t> </a:t>
            </a:r>
            <a:r>
              <a:rPr sz="2400" spc="-10" dirty="0">
                <a:solidFill>
                  <a:srgbClr val="404040"/>
                </a:solidFill>
                <a:latin typeface="Calibri"/>
                <a:cs typeface="Calibri"/>
              </a:rPr>
              <a:t>I2C</a:t>
            </a:r>
            <a:r>
              <a:rPr sz="2400" spc="-15" dirty="0">
                <a:solidFill>
                  <a:srgbClr val="404040"/>
                </a:solidFill>
                <a:latin typeface="Calibri"/>
                <a:cs typeface="Calibri"/>
              </a:rPr>
              <a:t> controllers</a:t>
            </a:r>
            <a:r>
              <a:rPr sz="2400" spc="-10" dirty="0">
                <a:solidFill>
                  <a:srgbClr val="404040"/>
                </a:solidFill>
                <a:latin typeface="Calibri"/>
                <a:cs typeface="Calibri"/>
              </a:rPr>
              <a:t> </a:t>
            </a:r>
            <a:r>
              <a:rPr sz="2400" spc="-5" dirty="0">
                <a:solidFill>
                  <a:srgbClr val="404040"/>
                </a:solidFill>
                <a:latin typeface="Calibri"/>
                <a:cs typeface="Calibri"/>
              </a:rPr>
              <a:t>inside.</a:t>
            </a:r>
            <a:endParaRPr sz="2400">
              <a:latin typeface="Calibri"/>
              <a:cs typeface="Calibri"/>
            </a:endParaRPr>
          </a:p>
          <a:p>
            <a:pPr marL="285750" indent="-273685">
              <a:lnSpc>
                <a:spcPct val="100000"/>
              </a:lnSpc>
              <a:spcBef>
                <a:spcPts val="1490"/>
              </a:spcBef>
              <a:buClr>
                <a:srgbClr val="E38312"/>
              </a:buClr>
              <a:buSzPct val="95833"/>
              <a:buFont typeface="Wingdings"/>
              <a:buChar char=""/>
              <a:tabLst>
                <a:tab pos="286385" algn="l"/>
              </a:tabLst>
            </a:pPr>
            <a:r>
              <a:rPr sz="2400" spc="-10" dirty="0">
                <a:solidFill>
                  <a:srgbClr val="404040"/>
                </a:solidFill>
                <a:latin typeface="Calibri"/>
                <a:cs typeface="Calibri"/>
              </a:rPr>
              <a:t>Figure </a:t>
            </a:r>
            <a:r>
              <a:rPr sz="2400" spc="-15" dirty="0">
                <a:solidFill>
                  <a:srgbClr val="404040"/>
                </a:solidFill>
                <a:latin typeface="Calibri"/>
                <a:cs typeface="Calibri"/>
              </a:rPr>
              <a:t>shows</a:t>
            </a:r>
            <a:r>
              <a:rPr sz="2400" dirty="0">
                <a:solidFill>
                  <a:srgbClr val="404040"/>
                </a:solidFill>
                <a:latin typeface="Calibri"/>
                <a:cs typeface="Calibri"/>
              </a:rPr>
              <a:t> the</a:t>
            </a:r>
            <a:r>
              <a:rPr sz="2400" spc="-5" dirty="0">
                <a:solidFill>
                  <a:srgbClr val="404040"/>
                </a:solidFill>
                <a:latin typeface="Calibri"/>
                <a:cs typeface="Calibri"/>
              </a:rPr>
              <a:t> conceptual</a:t>
            </a:r>
            <a:r>
              <a:rPr sz="2400" spc="-35" dirty="0">
                <a:solidFill>
                  <a:srgbClr val="404040"/>
                </a:solidFill>
                <a:latin typeface="Calibri"/>
                <a:cs typeface="Calibri"/>
              </a:rPr>
              <a:t> </a:t>
            </a:r>
            <a:r>
              <a:rPr sz="2400" spc="-5" dirty="0">
                <a:solidFill>
                  <a:srgbClr val="404040"/>
                </a:solidFill>
                <a:latin typeface="Calibri"/>
                <a:cs typeface="Calibri"/>
              </a:rPr>
              <a:t>view</a:t>
            </a:r>
            <a:r>
              <a:rPr sz="2400" spc="-10" dirty="0">
                <a:solidFill>
                  <a:srgbClr val="404040"/>
                </a:solidFill>
                <a:latin typeface="Calibri"/>
                <a:cs typeface="Calibri"/>
              </a:rPr>
              <a:t> </a:t>
            </a:r>
            <a:r>
              <a:rPr sz="2400" spc="-5" dirty="0">
                <a:solidFill>
                  <a:srgbClr val="404040"/>
                </a:solidFill>
                <a:latin typeface="Calibri"/>
                <a:cs typeface="Calibri"/>
              </a:rPr>
              <a:t>of</a:t>
            </a:r>
            <a:r>
              <a:rPr sz="2400" spc="-10" dirty="0">
                <a:solidFill>
                  <a:srgbClr val="404040"/>
                </a:solidFill>
                <a:latin typeface="Calibri"/>
                <a:cs typeface="Calibri"/>
              </a:rPr>
              <a:t> </a:t>
            </a:r>
            <a:r>
              <a:rPr sz="2400" dirty="0">
                <a:solidFill>
                  <a:srgbClr val="404040"/>
                </a:solidFill>
                <a:latin typeface="Calibri"/>
                <a:cs typeface="Calibri"/>
              </a:rPr>
              <a:t>an</a:t>
            </a:r>
            <a:r>
              <a:rPr sz="2400" spc="-10" dirty="0">
                <a:solidFill>
                  <a:srgbClr val="404040"/>
                </a:solidFill>
                <a:latin typeface="Calibri"/>
                <a:cs typeface="Calibri"/>
              </a:rPr>
              <a:t> </a:t>
            </a:r>
            <a:r>
              <a:rPr sz="2400" spc="-5" dirty="0">
                <a:solidFill>
                  <a:srgbClr val="404040"/>
                </a:solidFill>
                <a:latin typeface="Calibri"/>
                <a:cs typeface="Calibri"/>
              </a:rPr>
              <a:t>I2C</a:t>
            </a:r>
            <a:r>
              <a:rPr sz="2400" spc="-15" dirty="0">
                <a:solidFill>
                  <a:srgbClr val="404040"/>
                </a:solidFill>
                <a:latin typeface="Calibri"/>
                <a:cs typeface="Calibri"/>
              </a:rPr>
              <a:t> </a:t>
            </a:r>
            <a:r>
              <a:rPr sz="2400" spc="-5" dirty="0">
                <a:solidFill>
                  <a:srgbClr val="404040"/>
                </a:solidFill>
                <a:latin typeface="Calibri"/>
                <a:cs typeface="Calibri"/>
              </a:rPr>
              <a:t>bus.</a:t>
            </a:r>
            <a:endParaRPr sz="2400">
              <a:latin typeface="Calibri"/>
              <a:cs typeface="Calibri"/>
            </a:endParaRPr>
          </a:p>
          <a:p>
            <a:pPr marL="285750" marR="5080" indent="-273685">
              <a:lnSpc>
                <a:spcPct val="110000"/>
              </a:lnSpc>
              <a:spcBef>
                <a:spcPts val="1200"/>
              </a:spcBef>
              <a:buClr>
                <a:srgbClr val="E38312"/>
              </a:buClr>
              <a:buSzPct val="95833"/>
              <a:buFont typeface="Wingdings"/>
              <a:buChar char=""/>
              <a:tabLst>
                <a:tab pos="286385" algn="l"/>
                <a:tab pos="610235" algn="l"/>
                <a:tab pos="945515" algn="l"/>
                <a:tab pos="1238250" algn="l"/>
                <a:tab pos="2123440" algn="l"/>
                <a:tab pos="3908425" algn="l"/>
                <a:tab pos="5756910" algn="l"/>
                <a:tab pos="6418580" algn="l"/>
                <a:tab pos="7303134" algn="l"/>
                <a:tab pos="7999095" algn="l"/>
                <a:tab pos="8674735" algn="l"/>
                <a:tab pos="9297670" algn="l"/>
              </a:tabLst>
            </a:pPr>
            <a:r>
              <a:rPr sz="2400" spc="-5" dirty="0">
                <a:solidFill>
                  <a:srgbClr val="404040"/>
                </a:solidFill>
                <a:latin typeface="Calibri"/>
                <a:cs typeface="Calibri"/>
              </a:rPr>
              <a:t>I</a:t>
            </a:r>
            <a:r>
              <a:rPr sz="2400" dirty="0">
                <a:solidFill>
                  <a:srgbClr val="404040"/>
                </a:solidFill>
                <a:latin typeface="Calibri"/>
                <a:cs typeface="Calibri"/>
              </a:rPr>
              <a:t>t	is	a	</a:t>
            </a:r>
            <a:r>
              <a:rPr sz="2400" spc="-5" dirty="0">
                <a:solidFill>
                  <a:srgbClr val="404040"/>
                </a:solidFill>
                <a:latin typeface="Calibri"/>
                <a:cs typeface="Calibri"/>
              </a:rPr>
              <a:t>serial</a:t>
            </a:r>
            <a:r>
              <a:rPr sz="2400" dirty="0">
                <a:solidFill>
                  <a:srgbClr val="404040"/>
                </a:solidFill>
                <a:latin typeface="Calibri"/>
                <a:cs typeface="Calibri"/>
              </a:rPr>
              <a:t>,	</a:t>
            </a:r>
            <a:r>
              <a:rPr sz="2400" spc="-55" dirty="0">
                <a:solidFill>
                  <a:srgbClr val="404040"/>
                </a:solidFill>
                <a:latin typeface="Calibri"/>
                <a:cs typeface="Calibri"/>
              </a:rPr>
              <a:t>s</a:t>
            </a:r>
            <a:r>
              <a:rPr sz="2400" dirty="0">
                <a:solidFill>
                  <a:srgbClr val="404040"/>
                </a:solidFill>
                <a:latin typeface="Calibri"/>
                <a:cs typeface="Calibri"/>
              </a:rPr>
              <a:t>y</a:t>
            </a:r>
            <a:r>
              <a:rPr sz="2400" spc="5" dirty="0">
                <a:solidFill>
                  <a:srgbClr val="404040"/>
                </a:solidFill>
                <a:latin typeface="Calibri"/>
                <a:cs typeface="Calibri"/>
              </a:rPr>
              <a:t>n</a:t>
            </a:r>
            <a:r>
              <a:rPr sz="2400" dirty="0">
                <a:solidFill>
                  <a:srgbClr val="404040"/>
                </a:solidFill>
                <a:latin typeface="Calibri"/>
                <a:cs typeface="Calibri"/>
              </a:rPr>
              <a:t>ch</a:t>
            </a:r>
            <a:r>
              <a:rPr sz="2400" spc="-30" dirty="0">
                <a:solidFill>
                  <a:srgbClr val="404040"/>
                </a:solidFill>
                <a:latin typeface="Calibri"/>
                <a:cs typeface="Calibri"/>
              </a:rPr>
              <a:t>r</a:t>
            </a:r>
            <a:r>
              <a:rPr sz="2400" spc="-5" dirty="0">
                <a:solidFill>
                  <a:srgbClr val="404040"/>
                </a:solidFill>
                <a:latin typeface="Calibri"/>
                <a:cs typeface="Calibri"/>
              </a:rPr>
              <a:t>on</a:t>
            </a:r>
            <a:r>
              <a:rPr sz="2400" spc="-15" dirty="0">
                <a:solidFill>
                  <a:srgbClr val="404040"/>
                </a:solidFill>
                <a:latin typeface="Calibri"/>
                <a:cs typeface="Calibri"/>
              </a:rPr>
              <a:t>o</a:t>
            </a:r>
            <a:r>
              <a:rPr sz="2400" spc="-5" dirty="0">
                <a:solidFill>
                  <a:srgbClr val="404040"/>
                </a:solidFill>
                <a:latin typeface="Calibri"/>
                <a:cs typeface="Calibri"/>
              </a:rPr>
              <a:t>us</a:t>
            </a:r>
            <a:r>
              <a:rPr sz="2400" dirty="0">
                <a:solidFill>
                  <a:srgbClr val="404040"/>
                </a:solidFill>
                <a:latin typeface="Calibri"/>
                <a:cs typeface="Calibri"/>
              </a:rPr>
              <a:t>,	</a:t>
            </a:r>
            <a:r>
              <a:rPr sz="2400" spc="-15" dirty="0">
                <a:solidFill>
                  <a:srgbClr val="404040"/>
                </a:solidFill>
                <a:latin typeface="Calibri"/>
                <a:cs typeface="Calibri"/>
              </a:rPr>
              <a:t>b</a:t>
            </a:r>
            <a:r>
              <a:rPr sz="2400" spc="15" dirty="0">
                <a:solidFill>
                  <a:srgbClr val="404040"/>
                </a:solidFill>
                <a:latin typeface="Calibri"/>
                <a:cs typeface="Calibri"/>
              </a:rPr>
              <a:t>y</a:t>
            </a:r>
            <a:r>
              <a:rPr sz="2400" spc="-25" dirty="0">
                <a:solidFill>
                  <a:srgbClr val="404040"/>
                </a:solidFill>
                <a:latin typeface="Calibri"/>
                <a:cs typeface="Calibri"/>
              </a:rPr>
              <a:t>t</a:t>
            </a:r>
            <a:r>
              <a:rPr sz="2400" spc="5" dirty="0">
                <a:solidFill>
                  <a:srgbClr val="404040"/>
                </a:solidFill>
                <a:latin typeface="Calibri"/>
                <a:cs typeface="Calibri"/>
              </a:rPr>
              <a:t>e</a:t>
            </a:r>
            <a:r>
              <a:rPr sz="2400" spc="-5" dirty="0">
                <a:solidFill>
                  <a:srgbClr val="404040"/>
                </a:solidFill>
                <a:latin typeface="Calibri"/>
                <a:cs typeface="Calibri"/>
              </a:rPr>
              <a:t>-o</a:t>
            </a:r>
            <a:r>
              <a:rPr sz="2400" spc="5" dirty="0">
                <a:solidFill>
                  <a:srgbClr val="404040"/>
                </a:solidFill>
                <a:latin typeface="Calibri"/>
                <a:cs typeface="Calibri"/>
              </a:rPr>
              <a:t>r</a:t>
            </a:r>
            <a:r>
              <a:rPr sz="2400" dirty="0">
                <a:solidFill>
                  <a:srgbClr val="404040"/>
                </a:solidFill>
                <a:latin typeface="Calibri"/>
                <a:cs typeface="Calibri"/>
              </a:rPr>
              <a:t>ie</a:t>
            </a:r>
            <a:r>
              <a:rPr sz="2400" spc="-20" dirty="0">
                <a:solidFill>
                  <a:srgbClr val="404040"/>
                </a:solidFill>
                <a:latin typeface="Calibri"/>
                <a:cs typeface="Calibri"/>
              </a:rPr>
              <a:t>n</a:t>
            </a:r>
            <a:r>
              <a:rPr sz="2400" spc="-25" dirty="0">
                <a:solidFill>
                  <a:srgbClr val="404040"/>
                </a:solidFill>
                <a:latin typeface="Calibri"/>
                <a:cs typeface="Calibri"/>
              </a:rPr>
              <a:t>t</a:t>
            </a:r>
            <a:r>
              <a:rPr sz="2400" dirty="0">
                <a:solidFill>
                  <a:srgbClr val="404040"/>
                </a:solidFill>
                <a:latin typeface="Calibri"/>
                <a:cs typeface="Calibri"/>
              </a:rPr>
              <a:t>ed	</a:t>
            </a:r>
            <a:r>
              <a:rPr sz="2400" spc="-5" dirty="0">
                <a:solidFill>
                  <a:srgbClr val="404040"/>
                </a:solidFill>
                <a:latin typeface="Calibri"/>
                <a:cs typeface="Calibri"/>
              </a:rPr>
              <a:t>bus</a:t>
            </a:r>
            <a:r>
              <a:rPr sz="2400" dirty="0">
                <a:solidFill>
                  <a:srgbClr val="404040"/>
                </a:solidFill>
                <a:latin typeface="Calibri"/>
                <a:cs typeface="Calibri"/>
              </a:rPr>
              <a:t>,	which	</a:t>
            </a:r>
            <a:r>
              <a:rPr sz="2400" spc="-5" dirty="0">
                <a:solidFill>
                  <a:srgbClr val="404040"/>
                </a:solidFill>
                <a:latin typeface="Calibri"/>
                <a:cs typeface="Calibri"/>
              </a:rPr>
              <a:t>use</a:t>
            </a:r>
            <a:r>
              <a:rPr sz="2400" dirty="0">
                <a:solidFill>
                  <a:srgbClr val="404040"/>
                </a:solidFill>
                <a:latin typeface="Calibri"/>
                <a:cs typeface="Calibri"/>
              </a:rPr>
              <a:t>s	</a:t>
            </a:r>
            <a:r>
              <a:rPr sz="2400" spc="-5" dirty="0">
                <a:solidFill>
                  <a:srgbClr val="404040"/>
                </a:solidFill>
                <a:latin typeface="Calibri"/>
                <a:cs typeface="Calibri"/>
              </a:rPr>
              <a:t>onl</a:t>
            </a:r>
            <a:r>
              <a:rPr sz="2400" dirty="0">
                <a:solidFill>
                  <a:srgbClr val="404040"/>
                </a:solidFill>
                <a:latin typeface="Calibri"/>
                <a:cs typeface="Calibri"/>
              </a:rPr>
              <a:t>y	t</a:t>
            </a:r>
            <a:r>
              <a:rPr sz="2400" spc="-25" dirty="0">
                <a:solidFill>
                  <a:srgbClr val="404040"/>
                </a:solidFill>
                <a:latin typeface="Calibri"/>
                <a:cs typeface="Calibri"/>
              </a:rPr>
              <a:t>w</a:t>
            </a:r>
            <a:r>
              <a:rPr sz="2400" dirty="0">
                <a:solidFill>
                  <a:srgbClr val="404040"/>
                </a:solidFill>
                <a:latin typeface="Calibri"/>
                <a:cs typeface="Calibri"/>
              </a:rPr>
              <a:t>o	wi</a:t>
            </a:r>
            <a:r>
              <a:rPr sz="2400" spc="-35" dirty="0">
                <a:solidFill>
                  <a:srgbClr val="404040"/>
                </a:solidFill>
                <a:latin typeface="Calibri"/>
                <a:cs typeface="Calibri"/>
              </a:rPr>
              <a:t>r</a:t>
            </a:r>
            <a:r>
              <a:rPr sz="2400" dirty="0">
                <a:solidFill>
                  <a:srgbClr val="404040"/>
                </a:solidFill>
                <a:latin typeface="Calibri"/>
                <a:cs typeface="Calibri"/>
              </a:rPr>
              <a:t>es  </a:t>
            </a:r>
            <a:r>
              <a:rPr sz="2400" spc="-5" dirty="0">
                <a:solidFill>
                  <a:srgbClr val="404040"/>
                </a:solidFill>
                <a:latin typeface="Calibri"/>
                <a:cs typeface="Calibri"/>
              </a:rPr>
              <a:t>(hence,</a:t>
            </a:r>
            <a:r>
              <a:rPr sz="2400" spc="-10" dirty="0">
                <a:solidFill>
                  <a:srgbClr val="404040"/>
                </a:solidFill>
                <a:latin typeface="Calibri"/>
                <a:cs typeface="Calibri"/>
              </a:rPr>
              <a:t> </a:t>
            </a:r>
            <a:r>
              <a:rPr sz="2400" spc="-5" dirty="0">
                <a:solidFill>
                  <a:srgbClr val="404040"/>
                </a:solidFill>
                <a:latin typeface="Calibri"/>
                <a:cs typeface="Calibri"/>
              </a:rPr>
              <a:t>the</a:t>
            </a:r>
            <a:r>
              <a:rPr sz="2400" dirty="0">
                <a:solidFill>
                  <a:srgbClr val="404040"/>
                </a:solidFill>
                <a:latin typeface="Calibri"/>
                <a:cs typeface="Calibri"/>
              </a:rPr>
              <a:t> </a:t>
            </a:r>
            <a:r>
              <a:rPr sz="2400" spc="-5" dirty="0">
                <a:solidFill>
                  <a:srgbClr val="404040"/>
                </a:solidFill>
                <a:latin typeface="Calibri"/>
                <a:cs typeface="Calibri"/>
              </a:rPr>
              <a:t>name</a:t>
            </a:r>
            <a:r>
              <a:rPr sz="2400" spc="-10" dirty="0">
                <a:solidFill>
                  <a:srgbClr val="404040"/>
                </a:solidFill>
                <a:latin typeface="Calibri"/>
                <a:cs typeface="Calibri"/>
              </a:rPr>
              <a:t> </a:t>
            </a:r>
            <a:r>
              <a:rPr sz="2400" spc="-35" dirty="0">
                <a:solidFill>
                  <a:srgbClr val="404040"/>
                </a:solidFill>
                <a:latin typeface="Calibri"/>
                <a:cs typeface="Calibri"/>
              </a:rPr>
              <a:t>`Two</a:t>
            </a:r>
            <a:r>
              <a:rPr sz="2400" dirty="0">
                <a:solidFill>
                  <a:srgbClr val="404040"/>
                </a:solidFill>
                <a:latin typeface="Calibri"/>
                <a:cs typeface="Calibri"/>
              </a:rPr>
              <a:t> </a:t>
            </a:r>
            <a:r>
              <a:rPr sz="2400" spc="-10" dirty="0">
                <a:solidFill>
                  <a:srgbClr val="404040"/>
                </a:solidFill>
                <a:latin typeface="Calibri"/>
                <a:cs typeface="Calibri"/>
              </a:rPr>
              <a:t>wire </a:t>
            </a:r>
            <a:r>
              <a:rPr sz="2400" spc="-15" dirty="0">
                <a:solidFill>
                  <a:srgbClr val="404040"/>
                </a:solidFill>
                <a:latin typeface="Calibri"/>
                <a:cs typeface="Calibri"/>
              </a:rPr>
              <a:t>Protocol').</a:t>
            </a:r>
            <a:endParaRPr sz="2400">
              <a:latin typeface="Calibri"/>
              <a:cs typeface="Calibri"/>
            </a:endParaRPr>
          </a:p>
          <a:p>
            <a:pPr marL="285750" marR="6350" indent="-273685">
              <a:lnSpc>
                <a:spcPct val="110000"/>
              </a:lnSpc>
              <a:spcBef>
                <a:spcPts val="1200"/>
              </a:spcBef>
              <a:buClr>
                <a:srgbClr val="E38312"/>
              </a:buClr>
              <a:buSzPct val="95833"/>
              <a:buFont typeface="Wingdings"/>
              <a:buChar char=""/>
              <a:tabLst>
                <a:tab pos="286385" algn="l"/>
              </a:tabLst>
            </a:pPr>
            <a:r>
              <a:rPr sz="2400" spc="-5" dirty="0">
                <a:solidFill>
                  <a:srgbClr val="404040"/>
                </a:solidFill>
                <a:latin typeface="Calibri"/>
                <a:cs typeface="Calibri"/>
              </a:rPr>
              <a:t>The</a:t>
            </a:r>
            <a:r>
              <a:rPr sz="2400" spc="55" dirty="0">
                <a:solidFill>
                  <a:srgbClr val="404040"/>
                </a:solidFill>
                <a:latin typeface="Calibri"/>
                <a:cs typeface="Calibri"/>
              </a:rPr>
              <a:t> </a:t>
            </a:r>
            <a:r>
              <a:rPr sz="2400" spc="-10" dirty="0">
                <a:solidFill>
                  <a:srgbClr val="404040"/>
                </a:solidFill>
                <a:latin typeface="Calibri"/>
                <a:cs typeface="Calibri"/>
              </a:rPr>
              <a:t>operation</a:t>
            </a:r>
            <a:r>
              <a:rPr sz="2400" spc="55" dirty="0">
                <a:solidFill>
                  <a:srgbClr val="404040"/>
                </a:solidFill>
                <a:latin typeface="Calibri"/>
                <a:cs typeface="Calibri"/>
              </a:rPr>
              <a:t> </a:t>
            </a:r>
            <a:r>
              <a:rPr sz="2400" dirty="0">
                <a:solidFill>
                  <a:srgbClr val="404040"/>
                </a:solidFill>
                <a:latin typeface="Calibri"/>
                <a:cs typeface="Calibri"/>
              </a:rPr>
              <a:t>is</a:t>
            </a:r>
            <a:r>
              <a:rPr sz="2400" spc="50" dirty="0">
                <a:solidFill>
                  <a:srgbClr val="404040"/>
                </a:solidFill>
                <a:latin typeface="Calibri"/>
                <a:cs typeface="Calibri"/>
              </a:rPr>
              <a:t> </a:t>
            </a:r>
            <a:r>
              <a:rPr sz="2400" dirty="0">
                <a:solidFill>
                  <a:srgbClr val="404040"/>
                </a:solidFill>
                <a:latin typeface="Calibri"/>
                <a:cs typeface="Calibri"/>
              </a:rPr>
              <a:t>timed</a:t>
            </a:r>
            <a:r>
              <a:rPr sz="2400" spc="40" dirty="0">
                <a:solidFill>
                  <a:srgbClr val="404040"/>
                </a:solidFill>
                <a:latin typeface="Calibri"/>
                <a:cs typeface="Calibri"/>
              </a:rPr>
              <a:t> </a:t>
            </a:r>
            <a:r>
              <a:rPr sz="2400" spc="-10" dirty="0">
                <a:solidFill>
                  <a:srgbClr val="404040"/>
                </a:solidFill>
                <a:latin typeface="Calibri"/>
                <a:cs typeface="Calibri"/>
              </a:rPr>
              <a:t>by</a:t>
            </a:r>
            <a:r>
              <a:rPr sz="2400" spc="60" dirty="0">
                <a:solidFill>
                  <a:srgbClr val="404040"/>
                </a:solidFill>
                <a:latin typeface="Calibri"/>
                <a:cs typeface="Calibri"/>
              </a:rPr>
              <a:t> </a:t>
            </a:r>
            <a:r>
              <a:rPr sz="2400" dirty="0">
                <a:solidFill>
                  <a:srgbClr val="404040"/>
                </a:solidFill>
                <a:latin typeface="Calibri"/>
                <a:cs typeface="Calibri"/>
              </a:rPr>
              <a:t>a</a:t>
            </a:r>
            <a:r>
              <a:rPr sz="2400" spc="45" dirty="0">
                <a:solidFill>
                  <a:srgbClr val="404040"/>
                </a:solidFill>
                <a:latin typeface="Calibri"/>
                <a:cs typeface="Calibri"/>
              </a:rPr>
              <a:t> </a:t>
            </a:r>
            <a:r>
              <a:rPr sz="2400" spc="-5" dirty="0">
                <a:solidFill>
                  <a:srgbClr val="404040"/>
                </a:solidFill>
                <a:latin typeface="Calibri"/>
                <a:cs typeface="Calibri"/>
              </a:rPr>
              <a:t>clock,</a:t>
            </a:r>
            <a:r>
              <a:rPr sz="2400" spc="55" dirty="0">
                <a:solidFill>
                  <a:srgbClr val="404040"/>
                </a:solidFill>
                <a:latin typeface="Calibri"/>
                <a:cs typeface="Calibri"/>
              </a:rPr>
              <a:t> </a:t>
            </a:r>
            <a:r>
              <a:rPr sz="2400" spc="-20" dirty="0">
                <a:solidFill>
                  <a:srgbClr val="404040"/>
                </a:solidFill>
                <a:latin typeface="Calibri"/>
                <a:cs typeface="Calibri"/>
              </a:rPr>
              <a:t>data</a:t>
            </a:r>
            <a:r>
              <a:rPr sz="2400" spc="45" dirty="0">
                <a:solidFill>
                  <a:srgbClr val="404040"/>
                </a:solidFill>
                <a:latin typeface="Calibri"/>
                <a:cs typeface="Calibri"/>
              </a:rPr>
              <a:t> </a:t>
            </a:r>
            <a:r>
              <a:rPr sz="2400" dirty="0">
                <a:solidFill>
                  <a:srgbClr val="404040"/>
                </a:solidFill>
                <a:latin typeface="Calibri"/>
                <a:cs typeface="Calibri"/>
              </a:rPr>
              <a:t>is</a:t>
            </a:r>
            <a:r>
              <a:rPr sz="2400" spc="50" dirty="0">
                <a:solidFill>
                  <a:srgbClr val="404040"/>
                </a:solidFill>
                <a:latin typeface="Calibri"/>
                <a:cs typeface="Calibri"/>
              </a:rPr>
              <a:t> </a:t>
            </a:r>
            <a:r>
              <a:rPr sz="2400" spc="-10" dirty="0">
                <a:solidFill>
                  <a:srgbClr val="404040"/>
                </a:solidFill>
                <a:latin typeface="Calibri"/>
                <a:cs typeface="Calibri"/>
              </a:rPr>
              <a:t>sent/received</a:t>
            </a:r>
            <a:r>
              <a:rPr sz="2400" spc="65" dirty="0">
                <a:solidFill>
                  <a:srgbClr val="404040"/>
                </a:solidFill>
                <a:latin typeface="Calibri"/>
                <a:cs typeface="Calibri"/>
              </a:rPr>
              <a:t> </a:t>
            </a:r>
            <a:r>
              <a:rPr sz="2400" spc="-5" dirty="0">
                <a:solidFill>
                  <a:srgbClr val="404040"/>
                </a:solidFill>
                <a:latin typeface="Calibri"/>
                <a:cs typeface="Calibri"/>
              </a:rPr>
              <a:t>serially</a:t>
            </a:r>
            <a:r>
              <a:rPr sz="2400" spc="70" dirty="0">
                <a:solidFill>
                  <a:srgbClr val="404040"/>
                </a:solidFill>
                <a:latin typeface="Calibri"/>
                <a:cs typeface="Calibri"/>
              </a:rPr>
              <a:t> </a:t>
            </a:r>
            <a:r>
              <a:rPr sz="2400" dirty="0">
                <a:solidFill>
                  <a:srgbClr val="404040"/>
                </a:solidFill>
                <a:latin typeface="Calibri"/>
                <a:cs typeface="Calibri"/>
              </a:rPr>
              <a:t>and</a:t>
            </a:r>
            <a:r>
              <a:rPr sz="2400" spc="45" dirty="0">
                <a:solidFill>
                  <a:srgbClr val="404040"/>
                </a:solidFill>
                <a:latin typeface="Calibri"/>
                <a:cs typeface="Calibri"/>
              </a:rPr>
              <a:t> </a:t>
            </a:r>
            <a:r>
              <a:rPr sz="2400" spc="-10" dirty="0">
                <a:solidFill>
                  <a:srgbClr val="404040"/>
                </a:solidFill>
                <a:latin typeface="Calibri"/>
                <a:cs typeface="Calibri"/>
              </a:rPr>
              <a:t>after</a:t>
            </a:r>
            <a:r>
              <a:rPr sz="2400" spc="50" dirty="0">
                <a:solidFill>
                  <a:srgbClr val="404040"/>
                </a:solidFill>
                <a:latin typeface="Calibri"/>
                <a:cs typeface="Calibri"/>
              </a:rPr>
              <a:t> </a:t>
            </a:r>
            <a:r>
              <a:rPr sz="2400" dirty="0">
                <a:solidFill>
                  <a:srgbClr val="404040"/>
                </a:solidFill>
                <a:latin typeface="Calibri"/>
                <a:cs typeface="Calibri"/>
              </a:rPr>
              <a:t>each </a:t>
            </a:r>
            <a:r>
              <a:rPr sz="2400" spc="-530" dirty="0">
                <a:solidFill>
                  <a:srgbClr val="404040"/>
                </a:solidFill>
                <a:latin typeface="Calibri"/>
                <a:cs typeface="Calibri"/>
              </a:rPr>
              <a:t> </a:t>
            </a:r>
            <a:r>
              <a:rPr sz="2400" spc="-10" dirty="0">
                <a:solidFill>
                  <a:srgbClr val="404040"/>
                </a:solidFill>
                <a:latin typeface="Calibri"/>
                <a:cs typeface="Calibri"/>
              </a:rPr>
              <a:t>byte</a:t>
            </a:r>
            <a:r>
              <a:rPr sz="2400" spc="-1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received,</a:t>
            </a:r>
            <a:r>
              <a:rPr sz="2400" dirty="0">
                <a:solidFill>
                  <a:srgbClr val="404040"/>
                </a:solidFill>
                <a:latin typeface="Calibri"/>
                <a:cs typeface="Calibri"/>
              </a:rPr>
              <a:t> </a:t>
            </a:r>
            <a:r>
              <a:rPr sz="2400" spc="-10" dirty="0">
                <a:solidFill>
                  <a:srgbClr val="404040"/>
                </a:solidFill>
                <a:latin typeface="Calibri"/>
                <a:cs typeface="Calibri"/>
              </a:rPr>
              <a:t>there</a:t>
            </a:r>
            <a:r>
              <a:rPr sz="2400" spc="-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dirty="0">
                <a:solidFill>
                  <a:srgbClr val="404040"/>
                </a:solidFill>
                <a:latin typeface="Calibri"/>
                <a:cs typeface="Calibri"/>
              </a:rPr>
              <a:t>an</a:t>
            </a:r>
            <a:r>
              <a:rPr sz="2400" spc="-20" dirty="0">
                <a:solidFill>
                  <a:srgbClr val="404040"/>
                </a:solidFill>
                <a:latin typeface="Calibri"/>
                <a:cs typeface="Calibri"/>
              </a:rPr>
              <a:t> </a:t>
            </a:r>
            <a:r>
              <a:rPr sz="2400" spc="-5" dirty="0">
                <a:solidFill>
                  <a:srgbClr val="404040"/>
                </a:solidFill>
                <a:latin typeface="Calibri"/>
                <a:cs typeface="Calibri"/>
              </a:rPr>
              <a:t>indication</a:t>
            </a:r>
            <a:r>
              <a:rPr sz="2400" spc="-15" dirty="0">
                <a:solidFill>
                  <a:srgbClr val="404040"/>
                </a:solidFill>
                <a:latin typeface="Calibri"/>
                <a:cs typeface="Calibri"/>
              </a:rPr>
              <a:t> to</a:t>
            </a:r>
            <a:r>
              <a:rPr sz="2400" spc="-10" dirty="0">
                <a:solidFill>
                  <a:srgbClr val="404040"/>
                </a:solidFill>
                <a:latin typeface="Calibri"/>
                <a:cs typeface="Calibri"/>
              </a:rPr>
              <a:t> that</a:t>
            </a:r>
            <a:r>
              <a:rPr sz="2400" spc="-20" dirty="0">
                <a:solidFill>
                  <a:srgbClr val="404040"/>
                </a:solidFill>
                <a:latin typeface="Calibri"/>
                <a:cs typeface="Calibri"/>
              </a:rPr>
              <a:t> </a:t>
            </a:r>
            <a:r>
              <a:rPr sz="2400" spc="-15" dirty="0">
                <a:solidFill>
                  <a:srgbClr val="404040"/>
                </a:solidFill>
                <a:latin typeface="Calibri"/>
                <a:cs typeface="Calibri"/>
              </a:rPr>
              <a:t>effect.</a:t>
            </a:r>
            <a:endParaRPr sz="24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37</a:t>
            </a:r>
            <a:endParaRPr sz="1050">
              <a:latin typeface="Calibri"/>
              <a:cs typeface="Calibri"/>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222959" y="5028946"/>
            <a:ext cx="9721850" cy="1062990"/>
          </a:xfrm>
          <a:prstGeom prst="rect">
            <a:avLst/>
          </a:prstGeom>
        </p:spPr>
        <p:txBody>
          <a:bodyPr vert="horz" wrap="square" lIns="0" tIns="74295" rIns="0" bIns="0" rtlCol="0">
            <a:spAutoFit/>
          </a:bodyPr>
          <a:lstStyle/>
          <a:p>
            <a:pPr marL="12700" marR="5080">
              <a:lnSpc>
                <a:spcPct val="80000"/>
              </a:lnSpc>
              <a:spcBef>
                <a:spcPts val="585"/>
              </a:spcBef>
            </a:pPr>
            <a:r>
              <a:rPr sz="2000" spc="-5" dirty="0" smtClean="0">
                <a:solidFill>
                  <a:srgbClr val="404040"/>
                </a:solidFill>
                <a:latin typeface="Calibri"/>
                <a:cs typeface="Calibri"/>
              </a:rPr>
              <a:t>Figure </a:t>
            </a:r>
            <a:r>
              <a:rPr sz="2000" dirty="0">
                <a:solidFill>
                  <a:srgbClr val="404040"/>
                </a:solidFill>
                <a:latin typeface="Calibri"/>
                <a:cs typeface="Calibri"/>
              </a:rPr>
              <a:t>2.26</a:t>
            </a:r>
            <a:r>
              <a:rPr sz="2000" spc="-25" dirty="0">
                <a:solidFill>
                  <a:srgbClr val="404040"/>
                </a:solidFill>
                <a:latin typeface="Calibri"/>
                <a:cs typeface="Calibri"/>
              </a:rPr>
              <a:t> </a:t>
            </a:r>
            <a:r>
              <a:rPr sz="2000" spc="-10" dirty="0">
                <a:solidFill>
                  <a:srgbClr val="404040"/>
                </a:solidFill>
                <a:latin typeface="Calibri"/>
                <a:cs typeface="Calibri"/>
              </a:rPr>
              <a:t>shows </a:t>
            </a:r>
            <a:r>
              <a:rPr sz="2000" spc="-5" dirty="0">
                <a:solidFill>
                  <a:srgbClr val="404040"/>
                </a:solidFill>
                <a:latin typeface="Calibri"/>
                <a:cs typeface="Calibri"/>
              </a:rPr>
              <a:t>that</a:t>
            </a:r>
            <a:r>
              <a:rPr sz="2000" spc="15" dirty="0">
                <a:solidFill>
                  <a:srgbClr val="404040"/>
                </a:solidFill>
                <a:latin typeface="Calibri"/>
                <a:cs typeface="Calibri"/>
              </a:rPr>
              <a:t> </a:t>
            </a:r>
            <a:r>
              <a:rPr sz="2000" spc="-5" dirty="0">
                <a:solidFill>
                  <a:srgbClr val="404040"/>
                </a:solidFill>
                <a:latin typeface="Calibri"/>
                <a:cs typeface="Calibri"/>
              </a:rPr>
              <a:t>there</a:t>
            </a:r>
            <a:r>
              <a:rPr sz="2000" spc="5" dirty="0">
                <a:solidFill>
                  <a:srgbClr val="404040"/>
                </a:solidFill>
                <a:latin typeface="Calibri"/>
                <a:cs typeface="Calibri"/>
              </a:rPr>
              <a:t> </a:t>
            </a:r>
            <a:r>
              <a:rPr sz="2000" spc="-10" dirty="0">
                <a:solidFill>
                  <a:srgbClr val="404040"/>
                </a:solidFill>
                <a:latin typeface="Calibri"/>
                <a:cs typeface="Calibri"/>
              </a:rPr>
              <a:t>are</a:t>
            </a:r>
            <a:r>
              <a:rPr sz="2000" spc="5" dirty="0">
                <a:solidFill>
                  <a:srgbClr val="404040"/>
                </a:solidFill>
                <a:latin typeface="Calibri"/>
                <a:cs typeface="Calibri"/>
              </a:rPr>
              <a:t> </a:t>
            </a:r>
            <a:r>
              <a:rPr sz="2000" spc="-5" dirty="0">
                <a:solidFill>
                  <a:srgbClr val="404040"/>
                </a:solidFill>
                <a:latin typeface="Calibri"/>
                <a:cs typeface="Calibri"/>
              </a:rPr>
              <a:t>only</a:t>
            </a:r>
            <a:r>
              <a:rPr sz="2000" spc="-15" dirty="0">
                <a:solidFill>
                  <a:srgbClr val="404040"/>
                </a:solidFill>
                <a:latin typeface="Calibri"/>
                <a:cs typeface="Calibri"/>
              </a:rPr>
              <a:t> </a:t>
            </a:r>
            <a:r>
              <a:rPr sz="2000" spc="-10" dirty="0">
                <a:solidFill>
                  <a:srgbClr val="404040"/>
                </a:solidFill>
                <a:latin typeface="Calibri"/>
                <a:cs typeface="Calibri"/>
              </a:rPr>
              <a:t>two</a:t>
            </a:r>
            <a:r>
              <a:rPr sz="2000" spc="-5" dirty="0">
                <a:solidFill>
                  <a:srgbClr val="404040"/>
                </a:solidFill>
                <a:latin typeface="Calibri"/>
                <a:cs typeface="Calibri"/>
              </a:rPr>
              <a:t> </a:t>
            </a:r>
            <a:r>
              <a:rPr sz="2000" spc="-10" dirty="0">
                <a:solidFill>
                  <a:srgbClr val="404040"/>
                </a:solidFill>
                <a:latin typeface="Calibri"/>
                <a:cs typeface="Calibri"/>
              </a:rPr>
              <a:t>wires</a:t>
            </a:r>
            <a:r>
              <a:rPr sz="2000" spc="15" dirty="0">
                <a:solidFill>
                  <a:srgbClr val="404040"/>
                </a:solidFill>
                <a:latin typeface="Calibri"/>
                <a:cs typeface="Calibri"/>
              </a:rPr>
              <a:t> </a:t>
            </a:r>
            <a:r>
              <a:rPr sz="2000" spc="-20" dirty="0">
                <a:solidFill>
                  <a:srgbClr val="404040"/>
                </a:solidFill>
                <a:latin typeface="Calibri"/>
                <a:cs typeface="Calibri"/>
              </a:rPr>
              <a:t>for </a:t>
            </a:r>
            <a:r>
              <a:rPr sz="2000" spc="-434"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a:t>
            </a:r>
            <a:r>
              <a:rPr sz="2000" dirty="0">
                <a:solidFill>
                  <a:srgbClr val="404040"/>
                </a:solidFill>
                <a:latin typeface="Calibri"/>
                <a:cs typeface="Calibri"/>
              </a:rPr>
              <a:t>bus,</a:t>
            </a:r>
            <a:r>
              <a:rPr sz="2000" spc="-15" dirty="0">
                <a:solidFill>
                  <a:srgbClr val="404040"/>
                </a:solidFill>
                <a:latin typeface="Calibri"/>
                <a:cs typeface="Calibri"/>
              </a:rPr>
              <a:t> </a:t>
            </a:r>
            <a:r>
              <a:rPr sz="2000" spc="-5" dirty="0">
                <a:solidFill>
                  <a:srgbClr val="404040"/>
                </a:solidFill>
                <a:latin typeface="Calibri"/>
                <a:cs typeface="Calibri"/>
              </a:rPr>
              <a:t>namely</a:t>
            </a:r>
            <a:r>
              <a:rPr sz="2000" spc="15" dirty="0">
                <a:solidFill>
                  <a:srgbClr val="404040"/>
                </a:solidFill>
                <a:latin typeface="Calibri"/>
                <a:cs typeface="Calibri"/>
              </a:rPr>
              <a:t> </a:t>
            </a:r>
            <a:r>
              <a:rPr sz="2000" dirty="0">
                <a:solidFill>
                  <a:srgbClr val="404040"/>
                </a:solidFill>
                <a:latin typeface="Calibri"/>
                <a:cs typeface="Calibri"/>
              </a:rPr>
              <a:t>the</a:t>
            </a:r>
            <a:r>
              <a:rPr sz="2000" spc="-5" dirty="0">
                <a:solidFill>
                  <a:srgbClr val="404040"/>
                </a:solidFill>
                <a:latin typeface="Calibri"/>
                <a:cs typeface="Calibri"/>
              </a:rPr>
              <a:t> SCL (serial</a:t>
            </a:r>
            <a:r>
              <a:rPr sz="2000" spc="30" dirty="0">
                <a:solidFill>
                  <a:srgbClr val="404040"/>
                </a:solidFill>
                <a:latin typeface="Calibri"/>
                <a:cs typeface="Calibri"/>
              </a:rPr>
              <a:t> </a:t>
            </a:r>
            <a:r>
              <a:rPr sz="2000" dirty="0">
                <a:solidFill>
                  <a:srgbClr val="404040"/>
                </a:solidFill>
                <a:latin typeface="Calibri"/>
                <a:cs typeface="Calibri"/>
              </a:rPr>
              <a:t>clock)</a:t>
            </a:r>
            <a:r>
              <a:rPr sz="2000" spc="10" dirty="0">
                <a:solidFill>
                  <a:srgbClr val="404040"/>
                </a:solidFill>
                <a:latin typeface="Calibri"/>
                <a:cs typeface="Calibri"/>
              </a:rPr>
              <a:t> </a:t>
            </a:r>
            <a:r>
              <a:rPr sz="2000" dirty="0">
                <a:solidFill>
                  <a:srgbClr val="404040"/>
                </a:solidFill>
                <a:latin typeface="Calibri"/>
                <a:cs typeface="Calibri"/>
              </a:rPr>
              <a:t>and</a:t>
            </a:r>
            <a:r>
              <a:rPr sz="2000" spc="-10" dirty="0">
                <a:solidFill>
                  <a:srgbClr val="404040"/>
                </a:solidFill>
                <a:latin typeface="Calibri"/>
                <a:cs typeface="Calibri"/>
              </a:rPr>
              <a:t> </a:t>
            </a:r>
            <a:r>
              <a:rPr sz="2000" spc="-5" dirty="0">
                <a:solidFill>
                  <a:srgbClr val="404040"/>
                </a:solidFill>
                <a:latin typeface="Calibri"/>
                <a:cs typeface="Calibri"/>
              </a:rPr>
              <a:t>serial</a:t>
            </a:r>
            <a:r>
              <a:rPr sz="2000" spc="30" dirty="0">
                <a:solidFill>
                  <a:srgbClr val="404040"/>
                </a:solidFill>
                <a:latin typeface="Calibri"/>
                <a:cs typeface="Calibri"/>
              </a:rPr>
              <a:t> </a:t>
            </a:r>
            <a:r>
              <a:rPr sz="2000" spc="-15" dirty="0">
                <a:solidFill>
                  <a:srgbClr val="404040"/>
                </a:solidFill>
                <a:latin typeface="Calibri"/>
                <a:cs typeface="Calibri"/>
              </a:rPr>
              <a:t>data</a:t>
            </a:r>
            <a:r>
              <a:rPr sz="2000" spc="5" dirty="0">
                <a:solidFill>
                  <a:srgbClr val="404040"/>
                </a:solidFill>
                <a:latin typeface="Calibri"/>
                <a:cs typeface="Calibri"/>
              </a:rPr>
              <a:t> </a:t>
            </a:r>
            <a:r>
              <a:rPr sz="2000" spc="-5" dirty="0">
                <a:solidFill>
                  <a:srgbClr val="404040"/>
                </a:solidFill>
                <a:latin typeface="Calibri"/>
                <a:cs typeface="Calibri"/>
              </a:rPr>
              <a:t>(SDA).</a:t>
            </a:r>
            <a:r>
              <a:rPr sz="2000" spc="-30" dirty="0">
                <a:solidFill>
                  <a:srgbClr val="404040"/>
                </a:solidFill>
                <a:latin typeface="Calibri"/>
                <a:cs typeface="Calibri"/>
              </a:rPr>
              <a:t> </a:t>
            </a:r>
            <a:r>
              <a:rPr sz="2000" spc="-10" dirty="0">
                <a:solidFill>
                  <a:srgbClr val="404040"/>
                </a:solidFill>
                <a:latin typeface="Calibri"/>
                <a:cs typeface="Calibri"/>
              </a:rPr>
              <a:t>Each</a:t>
            </a:r>
            <a:r>
              <a:rPr sz="2000" dirty="0">
                <a:solidFill>
                  <a:srgbClr val="404040"/>
                </a:solidFill>
                <a:latin typeface="Calibri"/>
                <a:cs typeface="Calibri"/>
              </a:rPr>
              <a:t> </a:t>
            </a:r>
            <a:r>
              <a:rPr sz="2000" spc="-10" dirty="0">
                <a:solidFill>
                  <a:srgbClr val="404040"/>
                </a:solidFill>
                <a:latin typeface="Calibri"/>
                <a:cs typeface="Calibri"/>
              </a:rPr>
              <a:t>wire</a:t>
            </a:r>
            <a:r>
              <a:rPr sz="2000" spc="5" dirty="0">
                <a:solidFill>
                  <a:srgbClr val="404040"/>
                </a:solidFill>
                <a:latin typeface="Calibri"/>
                <a:cs typeface="Calibri"/>
              </a:rPr>
              <a:t> </a:t>
            </a:r>
            <a:r>
              <a:rPr sz="2000" spc="-5" dirty="0">
                <a:solidFill>
                  <a:srgbClr val="404040"/>
                </a:solidFill>
                <a:latin typeface="Calibri"/>
                <a:cs typeface="Calibri"/>
              </a:rPr>
              <a:t>has</a:t>
            </a:r>
            <a:r>
              <a:rPr sz="2000" spc="5" dirty="0">
                <a:solidFill>
                  <a:srgbClr val="404040"/>
                </a:solidFill>
                <a:latin typeface="Calibri"/>
                <a:cs typeface="Calibri"/>
              </a:rPr>
              <a:t> </a:t>
            </a:r>
            <a:r>
              <a:rPr sz="2000" dirty="0">
                <a:solidFill>
                  <a:srgbClr val="404040"/>
                </a:solidFill>
                <a:latin typeface="Calibri"/>
                <a:cs typeface="Calibri"/>
              </a:rPr>
              <a:t>a</a:t>
            </a:r>
            <a:r>
              <a:rPr sz="2000" spc="10" dirty="0">
                <a:solidFill>
                  <a:srgbClr val="404040"/>
                </a:solidFill>
                <a:latin typeface="Calibri"/>
                <a:cs typeface="Calibri"/>
              </a:rPr>
              <a:t> </a:t>
            </a:r>
            <a:r>
              <a:rPr sz="2000" spc="-15" dirty="0">
                <a:solidFill>
                  <a:srgbClr val="404040"/>
                </a:solidFill>
                <a:latin typeface="Calibri"/>
                <a:cs typeface="Calibri"/>
              </a:rPr>
              <a:t>resistor</a:t>
            </a:r>
            <a:r>
              <a:rPr sz="2000" spc="30" dirty="0">
                <a:solidFill>
                  <a:srgbClr val="404040"/>
                </a:solidFill>
                <a:latin typeface="Calibri"/>
                <a:cs typeface="Calibri"/>
              </a:rPr>
              <a:t> </a:t>
            </a:r>
            <a:r>
              <a:rPr sz="2000" spc="-5" dirty="0">
                <a:solidFill>
                  <a:srgbClr val="404040"/>
                </a:solidFill>
                <a:latin typeface="Calibri"/>
                <a:cs typeface="Calibri"/>
              </a:rPr>
              <a:t>connected </a:t>
            </a:r>
            <a:r>
              <a:rPr sz="2000" spc="-440" dirty="0">
                <a:solidFill>
                  <a:srgbClr val="404040"/>
                </a:solidFill>
                <a:latin typeface="Calibri"/>
                <a:cs typeface="Calibri"/>
              </a:rPr>
              <a:t> </a:t>
            </a:r>
            <a:r>
              <a:rPr sz="2000" spc="-10" dirty="0">
                <a:solidFill>
                  <a:srgbClr val="404040"/>
                </a:solidFill>
                <a:latin typeface="Calibri"/>
                <a:cs typeface="Calibri"/>
              </a:rPr>
              <a:t>to </a:t>
            </a:r>
            <a:r>
              <a:rPr sz="2000" dirty="0">
                <a:solidFill>
                  <a:srgbClr val="404040"/>
                </a:solidFill>
                <a:latin typeface="Calibri"/>
                <a:cs typeface="Calibri"/>
              </a:rPr>
              <a:t>the </a:t>
            </a:r>
            <a:r>
              <a:rPr sz="2000" spc="-5" dirty="0">
                <a:solidFill>
                  <a:srgbClr val="404040"/>
                </a:solidFill>
                <a:latin typeface="Calibri"/>
                <a:cs typeface="Calibri"/>
              </a:rPr>
              <a:t>supply </a:t>
            </a:r>
            <a:r>
              <a:rPr sz="2000" spc="-10" dirty="0">
                <a:solidFill>
                  <a:srgbClr val="404040"/>
                </a:solidFill>
                <a:latin typeface="Calibri"/>
                <a:cs typeface="Calibri"/>
              </a:rPr>
              <a:t>voltage. </a:t>
            </a:r>
            <a:r>
              <a:rPr sz="2000" spc="-5" dirty="0">
                <a:solidFill>
                  <a:srgbClr val="404040"/>
                </a:solidFill>
                <a:latin typeface="Calibri"/>
                <a:cs typeface="Calibri"/>
              </a:rPr>
              <a:t>This </a:t>
            </a:r>
            <a:r>
              <a:rPr sz="2000" dirty="0">
                <a:solidFill>
                  <a:srgbClr val="404040"/>
                </a:solidFill>
                <a:latin typeface="Calibri"/>
                <a:cs typeface="Calibri"/>
              </a:rPr>
              <a:t>is a </a:t>
            </a:r>
            <a:r>
              <a:rPr sz="2000" spc="-5" dirty="0">
                <a:solidFill>
                  <a:srgbClr val="404040"/>
                </a:solidFill>
                <a:latin typeface="Calibri"/>
                <a:cs typeface="Calibri"/>
              </a:rPr>
              <a:t>'wired </a:t>
            </a:r>
            <a:r>
              <a:rPr sz="2000" dirty="0">
                <a:solidFill>
                  <a:srgbClr val="404040"/>
                </a:solidFill>
                <a:latin typeface="Calibri"/>
                <a:cs typeface="Calibri"/>
              </a:rPr>
              <a:t>AND </a:t>
            </a:r>
            <a:r>
              <a:rPr sz="2000" spc="-5" dirty="0">
                <a:solidFill>
                  <a:srgbClr val="404040"/>
                </a:solidFill>
                <a:latin typeface="Calibri"/>
                <a:cs typeface="Calibri"/>
              </a:rPr>
              <a:t>connection' </a:t>
            </a:r>
            <a:r>
              <a:rPr sz="2000" spc="-15" dirty="0">
                <a:solidFill>
                  <a:srgbClr val="404040"/>
                </a:solidFill>
                <a:latin typeface="Calibri"/>
                <a:cs typeface="Calibri"/>
              </a:rPr>
              <a:t>for </a:t>
            </a:r>
            <a:r>
              <a:rPr sz="2000" dirty="0">
                <a:solidFill>
                  <a:srgbClr val="404040"/>
                </a:solidFill>
                <a:latin typeface="Calibri"/>
                <a:cs typeface="Calibri"/>
              </a:rPr>
              <a:t>the bus </a:t>
            </a:r>
            <a:r>
              <a:rPr sz="2000" spc="-5" dirty="0">
                <a:solidFill>
                  <a:srgbClr val="404040"/>
                </a:solidFill>
                <a:latin typeface="Calibri"/>
                <a:cs typeface="Calibri"/>
              </a:rPr>
              <a:t>that indicates </a:t>
            </a:r>
            <a:r>
              <a:rPr sz="2000" dirty="0">
                <a:solidFill>
                  <a:srgbClr val="404040"/>
                </a:solidFill>
                <a:latin typeface="Calibri"/>
                <a:cs typeface="Calibri"/>
              </a:rPr>
              <a:t>an </a:t>
            </a:r>
            <a:r>
              <a:rPr sz="2000" spc="-5" dirty="0">
                <a:solidFill>
                  <a:srgbClr val="404040"/>
                </a:solidFill>
                <a:latin typeface="Calibri"/>
                <a:cs typeface="Calibri"/>
              </a:rPr>
              <a:t>open </a:t>
            </a:r>
            <a:r>
              <a:rPr sz="2000" dirty="0">
                <a:solidFill>
                  <a:srgbClr val="404040"/>
                </a:solidFill>
                <a:latin typeface="Calibri"/>
                <a:cs typeface="Calibri"/>
              </a:rPr>
              <a:t> </a:t>
            </a:r>
            <a:r>
              <a:rPr sz="2000" spc="-10" dirty="0">
                <a:solidFill>
                  <a:srgbClr val="404040"/>
                </a:solidFill>
                <a:latin typeface="Calibri"/>
                <a:cs typeface="Calibri"/>
              </a:rPr>
              <a:t>collector</a:t>
            </a:r>
            <a:r>
              <a:rPr sz="2000" dirty="0">
                <a:solidFill>
                  <a:srgbClr val="404040"/>
                </a:solidFill>
                <a:latin typeface="Calibri"/>
                <a:cs typeface="Calibri"/>
              </a:rPr>
              <a:t> </a:t>
            </a:r>
            <a:r>
              <a:rPr sz="2000" spc="-5" dirty="0">
                <a:solidFill>
                  <a:srgbClr val="404040"/>
                </a:solidFill>
                <a:latin typeface="Calibri"/>
                <a:cs typeface="Calibri"/>
              </a:rPr>
              <a:t>or</a:t>
            </a:r>
            <a:r>
              <a:rPr sz="2000" spc="-10" dirty="0">
                <a:solidFill>
                  <a:srgbClr val="404040"/>
                </a:solidFill>
                <a:latin typeface="Calibri"/>
                <a:cs typeface="Calibri"/>
              </a:rPr>
              <a:t> </a:t>
            </a:r>
            <a:r>
              <a:rPr sz="2000" spc="-5" dirty="0">
                <a:solidFill>
                  <a:srgbClr val="404040"/>
                </a:solidFill>
                <a:latin typeface="Calibri"/>
                <a:cs typeface="Calibri"/>
              </a:rPr>
              <a:t>open</a:t>
            </a:r>
            <a:r>
              <a:rPr sz="2000" dirty="0">
                <a:solidFill>
                  <a:srgbClr val="404040"/>
                </a:solidFill>
                <a:latin typeface="Calibri"/>
                <a:cs typeface="Calibri"/>
              </a:rPr>
              <a:t> </a:t>
            </a:r>
            <a:r>
              <a:rPr sz="2000" spc="-10" dirty="0">
                <a:solidFill>
                  <a:srgbClr val="404040"/>
                </a:solidFill>
                <a:latin typeface="Calibri"/>
                <a:cs typeface="Calibri"/>
              </a:rPr>
              <a:t>drain</a:t>
            </a:r>
            <a:r>
              <a:rPr sz="2000" spc="-5" dirty="0">
                <a:solidFill>
                  <a:srgbClr val="404040"/>
                </a:solidFill>
                <a:latin typeface="Calibri"/>
                <a:cs typeface="Calibri"/>
              </a:rPr>
              <a:t> </a:t>
            </a:r>
            <a:r>
              <a:rPr sz="2000" dirty="0">
                <a:solidFill>
                  <a:srgbClr val="404040"/>
                </a:solidFill>
                <a:latin typeface="Calibri"/>
                <a:cs typeface="Calibri"/>
              </a:rPr>
              <a:t>connection</a:t>
            </a:r>
            <a:r>
              <a:rPr sz="2000" spc="-25" dirty="0">
                <a:solidFill>
                  <a:srgbClr val="404040"/>
                </a:solidFill>
                <a:latin typeface="Calibri"/>
                <a:cs typeface="Calibri"/>
              </a:rPr>
              <a:t> </a:t>
            </a:r>
            <a:r>
              <a:rPr sz="2000" spc="-5" dirty="0">
                <a:solidFill>
                  <a:srgbClr val="404040"/>
                </a:solidFill>
                <a:latin typeface="Calibri"/>
                <a:cs typeface="Calibri"/>
              </a:rPr>
              <a:t>depending</a:t>
            </a:r>
            <a:r>
              <a:rPr sz="2000" spc="-10" dirty="0">
                <a:solidFill>
                  <a:srgbClr val="404040"/>
                </a:solidFill>
                <a:latin typeface="Calibri"/>
                <a:cs typeface="Calibri"/>
              </a:rPr>
              <a:t> </a:t>
            </a:r>
            <a:r>
              <a:rPr sz="2000" spc="-5" dirty="0">
                <a:solidFill>
                  <a:srgbClr val="404040"/>
                </a:solidFill>
                <a:latin typeface="Calibri"/>
                <a:cs typeface="Calibri"/>
              </a:rPr>
              <a:t>on</a:t>
            </a:r>
            <a:r>
              <a:rPr sz="2000" spc="-15" dirty="0">
                <a:solidFill>
                  <a:srgbClr val="404040"/>
                </a:solidFill>
                <a:latin typeface="Calibri"/>
                <a:cs typeface="Calibri"/>
              </a:rPr>
              <a:t> </a:t>
            </a:r>
            <a:r>
              <a:rPr sz="2000" spc="-5" dirty="0">
                <a:solidFill>
                  <a:srgbClr val="404040"/>
                </a:solidFill>
                <a:latin typeface="Calibri"/>
                <a:cs typeface="Calibri"/>
              </a:rPr>
              <a:t>whether</a:t>
            </a:r>
            <a:r>
              <a:rPr sz="2000" spc="5" dirty="0">
                <a:solidFill>
                  <a:srgbClr val="404040"/>
                </a:solidFill>
                <a:latin typeface="Calibri"/>
                <a:cs typeface="Calibri"/>
              </a:rPr>
              <a:t> </a:t>
            </a:r>
            <a:r>
              <a:rPr sz="2000" dirty="0">
                <a:solidFill>
                  <a:srgbClr val="404040"/>
                </a:solidFill>
                <a:latin typeface="Calibri"/>
                <a:cs typeface="Calibri"/>
              </a:rPr>
              <a:t>a</a:t>
            </a:r>
            <a:r>
              <a:rPr sz="2000" spc="5" dirty="0">
                <a:solidFill>
                  <a:srgbClr val="404040"/>
                </a:solidFill>
                <a:latin typeface="Calibri"/>
                <a:cs typeface="Calibri"/>
              </a:rPr>
              <a:t> </a:t>
            </a:r>
            <a:r>
              <a:rPr sz="2000" dirty="0">
                <a:solidFill>
                  <a:srgbClr val="404040"/>
                </a:solidFill>
                <a:latin typeface="Calibri"/>
                <a:cs typeface="Calibri"/>
              </a:rPr>
              <a:t>bipolar</a:t>
            </a:r>
            <a:r>
              <a:rPr sz="2000" spc="-5" dirty="0">
                <a:solidFill>
                  <a:srgbClr val="404040"/>
                </a:solidFill>
                <a:latin typeface="Calibri"/>
                <a:cs typeface="Calibri"/>
              </a:rPr>
              <a:t> </a:t>
            </a:r>
            <a:r>
              <a:rPr sz="2000" spc="-10" dirty="0">
                <a:solidFill>
                  <a:srgbClr val="404040"/>
                </a:solidFill>
                <a:latin typeface="Calibri"/>
                <a:cs typeface="Calibri"/>
              </a:rPr>
              <a:t>transistor</a:t>
            </a:r>
            <a:r>
              <a:rPr sz="2000" spc="25" dirty="0">
                <a:solidFill>
                  <a:srgbClr val="404040"/>
                </a:solidFill>
                <a:latin typeface="Calibri"/>
                <a:cs typeface="Calibri"/>
              </a:rPr>
              <a:t> </a:t>
            </a:r>
            <a:r>
              <a:rPr sz="2000" spc="-5" dirty="0">
                <a:solidFill>
                  <a:srgbClr val="404040"/>
                </a:solidFill>
                <a:latin typeface="Calibri"/>
                <a:cs typeface="Calibri"/>
              </a:rPr>
              <a:t>or</a:t>
            </a:r>
            <a:r>
              <a:rPr sz="2000" spc="-10" dirty="0">
                <a:solidFill>
                  <a:srgbClr val="404040"/>
                </a:solidFill>
                <a:latin typeface="Calibri"/>
                <a:cs typeface="Calibri"/>
              </a:rPr>
              <a:t> </a:t>
            </a:r>
            <a:r>
              <a:rPr sz="2000" dirty="0">
                <a:solidFill>
                  <a:srgbClr val="404040"/>
                </a:solidFill>
                <a:latin typeface="Calibri"/>
                <a:cs typeface="Calibri"/>
              </a:rPr>
              <a:t>FET</a:t>
            </a:r>
            <a:r>
              <a:rPr sz="2000" spc="-10" dirty="0">
                <a:solidFill>
                  <a:srgbClr val="404040"/>
                </a:solidFill>
                <a:latin typeface="Calibri"/>
                <a:cs typeface="Calibri"/>
              </a:rPr>
              <a:t> </a:t>
            </a:r>
            <a:r>
              <a:rPr sz="2000"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used.</a:t>
            </a:r>
            <a:endParaRPr sz="2000" dirty="0">
              <a:latin typeface="Calibri"/>
              <a:cs typeface="Calibri"/>
            </a:endParaRPr>
          </a:p>
        </p:txBody>
      </p:sp>
      <p:sp>
        <p:nvSpPr>
          <p:cNvPr id="6" name="object 6"/>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7" name="object 7"/>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8" name="object 8"/>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38</a:t>
            </a:r>
            <a:endParaRPr sz="1050">
              <a:latin typeface="Calibri"/>
              <a:cs typeface="Calibri"/>
            </a:endParaRPr>
          </a:p>
        </p:txBody>
      </p:sp>
      <p:pic>
        <p:nvPicPr>
          <p:cNvPr id="9" name="object 9"/>
          <p:cNvPicPr/>
          <p:nvPr/>
        </p:nvPicPr>
        <p:blipFill>
          <a:blip r:embed="rId2" cstate="print"/>
          <a:stretch>
            <a:fillRect/>
          </a:stretch>
        </p:blipFill>
        <p:spPr>
          <a:xfrm>
            <a:off x="1517396" y="2257139"/>
            <a:ext cx="8679631" cy="2431303"/>
          </a:xfrm>
          <a:prstGeom prst="rect">
            <a:avLst/>
          </a:prstGeom>
        </p:spPr>
      </p:pic>
      <p:sp>
        <p:nvSpPr>
          <p:cNvPr id="10" name="object 10"/>
          <p:cNvSpPr txBox="1">
            <a:spLocks noGrp="1"/>
          </p:cNvSpPr>
          <p:nvPr>
            <p:ph type="title"/>
          </p:nvPr>
        </p:nvSpPr>
        <p:spPr>
          <a:xfrm>
            <a:off x="1180591" y="1179957"/>
            <a:ext cx="9992360" cy="574040"/>
          </a:xfrm>
          <a:prstGeom prst="rect">
            <a:avLst/>
          </a:prstGeom>
        </p:spPr>
        <p:txBody>
          <a:bodyPr vert="horz" wrap="square" lIns="0" tIns="12700" rIns="0" bIns="0" rtlCol="0">
            <a:spAutoFit/>
          </a:bodyPr>
          <a:lstStyle/>
          <a:p>
            <a:pPr marL="12700">
              <a:lnSpc>
                <a:spcPct val="100000"/>
              </a:lnSpc>
              <a:spcBef>
                <a:spcPts val="100"/>
              </a:spcBef>
              <a:tabLst>
                <a:tab pos="499109" algn="l"/>
                <a:tab pos="9979025" algn="l"/>
              </a:tabLst>
            </a:pPr>
            <a:r>
              <a:rPr b="0" u="sng" dirty="0">
                <a:solidFill>
                  <a:srgbClr val="FF0000"/>
                </a:solidFill>
                <a:uFill>
                  <a:solidFill>
                    <a:srgbClr val="7E7E7E"/>
                  </a:solidFill>
                </a:uFill>
                <a:latin typeface="Calibri Light"/>
                <a:cs typeface="Calibri Light"/>
              </a:rPr>
              <a:t> 	</a:t>
            </a:r>
            <a:r>
              <a:rPr b="0" u="sng" spc="-35" dirty="0">
                <a:solidFill>
                  <a:srgbClr val="FF0000"/>
                </a:solidFill>
                <a:uFill>
                  <a:solidFill>
                    <a:srgbClr val="7E7E7E"/>
                  </a:solidFill>
                </a:uFill>
                <a:latin typeface="Calibri Light"/>
                <a:cs typeface="Calibri Light"/>
              </a:rPr>
              <a:t>The</a:t>
            </a:r>
            <a:r>
              <a:rPr b="0" u="sng" spc="-114" dirty="0">
                <a:solidFill>
                  <a:srgbClr val="FF0000"/>
                </a:solidFill>
                <a:uFill>
                  <a:solidFill>
                    <a:srgbClr val="7E7E7E"/>
                  </a:solidFill>
                </a:uFill>
                <a:latin typeface="Calibri Light"/>
                <a:cs typeface="Calibri Light"/>
              </a:rPr>
              <a:t> </a:t>
            </a:r>
            <a:r>
              <a:rPr b="0" u="sng" spc="-35" dirty="0">
                <a:solidFill>
                  <a:srgbClr val="FF0000"/>
                </a:solidFill>
                <a:uFill>
                  <a:solidFill>
                    <a:srgbClr val="7E7E7E"/>
                  </a:solidFill>
                </a:uFill>
                <a:latin typeface="Calibri Light"/>
                <a:cs typeface="Calibri Light"/>
              </a:rPr>
              <a:t>I2C</a:t>
            </a:r>
            <a:r>
              <a:rPr b="0" u="sng" spc="-120" dirty="0">
                <a:solidFill>
                  <a:srgbClr val="FF0000"/>
                </a:solidFill>
                <a:uFill>
                  <a:solidFill>
                    <a:srgbClr val="7E7E7E"/>
                  </a:solidFill>
                </a:uFill>
                <a:latin typeface="Calibri Light"/>
                <a:cs typeface="Calibri Light"/>
              </a:rPr>
              <a:t> </a:t>
            </a:r>
            <a:r>
              <a:rPr b="0" u="sng" spc="-35" dirty="0">
                <a:solidFill>
                  <a:srgbClr val="FF0000"/>
                </a:solidFill>
                <a:uFill>
                  <a:solidFill>
                    <a:srgbClr val="7E7E7E"/>
                  </a:solidFill>
                </a:uFill>
                <a:latin typeface="Calibri Light"/>
                <a:cs typeface="Calibri Light"/>
              </a:rPr>
              <a:t>Bus</a:t>
            </a:r>
            <a:r>
              <a:rPr b="0" u="sng" spc="-114" dirty="0">
                <a:solidFill>
                  <a:srgbClr val="FF0000"/>
                </a:solidFill>
                <a:uFill>
                  <a:solidFill>
                    <a:srgbClr val="7E7E7E"/>
                  </a:solidFill>
                </a:uFill>
                <a:latin typeface="Calibri Light"/>
                <a:cs typeface="Calibri Light"/>
              </a:rPr>
              <a:t> </a:t>
            </a:r>
            <a:r>
              <a:rPr b="0" u="sng" spc="-35" dirty="0">
                <a:solidFill>
                  <a:srgbClr val="FF0000"/>
                </a:solidFill>
                <a:uFill>
                  <a:solidFill>
                    <a:srgbClr val="7E7E7E"/>
                  </a:solidFill>
                </a:uFill>
                <a:latin typeface="Calibri Light"/>
                <a:cs typeface="Calibri Light"/>
              </a:rPr>
              <a:t>with</a:t>
            </a:r>
            <a:r>
              <a:rPr b="0" u="sng" spc="-110" dirty="0">
                <a:solidFill>
                  <a:srgbClr val="FF0000"/>
                </a:solidFill>
                <a:uFill>
                  <a:solidFill>
                    <a:srgbClr val="7E7E7E"/>
                  </a:solidFill>
                </a:uFill>
                <a:latin typeface="Calibri Light"/>
                <a:cs typeface="Calibri Light"/>
              </a:rPr>
              <a:t> </a:t>
            </a:r>
            <a:r>
              <a:rPr b="0" u="sng" spc="-35" dirty="0">
                <a:solidFill>
                  <a:srgbClr val="FF0000"/>
                </a:solidFill>
                <a:uFill>
                  <a:solidFill>
                    <a:srgbClr val="7E7E7E"/>
                  </a:solidFill>
                </a:uFill>
                <a:latin typeface="Calibri Light"/>
                <a:cs typeface="Calibri Light"/>
              </a:rPr>
              <a:t>One</a:t>
            </a:r>
            <a:r>
              <a:rPr b="0" u="sng" spc="-114" dirty="0">
                <a:solidFill>
                  <a:srgbClr val="FF0000"/>
                </a:solidFill>
                <a:uFill>
                  <a:solidFill>
                    <a:srgbClr val="7E7E7E"/>
                  </a:solidFill>
                </a:uFill>
                <a:latin typeface="Calibri Light"/>
                <a:cs typeface="Calibri Light"/>
              </a:rPr>
              <a:t> </a:t>
            </a:r>
            <a:r>
              <a:rPr b="0" u="sng" spc="-60" dirty="0">
                <a:solidFill>
                  <a:srgbClr val="FF0000"/>
                </a:solidFill>
                <a:uFill>
                  <a:solidFill>
                    <a:srgbClr val="7E7E7E"/>
                  </a:solidFill>
                </a:uFill>
                <a:latin typeface="Calibri Light"/>
                <a:cs typeface="Calibri Light"/>
              </a:rPr>
              <a:t>Master</a:t>
            </a:r>
            <a:r>
              <a:rPr b="0" u="sng" spc="-114" dirty="0">
                <a:solidFill>
                  <a:srgbClr val="FF0000"/>
                </a:solidFill>
                <a:uFill>
                  <a:solidFill>
                    <a:srgbClr val="7E7E7E"/>
                  </a:solidFill>
                </a:uFill>
                <a:latin typeface="Calibri Light"/>
                <a:cs typeface="Calibri Light"/>
              </a:rPr>
              <a:t> </a:t>
            </a:r>
            <a:r>
              <a:rPr b="0" u="sng" spc="-35" dirty="0">
                <a:solidFill>
                  <a:srgbClr val="FF0000"/>
                </a:solidFill>
                <a:uFill>
                  <a:solidFill>
                    <a:srgbClr val="7E7E7E"/>
                  </a:solidFill>
                </a:uFill>
                <a:latin typeface="Calibri Light"/>
                <a:cs typeface="Calibri Light"/>
              </a:rPr>
              <a:t>and</a:t>
            </a:r>
            <a:r>
              <a:rPr b="0" u="sng" spc="-85" dirty="0">
                <a:solidFill>
                  <a:srgbClr val="FF0000"/>
                </a:solidFill>
                <a:uFill>
                  <a:solidFill>
                    <a:srgbClr val="7E7E7E"/>
                  </a:solidFill>
                </a:uFill>
                <a:latin typeface="Calibri Light"/>
                <a:cs typeface="Calibri Light"/>
              </a:rPr>
              <a:t> </a:t>
            </a:r>
            <a:r>
              <a:rPr b="0" u="sng" spc="-60" dirty="0">
                <a:solidFill>
                  <a:srgbClr val="FF0000"/>
                </a:solidFill>
                <a:uFill>
                  <a:solidFill>
                    <a:srgbClr val="7E7E7E"/>
                  </a:solidFill>
                </a:uFill>
                <a:latin typeface="Calibri Light"/>
                <a:cs typeface="Calibri Light"/>
              </a:rPr>
              <a:t>Many</a:t>
            </a:r>
            <a:r>
              <a:rPr b="0" u="sng" spc="-105" dirty="0">
                <a:solidFill>
                  <a:srgbClr val="FF0000"/>
                </a:solidFill>
                <a:uFill>
                  <a:solidFill>
                    <a:srgbClr val="7E7E7E"/>
                  </a:solidFill>
                </a:uFill>
                <a:latin typeface="Calibri Light"/>
                <a:cs typeface="Calibri Light"/>
              </a:rPr>
              <a:t> </a:t>
            </a:r>
            <a:r>
              <a:rPr b="0" u="sng" spc="-60" dirty="0">
                <a:solidFill>
                  <a:srgbClr val="FF0000"/>
                </a:solidFill>
                <a:uFill>
                  <a:solidFill>
                    <a:srgbClr val="7E7E7E"/>
                  </a:solidFill>
                </a:uFill>
                <a:latin typeface="Calibri Light"/>
                <a:cs typeface="Calibri Light"/>
              </a:rPr>
              <a:t>Slaves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47368" y="890778"/>
            <a:ext cx="9848215" cy="756920"/>
          </a:xfrm>
          <a:prstGeom prst="rect">
            <a:avLst/>
          </a:prstGeom>
        </p:spPr>
        <p:txBody>
          <a:bodyPr vert="horz" wrap="square" lIns="0" tIns="12700" rIns="0" bIns="0" rtlCol="0">
            <a:spAutoFit/>
          </a:bodyPr>
          <a:lstStyle/>
          <a:p>
            <a:pPr marL="12700">
              <a:lnSpc>
                <a:spcPct val="100000"/>
              </a:lnSpc>
              <a:spcBef>
                <a:spcPts val="100"/>
              </a:spcBef>
            </a:pPr>
            <a:r>
              <a:rPr sz="4800" b="0" spc="-45" dirty="0">
                <a:solidFill>
                  <a:srgbClr val="00AFEF"/>
                </a:solidFill>
                <a:latin typeface="Calibri Light"/>
                <a:cs typeface="Calibri Light"/>
              </a:rPr>
              <a:t>2.14.1.1</a:t>
            </a:r>
            <a:r>
              <a:rPr sz="4800" b="0" spc="-95" dirty="0">
                <a:solidFill>
                  <a:srgbClr val="00AFEF"/>
                </a:solidFill>
                <a:latin typeface="Calibri Light"/>
                <a:cs typeface="Calibri Light"/>
              </a:rPr>
              <a:t> </a:t>
            </a:r>
            <a:r>
              <a:rPr sz="4800" b="0" spc="-35" dirty="0">
                <a:solidFill>
                  <a:srgbClr val="00AFEF"/>
                </a:solidFill>
                <a:latin typeface="Calibri Light"/>
                <a:cs typeface="Calibri Light"/>
              </a:rPr>
              <a:t>Open</a:t>
            </a:r>
            <a:r>
              <a:rPr sz="4800" b="0" spc="-105" dirty="0">
                <a:solidFill>
                  <a:srgbClr val="00AFEF"/>
                </a:solidFill>
                <a:latin typeface="Calibri Light"/>
                <a:cs typeface="Calibri Light"/>
              </a:rPr>
              <a:t> </a:t>
            </a:r>
            <a:r>
              <a:rPr sz="4800" b="0" spc="-70" dirty="0">
                <a:solidFill>
                  <a:srgbClr val="00AFEF"/>
                </a:solidFill>
                <a:latin typeface="Calibri Light"/>
                <a:cs typeface="Calibri Light"/>
              </a:rPr>
              <a:t>drain/collector</a:t>
            </a:r>
            <a:r>
              <a:rPr sz="4800" b="0" spc="-100" dirty="0">
                <a:solidFill>
                  <a:srgbClr val="00AFEF"/>
                </a:solidFill>
                <a:latin typeface="Calibri Light"/>
                <a:cs typeface="Calibri Light"/>
              </a:rPr>
              <a:t> </a:t>
            </a:r>
            <a:r>
              <a:rPr sz="4800" b="0" spc="-55" dirty="0">
                <a:solidFill>
                  <a:srgbClr val="00AFEF"/>
                </a:solidFill>
                <a:latin typeface="Calibri Light"/>
                <a:cs typeface="Calibri Light"/>
              </a:rPr>
              <a:t>connection</a:t>
            </a:r>
            <a:endParaRPr sz="4800">
              <a:latin typeface="Calibri Light"/>
              <a:cs typeface="Calibri Light"/>
            </a:endParaRPr>
          </a:p>
        </p:txBody>
      </p:sp>
      <p:sp>
        <p:nvSpPr>
          <p:cNvPr id="7" name="object 7"/>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8" name="object 8"/>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9" name="object 9"/>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39</a:t>
            </a:r>
            <a:endParaRPr sz="1050">
              <a:latin typeface="Calibri"/>
              <a:cs typeface="Calibri"/>
            </a:endParaRPr>
          </a:p>
        </p:txBody>
      </p:sp>
      <p:sp>
        <p:nvSpPr>
          <p:cNvPr id="10" name="object 10"/>
          <p:cNvSpPr txBox="1"/>
          <p:nvPr/>
        </p:nvSpPr>
        <p:spPr>
          <a:xfrm>
            <a:off x="1084580" y="1822830"/>
            <a:ext cx="10086975" cy="3888104"/>
          </a:xfrm>
          <a:prstGeom prst="rect">
            <a:avLst/>
          </a:prstGeom>
        </p:spPr>
        <p:txBody>
          <a:bodyPr vert="horz" wrap="square" lIns="0" tIns="53975" rIns="0" bIns="0" rtlCol="0">
            <a:spAutoFit/>
          </a:bodyPr>
          <a:lstStyle/>
          <a:p>
            <a:pPr marL="104139" marR="5080" indent="-92075" algn="just">
              <a:lnSpc>
                <a:spcPts val="2590"/>
              </a:lnSpc>
              <a:spcBef>
                <a:spcPts val="425"/>
              </a:spcBef>
              <a:buClr>
                <a:srgbClr val="E38312"/>
              </a:buClr>
              <a:buSzPct val="95833"/>
              <a:buFont typeface="Wingdings"/>
              <a:buChar char=""/>
              <a:tabLst>
                <a:tab pos="285115" algn="l"/>
              </a:tabLst>
            </a:pPr>
            <a:r>
              <a:rPr sz="2400" spc="-5" dirty="0">
                <a:solidFill>
                  <a:srgbClr val="404040"/>
                </a:solidFill>
                <a:latin typeface="Calibri"/>
                <a:cs typeface="Calibri"/>
              </a:rPr>
              <a:t>Open </a:t>
            </a:r>
            <a:r>
              <a:rPr sz="2400" spc="-10" dirty="0">
                <a:solidFill>
                  <a:srgbClr val="404040"/>
                </a:solidFill>
                <a:latin typeface="Calibri"/>
                <a:cs typeface="Calibri"/>
              </a:rPr>
              <a:t>drain/Open collector </a:t>
            </a:r>
            <a:r>
              <a:rPr sz="2400" spc="-25" dirty="0">
                <a:solidFill>
                  <a:srgbClr val="404040"/>
                </a:solidFill>
                <a:latin typeface="Calibri"/>
                <a:cs typeface="Calibri"/>
              </a:rPr>
              <a:t>refers </a:t>
            </a:r>
            <a:r>
              <a:rPr sz="2400" spc="-15" dirty="0">
                <a:solidFill>
                  <a:srgbClr val="404040"/>
                </a:solidFill>
                <a:latin typeface="Calibri"/>
                <a:cs typeface="Calibri"/>
              </a:rPr>
              <a:t>to </a:t>
            </a:r>
            <a:r>
              <a:rPr sz="2400" dirty="0">
                <a:solidFill>
                  <a:srgbClr val="404040"/>
                </a:solidFill>
                <a:latin typeface="Calibri"/>
                <a:cs typeface="Calibri"/>
              </a:rPr>
              <a:t>a type </a:t>
            </a:r>
            <a:r>
              <a:rPr sz="2400" spc="-5" dirty="0">
                <a:solidFill>
                  <a:srgbClr val="404040"/>
                </a:solidFill>
                <a:latin typeface="Calibri"/>
                <a:cs typeface="Calibri"/>
              </a:rPr>
              <a:t>of output which </a:t>
            </a:r>
            <a:r>
              <a:rPr sz="2400" spc="-10" dirty="0">
                <a:solidFill>
                  <a:srgbClr val="404040"/>
                </a:solidFill>
                <a:latin typeface="Calibri"/>
                <a:cs typeface="Calibri"/>
              </a:rPr>
              <a:t>can </a:t>
            </a:r>
            <a:r>
              <a:rPr sz="2400" dirty="0">
                <a:solidFill>
                  <a:srgbClr val="404040"/>
                </a:solidFill>
                <a:latin typeface="Calibri"/>
                <a:cs typeface="Calibri"/>
              </a:rPr>
              <a:t>either </a:t>
            </a:r>
            <a:r>
              <a:rPr sz="2400" spc="-5" dirty="0">
                <a:solidFill>
                  <a:srgbClr val="404040"/>
                </a:solidFill>
                <a:latin typeface="Calibri"/>
                <a:cs typeface="Calibri"/>
              </a:rPr>
              <a:t>pull </a:t>
            </a:r>
            <a:r>
              <a:rPr sz="2400" dirty="0">
                <a:solidFill>
                  <a:srgbClr val="404040"/>
                </a:solidFill>
                <a:latin typeface="Calibri"/>
                <a:cs typeface="Calibri"/>
              </a:rPr>
              <a:t>the </a:t>
            </a:r>
            <a:r>
              <a:rPr sz="2400" spc="5" dirty="0">
                <a:solidFill>
                  <a:srgbClr val="404040"/>
                </a:solidFill>
                <a:latin typeface="Calibri"/>
                <a:cs typeface="Calibri"/>
              </a:rPr>
              <a:t> </a:t>
            </a:r>
            <a:r>
              <a:rPr sz="2400" spc="-5" dirty="0">
                <a:solidFill>
                  <a:srgbClr val="404040"/>
                </a:solidFill>
                <a:latin typeface="Calibri"/>
                <a:cs typeface="Calibri"/>
              </a:rPr>
              <a:t>bus </a:t>
            </a:r>
            <a:r>
              <a:rPr sz="2400" spc="-10" dirty="0">
                <a:solidFill>
                  <a:srgbClr val="404040"/>
                </a:solidFill>
                <a:latin typeface="Calibri"/>
                <a:cs typeface="Calibri"/>
              </a:rPr>
              <a:t>down </a:t>
            </a:r>
            <a:r>
              <a:rPr sz="2400" spc="-15" dirty="0">
                <a:solidFill>
                  <a:srgbClr val="404040"/>
                </a:solidFill>
                <a:latin typeface="Calibri"/>
                <a:cs typeface="Calibri"/>
              </a:rPr>
              <a:t>to </a:t>
            </a:r>
            <a:r>
              <a:rPr sz="2400" spc="-10" dirty="0">
                <a:solidFill>
                  <a:srgbClr val="404040"/>
                </a:solidFill>
                <a:latin typeface="Calibri"/>
                <a:cs typeface="Calibri"/>
              </a:rPr>
              <a:t>(ground, </a:t>
            </a:r>
            <a:r>
              <a:rPr sz="2400" dirty="0">
                <a:solidFill>
                  <a:srgbClr val="404040"/>
                </a:solidFill>
                <a:latin typeface="Calibri"/>
                <a:cs typeface="Calibri"/>
              </a:rPr>
              <a:t>in </a:t>
            </a:r>
            <a:r>
              <a:rPr sz="2400" spc="-10" dirty="0">
                <a:solidFill>
                  <a:srgbClr val="404040"/>
                </a:solidFill>
                <a:latin typeface="Calibri"/>
                <a:cs typeface="Calibri"/>
              </a:rPr>
              <a:t>most </a:t>
            </a:r>
            <a:r>
              <a:rPr sz="2400" spc="-5" dirty="0">
                <a:solidFill>
                  <a:srgbClr val="404040"/>
                </a:solidFill>
                <a:latin typeface="Calibri"/>
                <a:cs typeface="Calibri"/>
              </a:rPr>
              <a:t>cases), or "release" </a:t>
            </a:r>
            <a:r>
              <a:rPr sz="2400" dirty="0">
                <a:solidFill>
                  <a:srgbClr val="404040"/>
                </a:solidFill>
                <a:latin typeface="Calibri"/>
                <a:cs typeface="Calibri"/>
              </a:rPr>
              <a:t>the </a:t>
            </a:r>
            <a:r>
              <a:rPr sz="2400" spc="-5" dirty="0">
                <a:solidFill>
                  <a:srgbClr val="404040"/>
                </a:solidFill>
                <a:latin typeface="Calibri"/>
                <a:cs typeface="Calibri"/>
              </a:rPr>
              <a:t>bus </a:t>
            </a:r>
            <a:r>
              <a:rPr sz="2400" dirty="0">
                <a:solidFill>
                  <a:srgbClr val="404040"/>
                </a:solidFill>
                <a:latin typeface="Calibri"/>
                <a:cs typeface="Calibri"/>
              </a:rPr>
              <a:t>and let it </a:t>
            </a:r>
            <a:r>
              <a:rPr sz="2400" spc="-5" dirty="0">
                <a:solidFill>
                  <a:srgbClr val="404040"/>
                </a:solidFill>
                <a:latin typeface="Calibri"/>
                <a:cs typeface="Calibri"/>
              </a:rPr>
              <a:t>be pulled up </a:t>
            </a:r>
            <a:r>
              <a:rPr sz="2400" dirty="0">
                <a:solidFill>
                  <a:srgbClr val="404040"/>
                </a:solidFill>
                <a:latin typeface="Calibri"/>
                <a:cs typeface="Calibri"/>
              </a:rPr>
              <a:t> </a:t>
            </a:r>
            <a:r>
              <a:rPr sz="2400" spc="-10" dirty="0">
                <a:solidFill>
                  <a:srgbClr val="404040"/>
                </a:solidFill>
                <a:latin typeface="Calibri"/>
                <a:cs typeface="Calibri"/>
              </a:rPr>
              <a:t>by</a:t>
            </a:r>
            <a:r>
              <a:rPr sz="2400" spc="-5" dirty="0">
                <a:solidFill>
                  <a:srgbClr val="404040"/>
                </a:solidFill>
                <a:latin typeface="Calibri"/>
                <a:cs typeface="Calibri"/>
              </a:rPr>
              <a:t> </a:t>
            </a:r>
            <a:r>
              <a:rPr sz="2400" dirty="0">
                <a:solidFill>
                  <a:srgbClr val="404040"/>
                </a:solidFill>
                <a:latin typeface="Calibri"/>
                <a:cs typeface="Calibri"/>
              </a:rPr>
              <a:t>a</a:t>
            </a:r>
            <a:r>
              <a:rPr sz="2400" spc="-15" dirty="0">
                <a:solidFill>
                  <a:srgbClr val="404040"/>
                </a:solidFill>
                <a:latin typeface="Calibri"/>
                <a:cs typeface="Calibri"/>
              </a:rPr>
              <a:t> </a:t>
            </a:r>
            <a:r>
              <a:rPr sz="2400" spc="-5" dirty="0">
                <a:solidFill>
                  <a:srgbClr val="404040"/>
                </a:solidFill>
                <a:latin typeface="Calibri"/>
                <a:cs typeface="Calibri"/>
              </a:rPr>
              <a:t>pull-up</a:t>
            </a:r>
            <a:r>
              <a:rPr sz="2400" spc="5" dirty="0">
                <a:solidFill>
                  <a:srgbClr val="404040"/>
                </a:solidFill>
                <a:latin typeface="Calibri"/>
                <a:cs typeface="Calibri"/>
              </a:rPr>
              <a:t> </a:t>
            </a:r>
            <a:r>
              <a:rPr sz="2400" spc="-40" dirty="0">
                <a:solidFill>
                  <a:srgbClr val="404040"/>
                </a:solidFill>
                <a:latin typeface="Calibri"/>
                <a:cs typeface="Calibri"/>
              </a:rPr>
              <a:t>resistor.</a:t>
            </a:r>
            <a:endParaRPr sz="2400">
              <a:latin typeface="Calibri"/>
              <a:cs typeface="Calibri"/>
            </a:endParaRPr>
          </a:p>
          <a:p>
            <a:pPr marL="104139" marR="8255" indent="-92075" algn="just">
              <a:lnSpc>
                <a:spcPts val="2590"/>
              </a:lnSpc>
              <a:spcBef>
                <a:spcPts val="1415"/>
              </a:spcBef>
              <a:buClr>
                <a:srgbClr val="E38312"/>
              </a:buClr>
              <a:buSzPct val="95833"/>
              <a:buFont typeface="Wingdings"/>
              <a:buChar char=""/>
              <a:tabLst>
                <a:tab pos="285115" algn="l"/>
              </a:tabLst>
            </a:pPr>
            <a:r>
              <a:rPr sz="2400" dirty="0">
                <a:solidFill>
                  <a:srgbClr val="404040"/>
                </a:solidFill>
                <a:latin typeface="Calibri"/>
                <a:cs typeface="Calibri"/>
              </a:rPr>
              <a:t>When the </a:t>
            </a:r>
            <a:r>
              <a:rPr sz="2400" spc="-10" dirty="0">
                <a:solidFill>
                  <a:srgbClr val="404040"/>
                </a:solidFill>
                <a:latin typeface="Calibri"/>
                <a:cs typeface="Calibri"/>
              </a:rPr>
              <a:t>bus </a:t>
            </a:r>
            <a:r>
              <a:rPr sz="2400" dirty="0">
                <a:solidFill>
                  <a:srgbClr val="404040"/>
                </a:solidFill>
                <a:latin typeface="Calibri"/>
                <a:cs typeface="Calibri"/>
              </a:rPr>
              <a:t>is </a:t>
            </a:r>
            <a:r>
              <a:rPr sz="2400" spc="-5" dirty="0">
                <a:solidFill>
                  <a:srgbClr val="404040"/>
                </a:solidFill>
                <a:latin typeface="Calibri"/>
                <a:cs typeface="Calibri"/>
              </a:rPr>
              <a:t>released </a:t>
            </a:r>
            <a:r>
              <a:rPr sz="2400" spc="-10" dirty="0">
                <a:solidFill>
                  <a:srgbClr val="404040"/>
                </a:solidFill>
                <a:latin typeface="Calibri"/>
                <a:cs typeface="Calibri"/>
              </a:rPr>
              <a:t>by </a:t>
            </a:r>
            <a:r>
              <a:rPr sz="2400" dirty="0">
                <a:solidFill>
                  <a:srgbClr val="404040"/>
                </a:solidFill>
                <a:latin typeface="Calibri"/>
                <a:cs typeface="Calibri"/>
              </a:rPr>
              <a:t>the </a:t>
            </a:r>
            <a:r>
              <a:rPr sz="2400" spc="-15" dirty="0">
                <a:solidFill>
                  <a:srgbClr val="404040"/>
                </a:solidFill>
                <a:latin typeface="Calibri"/>
                <a:cs typeface="Calibri"/>
              </a:rPr>
              <a:t>master </a:t>
            </a:r>
            <a:r>
              <a:rPr sz="2400" spc="-5" dirty="0">
                <a:solidFill>
                  <a:srgbClr val="404040"/>
                </a:solidFill>
                <a:latin typeface="Calibri"/>
                <a:cs typeface="Calibri"/>
              </a:rPr>
              <a:t>or </a:t>
            </a:r>
            <a:r>
              <a:rPr sz="2400" dirty="0">
                <a:solidFill>
                  <a:srgbClr val="404040"/>
                </a:solidFill>
                <a:latin typeface="Calibri"/>
                <a:cs typeface="Calibri"/>
              </a:rPr>
              <a:t>a </a:t>
            </a:r>
            <a:r>
              <a:rPr sz="2400" spc="-15" dirty="0">
                <a:solidFill>
                  <a:srgbClr val="404040"/>
                </a:solidFill>
                <a:latin typeface="Calibri"/>
                <a:cs typeface="Calibri"/>
              </a:rPr>
              <a:t>slave, </a:t>
            </a:r>
            <a:r>
              <a:rPr sz="2400" dirty="0">
                <a:solidFill>
                  <a:srgbClr val="404040"/>
                </a:solidFill>
                <a:latin typeface="Calibri"/>
                <a:cs typeface="Calibri"/>
              </a:rPr>
              <a:t>the </a:t>
            </a:r>
            <a:r>
              <a:rPr sz="2400" spc="-5" dirty="0">
                <a:solidFill>
                  <a:srgbClr val="404040"/>
                </a:solidFill>
                <a:latin typeface="Calibri"/>
                <a:cs typeface="Calibri"/>
              </a:rPr>
              <a:t>pull-up </a:t>
            </a:r>
            <a:r>
              <a:rPr sz="2400" spc="-15" dirty="0">
                <a:solidFill>
                  <a:srgbClr val="404040"/>
                </a:solidFill>
                <a:latin typeface="Calibri"/>
                <a:cs typeface="Calibri"/>
              </a:rPr>
              <a:t>resistor </a:t>
            </a:r>
            <a:r>
              <a:rPr sz="2400" spc="-5" dirty="0">
                <a:solidFill>
                  <a:srgbClr val="404040"/>
                </a:solidFill>
                <a:latin typeface="Calibri"/>
                <a:cs typeface="Calibri"/>
              </a:rPr>
              <a:t>(R) </a:t>
            </a:r>
            <a:r>
              <a:rPr sz="2400" spc="-10" dirty="0">
                <a:solidFill>
                  <a:srgbClr val="404040"/>
                </a:solidFill>
                <a:latin typeface="Calibri"/>
                <a:cs typeface="Calibri"/>
              </a:rPr>
              <a:t>on </a:t>
            </a:r>
            <a:r>
              <a:rPr sz="2400" spc="-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dirty="0">
                <a:solidFill>
                  <a:srgbClr val="404040"/>
                </a:solidFill>
                <a:latin typeface="Calibri"/>
                <a:cs typeface="Calibri"/>
              </a:rPr>
              <a:t>line</a:t>
            </a:r>
            <a:r>
              <a:rPr sz="2400" spc="-1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spc="-5" dirty="0">
                <a:solidFill>
                  <a:srgbClr val="404040"/>
                </a:solidFill>
                <a:latin typeface="Calibri"/>
                <a:cs typeface="Calibri"/>
              </a:rPr>
              <a:t>responsible</a:t>
            </a:r>
            <a:r>
              <a:rPr sz="2400" dirty="0">
                <a:solidFill>
                  <a:srgbClr val="404040"/>
                </a:solidFill>
                <a:latin typeface="Calibri"/>
                <a:cs typeface="Calibri"/>
              </a:rPr>
              <a:t> </a:t>
            </a:r>
            <a:r>
              <a:rPr sz="2400" spc="-20" dirty="0">
                <a:solidFill>
                  <a:srgbClr val="404040"/>
                </a:solidFill>
                <a:latin typeface="Calibri"/>
                <a:cs typeface="Calibri"/>
              </a:rPr>
              <a:t>for</a:t>
            </a:r>
            <a:r>
              <a:rPr sz="2400" spc="-5" dirty="0">
                <a:solidFill>
                  <a:srgbClr val="404040"/>
                </a:solidFill>
                <a:latin typeface="Calibri"/>
                <a:cs typeface="Calibri"/>
              </a:rPr>
              <a:t> pulling</a:t>
            </a:r>
            <a:r>
              <a:rPr sz="2400" dirty="0">
                <a:solidFill>
                  <a:srgbClr val="404040"/>
                </a:solidFill>
                <a:latin typeface="Calibri"/>
                <a:cs typeface="Calibri"/>
              </a:rPr>
              <a:t> the</a:t>
            </a:r>
            <a:r>
              <a:rPr sz="2400" spc="-10" dirty="0">
                <a:solidFill>
                  <a:srgbClr val="404040"/>
                </a:solidFill>
                <a:latin typeface="Calibri"/>
                <a:cs typeface="Calibri"/>
              </a:rPr>
              <a:t> </a:t>
            </a:r>
            <a:r>
              <a:rPr sz="2400" dirty="0">
                <a:solidFill>
                  <a:srgbClr val="404040"/>
                </a:solidFill>
                <a:latin typeface="Calibri"/>
                <a:cs typeface="Calibri"/>
              </a:rPr>
              <a:t>bus</a:t>
            </a:r>
            <a:r>
              <a:rPr sz="2400" spc="-5" dirty="0">
                <a:solidFill>
                  <a:srgbClr val="404040"/>
                </a:solidFill>
                <a:latin typeface="Calibri"/>
                <a:cs typeface="Calibri"/>
              </a:rPr>
              <a:t> </a:t>
            </a:r>
            <a:r>
              <a:rPr sz="2400" spc="-15" dirty="0">
                <a:solidFill>
                  <a:srgbClr val="404040"/>
                </a:solidFill>
                <a:latin typeface="Calibri"/>
                <a:cs typeface="Calibri"/>
              </a:rPr>
              <a:t>voltage</a:t>
            </a:r>
            <a:r>
              <a:rPr sz="2400" spc="-5" dirty="0">
                <a:solidFill>
                  <a:srgbClr val="404040"/>
                </a:solidFill>
                <a:latin typeface="Calibri"/>
                <a:cs typeface="Calibri"/>
              </a:rPr>
              <a:t> up </a:t>
            </a:r>
            <a:r>
              <a:rPr sz="2400" spc="-15" dirty="0">
                <a:solidFill>
                  <a:srgbClr val="404040"/>
                </a:solidFill>
                <a:latin typeface="Calibri"/>
                <a:cs typeface="Calibri"/>
              </a:rPr>
              <a:t>to</a:t>
            </a:r>
            <a:r>
              <a:rPr sz="2400" spc="-10"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10" dirty="0">
                <a:solidFill>
                  <a:srgbClr val="404040"/>
                </a:solidFill>
                <a:latin typeface="Calibri"/>
                <a:cs typeface="Calibri"/>
              </a:rPr>
              <a:t>power</a:t>
            </a:r>
            <a:r>
              <a:rPr sz="2400" spc="5" dirty="0">
                <a:solidFill>
                  <a:srgbClr val="404040"/>
                </a:solidFill>
                <a:latin typeface="Calibri"/>
                <a:cs typeface="Calibri"/>
              </a:rPr>
              <a:t> </a:t>
            </a:r>
            <a:r>
              <a:rPr sz="2400" spc="-5" dirty="0">
                <a:solidFill>
                  <a:srgbClr val="404040"/>
                </a:solidFill>
                <a:latin typeface="Calibri"/>
                <a:cs typeface="Calibri"/>
              </a:rPr>
              <a:t>supply</a:t>
            </a:r>
            <a:r>
              <a:rPr sz="2400" dirty="0">
                <a:solidFill>
                  <a:srgbClr val="404040"/>
                </a:solidFill>
                <a:latin typeface="Calibri"/>
                <a:cs typeface="Calibri"/>
              </a:rPr>
              <a:t> </a:t>
            </a:r>
            <a:r>
              <a:rPr sz="2400" spc="-15" dirty="0">
                <a:solidFill>
                  <a:srgbClr val="404040"/>
                </a:solidFill>
                <a:latin typeface="Calibri"/>
                <a:cs typeface="Calibri"/>
              </a:rPr>
              <a:t>voltage.</a:t>
            </a:r>
            <a:endParaRPr sz="2400">
              <a:latin typeface="Calibri"/>
              <a:cs typeface="Calibri"/>
            </a:endParaRPr>
          </a:p>
          <a:p>
            <a:pPr marL="104139" marR="5080" indent="-92075" algn="just">
              <a:lnSpc>
                <a:spcPts val="2590"/>
              </a:lnSpc>
              <a:spcBef>
                <a:spcPts val="1405"/>
              </a:spcBef>
              <a:buClr>
                <a:srgbClr val="E38312"/>
              </a:buClr>
              <a:buSzPct val="95833"/>
              <a:buFont typeface="Wingdings"/>
              <a:buChar char=""/>
              <a:tabLst>
                <a:tab pos="285115" algn="l"/>
              </a:tabLst>
            </a:pPr>
            <a:r>
              <a:rPr sz="2400" spc="-5" dirty="0">
                <a:solidFill>
                  <a:srgbClr val="404040"/>
                </a:solidFill>
                <a:latin typeface="Calibri"/>
                <a:cs typeface="Calibri"/>
              </a:rPr>
              <a:t>The necessity of such </a:t>
            </a:r>
            <a:r>
              <a:rPr sz="2400" dirty="0">
                <a:solidFill>
                  <a:srgbClr val="404040"/>
                </a:solidFill>
                <a:latin typeface="Calibri"/>
                <a:cs typeface="Calibri"/>
              </a:rPr>
              <a:t>a </a:t>
            </a:r>
            <a:r>
              <a:rPr sz="2400" spc="-10" dirty="0">
                <a:solidFill>
                  <a:srgbClr val="404040"/>
                </a:solidFill>
                <a:latin typeface="Calibri"/>
                <a:cs typeface="Calibri"/>
              </a:rPr>
              <a:t>"wired </a:t>
            </a:r>
            <a:r>
              <a:rPr sz="2400" dirty="0">
                <a:solidFill>
                  <a:srgbClr val="404040"/>
                </a:solidFill>
                <a:latin typeface="Calibri"/>
                <a:cs typeface="Calibri"/>
              </a:rPr>
              <a:t>AND" </a:t>
            </a:r>
            <a:r>
              <a:rPr sz="2400" spc="-10" dirty="0">
                <a:solidFill>
                  <a:srgbClr val="404040"/>
                </a:solidFill>
                <a:latin typeface="Calibri"/>
                <a:cs typeface="Calibri"/>
              </a:rPr>
              <a:t>connection is that </a:t>
            </a:r>
            <a:r>
              <a:rPr sz="2400" dirty="0">
                <a:solidFill>
                  <a:srgbClr val="404040"/>
                </a:solidFill>
                <a:latin typeface="Calibri"/>
                <a:cs typeface="Calibri"/>
              </a:rPr>
              <a:t>if </a:t>
            </a:r>
            <a:r>
              <a:rPr sz="2400" spc="-20" dirty="0">
                <a:solidFill>
                  <a:srgbClr val="404040"/>
                </a:solidFill>
                <a:latin typeface="Calibri"/>
                <a:cs typeface="Calibri"/>
              </a:rPr>
              <a:t>any </a:t>
            </a:r>
            <a:r>
              <a:rPr sz="2400" spc="-5" dirty="0">
                <a:solidFill>
                  <a:srgbClr val="404040"/>
                </a:solidFill>
                <a:latin typeface="Calibri"/>
                <a:cs typeface="Calibri"/>
              </a:rPr>
              <a:t>device on </a:t>
            </a:r>
            <a:r>
              <a:rPr sz="2400" dirty="0">
                <a:solidFill>
                  <a:srgbClr val="404040"/>
                </a:solidFill>
                <a:latin typeface="Calibri"/>
                <a:cs typeface="Calibri"/>
              </a:rPr>
              <a:t>the line </a:t>
            </a:r>
            <a:r>
              <a:rPr sz="2400" spc="-530" dirty="0">
                <a:solidFill>
                  <a:srgbClr val="404040"/>
                </a:solidFill>
                <a:latin typeface="Calibri"/>
                <a:cs typeface="Calibri"/>
              </a:rPr>
              <a:t> </a:t>
            </a:r>
            <a:r>
              <a:rPr sz="2400" spc="-10" dirty="0">
                <a:solidFill>
                  <a:srgbClr val="404040"/>
                </a:solidFill>
                <a:latin typeface="Calibri"/>
                <a:cs typeface="Calibri"/>
              </a:rPr>
              <a:t>wants</a:t>
            </a:r>
            <a:r>
              <a:rPr sz="2400" spc="-25" dirty="0">
                <a:solidFill>
                  <a:srgbClr val="404040"/>
                </a:solidFill>
                <a:latin typeface="Calibri"/>
                <a:cs typeface="Calibri"/>
              </a:rPr>
              <a:t> </a:t>
            </a:r>
            <a:r>
              <a:rPr sz="2400" spc="-15" dirty="0">
                <a:solidFill>
                  <a:srgbClr val="404040"/>
                </a:solidFill>
                <a:latin typeface="Calibri"/>
                <a:cs typeface="Calibri"/>
              </a:rPr>
              <a:t>to</a:t>
            </a:r>
            <a:r>
              <a:rPr sz="2400" spc="-10" dirty="0">
                <a:solidFill>
                  <a:srgbClr val="404040"/>
                </a:solidFill>
                <a:latin typeface="Calibri"/>
                <a:cs typeface="Calibri"/>
              </a:rPr>
              <a:t> </a:t>
            </a:r>
            <a:r>
              <a:rPr sz="2400" spc="-15" dirty="0">
                <a:solidFill>
                  <a:srgbClr val="404040"/>
                </a:solidFill>
                <a:latin typeface="Calibri"/>
                <a:cs typeface="Calibri"/>
              </a:rPr>
              <a:t>communicate</a:t>
            </a:r>
            <a:endParaRPr sz="2400">
              <a:latin typeface="Calibri"/>
              <a:cs typeface="Calibri"/>
            </a:endParaRPr>
          </a:p>
          <a:p>
            <a:pPr marL="104139" marR="6350" indent="-92075" algn="just">
              <a:lnSpc>
                <a:spcPts val="2590"/>
              </a:lnSpc>
              <a:spcBef>
                <a:spcPts val="1400"/>
              </a:spcBef>
              <a:buClr>
                <a:srgbClr val="E38312"/>
              </a:buClr>
              <a:buSzPct val="95833"/>
              <a:buFont typeface="Wingdings"/>
              <a:buChar char=""/>
              <a:tabLst>
                <a:tab pos="285115" algn="l"/>
              </a:tabLst>
            </a:pPr>
            <a:r>
              <a:rPr sz="2400" spc="-5" dirty="0">
                <a:solidFill>
                  <a:srgbClr val="404040"/>
                </a:solidFill>
                <a:latin typeface="Calibri"/>
                <a:cs typeface="Calibri"/>
              </a:rPr>
              <a:t>It </a:t>
            </a:r>
            <a:r>
              <a:rPr sz="2400" dirty="0">
                <a:solidFill>
                  <a:srgbClr val="404040"/>
                </a:solidFill>
                <a:latin typeface="Calibri"/>
                <a:cs typeface="Calibri"/>
              </a:rPr>
              <a:t>will </a:t>
            </a:r>
            <a:r>
              <a:rPr sz="2400" spc="-5" dirty="0">
                <a:solidFill>
                  <a:srgbClr val="404040"/>
                </a:solidFill>
                <a:latin typeface="Calibri"/>
                <a:cs typeface="Calibri"/>
              </a:rPr>
              <a:t>pull </a:t>
            </a:r>
            <a:r>
              <a:rPr sz="2400" dirty="0">
                <a:solidFill>
                  <a:srgbClr val="404040"/>
                </a:solidFill>
                <a:latin typeface="Calibri"/>
                <a:cs typeface="Calibri"/>
              </a:rPr>
              <a:t>the line </a:t>
            </a:r>
            <a:r>
              <a:rPr sz="2400" spc="-10" dirty="0">
                <a:solidFill>
                  <a:srgbClr val="404040"/>
                </a:solidFill>
                <a:latin typeface="Calibri"/>
                <a:cs typeface="Calibri"/>
              </a:rPr>
              <a:t>down</a:t>
            </a:r>
            <a:r>
              <a:rPr sz="2400" spc="-5" dirty="0">
                <a:solidFill>
                  <a:srgbClr val="404040"/>
                </a:solidFill>
                <a:latin typeface="Calibri"/>
                <a:cs typeface="Calibri"/>
              </a:rPr>
              <a:t> </a:t>
            </a:r>
            <a:r>
              <a:rPr sz="2400" dirty="0">
                <a:solidFill>
                  <a:srgbClr val="404040"/>
                </a:solidFill>
                <a:latin typeface="Calibri"/>
                <a:cs typeface="Calibri"/>
              </a:rPr>
              <a:t>and </a:t>
            </a:r>
            <a:r>
              <a:rPr sz="2400" spc="-5" dirty="0">
                <a:solidFill>
                  <a:srgbClr val="404040"/>
                </a:solidFill>
                <a:latin typeface="Calibri"/>
                <a:cs typeface="Calibri"/>
              </a:rPr>
              <a:t>no other device </a:t>
            </a:r>
            <a:r>
              <a:rPr sz="2400" spc="-10" dirty="0">
                <a:solidFill>
                  <a:srgbClr val="404040"/>
                </a:solidFill>
                <a:latin typeface="Calibri"/>
                <a:cs typeface="Calibri"/>
              </a:rPr>
              <a:t>can</a:t>
            </a:r>
            <a:r>
              <a:rPr sz="2400" spc="-5" dirty="0">
                <a:solidFill>
                  <a:srgbClr val="404040"/>
                </a:solidFill>
                <a:latin typeface="Calibri"/>
                <a:cs typeface="Calibri"/>
              </a:rPr>
              <a:t> use </a:t>
            </a:r>
            <a:r>
              <a:rPr sz="2400" dirty="0">
                <a:solidFill>
                  <a:srgbClr val="404040"/>
                </a:solidFill>
                <a:latin typeface="Calibri"/>
                <a:cs typeface="Calibri"/>
              </a:rPr>
              <a:t>it, </a:t>
            </a:r>
            <a:r>
              <a:rPr sz="2400" spc="-10" dirty="0">
                <a:solidFill>
                  <a:srgbClr val="404040"/>
                </a:solidFill>
                <a:latin typeface="Calibri"/>
                <a:cs typeface="Calibri"/>
              </a:rPr>
              <a:t>until</a:t>
            </a:r>
            <a:r>
              <a:rPr sz="2400" spc="-5" dirty="0">
                <a:solidFill>
                  <a:srgbClr val="404040"/>
                </a:solidFill>
                <a:latin typeface="Calibri"/>
                <a:cs typeface="Calibri"/>
              </a:rPr>
              <a:t> </a:t>
            </a:r>
            <a:r>
              <a:rPr sz="2400" dirty="0">
                <a:solidFill>
                  <a:srgbClr val="404040"/>
                </a:solidFill>
                <a:latin typeface="Calibri"/>
                <a:cs typeface="Calibri"/>
              </a:rPr>
              <a:t>this </a:t>
            </a:r>
            <a:r>
              <a:rPr sz="2400" spc="-5" dirty="0">
                <a:solidFill>
                  <a:srgbClr val="404040"/>
                </a:solidFill>
                <a:latin typeface="Calibri"/>
                <a:cs typeface="Calibri"/>
              </a:rPr>
              <a:t>device </a:t>
            </a:r>
            <a:r>
              <a:rPr sz="2400" dirty="0">
                <a:solidFill>
                  <a:srgbClr val="404040"/>
                </a:solidFill>
                <a:latin typeface="Calibri"/>
                <a:cs typeface="Calibri"/>
              </a:rPr>
              <a:t> </a:t>
            </a:r>
            <a:r>
              <a:rPr sz="2400" spc="-5" dirty="0">
                <a:solidFill>
                  <a:srgbClr val="404040"/>
                </a:solidFill>
                <a:latin typeface="Calibri"/>
                <a:cs typeface="Calibri"/>
              </a:rPr>
              <a:t>releases </a:t>
            </a:r>
            <a:r>
              <a:rPr sz="2400" dirty="0">
                <a:solidFill>
                  <a:srgbClr val="404040"/>
                </a:solidFill>
                <a:latin typeface="Calibri"/>
                <a:cs typeface="Calibri"/>
              </a:rPr>
              <a:t>the </a:t>
            </a:r>
            <a:r>
              <a:rPr sz="2400" spc="-5" dirty="0">
                <a:solidFill>
                  <a:srgbClr val="404040"/>
                </a:solidFill>
                <a:latin typeface="Calibri"/>
                <a:cs typeface="Calibri"/>
              </a:rPr>
              <a:t>bus. This </a:t>
            </a:r>
            <a:r>
              <a:rPr sz="2400" dirty="0">
                <a:solidFill>
                  <a:srgbClr val="404040"/>
                </a:solidFill>
                <a:latin typeface="Calibri"/>
                <a:cs typeface="Calibri"/>
              </a:rPr>
              <a:t>is an </a:t>
            </a:r>
            <a:r>
              <a:rPr sz="2400" spc="-10" dirty="0">
                <a:solidFill>
                  <a:srgbClr val="404040"/>
                </a:solidFill>
                <a:latin typeface="Calibri"/>
                <a:cs typeface="Calibri"/>
              </a:rPr>
              <a:t>important concept </a:t>
            </a:r>
            <a:r>
              <a:rPr sz="2400" spc="-20" dirty="0">
                <a:solidFill>
                  <a:srgbClr val="404040"/>
                </a:solidFill>
                <a:latin typeface="Calibri"/>
                <a:cs typeface="Calibri"/>
              </a:rPr>
              <a:t>to </a:t>
            </a:r>
            <a:r>
              <a:rPr sz="2400" spc="-15" dirty="0">
                <a:solidFill>
                  <a:srgbClr val="404040"/>
                </a:solidFill>
                <a:latin typeface="Calibri"/>
                <a:cs typeface="Calibri"/>
              </a:rPr>
              <a:t>realize </a:t>
            </a:r>
            <a:r>
              <a:rPr sz="2400" dirty="0">
                <a:solidFill>
                  <a:srgbClr val="404040"/>
                </a:solidFill>
                <a:latin typeface="Calibri"/>
                <a:cs typeface="Calibri"/>
              </a:rPr>
              <a:t>when </a:t>
            </a:r>
            <a:r>
              <a:rPr sz="2400" spc="-5" dirty="0">
                <a:solidFill>
                  <a:srgbClr val="404040"/>
                </a:solidFill>
                <a:latin typeface="Calibri"/>
                <a:cs typeface="Calibri"/>
              </a:rPr>
              <a:t>dealing </a:t>
            </a:r>
            <a:r>
              <a:rPr sz="2400" dirty="0">
                <a:solidFill>
                  <a:srgbClr val="404040"/>
                </a:solidFill>
                <a:latin typeface="Calibri"/>
                <a:cs typeface="Calibri"/>
              </a:rPr>
              <a:t>with </a:t>
            </a:r>
            <a:r>
              <a:rPr sz="2400" spc="-10" dirty="0">
                <a:solidFill>
                  <a:srgbClr val="404040"/>
                </a:solidFill>
                <a:latin typeface="Calibri"/>
                <a:cs typeface="Calibri"/>
              </a:rPr>
              <a:t>I2C </a:t>
            </a:r>
            <a:r>
              <a:rPr sz="2400" spc="-5" dirty="0">
                <a:solidFill>
                  <a:srgbClr val="404040"/>
                </a:solidFill>
                <a:latin typeface="Calibri"/>
                <a:cs typeface="Calibri"/>
              </a:rPr>
              <a:t> devices</a:t>
            </a:r>
            <a:endParaRPr sz="2400">
              <a:latin typeface="Calibri"/>
              <a:cs typeface="Calibri"/>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176324" y="908684"/>
            <a:ext cx="7004684" cy="756920"/>
          </a:xfrm>
          <a:prstGeom prst="rect">
            <a:avLst/>
          </a:prstGeom>
        </p:spPr>
        <p:txBody>
          <a:bodyPr vert="horz" wrap="square" lIns="0" tIns="12700" rIns="0" bIns="0" rtlCol="0">
            <a:spAutoFit/>
          </a:bodyPr>
          <a:lstStyle/>
          <a:p>
            <a:pPr marL="12700">
              <a:lnSpc>
                <a:spcPct val="100000"/>
              </a:lnSpc>
              <a:spcBef>
                <a:spcPts val="100"/>
              </a:spcBef>
            </a:pPr>
            <a:r>
              <a:rPr sz="4800" b="0" spc="-45" dirty="0">
                <a:solidFill>
                  <a:srgbClr val="00AFEF"/>
                </a:solidFill>
                <a:latin typeface="Calibri Light"/>
                <a:cs typeface="Calibri Light"/>
              </a:rPr>
              <a:t>2.14.1.2</a:t>
            </a:r>
            <a:r>
              <a:rPr sz="4800" b="0" spc="-114" dirty="0">
                <a:solidFill>
                  <a:srgbClr val="00AFEF"/>
                </a:solidFill>
                <a:latin typeface="Calibri Light"/>
                <a:cs typeface="Calibri Light"/>
              </a:rPr>
              <a:t> </a:t>
            </a:r>
            <a:r>
              <a:rPr sz="4800" b="0" spc="-55" dirty="0">
                <a:solidFill>
                  <a:srgbClr val="00AFEF"/>
                </a:solidFill>
                <a:latin typeface="Calibri Light"/>
                <a:cs typeface="Calibri Light"/>
              </a:rPr>
              <a:t>Steps</a:t>
            </a:r>
            <a:r>
              <a:rPr sz="4800" b="0" spc="-110" dirty="0">
                <a:solidFill>
                  <a:srgbClr val="00AFEF"/>
                </a:solidFill>
                <a:latin typeface="Calibri Light"/>
                <a:cs typeface="Calibri Light"/>
              </a:rPr>
              <a:t> </a:t>
            </a:r>
            <a:r>
              <a:rPr sz="4800" b="0" spc="-30" dirty="0">
                <a:solidFill>
                  <a:srgbClr val="00AFEF"/>
                </a:solidFill>
                <a:latin typeface="Calibri Light"/>
                <a:cs typeface="Calibri Light"/>
              </a:rPr>
              <a:t>in</a:t>
            </a:r>
            <a:r>
              <a:rPr sz="4800" b="0" spc="-100" dirty="0">
                <a:solidFill>
                  <a:srgbClr val="00AFEF"/>
                </a:solidFill>
                <a:latin typeface="Calibri Light"/>
                <a:cs typeface="Calibri Light"/>
              </a:rPr>
              <a:t> </a:t>
            </a:r>
            <a:r>
              <a:rPr sz="4800" b="0" spc="-30" dirty="0">
                <a:solidFill>
                  <a:srgbClr val="00AFEF"/>
                </a:solidFill>
                <a:latin typeface="Calibri Light"/>
                <a:cs typeface="Calibri Light"/>
              </a:rPr>
              <a:t>I2C</a:t>
            </a:r>
            <a:r>
              <a:rPr sz="4800" b="0" spc="-105" dirty="0">
                <a:solidFill>
                  <a:srgbClr val="00AFEF"/>
                </a:solidFill>
                <a:latin typeface="Calibri Light"/>
                <a:cs typeface="Calibri Light"/>
              </a:rPr>
              <a:t> </a:t>
            </a:r>
            <a:r>
              <a:rPr sz="4800" b="0" spc="-70" dirty="0">
                <a:solidFill>
                  <a:srgbClr val="00AFEF"/>
                </a:solidFill>
                <a:latin typeface="Calibri Light"/>
                <a:cs typeface="Calibri Light"/>
              </a:rPr>
              <a:t>protocol</a:t>
            </a:r>
            <a:endParaRPr sz="4800">
              <a:latin typeface="Calibri Light"/>
              <a:cs typeface="Calibri Light"/>
            </a:endParaRPr>
          </a:p>
        </p:txBody>
      </p:sp>
      <p:sp>
        <p:nvSpPr>
          <p:cNvPr id="7" name="object 7"/>
          <p:cNvSpPr txBox="1"/>
          <p:nvPr/>
        </p:nvSpPr>
        <p:spPr>
          <a:xfrm>
            <a:off x="679195" y="1681099"/>
            <a:ext cx="10489565" cy="4029710"/>
          </a:xfrm>
          <a:prstGeom prst="rect">
            <a:avLst/>
          </a:prstGeom>
        </p:spPr>
        <p:txBody>
          <a:bodyPr vert="horz" wrap="square" lIns="0" tIns="154305" rIns="0" bIns="0" rtlCol="0">
            <a:spAutoFit/>
          </a:bodyPr>
          <a:lstStyle/>
          <a:p>
            <a:pPr marL="12700" algn="just">
              <a:lnSpc>
                <a:spcPct val="100000"/>
              </a:lnSpc>
              <a:spcBef>
                <a:spcPts val="1215"/>
              </a:spcBef>
            </a:pPr>
            <a:r>
              <a:rPr sz="2400" spc="-5" dirty="0">
                <a:solidFill>
                  <a:srgbClr val="404040"/>
                </a:solidFill>
                <a:latin typeface="Calibri"/>
                <a:cs typeface="Calibri"/>
              </a:rPr>
              <a:t>Let</a:t>
            </a:r>
            <a:r>
              <a:rPr sz="2400" spc="-15" dirty="0">
                <a:solidFill>
                  <a:srgbClr val="404040"/>
                </a:solidFill>
                <a:latin typeface="Calibri"/>
                <a:cs typeface="Calibri"/>
              </a:rPr>
              <a:t> </a:t>
            </a:r>
            <a:r>
              <a:rPr sz="2400" spc="-5" dirty="0">
                <a:solidFill>
                  <a:srgbClr val="404040"/>
                </a:solidFill>
                <a:latin typeface="Calibri"/>
                <a:cs typeface="Calibri"/>
              </a:rPr>
              <a:t>us</a:t>
            </a:r>
            <a:r>
              <a:rPr sz="2400" spc="-10" dirty="0">
                <a:solidFill>
                  <a:srgbClr val="404040"/>
                </a:solidFill>
                <a:latin typeface="Calibri"/>
                <a:cs typeface="Calibri"/>
              </a:rPr>
              <a:t> list</a:t>
            </a:r>
            <a:r>
              <a:rPr sz="2400" spc="-20" dirty="0">
                <a:solidFill>
                  <a:srgbClr val="404040"/>
                </a:solidFill>
                <a:latin typeface="Calibri"/>
                <a:cs typeface="Calibri"/>
              </a:rPr>
              <a:t> </a:t>
            </a:r>
            <a:r>
              <a:rPr sz="2400" spc="-5" dirty="0">
                <a:solidFill>
                  <a:srgbClr val="404040"/>
                </a:solidFill>
                <a:latin typeface="Calibri"/>
                <a:cs typeface="Calibri"/>
              </a:rPr>
              <a:t>out</a:t>
            </a:r>
            <a:r>
              <a:rPr sz="2400" spc="-10" dirty="0">
                <a:solidFill>
                  <a:srgbClr val="404040"/>
                </a:solidFill>
                <a:latin typeface="Calibri"/>
                <a:cs typeface="Calibri"/>
              </a:rPr>
              <a:t> </a:t>
            </a:r>
            <a:r>
              <a:rPr sz="2400" dirty="0">
                <a:solidFill>
                  <a:srgbClr val="404040"/>
                </a:solidFill>
                <a:latin typeface="Calibri"/>
                <a:cs typeface="Calibri"/>
              </a:rPr>
              <a:t>the</a:t>
            </a:r>
            <a:r>
              <a:rPr sz="2400" spc="-15" dirty="0">
                <a:solidFill>
                  <a:srgbClr val="404040"/>
                </a:solidFill>
                <a:latin typeface="Calibri"/>
                <a:cs typeface="Calibri"/>
              </a:rPr>
              <a:t> </a:t>
            </a:r>
            <a:r>
              <a:rPr sz="2400" spc="-10" dirty="0">
                <a:solidFill>
                  <a:srgbClr val="404040"/>
                </a:solidFill>
                <a:latin typeface="Calibri"/>
                <a:cs typeface="Calibri"/>
              </a:rPr>
              <a:t>steps</a:t>
            </a:r>
            <a:r>
              <a:rPr sz="2400" spc="-5" dirty="0">
                <a:solidFill>
                  <a:srgbClr val="404040"/>
                </a:solidFill>
                <a:latin typeface="Calibri"/>
                <a:cs typeface="Calibri"/>
              </a:rPr>
              <a:t> </a:t>
            </a:r>
            <a:r>
              <a:rPr sz="2400" dirty="0">
                <a:solidFill>
                  <a:srgbClr val="404040"/>
                </a:solidFill>
                <a:latin typeface="Calibri"/>
                <a:cs typeface="Calibri"/>
              </a:rPr>
              <a:t>in</a:t>
            </a:r>
            <a:r>
              <a:rPr sz="2400" spc="-5" dirty="0">
                <a:solidFill>
                  <a:srgbClr val="404040"/>
                </a:solidFill>
                <a:latin typeface="Calibri"/>
                <a:cs typeface="Calibri"/>
              </a:rPr>
              <a:t> </a:t>
            </a:r>
            <a:r>
              <a:rPr sz="2400" dirty="0">
                <a:solidFill>
                  <a:srgbClr val="404040"/>
                </a:solidFill>
                <a:latin typeface="Calibri"/>
                <a:cs typeface="Calibri"/>
              </a:rPr>
              <a:t>the</a:t>
            </a:r>
            <a:r>
              <a:rPr sz="2400" spc="-60" dirty="0">
                <a:solidFill>
                  <a:srgbClr val="404040"/>
                </a:solidFill>
                <a:latin typeface="Calibri"/>
                <a:cs typeface="Calibri"/>
              </a:rPr>
              <a:t> </a:t>
            </a:r>
            <a:r>
              <a:rPr sz="2400" spc="-5" dirty="0">
                <a:solidFill>
                  <a:srgbClr val="404040"/>
                </a:solidFill>
                <a:latin typeface="Calibri"/>
                <a:cs typeface="Calibri"/>
              </a:rPr>
              <a:t>12C</a:t>
            </a:r>
            <a:r>
              <a:rPr sz="2400" spc="-15" dirty="0">
                <a:solidFill>
                  <a:srgbClr val="404040"/>
                </a:solidFill>
                <a:latin typeface="Calibri"/>
                <a:cs typeface="Calibri"/>
              </a:rPr>
              <a:t> protocol</a:t>
            </a:r>
            <a:endParaRPr sz="2400">
              <a:latin typeface="Calibri"/>
              <a:cs typeface="Calibri"/>
            </a:endParaRPr>
          </a:p>
          <a:p>
            <a:pPr marL="1187450" marR="5080" indent="-457200" algn="just">
              <a:lnSpc>
                <a:spcPct val="90000"/>
              </a:lnSpc>
              <a:spcBef>
                <a:spcPts val="1405"/>
              </a:spcBef>
              <a:buClr>
                <a:srgbClr val="E38312"/>
              </a:buClr>
              <a:buAutoNum type="arabicPeriod"/>
              <a:tabLst>
                <a:tab pos="1188085" algn="l"/>
              </a:tabLst>
            </a:pPr>
            <a:r>
              <a:rPr sz="2400" spc="-50" dirty="0">
                <a:solidFill>
                  <a:srgbClr val="404040"/>
                </a:solidFill>
                <a:latin typeface="Calibri"/>
                <a:cs typeface="Calibri"/>
              </a:rPr>
              <a:t>START </a:t>
            </a:r>
            <a:r>
              <a:rPr sz="2400" dirty="0">
                <a:solidFill>
                  <a:srgbClr val="404040"/>
                </a:solidFill>
                <a:latin typeface="Calibri"/>
                <a:cs typeface="Calibri"/>
              </a:rPr>
              <a:t>and </a:t>
            </a:r>
            <a:r>
              <a:rPr sz="2400" spc="-25" dirty="0">
                <a:solidFill>
                  <a:srgbClr val="404040"/>
                </a:solidFill>
                <a:latin typeface="Calibri"/>
                <a:cs typeface="Calibri"/>
              </a:rPr>
              <a:t>STOP </a:t>
            </a:r>
            <a:r>
              <a:rPr sz="2400" spc="-5" dirty="0">
                <a:solidFill>
                  <a:srgbClr val="404040"/>
                </a:solidFill>
                <a:latin typeface="Calibri"/>
                <a:cs typeface="Calibri"/>
              </a:rPr>
              <a:t>signals: The </a:t>
            </a:r>
            <a:r>
              <a:rPr sz="2400" spc="-10" dirty="0">
                <a:solidFill>
                  <a:srgbClr val="404040"/>
                </a:solidFill>
                <a:latin typeface="Calibri"/>
                <a:cs typeface="Calibri"/>
              </a:rPr>
              <a:t>master </a:t>
            </a:r>
            <a:r>
              <a:rPr sz="2400" spc="-5" dirty="0">
                <a:solidFill>
                  <a:srgbClr val="404040"/>
                </a:solidFill>
                <a:latin typeface="Calibri"/>
                <a:cs typeface="Calibri"/>
              </a:rPr>
              <a:t>sends </a:t>
            </a:r>
            <a:r>
              <a:rPr sz="2400" dirty="0">
                <a:solidFill>
                  <a:srgbClr val="404040"/>
                </a:solidFill>
                <a:latin typeface="Calibri"/>
                <a:cs typeface="Calibri"/>
              </a:rPr>
              <a:t>the </a:t>
            </a:r>
            <a:r>
              <a:rPr sz="2400" spc="-50" dirty="0">
                <a:solidFill>
                  <a:srgbClr val="404040"/>
                </a:solidFill>
                <a:latin typeface="Calibri"/>
                <a:cs typeface="Calibri"/>
              </a:rPr>
              <a:t>START </a:t>
            </a:r>
            <a:r>
              <a:rPr sz="2400" spc="-5" dirty="0">
                <a:solidFill>
                  <a:srgbClr val="404040"/>
                </a:solidFill>
                <a:latin typeface="Calibri"/>
                <a:cs typeface="Calibri"/>
              </a:rPr>
              <a:t>signal </a:t>
            </a:r>
            <a:r>
              <a:rPr sz="2400" spc="-10" dirty="0">
                <a:solidFill>
                  <a:srgbClr val="404040"/>
                </a:solidFill>
                <a:latin typeface="Calibri"/>
                <a:cs typeface="Calibri"/>
              </a:rPr>
              <a:t>by </a:t>
            </a:r>
            <a:r>
              <a:rPr sz="2400" spc="-5" dirty="0">
                <a:solidFill>
                  <a:srgbClr val="404040"/>
                </a:solidFill>
                <a:latin typeface="Calibri"/>
                <a:cs typeface="Calibri"/>
              </a:rPr>
              <a:t>pulling </a:t>
            </a:r>
            <a:r>
              <a:rPr sz="2400" spc="-10" dirty="0">
                <a:solidFill>
                  <a:srgbClr val="404040"/>
                </a:solidFill>
                <a:latin typeface="Calibri"/>
                <a:cs typeface="Calibri"/>
              </a:rPr>
              <a:t>the </a:t>
            </a:r>
            <a:r>
              <a:rPr sz="2400" spc="-5" dirty="0">
                <a:solidFill>
                  <a:srgbClr val="404040"/>
                </a:solidFill>
                <a:latin typeface="Calibri"/>
                <a:cs typeface="Calibri"/>
              </a:rPr>
              <a:t> </a:t>
            </a:r>
            <a:r>
              <a:rPr sz="2400" spc="-15" dirty="0">
                <a:solidFill>
                  <a:srgbClr val="404040"/>
                </a:solidFill>
                <a:latin typeface="Calibri"/>
                <a:cs typeface="Calibri"/>
              </a:rPr>
              <a:t>SDA </a:t>
            </a:r>
            <a:r>
              <a:rPr sz="2400" dirty="0">
                <a:solidFill>
                  <a:srgbClr val="404040"/>
                </a:solidFill>
                <a:latin typeface="Calibri"/>
                <a:cs typeface="Calibri"/>
              </a:rPr>
              <a:t>line </a:t>
            </a:r>
            <a:r>
              <a:rPr sz="2400" spc="-55" dirty="0">
                <a:solidFill>
                  <a:srgbClr val="404040"/>
                </a:solidFill>
                <a:latin typeface="Calibri"/>
                <a:cs typeface="Calibri"/>
              </a:rPr>
              <a:t>low, </a:t>
            </a:r>
            <a:r>
              <a:rPr sz="2400" dirty="0">
                <a:solidFill>
                  <a:srgbClr val="404040"/>
                </a:solidFill>
                <a:latin typeface="Calibri"/>
                <a:cs typeface="Calibri"/>
              </a:rPr>
              <a:t>while </a:t>
            </a:r>
            <a:r>
              <a:rPr sz="2400" spc="-5" dirty="0">
                <a:solidFill>
                  <a:srgbClr val="404040"/>
                </a:solidFill>
                <a:latin typeface="Calibri"/>
                <a:cs typeface="Calibri"/>
              </a:rPr>
              <a:t>the SCL line </a:t>
            </a:r>
            <a:r>
              <a:rPr sz="2400" spc="-10" dirty="0">
                <a:solidFill>
                  <a:srgbClr val="404040"/>
                </a:solidFill>
                <a:latin typeface="Calibri"/>
                <a:cs typeface="Calibri"/>
              </a:rPr>
              <a:t>is </a:t>
            </a:r>
            <a:r>
              <a:rPr sz="2400" spc="-5" dirty="0">
                <a:solidFill>
                  <a:srgbClr val="404040"/>
                </a:solidFill>
                <a:latin typeface="Calibri"/>
                <a:cs typeface="Calibri"/>
              </a:rPr>
              <a:t>high. </a:t>
            </a:r>
            <a:r>
              <a:rPr sz="2400" spc="-30" dirty="0">
                <a:solidFill>
                  <a:srgbClr val="404040"/>
                </a:solidFill>
                <a:latin typeface="Calibri"/>
                <a:cs typeface="Calibri"/>
              </a:rPr>
              <a:t>At </a:t>
            </a:r>
            <a:r>
              <a:rPr sz="2400" spc="-10" dirty="0">
                <a:solidFill>
                  <a:srgbClr val="404040"/>
                </a:solidFill>
                <a:latin typeface="Calibri"/>
                <a:cs typeface="Calibri"/>
              </a:rPr>
              <a:t>the </a:t>
            </a:r>
            <a:r>
              <a:rPr sz="2400" dirty="0">
                <a:solidFill>
                  <a:srgbClr val="404040"/>
                </a:solidFill>
                <a:latin typeface="Calibri"/>
                <a:cs typeface="Calibri"/>
              </a:rPr>
              <a:t>end </a:t>
            </a:r>
            <a:r>
              <a:rPr sz="2400" spc="-5" dirty="0">
                <a:solidFill>
                  <a:srgbClr val="404040"/>
                </a:solidFill>
                <a:latin typeface="Calibri"/>
                <a:cs typeface="Calibri"/>
              </a:rPr>
              <a:t>of </a:t>
            </a:r>
            <a:r>
              <a:rPr sz="2400" spc="-15" dirty="0">
                <a:solidFill>
                  <a:srgbClr val="404040"/>
                </a:solidFill>
                <a:latin typeface="Calibri"/>
                <a:cs typeface="Calibri"/>
              </a:rPr>
              <a:t>data </a:t>
            </a:r>
            <a:r>
              <a:rPr sz="2400" spc="-20" dirty="0">
                <a:solidFill>
                  <a:srgbClr val="404040"/>
                </a:solidFill>
                <a:latin typeface="Calibri"/>
                <a:cs typeface="Calibri"/>
              </a:rPr>
              <a:t>transfer </a:t>
            </a:r>
            <a:r>
              <a:rPr sz="2400" dirty="0">
                <a:solidFill>
                  <a:srgbClr val="404040"/>
                </a:solidFill>
                <a:latin typeface="Calibri"/>
                <a:cs typeface="Calibri"/>
              </a:rPr>
              <a:t>the </a:t>
            </a:r>
            <a:r>
              <a:rPr sz="2400" spc="5" dirty="0">
                <a:solidFill>
                  <a:srgbClr val="404040"/>
                </a:solidFill>
                <a:latin typeface="Calibri"/>
                <a:cs typeface="Calibri"/>
              </a:rPr>
              <a:t> </a:t>
            </a:r>
            <a:r>
              <a:rPr sz="2400" spc="-10" dirty="0">
                <a:solidFill>
                  <a:srgbClr val="404040"/>
                </a:solidFill>
                <a:latin typeface="Calibri"/>
                <a:cs typeface="Calibri"/>
              </a:rPr>
              <a:t>master</a:t>
            </a:r>
            <a:r>
              <a:rPr sz="2400" spc="415" dirty="0">
                <a:solidFill>
                  <a:srgbClr val="404040"/>
                </a:solidFill>
                <a:latin typeface="Calibri"/>
                <a:cs typeface="Calibri"/>
              </a:rPr>
              <a:t> </a:t>
            </a:r>
            <a:r>
              <a:rPr sz="2400" spc="-5" dirty="0">
                <a:solidFill>
                  <a:srgbClr val="404040"/>
                </a:solidFill>
                <a:latin typeface="Calibri"/>
                <a:cs typeface="Calibri"/>
              </a:rPr>
              <a:t>sends</a:t>
            </a:r>
            <a:r>
              <a:rPr sz="2400" spc="425" dirty="0">
                <a:solidFill>
                  <a:srgbClr val="404040"/>
                </a:solidFill>
                <a:latin typeface="Calibri"/>
                <a:cs typeface="Calibri"/>
              </a:rPr>
              <a:t> </a:t>
            </a:r>
            <a:r>
              <a:rPr sz="2400" dirty="0">
                <a:solidFill>
                  <a:srgbClr val="404040"/>
                </a:solidFill>
                <a:latin typeface="Calibri"/>
                <a:cs typeface="Calibri"/>
              </a:rPr>
              <a:t>the</a:t>
            </a:r>
            <a:r>
              <a:rPr sz="2400" spc="430" dirty="0">
                <a:solidFill>
                  <a:srgbClr val="404040"/>
                </a:solidFill>
                <a:latin typeface="Calibri"/>
                <a:cs typeface="Calibri"/>
              </a:rPr>
              <a:t> </a:t>
            </a:r>
            <a:r>
              <a:rPr sz="2400" spc="-25" dirty="0">
                <a:solidFill>
                  <a:srgbClr val="404040"/>
                </a:solidFill>
                <a:latin typeface="Calibri"/>
                <a:cs typeface="Calibri"/>
              </a:rPr>
              <a:t>STOP</a:t>
            </a:r>
            <a:r>
              <a:rPr sz="2400" spc="415" dirty="0">
                <a:solidFill>
                  <a:srgbClr val="404040"/>
                </a:solidFill>
                <a:latin typeface="Calibri"/>
                <a:cs typeface="Calibri"/>
              </a:rPr>
              <a:t> </a:t>
            </a:r>
            <a:r>
              <a:rPr sz="2400" spc="-5" dirty="0">
                <a:solidFill>
                  <a:srgbClr val="404040"/>
                </a:solidFill>
                <a:latin typeface="Calibri"/>
                <a:cs typeface="Calibri"/>
              </a:rPr>
              <a:t>signal,</a:t>
            </a:r>
            <a:r>
              <a:rPr sz="2400" spc="430" dirty="0">
                <a:solidFill>
                  <a:srgbClr val="404040"/>
                </a:solidFill>
                <a:latin typeface="Calibri"/>
                <a:cs typeface="Calibri"/>
              </a:rPr>
              <a:t> </a:t>
            </a:r>
            <a:r>
              <a:rPr sz="2400" spc="-10" dirty="0">
                <a:solidFill>
                  <a:srgbClr val="404040"/>
                </a:solidFill>
                <a:latin typeface="Calibri"/>
                <a:cs typeface="Calibri"/>
              </a:rPr>
              <a:t>which</a:t>
            </a:r>
            <a:r>
              <a:rPr sz="2400" spc="430" dirty="0">
                <a:solidFill>
                  <a:srgbClr val="404040"/>
                </a:solidFill>
                <a:latin typeface="Calibri"/>
                <a:cs typeface="Calibri"/>
              </a:rPr>
              <a:t> </a:t>
            </a:r>
            <a:r>
              <a:rPr sz="2400" dirty="0">
                <a:solidFill>
                  <a:srgbClr val="404040"/>
                </a:solidFill>
                <a:latin typeface="Calibri"/>
                <a:cs typeface="Calibri"/>
              </a:rPr>
              <a:t>is</a:t>
            </a:r>
            <a:r>
              <a:rPr sz="2400" spc="420" dirty="0">
                <a:solidFill>
                  <a:srgbClr val="404040"/>
                </a:solidFill>
                <a:latin typeface="Calibri"/>
                <a:cs typeface="Calibri"/>
              </a:rPr>
              <a:t> </a:t>
            </a:r>
            <a:r>
              <a:rPr sz="2400" dirty="0">
                <a:solidFill>
                  <a:srgbClr val="404040"/>
                </a:solidFill>
                <a:latin typeface="Calibri"/>
                <a:cs typeface="Calibri"/>
              </a:rPr>
              <a:t>a</a:t>
            </a:r>
            <a:r>
              <a:rPr sz="2400" spc="425" dirty="0">
                <a:solidFill>
                  <a:srgbClr val="404040"/>
                </a:solidFill>
                <a:latin typeface="Calibri"/>
                <a:cs typeface="Calibri"/>
              </a:rPr>
              <a:t> </a:t>
            </a:r>
            <a:r>
              <a:rPr sz="2400" spc="-5" dirty="0">
                <a:solidFill>
                  <a:srgbClr val="404040"/>
                </a:solidFill>
                <a:latin typeface="Calibri"/>
                <a:cs typeface="Calibri"/>
              </a:rPr>
              <a:t>HIGH</a:t>
            </a:r>
            <a:r>
              <a:rPr sz="2400" spc="430" dirty="0">
                <a:solidFill>
                  <a:srgbClr val="404040"/>
                </a:solidFill>
                <a:latin typeface="Calibri"/>
                <a:cs typeface="Calibri"/>
              </a:rPr>
              <a:t> </a:t>
            </a:r>
            <a:r>
              <a:rPr sz="2400" spc="-25" dirty="0">
                <a:solidFill>
                  <a:srgbClr val="404040"/>
                </a:solidFill>
                <a:latin typeface="Calibri"/>
                <a:cs typeface="Calibri"/>
              </a:rPr>
              <a:t>state</a:t>
            </a:r>
            <a:r>
              <a:rPr sz="2400" spc="430" dirty="0">
                <a:solidFill>
                  <a:srgbClr val="404040"/>
                </a:solidFill>
                <a:latin typeface="Calibri"/>
                <a:cs typeface="Calibri"/>
              </a:rPr>
              <a:t> </a:t>
            </a:r>
            <a:r>
              <a:rPr sz="2400" spc="-5" dirty="0">
                <a:solidFill>
                  <a:srgbClr val="404040"/>
                </a:solidFill>
                <a:latin typeface="Calibri"/>
                <a:cs typeface="Calibri"/>
              </a:rPr>
              <a:t>of</a:t>
            </a:r>
            <a:r>
              <a:rPr sz="2400" spc="425" dirty="0">
                <a:solidFill>
                  <a:srgbClr val="404040"/>
                </a:solidFill>
                <a:latin typeface="Calibri"/>
                <a:cs typeface="Calibri"/>
              </a:rPr>
              <a:t> </a:t>
            </a:r>
            <a:r>
              <a:rPr sz="2400" dirty="0">
                <a:solidFill>
                  <a:srgbClr val="404040"/>
                </a:solidFill>
                <a:latin typeface="Calibri"/>
                <a:cs typeface="Calibri"/>
              </a:rPr>
              <a:t>the</a:t>
            </a:r>
            <a:r>
              <a:rPr sz="2400" spc="430" dirty="0">
                <a:solidFill>
                  <a:srgbClr val="404040"/>
                </a:solidFill>
                <a:latin typeface="Calibri"/>
                <a:cs typeface="Calibri"/>
              </a:rPr>
              <a:t> </a:t>
            </a:r>
            <a:r>
              <a:rPr sz="2400" spc="-15" dirty="0">
                <a:solidFill>
                  <a:srgbClr val="404040"/>
                </a:solidFill>
                <a:latin typeface="Calibri"/>
                <a:cs typeface="Calibri"/>
              </a:rPr>
              <a:t>SDA</a:t>
            </a:r>
            <a:r>
              <a:rPr sz="2400" spc="420" dirty="0">
                <a:solidFill>
                  <a:srgbClr val="404040"/>
                </a:solidFill>
                <a:latin typeface="Calibri"/>
                <a:cs typeface="Calibri"/>
              </a:rPr>
              <a:t> </a:t>
            </a:r>
            <a:r>
              <a:rPr sz="2400" spc="-5" dirty="0">
                <a:solidFill>
                  <a:srgbClr val="404040"/>
                </a:solidFill>
                <a:latin typeface="Calibri"/>
                <a:cs typeface="Calibri"/>
              </a:rPr>
              <a:t>signal, </a:t>
            </a:r>
            <a:r>
              <a:rPr sz="2400" spc="-530" dirty="0">
                <a:solidFill>
                  <a:srgbClr val="404040"/>
                </a:solidFill>
                <a:latin typeface="Calibri"/>
                <a:cs typeface="Calibri"/>
              </a:rPr>
              <a:t> </a:t>
            </a:r>
            <a:r>
              <a:rPr sz="2400" dirty="0">
                <a:solidFill>
                  <a:srgbClr val="404040"/>
                </a:solidFill>
                <a:latin typeface="Calibri"/>
                <a:cs typeface="Calibri"/>
              </a:rPr>
              <a:t>while</a:t>
            </a:r>
            <a:r>
              <a:rPr sz="2400" spc="-15" dirty="0">
                <a:solidFill>
                  <a:srgbClr val="404040"/>
                </a:solidFill>
                <a:latin typeface="Calibri"/>
                <a:cs typeface="Calibri"/>
              </a:rPr>
              <a:t> </a:t>
            </a:r>
            <a:r>
              <a:rPr sz="2400" dirty="0">
                <a:solidFill>
                  <a:srgbClr val="404040"/>
                </a:solidFill>
                <a:latin typeface="Calibri"/>
                <a:cs typeface="Calibri"/>
              </a:rPr>
              <a:t>the SCL</a:t>
            </a:r>
            <a:r>
              <a:rPr sz="2400" spc="-15" dirty="0">
                <a:solidFill>
                  <a:srgbClr val="404040"/>
                </a:solidFill>
                <a:latin typeface="Calibri"/>
                <a:cs typeface="Calibri"/>
              </a:rPr>
              <a:t> </a:t>
            </a:r>
            <a:r>
              <a:rPr sz="2400" dirty="0">
                <a:solidFill>
                  <a:srgbClr val="404040"/>
                </a:solidFill>
                <a:latin typeface="Calibri"/>
                <a:cs typeface="Calibri"/>
              </a:rPr>
              <a:t>line is</a:t>
            </a:r>
            <a:r>
              <a:rPr sz="2400" spc="-10" dirty="0">
                <a:solidFill>
                  <a:srgbClr val="404040"/>
                </a:solidFill>
                <a:latin typeface="Calibri"/>
                <a:cs typeface="Calibri"/>
              </a:rPr>
              <a:t> </a:t>
            </a:r>
            <a:r>
              <a:rPr sz="2400" spc="-5" dirty="0">
                <a:solidFill>
                  <a:srgbClr val="404040"/>
                </a:solidFill>
                <a:latin typeface="Calibri"/>
                <a:cs typeface="Calibri"/>
              </a:rPr>
              <a:t>high.</a:t>
            </a:r>
            <a:endParaRPr sz="2400">
              <a:latin typeface="Calibri"/>
              <a:cs typeface="Calibri"/>
            </a:endParaRPr>
          </a:p>
          <a:p>
            <a:pPr marL="1187450" marR="5715" indent="-457200" algn="just">
              <a:lnSpc>
                <a:spcPct val="90100"/>
              </a:lnSpc>
              <a:spcBef>
                <a:spcPts val="1400"/>
              </a:spcBef>
              <a:buClr>
                <a:srgbClr val="E38312"/>
              </a:buClr>
              <a:buAutoNum type="arabicPeriod"/>
              <a:tabLst>
                <a:tab pos="1188085" algn="l"/>
              </a:tabLst>
            </a:pPr>
            <a:r>
              <a:rPr sz="2400" spc="-15" dirty="0">
                <a:solidFill>
                  <a:srgbClr val="404040"/>
                </a:solidFill>
                <a:latin typeface="Calibri"/>
                <a:cs typeface="Calibri"/>
              </a:rPr>
              <a:t>Data</a:t>
            </a:r>
            <a:r>
              <a:rPr sz="2400" spc="-10" dirty="0">
                <a:solidFill>
                  <a:srgbClr val="404040"/>
                </a:solidFill>
                <a:latin typeface="Calibri"/>
                <a:cs typeface="Calibri"/>
              </a:rPr>
              <a:t> </a:t>
            </a:r>
            <a:r>
              <a:rPr sz="2400" spc="-35" dirty="0">
                <a:solidFill>
                  <a:srgbClr val="404040"/>
                </a:solidFill>
                <a:latin typeface="Calibri"/>
                <a:cs typeface="Calibri"/>
              </a:rPr>
              <a:t>Transfer:</a:t>
            </a:r>
            <a:r>
              <a:rPr sz="2400" spc="-30" dirty="0">
                <a:solidFill>
                  <a:srgbClr val="404040"/>
                </a:solidFill>
                <a:latin typeface="Calibri"/>
                <a:cs typeface="Calibri"/>
              </a:rPr>
              <a:t> </a:t>
            </a:r>
            <a:r>
              <a:rPr sz="2400" spc="-5" dirty="0">
                <a:solidFill>
                  <a:srgbClr val="404040"/>
                </a:solidFill>
                <a:latin typeface="Calibri"/>
                <a:cs typeface="Calibri"/>
              </a:rPr>
              <a:t>This</a:t>
            </a:r>
            <a:r>
              <a:rPr sz="2400" dirty="0">
                <a:solidFill>
                  <a:srgbClr val="404040"/>
                </a:solidFill>
                <a:latin typeface="Calibri"/>
                <a:cs typeface="Calibri"/>
              </a:rPr>
              <a:t> </a:t>
            </a:r>
            <a:r>
              <a:rPr sz="2400" spc="-15" dirty="0">
                <a:solidFill>
                  <a:srgbClr val="404040"/>
                </a:solidFill>
                <a:latin typeface="Calibri"/>
                <a:cs typeface="Calibri"/>
              </a:rPr>
              <a:t>starts</a:t>
            </a:r>
            <a:r>
              <a:rPr sz="2400" spc="-10" dirty="0">
                <a:solidFill>
                  <a:srgbClr val="404040"/>
                </a:solidFill>
                <a:latin typeface="Calibri"/>
                <a:cs typeface="Calibri"/>
              </a:rPr>
              <a:t> after</a:t>
            </a:r>
            <a:r>
              <a:rPr sz="2400" spc="-5" dirty="0">
                <a:solidFill>
                  <a:srgbClr val="404040"/>
                </a:solidFill>
                <a:latin typeface="Calibri"/>
                <a:cs typeface="Calibri"/>
              </a:rPr>
              <a:t> the</a:t>
            </a:r>
            <a:r>
              <a:rPr sz="2400" dirty="0">
                <a:solidFill>
                  <a:srgbClr val="404040"/>
                </a:solidFill>
                <a:latin typeface="Calibri"/>
                <a:cs typeface="Calibri"/>
              </a:rPr>
              <a:t> </a:t>
            </a:r>
            <a:r>
              <a:rPr sz="2400" spc="-50" dirty="0">
                <a:solidFill>
                  <a:srgbClr val="404040"/>
                </a:solidFill>
                <a:latin typeface="Calibri"/>
                <a:cs typeface="Calibri"/>
              </a:rPr>
              <a:t>START</a:t>
            </a:r>
            <a:r>
              <a:rPr sz="2400" spc="-45" dirty="0">
                <a:solidFill>
                  <a:srgbClr val="404040"/>
                </a:solidFill>
                <a:latin typeface="Calibri"/>
                <a:cs typeface="Calibri"/>
              </a:rPr>
              <a:t> </a:t>
            </a:r>
            <a:r>
              <a:rPr sz="2400" spc="-5" dirty="0">
                <a:solidFill>
                  <a:srgbClr val="404040"/>
                </a:solidFill>
                <a:latin typeface="Calibri"/>
                <a:cs typeface="Calibri"/>
              </a:rPr>
              <a:t>signal.</a:t>
            </a:r>
            <a:r>
              <a:rPr sz="2400" dirty="0">
                <a:solidFill>
                  <a:srgbClr val="404040"/>
                </a:solidFill>
                <a:latin typeface="Calibri"/>
                <a:cs typeface="Calibri"/>
              </a:rPr>
              <a:t> </a:t>
            </a:r>
            <a:r>
              <a:rPr sz="2400" spc="-5" dirty="0">
                <a:solidFill>
                  <a:srgbClr val="404040"/>
                </a:solidFill>
                <a:latin typeface="Calibri"/>
                <a:cs typeface="Calibri"/>
              </a:rPr>
              <a:t>The</a:t>
            </a:r>
            <a:r>
              <a:rPr sz="2400" dirty="0">
                <a:solidFill>
                  <a:srgbClr val="404040"/>
                </a:solidFill>
                <a:latin typeface="Calibri"/>
                <a:cs typeface="Calibri"/>
              </a:rPr>
              <a:t> </a:t>
            </a:r>
            <a:r>
              <a:rPr sz="2400" spc="-10" dirty="0">
                <a:solidFill>
                  <a:srgbClr val="404040"/>
                </a:solidFill>
                <a:latin typeface="Calibri"/>
                <a:cs typeface="Calibri"/>
              </a:rPr>
              <a:t>master</a:t>
            </a:r>
            <a:r>
              <a:rPr sz="2400" spc="-5" dirty="0">
                <a:solidFill>
                  <a:srgbClr val="404040"/>
                </a:solidFill>
                <a:latin typeface="Calibri"/>
                <a:cs typeface="Calibri"/>
              </a:rPr>
              <a:t> sends</a:t>
            </a:r>
            <a:r>
              <a:rPr sz="2400" dirty="0">
                <a:solidFill>
                  <a:srgbClr val="404040"/>
                </a:solidFill>
                <a:latin typeface="Calibri"/>
                <a:cs typeface="Calibri"/>
              </a:rPr>
              <a:t> an </a:t>
            </a:r>
            <a:r>
              <a:rPr sz="2400" spc="5" dirty="0">
                <a:solidFill>
                  <a:srgbClr val="404040"/>
                </a:solidFill>
                <a:latin typeface="Calibri"/>
                <a:cs typeface="Calibri"/>
              </a:rPr>
              <a:t> </a:t>
            </a:r>
            <a:r>
              <a:rPr sz="2400" spc="-5" dirty="0">
                <a:solidFill>
                  <a:srgbClr val="404040"/>
                </a:solidFill>
                <a:latin typeface="Calibri"/>
                <a:cs typeface="Calibri"/>
              </a:rPr>
              <a:t>address</a:t>
            </a:r>
            <a:r>
              <a:rPr sz="2400" spc="110" dirty="0">
                <a:solidFill>
                  <a:srgbClr val="404040"/>
                </a:solidFill>
                <a:latin typeface="Calibri"/>
                <a:cs typeface="Calibri"/>
              </a:rPr>
              <a:t> </a:t>
            </a:r>
            <a:r>
              <a:rPr sz="2400" spc="-5" dirty="0">
                <a:solidFill>
                  <a:srgbClr val="404040"/>
                </a:solidFill>
                <a:latin typeface="Calibri"/>
                <a:cs typeface="Calibri"/>
              </a:rPr>
              <a:t>(MSB</a:t>
            </a:r>
            <a:r>
              <a:rPr sz="2400" spc="114" dirty="0">
                <a:solidFill>
                  <a:srgbClr val="404040"/>
                </a:solidFill>
                <a:latin typeface="Calibri"/>
                <a:cs typeface="Calibri"/>
              </a:rPr>
              <a:t> </a:t>
            </a:r>
            <a:r>
              <a:rPr sz="2400" spc="-15" dirty="0">
                <a:solidFill>
                  <a:srgbClr val="404040"/>
                </a:solidFill>
                <a:latin typeface="Calibri"/>
                <a:cs typeface="Calibri"/>
              </a:rPr>
              <a:t>first).</a:t>
            </a:r>
            <a:r>
              <a:rPr sz="2400" spc="95" dirty="0">
                <a:solidFill>
                  <a:srgbClr val="404040"/>
                </a:solidFill>
                <a:latin typeface="Calibri"/>
                <a:cs typeface="Calibri"/>
              </a:rPr>
              <a:t> </a:t>
            </a:r>
            <a:r>
              <a:rPr sz="2400" spc="-5" dirty="0">
                <a:solidFill>
                  <a:srgbClr val="404040"/>
                </a:solidFill>
                <a:latin typeface="Calibri"/>
                <a:cs typeface="Calibri"/>
              </a:rPr>
              <a:t>This</a:t>
            </a:r>
            <a:r>
              <a:rPr sz="2400" spc="114" dirty="0">
                <a:solidFill>
                  <a:srgbClr val="404040"/>
                </a:solidFill>
                <a:latin typeface="Calibri"/>
                <a:cs typeface="Calibri"/>
              </a:rPr>
              <a:t> </a:t>
            </a:r>
            <a:r>
              <a:rPr sz="2400" dirty="0">
                <a:solidFill>
                  <a:srgbClr val="404040"/>
                </a:solidFill>
                <a:latin typeface="Calibri"/>
                <a:cs typeface="Calibri"/>
              </a:rPr>
              <a:t>is</a:t>
            </a:r>
            <a:r>
              <a:rPr sz="2400" spc="110" dirty="0">
                <a:solidFill>
                  <a:srgbClr val="404040"/>
                </a:solidFill>
                <a:latin typeface="Calibri"/>
                <a:cs typeface="Calibri"/>
              </a:rPr>
              <a:t> </a:t>
            </a:r>
            <a:r>
              <a:rPr sz="2400" spc="-5" dirty="0">
                <a:solidFill>
                  <a:srgbClr val="404040"/>
                </a:solidFill>
                <a:latin typeface="Calibri"/>
                <a:cs typeface="Calibri"/>
              </a:rPr>
              <a:t>the</a:t>
            </a:r>
            <a:r>
              <a:rPr sz="2400" spc="125" dirty="0">
                <a:solidFill>
                  <a:srgbClr val="404040"/>
                </a:solidFill>
                <a:latin typeface="Calibri"/>
                <a:cs typeface="Calibri"/>
              </a:rPr>
              <a:t> </a:t>
            </a:r>
            <a:r>
              <a:rPr sz="2400" spc="-10" dirty="0">
                <a:solidFill>
                  <a:srgbClr val="404040"/>
                </a:solidFill>
                <a:latin typeface="Calibri"/>
                <a:cs typeface="Calibri"/>
              </a:rPr>
              <a:t>address</a:t>
            </a:r>
            <a:r>
              <a:rPr sz="2400" spc="110" dirty="0">
                <a:solidFill>
                  <a:srgbClr val="404040"/>
                </a:solidFill>
                <a:latin typeface="Calibri"/>
                <a:cs typeface="Calibri"/>
              </a:rPr>
              <a:t> </a:t>
            </a:r>
            <a:r>
              <a:rPr sz="2400" dirty="0">
                <a:solidFill>
                  <a:srgbClr val="404040"/>
                </a:solidFill>
                <a:latin typeface="Calibri"/>
                <a:cs typeface="Calibri"/>
              </a:rPr>
              <a:t>(7</a:t>
            </a:r>
            <a:r>
              <a:rPr sz="2400" spc="114" dirty="0">
                <a:solidFill>
                  <a:srgbClr val="404040"/>
                </a:solidFill>
                <a:latin typeface="Calibri"/>
                <a:cs typeface="Calibri"/>
              </a:rPr>
              <a:t> </a:t>
            </a:r>
            <a:r>
              <a:rPr sz="2400" spc="-5" dirty="0">
                <a:solidFill>
                  <a:srgbClr val="404040"/>
                </a:solidFill>
                <a:latin typeface="Calibri"/>
                <a:cs typeface="Calibri"/>
              </a:rPr>
              <a:t>or</a:t>
            </a:r>
            <a:r>
              <a:rPr sz="2400" spc="114" dirty="0">
                <a:solidFill>
                  <a:srgbClr val="404040"/>
                </a:solidFill>
                <a:latin typeface="Calibri"/>
                <a:cs typeface="Calibri"/>
              </a:rPr>
              <a:t> </a:t>
            </a:r>
            <a:r>
              <a:rPr sz="2400" spc="-5" dirty="0">
                <a:solidFill>
                  <a:srgbClr val="404040"/>
                </a:solidFill>
                <a:latin typeface="Calibri"/>
                <a:cs typeface="Calibri"/>
              </a:rPr>
              <a:t>10</a:t>
            </a:r>
            <a:r>
              <a:rPr sz="2400" spc="90" dirty="0">
                <a:solidFill>
                  <a:srgbClr val="404040"/>
                </a:solidFill>
                <a:latin typeface="Calibri"/>
                <a:cs typeface="Calibri"/>
              </a:rPr>
              <a:t> </a:t>
            </a:r>
            <a:r>
              <a:rPr sz="2400" spc="-5" dirty="0">
                <a:solidFill>
                  <a:srgbClr val="404040"/>
                </a:solidFill>
                <a:latin typeface="Calibri"/>
                <a:cs typeface="Calibri"/>
              </a:rPr>
              <a:t>bit)</a:t>
            </a:r>
            <a:r>
              <a:rPr sz="2400" spc="120" dirty="0">
                <a:solidFill>
                  <a:srgbClr val="404040"/>
                </a:solidFill>
                <a:latin typeface="Calibri"/>
                <a:cs typeface="Calibri"/>
              </a:rPr>
              <a:t> </a:t>
            </a:r>
            <a:r>
              <a:rPr sz="2400" spc="-5" dirty="0">
                <a:solidFill>
                  <a:srgbClr val="404040"/>
                </a:solidFill>
                <a:latin typeface="Calibri"/>
                <a:cs typeface="Calibri"/>
              </a:rPr>
              <a:t>of</a:t>
            </a:r>
            <a:r>
              <a:rPr sz="2400" spc="120" dirty="0">
                <a:solidFill>
                  <a:srgbClr val="404040"/>
                </a:solidFill>
                <a:latin typeface="Calibri"/>
                <a:cs typeface="Calibri"/>
              </a:rPr>
              <a:t> </a:t>
            </a:r>
            <a:r>
              <a:rPr sz="2400" spc="-5" dirty="0">
                <a:solidFill>
                  <a:srgbClr val="404040"/>
                </a:solidFill>
                <a:latin typeface="Calibri"/>
                <a:cs typeface="Calibri"/>
              </a:rPr>
              <a:t>the</a:t>
            </a:r>
            <a:r>
              <a:rPr sz="2400" spc="120" dirty="0">
                <a:solidFill>
                  <a:srgbClr val="404040"/>
                </a:solidFill>
                <a:latin typeface="Calibri"/>
                <a:cs typeface="Calibri"/>
              </a:rPr>
              <a:t> </a:t>
            </a:r>
            <a:r>
              <a:rPr sz="2400" spc="-5" dirty="0">
                <a:solidFill>
                  <a:srgbClr val="404040"/>
                </a:solidFill>
                <a:latin typeface="Calibri"/>
                <a:cs typeface="Calibri"/>
              </a:rPr>
              <a:t>device</a:t>
            </a:r>
            <a:r>
              <a:rPr sz="2400" spc="120" dirty="0">
                <a:solidFill>
                  <a:srgbClr val="404040"/>
                </a:solidFill>
                <a:latin typeface="Calibri"/>
                <a:cs typeface="Calibri"/>
              </a:rPr>
              <a:t> </a:t>
            </a:r>
            <a:r>
              <a:rPr sz="2400" spc="-15" dirty="0">
                <a:solidFill>
                  <a:srgbClr val="404040"/>
                </a:solidFill>
                <a:latin typeface="Calibri"/>
                <a:cs typeface="Calibri"/>
              </a:rPr>
              <a:t>to</a:t>
            </a:r>
            <a:r>
              <a:rPr sz="2400" spc="110" dirty="0">
                <a:solidFill>
                  <a:srgbClr val="404040"/>
                </a:solidFill>
                <a:latin typeface="Calibri"/>
                <a:cs typeface="Calibri"/>
              </a:rPr>
              <a:t> </a:t>
            </a:r>
            <a:r>
              <a:rPr sz="2400" spc="-5" dirty="0">
                <a:solidFill>
                  <a:srgbClr val="404040"/>
                </a:solidFill>
                <a:latin typeface="Calibri"/>
                <a:cs typeface="Calibri"/>
              </a:rPr>
              <a:t>which </a:t>
            </a:r>
            <a:r>
              <a:rPr sz="2400" spc="-530" dirty="0">
                <a:solidFill>
                  <a:srgbClr val="404040"/>
                </a:solidFill>
                <a:latin typeface="Calibri"/>
                <a:cs typeface="Calibri"/>
              </a:rPr>
              <a:t> </a:t>
            </a:r>
            <a:r>
              <a:rPr sz="2400" dirty="0">
                <a:solidFill>
                  <a:srgbClr val="404040"/>
                </a:solidFill>
                <a:latin typeface="Calibri"/>
                <a:cs typeface="Calibri"/>
              </a:rPr>
              <a:t>it</a:t>
            </a:r>
            <a:r>
              <a:rPr sz="2400" spc="-20" dirty="0">
                <a:solidFill>
                  <a:srgbClr val="404040"/>
                </a:solidFill>
                <a:latin typeface="Calibri"/>
                <a:cs typeface="Calibri"/>
              </a:rPr>
              <a:t> </a:t>
            </a:r>
            <a:r>
              <a:rPr sz="2400" spc="-10" dirty="0">
                <a:solidFill>
                  <a:srgbClr val="404040"/>
                </a:solidFill>
                <a:latin typeface="Calibri"/>
                <a:cs typeface="Calibri"/>
              </a:rPr>
              <a:t>intends </a:t>
            </a:r>
            <a:r>
              <a:rPr sz="2400" spc="-15" dirty="0">
                <a:solidFill>
                  <a:srgbClr val="404040"/>
                </a:solidFill>
                <a:latin typeface="Calibri"/>
                <a:cs typeface="Calibri"/>
              </a:rPr>
              <a:t>to</a:t>
            </a:r>
            <a:r>
              <a:rPr sz="2400" spc="-10" dirty="0">
                <a:solidFill>
                  <a:srgbClr val="404040"/>
                </a:solidFill>
                <a:latin typeface="Calibri"/>
                <a:cs typeface="Calibri"/>
              </a:rPr>
              <a:t> communicate.</a:t>
            </a:r>
            <a:endParaRPr sz="2400">
              <a:latin typeface="Calibri"/>
              <a:cs typeface="Calibri"/>
            </a:endParaRPr>
          </a:p>
          <a:p>
            <a:pPr marL="1187450" marR="5715" indent="-457200" algn="just">
              <a:lnSpc>
                <a:spcPts val="2590"/>
              </a:lnSpc>
              <a:spcBef>
                <a:spcPts val="1430"/>
              </a:spcBef>
              <a:buClr>
                <a:srgbClr val="E38312"/>
              </a:buClr>
              <a:buAutoNum type="arabicPeriod"/>
              <a:tabLst>
                <a:tab pos="1188085" algn="l"/>
              </a:tabLst>
            </a:pPr>
            <a:r>
              <a:rPr sz="2400" spc="-5" dirty="0">
                <a:solidFill>
                  <a:srgbClr val="404040"/>
                </a:solidFill>
                <a:latin typeface="Calibri"/>
                <a:cs typeface="Calibri"/>
              </a:rPr>
              <a:t>The </a:t>
            </a:r>
            <a:r>
              <a:rPr sz="2400" spc="-10" dirty="0">
                <a:solidFill>
                  <a:srgbClr val="404040"/>
                </a:solidFill>
                <a:latin typeface="Calibri"/>
                <a:cs typeface="Calibri"/>
              </a:rPr>
              <a:t>next </a:t>
            </a:r>
            <a:r>
              <a:rPr sz="2400" dirty="0">
                <a:solidFill>
                  <a:srgbClr val="404040"/>
                </a:solidFill>
                <a:latin typeface="Calibri"/>
                <a:cs typeface="Calibri"/>
              </a:rPr>
              <a:t>is R/W </a:t>
            </a:r>
            <a:r>
              <a:rPr sz="2400" spc="-5" dirty="0">
                <a:solidFill>
                  <a:srgbClr val="404040"/>
                </a:solidFill>
                <a:latin typeface="Calibri"/>
                <a:cs typeface="Calibri"/>
              </a:rPr>
              <a:t>signal. If </a:t>
            </a:r>
            <a:r>
              <a:rPr sz="2400" dirty="0">
                <a:solidFill>
                  <a:srgbClr val="404040"/>
                </a:solidFill>
                <a:latin typeface="Calibri"/>
                <a:cs typeface="Calibri"/>
              </a:rPr>
              <a:t>the </a:t>
            </a:r>
            <a:r>
              <a:rPr sz="2400" spc="-10" dirty="0">
                <a:solidFill>
                  <a:srgbClr val="404040"/>
                </a:solidFill>
                <a:latin typeface="Calibri"/>
                <a:cs typeface="Calibri"/>
              </a:rPr>
              <a:t>master wants </a:t>
            </a:r>
            <a:r>
              <a:rPr sz="2400" spc="-15" dirty="0">
                <a:solidFill>
                  <a:srgbClr val="404040"/>
                </a:solidFill>
                <a:latin typeface="Calibri"/>
                <a:cs typeface="Calibri"/>
              </a:rPr>
              <a:t>to </a:t>
            </a:r>
            <a:r>
              <a:rPr sz="2400" spc="-10" dirty="0">
                <a:solidFill>
                  <a:srgbClr val="404040"/>
                </a:solidFill>
                <a:latin typeface="Calibri"/>
                <a:cs typeface="Calibri"/>
              </a:rPr>
              <a:t>get </a:t>
            </a:r>
            <a:r>
              <a:rPr sz="2400" dirty="0">
                <a:solidFill>
                  <a:srgbClr val="404040"/>
                </a:solidFill>
                <a:latin typeface="Calibri"/>
                <a:cs typeface="Calibri"/>
              </a:rPr>
              <a:t>a </a:t>
            </a:r>
            <a:r>
              <a:rPr sz="2400" spc="-15" dirty="0">
                <a:solidFill>
                  <a:srgbClr val="404040"/>
                </a:solidFill>
                <a:latin typeface="Calibri"/>
                <a:cs typeface="Calibri"/>
              </a:rPr>
              <a:t>data from </a:t>
            </a:r>
            <a:r>
              <a:rPr sz="2400" dirty="0">
                <a:solidFill>
                  <a:srgbClr val="404040"/>
                </a:solidFill>
                <a:latin typeface="Calibri"/>
                <a:cs typeface="Calibri"/>
              </a:rPr>
              <a:t>a </a:t>
            </a:r>
            <a:r>
              <a:rPr sz="2400" spc="-15" dirty="0">
                <a:solidFill>
                  <a:srgbClr val="404040"/>
                </a:solidFill>
                <a:latin typeface="Calibri"/>
                <a:cs typeface="Calibri"/>
              </a:rPr>
              <a:t>slave, </a:t>
            </a:r>
            <a:r>
              <a:rPr sz="2400" dirty="0">
                <a:solidFill>
                  <a:srgbClr val="404040"/>
                </a:solidFill>
                <a:latin typeface="Calibri"/>
                <a:cs typeface="Calibri"/>
              </a:rPr>
              <a:t>it is </a:t>
            </a:r>
            <a:r>
              <a:rPr sz="2400" spc="5" dirty="0">
                <a:solidFill>
                  <a:srgbClr val="404040"/>
                </a:solidFill>
                <a:latin typeface="Calibri"/>
                <a:cs typeface="Calibri"/>
              </a:rPr>
              <a:t> </a:t>
            </a:r>
            <a:r>
              <a:rPr sz="2400" spc="-5" dirty="0">
                <a:solidFill>
                  <a:srgbClr val="404040"/>
                </a:solidFill>
                <a:latin typeface="Calibri"/>
                <a:cs typeface="Calibri"/>
              </a:rPr>
              <a:t>READ</a:t>
            </a:r>
            <a:r>
              <a:rPr sz="2400" spc="-35" dirty="0">
                <a:solidFill>
                  <a:srgbClr val="404040"/>
                </a:solidFill>
                <a:latin typeface="Calibri"/>
                <a:cs typeface="Calibri"/>
              </a:rPr>
              <a:t> </a:t>
            </a:r>
            <a:r>
              <a:rPr sz="2400" spc="-10" dirty="0">
                <a:solidFill>
                  <a:srgbClr val="404040"/>
                </a:solidFill>
                <a:latin typeface="Calibri"/>
                <a:cs typeface="Calibri"/>
              </a:rPr>
              <a:t>operation,</a:t>
            </a:r>
            <a:r>
              <a:rPr sz="2400" spc="-5" dirty="0">
                <a:solidFill>
                  <a:srgbClr val="404040"/>
                </a:solidFill>
                <a:latin typeface="Calibri"/>
                <a:cs typeface="Calibri"/>
              </a:rPr>
              <a:t> otherwise</a:t>
            </a:r>
            <a:r>
              <a:rPr sz="2400" spc="5" dirty="0">
                <a:solidFill>
                  <a:srgbClr val="404040"/>
                </a:solidFill>
                <a:latin typeface="Calibri"/>
                <a:cs typeface="Calibri"/>
              </a:rPr>
              <a:t> </a:t>
            </a:r>
            <a:r>
              <a:rPr sz="2400" dirty="0">
                <a:solidFill>
                  <a:srgbClr val="404040"/>
                </a:solidFill>
                <a:latin typeface="Calibri"/>
                <a:cs typeface="Calibri"/>
              </a:rPr>
              <a:t>it</a:t>
            </a:r>
            <a:r>
              <a:rPr sz="2400" spc="-15" dirty="0">
                <a:solidFill>
                  <a:srgbClr val="404040"/>
                </a:solidFill>
                <a:latin typeface="Calibri"/>
                <a:cs typeface="Calibri"/>
              </a:rPr>
              <a:t> </a:t>
            </a:r>
            <a:r>
              <a:rPr sz="2400" dirty="0">
                <a:solidFill>
                  <a:srgbClr val="404040"/>
                </a:solidFill>
                <a:latin typeface="Calibri"/>
                <a:cs typeface="Calibri"/>
              </a:rPr>
              <a:t>is</a:t>
            </a:r>
            <a:r>
              <a:rPr sz="2400" spc="-10" dirty="0">
                <a:solidFill>
                  <a:srgbClr val="404040"/>
                </a:solidFill>
                <a:latin typeface="Calibri"/>
                <a:cs typeface="Calibri"/>
              </a:rPr>
              <a:t> </a:t>
            </a:r>
            <a:r>
              <a:rPr sz="2400" spc="-5" dirty="0">
                <a:solidFill>
                  <a:srgbClr val="404040"/>
                </a:solidFill>
                <a:latin typeface="Calibri"/>
                <a:cs typeface="Calibri"/>
              </a:rPr>
              <a:t>WRITE.</a:t>
            </a:r>
            <a:endParaRPr sz="24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40</a:t>
            </a:r>
            <a:endParaRPr sz="1050">
              <a:latin typeface="Calibri"/>
              <a:cs typeface="Calibri"/>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6" name="object 6"/>
          <p:cNvSpPr txBox="1">
            <a:spLocks noGrp="1"/>
          </p:cNvSpPr>
          <p:nvPr>
            <p:ph type="title"/>
          </p:nvPr>
        </p:nvSpPr>
        <p:spPr>
          <a:xfrm>
            <a:off x="1084580" y="1822830"/>
            <a:ext cx="10085070" cy="720725"/>
          </a:xfrm>
          <a:prstGeom prst="rect">
            <a:avLst/>
          </a:prstGeom>
        </p:spPr>
        <p:txBody>
          <a:bodyPr vert="horz" wrap="square" lIns="0" tIns="53975" rIns="0" bIns="0" rtlCol="0">
            <a:spAutoFit/>
          </a:bodyPr>
          <a:lstStyle/>
          <a:p>
            <a:pPr marL="469900" marR="5080" indent="-457834">
              <a:lnSpc>
                <a:spcPts val="2590"/>
              </a:lnSpc>
              <a:spcBef>
                <a:spcPts val="425"/>
              </a:spcBef>
              <a:tabLst>
                <a:tab pos="469900" algn="l"/>
                <a:tab pos="1099185" algn="l"/>
                <a:tab pos="1887220" algn="l"/>
                <a:tab pos="2865755" algn="l"/>
                <a:tab pos="3993515" algn="l"/>
                <a:tab pos="4587875" algn="l"/>
                <a:tab pos="5382260" algn="l"/>
                <a:tab pos="6604634" algn="l"/>
                <a:tab pos="7202170" algn="l"/>
                <a:tab pos="8383270" algn="l"/>
                <a:tab pos="9102725" algn="l"/>
                <a:tab pos="9577070" algn="l"/>
              </a:tabLst>
            </a:pPr>
            <a:r>
              <a:rPr sz="2400" b="0" spc="-5" dirty="0">
                <a:solidFill>
                  <a:srgbClr val="E38312"/>
                </a:solidFill>
                <a:latin typeface="Calibri"/>
                <a:cs typeface="Calibri"/>
              </a:rPr>
              <a:t>4</a:t>
            </a:r>
            <a:r>
              <a:rPr sz="2400" b="0" dirty="0">
                <a:solidFill>
                  <a:srgbClr val="E38312"/>
                </a:solidFill>
                <a:latin typeface="Calibri"/>
                <a:cs typeface="Calibri"/>
              </a:rPr>
              <a:t>.	</a:t>
            </a:r>
            <a:r>
              <a:rPr sz="2400" b="0" spc="-5" dirty="0">
                <a:solidFill>
                  <a:srgbClr val="404040"/>
                </a:solidFill>
                <a:latin typeface="Calibri"/>
                <a:cs typeface="Calibri"/>
              </a:rPr>
              <a:t>Th</a:t>
            </a:r>
            <a:r>
              <a:rPr sz="2400" b="0" dirty="0">
                <a:solidFill>
                  <a:srgbClr val="404040"/>
                </a:solidFill>
                <a:latin typeface="Calibri"/>
                <a:cs typeface="Calibri"/>
              </a:rPr>
              <a:t>e	</a:t>
            </a:r>
            <a:r>
              <a:rPr sz="2400" b="0" spc="-5" dirty="0">
                <a:solidFill>
                  <a:srgbClr val="404040"/>
                </a:solidFill>
                <a:latin typeface="Calibri"/>
                <a:cs typeface="Calibri"/>
              </a:rPr>
              <a:t>sl</a:t>
            </a:r>
            <a:r>
              <a:rPr sz="2400" b="0" spc="-40" dirty="0">
                <a:solidFill>
                  <a:srgbClr val="404040"/>
                </a:solidFill>
                <a:latin typeface="Calibri"/>
                <a:cs typeface="Calibri"/>
              </a:rPr>
              <a:t>a</a:t>
            </a:r>
            <a:r>
              <a:rPr sz="2400" b="0" spc="-30" dirty="0">
                <a:solidFill>
                  <a:srgbClr val="404040"/>
                </a:solidFill>
                <a:latin typeface="Calibri"/>
                <a:cs typeface="Calibri"/>
              </a:rPr>
              <a:t>v</a:t>
            </a:r>
            <a:r>
              <a:rPr sz="2400" b="0" dirty="0">
                <a:solidFill>
                  <a:srgbClr val="404040"/>
                </a:solidFill>
                <a:latin typeface="Calibri"/>
                <a:cs typeface="Calibri"/>
              </a:rPr>
              <a:t>e	who</a:t>
            </a:r>
            <a:r>
              <a:rPr sz="2400" b="0" spc="-10" dirty="0">
                <a:solidFill>
                  <a:srgbClr val="404040"/>
                </a:solidFill>
                <a:latin typeface="Calibri"/>
                <a:cs typeface="Calibri"/>
              </a:rPr>
              <a:t>s</a:t>
            </a:r>
            <a:r>
              <a:rPr sz="2400" b="0" dirty="0">
                <a:solidFill>
                  <a:srgbClr val="404040"/>
                </a:solidFill>
                <a:latin typeface="Calibri"/>
                <a:cs typeface="Calibri"/>
              </a:rPr>
              <a:t>e	add</a:t>
            </a:r>
            <a:r>
              <a:rPr sz="2400" b="0" spc="-35" dirty="0">
                <a:solidFill>
                  <a:srgbClr val="404040"/>
                </a:solidFill>
                <a:latin typeface="Calibri"/>
                <a:cs typeface="Calibri"/>
              </a:rPr>
              <a:t>r</a:t>
            </a:r>
            <a:r>
              <a:rPr sz="2400" b="0" dirty="0">
                <a:solidFill>
                  <a:srgbClr val="404040"/>
                </a:solidFill>
                <a:latin typeface="Calibri"/>
                <a:cs typeface="Calibri"/>
              </a:rPr>
              <a:t>ess	</a:t>
            </a:r>
            <a:r>
              <a:rPr sz="2400" b="0" spc="-5" dirty="0">
                <a:solidFill>
                  <a:srgbClr val="404040"/>
                </a:solidFill>
                <a:latin typeface="Calibri"/>
                <a:cs typeface="Calibri"/>
              </a:rPr>
              <a:t>ha</a:t>
            </a:r>
            <a:r>
              <a:rPr sz="2400" b="0" dirty="0">
                <a:solidFill>
                  <a:srgbClr val="404040"/>
                </a:solidFill>
                <a:latin typeface="Calibri"/>
                <a:cs typeface="Calibri"/>
              </a:rPr>
              <a:t>s	</a:t>
            </a:r>
            <a:r>
              <a:rPr sz="2400" b="0" spc="-5" dirty="0">
                <a:solidFill>
                  <a:srgbClr val="404040"/>
                </a:solidFill>
                <a:latin typeface="Calibri"/>
                <a:cs typeface="Calibri"/>
              </a:rPr>
              <a:t>be</a:t>
            </a:r>
            <a:r>
              <a:rPr sz="2400" b="0" spc="5" dirty="0">
                <a:solidFill>
                  <a:srgbClr val="404040"/>
                </a:solidFill>
                <a:latin typeface="Calibri"/>
                <a:cs typeface="Calibri"/>
              </a:rPr>
              <a:t>e</a:t>
            </a:r>
            <a:r>
              <a:rPr sz="2400" b="0" dirty="0">
                <a:solidFill>
                  <a:srgbClr val="404040"/>
                </a:solidFill>
                <a:latin typeface="Calibri"/>
                <a:cs typeface="Calibri"/>
              </a:rPr>
              <a:t>n	</a:t>
            </a:r>
            <a:r>
              <a:rPr sz="2400" b="0" spc="-35" dirty="0">
                <a:solidFill>
                  <a:srgbClr val="404040"/>
                </a:solidFill>
                <a:latin typeface="Calibri"/>
                <a:cs typeface="Calibri"/>
              </a:rPr>
              <a:t>r</a:t>
            </a:r>
            <a:r>
              <a:rPr sz="2400" b="0" dirty="0">
                <a:solidFill>
                  <a:srgbClr val="404040"/>
                </a:solidFill>
                <a:latin typeface="Calibri"/>
                <a:cs typeface="Calibri"/>
              </a:rPr>
              <a:t>e</a:t>
            </a:r>
            <a:r>
              <a:rPr sz="2400" b="0" spc="5" dirty="0">
                <a:solidFill>
                  <a:srgbClr val="404040"/>
                </a:solidFill>
                <a:latin typeface="Calibri"/>
                <a:cs typeface="Calibri"/>
              </a:rPr>
              <a:t>c</a:t>
            </a:r>
            <a:r>
              <a:rPr sz="2400" b="0" dirty="0">
                <a:solidFill>
                  <a:srgbClr val="404040"/>
                </a:solidFill>
                <a:latin typeface="Calibri"/>
                <a:cs typeface="Calibri"/>
              </a:rPr>
              <a:t>ei</a:t>
            </a:r>
            <a:r>
              <a:rPr sz="2400" b="0" spc="-25" dirty="0">
                <a:solidFill>
                  <a:srgbClr val="404040"/>
                </a:solidFill>
                <a:latin typeface="Calibri"/>
                <a:cs typeface="Calibri"/>
              </a:rPr>
              <a:t>v</a:t>
            </a:r>
            <a:r>
              <a:rPr sz="2400" b="0" dirty="0">
                <a:solidFill>
                  <a:srgbClr val="404040"/>
                </a:solidFill>
                <a:latin typeface="Calibri"/>
                <a:cs typeface="Calibri"/>
              </a:rPr>
              <a:t>ed	will	</a:t>
            </a:r>
            <a:r>
              <a:rPr sz="2400" b="0" spc="-35" dirty="0">
                <a:solidFill>
                  <a:srgbClr val="404040"/>
                </a:solidFill>
                <a:latin typeface="Calibri"/>
                <a:cs typeface="Calibri"/>
              </a:rPr>
              <a:t>r</a:t>
            </a:r>
            <a:r>
              <a:rPr sz="2400" b="0" dirty="0">
                <a:solidFill>
                  <a:srgbClr val="404040"/>
                </a:solidFill>
                <a:latin typeface="Calibri"/>
                <a:cs typeface="Calibri"/>
              </a:rPr>
              <a:t>esp</a:t>
            </a:r>
            <a:r>
              <a:rPr sz="2400" b="0" spc="-15" dirty="0">
                <a:solidFill>
                  <a:srgbClr val="404040"/>
                </a:solidFill>
                <a:latin typeface="Calibri"/>
                <a:cs typeface="Calibri"/>
              </a:rPr>
              <a:t>o</a:t>
            </a:r>
            <a:r>
              <a:rPr sz="2400" b="0" spc="-5" dirty="0">
                <a:solidFill>
                  <a:srgbClr val="404040"/>
                </a:solidFill>
                <a:latin typeface="Calibri"/>
                <a:cs typeface="Calibri"/>
              </a:rPr>
              <a:t>n</a:t>
            </a:r>
            <a:r>
              <a:rPr sz="2400" b="0" dirty="0">
                <a:solidFill>
                  <a:srgbClr val="404040"/>
                </a:solidFill>
                <a:latin typeface="Calibri"/>
                <a:cs typeface="Calibri"/>
              </a:rPr>
              <a:t>d	with	an	</a:t>
            </a:r>
            <a:r>
              <a:rPr sz="2400" b="0" spc="-25" dirty="0">
                <a:solidFill>
                  <a:srgbClr val="404040"/>
                </a:solidFill>
                <a:latin typeface="Calibri"/>
                <a:cs typeface="Calibri"/>
              </a:rPr>
              <a:t>A</a:t>
            </a:r>
            <a:r>
              <a:rPr sz="2400" b="0" spc="-5" dirty="0">
                <a:solidFill>
                  <a:srgbClr val="404040"/>
                </a:solidFill>
                <a:latin typeface="Calibri"/>
                <a:cs typeface="Calibri"/>
              </a:rPr>
              <a:t>CK  (Acknowledge)</a:t>
            </a:r>
            <a:r>
              <a:rPr sz="2400" b="0" spc="-20" dirty="0">
                <a:solidFill>
                  <a:srgbClr val="404040"/>
                </a:solidFill>
                <a:latin typeface="Calibri"/>
                <a:cs typeface="Calibri"/>
              </a:rPr>
              <a:t> </a:t>
            </a:r>
            <a:r>
              <a:rPr sz="2400" b="0" dirty="0">
                <a:solidFill>
                  <a:srgbClr val="404040"/>
                </a:solidFill>
                <a:latin typeface="Calibri"/>
                <a:cs typeface="Calibri"/>
              </a:rPr>
              <a:t>)</a:t>
            </a:r>
            <a:r>
              <a:rPr sz="2400" b="0" spc="-10" dirty="0">
                <a:solidFill>
                  <a:srgbClr val="404040"/>
                </a:solidFill>
                <a:latin typeface="Calibri"/>
                <a:cs typeface="Calibri"/>
              </a:rPr>
              <a:t> </a:t>
            </a:r>
            <a:r>
              <a:rPr sz="2400" b="0" spc="-5" dirty="0">
                <a:solidFill>
                  <a:srgbClr val="404040"/>
                </a:solidFill>
                <a:latin typeface="Calibri"/>
                <a:cs typeface="Calibri"/>
              </a:rPr>
              <a:t>signal.</a:t>
            </a:r>
            <a:endParaRPr sz="2400">
              <a:latin typeface="Calibri"/>
              <a:cs typeface="Calibri"/>
            </a:endParaRPr>
          </a:p>
        </p:txBody>
      </p:sp>
      <p:sp>
        <p:nvSpPr>
          <p:cNvPr id="7" name="object 7"/>
          <p:cNvSpPr txBox="1"/>
          <p:nvPr/>
        </p:nvSpPr>
        <p:spPr>
          <a:xfrm>
            <a:off x="1084580" y="2659760"/>
            <a:ext cx="10087610" cy="3533140"/>
          </a:xfrm>
          <a:prstGeom prst="rect">
            <a:avLst/>
          </a:prstGeom>
        </p:spPr>
        <p:txBody>
          <a:bodyPr vert="horz" wrap="square" lIns="0" tIns="53975" rIns="0" bIns="0" rtlCol="0">
            <a:spAutoFit/>
          </a:bodyPr>
          <a:lstStyle/>
          <a:p>
            <a:pPr marL="469900" marR="6350" indent="-457834" algn="just">
              <a:lnSpc>
                <a:spcPts val="2590"/>
              </a:lnSpc>
              <a:spcBef>
                <a:spcPts val="425"/>
              </a:spcBef>
              <a:buClr>
                <a:srgbClr val="E38312"/>
              </a:buClr>
              <a:buAutoNum type="arabicPeriod" startAt="5"/>
              <a:tabLst>
                <a:tab pos="470534" algn="l"/>
              </a:tabLst>
            </a:pPr>
            <a:r>
              <a:rPr sz="2400" spc="-5" dirty="0">
                <a:solidFill>
                  <a:srgbClr val="404040"/>
                </a:solidFill>
                <a:latin typeface="Calibri"/>
                <a:cs typeface="Calibri"/>
              </a:rPr>
              <a:t>After</a:t>
            </a:r>
            <a:r>
              <a:rPr sz="2400" spc="70" dirty="0">
                <a:solidFill>
                  <a:srgbClr val="404040"/>
                </a:solidFill>
                <a:latin typeface="Calibri"/>
                <a:cs typeface="Calibri"/>
              </a:rPr>
              <a:t> </a:t>
            </a:r>
            <a:r>
              <a:rPr sz="2400" dirty="0">
                <a:solidFill>
                  <a:srgbClr val="404040"/>
                </a:solidFill>
                <a:latin typeface="Calibri"/>
                <a:cs typeface="Calibri"/>
              </a:rPr>
              <a:t>this,</a:t>
            </a:r>
            <a:r>
              <a:rPr sz="2400" spc="75" dirty="0">
                <a:solidFill>
                  <a:srgbClr val="404040"/>
                </a:solidFill>
                <a:latin typeface="Calibri"/>
                <a:cs typeface="Calibri"/>
              </a:rPr>
              <a:t> </a:t>
            </a:r>
            <a:r>
              <a:rPr sz="2400" spc="-10" dirty="0">
                <a:solidFill>
                  <a:srgbClr val="404040"/>
                </a:solidFill>
                <a:latin typeface="Calibri"/>
                <a:cs typeface="Calibri"/>
              </a:rPr>
              <a:t>the</a:t>
            </a:r>
            <a:r>
              <a:rPr sz="2400" spc="85" dirty="0">
                <a:solidFill>
                  <a:srgbClr val="404040"/>
                </a:solidFill>
                <a:latin typeface="Calibri"/>
                <a:cs typeface="Calibri"/>
              </a:rPr>
              <a:t> </a:t>
            </a:r>
            <a:r>
              <a:rPr sz="2400" dirty="0">
                <a:solidFill>
                  <a:srgbClr val="404040"/>
                </a:solidFill>
                <a:latin typeface="Calibri"/>
                <a:cs typeface="Calibri"/>
              </a:rPr>
              <a:t>actual</a:t>
            </a:r>
            <a:r>
              <a:rPr sz="2400" spc="75" dirty="0">
                <a:solidFill>
                  <a:srgbClr val="404040"/>
                </a:solidFill>
                <a:latin typeface="Calibri"/>
                <a:cs typeface="Calibri"/>
              </a:rPr>
              <a:t> </a:t>
            </a:r>
            <a:r>
              <a:rPr sz="2400" spc="-20" dirty="0">
                <a:solidFill>
                  <a:srgbClr val="404040"/>
                </a:solidFill>
                <a:latin typeface="Calibri"/>
                <a:cs typeface="Calibri"/>
              </a:rPr>
              <a:t>data</a:t>
            </a:r>
            <a:r>
              <a:rPr sz="2400" spc="65" dirty="0">
                <a:solidFill>
                  <a:srgbClr val="404040"/>
                </a:solidFill>
                <a:latin typeface="Calibri"/>
                <a:cs typeface="Calibri"/>
              </a:rPr>
              <a:t> </a:t>
            </a:r>
            <a:r>
              <a:rPr sz="2400" spc="-20" dirty="0">
                <a:solidFill>
                  <a:srgbClr val="404040"/>
                </a:solidFill>
                <a:latin typeface="Calibri"/>
                <a:cs typeface="Calibri"/>
              </a:rPr>
              <a:t>transfer</a:t>
            </a:r>
            <a:r>
              <a:rPr sz="2400" spc="90" dirty="0">
                <a:solidFill>
                  <a:srgbClr val="404040"/>
                </a:solidFill>
                <a:latin typeface="Calibri"/>
                <a:cs typeface="Calibri"/>
              </a:rPr>
              <a:t> </a:t>
            </a:r>
            <a:r>
              <a:rPr sz="2400" spc="-10" dirty="0">
                <a:solidFill>
                  <a:srgbClr val="404040"/>
                </a:solidFill>
                <a:latin typeface="Calibri"/>
                <a:cs typeface="Calibri"/>
              </a:rPr>
              <a:t>occurs.</a:t>
            </a:r>
            <a:r>
              <a:rPr sz="2400" spc="75" dirty="0">
                <a:solidFill>
                  <a:srgbClr val="404040"/>
                </a:solidFill>
                <a:latin typeface="Calibri"/>
                <a:cs typeface="Calibri"/>
              </a:rPr>
              <a:t> </a:t>
            </a:r>
            <a:r>
              <a:rPr sz="2400" spc="-20" dirty="0">
                <a:solidFill>
                  <a:srgbClr val="404040"/>
                </a:solidFill>
                <a:latin typeface="Calibri"/>
                <a:cs typeface="Calibri"/>
              </a:rPr>
              <a:t>Data</a:t>
            </a:r>
            <a:r>
              <a:rPr sz="2400" spc="70" dirty="0">
                <a:solidFill>
                  <a:srgbClr val="404040"/>
                </a:solidFill>
                <a:latin typeface="Calibri"/>
                <a:cs typeface="Calibri"/>
              </a:rPr>
              <a:t> </a:t>
            </a:r>
            <a:r>
              <a:rPr sz="2400" spc="-10" dirty="0">
                <a:solidFill>
                  <a:srgbClr val="404040"/>
                </a:solidFill>
                <a:latin typeface="Calibri"/>
                <a:cs typeface="Calibri"/>
              </a:rPr>
              <a:t>is</a:t>
            </a:r>
            <a:r>
              <a:rPr sz="2400" spc="75" dirty="0">
                <a:solidFill>
                  <a:srgbClr val="404040"/>
                </a:solidFill>
                <a:latin typeface="Calibri"/>
                <a:cs typeface="Calibri"/>
              </a:rPr>
              <a:t> </a:t>
            </a:r>
            <a:r>
              <a:rPr sz="2400" spc="-10" dirty="0">
                <a:solidFill>
                  <a:srgbClr val="404040"/>
                </a:solidFill>
                <a:latin typeface="Calibri"/>
                <a:cs typeface="Calibri"/>
              </a:rPr>
              <a:t>sent</a:t>
            </a:r>
            <a:r>
              <a:rPr sz="2400" spc="80" dirty="0">
                <a:solidFill>
                  <a:srgbClr val="404040"/>
                </a:solidFill>
                <a:latin typeface="Calibri"/>
                <a:cs typeface="Calibri"/>
              </a:rPr>
              <a:t> </a:t>
            </a:r>
            <a:r>
              <a:rPr sz="2400" spc="-5" dirty="0">
                <a:solidFill>
                  <a:srgbClr val="404040"/>
                </a:solidFill>
                <a:latin typeface="Calibri"/>
                <a:cs typeface="Calibri"/>
              </a:rPr>
              <a:t>one</a:t>
            </a:r>
            <a:r>
              <a:rPr sz="2400" spc="80" dirty="0">
                <a:solidFill>
                  <a:srgbClr val="404040"/>
                </a:solidFill>
                <a:latin typeface="Calibri"/>
                <a:cs typeface="Calibri"/>
              </a:rPr>
              <a:t> </a:t>
            </a:r>
            <a:r>
              <a:rPr sz="2400" spc="-10" dirty="0">
                <a:solidFill>
                  <a:srgbClr val="404040"/>
                </a:solidFill>
                <a:latin typeface="Calibri"/>
                <a:cs typeface="Calibri"/>
              </a:rPr>
              <a:t>byte</a:t>
            </a:r>
            <a:r>
              <a:rPr sz="2400" spc="75" dirty="0">
                <a:solidFill>
                  <a:srgbClr val="404040"/>
                </a:solidFill>
                <a:latin typeface="Calibri"/>
                <a:cs typeface="Calibri"/>
              </a:rPr>
              <a:t> </a:t>
            </a:r>
            <a:r>
              <a:rPr sz="2400" spc="-5" dirty="0">
                <a:solidFill>
                  <a:srgbClr val="404040"/>
                </a:solidFill>
                <a:latin typeface="Calibri"/>
                <a:cs typeface="Calibri"/>
              </a:rPr>
              <a:t>(MSB</a:t>
            </a:r>
            <a:r>
              <a:rPr sz="2400" spc="70" dirty="0">
                <a:solidFill>
                  <a:srgbClr val="404040"/>
                </a:solidFill>
                <a:latin typeface="Calibri"/>
                <a:cs typeface="Calibri"/>
              </a:rPr>
              <a:t> </a:t>
            </a:r>
            <a:r>
              <a:rPr sz="2400" spc="-15" dirty="0">
                <a:solidFill>
                  <a:srgbClr val="404040"/>
                </a:solidFill>
                <a:latin typeface="Calibri"/>
                <a:cs typeface="Calibri"/>
              </a:rPr>
              <a:t>first)</a:t>
            </a:r>
            <a:r>
              <a:rPr sz="2400" spc="75" dirty="0">
                <a:solidFill>
                  <a:srgbClr val="404040"/>
                </a:solidFill>
                <a:latin typeface="Calibri"/>
                <a:cs typeface="Calibri"/>
              </a:rPr>
              <a:t> </a:t>
            </a:r>
            <a:r>
              <a:rPr sz="2400" spc="-25" dirty="0">
                <a:solidFill>
                  <a:srgbClr val="404040"/>
                </a:solidFill>
                <a:latin typeface="Calibri"/>
                <a:cs typeface="Calibri"/>
              </a:rPr>
              <a:t>at </a:t>
            </a:r>
            <a:r>
              <a:rPr sz="2400" spc="-535" dirty="0">
                <a:solidFill>
                  <a:srgbClr val="404040"/>
                </a:solidFill>
                <a:latin typeface="Calibri"/>
                <a:cs typeface="Calibri"/>
              </a:rPr>
              <a:t> </a:t>
            </a:r>
            <a:r>
              <a:rPr sz="2400" dirty="0">
                <a:solidFill>
                  <a:srgbClr val="404040"/>
                </a:solidFill>
                <a:latin typeface="Calibri"/>
                <a:cs typeface="Calibri"/>
              </a:rPr>
              <a:t>a time. </a:t>
            </a:r>
            <a:r>
              <a:rPr sz="2400" spc="-5" dirty="0">
                <a:solidFill>
                  <a:srgbClr val="404040"/>
                </a:solidFill>
                <a:latin typeface="Calibri"/>
                <a:cs typeface="Calibri"/>
              </a:rPr>
              <a:t>After </a:t>
            </a:r>
            <a:r>
              <a:rPr sz="2400" dirty="0">
                <a:solidFill>
                  <a:srgbClr val="404040"/>
                </a:solidFill>
                <a:latin typeface="Calibri"/>
                <a:cs typeface="Calibri"/>
              </a:rPr>
              <a:t>each </a:t>
            </a:r>
            <a:r>
              <a:rPr sz="2400" spc="-10" dirty="0">
                <a:solidFill>
                  <a:srgbClr val="404040"/>
                </a:solidFill>
                <a:latin typeface="Calibri"/>
                <a:cs typeface="Calibri"/>
              </a:rPr>
              <a:t>byte </a:t>
            </a:r>
            <a:r>
              <a:rPr sz="2400" dirty="0">
                <a:solidFill>
                  <a:srgbClr val="404040"/>
                </a:solidFill>
                <a:latin typeface="Calibri"/>
                <a:cs typeface="Calibri"/>
              </a:rPr>
              <a:t>is </a:t>
            </a:r>
            <a:r>
              <a:rPr sz="2400" spc="-10" dirty="0">
                <a:solidFill>
                  <a:srgbClr val="404040"/>
                </a:solidFill>
                <a:latin typeface="Calibri"/>
                <a:cs typeface="Calibri"/>
              </a:rPr>
              <a:t>sent, </a:t>
            </a:r>
            <a:r>
              <a:rPr sz="2400" dirty="0">
                <a:solidFill>
                  <a:srgbClr val="404040"/>
                </a:solidFill>
                <a:latin typeface="Calibri"/>
                <a:cs typeface="Calibri"/>
              </a:rPr>
              <a:t>the </a:t>
            </a:r>
            <a:r>
              <a:rPr sz="2400" spc="-10" dirty="0">
                <a:solidFill>
                  <a:srgbClr val="404040"/>
                </a:solidFill>
                <a:latin typeface="Calibri"/>
                <a:cs typeface="Calibri"/>
              </a:rPr>
              <a:t>receiver returns </a:t>
            </a:r>
            <a:r>
              <a:rPr sz="2400" dirty="0">
                <a:solidFill>
                  <a:srgbClr val="404040"/>
                </a:solidFill>
                <a:latin typeface="Calibri"/>
                <a:cs typeface="Calibri"/>
              </a:rPr>
              <a:t>an </a:t>
            </a:r>
            <a:r>
              <a:rPr sz="2400" spc="-5" dirty="0">
                <a:solidFill>
                  <a:srgbClr val="404040"/>
                </a:solidFill>
                <a:latin typeface="Calibri"/>
                <a:cs typeface="Calibri"/>
              </a:rPr>
              <a:t>acknowledge signal </a:t>
            </a:r>
            <a:r>
              <a:rPr sz="2400" dirty="0">
                <a:solidFill>
                  <a:srgbClr val="404040"/>
                </a:solidFill>
                <a:latin typeface="Calibri"/>
                <a:cs typeface="Calibri"/>
              </a:rPr>
              <a:t> </a:t>
            </a:r>
            <a:r>
              <a:rPr sz="2400" spc="-5" dirty="0">
                <a:solidFill>
                  <a:srgbClr val="404040"/>
                </a:solidFill>
                <a:latin typeface="Calibri"/>
                <a:cs typeface="Calibri"/>
              </a:rPr>
              <a:t>ACK.</a:t>
            </a:r>
            <a:endParaRPr sz="2400">
              <a:latin typeface="Calibri"/>
              <a:cs typeface="Calibri"/>
            </a:endParaRPr>
          </a:p>
          <a:p>
            <a:pPr marL="469900" marR="5080" indent="-457834" algn="just">
              <a:lnSpc>
                <a:spcPct val="90000"/>
              </a:lnSpc>
              <a:spcBef>
                <a:spcPts val="1370"/>
              </a:spcBef>
              <a:buClr>
                <a:srgbClr val="E38312"/>
              </a:buClr>
              <a:buAutoNum type="arabicPeriod" startAt="5"/>
              <a:tabLst>
                <a:tab pos="470534" algn="l"/>
              </a:tabLst>
            </a:pPr>
            <a:r>
              <a:rPr sz="2400" spc="-10" dirty="0">
                <a:solidFill>
                  <a:srgbClr val="404040"/>
                </a:solidFill>
                <a:latin typeface="Calibri"/>
                <a:cs typeface="Calibri"/>
              </a:rPr>
              <a:t>Each byte </a:t>
            </a:r>
            <a:r>
              <a:rPr sz="2400" spc="-5" dirty="0">
                <a:solidFill>
                  <a:srgbClr val="404040"/>
                </a:solidFill>
                <a:latin typeface="Calibri"/>
                <a:cs typeface="Calibri"/>
              </a:rPr>
              <a:t>of </a:t>
            </a:r>
            <a:r>
              <a:rPr sz="2400" spc="-15" dirty="0">
                <a:solidFill>
                  <a:srgbClr val="404040"/>
                </a:solidFill>
                <a:latin typeface="Calibri"/>
                <a:cs typeface="Calibri"/>
              </a:rPr>
              <a:t>data </a:t>
            </a:r>
            <a:r>
              <a:rPr sz="2400" spc="-5" dirty="0">
                <a:solidFill>
                  <a:srgbClr val="404040"/>
                </a:solidFill>
                <a:latin typeface="Calibri"/>
                <a:cs typeface="Calibri"/>
              </a:rPr>
              <a:t>(including </a:t>
            </a:r>
            <a:r>
              <a:rPr sz="2400" dirty="0">
                <a:solidFill>
                  <a:srgbClr val="404040"/>
                </a:solidFill>
                <a:latin typeface="Calibri"/>
                <a:cs typeface="Calibri"/>
              </a:rPr>
              <a:t>the </a:t>
            </a:r>
            <a:r>
              <a:rPr sz="2400" spc="-5" dirty="0">
                <a:solidFill>
                  <a:srgbClr val="404040"/>
                </a:solidFill>
                <a:latin typeface="Calibri"/>
                <a:cs typeface="Calibri"/>
              </a:rPr>
              <a:t>address byte) </a:t>
            </a:r>
            <a:r>
              <a:rPr sz="2400" dirty="0">
                <a:solidFill>
                  <a:srgbClr val="404040"/>
                </a:solidFill>
                <a:latin typeface="Calibri"/>
                <a:cs typeface="Calibri"/>
              </a:rPr>
              <a:t>is </a:t>
            </a:r>
            <a:r>
              <a:rPr sz="2400" spc="-15" dirty="0">
                <a:solidFill>
                  <a:srgbClr val="404040"/>
                </a:solidFill>
                <a:latin typeface="Calibri"/>
                <a:cs typeface="Calibri"/>
              </a:rPr>
              <a:t>followed </a:t>
            </a:r>
            <a:r>
              <a:rPr sz="2400" spc="-10" dirty="0">
                <a:solidFill>
                  <a:srgbClr val="404040"/>
                </a:solidFill>
                <a:latin typeface="Calibri"/>
                <a:cs typeface="Calibri"/>
              </a:rPr>
              <a:t>by </a:t>
            </a:r>
            <a:r>
              <a:rPr sz="2400" spc="-5" dirty="0">
                <a:solidFill>
                  <a:srgbClr val="404040"/>
                </a:solidFill>
                <a:latin typeface="Calibri"/>
                <a:cs typeface="Calibri"/>
              </a:rPr>
              <a:t>one ACK bit </a:t>
            </a:r>
            <a:r>
              <a:rPr sz="2400" spc="-15" dirty="0">
                <a:solidFill>
                  <a:srgbClr val="404040"/>
                </a:solidFill>
                <a:latin typeface="Calibri"/>
                <a:cs typeface="Calibri"/>
              </a:rPr>
              <a:t>from </a:t>
            </a:r>
            <a:r>
              <a:rPr sz="2400" spc="-530" dirty="0">
                <a:solidFill>
                  <a:srgbClr val="404040"/>
                </a:solidFill>
                <a:latin typeface="Calibri"/>
                <a:cs typeface="Calibri"/>
              </a:rPr>
              <a:t> </a:t>
            </a:r>
            <a:r>
              <a:rPr sz="2400" spc="-5" dirty="0">
                <a:solidFill>
                  <a:srgbClr val="404040"/>
                </a:solidFill>
                <a:latin typeface="Calibri"/>
                <a:cs typeface="Calibri"/>
              </a:rPr>
              <a:t>the</a:t>
            </a:r>
            <a:r>
              <a:rPr sz="2400" dirty="0">
                <a:solidFill>
                  <a:srgbClr val="404040"/>
                </a:solidFill>
                <a:latin typeface="Calibri"/>
                <a:cs typeface="Calibri"/>
              </a:rPr>
              <a:t> </a:t>
            </a:r>
            <a:r>
              <a:rPr sz="2400" spc="-35" dirty="0">
                <a:solidFill>
                  <a:srgbClr val="404040"/>
                </a:solidFill>
                <a:latin typeface="Calibri"/>
                <a:cs typeface="Calibri"/>
              </a:rPr>
              <a:t>receiver.</a:t>
            </a:r>
            <a:r>
              <a:rPr sz="2400" spc="-30" dirty="0">
                <a:solidFill>
                  <a:srgbClr val="404040"/>
                </a:solidFill>
                <a:latin typeface="Calibri"/>
                <a:cs typeface="Calibri"/>
              </a:rPr>
              <a:t> </a:t>
            </a:r>
            <a:r>
              <a:rPr sz="2400" spc="-5" dirty="0">
                <a:solidFill>
                  <a:srgbClr val="404040"/>
                </a:solidFill>
                <a:latin typeface="Calibri"/>
                <a:cs typeface="Calibri"/>
              </a:rPr>
              <a:t>The</a:t>
            </a:r>
            <a:r>
              <a:rPr sz="2400" dirty="0">
                <a:solidFill>
                  <a:srgbClr val="404040"/>
                </a:solidFill>
                <a:latin typeface="Calibri"/>
                <a:cs typeface="Calibri"/>
              </a:rPr>
              <a:t> </a:t>
            </a:r>
            <a:r>
              <a:rPr sz="2400" spc="-10" dirty="0">
                <a:solidFill>
                  <a:srgbClr val="404040"/>
                </a:solidFill>
                <a:latin typeface="Calibri"/>
                <a:cs typeface="Calibri"/>
              </a:rPr>
              <a:t>ACK</a:t>
            </a:r>
            <a:r>
              <a:rPr sz="2400" spc="-5" dirty="0">
                <a:solidFill>
                  <a:srgbClr val="404040"/>
                </a:solidFill>
                <a:latin typeface="Calibri"/>
                <a:cs typeface="Calibri"/>
              </a:rPr>
              <a:t> bit</a:t>
            </a:r>
            <a:r>
              <a:rPr sz="2400" dirty="0">
                <a:solidFill>
                  <a:srgbClr val="404040"/>
                </a:solidFill>
                <a:latin typeface="Calibri"/>
                <a:cs typeface="Calibri"/>
              </a:rPr>
              <a:t> </a:t>
            </a:r>
            <a:r>
              <a:rPr sz="2400" spc="-10" dirty="0">
                <a:solidFill>
                  <a:srgbClr val="404040"/>
                </a:solidFill>
                <a:latin typeface="Calibri"/>
                <a:cs typeface="Calibri"/>
              </a:rPr>
              <a:t>allows</a:t>
            </a:r>
            <a:r>
              <a:rPr sz="2400" spc="-5" dirty="0">
                <a:solidFill>
                  <a:srgbClr val="404040"/>
                </a:solidFill>
                <a:latin typeface="Calibri"/>
                <a:cs typeface="Calibri"/>
              </a:rPr>
              <a:t> the</a:t>
            </a:r>
            <a:r>
              <a:rPr sz="2400" dirty="0">
                <a:solidFill>
                  <a:srgbClr val="404040"/>
                </a:solidFill>
                <a:latin typeface="Calibri"/>
                <a:cs typeface="Calibri"/>
              </a:rPr>
              <a:t> </a:t>
            </a:r>
            <a:r>
              <a:rPr sz="2400" spc="-10" dirty="0">
                <a:solidFill>
                  <a:srgbClr val="404040"/>
                </a:solidFill>
                <a:latin typeface="Calibri"/>
                <a:cs typeface="Calibri"/>
              </a:rPr>
              <a:t>receiver</a:t>
            </a:r>
            <a:r>
              <a:rPr sz="2400" spc="-5" dirty="0">
                <a:solidFill>
                  <a:srgbClr val="404040"/>
                </a:solidFill>
                <a:latin typeface="Calibri"/>
                <a:cs typeface="Calibri"/>
              </a:rPr>
              <a:t> </a:t>
            </a:r>
            <a:r>
              <a:rPr sz="2400" spc="-15" dirty="0">
                <a:solidFill>
                  <a:srgbClr val="404040"/>
                </a:solidFill>
                <a:latin typeface="Calibri"/>
                <a:cs typeface="Calibri"/>
              </a:rPr>
              <a:t>to</a:t>
            </a:r>
            <a:r>
              <a:rPr sz="2400" spc="-10" dirty="0">
                <a:solidFill>
                  <a:srgbClr val="404040"/>
                </a:solidFill>
                <a:latin typeface="Calibri"/>
                <a:cs typeface="Calibri"/>
              </a:rPr>
              <a:t> communicate</a:t>
            </a:r>
            <a:r>
              <a:rPr sz="2400" spc="-5" dirty="0">
                <a:solidFill>
                  <a:srgbClr val="404040"/>
                </a:solidFill>
                <a:latin typeface="Calibri"/>
                <a:cs typeface="Calibri"/>
              </a:rPr>
              <a:t> </a:t>
            </a:r>
            <a:r>
              <a:rPr sz="2400" spc="-20" dirty="0">
                <a:solidFill>
                  <a:srgbClr val="404040"/>
                </a:solidFill>
                <a:latin typeface="Calibri"/>
                <a:cs typeface="Calibri"/>
              </a:rPr>
              <a:t>to</a:t>
            </a:r>
            <a:r>
              <a:rPr sz="2400" spc="-15" dirty="0">
                <a:solidFill>
                  <a:srgbClr val="404040"/>
                </a:solidFill>
                <a:latin typeface="Calibri"/>
                <a:cs typeface="Calibri"/>
              </a:rPr>
              <a:t> </a:t>
            </a:r>
            <a:r>
              <a:rPr sz="2400" spc="-5" dirty="0">
                <a:solidFill>
                  <a:srgbClr val="404040"/>
                </a:solidFill>
                <a:latin typeface="Calibri"/>
                <a:cs typeface="Calibri"/>
              </a:rPr>
              <a:t>the </a:t>
            </a:r>
            <a:r>
              <a:rPr sz="2400" dirty="0">
                <a:solidFill>
                  <a:srgbClr val="404040"/>
                </a:solidFill>
                <a:latin typeface="Calibri"/>
                <a:cs typeface="Calibri"/>
              </a:rPr>
              <a:t> </a:t>
            </a:r>
            <a:r>
              <a:rPr sz="2400" spc="-15" dirty="0">
                <a:solidFill>
                  <a:srgbClr val="404040"/>
                </a:solidFill>
                <a:latin typeface="Calibri"/>
                <a:cs typeface="Calibri"/>
              </a:rPr>
              <a:t>transmitter </a:t>
            </a:r>
            <a:r>
              <a:rPr sz="2400" spc="-10" dirty="0">
                <a:solidFill>
                  <a:srgbClr val="404040"/>
                </a:solidFill>
                <a:latin typeface="Calibri"/>
                <a:cs typeface="Calibri"/>
              </a:rPr>
              <a:t>that </a:t>
            </a:r>
            <a:r>
              <a:rPr sz="2400" dirty="0">
                <a:solidFill>
                  <a:srgbClr val="404040"/>
                </a:solidFill>
                <a:latin typeface="Calibri"/>
                <a:cs typeface="Calibri"/>
              </a:rPr>
              <a:t>the </a:t>
            </a:r>
            <a:r>
              <a:rPr sz="2400" spc="-10" dirty="0">
                <a:solidFill>
                  <a:srgbClr val="404040"/>
                </a:solidFill>
                <a:latin typeface="Calibri"/>
                <a:cs typeface="Calibri"/>
              </a:rPr>
              <a:t>byte was successfully received </a:t>
            </a:r>
            <a:r>
              <a:rPr sz="2400" dirty="0">
                <a:solidFill>
                  <a:srgbClr val="404040"/>
                </a:solidFill>
                <a:latin typeface="Calibri"/>
                <a:cs typeface="Calibri"/>
              </a:rPr>
              <a:t>and another </a:t>
            </a:r>
            <a:r>
              <a:rPr sz="2400" spc="-10" dirty="0">
                <a:solidFill>
                  <a:srgbClr val="404040"/>
                </a:solidFill>
                <a:latin typeface="Calibri"/>
                <a:cs typeface="Calibri"/>
              </a:rPr>
              <a:t>byte </a:t>
            </a:r>
            <a:r>
              <a:rPr sz="2400" spc="-20" dirty="0">
                <a:solidFill>
                  <a:srgbClr val="404040"/>
                </a:solidFill>
                <a:latin typeface="Calibri"/>
                <a:cs typeface="Calibri"/>
              </a:rPr>
              <a:t>may </a:t>
            </a:r>
            <a:r>
              <a:rPr sz="2400" spc="-5" dirty="0">
                <a:solidFill>
                  <a:srgbClr val="404040"/>
                </a:solidFill>
                <a:latin typeface="Calibri"/>
                <a:cs typeface="Calibri"/>
              </a:rPr>
              <a:t>be </a:t>
            </a:r>
            <a:r>
              <a:rPr sz="2400" dirty="0">
                <a:solidFill>
                  <a:srgbClr val="404040"/>
                </a:solidFill>
                <a:latin typeface="Calibri"/>
                <a:cs typeface="Calibri"/>
              </a:rPr>
              <a:t> </a:t>
            </a:r>
            <a:r>
              <a:rPr sz="2400" spc="-10" dirty="0">
                <a:solidFill>
                  <a:srgbClr val="404040"/>
                </a:solidFill>
                <a:latin typeface="Calibri"/>
                <a:cs typeface="Calibri"/>
              </a:rPr>
              <a:t>sent. </a:t>
            </a:r>
            <a:r>
              <a:rPr sz="2400" spc="-5" dirty="0">
                <a:solidFill>
                  <a:srgbClr val="404040"/>
                </a:solidFill>
                <a:latin typeface="Calibri"/>
                <a:cs typeface="Calibri"/>
              </a:rPr>
              <a:t>After </a:t>
            </a:r>
            <a:r>
              <a:rPr sz="2400" spc="-10" dirty="0">
                <a:solidFill>
                  <a:srgbClr val="404040"/>
                </a:solidFill>
                <a:latin typeface="Calibri"/>
                <a:cs typeface="Calibri"/>
              </a:rPr>
              <a:t>the </a:t>
            </a:r>
            <a:r>
              <a:rPr sz="2400" spc="-15" dirty="0">
                <a:solidFill>
                  <a:srgbClr val="404040"/>
                </a:solidFill>
                <a:latin typeface="Calibri"/>
                <a:cs typeface="Calibri"/>
              </a:rPr>
              <a:t>data </a:t>
            </a:r>
            <a:r>
              <a:rPr sz="2400" spc="-20" dirty="0">
                <a:solidFill>
                  <a:srgbClr val="404040"/>
                </a:solidFill>
                <a:latin typeface="Calibri"/>
                <a:cs typeface="Calibri"/>
              </a:rPr>
              <a:t>transfer </a:t>
            </a:r>
            <a:r>
              <a:rPr sz="2400" dirty="0">
                <a:solidFill>
                  <a:srgbClr val="404040"/>
                </a:solidFill>
                <a:latin typeface="Calibri"/>
                <a:cs typeface="Calibri"/>
              </a:rPr>
              <a:t>is </a:t>
            </a:r>
            <a:r>
              <a:rPr sz="2400" spc="-5" dirty="0">
                <a:solidFill>
                  <a:srgbClr val="404040"/>
                </a:solidFill>
                <a:latin typeface="Calibri"/>
                <a:cs typeface="Calibri"/>
              </a:rPr>
              <a:t>fully </a:t>
            </a:r>
            <a:r>
              <a:rPr sz="2400" spc="-50" dirty="0">
                <a:solidFill>
                  <a:srgbClr val="404040"/>
                </a:solidFill>
                <a:latin typeface="Calibri"/>
                <a:cs typeface="Calibri"/>
              </a:rPr>
              <a:t>over, </a:t>
            </a:r>
            <a:r>
              <a:rPr sz="2400" dirty="0">
                <a:solidFill>
                  <a:srgbClr val="404040"/>
                </a:solidFill>
                <a:latin typeface="Calibri"/>
                <a:cs typeface="Calibri"/>
              </a:rPr>
              <a:t>and the </a:t>
            </a:r>
            <a:r>
              <a:rPr sz="2400" spc="-5" dirty="0">
                <a:solidFill>
                  <a:srgbClr val="404040"/>
                </a:solidFill>
                <a:latin typeface="Calibri"/>
                <a:cs typeface="Calibri"/>
              </a:rPr>
              <a:t>final acknowledge signal </a:t>
            </a:r>
            <a:r>
              <a:rPr sz="2400" dirty="0">
                <a:solidFill>
                  <a:srgbClr val="404040"/>
                </a:solidFill>
                <a:latin typeface="Calibri"/>
                <a:cs typeface="Calibri"/>
              </a:rPr>
              <a:t>is </a:t>
            </a:r>
            <a:r>
              <a:rPr sz="2400" spc="5" dirty="0">
                <a:solidFill>
                  <a:srgbClr val="404040"/>
                </a:solidFill>
                <a:latin typeface="Calibri"/>
                <a:cs typeface="Calibri"/>
              </a:rPr>
              <a:t> </a:t>
            </a:r>
            <a:r>
              <a:rPr sz="2400" spc="-10" dirty="0">
                <a:solidFill>
                  <a:srgbClr val="404040"/>
                </a:solidFill>
                <a:latin typeface="Calibri"/>
                <a:cs typeface="Calibri"/>
              </a:rPr>
              <a:t>received, </a:t>
            </a:r>
            <a:r>
              <a:rPr sz="2400" dirty="0">
                <a:solidFill>
                  <a:srgbClr val="404040"/>
                </a:solidFill>
                <a:latin typeface="Calibri"/>
                <a:cs typeface="Calibri"/>
              </a:rPr>
              <a:t>the </a:t>
            </a:r>
            <a:r>
              <a:rPr sz="2400" spc="-10" dirty="0">
                <a:solidFill>
                  <a:srgbClr val="404040"/>
                </a:solidFill>
                <a:latin typeface="Calibri"/>
                <a:cs typeface="Calibri"/>
              </a:rPr>
              <a:t>master </a:t>
            </a:r>
            <a:r>
              <a:rPr sz="2400" spc="-5" dirty="0">
                <a:solidFill>
                  <a:srgbClr val="404040"/>
                </a:solidFill>
                <a:latin typeface="Calibri"/>
                <a:cs typeface="Calibri"/>
              </a:rPr>
              <a:t>sends </a:t>
            </a:r>
            <a:r>
              <a:rPr sz="2400" dirty="0">
                <a:solidFill>
                  <a:srgbClr val="404040"/>
                </a:solidFill>
                <a:latin typeface="Calibri"/>
                <a:cs typeface="Calibri"/>
              </a:rPr>
              <a:t>the </a:t>
            </a:r>
            <a:r>
              <a:rPr sz="2400" spc="-25" dirty="0">
                <a:solidFill>
                  <a:srgbClr val="404040"/>
                </a:solidFill>
                <a:latin typeface="Calibri"/>
                <a:cs typeface="Calibri"/>
              </a:rPr>
              <a:t>STOP </a:t>
            </a:r>
            <a:r>
              <a:rPr sz="2400" spc="-5" dirty="0">
                <a:solidFill>
                  <a:srgbClr val="404040"/>
                </a:solidFill>
                <a:latin typeface="Calibri"/>
                <a:cs typeface="Calibri"/>
              </a:rPr>
              <a:t>signal. </a:t>
            </a:r>
            <a:r>
              <a:rPr sz="2400" spc="-25" dirty="0">
                <a:solidFill>
                  <a:srgbClr val="404040"/>
                </a:solidFill>
                <a:latin typeface="Calibri"/>
                <a:cs typeface="Calibri"/>
              </a:rPr>
              <a:t>Before </a:t>
            </a:r>
            <a:r>
              <a:rPr sz="2400" dirty="0">
                <a:solidFill>
                  <a:srgbClr val="404040"/>
                </a:solidFill>
                <a:latin typeface="Calibri"/>
                <a:cs typeface="Calibri"/>
              </a:rPr>
              <a:t>the </a:t>
            </a:r>
            <a:r>
              <a:rPr sz="2400" spc="-10" dirty="0">
                <a:solidFill>
                  <a:srgbClr val="404040"/>
                </a:solidFill>
                <a:latin typeface="Calibri"/>
                <a:cs typeface="Calibri"/>
              </a:rPr>
              <a:t>receiver can </a:t>
            </a:r>
            <a:r>
              <a:rPr sz="2400" spc="-5" dirty="0">
                <a:solidFill>
                  <a:srgbClr val="404040"/>
                </a:solidFill>
                <a:latin typeface="Calibri"/>
                <a:cs typeface="Calibri"/>
              </a:rPr>
              <a:t>send </a:t>
            </a:r>
            <a:r>
              <a:rPr sz="2400" dirty="0">
                <a:solidFill>
                  <a:srgbClr val="404040"/>
                </a:solidFill>
                <a:latin typeface="Calibri"/>
                <a:cs typeface="Calibri"/>
              </a:rPr>
              <a:t>an </a:t>
            </a:r>
            <a:r>
              <a:rPr sz="2400" spc="5" dirty="0">
                <a:solidFill>
                  <a:srgbClr val="404040"/>
                </a:solidFill>
                <a:latin typeface="Calibri"/>
                <a:cs typeface="Calibri"/>
              </a:rPr>
              <a:t> </a:t>
            </a:r>
            <a:r>
              <a:rPr sz="2400" spc="-10" dirty="0">
                <a:solidFill>
                  <a:srgbClr val="404040"/>
                </a:solidFill>
                <a:latin typeface="Calibri"/>
                <a:cs typeface="Calibri"/>
              </a:rPr>
              <a:t>ACK,</a:t>
            </a:r>
            <a:r>
              <a:rPr sz="2400" spc="-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15" dirty="0">
                <a:solidFill>
                  <a:srgbClr val="404040"/>
                </a:solidFill>
                <a:latin typeface="Calibri"/>
                <a:cs typeface="Calibri"/>
              </a:rPr>
              <a:t>transmitter</a:t>
            </a:r>
            <a:r>
              <a:rPr sz="2400" spc="-10" dirty="0">
                <a:solidFill>
                  <a:srgbClr val="404040"/>
                </a:solidFill>
                <a:latin typeface="Calibri"/>
                <a:cs typeface="Calibri"/>
              </a:rPr>
              <a:t> must</a:t>
            </a:r>
            <a:r>
              <a:rPr sz="2400" spc="-5" dirty="0">
                <a:solidFill>
                  <a:srgbClr val="404040"/>
                </a:solidFill>
                <a:latin typeface="Calibri"/>
                <a:cs typeface="Calibri"/>
              </a:rPr>
              <a:t> </a:t>
            </a:r>
            <a:r>
              <a:rPr sz="2400" spc="-10" dirty="0">
                <a:solidFill>
                  <a:srgbClr val="404040"/>
                </a:solidFill>
                <a:latin typeface="Calibri"/>
                <a:cs typeface="Calibri"/>
              </a:rPr>
              <a:t>release</a:t>
            </a:r>
            <a:r>
              <a:rPr sz="2400" spc="-5" dirty="0">
                <a:solidFill>
                  <a:srgbClr val="404040"/>
                </a:solidFill>
                <a:latin typeface="Calibri"/>
                <a:cs typeface="Calibri"/>
              </a:rPr>
              <a:t> </a:t>
            </a:r>
            <a:r>
              <a:rPr sz="2400" dirty="0">
                <a:solidFill>
                  <a:srgbClr val="404040"/>
                </a:solidFill>
                <a:latin typeface="Calibri"/>
                <a:cs typeface="Calibri"/>
              </a:rPr>
              <a:t>the</a:t>
            </a:r>
            <a:r>
              <a:rPr sz="2400" spc="5" dirty="0">
                <a:solidFill>
                  <a:srgbClr val="404040"/>
                </a:solidFill>
                <a:latin typeface="Calibri"/>
                <a:cs typeface="Calibri"/>
              </a:rPr>
              <a:t> </a:t>
            </a:r>
            <a:r>
              <a:rPr sz="2400" spc="-15" dirty="0">
                <a:solidFill>
                  <a:srgbClr val="404040"/>
                </a:solidFill>
                <a:latin typeface="Calibri"/>
                <a:cs typeface="Calibri"/>
              </a:rPr>
              <a:t>SDA</a:t>
            </a:r>
            <a:r>
              <a:rPr sz="2400" spc="-10" dirty="0">
                <a:solidFill>
                  <a:srgbClr val="404040"/>
                </a:solidFill>
                <a:latin typeface="Calibri"/>
                <a:cs typeface="Calibri"/>
              </a:rPr>
              <a:t> </a:t>
            </a:r>
            <a:r>
              <a:rPr sz="2400" dirty="0">
                <a:solidFill>
                  <a:srgbClr val="404040"/>
                </a:solidFill>
                <a:latin typeface="Calibri"/>
                <a:cs typeface="Calibri"/>
              </a:rPr>
              <a:t>line.</a:t>
            </a:r>
            <a:r>
              <a:rPr sz="2400" spc="5" dirty="0">
                <a:solidFill>
                  <a:srgbClr val="404040"/>
                </a:solidFill>
                <a:latin typeface="Calibri"/>
                <a:cs typeface="Calibri"/>
              </a:rPr>
              <a:t> </a:t>
            </a:r>
            <a:r>
              <a:rPr sz="2400" spc="-105" dirty="0">
                <a:solidFill>
                  <a:srgbClr val="404040"/>
                </a:solidFill>
                <a:latin typeface="Calibri"/>
                <a:cs typeface="Calibri"/>
              </a:rPr>
              <a:t>To</a:t>
            </a:r>
            <a:r>
              <a:rPr sz="2400" spc="-100" dirty="0">
                <a:solidFill>
                  <a:srgbClr val="404040"/>
                </a:solidFill>
                <a:latin typeface="Calibri"/>
                <a:cs typeface="Calibri"/>
              </a:rPr>
              <a:t> </a:t>
            </a:r>
            <a:r>
              <a:rPr sz="2400" dirty="0">
                <a:solidFill>
                  <a:srgbClr val="404040"/>
                </a:solidFill>
                <a:latin typeface="Calibri"/>
                <a:cs typeface="Calibri"/>
              </a:rPr>
              <a:t>send</a:t>
            </a:r>
            <a:r>
              <a:rPr sz="2400" spc="5" dirty="0">
                <a:solidFill>
                  <a:srgbClr val="404040"/>
                </a:solidFill>
                <a:latin typeface="Calibri"/>
                <a:cs typeface="Calibri"/>
              </a:rPr>
              <a:t> </a:t>
            </a:r>
            <a:r>
              <a:rPr sz="2400" dirty="0">
                <a:solidFill>
                  <a:srgbClr val="404040"/>
                </a:solidFill>
                <a:latin typeface="Calibri"/>
                <a:cs typeface="Calibri"/>
              </a:rPr>
              <a:t>an</a:t>
            </a:r>
            <a:r>
              <a:rPr sz="2400" spc="5" dirty="0">
                <a:solidFill>
                  <a:srgbClr val="404040"/>
                </a:solidFill>
                <a:latin typeface="Calibri"/>
                <a:cs typeface="Calibri"/>
              </a:rPr>
              <a:t> </a:t>
            </a:r>
            <a:r>
              <a:rPr sz="2400" spc="-5" dirty="0">
                <a:solidFill>
                  <a:srgbClr val="404040"/>
                </a:solidFill>
                <a:latin typeface="Calibri"/>
                <a:cs typeface="Calibri"/>
              </a:rPr>
              <a:t>ACK</a:t>
            </a:r>
            <a:r>
              <a:rPr sz="2400" dirty="0">
                <a:solidFill>
                  <a:srgbClr val="404040"/>
                </a:solidFill>
                <a:latin typeface="Calibri"/>
                <a:cs typeface="Calibri"/>
              </a:rPr>
              <a:t> </a:t>
            </a:r>
            <a:r>
              <a:rPr sz="2400" spc="-5" dirty="0">
                <a:solidFill>
                  <a:srgbClr val="404040"/>
                </a:solidFill>
                <a:latin typeface="Calibri"/>
                <a:cs typeface="Calibri"/>
              </a:rPr>
              <a:t>bit,</a:t>
            </a:r>
            <a:r>
              <a:rPr sz="2400" dirty="0">
                <a:solidFill>
                  <a:srgbClr val="404040"/>
                </a:solidFill>
                <a:latin typeface="Calibri"/>
                <a:cs typeface="Calibri"/>
              </a:rPr>
              <a:t> the </a:t>
            </a:r>
            <a:r>
              <a:rPr sz="2400" spc="-530" dirty="0">
                <a:solidFill>
                  <a:srgbClr val="404040"/>
                </a:solidFill>
                <a:latin typeface="Calibri"/>
                <a:cs typeface="Calibri"/>
              </a:rPr>
              <a:t> </a:t>
            </a:r>
            <a:r>
              <a:rPr sz="2400" spc="-10" dirty="0">
                <a:solidFill>
                  <a:srgbClr val="404040"/>
                </a:solidFill>
                <a:latin typeface="Calibri"/>
                <a:cs typeface="Calibri"/>
              </a:rPr>
              <a:t>receiver</a:t>
            </a:r>
            <a:r>
              <a:rPr sz="2400" dirty="0">
                <a:solidFill>
                  <a:srgbClr val="404040"/>
                </a:solidFill>
                <a:latin typeface="Calibri"/>
                <a:cs typeface="Calibri"/>
              </a:rPr>
              <a:t> </a:t>
            </a:r>
            <a:r>
              <a:rPr sz="2400" spc="-5" dirty="0">
                <a:solidFill>
                  <a:srgbClr val="404040"/>
                </a:solidFill>
                <a:latin typeface="Calibri"/>
                <a:cs typeface="Calibri"/>
              </a:rPr>
              <a:t>shall</a:t>
            </a:r>
            <a:r>
              <a:rPr sz="2400" spc="-15" dirty="0">
                <a:solidFill>
                  <a:srgbClr val="404040"/>
                </a:solidFill>
                <a:latin typeface="Calibri"/>
                <a:cs typeface="Calibri"/>
              </a:rPr>
              <a:t> </a:t>
            </a:r>
            <a:r>
              <a:rPr sz="2400" spc="-5" dirty="0">
                <a:solidFill>
                  <a:srgbClr val="404040"/>
                </a:solidFill>
                <a:latin typeface="Calibri"/>
                <a:cs typeface="Calibri"/>
              </a:rPr>
              <a:t>pull</a:t>
            </a:r>
            <a:r>
              <a:rPr sz="2400" dirty="0">
                <a:solidFill>
                  <a:srgbClr val="404040"/>
                </a:solidFill>
                <a:latin typeface="Calibri"/>
                <a:cs typeface="Calibri"/>
              </a:rPr>
              <a:t> </a:t>
            </a:r>
            <a:r>
              <a:rPr sz="2400" spc="-10" dirty="0">
                <a:solidFill>
                  <a:srgbClr val="404040"/>
                </a:solidFill>
                <a:latin typeface="Calibri"/>
                <a:cs typeface="Calibri"/>
              </a:rPr>
              <a:t>down</a:t>
            </a:r>
            <a:r>
              <a:rPr sz="2400" spc="-5" dirty="0">
                <a:solidFill>
                  <a:srgbClr val="404040"/>
                </a:solidFill>
                <a:latin typeface="Calibri"/>
                <a:cs typeface="Calibri"/>
              </a:rPr>
              <a:t> </a:t>
            </a:r>
            <a:r>
              <a:rPr sz="2400" dirty="0">
                <a:solidFill>
                  <a:srgbClr val="404040"/>
                </a:solidFill>
                <a:latin typeface="Calibri"/>
                <a:cs typeface="Calibri"/>
              </a:rPr>
              <a:t>the </a:t>
            </a:r>
            <a:r>
              <a:rPr sz="2400" spc="-15" dirty="0">
                <a:solidFill>
                  <a:srgbClr val="404040"/>
                </a:solidFill>
                <a:latin typeface="Calibri"/>
                <a:cs typeface="Calibri"/>
              </a:rPr>
              <a:t>SDA </a:t>
            </a:r>
            <a:r>
              <a:rPr sz="2400" dirty="0">
                <a:solidFill>
                  <a:srgbClr val="404040"/>
                </a:solidFill>
                <a:latin typeface="Calibri"/>
                <a:cs typeface="Calibri"/>
              </a:rPr>
              <a:t>line.</a:t>
            </a:r>
            <a:endParaRPr sz="2400">
              <a:latin typeface="Calibri"/>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41</a:t>
            </a:r>
            <a:endParaRPr sz="1050">
              <a:latin typeface="Calibri"/>
              <a:cs typeface="Calibri"/>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41</a:t>
            </a:r>
            <a:endParaRPr sz="1050">
              <a:latin typeface="Calibri"/>
              <a:cs typeface="Calibri"/>
            </a:endParaRPr>
          </a:p>
        </p:txBody>
      </p:sp>
      <p:sp>
        <p:nvSpPr>
          <p:cNvPr id="3" name="TextBox 2"/>
          <p:cNvSpPr txBox="1"/>
          <p:nvPr/>
        </p:nvSpPr>
        <p:spPr>
          <a:xfrm>
            <a:off x="1193290" y="1362568"/>
            <a:ext cx="8342054" cy="2616101"/>
          </a:xfrm>
          <a:prstGeom prst="rect">
            <a:avLst/>
          </a:prstGeom>
          <a:noFill/>
        </p:spPr>
        <p:txBody>
          <a:bodyPr wrap="square" rtlCol="0">
            <a:spAutoFit/>
          </a:bodyPr>
          <a:lstStyle/>
          <a:p>
            <a:r>
              <a:rPr lang="en-US" sz="2400" b="1" dirty="0" smtClean="0"/>
              <a:t>The steps are summarized as follows</a:t>
            </a:r>
          </a:p>
          <a:p>
            <a:r>
              <a:rPr lang="en-US" sz="2000" dirty="0" smtClean="0"/>
              <a:t>1.Send the start signal. This is done by master.</a:t>
            </a:r>
          </a:p>
          <a:p>
            <a:r>
              <a:rPr lang="en-US" sz="2000" dirty="0" smtClean="0"/>
              <a:t>2.Send the slave address.</a:t>
            </a:r>
          </a:p>
          <a:p>
            <a:r>
              <a:rPr lang="en-US" sz="2000" dirty="0" smtClean="0"/>
              <a:t>3.Send the Read/Write signal.</a:t>
            </a:r>
          </a:p>
          <a:p>
            <a:r>
              <a:rPr lang="en-US" sz="2000" dirty="0" smtClean="0"/>
              <a:t>4.Wait for send an acknowledge bit(ACK).</a:t>
            </a:r>
          </a:p>
          <a:p>
            <a:r>
              <a:rPr lang="en-US" sz="2000" dirty="0" smtClean="0"/>
              <a:t>5.Send/Receive the data byte(8 bits)(DATA).</a:t>
            </a:r>
          </a:p>
          <a:p>
            <a:r>
              <a:rPr lang="en-US" sz="2000" dirty="0" smtClean="0"/>
              <a:t>6.Expect/Send acknowledge bit(ACK).</a:t>
            </a:r>
          </a:p>
          <a:p>
            <a:r>
              <a:rPr lang="en-US" sz="2000" dirty="0" smtClean="0"/>
              <a:t>7.Send the Stop Bit.</a:t>
            </a:r>
            <a:endParaRPr lang="en-IN" sz="2000" dirty="0"/>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089" y="4095171"/>
            <a:ext cx="6834188"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306" y="5398255"/>
            <a:ext cx="3404208" cy="102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115582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23</a:t>
            </a:r>
            <a:r>
              <a:rPr sz="900" dirty="0">
                <a:solidFill>
                  <a:srgbClr val="FFFFFF"/>
                </a:solidFill>
                <a:latin typeface="Calibri"/>
                <a:cs typeface="Calibri"/>
              </a:rPr>
              <a:t>-</a:t>
            </a:r>
            <a:r>
              <a:rPr sz="900" spc="-5" dirty="0">
                <a:solidFill>
                  <a:srgbClr val="FFFFFF"/>
                </a:solidFill>
                <a:latin typeface="Calibri"/>
                <a:cs typeface="Calibri"/>
              </a:rPr>
              <a:t>06</a:t>
            </a:r>
            <a:r>
              <a:rPr sz="900" dirty="0">
                <a:solidFill>
                  <a:srgbClr val="FFFFFF"/>
                </a:solidFill>
                <a:latin typeface="Calibri"/>
                <a:cs typeface="Calibri"/>
              </a:rPr>
              <a:t>-20</a:t>
            </a:r>
            <a:r>
              <a:rPr sz="900" spc="-15" dirty="0">
                <a:solidFill>
                  <a:srgbClr val="FFFFFF"/>
                </a:solidFill>
                <a:latin typeface="Calibri"/>
                <a:cs typeface="Calibri"/>
              </a:rPr>
              <a:t>2</a:t>
            </a:r>
            <a:r>
              <a:rPr sz="900" dirty="0">
                <a:solidFill>
                  <a:srgbClr val="FFFFFF"/>
                </a:solidFill>
                <a:latin typeface="Calibri"/>
                <a:cs typeface="Calibri"/>
              </a:rPr>
              <a:t>0</a:t>
            </a:r>
            <a:endParaRPr sz="900">
              <a:latin typeface="Calibri"/>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a:lnSpc>
                <a:spcPct val="100000"/>
              </a:lnSpc>
              <a:spcBef>
                <a:spcPts val="100"/>
              </a:spcBef>
            </a:pPr>
            <a:r>
              <a:rPr sz="900" spc="-5" dirty="0">
                <a:solidFill>
                  <a:srgbClr val="FFFFFF"/>
                </a:solidFill>
                <a:latin typeface="Calibri"/>
                <a:cs typeface="Calibri"/>
              </a:rPr>
              <a:t>PRASHANTH</a:t>
            </a:r>
            <a:r>
              <a:rPr sz="900" spc="-15" dirty="0">
                <a:solidFill>
                  <a:srgbClr val="FFFFFF"/>
                </a:solidFill>
                <a:latin typeface="Calibri"/>
                <a:cs typeface="Calibri"/>
              </a:rPr>
              <a:t> </a:t>
            </a:r>
            <a:r>
              <a:rPr sz="900" dirty="0">
                <a:solidFill>
                  <a:srgbClr val="FFFFFF"/>
                </a:solidFill>
                <a:latin typeface="Calibri"/>
                <a:cs typeface="Calibri"/>
              </a:rPr>
              <a:t>KAMBLI,</a:t>
            </a:r>
            <a:r>
              <a:rPr sz="900" spc="-20" dirty="0">
                <a:solidFill>
                  <a:srgbClr val="FFFFFF"/>
                </a:solidFill>
                <a:latin typeface="Calibri"/>
                <a:cs typeface="Calibri"/>
              </a:rPr>
              <a:t> </a:t>
            </a:r>
            <a:r>
              <a:rPr sz="900" dirty="0">
                <a:solidFill>
                  <a:srgbClr val="FFFFFF"/>
                </a:solidFill>
                <a:latin typeface="Calibri"/>
                <a:cs typeface="Calibri"/>
              </a:rPr>
              <a:t>DEPT.</a:t>
            </a:r>
            <a:r>
              <a:rPr sz="900" spc="-50" dirty="0">
                <a:solidFill>
                  <a:srgbClr val="FFFFFF"/>
                </a:solidFill>
                <a:latin typeface="Calibri"/>
                <a:cs typeface="Calibri"/>
              </a:rPr>
              <a:t> </a:t>
            </a:r>
            <a:r>
              <a:rPr sz="900" dirty="0">
                <a:solidFill>
                  <a:srgbClr val="FFFFFF"/>
                </a:solidFill>
                <a:latin typeface="Calibri"/>
                <a:cs typeface="Calibri"/>
              </a:rPr>
              <a:t>OF</a:t>
            </a:r>
            <a:r>
              <a:rPr sz="900" spc="-25" dirty="0">
                <a:solidFill>
                  <a:srgbClr val="FFFFFF"/>
                </a:solidFill>
                <a:latin typeface="Calibri"/>
                <a:cs typeface="Calibri"/>
              </a:rPr>
              <a:t> </a:t>
            </a:r>
            <a:r>
              <a:rPr sz="900" spc="-5" dirty="0">
                <a:solidFill>
                  <a:srgbClr val="FFFFFF"/>
                </a:solidFill>
                <a:latin typeface="Calibri"/>
                <a:cs typeface="Calibri"/>
              </a:rPr>
              <a:t>ISE,</a:t>
            </a:r>
            <a:r>
              <a:rPr sz="900" spc="-10" dirty="0">
                <a:solidFill>
                  <a:srgbClr val="FFFFFF"/>
                </a:solidFill>
                <a:latin typeface="Calibri"/>
                <a:cs typeface="Calibri"/>
              </a:rPr>
              <a:t> </a:t>
            </a:r>
            <a:r>
              <a:rPr sz="900" dirty="0">
                <a:solidFill>
                  <a:srgbClr val="FFFFFF"/>
                </a:solidFill>
                <a:latin typeface="Calibri"/>
                <a:cs typeface="Calibri"/>
              </a:rPr>
              <a:t>RIT</a:t>
            </a:r>
            <a:endParaRPr sz="900">
              <a:latin typeface="Calibri"/>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a:lnSpc>
                <a:spcPct val="100000"/>
              </a:lnSpc>
              <a:spcBef>
                <a:spcPts val="105"/>
              </a:spcBef>
            </a:pPr>
            <a:r>
              <a:rPr sz="1050" dirty="0">
                <a:solidFill>
                  <a:srgbClr val="FFFFFF"/>
                </a:solidFill>
                <a:latin typeface="Calibri"/>
                <a:cs typeface="Calibri"/>
              </a:rPr>
              <a:t>41</a:t>
            </a:r>
            <a:endParaRPr sz="1050">
              <a:latin typeface="Calibri"/>
              <a:cs typeface="Calibri"/>
            </a:endParaRPr>
          </a:p>
        </p:txBody>
      </p:sp>
      <p:sp>
        <p:nvSpPr>
          <p:cNvPr id="3" name="TextBox 2"/>
          <p:cNvSpPr txBox="1"/>
          <p:nvPr/>
        </p:nvSpPr>
        <p:spPr>
          <a:xfrm>
            <a:off x="1176324" y="2369127"/>
            <a:ext cx="10087421" cy="36933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spc="-15" dirty="0" smtClean="0">
                <a:solidFill>
                  <a:srgbClr val="404040"/>
                </a:solidFill>
                <a:latin typeface="Calibri"/>
                <a:cs typeface="Calibri"/>
              </a:rPr>
              <a:t>I2C </a:t>
            </a:r>
            <a:r>
              <a:rPr lang="en-US" sz="2400" spc="-15" dirty="0">
                <a:solidFill>
                  <a:srgbClr val="404040"/>
                </a:solidFill>
                <a:latin typeface="Calibri"/>
                <a:cs typeface="Calibri"/>
              </a:rPr>
              <a:t>requires only two pins to perform serial data transfer.</a:t>
            </a:r>
          </a:p>
          <a:p>
            <a:pPr marL="285750" indent="-285750">
              <a:lnSpc>
                <a:spcPct val="150000"/>
              </a:lnSpc>
              <a:buFont typeface="Arial" panose="020B0604020202020204" pitchFamily="34" charset="0"/>
              <a:buChar char="•"/>
            </a:pPr>
            <a:r>
              <a:rPr lang="en-US" sz="2400" spc="-15" dirty="0">
                <a:solidFill>
                  <a:srgbClr val="404040"/>
                </a:solidFill>
                <a:latin typeface="Calibri"/>
                <a:cs typeface="Calibri"/>
              </a:rPr>
              <a:t>The ACK signal ensures good synchronization between the transmitter and receiver.</a:t>
            </a:r>
          </a:p>
          <a:p>
            <a:pPr marL="285750" indent="-285750">
              <a:lnSpc>
                <a:spcPct val="150000"/>
              </a:lnSpc>
              <a:buFont typeface="Arial" panose="020B0604020202020204" pitchFamily="34" charset="0"/>
              <a:buChar char="•"/>
            </a:pPr>
            <a:r>
              <a:rPr lang="en-US" sz="2400" spc="-15" dirty="0">
                <a:solidFill>
                  <a:srgbClr val="404040"/>
                </a:solidFill>
                <a:latin typeface="Calibri"/>
                <a:cs typeface="Calibri"/>
              </a:rPr>
              <a:t>Earlier version of I2C had only a speed 100KHZ,but now the I2C specifications supports up to 3.4 MHZ clock speed.</a:t>
            </a:r>
          </a:p>
          <a:p>
            <a:pPr marL="285750" indent="-285750">
              <a:lnSpc>
                <a:spcPct val="150000"/>
              </a:lnSpc>
              <a:buFont typeface="Arial" panose="020B0604020202020204" pitchFamily="34" charset="0"/>
              <a:buChar char="•"/>
            </a:pPr>
            <a:r>
              <a:rPr lang="en-US" sz="2400" spc="-15" dirty="0">
                <a:solidFill>
                  <a:srgbClr val="404040"/>
                </a:solidFill>
                <a:latin typeface="Calibri"/>
                <a:cs typeface="Calibri"/>
              </a:rPr>
              <a:t>This protocol can be used in a </a:t>
            </a:r>
            <a:r>
              <a:rPr lang="en-US" sz="2400" spc="-15" dirty="0" err="1">
                <a:solidFill>
                  <a:srgbClr val="404040"/>
                </a:solidFill>
                <a:latin typeface="Calibri"/>
                <a:cs typeface="Calibri"/>
              </a:rPr>
              <a:t>muti</a:t>
            </a:r>
            <a:r>
              <a:rPr lang="en-US" sz="2400" spc="-15" dirty="0">
                <a:solidFill>
                  <a:srgbClr val="404040"/>
                </a:solidFill>
                <a:latin typeface="Calibri"/>
                <a:cs typeface="Calibri"/>
              </a:rPr>
              <a:t> master environment.</a:t>
            </a:r>
          </a:p>
          <a:p>
            <a:pPr marL="285750" indent="-285750">
              <a:buFont typeface="Arial" panose="020B0604020202020204" pitchFamily="34" charset="0"/>
              <a:buChar char="•"/>
            </a:pPr>
            <a:endParaRPr lang="en-IN" dirty="0"/>
          </a:p>
        </p:txBody>
      </p:sp>
      <p:sp>
        <p:nvSpPr>
          <p:cNvPr id="4" name="Rectangle 3"/>
          <p:cNvSpPr/>
          <p:nvPr/>
        </p:nvSpPr>
        <p:spPr>
          <a:xfrm>
            <a:off x="1487923" y="1199608"/>
            <a:ext cx="8244308" cy="584775"/>
          </a:xfrm>
          <a:prstGeom prst="rect">
            <a:avLst/>
          </a:prstGeom>
        </p:spPr>
        <p:txBody>
          <a:bodyPr wrap="none">
            <a:spAutoFit/>
          </a:bodyPr>
          <a:lstStyle/>
          <a:p>
            <a:r>
              <a:rPr lang="en-US" sz="3200" b="1" spc="-15" dirty="0">
                <a:solidFill>
                  <a:srgbClr val="404040"/>
                </a:solidFill>
                <a:cs typeface="Calibri"/>
              </a:rPr>
              <a:t>The positive aspects of this protocol are follows</a:t>
            </a:r>
            <a:r>
              <a:rPr lang="en-US" b="1" spc="-15" dirty="0">
                <a:solidFill>
                  <a:srgbClr val="404040"/>
                </a:solidFill>
                <a:cs typeface="Calibri"/>
              </a:rPr>
              <a:t>:</a:t>
            </a:r>
          </a:p>
        </p:txBody>
      </p:sp>
    </p:spTree>
    <p:extLst>
      <p:ext uri="{BB962C8B-B14F-4D97-AF65-F5344CB8AC3E}">
        <p14:creationId xmlns:p14="http://schemas.microsoft.com/office/powerpoint/2010/main" val="89616935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txBox="1">
            <a:spLocks noGrp="1"/>
          </p:cNvSpPr>
          <p:nvPr>
            <p:ph type="title"/>
          </p:nvPr>
        </p:nvSpPr>
        <p:spPr>
          <a:xfrm>
            <a:off x="1176324" y="908684"/>
            <a:ext cx="7793990" cy="756920"/>
          </a:xfrm>
          <a:prstGeom prst="rect">
            <a:avLst/>
          </a:prstGeom>
        </p:spPr>
        <p:txBody>
          <a:bodyPr vert="horz" wrap="square" lIns="0" tIns="12700" rIns="0" bIns="0" rtlCol="0">
            <a:spAutoFit/>
          </a:bodyPr>
          <a:lstStyle/>
          <a:p>
            <a:pPr marL="12700">
              <a:lnSpc>
                <a:spcPct val="100000"/>
              </a:lnSpc>
              <a:spcBef>
                <a:spcPts val="100"/>
              </a:spcBef>
            </a:pPr>
            <a:r>
              <a:rPr sz="4800" b="0" spc="-40" dirty="0">
                <a:solidFill>
                  <a:srgbClr val="00AFEF"/>
                </a:solidFill>
                <a:latin typeface="Calibri Light"/>
                <a:cs typeface="Calibri Light"/>
              </a:rPr>
              <a:t>2.14.2</a:t>
            </a:r>
            <a:r>
              <a:rPr sz="4800" b="0" spc="-114" dirty="0">
                <a:solidFill>
                  <a:srgbClr val="00AFEF"/>
                </a:solidFill>
                <a:latin typeface="Calibri Light"/>
                <a:cs typeface="Calibri Light"/>
              </a:rPr>
              <a:t> </a:t>
            </a:r>
            <a:r>
              <a:rPr sz="4800" b="0" spc="-45" dirty="0">
                <a:solidFill>
                  <a:srgbClr val="00AFEF"/>
                </a:solidFill>
                <a:latin typeface="Calibri Light"/>
                <a:cs typeface="Calibri Light"/>
              </a:rPr>
              <a:t>Serial</a:t>
            </a:r>
            <a:r>
              <a:rPr sz="4800" b="0" spc="-95" dirty="0">
                <a:solidFill>
                  <a:srgbClr val="00AFEF"/>
                </a:solidFill>
                <a:latin typeface="Calibri Light"/>
                <a:cs typeface="Calibri Light"/>
              </a:rPr>
              <a:t> </a:t>
            </a:r>
            <a:r>
              <a:rPr sz="4800" b="0" spc="-70" dirty="0">
                <a:solidFill>
                  <a:srgbClr val="00AFEF"/>
                </a:solidFill>
                <a:latin typeface="Calibri Light"/>
                <a:cs typeface="Calibri Light"/>
              </a:rPr>
              <a:t>Peripheral</a:t>
            </a:r>
            <a:r>
              <a:rPr sz="4800" b="0" spc="-105" dirty="0">
                <a:solidFill>
                  <a:srgbClr val="00AFEF"/>
                </a:solidFill>
                <a:latin typeface="Calibri Light"/>
                <a:cs typeface="Calibri Light"/>
              </a:rPr>
              <a:t> </a:t>
            </a:r>
            <a:r>
              <a:rPr sz="4800" b="0" spc="-70" dirty="0">
                <a:solidFill>
                  <a:srgbClr val="00AFEF"/>
                </a:solidFill>
                <a:latin typeface="Calibri Light"/>
                <a:cs typeface="Calibri Light"/>
              </a:rPr>
              <a:t>Interface</a:t>
            </a:r>
            <a:endParaRPr sz="4800">
              <a:latin typeface="Calibri Light"/>
              <a:cs typeface="Calibri Light"/>
            </a:endParaRPr>
          </a:p>
        </p:txBody>
      </p:sp>
      <p:sp>
        <p:nvSpPr>
          <p:cNvPr id="7" name="object 7"/>
          <p:cNvSpPr txBox="1"/>
          <p:nvPr/>
        </p:nvSpPr>
        <p:spPr>
          <a:xfrm>
            <a:off x="1084580" y="1822830"/>
            <a:ext cx="9956165" cy="4512133"/>
          </a:xfrm>
          <a:prstGeom prst="rect">
            <a:avLst/>
          </a:prstGeom>
        </p:spPr>
        <p:txBody>
          <a:bodyPr vert="horz" wrap="square" lIns="0" tIns="53975" rIns="0" bIns="0" rtlCol="0">
            <a:spAutoFit/>
          </a:bodyPr>
          <a:lstStyle/>
          <a:p>
            <a:pPr marL="104139" marR="132080" lvl="0" indent="-92075" algn="l" defTabSz="914400" rtl="0" eaLnBrk="1" fontAlgn="auto" latinLnBrk="0" hangingPunct="1">
              <a:lnSpc>
                <a:spcPts val="2590"/>
              </a:lnSpc>
              <a:spcBef>
                <a:spcPts val="425"/>
              </a:spcBef>
              <a:spcAft>
                <a:spcPts val="0"/>
              </a:spcAft>
              <a:buClr>
                <a:srgbClr val="E38312"/>
              </a:buClr>
              <a:buSzPct val="95833"/>
              <a:buFont typeface="Wingdings"/>
              <a:buChar char=""/>
              <a:tabLst>
                <a:tab pos="285115" algn="l"/>
              </a:tabLst>
              <a:defRPr/>
            </a:pPr>
            <a:r>
              <a:rPr kumimoji="0" sz="2400" b="0" i="0" u="none" strike="noStrike" kern="1200" cap="none" spc="-5" normalizeH="0" baseline="0" noProof="0" dirty="0">
                <a:ln>
                  <a:noFill/>
                </a:ln>
                <a:solidFill>
                  <a:srgbClr val="404040"/>
                </a:solidFill>
                <a:effectLst/>
                <a:uLnTx/>
                <a:uFillTx/>
                <a:latin typeface="Calibri"/>
                <a:ea typeface="+mn-ea"/>
                <a:cs typeface="Calibri"/>
              </a:rPr>
              <a:t>The</a:t>
            </a:r>
            <a:r>
              <a:rPr kumimoji="0" sz="2400" b="0" i="0" u="none" strike="noStrike" kern="1200" cap="none" spc="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Serial </a:t>
            </a:r>
            <a:r>
              <a:rPr kumimoji="0" sz="2400" b="0" i="0" u="none" strike="noStrike" kern="1200" cap="none" spc="-10" normalizeH="0" baseline="0" noProof="0" dirty="0">
                <a:ln>
                  <a:noFill/>
                </a:ln>
                <a:solidFill>
                  <a:srgbClr val="404040"/>
                </a:solidFill>
                <a:effectLst/>
                <a:uLnTx/>
                <a:uFillTx/>
                <a:latin typeface="Calibri"/>
                <a:ea typeface="+mn-ea"/>
                <a:cs typeface="Calibri"/>
              </a:rPr>
              <a:t>Peripheral </a:t>
            </a:r>
            <a:r>
              <a:rPr kumimoji="0" sz="2400" b="0" i="0" u="none" strike="noStrike" kern="1200" cap="none" spc="-15" normalizeH="0" baseline="0" noProof="0" dirty="0">
                <a:ln>
                  <a:noFill/>
                </a:ln>
                <a:solidFill>
                  <a:srgbClr val="404040"/>
                </a:solidFill>
                <a:effectLst/>
                <a:uLnTx/>
                <a:uFillTx/>
                <a:latin typeface="Calibri"/>
                <a:ea typeface="+mn-ea"/>
                <a:cs typeface="Calibri"/>
              </a:rPr>
              <a:t>Interface</a:t>
            </a:r>
            <a:r>
              <a:rPr kumimoji="0" sz="2400" b="0" i="0" u="none" strike="noStrike" kern="1200" cap="none" spc="-5" normalizeH="0" baseline="0" noProof="0" dirty="0">
                <a:ln>
                  <a:noFill/>
                </a:ln>
                <a:solidFill>
                  <a:srgbClr val="404040"/>
                </a:solidFill>
                <a:effectLst/>
                <a:uLnTx/>
                <a:uFillTx/>
                <a:latin typeface="Calibri"/>
                <a:ea typeface="+mn-ea"/>
                <a:cs typeface="Calibri"/>
              </a:rPr>
              <a:t> (SPI)</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is</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another</a:t>
            </a:r>
            <a:r>
              <a:rPr kumimoji="0" sz="2400" b="0" i="0" u="none" strike="noStrike" kern="1200" cap="none" spc="-5" normalizeH="0" baseline="0" noProof="0" dirty="0">
                <a:ln>
                  <a:noFill/>
                </a:ln>
                <a:solidFill>
                  <a:srgbClr val="404040"/>
                </a:solidFill>
                <a:effectLst/>
                <a:uLnTx/>
                <a:uFillTx/>
                <a:latin typeface="Calibri"/>
                <a:ea typeface="+mn-ea"/>
                <a:cs typeface="Calibri"/>
              </a:rPr>
              <a:t> </a:t>
            </a:r>
            <a:r>
              <a:rPr kumimoji="0" sz="2400" b="0" i="0" u="none" strike="noStrike" kern="1200" cap="none" spc="-10" normalizeH="0" baseline="0" noProof="0" dirty="0">
                <a:ln>
                  <a:noFill/>
                </a:ln>
                <a:solidFill>
                  <a:srgbClr val="404040"/>
                </a:solidFill>
                <a:effectLst/>
                <a:uLnTx/>
                <a:uFillTx/>
                <a:latin typeface="Calibri"/>
                <a:ea typeface="+mn-ea"/>
                <a:cs typeface="Calibri"/>
              </a:rPr>
              <a:t>on-board</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15" normalizeH="0" baseline="0" noProof="0" dirty="0">
                <a:ln>
                  <a:noFill/>
                </a:ln>
                <a:solidFill>
                  <a:srgbClr val="404040"/>
                </a:solidFill>
                <a:effectLst/>
                <a:uLnTx/>
                <a:uFillTx/>
                <a:latin typeface="Calibri"/>
                <a:ea typeface="+mn-ea"/>
                <a:cs typeface="Calibri"/>
              </a:rPr>
              <a:t>protocol.</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It</a:t>
            </a:r>
            <a:r>
              <a:rPr kumimoji="0" sz="2400" b="0" i="0" u="none" strike="noStrike" kern="1200" cap="none" spc="-20"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has </a:t>
            </a:r>
            <a:r>
              <a:rPr kumimoji="0" sz="2400" b="0" i="0" u="none" strike="noStrike" kern="1200" cap="none" spc="-10" normalizeH="0" baseline="0" noProof="0" dirty="0">
                <a:ln>
                  <a:noFill/>
                </a:ln>
                <a:solidFill>
                  <a:srgbClr val="404040"/>
                </a:solidFill>
                <a:effectLst/>
                <a:uLnTx/>
                <a:uFillTx/>
                <a:latin typeface="Calibri"/>
                <a:ea typeface="+mn-ea"/>
                <a:cs typeface="Calibri"/>
              </a:rPr>
              <a:t>three </a:t>
            </a:r>
            <a:r>
              <a:rPr kumimoji="0" sz="2400" b="0" i="0" u="none" strike="noStrike" kern="1200" cap="none" spc="-52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signals</a:t>
            </a:r>
            <a:r>
              <a:rPr kumimoji="0" sz="2400" b="0" i="0" u="none" strike="noStrike" kern="1200" cap="none" spc="-2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and</a:t>
            </a:r>
            <a:r>
              <a:rPr kumimoji="0" sz="2400" b="0" i="0" u="none" strike="noStrike" kern="1200" cap="none" spc="5"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is</a:t>
            </a:r>
            <a:r>
              <a:rPr kumimoji="0" sz="2400" b="0" i="0" u="none" strike="noStrike" kern="1200" cap="none" spc="-15"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also</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a</a:t>
            </a:r>
            <a:r>
              <a:rPr kumimoji="0" sz="2400" b="0" i="0" u="none" strike="noStrike" kern="1200" cap="none" spc="-5" normalizeH="0" baseline="0" noProof="0" dirty="0">
                <a:ln>
                  <a:noFill/>
                </a:ln>
                <a:solidFill>
                  <a:srgbClr val="404040"/>
                </a:solidFill>
                <a:effectLst/>
                <a:uLnTx/>
                <a:uFillTx/>
                <a:latin typeface="Calibri"/>
                <a:ea typeface="+mn-ea"/>
                <a:cs typeface="Calibri"/>
              </a:rPr>
              <a:t> </a:t>
            </a:r>
            <a:r>
              <a:rPr kumimoji="0" sz="2400" b="0" i="0" u="none" strike="noStrike" kern="1200" cap="none" spc="-10" normalizeH="0" baseline="0" noProof="0" dirty="0">
                <a:ln>
                  <a:noFill/>
                </a:ln>
                <a:solidFill>
                  <a:srgbClr val="404040"/>
                </a:solidFill>
                <a:effectLst/>
                <a:uLnTx/>
                <a:uFillTx/>
                <a:latin typeface="Calibri"/>
                <a:ea typeface="+mn-ea"/>
                <a:cs typeface="Calibri"/>
              </a:rPr>
              <a:t>master</a:t>
            </a:r>
            <a:r>
              <a:rPr kumimoji="0" sz="2400" b="0" i="0" u="none" strike="noStrike" kern="1200" cap="none" spc="-25" normalizeH="0" baseline="0" noProof="0" dirty="0">
                <a:ln>
                  <a:noFill/>
                </a:ln>
                <a:solidFill>
                  <a:srgbClr val="404040"/>
                </a:solidFill>
                <a:effectLst/>
                <a:uLnTx/>
                <a:uFillTx/>
                <a:latin typeface="Calibri"/>
                <a:ea typeface="+mn-ea"/>
                <a:cs typeface="Calibri"/>
              </a:rPr>
              <a:t> </a:t>
            </a:r>
            <a:r>
              <a:rPr kumimoji="0" sz="2400" b="0" i="0" u="none" strike="noStrike" kern="1200" cap="none" spc="-20" normalizeH="0" baseline="0" noProof="0" dirty="0">
                <a:ln>
                  <a:noFill/>
                </a:ln>
                <a:solidFill>
                  <a:srgbClr val="404040"/>
                </a:solidFill>
                <a:effectLst/>
                <a:uLnTx/>
                <a:uFillTx/>
                <a:latin typeface="Calibri"/>
                <a:ea typeface="+mn-ea"/>
                <a:cs typeface="Calibri"/>
              </a:rPr>
              <a:t>slave</a:t>
            </a:r>
            <a:r>
              <a:rPr kumimoji="0" sz="2400" b="0" i="0" u="none" strike="noStrike" kern="1200" cap="none" spc="0" normalizeH="0" baseline="0" noProof="0" dirty="0">
                <a:ln>
                  <a:noFill/>
                </a:ln>
                <a:solidFill>
                  <a:srgbClr val="404040"/>
                </a:solidFill>
                <a:effectLst/>
                <a:uLnTx/>
                <a:uFillTx/>
                <a:latin typeface="Calibri"/>
                <a:ea typeface="+mn-ea"/>
                <a:cs typeface="Calibri"/>
              </a:rPr>
              <a:t> </a:t>
            </a:r>
            <a:r>
              <a:rPr kumimoji="0" sz="2400" b="0" i="0" u="none" strike="noStrike" kern="1200" cap="none" spc="-15" normalizeH="0" baseline="0" noProof="0" dirty="0">
                <a:ln>
                  <a:noFill/>
                </a:ln>
                <a:solidFill>
                  <a:srgbClr val="404040"/>
                </a:solidFill>
                <a:effectLst/>
                <a:uLnTx/>
                <a:uFillTx/>
                <a:latin typeface="Calibri"/>
                <a:ea typeface="+mn-ea"/>
                <a:cs typeface="Calibri"/>
              </a:rPr>
              <a:t>protocol.</a:t>
            </a:r>
            <a:r>
              <a:rPr kumimoji="0" sz="2400" b="0" i="0" u="none" strike="noStrike" kern="1200" cap="none" spc="-25" normalizeH="0" baseline="0" noProof="0" dirty="0">
                <a:ln>
                  <a:noFill/>
                </a:ln>
                <a:solidFill>
                  <a:srgbClr val="404040"/>
                </a:solidFill>
                <a:effectLst/>
                <a:uLnTx/>
                <a:uFillTx/>
                <a:latin typeface="Calibri"/>
                <a:ea typeface="+mn-ea"/>
                <a:cs typeface="Calibri"/>
              </a:rPr>
              <a:t> </a:t>
            </a:r>
            <a:endParaRPr kumimoji="0" lang="en-US" sz="2400" b="0" i="0" u="none" strike="noStrike" kern="1200" cap="none" spc="-25" normalizeH="0" baseline="0" noProof="0" dirty="0" smtClean="0">
              <a:ln>
                <a:noFill/>
              </a:ln>
              <a:solidFill>
                <a:srgbClr val="404040"/>
              </a:solidFill>
              <a:effectLst/>
              <a:uLnTx/>
              <a:uFillTx/>
              <a:latin typeface="Calibri"/>
              <a:ea typeface="+mn-ea"/>
              <a:cs typeface="Calibri"/>
            </a:endParaRPr>
          </a:p>
          <a:p>
            <a:pPr marL="104139" marR="132080" lvl="0" indent="-92075" algn="l" defTabSz="914400" rtl="0" eaLnBrk="1" fontAlgn="auto" latinLnBrk="0" hangingPunct="1">
              <a:lnSpc>
                <a:spcPts val="2590"/>
              </a:lnSpc>
              <a:spcBef>
                <a:spcPts val="425"/>
              </a:spcBef>
              <a:spcAft>
                <a:spcPts val="0"/>
              </a:spcAft>
              <a:buClr>
                <a:srgbClr val="E38312"/>
              </a:buClr>
              <a:buSzPct val="95833"/>
              <a:buFont typeface="Wingdings"/>
              <a:buChar char=""/>
              <a:tabLst>
                <a:tab pos="285115" algn="l"/>
              </a:tabLst>
              <a:defRPr/>
            </a:pPr>
            <a:r>
              <a:rPr kumimoji="0" sz="2400" b="0" i="0" u="none" strike="noStrike" kern="1200" cap="none" spc="0" normalizeH="0" baseline="0" noProof="0" dirty="0" smtClean="0">
                <a:ln>
                  <a:noFill/>
                </a:ln>
                <a:solidFill>
                  <a:srgbClr val="404040"/>
                </a:solidFill>
                <a:effectLst/>
                <a:uLnTx/>
                <a:uFillTx/>
                <a:latin typeface="Calibri"/>
                <a:ea typeface="+mn-ea"/>
                <a:cs typeface="Calibri"/>
              </a:rPr>
              <a:t>An </a:t>
            </a:r>
            <a:r>
              <a:rPr kumimoji="0" sz="2400" b="0" i="0" u="none" strike="noStrike" kern="1200" cap="none" spc="-5" normalizeH="0" baseline="0" noProof="0" dirty="0">
                <a:ln>
                  <a:noFill/>
                </a:ln>
                <a:solidFill>
                  <a:srgbClr val="404040"/>
                </a:solidFill>
                <a:effectLst/>
                <a:uLnTx/>
                <a:uFillTx/>
                <a:latin typeface="Calibri"/>
                <a:ea typeface="+mn-ea"/>
                <a:cs typeface="Calibri"/>
              </a:rPr>
              <a:t>SPI</a:t>
            </a:r>
            <a:r>
              <a:rPr kumimoji="0" sz="2400" b="0" i="0" u="none" strike="noStrike" kern="1200" cap="none" spc="-2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bus</a:t>
            </a:r>
            <a:r>
              <a:rPr kumimoji="0" sz="2400" b="0" i="0" u="none" strike="noStrike" kern="1200" cap="none" spc="0"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has only</a:t>
            </a:r>
            <a:r>
              <a:rPr kumimoji="0" sz="2400" b="0" i="0" u="none" strike="noStrike" kern="1200" cap="none" spc="-1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one</a:t>
            </a:r>
            <a:r>
              <a:rPr kumimoji="0" sz="2400" b="0" i="0" u="none" strike="noStrike" kern="1200" cap="none" spc="5" normalizeH="0" baseline="0" noProof="0" dirty="0">
                <a:ln>
                  <a:noFill/>
                </a:ln>
                <a:solidFill>
                  <a:srgbClr val="404040"/>
                </a:solidFill>
                <a:effectLst/>
                <a:uLnTx/>
                <a:uFillTx/>
                <a:latin typeface="Calibri"/>
                <a:ea typeface="+mn-ea"/>
                <a:cs typeface="Calibri"/>
              </a:rPr>
              <a:t> </a:t>
            </a:r>
            <a:r>
              <a:rPr kumimoji="0" sz="2400" b="0" i="0" u="none" strike="noStrike" kern="1200" cap="none" spc="-45" normalizeH="0" baseline="0" noProof="0" dirty="0">
                <a:ln>
                  <a:noFill/>
                </a:ln>
                <a:solidFill>
                  <a:srgbClr val="404040"/>
                </a:solidFill>
                <a:effectLst/>
                <a:uLnTx/>
                <a:uFillTx/>
                <a:latin typeface="Calibri"/>
                <a:ea typeface="+mn-ea"/>
                <a:cs typeface="Calibri"/>
              </a:rPr>
              <a:t>master.</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84480" marR="0" lvl="0" indent="-272415" algn="l" defTabSz="914400" rtl="0" eaLnBrk="1" fontAlgn="auto" latinLnBrk="0" hangingPunct="1">
              <a:lnSpc>
                <a:spcPct val="100000"/>
              </a:lnSpc>
              <a:spcBef>
                <a:spcPts val="1085"/>
              </a:spcBef>
              <a:spcAft>
                <a:spcPts val="0"/>
              </a:spcAft>
              <a:buClr>
                <a:srgbClr val="E38312"/>
              </a:buClr>
              <a:buSzPct val="95833"/>
              <a:buFont typeface="Wingdings"/>
              <a:buChar char=""/>
              <a:tabLst>
                <a:tab pos="285115" algn="l"/>
              </a:tabLst>
              <a:defRPr/>
            </a:pPr>
            <a:r>
              <a:rPr kumimoji="0" sz="2400" b="0" i="0" u="none" strike="noStrike" kern="1200" cap="none" spc="0" normalizeH="0" baseline="0" noProof="0" dirty="0">
                <a:ln>
                  <a:noFill/>
                </a:ln>
                <a:solidFill>
                  <a:srgbClr val="404040"/>
                </a:solidFill>
                <a:effectLst/>
                <a:uLnTx/>
                <a:uFillTx/>
                <a:latin typeface="Calibri"/>
                <a:ea typeface="+mn-ea"/>
                <a:cs typeface="Calibri"/>
              </a:rPr>
              <a:t>It</a:t>
            </a:r>
            <a:r>
              <a:rPr kumimoji="0" sz="2400" b="0" i="0" u="none" strike="noStrike" kern="1200" cap="none" spc="-30" normalizeH="0" baseline="0" noProof="0" dirty="0">
                <a:ln>
                  <a:noFill/>
                </a:ln>
                <a:solidFill>
                  <a:srgbClr val="404040"/>
                </a:solidFill>
                <a:effectLst/>
                <a:uLnTx/>
                <a:uFillTx/>
                <a:latin typeface="Calibri"/>
                <a:ea typeface="+mn-ea"/>
                <a:cs typeface="Calibri"/>
              </a:rPr>
              <a:t> </a:t>
            </a:r>
            <a:r>
              <a:rPr kumimoji="0" sz="2400" b="0" i="0" u="none" strike="noStrike" kern="1200" cap="none" spc="-10" normalizeH="0" baseline="0" noProof="0" dirty="0">
                <a:ln>
                  <a:noFill/>
                </a:ln>
                <a:solidFill>
                  <a:srgbClr val="404040"/>
                </a:solidFill>
                <a:effectLst/>
                <a:uLnTx/>
                <a:uFillTx/>
                <a:latin typeface="Calibri"/>
                <a:ea typeface="+mn-ea"/>
                <a:cs typeface="Calibri"/>
              </a:rPr>
              <a:t>can</a:t>
            </a:r>
            <a:r>
              <a:rPr kumimoji="0" sz="2400" b="0" i="0" u="none" strike="noStrike" kern="1200" cap="none" spc="-15" normalizeH="0" baseline="0" noProof="0" dirty="0">
                <a:ln>
                  <a:noFill/>
                </a:ln>
                <a:solidFill>
                  <a:srgbClr val="404040"/>
                </a:solidFill>
                <a:effectLst/>
                <a:uLnTx/>
                <a:uFillTx/>
                <a:latin typeface="Calibri"/>
                <a:ea typeface="+mn-ea"/>
                <a:cs typeface="Calibri"/>
              </a:rPr>
              <a:t> </a:t>
            </a:r>
            <a:r>
              <a:rPr kumimoji="0" sz="2400" b="0" i="0" u="none" strike="noStrike" kern="1200" cap="none" spc="-20" normalizeH="0" baseline="0" noProof="0" dirty="0">
                <a:ln>
                  <a:noFill/>
                </a:ln>
                <a:solidFill>
                  <a:srgbClr val="404040"/>
                </a:solidFill>
                <a:effectLst/>
                <a:uLnTx/>
                <a:uFillTx/>
                <a:latin typeface="Calibri"/>
                <a:ea typeface="+mn-ea"/>
                <a:cs typeface="Calibri"/>
              </a:rPr>
              <a:t>have</a:t>
            </a:r>
            <a:r>
              <a:rPr kumimoji="0" sz="2400" b="0" i="0" u="none" strike="noStrike" kern="1200" cap="none" spc="-5" normalizeH="0" baseline="0" noProof="0" dirty="0">
                <a:ln>
                  <a:noFill/>
                </a:ln>
                <a:solidFill>
                  <a:srgbClr val="404040"/>
                </a:solidFill>
                <a:effectLst/>
                <a:uLnTx/>
                <a:uFillTx/>
                <a:latin typeface="Calibri"/>
                <a:ea typeface="+mn-ea"/>
                <a:cs typeface="Calibri"/>
              </a:rPr>
              <a:t> </a:t>
            </a:r>
            <a:r>
              <a:rPr kumimoji="0" sz="2400" b="0" i="0" u="none" strike="noStrike" kern="1200" cap="none" spc="-10" normalizeH="0" baseline="0" noProof="0" dirty="0">
                <a:ln>
                  <a:noFill/>
                </a:ln>
                <a:solidFill>
                  <a:srgbClr val="404040"/>
                </a:solidFill>
                <a:effectLst/>
                <a:uLnTx/>
                <a:uFillTx/>
                <a:latin typeface="Calibri"/>
                <a:ea typeface="+mn-ea"/>
                <a:cs typeface="Calibri"/>
              </a:rPr>
              <a:t>more </a:t>
            </a:r>
            <a:r>
              <a:rPr kumimoji="0" sz="2400" b="0" i="0" u="none" strike="noStrike" kern="1200" cap="none" spc="0" normalizeH="0" baseline="0" noProof="0" dirty="0">
                <a:ln>
                  <a:noFill/>
                </a:ln>
                <a:solidFill>
                  <a:srgbClr val="404040"/>
                </a:solidFill>
                <a:effectLst/>
                <a:uLnTx/>
                <a:uFillTx/>
                <a:latin typeface="Calibri"/>
                <a:ea typeface="+mn-ea"/>
                <a:cs typeface="Calibri"/>
              </a:rPr>
              <a:t>than</a:t>
            </a:r>
            <a:r>
              <a:rPr kumimoji="0" sz="2400" b="0" i="0" u="none" strike="noStrike" kern="1200" cap="none" spc="-1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one </a:t>
            </a:r>
            <a:r>
              <a:rPr kumimoji="0" sz="2400" b="0" i="0" u="none" strike="noStrike" kern="1200" cap="none" spc="-15" normalizeH="0" baseline="0" noProof="0" dirty="0">
                <a:ln>
                  <a:noFill/>
                </a:ln>
                <a:solidFill>
                  <a:srgbClr val="404040"/>
                </a:solidFill>
                <a:effectLst/>
                <a:uLnTx/>
                <a:uFillTx/>
                <a:latin typeface="Calibri"/>
                <a:ea typeface="+mn-ea"/>
                <a:cs typeface="Calibri"/>
              </a:rPr>
              <a:t>slave.</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284480" marR="0" lvl="0" indent="-272415" algn="l" defTabSz="914400" rtl="0" eaLnBrk="1" fontAlgn="auto" latinLnBrk="0" hangingPunct="1">
              <a:lnSpc>
                <a:spcPct val="100000"/>
              </a:lnSpc>
              <a:spcBef>
                <a:spcPts val="1115"/>
              </a:spcBef>
              <a:spcAft>
                <a:spcPts val="0"/>
              </a:spcAft>
              <a:buClr>
                <a:srgbClr val="E38312"/>
              </a:buClr>
              <a:buSzPct val="95833"/>
              <a:buFont typeface="Wingdings"/>
              <a:buChar char=""/>
              <a:tabLst>
                <a:tab pos="285115" algn="l"/>
              </a:tabLst>
              <a:defRPr/>
            </a:pPr>
            <a:r>
              <a:rPr kumimoji="0" sz="2400" b="0" i="0" u="none" strike="noStrike" kern="1200" cap="none" spc="-10" normalizeH="0" baseline="0" noProof="0" dirty="0">
                <a:ln>
                  <a:noFill/>
                </a:ln>
                <a:solidFill>
                  <a:srgbClr val="404040"/>
                </a:solidFill>
                <a:effectLst/>
                <a:uLnTx/>
                <a:uFillTx/>
                <a:latin typeface="Calibri"/>
                <a:ea typeface="+mn-ea"/>
                <a:cs typeface="Calibri"/>
              </a:rPr>
              <a:t>There</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is a</a:t>
            </a:r>
            <a:r>
              <a:rPr kumimoji="0" sz="2400" b="0" i="0" u="none" strike="noStrike" kern="1200" cap="none" spc="-20" normalizeH="0" baseline="0" noProof="0" dirty="0">
                <a:ln>
                  <a:noFill/>
                </a:ln>
                <a:solidFill>
                  <a:srgbClr val="404040"/>
                </a:solidFill>
                <a:effectLst/>
                <a:uLnTx/>
                <a:uFillTx/>
                <a:latin typeface="Calibri"/>
                <a:ea typeface="+mn-ea"/>
                <a:cs typeface="Calibri"/>
              </a:rPr>
              <a:t> slave</a:t>
            </a:r>
            <a:r>
              <a:rPr kumimoji="0" sz="2400" b="0" i="0" u="none" strike="noStrike" kern="1200" cap="none" spc="0" normalizeH="0" baseline="0" noProof="0" dirty="0">
                <a:ln>
                  <a:noFill/>
                </a:ln>
                <a:solidFill>
                  <a:srgbClr val="404040"/>
                </a:solidFill>
                <a:effectLst/>
                <a:uLnTx/>
                <a:uFillTx/>
                <a:latin typeface="Calibri"/>
                <a:ea typeface="+mn-ea"/>
                <a:cs typeface="Calibri"/>
              </a:rPr>
              <a:t> Select</a:t>
            </a:r>
            <a:r>
              <a:rPr kumimoji="0" sz="2400" b="0" i="0" u="none" strike="noStrike" kern="1200" cap="none" spc="-1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signal</a:t>
            </a:r>
            <a:r>
              <a:rPr kumimoji="0" sz="2400" b="0" i="0" u="none" strike="noStrike" kern="1200" cap="none" spc="-2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in the </a:t>
            </a:r>
            <a:r>
              <a:rPr kumimoji="0" sz="2400" b="0" i="0" u="none" strike="noStrike" kern="1200" cap="none" spc="-10" normalizeH="0" baseline="0" noProof="0" dirty="0">
                <a:ln>
                  <a:noFill/>
                </a:ln>
                <a:solidFill>
                  <a:srgbClr val="404040"/>
                </a:solidFill>
                <a:effectLst/>
                <a:uLnTx/>
                <a:uFillTx/>
                <a:latin typeface="Calibri"/>
                <a:ea typeface="+mn-ea"/>
                <a:cs typeface="Calibri"/>
              </a:rPr>
              <a:t>master</a:t>
            </a:r>
            <a:r>
              <a:rPr kumimoji="0" sz="2400" b="0" i="0" u="none" strike="noStrike" kern="1200" cap="none" spc="-25"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using</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which</a:t>
            </a:r>
            <a:r>
              <a:rPr kumimoji="0" sz="2400" b="0" i="0" u="none" strike="noStrike" kern="1200" cap="none" spc="-10" normalizeH="0" baseline="0" noProof="0" dirty="0">
                <a:ln>
                  <a:noFill/>
                </a:ln>
                <a:solidFill>
                  <a:srgbClr val="404040"/>
                </a:solidFill>
                <a:effectLst/>
                <a:uLnTx/>
                <a:uFillTx/>
                <a:latin typeface="Calibri"/>
                <a:ea typeface="+mn-ea"/>
                <a:cs typeface="Calibri"/>
              </a:rPr>
              <a:t> </a:t>
            </a:r>
            <a:r>
              <a:rPr kumimoji="0" sz="2400" b="0" i="0" u="none" strike="noStrike" kern="1200" cap="none" spc="0" normalizeH="0" baseline="0" noProof="0" dirty="0">
                <a:ln>
                  <a:noFill/>
                </a:ln>
                <a:solidFill>
                  <a:srgbClr val="404040"/>
                </a:solidFill>
                <a:effectLst/>
                <a:uLnTx/>
                <a:uFillTx/>
                <a:latin typeface="Calibri"/>
                <a:ea typeface="+mn-ea"/>
                <a:cs typeface="Calibri"/>
              </a:rPr>
              <a:t>a</a:t>
            </a:r>
            <a:r>
              <a:rPr kumimoji="0" sz="2400" b="0" i="0" u="none" strike="noStrike" kern="1200" cap="none" spc="-15" normalizeH="0" baseline="0" noProof="0" dirty="0">
                <a:ln>
                  <a:noFill/>
                </a:ln>
                <a:solidFill>
                  <a:srgbClr val="404040"/>
                </a:solidFill>
                <a:effectLst/>
                <a:uLnTx/>
                <a:uFillTx/>
                <a:latin typeface="Calibri"/>
                <a:ea typeface="+mn-ea"/>
                <a:cs typeface="Calibri"/>
              </a:rPr>
              <a:t> </a:t>
            </a:r>
            <a:r>
              <a:rPr kumimoji="0" sz="2400" b="0" i="0" u="none" strike="noStrike" kern="1200" cap="none" spc="-20" normalizeH="0" baseline="0" noProof="0" dirty="0">
                <a:ln>
                  <a:noFill/>
                </a:ln>
                <a:solidFill>
                  <a:srgbClr val="404040"/>
                </a:solidFill>
                <a:effectLst/>
                <a:uLnTx/>
                <a:uFillTx/>
                <a:latin typeface="Calibri"/>
                <a:ea typeface="+mn-ea"/>
                <a:cs typeface="Calibri"/>
              </a:rPr>
              <a:t>slave</a:t>
            </a:r>
            <a:r>
              <a:rPr kumimoji="0" sz="2400" b="0" i="0" u="none" strike="noStrike" kern="1200" cap="none" spc="0" normalizeH="0" baseline="0" noProof="0" dirty="0">
                <a:ln>
                  <a:noFill/>
                </a:ln>
                <a:solidFill>
                  <a:srgbClr val="404040"/>
                </a:solidFill>
                <a:effectLst/>
                <a:uLnTx/>
                <a:uFillTx/>
                <a:latin typeface="Calibri"/>
                <a:ea typeface="+mn-ea"/>
                <a:cs typeface="Calibri"/>
              </a:rPr>
              <a:t> </a:t>
            </a:r>
            <a:r>
              <a:rPr kumimoji="0" sz="2400" b="0" i="0" u="none" strike="noStrike" kern="1200" cap="none" spc="-10" normalizeH="0" baseline="0" noProof="0" dirty="0">
                <a:ln>
                  <a:noFill/>
                </a:ln>
                <a:solidFill>
                  <a:srgbClr val="404040"/>
                </a:solidFill>
                <a:effectLst/>
                <a:uLnTx/>
                <a:uFillTx/>
                <a:latin typeface="Calibri"/>
                <a:ea typeface="+mn-ea"/>
                <a:cs typeface="Calibri"/>
              </a:rPr>
              <a:t>can</a:t>
            </a:r>
            <a:r>
              <a:rPr kumimoji="0" sz="2400" b="0" i="0" u="none" strike="noStrike" kern="1200" cap="none" spc="-5" normalizeH="0" baseline="0" noProof="0" dirty="0">
                <a:ln>
                  <a:noFill/>
                </a:ln>
                <a:solidFill>
                  <a:srgbClr val="404040"/>
                </a:solidFill>
                <a:effectLst/>
                <a:uLnTx/>
                <a:uFillTx/>
                <a:latin typeface="Calibri"/>
                <a:ea typeface="+mn-ea"/>
                <a:cs typeface="Calibri"/>
              </a:rPr>
              <a:t> be selected.</a:t>
            </a:r>
            <a:endParaRPr kumimoji="0" sz="2400" b="0" i="0" u="none" strike="noStrike" kern="1200" cap="none" spc="0" normalizeH="0" baseline="0" noProof="0" dirty="0">
              <a:ln>
                <a:noFill/>
              </a:ln>
              <a:solidFill>
                <a:prstClr val="black"/>
              </a:solidFill>
              <a:effectLst/>
              <a:uLnTx/>
              <a:uFillTx/>
              <a:latin typeface="Calibri"/>
              <a:ea typeface="+mn-ea"/>
              <a:cs typeface="Calibri"/>
            </a:endParaRPr>
          </a:p>
          <a:p>
            <a:pPr marL="104139" marR="149225" lvl="0" indent="-92075" algn="l" defTabSz="914400" rtl="0" eaLnBrk="1" fontAlgn="auto" latinLnBrk="0" hangingPunct="1">
              <a:lnSpc>
                <a:spcPts val="2590"/>
              </a:lnSpc>
              <a:spcBef>
                <a:spcPts val="1430"/>
              </a:spcBef>
              <a:spcAft>
                <a:spcPts val="0"/>
              </a:spcAft>
              <a:buClr>
                <a:srgbClr val="E38312"/>
              </a:buClr>
              <a:buSzPct val="95833"/>
              <a:buFont typeface="Wingdings"/>
              <a:buChar char=""/>
              <a:tabLst>
                <a:tab pos="285115" algn="l"/>
              </a:tabLst>
              <a:defRPr/>
            </a:pPr>
            <a:r>
              <a:rPr kumimoji="0" sz="2400" b="0" i="0" u="none" strike="noStrike" kern="1200" cap="none" spc="-5" normalizeH="0" baseline="0" noProof="0" dirty="0">
                <a:ln>
                  <a:noFill/>
                </a:ln>
                <a:solidFill>
                  <a:srgbClr val="404040"/>
                </a:solidFill>
                <a:effectLst/>
                <a:uLnTx/>
                <a:uFillTx/>
                <a:latin typeface="Calibri"/>
                <a:ea typeface="+mn-ea"/>
                <a:cs typeface="Calibri"/>
              </a:rPr>
              <a:t>The </a:t>
            </a:r>
            <a:r>
              <a:rPr kumimoji="0" sz="2400" b="0" i="0" u="none" strike="noStrike" kern="1200" cap="none" spc="-15" normalizeH="0" baseline="0" noProof="0" dirty="0">
                <a:ln>
                  <a:noFill/>
                </a:ln>
                <a:solidFill>
                  <a:srgbClr val="404040"/>
                </a:solidFill>
                <a:effectLst/>
                <a:uLnTx/>
                <a:uFillTx/>
                <a:latin typeface="Calibri"/>
                <a:ea typeface="+mn-ea"/>
                <a:cs typeface="Calibri"/>
              </a:rPr>
              <a:t>data </a:t>
            </a:r>
            <a:r>
              <a:rPr kumimoji="0" sz="2400" b="0" i="0" u="none" strike="noStrike" kern="1200" cap="none" spc="-5" normalizeH="0" baseline="0" noProof="0" dirty="0">
                <a:ln>
                  <a:noFill/>
                </a:ln>
                <a:solidFill>
                  <a:srgbClr val="404040"/>
                </a:solidFill>
                <a:effectLst/>
                <a:uLnTx/>
                <a:uFillTx/>
                <a:latin typeface="Calibri"/>
                <a:ea typeface="+mn-ea"/>
                <a:cs typeface="Calibri"/>
              </a:rPr>
              <a:t>transmission between </a:t>
            </a:r>
            <a:r>
              <a:rPr kumimoji="0" sz="2400" b="0" i="0" u="none" strike="noStrike" kern="1200" cap="none" spc="0" normalizeH="0" baseline="0" noProof="0" dirty="0">
                <a:ln>
                  <a:noFill/>
                </a:ln>
                <a:solidFill>
                  <a:srgbClr val="404040"/>
                </a:solidFill>
                <a:effectLst/>
                <a:uLnTx/>
                <a:uFillTx/>
                <a:latin typeface="Calibri"/>
                <a:ea typeface="+mn-ea"/>
                <a:cs typeface="Calibri"/>
              </a:rPr>
              <a:t>the </a:t>
            </a:r>
            <a:r>
              <a:rPr kumimoji="0" sz="2400" b="0" i="0" u="none" strike="noStrike" kern="1200" cap="none" spc="-10" normalizeH="0" baseline="0" noProof="0" dirty="0">
                <a:ln>
                  <a:noFill/>
                </a:ln>
                <a:solidFill>
                  <a:srgbClr val="404040"/>
                </a:solidFill>
                <a:effectLst/>
                <a:uLnTx/>
                <a:uFillTx/>
                <a:latin typeface="Calibri"/>
                <a:ea typeface="+mn-ea"/>
                <a:cs typeface="Calibri"/>
              </a:rPr>
              <a:t>master </a:t>
            </a:r>
            <a:r>
              <a:rPr kumimoji="0" sz="2400" b="0" i="0" u="none" strike="noStrike" kern="1200" cap="none" spc="0" normalizeH="0" baseline="0" noProof="0" dirty="0">
                <a:ln>
                  <a:noFill/>
                </a:ln>
                <a:solidFill>
                  <a:srgbClr val="404040"/>
                </a:solidFill>
                <a:effectLst/>
                <a:uLnTx/>
                <a:uFillTx/>
                <a:latin typeface="Calibri"/>
                <a:ea typeface="+mn-ea"/>
                <a:cs typeface="Calibri"/>
              </a:rPr>
              <a:t>and </a:t>
            </a:r>
            <a:r>
              <a:rPr kumimoji="0" sz="2400" b="0" i="0" u="none" strike="noStrike" kern="1200" cap="none" spc="-5" normalizeH="0" baseline="0" noProof="0" dirty="0">
                <a:ln>
                  <a:noFill/>
                </a:ln>
                <a:solidFill>
                  <a:srgbClr val="404040"/>
                </a:solidFill>
                <a:effectLst/>
                <a:uLnTx/>
                <a:uFillTx/>
                <a:latin typeface="Calibri"/>
                <a:ea typeface="+mn-ea"/>
                <a:cs typeface="Calibri"/>
              </a:rPr>
              <a:t>one </a:t>
            </a:r>
            <a:r>
              <a:rPr kumimoji="0" sz="2400" b="0" i="0" u="none" strike="noStrike" kern="1200" cap="none" spc="-20" normalizeH="0" baseline="0" noProof="0" dirty="0">
                <a:ln>
                  <a:noFill/>
                </a:ln>
                <a:solidFill>
                  <a:srgbClr val="404040"/>
                </a:solidFill>
                <a:effectLst/>
                <a:uLnTx/>
                <a:uFillTx/>
                <a:latin typeface="Calibri"/>
                <a:ea typeface="+mn-ea"/>
                <a:cs typeface="Calibri"/>
              </a:rPr>
              <a:t>slave </a:t>
            </a:r>
            <a:r>
              <a:rPr kumimoji="0" sz="2400" b="0" i="0" u="none" strike="noStrike" kern="1200" cap="none" spc="-10" normalizeH="0" baseline="0" noProof="0" dirty="0">
                <a:ln>
                  <a:noFill/>
                </a:ln>
                <a:solidFill>
                  <a:srgbClr val="404040"/>
                </a:solidFill>
                <a:effectLst/>
                <a:uLnTx/>
                <a:uFillTx/>
                <a:latin typeface="Calibri"/>
                <a:ea typeface="+mn-ea"/>
                <a:cs typeface="Calibri"/>
              </a:rPr>
              <a:t>occurs through two </a:t>
            </a:r>
            <a:r>
              <a:rPr kumimoji="0" sz="2400" b="0" i="0" u="none" strike="noStrike" kern="1200" cap="none" spc="-530" normalizeH="0" baseline="0" noProof="0" dirty="0">
                <a:ln>
                  <a:noFill/>
                </a:ln>
                <a:solidFill>
                  <a:srgbClr val="404040"/>
                </a:solidFill>
                <a:effectLst/>
                <a:uLnTx/>
                <a:uFillTx/>
                <a:latin typeface="Calibri"/>
                <a:ea typeface="+mn-ea"/>
                <a:cs typeface="Calibri"/>
              </a:rPr>
              <a:t> </a:t>
            </a:r>
            <a:r>
              <a:rPr kumimoji="0" sz="2400" b="0" i="0" u="none" strike="noStrike" kern="1200" cap="none" spc="-5" normalizeH="0" baseline="0" noProof="0" dirty="0">
                <a:ln>
                  <a:noFill/>
                </a:ln>
                <a:solidFill>
                  <a:srgbClr val="404040"/>
                </a:solidFill>
                <a:effectLst/>
                <a:uLnTx/>
                <a:uFillTx/>
                <a:latin typeface="Calibri"/>
                <a:ea typeface="+mn-ea"/>
                <a:cs typeface="Calibri"/>
              </a:rPr>
              <a:t>signals</a:t>
            </a:r>
            <a:r>
              <a:rPr kumimoji="0" sz="2400" b="0" i="0" u="none" strike="noStrike" kern="1200" cap="none" spc="-5" normalizeH="0" baseline="0" noProof="0" dirty="0" smtClean="0">
                <a:ln>
                  <a:noFill/>
                </a:ln>
                <a:solidFill>
                  <a:srgbClr val="404040"/>
                </a:solidFill>
                <a:effectLst/>
                <a:uLnTx/>
                <a:uFillTx/>
                <a:latin typeface="Calibri"/>
                <a:ea typeface="+mn-ea"/>
                <a:cs typeface="Calibri"/>
              </a:rPr>
              <a:t>:</a:t>
            </a:r>
            <a:endParaRPr kumimoji="0" lang="en-US" sz="2400" b="0" i="0" u="none" strike="noStrike" kern="1200" cap="none" spc="-5" normalizeH="0" baseline="0" noProof="0" dirty="0" smtClean="0">
              <a:ln>
                <a:noFill/>
              </a:ln>
              <a:solidFill>
                <a:srgbClr val="404040"/>
              </a:solidFill>
              <a:effectLst/>
              <a:uLnTx/>
              <a:uFillTx/>
              <a:latin typeface="Calibri"/>
              <a:ea typeface="+mn-ea"/>
              <a:cs typeface="Calibri"/>
            </a:endParaRPr>
          </a:p>
          <a:p>
            <a:pPr marL="1018539" marR="149225" lvl="2" indent="-92075" algn="l" defTabSz="914400" rtl="0" eaLnBrk="1" fontAlgn="auto" latinLnBrk="0" hangingPunct="1">
              <a:lnSpc>
                <a:spcPts val="2590"/>
              </a:lnSpc>
              <a:spcBef>
                <a:spcPts val="1430"/>
              </a:spcBef>
              <a:spcAft>
                <a:spcPts val="0"/>
              </a:spcAft>
              <a:buClr>
                <a:srgbClr val="E38312"/>
              </a:buClr>
              <a:buSzPct val="95833"/>
              <a:buFont typeface="Wingdings"/>
              <a:buChar char=""/>
              <a:tabLst>
                <a:tab pos="285115" algn="l"/>
              </a:tabLst>
              <a:defRPr/>
            </a:pPr>
            <a:r>
              <a:rPr kumimoji="0" lang="en-US" sz="2400" b="0" i="0" u="none" strike="noStrike" kern="1200" cap="none" spc="0" normalizeH="0" baseline="0" noProof="0" dirty="0">
                <a:ln>
                  <a:noFill/>
                </a:ln>
                <a:solidFill>
                  <a:srgbClr val="404040"/>
                </a:solidFill>
                <a:effectLst/>
                <a:uLnTx/>
                <a:uFillTx/>
                <a:latin typeface="Calibri" panose="020F0502020204030204"/>
                <a:ea typeface="+mn-ea"/>
                <a:cs typeface="Calibri"/>
              </a:rPr>
              <a:t>MOSI</a:t>
            </a:r>
            <a:r>
              <a:rPr kumimoji="0" lang="en-US" sz="2400" b="0" i="0" u="none" strike="noStrike" kern="1200" cap="none" spc="-35"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0" normalizeH="0" baseline="0" noProof="0" dirty="0">
                <a:ln>
                  <a:noFill/>
                </a:ln>
                <a:solidFill>
                  <a:srgbClr val="404040"/>
                </a:solidFill>
                <a:effectLst/>
                <a:uLnTx/>
                <a:uFillTx/>
                <a:latin typeface="Calibri" panose="020F0502020204030204"/>
                <a:ea typeface="+mn-ea"/>
                <a:cs typeface="Calibri"/>
              </a:rPr>
              <a:t>—</a:t>
            </a:r>
            <a:r>
              <a:rPr kumimoji="0" lang="en-US" sz="2400" b="0" i="0" u="none" strike="noStrike" kern="1200" cap="none" spc="-2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10" normalizeH="0" baseline="0" noProof="0" dirty="0">
                <a:ln>
                  <a:noFill/>
                </a:ln>
                <a:solidFill>
                  <a:srgbClr val="404040"/>
                </a:solidFill>
                <a:effectLst/>
                <a:uLnTx/>
                <a:uFillTx/>
                <a:latin typeface="Calibri" panose="020F0502020204030204"/>
                <a:ea typeface="+mn-ea"/>
                <a:cs typeface="Calibri"/>
              </a:rPr>
              <a:t>Master</a:t>
            </a:r>
            <a:r>
              <a:rPr kumimoji="0" lang="en-US" sz="2400" b="0" i="0" u="none" strike="noStrike" kern="1200" cap="none" spc="-4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5" normalizeH="0" baseline="0" noProof="0" dirty="0">
                <a:ln>
                  <a:noFill/>
                </a:ln>
                <a:solidFill>
                  <a:srgbClr val="404040"/>
                </a:solidFill>
                <a:effectLst/>
                <a:uLnTx/>
                <a:uFillTx/>
                <a:latin typeface="Calibri" panose="020F0502020204030204"/>
                <a:ea typeface="+mn-ea"/>
                <a:cs typeface="Calibri"/>
              </a:rPr>
              <a:t>Out</a:t>
            </a:r>
            <a:r>
              <a:rPr kumimoji="0" lang="en-US" sz="2400" b="0" i="0" u="none" strike="noStrike" kern="1200" cap="none" spc="-3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15" normalizeH="0" baseline="0" noProof="0" dirty="0">
                <a:ln>
                  <a:noFill/>
                </a:ln>
                <a:solidFill>
                  <a:srgbClr val="404040"/>
                </a:solidFill>
                <a:effectLst/>
                <a:uLnTx/>
                <a:uFillTx/>
                <a:latin typeface="Calibri" panose="020F0502020204030204"/>
                <a:ea typeface="+mn-ea"/>
                <a:cs typeface="Calibri"/>
              </a:rPr>
              <a:t>Slave </a:t>
            </a:r>
            <a:r>
              <a:rPr kumimoji="0" lang="en-US" sz="2400" b="0" i="0" u="none" strike="noStrike" kern="1200" cap="none" spc="0" normalizeH="0" baseline="0" noProof="0" dirty="0" smtClean="0">
                <a:ln>
                  <a:noFill/>
                </a:ln>
                <a:solidFill>
                  <a:srgbClr val="404040"/>
                </a:solidFill>
                <a:effectLst/>
                <a:uLnTx/>
                <a:uFillTx/>
                <a:latin typeface="Calibri" panose="020F0502020204030204"/>
                <a:ea typeface="+mn-ea"/>
                <a:cs typeface="Calibri"/>
              </a:rPr>
              <a:t>In</a:t>
            </a:r>
          </a:p>
          <a:p>
            <a:pPr marL="1018539" marR="149225" lvl="2" indent="-92075" algn="l" defTabSz="914400" rtl="0" eaLnBrk="1" fontAlgn="auto" latinLnBrk="0" hangingPunct="1">
              <a:lnSpc>
                <a:spcPts val="2590"/>
              </a:lnSpc>
              <a:spcBef>
                <a:spcPts val="1430"/>
              </a:spcBef>
              <a:spcAft>
                <a:spcPts val="0"/>
              </a:spcAft>
              <a:buClr>
                <a:srgbClr val="E38312"/>
              </a:buClr>
              <a:buSzPct val="95833"/>
              <a:buFont typeface="Wingdings"/>
              <a:buChar char=""/>
              <a:tabLst>
                <a:tab pos="285115" algn="l"/>
              </a:tabLst>
              <a:defRPr/>
            </a:pPr>
            <a:r>
              <a:rPr kumimoji="0" lang="en-US" sz="2400" b="0" i="0" u="none" strike="noStrike" kern="1200" cap="none" spc="0" normalizeH="0" baseline="0" noProof="0" dirty="0" smtClean="0">
                <a:ln>
                  <a:noFill/>
                </a:ln>
                <a:solidFill>
                  <a:srgbClr val="404040"/>
                </a:solidFill>
                <a:effectLst/>
                <a:uLnTx/>
                <a:uFillTx/>
                <a:latin typeface="Calibri" panose="020F0502020204030204"/>
                <a:ea typeface="+mn-ea"/>
                <a:cs typeface="Calibri"/>
              </a:rPr>
              <a:t> </a:t>
            </a:r>
            <a:r>
              <a:rPr kumimoji="0" lang="en-US" sz="2400" b="0" i="0" u="none" strike="noStrike" kern="1200" cap="none" spc="-530" normalizeH="0" baseline="0" noProof="0" dirty="0" smtClean="0">
                <a:ln>
                  <a:noFill/>
                </a:ln>
                <a:solidFill>
                  <a:srgbClr val="404040"/>
                </a:solidFill>
                <a:effectLst/>
                <a:uLnTx/>
                <a:uFillTx/>
                <a:latin typeface="Calibri" panose="020F0502020204030204"/>
                <a:ea typeface="+mn-ea"/>
                <a:cs typeface="Calibri"/>
              </a:rPr>
              <a:t> </a:t>
            </a:r>
            <a:r>
              <a:rPr kumimoji="0" lang="en-US" sz="2400" b="0" i="0" u="none" strike="noStrike" kern="1200" cap="none" spc="0" normalizeH="0" baseline="0" noProof="0" dirty="0">
                <a:ln>
                  <a:noFill/>
                </a:ln>
                <a:solidFill>
                  <a:srgbClr val="404040"/>
                </a:solidFill>
                <a:effectLst/>
                <a:uLnTx/>
                <a:uFillTx/>
                <a:latin typeface="Calibri" panose="020F0502020204030204"/>
                <a:ea typeface="+mn-ea"/>
                <a:cs typeface="Calibri"/>
              </a:rPr>
              <a:t>MISO</a:t>
            </a:r>
            <a:r>
              <a:rPr kumimoji="0" lang="en-US" sz="2400" b="0" i="0" u="none" strike="noStrike" kern="1200" cap="none" spc="-3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0" normalizeH="0" baseline="0" noProof="0" dirty="0">
                <a:ln>
                  <a:noFill/>
                </a:ln>
                <a:solidFill>
                  <a:srgbClr val="404040"/>
                </a:solidFill>
                <a:effectLst/>
                <a:uLnTx/>
                <a:uFillTx/>
                <a:latin typeface="Calibri" panose="020F0502020204030204"/>
                <a:ea typeface="+mn-ea"/>
                <a:cs typeface="Calibri"/>
              </a:rPr>
              <a:t>—</a:t>
            </a:r>
            <a:r>
              <a:rPr kumimoji="0" lang="en-US" sz="2400" b="0" i="0" u="none" strike="noStrike" kern="1200" cap="none" spc="-2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10" normalizeH="0" baseline="0" noProof="0" dirty="0">
                <a:ln>
                  <a:noFill/>
                </a:ln>
                <a:solidFill>
                  <a:srgbClr val="404040"/>
                </a:solidFill>
                <a:effectLst/>
                <a:uLnTx/>
                <a:uFillTx/>
                <a:latin typeface="Calibri" panose="020F0502020204030204"/>
                <a:ea typeface="+mn-ea"/>
                <a:cs typeface="Calibri"/>
              </a:rPr>
              <a:t>Master</a:t>
            </a:r>
            <a:r>
              <a:rPr kumimoji="0" lang="en-US" sz="2400" b="0" i="0" u="none" strike="noStrike" kern="1200" cap="none" spc="-4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0" normalizeH="0" baseline="0" noProof="0" dirty="0">
                <a:ln>
                  <a:noFill/>
                </a:ln>
                <a:solidFill>
                  <a:srgbClr val="404040"/>
                </a:solidFill>
                <a:effectLst/>
                <a:uLnTx/>
                <a:uFillTx/>
                <a:latin typeface="Calibri" panose="020F0502020204030204"/>
                <a:ea typeface="+mn-ea"/>
                <a:cs typeface="Calibri"/>
              </a:rPr>
              <a:t>In</a:t>
            </a:r>
            <a:r>
              <a:rPr kumimoji="0" lang="en-US" sz="2400" b="0" i="0" u="none" strike="noStrike" kern="1200" cap="none" spc="-10"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20" normalizeH="0" baseline="0" noProof="0" dirty="0">
                <a:ln>
                  <a:noFill/>
                </a:ln>
                <a:solidFill>
                  <a:srgbClr val="404040"/>
                </a:solidFill>
                <a:effectLst/>
                <a:uLnTx/>
                <a:uFillTx/>
                <a:latin typeface="Calibri" panose="020F0502020204030204"/>
                <a:ea typeface="+mn-ea"/>
                <a:cs typeface="Calibri"/>
              </a:rPr>
              <a:t>Slave</a:t>
            </a:r>
            <a:r>
              <a:rPr kumimoji="0" lang="en-US" sz="2400" b="0" i="0" u="none" strike="noStrike" kern="1200" cap="none" spc="-15" normalizeH="0" baseline="0" noProof="0" dirty="0">
                <a:ln>
                  <a:noFill/>
                </a:ln>
                <a:solidFill>
                  <a:srgbClr val="404040"/>
                </a:solidFill>
                <a:effectLst/>
                <a:uLnTx/>
                <a:uFillTx/>
                <a:latin typeface="Calibri" panose="020F0502020204030204"/>
                <a:ea typeface="+mn-ea"/>
                <a:cs typeface="Calibri"/>
              </a:rPr>
              <a:t> </a:t>
            </a:r>
            <a:r>
              <a:rPr kumimoji="0" lang="en-US" sz="2400" b="0" i="0" u="none" strike="noStrike" kern="1200" cap="none" spc="-5" normalizeH="0" baseline="0" noProof="0" dirty="0">
                <a:ln>
                  <a:noFill/>
                </a:ln>
                <a:solidFill>
                  <a:srgbClr val="404040"/>
                </a:solidFill>
                <a:effectLst/>
                <a:uLnTx/>
                <a:uFillTx/>
                <a:latin typeface="Calibri" panose="020F0502020204030204"/>
                <a:ea typeface="+mn-ea"/>
                <a:cs typeface="Calibri"/>
              </a:rPr>
              <a:t>Out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104139" marR="149225" lvl="0" indent="-92075" algn="l" defTabSz="914400" rtl="0" eaLnBrk="1" fontAlgn="auto" latinLnBrk="0" hangingPunct="1">
              <a:lnSpc>
                <a:spcPts val="2590"/>
              </a:lnSpc>
              <a:spcBef>
                <a:spcPts val="1430"/>
              </a:spcBef>
              <a:spcAft>
                <a:spcPts val="0"/>
              </a:spcAft>
              <a:buClr>
                <a:srgbClr val="E38312"/>
              </a:buClr>
              <a:buSzPct val="95833"/>
              <a:buFont typeface="Wingdings"/>
              <a:buChar char=""/>
              <a:tabLst>
                <a:tab pos="285115" algn="l"/>
              </a:tabLst>
              <a:defRPr/>
            </a:pPr>
            <a:r>
              <a:rPr kumimoji="0" lang="en-US" sz="2400" b="0" i="0" u="none" strike="noStrike" kern="1200" cap="none" spc="-5" normalizeH="0" baseline="0" noProof="0" dirty="0" smtClean="0">
                <a:ln>
                  <a:noFill/>
                </a:ln>
                <a:solidFill>
                  <a:srgbClr val="404040"/>
                </a:solidFill>
                <a:effectLst/>
                <a:uLnTx/>
                <a:uFillTx/>
                <a:latin typeface="Calibri" panose="020F0502020204030204"/>
                <a:ea typeface="+mn-ea"/>
                <a:cs typeface="Calibri"/>
              </a:rPr>
              <a:t>There </a:t>
            </a:r>
            <a:r>
              <a:rPr kumimoji="0" lang="en-US" sz="2400" b="0" i="0" u="none" strike="noStrike" kern="1200" cap="none" spc="-5" normalizeH="0" baseline="0" noProof="0" dirty="0">
                <a:ln>
                  <a:noFill/>
                </a:ln>
                <a:solidFill>
                  <a:srgbClr val="404040"/>
                </a:solidFill>
                <a:effectLst/>
                <a:uLnTx/>
                <a:uFillTx/>
                <a:latin typeface="Calibri" panose="020F0502020204030204"/>
                <a:ea typeface="+mn-ea"/>
                <a:cs typeface="Calibri"/>
              </a:rPr>
              <a:t>is also a clock signal that synchronizes the data transmission</a:t>
            </a:r>
            <a:r>
              <a:rPr kumimoji="0" lang="en-US" sz="2400" b="0" i="0" u="none" strike="noStrike" kern="1200" cap="none" spc="-5" normalizeH="0" baseline="0" noProof="0" dirty="0" smtClean="0">
                <a:ln>
                  <a:noFill/>
                </a:ln>
                <a:solidFill>
                  <a:srgbClr val="404040"/>
                </a:solidFill>
                <a:effectLst/>
                <a:uLnTx/>
                <a:uFillTx/>
                <a:latin typeface="Calibri" panose="020F0502020204030204"/>
                <a:ea typeface="+mn-ea"/>
                <a:cs typeface="Calibri"/>
              </a:rPr>
              <a:t>.</a:t>
            </a:r>
            <a:endParaRPr kumimoji="0" lang="en-US" sz="2400" b="0" i="0" u="none" strike="noStrike" kern="1200" cap="none" spc="-5" normalizeH="0" baseline="0" noProof="0" dirty="0">
              <a:ln>
                <a:noFill/>
              </a:ln>
              <a:solidFill>
                <a:srgbClr val="404040"/>
              </a:solidFill>
              <a:effectLst/>
              <a:uLnTx/>
              <a:uFillTx/>
              <a:latin typeface="Calibri" panose="020F0502020204030204"/>
              <a:ea typeface="+mn-ea"/>
              <a:cs typeface="Calibri"/>
            </a:endParaRPr>
          </a:p>
        </p:txBody>
      </p:sp>
      <p:sp>
        <p:nvSpPr>
          <p:cNvPr id="8" name="object 8"/>
          <p:cNvSpPr txBox="1"/>
          <p:nvPr/>
        </p:nvSpPr>
        <p:spPr>
          <a:xfrm>
            <a:off x="1176324" y="6554825"/>
            <a:ext cx="55753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1200" cap="none" spc="-5" normalizeH="0" baseline="0" noProof="0" dirty="0">
                <a:ln>
                  <a:noFill/>
                </a:ln>
                <a:solidFill>
                  <a:srgbClr val="FFFFFF"/>
                </a:solidFill>
                <a:effectLst/>
                <a:uLnTx/>
                <a:uFillTx/>
                <a:latin typeface="Calibri"/>
                <a:ea typeface="+mn-ea"/>
                <a:cs typeface="Calibri"/>
              </a:rPr>
              <a:t>23</a:t>
            </a:r>
            <a:r>
              <a:rPr kumimoji="0" sz="900" b="0" i="0" u="none" strike="noStrike" kern="1200" cap="none" spc="0" normalizeH="0" baseline="0" noProof="0" dirty="0">
                <a:ln>
                  <a:noFill/>
                </a:ln>
                <a:solidFill>
                  <a:srgbClr val="FFFFFF"/>
                </a:solidFill>
                <a:effectLst/>
                <a:uLnTx/>
                <a:uFillTx/>
                <a:latin typeface="Calibri"/>
                <a:ea typeface="+mn-ea"/>
                <a:cs typeface="Calibri"/>
              </a:rPr>
              <a:t>-</a:t>
            </a:r>
            <a:r>
              <a:rPr kumimoji="0" sz="900" b="0" i="0" u="none" strike="noStrike" kern="1200" cap="none" spc="-5" normalizeH="0" baseline="0" noProof="0" dirty="0">
                <a:ln>
                  <a:noFill/>
                </a:ln>
                <a:solidFill>
                  <a:srgbClr val="FFFFFF"/>
                </a:solidFill>
                <a:effectLst/>
                <a:uLnTx/>
                <a:uFillTx/>
                <a:latin typeface="Calibri"/>
                <a:ea typeface="+mn-ea"/>
                <a:cs typeface="Calibri"/>
              </a:rPr>
              <a:t>06</a:t>
            </a:r>
            <a:r>
              <a:rPr kumimoji="0" sz="900" b="0" i="0" u="none" strike="noStrike" kern="1200" cap="none" spc="0" normalizeH="0" baseline="0" noProof="0" dirty="0">
                <a:ln>
                  <a:noFill/>
                </a:ln>
                <a:solidFill>
                  <a:srgbClr val="FFFFFF"/>
                </a:solidFill>
                <a:effectLst/>
                <a:uLnTx/>
                <a:uFillTx/>
                <a:latin typeface="Calibri"/>
                <a:ea typeface="+mn-ea"/>
                <a:cs typeface="Calibri"/>
              </a:rPr>
              <a:t>-20</a:t>
            </a:r>
            <a:r>
              <a:rPr kumimoji="0" sz="900" b="0" i="0" u="none" strike="noStrike" kern="1200" cap="none" spc="-15" normalizeH="0" baseline="0" noProof="0" dirty="0">
                <a:ln>
                  <a:noFill/>
                </a:ln>
                <a:solidFill>
                  <a:srgbClr val="FFFFFF"/>
                </a:solidFill>
                <a:effectLst/>
                <a:uLnTx/>
                <a:uFillTx/>
                <a:latin typeface="Calibri"/>
                <a:ea typeface="+mn-ea"/>
                <a:cs typeface="Calibri"/>
              </a:rPr>
              <a:t>2</a:t>
            </a:r>
            <a:r>
              <a:rPr kumimoji="0" sz="900" b="0" i="0" u="none" strike="noStrike" kern="1200" cap="none" spc="0" normalizeH="0" baseline="0" noProof="0" dirty="0">
                <a:ln>
                  <a:noFill/>
                </a:ln>
                <a:solidFill>
                  <a:srgbClr val="FFFFFF"/>
                </a:solidFill>
                <a:effectLst/>
                <a:uLnTx/>
                <a:uFillTx/>
                <a:latin typeface="Calibri"/>
                <a:ea typeface="+mn-ea"/>
                <a:cs typeface="Calibri"/>
              </a:rPr>
              <a:t>0</a:t>
            </a:r>
            <a:endParaRPr kumimoji="0" sz="900" b="0" i="0" u="none" strike="noStrike" kern="1200" cap="none" spc="0" normalizeH="0" baseline="0" noProof="0">
              <a:ln>
                <a:noFill/>
              </a:ln>
              <a:solidFill>
                <a:prstClr val="black"/>
              </a:solidFill>
              <a:effectLst/>
              <a:uLnTx/>
              <a:uFillTx/>
              <a:latin typeface="Calibri"/>
              <a:ea typeface="+mn-ea"/>
              <a:cs typeface="Calibri"/>
            </a:endParaRPr>
          </a:p>
        </p:txBody>
      </p:sp>
      <p:sp>
        <p:nvSpPr>
          <p:cNvPr id="9" name="object 9"/>
          <p:cNvSpPr txBox="1"/>
          <p:nvPr/>
        </p:nvSpPr>
        <p:spPr>
          <a:xfrm>
            <a:off x="5181980" y="6554825"/>
            <a:ext cx="182943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1200" cap="none" spc="-5" normalizeH="0" baseline="0" noProof="0" dirty="0">
                <a:ln>
                  <a:noFill/>
                </a:ln>
                <a:solidFill>
                  <a:srgbClr val="FFFFFF"/>
                </a:solidFill>
                <a:effectLst/>
                <a:uLnTx/>
                <a:uFillTx/>
                <a:latin typeface="Calibri"/>
                <a:ea typeface="+mn-ea"/>
                <a:cs typeface="Calibri"/>
              </a:rPr>
              <a:t>PRASHANTH</a:t>
            </a:r>
            <a:r>
              <a:rPr kumimoji="0" sz="900" b="0" i="0" u="none" strike="noStrike" kern="1200" cap="none" spc="-15"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KAMBLI,</a:t>
            </a:r>
            <a:r>
              <a:rPr kumimoji="0" sz="900" b="0" i="0" u="none" strike="noStrike" kern="1200" cap="none" spc="-20"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DEPT.</a:t>
            </a:r>
            <a:r>
              <a:rPr kumimoji="0" sz="900" b="0" i="0" u="none" strike="noStrike" kern="1200" cap="none" spc="-50"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OF</a:t>
            </a:r>
            <a:r>
              <a:rPr kumimoji="0" sz="900" b="0" i="0" u="none" strike="noStrike" kern="1200" cap="none" spc="-25" normalizeH="0" baseline="0" noProof="0" dirty="0">
                <a:ln>
                  <a:noFill/>
                </a:ln>
                <a:solidFill>
                  <a:srgbClr val="FFFFFF"/>
                </a:solidFill>
                <a:effectLst/>
                <a:uLnTx/>
                <a:uFillTx/>
                <a:latin typeface="Calibri"/>
                <a:ea typeface="+mn-ea"/>
                <a:cs typeface="Calibri"/>
              </a:rPr>
              <a:t> </a:t>
            </a:r>
            <a:r>
              <a:rPr kumimoji="0" sz="900" b="0" i="0" u="none" strike="noStrike" kern="1200" cap="none" spc="-5" normalizeH="0" baseline="0" noProof="0" dirty="0">
                <a:ln>
                  <a:noFill/>
                </a:ln>
                <a:solidFill>
                  <a:srgbClr val="FFFFFF"/>
                </a:solidFill>
                <a:effectLst/>
                <a:uLnTx/>
                <a:uFillTx/>
                <a:latin typeface="Calibri"/>
                <a:ea typeface="+mn-ea"/>
                <a:cs typeface="Calibri"/>
              </a:rPr>
              <a:t>ISE,</a:t>
            </a:r>
            <a:r>
              <a:rPr kumimoji="0" sz="900" b="0" i="0" u="none" strike="noStrike" kern="1200" cap="none" spc="-10"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RIT</a:t>
            </a:r>
            <a:endParaRPr kumimoji="0" sz="900" b="0" i="0" u="none" strike="noStrike" kern="1200" cap="none" spc="0" normalizeH="0" baseline="0" noProof="0">
              <a:ln>
                <a:noFill/>
              </a:ln>
              <a:solidFill>
                <a:prstClr val="black"/>
              </a:solidFill>
              <a:effectLst/>
              <a:uLnTx/>
              <a:uFillTx/>
              <a:latin typeface="Calibri"/>
              <a:ea typeface="+mn-ea"/>
              <a:cs typeface="Calibri"/>
            </a:endParaRPr>
          </a:p>
        </p:txBody>
      </p:sp>
      <p:sp>
        <p:nvSpPr>
          <p:cNvPr id="10" name="object 10"/>
          <p:cNvSpPr txBox="1"/>
          <p:nvPr/>
        </p:nvSpPr>
        <p:spPr>
          <a:xfrm>
            <a:off x="10972545" y="6541719"/>
            <a:ext cx="16256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1200" cap="none" spc="0" normalizeH="0" baseline="0" noProof="0" dirty="0">
                <a:ln>
                  <a:noFill/>
                </a:ln>
                <a:solidFill>
                  <a:srgbClr val="FFFFFF"/>
                </a:solidFill>
                <a:effectLst/>
                <a:uLnTx/>
                <a:uFillTx/>
                <a:latin typeface="Calibri"/>
                <a:ea typeface="+mn-ea"/>
                <a:cs typeface="Calibri"/>
              </a:rPr>
              <a:t>42</a:t>
            </a:r>
            <a:endParaRPr kumimoji="0" sz="1050" b="0" i="0" u="none" strike="noStrike" kern="1200" cap="none" spc="0" normalizeH="0" baseline="0" noProof="0">
              <a:ln>
                <a:noFill/>
              </a:ln>
              <a:solidFill>
                <a:prstClr val="black"/>
              </a:solidFill>
              <a:effectLst/>
              <a:uLnTx/>
              <a:uFillTx/>
              <a:latin typeface="Calibri"/>
              <a:ea typeface="+mn-ea"/>
              <a:cs typeface="Calibri"/>
            </a:endParaRPr>
          </a:p>
        </p:txBody>
      </p:sp>
    </p:spTree>
    <p:extLst>
      <p:ext uri="{BB962C8B-B14F-4D97-AF65-F5344CB8AC3E}">
        <p14:creationId xmlns:p14="http://schemas.microsoft.com/office/powerpoint/2010/main" val="6144930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193291" y="1737360"/>
            <a:ext cx="9966960" cy="0"/>
          </a:xfrm>
          <a:custGeom>
            <a:avLst/>
            <a:gdLst/>
            <a:ahLst/>
            <a:cxnLst/>
            <a:rect l="l" t="t" r="r" b="b"/>
            <a:pathLst>
              <a:path w="9966960">
                <a:moveTo>
                  <a:pt x="0" y="0"/>
                </a:moveTo>
                <a:lnTo>
                  <a:pt x="9966960" y="0"/>
                </a:lnTo>
              </a:path>
            </a:pathLst>
          </a:custGeom>
          <a:ln w="635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txBox="1"/>
          <p:nvPr/>
        </p:nvSpPr>
        <p:spPr>
          <a:xfrm>
            <a:off x="1176324" y="6554825"/>
            <a:ext cx="55753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1200" cap="none" spc="-5" normalizeH="0" baseline="0" noProof="0" dirty="0">
                <a:ln>
                  <a:noFill/>
                </a:ln>
                <a:solidFill>
                  <a:srgbClr val="FFFFFF"/>
                </a:solidFill>
                <a:effectLst/>
                <a:uLnTx/>
                <a:uFillTx/>
                <a:latin typeface="Calibri"/>
                <a:ea typeface="+mn-ea"/>
                <a:cs typeface="Calibri"/>
              </a:rPr>
              <a:t>23</a:t>
            </a:r>
            <a:r>
              <a:rPr kumimoji="0" sz="900" b="0" i="0" u="none" strike="noStrike" kern="1200" cap="none" spc="0" normalizeH="0" baseline="0" noProof="0" dirty="0">
                <a:ln>
                  <a:noFill/>
                </a:ln>
                <a:solidFill>
                  <a:srgbClr val="FFFFFF"/>
                </a:solidFill>
                <a:effectLst/>
                <a:uLnTx/>
                <a:uFillTx/>
                <a:latin typeface="Calibri"/>
                <a:ea typeface="+mn-ea"/>
                <a:cs typeface="Calibri"/>
              </a:rPr>
              <a:t>-</a:t>
            </a:r>
            <a:r>
              <a:rPr kumimoji="0" sz="900" b="0" i="0" u="none" strike="noStrike" kern="1200" cap="none" spc="-5" normalizeH="0" baseline="0" noProof="0" dirty="0">
                <a:ln>
                  <a:noFill/>
                </a:ln>
                <a:solidFill>
                  <a:srgbClr val="FFFFFF"/>
                </a:solidFill>
                <a:effectLst/>
                <a:uLnTx/>
                <a:uFillTx/>
                <a:latin typeface="Calibri"/>
                <a:ea typeface="+mn-ea"/>
                <a:cs typeface="Calibri"/>
              </a:rPr>
              <a:t>06</a:t>
            </a:r>
            <a:r>
              <a:rPr kumimoji="0" sz="900" b="0" i="0" u="none" strike="noStrike" kern="1200" cap="none" spc="0" normalizeH="0" baseline="0" noProof="0" dirty="0">
                <a:ln>
                  <a:noFill/>
                </a:ln>
                <a:solidFill>
                  <a:srgbClr val="FFFFFF"/>
                </a:solidFill>
                <a:effectLst/>
                <a:uLnTx/>
                <a:uFillTx/>
                <a:latin typeface="Calibri"/>
                <a:ea typeface="+mn-ea"/>
                <a:cs typeface="Calibri"/>
              </a:rPr>
              <a:t>-20</a:t>
            </a:r>
            <a:r>
              <a:rPr kumimoji="0" sz="900" b="0" i="0" u="none" strike="noStrike" kern="1200" cap="none" spc="-15" normalizeH="0" baseline="0" noProof="0" dirty="0">
                <a:ln>
                  <a:noFill/>
                </a:ln>
                <a:solidFill>
                  <a:srgbClr val="FFFFFF"/>
                </a:solidFill>
                <a:effectLst/>
                <a:uLnTx/>
                <a:uFillTx/>
                <a:latin typeface="Calibri"/>
                <a:ea typeface="+mn-ea"/>
                <a:cs typeface="Calibri"/>
              </a:rPr>
              <a:t>2</a:t>
            </a:r>
            <a:r>
              <a:rPr kumimoji="0" sz="900" b="0" i="0" u="none" strike="noStrike" kern="1200" cap="none" spc="0" normalizeH="0" baseline="0" noProof="0" dirty="0">
                <a:ln>
                  <a:noFill/>
                </a:ln>
                <a:solidFill>
                  <a:srgbClr val="FFFFFF"/>
                </a:solidFill>
                <a:effectLst/>
                <a:uLnTx/>
                <a:uFillTx/>
                <a:latin typeface="Calibri"/>
                <a:ea typeface="+mn-ea"/>
                <a:cs typeface="Calibri"/>
              </a:rPr>
              <a:t>0</a:t>
            </a:r>
            <a:endParaRPr kumimoji="0" sz="900" b="0" i="0" u="none" strike="noStrike" kern="1200" cap="none" spc="0" normalizeH="0" baseline="0" noProof="0">
              <a:ln>
                <a:noFill/>
              </a:ln>
              <a:solidFill>
                <a:prstClr val="black"/>
              </a:solidFill>
              <a:effectLst/>
              <a:uLnTx/>
              <a:uFillTx/>
              <a:latin typeface="Calibri"/>
              <a:ea typeface="+mn-ea"/>
              <a:cs typeface="Calibri"/>
            </a:endParaRPr>
          </a:p>
        </p:txBody>
      </p:sp>
      <p:sp>
        <p:nvSpPr>
          <p:cNvPr id="7" name="object 7"/>
          <p:cNvSpPr txBox="1"/>
          <p:nvPr/>
        </p:nvSpPr>
        <p:spPr>
          <a:xfrm>
            <a:off x="5181980" y="6554825"/>
            <a:ext cx="1829435"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1200" cap="none" spc="-5" normalizeH="0" baseline="0" noProof="0" dirty="0">
                <a:ln>
                  <a:noFill/>
                </a:ln>
                <a:solidFill>
                  <a:srgbClr val="FFFFFF"/>
                </a:solidFill>
                <a:effectLst/>
                <a:uLnTx/>
                <a:uFillTx/>
                <a:latin typeface="Calibri"/>
                <a:ea typeface="+mn-ea"/>
                <a:cs typeface="Calibri"/>
              </a:rPr>
              <a:t>PRASHANTH</a:t>
            </a:r>
            <a:r>
              <a:rPr kumimoji="0" sz="900" b="0" i="0" u="none" strike="noStrike" kern="1200" cap="none" spc="-15"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KAMBLI,</a:t>
            </a:r>
            <a:r>
              <a:rPr kumimoji="0" sz="900" b="0" i="0" u="none" strike="noStrike" kern="1200" cap="none" spc="-20"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DEPT.</a:t>
            </a:r>
            <a:r>
              <a:rPr kumimoji="0" sz="900" b="0" i="0" u="none" strike="noStrike" kern="1200" cap="none" spc="-50"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OF</a:t>
            </a:r>
            <a:r>
              <a:rPr kumimoji="0" sz="900" b="0" i="0" u="none" strike="noStrike" kern="1200" cap="none" spc="-25" normalizeH="0" baseline="0" noProof="0" dirty="0">
                <a:ln>
                  <a:noFill/>
                </a:ln>
                <a:solidFill>
                  <a:srgbClr val="FFFFFF"/>
                </a:solidFill>
                <a:effectLst/>
                <a:uLnTx/>
                <a:uFillTx/>
                <a:latin typeface="Calibri"/>
                <a:ea typeface="+mn-ea"/>
                <a:cs typeface="Calibri"/>
              </a:rPr>
              <a:t> </a:t>
            </a:r>
            <a:r>
              <a:rPr kumimoji="0" sz="900" b="0" i="0" u="none" strike="noStrike" kern="1200" cap="none" spc="-5" normalizeH="0" baseline="0" noProof="0" dirty="0">
                <a:ln>
                  <a:noFill/>
                </a:ln>
                <a:solidFill>
                  <a:srgbClr val="FFFFFF"/>
                </a:solidFill>
                <a:effectLst/>
                <a:uLnTx/>
                <a:uFillTx/>
                <a:latin typeface="Calibri"/>
                <a:ea typeface="+mn-ea"/>
                <a:cs typeface="Calibri"/>
              </a:rPr>
              <a:t>ISE,</a:t>
            </a:r>
            <a:r>
              <a:rPr kumimoji="0" sz="900" b="0" i="0" u="none" strike="noStrike" kern="1200" cap="none" spc="-10" normalizeH="0" baseline="0" noProof="0" dirty="0">
                <a:ln>
                  <a:noFill/>
                </a:ln>
                <a:solidFill>
                  <a:srgbClr val="FFFFFF"/>
                </a:solidFill>
                <a:effectLst/>
                <a:uLnTx/>
                <a:uFillTx/>
                <a:latin typeface="Calibri"/>
                <a:ea typeface="+mn-ea"/>
                <a:cs typeface="Calibri"/>
              </a:rPr>
              <a:t> </a:t>
            </a:r>
            <a:r>
              <a:rPr kumimoji="0" sz="900" b="0" i="0" u="none" strike="noStrike" kern="1200" cap="none" spc="0" normalizeH="0" baseline="0" noProof="0" dirty="0">
                <a:ln>
                  <a:noFill/>
                </a:ln>
                <a:solidFill>
                  <a:srgbClr val="FFFFFF"/>
                </a:solidFill>
                <a:effectLst/>
                <a:uLnTx/>
                <a:uFillTx/>
                <a:latin typeface="Calibri"/>
                <a:ea typeface="+mn-ea"/>
                <a:cs typeface="Calibri"/>
              </a:rPr>
              <a:t>RIT</a:t>
            </a:r>
            <a:endParaRPr kumimoji="0" sz="900" b="0" i="0" u="none" strike="noStrike" kern="1200" cap="none" spc="0" normalizeH="0" baseline="0" noProof="0">
              <a:ln>
                <a:noFill/>
              </a:ln>
              <a:solidFill>
                <a:prstClr val="black"/>
              </a:solidFill>
              <a:effectLst/>
              <a:uLnTx/>
              <a:uFillTx/>
              <a:latin typeface="Calibri"/>
              <a:ea typeface="+mn-ea"/>
              <a:cs typeface="Calibri"/>
            </a:endParaRPr>
          </a:p>
        </p:txBody>
      </p:sp>
      <p:sp>
        <p:nvSpPr>
          <p:cNvPr id="8" name="object 8"/>
          <p:cNvSpPr txBox="1"/>
          <p:nvPr/>
        </p:nvSpPr>
        <p:spPr>
          <a:xfrm>
            <a:off x="10972545" y="6541719"/>
            <a:ext cx="16256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1200" cap="none" spc="0" normalizeH="0" baseline="0" noProof="0" dirty="0">
                <a:ln>
                  <a:noFill/>
                </a:ln>
                <a:solidFill>
                  <a:srgbClr val="FFFFFF"/>
                </a:solidFill>
                <a:effectLst/>
                <a:uLnTx/>
                <a:uFillTx/>
                <a:latin typeface="Calibri"/>
                <a:ea typeface="+mn-ea"/>
                <a:cs typeface="Calibri"/>
              </a:rPr>
              <a:t>43</a:t>
            </a:r>
            <a:endParaRPr kumimoji="0" sz="1050" b="0" i="0" u="none" strike="noStrike" kern="1200" cap="none" spc="0" normalizeH="0" baseline="0" noProof="0">
              <a:ln>
                <a:noFill/>
              </a:ln>
              <a:solidFill>
                <a:prstClr val="black"/>
              </a:solidFill>
              <a:effectLst/>
              <a:uLnTx/>
              <a:uFillTx/>
              <a:latin typeface="Calibri"/>
              <a:ea typeface="+mn-ea"/>
              <a:cs typeface="Calibri"/>
            </a:endParaRPr>
          </a:p>
        </p:txBody>
      </p:sp>
      <p:pic>
        <p:nvPicPr>
          <p:cNvPr id="9" name="object 9"/>
          <p:cNvPicPr/>
          <p:nvPr/>
        </p:nvPicPr>
        <p:blipFill>
          <a:blip r:embed="rId2" cstate="print"/>
          <a:stretch>
            <a:fillRect/>
          </a:stretch>
        </p:blipFill>
        <p:spPr>
          <a:xfrm>
            <a:off x="2883157" y="2167629"/>
            <a:ext cx="5571490" cy="3963571"/>
          </a:xfrm>
          <a:prstGeom prst="rect">
            <a:avLst/>
          </a:prstGeom>
        </p:spPr>
      </p:pic>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6324" y="5657213"/>
            <a:ext cx="2828925"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4819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1886" y="493485"/>
            <a:ext cx="11550732" cy="6186309"/>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Data is sent serially on the MOSI and MISO  pins with the LSB first.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Fig 2.32 shows the MISO and MOSI signals active for sending data in both the directions.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Each SPI transfer is full duplex meaning the data is sent from the master to the slave and from slave to the master at the same time.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Because the SPI transactions occur through a shift register arrangement shown in fig </a:t>
            </a:r>
            <a:r>
              <a:rPr kumimoji="0" lang="en-US" sz="2400" b="0" i="0" u="none" strike="noStrike" kern="1200" cap="none" spc="-5" normalizeH="0" baseline="0" noProof="0" dirty="0" smtClean="0">
                <a:ln>
                  <a:noFill/>
                </a:ln>
                <a:solidFill>
                  <a:srgbClr val="404040"/>
                </a:solidFill>
                <a:effectLst/>
                <a:uLnTx/>
                <a:uFillTx/>
                <a:latin typeface="Calibri"/>
                <a:ea typeface="+mn-ea"/>
                <a:cs typeface="Calibri"/>
              </a:rPr>
              <a:t>2.32</a:t>
            </a:r>
          </a:p>
          <a:p>
            <a:pPr marL="285750" lvl="0" indent="-285750">
              <a:lnSpc>
                <a:spcPct val="150000"/>
              </a:lnSpc>
              <a:buFont typeface="Wingdings" panose="05000000000000000000" pitchFamily="2" charset="2"/>
              <a:buChar char="Ø"/>
              <a:defRPr/>
            </a:pPr>
            <a:r>
              <a:rPr lang="en-US" sz="2400" spc="-5" dirty="0">
                <a:solidFill>
                  <a:srgbClr val="404040"/>
                </a:solidFill>
                <a:cs typeface="Calibri"/>
              </a:rPr>
              <a:t>If the master is sending data to a slave, the slave cannot stop sending data back to the master at the same time.</a:t>
            </a:r>
          </a:p>
          <a:p>
            <a:pPr marL="285750" lvl="0" indent="-285750">
              <a:lnSpc>
                <a:spcPct val="150000"/>
              </a:lnSpc>
              <a:buFont typeface="Wingdings" panose="05000000000000000000" pitchFamily="2" charset="2"/>
              <a:buChar char="Ø"/>
              <a:defRPr/>
            </a:pPr>
            <a:r>
              <a:rPr lang="en-US" sz="2400" spc="-5" dirty="0">
                <a:solidFill>
                  <a:srgbClr val="404040"/>
                </a:solidFill>
                <a:cs typeface="Calibri"/>
              </a:rPr>
              <a:t>This happens because in protocols like SPI, data transfer happens simultaneously in both directions whenever the clock runs</a:t>
            </a:r>
          </a:p>
          <a:p>
            <a:pPr marL="285750" lvl="0" indent="-285750">
              <a:lnSpc>
                <a:spcPct val="150000"/>
              </a:lnSpc>
              <a:buFont typeface="Wingdings" panose="05000000000000000000" pitchFamily="2" charset="2"/>
              <a:buChar char="Ø"/>
              <a:defRPr/>
            </a:pPr>
            <a:r>
              <a:rPr lang="en-US" sz="2400" spc="-5" dirty="0">
                <a:solidFill>
                  <a:srgbClr val="404040"/>
                </a:solidFill>
                <a:cs typeface="Calibri"/>
              </a:rPr>
              <a:t>It will then send dummy bytes with all 0’s or all 1’s as data.</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endParaRPr kumimoji="0" lang="en-US" sz="2400" b="0" i="0" u="none" strike="noStrike" kern="1200" cap="none" spc="-5" normalizeH="0" baseline="0" noProof="0" dirty="0">
              <a:ln>
                <a:noFill/>
              </a:ln>
              <a:solidFill>
                <a:srgbClr val="404040"/>
              </a:solidFill>
              <a:effectLst/>
              <a:uLnTx/>
              <a:uFillTx/>
              <a:latin typeface="Calibri"/>
              <a:ea typeface="+mn-ea"/>
              <a:cs typeface="Calibri"/>
            </a:endParaRPr>
          </a:p>
        </p:txBody>
      </p:sp>
    </p:spTree>
    <p:extLst>
      <p:ext uri="{BB962C8B-B14F-4D97-AF65-F5344CB8AC3E}">
        <p14:creationId xmlns:p14="http://schemas.microsoft.com/office/powerpoint/2010/main" val="12122516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5943" y="3657600"/>
            <a:ext cx="9456057"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596" y="5389419"/>
            <a:ext cx="2274347" cy="1227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21254" y="1747192"/>
            <a:ext cx="11299373" cy="1754326"/>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smtClean="0">
                <a:ln>
                  <a:noFill/>
                </a:ln>
                <a:solidFill>
                  <a:srgbClr val="404040"/>
                </a:solidFill>
                <a:effectLst/>
                <a:uLnTx/>
                <a:uFillTx/>
                <a:latin typeface="Calibri"/>
                <a:ea typeface="+mn-ea"/>
                <a:cs typeface="Calibri"/>
              </a:rPr>
              <a:t>Transmission </a:t>
            </a:r>
            <a:r>
              <a:rPr kumimoji="0" lang="en-US" sz="2400" b="0" i="0" u="none" strike="noStrike" kern="1200" cap="none" spc="-5" normalizeH="0" baseline="0" noProof="0" dirty="0">
                <a:ln>
                  <a:noFill/>
                </a:ln>
                <a:solidFill>
                  <a:srgbClr val="404040"/>
                </a:solidFill>
                <a:effectLst/>
                <a:uLnTx/>
                <a:uFillTx/>
                <a:latin typeface="Calibri"/>
                <a:ea typeface="+mn-ea"/>
                <a:cs typeface="Calibri"/>
              </a:rPr>
              <a:t>is in one direction only.</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If the master is reading data in for a slave, the slave will know to ignore the data being sent by the master</a:t>
            </a:r>
            <a:r>
              <a:rPr kumimoji="0" lang="en-US" sz="1800" b="0" i="0" u="none" strike="noStrike" kern="1200" cap="none" spc="-5" normalizeH="0" baseline="0" noProof="0" dirty="0">
                <a:ln>
                  <a:noFill/>
                </a:ln>
                <a:solidFill>
                  <a:srgbClr val="404040"/>
                </a:solidFill>
                <a:effectLst/>
                <a:uLnTx/>
                <a:uFillTx/>
                <a:latin typeface="Calibri" panose="020F0502020204030204"/>
                <a:ea typeface="+mn-ea"/>
                <a:cs typeface="Calibri"/>
              </a:rPr>
              <a:t>.</a:t>
            </a:r>
          </a:p>
        </p:txBody>
      </p:sp>
      <p:sp>
        <p:nvSpPr>
          <p:cNvPr id="7" name="Rectangle 6"/>
          <p:cNvSpPr/>
          <p:nvPr/>
        </p:nvSpPr>
        <p:spPr>
          <a:xfrm>
            <a:off x="899885" y="381608"/>
            <a:ext cx="10653485" cy="1569660"/>
          </a:xfrm>
          <a:prstGeom prst="rect">
            <a:avLst/>
          </a:prstGeom>
        </p:spPr>
        <p:txBody>
          <a:bodyPr wrap="square">
            <a:spAutoFit/>
          </a:bodyPr>
          <a:lstStyle/>
          <a:p>
            <a:pPr lvl="0" eaLnBrk="0" fontAlgn="base" hangingPunct="0">
              <a:spcBef>
                <a:spcPct val="0"/>
              </a:spcBef>
              <a:spcAft>
                <a:spcPct val="0"/>
              </a:spcAft>
              <a:buFontTx/>
              <a:buChar char="•"/>
            </a:pPr>
            <a:r>
              <a:rPr lang="en-US" altLang="en-US" sz="2400" spc="-5" dirty="0">
                <a:solidFill>
                  <a:srgbClr val="404040"/>
                </a:solidFill>
                <a:latin typeface="Calibri"/>
                <a:cs typeface="Calibri"/>
              </a:rPr>
              <a:t>Even if the slave does not have useful data to send, it must still transmit something.</a:t>
            </a:r>
          </a:p>
          <a:p>
            <a:pPr lvl="0" eaLnBrk="0" fontAlgn="base" hangingPunct="0">
              <a:spcBef>
                <a:spcPct val="0"/>
              </a:spcBef>
              <a:spcAft>
                <a:spcPct val="0"/>
              </a:spcAft>
              <a:buFontTx/>
              <a:buChar char="•"/>
            </a:pPr>
            <a:r>
              <a:rPr lang="en-US" altLang="en-US" sz="2400" spc="-5" dirty="0">
                <a:solidFill>
                  <a:srgbClr val="404040"/>
                </a:solidFill>
                <a:latin typeface="Calibri"/>
                <a:cs typeface="Calibri"/>
              </a:rPr>
              <a:t>So the slave sends dummy data such as:</a:t>
            </a:r>
          </a:p>
          <a:p>
            <a:pPr lvl="3" eaLnBrk="0" fontAlgn="base" hangingPunct="0">
              <a:spcBef>
                <a:spcPct val="0"/>
              </a:spcBef>
              <a:spcAft>
                <a:spcPct val="0"/>
              </a:spcAft>
              <a:buFontTx/>
              <a:buChar char="•"/>
            </a:pPr>
            <a:r>
              <a:rPr lang="en-US" altLang="en-US" sz="2400" spc="-5" dirty="0">
                <a:solidFill>
                  <a:srgbClr val="404040"/>
                </a:solidFill>
                <a:latin typeface="Calibri"/>
                <a:cs typeface="Calibri"/>
              </a:rPr>
              <a:t>A</a:t>
            </a:r>
            <a:r>
              <a:rPr lang="en-US" altLang="en-US" sz="2400" spc="-5" dirty="0" smtClean="0">
                <a:solidFill>
                  <a:srgbClr val="404040"/>
                </a:solidFill>
                <a:latin typeface="Calibri"/>
                <a:cs typeface="Calibri"/>
              </a:rPr>
              <a:t>ll </a:t>
            </a:r>
            <a:r>
              <a:rPr lang="en-US" altLang="en-US" sz="2400" spc="-5" dirty="0">
                <a:solidFill>
                  <a:srgbClr val="404040"/>
                </a:solidFill>
                <a:latin typeface="Calibri"/>
                <a:cs typeface="Calibri"/>
              </a:rPr>
              <a:t>0’s (00000000) or</a:t>
            </a:r>
          </a:p>
          <a:p>
            <a:pPr lvl="3" eaLnBrk="0" fontAlgn="base" hangingPunct="0">
              <a:spcBef>
                <a:spcPct val="0"/>
              </a:spcBef>
              <a:spcAft>
                <a:spcPct val="0"/>
              </a:spcAft>
              <a:buFontTx/>
              <a:buChar char="•"/>
            </a:pPr>
            <a:r>
              <a:rPr lang="en-US" altLang="en-US" sz="2400" spc="-5" dirty="0">
                <a:solidFill>
                  <a:srgbClr val="404040"/>
                </a:solidFill>
                <a:latin typeface="Calibri"/>
                <a:cs typeface="Calibri"/>
              </a:rPr>
              <a:t>A</a:t>
            </a:r>
            <a:r>
              <a:rPr lang="en-US" altLang="en-US" sz="2400" spc="-5" dirty="0" smtClean="0">
                <a:solidFill>
                  <a:srgbClr val="404040"/>
                </a:solidFill>
                <a:latin typeface="Calibri"/>
                <a:cs typeface="Calibri"/>
              </a:rPr>
              <a:t>ll </a:t>
            </a:r>
            <a:r>
              <a:rPr lang="en-US" altLang="en-US" sz="2400" spc="-5" dirty="0">
                <a:solidFill>
                  <a:srgbClr val="404040"/>
                </a:solidFill>
                <a:latin typeface="Calibri"/>
                <a:cs typeface="Calibri"/>
              </a:rPr>
              <a:t>1’s (11111111).</a:t>
            </a:r>
          </a:p>
        </p:txBody>
      </p:sp>
    </p:spTree>
    <p:extLst>
      <p:ext uri="{BB962C8B-B14F-4D97-AF65-F5344CB8AC3E}">
        <p14:creationId xmlns:p14="http://schemas.microsoft.com/office/powerpoint/2010/main" val="42161990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179" y="2554514"/>
            <a:ext cx="9240992" cy="3338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3286" y="6158089"/>
            <a:ext cx="2362200" cy="699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319314" y="664059"/>
            <a:ext cx="11625943" cy="1754326"/>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Fig 2.33 shows a sample communication in an SPI environment. When the slave select(SS) signal is low, data transfer occurs between a slave and a master.</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sz="2400" b="0" i="0" u="none" strike="noStrike" kern="1200" cap="none" spc="-5" normalizeH="0" baseline="0" noProof="0" dirty="0">
                <a:ln>
                  <a:noFill/>
                </a:ln>
                <a:solidFill>
                  <a:srgbClr val="404040"/>
                </a:solidFill>
                <a:effectLst/>
                <a:uLnTx/>
                <a:uFillTx/>
                <a:latin typeface="Calibri"/>
                <a:ea typeface="+mn-ea"/>
                <a:cs typeface="Calibri"/>
              </a:rPr>
              <a:t>The figure shows data being sent on both the MOSI and MISO pins.</a:t>
            </a:r>
            <a:endParaRPr kumimoji="0" lang="en-IN" sz="2400" b="0" i="0" u="none" strike="noStrike" kern="1200" cap="none" spc="-5" normalizeH="0" baseline="0" noProof="0" dirty="0">
              <a:ln>
                <a:noFill/>
              </a:ln>
              <a:solidFill>
                <a:srgbClr val="404040"/>
              </a:solidFill>
              <a:effectLst/>
              <a:uLnTx/>
              <a:uFillTx/>
              <a:latin typeface="Calibri"/>
              <a:ea typeface="+mn-ea"/>
              <a:cs typeface="Calibri"/>
            </a:endParaRPr>
          </a:p>
        </p:txBody>
      </p:sp>
    </p:spTree>
    <p:extLst>
      <p:ext uri="{BB962C8B-B14F-4D97-AF65-F5344CB8AC3E}">
        <p14:creationId xmlns:p14="http://schemas.microsoft.com/office/powerpoint/2010/main" val="7687070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2692907" y="3521964"/>
            <a:ext cx="6816090" cy="0"/>
          </a:xfrm>
          <a:custGeom>
            <a:avLst/>
            <a:gdLst/>
            <a:ahLst/>
            <a:cxnLst/>
            <a:rect l="l" t="t" r="r" b="b"/>
            <a:pathLst>
              <a:path w="6816090">
                <a:moveTo>
                  <a:pt x="0" y="0"/>
                </a:moveTo>
                <a:lnTo>
                  <a:pt x="6815709"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2416301" y="1727073"/>
            <a:ext cx="7182484" cy="2668905"/>
          </a:xfrm>
          <a:prstGeom prst="rect">
            <a:avLst/>
          </a:prstGeom>
        </p:spPr>
        <p:txBody>
          <a:bodyPr vert="horz" wrap="square" lIns="0" tIns="13335" rIns="0" bIns="0" rtlCol="0">
            <a:spAutoFit/>
          </a:bodyPr>
          <a:lstStyle/>
          <a:p>
            <a:pPr algn="ctr">
              <a:lnSpc>
                <a:spcPts val="3679"/>
              </a:lnSpc>
              <a:spcBef>
                <a:spcPts val="105"/>
              </a:spcBef>
            </a:pPr>
            <a:r>
              <a:rPr sz="3200" b="0" spc="-55" dirty="0">
                <a:solidFill>
                  <a:srgbClr val="252525"/>
                </a:solidFill>
                <a:latin typeface="Times New Roman"/>
                <a:cs typeface="Times New Roman"/>
              </a:rPr>
              <a:t>Chapter-3</a:t>
            </a:r>
            <a:endParaRPr sz="3200">
              <a:latin typeface="Times New Roman"/>
              <a:cs typeface="Times New Roman"/>
            </a:endParaRPr>
          </a:p>
          <a:p>
            <a:pPr marL="12700" marR="5080" algn="ctr">
              <a:lnSpc>
                <a:spcPts val="8640"/>
              </a:lnSpc>
            </a:pPr>
            <a:r>
              <a:rPr sz="7200" b="0" spc="-10" dirty="0">
                <a:solidFill>
                  <a:srgbClr val="001F5F"/>
                </a:solidFill>
                <a:latin typeface="Times New Roman"/>
                <a:cs typeface="Times New Roman"/>
              </a:rPr>
              <a:t>Embedded</a:t>
            </a:r>
            <a:r>
              <a:rPr sz="7200" b="0" spc="-85" dirty="0">
                <a:solidFill>
                  <a:srgbClr val="001F5F"/>
                </a:solidFill>
                <a:latin typeface="Times New Roman"/>
                <a:cs typeface="Times New Roman"/>
              </a:rPr>
              <a:t> </a:t>
            </a:r>
            <a:r>
              <a:rPr sz="7200" b="0" spc="-175" dirty="0">
                <a:solidFill>
                  <a:srgbClr val="001F5F"/>
                </a:solidFill>
                <a:latin typeface="Times New Roman"/>
                <a:cs typeface="Times New Roman"/>
              </a:rPr>
              <a:t>systems- </a:t>
            </a:r>
            <a:r>
              <a:rPr sz="7200" b="0" spc="-1785" dirty="0">
                <a:solidFill>
                  <a:srgbClr val="001F5F"/>
                </a:solidFill>
                <a:latin typeface="Times New Roman"/>
                <a:cs typeface="Times New Roman"/>
              </a:rPr>
              <a:t> </a:t>
            </a:r>
            <a:r>
              <a:rPr sz="7200" b="0" dirty="0">
                <a:solidFill>
                  <a:srgbClr val="001F5F"/>
                </a:solidFill>
                <a:latin typeface="Times New Roman"/>
                <a:cs typeface="Times New Roman"/>
              </a:rPr>
              <a:t>The</a:t>
            </a:r>
            <a:r>
              <a:rPr sz="7200" b="0" spc="-15" dirty="0">
                <a:solidFill>
                  <a:srgbClr val="001F5F"/>
                </a:solidFill>
                <a:latin typeface="Times New Roman"/>
                <a:cs typeface="Times New Roman"/>
              </a:rPr>
              <a:t> </a:t>
            </a:r>
            <a:r>
              <a:rPr sz="7200" b="0" spc="-135" dirty="0">
                <a:solidFill>
                  <a:srgbClr val="001F5F"/>
                </a:solidFill>
                <a:latin typeface="Times New Roman"/>
                <a:cs typeface="Times New Roman"/>
              </a:rPr>
              <a:t>software</a:t>
            </a:r>
            <a:endParaRPr sz="7200">
              <a:latin typeface="Times New Roman"/>
              <a:cs typeface="Times New Roman"/>
            </a:endParaRPr>
          </a:p>
        </p:txBody>
      </p:sp>
    </p:spTree>
    <p:extLst>
      <p:ext uri="{BB962C8B-B14F-4D97-AF65-F5344CB8AC3E}">
        <p14:creationId xmlns:p14="http://schemas.microsoft.com/office/powerpoint/2010/main" val="10435442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3816858" y="1511249"/>
            <a:ext cx="4557395" cy="697230"/>
          </a:xfrm>
          <a:prstGeom prst="rect">
            <a:avLst/>
          </a:prstGeom>
        </p:spPr>
        <p:txBody>
          <a:bodyPr vert="horz" wrap="square" lIns="0" tIns="13335" rIns="0" bIns="0" rtlCol="0">
            <a:spAutoFit/>
          </a:bodyPr>
          <a:lstStyle/>
          <a:p>
            <a:pPr marL="12700">
              <a:lnSpc>
                <a:spcPct val="100000"/>
              </a:lnSpc>
              <a:spcBef>
                <a:spcPts val="105"/>
              </a:spcBef>
            </a:pPr>
            <a:r>
              <a:rPr sz="4400" b="0" spc="-135" dirty="0">
                <a:solidFill>
                  <a:srgbClr val="C00000"/>
                </a:solidFill>
                <a:latin typeface="Times New Roman"/>
                <a:cs typeface="Times New Roman"/>
              </a:rPr>
              <a:t>3.1</a:t>
            </a:r>
            <a:r>
              <a:rPr sz="4400" b="0" spc="-70" dirty="0">
                <a:solidFill>
                  <a:srgbClr val="C00000"/>
                </a:solidFill>
                <a:latin typeface="Times New Roman"/>
                <a:cs typeface="Times New Roman"/>
              </a:rPr>
              <a:t> </a:t>
            </a:r>
            <a:r>
              <a:rPr sz="4400" b="0" spc="30" dirty="0">
                <a:solidFill>
                  <a:srgbClr val="C00000"/>
                </a:solidFill>
                <a:latin typeface="Times New Roman"/>
                <a:cs typeface="Times New Roman"/>
              </a:rPr>
              <a:t>ENDIAN-NESS</a:t>
            </a:r>
            <a:endParaRPr sz="4400">
              <a:latin typeface="Times New Roman"/>
              <a:cs typeface="Times New Roman"/>
            </a:endParaRPr>
          </a:p>
        </p:txBody>
      </p:sp>
      <p:sp>
        <p:nvSpPr>
          <p:cNvPr id="9" name="object 9"/>
          <p:cNvSpPr txBox="1"/>
          <p:nvPr/>
        </p:nvSpPr>
        <p:spPr>
          <a:xfrm>
            <a:off x="1374394" y="2483865"/>
            <a:ext cx="9411970" cy="3197670"/>
          </a:xfrm>
          <a:prstGeom prst="rect">
            <a:avLst/>
          </a:prstGeom>
        </p:spPr>
        <p:txBody>
          <a:bodyPr vert="horz" wrap="square" lIns="0" tIns="100965" rIns="0" bIns="0" rtlCol="0">
            <a:spAutoFit/>
          </a:bodyPr>
          <a:lstStyle/>
          <a:p>
            <a:pPr marL="299085" marR="5080" indent="-287020">
              <a:lnSpc>
                <a:spcPts val="2880"/>
              </a:lnSpc>
              <a:spcBef>
                <a:spcPts val="795"/>
              </a:spcBef>
              <a:buClr>
                <a:srgbClr val="83992A"/>
              </a:buClr>
              <a:buSzPct val="98333"/>
              <a:buFont typeface="Wingdings"/>
              <a:buChar char=""/>
              <a:tabLst>
                <a:tab pos="433705" algn="l"/>
              </a:tabLst>
            </a:pPr>
            <a:r>
              <a:rPr lang="en-US" sz="3000" spc="-15" dirty="0" smtClean="0">
                <a:solidFill>
                  <a:srgbClr val="001F5F"/>
                </a:solidFill>
                <a:latin typeface="Calibri"/>
                <a:cs typeface="Calibri"/>
              </a:rPr>
              <a:t>D</a:t>
            </a:r>
            <a:r>
              <a:rPr sz="3000" spc="-15" dirty="0" smtClean="0">
                <a:solidFill>
                  <a:srgbClr val="001F5F"/>
                </a:solidFill>
                <a:latin typeface="Calibri"/>
                <a:cs typeface="Calibri"/>
              </a:rPr>
              <a:t>ata </a:t>
            </a:r>
            <a:r>
              <a:rPr sz="3000" dirty="0">
                <a:solidFill>
                  <a:srgbClr val="001F5F"/>
                </a:solidFill>
                <a:latin typeface="Calibri"/>
                <a:cs typeface="Calibri"/>
              </a:rPr>
              <a:t>is </a:t>
            </a:r>
            <a:r>
              <a:rPr sz="3000" spc="-20" dirty="0">
                <a:solidFill>
                  <a:srgbClr val="001F5F"/>
                </a:solidFill>
                <a:latin typeface="Calibri"/>
                <a:cs typeface="Calibri"/>
              </a:rPr>
              <a:t>stored </a:t>
            </a:r>
            <a:r>
              <a:rPr sz="3000" spc="-10" dirty="0">
                <a:solidFill>
                  <a:srgbClr val="001F5F"/>
                </a:solidFill>
                <a:latin typeface="Calibri"/>
                <a:cs typeface="Calibri"/>
              </a:rPr>
              <a:t>in </a:t>
            </a:r>
            <a:r>
              <a:rPr sz="3000" spc="-35" dirty="0">
                <a:solidFill>
                  <a:srgbClr val="001F5F"/>
                </a:solidFill>
                <a:latin typeface="Calibri"/>
                <a:cs typeface="Calibri"/>
              </a:rPr>
              <a:t>memory, </a:t>
            </a:r>
            <a:r>
              <a:rPr sz="3000" spc="-665" dirty="0">
                <a:solidFill>
                  <a:srgbClr val="001F5F"/>
                </a:solidFill>
                <a:latin typeface="Calibri"/>
                <a:cs typeface="Calibri"/>
              </a:rPr>
              <a:t> </a:t>
            </a:r>
            <a:r>
              <a:rPr sz="3000" dirty="0">
                <a:solidFill>
                  <a:srgbClr val="001F5F"/>
                </a:solidFill>
                <a:latin typeface="Calibri"/>
                <a:cs typeface="Calibri"/>
              </a:rPr>
              <a:t>each</a:t>
            </a:r>
            <a:r>
              <a:rPr sz="3000" spc="-25" dirty="0">
                <a:solidFill>
                  <a:srgbClr val="001F5F"/>
                </a:solidFill>
                <a:latin typeface="Calibri"/>
                <a:cs typeface="Calibri"/>
              </a:rPr>
              <a:t> </a:t>
            </a:r>
            <a:r>
              <a:rPr sz="3000" spc="-10" dirty="0">
                <a:solidFill>
                  <a:srgbClr val="001F5F"/>
                </a:solidFill>
                <a:latin typeface="Calibri"/>
                <a:cs typeface="Calibri"/>
              </a:rPr>
              <a:t>address</a:t>
            </a:r>
            <a:r>
              <a:rPr sz="3000" dirty="0">
                <a:solidFill>
                  <a:srgbClr val="001F5F"/>
                </a:solidFill>
                <a:latin typeface="Calibri"/>
                <a:cs typeface="Calibri"/>
              </a:rPr>
              <a:t> </a:t>
            </a:r>
            <a:r>
              <a:rPr sz="3000" spc="-10" dirty="0">
                <a:solidFill>
                  <a:srgbClr val="001F5F"/>
                </a:solidFill>
                <a:latin typeface="Calibri"/>
                <a:cs typeface="Calibri"/>
              </a:rPr>
              <a:t>corresponds to</a:t>
            </a:r>
            <a:r>
              <a:rPr sz="3000" spc="-5" dirty="0">
                <a:solidFill>
                  <a:srgbClr val="001F5F"/>
                </a:solidFill>
                <a:latin typeface="Calibri"/>
                <a:cs typeface="Calibri"/>
              </a:rPr>
              <a:t> </a:t>
            </a:r>
            <a:r>
              <a:rPr sz="3000" dirty="0">
                <a:solidFill>
                  <a:srgbClr val="001F5F"/>
                </a:solidFill>
                <a:latin typeface="Calibri"/>
                <a:cs typeface="Calibri"/>
              </a:rPr>
              <a:t>a</a:t>
            </a:r>
            <a:r>
              <a:rPr sz="3000" spc="-10" dirty="0">
                <a:solidFill>
                  <a:srgbClr val="001F5F"/>
                </a:solidFill>
                <a:latin typeface="Calibri"/>
                <a:cs typeface="Calibri"/>
              </a:rPr>
              <a:t> </a:t>
            </a:r>
            <a:r>
              <a:rPr sz="3000" spc="-25" dirty="0">
                <a:solidFill>
                  <a:srgbClr val="001F5F"/>
                </a:solidFill>
                <a:latin typeface="Calibri"/>
                <a:cs typeface="Calibri"/>
              </a:rPr>
              <a:t>storage </a:t>
            </a:r>
            <a:r>
              <a:rPr sz="3000" spc="-5" dirty="0">
                <a:solidFill>
                  <a:srgbClr val="001F5F"/>
                </a:solidFill>
                <a:latin typeface="Calibri"/>
                <a:cs typeface="Calibri"/>
              </a:rPr>
              <a:t>of</a:t>
            </a:r>
            <a:r>
              <a:rPr sz="3000" spc="-10" dirty="0">
                <a:solidFill>
                  <a:srgbClr val="001F5F"/>
                </a:solidFill>
                <a:latin typeface="Calibri"/>
                <a:cs typeface="Calibri"/>
              </a:rPr>
              <a:t> </a:t>
            </a:r>
            <a:r>
              <a:rPr sz="3000" spc="-5" dirty="0">
                <a:solidFill>
                  <a:srgbClr val="001F5F"/>
                </a:solidFill>
                <a:latin typeface="Calibri"/>
                <a:cs typeface="Calibri"/>
              </a:rPr>
              <a:t>only</a:t>
            </a:r>
            <a:r>
              <a:rPr sz="3000" dirty="0">
                <a:solidFill>
                  <a:srgbClr val="001F5F"/>
                </a:solidFill>
                <a:latin typeface="Calibri"/>
                <a:cs typeface="Calibri"/>
              </a:rPr>
              <a:t> </a:t>
            </a:r>
            <a:r>
              <a:rPr sz="3000" spc="-5" dirty="0">
                <a:solidFill>
                  <a:srgbClr val="001F5F"/>
                </a:solidFill>
                <a:latin typeface="Calibri"/>
                <a:cs typeface="Calibri"/>
              </a:rPr>
              <a:t>one </a:t>
            </a:r>
            <a:r>
              <a:rPr sz="3000" spc="-10" dirty="0">
                <a:solidFill>
                  <a:srgbClr val="001F5F"/>
                </a:solidFill>
                <a:latin typeface="Calibri"/>
                <a:cs typeface="Calibri"/>
              </a:rPr>
              <a:t>byte</a:t>
            </a:r>
            <a:endParaRPr sz="3000" dirty="0">
              <a:latin typeface="Calibri"/>
              <a:cs typeface="Calibri"/>
            </a:endParaRPr>
          </a:p>
          <a:p>
            <a:pPr marL="487680" indent="-475615">
              <a:lnSpc>
                <a:spcPct val="100000"/>
              </a:lnSpc>
              <a:spcBef>
                <a:spcPts val="625"/>
              </a:spcBef>
              <a:buClr>
                <a:srgbClr val="83992A"/>
              </a:buClr>
              <a:buSzPct val="115000"/>
              <a:buFont typeface="Wingdings"/>
              <a:buChar char=""/>
              <a:tabLst>
                <a:tab pos="488315" algn="l"/>
              </a:tabLst>
            </a:pPr>
            <a:r>
              <a:rPr sz="3000" spc="-15" dirty="0">
                <a:solidFill>
                  <a:srgbClr val="001F5F"/>
                </a:solidFill>
                <a:latin typeface="Calibri"/>
                <a:cs typeface="Calibri"/>
              </a:rPr>
              <a:t>we</a:t>
            </a:r>
            <a:r>
              <a:rPr sz="3000" spc="-25" dirty="0">
                <a:solidFill>
                  <a:srgbClr val="001F5F"/>
                </a:solidFill>
                <a:latin typeface="Calibri"/>
                <a:cs typeface="Calibri"/>
              </a:rPr>
              <a:t> say</a:t>
            </a:r>
            <a:r>
              <a:rPr sz="3000" spc="-5" dirty="0">
                <a:solidFill>
                  <a:srgbClr val="001F5F"/>
                </a:solidFill>
                <a:latin typeface="Calibri"/>
                <a:cs typeface="Calibri"/>
              </a:rPr>
              <a:t> </a:t>
            </a:r>
            <a:r>
              <a:rPr sz="3000" spc="-10" dirty="0">
                <a:solidFill>
                  <a:srgbClr val="001F5F"/>
                </a:solidFill>
                <a:latin typeface="Calibri"/>
                <a:cs typeface="Calibri"/>
              </a:rPr>
              <a:t>that</a:t>
            </a:r>
            <a:r>
              <a:rPr sz="3000" spc="-20" dirty="0">
                <a:solidFill>
                  <a:srgbClr val="001F5F"/>
                </a:solidFill>
                <a:latin typeface="Calibri"/>
                <a:cs typeface="Calibri"/>
              </a:rPr>
              <a:t> </a:t>
            </a:r>
            <a:r>
              <a:rPr sz="3000" dirty="0">
                <a:solidFill>
                  <a:srgbClr val="001F5F"/>
                </a:solidFill>
                <a:latin typeface="Calibri"/>
                <a:cs typeface="Calibri"/>
              </a:rPr>
              <a:t>memory</a:t>
            </a:r>
            <a:r>
              <a:rPr sz="3000" spc="10" dirty="0">
                <a:solidFill>
                  <a:srgbClr val="001F5F"/>
                </a:solidFill>
                <a:latin typeface="Calibri"/>
                <a:cs typeface="Calibri"/>
              </a:rPr>
              <a:t> </a:t>
            </a:r>
            <a:r>
              <a:rPr sz="3000" dirty="0">
                <a:solidFill>
                  <a:srgbClr val="001F5F"/>
                </a:solidFill>
                <a:latin typeface="Calibri"/>
                <a:cs typeface="Calibri"/>
              </a:rPr>
              <a:t>is</a:t>
            </a:r>
            <a:r>
              <a:rPr sz="3000" spc="-20" dirty="0">
                <a:solidFill>
                  <a:srgbClr val="001F5F"/>
                </a:solidFill>
                <a:latin typeface="Calibri"/>
                <a:cs typeface="Calibri"/>
              </a:rPr>
              <a:t> </a:t>
            </a:r>
            <a:r>
              <a:rPr sz="3000" spc="-10" dirty="0">
                <a:solidFill>
                  <a:srgbClr val="001F5F"/>
                </a:solidFill>
                <a:latin typeface="Calibri"/>
                <a:cs typeface="Calibri"/>
              </a:rPr>
              <a:t>'byte</a:t>
            </a:r>
            <a:r>
              <a:rPr sz="3000" spc="-5" dirty="0">
                <a:solidFill>
                  <a:srgbClr val="001F5F"/>
                </a:solidFill>
                <a:latin typeface="Calibri"/>
                <a:cs typeface="Calibri"/>
              </a:rPr>
              <a:t> </a:t>
            </a:r>
            <a:r>
              <a:rPr sz="3000" spc="-10" dirty="0">
                <a:solidFill>
                  <a:srgbClr val="001F5F"/>
                </a:solidFill>
                <a:latin typeface="Calibri"/>
                <a:cs typeface="Calibri"/>
              </a:rPr>
              <a:t>oriented'.</a:t>
            </a:r>
            <a:endParaRPr sz="3000" dirty="0">
              <a:latin typeface="Calibri"/>
              <a:cs typeface="Calibri"/>
            </a:endParaRPr>
          </a:p>
          <a:p>
            <a:pPr marL="299085" marR="630555" indent="-287020">
              <a:lnSpc>
                <a:spcPct val="80000"/>
              </a:lnSpc>
              <a:spcBef>
                <a:spcPts val="1320"/>
              </a:spcBef>
              <a:buClr>
                <a:srgbClr val="83992A"/>
              </a:buClr>
              <a:buSzPct val="115000"/>
              <a:buFont typeface="Wingdings"/>
              <a:buChar char=""/>
              <a:tabLst>
                <a:tab pos="488315" algn="l"/>
              </a:tabLst>
            </a:pPr>
            <a:r>
              <a:rPr sz="3000" spc="-5" dirty="0">
                <a:solidFill>
                  <a:srgbClr val="001F5F"/>
                </a:solidFill>
                <a:latin typeface="Calibri"/>
                <a:cs typeface="Calibri"/>
              </a:rPr>
              <a:t>When </a:t>
            </a:r>
            <a:r>
              <a:rPr sz="3000" dirty="0">
                <a:solidFill>
                  <a:srgbClr val="001F5F"/>
                </a:solidFill>
                <a:latin typeface="Calibri"/>
                <a:cs typeface="Calibri"/>
              </a:rPr>
              <a:t>a </a:t>
            </a:r>
            <a:r>
              <a:rPr sz="3000" spc="-20" dirty="0">
                <a:solidFill>
                  <a:srgbClr val="001F5F"/>
                </a:solidFill>
                <a:latin typeface="Calibri"/>
                <a:cs typeface="Calibri"/>
              </a:rPr>
              <a:t>word </a:t>
            </a:r>
            <a:r>
              <a:rPr sz="3000" spc="-5" dirty="0">
                <a:solidFill>
                  <a:srgbClr val="001F5F"/>
                </a:solidFill>
                <a:latin typeface="Calibri"/>
                <a:cs typeface="Calibri"/>
              </a:rPr>
              <a:t>of </a:t>
            </a:r>
            <a:r>
              <a:rPr sz="3000" dirty="0">
                <a:solidFill>
                  <a:srgbClr val="001F5F"/>
                </a:solidFill>
                <a:latin typeface="Calibri"/>
                <a:cs typeface="Calibri"/>
              </a:rPr>
              <a:t>16 </a:t>
            </a:r>
            <a:r>
              <a:rPr sz="3000" spc="-5" dirty="0">
                <a:solidFill>
                  <a:srgbClr val="001F5F"/>
                </a:solidFill>
                <a:latin typeface="Calibri"/>
                <a:cs typeface="Calibri"/>
              </a:rPr>
              <a:t>bits </a:t>
            </a:r>
            <a:r>
              <a:rPr sz="3000" dirty="0">
                <a:solidFill>
                  <a:srgbClr val="001F5F"/>
                </a:solidFill>
                <a:latin typeface="Calibri"/>
                <a:cs typeface="Calibri"/>
              </a:rPr>
              <a:t>is </a:t>
            </a:r>
            <a:r>
              <a:rPr sz="3000" spc="-20" dirty="0">
                <a:solidFill>
                  <a:srgbClr val="001F5F"/>
                </a:solidFill>
                <a:latin typeface="Calibri"/>
                <a:cs typeface="Calibri"/>
              </a:rPr>
              <a:t>stored, </a:t>
            </a:r>
            <a:r>
              <a:rPr sz="3000" dirty="0">
                <a:solidFill>
                  <a:srgbClr val="001F5F"/>
                </a:solidFill>
                <a:latin typeface="Calibri"/>
                <a:cs typeface="Calibri"/>
              </a:rPr>
              <a:t>it </a:t>
            </a:r>
            <a:r>
              <a:rPr sz="3000" spc="-5" dirty="0">
                <a:solidFill>
                  <a:srgbClr val="001F5F"/>
                </a:solidFill>
                <a:latin typeface="Calibri"/>
                <a:cs typeface="Calibri"/>
              </a:rPr>
              <a:t>occupies </a:t>
            </a:r>
            <a:r>
              <a:rPr sz="3000" spc="-10" dirty="0">
                <a:solidFill>
                  <a:srgbClr val="001F5F"/>
                </a:solidFill>
                <a:latin typeface="Calibri"/>
                <a:cs typeface="Calibri"/>
              </a:rPr>
              <a:t>two </a:t>
            </a:r>
            <a:r>
              <a:rPr sz="3000" spc="-15" dirty="0">
                <a:solidFill>
                  <a:srgbClr val="001F5F"/>
                </a:solidFill>
                <a:latin typeface="Calibri"/>
                <a:cs typeface="Calibri"/>
              </a:rPr>
              <a:t>byte </a:t>
            </a:r>
            <a:r>
              <a:rPr sz="3000" spc="-665" dirty="0">
                <a:solidFill>
                  <a:srgbClr val="001F5F"/>
                </a:solidFill>
                <a:latin typeface="Calibri"/>
                <a:cs typeface="Calibri"/>
              </a:rPr>
              <a:t> </a:t>
            </a:r>
            <a:r>
              <a:rPr sz="3000" spc="-5" dirty="0">
                <a:solidFill>
                  <a:srgbClr val="001F5F"/>
                </a:solidFill>
                <a:latin typeface="Calibri"/>
                <a:cs typeface="Calibri"/>
              </a:rPr>
              <a:t>spaces </a:t>
            </a:r>
            <a:r>
              <a:rPr sz="3000" dirty="0">
                <a:solidFill>
                  <a:srgbClr val="001F5F"/>
                </a:solidFill>
                <a:latin typeface="Calibri"/>
                <a:cs typeface="Calibri"/>
              </a:rPr>
              <a:t>in </a:t>
            </a:r>
            <a:r>
              <a:rPr sz="3000" spc="-30" dirty="0">
                <a:solidFill>
                  <a:srgbClr val="001F5F"/>
                </a:solidFill>
                <a:latin typeface="Calibri"/>
                <a:cs typeface="Calibri"/>
              </a:rPr>
              <a:t>memory, </a:t>
            </a:r>
            <a:r>
              <a:rPr sz="3000" dirty="0">
                <a:solidFill>
                  <a:srgbClr val="001F5F"/>
                </a:solidFill>
                <a:latin typeface="Calibri"/>
                <a:cs typeface="Calibri"/>
              </a:rPr>
              <a:t>and it is </a:t>
            </a:r>
            <a:r>
              <a:rPr sz="3000" spc="-20" dirty="0">
                <a:solidFill>
                  <a:srgbClr val="001F5F"/>
                </a:solidFill>
                <a:latin typeface="Calibri"/>
                <a:cs typeface="Calibri"/>
              </a:rPr>
              <a:t>stored </a:t>
            </a:r>
            <a:r>
              <a:rPr sz="3000" spc="-10" dirty="0">
                <a:solidFill>
                  <a:srgbClr val="001F5F"/>
                </a:solidFill>
                <a:latin typeface="Calibri"/>
                <a:cs typeface="Calibri"/>
              </a:rPr>
              <a:t>in </a:t>
            </a:r>
            <a:r>
              <a:rPr sz="3000" spc="-5" dirty="0">
                <a:solidFill>
                  <a:srgbClr val="001F5F"/>
                </a:solidFill>
                <a:latin typeface="Calibri"/>
                <a:cs typeface="Calibri"/>
              </a:rPr>
              <a:t>ADDRESS, </a:t>
            </a:r>
            <a:r>
              <a:rPr sz="3000" dirty="0">
                <a:solidFill>
                  <a:srgbClr val="001F5F"/>
                </a:solidFill>
                <a:latin typeface="Calibri"/>
                <a:cs typeface="Calibri"/>
              </a:rPr>
              <a:t>and </a:t>
            </a:r>
            <a:r>
              <a:rPr sz="3000" spc="5" dirty="0">
                <a:solidFill>
                  <a:srgbClr val="001F5F"/>
                </a:solidFill>
                <a:latin typeface="Calibri"/>
                <a:cs typeface="Calibri"/>
              </a:rPr>
              <a:t> </a:t>
            </a:r>
            <a:r>
              <a:rPr sz="3000" spc="-5" dirty="0">
                <a:solidFill>
                  <a:srgbClr val="001F5F"/>
                </a:solidFill>
                <a:latin typeface="Calibri"/>
                <a:cs typeface="Calibri"/>
              </a:rPr>
              <a:t>ADDRESS+1.</a:t>
            </a:r>
            <a:endParaRPr sz="3000" dirty="0">
              <a:latin typeface="Calibri"/>
              <a:cs typeface="Calibri"/>
            </a:endParaRPr>
          </a:p>
          <a:p>
            <a:pPr marL="299085" marR="224790" indent="-287020">
              <a:lnSpc>
                <a:spcPts val="2880"/>
              </a:lnSpc>
              <a:spcBef>
                <a:spcPts val="1300"/>
              </a:spcBef>
              <a:buClr>
                <a:srgbClr val="83992A"/>
              </a:buClr>
              <a:buSzPct val="115000"/>
              <a:buFont typeface="Wingdings"/>
              <a:buChar char=""/>
              <a:tabLst>
                <a:tab pos="488315" algn="l"/>
              </a:tabLst>
            </a:pPr>
            <a:r>
              <a:rPr lang="en-US" sz="3000" dirty="0" smtClean="0">
                <a:solidFill>
                  <a:srgbClr val="001F5F"/>
                </a:solidFill>
                <a:latin typeface="Calibri"/>
                <a:cs typeface="Calibri"/>
              </a:rPr>
              <a:t>T</a:t>
            </a:r>
            <a:r>
              <a:rPr sz="3000" dirty="0" smtClean="0">
                <a:solidFill>
                  <a:srgbClr val="001F5F"/>
                </a:solidFill>
                <a:latin typeface="Calibri"/>
                <a:cs typeface="Calibri"/>
              </a:rPr>
              <a:t>he </a:t>
            </a:r>
            <a:r>
              <a:rPr sz="3000" spc="-15" dirty="0">
                <a:solidFill>
                  <a:srgbClr val="001F5F"/>
                </a:solidFill>
                <a:latin typeface="Calibri"/>
                <a:cs typeface="Calibri"/>
              </a:rPr>
              <a:t>order </a:t>
            </a:r>
            <a:r>
              <a:rPr sz="3000" dirty="0">
                <a:solidFill>
                  <a:srgbClr val="001F5F"/>
                </a:solidFill>
                <a:latin typeface="Calibri"/>
                <a:cs typeface="Calibri"/>
              </a:rPr>
              <a:t>in which the </a:t>
            </a:r>
            <a:r>
              <a:rPr sz="3000" spc="-20" dirty="0">
                <a:solidFill>
                  <a:srgbClr val="001F5F"/>
                </a:solidFill>
                <a:latin typeface="Calibri"/>
                <a:cs typeface="Calibri"/>
              </a:rPr>
              <a:t>data </a:t>
            </a:r>
            <a:r>
              <a:rPr sz="3000" spc="-10" dirty="0">
                <a:solidFill>
                  <a:srgbClr val="001F5F"/>
                </a:solidFill>
                <a:latin typeface="Calibri"/>
                <a:cs typeface="Calibri"/>
              </a:rPr>
              <a:t>bytes </a:t>
            </a:r>
            <a:r>
              <a:rPr sz="3000" spc="-15" dirty="0">
                <a:solidFill>
                  <a:srgbClr val="001F5F"/>
                </a:solidFill>
                <a:latin typeface="Calibri"/>
                <a:cs typeface="Calibri"/>
              </a:rPr>
              <a:t>are </a:t>
            </a:r>
            <a:r>
              <a:rPr sz="3000" spc="-665" dirty="0">
                <a:solidFill>
                  <a:srgbClr val="001F5F"/>
                </a:solidFill>
                <a:latin typeface="Calibri"/>
                <a:cs typeface="Calibri"/>
              </a:rPr>
              <a:t> </a:t>
            </a:r>
            <a:r>
              <a:rPr sz="3000" spc="-15" dirty="0">
                <a:solidFill>
                  <a:srgbClr val="001F5F"/>
                </a:solidFill>
                <a:latin typeface="Calibri"/>
                <a:cs typeface="Calibri"/>
              </a:rPr>
              <a:t>to</a:t>
            </a:r>
            <a:r>
              <a:rPr sz="3000" spc="-25" dirty="0">
                <a:solidFill>
                  <a:srgbClr val="001F5F"/>
                </a:solidFill>
                <a:latin typeface="Calibri"/>
                <a:cs typeface="Calibri"/>
              </a:rPr>
              <a:t> </a:t>
            </a:r>
            <a:r>
              <a:rPr sz="3000" spc="-5" dirty="0">
                <a:solidFill>
                  <a:srgbClr val="001F5F"/>
                </a:solidFill>
                <a:latin typeface="Calibri"/>
                <a:cs typeface="Calibri"/>
              </a:rPr>
              <a:t>be</a:t>
            </a:r>
            <a:r>
              <a:rPr sz="3000" spc="-15" dirty="0">
                <a:solidFill>
                  <a:srgbClr val="001F5F"/>
                </a:solidFill>
                <a:latin typeface="Calibri"/>
                <a:cs typeface="Calibri"/>
              </a:rPr>
              <a:t> </a:t>
            </a:r>
            <a:r>
              <a:rPr sz="3000" spc="-20" dirty="0">
                <a:solidFill>
                  <a:srgbClr val="001F5F"/>
                </a:solidFill>
                <a:latin typeface="Calibri"/>
                <a:cs typeface="Calibri"/>
              </a:rPr>
              <a:t>stored</a:t>
            </a:r>
            <a:r>
              <a:rPr sz="3000" spc="-20" dirty="0" smtClean="0">
                <a:solidFill>
                  <a:srgbClr val="001F5F"/>
                </a:solidFill>
                <a:latin typeface="Calibri"/>
                <a:cs typeface="Calibri"/>
              </a:rPr>
              <a:t>.</a:t>
            </a:r>
            <a:endParaRPr sz="3000" dirty="0">
              <a:latin typeface="Calibri"/>
              <a:cs typeface="Calibri"/>
            </a:endParaRPr>
          </a:p>
        </p:txBody>
      </p:sp>
    </p:spTree>
    <p:extLst>
      <p:ext uri="{BB962C8B-B14F-4D97-AF65-F5344CB8AC3E}">
        <p14:creationId xmlns:p14="http://schemas.microsoft.com/office/powerpoint/2010/main" val="26958499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p:nvPr/>
        </p:nvSpPr>
        <p:spPr>
          <a:xfrm>
            <a:off x="1374394" y="2483865"/>
            <a:ext cx="9342755" cy="2628284"/>
          </a:xfrm>
          <a:prstGeom prst="rect">
            <a:avLst/>
          </a:prstGeom>
        </p:spPr>
        <p:txBody>
          <a:bodyPr vert="horz" wrap="square" lIns="0" tIns="100965" rIns="0" bIns="0" rtlCol="0">
            <a:spAutoFit/>
          </a:bodyPr>
          <a:lstStyle/>
          <a:p>
            <a:pPr marL="12065" marR="5080">
              <a:lnSpc>
                <a:spcPts val="2880"/>
              </a:lnSpc>
              <a:spcBef>
                <a:spcPts val="795"/>
              </a:spcBef>
              <a:buClr>
                <a:srgbClr val="83992A"/>
              </a:buClr>
              <a:buSzPct val="115000"/>
              <a:tabLst>
                <a:tab pos="445770" algn="l"/>
              </a:tabLst>
            </a:pPr>
            <a:endParaRPr sz="3000" dirty="0">
              <a:latin typeface="Calibri"/>
              <a:cs typeface="Calibri"/>
            </a:endParaRPr>
          </a:p>
          <a:p>
            <a:pPr marL="299085" marR="173355" indent="-287020">
              <a:lnSpc>
                <a:spcPts val="2880"/>
              </a:lnSpc>
              <a:spcBef>
                <a:spcPts val="1320"/>
              </a:spcBef>
              <a:buClr>
                <a:srgbClr val="83992A"/>
              </a:buClr>
              <a:buSzPct val="115000"/>
              <a:buFont typeface="Wingdings"/>
              <a:buChar char=""/>
              <a:tabLst>
                <a:tab pos="445770" algn="l"/>
              </a:tabLst>
            </a:pPr>
            <a:r>
              <a:rPr lang="en-US" sz="3000" dirty="0">
                <a:solidFill>
                  <a:srgbClr val="001F5F"/>
                </a:solidFill>
                <a:latin typeface="Calibri"/>
                <a:cs typeface="Calibri"/>
              </a:rPr>
              <a:t>T</a:t>
            </a:r>
            <a:r>
              <a:rPr sz="3000" spc="-10" dirty="0" smtClean="0">
                <a:solidFill>
                  <a:srgbClr val="001F5F"/>
                </a:solidFill>
                <a:latin typeface="Calibri"/>
                <a:cs typeface="Calibri"/>
              </a:rPr>
              <a:t>here</a:t>
            </a:r>
            <a:r>
              <a:rPr sz="3000" spc="-15" dirty="0" smtClean="0">
                <a:solidFill>
                  <a:srgbClr val="001F5F"/>
                </a:solidFill>
                <a:latin typeface="Calibri"/>
                <a:cs typeface="Calibri"/>
              </a:rPr>
              <a:t> </a:t>
            </a:r>
            <a:r>
              <a:rPr sz="3000" spc="-15" dirty="0">
                <a:solidFill>
                  <a:srgbClr val="001F5F"/>
                </a:solidFill>
                <a:latin typeface="Calibri"/>
                <a:cs typeface="Calibri"/>
              </a:rPr>
              <a:t>are</a:t>
            </a:r>
            <a:r>
              <a:rPr sz="3000" dirty="0">
                <a:solidFill>
                  <a:srgbClr val="001F5F"/>
                </a:solidFill>
                <a:latin typeface="Calibri"/>
                <a:cs typeface="Calibri"/>
              </a:rPr>
              <a:t> </a:t>
            </a:r>
            <a:r>
              <a:rPr sz="3000" spc="-10" dirty="0">
                <a:solidFill>
                  <a:srgbClr val="001F5F"/>
                </a:solidFill>
                <a:latin typeface="Calibri"/>
                <a:cs typeface="Calibri"/>
              </a:rPr>
              <a:t>two</a:t>
            </a:r>
            <a:r>
              <a:rPr sz="3000" spc="-20" dirty="0">
                <a:solidFill>
                  <a:srgbClr val="001F5F"/>
                </a:solidFill>
                <a:latin typeface="Calibri"/>
                <a:cs typeface="Calibri"/>
              </a:rPr>
              <a:t> </a:t>
            </a:r>
            <a:r>
              <a:rPr sz="3000" spc="-35" dirty="0">
                <a:solidFill>
                  <a:srgbClr val="001F5F"/>
                </a:solidFill>
                <a:latin typeface="Calibri"/>
                <a:cs typeface="Calibri"/>
              </a:rPr>
              <a:t>ways</a:t>
            </a:r>
            <a:r>
              <a:rPr sz="3000" spc="-10" dirty="0">
                <a:solidFill>
                  <a:srgbClr val="001F5F"/>
                </a:solidFill>
                <a:latin typeface="Calibri"/>
                <a:cs typeface="Calibri"/>
              </a:rPr>
              <a:t> </a:t>
            </a:r>
            <a:r>
              <a:rPr sz="3000" dirty="0">
                <a:solidFill>
                  <a:srgbClr val="001F5F"/>
                </a:solidFill>
                <a:latin typeface="Calibri"/>
                <a:cs typeface="Calibri"/>
              </a:rPr>
              <a:t>of</a:t>
            </a:r>
            <a:r>
              <a:rPr sz="3000" spc="-5" dirty="0">
                <a:solidFill>
                  <a:srgbClr val="001F5F"/>
                </a:solidFill>
                <a:latin typeface="Calibri"/>
                <a:cs typeface="Calibri"/>
              </a:rPr>
              <a:t> addressing </a:t>
            </a:r>
            <a:r>
              <a:rPr sz="3000" dirty="0">
                <a:solidFill>
                  <a:srgbClr val="001F5F"/>
                </a:solidFill>
                <a:latin typeface="Calibri"/>
                <a:cs typeface="Calibri"/>
              </a:rPr>
              <a:t>the</a:t>
            </a:r>
            <a:r>
              <a:rPr sz="3000" spc="-25" dirty="0">
                <a:solidFill>
                  <a:srgbClr val="001F5F"/>
                </a:solidFill>
                <a:latin typeface="Calibri"/>
                <a:cs typeface="Calibri"/>
              </a:rPr>
              <a:t> </a:t>
            </a:r>
            <a:r>
              <a:rPr sz="3000" spc="-55" dirty="0" smtClean="0">
                <a:solidFill>
                  <a:srgbClr val="001F5F"/>
                </a:solidFill>
                <a:latin typeface="Calibri"/>
                <a:cs typeface="Calibri"/>
              </a:rPr>
              <a:t>matter</a:t>
            </a:r>
            <a:endParaRPr lang="en-US" sz="3000" spc="-55" dirty="0" smtClean="0">
              <a:solidFill>
                <a:srgbClr val="001F5F"/>
              </a:solidFill>
              <a:latin typeface="Calibri"/>
              <a:cs typeface="Calibri"/>
            </a:endParaRPr>
          </a:p>
          <a:p>
            <a:pPr marL="1670685" marR="173355" lvl="3" indent="-287020">
              <a:lnSpc>
                <a:spcPts val="2880"/>
              </a:lnSpc>
              <a:spcBef>
                <a:spcPts val="1320"/>
              </a:spcBef>
              <a:buClr>
                <a:srgbClr val="83992A"/>
              </a:buClr>
              <a:buSzPct val="115000"/>
              <a:buFont typeface="Wingdings"/>
              <a:buChar char=""/>
              <a:tabLst>
                <a:tab pos="445770" algn="l"/>
              </a:tabLst>
            </a:pPr>
            <a:r>
              <a:rPr lang="en-US" sz="3000" spc="-55" dirty="0" smtClean="0">
                <a:solidFill>
                  <a:srgbClr val="001F5F"/>
                </a:solidFill>
                <a:latin typeface="Calibri"/>
                <a:cs typeface="Calibri"/>
              </a:rPr>
              <a:t>Little Endian</a:t>
            </a:r>
          </a:p>
          <a:p>
            <a:pPr marL="1670685" marR="173355" lvl="3" indent="-287020">
              <a:lnSpc>
                <a:spcPts val="2880"/>
              </a:lnSpc>
              <a:spcBef>
                <a:spcPts val="1320"/>
              </a:spcBef>
              <a:buClr>
                <a:srgbClr val="83992A"/>
              </a:buClr>
              <a:buSzPct val="115000"/>
              <a:buFont typeface="Wingdings"/>
              <a:buChar char=""/>
              <a:tabLst>
                <a:tab pos="445770" algn="l"/>
              </a:tabLst>
            </a:pPr>
            <a:r>
              <a:rPr lang="en-US" sz="3000" spc="-55" dirty="0" smtClean="0">
                <a:solidFill>
                  <a:srgbClr val="001F5F"/>
                </a:solidFill>
                <a:latin typeface="Calibri"/>
                <a:cs typeface="Calibri"/>
              </a:rPr>
              <a:t>Big Endian</a:t>
            </a:r>
          </a:p>
          <a:p>
            <a:pPr marL="299085" marR="173355" indent="-287020">
              <a:lnSpc>
                <a:spcPts val="2880"/>
              </a:lnSpc>
              <a:spcBef>
                <a:spcPts val="1320"/>
              </a:spcBef>
              <a:buClr>
                <a:srgbClr val="83992A"/>
              </a:buClr>
              <a:buSzPct val="115000"/>
              <a:buFont typeface="Wingdings"/>
              <a:buChar char=""/>
              <a:tabLst>
                <a:tab pos="445770" algn="l"/>
              </a:tabLst>
            </a:pPr>
            <a:r>
              <a:rPr sz="3000" spc="-5" dirty="0" smtClean="0">
                <a:solidFill>
                  <a:srgbClr val="001F5F"/>
                </a:solidFill>
                <a:latin typeface="Calibri"/>
                <a:cs typeface="Calibri"/>
              </a:rPr>
              <a:t>This</a:t>
            </a:r>
            <a:r>
              <a:rPr sz="3000" dirty="0" smtClean="0">
                <a:solidFill>
                  <a:srgbClr val="001F5F"/>
                </a:solidFill>
                <a:latin typeface="Calibri"/>
                <a:cs typeface="Calibri"/>
              </a:rPr>
              <a:t> </a:t>
            </a:r>
            <a:r>
              <a:rPr sz="3000" spc="-5" dirty="0">
                <a:solidFill>
                  <a:srgbClr val="001F5F"/>
                </a:solidFill>
                <a:latin typeface="Calibri"/>
                <a:cs typeface="Calibri"/>
              </a:rPr>
              <a:t>applies</a:t>
            </a:r>
            <a:r>
              <a:rPr sz="3000" dirty="0">
                <a:solidFill>
                  <a:srgbClr val="001F5F"/>
                </a:solidFill>
                <a:latin typeface="Calibri"/>
                <a:cs typeface="Calibri"/>
              </a:rPr>
              <a:t> </a:t>
            </a:r>
            <a:r>
              <a:rPr sz="3000" spc="-15" dirty="0">
                <a:solidFill>
                  <a:srgbClr val="001F5F"/>
                </a:solidFill>
                <a:latin typeface="Calibri"/>
                <a:cs typeface="Calibri"/>
              </a:rPr>
              <a:t>to</a:t>
            </a:r>
            <a:r>
              <a:rPr sz="3000" spc="-25" dirty="0">
                <a:solidFill>
                  <a:srgbClr val="001F5F"/>
                </a:solidFill>
                <a:latin typeface="Calibri"/>
                <a:cs typeface="Calibri"/>
              </a:rPr>
              <a:t> </a:t>
            </a:r>
            <a:r>
              <a:rPr sz="3000" spc="-5" dirty="0">
                <a:solidFill>
                  <a:srgbClr val="001F5F"/>
                </a:solidFill>
                <a:latin typeface="Calibri"/>
                <a:cs typeface="Calibri"/>
              </a:rPr>
              <a:t>16-bit,</a:t>
            </a:r>
            <a:r>
              <a:rPr sz="3000" spc="-10" dirty="0">
                <a:solidFill>
                  <a:srgbClr val="001F5F"/>
                </a:solidFill>
                <a:latin typeface="Calibri"/>
                <a:cs typeface="Calibri"/>
              </a:rPr>
              <a:t> </a:t>
            </a:r>
            <a:r>
              <a:rPr sz="3000" dirty="0">
                <a:solidFill>
                  <a:srgbClr val="001F5F"/>
                </a:solidFill>
                <a:latin typeface="Calibri"/>
                <a:cs typeface="Calibri"/>
              </a:rPr>
              <a:t>32-bit</a:t>
            </a:r>
            <a:r>
              <a:rPr sz="3000" spc="-25" dirty="0">
                <a:solidFill>
                  <a:srgbClr val="001F5F"/>
                </a:solidFill>
                <a:latin typeface="Calibri"/>
                <a:cs typeface="Calibri"/>
              </a:rPr>
              <a:t> </a:t>
            </a:r>
            <a:r>
              <a:rPr sz="3000" dirty="0">
                <a:solidFill>
                  <a:srgbClr val="001F5F"/>
                </a:solidFill>
                <a:latin typeface="Calibri"/>
                <a:cs typeface="Calibri"/>
              </a:rPr>
              <a:t>and </a:t>
            </a:r>
            <a:r>
              <a:rPr sz="3000" spc="-5" dirty="0">
                <a:solidFill>
                  <a:srgbClr val="001F5F"/>
                </a:solidFill>
                <a:latin typeface="Calibri"/>
                <a:cs typeface="Calibri"/>
              </a:rPr>
              <a:t>64-bit</a:t>
            </a:r>
            <a:r>
              <a:rPr sz="3000" spc="-15" dirty="0">
                <a:solidFill>
                  <a:srgbClr val="001F5F"/>
                </a:solidFill>
                <a:latin typeface="Calibri"/>
                <a:cs typeface="Calibri"/>
              </a:rPr>
              <a:t> data.</a:t>
            </a:r>
            <a:endParaRPr sz="3000" dirty="0">
              <a:latin typeface="Calibri"/>
              <a:cs typeface="Calibri"/>
            </a:endParaRPr>
          </a:p>
        </p:txBody>
      </p:sp>
    </p:spTree>
    <p:extLst>
      <p:ext uri="{BB962C8B-B14F-4D97-AF65-F5344CB8AC3E}">
        <p14:creationId xmlns:p14="http://schemas.microsoft.com/office/powerpoint/2010/main" val="38520613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651254"/>
            <a:ext cx="3399790" cy="696595"/>
          </a:xfrm>
          <a:prstGeom prst="rect">
            <a:avLst/>
          </a:prstGeom>
        </p:spPr>
        <p:txBody>
          <a:bodyPr vert="horz" wrap="square" lIns="0" tIns="13335" rIns="0" bIns="0" rtlCol="0">
            <a:spAutoFit/>
          </a:bodyPr>
          <a:lstStyle/>
          <a:p>
            <a:pPr marL="12700">
              <a:lnSpc>
                <a:spcPct val="100000"/>
              </a:lnSpc>
              <a:spcBef>
                <a:spcPts val="105"/>
              </a:spcBef>
            </a:pPr>
            <a:r>
              <a:rPr sz="4400" b="0" spc="-140" dirty="0">
                <a:solidFill>
                  <a:srgbClr val="C00000"/>
                </a:solidFill>
                <a:latin typeface="Times New Roman"/>
                <a:cs typeface="Times New Roman"/>
              </a:rPr>
              <a:t>1.</a:t>
            </a:r>
            <a:r>
              <a:rPr sz="4400" b="0" spc="-35" dirty="0">
                <a:solidFill>
                  <a:srgbClr val="C00000"/>
                </a:solidFill>
                <a:latin typeface="Times New Roman"/>
                <a:cs typeface="Times New Roman"/>
              </a:rPr>
              <a:t> </a:t>
            </a:r>
            <a:r>
              <a:rPr sz="4400" b="0" spc="-100" dirty="0">
                <a:solidFill>
                  <a:srgbClr val="C00000"/>
                </a:solidFill>
                <a:latin typeface="Times New Roman"/>
                <a:cs typeface="Times New Roman"/>
              </a:rPr>
              <a:t>Little</a:t>
            </a:r>
            <a:r>
              <a:rPr sz="4400" b="0" spc="-35" dirty="0">
                <a:solidFill>
                  <a:srgbClr val="C00000"/>
                </a:solidFill>
                <a:latin typeface="Times New Roman"/>
                <a:cs typeface="Times New Roman"/>
              </a:rPr>
              <a:t> </a:t>
            </a:r>
            <a:r>
              <a:rPr sz="4400" b="0" spc="-20" dirty="0">
                <a:solidFill>
                  <a:srgbClr val="C00000"/>
                </a:solidFill>
                <a:latin typeface="Times New Roman"/>
                <a:cs typeface="Times New Roman"/>
              </a:rPr>
              <a:t>Endian</a:t>
            </a:r>
            <a:endParaRPr sz="4400">
              <a:latin typeface="Times New Roman"/>
              <a:cs typeface="Times New Roman"/>
            </a:endParaRPr>
          </a:p>
        </p:txBody>
      </p:sp>
      <p:sp>
        <p:nvSpPr>
          <p:cNvPr id="9" name="object 9"/>
          <p:cNvSpPr txBox="1"/>
          <p:nvPr/>
        </p:nvSpPr>
        <p:spPr>
          <a:xfrm>
            <a:off x="1374394" y="2392121"/>
            <a:ext cx="9319260" cy="2666756"/>
          </a:xfrm>
          <a:prstGeom prst="rect">
            <a:avLst/>
          </a:prstGeom>
        </p:spPr>
        <p:txBody>
          <a:bodyPr vert="horz" wrap="square" lIns="0" tIns="12065" rIns="0" bIns="0" rtlCol="0">
            <a:spAutoFit/>
          </a:bodyPr>
          <a:lstStyle/>
          <a:p>
            <a:pPr marL="299085" marR="390525" indent="-287020">
              <a:lnSpc>
                <a:spcPct val="100000"/>
              </a:lnSpc>
              <a:spcBef>
                <a:spcPts val="95"/>
              </a:spcBef>
              <a:buClr>
                <a:srgbClr val="83992A"/>
              </a:buClr>
              <a:buSzPct val="114285"/>
              <a:buFont typeface="Arial MT"/>
              <a:buChar char="•"/>
              <a:tabLst>
                <a:tab pos="387350" algn="l"/>
                <a:tab pos="387985" algn="l"/>
                <a:tab pos="4946650" algn="l"/>
              </a:tabLst>
            </a:pPr>
            <a:r>
              <a:rPr dirty="0"/>
              <a:t>	</a:t>
            </a:r>
            <a:r>
              <a:rPr sz="2800" spc="40" dirty="0">
                <a:solidFill>
                  <a:srgbClr val="252525"/>
                </a:solidFill>
                <a:latin typeface="Times New Roman"/>
                <a:cs typeface="Times New Roman"/>
              </a:rPr>
              <a:t>In</a:t>
            </a:r>
            <a:r>
              <a:rPr sz="2800" spc="5" dirty="0">
                <a:solidFill>
                  <a:srgbClr val="252525"/>
                </a:solidFill>
                <a:latin typeface="Times New Roman"/>
                <a:cs typeface="Times New Roman"/>
              </a:rPr>
              <a:t> </a:t>
            </a:r>
            <a:r>
              <a:rPr sz="2800" spc="-40" dirty="0">
                <a:solidFill>
                  <a:srgbClr val="252525"/>
                </a:solidFill>
                <a:latin typeface="Times New Roman"/>
                <a:cs typeface="Times New Roman"/>
              </a:rPr>
              <a:t>this</a:t>
            </a:r>
            <a:r>
              <a:rPr sz="2800" spc="10" dirty="0">
                <a:solidFill>
                  <a:srgbClr val="252525"/>
                </a:solidFill>
                <a:latin typeface="Times New Roman"/>
                <a:cs typeface="Times New Roman"/>
              </a:rPr>
              <a:t> </a:t>
            </a:r>
            <a:r>
              <a:rPr sz="2800" spc="-15" dirty="0">
                <a:solidFill>
                  <a:srgbClr val="252525"/>
                </a:solidFill>
                <a:latin typeface="Times New Roman"/>
                <a:cs typeface="Times New Roman"/>
              </a:rPr>
              <a:t>format,</a:t>
            </a:r>
            <a:r>
              <a:rPr sz="2800" spc="5" dirty="0">
                <a:solidFill>
                  <a:srgbClr val="252525"/>
                </a:solidFill>
                <a:latin typeface="Times New Roman"/>
                <a:cs typeface="Times New Roman"/>
              </a:rPr>
              <a:t> </a:t>
            </a:r>
            <a:r>
              <a:rPr sz="2800" spc="-5" dirty="0">
                <a:solidFill>
                  <a:srgbClr val="252525"/>
                </a:solidFill>
                <a:latin typeface="Times New Roman"/>
                <a:cs typeface="Times New Roman"/>
              </a:rPr>
              <a:t>the </a:t>
            </a:r>
            <a:r>
              <a:rPr sz="2800" spc="-90" dirty="0">
                <a:solidFill>
                  <a:srgbClr val="252525"/>
                </a:solidFill>
                <a:latin typeface="Times New Roman"/>
                <a:cs typeface="Times New Roman"/>
              </a:rPr>
              <a:t>lower</a:t>
            </a:r>
            <a:r>
              <a:rPr sz="2800" spc="15" dirty="0">
                <a:solidFill>
                  <a:srgbClr val="252525"/>
                </a:solidFill>
                <a:latin typeface="Times New Roman"/>
                <a:cs typeface="Times New Roman"/>
              </a:rPr>
              <a:t> </a:t>
            </a:r>
            <a:r>
              <a:rPr sz="2800" spc="-75" dirty="0">
                <a:solidFill>
                  <a:srgbClr val="252525"/>
                </a:solidFill>
                <a:latin typeface="Times New Roman"/>
                <a:cs typeface="Times New Roman"/>
              </a:rPr>
              <a:t>byte</a:t>
            </a:r>
            <a:r>
              <a:rPr sz="2800" spc="-5" dirty="0">
                <a:solidFill>
                  <a:srgbClr val="252525"/>
                </a:solidFill>
                <a:latin typeface="Times New Roman"/>
                <a:cs typeface="Times New Roman"/>
              </a:rPr>
              <a:t> of	the</a:t>
            </a:r>
            <a:r>
              <a:rPr sz="2800" spc="-40" dirty="0">
                <a:solidFill>
                  <a:srgbClr val="252525"/>
                </a:solidFill>
                <a:latin typeface="Times New Roman"/>
                <a:cs typeface="Times New Roman"/>
              </a:rPr>
              <a:t> </a:t>
            </a:r>
            <a:r>
              <a:rPr sz="2800" spc="-70" dirty="0">
                <a:solidFill>
                  <a:srgbClr val="252525"/>
                </a:solidFill>
                <a:latin typeface="Times New Roman"/>
                <a:cs typeface="Times New Roman"/>
              </a:rPr>
              <a:t>multi-byte</a:t>
            </a:r>
            <a:r>
              <a:rPr sz="2800" spc="-25" dirty="0">
                <a:solidFill>
                  <a:srgbClr val="252525"/>
                </a:solidFill>
                <a:latin typeface="Times New Roman"/>
                <a:cs typeface="Times New Roman"/>
              </a:rPr>
              <a:t> </a:t>
            </a:r>
            <a:r>
              <a:rPr sz="2800" spc="-55" dirty="0">
                <a:solidFill>
                  <a:srgbClr val="252525"/>
                </a:solidFill>
                <a:latin typeface="Times New Roman"/>
                <a:cs typeface="Times New Roman"/>
              </a:rPr>
              <a:t>word</a:t>
            </a:r>
            <a:r>
              <a:rPr sz="2800" dirty="0">
                <a:solidFill>
                  <a:srgbClr val="252525"/>
                </a:solidFill>
                <a:latin typeface="Times New Roman"/>
                <a:cs typeface="Times New Roman"/>
              </a:rPr>
              <a:t> </a:t>
            </a:r>
            <a:r>
              <a:rPr sz="2800" spc="-105" dirty="0">
                <a:solidFill>
                  <a:srgbClr val="252525"/>
                </a:solidFill>
                <a:latin typeface="Times New Roman"/>
                <a:cs typeface="Times New Roman"/>
              </a:rPr>
              <a:t>is</a:t>
            </a:r>
            <a:r>
              <a:rPr sz="2800" spc="-15" dirty="0">
                <a:solidFill>
                  <a:srgbClr val="252525"/>
                </a:solidFill>
                <a:latin typeface="Times New Roman"/>
                <a:cs typeface="Times New Roman"/>
              </a:rPr>
              <a:t> </a:t>
            </a:r>
            <a:r>
              <a:rPr sz="2800" spc="-155" dirty="0">
                <a:solidFill>
                  <a:srgbClr val="252525"/>
                </a:solidFill>
                <a:latin typeface="Times New Roman"/>
                <a:cs typeface="Times New Roman"/>
              </a:rPr>
              <a:t>always </a:t>
            </a:r>
            <a:r>
              <a:rPr sz="2800" spc="-685" dirty="0">
                <a:solidFill>
                  <a:srgbClr val="252525"/>
                </a:solidFill>
                <a:latin typeface="Times New Roman"/>
                <a:cs typeface="Times New Roman"/>
              </a:rPr>
              <a:t> </a:t>
            </a:r>
            <a:r>
              <a:rPr sz="2800" spc="-15" dirty="0">
                <a:solidFill>
                  <a:srgbClr val="252525"/>
                </a:solidFill>
                <a:latin typeface="Times New Roman"/>
                <a:cs typeface="Times New Roman"/>
              </a:rPr>
              <a:t>stored</a:t>
            </a:r>
            <a:r>
              <a:rPr sz="2800" dirty="0">
                <a:solidFill>
                  <a:srgbClr val="252525"/>
                </a:solidFill>
                <a:latin typeface="Times New Roman"/>
                <a:cs typeface="Times New Roman"/>
              </a:rPr>
              <a:t> </a:t>
            </a:r>
            <a:r>
              <a:rPr sz="2800" spc="-60" dirty="0">
                <a:solidFill>
                  <a:srgbClr val="252525"/>
                </a:solidFill>
                <a:latin typeface="Times New Roman"/>
                <a:cs typeface="Times New Roman"/>
              </a:rPr>
              <a:t>in</a:t>
            </a:r>
            <a:r>
              <a:rPr sz="2800" spc="-5" dirty="0">
                <a:solidFill>
                  <a:srgbClr val="252525"/>
                </a:solidFill>
                <a:latin typeface="Times New Roman"/>
                <a:cs typeface="Times New Roman"/>
              </a:rPr>
              <a:t> </a:t>
            </a:r>
            <a:r>
              <a:rPr sz="2800" spc="-10" dirty="0">
                <a:solidFill>
                  <a:srgbClr val="252525"/>
                </a:solidFill>
                <a:latin typeface="Times New Roman"/>
                <a:cs typeface="Times New Roman"/>
              </a:rPr>
              <a:t>the</a:t>
            </a:r>
            <a:r>
              <a:rPr sz="2800" spc="-5" dirty="0">
                <a:solidFill>
                  <a:srgbClr val="252525"/>
                </a:solidFill>
                <a:latin typeface="Times New Roman"/>
                <a:cs typeface="Times New Roman"/>
              </a:rPr>
              <a:t> </a:t>
            </a:r>
            <a:r>
              <a:rPr sz="2800" spc="-90" dirty="0">
                <a:solidFill>
                  <a:srgbClr val="252525"/>
                </a:solidFill>
                <a:latin typeface="Times New Roman"/>
                <a:cs typeface="Times New Roman"/>
              </a:rPr>
              <a:t>lower</a:t>
            </a:r>
            <a:r>
              <a:rPr sz="2800" dirty="0">
                <a:solidFill>
                  <a:srgbClr val="252525"/>
                </a:solidFill>
                <a:latin typeface="Times New Roman"/>
                <a:cs typeface="Times New Roman"/>
              </a:rPr>
              <a:t> </a:t>
            </a:r>
            <a:r>
              <a:rPr sz="2800" spc="-70" dirty="0">
                <a:solidFill>
                  <a:srgbClr val="252525"/>
                </a:solidFill>
                <a:latin typeface="Times New Roman"/>
                <a:cs typeface="Times New Roman"/>
              </a:rPr>
              <a:t>address.</a:t>
            </a:r>
            <a:endParaRPr sz="2800" dirty="0">
              <a:latin typeface="Times New Roman"/>
              <a:cs typeface="Times New Roman"/>
            </a:endParaRPr>
          </a:p>
          <a:p>
            <a:pPr marL="387350" indent="-375285">
              <a:lnSpc>
                <a:spcPct val="100000"/>
              </a:lnSpc>
              <a:spcBef>
                <a:spcPts val="1275"/>
              </a:spcBef>
              <a:buClr>
                <a:srgbClr val="83992A"/>
              </a:buClr>
              <a:buSzPct val="114285"/>
              <a:buFont typeface="Arial MT"/>
              <a:buChar char="•"/>
              <a:tabLst>
                <a:tab pos="387350" algn="l"/>
                <a:tab pos="387985" algn="l"/>
                <a:tab pos="3331210" algn="l"/>
              </a:tabLst>
            </a:pPr>
            <a:r>
              <a:rPr sz="2800" spc="-50" dirty="0">
                <a:solidFill>
                  <a:srgbClr val="252525"/>
                </a:solidFill>
                <a:latin typeface="Times New Roman"/>
                <a:cs typeface="Times New Roman"/>
              </a:rPr>
              <a:t>Consider</a:t>
            </a:r>
            <a:r>
              <a:rPr sz="2800" spc="15" dirty="0">
                <a:solidFill>
                  <a:srgbClr val="252525"/>
                </a:solidFill>
                <a:latin typeface="Times New Roman"/>
                <a:cs typeface="Times New Roman"/>
              </a:rPr>
              <a:t> </a:t>
            </a:r>
            <a:r>
              <a:rPr sz="2800" spc="-5" dirty="0">
                <a:solidFill>
                  <a:srgbClr val="252525"/>
                </a:solidFill>
                <a:latin typeface="Times New Roman"/>
                <a:cs typeface="Times New Roman"/>
              </a:rPr>
              <a:t>the</a:t>
            </a:r>
            <a:r>
              <a:rPr sz="2800" spc="15" dirty="0">
                <a:solidFill>
                  <a:srgbClr val="252525"/>
                </a:solidFill>
                <a:latin typeface="Times New Roman"/>
                <a:cs typeface="Times New Roman"/>
              </a:rPr>
              <a:t> </a:t>
            </a:r>
            <a:r>
              <a:rPr sz="2800" spc="-85" dirty="0">
                <a:solidFill>
                  <a:srgbClr val="252525"/>
                </a:solidFill>
                <a:latin typeface="Times New Roman"/>
                <a:cs typeface="Times New Roman"/>
              </a:rPr>
              <a:t>case</a:t>
            </a:r>
            <a:r>
              <a:rPr sz="2800" dirty="0">
                <a:solidFill>
                  <a:srgbClr val="252525"/>
                </a:solidFill>
                <a:latin typeface="Times New Roman"/>
                <a:cs typeface="Times New Roman"/>
              </a:rPr>
              <a:t> </a:t>
            </a:r>
            <a:r>
              <a:rPr sz="2800" spc="-5" dirty="0">
                <a:solidFill>
                  <a:srgbClr val="252525"/>
                </a:solidFill>
                <a:latin typeface="Times New Roman"/>
                <a:cs typeface="Times New Roman"/>
              </a:rPr>
              <a:t>of	the</a:t>
            </a:r>
            <a:r>
              <a:rPr sz="2800" spc="-10" dirty="0">
                <a:solidFill>
                  <a:srgbClr val="252525"/>
                </a:solidFill>
                <a:latin typeface="Times New Roman"/>
                <a:cs typeface="Times New Roman"/>
              </a:rPr>
              <a:t> </a:t>
            </a:r>
            <a:r>
              <a:rPr sz="2800" spc="-60" dirty="0">
                <a:solidFill>
                  <a:srgbClr val="252525"/>
                </a:solidFill>
                <a:latin typeface="Times New Roman"/>
                <a:cs typeface="Times New Roman"/>
              </a:rPr>
              <a:t>32-bit</a:t>
            </a:r>
            <a:r>
              <a:rPr sz="2800" spc="-15" dirty="0">
                <a:solidFill>
                  <a:srgbClr val="252525"/>
                </a:solidFill>
                <a:latin typeface="Times New Roman"/>
                <a:cs typeface="Times New Roman"/>
              </a:rPr>
              <a:t> </a:t>
            </a:r>
            <a:r>
              <a:rPr sz="2800" spc="-60" dirty="0">
                <a:solidFill>
                  <a:srgbClr val="252525"/>
                </a:solidFill>
                <a:latin typeface="Times New Roman"/>
                <a:cs typeface="Times New Roman"/>
              </a:rPr>
              <a:t>word</a:t>
            </a:r>
            <a:r>
              <a:rPr sz="2800" spc="-5" dirty="0">
                <a:solidFill>
                  <a:srgbClr val="252525"/>
                </a:solidFill>
                <a:latin typeface="Times New Roman"/>
                <a:cs typeface="Times New Roman"/>
              </a:rPr>
              <a:t> </a:t>
            </a:r>
            <a:r>
              <a:rPr sz="2800" spc="-75" dirty="0">
                <a:solidFill>
                  <a:srgbClr val="252525"/>
                </a:solidFill>
                <a:latin typeface="Times New Roman"/>
                <a:cs typeface="Times New Roman"/>
              </a:rPr>
              <a:t>Ox12345678.</a:t>
            </a:r>
            <a:endParaRPr sz="2800" dirty="0">
              <a:latin typeface="Times New Roman"/>
              <a:cs typeface="Times New Roman"/>
            </a:endParaRPr>
          </a:p>
          <a:p>
            <a:pPr marL="299085" indent="-287020">
              <a:lnSpc>
                <a:spcPct val="100000"/>
              </a:lnSpc>
              <a:spcBef>
                <a:spcPts val="1275"/>
              </a:spcBef>
              <a:buClr>
                <a:srgbClr val="83992A"/>
              </a:buClr>
              <a:buSzPct val="114285"/>
              <a:buFont typeface="Arial MT"/>
              <a:buChar char="•"/>
              <a:tabLst>
                <a:tab pos="299720" algn="l"/>
              </a:tabLst>
            </a:pPr>
            <a:r>
              <a:rPr sz="2800" spc="-55" dirty="0">
                <a:solidFill>
                  <a:srgbClr val="252525"/>
                </a:solidFill>
                <a:latin typeface="Times New Roman"/>
                <a:cs typeface="Times New Roman"/>
              </a:rPr>
              <a:t>Let</a:t>
            </a:r>
            <a:r>
              <a:rPr sz="2800" spc="-10" dirty="0">
                <a:solidFill>
                  <a:srgbClr val="252525"/>
                </a:solidFill>
                <a:latin typeface="Times New Roman"/>
                <a:cs typeface="Times New Roman"/>
              </a:rPr>
              <a:t> </a:t>
            </a:r>
            <a:r>
              <a:rPr sz="2800" spc="-50" dirty="0">
                <a:solidFill>
                  <a:srgbClr val="252525"/>
                </a:solidFill>
                <a:latin typeface="Times New Roman"/>
                <a:cs typeface="Times New Roman"/>
              </a:rPr>
              <a:t>us</a:t>
            </a:r>
            <a:r>
              <a:rPr sz="2800" spc="10" dirty="0">
                <a:solidFill>
                  <a:srgbClr val="252525"/>
                </a:solidFill>
                <a:latin typeface="Times New Roman"/>
                <a:cs typeface="Times New Roman"/>
              </a:rPr>
              <a:t> </a:t>
            </a:r>
            <a:r>
              <a:rPr sz="2800" spc="-20" dirty="0">
                <a:solidFill>
                  <a:srgbClr val="252525"/>
                </a:solidFill>
                <a:latin typeface="Times New Roman"/>
                <a:cs typeface="Times New Roman"/>
              </a:rPr>
              <a:t>store</a:t>
            </a:r>
            <a:r>
              <a:rPr sz="2800" dirty="0">
                <a:solidFill>
                  <a:srgbClr val="252525"/>
                </a:solidFill>
                <a:latin typeface="Times New Roman"/>
                <a:cs typeface="Times New Roman"/>
              </a:rPr>
              <a:t> </a:t>
            </a:r>
            <a:r>
              <a:rPr sz="2800" spc="-55" dirty="0">
                <a:solidFill>
                  <a:srgbClr val="252525"/>
                </a:solidFill>
                <a:latin typeface="Times New Roman"/>
                <a:cs typeface="Times New Roman"/>
              </a:rPr>
              <a:t>it</a:t>
            </a:r>
            <a:r>
              <a:rPr sz="2800" spc="-5" dirty="0">
                <a:solidFill>
                  <a:srgbClr val="252525"/>
                </a:solidFill>
                <a:latin typeface="Times New Roman"/>
                <a:cs typeface="Times New Roman"/>
              </a:rPr>
              <a:t> </a:t>
            </a:r>
            <a:r>
              <a:rPr sz="2800" spc="-60" dirty="0">
                <a:solidFill>
                  <a:srgbClr val="252525"/>
                </a:solidFill>
                <a:latin typeface="Times New Roman"/>
                <a:cs typeface="Times New Roman"/>
              </a:rPr>
              <a:t>in</a:t>
            </a:r>
            <a:r>
              <a:rPr sz="2800" spc="-10" dirty="0">
                <a:solidFill>
                  <a:srgbClr val="252525"/>
                </a:solidFill>
                <a:latin typeface="Times New Roman"/>
                <a:cs typeface="Times New Roman"/>
              </a:rPr>
              <a:t> </a:t>
            </a:r>
            <a:r>
              <a:rPr sz="2800" spc="-50" dirty="0">
                <a:solidFill>
                  <a:srgbClr val="252525"/>
                </a:solidFill>
                <a:latin typeface="Times New Roman"/>
                <a:cs typeface="Times New Roman"/>
              </a:rPr>
              <a:t>address</a:t>
            </a:r>
            <a:r>
              <a:rPr sz="2800" spc="-5" dirty="0">
                <a:solidFill>
                  <a:srgbClr val="252525"/>
                </a:solidFill>
                <a:latin typeface="Times New Roman"/>
                <a:cs typeface="Times New Roman"/>
              </a:rPr>
              <a:t> </a:t>
            </a:r>
            <a:r>
              <a:rPr sz="2800" spc="-100" dirty="0">
                <a:solidFill>
                  <a:srgbClr val="252525"/>
                </a:solidFill>
                <a:latin typeface="Times New Roman"/>
                <a:cs typeface="Times New Roman"/>
              </a:rPr>
              <a:t>0x40000000.</a:t>
            </a:r>
            <a:endParaRPr sz="2800" dirty="0">
              <a:latin typeface="Times New Roman"/>
              <a:cs typeface="Times New Roman"/>
            </a:endParaRPr>
          </a:p>
          <a:p>
            <a:pPr marL="299085" indent="-287020">
              <a:lnSpc>
                <a:spcPct val="100000"/>
              </a:lnSpc>
              <a:spcBef>
                <a:spcPts val="1270"/>
              </a:spcBef>
              <a:buClr>
                <a:srgbClr val="83992A"/>
              </a:buClr>
              <a:buSzPct val="114285"/>
              <a:buFont typeface="Arial MT"/>
              <a:buChar char="•"/>
              <a:tabLst>
                <a:tab pos="299720" algn="l"/>
              </a:tabLst>
            </a:pPr>
            <a:r>
              <a:rPr sz="2800" spc="-40" dirty="0" smtClean="0">
                <a:solidFill>
                  <a:srgbClr val="252525"/>
                </a:solidFill>
                <a:latin typeface="Times New Roman"/>
                <a:cs typeface="Times New Roman"/>
              </a:rPr>
              <a:t>This</a:t>
            </a:r>
            <a:r>
              <a:rPr sz="2800" spc="5" dirty="0" smtClean="0">
                <a:solidFill>
                  <a:srgbClr val="252525"/>
                </a:solidFill>
                <a:latin typeface="Times New Roman"/>
                <a:cs typeface="Times New Roman"/>
              </a:rPr>
              <a:t> </a:t>
            </a:r>
            <a:r>
              <a:rPr sz="2800" dirty="0">
                <a:solidFill>
                  <a:srgbClr val="252525"/>
                </a:solidFill>
                <a:latin typeface="Times New Roman"/>
                <a:cs typeface="Times New Roman"/>
              </a:rPr>
              <a:t>format </a:t>
            </a:r>
            <a:r>
              <a:rPr sz="2800" spc="-105" dirty="0">
                <a:solidFill>
                  <a:srgbClr val="252525"/>
                </a:solidFill>
                <a:latin typeface="Times New Roman"/>
                <a:cs typeface="Times New Roman"/>
              </a:rPr>
              <a:t>is</a:t>
            </a:r>
            <a:r>
              <a:rPr sz="2800" spc="-15" dirty="0">
                <a:solidFill>
                  <a:srgbClr val="252525"/>
                </a:solidFill>
                <a:latin typeface="Times New Roman"/>
                <a:cs typeface="Times New Roman"/>
              </a:rPr>
              <a:t> </a:t>
            </a:r>
            <a:r>
              <a:rPr sz="2800" spc="-50" dirty="0">
                <a:solidFill>
                  <a:srgbClr val="252525"/>
                </a:solidFill>
                <a:latin typeface="Times New Roman"/>
                <a:cs typeface="Times New Roman"/>
              </a:rPr>
              <a:t>used</a:t>
            </a:r>
            <a:r>
              <a:rPr sz="2800" spc="5" dirty="0">
                <a:solidFill>
                  <a:srgbClr val="252525"/>
                </a:solidFill>
                <a:latin typeface="Times New Roman"/>
                <a:cs typeface="Times New Roman"/>
              </a:rPr>
              <a:t> </a:t>
            </a:r>
            <a:r>
              <a:rPr sz="2800" spc="-60" dirty="0">
                <a:solidFill>
                  <a:srgbClr val="252525"/>
                </a:solidFill>
                <a:latin typeface="Times New Roman"/>
                <a:cs typeface="Times New Roman"/>
              </a:rPr>
              <a:t>in</a:t>
            </a:r>
            <a:r>
              <a:rPr sz="2800" spc="-5" dirty="0">
                <a:solidFill>
                  <a:srgbClr val="252525"/>
                </a:solidFill>
                <a:latin typeface="Times New Roman"/>
                <a:cs typeface="Times New Roman"/>
              </a:rPr>
              <a:t> </a:t>
            </a:r>
            <a:r>
              <a:rPr sz="2800" b="1" spc="-10" dirty="0">
                <a:solidFill>
                  <a:srgbClr val="252525"/>
                </a:solidFill>
                <a:latin typeface="Times New Roman"/>
                <a:cs typeface="Times New Roman"/>
              </a:rPr>
              <a:t>Intel</a:t>
            </a:r>
            <a:r>
              <a:rPr sz="2800" b="1" spc="10" dirty="0">
                <a:solidFill>
                  <a:srgbClr val="252525"/>
                </a:solidFill>
                <a:latin typeface="Times New Roman"/>
                <a:cs typeface="Times New Roman"/>
              </a:rPr>
              <a:t> </a:t>
            </a:r>
            <a:r>
              <a:rPr sz="2800" b="1" spc="-35" dirty="0">
                <a:solidFill>
                  <a:srgbClr val="252525"/>
                </a:solidFill>
                <a:latin typeface="Times New Roman"/>
                <a:cs typeface="Times New Roman"/>
              </a:rPr>
              <a:t>architecture.</a:t>
            </a:r>
            <a:endParaRPr sz="2800" dirty="0">
              <a:latin typeface="Times New Roman"/>
              <a:cs typeface="Times New Roman"/>
            </a:endParaRPr>
          </a:p>
        </p:txBody>
      </p:sp>
      <p:graphicFrame>
        <p:nvGraphicFramePr>
          <p:cNvPr id="11" name="Table 10"/>
          <p:cNvGraphicFramePr>
            <a:graphicFrameLocks noGrp="1"/>
          </p:cNvGraphicFramePr>
          <p:nvPr>
            <p:extLst/>
          </p:nvPr>
        </p:nvGraphicFramePr>
        <p:xfrm>
          <a:off x="2049308" y="5441468"/>
          <a:ext cx="4310744" cy="365760"/>
        </p:xfrm>
        <a:graphic>
          <a:graphicData uri="http://schemas.openxmlformats.org/drawingml/2006/table">
            <a:tbl>
              <a:tblPr firstRow="1" bandRow="1">
                <a:tableStyleId>{5C22544A-7EE6-4342-B048-85BDC9FD1C3A}</a:tableStyleId>
              </a:tblPr>
              <a:tblGrid>
                <a:gridCol w="1077686">
                  <a:extLst>
                    <a:ext uri="{9D8B030D-6E8A-4147-A177-3AD203B41FA5}">
                      <a16:colId xmlns:a16="http://schemas.microsoft.com/office/drawing/2014/main" val="432962450"/>
                    </a:ext>
                  </a:extLst>
                </a:gridCol>
                <a:gridCol w="1077686">
                  <a:extLst>
                    <a:ext uri="{9D8B030D-6E8A-4147-A177-3AD203B41FA5}">
                      <a16:colId xmlns:a16="http://schemas.microsoft.com/office/drawing/2014/main" val="921453103"/>
                    </a:ext>
                  </a:extLst>
                </a:gridCol>
                <a:gridCol w="1077686">
                  <a:extLst>
                    <a:ext uri="{9D8B030D-6E8A-4147-A177-3AD203B41FA5}">
                      <a16:colId xmlns:a16="http://schemas.microsoft.com/office/drawing/2014/main" val="821439781"/>
                    </a:ext>
                  </a:extLst>
                </a:gridCol>
                <a:gridCol w="1077686">
                  <a:extLst>
                    <a:ext uri="{9D8B030D-6E8A-4147-A177-3AD203B41FA5}">
                      <a16:colId xmlns:a16="http://schemas.microsoft.com/office/drawing/2014/main" val="1371216696"/>
                    </a:ext>
                  </a:extLst>
                </a:gridCol>
              </a:tblGrid>
              <a:tr h="220860">
                <a:tc>
                  <a:txBody>
                    <a:bodyPr/>
                    <a:lstStyle/>
                    <a:p>
                      <a:r>
                        <a:rPr lang="en-US" dirty="0" smtClean="0"/>
                        <a:t>78</a:t>
                      </a:r>
                      <a:endParaRPr lang="en-IN" dirty="0"/>
                    </a:p>
                  </a:txBody>
                  <a:tcPr/>
                </a:tc>
                <a:tc>
                  <a:txBody>
                    <a:bodyPr/>
                    <a:lstStyle/>
                    <a:p>
                      <a:r>
                        <a:rPr lang="en-US" dirty="0" smtClean="0"/>
                        <a:t>56</a:t>
                      </a:r>
                      <a:endParaRPr lang="en-IN" dirty="0"/>
                    </a:p>
                  </a:txBody>
                  <a:tcPr/>
                </a:tc>
                <a:tc>
                  <a:txBody>
                    <a:bodyPr/>
                    <a:lstStyle/>
                    <a:p>
                      <a:r>
                        <a:rPr lang="en-US" dirty="0" smtClean="0"/>
                        <a:t>34</a:t>
                      </a:r>
                      <a:endParaRPr lang="en-IN" dirty="0"/>
                    </a:p>
                  </a:txBody>
                  <a:tcPr/>
                </a:tc>
                <a:tc>
                  <a:txBody>
                    <a:bodyPr/>
                    <a:lstStyle/>
                    <a:p>
                      <a:r>
                        <a:rPr lang="en-US" dirty="0" smtClean="0"/>
                        <a:t>12</a:t>
                      </a:r>
                      <a:endParaRPr lang="en-IN" dirty="0"/>
                    </a:p>
                  </a:txBody>
                  <a:tcPr/>
                </a:tc>
                <a:extLst>
                  <a:ext uri="{0D108BD9-81ED-4DB2-BD59-A6C34878D82A}">
                    <a16:rowId xmlns:a16="http://schemas.microsoft.com/office/drawing/2014/main" val="1984929429"/>
                  </a:ext>
                </a:extLst>
              </a:tr>
            </a:tbl>
          </a:graphicData>
        </a:graphic>
      </p:graphicFrame>
      <p:pic>
        <p:nvPicPr>
          <p:cNvPr id="12" name="object 9"/>
          <p:cNvPicPr/>
          <p:nvPr/>
        </p:nvPicPr>
        <p:blipFill>
          <a:blip r:embed="rId2" cstate="print"/>
          <a:stretch>
            <a:fillRect/>
          </a:stretch>
        </p:blipFill>
        <p:spPr>
          <a:xfrm>
            <a:off x="7586840" y="3889612"/>
            <a:ext cx="4048963" cy="2358788"/>
          </a:xfrm>
          <a:prstGeom prst="rect">
            <a:avLst/>
          </a:prstGeom>
        </p:spPr>
      </p:pic>
    </p:spTree>
    <p:extLst>
      <p:ext uri="{BB962C8B-B14F-4D97-AF65-F5344CB8AC3E}">
        <p14:creationId xmlns:p14="http://schemas.microsoft.com/office/powerpoint/2010/main" val="310005337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RM Data Types and Registers (Part 2) | Azeria Lab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909" y="757646"/>
            <a:ext cx="9418320" cy="5277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19278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628394"/>
            <a:ext cx="2983230" cy="696595"/>
          </a:xfrm>
          <a:prstGeom prst="rect">
            <a:avLst/>
          </a:prstGeom>
        </p:spPr>
        <p:txBody>
          <a:bodyPr vert="horz" wrap="square" lIns="0" tIns="13335" rIns="0" bIns="0" rtlCol="0">
            <a:spAutoFit/>
          </a:bodyPr>
          <a:lstStyle/>
          <a:p>
            <a:pPr marL="12700">
              <a:lnSpc>
                <a:spcPct val="100000"/>
              </a:lnSpc>
              <a:spcBef>
                <a:spcPts val="105"/>
              </a:spcBef>
            </a:pPr>
            <a:r>
              <a:rPr sz="4400" b="0" spc="-145" dirty="0">
                <a:solidFill>
                  <a:srgbClr val="C00000"/>
                </a:solidFill>
                <a:latin typeface="Times New Roman"/>
                <a:cs typeface="Times New Roman"/>
              </a:rPr>
              <a:t>2</a:t>
            </a:r>
            <a:r>
              <a:rPr sz="4400" b="0" spc="-140" dirty="0">
                <a:solidFill>
                  <a:srgbClr val="C00000"/>
                </a:solidFill>
                <a:latin typeface="Times New Roman"/>
                <a:cs typeface="Times New Roman"/>
              </a:rPr>
              <a:t>.</a:t>
            </a:r>
            <a:r>
              <a:rPr sz="4400" b="0" dirty="0">
                <a:solidFill>
                  <a:srgbClr val="C00000"/>
                </a:solidFill>
                <a:latin typeface="Times New Roman"/>
                <a:cs typeface="Times New Roman"/>
              </a:rPr>
              <a:t> </a:t>
            </a:r>
            <a:r>
              <a:rPr sz="4400" b="0" spc="-225" dirty="0">
                <a:solidFill>
                  <a:srgbClr val="C00000"/>
                </a:solidFill>
                <a:latin typeface="Times New Roman"/>
                <a:cs typeface="Times New Roman"/>
              </a:rPr>
              <a:t>Big</a:t>
            </a:r>
            <a:r>
              <a:rPr sz="4400" b="0" spc="-15" dirty="0">
                <a:solidFill>
                  <a:srgbClr val="C00000"/>
                </a:solidFill>
                <a:latin typeface="Times New Roman"/>
                <a:cs typeface="Times New Roman"/>
              </a:rPr>
              <a:t> </a:t>
            </a:r>
            <a:r>
              <a:rPr sz="4400" b="0" spc="-20" dirty="0">
                <a:solidFill>
                  <a:srgbClr val="C00000"/>
                </a:solidFill>
                <a:latin typeface="Times New Roman"/>
                <a:cs typeface="Times New Roman"/>
              </a:rPr>
              <a:t>Endian</a:t>
            </a:r>
            <a:endParaRPr sz="4400">
              <a:latin typeface="Times New Roman"/>
              <a:cs typeface="Times New Roman"/>
            </a:endParaRPr>
          </a:p>
        </p:txBody>
      </p:sp>
      <p:sp>
        <p:nvSpPr>
          <p:cNvPr id="9" name="object 9"/>
          <p:cNvSpPr txBox="1"/>
          <p:nvPr/>
        </p:nvSpPr>
        <p:spPr>
          <a:xfrm>
            <a:off x="761999" y="2481600"/>
            <a:ext cx="8793188" cy="2267287"/>
          </a:xfrm>
          <a:prstGeom prst="rect">
            <a:avLst/>
          </a:prstGeom>
        </p:spPr>
        <p:txBody>
          <a:bodyPr vert="horz" wrap="square" lIns="0" tIns="106680" rIns="0" bIns="0" rtlCol="0">
            <a:spAutoFit/>
          </a:bodyPr>
          <a:lstStyle/>
          <a:p>
            <a:pPr marL="387350" indent="-375285">
              <a:lnSpc>
                <a:spcPct val="100000"/>
              </a:lnSpc>
              <a:spcBef>
                <a:spcPts val="1275"/>
              </a:spcBef>
              <a:buClr>
                <a:srgbClr val="83992A"/>
              </a:buClr>
              <a:buSzPct val="114285"/>
              <a:buFont typeface="Arial MT"/>
              <a:buChar char="•"/>
              <a:tabLst>
                <a:tab pos="387350" algn="l"/>
                <a:tab pos="387985" algn="l"/>
                <a:tab pos="3331210" algn="l"/>
              </a:tabLst>
            </a:pPr>
            <a:r>
              <a:rPr lang="en-US" sz="2800" spc="-50" dirty="0">
                <a:solidFill>
                  <a:srgbClr val="252525"/>
                </a:solidFill>
                <a:latin typeface="Times New Roman"/>
                <a:cs typeface="Times New Roman"/>
              </a:rPr>
              <a:t>Consider</a:t>
            </a:r>
            <a:r>
              <a:rPr lang="en-US" sz="2800" spc="15" dirty="0">
                <a:solidFill>
                  <a:srgbClr val="252525"/>
                </a:solidFill>
                <a:latin typeface="Times New Roman"/>
                <a:cs typeface="Times New Roman"/>
              </a:rPr>
              <a:t> </a:t>
            </a:r>
            <a:r>
              <a:rPr lang="en-US" sz="2800" spc="-5" dirty="0">
                <a:solidFill>
                  <a:srgbClr val="252525"/>
                </a:solidFill>
                <a:latin typeface="Times New Roman"/>
                <a:cs typeface="Times New Roman"/>
              </a:rPr>
              <a:t>the</a:t>
            </a:r>
            <a:r>
              <a:rPr lang="en-US" sz="2800" spc="15" dirty="0">
                <a:solidFill>
                  <a:srgbClr val="252525"/>
                </a:solidFill>
                <a:latin typeface="Times New Roman"/>
                <a:cs typeface="Times New Roman"/>
              </a:rPr>
              <a:t> </a:t>
            </a:r>
            <a:r>
              <a:rPr lang="en-US" sz="2800" spc="-85" dirty="0">
                <a:solidFill>
                  <a:srgbClr val="252525"/>
                </a:solidFill>
                <a:latin typeface="Times New Roman"/>
                <a:cs typeface="Times New Roman"/>
              </a:rPr>
              <a:t>case</a:t>
            </a:r>
            <a:r>
              <a:rPr lang="en-US" sz="2800" dirty="0">
                <a:solidFill>
                  <a:srgbClr val="252525"/>
                </a:solidFill>
                <a:latin typeface="Times New Roman"/>
                <a:cs typeface="Times New Roman"/>
              </a:rPr>
              <a:t> </a:t>
            </a:r>
            <a:r>
              <a:rPr lang="en-US" sz="2800" spc="-5" dirty="0">
                <a:solidFill>
                  <a:srgbClr val="252525"/>
                </a:solidFill>
                <a:latin typeface="Times New Roman"/>
                <a:cs typeface="Times New Roman"/>
              </a:rPr>
              <a:t>of	the</a:t>
            </a:r>
            <a:r>
              <a:rPr lang="en-US" sz="2800" spc="-10" dirty="0">
                <a:solidFill>
                  <a:srgbClr val="252525"/>
                </a:solidFill>
                <a:latin typeface="Times New Roman"/>
                <a:cs typeface="Times New Roman"/>
              </a:rPr>
              <a:t> </a:t>
            </a:r>
            <a:r>
              <a:rPr lang="en-US" sz="2800" spc="-60" dirty="0">
                <a:solidFill>
                  <a:srgbClr val="252525"/>
                </a:solidFill>
                <a:latin typeface="Times New Roman"/>
                <a:cs typeface="Times New Roman"/>
              </a:rPr>
              <a:t>32-bit</a:t>
            </a:r>
            <a:r>
              <a:rPr lang="en-US" sz="2800" spc="-15" dirty="0">
                <a:solidFill>
                  <a:srgbClr val="252525"/>
                </a:solidFill>
                <a:latin typeface="Times New Roman"/>
                <a:cs typeface="Times New Roman"/>
              </a:rPr>
              <a:t> </a:t>
            </a:r>
            <a:r>
              <a:rPr lang="en-US" sz="2800" spc="-60" dirty="0">
                <a:solidFill>
                  <a:srgbClr val="252525"/>
                </a:solidFill>
                <a:latin typeface="Times New Roman"/>
                <a:cs typeface="Times New Roman"/>
              </a:rPr>
              <a:t>word</a:t>
            </a:r>
            <a:r>
              <a:rPr lang="en-US" sz="2800" spc="-5" dirty="0">
                <a:solidFill>
                  <a:srgbClr val="252525"/>
                </a:solidFill>
                <a:latin typeface="Times New Roman"/>
                <a:cs typeface="Times New Roman"/>
              </a:rPr>
              <a:t> </a:t>
            </a:r>
            <a:r>
              <a:rPr lang="en-US" sz="2800" spc="-75" dirty="0">
                <a:solidFill>
                  <a:srgbClr val="252525"/>
                </a:solidFill>
                <a:latin typeface="Times New Roman"/>
                <a:cs typeface="Times New Roman"/>
              </a:rPr>
              <a:t>Ox12345678.</a:t>
            </a:r>
            <a:endParaRPr lang="en-US" sz="2800" dirty="0">
              <a:latin typeface="Times New Roman"/>
              <a:cs typeface="Times New Roman"/>
            </a:endParaRPr>
          </a:p>
          <a:p>
            <a:pPr marL="299085" indent="-287020">
              <a:lnSpc>
                <a:spcPct val="100000"/>
              </a:lnSpc>
              <a:spcBef>
                <a:spcPts val="1275"/>
              </a:spcBef>
              <a:buClr>
                <a:srgbClr val="83992A"/>
              </a:buClr>
              <a:buSzPct val="114285"/>
              <a:buFont typeface="Arial MT"/>
              <a:buChar char="•"/>
              <a:tabLst>
                <a:tab pos="299720" algn="l"/>
              </a:tabLst>
            </a:pPr>
            <a:r>
              <a:rPr lang="en-US" sz="2800" spc="-55" dirty="0">
                <a:solidFill>
                  <a:srgbClr val="252525"/>
                </a:solidFill>
                <a:latin typeface="Times New Roman"/>
                <a:cs typeface="Times New Roman"/>
              </a:rPr>
              <a:t>Let</a:t>
            </a:r>
            <a:r>
              <a:rPr lang="en-US" sz="2800" spc="-10" dirty="0">
                <a:solidFill>
                  <a:srgbClr val="252525"/>
                </a:solidFill>
                <a:latin typeface="Times New Roman"/>
                <a:cs typeface="Times New Roman"/>
              </a:rPr>
              <a:t> </a:t>
            </a:r>
            <a:r>
              <a:rPr lang="en-US" sz="2800" spc="-50" dirty="0">
                <a:solidFill>
                  <a:srgbClr val="252525"/>
                </a:solidFill>
                <a:latin typeface="Times New Roman"/>
                <a:cs typeface="Times New Roman"/>
              </a:rPr>
              <a:t>us</a:t>
            </a:r>
            <a:r>
              <a:rPr lang="en-US" sz="2800" spc="10" dirty="0">
                <a:solidFill>
                  <a:srgbClr val="252525"/>
                </a:solidFill>
                <a:latin typeface="Times New Roman"/>
                <a:cs typeface="Times New Roman"/>
              </a:rPr>
              <a:t> </a:t>
            </a:r>
            <a:r>
              <a:rPr lang="en-US" sz="2800" spc="-20" dirty="0">
                <a:solidFill>
                  <a:srgbClr val="252525"/>
                </a:solidFill>
                <a:latin typeface="Times New Roman"/>
                <a:cs typeface="Times New Roman"/>
              </a:rPr>
              <a:t>store</a:t>
            </a:r>
            <a:r>
              <a:rPr lang="en-US" sz="2800" dirty="0">
                <a:solidFill>
                  <a:srgbClr val="252525"/>
                </a:solidFill>
                <a:latin typeface="Times New Roman"/>
                <a:cs typeface="Times New Roman"/>
              </a:rPr>
              <a:t> </a:t>
            </a:r>
            <a:r>
              <a:rPr lang="en-US" sz="2800" spc="-55" dirty="0">
                <a:solidFill>
                  <a:srgbClr val="252525"/>
                </a:solidFill>
                <a:latin typeface="Times New Roman"/>
                <a:cs typeface="Times New Roman"/>
              </a:rPr>
              <a:t>it</a:t>
            </a:r>
            <a:r>
              <a:rPr lang="en-US" sz="2800" spc="-5" dirty="0">
                <a:solidFill>
                  <a:srgbClr val="252525"/>
                </a:solidFill>
                <a:latin typeface="Times New Roman"/>
                <a:cs typeface="Times New Roman"/>
              </a:rPr>
              <a:t> </a:t>
            </a:r>
            <a:r>
              <a:rPr lang="en-US" sz="2800" spc="-60" dirty="0">
                <a:solidFill>
                  <a:srgbClr val="252525"/>
                </a:solidFill>
                <a:latin typeface="Times New Roman"/>
                <a:cs typeface="Times New Roman"/>
              </a:rPr>
              <a:t>in</a:t>
            </a:r>
            <a:r>
              <a:rPr lang="en-US" sz="2800" spc="-10" dirty="0">
                <a:solidFill>
                  <a:srgbClr val="252525"/>
                </a:solidFill>
                <a:latin typeface="Times New Roman"/>
                <a:cs typeface="Times New Roman"/>
              </a:rPr>
              <a:t> </a:t>
            </a:r>
            <a:r>
              <a:rPr lang="en-US" sz="2800" spc="-50" dirty="0">
                <a:solidFill>
                  <a:srgbClr val="252525"/>
                </a:solidFill>
                <a:latin typeface="Times New Roman"/>
                <a:cs typeface="Times New Roman"/>
              </a:rPr>
              <a:t>address</a:t>
            </a:r>
            <a:r>
              <a:rPr lang="en-US" sz="2800" spc="-5" dirty="0">
                <a:solidFill>
                  <a:srgbClr val="252525"/>
                </a:solidFill>
                <a:latin typeface="Times New Roman"/>
                <a:cs typeface="Times New Roman"/>
              </a:rPr>
              <a:t> </a:t>
            </a:r>
            <a:r>
              <a:rPr lang="en-US" sz="2800" spc="-100" dirty="0">
                <a:solidFill>
                  <a:srgbClr val="252525"/>
                </a:solidFill>
                <a:latin typeface="Times New Roman"/>
                <a:cs typeface="Times New Roman"/>
              </a:rPr>
              <a:t>0x40000000.</a:t>
            </a:r>
            <a:endParaRPr lang="en-US" sz="2800" dirty="0">
              <a:latin typeface="Times New Roman"/>
              <a:cs typeface="Times New Roman"/>
            </a:endParaRPr>
          </a:p>
          <a:p>
            <a:pPr marL="375285" indent="-363220">
              <a:lnSpc>
                <a:spcPct val="100000"/>
              </a:lnSpc>
              <a:spcBef>
                <a:spcPts val="840"/>
              </a:spcBef>
              <a:buClr>
                <a:srgbClr val="83992A"/>
              </a:buClr>
              <a:buSzPct val="98214"/>
              <a:buFont typeface="Arial MT"/>
              <a:buChar char="•"/>
              <a:tabLst>
                <a:tab pos="375285" algn="l"/>
                <a:tab pos="375920" algn="l"/>
              </a:tabLst>
            </a:pPr>
            <a:r>
              <a:rPr sz="2800" spc="-20" dirty="0" smtClean="0">
                <a:solidFill>
                  <a:srgbClr val="252525"/>
                </a:solidFill>
                <a:latin typeface="Times New Roman"/>
                <a:cs typeface="Times New Roman"/>
              </a:rPr>
              <a:t>Here</a:t>
            </a:r>
            <a:r>
              <a:rPr sz="2800" spc="-10" dirty="0" smtClean="0">
                <a:solidFill>
                  <a:srgbClr val="252525"/>
                </a:solidFill>
                <a:latin typeface="Times New Roman"/>
                <a:cs typeface="Times New Roman"/>
              </a:rPr>
              <a:t> </a:t>
            </a:r>
            <a:r>
              <a:rPr sz="2800" spc="-5" dirty="0">
                <a:solidFill>
                  <a:srgbClr val="252525"/>
                </a:solidFill>
                <a:latin typeface="Times New Roman"/>
                <a:cs typeface="Times New Roman"/>
              </a:rPr>
              <a:t>the</a:t>
            </a:r>
            <a:r>
              <a:rPr sz="2800" dirty="0">
                <a:solidFill>
                  <a:srgbClr val="252525"/>
                </a:solidFill>
                <a:latin typeface="Times New Roman"/>
                <a:cs typeface="Times New Roman"/>
              </a:rPr>
              <a:t> </a:t>
            </a:r>
            <a:r>
              <a:rPr sz="2800" spc="-80" dirty="0">
                <a:solidFill>
                  <a:srgbClr val="252525"/>
                </a:solidFill>
                <a:latin typeface="Times New Roman"/>
                <a:cs typeface="Times New Roman"/>
              </a:rPr>
              <a:t>lowest</a:t>
            </a:r>
            <a:r>
              <a:rPr sz="2800" dirty="0">
                <a:solidFill>
                  <a:srgbClr val="252525"/>
                </a:solidFill>
                <a:latin typeface="Times New Roman"/>
                <a:cs typeface="Times New Roman"/>
              </a:rPr>
              <a:t> </a:t>
            </a:r>
            <a:r>
              <a:rPr sz="2800" spc="-75" dirty="0">
                <a:solidFill>
                  <a:srgbClr val="252525"/>
                </a:solidFill>
                <a:latin typeface="Times New Roman"/>
                <a:cs typeface="Times New Roman"/>
              </a:rPr>
              <a:t>byte</a:t>
            </a:r>
            <a:r>
              <a:rPr sz="2800" dirty="0">
                <a:solidFill>
                  <a:srgbClr val="252525"/>
                </a:solidFill>
                <a:latin typeface="Times New Roman"/>
                <a:cs typeface="Times New Roman"/>
              </a:rPr>
              <a:t> </a:t>
            </a:r>
            <a:r>
              <a:rPr sz="2800" spc="-114" dirty="0">
                <a:solidFill>
                  <a:srgbClr val="252525"/>
                </a:solidFill>
                <a:latin typeface="Times New Roman"/>
                <a:cs typeface="Times New Roman"/>
              </a:rPr>
              <a:t>is</a:t>
            </a:r>
            <a:r>
              <a:rPr sz="2800" spc="5" dirty="0">
                <a:solidFill>
                  <a:srgbClr val="252525"/>
                </a:solidFill>
                <a:latin typeface="Times New Roman"/>
                <a:cs typeface="Times New Roman"/>
              </a:rPr>
              <a:t> </a:t>
            </a:r>
            <a:r>
              <a:rPr sz="2800" spc="-15" dirty="0">
                <a:solidFill>
                  <a:srgbClr val="252525"/>
                </a:solidFill>
                <a:latin typeface="Times New Roman"/>
                <a:cs typeface="Times New Roman"/>
              </a:rPr>
              <a:t>stored</a:t>
            </a:r>
            <a:r>
              <a:rPr sz="2800" spc="-10" dirty="0">
                <a:solidFill>
                  <a:srgbClr val="252525"/>
                </a:solidFill>
                <a:latin typeface="Times New Roman"/>
                <a:cs typeface="Times New Roman"/>
              </a:rPr>
              <a:t> </a:t>
            </a:r>
            <a:r>
              <a:rPr sz="2800" spc="-60" dirty="0">
                <a:solidFill>
                  <a:srgbClr val="252525"/>
                </a:solidFill>
                <a:latin typeface="Times New Roman"/>
                <a:cs typeface="Times New Roman"/>
              </a:rPr>
              <a:t>in</a:t>
            </a:r>
            <a:r>
              <a:rPr sz="2800" spc="-10" dirty="0">
                <a:solidFill>
                  <a:srgbClr val="252525"/>
                </a:solidFill>
                <a:latin typeface="Times New Roman"/>
                <a:cs typeface="Times New Roman"/>
              </a:rPr>
              <a:t> </a:t>
            </a:r>
            <a:r>
              <a:rPr sz="2800" spc="-5" dirty="0">
                <a:solidFill>
                  <a:srgbClr val="252525"/>
                </a:solidFill>
                <a:latin typeface="Times New Roman"/>
                <a:cs typeface="Times New Roman"/>
              </a:rPr>
              <a:t>the</a:t>
            </a:r>
            <a:r>
              <a:rPr sz="2800" spc="-10" dirty="0">
                <a:solidFill>
                  <a:srgbClr val="252525"/>
                </a:solidFill>
                <a:latin typeface="Times New Roman"/>
                <a:cs typeface="Times New Roman"/>
              </a:rPr>
              <a:t> </a:t>
            </a:r>
            <a:r>
              <a:rPr sz="2800" spc="-55" dirty="0">
                <a:solidFill>
                  <a:srgbClr val="252525"/>
                </a:solidFill>
                <a:latin typeface="Times New Roman"/>
                <a:cs typeface="Times New Roman"/>
              </a:rPr>
              <a:t>highest</a:t>
            </a:r>
            <a:r>
              <a:rPr sz="2800" spc="-15" dirty="0">
                <a:solidFill>
                  <a:srgbClr val="252525"/>
                </a:solidFill>
                <a:latin typeface="Times New Roman"/>
                <a:cs typeface="Times New Roman"/>
              </a:rPr>
              <a:t> </a:t>
            </a:r>
            <a:r>
              <a:rPr sz="2800" spc="-70" dirty="0">
                <a:solidFill>
                  <a:srgbClr val="252525"/>
                </a:solidFill>
                <a:latin typeface="Times New Roman"/>
                <a:cs typeface="Times New Roman"/>
              </a:rPr>
              <a:t>address.</a:t>
            </a:r>
            <a:endParaRPr sz="2800" dirty="0">
              <a:latin typeface="Times New Roman"/>
              <a:cs typeface="Times New Roman"/>
            </a:endParaRPr>
          </a:p>
          <a:p>
            <a:pPr marL="387350" indent="-375285">
              <a:lnSpc>
                <a:spcPct val="100000"/>
              </a:lnSpc>
              <a:spcBef>
                <a:spcPts val="1270"/>
              </a:spcBef>
              <a:buClr>
                <a:srgbClr val="83992A"/>
              </a:buClr>
              <a:buSzPct val="114285"/>
              <a:buFont typeface="Arial MT"/>
              <a:buChar char="•"/>
              <a:tabLst>
                <a:tab pos="387350" algn="l"/>
                <a:tab pos="387985" algn="l"/>
              </a:tabLst>
            </a:pPr>
            <a:r>
              <a:rPr sz="2800" spc="-40" dirty="0">
                <a:solidFill>
                  <a:srgbClr val="252525"/>
                </a:solidFill>
                <a:latin typeface="Times New Roman"/>
                <a:cs typeface="Times New Roman"/>
              </a:rPr>
              <a:t>Motorola</a:t>
            </a:r>
            <a:r>
              <a:rPr sz="2800" spc="-5" dirty="0">
                <a:solidFill>
                  <a:srgbClr val="252525"/>
                </a:solidFill>
                <a:latin typeface="Times New Roman"/>
                <a:cs typeface="Times New Roman"/>
              </a:rPr>
              <a:t> </a:t>
            </a:r>
            <a:r>
              <a:rPr sz="2800" spc="-35" dirty="0">
                <a:solidFill>
                  <a:srgbClr val="252525"/>
                </a:solidFill>
                <a:latin typeface="Times New Roman"/>
                <a:cs typeface="Times New Roman"/>
              </a:rPr>
              <a:t>processors</a:t>
            </a:r>
            <a:r>
              <a:rPr sz="2800" spc="5" dirty="0">
                <a:solidFill>
                  <a:srgbClr val="252525"/>
                </a:solidFill>
                <a:latin typeface="Times New Roman"/>
                <a:cs typeface="Times New Roman"/>
              </a:rPr>
              <a:t> </a:t>
            </a:r>
            <a:r>
              <a:rPr sz="2800" spc="-80" dirty="0">
                <a:solidFill>
                  <a:srgbClr val="252525"/>
                </a:solidFill>
                <a:latin typeface="Times New Roman"/>
                <a:cs typeface="Times New Roman"/>
              </a:rPr>
              <a:t>follow</a:t>
            </a:r>
            <a:r>
              <a:rPr sz="2800" dirty="0">
                <a:solidFill>
                  <a:srgbClr val="252525"/>
                </a:solidFill>
                <a:latin typeface="Times New Roman"/>
                <a:cs typeface="Times New Roman"/>
              </a:rPr>
              <a:t> </a:t>
            </a:r>
            <a:r>
              <a:rPr sz="2800" spc="-40" dirty="0">
                <a:solidFill>
                  <a:srgbClr val="252525"/>
                </a:solidFill>
                <a:latin typeface="Times New Roman"/>
                <a:cs typeface="Times New Roman"/>
              </a:rPr>
              <a:t>this</a:t>
            </a:r>
            <a:r>
              <a:rPr sz="2800" dirty="0">
                <a:solidFill>
                  <a:srgbClr val="252525"/>
                </a:solidFill>
                <a:latin typeface="Times New Roman"/>
                <a:cs typeface="Times New Roman"/>
              </a:rPr>
              <a:t> </a:t>
            </a:r>
            <a:r>
              <a:rPr sz="2800" spc="-75" dirty="0">
                <a:solidFill>
                  <a:srgbClr val="252525"/>
                </a:solidFill>
                <a:latin typeface="Times New Roman"/>
                <a:cs typeface="Times New Roman"/>
              </a:rPr>
              <a:t>scheme.</a:t>
            </a:r>
            <a:endParaRPr sz="2800" dirty="0">
              <a:latin typeface="Times New Roman"/>
              <a:cs typeface="Times New Roman"/>
            </a:endParaRPr>
          </a:p>
        </p:txBody>
      </p:sp>
      <p:graphicFrame>
        <p:nvGraphicFramePr>
          <p:cNvPr id="10" name="Table 9"/>
          <p:cNvGraphicFramePr>
            <a:graphicFrameLocks noGrp="1"/>
          </p:cNvGraphicFramePr>
          <p:nvPr>
            <p:extLst/>
          </p:nvPr>
        </p:nvGraphicFramePr>
        <p:xfrm>
          <a:off x="1460244" y="5309218"/>
          <a:ext cx="4310744" cy="365760"/>
        </p:xfrm>
        <a:graphic>
          <a:graphicData uri="http://schemas.openxmlformats.org/drawingml/2006/table">
            <a:tbl>
              <a:tblPr firstRow="1" bandRow="1">
                <a:tableStyleId>{5C22544A-7EE6-4342-B048-85BDC9FD1C3A}</a:tableStyleId>
              </a:tblPr>
              <a:tblGrid>
                <a:gridCol w="1077686">
                  <a:extLst>
                    <a:ext uri="{9D8B030D-6E8A-4147-A177-3AD203B41FA5}">
                      <a16:colId xmlns:a16="http://schemas.microsoft.com/office/drawing/2014/main" val="432962450"/>
                    </a:ext>
                  </a:extLst>
                </a:gridCol>
                <a:gridCol w="1077686">
                  <a:extLst>
                    <a:ext uri="{9D8B030D-6E8A-4147-A177-3AD203B41FA5}">
                      <a16:colId xmlns:a16="http://schemas.microsoft.com/office/drawing/2014/main" val="921453103"/>
                    </a:ext>
                  </a:extLst>
                </a:gridCol>
                <a:gridCol w="1077686">
                  <a:extLst>
                    <a:ext uri="{9D8B030D-6E8A-4147-A177-3AD203B41FA5}">
                      <a16:colId xmlns:a16="http://schemas.microsoft.com/office/drawing/2014/main" val="821439781"/>
                    </a:ext>
                  </a:extLst>
                </a:gridCol>
                <a:gridCol w="1077686">
                  <a:extLst>
                    <a:ext uri="{9D8B030D-6E8A-4147-A177-3AD203B41FA5}">
                      <a16:colId xmlns:a16="http://schemas.microsoft.com/office/drawing/2014/main" val="1371216696"/>
                    </a:ext>
                  </a:extLst>
                </a:gridCol>
              </a:tblGrid>
              <a:tr h="220860">
                <a:tc>
                  <a:txBody>
                    <a:bodyPr/>
                    <a:lstStyle/>
                    <a:p>
                      <a:r>
                        <a:rPr lang="en-US" dirty="0" smtClean="0"/>
                        <a:t>12</a:t>
                      </a:r>
                      <a:endParaRPr lang="en-IN" dirty="0"/>
                    </a:p>
                  </a:txBody>
                  <a:tcPr/>
                </a:tc>
                <a:tc>
                  <a:txBody>
                    <a:bodyPr/>
                    <a:lstStyle/>
                    <a:p>
                      <a:r>
                        <a:rPr lang="en-US" dirty="0" smtClean="0"/>
                        <a:t>34</a:t>
                      </a:r>
                      <a:endParaRPr lang="en-IN" dirty="0"/>
                    </a:p>
                  </a:txBody>
                  <a:tcPr/>
                </a:tc>
                <a:tc>
                  <a:txBody>
                    <a:bodyPr/>
                    <a:lstStyle/>
                    <a:p>
                      <a:r>
                        <a:rPr lang="en-US" dirty="0" smtClean="0"/>
                        <a:t>56</a:t>
                      </a:r>
                      <a:endParaRPr lang="en-IN" dirty="0"/>
                    </a:p>
                  </a:txBody>
                  <a:tcPr/>
                </a:tc>
                <a:tc>
                  <a:txBody>
                    <a:bodyPr/>
                    <a:lstStyle/>
                    <a:p>
                      <a:r>
                        <a:rPr lang="en-US" dirty="0" smtClean="0"/>
                        <a:t>78</a:t>
                      </a:r>
                      <a:endParaRPr lang="en-IN" dirty="0"/>
                    </a:p>
                  </a:txBody>
                  <a:tcPr/>
                </a:tc>
                <a:extLst>
                  <a:ext uri="{0D108BD9-81ED-4DB2-BD59-A6C34878D82A}">
                    <a16:rowId xmlns:a16="http://schemas.microsoft.com/office/drawing/2014/main" val="1984929429"/>
                  </a:ext>
                </a:extLst>
              </a:tr>
            </a:tbl>
          </a:graphicData>
        </a:graphic>
      </p:graphicFrame>
      <p:pic>
        <p:nvPicPr>
          <p:cNvPr id="11" name="object 8"/>
          <p:cNvPicPr/>
          <p:nvPr/>
        </p:nvPicPr>
        <p:blipFill>
          <a:blip r:embed="rId2" cstate="print"/>
          <a:stretch>
            <a:fillRect/>
          </a:stretch>
        </p:blipFill>
        <p:spPr>
          <a:xfrm>
            <a:off x="8229601" y="3515952"/>
            <a:ext cx="3208018" cy="2275332"/>
          </a:xfrm>
          <a:prstGeom prst="rect">
            <a:avLst/>
          </a:prstGeom>
        </p:spPr>
      </p:pic>
    </p:spTree>
    <p:extLst>
      <p:ext uri="{BB962C8B-B14F-4D97-AF65-F5344CB8AC3E}">
        <p14:creationId xmlns:p14="http://schemas.microsoft.com/office/powerpoint/2010/main" val="245540970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p:nvPr/>
        </p:nvSpPr>
        <p:spPr>
          <a:xfrm>
            <a:off x="761999" y="991666"/>
            <a:ext cx="10464800" cy="4322978"/>
          </a:xfrm>
          <a:prstGeom prst="rect">
            <a:avLst/>
          </a:prstGeom>
        </p:spPr>
        <p:txBody>
          <a:bodyPr vert="horz" wrap="square" lIns="0" tIns="105410" rIns="0" bIns="0" rtlCol="0">
            <a:spAutoFit/>
          </a:bodyPr>
          <a:lstStyle/>
          <a:p>
            <a:pPr marL="299085" indent="-287020">
              <a:lnSpc>
                <a:spcPct val="100000"/>
              </a:lnSpc>
              <a:spcBef>
                <a:spcPts val="830"/>
              </a:spcBef>
              <a:buClr>
                <a:srgbClr val="83992A"/>
              </a:buClr>
              <a:buSzPct val="113461"/>
              <a:buFont typeface="Arial MT"/>
              <a:buChar char="•"/>
              <a:tabLst>
                <a:tab pos="299720" algn="l"/>
              </a:tabLst>
            </a:pPr>
            <a:r>
              <a:rPr sz="2600" spc="-125" dirty="0">
                <a:solidFill>
                  <a:srgbClr val="252525"/>
                </a:solidFill>
                <a:latin typeface="Times New Roman"/>
                <a:cs typeface="Times New Roman"/>
              </a:rPr>
              <a:t>ARM</a:t>
            </a:r>
            <a:r>
              <a:rPr sz="2600" spc="-20" dirty="0">
                <a:solidFill>
                  <a:srgbClr val="252525"/>
                </a:solidFill>
                <a:latin typeface="Times New Roman"/>
                <a:cs typeface="Times New Roman"/>
              </a:rPr>
              <a:t> </a:t>
            </a:r>
            <a:r>
              <a:rPr sz="2600" spc="-30" dirty="0">
                <a:solidFill>
                  <a:srgbClr val="252525"/>
                </a:solidFill>
                <a:latin typeface="Times New Roman"/>
                <a:cs typeface="Times New Roman"/>
              </a:rPr>
              <a:t>processors</a:t>
            </a:r>
            <a:r>
              <a:rPr sz="2600" dirty="0">
                <a:solidFill>
                  <a:srgbClr val="252525"/>
                </a:solidFill>
                <a:latin typeface="Times New Roman"/>
                <a:cs typeface="Times New Roman"/>
              </a:rPr>
              <a:t> </a:t>
            </a:r>
            <a:r>
              <a:rPr sz="2600" spc="-55" dirty="0">
                <a:solidFill>
                  <a:srgbClr val="252525"/>
                </a:solidFill>
                <a:latin typeface="Times New Roman"/>
                <a:cs typeface="Times New Roman"/>
              </a:rPr>
              <a:t>can</a:t>
            </a:r>
            <a:r>
              <a:rPr sz="2600" spc="-5" dirty="0">
                <a:solidFill>
                  <a:srgbClr val="252525"/>
                </a:solidFill>
                <a:latin typeface="Times New Roman"/>
                <a:cs typeface="Times New Roman"/>
              </a:rPr>
              <a:t> </a:t>
            </a:r>
            <a:r>
              <a:rPr sz="2600" spc="-55" dirty="0">
                <a:solidFill>
                  <a:srgbClr val="252525"/>
                </a:solidFill>
                <a:latin typeface="Times New Roman"/>
                <a:cs typeface="Times New Roman"/>
              </a:rPr>
              <a:t>use</a:t>
            </a:r>
            <a:r>
              <a:rPr sz="2600" dirty="0">
                <a:solidFill>
                  <a:srgbClr val="252525"/>
                </a:solidFill>
                <a:latin typeface="Times New Roman"/>
                <a:cs typeface="Times New Roman"/>
              </a:rPr>
              <a:t> </a:t>
            </a:r>
            <a:r>
              <a:rPr sz="2600" spc="-100" dirty="0">
                <a:solidFill>
                  <a:srgbClr val="252525"/>
                </a:solidFill>
                <a:latin typeface="Times New Roman"/>
                <a:cs typeface="Times New Roman"/>
              </a:rPr>
              <a:t>any</a:t>
            </a:r>
            <a:r>
              <a:rPr sz="2600" spc="-5" dirty="0">
                <a:solidFill>
                  <a:srgbClr val="252525"/>
                </a:solidFill>
                <a:latin typeface="Times New Roman"/>
                <a:cs typeface="Times New Roman"/>
              </a:rPr>
              <a:t> of</a:t>
            </a:r>
            <a:r>
              <a:rPr sz="2600" spc="330"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10" dirty="0">
                <a:solidFill>
                  <a:srgbClr val="252525"/>
                </a:solidFill>
                <a:latin typeface="Times New Roman"/>
                <a:cs typeface="Times New Roman"/>
              </a:rPr>
              <a:t> </a:t>
            </a:r>
            <a:r>
              <a:rPr sz="2600" spc="-50" dirty="0">
                <a:solidFill>
                  <a:srgbClr val="252525"/>
                </a:solidFill>
                <a:latin typeface="Times New Roman"/>
                <a:cs typeface="Times New Roman"/>
              </a:rPr>
              <a:t>two</a:t>
            </a:r>
            <a:r>
              <a:rPr sz="2600" spc="-15" dirty="0">
                <a:solidFill>
                  <a:srgbClr val="252525"/>
                </a:solidFill>
                <a:latin typeface="Times New Roman"/>
                <a:cs typeface="Times New Roman"/>
              </a:rPr>
              <a:t> </a:t>
            </a:r>
            <a:r>
              <a:rPr sz="2600" spc="-30" dirty="0">
                <a:solidFill>
                  <a:srgbClr val="252525"/>
                </a:solidFill>
                <a:latin typeface="Times New Roman"/>
                <a:cs typeface="Times New Roman"/>
              </a:rPr>
              <a:t>formats.</a:t>
            </a:r>
            <a:endParaRPr sz="2600" dirty="0">
              <a:latin typeface="Times New Roman"/>
              <a:cs typeface="Times New Roman"/>
            </a:endParaRPr>
          </a:p>
          <a:p>
            <a:pPr marL="299085" marR="503555" indent="-287020">
              <a:lnSpc>
                <a:spcPct val="100000"/>
              </a:lnSpc>
              <a:spcBef>
                <a:spcPts val="1220"/>
              </a:spcBef>
              <a:buClr>
                <a:srgbClr val="83992A"/>
              </a:buClr>
              <a:buSzPct val="115384"/>
              <a:buFont typeface="Arial MT"/>
              <a:buChar char="•"/>
              <a:tabLst>
                <a:tab pos="299720" algn="l"/>
              </a:tabLst>
            </a:pPr>
            <a:r>
              <a:rPr sz="2600" spc="-20" dirty="0">
                <a:solidFill>
                  <a:srgbClr val="252525"/>
                </a:solidFill>
                <a:latin typeface="Times New Roman"/>
                <a:cs typeface="Times New Roman"/>
              </a:rPr>
              <a:t>There</a:t>
            </a:r>
            <a:r>
              <a:rPr sz="2600" spc="15" dirty="0">
                <a:solidFill>
                  <a:srgbClr val="252525"/>
                </a:solidFill>
                <a:latin typeface="Times New Roman"/>
                <a:cs typeface="Times New Roman"/>
              </a:rPr>
              <a:t> </a:t>
            </a:r>
            <a:r>
              <a:rPr sz="2600" spc="-95" dirty="0">
                <a:solidFill>
                  <a:srgbClr val="252525"/>
                </a:solidFill>
                <a:latin typeface="Times New Roman"/>
                <a:cs typeface="Times New Roman"/>
              </a:rPr>
              <a:t>is</a:t>
            </a:r>
            <a:r>
              <a:rPr sz="2600" spc="10" dirty="0">
                <a:solidFill>
                  <a:srgbClr val="252525"/>
                </a:solidFill>
                <a:latin typeface="Times New Roman"/>
                <a:cs typeface="Times New Roman"/>
              </a:rPr>
              <a:t> </a:t>
            </a:r>
            <a:r>
              <a:rPr sz="2600" spc="-100" dirty="0">
                <a:solidFill>
                  <a:srgbClr val="252525"/>
                </a:solidFill>
                <a:latin typeface="Times New Roman"/>
                <a:cs typeface="Times New Roman"/>
              </a:rPr>
              <a:t>a</a:t>
            </a:r>
            <a:r>
              <a:rPr sz="2600" spc="5" dirty="0">
                <a:solidFill>
                  <a:srgbClr val="252525"/>
                </a:solidFill>
                <a:latin typeface="Times New Roman"/>
                <a:cs typeface="Times New Roman"/>
              </a:rPr>
              <a:t> </a:t>
            </a:r>
            <a:r>
              <a:rPr sz="2600" spc="-25" dirty="0">
                <a:solidFill>
                  <a:srgbClr val="252525"/>
                </a:solidFill>
                <a:latin typeface="Times New Roman"/>
                <a:cs typeface="Times New Roman"/>
              </a:rPr>
              <a:t>bit</a:t>
            </a:r>
            <a:r>
              <a:rPr sz="2600" spc="10" dirty="0">
                <a:solidFill>
                  <a:srgbClr val="252525"/>
                </a:solidFill>
                <a:latin typeface="Times New Roman"/>
                <a:cs typeface="Times New Roman"/>
              </a:rPr>
              <a:t> </a:t>
            </a:r>
            <a:r>
              <a:rPr sz="2600" spc="-50" dirty="0">
                <a:solidFill>
                  <a:srgbClr val="252525"/>
                </a:solidFill>
                <a:latin typeface="Times New Roman"/>
                <a:cs typeface="Times New Roman"/>
              </a:rPr>
              <a:t>in</a:t>
            </a:r>
            <a:r>
              <a:rPr sz="2600" spc="-5" dirty="0">
                <a:solidFill>
                  <a:srgbClr val="252525"/>
                </a:solidFill>
                <a:latin typeface="Times New Roman"/>
                <a:cs typeface="Times New Roman"/>
              </a:rPr>
              <a:t> </a:t>
            </a:r>
            <a:r>
              <a:rPr sz="2600" spc="-100" dirty="0">
                <a:solidFill>
                  <a:srgbClr val="252525"/>
                </a:solidFill>
                <a:latin typeface="Times New Roman"/>
                <a:cs typeface="Times New Roman"/>
              </a:rPr>
              <a:t>a</a:t>
            </a:r>
            <a:r>
              <a:rPr sz="2600" spc="5" dirty="0">
                <a:solidFill>
                  <a:srgbClr val="252525"/>
                </a:solidFill>
                <a:latin typeface="Times New Roman"/>
                <a:cs typeface="Times New Roman"/>
              </a:rPr>
              <a:t> </a:t>
            </a:r>
            <a:r>
              <a:rPr sz="2600" spc="-10" dirty="0">
                <a:solidFill>
                  <a:srgbClr val="252525"/>
                </a:solidFill>
                <a:latin typeface="Times New Roman"/>
                <a:cs typeface="Times New Roman"/>
              </a:rPr>
              <a:t>control</a:t>
            </a:r>
            <a:r>
              <a:rPr sz="2600" dirty="0">
                <a:solidFill>
                  <a:srgbClr val="252525"/>
                </a:solidFill>
                <a:latin typeface="Times New Roman"/>
                <a:cs typeface="Times New Roman"/>
              </a:rPr>
              <a:t> </a:t>
            </a:r>
            <a:r>
              <a:rPr sz="2600" spc="-60" dirty="0">
                <a:solidFill>
                  <a:srgbClr val="252525"/>
                </a:solidFill>
                <a:latin typeface="Times New Roman"/>
                <a:cs typeface="Times New Roman"/>
              </a:rPr>
              <a:t>register</a:t>
            </a:r>
            <a:r>
              <a:rPr sz="2600" spc="15" dirty="0">
                <a:solidFill>
                  <a:srgbClr val="252525"/>
                </a:solidFill>
                <a:latin typeface="Times New Roman"/>
                <a:cs typeface="Times New Roman"/>
              </a:rPr>
              <a:t> </a:t>
            </a:r>
            <a:r>
              <a:rPr sz="2600" dirty="0">
                <a:solidFill>
                  <a:srgbClr val="252525"/>
                </a:solidFill>
                <a:latin typeface="Times New Roman"/>
                <a:cs typeface="Times New Roman"/>
              </a:rPr>
              <a:t>of</a:t>
            </a:r>
            <a:r>
              <a:rPr sz="2600" spc="340" dirty="0">
                <a:solidFill>
                  <a:srgbClr val="252525"/>
                </a:solidFill>
                <a:latin typeface="Times New Roman"/>
                <a:cs typeface="Times New Roman"/>
              </a:rPr>
              <a:t> </a:t>
            </a:r>
            <a:r>
              <a:rPr sz="2600" spc="-10" dirty="0">
                <a:solidFill>
                  <a:srgbClr val="252525"/>
                </a:solidFill>
                <a:latin typeface="Times New Roman"/>
                <a:cs typeface="Times New Roman"/>
              </a:rPr>
              <a:t>the</a:t>
            </a:r>
            <a:r>
              <a:rPr sz="2600" spc="5" dirty="0">
                <a:solidFill>
                  <a:srgbClr val="252525"/>
                </a:solidFill>
                <a:latin typeface="Times New Roman"/>
                <a:cs typeface="Times New Roman"/>
              </a:rPr>
              <a:t> </a:t>
            </a:r>
            <a:r>
              <a:rPr sz="2600" spc="-40" dirty="0">
                <a:solidFill>
                  <a:srgbClr val="252525"/>
                </a:solidFill>
                <a:latin typeface="Times New Roman"/>
                <a:cs typeface="Times New Roman"/>
              </a:rPr>
              <a:t>processor,</a:t>
            </a:r>
            <a:r>
              <a:rPr sz="2600" spc="5" dirty="0">
                <a:solidFill>
                  <a:srgbClr val="252525"/>
                </a:solidFill>
                <a:latin typeface="Times New Roman"/>
                <a:cs typeface="Times New Roman"/>
              </a:rPr>
              <a:t> </a:t>
            </a:r>
            <a:r>
              <a:rPr sz="2600" spc="-65" dirty="0">
                <a:solidFill>
                  <a:srgbClr val="252525"/>
                </a:solidFill>
                <a:latin typeface="Times New Roman"/>
                <a:cs typeface="Times New Roman"/>
              </a:rPr>
              <a:t>using</a:t>
            </a:r>
            <a:r>
              <a:rPr sz="2600" spc="5" dirty="0">
                <a:solidFill>
                  <a:srgbClr val="252525"/>
                </a:solidFill>
                <a:latin typeface="Times New Roman"/>
                <a:cs typeface="Times New Roman"/>
              </a:rPr>
              <a:t> </a:t>
            </a:r>
            <a:r>
              <a:rPr sz="2600" spc="-70" dirty="0">
                <a:solidFill>
                  <a:srgbClr val="252525"/>
                </a:solidFill>
                <a:latin typeface="Times New Roman"/>
                <a:cs typeface="Times New Roman"/>
              </a:rPr>
              <a:t>which,</a:t>
            </a:r>
            <a:r>
              <a:rPr sz="2600" spc="5" dirty="0">
                <a:solidFill>
                  <a:srgbClr val="252525"/>
                </a:solidFill>
                <a:latin typeface="Times New Roman"/>
                <a:cs typeface="Times New Roman"/>
              </a:rPr>
              <a:t> </a:t>
            </a:r>
            <a:r>
              <a:rPr sz="2600" spc="-10" dirty="0">
                <a:solidFill>
                  <a:srgbClr val="252525"/>
                </a:solidFill>
                <a:latin typeface="Times New Roman"/>
                <a:cs typeface="Times New Roman"/>
              </a:rPr>
              <a:t>one</a:t>
            </a:r>
            <a:r>
              <a:rPr sz="2600" spc="-5" dirty="0">
                <a:solidFill>
                  <a:srgbClr val="252525"/>
                </a:solidFill>
                <a:latin typeface="Times New Roman"/>
                <a:cs typeface="Times New Roman"/>
              </a:rPr>
              <a:t> </a:t>
            </a:r>
            <a:r>
              <a:rPr sz="2600" dirty="0">
                <a:solidFill>
                  <a:srgbClr val="252525"/>
                </a:solidFill>
                <a:latin typeface="Times New Roman"/>
                <a:cs typeface="Times New Roman"/>
              </a:rPr>
              <a:t>of</a:t>
            </a:r>
            <a:r>
              <a:rPr sz="2600" spc="325" dirty="0">
                <a:solidFill>
                  <a:srgbClr val="252525"/>
                </a:solidFill>
                <a:latin typeface="Times New Roman"/>
                <a:cs typeface="Times New Roman"/>
              </a:rPr>
              <a:t> </a:t>
            </a:r>
            <a:r>
              <a:rPr sz="2600" spc="-5" dirty="0">
                <a:solidFill>
                  <a:srgbClr val="252525"/>
                </a:solidFill>
                <a:latin typeface="Times New Roman"/>
                <a:cs typeface="Times New Roman"/>
              </a:rPr>
              <a:t>the </a:t>
            </a:r>
            <a:r>
              <a:rPr sz="2600" spc="-635" dirty="0">
                <a:solidFill>
                  <a:srgbClr val="252525"/>
                </a:solidFill>
                <a:latin typeface="Times New Roman"/>
                <a:cs typeface="Times New Roman"/>
              </a:rPr>
              <a:t> </a:t>
            </a:r>
            <a:r>
              <a:rPr sz="2600" spc="-10" dirty="0">
                <a:solidFill>
                  <a:srgbClr val="252525"/>
                </a:solidFill>
                <a:latin typeface="Times New Roman"/>
                <a:cs typeface="Times New Roman"/>
              </a:rPr>
              <a:t>formats</a:t>
            </a:r>
            <a:r>
              <a:rPr sz="2600" spc="-5" dirty="0">
                <a:solidFill>
                  <a:srgbClr val="252525"/>
                </a:solidFill>
                <a:latin typeface="Times New Roman"/>
                <a:cs typeface="Times New Roman"/>
              </a:rPr>
              <a:t> </a:t>
            </a:r>
            <a:r>
              <a:rPr sz="2600" spc="-130" dirty="0">
                <a:solidFill>
                  <a:srgbClr val="252525"/>
                </a:solidFill>
                <a:latin typeface="Times New Roman"/>
                <a:cs typeface="Times New Roman"/>
              </a:rPr>
              <a:t>may</a:t>
            </a:r>
            <a:r>
              <a:rPr sz="2600" dirty="0">
                <a:solidFill>
                  <a:srgbClr val="252525"/>
                </a:solidFill>
                <a:latin typeface="Times New Roman"/>
                <a:cs typeface="Times New Roman"/>
              </a:rPr>
              <a:t> </a:t>
            </a:r>
            <a:r>
              <a:rPr sz="2600" spc="-25" dirty="0">
                <a:solidFill>
                  <a:srgbClr val="252525"/>
                </a:solidFill>
                <a:latin typeface="Times New Roman"/>
                <a:cs typeface="Times New Roman"/>
              </a:rPr>
              <a:t>be</a:t>
            </a:r>
            <a:r>
              <a:rPr sz="2600" spc="5" dirty="0">
                <a:solidFill>
                  <a:srgbClr val="252525"/>
                </a:solidFill>
                <a:latin typeface="Times New Roman"/>
                <a:cs typeface="Times New Roman"/>
              </a:rPr>
              <a:t> </a:t>
            </a:r>
            <a:r>
              <a:rPr sz="2600" spc="-40" dirty="0">
                <a:solidFill>
                  <a:srgbClr val="252525"/>
                </a:solidFill>
                <a:latin typeface="Times New Roman"/>
                <a:cs typeface="Times New Roman"/>
              </a:rPr>
              <a:t>chosen.</a:t>
            </a:r>
            <a:endParaRPr sz="2600" dirty="0">
              <a:latin typeface="Times New Roman"/>
              <a:cs typeface="Times New Roman"/>
            </a:endParaRPr>
          </a:p>
          <a:p>
            <a:pPr marL="299085" marR="620395" indent="-287020">
              <a:lnSpc>
                <a:spcPct val="100000"/>
              </a:lnSpc>
              <a:spcBef>
                <a:spcPts val="1230"/>
              </a:spcBef>
              <a:buClr>
                <a:srgbClr val="83992A"/>
              </a:buClr>
              <a:buSzPct val="113461"/>
              <a:buFont typeface="Arial MT"/>
              <a:buChar char="•"/>
              <a:tabLst>
                <a:tab pos="299720" algn="l"/>
              </a:tabLst>
            </a:pPr>
            <a:r>
              <a:rPr sz="2600" spc="40" dirty="0">
                <a:solidFill>
                  <a:srgbClr val="252525"/>
                </a:solidFill>
                <a:latin typeface="Times New Roman"/>
                <a:cs typeface="Times New Roman"/>
              </a:rPr>
              <a:t>In</a:t>
            </a:r>
            <a:r>
              <a:rPr sz="2600" dirty="0">
                <a:solidFill>
                  <a:srgbClr val="252525"/>
                </a:solidFill>
                <a:latin typeface="Times New Roman"/>
                <a:cs typeface="Times New Roman"/>
              </a:rPr>
              <a:t> </a:t>
            </a:r>
            <a:r>
              <a:rPr sz="2600" spc="-35" dirty="0">
                <a:solidFill>
                  <a:srgbClr val="252525"/>
                </a:solidFill>
                <a:latin typeface="Times New Roman"/>
                <a:cs typeface="Times New Roman"/>
              </a:rPr>
              <a:t>either</a:t>
            </a:r>
            <a:r>
              <a:rPr sz="2600" dirty="0">
                <a:solidFill>
                  <a:srgbClr val="252525"/>
                </a:solidFill>
                <a:latin typeface="Times New Roman"/>
                <a:cs typeface="Times New Roman"/>
              </a:rPr>
              <a:t> </a:t>
            </a:r>
            <a:r>
              <a:rPr sz="2600" spc="-90" dirty="0">
                <a:solidFill>
                  <a:srgbClr val="252525"/>
                </a:solidFill>
                <a:latin typeface="Times New Roman"/>
                <a:cs typeface="Times New Roman"/>
              </a:rPr>
              <a:t>case,</a:t>
            </a:r>
            <a:r>
              <a:rPr sz="2600" spc="30" dirty="0">
                <a:solidFill>
                  <a:srgbClr val="252525"/>
                </a:solidFill>
                <a:latin typeface="Times New Roman"/>
                <a:cs typeface="Times New Roman"/>
              </a:rPr>
              <a:t> </a:t>
            </a:r>
            <a:r>
              <a:rPr sz="2600" spc="-40" dirty="0">
                <a:solidFill>
                  <a:srgbClr val="252525"/>
                </a:solidFill>
                <a:latin typeface="Times New Roman"/>
                <a:cs typeface="Times New Roman"/>
              </a:rPr>
              <a:t>when</a:t>
            </a:r>
            <a:r>
              <a:rPr sz="2600" spc="5" dirty="0">
                <a:solidFill>
                  <a:srgbClr val="252525"/>
                </a:solidFill>
                <a:latin typeface="Times New Roman"/>
                <a:cs typeface="Times New Roman"/>
              </a:rPr>
              <a:t> </a:t>
            </a:r>
            <a:r>
              <a:rPr sz="2600" spc="-100" dirty="0">
                <a:solidFill>
                  <a:srgbClr val="252525"/>
                </a:solidFill>
                <a:latin typeface="Times New Roman"/>
                <a:cs typeface="Times New Roman"/>
              </a:rPr>
              <a:t>a</a:t>
            </a:r>
            <a:r>
              <a:rPr sz="2600" dirty="0">
                <a:solidFill>
                  <a:srgbClr val="252525"/>
                </a:solidFill>
                <a:latin typeface="Times New Roman"/>
                <a:cs typeface="Times New Roman"/>
              </a:rPr>
              <a:t> </a:t>
            </a:r>
            <a:r>
              <a:rPr sz="2600" spc="-50" dirty="0">
                <a:solidFill>
                  <a:srgbClr val="252525"/>
                </a:solidFill>
                <a:latin typeface="Times New Roman"/>
                <a:cs typeface="Times New Roman"/>
              </a:rPr>
              <a:t>32-bit</a:t>
            </a:r>
            <a:r>
              <a:rPr sz="2600" dirty="0">
                <a:solidFill>
                  <a:srgbClr val="252525"/>
                </a:solidFill>
                <a:latin typeface="Times New Roman"/>
                <a:cs typeface="Times New Roman"/>
              </a:rPr>
              <a:t> </a:t>
            </a:r>
            <a:r>
              <a:rPr sz="2600" spc="-20" dirty="0">
                <a:solidFill>
                  <a:srgbClr val="252525"/>
                </a:solidFill>
                <a:latin typeface="Times New Roman"/>
                <a:cs typeface="Times New Roman"/>
              </a:rPr>
              <a:t>number</a:t>
            </a:r>
            <a:r>
              <a:rPr sz="2600" dirty="0">
                <a:solidFill>
                  <a:srgbClr val="252525"/>
                </a:solidFill>
                <a:latin typeface="Times New Roman"/>
                <a:cs typeface="Times New Roman"/>
              </a:rPr>
              <a:t> </a:t>
            </a:r>
            <a:r>
              <a:rPr sz="2600" spc="-95" dirty="0">
                <a:solidFill>
                  <a:srgbClr val="252525"/>
                </a:solidFill>
                <a:latin typeface="Times New Roman"/>
                <a:cs typeface="Times New Roman"/>
              </a:rPr>
              <a:t>is</a:t>
            </a:r>
            <a:r>
              <a:rPr sz="2600" spc="-5" dirty="0">
                <a:solidFill>
                  <a:srgbClr val="252525"/>
                </a:solidFill>
                <a:latin typeface="Times New Roman"/>
                <a:cs typeface="Times New Roman"/>
              </a:rPr>
              <a:t> </a:t>
            </a:r>
            <a:r>
              <a:rPr sz="2600" spc="30" dirty="0">
                <a:solidFill>
                  <a:srgbClr val="252525"/>
                </a:solidFill>
                <a:latin typeface="Times New Roman"/>
                <a:cs typeface="Times New Roman"/>
              </a:rPr>
              <a:t>to</a:t>
            </a:r>
            <a:r>
              <a:rPr sz="2600" spc="5" dirty="0">
                <a:solidFill>
                  <a:srgbClr val="252525"/>
                </a:solidFill>
                <a:latin typeface="Times New Roman"/>
                <a:cs typeface="Times New Roman"/>
              </a:rPr>
              <a:t> </a:t>
            </a:r>
            <a:r>
              <a:rPr sz="2600" spc="-25" dirty="0">
                <a:solidFill>
                  <a:srgbClr val="252525"/>
                </a:solidFill>
                <a:latin typeface="Times New Roman"/>
                <a:cs typeface="Times New Roman"/>
              </a:rPr>
              <a:t>be</a:t>
            </a:r>
            <a:r>
              <a:rPr sz="2600" spc="-5" dirty="0">
                <a:solidFill>
                  <a:srgbClr val="252525"/>
                </a:solidFill>
                <a:latin typeface="Times New Roman"/>
                <a:cs typeface="Times New Roman"/>
              </a:rPr>
              <a:t> </a:t>
            </a:r>
            <a:r>
              <a:rPr sz="2600" spc="-50" dirty="0">
                <a:solidFill>
                  <a:srgbClr val="252525"/>
                </a:solidFill>
                <a:latin typeface="Times New Roman"/>
                <a:cs typeface="Times New Roman"/>
              </a:rPr>
              <a:t>read</a:t>
            </a:r>
            <a:r>
              <a:rPr sz="2600" spc="15" dirty="0">
                <a:solidFill>
                  <a:srgbClr val="252525"/>
                </a:solidFill>
                <a:latin typeface="Times New Roman"/>
                <a:cs typeface="Times New Roman"/>
              </a:rPr>
              <a:t> </a:t>
            </a:r>
            <a:r>
              <a:rPr sz="2600" spc="-5" dirty="0">
                <a:solidFill>
                  <a:srgbClr val="252525"/>
                </a:solidFill>
                <a:latin typeface="Times New Roman"/>
                <a:cs typeface="Times New Roman"/>
              </a:rPr>
              <a:t>from</a:t>
            </a:r>
            <a:r>
              <a:rPr sz="2600" spc="-15" dirty="0">
                <a:solidFill>
                  <a:srgbClr val="252525"/>
                </a:solidFill>
                <a:latin typeface="Times New Roman"/>
                <a:cs typeface="Times New Roman"/>
              </a:rPr>
              <a:t> </a:t>
            </a:r>
            <a:r>
              <a:rPr sz="2600" spc="-80" dirty="0">
                <a:solidFill>
                  <a:srgbClr val="252525"/>
                </a:solidFill>
                <a:latin typeface="Times New Roman"/>
                <a:cs typeface="Times New Roman"/>
              </a:rPr>
              <a:t>memory,</a:t>
            </a:r>
            <a:r>
              <a:rPr sz="2600" spc="5" dirty="0">
                <a:solidFill>
                  <a:srgbClr val="252525"/>
                </a:solidFill>
                <a:latin typeface="Times New Roman"/>
                <a:cs typeface="Times New Roman"/>
              </a:rPr>
              <a:t> </a:t>
            </a:r>
            <a:r>
              <a:rPr sz="2600" spc="-75" dirty="0">
                <a:solidFill>
                  <a:srgbClr val="252525"/>
                </a:solidFill>
                <a:latin typeface="Times New Roman"/>
                <a:cs typeface="Times New Roman"/>
              </a:rPr>
              <a:t>only</a:t>
            </a:r>
            <a:r>
              <a:rPr sz="2600" spc="5" dirty="0">
                <a:solidFill>
                  <a:srgbClr val="252525"/>
                </a:solidFill>
                <a:latin typeface="Times New Roman"/>
                <a:cs typeface="Times New Roman"/>
              </a:rPr>
              <a:t> </a:t>
            </a:r>
            <a:r>
              <a:rPr sz="2600" spc="-10" dirty="0">
                <a:solidFill>
                  <a:srgbClr val="252525"/>
                </a:solidFill>
                <a:latin typeface="Times New Roman"/>
                <a:cs typeface="Times New Roman"/>
              </a:rPr>
              <a:t>one </a:t>
            </a:r>
            <a:r>
              <a:rPr sz="2600" spc="-5" dirty="0">
                <a:solidFill>
                  <a:srgbClr val="252525"/>
                </a:solidFill>
                <a:latin typeface="Times New Roman"/>
                <a:cs typeface="Times New Roman"/>
              </a:rPr>
              <a:t> </a:t>
            </a:r>
            <a:r>
              <a:rPr sz="2600" spc="-45" dirty="0">
                <a:solidFill>
                  <a:srgbClr val="252525"/>
                </a:solidFill>
                <a:latin typeface="Times New Roman"/>
                <a:cs typeface="Times New Roman"/>
              </a:rPr>
              <a:t>address</a:t>
            </a:r>
            <a:r>
              <a:rPr sz="2600" dirty="0">
                <a:solidFill>
                  <a:srgbClr val="252525"/>
                </a:solidFill>
                <a:latin typeface="Times New Roman"/>
                <a:cs typeface="Times New Roman"/>
              </a:rPr>
              <a:t> </a:t>
            </a:r>
            <a:r>
              <a:rPr sz="2600" spc="-45" dirty="0">
                <a:solidFill>
                  <a:srgbClr val="252525"/>
                </a:solidFill>
                <a:latin typeface="Times New Roman"/>
                <a:cs typeface="Times New Roman"/>
              </a:rPr>
              <a:t>needs</a:t>
            </a:r>
            <a:r>
              <a:rPr sz="2600" i="1" spc="20" dirty="0">
                <a:solidFill>
                  <a:srgbClr val="252525"/>
                </a:solidFill>
                <a:latin typeface="Times New Roman"/>
                <a:cs typeface="Times New Roman"/>
              </a:rPr>
              <a:t> </a:t>
            </a:r>
            <a:r>
              <a:rPr sz="2600" spc="30" dirty="0">
                <a:solidFill>
                  <a:srgbClr val="252525"/>
                </a:solidFill>
                <a:latin typeface="Times New Roman"/>
                <a:cs typeface="Times New Roman"/>
              </a:rPr>
              <a:t>to</a:t>
            </a:r>
            <a:r>
              <a:rPr sz="2600" spc="5" dirty="0">
                <a:solidFill>
                  <a:srgbClr val="252525"/>
                </a:solidFill>
                <a:latin typeface="Times New Roman"/>
                <a:cs typeface="Times New Roman"/>
              </a:rPr>
              <a:t> </a:t>
            </a:r>
            <a:r>
              <a:rPr sz="2600" spc="-25" dirty="0">
                <a:solidFill>
                  <a:srgbClr val="252525"/>
                </a:solidFill>
                <a:latin typeface="Times New Roman"/>
                <a:cs typeface="Times New Roman"/>
              </a:rPr>
              <a:t>be</a:t>
            </a:r>
            <a:r>
              <a:rPr sz="2600" dirty="0">
                <a:solidFill>
                  <a:srgbClr val="252525"/>
                </a:solidFill>
                <a:latin typeface="Times New Roman"/>
                <a:cs typeface="Times New Roman"/>
              </a:rPr>
              <a:t> </a:t>
            </a:r>
            <a:r>
              <a:rPr sz="2600" spc="-60" dirty="0">
                <a:solidFill>
                  <a:srgbClr val="252525"/>
                </a:solidFill>
                <a:latin typeface="Times New Roman"/>
                <a:cs typeface="Times New Roman"/>
              </a:rPr>
              <a:t>specified</a:t>
            </a:r>
            <a:r>
              <a:rPr sz="2600" spc="-5" dirty="0">
                <a:solidFill>
                  <a:srgbClr val="252525"/>
                </a:solidFill>
                <a:latin typeface="Times New Roman"/>
                <a:cs typeface="Times New Roman"/>
              </a:rPr>
              <a:t> </a:t>
            </a:r>
            <a:r>
              <a:rPr sz="2600" b="1" spc="-5" dirty="0">
                <a:solidFill>
                  <a:srgbClr val="252525"/>
                </a:solidFill>
                <a:latin typeface="Times New Roman"/>
                <a:cs typeface="Times New Roman"/>
              </a:rPr>
              <a:t>in</a:t>
            </a:r>
            <a:r>
              <a:rPr sz="2600" b="1" spc="15"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5" dirty="0">
                <a:solidFill>
                  <a:srgbClr val="252525"/>
                </a:solidFill>
                <a:latin typeface="Times New Roman"/>
                <a:cs typeface="Times New Roman"/>
              </a:rPr>
              <a:t> </a:t>
            </a:r>
            <a:r>
              <a:rPr sz="2600" spc="-25" dirty="0">
                <a:solidFill>
                  <a:srgbClr val="252525"/>
                </a:solidFill>
                <a:latin typeface="Times New Roman"/>
                <a:cs typeface="Times New Roman"/>
              </a:rPr>
              <a:t>program</a:t>
            </a:r>
            <a:r>
              <a:rPr sz="2600" spc="-20" dirty="0">
                <a:solidFill>
                  <a:srgbClr val="252525"/>
                </a:solidFill>
                <a:latin typeface="Times New Roman"/>
                <a:cs typeface="Times New Roman"/>
              </a:rPr>
              <a:t> </a:t>
            </a:r>
            <a:r>
              <a:rPr sz="2600" dirty="0">
                <a:solidFill>
                  <a:srgbClr val="252525"/>
                </a:solidFill>
                <a:latin typeface="Times New Roman"/>
                <a:cs typeface="Times New Roman"/>
              </a:rPr>
              <a:t>—</a:t>
            </a:r>
            <a:r>
              <a:rPr sz="2600" spc="-5" dirty="0">
                <a:solidFill>
                  <a:srgbClr val="252525"/>
                </a:solidFill>
                <a:latin typeface="Times New Roman"/>
                <a:cs typeface="Times New Roman"/>
              </a:rPr>
              <a:t> </a:t>
            </a:r>
            <a:r>
              <a:rPr sz="2600" dirty="0">
                <a:solidFill>
                  <a:srgbClr val="252525"/>
                </a:solidFill>
                <a:latin typeface="Times New Roman"/>
                <a:cs typeface="Times New Roman"/>
              </a:rPr>
              <a:t>that</a:t>
            </a:r>
            <a:r>
              <a:rPr sz="2600" spc="5" dirty="0">
                <a:solidFill>
                  <a:srgbClr val="252525"/>
                </a:solidFill>
                <a:latin typeface="Times New Roman"/>
                <a:cs typeface="Times New Roman"/>
              </a:rPr>
              <a:t> </a:t>
            </a:r>
            <a:r>
              <a:rPr sz="2600" spc="-120" dirty="0">
                <a:solidFill>
                  <a:srgbClr val="252525"/>
                </a:solidFill>
                <a:latin typeface="Times New Roman"/>
                <a:cs typeface="Times New Roman"/>
              </a:rPr>
              <a:t>is,</a:t>
            </a:r>
            <a:r>
              <a:rPr sz="2600" spc="5"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5" dirty="0">
                <a:solidFill>
                  <a:srgbClr val="252525"/>
                </a:solidFill>
                <a:latin typeface="Times New Roman"/>
                <a:cs typeface="Times New Roman"/>
              </a:rPr>
              <a:t> </a:t>
            </a:r>
            <a:r>
              <a:rPr sz="2600" spc="-35" dirty="0">
                <a:solidFill>
                  <a:srgbClr val="252525"/>
                </a:solidFill>
                <a:latin typeface="Times New Roman"/>
                <a:cs typeface="Times New Roman"/>
              </a:rPr>
              <a:t>starting</a:t>
            </a:r>
            <a:r>
              <a:rPr sz="2600" spc="25" dirty="0">
                <a:solidFill>
                  <a:srgbClr val="252525"/>
                </a:solidFill>
                <a:latin typeface="Times New Roman"/>
                <a:cs typeface="Times New Roman"/>
              </a:rPr>
              <a:t> </a:t>
            </a:r>
            <a:r>
              <a:rPr sz="2600" spc="-65" dirty="0">
                <a:solidFill>
                  <a:srgbClr val="252525"/>
                </a:solidFill>
                <a:latin typeface="Times New Roman"/>
                <a:cs typeface="Times New Roman"/>
              </a:rPr>
              <a:t>address.</a:t>
            </a:r>
            <a:endParaRPr sz="2600" dirty="0">
              <a:latin typeface="Times New Roman"/>
              <a:cs typeface="Times New Roman"/>
            </a:endParaRPr>
          </a:p>
          <a:p>
            <a:pPr marL="299085" marR="5080" indent="-287020">
              <a:lnSpc>
                <a:spcPct val="100000"/>
              </a:lnSpc>
              <a:spcBef>
                <a:spcPts val="1225"/>
              </a:spcBef>
              <a:buClr>
                <a:srgbClr val="83992A"/>
              </a:buClr>
              <a:buSzPct val="113461"/>
              <a:buFont typeface="Arial MT"/>
              <a:buChar char="•"/>
              <a:tabLst>
                <a:tab pos="299720" algn="l"/>
              </a:tabLst>
            </a:pPr>
            <a:r>
              <a:rPr sz="2600" spc="40" dirty="0">
                <a:solidFill>
                  <a:srgbClr val="252525"/>
                </a:solidFill>
                <a:latin typeface="Times New Roman"/>
                <a:cs typeface="Times New Roman"/>
              </a:rPr>
              <a:t>In</a:t>
            </a:r>
            <a:r>
              <a:rPr sz="2600" spc="5"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5" dirty="0">
                <a:solidFill>
                  <a:srgbClr val="252525"/>
                </a:solidFill>
                <a:latin typeface="Times New Roman"/>
                <a:cs typeface="Times New Roman"/>
              </a:rPr>
              <a:t> </a:t>
            </a:r>
            <a:r>
              <a:rPr sz="2600" spc="-65" dirty="0">
                <a:solidFill>
                  <a:srgbClr val="252525"/>
                </a:solidFill>
                <a:latin typeface="Times New Roman"/>
                <a:cs typeface="Times New Roman"/>
              </a:rPr>
              <a:t>examples</a:t>
            </a:r>
            <a:r>
              <a:rPr sz="2600" spc="30" dirty="0">
                <a:solidFill>
                  <a:srgbClr val="252525"/>
                </a:solidFill>
                <a:latin typeface="Times New Roman"/>
                <a:cs typeface="Times New Roman"/>
              </a:rPr>
              <a:t> </a:t>
            </a:r>
            <a:r>
              <a:rPr sz="2600" spc="-40" dirty="0">
                <a:solidFill>
                  <a:srgbClr val="252525"/>
                </a:solidFill>
                <a:latin typeface="Times New Roman"/>
                <a:cs typeface="Times New Roman"/>
              </a:rPr>
              <a:t>shown,</a:t>
            </a:r>
            <a:r>
              <a:rPr sz="2600" spc="-15"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15" dirty="0">
                <a:solidFill>
                  <a:srgbClr val="252525"/>
                </a:solidFill>
                <a:latin typeface="Times New Roman"/>
                <a:cs typeface="Times New Roman"/>
              </a:rPr>
              <a:t> </a:t>
            </a:r>
            <a:r>
              <a:rPr sz="2600" spc="-45" dirty="0">
                <a:solidFill>
                  <a:srgbClr val="252525"/>
                </a:solidFill>
                <a:latin typeface="Times New Roman"/>
                <a:cs typeface="Times New Roman"/>
              </a:rPr>
              <a:t>address</a:t>
            </a:r>
            <a:r>
              <a:rPr sz="2600" dirty="0">
                <a:solidFill>
                  <a:srgbClr val="252525"/>
                </a:solidFill>
                <a:latin typeface="Times New Roman"/>
                <a:cs typeface="Times New Roman"/>
              </a:rPr>
              <a:t> </a:t>
            </a:r>
            <a:r>
              <a:rPr sz="2600" spc="-85" dirty="0">
                <a:solidFill>
                  <a:srgbClr val="252525"/>
                </a:solidFill>
                <a:latin typeface="Times New Roman"/>
                <a:cs typeface="Times New Roman"/>
              </a:rPr>
              <a:t>0x40000000</a:t>
            </a:r>
            <a:r>
              <a:rPr sz="2600" spc="20" dirty="0">
                <a:solidFill>
                  <a:srgbClr val="252525"/>
                </a:solidFill>
                <a:latin typeface="Times New Roman"/>
                <a:cs typeface="Times New Roman"/>
              </a:rPr>
              <a:t> </a:t>
            </a:r>
            <a:r>
              <a:rPr sz="2600" spc="-130" dirty="0">
                <a:solidFill>
                  <a:srgbClr val="252525"/>
                </a:solidFill>
                <a:latin typeface="Times New Roman"/>
                <a:cs typeface="Times New Roman"/>
              </a:rPr>
              <a:t>will</a:t>
            </a:r>
            <a:r>
              <a:rPr sz="2600" spc="15" dirty="0">
                <a:solidFill>
                  <a:srgbClr val="252525"/>
                </a:solidFill>
                <a:latin typeface="Times New Roman"/>
                <a:cs typeface="Times New Roman"/>
              </a:rPr>
              <a:t> </a:t>
            </a:r>
            <a:r>
              <a:rPr sz="2600" spc="-25" dirty="0">
                <a:solidFill>
                  <a:srgbClr val="252525"/>
                </a:solidFill>
                <a:latin typeface="Times New Roman"/>
                <a:cs typeface="Times New Roman"/>
              </a:rPr>
              <a:t>be</a:t>
            </a:r>
            <a:r>
              <a:rPr sz="2600" dirty="0">
                <a:solidFill>
                  <a:srgbClr val="252525"/>
                </a:solidFill>
                <a:latin typeface="Times New Roman"/>
                <a:cs typeface="Times New Roman"/>
              </a:rPr>
              <a:t> </a:t>
            </a:r>
            <a:r>
              <a:rPr sz="2600" spc="-60" dirty="0">
                <a:solidFill>
                  <a:srgbClr val="252525"/>
                </a:solidFill>
                <a:latin typeface="Times New Roman"/>
                <a:cs typeface="Times New Roman"/>
              </a:rPr>
              <a:t>specified</a:t>
            </a:r>
            <a:r>
              <a:rPr sz="2600" spc="25" dirty="0">
                <a:solidFill>
                  <a:srgbClr val="252525"/>
                </a:solidFill>
                <a:latin typeface="Times New Roman"/>
                <a:cs typeface="Times New Roman"/>
              </a:rPr>
              <a:t> </a:t>
            </a:r>
            <a:r>
              <a:rPr sz="2600" spc="-50" dirty="0">
                <a:solidFill>
                  <a:srgbClr val="252525"/>
                </a:solidFill>
                <a:latin typeface="Times New Roman"/>
                <a:cs typeface="Times New Roman"/>
              </a:rPr>
              <a:t>in</a:t>
            </a:r>
            <a:r>
              <a:rPr sz="2600"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15" dirty="0">
                <a:solidFill>
                  <a:srgbClr val="252525"/>
                </a:solidFill>
                <a:latin typeface="Times New Roman"/>
                <a:cs typeface="Times New Roman"/>
              </a:rPr>
              <a:t> </a:t>
            </a:r>
            <a:r>
              <a:rPr sz="2600" spc="-40" dirty="0">
                <a:solidFill>
                  <a:srgbClr val="252525"/>
                </a:solidFill>
                <a:latin typeface="Times New Roman"/>
                <a:cs typeface="Times New Roman"/>
              </a:rPr>
              <a:t>pro- </a:t>
            </a:r>
            <a:r>
              <a:rPr sz="2600" spc="-35" dirty="0">
                <a:solidFill>
                  <a:srgbClr val="252525"/>
                </a:solidFill>
                <a:latin typeface="Times New Roman"/>
                <a:cs typeface="Times New Roman"/>
              </a:rPr>
              <a:t> </a:t>
            </a:r>
            <a:r>
              <a:rPr sz="2600" spc="-60" dirty="0">
                <a:solidFill>
                  <a:srgbClr val="252525"/>
                </a:solidFill>
                <a:latin typeface="Times New Roman"/>
                <a:cs typeface="Times New Roman"/>
              </a:rPr>
              <a:t>gram,</a:t>
            </a:r>
            <a:r>
              <a:rPr sz="2600" dirty="0">
                <a:solidFill>
                  <a:srgbClr val="252525"/>
                </a:solidFill>
                <a:latin typeface="Times New Roman"/>
                <a:cs typeface="Times New Roman"/>
              </a:rPr>
              <a:t> </a:t>
            </a:r>
            <a:r>
              <a:rPr sz="2600" spc="10" dirty="0">
                <a:solidFill>
                  <a:srgbClr val="252525"/>
                </a:solidFill>
                <a:latin typeface="Times New Roman"/>
                <a:cs typeface="Times New Roman"/>
              </a:rPr>
              <a:t>but</a:t>
            </a:r>
            <a:r>
              <a:rPr sz="2600"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15" dirty="0">
                <a:solidFill>
                  <a:srgbClr val="252525"/>
                </a:solidFill>
                <a:latin typeface="Times New Roman"/>
                <a:cs typeface="Times New Roman"/>
              </a:rPr>
              <a:t> </a:t>
            </a:r>
            <a:r>
              <a:rPr sz="2600" spc="-45" dirty="0">
                <a:solidFill>
                  <a:srgbClr val="252525"/>
                </a:solidFill>
                <a:latin typeface="Times New Roman"/>
                <a:cs typeface="Times New Roman"/>
              </a:rPr>
              <a:t>required</a:t>
            </a:r>
            <a:r>
              <a:rPr sz="2600" spc="10" dirty="0">
                <a:solidFill>
                  <a:srgbClr val="252525"/>
                </a:solidFill>
                <a:latin typeface="Times New Roman"/>
                <a:cs typeface="Times New Roman"/>
              </a:rPr>
              <a:t> </a:t>
            </a:r>
            <a:r>
              <a:rPr sz="2600" spc="-5" dirty="0">
                <a:solidFill>
                  <a:srgbClr val="252525"/>
                </a:solidFill>
                <a:latin typeface="Times New Roman"/>
                <a:cs typeface="Times New Roman"/>
              </a:rPr>
              <a:t>four</a:t>
            </a:r>
            <a:r>
              <a:rPr sz="2600" spc="-15" dirty="0">
                <a:solidFill>
                  <a:srgbClr val="252525"/>
                </a:solidFill>
                <a:latin typeface="Times New Roman"/>
                <a:cs typeface="Times New Roman"/>
              </a:rPr>
              <a:t> </a:t>
            </a:r>
            <a:r>
              <a:rPr sz="2600" spc="-40" dirty="0">
                <a:solidFill>
                  <a:srgbClr val="252525"/>
                </a:solidFill>
                <a:latin typeface="Times New Roman"/>
                <a:cs typeface="Times New Roman"/>
              </a:rPr>
              <a:t>locations</a:t>
            </a:r>
            <a:r>
              <a:rPr sz="2600" spc="5" dirty="0">
                <a:solidFill>
                  <a:srgbClr val="252525"/>
                </a:solidFill>
                <a:latin typeface="Times New Roman"/>
                <a:cs typeface="Times New Roman"/>
              </a:rPr>
              <a:t> </a:t>
            </a:r>
            <a:r>
              <a:rPr sz="2600" spc="-130" dirty="0">
                <a:solidFill>
                  <a:srgbClr val="252525"/>
                </a:solidFill>
                <a:latin typeface="Times New Roman"/>
                <a:cs typeface="Times New Roman"/>
              </a:rPr>
              <a:t>will</a:t>
            </a:r>
            <a:r>
              <a:rPr sz="2600" spc="5" dirty="0">
                <a:solidFill>
                  <a:srgbClr val="252525"/>
                </a:solidFill>
                <a:latin typeface="Times New Roman"/>
                <a:cs typeface="Times New Roman"/>
              </a:rPr>
              <a:t> </a:t>
            </a:r>
            <a:r>
              <a:rPr sz="2600" spc="-25" dirty="0">
                <a:solidFill>
                  <a:srgbClr val="252525"/>
                </a:solidFill>
                <a:latin typeface="Times New Roman"/>
                <a:cs typeface="Times New Roman"/>
              </a:rPr>
              <a:t>be</a:t>
            </a:r>
            <a:r>
              <a:rPr sz="2600" dirty="0">
                <a:solidFill>
                  <a:srgbClr val="252525"/>
                </a:solidFill>
                <a:latin typeface="Times New Roman"/>
                <a:cs typeface="Times New Roman"/>
              </a:rPr>
              <a:t> </a:t>
            </a:r>
            <a:r>
              <a:rPr sz="2600" spc="-70" dirty="0">
                <a:solidFill>
                  <a:srgbClr val="252525"/>
                </a:solidFill>
                <a:latin typeface="Times New Roman"/>
                <a:cs typeface="Times New Roman"/>
              </a:rPr>
              <a:t>accessed</a:t>
            </a:r>
            <a:r>
              <a:rPr sz="2600" spc="25" dirty="0">
                <a:solidFill>
                  <a:srgbClr val="252525"/>
                </a:solidFill>
                <a:latin typeface="Times New Roman"/>
                <a:cs typeface="Times New Roman"/>
              </a:rPr>
              <a:t> </a:t>
            </a:r>
            <a:r>
              <a:rPr sz="2600" spc="30" dirty="0">
                <a:solidFill>
                  <a:srgbClr val="252525"/>
                </a:solidFill>
                <a:latin typeface="Times New Roman"/>
                <a:cs typeface="Times New Roman"/>
              </a:rPr>
              <a:t>to</a:t>
            </a:r>
            <a:r>
              <a:rPr sz="2600" spc="10" dirty="0">
                <a:solidFill>
                  <a:srgbClr val="252525"/>
                </a:solidFill>
                <a:latin typeface="Times New Roman"/>
                <a:cs typeface="Times New Roman"/>
              </a:rPr>
              <a:t> </a:t>
            </a:r>
            <a:r>
              <a:rPr sz="2600" spc="-50" dirty="0">
                <a:solidFill>
                  <a:srgbClr val="252525"/>
                </a:solidFill>
                <a:latin typeface="Times New Roman"/>
                <a:cs typeface="Times New Roman"/>
              </a:rPr>
              <a:t>get</a:t>
            </a:r>
            <a:r>
              <a:rPr sz="2600"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spc="5" dirty="0">
                <a:solidFill>
                  <a:srgbClr val="252525"/>
                </a:solidFill>
                <a:latin typeface="Times New Roman"/>
                <a:cs typeface="Times New Roman"/>
              </a:rPr>
              <a:t> </a:t>
            </a:r>
            <a:r>
              <a:rPr sz="2600" spc="-80" dirty="0">
                <a:solidFill>
                  <a:srgbClr val="252525"/>
                </a:solidFill>
                <a:latin typeface="Times New Roman"/>
                <a:cs typeface="Times New Roman"/>
              </a:rPr>
              <a:t>full</a:t>
            </a:r>
            <a:r>
              <a:rPr sz="2600" spc="5" dirty="0">
                <a:solidFill>
                  <a:srgbClr val="252525"/>
                </a:solidFill>
                <a:latin typeface="Times New Roman"/>
                <a:cs typeface="Times New Roman"/>
              </a:rPr>
              <a:t> </a:t>
            </a:r>
            <a:r>
              <a:rPr sz="2600" spc="-45" dirty="0">
                <a:solidFill>
                  <a:srgbClr val="252525"/>
                </a:solidFill>
                <a:latin typeface="Times New Roman"/>
                <a:cs typeface="Times New Roman"/>
              </a:rPr>
              <a:t>32-bit</a:t>
            </a:r>
            <a:r>
              <a:rPr sz="2600" dirty="0">
                <a:solidFill>
                  <a:srgbClr val="252525"/>
                </a:solidFill>
                <a:latin typeface="Times New Roman"/>
                <a:cs typeface="Times New Roman"/>
              </a:rPr>
              <a:t> </a:t>
            </a:r>
            <a:r>
              <a:rPr sz="2600" spc="-50" dirty="0">
                <a:solidFill>
                  <a:srgbClr val="252525"/>
                </a:solidFill>
                <a:latin typeface="Times New Roman"/>
                <a:cs typeface="Times New Roman"/>
              </a:rPr>
              <a:t>data.</a:t>
            </a:r>
            <a:endParaRPr sz="2600" dirty="0">
              <a:latin typeface="Times New Roman"/>
              <a:cs typeface="Times New Roman"/>
            </a:endParaRPr>
          </a:p>
          <a:p>
            <a:pPr marL="299085" indent="-287020">
              <a:lnSpc>
                <a:spcPct val="100000"/>
              </a:lnSpc>
              <a:spcBef>
                <a:spcPts val="1225"/>
              </a:spcBef>
              <a:buClr>
                <a:srgbClr val="83992A"/>
              </a:buClr>
              <a:buSzPct val="113461"/>
              <a:buFont typeface="Arial MT"/>
              <a:buChar char="•"/>
              <a:tabLst>
                <a:tab pos="299720" algn="l"/>
              </a:tabLst>
            </a:pPr>
            <a:r>
              <a:rPr sz="2600" spc="-35" dirty="0">
                <a:solidFill>
                  <a:srgbClr val="252525"/>
                </a:solidFill>
                <a:latin typeface="Times New Roman"/>
                <a:cs typeface="Times New Roman"/>
              </a:rPr>
              <a:t>This</a:t>
            </a:r>
            <a:r>
              <a:rPr sz="2600" spc="5" dirty="0">
                <a:solidFill>
                  <a:srgbClr val="252525"/>
                </a:solidFill>
                <a:latin typeface="Times New Roman"/>
                <a:cs typeface="Times New Roman"/>
              </a:rPr>
              <a:t> </a:t>
            </a:r>
            <a:r>
              <a:rPr sz="2600" spc="-65" dirty="0">
                <a:solidFill>
                  <a:srgbClr val="252525"/>
                </a:solidFill>
                <a:latin typeface="Times New Roman"/>
                <a:cs typeface="Times New Roman"/>
              </a:rPr>
              <a:t>applies</a:t>
            </a:r>
            <a:r>
              <a:rPr sz="2600" dirty="0">
                <a:solidFill>
                  <a:srgbClr val="252525"/>
                </a:solidFill>
                <a:latin typeface="Times New Roman"/>
                <a:cs typeface="Times New Roman"/>
              </a:rPr>
              <a:t> for</a:t>
            </a:r>
            <a:r>
              <a:rPr sz="2600" spc="-15" dirty="0">
                <a:solidFill>
                  <a:srgbClr val="252525"/>
                </a:solidFill>
                <a:latin typeface="Times New Roman"/>
                <a:cs typeface="Times New Roman"/>
              </a:rPr>
              <a:t> </a:t>
            </a:r>
            <a:r>
              <a:rPr sz="2600" spc="-5" dirty="0">
                <a:solidFill>
                  <a:srgbClr val="252525"/>
                </a:solidFill>
                <a:latin typeface="Times New Roman"/>
                <a:cs typeface="Times New Roman"/>
              </a:rPr>
              <a:t>the</a:t>
            </a:r>
            <a:r>
              <a:rPr sz="2600" dirty="0">
                <a:solidFill>
                  <a:srgbClr val="252525"/>
                </a:solidFill>
                <a:latin typeface="Times New Roman"/>
                <a:cs typeface="Times New Roman"/>
              </a:rPr>
              <a:t> </a:t>
            </a:r>
            <a:r>
              <a:rPr sz="2600" spc="-75" dirty="0">
                <a:solidFill>
                  <a:srgbClr val="252525"/>
                </a:solidFill>
                <a:latin typeface="Times New Roman"/>
                <a:cs typeface="Times New Roman"/>
              </a:rPr>
              <a:t>case</a:t>
            </a:r>
            <a:r>
              <a:rPr sz="2600" spc="5" dirty="0">
                <a:solidFill>
                  <a:srgbClr val="252525"/>
                </a:solidFill>
                <a:latin typeface="Times New Roman"/>
                <a:cs typeface="Times New Roman"/>
              </a:rPr>
              <a:t> </a:t>
            </a:r>
            <a:r>
              <a:rPr sz="2600" spc="-5" dirty="0">
                <a:solidFill>
                  <a:srgbClr val="252525"/>
                </a:solidFill>
                <a:latin typeface="Times New Roman"/>
                <a:cs typeface="Times New Roman"/>
              </a:rPr>
              <a:t>of</a:t>
            </a:r>
            <a:r>
              <a:rPr sz="2600" spc="330" dirty="0">
                <a:solidFill>
                  <a:srgbClr val="252525"/>
                </a:solidFill>
                <a:latin typeface="Times New Roman"/>
                <a:cs typeface="Times New Roman"/>
              </a:rPr>
              <a:t> </a:t>
            </a:r>
            <a:r>
              <a:rPr sz="2600" spc="-55" dirty="0">
                <a:solidFill>
                  <a:srgbClr val="252525"/>
                </a:solidFill>
                <a:latin typeface="Times New Roman"/>
                <a:cs typeface="Times New Roman"/>
              </a:rPr>
              <a:t>'writing'</a:t>
            </a:r>
            <a:r>
              <a:rPr sz="2600" dirty="0">
                <a:solidFill>
                  <a:srgbClr val="252525"/>
                </a:solidFill>
                <a:latin typeface="Times New Roman"/>
                <a:cs typeface="Times New Roman"/>
              </a:rPr>
              <a:t> </a:t>
            </a:r>
            <a:r>
              <a:rPr sz="2600" spc="-100" dirty="0">
                <a:solidFill>
                  <a:srgbClr val="252525"/>
                </a:solidFill>
                <a:latin typeface="Times New Roman"/>
                <a:cs typeface="Times New Roman"/>
              </a:rPr>
              <a:t>also</a:t>
            </a:r>
            <a:r>
              <a:rPr sz="2600" spc="-100" dirty="0" smtClean="0">
                <a:solidFill>
                  <a:srgbClr val="252525"/>
                </a:solidFill>
                <a:latin typeface="Times New Roman"/>
                <a:cs typeface="Times New Roman"/>
              </a:rPr>
              <a:t>.</a:t>
            </a:r>
            <a:endParaRPr sz="2600" dirty="0">
              <a:latin typeface="Times New Roman"/>
              <a:cs typeface="Times New Roman"/>
            </a:endParaRPr>
          </a:p>
        </p:txBody>
      </p:sp>
    </p:spTree>
    <p:extLst>
      <p:ext uri="{BB962C8B-B14F-4D97-AF65-F5344CB8AC3E}">
        <p14:creationId xmlns:p14="http://schemas.microsoft.com/office/powerpoint/2010/main" val="168722195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460753"/>
            <a:ext cx="2503805" cy="696595"/>
          </a:xfrm>
          <a:prstGeom prst="rect">
            <a:avLst/>
          </a:prstGeom>
        </p:spPr>
        <p:txBody>
          <a:bodyPr vert="horz" wrap="square" lIns="0" tIns="13335" rIns="0" bIns="0" rtlCol="0">
            <a:spAutoFit/>
          </a:bodyPr>
          <a:lstStyle/>
          <a:p>
            <a:pPr marL="12700">
              <a:lnSpc>
                <a:spcPct val="100000"/>
              </a:lnSpc>
              <a:spcBef>
                <a:spcPts val="105"/>
              </a:spcBef>
            </a:pPr>
            <a:r>
              <a:rPr sz="4400" b="0" spc="-140" dirty="0">
                <a:solidFill>
                  <a:srgbClr val="C00000"/>
                </a:solidFill>
                <a:latin typeface="Times New Roman"/>
                <a:cs typeface="Times New Roman"/>
              </a:rPr>
              <a:t>3.6</a:t>
            </a:r>
            <a:r>
              <a:rPr sz="4400" b="0" spc="-65" dirty="0">
                <a:solidFill>
                  <a:srgbClr val="C00000"/>
                </a:solidFill>
                <a:latin typeface="Times New Roman"/>
                <a:cs typeface="Times New Roman"/>
              </a:rPr>
              <a:t> </a:t>
            </a:r>
            <a:r>
              <a:rPr sz="4400" b="0" spc="-130" dirty="0">
                <a:solidFill>
                  <a:srgbClr val="C00000"/>
                </a:solidFill>
                <a:latin typeface="Times New Roman"/>
                <a:cs typeface="Times New Roman"/>
              </a:rPr>
              <a:t>FLAGS</a:t>
            </a:r>
            <a:endParaRPr sz="4400">
              <a:latin typeface="Times New Roman"/>
              <a:cs typeface="Times New Roman"/>
            </a:endParaRPr>
          </a:p>
        </p:txBody>
      </p:sp>
      <p:sp>
        <p:nvSpPr>
          <p:cNvPr id="9" name="object 9"/>
          <p:cNvSpPr txBox="1"/>
          <p:nvPr/>
        </p:nvSpPr>
        <p:spPr>
          <a:xfrm>
            <a:off x="1036425" y="2421635"/>
            <a:ext cx="10610597" cy="3736920"/>
          </a:xfrm>
          <a:prstGeom prst="rect">
            <a:avLst/>
          </a:prstGeom>
        </p:spPr>
        <p:txBody>
          <a:bodyPr vert="horz" wrap="square" lIns="0" tIns="12700" rIns="0" bIns="0" rtlCol="0">
            <a:spAutoFit/>
          </a:bodyPr>
          <a:lstStyle/>
          <a:p>
            <a:pPr marL="299085" marR="132715" indent="-287020">
              <a:lnSpc>
                <a:spcPct val="100000"/>
              </a:lnSpc>
              <a:spcBef>
                <a:spcPts val="100"/>
              </a:spcBef>
              <a:buClr>
                <a:srgbClr val="83992A"/>
              </a:buClr>
              <a:buSzPct val="114583"/>
              <a:buFont typeface="Arial MT"/>
              <a:buChar char="•"/>
              <a:tabLst>
                <a:tab pos="299085" algn="l"/>
                <a:tab pos="299720" algn="l"/>
              </a:tabLst>
            </a:pPr>
            <a:r>
              <a:rPr sz="2400" spc="-5" dirty="0">
                <a:solidFill>
                  <a:srgbClr val="252525"/>
                </a:solidFill>
                <a:latin typeface="Times New Roman"/>
                <a:ea typeface="+mj-ea"/>
                <a:cs typeface="Times New Roman"/>
              </a:rPr>
              <a:t>All processors have status flags to indicate something about the result of an  operation.</a:t>
            </a:r>
          </a:p>
          <a:p>
            <a:pPr marL="299085" indent="-287020">
              <a:lnSpc>
                <a:spcPct val="100000"/>
              </a:lnSpc>
              <a:spcBef>
                <a:spcPts val="1175"/>
              </a:spcBef>
              <a:buClr>
                <a:srgbClr val="83992A"/>
              </a:buClr>
              <a:buSzPct val="114583"/>
              <a:buFont typeface="Arial MT"/>
              <a:buChar char="•"/>
              <a:tabLst>
                <a:tab pos="299085" algn="l"/>
                <a:tab pos="299720" algn="l"/>
              </a:tabLst>
            </a:pPr>
            <a:r>
              <a:rPr sz="2400" spc="-5" dirty="0">
                <a:solidFill>
                  <a:srgbClr val="252525"/>
                </a:solidFill>
                <a:latin typeface="Times New Roman"/>
                <a:ea typeface="+mj-ea"/>
                <a:cs typeface="Times New Roman"/>
              </a:rPr>
              <a:t>Each flag is a flip flop which is either set or reset.</a:t>
            </a:r>
          </a:p>
          <a:p>
            <a:pPr marL="299085" indent="-287020">
              <a:lnSpc>
                <a:spcPct val="100000"/>
              </a:lnSpc>
              <a:spcBef>
                <a:spcPts val="1180"/>
              </a:spcBef>
              <a:buClr>
                <a:srgbClr val="83992A"/>
              </a:buClr>
              <a:buSzPct val="114583"/>
              <a:buFont typeface="Arial MT"/>
              <a:buChar char="•"/>
              <a:tabLst>
                <a:tab pos="299085" algn="l"/>
                <a:tab pos="299720" algn="l"/>
              </a:tabLst>
            </a:pPr>
            <a:r>
              <a:rPr sz="2400" spc="-5" dirty="0">
                <a:solidFill>
                  <a:srgbClr val="252525"/>
                </a:solidFill>
                <a:latin typeface="Times New Roman"/>
                <a:ea typeface="+mj-ea"/>
                <a:cs typeface="Times New Roman"/>
              </a:rPr>
              <a:t>The one or zero state of flags may be needed before a conditional execution.</a:t>
            </a:r>
          </a:p>
          <a:p>
            <a:pPr marL="299085" indent="-287020">
              <a:lnSpc>
                <a:spcPct val="100000"/>
              </a:lnSpc>
              <a:spcBef>
                <a:spcPts val="1175"/>
              </a:spcBef>
              <a:buClr>
                <a:srgbClr val="83992A"/>
              </a:buClr>
              <a:buSzPct val="114583"/>
              <a:buFont typeface="Arial MT"/>
              <a:buChar char="•"/>
              <a:tabLst>
                <a:tab pos="299085" algn="l"/>
                <a:tab pos="299720" algn="l"/>
              </a:tabLst>
            </a:pPr>
            <a:r>
              <a:rPr sz="2400" spc="-5" dirty="0">
                <a:solidFill>
                  <a:srgbClr val="252525"/>
                </a:solidFill>
                <a:latin typeface="Times New Roman"/>
                <a:ea typeface="+mj-ea"/>
                <a:cs typeface="Times New Roman"/>
              </a:rPr>
              <a:t>The flag bits are generally seen in some status register of the processor.</a:t>
            </a:r>
          </a:p>
          <a:p>
            <a:pPr marL="299085" indent="-287020">
              <a:lnSpc>
                <a:spcPct val="100000"/>
              </a:lnSpc>
              <a:spcBef>
                <a:spcPts val="1175"/>
              </a:spcBef>
              <a:buClr>
                <a:srgbClr val="83992A"/>
              </a:buClr>
              <a:buSzPct val="114583"/>
              <a:buFont typeface="Arial MT"/>
              <a:buChar char="•"/>
              <a:tabLst>
                <a:tab pos="299085" algn="l"/>
                <a:tab pos="299720" algn="l"/>
              </a:tabLst>
            </a:pPr>
            <a:r>
              <a:rPr sz="2400" spc="-5" dirty="0">
                <a:solidFill>
                  <a:srgbClr val="252525"/>
                </a:solidFill>
                <a:latin typeface="Times New Roman"/>
                <a:ea typeface="+mj-ea"/>
                <a:cs typeface="Times New Roman"/>
              </a:rPr>
              <a:t>In 8051, flags bits are available in a register called the Processor Status Word.</a:t>
            </a:r>
          </a:p>
          <a:p>
            <a:pPr marL="299085" indent="-287020">
              <a:spcBef>
                <a:spcPts val="1180"/>
              </a:spcBef>
              <a:buClr>
                <a:srgbClr val="83992A"/>
              </a:buClr>
              <a:buSzPct val="114583"/>
              <a:buFont typeface="Arial MT"/>
              <a:buChar char="•"/>
              <a:tabLst>
                <a:tab pos="299085" algn="l"/>
                <a:tab pos="299720" algn="l"/>
              </a:tabLst>
            </a:pPr>
            <a:r>
              <a:rPr sz="2400" spc="-5" dirty="0">
                <a:solidFill>
                  <a:srgbClr val="252525"/>
                </a:solidFill>
                <a:latin typeface="Times New Roman"/>
                <a:ea typeface="+mj-ea"/>
                <a:cs typeface="Times New Roman"/>
              </a:rPr>
              <a:t>In ARM, there is a register called CPSR (Current Program Status Register</a:t>
            </a:r>
            <a:r>
              <a:rPr sz="2400" spc="-5" dirty="0" smtClean="0">
                <a:solidFill>
                  <a:srgbClr val="252525"/>
                </a:solidFill>
                <a:latin typeface="Times New Roman"/>
                <a:ea typeface="+mj-ea"/>
                <a:cs typeface="Times New Roman"/>
              </a:rPr>
              <a:t>),</a:t>
            </a:r>
            <a:r>
              <a:rPr lang="en-US" sz="2400" b="1" spc="-5" dirty="0" smtClean="0">
                <a:solidFill>
                  <a:srgbClr val="252525"/>
                </a:solidFill>
                <a:latin typeface="Times New Roman"/>
                <a:cs typeface="Times New Roman"/>
              </a:rPr>
              <a:t> </a:t>
            </a:r>
            <a:r>
              <a:rPr lang="en-US" sz="2400" spc="-5" dirty="0">
                <a:solidFill>
                  <a:srgbClr val="252525"/>
                </a:solidFill>
                <a:latin typeface="Times New Roman"/>
                <a:ea typeface="+mj-ea"/>
                <a:cs typeface="Times New Roman"/>
              </a:rPr>
              <a:t>which holds the flag bits</a:t>
            </a:r>
            <a:r>
              <a:rPr lang="en-US" sz="2400" spc="-5" dirty="0" smtClean="0">
                <a:solidFill>
                  <a:srgbClr val="252525"/>
                </a:solidFill>
                <a:latin typeface="Times New Roman"/>
                <a:ea typeface="+mj-ea"/>
                <a:cs typeface="Times New Roman"/>
              </a:rPr>
              <a:t>.</a:t>
            </a:r>
            <a:endParaRPr sz="2400" spc="-5" dirty="0">
              <a:solidFill>
                <a:srgbClr val="252525"/>
              </a:solidFill>
              <a:latin typeface="Times New Roman"/>
              <a:ea typeface="+mj-ea"/>
              <a:cs typeface="Times New Roman"/>
            </a:endParaRPr>
          </a:p>
        </p:txBody>
      </p:sp>
    </p:spTree>
    <p:extLst>
      <p:ext uri="{BB962C8B-B14F-4D97-AF65-F5344CB8AC3E}">
        <p14:creationId xmlns:p14="http://schemas.microsoft.com/office/powerpoint/2010/main" val="4829009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598769"/>
            <a:ext cx="4778212" cy="689932"/>
          </a:xfrm>
          <a:prstGeom prst="rect">
            <a:avLst/>
          </a:prstGeom>
        </p:spPr>
        <p:txBody>
          <a:bodyPr vert="horz" wrap="square" lIns="0" tIns="12700" rIns="0" bIns="0" rtlCol="0">
            <a:spAutoFit/>
          </a:bodyPr>
          <a:lstStyle/>
          <a:p>
            <a:pPr marL="12700">
              <a:lnSpc>
                <a:spcPct val="100000"/>
              </a:lnSpc>
              <a:spcBef>
                <a:spcPts val="100"/>
              </a:spcBef>
            </a:pPr>
            <a:r>
              <a:rPr b="0" spc="-114" dirty="0">
                <a:solidFill>
                  <a:srgbClr val="FF0000"/>
                </a:solidFill>
                <a:latin typeface="Times New Roman"/>
                <a:cs typeface="Times New Roman"/>
              </a:rPr>
              <a:t>3.6.1</a:t>
            </a:r>
            <a:r>
              <a:rPr b="0" spc="-40" dirty="0">
                <a:solidFill>
                  <a:srgbClr val="FF0000"/>
                </a:solidFill>
                <a:latin typeface="Times New Roman"/>
                <a:cs typeface="Times New Roman"/>
              </a:rPr>
              <a:t> </a:t>
            </a:r>
            <a:r>
              <a:rPr b="0" spc="-75" dirty="0">
                <a:solidFill>
                  <a:srgbClr val="FF0000"/>
                </a:solidFill>
                <a:latin typeface="Times New Roman"/>
                <a:cs typeface="Times New Roman"/>
              </a:rPr>
              <a:t>Carry</a:t>
            </a:r>
            <a:r>
              <a:rPr b="0" spc="-25" dirty="0">
                <a:solidFill>
                  <a:srgbClr val="FF0000"/>
                </a:solidFill>
                <a:latin typeface="Times New Roman"/>
                <a:cs typeface="Times New Roman"/>
              </a:rPr>
              <a:t> </a:t>
            </a:r>
            <a:r>
              <a:rPr b="0" spc="-120" dirty="0">
                <a:solidFill>
                  <a:srgbClr val="FF0000"/>
                </a:solidFill>
                <a:latin typeface="Times New Roman"/>
                <a:cs typeface="Times New Roman"/>
              </a:rPr>
              <a:t>Flag</a:t>
            </a:r>
            <a:r>
              <a:rPr b="0" spc="-30" dirty="0">
                <a:solidFill>
                  <a:srgbClr val="FF0000"/>
                </a:solidFill>
                <a:latin typeface="Times New Roman"/>
                <a:cs typeface="Times New Roman"/>
              </a:rPr>
              <a:t> </a:t>
            </a:r>
            <a:r>
              <a:rPr b="0" spc="-140" dirty="0">
                <a:solidFill>
                  <a:srgbClr val="FF0000"/>
                </a:solidFill>
                <a:latin typeface="Times New Roman"/>
                <a:cs typeface="Times New Roman"/>
              </a:rPr>
              <a:t>(C)</a:t>
            </a:r>
          </a:p>
        </p:txBody>
      </p:sp>
      <p:sp>
        <p:nvSpPr>
          <p:cNvPr id="9" name="object 9"/>
          <p:cNvSpPr txBox="1"/>
          <p:nvPr/>
        </p:nvSpPr>
        <p:spPr>
          <a:xfrm>
            <a:off x="915720" y="2488133"/>
            <a:ext cx="10265410" cy="3213700"/>
          </a:xfrm>
          <a:prstGeom prst="rect">
            <a:avLst/>
          </a:prstGeom>
        </p:spPr>
        <p:txBody>
          <a:bodyPr vert="horz" wrap="square" lIns="0" tIns="12700" rIns="0" bIns="0" rtlCol="0">
            <a:spAutoFit/>
          </a:bodyPr>
          <a:lstStyle/>
          <a:p>
            <a:pPr marL="299085" indent="-287020">
              <a:lnSpc>
                <a:spcPct val="100000"/>
              </a:lnSpc>
              <a:spcBef>
                <a:spcPts val="100"/>
              </a:spcBef>
              <a:buClr>
                <a:srgbClr val="83992A"/>
              </a:buClr>
              <a:buSzPct val="114583"/>
              <a:buFont typeface="Arial MT"/>
              <a:buChar char="•"/>
              <a:tabLst>
                <a:tab pos="299085" algn="l"/>
                <a:tab pos="299720" algn="l"/>
              </a:tabLst>
            </a:pPr>
            <a:r>
              <a:rPr sz="2400" spc="-50" dirty="0">
                <a:solidFill>
                  <a:srgbClr val="252525"/>
                </a:solidFill>
                <a:latin typeface="Times New Roman"/>
                <a:cs typeface="Times New Roman"/>
              </a:rPr>
              <a:t>Carry</a:t>
            </a:r>
            <a:r>
              <a:rPr sz="2400" dirty="0">
                <a:solidFill>
                  <a:srgbClr val="252525"/>
                </a:solidFill>
                <a:latin typeface="Times New Roman"/>
                <a:cs typeface="Times New Roman"/>
              </a:rPr>
              <a:t> </a:t>
            </a:r>
            <a:r>
              <a:rPr sz="2400" spc="-80" dirty="0">
                <a:solidFill>
                  <a:srgbClr val="252525"/>
                </a:solidFill>
                <a:latin typeface="Times New Roman"/>
                <a:cs typeface="Times New Roman"/>
              </a:rPr>
              <a:t>Flag</a:t>
            </a:r>
            <a:r>
              <a:rPr sz="2400" spc="-10" dirty="0">
                <a:solidFill>
                  <a:srgbClr val="252525"/>
                </a:solidFill>
                <a:latin typeface="Times New Roman"/>
                <a:cs typeface="Times New Roman"/>
              </a:rPr>
              <a:t> </a:t>
            </a:r>
            <a:r>
              <a:rPr sz="2400" spc="-100" dirty="0">
                <a:solidFill>
                  <a:srgbClr val="252525"/>
                </a:solidFill>
                <a:latin typeface="Times New Roman"/>
                <a:cs typeface="Times New Roman"/>
              </a:rPr>
              <a:t>(</a:t>
            </a:r>
            <a:r>
              <a:rPr sz="2400" dirty="0">
                <a:solidFill>
                  <a:srgbClr val="252525"/>
                </a:solidFill>
                <a:latin typeface="Times New Roman"/>
                <a:cs typeface="Times New Roman"/>
              </a:rPr>
              <a:t> </a:t>
            </a:r>
            <a:r>
              <a:rPr sz="2400" spc="-75" dirty="0">
                <a:solidFill>
                  <a:srgbClr val="252525"/>
                </a:solidFill>
                <a:latin typeface="Times New Roman"/>
                <a:cs typeface="Times New Roman"/>
              </a:rPr>
              <a:t>C</a:t>
            </a:r>
            <a:r>
              <a:rPr sz="2400" spc="-5" dirty="0">
                <a:solidFill>
                  <a:srgbClr val="252525"/>
                </a:solidFill>
                <a:latin typeface="Times New Roman"/>
                <a:cs typeface="Times New Roman"/>
              </a:rPr>
              <a:t> </a:t>
            </a:r>
            <a:r>
              <a:rPr sz="2400" spc="-100" dirty="0">
                <a:solidFill>
                  <a:srgbClr val="252525"/>
                </a:solidFill>
                <a:latin typeface="Times New Roman"/>
                <a:cs typeface="Times New Roman"/>
              </a:rPr>
              <a:t>)</a:t>
            </a:r>
            <a:r>
              <a:rPr sz="2400" dirty="0">
                <a:solidFill>
                  <a:srgbClr val="252525"/>
                </a:solidFill>
                <a:latin typeface="Times New Roman"/>
                <a:cs typeface="Times New Roman"/>
              </a:rPr>
              <a:t> </a:t>
            </a:r>
            <a:r>
              <a:rPr sz="2400" spc="-50" dirty="0">
                <a:solidFill>
                  <a:srgbClr val="252525"/>
                </a:solidFill>
                <a:latin typeface="Times New Roman"/>
                <a:cs typeface="Times New Roman"/>
              </a:rPr>
              <a:t>gets</a:t>
            </a:r>
            <a:r>
              <a:rPr sz="2400" spc="5" dirty="0">
                <a:solidFill>
                  <a:srgbClr val="252525"/>
                </a:solidFill>
                <a:latin typeface="Times New Roman"/>
                <a:cs typeface="Times New Roman"/>
              </a:rPr>
              <a:t> </a:t>
            </a:r>
            <a:r>
              <a:rPr sz="2400" spc="-35" dirty="0">
                <a:solidFill>
                  <a:srgbClr val="252525"/>
                </a:solidFill>
                <a:latin typeface="Times New Roman"/>
                <a:cs typeface="Times New Roman"/>
              </a:rPr>
              <a:t>set</a:t>
            </a:r>
            <a:r>
              <a:rPr sz="2400" dirty="0">
                <a:solidFill>
                  <a:srgbClr val="252525"/>
                </a:solidFill>
                <a:latin typeface="Times New Roman"/>
                <a:cs typeface="Times New Roman"/>
              </a:rPr>
              <a:t> </a:t>
            </a:r>
            <a:r>
              <a:rPr sz="2400" spc="-75" dirty="0">
                <a:solidFill>
                  <a:srgbClr val="252525"/>
                </a:solidFill>
                <a:latin typeface="Times New Roman"/>
                <a:cs typeface="Times New Roman"/>
              </a:rPr>
              <a:t>if</a:t>
            </a:r>
            <a:r>
              <a:rPr sz="2400" spc="315" dirty="0">
                <a:solidFill>
                  <a:srgbClr val="252525"/>
                </a:solidFill>
                <a:latin typeface="Times New Roman"/>
                <a:cs typeface="Times New Roman"/>
              </a:rPr>
              <a:t> </a:t>
            </a:r>
            <a:r>
              <a:rPr sz="2400" spc="-20" dirty="0">
                <a:solidFill>
                  <a:srgbClr val="252525"/>
                </a:solidFill>
                <a:latin typeface="Times New Roman"/>
                <a:cs typeface="Times New Roman"/>
              </a:rPr>
              <a:t>there</a:t>
            </a:r>
            <a:r>
              <a:rPr sz="2400"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spc="5" dirty="0">
                <a:solidFill>
                  <a:srgbClr val="252525"/>
                </a:solidFill>
                <a:latin typeface="Times New Roman"/>
                <a:cs typeface="Times New Roman"/>
              </a:rPr>
              <a:t> </a:t>
            </a:r>
            <a:r>
              <a:rPr sz="2400" spc="-90" dirty="0">
                <a:solidFill>
                  <a:srgbClr val="252525"/>
                </a:solidFill>
                <a:latin typeface="Times New Roman"/>
                <a:cs typeface="Times New Roman"/>
              </a:rPr>
              <a:t>a</a:t>
            </a:r>
            <a:r>
              <a:rPr sz="2400" spc="-5" dirty="0">
                <a:solidFill>
                  <a:srgbClr val="252525"/>
                </a:solidFill>
                <a:latin typeface="Times New Roman"/>
                <a:cs typeface="Times New Roman"/>
              </a:rPr>
              <a:t> </a:t>
            </a:r>
            <a:r>
              <a:rPr sz="2400" spc="-50" dirty="0">
                <a:solidFill>
                  <a:srgbClr val="252525"/>
                </a:solidFill>
                <a:latin typeface="Times New Roman"/>
                <a:cs typeface="Times New Roman"/>
              </a:rPr>
              <a:t>carry</a:t>
            </a:r>
            <a:r>
              <a:rPr sz="2400" spc="5" dirty="0">
                <a:solidFill>
                  <a:srgbClr val="252525"/>
                </a:solidFill>
                <a:latin typeface="Times New Roman"/>
                <a:cs typeface="Times New Roman"/>
              </a:rPr>
              <a:t> out</a:t>
            </a:r>
            <a:r>
              <a:rPr sz="2400" spc="-5" dirty="0">
                <a:solidFill>
                  <a:srgbClr val="252525"/>
                </a:solidFill>
                <a:latin typeface="Times New Roman"/>
                <a:cs typeface="Times New Roman"/>
              </a:rPr>
              <a:t> from </a:t>
            </a:r>
            <a:r>
              <a:rPr sz="2400" spc="-10" dirty="0">
                <a:solidFill>
                  <a:srgbClr val="252525"/>
                </a:solidFill>
                <a:latin typeface="Times New Roman"/>
                <a:cs typeface="Times New Roman"/>
              </a:rPr>
              <a:t>the</a:t>
            </a:r>
            <a:r>
              <a:rPr sz="2400" spc="-5" dirty="0">
                <a:solidFill>
                  <a:srgbClr val="252525"/>
                </a:solidFill>
                <a:latin typeface="Times New Roman"/>
                <a:cs typeface="Times New Roman"/>
              </a:rPr>
              <a:t> most </a:t>
            </a:r>
            <a:r>
              <a:rPr sz="2400" spc="-60" dirty="0">
                <a:solidFill>
                  <a:srgbClr val="252525"/>
                </a:solidFill>
                <a:latin typeface="Times New Roman"/>
                <a:cs typeface="Times New Roman"/>
              </a:rPr>
              <a:t>significant</a:t>
            </a:r>
            <a:r>
              <a:rPr sz="2400" spc="-5" dirty="0">
                <a:solidFill>
                  <a:srgbClr val="252525"/>
                </a:solidFill>
                <a:latin typeface="Times New Roman"/>
                <a:cs typeface="Times New Roman"/>
              </a:rPr>
              <a:t> </a:t>
            </a:r>
            <a:r>
              <a:rPr sz="2400" spc="-25" dirty="0">
                <a:solidFill>
                  <a:srgbClr val="252525"/>
                </a:solidFill>
                <a:latin typeface="Times New Roman"/>
                <a:cs typeface="Times New Roman"/>
              </a:rPr>
              <a:t>bit</a:t>
            </a:r>
            <a:r>
              <a:rPr sz="2400" spc="-5" dirty="0">
                <a:solidFill>
                  <a:srgbClr val="252525"/>
                </a:solidFill>
                <a:latin typeface="Times New Roman"/>
                <a:cs typeface="Times New Roman"/>
              </a:rPr>
              <a:t> </a:t>
            </a:r>
            <a:r>
              <a:rPr sz="2400" spc="-45" dirty="0">
                <a:solidFill>
                  <a:srgbClr val="252525"/>
                </a:solidFill>
                <a:latin typeface="Times New Roman"/>
                <a:cs typeface="Times New Roman"/>
              </a:rPr>
              <a:t>during</a:t>
            </a:r>
            <a:endParaRPr sz="2400" dirty="0">
              <a:latin typeface="Times New Roman"/>
              <a:cs typeface="Times New Roman"/>
            </a:endParaRPr>
          </a:p>
          <a:p>
            <a:pPr marL="299085">
              <a:lnSpc>
                <a:spcPct val="100000"/>
              </a:lnSpc>
              <a:spcBef>
                <a:spcPts val="5"/>
              </a:spcBef>
            </a:pPr>
            <a:r>
              <a:rPr sz="2400" spc="-70" dirty="0">
                <a:solidFill>
                  <a:srgbClr val="252525"/>
                </a:solidFill>
                <a:latin typeface="Times New Roman"/>
                <a:cs typeface="Times New Roman"/>
              </a:rPr>
              <a:t>calculations.</a:t>
            </a:r>
            <a:endParaRPr sz="2400" dirty="0">
              <a:latin typeface="Times New Roman"/>
              <a:cs typeface="Times New Roman"/>
            </a:endParaRPr>
          </a:p>
          <a:p>
            <a:pPr marL="299085" marR="255904" indent="-287020">
              <a:lnSpc>
                <a:spcPct val="100000"/>
              </a:lnSpc>
              <a:spcBef>
                <a:spcPts val="1175"/>
              </a:spcBef>
              <a:buClr>
                <a:srgbClr val="83992A"/>
              </a:buClr>
              <a:buSzPct val="114583"/>
              <a:buFont typeface="Arial MT"/>
              <a:buChar char="•"/>
              <a:tabLst>
                <a:tab pos="299085" algn="l"/>
                <a:tab pos="299720" algn="l"/>
              </a:tabLst>
            </a:pPr>
            <a:r>
              <a:rPr sz="2400" spc="-40" dirty="0">
                <a:solidFill>
                  <a:srgbClr val="252525"/>
                </a:solidFill>
                <a:latin typeface="Times New Roman"/>
                <a:cs typeface="Times New Roman"/>
              </a:rPr>
              <a:t>When</a:t>
            </a:r>
            <a:r>
              <a:rPr sz="2400" spc="-5" dirty="0">
                <a:solidFill>
                  <a:srgbClr val="252525"/>
                </a:solidFill>
                <a:latin typeface="Times New Roman"/>
                <a:cs typeface="Times New Roman"/>
              </a:rPr>
              <a:t> </a:t>
            </a:r>
            <a:r>
              <a:rPr sz="2400" spc="-40" dirty="0">
                <a:solidFill>
                  <a:srgbClr val="252525"/>
                </a:solidFill>
                <a:latin typeface="Times New Roman"/>
                <a:cs typeface="Times New Roman"/>
              </a:rPr>
              <a:t>an</a:t>
            </a:r>
            <a:r>
              <a:rPr sz="2400" spc="-5" dirty="0">
                <a:solidFill>
                  <a:srgbClr val="252525"/>
                </a:solidFill>
                <a:latin typeface="Times New Roman"/>
                <a:cs typeface="Times New Roman"/>
              </a:rPr>
              <a:t> </a:t>
            </a:r>
            <a:r>
              <a:rPr sz="2400" spc="-35" dirty="0">
                <a:solidFill>
                  <a:srgbClr val="252525"/>
                </a:solidFill>
                <a:latin typeface="Times New Roman"/>
                <a:cs typeface="Times New Roman"/>
              </a:rPr>
              <a:t>8-bit</a:t>
            </a:r>
            <a:r>
              <a:rPr sz="2400" spc="-15" dirty="0">
                <a:solidFill>
                  <a:srgbClr val="252525"/>
                </a:solidFill>
                <a:latin typeface="Times New Roman"/>
                <a:cs typeface="Times New Roman"/>
              </a:rPr>
              <a:t> </a:t>
            </a:r>
            <a:r>
              <a:rPr sz="2400" spc="-35" dirty="0">
                <a:solidFill>
                  <a:srgbClr val="252525"/>
                </a:solidFill>
                <a:latin typeface="Times New Roman"/>
                <a:cs typeface="Times New Roman"/>
              </a:rPr>
              <a:t>addition</a:t>
            </a:r>
            <a:r>
              <a:rPr sz="2400" spc="5" dirty="0">
                <a:solidFill>
                  <a:srgbClr val="252525"/>
                </a:solidFill>
                <a:latin typeface="Times New Roman"/>
                <a:cs typeface="Times New Roman"/>
              </a:rPr>
              <a:t> </a:t>
            </a:r>
            <a:r>
              <a:rPr sz="2400" spc="-65" dirty="0">
                <a:solidFill>
                  <a:srgbClr val="252525"/>
                </a:solidFill>
                <a:latin typeface="Times New Roman"/>
                <a:cs typeface="Times New Roman"/>
              </a:rPr>
              <a:t>causes</a:t>
            </a:r>
            <a:r>
              <a:rPr sz="2400" spc="5" dirty="0">
                <a:solidFill>
                  <a:srgbClr val="252525"/>
                </a:solidFill>
                <a:latin typeface="Times New Roman"/>
                <a:cs typeface="Times New Roman"/>
              </a:rPr>
              <a:t> </a:t>
            </a:r>
            <a:r>
              <a:rPr sz="2400" spc="-10" dirty="0">
                <a:solidFill>
                  <a:srgbClr val="252525"/>
                </a:solidFill>
                <a:latin typeface="Times New Roman"/>
                <a:cs typeface="Times New Roman"/>
              </a:rPr>
              <a:t>the</a:t>
            </a:r>
            <a:r>
              <a:rPr sz="2400" spc="-5" dirty="0">
                <a:solidFill>
                  <a:srgbClr val="252525"/>
                </a:solidFill>
                <a:latin typeface="Times New Roman"/>
                <a:cs typeface="Times New Roman"/>
              </a:rPr>
              <a:t> </a:t>
            </a:r>
            <a:r>
              <a:rPr sz="2400" spc="-40" dirty="0">
                <a:solidFill>
                  <a:srgbClr val="252525"/>
                </a:solidFill>
                <a:latin typeface="Times New Roman"/>
                <a:cs typeface="Times New Roman"/>
              </a:rPr>
              <a:t>result</a:t>
            </a:r>
            <a:r>
              <a:rPr sz="2400" spc="-10" dirty="0">
                <a:solidFill>
                  <a:srgbClr val="252525"/>
                </a:solidFill>
                <a:latin typeface="Times New Roman"/>
                <a:cs typeface="Times New Roman"/>
              </a:rPr>
              <a:t> </a:t>
            </a:r>
            <a:r>
              <a:rPr sz="2400" spc="25" dirty="0">
                <a:solidFill>
                  <a:srgbClr val="252525"/>
                </a:solidFill>
                <a:latin typeface="Times New Roman"/>
                <a:cs typeface="Times New Roman"/>
              </a:rPr>
              <a:t>to</a:t>
            </a:r>
            <a:r>
              <a:rPr sz="2400" spc="5" dirty="0">
                <a:solidFill>
                  <a:srgbClr val="252525"/>
                </a:solidFill>
                <a:latin typeface="Times New Roman"/>
                <a:cs typeface="Times New Roman"/>
              </a:rPr>
              <a:t> </a:t>
            </a:r>
            <a:r>
              <a:rPr sz="2400" spc="-25" dirty="0">
                <a:solidFill>
                  <a:srgbClr val="252525"/>
                </a:solidFill>
                <a:latin typeface="Times New Roman"/>
                <a:cs typeface="Times New Roman"/>
              </a:rPr>
              <a:t>be</a:t>
            </a:r>
            <a:r>
              <a:rPr sz="2400" spc="-5" dirty="0">
                <a:solidFill>
                  <a:srgbClr val="252525"/>
                </a:solidFill>
                <a:latin typeface="Times New Roman"/>
                <a:cs typeface="Times New Roman"/>
              </a:rPr>
              <a:t> </a:t>
            </a:r>
            <a:r>
              <a:rPr sz="2400" spc="-40" dirty="0">
                <a:solidFill>
                  <a:srgbClr val="252525"/>
                </a:solidFill>
                <a:latin typeface="Times New Roman"/>
                <a:cs typeface="Times New Roman"/>
              </a:rPr>
              <a:t>greater</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than</a:t>
            </a:r>
            <a:r>
              <a:rPr sz="2400" spc="5" dirty="0">
                <a:solidFill>
                  <a:srgbClr val="252525"/>
                </a:solidFill>
                <a:latin typeface="Times New Roman"/>
                <a:cs typeface="Times New Roman"/>
              </a:rPr>
              <a:t> </a:t>
            </a:r>
            <a:r>
              <a:rPr sz="2400" spc="-75" dirty="0">
                <a:solidFill>
                  <a:srgbClr val="252525"/>
                </a:solidFill>
                <a:latin typeface="Times New Roman"/>
                <a:cs typeface="Times New Roman"/>
              </a:rPr>
              <a:t>8</a:t>
            </a:r>
            <a:r>
              <a:rPr sz="2400" dirty="0">
                <a:solidFill>
                  <a:srgbClr val="252525"/>
                </a:solidFill>
                <a:latin typeface="Times New Roman"/>
                <a:cs typeface="Times New Roman"/>
              </a:rPr>
              <a:t> </a:t>
            </a:r>
            <a:r>
              <a:rPr sz="2400" spc="-60" dirty="0">
                <a:solidFill>
                  <a:srgbClr val="252525"/>
                </a:solidFill>
                <a:latin typeface="Times New Roman"/>
                <a:cs typeface="Times New Roman"/>
              </a:rPr>
              <a:t>bits,</a:t>
            </a:r>
            <a:r>
              <a:rPr sz="2400" spc="-5" dirty="0">
                <a:solidFill>
                  <a:srgbClr val="252525"/>
                </a:solidFill>
                <a:latin typeface="Times New Roman"/>
                <a:cs typeface="Times New Roman"/>
              </a:rPr>
              <a:t> </a:t>
            </a:r>
            <a:r>
              <a:rPr sz="2400" spc="-40" dirty="0">
                <a:solidFill>
                  <a:srgbClr val="252525"/>
                </a:solidFill>
                <a:latin typeface="Times New Roman"/>
                <a:cs typeface="Times New Roman"/>
              </a:rPr>
              <a:t>tee</a:t>
            </a:r>
            <a:r>
              <a:rPr sz="2400"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spc="5" dirty="0">
                <a:solidFill>
                  <a:srgbClr val="252525"/>
                </a:solidFill>
                <a:latin typeface="Times New Roman"/>
                <a:cs typeface="Times New Roman"/>
              </a:rPr>
              <a:t> </a:t>
            </a:r>
            <a:r>
              <a:rPr sz="2400" spc="-95" dirty="0">
                <a:solidFill>
                  <a:srgbClr val="252525"/>
                </a:solidFill>
                <a:latin typeface="Times New Roman"/>
                <a:cs typeface="Times New Roman"/>
              </a:rPr>
              <a:t>a</a:t>
            </a:r>
            <a:r>
              <a:rPr sz="2400" spc="-5" dirty="0">
                <a:solidFill>
                  <a:srgbClr val="252525"/>
                </a:solidFill>
                <a:latin typeface="Times New Roman"/>
                <a:cs typeface="Times New Roman"/>
              </a:rPr>
              <a:t> </a:t>
            </a:r>
            <a:r>
              <a:rPr sz="2400" spc="-50" dirty="0">
                <a:solidFill>
                  <a:srgbClr val="252525"/>
                </a:solidFill>
                <a:latin typeface="Times New Roman"/>
                <a:cs typeface="Times New Roman"/>
              </a:rPr>
              <a:t>carry</a:t>
            </a:r>
            <a:r>
              <a:rPr sz="2400" dirty="0">
                <a:solidFill>
                  <a:srgbClr val="252525"/>
                </a:solidFill>
                <a:latin typeface="Times New Roman"/>
                <a:cs typeface="Times New Roman"/>
              </a:rPr>
              <a:t> </a:t>
            </a:r>
            <a:r>
              <a:rPr sz="2400" spc="5" dirty="0">
                <a:solidFill>
                  <a:srgbClr val="252525"/>
                </a:solidFill>
                <a:latin typeface="Times New Roman"/>
                <a:cs typeface="Times New Roman"/>
              </a:rPr>
              <a:t>out </a:t>
            </a:r>
            <a:r>
              <a:rPr sz="2400" spc="-585" dirty="0">
                <a:solidFill>
                  <a:srgbClr val="252525"/>
                </a:solidFill>
                <a:latin typeface="Times New Roman"/>
                <a:cs typeface="Times New Roman"/>
              </a:rPr>
              <a:t> </a:t>
            </a:r>
            <a:r>
              <a:rPr sz="2400" spc="-15" dirty="0">
                <a:solidFill>
                  <a:srgbClr val="252525"/>
                </a:solidFill>
                <a:latin typeface="Times New Roman"/>
                <a:cs typeface="Times New Roman"/>
              </a:rPr>
              <a:t>f</a:t>
            </a:r>
            <a:r>
              <a:rPr sz="2400" spc="-10" dirty="0">
                <a:solidFill>
                  <a:srgbClr val="252525"/>
                </a:solidFill>
                <a:latin typeface="Times New Roman"/>
                <a:cs typeface="Times New Roman"/>
              </a:rPr>
              <a:t>r</a:t>
            </a:r>
            <a:r>
              <a:rPr sz="2400" spc="-5" dirty="0">
                <a:solidFill>
                  <a:srgbClr val="252525"/>
                </a:solidFill>
                <a:latin typeface="Times New Roman"/>
                <a:cs typeface="Times New Roman"/>
              </a:rPr>
              <a:t>o</a:t>
            </a:r>
            <a:r>
              <a:rPr sz="2400" spc="5" dirty="0">
                <a:solidFill>
                  <a:srgbClr val="252525"/>
                </a:solidFill>
                <a:latin typeface="Times New Roman"/>
                <a:cs typeface="Times New Roman"/>
              </a:rPr>
              <a:t>m</a:t>
            </a:r>
            <a:r>
              <a:rPr sz="2400" spc="-20"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dirty="0">
                <a:solidFill>
                  <a:srgbClr val="252525"/>
                </a:solidFill>
                <a:latin typeface="Times New Roman"/>
                <a:cs typeface="Times New Roman"/>
              </a:rPr>
              <a:t> </a:t>
            </a:r>
            <a:r>
              <a:rPr sz="2400" spc="-204" dirty="0">
                <a:solidFill>
                  <a:srgbClr val="252525"/>
                </a:solidFill>
                <a:latin typeface="Times New Roman"/>
                <a:cs typeface="Times New Roman"/>
              </a:rPr>
              <a:t>M</a:t>
            </a:r>
            <a:r>
              <a:rPr sz="2400" spc="-125" dirty="0">
                <a:solidFill>
                  <a:srgbClr val="252525"/>
                </a:solidFill>
                <a:latin typeface="Times New Roman"/>
                <a:cs typeface="Times New Roman"/>
              </a:rPr>
              <a:t>S</a:t>
            </a:r>
            <a:r>
              <a:rPr sz="2400" spc="-130" dirty="0">
                <a:solidFill>
                  <a:srgbClr val="252525"/>
                </a:solidFill>
                <a:latin typeface="Times New Roman"/>
                <a:cs typeface="Times New Roman"/>
              </a:rPr>
              <a:t>B</a:t>
            </a:r>
            <a:r>
              <a:rPr sz="2400" dirty="0">
                <a:solidFill>
                  <a:srgbClr val="252525"/>
                </a:solidFill>
                <a:latin typeface="Times New Roman"/>
                <a:cs typeface="Times New Roman"/>
              </a:rPr>
              <a:t> </a:t>
            </a:r>
            <a:r>
              <a:rPr sz="2400" spc="5" dirty="0">
                <a:solidFill>
                  <a:srgbClr val="252525"/>
                </a:solidFill>
                <a:latin typeface="Times New Roman"/>
                <a:cs typeface="Times New Roman"/>
              </a:rPr>
              <a:t>(</a:t>
            </a:r>
            <a:r>
              <a:rPr sz="2400" dirty="0">
                <a:solidFill>
                  <a:srgbClr val="252525"/>
                </a:solidFill>
                <a:latin typeface="Times New Roman"/>
                <a:cs typeface="Times New Roman"/>
              </a:rPr>
              <a:t>D</a:t>
            </a:r>
            <a:r>
              <a:rPr sz="2400" spc="-90" dirty="0">
                <a:solidFill>
                  <a:srgbClr val="252525"/>
                </a:solidFill>
                <a:latin typeface="Times New Roman"/>
                <a:cs typeface="Times New Roman"/>
              </a:rPr>
              <a:t>7)</a:t>
            </a:r>
            <a:r>
              <a:rPr sz="2400" dirty="0">
                <a:solidFill>
                  <a:srgbClr val="252525"/>
                </a:solidFill>
                <a:latin typeface="Times New Roman"/>
                <a:cs typeface="Times New Roman"/>
              </a:rPr>
              <a:t> </a:t>
            </a:r>
            <a:r>
              <a:rPr sz="2400" spc="20" dirty="0">
                <a:solidFill>
                  <a:srgbClr val="252525"/>
                </a:solidFill>
                <a:latin typeface="Times New Roman"/>
                <a:cs typeface="Times New Roman"/>
              </a:rPr>
              <a:t>t</a:t>
            </a:r>
            <a:r>
              <a:rPr sz="2400" spc="-20" dirty="0">
                <a:solidFill>
                  <a:srgbClr val="252525"/>
                </a:solidFill>
                <a:latin typeface="Times New Roman"/>
                <a:cs typeface="Times New Roman"/>
              </a:rPr>
              <a:t>ha</a:t>
            </a:r>
            <a:r>
              <a:rPr sz="2400" spc="-10" dirty="0">
                <a:solidFill>
                  <a:srgbClr val="252525"/>
                </a:solidFill>
                <a:latin typeface="Times New Roman"/>
                <a:cs typeface="Times New Roman"/>
              </a:rPr>
              <a:t>t</a:t>
            </a:r>
            <a:r>
              <a:rPr sz="2400" dirty="0">
                <a:solidFill>
                  <a:srgbClr val="252525"/>
                </a:solidFill>
                <a:latin typeface="Times New Roman"/>
                <a:cs typeface="Times New Roman"/>
              </a:rPr>
              <a:t> </a:t>
            </a:r>
            <a:r>
              <a:rPr sz="2400" spc="-60" dirty="0">
                <a:solidFill>
                  <a:srgbClr val="252525"/>
                </a:solidFill>
                <a:latin typeface="Times New Roman"/>
                <a:cs typeface="Times New Roman"/>
              </a:rPr>
              <a:t>ca</a:t>
            </a:r>
            <a:r>
              <a:rPr sz="2400" spc="-75" dirty="0">
                <a:solidFill>
                  <a:srgbClr val="252525"/>
                </a:solidFill>
                <a:latin typeface="Times New Roman"/>
                <a:cs typeface="Times New Roman"/>
              </a:rPr>
              <a:t>u</a:t>
            </a:r>
            <a:r>
              <a:rPr sz="2400" spc="-65" dirty="0">
                <a:solidFill>
                  <a:srgbClr val="252525"/>
                </a:solidFill>
                <a:latin typeface="Times New Roman"/>
                <a:cs typeface="Times New Roman"/>
              </a:rPr>
              <a:t>ses</a:t>
            </a:r>
            <a:r>
              <a:rPr sz="2400"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5" dirty="0">
                <a:solidFill>
                  <a:srgbClr val="252525"/>
                </a:solidFill>
                <a:latin typeface="Times New Roman"/>
                <a:cs typeface="Times New Roman"/>
              </a:rPr>
              <a:t> </a:t>
            </a:r>
            <a:r>
              <a:rPr sz="2400" spc="25" dirty="0">
                <a:solidFill>
                  <a:srgbClr val="252525"/>
                </a:solidFill>
                <a:latin typeface="Times New Roman"/>
                <a:cs typeface="Times New Roman"/>
              </a:rPr>
              <a:t>f</a:t>
            </a:r>
            <a:r>
              <a:rPr sz="2400" spc="-114" dirty="0">
                <a:solidFill>
                  <a:srgbClr val="252525"/>
                </a:solidFill>
                <a:latin typeface="Times New Roman"/>
                <a:cs typeface="Times New Roman"/>
              </a:rPr>
              <a:t>lag</a:t>
            </a:r>
            <a:r>
              <a:rPr sz="2400" dirty="0">
                <a:solidFill>
                  <a:srgbClr val="252525"/>
                </a:solidFill>
                <a:latin typeface="Times New Roman"/>
                <a:cs typeface="Times New Roman"/>
              </a:rPr>
              <a:t> </a:t>
            </a:r>
            <a:r>
              <a:rPr sz="2400" spc="15" dirty="0">
                <a:solidFill>
                  <a:srgbClr val="252525"/>
                </a:solidFill>
                <a:latin typeface="Times New Roman"/>
                <a:cs typeface="Times New Roman"/>
              </a:rPr>
              <a:t>t</a:t>
            </a:r>
            <a:r>
              <a:rPr sz="2400" spc="20" dirty="0">
                <a:solidFill>
                  <a:srgbClr val="252525"/>
                </a:solidFill>
                <a:latin typeface="Times New Roman"/>
                <a:cs typeface="Times New Roman"/>
              </a:rPr>
              <a:t>o</a:t>
            </a:r>
            <a:r>
              <a:rPr sz="2400" spc="-5" dirty="0">
                <a:solidFill>
                  <a:srgbClr val="252525"/>
                </a:solidFill>
                <a:latin typeface="Times New Roman"/>
                <a:cs typeface="Times New Roman"/>
              </a:rPr>
              <a:t> </a:t>
            </a:r>
            <a:r>
              <a:rPr sz="2400" spc="-30" dirty="0">
                <a:solidFill>
                  <a:srgbClr val="252525"/>
                </a:solidFill>
                <a:latin typeface="Times New Roman"/>
                <a:cs typeface="Times New Roman"/>
              </a:rPr>
              <a:t>b</a:t>
            </a:r>
            <a:r>
              <a:rPr sz="2400" spc="-20" dirty="0">
                <a:solidFill>
                  <a:srgbClr val="252525"/>
                </a:solidFill>
                <a:latin typeface="Times New Roman"/>
                <a:cs typeface="Times New Roman"/>
              </a:rPr>
              <a:t>e</a:t>
            </a:r>
            <a:r>
              <a:rPr sz="2400" spc="-5" dirty="0">
                <a:solidFill>
                  <a:srgbClr val="252525"/>
                </a:solidFill>
                <a:latin typeface="Times New Roman"/>
                <a:cs typeface="Times New Roman"/>
              </a:rPr>
              <a:t> </a:t>
            </a:r>
            <a:r>
              <a:rPr sz="2400" spc="-45" dirty="0">
                <a:solidFill>
                  <a:srgbClr val="252525"/>
                </a:solidFill>
                <a:latin typeface="Times New Roman"/>
                <a:cs typeface="Times New Roman"/>
              </a:rPr>
              <a:t>set.</a:t>
            </a:r>
            <a:endParaRPr sz="2400" dirty="0">
              <a:latin typeface="Times New Roman"/>
              <a:cs typeface="Times New Roman"/>
            </a:endParaRPr>
          </a:p>
          <a:p>
            <a:pPr marL="299085" indent="-287020">
              <a:lnSpc>
                <a:spcPct val="100000"/>
              </a:lnSpc>
              <a:spcBef>
                <a:spcPts val="1180"/>
              </a:spcBef>
              <a:buClr>
                <a:srgbClr val="83992A"/>
              </a:buClr>
              <a:buSzPct val="114583"/>
              <a:buFont typeface="Arial MT"/>
              <a:buChar char="•"/>
              <a:tabLst>
                <a:tab pos="299085" algn="l"/>
                <a:tab pos="299720" algn="l"/>
              </a:tabLst>
            </a:pPr>
            <a:r>
              <a:rPr sz="2400" spc="-20" dirty="0">
                <a:solidFill>
                  <a:srgbClr val="252525"/>
                </a:solidFill>
                <a:latin typeface="Times New Roman"/>
                <a:cs typeface="Times New Roman"/>
              </a:rPr>
              <a:t>For</a:t>
            </a:r>
            <a:r>
              <a:rPr sz="2400" spc="-5" dirty="0">
                <a:solidFill>
                  <a:srgbClr val="252525"/>
                </a:solidFill>
                <a:latin typeface="Times New Roman"/>
                <a:cs typeface="Times New Roman"/>
              </a:rPr>
              <a:t> </a:t>
            </a:r>
            <a:r>
              <a:rPr sz="2400" spc="-45" dirty="0">
                <a:solidFill>
                  <a:srgbClr val="252525"/>
                </a:solidFill>
                <a:latin typeface="Times New Roman"/>
                <a:cs typeface="Times New Roman"/>
              </a:rPr>
              <a:t>16-bit</a:t>
            </a:r>
            <a:r>
              <a:rPr sz="2400" spc="-20" dirty="0">
                <a:solidFill>
                  <a:srgbClr val="252525"/>
                </a:solidFill>
                <a:latin typeface="Times New Roman"/>
                <a:cs typeface="Times New Roman"/>
              </a:rPr>
              <a:t> </a:t>
            </a:r>
            <a:r>
              <a:rPr sz="2400" spc="-35" dirty="0">
                <a:solidFill>
                  <a:srgbClr val="252525"/>
                </a:solidFill>
                <a:latin typeface="Times New Roman"/>
                <a:cs typeface="Times New Roman"/>
              </a:rPr>
              <a:t>operations,</a:t>
            </a:r>
            <a:r>
              <a:rPr sz="2400"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5" dirty="0">
                <a:solidFill>
                  <a:srgbClr val="252525"/>
                </a:solidFill>
                <a:latin typeface="Times New Roman"/>
                <a:cs typeface="Times New Roman"/>
              </a:rPr>
              <a:t> </a:t>
            </a:r>
            <a:r>
              <a:rPr sz="2400" spc="-50" dirty="0">
                <a:solidFill>
                  <a:srgbClr val="252525"/>
                </a:solidFill>
                <a:latin typeface="Times New Roman"/>
                <a:cs typeface="Times New Roman"/>
              </a:rPr>
              <a:t>carry</a:t>
            </a:r>
            <a:r>
              <a:rPr sz="2400" dirty="0">
                <a:solidFill>
                  <a:srgbClr val="252525"/>
                </a:solidFill>
                <a:latin typeface="Times New Roman"/>
                <a:cs typeface="Times New Roman"/>
              </a:rPr>
              <a:t> </a:t>
            </a:r>
            <a:r>
              <a:rPr sz="2400" spc="-125" dirty="0">
                <a:solidFill>
                  <a:srgbClr val="252525"/>
                </a:solidFill>
                <a:latin typeface="Times New Roman"/>
                <a:cs typeface="Times New Roman"/>
              </a:rPr>
              <a:t>will</a:t>
            </a:r>
            <a:r>
              <a:rPr sz="2400" dirty="0">
                <a:solidFill>
                  <a:srgbClr val="252525"/>
                </a:solidFill>
                <a:latin typeface="Times New Roman"/>
                <a:cs typeface="Times New Roman"/>
              </a:rPr>
              <a:t> </a:t>
            </a:r>
            <a:r>
              <a:rPr sz="2400" spc="-25" dirty="0">
                <a:solidFill>
                  <a:srgbClr val="252525"/>
                </a:solidFill>
                <a:latin typeface="Times New Roman"/>
                <a:cs typeface="Times New Roman"/>
              </a:rPr>
              <a:t>be</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from</a:t>
            </a:r>
            <a:r>
              <a:rPr sz="2400" dirty="0">
                <a:solidFill>
                  <a:srgbClr val="252525"/>
                </a:solidFill>
                <a:latin typeface="Times New Roman"/>
                <a:cs typeface="Times New Roman"/>
              </a:rPr>
              <a:t> </a:t>
            </a:r>
            <a:r>
              <a:rPr sz="2400" spc="-30" dirty="0">
                <a:solidFill>
                  <a:srgbClr val="252525"/>
                </a:solidFill>
                <a:latin typeface="Times New Roman"/>
                <a:cs typeface="Times New Roman"/>
              </a:rPr>
              <a:t>D15,</a:t>
            </a:r>
            <a:r>
              <a:rPr sz="2400" dirty="0">
                <a:solidFill>
                  <a:srgbClr val="252525"/>
                </a:solidFill>
                <a:latin typeface="Times New Roman"/>
                <a:cs typeface="Times New Roman"/>
              </a:rPr>
              <a:t> </a:t>
            </a:r>
            <a:r>
              <a:rPr sz="2400" spc="-30" dirty="0">
                <a:solidFill>
                  <a:srgbClr val="252525"/>
                </a:solidFill>
                <a:latin typeface="Times New Roman"/>
                <a:cs typeface="Times New Roman"/>
              </a:rPr>
              <a:t>and</a:t>
            </a:r>
            <a:r>
              <a:rPr sz="2400" dirty="0">
                <a:solidFill>
                  <a:srgbClr val="252525"/>
                </a:solidFill>
                <a:latin typeface="Times New Roman"/>
                <a:cs typeface="Times New Roman"/>
              </a:rPr>
              <a:t> </a:t>
            </a:r>
            <a:r>
              <a:rPr sz="2400" spc="-35" dirty="0">
                <a:solidFill>
                  <a:srgbClr val="252525"/>
                </a:solidFill>
                <a:latin typeface="Times New Roman"/>
                <a:cs typeface="Times New Roman"/>
              </a:rPr>
              <a:t>CF</a:t>
            </a:r>
            <a:r>
              <a:rPr sz="2400" spc="-5" dirty="0">
                <a:solidFill>
                  <a:srgbClr val="252525"/>
                </a:solidFill>
                <a:latin typeface="Times New Roman"/>
                <a:cs typeface="Times New Roman"/>
              </a:rPr>
              <a:t> </a:t>
            </a:r>
            <a:r>
              <a:rPr sz="2400" spc="-125" dirty="0">
                <a:solidFill>
                  <a:srgbClr val="252525"/>
                </a:solidFill>
                <a:latin typeface="Times New Roman"/>
                <a:cs typeface="Times New Roman"/>
              </a:rPr>
              <a:t>will</a:t>
            </a:r>
            <a:r>
              <a:rPr sz="2400" dirty="0">
                <a:solidFill>
                  <a:srgbClr val="252525"/>
                </a:solidFill>
                <a:latin typeface="Times New Roman"/>
                <a:cs typeface="Times New Roman"/>
              </a:rPr>
              <a:t> </a:t>
            </a:r>
            <a:r>
              <a:rPr sz="2400" spc="-25" dirty="0">
                <a:solidFill>
                  <a:srgbClr val="252525"/>
                </a:solidFill>
                <a:latin typeface="Times New Roman"/>
                <a:cs typeface="Times New Roman"/>
              </a:rPr>
              <a:t>be</a:t>
            </a:r>
            <a:r>
              <a:rPr sz="2400" dirty="0">
                <a:solidFill>
                  <a:srgbClr val="252525"/>
                </a:solidFill>
                <a:latin typeface="Times New Roman"/>
                <a:cs typeface="Times New Roman"/>
              </a:rPr>
              <a:t> </a:t>
            </a:r>
            <a:r>
              <a:rPr sz="2400" spc="-45" dirty="0">
                <a:solidFill>
                  <a:srgbClr val="252525"/>
                </a:solidFill>
                <a:latin typeface="Times New Roman"/>
                <a:cs typeface="Times New Roman"/>
              </a:rPr>
              <a:t>set.</a:t>
            </a:r>
            <a:endParaRPr sz="2400" dirty="0">
              <a:latin typeface="Times New Roman"/>
              <a:cs typeface="Times New Roman"/>
            </a:endParaRPr>
          </a:p>
          <a:p>
            <a:pPr marL="375285" indent="-363220">
              <a:lnSpc>
                <a:spcPct val="100000"/>
              </a:lnSpc>
              <a:spcBef>
                <a:spcPts val="1175"/>
              </a:spcBef>
              <a:buClr>
                <a:srgbClr val="83992A"/>
              </a:buClr>
              <a:buSzPct val="114583"/>
              <a:buFont typeface="Arial MT"/>
              <a:buChar char="•"/>
              <a:tabLst>
                <a:tab pos="375285" algn="l"/>
                <a:tab pos="375920" algn="l"/>
              </a:tabLst>
            </a:pPr>
            <a:r>
              <a:rPr sz="2400" spc="-20" dirty="0">
                <a:solidFill>
                  <a:srgbClr val="252525"/>
                </a:solidFill>
                <a:latin typeface="Times New Roman"/>
                <a:cs typeface="Times New Roman"/>
              </a:rPr>
              <a:t>For</a:t>
            </a:r>
            <a:r>
              <a:rPr sz="2400" dirty="0">
                <a:solidFill>
                  <a:srgbClr val="252525"/>
                </a:solidFill>
                <a:latin typeface="Times New Roman"/>
                <a:cs typeface="Times New Roman"/>
              </a:rPr>
              <a:t> </a:t>
            </a:r>
            <a:r>
              <a:rPr sz="2400" spc="-45" dirty="0">
                <a:solidFill>
                  <a:srgbClr val="252525"/>
                </a:solidFill>
                <a:latin typeface="Times New Roman"/>
                <a:cs typeface="Times New Roman"/>
              </a:rPr>
              <a:t>32-bit</a:t>
            </a:r>
            <a:r>
              <a:rPr sz="2400" spc="-20" dirty="0">
                <a:solidFill>
                  <a:srgbClr val="252525"/>
                </a:solidFill>
                <a:latin typeface="Times New Roman"/>
                <a:cs typeface="Times New Roman"/>
              </a:rPr>
              <a:t> </a:t>
            </a:r>
            <a:r>
              <a:rPr sz="2400" spc="-40" dirty="0">
                <a:solidFill>
                  <a:srgbClr val="252525"/>
                </a:solidFill>
                <a:latin typeface="Times New Roman"/>
                <a:cs typeface="Times New Roman"/>
              </a:rPr>
              <a:t>processors,</a:t>
            </a:r>
            <a:r>
              <a:rPr sz="2400" spc="-10" dirty="0">
                <a:solidFill>
                  <a:srgbClr val="252525"/>
                </a:solidFill>
                <a:latin typeface="Times New Roman"/>
                <a:cs typeface="Times New Roman"/>
              </a:rPr>
              <a:t> </a:t>
            </a:r>
            <a:r>
              <a:rPr sz="2400" spc="-45" dirty="0">
                <a:solidFill>
                  <a:srgbClr val="252525"/>
                </a:solidFill>
                <a:latin typeface="Times New Roman"/>
                <a:cs typeface="Times New Roman"/>
              </a:rPr>
              <a:t>it</a:t>
            </a:r>
            <a:r>
              <a:rPr sz="2400"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spc="-10" dirty="0">
                <a:solidFill>
                  <a:srgbClr val="252525"/>
                </a:solidFill>
                <a:latin typeface="Times New Roman"/>
                <a:cs typeface="Times New Roman"/>
              </a:rPr>
              <a:t> </a:t>
            </a:r>
            <a:r>
              <a:rPr sz="2400" spc="-35" dirty="0">
                <a:solidFill>
                  <a:srgbClr val="252525"/>
                </a:solidFill>
                <a:latin typeface="Times New Roman"/>
                <a:cs typeface="Times New Roman"/>
              </a:rPr>
              <a:t>set</a:t>
            </a:r>
            <a:r>
              <a:rPr sz="2400" dirty="0">
                <a:solidFill>
                  <a:srgbClr val="252525"/>
                </a:solidFill>
                <a:latin typeface="Times New Roman"/>
                <a:cs typeface="Times New Roman"/>
              </a:rPr>
              <a:t> </a:t>
            </a:r>
            <a:r>
              <a:rPr sz="2400" spc="-40" dirty="0">
                <a:solidFill>
                  <a:srgbClr val="252525"/>
                </a:solidFill>
                <a:latin typeface="Times New Roman"/>
                <a:cs typeface="Times New Roman"/>
              </a:rPr>
              <a:t>when</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the </a:t>
            </a:r>
            <a:r>
              <a:rPr sz="2400" spc="-45" dirty="0">
                <a:solidFill>
                  <a:srgbClr val="252525"/>
                </a:solidFill>
                <a:latin typeface="Times New Roman"/>
                <a:cs typeface="Times New Roman"/>
              </a:rPr>
              <a:t>result</a:t>
            </a:r>
            <a:r>
              <a:rPr sz="2400" spc="-5"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spc="-15" dirty="0">
                <a:solidFill>
                  <a:srgbClr val="252525"/>
                </a:solidFill>
                <a:latin typeface="Times New Roman"/>
                <a:cs typeface="Times New Roman"/>
              </a:rPr>
              <a:t> </a:t>
            </a:r>
            <a:r>
              <a:rPr sz="2400" spc="-40" dirty="0">
                <a:solidFill>
                  <a:srgbClr val="252525"/>
                </a:solidFill>
                <a:latin typeface="Times New Roman"/>
                <a:cs typeface="Times New Roman"/>
              </a:rPr>
              <a:t>greater</a:t>
            </a:r>
            <a:r>
              <a:rPr sz="2400" spc="-5" dirty="0">
                <a:solidFill>
                  <a:srgbClr val="252525"/>
                </a:solidFill>
                <a:latin typeface="Times New Roman"/>
                <a:cs typeface="Times New Roman"/>
              </a:rPr>
              <a:t> than</a:t>
            </a:r>
            <a:r>
              <a:rPr sz="2400" spc="5" dirty="0">
                <a:solidFill>
                  <a:srgbClr val="252525"/>
                </a:solidFill>
                <a:latin typeface="Times New Roman"/>
                <a:cs typeface="Times New Roman"/>
              </a:rPr>
              <a:t> </a:t>
            </a:r>
            <a:r>
              <a:rPr sz="2400" spc="-75" dirty="0">
                <a:solidFill>
                  <a:srgbClr val="252525"/>
                </a:solidFill>
                <a:latin typeface="Times New Roman"/>
                <a:cs typeface="Times New Roman"/>
              </a:rPr>
              <a:t>32</a:t>
            </a:r>
            <a:r>
              <a:rPr sz="2400" dirty="0">
                <a:solidFill>
                  <a:srgbClr val="252525"/>
                </a:solidFill>
                <a:latin typeface="Times New Roman"/>
                <a:cs typeface="Times New Roman"/>
              </a:rPr>
              <a:t> </a:t>
            </a:r>
            <a:r>
              <a:rPr sz="2400" spc="-60" dirty="0">
                <a:solidFill>
                  <a:srgbClr val="252525"/>
                </a:solidFill>
                <a:latin typeface="Times New Roman"/>
                <a:cs typeface="Times New Roman"/>
              </a:rPr>
              <a:t>bits.</a:t>
            </a:r>
            <a:endParaRPr sz="2400" dirty="0">
              <a:latin typeface="Times New Roman"/>
              <a:cs typeface="Times New Roman"/>
            </a:endParaRPr>
          </a:p>
          <a:p>
            <a:pPr marL="375285" indent="-363220">
              <a:lnSpc>
                <a:spcPct val="100000"/>
              </a:lnSpc>
              <a:spcBef>
                <a:spcPts val="1175"/>
              </a:spcBef>
              <a:buClr>
                <a:srgbClr val="83992A"/>
              </a:buClr>
              <a:buSzPct val="114583"/>
              <a:buFont typeface="Arial MT"/>
              <a:buChar char="•"/>
              <a:tabLst>
                <a:tab pos="375285" algn="l"/>
                <a:tab pos="375920" algn="l"/>
              </a:tabLst>
            </a:pPr>
            <a:r>
              <a:rPr sz="2400" spc="-5" dirty="0">
                <a:solidFill>
                  <a:srgbClr val="252525"/>
                </a:solidFill>
                <a:latin typeface="Times New Roman"/>
                <a:cs typeface="Times New Roman"/>
              </a:rPr>
              <a:t>The</a:t>
            </a:r>
            <a:r>
              <a:rPr sz="2400" dirty="0">
                <a:solidFill>
                  <a:srgbClr val="252525"/>
                </a:solidFill>
                <a:latin typeface="Times New Roman"/>
                <a:cs typeface="Times New Roman"/>
              </a:rPr>
              <a:t> </a:t>
            </a:r>
            <a:r>
              <a:rPr sz="2400" spc="-80" dirty="0">
                <a:solidFill>
                  <a:srgbClr val="252525"/>
                </a:solidFill>
                <a:latin typeface="Times New Roman"/>
                <a:cs typeface="Times New Roman"/>
              </a:rPr>
              <a:t>C</a:t>
            </a:r>
            <a:r>
              <a:rPr sz="2400" dirty="0">
                <a:solidFill>
                  <a:srgbClr val="252525"/>
                </a:solidFill>
                <a:latin typeface="Times New Roman"/>
                <a:cs typeface="Times New Roman"/>
              </a:rPr>
              <a:t> </a:t>
            </a:r>
            <a:r>
              <a:rPr sz="2400" spc="-80" dirty="0">
                <a:solidFill>
                  <a:srgbClr val="252525"/>
                </a:solidFill>
                <a:latin typeface="Times New Roman"/>
                <a:cs typeface="Times New Roman"/>
              </a:rPr>
              <a:t>flag</a:t>
            </a:r>
            <a:r>
              <a:rPr sz="2400" spc="5" dirty="0">
                <a:solidFill>
                  <a:srgbClr val="252525"/>
                </a:solidFill>
                <a:latin typeface="Times New Roman"/>
                <a:cs typeface="Times New Roman"/>
              </a:rPr>
              <a:t> </a:t>
            </a:r>
            <a:r>
              <a:rPr sz="2400" spc="-125" dirty="0">
                <a:solidFill>
                  <a:srgbClr val="252525"/>
                </a:solidFill>
                <a:latin typeface="Times New Roman"/>
                <a:cs typeface="Times New Roman"/>
              </a:rPr>
              <a:t>will</a:t>
            </a:r>
            <a:r>
              <a:rPr sz="2400" spc="5" dirty="0">
                <a:solidFill>
                  <a:srgbClr val="252525"/>
                </a:solidFill>
                <a:latin typeface="Times New Roman"/>
                <a:cs typeface="Times New Roman"/>
              </a:rPr>
              <a:t> </a:t>
            </a:r>
            <a:r>
              <a:rPr sz="2400" spc="-65" dirty="0">
                <a:solidFill>
                  <a:srgbClr val="252525"/>
                </a:solidFill>
                <a:latin typeface="Times New Roman"/>
                <a:cs typeface="Times New Roman"/>
              </a:rPr>
              <a:t>also</a:t>
            </a:r>
            <a:r>
              <a:rPr sz="2400" spc="10" dirty="0">
                <a:solidFill>
                  <a:srgbClr val="252525"/>
                </a:solidFill>
                <a:latin typeface="Times New Roman"/>
                <a:cs typeface="Times New Roman"/>
              </a:rPr>
              <a:t> </a:t>
            </a:r>
            <a:r>
              <a:rPr sz="2400" spc="-25" dirty="0">
                <a:solidFill>
                  <a:srgbClr val="252525"/>
                </a:solidFill>
                <a:latin typeface="Times New Roman"/>
                <a:cs typeface="Times New Roman"/>
              </a:rPr>
              <a:t>be</a:t>
            </a:r>
            <a:r>
              <a:rPr sz="2400" dirty="0">
                <a:solidFill>
                  <a:srgbClr val="252525"/>
                </a:solidFill>
                <a:latin typeface="Times New Roman"/>
                <a:cs typeface="Times New Roman"/>
              </a:rPr>
              <a:t> </a:t>
            </a:r>
            <a:r>
              <a:rPr sz="2400" spc="-35" dirty="0">
                <a:solidFill>
                  <a:srgbClr val="252525"/>
                </a:solidFill>
                <a:latin typeface="Times New Roman"/>
                <a:cs typeface="Times New Roman"/>
              </a:rPr>
              <a:t>set</a:t>
            </a:r>
            <a:r>
              <a:rPr sz="2400" spc="5" dirty="0">
                <a:solidFill>
                  <a:srgbClr val="252525"/>
                </a:solidFill>
                <a:latin typeface="Times New Roman"/>
                <a:cs typeface="Times New Roman"/>
              </a:rPr>
              <a:t> </a:t>
            </a:r>
            <a:r>
              <a:rPr sz="2400" spc="-50" dirty="0">
                <a:solidFill>
                  <a:srgbClr val="252525"/>
                </a:solidFill>
                <a:latin typeface="Times New Roman"/>
                <a:cs typeface="Times New Roman"/>
              </a:rPr>
              <a:t>in</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5" dirty="0">
                <a:solidFill>
                  <a:srgbClr val="252525"/>
                </a:solidFill>
                <a:latin typeface="Times New Roman"/>
                <a:cs typeface="Times New Roman"/>
              </a:rPr>
              <a:t> </a:t>
            </a:r>
            <a:r>
              <a:rPr sz="2400" spc="-75" dirty="0">
                <a:solidFill>
                  <a:srgbClr val="252525"/>
                </a:solidFill>
                <a:latin typeface="Times New Roman"/>
                <a:cs typeface="Times New Roman"/>
              </a:rPr>
              <a:t>case</a:t>
            </a:r>
            <a:r>
              <a:rPr sz="2400" spc="10" dirty="0">
                <a:solidFill>
                  <a:srgbClr val="252525"/>
                </a:solidFill>
                <a:latin typeface="Times New Roman"/>
                <a:cs typeface="Times New Roman"/>
              </a:rPr>
              <a:t> </a:t>
            </a:r>
            <a:r>
              <a:rPr sz="2400" spc="-5" dirty="0">
                <a:solidFill>
                  <a:srgbClr val="252525"/>
                </a:solidFill>
                <a:latin typeface="Times New Roman"/>
                <a:cs typeface="Times New Roman"/>
              </a:rPr>
              <a:t>of</a:t>
            </a:r>
            <a:r>
              <a:rPr sz="2400" spc="330" dirty="0">
                <a:solidFill>
                  <a:srgbClr val="252525"/>
                </a:solidFill>
                <a:latin typeface="Times New Roman"/>
                <a:cs typeface="Times New Roman"/>
              </a:rPr>
              <a:t> </a:t>
            </a:r>
            <a:r>
              <a:rPr sz="2400" spc="-95" dirty="0">
                <a:solidFill>
                  <a:srgbClr val="252525"/>
                </a:solidFill>
                <a:latin typeface="Times New Roman"/>
                <a:cs typeface="Times New Roman"/>
              </a:rPr>
              <a:t>a</a:t>
            </a:r>
            <a:r>
              <a:rPr sz="2400" dirty="0">
                <a:solidFill>
                  <a:srgbClr val="252525"/>
                </a:solidFill>
                <a:latin typeface="Times New Roman"/>
                <a:cs typeface="Times New Roman"/>
              </a:rPr>
              <a:t> </a:t>
            </a:r>
            <a:r>
              <a:rPr sz="2400" spc="-95" dirty="0">
                <a:solidFill>
                  <a:srgbClr val="252525"/>
                </a:solidFill>
                <a:latin typeface="Times New Roman"/>
                <a:cs typeface="Times New Roman"/>
              </a:rPr>
              <a:t>‘Borrow’</a:t>
            </a:r>
            <a:r>
              <a:rPr sz="2400" spc="5" dirty="0">
                <a:solidFill>
                  <a:srgbClr val="252525"/>
                </a:solidFill>
                <a:latin typeface="Times New Roman"/>
                <a:cs typeface="Times New Roman"/>
              </a:rPr>
              <a:t> </a:t>
            </a:r>
            <a:r>
              <a:rPr sz="2400" spc="-45" dirty="0">
                <a:solidFill>
                  <a:srgbClr val="252525"/>
                </a:solidFill>
                <a:latin typeface="Times New Roman"/>
                <a:cs typeface="Times New Roman"/>
              </a:rPr>
              <a:t>during</a:t>
            </a:r>
            <a:r>
              <a:rPr sz="2400" dirty="0">
                <a:solidFill>
                  <a:srgbClr val="252525"/>
                </a:solidFill>
                <a:latin typeface="Times New Roman"/>
                <a:cs typeface="Times New Roman"/>
              </a:rPr>
              <a:t> </a:t>
            </a:r>
            <a:r>
              <a:rPr sz="2400" spc="-30" dirty="0">
                <a:solidFill>
                  <a:srgbClr val="252525"/>
                </a:solidFill>
                <a:latin typeface="Times New Roman"/>
                <a:cs typeface="Times New Roman"/>
              </a:rPr>
              <a:t>subtraction</a:t>
            </a:r>
            <a:r>
              <a:rPr sz="2400" spc="-30" dirty="0" smtClean="0">
                <a:solidFill>
                  <a:srgbClr val="252525"/>
                </a:solidFill>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val="19481224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598769"/>
            <a:ext cx="4778212" cy="689932"/>
          </a:xfrm>
          <a:prstGeom prst="rect">
            <a:avLst/>
          </a:prstGeom>
        </p:spPr>
        <p:txBody>
          <a:bodyPr vert="horz" wrap="square" lIns="0" tIns="12700" rIns="0" bIns="0" rtlCol="0">
            <a:spAutoFit/>
          </a:bodyPr>
          <a:lstStyle/>
          <a:p>
            <a:pPr marL="12700">
              <a:lnSpc>
                <a:spcPct val="100000"/>
              </a:lnSpc>
              <a:spcBef>
                <a:spcPts val="100"/>
              </a:spcBef>
            </a:pPr>
            <a:r>
              <a:rPr b="0" spc="-114" dirty="0">
                <a:solidFill>
                  <a:srgbClr val="FF0000"/>
                </a:solidFill>
                <a:latin typeface="Times New Roman"/>
                <a:cs typeface="Times New Roman"/>
              </a:rPr>
              <a:t>3.6.1</a:t>
            </a:r>
            <a:r>
              <a:rPr b="0" spc="-40" dirty="0">
                <a:solidFill>
                  <a:srgbClr val="FF0000"/>
                </a:solidFill>
                <a:latin typeface="Times New Roman"/>
                <a:cs typeface="Times New Roman"/>
              </a:rPr>
              <a:t> </a:t>
            </a:r>
            <a:r>
              <a:rPr b="0" spc="-75" dirty="0">
                <a:solidFill>
                  <a:srgbClr val="FF0000"/>
                </a:solidFill>
                <a:latin typeface="Times New Roman"/>
                <a:cs typeface="Times New Roman"/>
              </a:rPr>
              <a:t>Carry</a:t>
            </a:r>
            <a:r>
              <a:rPr b="0" spc="-25" dirty="0">
                <a:solidFill>
                  <a:srgbClr val="FF0000"/>
                </a:solidFill>
                <a:latin typeface="Times New Roman"/>
                <a:cs typeface="Times New Roman"/>
              </a:rPr>
              <a:t> </a:t>
            </a:r>
            <a:r>
              <a:rPr b="0" spc="-120" dirty="0">
                <a:solidFill>
                  <a:srgbClr val="FF0000"/>
                </a:solidFill>
                <a:latin typeface="Times New Roman"/>
                <a:cs typeface="Times New Roman"/>
              </a:rPr>
              <a:t>Flag</a:t>
            </a:r>
            <a:r>
              <a:rPr b="0" spc="-30" dirty="0">
                <a:solidFill>
                  <a:srgbClr val="FF0000"/>
                </a:solidFill>
                <a:latin typeface="Times New Roman"/>
                <a:cs typeface="Times New Roman"/>
              </a:rPr>
              <a:t> </a:t>
            </a:r>
            <a:r>
              <a:rPr b="0" spc="-140" dirty="0">
                <a:solidFill>
                  <a:srgbClr val="FF0000"/>
                </a:solidFill>
                <a:latin typeface="Times New Roman"/>
                <a:cs typeface="Times New Roman"/>
              </a:rPr>
              <a:t>(C)</a:t>
            </a:r>
          </a:p>
        </p:txBody>
      </p:sp>
      <p:sp>
        <p:nvSpPr>
          <p:cNvPr id="9" name="object 9"/>
          <p:cNvSpPr txBox="1"/>
          <p:nvPr/>
        </p:nvSpPr>
        <p:spPr>
          <a:xfrm>
            <a:off x="915720" y="2488133"/>
            <a:ext cx="10265410" cy="2675091"/>
          </a:xfrm>
          <a:prstGeom prst="rect">
            <a:avLst/>
          </a:prstGeom>
        </p:spPr>
        <p:txBody>
          <a:bodyPr vert="horz" wrap="square" lIns="0" tIns="12700" rIns="0" bIns="0" rtlCol="0">
            <a:spAutoFit/>
          </a:bodyPr>
          <a:lstStyle/>
          <a:p>
            <a:pPr marL="12065">
              <a:lnSpc>
                <a:spcPct val="100000"/>
              </a:lnSpc>
              <a:spcBef>
                <a:spcPts val="100"/>
              </a:spcBef>
              <a:buClr>
                <a:srgbClr val="83992A"/>
              </a:buClr>
              <a:buSzPct val="114583"/>
              <a:tabLst>
                <a:tab pos="299085" algn="l"/>
                <a:tab pos="299720" algn="l"/>
              </a:tabLst>
            </a:pPr>
            <a:endParaRPr lang="pt-BR" sz="2400" dirty="0" smtClean="0">
              <a:latin typeface="Times New Roman"/>
              <a:cs typeface="Times New Roman"/>
            </a:endParaRPr>
          </a:p>
          <a:p>
            <a:pPr marL="12065">
              <a:lnSpc>
                <a:spcPct val="100000"/>
              </a:lnSpc>
              <a:spcBef>
                <a:spcPts val="100"/>
              </a:spcBef>
              <a:buClr>
                <a:srgbClr val="83992A"/>
              </a:buClr>
              <a:buSzPct val="114583"/>
              <a:tabLst>
                <a:tab pos="299085" algn="l"/>
                <a:tab pos="299720" algn="l"/>
              </a:tabLst>
            </a:pPr>
            <a:r>
              <a:rPr lang="pt-BR" sz="2400" dirty="0">
                <a:latin typeface="Times New Roman"/>
                <a:cs typeface="Times New Roman"/>
              </a:rPr>
              <a:t>	</a:t>
            </a:r>
            <a:r>
              <a:rPr lang="pt-BR" sz="2400" dirty="0" smtClean="0">
                <a:latin typeface="Times New Roman"/>
                <a:cs typeface="Times New Roman"/>
              </a:rPr>
              <a:t>	    11111111   </a:t>
            </a:r>
            <a:r>
              <a:rPr lang="pt-BR" sz="2400" dirty="0">
                <a:latin typeface="Times New Roman"/>
                <a:cs typeface="Times New Roman"/>
              </a:rPr>
              <a:t>(255)</a:t>
            </a:r>
          </a:p>
          <a:p>
            <a:pPr marL="12065">
              <a:lnSpc>
                <a:spcPct val="100000"/>
              </a:lnSpc>
              <a:spcBef>
                <a:spcPts val="100"/>
              </a:spcBef>
              <a:buClr>
                <a:srgbClr val="83992A"/>
              </a:buClr>
              <a:buSzPct val="114583"/>
              <a:tabLst>
                <a:tab pos="299085" algn="l"/>
                <a:tab pos="299720" algn="l"/>
              </a:tabLst>
            </a:pPr>
            <a:r>
              <a:rPr lang="pt-BR" sz="2400" dirty="0" smtClean="0">
                <a:latin typeface="Times New Roman"/>
                <a:cs typeface="Times New Roman"/>
              </a:rPr>
              <a:t>    +  00000001   </a:t>
            </a:r>
            <a:r>
              <a:rPr lang="pt-BR" sz="2400" dirty="0">
                <a:latin typeface="Times New Roman"/>
                <a:cs typeface="Times New Roman"/>
              </a:rPr>
              <a:t>(1)</a:t>
            </a:r>
          </a:p>
          <a:p>
            <a:pPr marL="12065">
              <a:lnSpc>
                <a:spcPct val="100000"/>
              </a:lnSpc>
              <a:spcBef>
                <a:spcPts val="100"/>
              </a:spcBef>
              <a:buClr>
                <a:srgbClr val="83992A"/>
              </a:buClr>
              <a:buSzPct val="114583"/>
              <a:tabLst>
                <a:tab pos="299085" algn="l"/>
                <a:tab pos="299720" algn="l"/>
              </a:tabLst>
            </a:pPr>
            <a:r>
              <a:rPr lang="pt-BR" sz="2400" dirty="0" smtClean="0">
                <a:latin typeface="Times New Roman"/>
                <a:cs typeface="Times New Roman"/>
              </a:rPr>
              <a:t>       -----------</a:t>
            </a:r>
            <a:endParaRPr lang="pt-BR" sz="2400" dirty="0">
              <a:latin typeface="Times New Roman"/>
              <a:cs typeface="Times New Roman"/>
            </a:endParaRPr>
          </a:p>
          <a:p>
            <a:pPr marL="12065">
              <a:lnSpc>
                <a:spcPct val="100000"/>
              </a:lnSpc>
              <a:spcBef>
                <a:spcPts val="100"/>
              </a:spcBef>
              <a:buClr>
                <a:srgbClr val="83992A"/>
              </a:buClr>
              <a:buSzPct val="114583"/>
              <a:tabLst>
                <a:tab pos="299085" algn="l"/>
                <a:tab pos="299720" algn="l"/>
              </a:tabLst>
            </a:pPr>
            <a:r>
              <a:rPr lang="pt-BR" sz="2400" dirty="0" smtClean="0">
                <a:latin typeface="Times New Roman"/>
                <a:cs typeface="Times New Roman"/>
              </a:rPr>
              <a:t>    1  00000000</a:t>
            </a:r>
          </a:p>
          <a:p>
            <a:pPr marL="299085" indent="-287020">
              <a:lnSpc>
                <a:spcPct val="100000"/>
              </a:lnSpc>
              <a:spcBef>
                <a:spcPts val="100"/>
              </a:spcBef>
              <a:buClr>
                <a:srgbClr val="83992A"/>
              </a:buClr>
              <a:buSzPct val="114583"/>
              <a:buFont typeface="Arial MT"/>
              <a:buChar char="•"/>
              <a:tabLst>
                <a:tab pos="299085" algn="l"/>
                <a:tab pos="299720" algn="l"/>
              </a:tabLst>
            </a:pPr>
            <a:endParaRPr lang="pt-BR" sz="2400" dirty="0">
              <a:latin typeface="Times New Roman"/>
              <a:cs typeface="Times New Roman"/>
            </a:endParaRPr>
          </a:p>
          <a:p>
            <a:pPr marL="299085" indent="-287020">
              <a:lnSpc>
                <a:spcPct val="100000"/>
              </a:lnSpc>
              <a:spcBef>
                <a:spcPts val="100"/>
              </a:spcBef>
              <a:buClr>
                <a:srgbClr val="83992A"/>
              </a:buClr>
              <a:buSzPct val="114583"/>
              <a:buFont typeface="Arial MT"/>
              <a:buChar char="•"/>
              <a:tabLst>
                <a:tab pos="299085" algn="l"/>
                <a:tab pos="299720" algn="l"/>
              </a:tabLst>
            </a:pPr>
            <a:endParaRPr sz="2400" dirty="0">
              <a:latin typeface="Times New Roman"/>
              <a:cs typeface="Times New Roman"/>
            </a:endParaRPr>
          </a:p>
        </p:txBody>
      </p:sp>
      <p:sp>
        <p:nvSpPr>
          <p:cNvPr id="10" name="Rectangle 1"/>
          <p:cNvSpPr>
            <a:spLocks noChangeArrowheads="1"/>
          </p:cNvSpPr>
          <p:nvPr/>
        </p:nvSpPr>
        <p:spPr bwMode="auto">
          <a:xfrm>
            <a:off x="6859217" y="2835267"/>
            <a:ext cx="33514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 = 1</a:t>
            </a:r>
            <a:r>
              <a:rPr kumimoji="0" lang="en-US" altLang="en-US" sz="1800" b="0" i="0" u="none" strike="noStrike" cap="none" normalizeH="0" baseline="0" dirty="0" smtClean="0">
                <a:ln>
                  <a:noFill/>
                </a:ln>
                <a:solidFill>
                  <a:schemeClr val="tx1"/>
                </a:solidFill>
                <a:effectLst/>
                <a:latin typeface="Arial" panose="020B0604020202020204" pitchFamily="34" charset="0"/>
              </a:rPr>
              <a:t> (carry generated)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Z = 1</a:t>
            </a:r>
            <a:r>
              <a:rPr kumimoji="0" lang="en-US" altLang="en-US" sz="1800" b="0" i="0" u="none" strike="noStrike" cap="none" normalizeH="0" baseline="0" dirty="0" smtClean="0">
                <a:ln>
                  <a:noFill/>
                </a:ln>
                <a:solidFill>
                  <a:schemeClr val="tx1"/>
                </a:solidFill>
                <a:effectLst/>
                <a:latin typeface="Arial" panose="020B0604020202020204" pitchFamily="34" charset="0"/>
              </a:rPr>
              <a:t> (result is zero)</a:t>
            </a:r>
          </a:p>
        </p:txBody>
      </p:sp>
    </p:spTree>
    <p:extLst>
      <p:ext uri="{BB962C8B-B14F-4D97-AF65-F5344CB8AC3E}">
        <p14:creationId xmlns:p14="http://schemas.microsoft.com/office/powerpoint/2010/main" val="20923716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667332"/>
            <a:ext cx="3780790" cy="635000"/>
          </a:xfrm>
          <a:prstGeom prst="rect">
            <a:avLst/>
          </a:prstGeom>
        </p:spPr>
        <p:txBody>
          <a:bodyPr vert="horz" wrap="square" lIns="0" tIns="12065" rIns="0" bIns="0" rtlCol="0">
            <a:spAutoFit/>
          </a:bodyPr>
          <a:lstStyle/>
          <a:p>
            <a:pPr marL="12700">
              <a:lnSpc>
                <a:spcPct val="100000"/>
              </a:lnSpc>
              <a:spcBef>
                <a:spcPts val="95"/>
              </a:spcBef>
            </a:pPr>
            <a:r>
              <a:rPr sz="4000" b="0" spc="-130" dirty="0">
                <a:solidFill>
                  <a:srgbClr val="FF0000"/>
                </a:solidFill>
                <a:latin typeface="Times New Roman"/>
                <a:cs typeface="Times New Roman"/>
              </a:rPr>
              <a:t>3.6.2</a:t>
            </a:r>
            <a:r>
              <a:rPr sz="4000" b="0" spc="-15" dirty="0">
                <a:solidFill>
                  <a:srgbClr val="FF0000"/>
                </a:solidFill>
                <a:latin typeface="Times New Roman"/>
                <a:cs typeface="Times New Roman"/>
              </a:rPr>
              <a:t> </a:t>
            </a:r>
            <a:r>
              <a:rPr sz="4000" b="0" spc="20" dirty="0">
                <a:solidFill>
                  <a:srgbClr val="FF0000"/>
                </a:solidFill>
                <a:latin typeface="Times New Roman"/>
                <a:cs typeface="Times New Roman"/>
              </a:rPr>
              <a:t>Zero</a:t>
            </a:r>
            <a:r>
              <a:rPr sz="4000" b="0" spc="-20" dirty="0">
                <a:solidFill>
                  <a:srgbClr val="FF0000"/>
                </a:solidFill>
                <a:latin typeface="Times New Roman"/>
                <a:cs typeface="Times New Roman"/>
              </a:rPr>
              <a:t> </a:t>
            </a:r>
            <a:r>
              <a:rPr sz="4000" b="0" spc="-135" dirty="0">
                <a:solidFill>
                  <a:srgbClr val="FF0000"/>
                </a:solidFill>
                <a:latin typeface="Times New Roman"/>
                <a:cs typeface="Times New Roman"/>
              </a:rPr>
              <a:t>Flag</a:t>
            </a:r>
            <a:r>
              <a:rPr sz="4000" b="0" spc="-25" dirty="0">
                <a:solidFill>
                  <a:srgbClr val="FF0000"/>
                </a:solidFill>
                <a:latin typeface="Times New Roman"/>
                <a:cs typeface="Times New Roman"/>
              </a:rPr>
              <a:t> </a:t>
            </a:r>
            <a:r>
              <a:rPr sz="4000" b="0" spc="-55" dirty="0">
                <a:solidFill>
                  <a:srgbClr val="FF0000"/>
                </a:solidFill>
                <a:latin typeface="Times New Roman"/>
                <a:cs typeface="Times New Roman"/>
              </a:rPr>
              <a:t>(Z)</a:t>
            </a:r>
            <a:endParaRPr sz="4000">
              <a:latin typeface="Times New Roman"/>
              <a:cs typeface="Times New Roman"/>
            </a:endParaRPr>
          </a:p>
        </p:txBody>
      </p:sp>
      <p:sp>
        <p:nvSpPr>
          <p:cNvPr id="9" name="object 9"/>
          <p:cNvSpPr txBox="1"/>
          <p:nvPr/>
        </p:nvSpPr>
        <p:spPr>
          <a:xfrm>
            <a:off x="993139" y="2351040"/>
            <a:ext cx="10513060" cy="3459280"/>
          </a:xfrm>
          <a:prstGeom prst="rect">
            <a:avLst/>
          </a:prstGeom>
        </p:spPr>
        <p:txBody>
          <a:bodyPr vert="horz" wrap="square" lIns="0" tIns="103505" rIns="0" bIns="0" rtlCol="0">
            <a:spAutoFit/>
          </a:bodyPr>
          <a:lstStyle/>
          <a:p>
            <a:pPr marL="299085" indent="-287020">
              <a:lnSpc>
                <a:spcPct val="100000"/>
              </a:lnSpc>
              <a:spcBef>
                <a:spcPts val="815"/>
              </a:spcBef>
              <a:buClr>
                <a:srgbClr val="83992A"/>
              </a:buClr>
              <a:buSzPct val="114583"/>
              <a:buFont typeface="Arial MT"/>
              <a:buChar char="•"/>
              <a:tabLst>
                <a:tab pos="299085" algn="l"/>
                <a:tab pos="299720" algn="l"/>
              </a:tabLst>
            </a:pPr>
            <a:r>
              <a:rPr sz="2400" spc="-40" dirty="0">
                <a:solidFill>
                  <a:srgbClr val="252525"/>
                </a:solidFill>
                <a:latin typeface="Times New Roman"/>
                <a:cs typeface="Times New Roman"/>
              </a:rPr>
              <a:t>When</a:t>
            </a:r>
            <a:r>
              <a:rPr sz="2400"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10" dirty="0">
                <a:solidFill>
                  <a:srgbClr val="252525"/>
                </a:solidFill>
                <a:latin typeface="Times New Roman"/>
                <a:cs typeface="Times New Roman"/>
              </a:rPr>
              <a:t> </a:t>
            </a:r>
            <a:r>
              <a:rPr sz="2400" spc="-50" dirty="0">
                <a:solidFill>
                  <a:srgbClr val="252525"/>
                </a:solidFill>
                <a:latin typeface="Times New Roman"/>
                <a:cs typeface="Times New Roman"/>
              </a:rPr>
              <a:t>results</a:t>
            </a:r>
            <a:r>
              <a:rPr sz="2400" spc="10" dirty="0">
                <a:solidFill>
                  <a:srgbClr val="252525"/>
                </a:solidFill>
                <a:latin typeface="Times New Roman"/>
                <a:cs typeface="Times New Roman"/>
              </a:rPr>
              <a:t> </a:t>
            </a:r>
            <a:r>
              <a:rPr sz="2400" spc="-5" dirty="0">
                <a:solidFill>
                  <a:srgbClr val="252525"/>
                </a:solidFill>
                <a:latin typeface="Times New Roman"/>
                <a:cs typeface="Times New Roman"/>
              </a:rPr>
              <a:t>of</a:t>
            </a:r>
            <a:r>
              <a:rPr sz="2400" spc="320" dirty="0">
                <a:solidFill>
                  <a:srgbClr val="252525"/>
                </a:solidFill>
                <a:latin typeface="Times New Roman"/>
                <a:cs typeface="Times New Roman"/>
              </a:rPr>
              <a:t> </a:t>
            </a:r>
            <a:r>
              <a:rPr sz="2400" spc="-35" dirty="0">
                <a:solidFill>
                  <a:srgbClr val="252525"/>
                </a:solidFill>
                <a:latin typeface="Times New Roman"/>
                <a:cs typeface="Times New Roman"/>
              </a:rPr>
              <a:t>an</a:t>
            </a:r>
            <a:r>
              <a:rPr sz="2400" spc="-5" dirty="0">
                <a:solidFill>
                  <a:srgbClr val="252525"/>
                </a:solidFill>
                <a:latin typeface="Times New Roman"/>
                <a:cs typeface="Times New Roman"/>
              </a:rPr>
              <a:t> </a:t>
            </a:r>
            <a:r>
              <a:rPr sz="2400" spc="-40" dirty="0">
                <a:solidFill>
                  <a:srgbClr val="252525"/>
                </a:solidFill>
                <a:latin typeface="Times New Roman"/>
                <a:cs typeface="Times New Roman"/>
              </a:rPr>
              <a:t>arithmetic</a:t>
            </a:r>
            <a:r>
              <a:rPr sz="2400" spc="20" dirty="0">
                <a:solidFill>
                  <a:srgbClr val="252525"/>
                </a:solidFill>
                <a:latin typeface="Times New Roman"/>
                <a:cs typeface="Times New Roman"/>
              </a:rPr>
              <a:t> </a:t>
            </a:r>
            <a:r>
              <a:rPr sz="2400" spc="10" dirty="0">
                <a:solidFill>
                  <a:srgbClr val="252525"/>
                </a:solidFill>
                <a:latin typeface="Times New Roman"/>
                <a:cs typeface="Times New Roman"/>
              </a:rPr>
              <a:t>or</a:t>
            </a:r>
            <a:r>
              <a:rPr sz="2400" dirty="0">
                <a:solidFill>
                  <a:srgbClr val="252525"/>
                </a:solidFill>
                <a:latin typeface="Times New Roman"/>
                <a:cs typeface="Times New Roman"/>
              </a:rPr>
              <a:t> </a:t>
            </a:r>
            <a:r>
              <a:rPr sz="2400" spc="-80" dirty="0">
                <a:solidFill>
                  <a:srgbClr val="252525"/>
                </a:solidFill>
                <a:latin typeface="Times New Roman"/>
                <a:cs typeface="Times New Roman"/>
              </a:rPr>
              <a:t>logic</a:t>
            </a:r>
            <a:r>
              <a:rPr sz="2400" dirty="0">
                <a:solidFill>
                  <a:srgbClr val="252525"/>
                </a:solidFill>
                <a:latin typeface="Times New Roman"/>
                <a:cs typeface="Times New Roman"/>
              </a:rPr>
              <a:t> </a:t>
            </a:r>
            <a:r>
              <a:rPr sz="2400" spc="-20" dirty="0">
                <a:solidFill>
                  <a:srgbClr val="252525"/>
                </a:solidFill>
                <a:latin typeface="Times New Roman"/>
                <a:cs typeface="Times New Roman"/>
              </a:rPr>
              <a:t>operation</a:t>
            </a:r>
            <a:r>
              <a:rPr sz="2400" spc="20"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dirty="0">
                <a:solidFill>
                  <a:srgbClr val="252525"/>
                </a:solidFill>
                <a:latin typeface="Times New Roman"/>
                <a:cs typeface="Times New Roman"/>
              </a:rPr>
              <a:t> </a:t>
            </a:r>
            <a:r>
              <a:rPr sz="2400" spc="-55" dirty="0">
                <a:solidFill>
                  <a:srgbClr val="252525"/>
                </a:solidFill>
                <a:latin typeface="Times New Roman"/>
                <a:cs typeface="Times New Roman"/>
              </a:rPr>
              <a:t>zero,</a:t>
            </a:r>
            <a:r>
              <a:rPr sz="2400" spc="20"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10" dirty="0">
                <a:solidFill>
                  <a:srgbClr val="252525"/>
                </a:solidFill>
                <a:latin typeface="Times New Roman"/>
                <a:cs typeface="Times New Roman"/>
              </a:rPr>
              <a:t> </a:t>
            </a:r>
            <a:r>
              <a:rPr sz="2400" spc="-25" dirty="0">
                <a:solidFill>
                  <a:srgbClr val="252525"/>
                </a:solidFill>
                <a:latin typeface="Times New Roman"/>
                <a:cs typeface="Times New Roman"/>
              </a:rPr>
              <a:t>zero</a:t>
            </a:r>
            <a:r>
              <a:rPr sz="2400" dirty="0">
                <a:solidFill>
                  <a:srgbClr val="252525"/>
                </a:solidFill>
                <a:latin typeface="Times New Roman"/>
                <a:cs typeface="Times New Roman"/>
              </a:rPr>
              <a:t> </a:t>
            </a:r>
            <a:r>
              <a:rPr sz="2400" spc="-75" dirty="0">
                <a:solidFill>
                  <a:srgbClr val="252525"/>
                </a:solidFill>
                <a:latin typeface="Times New Roman"/>
                <a:cs typeface="Times New Roman"/>
              </a:rPr>
              <a:t>flag</a:t>
            </a:r>
            <a:r>
              <a:rPr sz="2400" dirty="0">
                <a:solidFill>
                  <a:srgbClr val="252525"/>
                </a:solidFill>
                <a:latin typeface="Times New Roman"/>
                <a:cs typeface="Times New Roman"/>
              </a:rPr>
              <a:t> </a:t>
            </a:r>
            <a:r>
              <a:rPr sz="2400" spc="-45" dirty="0">
                <a:solidFill>
                  <a:srgbClr val="252525"/>
                </a:solidFill>
                <a:latin typeface="Times New Roman"/>
                <a:cs typeface="Times New Roman"/>
              </a:rPr>
              <a:t>gets</a:t>
            </a:r>
            <a:r>
              <a:rPr sz="2400" spc="5" dirty="0">
                <a:solidFill>
                  <a:srgbClr val="252525"/>
                </a:solidFill>
                <a:latin typeface="Times New Roman"/>
                <a:cs typeface="Times New Roman"/>
              </a:rPr>
              <a:t> </a:t>
            </a:r>
            <a:r>
              <a:rPr sz="2400" spc="-30" dirty="0">
                <a:solidFill>
                  <a:srgbClr val="252525"/>
                </a:solidFill>
                <a:latin typeface="Times New Roman"/>
                <a:cs typeface="Times New Roman"/>
              </a:rPr>
              <a:t>set</a:t>
            </a:r>
            <a:endParaRPr sz="2400" dirty="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spc="-75" dirty="0">
                <a:solidFill>
                  <a:srgbClr val="252525"/>
                </a:solidFill>
                <a:latin typeface="Times New Roman"/>
                <a:cs typeface="Times New Roman"/>
              </a:rPr>
              <a:t>if</a:t>
            </a:r>
            <a:r>
              <a:rPr sz="2400" spc="320" dirty="0">
                <a:solidFill>
                  <a:srgbClr val="252525"/>
                </a:solidFill>
                <a:latin typeface="Times New Roman"/>
                <a:cs typeface="Times New Roman"/>
              </a:rPr>
              <a:t> </a:t>
            </a:r>
            <a:r>
              <a:rPr sz="2400" spc="-120" dirty="0">
                <a:solidFill>
                  <a:srgbClr val="252525"/>
                </a:solidFill>
                <a:latin typeface="Times New Roman"/>
                <a:cs typeface="Times New Roman"/>
              </a:rPr>
              <a:t>we</a:t>
            </a:r>
            <a:r>
              <a:rPr sz="2400" spc="5" dirty="0">
                <a:solidFill>
                  <a:srgbClr val="252525"/>
                </a:solidFill>
                <a:latin typeface="Times New Roman"/>
                <a:cs typeface="Times New Roman"/>
              </a:rPr>
              <a:t> </a:t>
            </a:r>
            <a:r>
              <a:rPr sz="2400" spc="-55" dirty="0">
                <a:solidFill>
                  <a:srgbClr val="252525"/>
                </a:solidFill>
                <a:latin typeface="Times New Roman"/>
                <a:cs typeface="Times New Roman"/>
              </a:rPr>
              <a:t>keep</a:t>
            </a:r>
            <a:r>
              <a:rPr sz="2400" spc="15" dirty="0">
                <a:solidFill>
                  <a:srgbClr val="252525"/>
                </a:solidFill>
                <a:latin typeface="Times New Roman"/>
                <a:cs typeface="Times New Roman"/>
              </a:rPr>
              <a:t> </a:t>
            </a:r>
            <a:r>
              <a:rPr sz="2400" spc="20" dirty="0">
                <a:solidFill>
                  <a:srgbClr val="252525"/>
                </a:solidFill>
                <a:latin typeface="Times New Roman"/>
                <a:cs typeface="Times New Roman"/>
              </a:rPr>
              <a:t>on</a:t>
            </a:r>
            <a:r>
              <a:rPr sz="2400" dirty="0">
                <a:solidFill>
                  <a:srgbClr val="252525"/>
                </a:solidFill>
                <a:latin typeface="Times New Roman"/>
                <a:cs typeface="Times New Roman"/>
              </a:rPr>
              <a:t> </a:t>
            </a:r>
            <a:r>
              <a:rPr sz="2400" spc="-45" dirty="0">
                <a:solidFill>
                  <a:srgbClr val="252525"/>
                </a:solidFill>
                <a:latin typeface="Times New Roman"/>
                <a:cs typeface="Times New Roman"/>
              </a:rPr>
              <a:t>decrementing</a:t>
            </a:r>
            <a:r>
              <a:rPr sz="2400" spc="15"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5" dirty="0">
                <a:solidFill>
                  <a:srgbClr val="252525"/>
                </a:solidFill>
                <a:latin typeface="Times New Roman"/>
                <a:cs typeface="Times New Roman"/>
              </a:rPr>
              <a:t> </a:t>
            </a:r>
            <a:r>
              <a:rPr sz="2400" spc="-10" dirty="0">
                <a:solidFill>
                  <a:srgbClr val="252525"/>
                </a:solidFill>
                <a:latin typeface="Times New Roman"/>
                <a:cs typeface="Times New Roman"/>
              </a:rPr>
              <a:t>contents</a:t>
            </a:r>
            <a:r>
              <a:rPr sz="2400" spc="15" dirty="0">
                <a:solidFill>
                  <a:srgbClr val="252525"/>
                </a:solidFill>
                <a:latin typeface="Times New Roman"/>
                <a:cs typeface="Times New Roman"/>
              </a:rPr>
              <a:t> </a:t>
            </a:r>
            <a:r>
              <a:rPr sz="2400" spc="-5" dirty="0">
                <a:solidFill>
                  <a:srgbClr val="252525"/>
                </a:solidFill>
                <a:latin typeface="Times New Roman"/>
                <a:cs typeface="Times New Roman"/>
              </a:rPr>
              <a:t>of</a:t>
            </a:r>
            <a:r>
              <a:rPr sz="2400" spc="320" dirty="0">
                <a:solidFill>
                  <a:srgbClr val="252525"/>
                </a:solidFill>
                <a:latin typeface="Times New Roman"/>
                <a:cs typeface="Times New Roman"/>
              </a:rPr>
              <a:t> </a:t>
            </a:r>
            <a:r>
              <a:rPr sz="2400" spc="-95" dirty="0">
                <a:solidFill>
                  <a:srgbClr val="252525"/>
                </a:solidFill>
                <a:latin typeface="Times New Roman"/>
                <a:cs typeface="Times New Roman"/>
              </a:rPr>
              <a:t>a</a:t>
            </a:r>
            <a:r>
              <a:rPr sz="2400" spc="10" dirty="0">
                <a:solidFill>
                  <a:srgbClr val="252525"/>
                </a:solidFill>
                <a:latin typeface="Times New Roman"/>
                <a:cs typeface="Times New Roman"/>
              </a:rPr>
              <a:t> </a:t>
            </a:r>
            <a:r>
              <a:rPr sz="2400" spc="-65" dirty="0">
                <a:solidFill>
                  <a:srgbClr val="252525"/>
                </a:solidFill>
                <a:latin typeface="Times New Roman"/>
                <a:cs typeface="Times New Roman"/>
              </a:rPr>
              <a:t>register,</a:t>
            </a:r>
            <a:r>
              <a:rPr sz="2400" spc="-5" dirty="0">
                <a:solidFill>
                  <a:srgbClr val="252525"/>
                </a:solidFill>
                <a:latin typeface="Times New Roman"/>
                <a:cs typeface="Times New Roman"/>
              </a:rPr>
              <a:t> </a:t>
            </a:r>
            <a:r>
              <a:rPr sz="2400" spc="-45" dirty="0">
                <a:solidFill>
                  <a:srgbClr val="252525"/>
                </a:solidFill>
                <a:latin typeface="Times New Roman"/>
                <a:cs typeface="Times New Roman"/>
              </a:rPr>
              <a:t>it</a:t>
            </a:r>
            <a:r>
              <a:rPr sz="2400" spc="10" dirty="0">
                <a:solidFill>
                  <a:srgbClr val="252525"/>
                </a:solidFill>
                <a:latin typeface="Times New Roman"/>
                <a:cs typeface="Times New Roman"/>
              </a:rPr>
              <a:t> </a:t>
            </a:r>
            <a:r>
              <a:rPr sz="2400" spc="-125" dirty="0">
                <a:solidFill>
                  <a:srgbClr val="252525"/>
                </a:solidFill>
                <a:latin typeface="Times New Roman"/>
                <a:cs typeface="Times New Roman"/>
              </a:rPr>
              <a:t>will</a:t>
            </a:r>
            <a:r>
              <a:rPr sz="2400" spc="5" dirty="0">
                <a:solidFill>
                  <a:srgbClr val="252525"/>
                </a:solidFill>
                <a:latin typeface="Times New Roman"/>
                <a:cs typeface="Times New Roman"/>
              </a:rPr>
              <a:t> </a:t>
            </a:r>
            <a:r>
              <a:rPr sz="2400" spc="-95" dirty="0">
                <a:solidFill>
                  <a:srgbClr val="252525"/>
                </a:solidFill>
                <a:latin typeface="Times New Roman"/>
                <a:cs typeface="Times New Roman"/>
              </a:rPr>
              <a:t>finally</a:t>
            </a:r>
            <a:r>
              <a:rPr sz="2400" spc="5" dirty="0">
                <a:solidFill>
                  <a:srgbClr val="252525"/>
                </a:solidFill>
                <a:latin typeface="Times New Roman"/>
                <a:cs typeface="Times New Roman"/>
              </a:rPr>
              <a:t> </a:t>
            </a:r>
            <a:r>
              <a:rPr sz="2400" spc="-35" dirty="0">
                <a:solidFill>
                  <a:srgbClr val="252525"/>
                </a:solidFill>
                <a:latin typeface="Times New Roman"/>
                <a:cs typeface="Times New Roman"/>
              </a:rPr>
              <a:t>become</a:t>
            </a:r>
            <a:r>
              <a:rPr sz="2400" spc="5" dirty="0">
                <a:solidFill>
                  <a:srgbClr val="252525"/>
                </a:solidFill>
                <a:latin typeface="Times New Roman"/>
                <a:cs typeface="Times New Roman"/>
              </a:rPr>
              <a:t> </a:t>
            </a:r>
            <a:r>
              <a:rPr sz="2400" spc="-60" dirty="0">
                <a:solidFill>
                  <a:srgbClr val="252525"/>
                </a:solidFill>
                <a:latin typeface="Times New Roman"/>
                <a:cs typeface="Times New Roman"/>
              </a:rPr>
              <a:t>zero.</a:t>
            </a:r>
            <a:endParaRPr sz="2400" dirty="0">
              <a:latin typeface="Times New Roman"/>
              <a:cs typeface="Times New Roman"/>
            </a:endParaRPr>
          </a:p>
          <a:p>
            <a:pPr marL="299085" indent="-287020">
              <a:lnSpc>
                <a:spcPct val="100000"/>
              </a:lnSpc>
              <a:spcBef>
                <a:spcPts val="1180"/>
              </a:spcBef>
              <a:buClr>
                <a:srgbClr val="83992A"/>
              </a:buClr>
              <a:buSzPct val="114583"/>
              <a:buFont typeface="Arial MT"/>
              <a:buChar char="•"/>
              <a:tabLst>
                <a:tab pos="299085" algn="l"/>
                <a:tab pos="299720" algn="l"/>
              </a:tabLst>
            </a:pPr>
            <a:r>
              <a:rPr sz="2400" spc="-40" dirty="0">
                <a:solidFill>
                  <a:srgbClr val="252525"/>
                </a:solidFill>
                <a:latin typeface="Times New Roman"/>
                <a:cs typeface="Times New Roman"/>
              </a:rPr>
              <a:t>At</a:t>
            </a:r>
            <a:r>
              <a:rPr sz="2400" spc="-10" dirty="0">
                <a:solidFill>
                  <a:srgbClr val="252525"/>
                </a:solidFill>
                <a:latin typeface="Times New Roman"/>
                <a:cs typeface="Times New Roman"/>
              </a:rPr>
              <a:t> </a:t>
            </a:r>
            <a:r>
              <a:rPr sz="2400" spc="-30" dirty="0">
                <a:solidFill>
                  <a:srgbClr val="252525"/>
                </a:solidFill>
                <a:latin typeface="Times New Roman"/>
                <a:cs typeface="Times New Roman"/>
              </a:rPr>
              <a:t>this</a:t>
            </a:r>
            <a:r>
              <a:rPr sz="2400" dirty="0">
                <a:solidFill>
                  <a:srgbClr val="252525"/>
                </a:solidFill>
                <a:latin typeface="Times New Roman"/>
                <a:cs typeface="Times New Roman"/>
              </a:rPr>
              <a:t> </a:t>
            </a:r>
            <a:r>
              <a:rPr sz="2400" spc="-35" dirty="0">
                <a:solidFill>
                  <a:srgbClr val="252525"/>
                </a:solidFill>
                <a:latin typeface="Times New Roman"/>
                <a:cs typeface="Times New Roman"/>
              </a:rPr>
              <a:t>instant,</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10" dirty="0">
                <a:solidFill>
                  <a:srgbClr val="252525"/>
                </a:solidFill>
                <a:latin typeface="Times New Roman"/>
                <a:cs typeface="Times New Roman"/>
              </a:rPr>
              <a:t> </a:t>
            </a:r>
            <a:r>
              <a:rPr sz="2400" spc="-30" dirty="0">
                <a:solidFill>
                  <a:srgbClr val="252525"/>
                </a:solidFill>
                <a:latin typeface="Times New Roman"/>
                <a:cs typeface="Times New Roman"/>
              </a:rPr>
              <a:t>zero</a:t>
            </a:r>
            <a:r>
              <a:rPr sz="2400" spc="5" dirty="0">
                <a:solidFill>
                  <a:srgbClr val="252525"/>
                </a:solidFill>
                <a:latin typeface="Times New Roman"/>
                <a:cs typeface="Times New Roman"/>
              </a:rPr>
              <a:t> </a:t>
            </a:r>
            <a:r>
              <a:rPr sz="2400" spc="-80" dirty="0">
                <a:solidFill>
                  <a:srgbClr val="252525"/>
                </a:solidFill>
                <a:latin typeface="Times New Roman"/>
                <a:cs typeface="Times New Roman"/>
              </a:rPr>
              <a:t>flag</a:t>
            </a:r>
            <a:r>
              <a:rPr sz="2400" dirty="0">
                <a:solidFill>
                  <a:srgbClr val="252525"/>
                </a:solidFill>
                <a:latin typeface="Times New Roman"/>
                <a:cs typeface="Times New Roman"/>
              </a:rPr>
              <a:t> </a:t>
            </a:r>
            <a:r>
              <a:rPr sz="2400" spc="-50" dirty="0">
                <a:solidFill>
                  <a:srgbClr val="252525"/>
                </a:solidFill>
                <a:latin typeface="Times New Roman"/>
                <a:cs typeface="Times New Roman"/>
              </a:rPr>
              <a:t>gets</a:t>
            </a:r>
            <a:r>
              <a:rPr sz="2400" dirty="0">
                <a:solidFill>
                  <a:srgbClr val="252525"/>
                </a:solidFill>
                <a:latin typeface="Times New Roman"/>
                <a:cs typeface="Times New Roman"/>
              </a:rPr>
              <a:t> </a:t>
            </a:r>
            <a:r>
              <a:rPr sz="2400" spc="-45" dirty="0">
                <a:solidFill>
                  <a:srgbClr val="252525"/>
                </a:solidFill>
                <a:latin typeface="Times New Roman"/>
                <a:cs typeface="Times New Roman"/>
              </a:rPr>
              <a:t>set,</a:t>
            </a:r>
            <a:r>
              <a:rPr sz="2400" dirty="0">
                <a:solidFill>
                  <a:srgbClr val="252525"/>
                </a:solidFill>
                <a:latin typeface="Times New Roman"/>
                <a:cs typeface="Times New Roman"/>
              </a:rPr>
              <a:t> that </a:t>
            </a:r>
            <a:r>
              <a:rPr sz="2400" spc="-110" dirty="0">
                <a:solidFill>
                  <a:srgbClr val="252525"/>
                </a:solidFill>
                <a:latin typeface="Times New Roman"/>
                <a:cs typeface="Times New Roman"/>
              </a:rPr>
              <a:t>is,</a:t>
            </a:r>
            <a:r>
              <a:rPr sz="2400" spc="-5" dirty="0">
                <a:solidFill>
                  <a:srgbClr val="252525"/>
                </a:solidFill>
                <a:latin typeface="Times New Roman"/>
                <a:cs typeface="Times New Roman"/>
              </a:rPr>
              <a:t> </a:t>
            </a:r>
            <a:r>
              <a:rPr sz="2400" spc="175" dirty="0">
                <a:solidFill>
                  <a:srgbClr val="252525"/>
                </a:solidFill>
                <a:latin typeface="Times New Roman"/>
                <a:cs typeface="Times New Roman"/>
              </a:rPr>
              <a:t>Z=</a:t>
            </a:r>
            <a:r>
              <a:rPr sz="2400" spc="-5" dirty="0">
                <a:solidFill>
                  <a:srgbClr val="252525"/>
                </a:solidFill>
                <a:latin typeface="Times New Roman"/>
                <a:cs typeface="Times New Roman"/>
              </a:rPr>
              <a:t> </a:t>
            </a:r>
            <a:r>
              <a:rPr sz="2400" spc="-75" dirty="0">
                <a:solidFill>
                  <a:srgbClr val="252525"/>
                </a:solidFill>
                <a:latin typeface="Times New Roman"/>
                <a:cs typeface="Times New Roman"/>
              </a:rPr>
              <a:t>1.</a:t>
            </a:r>
            <a:endParaRPr sz="2400" dirty="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spc="-70" dirty="0">
                <a:solidFill>
                  <a:srgbClr val="252525"/>
                </a:solidFill>
                <a:latin typeface="Times New Roman"/>
                <a:cs typeface="Times New Roman"/>
              </a:rPr>
              <a:t>Also</a:t>
            </a:r>
            <a:r>
              <a:rPr sz="2400" spc="-20" dirty="0">
                <a:solidFill>
                  <a:srgbClr val="252525"/>
                </a:solidFill>
                <a:latin typeface="Times New Roman"/>
                <a:cs typeface="Times New Roman"/>
              </a:rPr>
              <a:t> </a:t>
            </a:r>
            <a:r>
              <a:rPr sz="2400" spc="-40" dirty="0">
                <a:solidFill>
                  <a:srgbClr val="252525"/>
                </a:solidFill>
                <a:latin typeface="Times New Roman"/>
                <a:cs typeface="Times New Roman"/>
              </a:rPr>
              <a:t>when</a:t>
            </a:r>
            <a:r>
              <a:rPr sz="2400" spc="-10" dirty="0">
                <a:solidFill>
                  <a:srgbClr val="252525"/>
                </a:solidFill>
                <a:latin typeface="Times New Roman"/>
                <a:cs typeface="Times New Roman"/>
              </a:rPr>
              <a:t> </a:t>
            </a:r>
            <a:r>
              <a:rPr sz="2400" spc="-50" dirty="0">
                <a:solidFill>
                  <a:srgbClr val="252525"/>
                </a:solidFill>
                <a:latin typeface="Times New Roman"/>
                <a:cs typeface="Times New Roman"/>
              </a:rPr>
              <a:t>two</a:t>
            </a:r>
            <a:r>
              <a:rPr sz="2400" spc="-5" dirty="0">
                <a:solidFill>
                  <a:srgbClr val="252525"/>
                </a:solidFill>
                <a:latin typeface="Times New Roman"/>
                <a:cs typeface="Times New Roman"/>
              </a:rPr>
              <a:t> </a:t>
            </a:r>
            <a:r>
              <a:rPr sz="2400" spc="-25" dirty="0">
                <a:solidFill>
                  <a:srgbClr val="252525"/>
                </a:solidFill>
                <a:latin typeface="Times New Roman"/>
                <a:cs typeface="Times New Roman"/>
              </a:rPr>
              <a:t>numbers</a:t>
            </a:r>
            <a:r>
              <a:rPr sz="2400" spc="-15" dirty="0">
                <a:solidFill>
                  <a:srgbClr val="252525"/>
                </a:solidFill>
                <a:latin typeface="Times New Roman"/>
                <a:cs typeface="Times New Roman"/>
              </a:rPr>
              <a:t> </a:t>
            </a:r>
            <a:r>
              <a:rPr sz="2400" spc="-55" dirty="0">
                <a:solidFill>
                  <a:srgbClr val="252525"/>
                </a:solidFill>
                <a:latin typeface="Times New Roman"/>
                <a:cs typeface="Times New Roman"/>
              </a:rPr>
              <a:t>are</a:t>
            </a:r>
            <a:r>
              <a:rPr sz="2400" spc="-5" dirty="0">
                <a:solidFill>
                  <a:srgbClr val="252525"/>
                </a:solidFill>
                <a:latin typeface="Times New Roman"/>
                <a:cs typeface="Times New Roman"/>
              </a:rPr>
              <a:t> </a:t>
            </a:r>
            <a:r>
              <a:rPr sz="2400" spc="-35" dirty="0">
                <a:solidFill>
                  <a:srgbClr val="252525"/>
                </a:solidFill>
                <a:latin typeface="Times New Roman"/>
                <a:cs typeface="Times New Roman"/>
              </a:rPr>
              <a:t>compared.</a:t>
            </a:r>
            <a:endParaRPr sz="2400" dirty="0">
              <a:latin typeface="Times New Roman"/>
              <a:cs typeface="Times New Roman"/>
            </a:endParaRPr>
          </a:p>
          <a:p>
            <a:pPr marL="299085" indent="-287020">
              <a:lnSpc>
                <a:spcPct val="100000"/>
              </a:lnSpc>
              <a:spcBef>
                <a:spcPts val="1175"/>
              </a:spcBef>
              <a:buClr>
                <a:srgbClr val="83992A"/>
              </a:buClr>
              <a:buSzPct val="114583"/>
              <a:buFont typeface="Arial MT"/>
              <a:buChar char="•"/>
              <a:tabLst>
                <a:tab pos="299085" algn="l"/>
                <a:tab pos="299720" algn="l"/>
              </a:tabLst>
            </a:pPr>
            <a:r>
              <a:rPr sz="2400" spc="-35" dirty="0">
                <a:solidFill>
                  <a:srgbClr val="252525"/>
                </a:solidFill>
                <a:latin typeface="Times New Roman"/>
                <a:cs typeface="Times New Roman"/>
              </a:rPr>
              <a:t>Comparison</a:t>
            </a:r>
            <a:r>
              <a:rPr sz="2400"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spc="5" dirty="0">
                <a:solidFill>
                  <a:srgbClr val="252525"/>
                </a:solidFill>
                <a:latin typeface="Times New Roman"/>
                <a:cs typeface="Times New Roman"/>
              </a:rPr>
              <a:t> </a:t>
            </a:r>
            <a:r>
              <a:rPr sz="2400" spc="-75" dirty="0">
                <a:solidFill>
                  <a:srgbClr val="252525"/>
                </a:solidFill>
                <a:latin typeface="Times New Roman"/>
                <a:cs typeface="Times New Roman"/>
              </a:rPr>
              <a:t>achieved</a:t>
            </a:r>
            <a:r>
              <a:rPr sz="2400" spc="20" dirty="0">
                <a:solidFill>
                  <a:srgbClr val="252525"/>
                </a:solidFill>
                <a:latin typeface="Times New Roman"/>
                <a:cs typeface="Times New Roman"/>
              </a:rPr>
              <a:t> </a:t>
            </a:r>
            <a:r>
              <a:rPr sz="2400" spc="-110" dirty="0">
                <a:solidFill>
                  <a:srgbClr val="252525"/>
                </a:solidFill>
                <a:latin typeface="Times New Roman"/>
                <a:cs typeface="Times New Roman"/>
              </a:rPr>
              <a:t>by</a:t>
            </a:r>
            <a:r>
              <a:rPr sz="2400" spc="10" dirty="0">
                <a:solidFill>
                  <a:srgbClr val="252525"/>
                </a:solidFill>
                <a:latin typeface="Times New Roman"/>
                <a:cs typeface="Times New Roman"/>
              </a:rPr>
              <a:t> </a:t>
            </a:r>
            <a:r>
              <a:rPr sz="2400" spc="-30" dirty="0">
                <a:solidFill>
                  <a:srgbClr val="252525"/>
                </a:solidFill>
                <a:latin typeface="Times New Roman"/>
                <a:cs typeface="Times New Roman"/>
              </a:rPr>
              <a:t>subtraction.</a:t>
            </a:r>
            <a:endParaRPr sz="2400" dirty="0">
              <a:latin typeface="Times New Roman"/>
              <a:cs typeface="Times New Roman"/>
            </a:endParaRPr>
          </a:p>
          <a:p>
            <a:pPr marL="299085" marR="480695" indent="-287020">
              <a:lnSpc>
                <a:spcPct val="100000"/>
              </a:lnSpc>
              <a:spcBef>
                <a:spcPts val="1180"/>
              </a:spcBef>
              <a:buClr>
                <a:srgbClr val="83992A"/>
              </a:buClr>
              <a:buSzPct val="114583"/>
              <a:buFont typeface="Arial MT"/>
              <a:buChar char="•"/>
              <a:tabLst>
                <a:tab pos="299085" algn="l"/>
                <a:tab pos="299720" algn="l"/>
              </a:tabLst>
            </a:pPr>
            <a:r>
              <a:rPr sz="2400" spc="10" dirty="0">
                <a:solidFill>
                  <a:srgbClr val="252525"/>
                </a:solidFill>
                <a:latin typeface="Times New Roman"/>
                <a:cs typeface="Times New Roman"/>
              </a:rPr>
              <a:t>If</a:t>
            </a:r>
            <a:r>
              <a:rPr sz="2400" spc="320"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10" dirty="0">
                <a:solidFill>
                  <a:srgbClr val="252525"/>
                </a:solidFill>
                <a:latin typeface="Times New Roman"/>
                <a:cs typeface="Times New Roman"/>
              </a:rPr>
              <a:t> </a:t>
            </a:r>
            <a:r>
              <a:rPr sz="2400" spc="-25" dirty="0">
                <a:solidFill>
                  <a:srgbClr val="252525"/>
                </a:solidFill>
                <a:latin typeface="Times New Roman"/>
                <a:cs typeface="Times New Roman"/>
              </a:rPr>
              <a:t>numbers</a:t>
            </a:r>
            <a:r>
              <a:rPr sz="2400" spc="15" dirty="0">
                <a:solidFill>
                  <a:srgbClr val="252525"/>
                </a:solidFill>
                <a:latin typeface="Times New Roman"/>
                <a:cs typeface="Times New Roman"/>
              </a:rPr>
              <a:t> </a:t>
            </a:r>
            <a:r>
              <a:rPr sz="2400" spc="-30" dirty="0">
                <a:solidFill>
                  <a:srgbClr val="252525"/>
                </a:solidFill>
                <a:latin typeface="Times New Roman"/>
                <a:cs typeface="Times New Roman"/>
              </a:rPr>
              <a:t>compared</a:t>
            </a:r>
            <a:r>
              <a:rPr sz="2400" spc="10" dirty="0">
                <a:solidFill>
                  <a:srgbClr val="252525"/>
                </a:solidFill>
                <a:latin typeface="Times New Roman"/>
                <a:cs typeface="Times New Roman"/>
              </a:rPr>
              <a:t> </a:t>
            </a:r>
            <a:r>
              <a:rPr sz="2400" spc="-55" dirty="0">
                <a:solidFill>
                  <a:srgbClr val="252525"/>
                </a:solidFill>
                <a:latin typeface="Times New Roman"/>
                <a:cs typeface="Times New Roman"/>
              </a:rPr>
              <a:t>are</a:t>
            </a:r>
            <a:r>
              <a:rPr sz="2400" spc="-5" dirty="0">
                <a:solidFill>
                  <a:srgbClr val="252525"/>
                </a:solidFill>
                <a:latin typeface="Times New Roman"/>
                <a:cs typeface="Times New Roman"/>
              </a:rPr>
              <a:t> </a:t>
            </a:r>
            <a:r>
              <a:rPr sz="2400" spc="-70" dirty="0">
                <a:solidFill>
                  <a:srgbClr val="252525"/>
                </a:solidFill>
                <a:latin typeface="Times New Roman"/>
                <a:cs typeface="Times New Roman"/>
              </a:rPr>
              <a:t>equal,</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5" dirty="0">
                <a:solidFill>
                  <a:srgbClr val="252525"/>
                </a:solidFill>
                <a:latin typeface="Times New Roman"/>
                <a:cs typeface="Times New Roman"/>
              </a:rPr>
              <a:t> </a:t>
            </a:r>
            <a:r>
              <a:rPr sz="2400" spc="-30" dirty="0">
                <a:solidFill>
                  <a:srgbClr val="252525"/>
                </a:solidFill>
                <a:latin typeface="Times New Roman"/>
                <a:cs typeface="Times New Roman"/>
              </a:rPr>
              <a:t>zero</a:t>
            </a:r>
            <a:r>
              <a:rPr sz="2400" spc="-5" dirty="0">
                <a:solidFill>
                  <a:srgbClr val="252525"/>
                </a:solidFill>
                <a:latin typeface="Times New Roman"/>
                <a:cs typeface="Times New Roman"/>
              </a:rPr>
              <a:t> </a:t>
            </a:r>
            <a:r>
              <a:rPr sz="2400" spc="-80" dirty="0">
                <a:solidFill>
                  <a:srgbClr val="252525"/>
                </a:solidFill>
                <a:latin typeface="Times New Roman"/>
                <a:cs typeface="Times New Roman"/>
              </a:rPr>
              <a:t>flag</a:t>
            </a:r>
            <a:r>
              <a:rPr sz="2400" spc="5" dirty="0">
                <a:solidFill>
                  <a:srgbClr val="252525"/>
                </a:solidFill>
                <a:latin typeface="Times New Roman"/>
                <a:cs typeface="Times New Roman"/>
              </a:rPr>
              <a:t> </a:t>
            </a:r>
            <a:r>
              <a:rPr sz="2400" spc="-90" dirty="0">
                <a:solidFill>
                  <a:srgbClr val="252525"/>
                </a:solidFill>
                <a:latin typeface="Times New Roman"/>
                <a:cs typeface="Times New Roman"/>
              </a:rPr>
              <a:t>is</a:t>
            </a:r>
            <a:r>
              <a:rPr sz="2400" spc="5" dirty="0">
                <a:solidFill>
                  <a:srgbClr val="252525"/>
                </a:solidFill>
                <a:latin typeface="Times New Roman"/>
                <a:cs typeface="Times New Roman"/>
              </a:rPr>
              <a:t> </a:t>
            </a:r>
            <a:r>
              <a:rPr sz="2400" spc="-35" dirty="0">
                <a:solidFill>
                  <a:srgbClr val="252525"/>
                </a:solidFill>
                <a:latin typeface="Times New Roman"/>
                <a:cs typeface="Times New Roman"/>
              </a:rPr>
              <a:t>set</a:t>
            </a:r>
            <a:r>
              <a:rPr sz="2400" spc="5" dirty="0">
                <a:solidFill>
                  <a:srgbClr val="252525"/>
                </a:solidFill>
                <a:latin typeface="Times New Roman"/>
                <a:cs typeface="Times New Roman"/>
              </a:rPr>
              <a:t> </a:t>
            </a:r>
            <a:r>
              <a:rPr sz="2400" spc="15" dirty="0">
                <a:solidFill>
                  <a:srgbClr val="252525"/>
                </a:solidFill>
                <a:latin typeface="Times New Roman"/>
                <a:cs typeface="Times New Roman"/>
              </a:rPr>
              <a:t>(Z=1)</a:t>
            </a:r>
            <a:r>
              <a:rPr sz="2400" dirty="0">
                <a:solidFill>
                  <a:srgbClr val="252525"/>
                </a:solidFill>
                <a:latin typeface="Times New Roman"/>
                <a:cs typeface="Times New Roman"/>
              </a:rPr>
              <a:t> </a:t>
            </a:r>
            <a:r>
              <a:rPr sz="2400" spc="-60" dirty="0">
                <a:solidFill>
                  <a:srgbClr val="252525"/>
                </a:solidFill>
                <a:latin typeface="Times New Roman"/>
                <a:cs typeface="Times New Roman"/>
              </a:rPr>
              <a:t>including</a:t>
            </a:r>
            <a:r>
              <a:rPr sz="2400" spc="-5" dirty="0">
                <a:solidFill>
                  <a:srgbClr val="252525"/>
                </a:solidFill>
                <a:latin typeface="Times New Roman"/>
                <a:cs typeface="Times New Roman"/>
              </a:rPr>
              <a:t> </a:t>
            </a:r>
            <a:r>
              <a:rPr sz="2400" spc="-80" dirty="0">
                <a:solidFill>
                  <a:srgbClr val="252525"/>
                </a:solidFill>
                <a:latin typeface="Times New Roman"/>
                <a:cs typeface="Times New Roman"/>
              </a:rPr>
              <a:t>equality</a:t>
            </a:r>
            <a:r>
              <a:rPr sz="2400" spc="5" dirty="0">
                <a:solidFill>
                  <a:srgbClr val="252525"/>
                </a:solidFill>
                <a:latin typeface="Times New Roman"/>
                <a:cs typeface="Times New Roman"/>
              </a:rPr>
              <a:t> </a:t>
            </a:r>
            <a:r>
              <a:rPr sz="2400" spc="-5" dirty="0">
                <a:solidFill>
                  <a:srgbClr val="252525"/>
                </a:solidFill>
                <a:latin typeface="Times New Roman"/>
                <a:cs typeface="Times New Roman"/>
              </a:rPr>
              <a:t>of </a:t>
            </a:r>
            <a:r>
              <a:rPr sz="2400" spc="-585" dirty="0">
                <a:solidFill>
                  <a:srgbClr val="252525"/>
                </a:solidFill>
                <a:latin typeface="Times New Roman"/>
                <a:cs typeface="Times New Roman"/>
              </a:rPr>
              <a:t> </a:t>
            </a:r>
            <a:r>
              <a:rPr sz="2400" spc="-5" dirty="0">
                <a:solidFill>
                  <a:srgbClr val="252525"/>
                </a:solidFill>
                <a:latin typeface="Times New Roman"/>
                <a:cs typeface="Times New Roman"/>
              </a:rPr>
              <a:t>the</a:t>
            </a:r>
            <a:r>
              <a:rPr sz="2400" spc="-10" dirty="0">
                <a:solidFill>
                  <a:srgbClr val="252525"/>
                </a:solidFill>
                <a:latin typeface="Times New Roman"/>
                <a:cs typeface="Times New Roman"/>
              </a:rPr>
              <a:t> </a:t>
            </a:r>
            <a:r>
              <a:rPr sz="2400" spc="-40" dirty="0">
                <a:solidFill>
                  <a:srgbClr val="252525"/>
                </a:solidFill>
                <a:latin typeface="Times New Roman"/>
                <a:cs typeface="Times New Roman"/>
              </a:rPr>
              <a:t>operands</a:t>
            </a:r>
            <a:r>
              <a:rPr sz="2400" spc="-40" dirty="0" smtClean="0">
                <a:solidFill>
                  <a:srgbClr val="252525"/>
                </a:solidFill>
                <a:latin typeface="Times New Roman"/>
                <a:cs typeface="Times New Roman"/>
              </a:rPr>
              <a:t>.</a:t>
            </a:r>
            <a:endParaRPr sz="2400" dirty="0">
              <a:latin typeface="Times New Roman"/>
              <a:cs typeface="Times New Roman"/>
            </a:endParaRPr>
          </a:p>
        </p:txBody>
      </p:sp>
    </p:spTree>
    <p:extLst>
      <p:ext uri="{BB962C8B-B14F-4D97-AF65-F5344CB8AC3E}">
        <p14:creationId xmlns:p14="http://schemas.microsoft.com/office/powerpoint/2010/main" val="322562694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667332"/>
            <a:ext cx="3780790" cy="635000"/>
          </a:xfrm>
          <a:prstGeom prst="rect">
            <a:avLst/>
          </a:prstGeom>
        </p:spPr>
        <p:txBody>
          <a:bodyPr vert="horz" wrap="square" lIns="0" tIns="12065" rIns="0" bIns="0" rtlCol="0">
            <a:spAutoFit/>
          </a:bodyPr>
          <a:lstStyle/>
          <a:p>
            <a:pPr marL="12700">
              <a:lnSpc>
                <a:spcPct val="100000"/>
              </a:lnSpc>
              <a:spcBef>
                <a:spcPts val="95"/>
              </a:spcBef>
            </a:pPr>
            <a:r>
              <a:rPr sz="4000" b="0" spc="-130" dirty="0">
                <a:solidFill>
                  <a:srgbClr val="FF0000"/>
                </a:solidFill>
                <a:latin typeface="Times New Roman"/>
                <a:cs typeface="Times New Roman"/>
              </a:rPr>
              <a:t>3.6.2</a:t>
            </a:r>
            <a:r>
              <a:rPr sz="4000" b="0" spc="-15" dirty="0">
                <a:solidFill>
                  <a:srgbClr val="FF0000"/>
                </a:solidFill>
                <a:latin typeface="Times New Roman"/>
                <a:cs typeface="Times New Roman"/>
              </a:rPr>
              <a:t> </a:t>
            </a:r>
            <a:r>
              <a:rPr sz="4000" b="0" spc="20" dirty="0">
                <a:solidFill>
                  <a:srgbClr val="FF0000"/>
                </a:solidFill>
                <a:latin typeface="Times New Roman"/>
                <a:cs typeface="Times New Roman"/>
              </a:rPr>
              <a:t>Zero</a:t>
            </a:r>
            <a:r>
              <a:rPr sz="4000" b="0" spc="-20" dirty="0">
                <a:solidFill>
                  <a:srgbClr val="FF0000"/>
                </a:solidFill>
                <a:latin typeface="Times New Roman"/>
                <a:cs typeface="Times New Roman"/>
              </a:rPr>
              <a:t> </a:t>
            </a:r>
            <a:r>
              <a:rPr sz="4000" b="0" spc="-135" dirty="0">
                <a:solidFill>
                  <a:srgbClr val="FF0000"/>
                </a:solidFill>
                <a:latin typeface="Times New Roman"/>
                <a:cs typeface="Times New Roman"/>
              </a:rPr>
              <a:t>Flag</a:t>
            </a:r>
            <a:r>
              <a:rPr sz="4000" b="0" spc="-25" dirty="0">
                <a:solidFill>
                  <a:srgbClr val="FF0000"/>
                </a:solidFill>
                <a:latin typeface="Times New Roman"/>
                <a:cs typeface="Times New Roman"/>
              </a:rPr>
              <a:t> </a:t>
            </a:r>
            <a:r>
              <a:rPr sz="4000" b="0" spc="-55" dirty="0">
                <a:solidFill>
                  <a:srgbClr val="FF0000"/>
                </a:solidFill>
                <a:latin typeface="Times New Roman"/>
                <a:cs typeface="Times New Roman"/>
              </a:rPr>
              <a:t>(Z)</a:t>
            </a:r>
            <a:endParaRPr sz="4000">
              <a:latin typeface="Times New Roman"/>
              <a:cs typeface="Times New Roman"/>
            </a:endParaRPr>
          </a:p>
        </p:txBody>
      </p:sp>
      <p:sp>
        <p:nvSpPr>
          <p:cNvPr id="10" name="Rectangle 9"/>
          <p:cNvSpPr/>
          <p:nvPr/>
        </p:nvSpPr>
        <p:spPr>
          <a:xfrm>
            <a:off x="1611086" y="2914038"/>
            <a:ext cx="2714171" cy="1200329"/>
          </a:xfrm>
          <a:prstGeom prst="rect">
            <a:avLst/>
          </a:prstGeom>
        </p:spPr>
        <p:txBody>
          <a:bodyPr wrap="square">
            <a:spAutoFit/>
          </a:bodyPr>
          <a:lstStyle/>
          <a:p>
            <a:r>
              <a:rPr lang="en-IN" dirty="0"/>
              <a:t> </a:t>
            </a:r>
            <a:r>
              <a:rPr lang="en-IN" dirty="0" smtClean="0"/>
              <a:t> 00000101   </a:t>
            </a:r>
            <a:r>
              <a:rPr lang="en-IN" dirty="0"/>
              <a:t>(5)</a:t>
            </a:r>
          </a:p>
          <a:p>
            <a:r>
              <a:rPr lang="en-IN" dirty="0"/>
              <a:t>- 00000101   (5)</a:t>
            </a:r>
          </a:p>
          <a:p>
            <a:r>
              <a:rPr lang="en-IN" dirty="0"/>
              <a:t>-----------</a:t>
            </a:r>
          </a:p>
          <a:p>
            <a:r>
              <a:rPr lang="en-IN" dirty="0"/>
              <a:t>  00000000</a:t>
            </a:r>
          </a:p>
        </p:txBody>
      </p:sp>
      <p:sp>
        <p:nvSpPr>
          <p:cNvPr id="11" name="Rectangle 1"/>
          <p:cNvSpPr>
            <a:spLocks noChangeArrowheads="1"/>
          </p:cNvSpPr>
          <p:nvPr/>
        </p:nvSpPr>
        <p:spPr bwMode="auto">
          <a:xfrm>
            <a:off x="6357257" y="3031236"/>
            <a:ext cx="20653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Z = 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Result = 0</a:t>
            </a:r>
          </a:p>
        </p:txBody>
      </p:sp>
    </p:spTree>
    <p:extLst>
      <p:ext uri="{BB962C8B-B14F-4D97-AF65-F5344CB8AC3E}">
        <p14:creationId xmlns:p14="http://schemas.microsoft.com/office/powerpoint/2010/main" val="361402813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667332"/>
            <a:ext cx="4608830" cy="635000"/>
          </a:xfrm>
          <a:prstGeom prst="rect">
            <a:avLst/>
          </a:prstGeom>
        </p:spPr>
        <p:txBody>
          <a:bodyPr vert="horz" wrap="square" lIns="0" tIns="12065" rIns="0" bIns="0" rtlCol="0">
            <a:spAutoFit/>
          </a:bodyPr>
          <a:lstStyle/>
          <a:p>
            <a:pPr marL="12700">
              <a:lnSpc>
                <a:spcPct val="100000"/>
              </a:lnSpc>
              <a:spcBef>
                <a:spcPts val="95"/>
              </a:spcBef>
            </a:pPr>
            <a:r>
              <a:rPr sz="4000" b="0" spc="-130" dirty="0">
                <a:solidFill>
                  <a:srgbClr val="FF0000"/>
                </a:solidFill>
                <a:latin typeface="Times New Roman"/>
                <a:cs typeface="Times New Roman"/>
              </a:rPr>
              <a:t>3.6.3</a:t>
            </a:r>
            <a:r>
              <a:rPr sz="4000" b="0" spc="-10" dirty="0">
                <a:solidFill>
                  <a:srgbClr val="FF0000"/>
                </a:solidFill>
                <a:latin typeface="Times New Roman"/>
                <a:cs typeface="Times New Roman"/>
              </a:rPr>
              <a:t> </a:t>
            </a:r>
            <a:r>
              <a:rPr sz="4000" b="0" spc="-95" dirty="0">
                <a:solidFill>
                  <a:srgbClr val="FF0000"/>
                </a:solidFill>
                <a:latin typeface="Times New Roman"/>
                <a:cs typeface="Times New Roman"/>
              </a:rPr>
              <a:t>Negative</a:t>
            </a:r>
            <a:r>
              <a:rPr sz="4000" b="0" spc="-20" dirty="0">
                <a:solidFill>
                  <a:srgbClr val="FF0000"/>
                </a:solidFill>
                <a:latin typeface="Times New Roman"/>
                <a:cs typeface="Times New Roman"/>
              </a:rPr>
              <a:t> </a:t>
            </a:r>
            <a:r>
              <a:rPr sz="4000" b="0" spc="-140" dirty="0">
                <a:solidFill>
                  <a:srgbClr val="FF0000"/>
                </a:solidFill>
                <a:latin typeface="Times New Roman"/>
                <a:cs typeface="Times New Roman"/>
              </a:rPr>
              <a:t>Flag</a:t>
            </a:r>
            <a:r>
              <a:rPr sz="4000" b="0" spc="-5" dirty="0">
                <a:solidFill>
                  <a:srgbClr val="FF0000"/>
                </a:solidFill>
                <a:latin typeface="Times New Roman"/>
                <a:cs typeface="Times New Roman"/>
              </a:rPr>
              <a:t> </a:t>
            </a:r>
            <a:r>
              <a:rPr sz="4000" b="0" spc="-50" dirty="0">
                <a:solidFill>
                  <a:srgbClr val="FF0000"/>
                </a:solidFill>
                <a:latin typeface="Times New Roman"/>
                <a:cs typeface="Times New Roman"/>
              </a:rPr>
              <a:t>(N)</a:t>
            </a:r>
            <a:endParaRPr sz="4000">
              <a:latin typeface="Times New Roman"/>
              <a:cs typeface="Times New Roman"/>
            </a:endParaRPr>
          </a:p>
        </p:txBody>
      </p:sp>
      <p:sp>
        <p:nvSpPr>
          <p:cNvPr id="9" name="object 9"/>
          <p:cNvSpPr txBox="1"/>
          <p:nvPr/>
        </p:nvSpPr>
        <p:spPr>
          <a:xfrm>
            <a:off x="993139" y="2438476"/>
            <a:ext cx="10250170" cy="2654935"/>
          </a:xfrm>
          <a:prstGeom prst="rect">
            <a:avLst/>
          </a:prstGeom>
        </p:spPr>
        <p:txBody>
          <a:bodyPr vert="horz" wrap="square" lIns="0" tIns="12065" rIns="0" bIns="0" rtlCol="0">
            <a:spAutoFit/>
          </a:bodyPr>
          <a:lstStyle/>
          <a:p>
            <a:pPr marL="299085" marR="217170" indent="-287020">
              <a:lnSpc>
                <a:spcPct val="100000"/>
              </a:lnSpc>
              <a:spcBef>
                <a:spcPts val="95"/>
              </a:spcBef>
              <a:buClr>
                <a:srgbClr val="83992A"/>
              </a:buClr>
              <a:buSzPct val="114285"/>
              <a:buFont typeface="Arial MT"/>
              <a:buChar char="•"/>
              <a:tabLst>
                <a:tab pos="299720" algn="l"/>
                <a:tab pos="6060440" algn="l"/>
              </a:tabLst>
            </a:pPr>
            <a:r>
              <a:rPr sz="2800" spc="-45" dirty="0">
                <a:solidFill>
                  <a:srgbClr val="252525"/>
                </a:solidFill>
                <a:latin typeface="Times New Roman"/>
                <a:cs typeface="Times New Roman"/>
              </a:rPr>
              <a:t>After</a:t>
            </a:r>
            <a:r>
              <a:rPr sz="2800" spc="10" dirty="0">
                <a:solidFill>
                  <a:srgbClr val="252525"/>
                </a:solidFill>
                <a:latin typeface="Times New Roman"/>
                <a:cs typeface="Times New Roman"/>
              </a:rPr>
              <a:t> </a:t>
            </a:r>
            <a:r>
              <a:rPr sz="2800" spc="-45" dirty="0">
                <a:solidFill>
                  <a:srgbClr val="252525"/>
                </a:solidFill>
                <a:latin typeface="Times New Roman"/>
                <a:cs typeface="Times New Roman"/>
              </a:rPr>
              <a:t>an</a:t>
            </a:r>
            <a:r>
              <a:rPr sz="2800" spc="10" dirty="0">
                <a:solidFill>
                  <a:srgbClr val="252525"/>
                </a:solidFill>
                <a:latin typeface="Times New Roman"/>
                <a:cs typeface="Times New Roman"/>
              </a:rPr>
              <a:t> </a:t>
            </a:r>
            <a:r>
              <a:rPr sz="2800" spc="-55" dirty="0">
                <a:solidFill>
                  <a:srgbClr val="252525"/>
                </a:solidFill>
                <a:latin typeface="Times New Roman"/>
                <a:cs typeface="Times New Roman"/>
              </a:rPr>
              <a:t>arithmetic</a:t>
            </a:r>
            <a:r>
              <a:rPr sz="2800" spc="15" dirty="0">
                <a:solidFill>
                  <a:srgbClr val="252525"/>
                </a:solidFill>
                <a:latin typeface="Times New Roman"/>
                <a:cs typeface="Times New Roman"/>
              </a:rPr>
              <a:t> </a:t>
            </a:r>
            <a:r>
              <a:rPr sz="2800" spc="10" dirty="0">
                <a:solidFill>
                  <a:srgbClr val="252525"/>
                </a:solidFill>
                <a:latin typeface="Times New Roman"/>
                <a:cs typeface="Times New Roman"/>
              </a:rPr>
              <a:t>or </a:t>
            </a:r>
            <a:r>
              <a:rPr sz="2800" spc="-105" dirty="0">
                <a:solidFill>
                  <a:srgbClr val="252525"/>
                </a:solidFill>
                <a:latin typeface="Times New Roman"/>
                <a:cs typeface="Times New Roman"/>
              </a:rPr>
              <a:t>logic</a:t>
            </a:r>
            <a:r>
              <a:rPr sz="2800" spc="15" dirty="0">
                <a:solidFill>
                  <a:srgbClr val="252525"/>
                </a:solidFill>
                <a:latin typeface="Times New Roman"/>
                <a:cs typeface="Times New Roman"/>
              </a:rPr>
              <a:t> </a:t>
            </a:r>
            <a:r>
              <a:rPr sz="2800" spc="-45" dirty="0">
                <a:solidFill>
                  <a:srgbClr val="252525"/>
                </a:solidFill>
                <a:latin typeface="Times New Roman"/>
                <a:cs typeface="Times New Roman"/>
              </a:rPr>
              <a:t>operations,</a:t>
            </a:r>
            <a:r>
              <a:rPr sz="2800" spc="15" dirty="0">
                <a:solidFill>
                  <a:srgbClr val="252525"/>
                </a:solidFill>
                <a:latin typeface="Times New Roman"/>
                <a:cs typeface="Times New Roman"/>
              </a:rPr>
              <a:t> </a:t>
            </a:r>
            <a:r>
              <a:rPr sz="2800" spc="-90" dirty="0">
                <a:solidFill>
                  <a:srgbClr val="252525"/>
                </a:solidFill>
                <a:latin typeface="Times New Roman"/>
                <a:cs typeface="Times New Roman"/>
              </a:rPr>
              <a:t>if	</a:t>
            </a:r>
            <a:r>
              <a:rPr sz="2800" spc="-5" dirty="0">
                <a:solidFill>
                  <a:srgbClr val="252525"/>
                </a:solidFill>
                <a:latin typeface="Times New Roman"/>
                <a:cs typeface="Times New Roman"/>
              </a:rPr>
              <a:t>the</a:t>
            </a:r>
            <a:r>
              <a:rPr sz="2800" spc="-35" dirty="0">
                <a:solidFill>
                  <a:srgbClr val="252525"/>
                </a:solidFill>
                <a:latin typeface="Times New Roman"/>
                <a:cs typeface="Times New Roman"/>
              </a:rPr>
              <a:t> </a:t>
            </a:r>
            <a:r>
              <a:rPr sz="2800" spc="-50" dirty="0">
                <a:solidFill>
                  <a:srgbClr val="252525"/>
                </a:solidFill>
                <a:latin typeface="Times New Roman"/>
                <a:cs typeface="Times New Roman"/>
              </a:rPr>
              <a:t>result</a:t>
            </a:r>
            <a:r>
              <a:rPr sz="2800" spc="-15" dirty="0">
                <a:solidFill>
                  <a:srgbClr val="252525"/>
                </a:solidFill>
                <a:latin typeface="Times New Roman"/>
                <a:cs typeface="Times New Roman"/>
              </a:rPr>
              <a:t> </a:t>
            </a:r>
            <a:r>
              <a:rPr sz="2800" spc="-35" dirty="0">
                <a:solidFill>
                  <a:srgbClr val="252525"/>
                </a:solidFill>
                <a:latin typeface="Times New Roman"/>
                <a:cs typeface="Times New Roman"/>
              </a:rPr>
              <a:t>contains</a:t>
            </a:r>
            <a:r>
              <a:rPr sz="2800" spc="-40" dirty="0">
                <a:solidFill>
                  <a:srgbClr val="252525"/>
                </a:solidFill>
                <a:latin typeface="Times New Roman"/>
                <a:cs typeface="Times New Roman"/>
              </a:rPr>
              <a:t> </a:t>
            </a:r>
            <a:r>
              <a:rPr sz="2800" spc="-110" dirty="0">
                <a:solidFill>
                  <a:srgbClr val="252525"/>
                </a:solidFill>
                <a:latin typeface="Times New Roman"/>
                <a:cs typeface="Times New Roman"/>
              </a:rPr>
              <a:t>a</a:t>
            </a:r>
            <a:r>
              <a:rPr sz="2800" spc="-20" dirty="0">
                <a:solidFill>
                  <a:srgbClr val="252525"/>
                </a:solidFill>
                <a:latin typeface="Times New Roman"/>
                <a:cs typeface="Times New Roman"/>
              </a:rPr>
              <a:t> </a:t>
            </a:r>
            <a:r>
              <a:rPr sz="2800" spc="-80" dirty="0">
                <a:solidFill>
                  <a:srgbClr val="252525"/>
                </a:solidFill>
                <a:latin typeface="Times New Roman"/>
                <a:cs typeface="Times New Roman"/>
              </a:rPr>
              <a:t>negative </a:t>
            </a:r>
            <a:r>
              <a:rPr sz="2800" spc="-685" dirty="0">
                <a:solidFill>
                  <a:srgbClr val="252525"/>
                </a:solidFill>
                <a:latin typeface="Times New Roman"/>
                <a:cs typeface="Times New Roman"/>
              </a:rPr>
              <a:t> </a:t>
            </a:r>
            <a:r>
              <a:rPr sz="2800" spc="-45" dirty="0">
                <a:solidFill>
                  <a:srgbClr val="252525"/>
                </a:solidFill>
                <a:latin typeface="Times New Roman"/>
                <a:cs typeface="Times New Roman"/>
              </a:rPr>
              <a:t>number.</a:t>
            </a:r>
            <a:endParaRPr sz="2800">
              <a:latin typeface="Times New Roman"/>
              <a:cs typeface="Times New Roman"/>
            </a:endParaRPr>
          </a:p>
          <a:p>
            <a:pPr marL="299085" indent="-287020">
              <a:lnSpc>
                <a:spcPct val="100000"/>
              </a:lnSpc>
              <a:spcBef>
                <a:spcPts val="1275"/>
              </a:spcBef>
              <a:buClr>
                <a:srgbClr val="83992A"/>
              </a:buClr>
              <a:buSzPct val="114285"/>
              <a:buFont typeface="Arial MT"/>
              <a:buChar char="•"/>
              <a:tabLst>
                <a:tab pos="299720" algn="l"/>
              </a:tabLst>
            </a:pPr>
            <a:r>
              <a:rPr sz="2800" spc="-5" dirty="0">
                <a:solidFill>
                  <a:srgbClr val="252525"/>
                </a:solidFill>
                <a:latin typeface="Times New Roman"/>
                <a:cs typeface="Times New Roman"/>
              </a:rPr>
              <a:t>The</a:t>
            </a:r>
            <a:r>
              <a:rPr sz="2800" spc="-20" dirty="0">
                <a:solidFill>
                  <a:srgbClr val="252525"/>
                </a:solidFill>
                <a:latin typeface="Times New Roman"/>
                <a:cs typeface="Times New Roman"/>
              </a:rPr>
              <a:t> </a:t>
            </a:r>
            <a:r>
              <a:rPr sz="2800" spc="130" dirty="0">
                <a:solidFill>
                  <a:srgbClr val="252525"/>
                </a:solidFill>
                <a:latin typeface="Times New Roman"/>
                <a:cs typeface="Times New Roman"/>
              </a:rPr>
              <a:t>N</a:t>
            </a:r>
            <a:r>
              <a:rPr sz="2800" spc="-10" dirty="0">
                <a:solidFill>
                  <a:srgbClr val="252525"/>
                </a:solidFill>
                <a:latin typeface="Times New Roman"/>
                <a:cs typeface="Times New Roman"/>
              </a:rPr>
              <a:t> </a:t>
            </a:r>
            <a:r>
              <a:rPr sz="2800" spc="-100" dirty="0">
                <a:solidFill>
                  <a:srgbClr val="252525"/>
                </a:solidFill>
                <a:latin typeface="Times New Roman"/>
                <a:cs typeface="Times New Roman"/>
              </a:rPr>
              <a:t>flag</a:t>
            </a:r>
            <a:r>
              <a:rPr sz="2800" spc="-15" dirty="0">
                <a:solidFill>
                  <a:srgbClr val="252525"/>
                </a:solidFill>
                <a:latin typeface="Times New Roman"/>
                <a:cs typeface="Times New Roman"/>
              </a:rPr>
              <a:t> </a:t>
            </a:r>
            <a:r>
              <a:rPr sz="2800" spc="-105" dirty="0">
                <a:solidFill>
                  <a:srgbClr val="252525"/>
                </a:solidFill>
                <a:latin typeface="Times New Roman"/>
                <a:cs typeface="Times New Roman"/>
              </a:rPr>
              <a:t>is</a:t>
            </a:r>
            <a:r>
              <a:rPr sz="2800" spc="-15" dirty="0">
                <a:solidFill>
                  <a:srgbClr val="252525"/>
                </a:solidFill>
                <a:latin typeface="Times New Roman"/>
                <a:cs typeface="Times New Roman"/>
              </a:rPr>
              <a:t> </a:t>
            </a:r>
            <a:r>
              <a:rPr sz="2800" spc="-50" dirty="0">
                <a:solidFill>
                  <a:srgbClr val="252525"/>
                </a:solidFill>
                <a:latin typeface="Times New Roman"/>
                <a:cs typeface="Times New Roman"/>
              </a:rPr>
              <a:t>set.</a:t>
            </a:r>
            <a:endParaRPr sz="2800">
              <a:latin typeface="Times New Roman"/>
              <a:cs typeface="Times New Roman"/>
            </a:endParaRPr>
          </a:p>
          <a:p>
            <a:pPr marL="387350" indent="-375285">
              <a:lnSpc>
                <a:spcPct val="100000"/>
              </a:lnSpc>
              <a:spcBef>
                <a:spcPts val="1275"/>
              </a:spcBef>
              <a:buClr>
                <a:srgbClr val="83992A"/>
              </a:buClr>
              <a:buSzPct val="114285"/>
              <a:buFont typeface="Arial MT"/>
              <a:buChar char="•"/>
              <a:tabLst>
                <a:tab pos="387350" algn="l"/>
                <a:tab pos="387985" algn="l"/>
                <a:tab pos="3672840" algn="l"/>
              </a:tabLst>
            </a:pPr>
            <a:r>
              <a:rPr sz="2800" spc="45" dirty="0">
                <a:solidFill>
                  <a:srgbClr val="252525"/>
                </a:solidFill>
                <a:latin typeface="Times New Roman"/>
                <a:cs typeface="Times New Roman"/>
              </a:rPr>
              <a:t>It</a:t>
            </a:r>
            <a:r>
              <a:rPr sz="2800" dirty="0">
                <a:solidFill>
                  <a:srgbClr val="252525"/>
                </a:solidFill>
                <a:latin typeface="Times New Roman"/>
                <a:cs typeface="Times New Roman"/>
              </a:rPr>
              <a:t> </a:t>
            </a:r>
            <a:r>
              <a:rPr sz="2800" spc="-35" dirty="0">
                <a:solidFill>
                  <a:srgbClr val="252525"/>
                </a:solidFill>
                <a:latin typeface="Times New Roman"/>
                <a:cs typeface="Times New Roman"/>
              </a:rPr>
              <a:t>contains</a:t>
            </a:r>
            <a:r>
              <a:rPr sz="2800" spc="-15" dirty="0">
                <a:solidFill>
                  <a:srgbClr val="252525"/>
                </a:solidFill>
                <a:latin typeface="Times New Roman"/>
                <a:cs typeface="Times New Roman"/>
              </a:rPr>
              <a:t> </a:t>
            </a:r>
            <a:r>
              <a:rPr sz="2800" spc="-5" dirty="0">
                <a:solidFill>
                  <a:srgbClr val="252525"/>
                </a:solidFill>
                <a:latin typeface="Times New Roman"/>
                <a:cs typeface="Times New Roman"/>
              </a:rPr>
              <a:t>the</a:t>
            </a:r>
            <a:r>
              <a:rPr sz="2800" spc="5" dirty="0">
                <a:solidFill>
                  <a:srgbClr val="252525"/>
                </a:solidFill>
                <a:latin typeface="Times New Roman"/>
                <a:cs typeface="Times New Roman"/>
              </a:rPr>
              <a:t> </a:t>
            </a:r>
            <a:r>
              <a:rPr sz="2800" spc="-180" dirty="0">
                <a:solidFill>
                  <a:srgbClr val="252525"/>
                </a:solidFill>
                <a:latin typeface="Times New Roman"/>
                <a:cs typeface="Times New Roman"/>
              </a:rPr>
              <a:t>MSB</a:t>
            </a:r>
            <a:r>
              <a:rPr sz="2800" dirty="0">
                <a:solidFill>
                  <a:srgbClr val="252525"/>
                </a:solidFill>
                <a:latin typeface="Times New Roman"/>
                <a:cs typeface="Times New Roman"/>
              </a:rPr>
              <a:t> </a:t>
            </a:r>
            <a:r>
              <a:rPr sz="2800" spc="-5" dirty="0">
                <a:solidFill>
                  <a:srgbClr val="252525"/>
                </a:solidFill>
                <a:latin typeface="Times New Roman"/>
                <a:cs typeface="Times New Roman"/>
              </a:rPr>
              <a:t>of	the</a:t>
            </a:r>
            <a:r>
              <a:rPr sz="2800" spc="-55" dirty="0">
                <a:solidFill>
                  <a:srgbClr val="252525"/>
                </a:solidFill>
                <a:latin typeface="Times New Roman"/>
                <a:cs typeface="Times New Roman"/>
              </a:rPr>
              <a:t> </a:t>
            </a:r>
            <a:r>
              <a:rPr sz="2800" spc="-60" dirty="0">
                <a:solidFill>
                  <a:srgbClr val="252525"/>
                </a:solidFill>
                <a:latin typeface="Times New Roman"/>
                <a:cs typeface="Times New Roman"/>
              </a:rPr>
              <a:t>result,</a:t>
            </a:r>
            <a:endParaRPr sz="2800">
              <a:latin typeface="Times New Roman"/>
              <a:cs typeface="Times New Roman"/>
            </a:endParaRPr>
          </a:p>
          <a:p>
            <a:pPr marL="387350" indent="-375285">
              <a:lnSpc>
                <a:spcPct val="100000"/>
              </a:lnSpc>
              <a:spcBef>
                <a:spcPts val="1275"/>
              </a:spcBef>
              <a:buClr>
                <a:srgbClr val="83992A"/>
              </a:buClr>
              <a:buSzPct val="114285"/>
              <a:buFont typeface="Arial MT"/>
              <a:buChar char="•"/>
              <a:tabLst>
                <a:tab pos="387350" algn="l"/>
                <a:tab pos="387985" algn="l"/>
              </a:tabLst>
            </a:pPr>
            <a:r>
              <a:rPr sz="2800" spc="-75" dirty="0">
                <a:solidFill>
                  <a:srgbClr val="252525"/>
                </a:solidFill>
                <a:latin typeface="Times New Roman"/>
                <a:cs typeface="Times New Roman"/>
              </a:rPr>
              <a:t>Which</a:t>
            </a:r>
            <a:r>
              <a:rPr sz="2800" spc="10" dirty="0">
                <a:solidFill>
                  <a:srgbClr val="252525"/>
                </a:solidFill>
                <a:latin typeface="Times New Roman"/>
                <a:cs typeface="Times New Roman"/>
              </a:rPr>
              <a:t> </a:t>
            </a:r>
            <a:r>
              <a:rPr sz="2800" spc="-55" dirty="0">
                <a:solidFill>
                  <a:srgbClr val="252525"/>
                </a:solidFill>
                <a:latin typeface="Times New Roman"/>
                <a:cs typeface="Times New Roman"/>
              </a:rPr>
              <a:t>can</a:t>
            </a:r>
            <a:r>
              <a:rPr sz="2800" spc="-5" dirty="0">
                <a:solidFill>
                  <a:srgbClr val="252525"/>
                </a:solidFill>
                <a:latin typeface="Times New Roman"/>
                <a:cs typeface="Times New Roman"/>
              </a:rPr>
              <a:t> </a:t>
            </a:r>
            <a:r>
              <a:rPr sz="2800" spc="-30" dirty="0">
                <a:solidFill>
                  <a:srgbClr val="252525"/>
                </a:solidFill>
                <a:latin typeface="Times New Roman"/>
                <a:cs typeface="Times New Roman"/>
              </a:rPr>
              <a:t>be</a:t>
            </a:r>
            <a:r>
              <a:rPr sz="2800" dirty="0">
                <a:solidFill>
                  <a:srgbClr val="252525"/>
                </a:solidFill>
                <a:latin typeface="Times New Roman"/>
                <a:cs typeface="Times New Roman"/>
              </a:rPr>
              <a:t> </a:t>
            </a:r>
            <a:r>
              <a:rPr sz="2800" spc="-25" dirty="0">
                <a:solidFill>
                  <a:srgbClr val="252525"/>
                </a:solidFill>
                <a:latin typeface="Times New Roman"/>
                <a:cs typeface="Times New Roman"/>
              </a:rPr>
              <a:t>interpreted</a:t>
            </a:r>
            <a:r>
              <a:rPr sz="2800" spc="-10" dirty="0">
                <a:solidFill>
                  <a:srgbClr val="252525"/>
                </a:solidFill>
                <a:latin typeface="Times New Roman"/>
                <a:cs typeface="Times New Roman"/>
              </a:rPr>
              <a:t> </a:t>
            </a:r>
            <a:r>
              <a:rPr sz="2800" spc="-95" dirty="0">
                <a:solidFill>
                  <a:srgbClr val="252525"/>
                </a:solidFill>
                <a:latin typeface="Times New Roman"/>
                <a:cs typeface="Times New Roman"/>
              </a:rPr>
              <a:t>as</a:t>
            </a:r>
            <a:r>
              <a:rPr sz="2800" spc="10" dirty="0">
                <a:solidFill>
                  <a:srgbClr val="252525"/>
                </a:solidFill>
                <a:latin typeface="Times New Roman"/>
                <a:cs typeface="Times New Roman"/>
              </a:rPr>
              <a:t> </a:t>
            </a:r>
            <a:r>
              <a:rPr sz="2800" spc="-5" dirty="0">
                <a:solidFill>
                  <a:srgbClr val="252525"/>
                </a:solidFill>
                <a:latin typeface="Times New Roman"/>
                <a:cs typeface="Times New Roman"/>
              </a:rPr>
              <a:t>the</a:t>
            </a:r>
            <a:r>
              <a:rPr sz="2800" spc="-10" dirty="0">
                <a:solidFill>
                  <a:srgbClr val="252525"/>
                </a:solidFill>
                <a:latin typeface="Times New Roman"/>
                <a:cs typeface="Times New Roman"/>
              </a:rPr>
              <a:t> </a:t>
            </a:r>
            <a:r>
              <a:rPr sz="2800" spc="-85" dirty="0">
                <a:solidFill>
                  <a:srgbClr val="252525"/>
                </a:solidFill>
                <a:latin typeface="Times New Roman"/>
                <a:cs typeface="Times New Roman"/>
              </a:rPr>
              <a:t>sign</a:t>
            </a:r>
            <a:r>
              <a:rPr sz="2800" spc="10" dirty="0">
                <a:solidFill>
                  <a:srgbClr val="252525"/>
                </a:solidFill>
                <a:latin typeface="Times New Roman"/>
                <a:cs typeface="Times New Roman"/>
              </a:rPr>
              <a:t> </a:t>
            </a:r>
            <a:r>
              <a:rPr sz="2800" spc="-30" dirty="0">
                <a:solidFill>
                  <a:srgbClr val="252525"/>
                </a:solidFill>
                <a:latin typeface="Times New Roman"/>
                <a:cs typeface="Times New Roman"/>
              </a:rPr>
              <a:t>bit</a:t>
            </a:r>
            <a:r>
              <a:rPr sz="2800" dirty="0">
                <a:solidFill>
                  <a:srgbClr val="252525"/>
                </a:solidFill>
                <a:latin typeface="Times New Roman"/>
                <a:cs typeface="Times New Roman"/>
              </a:rPr>
              <a:t> </a:t>
            </a:r>
            <a:r>
              <a:rPr sz="2800" spc="-65" dirty="0">
                <a:solidFill>
                  <a:srgbClr val="252525"/>
                </a:solidFill>
                <a:latin typeface="Times New Roman"/>
                <a:cs typeface="Times New Roman"/>
              </a:rPr>
              <a:t>in</a:t>
            </a:r>
            <a:r>
              <a:rPr sz="2800" dirty="0">
                <a:solidFill>
                  <a:srgbClr val="252525"/>
                </a:solidFill>
                <a:latin typeface="Times New Roman"/>
                <a:cs typeface="Times New Roman"/>
              </a:rPr>
              <a:t> </a:t>
            </a:r>
            <a:r>
              <a:rPr sz="2800" spc="-75" dirty="0">
                <a:solidFill>
                  <a:srgbClr val="252525"/>
                </a:solidFill>
                <a:latin typeface="Times New Roman"/>
                <a:cs typeface="Times New Roman"/>
              </a:rPr>
              <a:t>signed</a:t>
            </a:r>
            <a:r>
              <a:rPr sz="2800" spc="10" dirty="0">
                <a:solidFill>
                  <a:srgbClr val="252525"/>
                </a:solidFill>
                <a:latin typeface="Times New Roman"/>
                <a:cs typeface="Times New Roman"/>
              </a:rPr>
              <a:t> </a:t>
            </a:r>
            <a:r>
              <a:rPr sz="2800" spc="-50" dirty="0">
                <a:solidFill>
                  <a:srgbClr val="252525"/>
                </a:solidFill>
                <a:latin typeface="Times New Roman"/>
                <a:cs typeface="Times New Roman"/>
              </a:rPr>
              <a:t>arithmetic</a:t>
            </a:r>
            <a:r>
              <a:rPr sz="2800" spc="-20" dirty="0">
                <a:solidFill>
                  <a:srgbClr val="252525"/>
                </a:solidFill>
                <a:latin typeface="Times New Roman"/>
                <a:cs typeface="Times New Roman"/>
              </a:rPr>
              <a:t> </a:t>
            </a:r>
            <a:r>
              <a:rPr sz="2800" spc="-45" dirty="0">
                <a:solidFill>
                  <a:srgbClr val="252525"/>
                </a:solidFill>
                <a:latin typeface="Times New Roman"/>
                <a:cs typeface="Times New Roman"/>
              </a:rPr>
              <a:t>operations.</a:t>
            </a:r>
            <a:endParaRPr sz="2800">
              <a:latin typeface="Times New Roman"/>
              <a:cs typeface="Times New Roman"/>
            </a:endParaRPr>
          </a:p>
        </p:txBody>
      </p:sp>
    </p:spTree>
    <p:extLst>
      <p:ext uri="{BB962C8B-B14F-4D97-AF65-F5344CB8AC3E}">
        <p14:creationId xmlns:p14="http://schemas.microsoft.com/office/powerpoint/2010/main" val="175205898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endParaRPr/>
          </a:p>
        </p:txBody>
      </p:sp>
      <p:sp>
        <p:nvSpPr>
          <p:cNvPr id="8" name="object 8"/>
          <p:cNvSpPr txBox="1">
            <a:spLocks noGrp="1"/>
          </p:cNvSpPr>
          <p:nvPr>
            <p:ph type="title"/>
          </p:nvPr>
        </p:nvSpPr>
        <p:spPr>
          <a:xfrm>
            <a:off x="1374394" y="1667332"/>
            <a:ext cx="4608830" cy="635000"/>
          </a:xfrm>
          <a:prstGeom prst="rect">
            <a:avLst/>
          </a:prstGeom>
        </p:spPr>
        <p:txBody>
          <a:bodyPr vert="horz" wrap="square" lIns="0" tIns="12065" rIns="0" bIns="0" rtlCol="0">
            <a:spAutoFit/>
          </a:bodyPr>
          <a:lstStyle/>
          <a:p>
            <a:pPr marL="12700">
              <a:lnSpc>
                <a:spcPct val="100000"/>
              </a:lnSpc>
              <a:spcBef>
                <a:spcPts val="95"/>
              </a:spcBef>
            </a:pPr>
            <a:r>
              <a:rPr sz="4000" b="0" spc="-130" dirty="0">
                <a:solidFill>
                  <a:srgbClr val="FF0000"/>
                </a:solidFill>
                <a:latin typeface="Times New Roman"/>
                <a:cs typeface="Times New Roman"/>
              </a:rPr>
              <a:t>3.6.3</a:t>
            </a:r>
            <a:r>
              <a:rPr sz="4000" b="0" spc="-10" dirty="0">
                <a:solidFill>
                  <a:srgbClr val="FF0000"/>
                </a:solidFill>
                <a:latin typeface="Times New Roman"/>
                <a:cs typeface="Times New Roman"/>
              </a:rPr>
              <a:t> </a:t>
            </a:r>
            <a:r>
              <a:rPr sz="4000" b="0" spc="-95" dirty="0">
                <a:solidFill>
                  <a:srgbClr val="FF0000"/>
                </a:solidFill>
                <a:latin typeface="Times New Roman"/>
                <a:cs typeface="Times New Roman"/>
              </a:rPr>
              <a:t>Negative</a:t>
            </a:r>
            <a:r>
              <a:rPr sz="4000" b="0" spc="-20" dirty="0">
                <a:solidFill>
                  <a:srgbClr val="FF0000"/>
                </a:solidFill>
                <a:latin typeface="Times New Roman"/>
                <a:cs typeface="Times New Roman"/>
              </a:rPr>
              <a:t> </a:t>
            </a:r>
            <a:r>
              <a:rPr sz="4000" b="0" spc="-140" dirty="0">
                <a:solidFill>
                  <a:srgbClr val="FF0000"/>
                </a:solidFill>
                <a:latin typeface="Times New Roman"/>
                <a:cs typeface="Times New Roman"/>
              </a:rPr>
              <a:t>Flag</a:t>
            </a:r>
            <a:r>
              <a:rPr sz="4000" b="0" spc="-5" dirty="0">
                <a:solidFill>
                  <a:srgbClr val="FF0000"/>
                </a:solidFill>
                <a:latin typeface="Times New Roman"/>
                <a:cs typeface="Times New Roman"/>
              </a:rPr>
              <a:t> </a:t>
            </a:r>
            <a:r>
              <a:rPr sz="4000" b="0" spc="-50" dirty="0">
                <a:solidFill>
                  <a:srgbClr val="FF0000"/>
                </a:solidFill>
                <a:latin typeface="Times New Roman"/>
                <a:cs typeface="Times New Roman"/>
              </a:rPr>
              <a:t>(N)</a:t>
            </a:r>
            <a:endParaRPr sz="4000">
              <a:latin typeface="Times New Roman"/>
              <a:cs typeface="Times New Roman"/>
            </a:endParaRPr>
          </a:p>
        </p:txBody>
      </p:sp>
      <p:sp>
        <p:nvSpPr>
          <p:cNvPr id="10" name="Rectangle 9"/>
          <p:cNvSpPr/>
          <p:nvPr/>
        </p:nvSpPr>
        <p:spPr>
          <a:xfrm>
            <a:off x="1395983" y="2914038"/>
            <a:ext cx="6096000" cy="1200329"/>
          </a:xfrm>
          <a:prstGeom prst="rect">
            <a:avLst/>
          </a:prstGeom>
        </p:spPr>
        <p:txBody>
          <a:bodyPr>
            <a:spAutoFit/>
          </a:bodyPr>
          <a:lstStyle/>
          <a:p>
            <a:r>
              <a:rPr lang="en-IN" dirty="0"/>
              <a:t> </a:t>
            </a:r>
            <a:r>
              <a:rPr lang="en-IN" dirty="0" smtClean="0"/>
              <a:t>  00000101   </a:t>
            </a:r>
            <a:r>
              <a:rPr lang="en-IN" dirty="0"/>
              <a:t>(5)</a:t>
            </a:r>
          </a:p>
          <a:p>
            <a:r>
              <a:rPr lang="en-IN" dirty="0"/>
              <a:t>- </a:t>
            </a:r>
            <a:r>
              <a:rPr lang="en-IN" dirty="0" smtClean="0"/>
              <a:t> 00001010   </a:t>
            </a:r>
            <a:r>
              <a:rPr lang="en-IN" dirty="0"/>
              <a:t>(10)</a:t>
            </a:r>
          </a:p>
          <a:p>
            <a:r>
              <a:rPr lang="en-IN" dirty="0"/>
              <a:t>-----------</a:t>
            </a:r>
          </a:p>
          <a:p>
            <a:r>
              <a:rPr lang="en-IN" dirty="0"/>
              <a:t>  </a:t>
            </a:r>
            <a:r>
              <a:rPr lang="en-IN" dirty="0" smtClean="0"/>
              <a:t> 11111011   </a:t>
            </a:r>
            <a:r>
              <a:rPr lang="en-IN" dirty="0"/>
              <a:t>(-5 in 2’s complement)</a:t>
            </a:r>
          </a:p>
        </p:txBody>
      </p:sp>
      <p:sp>
        <p:nvSpPr>
          <p:cNvPr id="11" name="Rectangle 10"/>
          <p:cNvSpPr/>
          <p:nvPr/>
        </p:nvSpPr>
        <p:spPr>
          <a:xfrm>
            <a:off x="6218247" y="3031236"/>
            <a:ext cx="2774477" cy="369332"/>
          </a:xfrm>
          <a:prstGeom prst="rect">
            <a:avLst/>
          </a:prstGeom>
        </p:spPr>
        <p:txBody>
          <a:bodyPr wrap="none">
            <a:spAutoFit/>
          </a:bodyPr>
          <a:lstStyle/>
          <a:p>
            <a:r>
              <a:rPr lang="en-IN" b="1" dirty="0"/>
              <a:t>N = 1</a:t>
            </a:r>
            <a:r>
              <a:rPr lang="en-IN" dirty="0"/>
              <a:t> (MSB is 1 → negative)</a:t>
            </a:r>
          </a:p>
        </p:txBody>
      </p:sp>
      <p:sp>
        <p:nvSpPr>
          <p:cNvPr id="12" name="Rectangle 11"/>
          <p:cNvSpPr/>
          <p:nvPr/>
        </p:nvSpPr>
        <p:spPr>
          <a:xfrm>
            <a:off x="1374394" y="4509516"/>
            <a:ext cx="6096000" cy="923330"/>
          </a:xfrm>
          <a:prstGeom prst="rect">
            <a:avLst/>
          </a:prstGeom>
        </p:spPr>
        <p:txBody>
          <a:bodyPr>
            <a:spAutoFit/>
          </a:bodyPr>
          <a:lstStyle/>
          <a:p>
            <a:r>
              <a:rPr lang="en-IN" dirty="0"/>
              <a:t>MOV R0,#5</a:t>
            </a:r>
          </a:p>
          <a:p>
            <a:r>
              <a:rPr lang="en-IN" dirty="0"/>
              <a:t>MOV R1,#10</a:t>
            </a:r>
          </a:p>
          <a:p>
            <a:r>
              <a:rPr lang="en-IN" dirty="0"/>
              <a:t>SUBS R2,R0,R1</a:t>
            </a:r>
          </a:p>
        </p:txBody>
      </p:sp>
    </p:spTree>
    <p:extLst>
      <p:ext uri="{BB962C8B-B14F-4D97-AF65-F5344CB8AC3E}">
        <p14:creationId xmlns:p14="http://schemas.microsoft.com/office/powerpoint/2010/main" val="23834665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txBox="1">
            <a:spLocks noGrp="1"/>
          </p:cNvSpPr>
          <p:nvPr>
            <p:ph type="title"/>
          </p:nvPr>
        </p:nvSpPr>
        <p:spPr>
          <a:xfrm>
            <a:off x="1374394" y="1667332"/>
            <a:ext cx="4707890" cy="635000"/>
          </a:xfrm>
          <a:prstGeom prst="rect">
            <a:avLst/>
          </a:prstGeom>
        </p:spPr>
        <p:txBody>
          <a:bodyPr vert="horz" wrap="square" lIns="0" tIns="12065" rIns="0" bIns="0" rtlCol="0">
            <a:spAutoFit/>
          </a:bodyPr>
          <a:lstStyle/>
          <a:p>
            <a:pPr marL="12700">
              <a:lnSpc>
                <a:spcPct val="100000"/>
              </a:lnSpc>
              <a:spcBef>
                <a:spcPts val="95"/>
              </a:spcBef>
            </a:pPr>
            <a:r>
              <a:rPr sz="4000" b="0" spc="-130" dirty="0">
                <a:solidFill>
                  <a:srgbClr val="FF0000"/>
                </a:solidFill>
                <a:latin typeface="Times New Roman"/>
                <a:cs typeface="Times New Roman"/>
              </a:rPr>
              <a:t>3.6.4</a:t>
            </a:r>
            <a:r>
              <a:rPr sz="4000" b="0" spc="-15" dirty="0">
                <a:solidFill>
                  <a:srgbClr val="FF0000"/>
                </a:solidFill>
                <a:latin typeface="Times New Roman"/>
                <a:cs typeface="Times New Roman"/>
              </a:rPr>
              <a:t> </a:t>
            </a:r>
            <a:r>
              <a:rPr sz="4000" b="0" spc="-65" dirty="0">
                <a:solidFill>
                  <a:srgbClr val="FF0000"/>
                </a:solidFill>
                <a:latin typeface="Times New Roman"/>
                <a:cs typeface="Times New Roman"/>
              </a:rPr>
              <a:t>Overflow</a:t>
            </a:r>
            <a:r>
              <a:rPr sz="4000" b="0" spc="-15" dirty="0">
                <a:solidFill>
                  <a:srgbClr val="FF0000"/>
                </a:solidFill>
                <a:latin typeface="Times New Roman"/>
                <a:cs typeface="Times New Roman"/>
              </a:rPr>
              <a:t> </a:t>
            </a:r>
            <a:r>
              <a:rPr sz="4000" b="0" spc="-135" dirty="0">
                <a:solidFill>
                  <a:srgbClr val="FF0000"/>
                </a:solidFill>
                <a:latin typeface="Times New Roman"/>
                <a:cs typeface="Times New Roman"/>
              </a:rPr>
              <a:t>Flag</a:t>
            </a:r>
            <a:r>
              <a:rPr sz="4000" b="0" spc="-15" dirty="0">
                <a:solidFill>
                  <a:srgbClr val="FF0000"/>
                </a:solidFill>
                <a:latin typeface="Times New Roman"/>
                <a:cs typeface="Times New Roman"/>
              </a:rPr>
              <a:t> </a:t>
            </a:r>
            <a:r>
              <a:rPr sz="4000" b="0" spc="-175" dirty="0">
                <a:solidFill>
                  <a:srgbClr val="FF0000"/>
                </a:solidFill>
                <a:latin typeface="Times New Roman"/>
                <a:cs typeface="Times New Roman"/>
              </a:rPr>
              <a:t>(V)</a:t>
            </a:r>
            <a:endParaRPr sz="4000" dirty="0">
              <a:latin typeface="Times New Roman"/>
              <a:cs typeface="Times New Roman"/>
            </a:endParaRPr>
          </a:p>
        </p:txBody>
      </p:sp>
      <p:sp>
        <p:nvSpPr>
          <p:cNvPr id="9" name="object 9"/>
          <p:cNvSpPr txBox="1"/>
          <p:nvPr/>
        </p:nvSpPr>
        <p:spPr>
          <a:xfrm>
            <a:off x="882192" y="2309760"/>
            <a:ext cx="10407650" cy="2160905"/>
          </a:xfrm>
          <a:prstGeom prst="rect">
            <a:avLst/>
          </a:prstGeom>
        </p:spPr>
        <p:txBody>
          <a:bodyPr vert="horz" wrap="square" lIns="0" tIns="106680" rIns="0" bIns="0" rtlCol="0">
            <a:spAutoFit/>
          </a:bodyPr>
          <a:lstStyle/>
          <a:p>
            <a:pPr marL="12700" marR="0" lvl="0" indent="0" algn="l" defTabSz="914400" rtl="0" eaLnBrk="1" fontAlgn="auto" latinLnBrk="0" hangingPunct="1">
              <a:lnSpc>
                <a:spcPct val="100000"/>
              </a:lnSpc>
              <a:spcBef>
                <a:spcPts val="840"/>
              </a:spcBef>
              <a:spcAft>
                <a:spcPts val="0"/>
              </a:spcAft>
              <a:buClrTx/>
              <a:buSzTx/>
              <a:buFontTx/>
              <a:buNone/>
              <a:tabLst>
                <a:tab pos="3999229" algn="l"/>
              </a:tabLst>
              <a:defRPr/>
            </a:pPr>
            <a:r>
              <a:rPr kumimoji="0" sz="2800" b="0" i="0" u="none" strike="noStrike" kern="1200" cap="none" spc="-40" normalizeH="0" baseline="0" noProof="0" dirty="0">
                <a:ln>
                  <a:noFill/>
                </a:ln>
                <a:solidFill>
                  <a:srgbClr val="252525"/>
                </a:solidFill>
                <a:effectLst/>
                <a:uLnTx/>
                <a:uFillTx/>
                <a:latin typeface="Times New Roman"/>
                <a:ea typeface="+mn-ea"/>
                <a:cs typeface="Times New Roman"/>
              </a:rPr>
              <a:t>This</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95" normalizeH="0" baseline="0" noProof="0" dirty="0">
                <a:ln>
                  <a:noFill/>
                </a:ln>
                <a:solidFill>
                  <a:srgbClr val="252525"/>
                </a:solidFill>
                <a:effectLst/>
                <a:uLnTx/>
                <a:uFillTx/>
                <a:latin typeface="Times New Roman"/>
                <a:ea typeface="+mn-ea"/>
                <a:cs typeface="Times New Roman"/>
              </a:rPr>
              <a:t>flag</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05" normalizeH="0" baseline="0" noProof="0" dirty="0">
                <a:ln>
                  <a:noFill/>
                </a:ln>
                <a:solidFill>
                  <a:srgbClr val="252525"/>
                </a:solidFill>
                <a:effectLst/>
                <a:uLnTx/>
                <a:uFillTx/>
                <a:latin typeface="Times New Roman"/>
                <a:ea typeface="+mn-ea"/>
                <a:cs typeface="Times New Roman"/>
              </a:rPr>
              <a:t>is</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40" normalizeH="0" baseline="0" noProof="0" dirty="0">
                <a:ln>
                  <a:noFill/>
                </a:ln>
                <a:solidFill>
                  <a:srgbClr val="252525"/>
                </a:solidFill>
                <a:effectLst/>
                <a:uLnTx/>
                <a:uFillTx/>
                <a:latin typeface="Times New Roman"/>
                <a:ea typeface="+mn-ea"/>
                <a:cs typeface="Times New Roman"/>
              </a:rPr>
              <a:t>set</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under</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5" normalizeH="0" baseline="0" noProof="0" dirty="0">
                <a:ln>
                  <a:noFill/>
                </a:ln>
                <a:solidFill>
                  <a:srgbClr val="252525"/>
                </a:solidFill>
                <a:effectLst/>
                <a:uLnTx/>
                <a:uFillTx/>
                <a:latin typeface="Times New Roman"/>
                <a:ea typeface="+mn-ea"/>
                <a:cs typeface="Times New Roman"/>
              </a:rPr>
              <a:t>one</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of	the</a:t>
            </a:r>
            <a:r>
              <a:rPr kumimoji="0" sz="2800" b="0" i="0" u="none" strike="noStrike" kern="1200" cap="none" spc="-3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85" normalizeH="0" baseline="0" noProof="0" dirty="0">
                <a:ln>
                  <a:noFill/>
                </a:ln>
                <a:solidFill>
                  <a:srgbClr val="252525"/>
                </a:solidFill>
                <a:effectLst/>
                <a:uLnTx/>
                <a:uFillTx/>
                <a:latin typeface="Times New Roman"/>
                <a:ea typeface="+mn-ea"/>
                <a:cs typeface="Times New Roman"/>
              </a:rPr>
              <a:t>following</a:t>
            </a: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30" normalizeH="0" baseline="0" noProof="0" dirty="0">
                <a:ln>
                  <a:noFill/>
                </a:ln>
                <a:solidFill>
                  <a:srgbClr val="252525"/>
                </a:solidFill>
                <a:effectLst/>
                <a:uLnTx/>
                <a:uFillTx/>
                <a:latin typeface="Times New Roman"/>
                <a:ea typeface="+mn-ea"/>
                <a:cs typeface="Times New Roman"/>
              </a:rPr>
              <a:t>conditions</a:t>
            </a:r>
            <a:endParaRPr kumimoji="0" sz="2800" b="0" i="0" u="none" strike="noStrike" kern="1200" cap="none" spc="0" normalizeH="0" baseline="0" noProof="0">
              <a:ln>
                <a:noFill/>
              </a:ln>
              <a:solidFill>
                <a:prstClr val="black"/>
              </a:solidFill>
              <a:effectLst/>
              <a:uLnTx/>
              <a:uFillTx/>
              <a:latin typeface="Times New Roman"/>
              <a:ea typeface="+mn-ea"/>
              <a:cs typeface="Times New Roman"/>
            </a:endParaRPr>
          </a:p>
          <a:p>
            <a:pPr marL="469265" marR="5080" lvl="0" indent="0" algn="l" defTabSz="914400" rtl="0" eaLnBrk="1" fontAlgn="auto" latinLnBrk="0" hangingPunct="1">
              <a:lnSpc>
                <a:spcPts val="3360"/>
              </a:lnSpc>
              <a:spcBef>
                <a:spcPts val="1385"/>
              </a:spcBef>
              <a:spcAft>
                <a:spcPts val="0"/>
              </a:spcAft>
              <a:buClr>
                <a:srgbClr val="83992A"/>
              </a:buClr>
              <a:buSzPct val="114285"/>
              <a:buFontTx/>
              <a:buAutoNum type="arabicPeriod"/>
              <a:tabLst>
                <a:tab pos="838835" algn="l"/>
                <a:tab pos="7880350" algn="l"/>
              </a:tabLst>
              <a:defRPr/>
            </a:pP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There</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05" normalizeH="0" baseline="0" noProof="0" dirty="0">
                <a:ln>
                  <a:noFill/>
                </a:ln>
                <a:solidFill>
                  <a:srgbClr val="252525"/>
                </a:solidFill>
                <a:effectLst/>
                <a:uLnTx/>
                <a:uFillTx/>
                <a:latin typeface="Times New Roman"/>
                <a:ea typeface="+mn-ea"/>
                <a:cs typeface="Times New Roman"/>
              </a:rPr>
              <a:t>is</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45" normalizeH="0" baseline="0" noProof="0" dirty="0">
                <a:ln>
                  <a:noFill/>
                </a:ln>
                <a:solidFill>
                  <a:srgbClr val="252525"/>
                </a:solidFill>
                <a:effectLst/>
                <a:uLnTx/>
                <a:uFillTx/>
                <a:latin typeface="Times New Roman"/>
                <a:ea typeface="+mn-ea"/>
                <a:cs typeface="Times New Roman"/>
              </a:rPr>
              <a:t>an</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70" normalizeH="0" baseline="0" noProof="0" dirty="0">
                <a:ln>
                  <a:noFill/>
                </a:ln>
                <a:solidFill>
                  <a:srgbClr val="252525"/>
                </a:solidFill>
                <a:effectLst/>
                <a:uLnTx/>
                <a:uFillTx/>
                <a:latin typeface="Times New Roman"/>
                <a:ea typeface="+mn-ea"/>
                <a:cs typeface="Times New Roman"/>
              </a:rPr>
              <a:t>overflow</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5" normalizeH="0" baseline="0" noProof="0" dirty="0">
                <a:ln>
                  <a:noFill/>
                </a:ln>
                <a:solidFill>
                  <a:srgbClr val="252525"/>
                </a:solidFill>
                <a:effectLst/>
                <a:uLnTx/>
                <a:uFillTx/>
                <a:latin typeface="Times New Roman"/>
                <a:ea typeface="+mn-ea"/>
                <a:cs typeface="Times New Roman"/>
              </a:rPr>
              <a:t>into</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the</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80" normalizeH="0" baseline="0" noProof="0" dirty="0">
                <a:ln>
                  <a:noFill/>
                </a:ln>
                <a:solidFill>
                  <a:srgbClr val="252525"/>
                </a:solidFill>
                <a:effectLst/>
                <a:uLnTx/>
                <a:uFillTx/>
                <a:latin typeface="Times New Roman"/>
                <a:ea typeface="+mn-ea"/>
                <a:cs typeface="Times New Roman"/>
              </a:rPr>
              <a:t>MSB</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from</a:t>
            </a: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the </a:t>
            </a:r>
            <a:r>
              <a:rPr kumimoji="0" sz="2800" b="0" i="0" u="none" strike="noStrike" kern="1200" cap="none" spc="-30" normalizeH="0" baseline="0" noProof="0" dirty="0">
                <a:ln>
                  <a:noFill/>
                </a:ln>
                <a:solidFill>
                  <a:srgbClr val="252525"/>
                </a:solidFill>
                <a:effectLst/>
                <a:uLnTx/>
                <a:uFillTx/>
                <a:latin typeface="Times New Roman"/>
                <a:ea typeface="+mn-ea"/>
                <a:cs typeface="Times New Roman"/>
              </a:rPr>
              <a:t>bit</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of	</a:t>
            </a:r>
            <a:r>
              <a:rPr kumimoji="0" sz="2800" b="0" i="0" u="none" strike="noStrike" kern="1200" cap="none" spc="-90" normalizeH="0" baseline="0" noProof="0" dirty="0">
                <a:ln>
                  <a:noFill/>
                </a:ln>
                <a:solidFill>
                  <a:srgbClr val="252525"/>
                </a:solidFill>
                <a:effectLst/>
                <a:uLnTx/>
                <a:uFillTx/>
                <a:latin typeface="Times New Roman"/>
                <a:ea typeface="+mn-ea"/>
                <a:cs typeface="Times New Roman"/>
              </a:rPr>
              <a:t>lower</a:t>
            </a:r>
            <a:r>
              <a:rPr kumimoji="0" sz="2800" b="0" i="0" u="none" strike="noStrike" kern="1200" cap="none" spc="-2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90" normalizeH="0" baseline="0" noProof="0" dirty="0">
                <a:ln>
                  <a:noFill/>
                </a:ln>
                <a:solidFill>
                  <a:srgbClr val="252525"/>
                </a:solidFill>
                <a:effectLst/>
                <a:uLnTx/>
                <a:uFillTx/>
                <a:latin typeface="Times New Roman"/>
                <a:ea typeface="+mn-ea"/>
                <a:cs typeface="Times New Roman"/>
              </a:rPr>
              <a:t>significance, </a:t>
            </a:r>
            <a:r>
              <a:rPr kumimoji="0" sz="2800" b="0" i="0" u="none" strike="noStrike" kern="1200" cap="none" spc="-68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but</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no</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252525"/>
                </a:solidFill>
                <a:effectLst/>
                <a:uLnTx/>
                <a:uFillTx/>
                <a:latin typeface="Times New Roman"/>
                <a:ea typeface="+mn-ea"/>
                <a:cs typeface="Times New Roman"/>
              </a:rPr>
              <a:t>carry</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out</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5" normalizeH="0" baseline="0" noProof="0" dirty="0">
                <a:ln>
                  <a:noFill/>
                </a:ln>
                <a:solidFill>
                  <a:srgbClr val="252525"/>
                </a:solidFill>
                <a:effectLst/>
                <a:uLnTx/>
                <a:uFillTx/>
                <a:latin typeface="Times New Roman"/>
                <a:ea typeface="+mn-ea"/>
                <a:cs typeface="Times New Roman"/>
              </a:rPr>
              <a:t>from</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the</a:t>
            </a:r>
            <a:r>
              <a:rPr kumimoji="0" sz="2800" b="0" i="0" u="none" strike="noStrike" kern="1200" cap="none" spc="-1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200" normalizeH="0" baseline="0" noProof="0" dirty="0">
                <a:ln>
                  <a:noFill/>
                </a:ln>
                <a:solidFill>
                  <a:srgbClr val="252525"/>
                </a:solidFill>
                <a:effectLst/>
                <a:uLnTx/>
                <a:uFillTx/>
                <a:latin typeface="Times New Roman"/>
                <a:ea typeface="+mn-ea"/>
                <a:cs typeface="Times New Roman"/>
              </a:rPr>
              <a:t>MSB.</a:t>
            </a:r>
            <a:endParaRPr kumimoji="0" sz="2800" b="0" i="0" u="none" strike="noStrike" kern="1200" cap="none" spc="0" normalizeH="0" baseline="0" noProof="0">
              <a:ln>
                <a:noFill/>
              </a:ln>
              <a:solidFill>
                <a:prstClr val="black"/>
              </a:solidFill>
              <a:effectLst/>
              <a:uLnTx/>
              <a:uFillTx/>
              <a:latin typeface="Times New Roman"/>
              <a:ea typeface="+mn-ea"/>
              <a:cs typeface="Times New Roman"/>
            </a:endParaRPr>
          </a:p>
          <a:p>
            <a:pPr marL="838200" marR="0" lvl="0" indent="-369570" algn="l" defTabSz="914400" rtl="0" eaLnBrk="1" fontAlgn="auto" latinLnBrk="0" hangingPunct="1">
              <a:lnSpc>
                <a:spcPct val="100000"/>
              </a:lnSpc>
              <a:spcBef>
                <a:spcPts val="760"/>
              </a:spcBef>
              <a:spcAft>
                <a:spcPts val="0"/>
              </a:spcAft>
              <a:buClr>
                <a:srgbClr val="83992A"/>
              </a:buClr>
              <a:buSzPct val="114285"/>
              <a:buFontTx/>
              <a:buAutoNum type="arabicPeriod"/>
              <a:tabLst>
                <a:tab pos="838835" algn="l"/>
              </a:tabLst>
              <a:defRPr/>
            </a:pP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There</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05" normalizeH="0" baseline="0" noProof="0" dirty="0">
                <a:ln>
                  <a:noFill/>
                </a:ln>
                <a:solidFill>
                  <a:srgbClr val="252525"/>
                </a:solidFill>
                <a:effectLst/>
                <a:uLnTx/>
                <a:uFillTx/>
                <a:latin typeface="Times New Roman"/>
                <a:ea typeface="+mn-ea"/>
                <a:cs typeface="Times New Roman"/>
              </a:rPr>
              <a:t>is</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10" normalizeH="0" baseline="0" noProof="0" dirty="0">
                <a:ln>
                  <a:noFill/>
                </a:ln>
                <a:solidFill>
                  <a:srgbClr val="252525"/>
                </a:solidFill>
                <a:effectLst/>
                <a:uLnTx/>
                <a:uFillTx/>
                <a:latin typeface="Times New Roman"/>
                <a:ea typeface="+mn-ea"/>
                <a:cs typeface="Times New Roman"/>
              </a:rPr>
              <a:t>a</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252525"/>
                </a:solidFill>
                <a:effectLst/>
                <a:uLnTx/>
                <a:uFillTx/>
                <a:latin typeface="Times New Roman"/>
                <a:ea typeface="+mn-ea"/>
                <a:cs typeface="Times New Roman"/>
              </a:rPr>
              <a:t>carry</a:t>
            </a:r>
            <a:r>
              <a:rPr kumimoji="0" sz="2800" b="0" i="0" u="none" strike="noStrike" kern="1200" cap="none" spc="-1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out</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10" normalizeH="0" baseline="0" noProof="0" dirty="0">
                <a:ln>
                  <a:noFill/>
                </a:ln>
                <a:solidFill>
                  <a:srgbClr val="252525"/>
                </a:solidFill>
                <a:effectLst/>
                <a:uLnTx/>
                <a:uFillTx/>
                <a:latin typeface="Times New Roman"/>
                <a:ea typeface="+mn-ea"/>
                <a:cs typeface="Times New Roman"/>
              </a:rPr>
              <a:t>from</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the</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204" normalizeH="0" baseline="0" noProof="0" dirty="0">
                <a:ln>
                  <a:noFill/>
                </a:ln>
                <a:solidFill>
                  <a:srgbClr val="252525"/>
                </a:solidFill>
                <a:effectLst/>
                <a:uLnTx/>
                <a:uFillTx/>
                <a:latin typeface="Times New Roman"/>
                <a:ea typeface="+mn-ea"/>
                <a:cs typeface="Times New Roman"/>
              </a:rPr>
              <a:t>MSB,</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but</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20" normalizeH="0" baseline="0" noProof="0" dirty="0">
                <a:ln>
                  <a:noFill/>
                </a:ln>
                <a:solidFill>
                  <a:srgbClr val="252525"/>
                </a:solidFill>
                <a:effectLst/>
                <a:uLnTx/>
                <a:uFillTx/>
                <a:latin typeface="Times New Roman"/>
                <a:ea typeface="+mn-ea"/>
                <a:cs typeface="Times New Roman"/>
              </a:rPr>
              <a:t>no</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5" normalizeH="0" baseline="0" noProof="0" dirty="0">
                <a:ln>
                  <a:noFill/>
                </a:ln>
                <a:solidFill>
                  <a:srgbClr val="252525"/>
                </a:solidFill>
                <a:effectLst/>
                <a:uLnTx/>
                <a:uFillTx/>
                <a:latin typeface="Times New Roman"/>
                <a:ea typeface="+mn-ea"/>
                <a:cs typeface="Times New Roman"/>
              </a:rPr>
              <a:t>carry</a:t>
            </a:r>
            <a:r>
              <a:rPr kumimoji="0" sz="2800" b="0" i="0" u="none" strike="noStrike" kern="1200" cap="none" spc="-15" normalizeH="0" baseline="0" noProof="0" dirty="0">
                <a:ln>
                  <a:noFill/>
                </a:ln>
                <a:solidFill>
                  <a:srgbClr val="252525"/>
                </a:solidFill>
                <a:effectLst/>
                <a:uLnTx/>
                <a:uFillTx/>
                <a:latin typeface="Times New Roman"/>
                <a:ea typeface="+mn-ea"/>
                <a:cs typeface="Times New Roman"/>
              </a:rPr>
              <a:t> into</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5" normalizeH="0" baseline="0" noProof="0" dirty="0">
                <a:ln>
                  <a:noFill/>
                </a:ln>
                <a:solidFill>
                  <a:srgbClr val="252525"/>
                </a:solidFill>
                <a:effectLst/>
                <a:uLnTx/>
                <a:uFillTx/>
                <a:latin typeface="Times New Roman"/>
                <a:ea typeface="+mn-ea"/>
                <a:cs typeface="Times New Roman"/>
              </a:rPr>
              <a:t>the</a:t>
            </a:r>
            <a:r>
              <a:rPr kumimoji="0" sz="2800" b="0" i="0" u="none" strike="noStrike" kern="1200" cap="none" spc="0" normalizeH="0" baseline="0" noProof="0" dirty="0">
                <a:ln>
                  <a:noFill/>
                </a:ln>
                <a:solidFill>
                  <a:srgbClr val="252525"/>
                </a:solidFill>
                <a:effectLst/>
                <a:uLnTx/>
                <a:uFillTx/>
                <a:latin typeface="Times New Roman"/>
                <a:ea typeface="+mn-ea"/>
                <a:cs typeface="Times New Roman"/>
              </a:rPr>
              <a:t> </a:t>
            </a:r>
            <a:r>
              <a:rPr kumimoji="0" sz="2800" b="0" i="0" u="none" strike="noStrike" kern="1200" cap="none" spc="-200" normalizeH="0" baseline="0" noProof="0" dirty="0">
                <a:ln>
                  <a:noFill/>
                </a:ln>
                <a:solidFill>
                  <a:srgbClr val="252525"/>
                </a:solidFill>
                <a:effectLst/>
                <a:uLnTx/>
                <a:uFillTx/>
                <a:latin typeface="Times New Roman"/>
                <a:ea typeface="+mn-ea"/>
                <a:cs typeface="Times New Roman"/>
              </a:rPr>
              <a:t>MSB.</a:t>
            </a:r>
            <a:endParaRPr kumimoji="0" sz="2800" b="0" i="0" u="none" strike="noStrike" kern="1200" cap="none" spc="0" normalizeH="0" baseline="0" noProof="0">
              <a:ln>
                <a:noFill/>
              </a:ln>
              <a:solidFill>
                <a:prstClr val="black"/>
              </a:solidFill>
              <a:effectLst/>
              <a:uLnTx/>
              <a:uFillTx/>
              <a:latin typeface="Times New Roman"/>
              <a:ea typeface="+mn-ea"/>
              <a:cs typeface="Times New Roman"/>
            </a:endParaRPr>
          </a:p>
        </p:txBody>
      </p:sp>
    </p:spTree>
    <p:extLst>
      <p:ext uri="{BB962C8B-B14F-4D97-AF65-F5344CB8AC3E}">
        <p14:creationId xmlns:p14="http://schemas.microsoft.com/office/powerpoint/2010/main" val="10773534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608076" y="609600"/>
            <a:ext cx="10972800" cy="5638800"/>
          </a:xfrm>
          <a:custGeom>
            <a:avLst/>
            <a:gdLst/>
            <a:ahLst/>
            <a:cxnLst/>
            <a:rect l="l" t="t" r="r" b="b"/>
            <a:pathLst>
              <a:path w="10972800" h="5638800">
                <a:moveTo>
                  <a:pt x="0" y="5638800"/>
                </a:moveTo>
                <a:lnTo>
                  <a:pt x="10972800" y="5638800"/>
                </a:lnTo>
                <a:lnTo>
                  <a:pt x="10972800" y="0"/>
                </a:lnTo>
                <a:lnTo>
                  <a:pt x="0" y="0"/>
                </a:lnTo>
                <a:lnTo>
                  <a:pt x="0" y="5638800"/>
                </a:lnTo>
                <a:close/>
              </a:path>
            </a:pathLst>
          </a:custGeom>
          <a:ln w="15875">
            <a:solidFill>
              <a:srgbClr val="83992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object 9"/>
          <p:cNvSpPr txBox="1"/>
          <p:nvPr/>
        </p:nvSpPr>
        <p:spPr>
          <a:xfrm>
            <a:off x="1163827" y="2550922"/>
            <a:ext cx="9465945" cy="3326551"/>
          </a:xfrm>
          <a:prstGeom prst="rect">
            <a:avLst/>
          </a:prstGeom>
        </p:spPr>
        <p:txBody>
          <a:bodyPr vert="horz" wrap="square" lIns="0" tIns="33019" rIns="0" bIns="0" rtlCol="0">
            <a:spAutoFit/>
          </a:bodyPr>
          <a:lstStyle/>
          <a:p>
            <a:pPr marL="299085" marR="5080" lvl="0" indent="0" algn="l" defTabSz="914400" rtl="0" eaLnBrk="1" fontAlgn="auto" latinLnBrk="0" hangingPunct="1">
              <a:lnSpc>
                <a:spcPts val="3190"/>
              </a:lnSpc>
              <a:spcBef>
                <a:spcPts val="259"/>
              </a:spcBef>
              <a:spcAft>
                <a:spcPts val="0"/>
              </a:spcAft>
              <a:buClr>
                <a:srgbClr val="83992A"/>
              </a:buClr>
              <a:buSzPct val="114583"/>
              <a:buFont typeface="Arial MT"/>
              <a:buChar char="•"/>
              <a:tabLst>
                <a:tab pos="436880" algn="l"/>
              </a:tabLst>
              <a:defRPr/>
            </a:pPr>
            <a:r>
              <a:rPr kumimoji="0" sz="2400" b="0" i="0" u="none" strike="noStrike" kern="1200" cap="none" spc="-135" normalizeH="0" baseline="0" noProof="0" dirty="0">
                <a:ln>
                  <a:noFill/>
                </a:ln>
                <a:solidFill>
                  <a:srgbClr val="2B2427"/>
                </a:solidFill>
                <a:effectLst/>
                <a:uLnTx/>
                <a:uFillTx/>
                <a:latin typeface="Times New Roman"/>
                <a:ea typeface="+mn-ea"/>
                <a:cs typeface="Times New Roman"/>
              </a:rPr>
              <a:t>To</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90" normalizeH="0" baseline="0" noProof="0" dirty="0">
                <a:ln>
                  <a:noFill/>
                </a:ln>
                <a:solidFill>
                  <a:srgbClr val="2B2427"/>
                </a:solidFill>
                <a:effectLst/>
                <a:uLnTx/>
                <a:uFillTx/>
                <a:latin typeface="Times New Roman"/>
                <a:ea typeface="+mn-ea"/>
                <a:cs typeface="Times New Roman"/>
              </a:rPr>
              <a:t>understand</a:t>
            </a:r>
            <a:r>
              <a:rPr kumimoji="0" sz="2400" b="0" i="0" u="none" strike="noStrike" kern="1200" cap="none" spc="-14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5" normalizeH="0" baseline="0" noProof="0" dirty="0">
                <a:ln>
                  <a:noFill/>
                </a:ln>
                <a:solidFill>
                  <a:srgbClr val="2B2427"/>
                </a:solidFill>
                <a:effectLst/>
                <a:uLnTx/>
                <a:uFillTx/>
                <a:latin typeface="Times New Roman"/>
                <a:ea typeface="+mn-ea"/>
                <a:cs typeface="Times New Roman"/>
              </a:rPr>
              <a:t>the</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90" normalizeH="0" baseline="0" noProof="0" dirty="0">
                <a:ln>
                  <a:noFill/>
                </a:ln>
                <a:solidFill>
                  <a:srgbClr val="2B2427"/>
                </a:solidFill>
                <a:effectLst/>
                <a:uLnTx/>
                <a:uFillTx/>
                <a:latin typeface="Times New Roman"/>
                <a:ea typeface="+mn-ea"/>
                <a:cs typeface="Times New Roman"/>
              </a:rPr>
              <a:t>overflow</a:t>
            </a:r>
            <a:r>
              <a:rPr kumimoji="0" sz="2400" b="0" i="0" u="none" strike="noStrike" kern="1200" cap="none" spc="-14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flag,</a:t>
            </a:r>
            <a:r>
              <a:rPr kumimoji="0" sz="2400" b="0" i="0" u="none" strike="noStrike" kern="1200" cap="none" spc="-15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5" normalizeH="0" baseline="0" noProof="0" dirty="0">
                <a:ln>
                  <a:noFill/>
                </a:ln>
                <a:solidFill>
                  <a:srgbClr val="2B2427"/>
                </a:solidFill>
                <a:effectLst/>
                <a:uLnTx/>
                <a:uFillTx/>
                <a:latin typeface="Times New Roman"/>
                <a:ea typeface="+mn-ea"/>
                <a:cs typeface="Times New Roman"/>
              </a:rPr>
              <a:t>let</a:t>
            </a:r>
            <a:r>
              <a:rPr kumimoji="0" sz="2400" b="0" i="0" u="none" strike="noStrike" kern="1200" cap="none" spc="-18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use</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0" normalizeH="0" baseline="0" noProof="0" dirty="0">
                <a:ln>
                  <a:noFill/>
                </a:ln>
                <a:solidFill>
                  <a:srgbClr val="2B2427"/>
                </a:solidFill>
                <a:effectLst/>
                <a:uLnTx/>
                <a:uFillTx/>
                <a:latin typeface="Times New Roman"/>
                <a:ea typeface="+mn-ea"/>
                <a:cs typeface="Times New Roman"/>
              </a:rPr>
              <a:t>an</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90" normalizeH="0" baseline="0" noProof="0" dirty="0">
                <a:ln>
                  <a:noFill/>
                </a:ln>
                <a:solidFill>
                  <a:srgbClr val="2B2427"/>
                </a:solidFill>
                <a:effectLst/>
                <a:uLnTx/>
                <a:uFillTx/>
                <a:latin typeface="Times New Roman"/>
                <a:ea typeface="+mn-ea"/>
                <a:cs typeface="Times New Roman"/>
              </a:rPr>
              <a:t>example.</a:t>
            </a:r>
            <a:r>
              <a:rPr kumimoji="0" sz="2400" b="0" i="0" u="none" strike="noStrike" kern="1200" cap="none" spc="-19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155" normalizeH="0" baseline="0" noProof="0" dirty="0">
                <a:ln>
                  <a:noFill/>
                </a:ln>
                <a:solidFill>
                  <a:srgbClr val="2B2427"/>
                </a:solidFill>
                <a:effectLst/>
                <a:uLnTx/>
                <a:uFillTx/>
                <a:latin typeface="Times New Roman"/>
                <a:ea typeface="+mn-ea"/>
                <a:cs typeface="Times New Roman"/>
              </a:rPr>
              <a:t>We</a:t>
            </a:r>
            <a:r>
              <a:rPr kumimoji="0" sz="2400" b="0" i="0" u="none" strike="noStrike" kern="1200" cap="none" spc="-15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5" normalizeH="0" baseline="0" noProof="0" dirty="0">
                <a:ln>
                  <a:noFill/>
                </a:ln>
                <a:solidFill>
                  <a:srgbClr val="2B2427"/>
                </a:solidFill>
                <a:effectLst/>
                <a:uLnTx/>
                <a:uFillTx/>
                <a:latin typeface="Times New Roman"/>
                <a:ea typeface="+mn-ea"/>
                <a:cs typeface="Times New Roman"/>
              </a:rPr>
              <a:t>declare</a:t>
            </a:r>
            <a:r>
              <a:rPr kumimoji="0" sz="2400" b="0" i="0" u="none" strike="noStrike" kern="1200" cap="none" spc="-17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5" normalizeH="0" baseline="0" noProof="0" dirty="0">
                <a:ln>
                  <a:noFill/>
                </a:ln>
                <a:solidFill>
                  <a:srgbClr val="2B2427"/>
                </a:solidFill>
                <a:effectLst/>
                <a:uLnTx/>
                <a:uFillTx/>
                <a:latin typeface="Times New Roman"/>
                <a:ea typeface="+mn-ea"/>
                <a:cs typeface="Times New Roman"/>
              </a:rPr>
              <a:t>that</a:t>
            </a:r>
            <a:r>
              <a:rPr kumimoji="0" sz="2400" b="0" i="0" u="none" strike="noStrike" kern="1200" cap="none" spc="-18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5" normalizeH="0" baseline="0" noProof="0" dirty="0">
                <a:ln>
                  <a:noFill/>
                </a:ln>
                <a:solidFill>
                  <a:srgbClr val="2B2427"/>
                </a:solidFill>
                <a:effectLst/>
                <a:uLnTx/>
                <a:uFillTx/>
                <a:latin typeface="Times New Roman"/>
                <a:ea typeface="+mn-ea"/>
                <a:cs typeface="Times New Roman"/>
              </a:rPr>
              <a:t>the</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numbers </a:t>
            </a:r>
            <a:r>
              <a:rPr kumimoji="0" sz="2400" b="0" i="0" u="none" strike="noStrike" kern="1200" cap="none" spc="-58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0" normalizeH="0" baseline="0" noProof="0" dirty="0">
                <a:ln>
                  <a:noFill/>
                </a:ln>
                <a:solidFill>
                  <a:srgbClr val="2B2427"/>
                </a:solidFill>
                <a:effectLst/>
                <a:uLnTx/>
                <a:uFillTx/>
                <a:latin typeface="Times New Roman"/>
                <a:ea typeface="+mn-ea"/>
                <a:cs typeface="Times New Roman"/>
              </a:rPr>
              <a:t>we</a:t>
            </a:r>
            <a:r>
              <a:rPr kumimoji="0" sz="2400" b="0" i="0" u="none" strike="noStrike" kern="1200" cap="none" spc="-15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0" normalizeH="0" baseline="0" noProof="0" dirty="0">
                <a:ln>
                  <a:noFill/>
                </a:ln>
                <a:solidFill>
                  <a:srgbClr val="2B2427"/>
                </a:solidFill>
                <a:effectLst/>
                <a:uLnTx/>
                <a:uFillTx/>
                <a:latin typeface="Times New Roman"/>
                <a:ea typeface="+mn-ea"/>
                <a:cs typeface="Times New Roman"/>
              </a:rPr>
              <a:t>use</a:t>
            </a:r>
            <a:r>
              <a:rPr kumimoji="0" sz="2400" b="0" i="0" u="none" strike="noStrike" kern="1200" cap="none" spc="-15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5" normalizeH="0" baseline="0" noProof="0" dirty="0">
                <a:ln>
                  <a:noFill/>
                </a:ln>
                <a:solidFill>
                  <a:srgbClr val="2B2427"/>
                </a:solidFill>
                <a:effectLst/>
                <a:uLnTx/>
                <a:uFillTx/>
                <a:latin typeface="Times New Roman"/>
                <a:ea typeface="+mn-ea"/>
                <a:cs typeface="Times New Roman"/>
              </a:rPr>
              <a:t>are</a:t>
            </a:r>
            <a:r>
              <a:rPr kumimoji="0" sz="2400" b="0" i="0" u="none" strike="noStrike" kern="1200" cap="none" spc="-17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'signed'.</a:t>
            </a:r>
            <a:r>
              <a:rPr kumimoji="0" sz="2400" b="0" i="0" u="none" strike="noStrike" kern="1200" cap="none" spc="-14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150" normalizeH="0" baseline="0" noProof="0" dirty="0">
                <a:ln>
                  <a:noFill/>
                </a:ln>
                <a:solidFill>
                  <a:srgbClr val="2B2427"/>
                </a:solidFill>
                <a:effectLst/>
                <a:uLnTx/>
                <a:uFillTx/>
                <a:latin typeface="Times New Roman"/>
                <a:ea typeface="+mn-ea"/>
                <a:cs typeface="Times New Roman"/>
              </a:rPr>
              <a:t>We</a:t>
            </a:r>
            <a:r>
              <a:rPr kumimoji="0" sz="2400" b="0" i="0" u="none" strike="noStrike" kern="1200" cap="none" spc="-14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0" normalizeH="0" baseline="0" noProof="0" dirty="0">
                <a:ln>
                  <a:noFill/>
                </a:ln>
                <a:solidFill>
                  <a:srgbClr val="2B2427"/>
                </a:solidFill>
                <a:effectLst/>
                <a:uLnTx/>
                <a:uFillTx/>
                <a:latin typeface="Times New Roman"/>
                <a:ea typeface="+mn-ea"/>
                <a:cs typeface="Times New Roman"/>
              </a:rPr>
              <a:t>add</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45" normalizeH="0" baseline="0" noProof="0" dirty="0">
                <a:ln>
                  <a:noFill/>
                </a:ln>
                <a:solidFill>
                  <a:srgbClr val="2B2427"/>
                </a:solidFill>
                <a:effectLst/>
                <a:uLnTx/>
                <a:uFillTx/>
                <a:latin typeface="Times New Roman"/>
                <a:ea typeface="+mn-ea"/>
                <a:cs typeface="Times New Roman"/>
              </a:rPr>
              <a:t>+5</a:t>
            </a:r>
            <a:r>
              <a:rPr kumimoji="0" sz="2400" b="0" i="0" u="none" strike="noStrike" kern="1200" cap="none" spc="-17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0" normalizeH="0" baseline="0" noProof="0" dirty="0">
                <a:ln>
                  <a:noFill/>
                </a:ln>
                <a:solidFill>
                  <a:srgbClr val="2B2427"/>
                </a:solidFill>
                <a:effectLst/>
                <a:uLnTx/>
                <a:uFillTx/>
                <a:latin typeface="Times New Roman"/>
                <a:ea typeface="+mn-ea"/>
                <a:cs typeface="Times New Roman"/>
              </a:rPr>
              <a:t>and</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45" normalizeH="0" baseline="0" noProof="0" dirty="0">
                <a:ln>
                  <a:noFill/>
                </a:ln>
                <a:solidFill>
                  <a:srgbClr val="2B2427"/>
                </a:solidFill>
                <a:effectLst/>
                <a:uLnTx/>
                <a:uFillTx/>
                <a:latin typeface="Times New Roman"/>
                <a:ea typeface="+mn-ea"/>
                <a:cs typeface="Times New Roman"/>
              </a:rPr>
              <a:t>+4</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using</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four-bit</a:t>
            </a:r>
            <a:r>
              <a:rPr kumimoji="0" sz="2400" b="0" i="0" u="none" strike="noStrike" kern="1200" cap="none" spc="-14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5" normalizeH="0" baseline="0" noProof="0" dirty="0">
                <a:ln>
                  <a:noFill/>
                </a:ln>
                <a:solidFill>
                  <a:srgbClr val="2B2427"/>
                </a:solidFill>
                <a:effectLst/>
                <a:uLnTx/>
                <a:uFillTx/>
                <a:latin typeface="Times New Roman"/>
                <a:ea typeface="+mn-ea"/>
                <a:cs typeface="Times New Roman"/>
              </a:rPr>
              <a:t>word</a:t>
            </a:r>
            <a:r>
              <a:rPr kumimoji="0" sz="2400" b="0" i="0" u="none" strike="noStrike" kern="1200" cap="none" spc="-14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5" normalizeH="0" baseline="0" noProof="0" dirty="0">
                <a:ln>
                  <a:noFill/>
                </a:ln>
                <a:solidFill>
                  <a:srgbClr val="2B2427"/>
                </a:solidFill>
                <a:effectLst/>
                <a:uLnTx/>
                <a:uFillTx/>
                <a:latin typeface="Times New Roman"/>
                <a:ea typeface="+mn-ea"/>
                <a:cs typeface="Times New Roman"/>
              </a:rPr>
              <a:t>length.</a:t>
            </a: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0" marR="7139305" lvl="0" indent="0" algn="r" defTabSz="914400" rtl="0" eaLnBrk="1" fontAlgn="auto" latinLnBrk="0" hangingPunct="1">
              <a:lnSpc>
                <a:spcPct val="100000"/>
              </a:lnSpc>
              <a:spcBef>
                <a:spcPts val="480"/>
              </a:spcBef>
              <a:spcAft>
                <a:spcPts val="0"/>
              </a:spcAft>
              <a:buClrTx/>
              <a:buSzTx/>
              <a:buFontTx/>
              <a:buNone/>
              <a:tabLst/>
              <a:defRPr/>
            </a:pPr>
            <a:r>
              <a:rPr kumimoji="0" sz="2400" b="0" i="0" u="none" strike="noStrike" kern="1200" cap="none" spc="-90" normalizeH="0" baseline="0" noProof="0" dirty="0">
                <a:ln>
                  <a:noFill/>
                </a:ln>
                <a:solidFill>
                  <a:srgbClr val="2B2427"/>
                </a:solidFill>
                <a:effectLst/>
                <a:uLnTx/>
                <a:uFillTx/>
                <a:latin typeface="Times New Roman"/>
                <a:ea typeface="+mn-ea"/>
                <a:cs typeface="Times New Roman"/>
              </a:rPr>
              <a:t>T</a:t>
            </a:r>
            <a:r>
              <a:rPr kumimoji="0" sz="2400" b="0" i="0" u="none" strike="noStrike" kern="1200" cap="none" spc="-85" normalizeH="0" baseline="0" noProof="0" dirty="0">
                <a:ln>
                  <a:noFill/>
                </a:ln>
                <a:solidFill>
                  <a:srgbClr val="2B2427"/>
                </a:solidFill>
                <a:effectLst/>
                <a:uLnTx/>
                <a:uFillTx/>
                <a:latin typeface="Times New Roman"/>
                <a:ea typeface="+mn-ea"/>
                <a:cs typeface="Times New Roman"/>
              </a:rPr>
              <a:t>h</a:t>
            </a:r>
            <a:r>
              <a:rPr kumimoji="0" sz="2400" b="0" i="0" u="none" strike="noStrike" kern="1200" cap="none" spc="0" normalizeH="0" baseline="0" noProof="0" dirty="0">
                <a:ln>
                  <a:noFill/>
                </a:ln>
                <a:solidFill>
                  <a:srgbClr val="2B2427"/>
                </a:solidFill>
                <a:effectLst/>
                <a:uLnTx/>
                <a:uFillTx/>
                <a:latin typeface="Times New Roman"/>
                <a:ea typeface="+mn-ea"/>
                <a:cs typeface="Times New Roman"/>
              </a:rPr>
              <a:t>e</a:t>
            </a:r>
            <a:r>
              <a:rPr kumimoji="0" sz="2400" b="0" i="0" u="none" strike="noStrike" kern="1200" cap="none" spc="-15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5" normalizeH="0" baseline="0" noProof="0" dirty="0">
                <a:ln>
                  <a:noFill/>
                </a:ln>
                <a:solidFill>
                  <a:srgbClr val="2B2427"/>
                </a:solidFill>
                <a:effectLst/>
                <a:uLnTx/>
                <a:uFillTx/>
                <a:latin typeface="Times New Roman"/>
                <a:ea typeface="+mn-ea"/>
                <a:cs typeface="Times New Roman"/>
              </a:rPr>
              <a:t>add</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iti</a:t>
            </a:r>
            <a:r>
              <a:rPr kumimoji="0" sz="2400" b="0" i="0" u="none" strike="noStrike" kern="1200" cap="none" spc="-85" normalizeH="0" baseline="0" noProof="0" dirty="0">
                <a:ln>
                  <a:noFill/>
                </a:ln>
                <a:solidFill>
                  <a:srgbClr val="2B2427"/>
                </a:solidFill>
                <a:effectLst/>
                <a:uLnTx/>
                <a:uFillTx/>
                <a:latin typeface="Times New Roman"/>
                <a:ea typeface="+mn-ea"/>
                <a:cs typeface="Times New Roman"/>
              </a:rPr>
              <a:t>o</a:t>
            </a:r>
            <a:r>
              <a:rPr kumimoji="0" sz="2400" b="0" i="0" u="none" strike="noStrike" kern="1200" cap="none" spc="0" normalizeH="0" baseline="0" noProof="0" dirty="0">
                <a:ln>
                  <a:noFill/>
                </a:ln>
                <a:solidFill>
                  <a:srgbClr val="2B2427"/>
                </a:solidFill>
                <a:effectLst/>
                <a:uLnTx/>
                <a:uFillTx/>
                <a:latin typeface="Times New Roman"/>
                <a:ea typeface="+mn-ea"/>
                <a:cs typeface="Times New Roman"/>
              </a:rPr>
              <a:t>n</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smtClean="0">
                <a:ln>
                  <a:noFill/>
                </a:ln>
                <a:solidFill>
                  <a:srgbClr val="2B2427"/>
                </a:solidFill>
                <a:effectLst/>
                <a:uLnTx/>
                <a:uFillTx/>
                <a:latin typeface="Times New Roman"/>
                <a:ea typeface="+mn-ea"/>
                <a:cs typeface="Times New Roman"/>
              </a:rPr>
              <a:t>i</a:t>
            </a:r>
            <a:r>
              <a:rPr kumimoji="0" sz="2400" b="0" i="0" u="none" strike="noStrike" kern="1200" cap="none" spc="0" normalizeH="0" baseline="0" noProof="0" dirty="0" smtClean="0">
                <a:ln>
                  <a:noFill/>
                </a:ln>
                <a:solidFill>
                  <a:srgbClr val="2B2427"/>
                </a:solidFill>
                <a:effectLst/>
                <a:uLnTx/>
                <a:uFillTx/>
                <a:latin typeface="Times New Roman"/>
                <a:ea typeface="+mn-ea"/>
                <a:cs typeface="Times New Roman"/>
              </a:rPr>
              <a:t>s</a:t>
            </a:r>
            <a:r>
              <a:rPr kumimoji="0" lang="en-US" sz="2400" b="0" i="0" u="none" strike="noStrike" kern="1200" cap="none" spc="0" normalizeH="0" baseline="0" noProof="0" dirty="0" smtClean="0">
                <a:ln>
                  <a:noFill/>
                </a:ln>
                <a:solidFill>
                  <a:srgbClr val="2B2427"/>
                </a:solidFill>
                <a:effectLst/>
                <a:uLnTx/>
                <a:uFillTx/>
                <a:latin typeface="Times New Roman"/>
                <a:ea typeface="+mn-ea"/>
                <a:cs typeface="Times New Roman"/>
              </a:rPr>
              <a:t>  </a:t>
            </a:r>
            <a:r>
              <a:rPr kumimoji="0" sz="2400" b="0" i="0" u="none" strike="noStrike" kern="1200" cap="none" spc="-170" normalizeH="0" baseline="0" noProof="0" dirty="0" smtClean="0">
                <a:ln>
                  <a:noFill/>
                </a:ln>
                <a:solidFill>
                  <a:srgbClr val="2B2427"/>
                </a:solidFill>
                <a:effectLst/>
                <a:uLnTx/>
                <a:uFillTx/>
                <a:latin typeface="Times New Roman"/>
                <a:ea typeface="+mn-ea"/>
                <a:cs typeface="Times New Roman"/>
              </a:rPr>
              <a:t> </a:t>
            </a:r>
            <a:r>
              <a:rPr kumimoji="0" sz="2400" b="0" i="0" u="none" strike="noStrike" kern="1200" cap="none" spc="-90" normalizeH="0" baseline="0" noProof="0" dirty="0">
                <a:ln>
                  <a:noFill/>
                </a:ln>
                <a:solidFill>
                  <a:srgbClr val="2B2427"/>
                </a:solidFill>
                <a:effectLst/>
                <a:uLnTx/>
                <a:uFillTx/>
                <a:latin typeface="Times New Roman"/>
                <a:ea typeface="+mn-ea"/>
                <a:cs typeface="Times New Roman"/>
              </a:rPr>
              <a:t>0101</a:t>
            </a: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0" marR="7131684" lvl="0" indent="0" algn="r" defTabSz="914400" rtl="0" eaLnBrk="1" fontAlgn="auto" latinLnBrk="0" hangingPunct="1">
              <a:lnSpc>
                <a:spcPct val="100000"/>
              </a:lnSpc>
              <a:spcBef>
                <a:spcPts val="409"/>
              </a:spcBef>
              <a:spcAft>
                <a:spcPts val="0"/>
              </a:spcAft>
              <a:buClrTx/>
              <a:buSzTx/>
              <a:buFontTx/>
              <a:buNone/>
              <a:tabLst/>
              <a:defRPr/>
            </a:pPr>
            <a:r>
              <a:rPr kumimoji="0" sz="2400" b="0" i="0" u="heavy" strike="noStrike" kern="1200" cap="none" spc="0" normalizeH="0" baseline="0" noProof="0" dirty="0">
                <a:ln>
                  <a:noFill/>
                </a:ln>
                <a:solidFill>
                  <a:srgbClr val="2B2427"/>
                </a:solidFill>
                <a:effectLst/>
                <a:uLnTx/>
                <a:uFill>
                  <a:solidFill>
                    <a:srgbClr val="2B2427"/>
                  </a:solidFill>
                </a:uFill>
                <a:latin typeface="Times New Roman"/>
                <a:ea typeface="+mn-ea"/>
                <a:cs typeface="Times New Roman"/>
              </a:rPr>
              <a:t>+</a:t>
            </a:r>
            <a:r>
              <a:rPr kumimoji="0" sz="2400" b="0" i="0" u="heavy" strike="noStrike" kern="1200" cap="none" spc="-165" normalizeH="0" baseline="0" noProof="0" dirty="0">
                <a:ln>
                  <a:noFill/>
                </a:ln>
                <a:solidFill>
                  <a:srgbClr val="2B2427"/>
                </a:solidFill>
                <a:effectLst/>
                <a:uLnTx/>
                <a:uFill>
                  <a:solidFill>
                    <a:srgbClr val="2B2427"/>
                  </a:solidFill>
                </a:uFill>
                <a:latin typeface="Times New Roman"/>
                <a:ea typeface="+mn-ea"/>
                <a:cs typeface="Times New Roman"/>
              </a:rPr>
              <a:t> </a:t>
            </a:r>
            <a:r>
              <a:rPr kumimoji="0" sz="2400" b="0" i="0" u="heavy" strike="noStrike" kern="1200" cap="none" spc="-85" normalizeH="0" baseline="0" noProof="0" dirty="0">
                <a:ln>
                  <a:noFill/>
                </a:ln>
                <a:solidFill>
                  <a:srgbClr val="2B2427"/>
                </a:solidFill>
                <a:effectLst/>
                <a:uLnTx/>
                <a:uFill>
                  <a:solidFill>
                    <a:srgbClr val="2B2427"/>
                  </a:solidFill>
                </a:uFill>
                <a:latin typeface="Times New Roman"/>
                <a:ea typeface="+mn-ea"/>
                <a:cs typeface="Times New Roman"/>
              </a:rPr>
              <a:t>0100</a:t>
            </a: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1663064" marR="0" lvl="0" indent="0" algn="l" defTabSz="914400" rtl="0" eaLnBrk="1" fontAlgn="auto" latinLnBrk="0" hangingPunct="1">
              <a:lnSpc>
                <a:spcPct val="100000"/>
              </a:lnSpc>
              <a:spcBef>
                <a:spcPts val="395"/>
              </a:spcBef>
              <a:spcAft>
                <a:spcPts val="0"/>
              </a:spcAft>
              <a:buClrTx/>
              <a:buSzTx/>
              <a:buFontTx/>
              <a:buNone/>
              <a:tabLst/>
              <a:defRPr/>
            </a:pPr>
            <a:r>
              <a:rPr kumimoji="0" lang="en-US" sz="2400" b="0" i="0" u="none" strike="noStrike" kern="1200" cap="none" spc="-85" normalizeH="0" baseline="0" noProof="0" dirty="0" smtClean="0">
                <a:ln>
                  <a:noFill/>
                </a:ln>
                <a:solidFill>
                  <a:srgbClr val="2B2427"/>
                </a:solidFill>
                <a:effectLst/>
                <a:uLnTx/>
                <a:uFillTx/>
                <a:latin typeface="Times New Roman"/>
                <a:ea typeface="+mn-ea"/>
                <a:cs typeface="Times New Roman"/>
              </a:rPr>
              <a:t>  </a:t>
            </a:r>
            <a:r>
              <a:rPr kumimoji="0" sz="2400" b="0" i="0" u="none" strike="noStrike" kern="1200" cap="none" spc="-85" normalizeH="0" baseline="0" noProof="0" dirty="0" smtClean="0">
                <a:ln>
                  <a:noFill/>
                </a:ln>
                <a:solidFill>
                  <a:srgbClr val="2B2427"/>
                </a:solidFill>
                <a:effectLst/>
                <a:uLnTx/>
                <a:uFillTx/>
                <a:latin typeface="Times New Roman"/>
                <a:ea typeface="+mn-ea"/>
                <a:cs typeface="Times New Roman"/>
              </a:rPr>
              <a:t>1001</a:t>
            </a: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222885" marR="656590" lvl="0" indent="0" algn="l" defTabSz="914400" rtl="0" eaLnBrk="1" fontAlgn="auto" latinLnBrk="0" hangingPunct="1">
              <a:lnSpc>
                <a:spcPct val="100000"/>
              </a:lnSpc>
              <a:spcBef>
                <a:spcPts val="655"/>
              </a:spcBef>
              <a:spcAft>
                <a:spcPts val="0"/>
              </a:spcAft>
              <a:buClrTx/>
              <a:buSzTx/>
              <a:buFontTx/>
              <a:buNone/>
              <a:tabLst/>
              <a:defRPr/>
            </a:pP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The</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sum</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5" normalizeH="0" baseline="0" noProof="0" dirty="0">
                <a:ln>
                  <a:noFill/>
                </a:ln>
                <a:solidFill>
                  <a:srgbClr val="2B2427"/>
                </a:solidFill>
                <a:effectLst/>
                <a:uLnTx/>
                <a:uFillTx/>
                <a:latin typeface="Times New Roman"/>
                <a:ea typeface="+mn-ea"/>
                <a:cs typeface="Times New Roman"/>
              </a:rPr>
              <a:t>shows</a:t>
            </a:r>
            <a:r>
              <a:rPr kumimoji="0" sz="2400" b="0" i="0" u="none" strike="noStrike" kern="1200" cap="none" spc="-14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5" normalizeH="0" baseline="0" noProof="0" dirty="0">
                <a:ln>
                  <a:noFill/>
                </a:ln>
                <a:solidFill>
                  <a:srgbClr val="2B2427"/>
                </a:solidFill>
                <a:effectLst/>
                <a:uLnTx/>
                <a:uFillTx/>
                <a:latin typeface="Times New Roman"/>
                <a:ea typeface="+mn-ea"/>
                <a:cs typeface="Times New Roman"/>
              </a:rPr>
              <a:t>the</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MSB</a:t>
            </a:r>
            <a:r>
              <a:rPr kumimoji="0" sz="2400" b="0" i="0" u="none" strike="noStrike" kern="1200" cap="none" spc="-17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0" normalizeH="0" baseline="0" noProof="0" dirty="0">
                <a:ln>
                  <a:noFill/>
                </a:ln>
                <a:solidFill>
                  <a:srgbClr val="2B2427"/>
                </a:solidFill>
                <a:effectLst/>
                <a:uLnTx/>
                <a:uFillTx/>
                <a:latin typeface="Times New Roman"/>
                <a:ea typeface="+mn-ea"/>
                <a:cs typeface="Times New Roman"/>
              </a:rPr>
              <a:t>to</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0" normalizeH="0" baseline="0" noProof="0" dirty="0">
                <a:ln>
                  <a:noFill/>
                </a:ln>
                <a:solidFill>
                  <a:srgbClr val="2B2427"/>
                </a:solidFill>
                <a:effectLst/>
                <a:uLnTx/>
                <a:uFillTx/>
                <a:latin typeface="Times New Roman"/>
                <a:ea typeface="+mn-ea"/>
                <a:cs typeface="Times New Roman"/>
              </a:rPr>
              <a:t>be</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5" normalizeH="0" baseline="0" noProof="0" dirty="0">
                <a:ln>
                  <a:noFill/>
                </a:ln>
                <a:solidFill>
                  <a:srgbClr val="2B2427"/>
                </a:solidFill>
                <a:effectLst/>
                <a:uLnTx/>
                <a:uFillTx/>
                <a:latin typeface="Times New Roman"/>
                <a:ea typeface="+mn-ea"/>
                <a:cs typeface="Times New Roman"/>
              </a:rPr>
              <a:t>'1'.</a:t>
            </a:r>
            <a:r>
              <a:rPr kumimoji="0" sz="2400" b="0" i="0" u="none" strike="noStrike" kern="1200" cap="none" spc="-16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There</a:t>
            </a:r>
            <a:r>
              <a:rPr kumimoji="0" sz="2400" b="0" i="0" u="none" strike="noStrike" kern="1200" cap="none" spc="-16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has</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5" normalizeH="0" baseline="0" noProof="0" dirty="0">
                <a:ln>
                  <a:noFill/>
                </a:ln>
                <a:solidFill>
                  <a:srgbClr val="2B2427"/>
                </a:solidFill>
                <a:effectLst/>
                <a:uLnTx/>
                <a:uFillTx/>
                <a:latin typeface="Times New Roman"/>
                <a:ea typeface="+mn-ea"/>
                <a:cs typeface="Times New Roman"/>
              </a:rPr>
              <a:t>been</a:t>
            </a:r>
            <a:r>
              <a:rPr kumimoji="0" sz="2400" b="0" i="0" u="none" strike="noStrike" kern="1200" cap="none" spc="-16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0" normalizeH="0" baseline="0" noProof="0" dirty="0">
                <a:ln>
                  <a:noFill/>
                </a:ln>
                <a:solidFill>
                  <a:srgbClr val="2B2427"/>
                </a:solidFill>
                <a:effectLst/>
                <a:uLnTx/>
                <a:uFillTx/>
                <a:latin typeface="Times New Roman"/>
                <a:ea typeface="+mn-ea"/>
                <a:cs typeface="Times New Roman"/>
              </a:rPr>
              <a:t>an</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90" normalizeH="0" baseline="0" noProof="0" dirty="0">
                <a:ln>
                  <a:noFill/>
                </a:ln>
                <a:solidFill>
                  <a:srgbClr val="2B2427"/>
                </a:solidFill>
                <a:effectLst/>
                <a:uLnTx/>
                <a:uFillTx/>
                <a:latin typeface="Times New Roman"/>
                <a:ea typeface="+mn-ea"/>
                <a:cs typeface="Times New Roman"/>
              </a:rPr>
              <a:t>overflow</a:t>
            </a:r>
            <a:r>
              <a:rPr kumimoji="0" sz="2400" b="0" i="0" u="none" strike="noStrike" kern="1200" cap="none" spc="-14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5" normalizeH="0" baseline="0" noProof="0" dirty="0">
                <a:ln>
                  <a:noFill/>
                </a:ln>
                <a:solidFill>
                  <a:srgbClr val="2B2427"/>
                </a:solidFill>
                <a:effectLst/>
                <a:uLnTx/>
                <a:uFillTx/>
                <a:latin typeface="Times New Roman"/>
                <a:ea typeface="+mn-ea"/>
                <a:cs typeface="Times New Roman"/>
              </a:rPr>
              <a:t>into</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65" normalizeH="0" baseline="0" noProof="0" dirty="0">
                <a:ln>
                  <a:noFill/>
                </a:ln>
                <a:solidFill>
                  <a:srgbClr val="2B2427"/>
                </a:solidFill>
                <a:effectLst/>
                <a:uLnTx/>
                <a:uFillTx/>
                <a:latin typeface="Times New Roman"/>
                <a:ea typeface="+mn-ea"/>
                <a:cs typeface="Times New Roman"/>
              </a:rPr>
              <a:t>the</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80" normalizeH="0" baseline="0" noProof="0" dirty="0">
                <a:ln>
                  <a:noFill/>
                </a:ln>
                <a:solidFill>
                  <a:srgbClr val="2B2427"/>
                </a:solidFill>
                <a:effectLst/>
                <a:uLnTx/>
                <a:uFillTx/>
                <a:latin typeface="Times New Roman"/>
                <a:ea typeface="+mn-ea"/>
                <a:cs typeface="Times New Roman"/>
              </a:rPr>
              <a:t>MSB. </a:t>
            </a:r>
            <a:r>
              <a:rPr kumimoji="0" sz="2400" b="0" i="0" u="none" strike="noStrike" kern="1200" cap="none" spc="-58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0" normalizeH="0" baseline="0" noProof="0" dirty="0">
                <a:ln>
                  <a:noFill/>
                </a:ln>
                <a:solidFill>
                  <a:srgbClr val="2B2427"/>
                </a:solidFill>
                <a:effectLst/>
                <a:uLnTx/>
                <a:uFillTx/>
                <a:latin typeface="Times New Roman"/>
                <a:ea typeface="+mn-ea"/>
                <a:cs typeface="Times New Roman"/>
              </a:rPr>
              <a:t>The</a:t>
            </a:r>
            <a:r>
              <a:rPr kumimoji="0" sz="2400" b="0" i="0" u="none" strike="noStrike" kern="1200" cap="none" spc="-22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 normalizeH="0" baseline="0" noProof="0" dirty="0">
                <a:ln>
                  <a:noFill/>
                </a:ln>
                <a:solidFill>
                  <a:srgbClr val="2B2427"/>
                </a:solidFill>
                <a:effectLst/>
                <a:uLnTx/>
                <a:uFillTx/>
                <a:latin typeface="Times New Roman"/>
                <a:ea typeface="+mn-ea"/>
                <a:cs typeface="Times New Roman"/>
              </a:rPr>
              <a:t>V</a:t>
            </a:r>
            <a:r>
              <a:rPr kumimoji="0" sz="2400" b="0" i="0" u="none" strike="noStrike" kern="1200" cap="none" spc="-22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5" normalizeH="0" baseline="0" noProof="0" dirty="0">
                <a:ln>
                  <a:noFill/>
                </a:ln>
                <a:solidFill>
                  <a:srgbClr val="2B2427"/>
                </a:solidFill>
                <a:effectLst/>
                <a:uLnTx/>
                <a:uFillTx/>
                <a:latin typeface="Times New Roman"/>
                <a:ea typeface="+mn-ea"/>
                <a:cs typeface="Times New Roman"/>
              </a:rPr>
              <a:t>flag</a:t>
            </a:r>
            <a:r>
              <a:rPr kumimoji="0" sz="2400" b="0" i="0" u="none" strike="noStrike" kern="1200" cap="none" spc="-17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75" normalizeH="0" baseline="0" noProof="0" dirty="0">
                <a:ln>
                  <a:noFill/>
                </a:ln>
                <a:solidFill>
                  <a:srgbClr val="2B2427"/>
                </a:solidFill>
                <a:effectLst/>
                <a:uLnTx/>
                <a:uFillTx/>
                <a:latin typeface="Times New Roman"/>
                <a:ea typeface="+mn-ea"/>
                <a:cs typeface="Times New Roman"/>
              </a:rPr>
              <a:t>will</a:t>
            </a:r>
            <a:r>
              <a:rPr kumimoji="0" sz="2400" b="0" i="0" u="none" strike="noStrike" kern="1200" cap="none" spc="-175"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50" normalizeH="0" baseline="0" noProof="0" dirty="0">
                <a:ln>
                  <a:noFill/>
                </a:ln>
                <a:solidFill>
                  <a:srgbClr val="2B2427"/>
                </a:solidFill>
                <a:effectLst/>
                <a:uLnTx/>
                <a:uFillTx/>
                <a:latin typeface="Times New Roman"/>
                <a:ea typeface="+mn-ea"/>
                <a:cs typeface="Times New Roman"/>
              </a:rPr>
              <a:t>be</a:t>
            </a:r>
            <a:r>
              <a:rPr kumimoji="0" sz="2400" b="0" i="0" u="none" strike="noStrike" kern="1200" cap="none" spc="-180" normalizeH="0" baseline="0" noProof="0" dirty="0">
                <a:ln>
                  <a:noFill/>
                </a:ln>
                <a:solidFill>
                  <a:srgbClr val="2B2427"/>
                </a:solidFill>
                <a:effectLst/>
                <a:uLnTx/>
                <a:uFillTx/>
                <a:latin typeface="Times New Roman"/>
                <a:ea typeface="+mn-ea"/>
                <a:cs typeface="Times New Roman"/>
              </a:rPr>
              <a:t> </a:t>
            </a:r>
            <a:r>
              <a:rPr kumimoji="0" sz="2400" b="0" i="0" u="none" strike="noStrike" kern="1200" cap="none" spc="-100" normalizeH="0" baseline="0" noProof="0" dirty="0">
                <a:ln>
                  <a:noFill/>
                </a:ln>
                <a:solidFill>
                  <a:srgbClr val="2B2427"/>
                </a:solidFill>
                <a:effectLst/>
                <a:uLnTx/>
                <a:uFillTx/>
                <a:latin typeface="Times New Roman"/>
                <a:ea typeface="+mn-ea"/>
                <a:cs typeface="Times New Roman"/>
              </a:rPr>
              <a:t>set.</a:t>
            </a: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p:txBody>
      </p:sp>
      <p:sp>
        <p:nvSpPr>
          <p:cNvPr id="8" name="Rectangle 7"/>
          <p:cNvSpPr/>
          <p:nvPr/>
        </p:nvSpPr>
        <p:spPr>
          <a:xfrm>
            <a:off x="1805672" y="1747503"/>
            <a:ext cx="2672206" cy="523220"/>
          </a:xfrm>
          <a:prstGeom prst="rect">
            <a:avLst/>
          </a:prstGeom>
        </p:spPr>
        <p:txBody>
          <a:bodyPr wrap="none">
            <a:spAutoFit/>
          </a:bodyPr>
          <a:lstStyle/>
          <a:p>
            <a:r>
              <a:rPr lang="en-IN" sz="2800" spc="-65" dirty="0">
                <a:solidFill>
                  <a:srgbClr val="FF0000"/>
                </a:solidFill>
                <a:latin typeface="Times New Roman"/>
                <a:cs typeface="Times New Roman"/>
              </a:rPr>
              <a:t>Overflow</a:t>
            </a:r>
            <a:r>
              <a:rPr lang="en-IN" sz="2800" spc="-15" dirty="0">
                <a:solidFill>
                  <a:srgbClr val="FF0000"/>
                </a:solidFill>
                <a:latin typeface="Times New Roman"/>
                <a:cs typeface="Times New Roman"/>
              </a:rPr>
              <a:t> </a:t>
            </a:r>
            <a:r>
              <a:rPr lang="en-IN" sz="2800" spc="-135" dirty="0">
                <a:solidFill>
                  <a:srgbClr val="FF0000"/>
                </a:solidFill>
                <a:latin typeface="Times New Roman"/>
                <a:cs typeface="Times New Roman"/>
              </a:rPr>
              <a:t>Flag</a:t>
            </a:r>
            <a:r>
              <a:rPr lang="en-IN" sz="2800" spc="-15" dirty="0">
                <a:solidFill>
                  <a:srgbClr val="FF0000"/>
                </a:solidFill>
                <a:latin typeface="Times New Roman"/>
                <a:cs typeface="Times New Roman"/>
              </a:rPr>
              <a:t> </a:t>
            </a:r>
            <a:r>
              <a:rPr lang="en-IN" sz="2800" spc="-175" dirty="0">
                <a:solidFill>
                  <a:srgbClr val="FF0000"/>
                </a:solidFill>
                <a:latin typeface="Times New Roman"/>
                <a:cs typeface="Times New Roman"/>
              </a:rPr>
              <a:t>(V)</a:t>
            </a:r>
            <a:endParaRPr lang="en-IN" sz="2800" dirty="0"/>
          </a:p>
        </p:txBody>
      </p:sp>
    </p:spTree>
    <p:extLst>
      <p:ext uri="{BB962C8B-B14F-4D97-AF65-F5344CB8AC3E}">
        <p14:creationId xmlns:p14="http://schemas.microsoft.com/office/powerpoint/2010/main" val="236769882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7"/>
          <p:cNvSpPr/>
          <p:nvPr/>
        </p:nvSpPr>
        <p:spPr>
          <a:xfrm>
            <a:off x="3048000" y="2828836"/>
            <a:ext cx="6096000" cy="1200329"/>
          </a:xfrm>
          <a:prstGeom prst="rect">
            <a:avLst/>
          </a:prstGeom>
        </p:spPr>
        <p:txBody>
          <a:bodyPr>
            <a:spAutoFit/>
          </a:bodyPr>
          <a:lstStyle/>
          <a:p>
            <a:r>
              <a:rPr lang="en-IN" dirty="0"/>
              <a:t> 01111111   (+127)</a:t>
            </a:r>
          </a:p>
          <a:p>
            <a:r>
              <a:rPr lang="en-IN" dirty="0"/>
              <a:t>+ 00000001   (+1)</a:t>
            </a:r>
          </a:p>
          <a:p>
            <a:r>
              <a:rPr lang="en-IN" dirty="0"/>
              <a:t>-----------</a:t>
            </a:r>
          </a:p>
          <a:p>
            <a:r>
              <a:rPr lang="en-IN" dirty="0"/>
              <a:t>  10000000</a:t>
            </a:r>
          </a:p>
        </p:txBody>
      </p:sp>
      <p:sp>
        <p:nvSpPr>
          <p:cNvPr id="10" name="Rectangle 9"/>
          <p:cNvSpPr/>
          <p:nvPr/>
        </p:nvSpPr>
        <p:spPr>
          <a:xfrm>
            <a:off x="1625600" y="4677117"/>
            <a:ext cx="6096000" cy="923330"/>
          </a:xfrm>
          <a:prstGeom prst="rect">
            <a:avLst/>
          </a:prstGeom>
        </p:spPr>
        <p:txBody>
          <a:bodyPr>
            <a:spAutoFit/>
          </a:bodyPr>
          <a:lstStyle/>
          <a:p>
            <a:r>
              <a:rPr lang="en-IN" dirty="0"/>
              <a:t>MOV R0,#127</a:t>
            </a:r>
          </a:p>
          <a:p>
            <a:r>
              <a:rPr lang="en-IN" dirty="0"/>
              <a:t>MOV R1,#1</a:t>
            </a:r>
          </a:p>
          <a:p>
            <a:r>
              <a:rPr lang="en-IN" dirty="0"/>
              <a:t>ADDS R2,R0,R1</a:t>
            </a:r>
          </a:p>
        </p:txBody>
      </p:sp>
      <p:sp>
        <p:nvSpPr>
          <p:cNvPr id="11" name="Rectangle 10"/>
          <p:cNvSpPr/>
          <p:nvPr/>
        </p:nvSpPr>
        <p:spPr>
          <a:xfrm>
            <a:off x="6433607" y="2968489"/>
            <a:ext cx="1676100" cy="369332"/>
          </a:xfrm>
          <a:prstGeom prst="rect">
            <a:avLst/>
          </a:prstGeom>
        </p:spPr>
        <p:txBody>
          <a:bodyPr wrap="none">
            <a:spAutoFit/>
          </a:bodyPr>
          <a:lstStyle/>
          <a:p>
            <a:r>
              <a:rPr lang="en-IN" dirty="0"/>
              <a:t>V = 1 (overflow)</a:t>
            </a:r>
          </a:p>
        </p:txBody>
      </p:sp>
      <p:sp>
        <p:nvSpPr>
          <p:cNvPr id="12" name="object 8"/>
          <p:cNvSpPr txBox="1">
            <a:spLocks/>
          </p:cNvSpPr>
          <p:nvPr/>
        </p:nvSpPr>
        <p:spPr>
          <a:xfrm>
            <a:off x="1374394" y="1667332"/>
            <a:ext cx="4707890" cy="635000"/>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IN" sz="4000" spc="-130" smtClean="0">
                <a:solidFill>
                  <a:srgbClr val="FF0000"/>
                </a:solidFill>
                <a:latin typeface="Times New Roman"/>
                <a:cs typeface="Times New Roman"/>
              </a:rPr>
              <a:t>3.6.4</a:t>
            </a:r>
            <a:r>
              <a:rPr lang="en-IN" sz="4000" spc="-15" smtClean="0">
                <a:solidFill>
                  <a:srgbClr val="FF0000"/>
                </a:solidFill>
                <a:latin typeface="Times New Roman"/>
                <a:cs typeface="Times New Roman"/>
              </a:rPr>
              <a:t> </a:t>
            </a:r>
            <a:r>
              <a:rPr lang="en-IN" sz="4000" spc="-65" smtClean="0">
                <a:solidFill>
                  <a:srgbClr val="FF0000"/>
                </a:solidFill>
                <a:latin typeface="Times New Roman"/>
                <a:cs typeface="Times New Roman"/>
              </a:rPr>
              <a:t>Overflow</a:t>
            </a:r>
            <a:r>
              <a:rPr lang="en-IN" sz="4000" spc="-15" smtClean="0">
                <a:solidFill>
                  <a:srgbClr val="FF0000"/>
                </a:solidFill>
                <a:latin typeface="Times New Roman"/>
                <a:cs typeface="Times New Roman"/>
              </a:rPr>
              <a:t> </a:t>
            </a:r>
            <a:r>
              <a:rPr lang="en-IN" sz="4000" spc="-135" smtClean="0">
                <a:solidFill>
                  <a:srgbClr val="FF0000"/>
                </a:solidFill>
                <a:latin typeface="Times New Roman"/>
                <a:cs typeface="Times New Roman"/>
              </a:rPr>
              <a:t>Flag</a:t>
            </a:r>
            <a:r>
              <a:rPr lang="en-IN" sz="4000" spc="-15" smtClean="0">
                <a:solidFill>
                  <a:srgbClr val="FF0000"/>
                </a:solidFill>
                <a:latin typeface="Times New Roman"/>
                <a:cs typeface="Times New Roman"/>
              </a:rPr>
              <a:t> </a:t>
            </a:r>
            <a:r>
              <a:rPr lang="en-IN" sz="4000" spc="-175" smtClean="0">
                <a:solidFill>
                  <a:srgbClr val="FF0000"/>
                </a:solidFill>
                <a:latin typeface="Times New Roman"/>
                <a:cs typeface="Times New Roman"/>
              </a:rPr>
              <a:t>(V)</a:t>
            </a:r>
            <a:endParaRPr lang="en-IN" sz="4000" dirty="0">
              <a:latin typeface="Times New Roman"/>
              <a:cs typeface="Times New Roman"/>
            </a:endParaRPr>
          </a:p>
        </p:txBody>
      </p:sp>
    </p:spTree>
    <p:extLst>
      <p:ext uri="{BB962C8B-B14F-4D97-AF65-F5344CB8AC3E}">
        <p14:creationId xmlns:p14="http://schemas.microsoft.com/office/powerpoint/2010/main" val="131068476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0" y="3153155"/>
            <a:ext cx="761999" cy="606552"/>
          </a:xfrm>
          <a:prstGeom prst="rect">
            <a:avLst/>
          </a:prstGeom>
        </p:spPr>
      </p:pic>
      <p:pic>
        <p:nvPicPr>
          <p:cNvPr id="6" name="object 6"/>
          <p:cNvPicPr/>
          <p:nvPr/>
        </p:nvPicPr>
        <p:blipFill>
          <a:blip r:embed="rId3" cstate="print"/>
          <a:stretch>
            <a:fillRect/>
          </a:stretch>
        </p:blipFill>
        <p:spPr>
          <a:xfrm>
            <a:off x="11437619" y="3153155"/>
            <a:ext cx="754379" cy="606552"/>
          </a:xfrm>
          <a:prstGeom prst="rect">
            <a:avLst/>
          </a:prstGeom>
        </p:spPr>
      </p:pic>
      <p:sp>
        <p:nvSpPr>
          <p:cNvPr id="7" name="object 7"/>
          <p:cNvSpPr/>
          <p:nvPr/>
        </p:nvSpPr>
        <p:spPr>
          <a:xfrm>
            <a:off x="1395983" y="2421635"/>
            <a:ext cx="9407525" cy="0"/>
          </a:xfrm>
          <a:custGeom>
            <a:avLst/>
            <a:gdLst/>
            <a:ahLst/>
            <a:cxnLst/>
            <a:rect l="l" t="t" r="r" b="b"/>
            <a:pathLst>
              <a:path w="9407525">
                <a:moveTo>
                  <a:pt x="0" y="0"/>
                </a:moveTo>
                <a:lnTo>
                  <a:pt x="9407271" y="0"/>
                </a:lnTo>
              </a:path>
            </a:pathLst>
          </a:custGeom>
          <a:ln w="15875">
            <a:solidFill>
              <a:srgbClr val="83992A"/>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object 8"/>
          <p:cNvSpPr txBox="1">
            <a:spLocks/>
          </p:cNvSpPr>
          <p:nvPr/>
        </p:nvSpPr>
        <p:spPr>
          <a:xfrm>
            <a:off x="1374394" y="1667332"/>
            <a:ext cx="4707890" cy="635000"/>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95"/>
              </a:spcBef>
            </a:pPr>
            <a:r>
              <a:rPr lang="en-IN" sz="4000" spc="-15" dirty="0" smtClean="0">
                <a:solidFill>
                  <a:srgbClr val="FF0000"/>
                </a:solidFill>
                <a:latin typeface="Times New Roman"/>
                <a:cs typeface="Times New Roman"/>
              </a:rPr>
              <a:t> </a:t>
            </a:r>
            <a:r>
              <a:rPr lang="en-IN" sz="4000" spc="-65" dirty="0" smtClean="0">
                <a:solidFill>
                  <a:srgbClr val="FF0000"/>
                </a:solidFill>
                <a:latin typeface="Times New Roman"/>
                <a:cs typeface="Times New Roman"/>
              </a:rPr>
              <a:t>Overflow</a:t>
            </a:r>
            <a:r>
              <a:rPr lang="en-IN" sz="4000" spc="-15" dirty="0" smtClean="0">
                <a:solidFill>
                  <a:srgbClr val="FF0000"/>
                </a:solidFill>
                <a:latin typeface="Times New Roman"/>
                <a:cs typeface="Times New Roman"/>
              </a:rPr>
              <a:t> </a:t>
            </a:r>
            <a:r>
              <a:rPr lang="en-IN" sz="4000" spc="-135" dirty="0" smtClean="0">
                <a:solidFill>
                  <a:srgbClr val="FF0000"/>
                </a:solidFill>
                <a:latin typeface="Times New Roman"/>
                <a:cs typeface="Times New Roman"/>
              </a:rPr>
              <a:t>Flag</a:t>
            </a:r>
            <a:r>
              <a:rPr lang="en-IN" sz="4000" spc="-15" dirty="0" smtClean="0">
                <a:solidFill>
                  <a:srgbClr val="FF0000"/>
                </a:solidFill>
                <a:latin typeface="Times New Roman"/>
                <a:cs typeface="Times New Roman"/>
              </a:rPr>
              <a:t> </a:t>
            </a:r>
            <a:r>
              <a:rPr lang="en-IN" sz="4000" spc="-175" dirty="0" smtClean="0">
                <a:solidFill>
                  <a:srgbClr val="FF0000"/>
                </a:solidFill>
                <a:latin typeface="Times New Roman"/>
                <a:cs typeface="Times New Roman"/>
              </a:rPr>
              <a:t>(V)</a:t>
            </a:r>
            <a:endParaRPr lang="en-IN" sz="4000" dirty="0">
              <a:latin typeface="Times New Roman"/>
              <a:cs typeface="Times New Roman"/>
            </a:endParaRPr>
          </a:p>
        </p:txBody>
      </p:sp>
      <p:sp>
        <p:nvSpPr>
          <p:cNvPr id="9" name="Rectangle 8"/>
          <p:cNvSpPr/>
          <p:nvPr/>
        </p:nvSpPr>
        <p:spPr>
          <a:xfrm>
            <a:off x="3048000" y="2828836"/>
            <a:ext cx="6096000" cy="1200329"/>
          </a:xfrm>
          <a:prstGeom prst="rect">
            <a:avLst/>
          </a:prstGeom>
        </p:spPr>
        <p:txBody>
          <a:bodyPr>
            <a:spAutoFit/>
          </a:bodyPr>
          <a:lstStyle/>
          <a:p>
            <a:r>
              <a:rPr lang="en-IN" dirty="0"/>
              <a:t> </a:t>
            </a:r>
            <a:r>
              <a:rPr lang="en-IN" dirty="0" smtClean="0"/>
              <a:t>  10000000  </a:t>
            </a:r>
            <a:r>
              <a:rPr lang="en-IN" dirty="0"/>
              <a:t>(-128)</a:t>
            </a:r>
          </a:p>
          <a:p>
            <a:r>
              <a:rPr lang="en-IN" dirty="0"/>
              <a:t>+ 10000000  (-128)</a:t>
            </a:r>
          </a:p>
          <a:p>
            <a:r>
              <a:rPr lang="en-IN" dirty="0"/>
              <a:t>-----------</a:t>
            </a:r>
          </a:p>
          <a:p>
            <a:r>
              <a:rPr lang="en-IN" dirty="0" smtClean="0"/>
              <a:t>1  00000000 (-256)</a:t>
            </a:r>
            <a:endParaRPr lang="en-IN" dirty="0"/>
          </a:p>
        </p:txBody>
      </p:sp>
      <p:sp>
        <p:nvSpPr>
          <p:cNvPr id="13" name="Rectangle 1"/>
          <p:cNvSpPr>
            <a:spLocks noChangeArrowheads="1"/>
          </p:cNvSpPr>
          <p:nvPr/>
        </p:nvSpPr>
        <p:spPr bwMode="auto">
          <a:xfrm rot="10800000" flipV="1">
            <a:off x="7613142" y="2828836"/>
            <a:ext cx="306171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V = 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 = 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Z = 1</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99649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3636</TotalTime>
  <Words>5432</Words>
  <Application>Microsoft Office PowerPoint</Application>
  <PresentationFormat>Widescreen</PresentationFormat>
  <Paragraphs>543</Paragraphs>
  <Slides>72</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72</vt:i4>
      </vt:variant>
    </vt:vector>
  </HeadingPairs>
  <TitlesOfParts>
    <vt:vector size="80" baseType="lpstr">
      <vt:lpstr>Arial</vt:lpstr>
      <vt:lpstr>Arial MT</vt:lpstr>
      <vt:lpstr>Calibri</vt:lpstr>
      <vt:lpstr>Calibri Light</vt:lpstr>
      <vt:lpstr>Times New Roman</vt:lpstr>
      <vt:lpstr>Wingdings</vt:lpstr>
      <vt:lpstr>Office Theme</vt:lpstr>
      <vt:lpstr>1_Office Theme</vt:lpstr>
      <vt:lpstr>INTERNAL COMPONENTS OF A   SYSTEM-ON-CHIP (SOC) </vt:lpstr>
      <vt:lpstr>Serial Communication</vt:lpstr>
      <vt:lpstr>Direct Memory Access</vt:lpstr>
      <vt:lpstr>PowerPoint Presentation</vt:lpstr>
      <vt:lpstr> Semiconductor Memory</vt:lpstr>
      <vt:lpstr>PowerPoint Presentation</vt:lpstr>
      <vt:lpstr>PowerPoint Presentation</vt:lpstr>
      <vt:lpstr>Different types of semiconductor memories which are  useful for embedded systems</vt:lpstr>
      <vt:lpstr> Random access memory (RAM)</vt:lpstr>
      <vt:lpstr> RAM technology</vt:lpstr>
      <vt:lpstr> Static RAM chip</vt:lpstr>
      <vt:lpstr>Memory read cycle</vt:lpstr>
      <vt:lpstr>Asynchronous read</vt:lpstr>
      <vt:lpstr>Memory write cycle</vt:lpstr>
      <vt:lpstr>Asynchronous Write</vt:lpstr>
      <vt:lpstr> Dynamic RAM (DRAM)</vt:lpstr>
      <vt:lpstr>PowerPoint Presentation</vt:lpstr>
      <vt:lpstr>Read cycle of DRAM</vt:lpstr>
      <vt:lpstr>PowerPoint Presentation</vt:lpstr>
      <vt:lpstr>SDRAM</vt:lpstr>
      <vt:lpstr>DDRAM</vt:lpstr>
      <vt:lpstr> Read only memory (ROM)</vt:lpstr>
      <vt:lpstr>Where does ROM find application in  embedded systems?</vt:lpstr>
      <vt:lpstr> EPROM</vt:lpstr>
      <vt:lpstr> OTP ROM</vt:lpstr>
      <vt:lpstr> EEPROM </vt:lpstr>
      <vt:lpstr> Flash ROM</vt:lpstr>
      <vt:lpstr> Flash ROM</vt:lpstr>
      <vt:lpstr>PowerPoint Presentation</vt:lpstr>
      <vt:lpstr> Flash ROM</vt:lpstr>
      <vt:lpstr>SD(Secure Digital) card </vt:lpstr>
      <vt:lpstr> Cache </vt:lpstr>
      <vt:lpstr> Cache </vt:lpstr>
      <vt:lpstr> Designing Low Power Systems</vt:lpstr>
      <vt:lpstr>How do we quantify the power requirements of  any system or component?</vt:lpstr>
      <vt:lpstr>What is the Thermal Design Power  systems we see around us?</vt:lpstr>
      <vt:lpstr> Design stage </vt:lpstr>
      <vt:lpstr>2.13.1 Design stage</vt:lpstr>
      <vt:lpstr>2.13.2 Power management</vt:lpstr>
      <vt:lpstr>What does ACPI do?</vt:lpstr>
      <vt:lpstr>2.14 BUS ARCHITECTURE </vt:lpstr>
      <vt:lpstr>PowerPoint Presentation</vt:lpstr>
      <vt:lpstr> Inter integrated circuit bus (12C)</vt:lpstr>
      <vt:lpstr>  The I2C Bus with One Master and Many Slaves </vt:lpstr>
      <vt:lpstr>2.14.1.1 Open drain/collector connection</vt:lpstr>
      <vt:lpstr>2.14.1.2 Steps in I2C protocol</vt:lpstr>
      <vt:lpstr>4. The slave whose address has been received will respond with an ACK  (Acknowledge) ) signal.</vt:lpstr>
      <vt:lpstr>PowerPoint Presentation</vt:lpstr>
      <vt:lpstr>PowerPoint Presentation</vt:lpstr>
      <vt:lpstr>2.14.2 Serial Peripheral Interface</vt:lpstr>
      <vt:lpstr>PowerPoint Presentation</vt:lpstr>
      <vt:lpstr>PowerPoint Presentation</vt:lpstr>
      <vt:lpstr>PowerPoint Presentation</vt:lpstr>
      <vt:lpstr>PowerPoint Presentation</vt:lpstr>
      <vt:lpstr>Chapter-3 Embedded systems-  The software</vt:lpstr>
      <vt:lpstr>3.1 ENDIAN-NESS</vt:lpstr>
      <vt:lpstr>PowerPoint Presentation</vt:lpstr>
      <vt:lpstr>1. Little Endian</vt:lpstr>
      <vt:lpstr>PowerPoint Presentation</vt:lpstr>
      <vt:lpstr>2. Big Endian</vt:lpstr>
      <vt:lpstr>PowerPoint Presentation</vt:lpstr>
      <vt:lpstr>3.6 FLAGS</vt:lpstr>
      <vt:lpstr>3.6.1 Carry Flag (C)</vt:lpstr>
      <vt:lpstr>3.6.1 Carry Flag (C)</vt:lpstr>
      <vt:lpstr>3.6.2 Zero Flag (Z)</vt:lpstr>
      <vt:lpstr>3.6.2 Zero Flag (Z)</vt:lpstr>
      <vt:lpstr>3.6.3 Negative Flag (N)</vt:lpstr>
      <vt:lpstr>3.6.3 Negative Flag (N)</vt:lpstr>
      <vt:lpstr>3.6.4 Overflow Flag (V)</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COMPONENTS OF A   SYSTEM-ON-CHIP (SOC)</dc:title>
  <dc:creator>Shekar Murthy</dc:creator>
  <cp:lastModifiedBy>Admin</cp:lastModifiedBy>
  <cp:revision>59</cp:revision>
  <dcterms:created xsi:type="dcterms:W3CDTF">2024-05-14T04:11:35Z</dcterms:created>
  <dcterms:modified xsi:type="dcterms:W3CDTF">2026-03-18T08:29:16Z</dcterms:modified>
</cp:coreProperties>
</file>