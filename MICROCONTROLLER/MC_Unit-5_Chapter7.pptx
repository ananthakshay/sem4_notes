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8" r:id="rId18"/>
    <p:sldId id="272" r:id="rId19"/>
    <p:sldId id="273" r:id="rId20"/>
    <p:sldId id="279" r:id="rId21"/>
    <p:sldId id="274" r:id="rId22"/>
    <p:sldId id="275" r:id="rId23"/>
    <p:sldId id="276" r:id="rId24"/>
    <p:sldId id="277"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51" r:id="rId64"/>
    <p:sldId id="319" r:id="rId65"/>
    <p:sldId id="320" r:id="rId66"/>
    <p:sldId id="321" r:id="rId67"/>
    <p:sldId id="322" r:id="rId68"/>
    <p:sldId id="323" r:id="rId69"/>
    <p:sldId id="324" r:id="rId70"/>
    <p:sldId id="325" r:id="rId71"/>
    <p:sldId id="326" r:id="rId72"/>
    <p:sldId id="327" r:id="rId73"/>
    <p:sldId id="330" r:id="rId74"/>
    <p:sldId id="329"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4" r:id="rId88"/>
    <p:sldId id="343" r:id="rId89"/>
    <p:sldId id="345" r:id="rId90"/>
    <p:sldId id="346" r:id="rId91"/>
    <p:sldId id="348" r:id="rId92"/>
    <p:sldId id="350"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111415379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274423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838653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11350C4-A520-4C07-A0FC-8B44E9AC3835}"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148334926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11350C4-A520-4C07-A0FC-8B44E9AC3835}" type="datetimeFigureOut">
              <a:rPr lang="en-IN" smtClean="0"/>
              <a:t>21-05-2026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108486498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11350C4-A520-4C07-A0FC-8B44E9AC3835}" type="datetimeFigureOut">
              <a:rPr lang="en-IN" smtClean="0"/>
              <a:t>21-05-2026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3143964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1350C4-A520-4C07-A0FC-8B44E9AC3835}" type="datetimeFigureOut">
              <a:rPr lang="en-IN" smtClean="0"/>
              <a:t>21-05-2026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419879138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11350C4-A520-4C07-A0FC-8B44E9AC3835}"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201356291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11350C4-A520-4C07-A0FC-8B44E9AC3835}"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14715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2538358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1409D51-311E-4D5D-ABD9-A73E0E4946C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7802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11350C4-A520-4C07-A0FC-8B44E9AC3835}"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518606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11350C4-A520-4C07-A0FC-8B44E9AC3835}"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1409D51-311E-4D5D-ABD9-A73E0E4946C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67662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11350C4-A520-4C07-A0FC-8B44E9AC3835}"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3785643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350303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1350C4-A520-4C07-A0FC-8B44E9AC3835}"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1409D51-311E-4D5D-ABD9-A73E0E4946C0}" type="slidenum">
              <a:rPr lang="en-IN" smtClean="0"/>
              <a:t>‹#›</a:t>
            </a:fld>
            <a:endParaRPr lang="en-IN"/>
          </a:p>
        </p:txBody>
      </p:sp>
    </p:spTree>
    <p:extLst>
      <p:ext uri="{BB962C8B-B14F-4D97-AF65-F5344CB8AC3E}">
        <p14:creationId xmlns:p14="http://schemas.microsoft.com/office/powerpoint/2010/main" val="677115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11350C4-A520-4C07-A0FC-8B44E9AC3835}" type="datetimeFigureOut">
              <a:rPr lang="en-IN" smtClean="0"/>
              <a:t>21-05-2026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1409D51-311E-4D5D-ABD9-A73E0E4946C0}" type="slidenum">
              <a:rPr lang="en-IN" smtClean="0"/>
              <a:t>‹#›</a:t>
            </a:fld>
            <a:endParaRPr lang="en-IN"/>
          </a:p>
        </p:txBody>
      </p:sp>
    </p:spTree>
    <p:extLst>
      <p:ext uri="{BB962C8B-B14F-4D97-AF65-F5344CB8AC3E}">
        <p14:creationId xmlns:p14="http://schemas.microsoft.com/office/powerpoint/2010/main" val="2401726752"/>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 id="2147483997" r:id="rId4"/>
    <p:sldLayoutId id="2147483998" r:id="rId5"/>
    <p:sldLayoutId id="2147483999" r:id="rId6"/>
    <p:sldLayoutId id="2147484000" r:id="rId7"/>
    <p:sldLayoutId id="2147484001" r:id="rId8"/>
    <p:sldLayoutId id="2147484002" r:id="rId9"/>
    <p:sldLayoutId id="2147484003" r:id="rId10"/>
    <p:sldLayoutId id="2147484004" r:id="rId11"/>
    <p:sldLayoutId id="2147484005" r:id="rId12"/>
    <p:sldLayoutId id="2147484006" r:id="rId13"/>
    <p:sldLayoutId id="2147484007" r:id="rId14"/>
    <p:sldLayoutId id="2147484008" r:id="rId15"/>
    <p:sldLayoutId id="214748400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00631" y="549049"/>
            <a:ext cx="8998856" cy="2387600"/>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700" b="1" dirty="0" smtClean="0"/>
              <a:t>Unit- 5</a:t>
            </a:r>
            <a:r>
              <a:rPr lang="en-IN" dirty="0" smtClean="0"/>
              <a:t>	</a:t>
            </a:r>
          </a:p>
          <a:p>
            <a:r>
              <a:rPr lang="en-IN" sz="3700" b="1" dirty="0" err="1"/>
              <a:t>Chaper</a:t>
            </a:r>
            <a:r>
              <a:rPr lang="en-IN" sz="3700" b="1" dirty="0"/>
              <a:t> 7</a:t>
            </a:r>
            <a:br>
              <a:rPr lang="en-IN" sz="3700" b="1" dirty="0"/>
            </a:br>
            <a:endParaRPr lang="en-IN" sz="3700" b="1" dirty="0"/>
          </a:p>
        </p:txBody>
      </p:sp>
      <p:sp>
        <p:nvSpPr>
          <p:cNvPr id="2" name="Title 1"/>
          <p:cNvSpPr>
            <a:spLocks noGrp="1"/>
          </p:cNvSpPr>
          <p:nvPr>
            <p:ph type="ctrTitle"/>
          </p:nvPr>
        </p:nvSpPr>
        <p:spPr>
          <a:xfrm>
            <a:off x="-478970" y="2791506"/>
            <a:ext cx="8258628" cy="2387600"/>
          </a:xfrm>
        </p:spPr>
        <p:txBody>
          <a:bodyPr>
            <a:normAutofit fontScale="90000"/>
          </a:bodyPr>
          <a:lstStyle/>
          <a:p>
            <a:r>
              <a:rPr lang="en-IN" b="1" dirty="0" smtClean="0"/>
              <a:t>         </a:t>
            </a:r>
            <a:r>
              <a:rPr lang="en-IN" b="1" dirty="0" smtClean="0">
                <a:solidFill>
                  <a:srgbClr val="FF0000"/>
                </a:solidFill>
              </a:rPr>
              <a:t>Architecture of ARM   </a:t>
            </a:r>
            <a:br>
              <a:rPr lang="en-IN" b="1" dirty="0" smtClean="0">
                <a:solidFill>
                  <a:srgbClr val="FF0000"/>
                </a:solidFill>
              </a:rPr>
            </a:br>
            <a:r>
              <a:rPr lang="en-IN" b="1" dirty="0" smtClean="0">
                <a:solidFill>
                  <a:srgbClr val="FF0000"/>
                </a:solidFill>
              </a:rPr>
              <a:t>                 Cortex-M </a:t>
            </a:r>
            <a:r>
              <a:rPr lang="en-IN" dirty="0">
                <a:solidFill>
                  <a:srgbClr val="FF0000"/>
                </a:solidFill>
              </a:rPr>
              <a:t>	</a:t>
            </a:r>
            <a:br>
              <a:rPr lang="en-IN" dirty="0">
                <a:solidFill>
                  <a:srgbClr val="FF0000"/>
                </a:solidFill>
              </a:rPr>
            </a:br>
            <a:endParaRPr lang="en-IN" dirty="0">
              <a:solidFill>
                <a:srgbClr val="FF0000"/>
              </a:solidFill>
            </a:endParaRPr>
          </a:p>
        </p:txBody>
      </p:sp>
    </p:spTree>
    <p:extLst>
      <p:ext uri="{BB962C8B-B14F-4D97-AF65-F5344CB8AC3E}">
        <p14:creationId xmlns:p14="http://schemas.microsoft.com/office/powerpoint/2010/main" val="41817037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3110"/>
            <a:ext cx="8911687" cy="1280890"/>
          </a:xfrm>
        </p:spPr>
        <p:txBody>
          <a:bodyPr>
            <a:normAutofit/>
          </a:bodyPr>
          <a:lstStyle/>
          <a:p>
            <a:pPr algn="ctr"/>
            <a:r>
              <a:rPr lang="en-IN" sz="4400" b="1" dirty="0" smtClean="0">
                <a:solidFill>
                  <a:srgbClr val="C00000"/>
                </a:solidFill>
                <a:latin typeface="Verdana "/>
              </a:rPr>
              <a:t>Introduction</a:t>
            </a:r>
            <a:endParaRPr lang="en-IN" sz="4400" b="1" dirty="0">
              <a:solidFill>
                <a:srgbClr val="C00000"/>
              </a:solidFill>
              <a:latin typeface="Verdana "/>
            </a:endParaRPr>
          </a:p>
        </p:txBody>
      </p:sp>
      <p:sp>
        <p:nvSpPr>
          <p:cNvPr id="3" name="Content Placeholder 2"/>
          <p:cNvSpPr>
            <a:spLocks noGrp="1"/>
          </p:cNvSpPr>
          <p:nvPr>
            <p:ph idx="1"/>
          </p:nvPr>
        </p:nvSpPr>
        <p:spPr>
          <a:xfrm>
            <a:off x="1205345" y="1216560"/>
            <a:ext cx="9869714" cy="5036457"/>
          </a:xfrm>
        </p:spPr>
        <p:txBody>
          <a:bodyPr>
            <a:normAutofit/>
          </a:bodyPr>
          <a:lstStyle/>
          <a:p>
            <a:pPr algn="just">
              <a:buClr>
                <a:schemeClr val="accent5"/>
              </a:buClr>
              <a:buFont typeface="Wingdings" panose="05000000000000000000" pitchFamily="2" charset="2"/>
              <a:buChar char="Ø"/>
            </a:pPr>
            <a:endParaRPr lang="en-IN" sz="3200" cap="none" dirty="0" smtClean="0">
              <a:solidFill>
                <a:srgbClr val="0070C0"/>
              </a:solidFill>
              <a:latin typeface="Verdana "/>
            </a:endParaRPr>
          </a:p>
          <a:p>
            <a:pPr algn="just">
              <a:buClr>
                <a:schemeClr val="accent5"/>
              </a:buClr>
              <a:buFont typeface="Wingdings" panose="05000000000000000000" pitchFamily="2" charset="2"/>
              <a:buChar char="Ø"/>
            </a:pPr>
            <a:r>
              <a:rPr lang="en-IN" sz="3200" cap="none" dirty="0" smtClean="0">
                <a:solidFill>
                  <a:srgbClr val="0070C0"/>
                </a:solidFill>
                <a:latin typeface="Verdana "/>
              </a:rPr>
              <a:t> Later ARM 7 Was Followed By ARM 9 And ARM 11</a:t>
            </a:r>
          </a:p>
          <a:p>
            <a:pPr algn="just">
              <a:buClr>
                <a:schemeClr val="accent5"/>
              </a:buClr>
              <a:buFont typeface="Wingdings" panose="05000000000000000000" pitchFamily="2" charset="2"/>
              <a:buChar char="Ø"/>
            </a:pPr>
            <a:r>
              <a:rPr lang="en-IN" sz="3200" cap="none" dirty="0" smtClean="0">
                <a:solidFill>
                  <a:srgbClr val="0070C0"/>
                </a:solidFill>
                <a:latin typeface="Verdana "/>
              </a:rPr>
              <a:t> Means More Features Were Added To It, But The Basic Architecture Was Similar To ARM7</a:t>
            </a:r>
          </a:p>
          <a:p>
            <a:pPr algn="just">
              <a:buClr>
                <a:schemeClr val="accent5"/>
              </a:buClr>
              <a:buFont typeface="Wingdings" panose="05000000000000000000" pitchFamily="2" charset="2"/>
              <a:buChar char="Ø"/>
            </a:pPr>
            <a:r>
              <a:rPr lang="en-IN" sz="3200" cap="none" dirty="0" smtClean="0">
                <a:solidFill>
                  <a:srgbClr val="0070C0"/>
                </a:solidFill>
                <a:latin typeface="Verdana "/>
              </a:rPr>
              <a:t> The Latest Series Of </a:t>
            </a:r>
            <a:r>
              <a:rPr lang="en-IN" sz="3200" dirty="0" smtClean="0">
                <a:solidFill>
                  <a:srgbClr val="0070C0"/>
                </a:solidFill>
                <a:latin typeface="Verdana "/>
              </a:rPr>
              <a:t>ARM 7 </a:t>
            </a:r>
            <a:r>
              <a:rPr lang="en-IN" sz="3200" cap="none" dirty="0" smtClean="0">
                <a:solidFill>
                  <a:srgbClr val="0070C0"/>
                </a:solidFill>
                <a:latin typeface="Verdana "/>
              </a:rPr>
              <a:t>Processors </a:t>
            </a:r>
            <a:r>
              <a:rPr lang="en-IN" sz="3200" dirty="0">
                <a:solidFill>
                  <a:srgbClr val="0070C0"/>
                </a:solidFill>
                <a:latin typeface="Verdana "/>
              </a:rPr>
              <a:t>a</a:t>
            </a:r>
            <a:r>
              <a:rPr lang="en-IN" sz="3200" cap="none" dirty="0" smtClean="0">
                <a:solidFill>
                  <a:srgbClr val="0070C0"/>
                </a:solidFill>
                <a:latin typeface="Verdana "/>
              </a:rPr>
              <a:t>re Designated as Cortex </a:t>
            </a:r>
          </a:p>
          <a:p>
            <a:pPr algn="just">
              <a:buClr>
                <a:schemeClr val="accent5"/>
              </a:buClr>
              <a:buFont typeface="Wingdings" panose="05000000000000000000" pitchFamily="2" charset="2"/>
              <a:buChar char="Ø"/>
            </a:pPr>
            <a:r>
              <a:rPr lang="en-IN" sz="3200" cap="none" dirty="0" smtClean="0">
                <a:solidFill>
                  <a:srgbClr val="0070C0"/>
                </a:solidFill>
                <a:latin typeface="Verdana "/>
              </a:rPr>
              <a:t> They Have Slightly Different Architecture As Compared to arm processor.</a:t>
            </a:r>
            <a:endParaRPr lang="en-IN" sz="3200" cap="none" dirty="0">
              <a:solidFill>
                <a:srgbClr val="0070C0"/>
              </a:solidFill>
              <a:latin typeface="Verdana "/>
            </a:endParaRPr>
          </a:p>
        </p:txBody>
      </p:sp>
    </p:spTree>
    <p:extLst>
      <p:ext uri="{BB962C8B-B14F-4D97-AF65-F5344CB8AC3E}">
        <p14:creationId xmlns:p14="http://schemas.microsoft.com/office/powerpoint/2010/main" val="766772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256" y="0"/>
            <a:ext cx="8911687" cy="1280890"/>
          </a:xfrm>
        </p:spPr>
        <p:txBody>
          <a:bodyPr>
            <a:normAutofit/>
          </a:bodyPr>
          <a:lstStyle/>
          <a:p>
            <a:r>
              <a:rPr lang="en-IN" sz="4400" b="1" dirty="0">
                <a:solidFill>
                  <a:srgbClr val="C00000"/>
                </a:solidFill>
                <a:latin typeface="Verdana "/>
              </a:rPr>
              <a:t>ARM Processor Families</a:t>
            </a:r>
          </a:p>
        </p:txBody>
      </p:sp>
      <p:sp>
        <p:nvSpPr>
          <p:cNvPr id="3" name="Content Placeholder 2"/>
          <p:cNvSpPr>
            <a:spLocks noGrp="1"/>
          </p:cNvSpPr>
          <p:nvPr>
            <p:ph idx="1"/>
          </p:nvPr>
        </p:nvSpPr>
        <p:spPr>
          <a:xfrm>
            <a:off x="818469" y="1206498"/>
            <a:ext cx="10874767" cy="5297714"/>
          </a:xfrm>
        </p:spPr>
        <p:txBody>
          <a:bodyPr>
            <a:normAutofit/>
          </a:bodyPr>
          <a:lstStyle/>
          <a:p>
            <a:pPr>
              <a:buClr>
                <a:schemeClr val="accent5"/>
              </a:buClr>
              <a:buFont typeface="Wingdings" panose="05000000000000000000" pitchFamily="2" charset="2"/>
              <a:buChar char="Ø"/>
            </a:pPr>
            <a:r>
              <a:rPr lang="en-IN" sz="3200" dirty="0" smtClean="0">
                <a:solidFill>
                  <a:schemeClr val="tx1">
                    <a:lumMod val="95000"/>
                    <a:lumOff val="5000"/>
                  </a:schemeClr>
                </a:solidFill>
                <a:latin typeface="Verdana "/>
              </a:rPr>
              <a:t> </a:t>
            </a:r>
            <a:r>
              <a:rPr lang="en-IN" sz="3200" cap="none" dirty="0" smtClean="0">
                <a:solidFill>
                  <a:schemeClr val="tx1">
                    <a:lumMod val="95000"/>
                    <a:lumOff val="5000"/>
                  </a:schemeClr>
                </a:solidFill>
                <a:latin typeface="Verdana "/>
              </a:rPr>
              <a:t>Cortex- A Series (Application)</a:t>
            </a:r>
          </a:p>
          <a:p>
            <a:pPr marL="0" indent="0">
              <a:buNone/>
            </a:pPr>
            <a:r>
              <a:rPr lang="en-IN" sz="3200" cap="none" dirty="0" smtClean="0">
                <a:solidFill>
                  <a:schemeClr val="tx1">
                    <a:lumMod val="95000"/>
                    <a:lumOff val="5000"/>
                  </a:schemeClr>
                </a:solidFill>
                <a:latin typeface="Verdana "/>
              </a:rPr>
              <a:t>        -- </a:t>
            </a:r>
            <a:r>
              <a:rPr lang="en-IN" sz="2400" cap="none" dirty="0" smtClean="0">
                <a:solidFill>
                  <a:schemeClr val="tx1">
                    <a:lumMod val="95000"/>
                    <a:lumOff val="5000"/>
                  </a:schemeClr>
                </a:solidFill>
                <a:latin typeface="Verdana "/>
              </a:rPr>
              <a:t>High Performance Processors Capable of Full Operating System (OS) Support;</a:t>
            </a:r>
          </a:p>
          <a:p>
            <a:pPr marL="0" indent="0">
              <a:buNone/>
            </a:pPr>
            <a:r>
              <a:rPr lang="en-IN" sz="2400" cap="none" dirty="0" smtClean="0">
                <a:solidFill>
                  <a:schemeClr val="tx1">
                    <a:lumMod val="95000"/>
                    <a:lumOff val="5000"/>
                  </a:schemeClr>
                </a:solidFill>
                <a:latin typeface="Verdana "/>
              </a:rPr>
              <a:t>           -- Applications Include Smartphones, Digital TV, Smart Books, Home Gateways Etc.</a:t>
            </a:r>
          </a:p>
          <a:p>
            <a:pPr marL="0" indent="0">
              <a:buNone/>
            </a:pPr>
            <a:endParaRPr lang="en-IN" sz="2400" cap="none" dirty="0" smtClean="0">
              <a:solidFill>
                <a:schemeClr val="tx1">
                  <a:lumMod val="95000"/>
                  <a:lumOff val="5000"/>
                </a:schemeClr>
              </a:solidFill>
              <a:latin typeface="Verdana "/>
            </a:endParaRPr>
          </a:p>
          <a:p>
            <a:pPr>
              <a:buClr>
                <a:schemeClr val="accent5"/>
              </a:buClr>
              <a:buFont typeface="Wingdings" panose="05000000000000000000" pitchFamily="2" charset="2"/>
              <a:buChar char="Ø"/>
            </a:pPr>
            <a:r>
              <a:rPr lang="en-IN" sz="3200" cap="none" dirty="0" smtClean="0">
                <a:solidFill>
                  <a:schemeClr val="tx1">
                    <a:lumMod val="95000"/>
                    <a:lumOff val="5000"/>
                  </a:schemeClr>
                </a:solidFill>
                <a:latin typeface="Verdana "/>
              </a:rPr>
              <a:t> Cortex- R Series (Real-time)</a:t>
            </a:r>
          </a:p>
          <a:p>
            <a:pPr marL="0" indent="0">
              <a:buNone/>
            </a:pPr>
            <a:r>
              <a:rPr lang="en-IN" sz="3200" cap="none" dirty="0" smtClean="0">
                <a:solidFill>
                  <a:schemeClr val="tx1">
                    <a:lumMod val="95000"/>
                    <a:lumOff val="5000"/>
                  </a:schemeClr>
                </a:solidFill>
                <a:latin typeface="Verdana "/>
              </a:rPr>
              <a:t>        -- </a:t>
            </a:r>
            <a:r>
              <a:rPr lang="en-IN" sz="2400" cap="none" dirty="0" smtClean="0">
                <a:solidFill>
                  <a:schemeClr val="tx1">
                    <a:lumMod val="95000"/>
                    <a:lumOff val="5000"/>
                  </a:schemeClr>
                </a:solidFill>
                <a:latin typeface="Verdana "/>
              </a:rPr>
              <a:t>High Performance for </a:t>
            </a:r>
            <a:r>
              <a:rPr lang="en-IN" sz="2400" cap="none" dirty="0" err="1" smtClean="0">
                <a:solidFill>
                  <a:schemeClr val="tx1">
                    <a:lumMod val="95000"/>
                    <a:lumOff val="5000"/>
                  </a:schemeClr>
                </a:solidFill>
                <a:latin typeface="Verdana "/>
              </a:rPr>
              <a:t>Realtime</a:t>
            </a:r>
            <a:r>
              <a:rPr lang="en-IN" sz="2400" cap="none" dirty="0" smtClean="0">
                <a:solidFill>
                  <a:schemeClr val="tx1">
                    <a:lumMod val="95000"/>
                    <a:lumOff val="5000"/>
                  </a:schemeClr>
                </a:solidFill>
                <a:latin typeface="Verdana "/>
              </a:rPr>
              <a:t> Applications;</a:t>
            </a:r>
          </a:p>
          <a:p>
            <a:pPr marL="0" indent="0">
              <a:buNone/>
            </a:pPr>
            <a:r>
              <a:rPr lang="en-IN" sz="2400" cap="none" dirty="0" smtClean="0">
                <a:solidFill>
                  <a:schemeClr val="tx1">
                    <a:lumMod val="95000"/>
                    <a:lumOff val="5000"/>
                  </a:schemeClr>
                </a:solidFill>
                <a:latin typeface="Verdana "/>
              </a:rPr>
              <a:t>           -- High Reliability</a:t>
            </a:r>
          </a:p>
          <a:p>
            <a:pPr marL="0" indent="0">
              <a:buNone/>
            </a:pPr>
            <a:r>
              <a:rPr lang="en-IN" sz="2400" cap="none" dirty="0" smtClean="0">
                <a:solidFill>
                  <a:schemeClr val="tx1">
                    <a:lumMod val="95000"/>
                    <a:lumOff val="5000"/>
                  </a:schemeClr>
                </a:solidFill>
                <a:latin typeface="Verdana "/>
              </a:rPr>
              <a:t>           -- Applications Include Automotive Braking System, Powertrains Etc.</a:t>
            </a:r>
          </a:p>
          <a:p>
            <a:pPr marL="0" indent="0">
              <a:buNone/>
            </a:pPr>
            <a:endParaRPr lang="en-IN" sz="3200" dirty="0">
              <a:solidFill>
                <a:schemeClr val="tx2">
                  <a:lumMod val="50000"/>
                </a:schemeClr>
              </a:solidFill>
              <a:latin typeface="Verdana "/>
            </a:endParaRPr>
          </a:p>
          <a:p>
            <a:endParaRPr lang="en-IN" sz="3200" dirty="0" smtClean="0">
              <a:latin typeface="Verdana "/>
            </a:endParaRPr>
          </a:p>
          <a:p>
            <a:endParaRPr lang="en-IN" sz="3200" dirty="0">
              <a:latin typeface="Verdana "/>
            </a:endParaRPr>
          </a:p>
        </p:txBody>
      </p:sp>
    </p:spTree>
    <p:extLst>
      <p:ext uri="{BB962C8B-B14F-4D97-AF65-F5344CB8AC3E}">
        <p14:creationId xmlns:p14="http://schemas.microsoft.com/office/powerpoint/2010/main" val="4277674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631268" y="762002"/>
            <a:ext cx="9399589" cy="6386284"/>
          </a:xfrm>
        </p:spPr>
        <p:txBody>
          <a:bodyPr>
            <a:normAutofit/>
          </a:bodyPr>
          <a:lstStyle/>
          <a:p>
            <a:pPr>
              <a:buClr>
                <a:schemeClr val="accent5"/>
              </a:buClr>
              <a:buFont typeface="Wingdings" panose="05000000000000000000" pitchFamily="2" charset="2"/>
              <a:buChar char="Ø"/>
            </a:pPr>
            <a:r>
              <a:rPr lang="en-IN" sz="3200" dirty="0" smtClean="0">
                <a:solidFill>
                  <a:schemeClr val="tx2">
                    <a:lumMod val="50000"/>
                  </a:schemeClr>
                </a:solidFill>
                <a:latin typeface="Verdana "/>
              </a:rPr>
              <a:t> </a:t>
            </a:r>
            <a:r>
              <a:rPr lang="en-IN" sz="3200" cap="none" dirty="0" smtClean="0">
                <a:solidFill>
                  <a:schemeClr val="tx2">
                    <a:lumMod val="50000"/>
                  </a:schemeClr>
                </a:solidFill>
                <a:latin typeface="Verdana "/>
              </a:rPr>
              <a:t>Cortex-M Series (Microcontroller)</a:t>
            </a:r>
          </a:p>
          <a:p>
            <a:pPr marL="0" indent="0">
              <a:buNone/>
            </a:pPr>
            <a:r>
              <a:rPr lang="en-IN" sz="3200" cap="none" dirty="0" smtClean="0">
                <a:latin typeface="Verdana "/>
              </a:rPr>
              <a:t>        -- </a:t>
            </a:r>
            <a:r>
              <a:rPr lang="en-IN" sz="2400" cap="none" dirty="0" smtClean="0">
                <a:latin typeface="Verdana "/>
              </a:rPr>
              <a:t>Cost-sensitive Solutions For Deterministic Microcontroller Applications;</a:t>
            </a:r>
          </a:p>
          <a:p>
            <a:pPr marL="0" indent="0">
              <a:buNone/>
            </a:pPr>
            <a:r>
              <a:rPr lang="en-IN" sz="2400" cap="none" dirty="0" smtClean="0">
                <a:latin typeface="Verdana "/>
              </a:rPr>
              <a:t>           -- Applications Include Microcontrollers, Mixed Signal Devices, Smart Sensors, Automotive Body Electronics And Airbags; More Recently IOT.</a:t>
            </a:r>
          </a:p>
          <a:p>
            <a:pPr marL="0" indent="0">
              <a:buNone/>
            </a:pPr>
            <a:endParaRPr lang="en-IN" sz="2400" cap="none" dirty="0" smtClean="0">
              <a:latin typeface="Verdana "/>
            </a:endParaRPr>
          </a:p>
          <a:p>
            <a:pPr>
              <a:buClr>
                <a:schemeClr val="accent5"/>
              </a:buClr>
              <a:buFont typeface="Wingdings" panose="05000000000000000000" pitchFamily="2" charset="2"/>
              <a:buChar char="Ø"/>
            </a:pPr>
            <a:r>
              <a:rPr lang="en-IN" sz="3200" cap="none" dirty="0" smtClean="0">
                <a:solidFill>
                  <a:schemeClr val="tx2">
                    <a:lumMod val="50000"/>
                  </a:schemeClr>
                </a:solidFill>
                <a:latin typeface="Verdana "/>
              </a:rPr>
              <a:t> Secure core Series </a:t>
            </a:r>
          </a:p>
          <a:p>
            <a:pPr marL="0" indent="0">
              <a:buNone/>
            </a:pPr>
            <a:r>
              <a:rPr lang="en-IN" sz="3200" cap="none" dirty="0" smtClean="0">
                <a:latin typeface="Verdana "/>
              </a:rPr>
              <a:t>         -- </a:t>
            </a:r>
            <a:r>
              <a:rPr lang="en-IN" sz="2400" cap="none" dirty="0" smtClean="0">
                <a:latin typeface="Verdana "/>
              </a:rPr>
              <a:t>High Security Applications</a:t>
            </a:r>
          </a:p>
          <a:p>
            <a:pPr>
              <a:buClr>
                <a:schemeClr val="accent5"/>
              </a:buClr>
              <a:buFont typeface="Wingdings" panose="05000000000000000000" pitchFamily="2" charset="2"/>
              <a:buChar char="Ø"/>
            </a:pPr>
            <a:r>
              <a:rPr lang="en-IN" sz="2400" cap="none" dirty="0" smtClean="0">
                <a:latin typeface="Verdana "/>
              </a:rPr>
              <a:t> </a:t>
            </a:r>
            <a:r>
              <a:rPr lang="en-IN" sz="3200" cap="none" dirty="0" smtClean="0">
                <a:solidFill>
                  <a:schemeClr val="tx2">
                    <a:lumMod val="50000"/>
                  </a:schemeClr>
                </a:solidFill>
                <a:latin typeface="Verdana "/>
              </a:rPr>
              <a:t>Previous Classic Processors: Include ARM7, ARM9, ARM11 Families</a:t>
            </a:r>
            <a:endParaRPr lang="en-IN" sz="3200" cap="none" dirty="0">
              <a:solidFill>
                <a:schemeClr val="tx2">
                  <a:lumMod val="50000"/>
                </a:schemeClr>
              </a:solidFill>
              <a:latin typeface="Verdana "/>
            </a:endParaRPr>
          </a:p>
        </p:txBody>
      </p:sp>
    </p:spTree>
    <p:extLst>
      <p:ext uri="{BB962C8B-B14F-4D97-AF65-F5344CB8AC3E}">
        <p14:creationId xmlns:p14="http://schemas.microsoft.com/office/powerpoint/2010/main" val="39661281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686" y="0"/>
            <a:ext cx="8911687" cy="1280890"/>
          </a:xfrm>
        </p:spPr>
        <p:txBody>
          <a:bodyPr>
            <a:normAutofit/>
          </a:bodyPr>
          <a:lstStyle/>
          <a:p>
            <a:pPr algn="ctr"/>
            <a:r>
              <a:rPr lang="en-IN" sz="4400" b="1" dirty="0" smtClean="0">
                <a:solidFill>
                  <a:srgbClr val="7030A0"/>
                </a:solidFill>
                <a:latin typeface="Verdana "/>
              </a:rPr>
              <a:t>7.1 Cortex </a:t>
            </a:r>
            <a:r>
              <a:rPr lang="en-IN" sz="4400" b="1" dirty="0">
                <a:solidFill>
                  <a:srgbClr val="7030A0"/>
                </a:solidFill>
                <a:latin typeface="Verdana "/>
              </a:rPr>
              <a:t>– M Processor</a:t>
            </a:r>
          </a:p>
        </p:txBody>
      </p:sp>
      <p:sp>
        <p:nvSpPr>
          <p:cNvPr id="3" name="Content Placeholder 2"/>
          <p:cNvSpPr>
            <a:spLocks noGrp="1"/>
          </p:cNvSpPr>
          <p:nvPr>
            <p:ph idx="1"/>
          </p:nvPr>
        </p:nvSpPr>
        <p:spPr>
          <a:xfrm>
            <a:off x="1436913" y="849087"/>
            <a:ext cx="10276115" cy="6008913"/>
          </a:xfrm>
        </p:spPr>
        <p:txBody>
          <a:bodyPr>
            <a:normAutofit fontScale="77500" lnSpcReduction="20000"/>
          </a:bodyPr>
          <a:lstStyle/>
          <a:p>
            <a:pPr algn="just">
              <a:buClr>
                <a:schemeClr val="accent5"/>
              </a:buClr>
              <a:buFont typeface="Wingdings" panose="05000000000000000000" pitchFamily="2" charset="2"/>
              <a:buChar char="Ø"/>
            </a:pPr>
            <a:r>
              <a:rPr lang="en-IN" sz="3200" dirty="0">
                <a:latin typeface="Verdana "/>
              </a:rPr>
              <a:t> </a:t>
            </a:r>
            <a:r>
              <a:rPr lang="en-IN" sz="3900" cap="none" dirty="0" smtClean="0">
                <a:solidFill>
                  <a:schemeClr val="tx1">
                    <a:lumMod val="95000"/>
                    <a:lumOff val="5000"/>
                  </a:schemeClr>
                </a:solidFill>
                <a:latin typeface="Verdana "/>
              </a:rPr>
              <a:t>Lets Begin Our Study On Cortex-m Processor Family.</a:t>
            </a:r>
          </a:p>
          <a:p>
            <a:pPr algn="just">
              <a:buClr>
                <a:schemeClr val="accent5"/>
              </a:buClr>
              <a:buFont typeface="Wingdings" panose="05000000000000000000" pitchFamily="2" charset="2"/>
              <a:buChar char="Ø"/>
            </a:pPr>
            <a:r>
              <a:rPr lang="en-IN" sz="3900" cap="none" dirty="0" smtClean="0">
                <a:solidFill>
                  <a:schemeClr val="tx1">
                    <a:lumMod val="95000"/>
                    <a:lumOff val="5000"/>
                  </a:schemeClr>
                </a:solidFill>
                <a:latin typeface="Verdana "/>
              </a:rPr>
              <a:t> The Cortex-m Family has </a:t>
            </a:r>
            <a:r>
              <a:rPr lang="en-IN" sz="3900" dirty="0">
                <a:solidFill>
                  <a:schemeClr val="tx1">
                    <a:lumMod val="95000"/>
                    <a:lumOff val="5000"/>
                  </a:schemeClr>
                </a:solidFill>
                <a:latin typeface="Verdana "/>
              </a:rPr>
              <a:t>b</a:t>
            </a:r>
            <a:r>
              <a:rPr lang="en-IN" sz="3900" cap="none" dirty="0" smtClean="0">
                <a:solidFill>
                  <a:schemeClr val="tx1">
                    <a:lumMod val="95000"/>
                    <a:lumOff val="5000"/>
                  </a:schemeClr>
                </a:solidFill>
                <a:latin typeface="Verdana "/>
              </a:rPr>
              <a:t>een Designed For Embedded Applications With The Use Of Microcontrollers.</a:t>
            </a:r>
          </a:p>
          <a:p>
            <a:pPr algn="just">
              <a:buClr>
                <a:schemeClr val="accent5"/>
              </a:buClr>
              <a:buFont typeface="Wingdings" panose="05000000000000000000" pitchFamily="2" charset="2"/>
              <a:buChar char="Ø"/>
            </a:pPr>
            <a:r>
              <a:rPr lang="en-IN" sz="3900" cap="none" dirty="0" smtClean="0">
                <a:solidFill>
                  <a:schemeClr val="tx1">
                    <a:lumMod val="95000"/>
                    <a:lumOff val="5000"/>
                  </a:schemeClr>
                </a:solidFill>
                <a:latin typeface="Verdana "/>
              </a:rPr>
              <a:t> Cortex-m Family Is A Low End Of The Cortex Family        </a:t>
            </a:r>
          </a:p>
          <a:p>
            <a:pPr algn="just">
              <a:buClr>
                <a:schemeClr val="accent5"/>
              </a:buClr>
              <a:buFont typeface="Wingdings" panose="05000000000000000000" pitchFamily="2" charset="2"/>
              <a:buChar char="Ø"/>
            </a:pPr>
            <a:r>
              <a:rPr lang="en-IN" sz="3900" cap="none" dirty="0" smtClean="0">
                <a:solidFill>
                  <a:schemeClr val="tx1">
                    <a:lumMod val="95000"/>
                    <a:lumOff val="5000"/>
                  </a:schemeClr>
                </a:solidFill>
                <a:latin typeface="Verdana "/>
              </a:rPr>
              <a:t> But It Posses A Very Good Computational Capabilities.</a:t>
            </a:r>
          </a:p>
          <a:p>
            <a:pPr algn="just">
              <a:buClr>
                <a:schemeClr val="accent5"/>
              </a:buClr>
              <a:buFont typeface="Wingdings" panose="05000000000000000000" pitchFamily="2" charset="2"/>
              <a:buChar char="Ø"/>
            </a:pPr>
            <a:r>
              <a:rPr lang="en-IN" sz="3900" cap="none" dirty="0" smtClean="0">
                <a:solidFill>
                  <a:schemeClr val="tx1">
                    <a:lumMod val="95000"/>
                    <a:lumOff val="5000"/>
                  </a:schemeClr>
                </a:solidFill>
                <a:latin typeface="Verdana "/>
              </a:rPr>
              <a:t> The M Series Has Many Variants Which Are M0, M0+, M1, M3, M4 And M7.</a:t>
            </a:r>
          </a:p>
          <a:p>
            <a:pPr algn="just">
              <a:buClr>
                <a:schemeClr val="accent5"/>
              </a:buClr>
              <a:buFont typeface="Wingdings" panose="05000000000000000000" pitchFamily="2" charset="2"/>
              <a:buChar char="Ø"/>
            </a:pPr>
            <a:r>
              <a:rPr lang="en-IN" sz="3900" cap="none" dirty="0" smtClean="0">
                <a:solidFill>
                  <a:schemeClr val="tx1">
                    <a:lumMod val="95000"/>
                    <a:lumOff val="5000"/>
                  </a:schemeClr>
                </a:solidFill>
                <a:latin typeface="Verdana "/>
              </a:rPr>
              <a:t> Each Variant Has A Special Feature And Depending On The Application, The User Can Select A Particular Variant.</a:t>
            </a:r>
          </a:p>
          <a:p>
            <a:pPr marL="0" indent="0" algn="just">
              <a:buNone/>
            </a:pPr>
            <a:endParaRPr lang="en-IN" sz="3600" dirty="0">
              <a:latin typeface="Verdana "/>
            </a:endParaRPr>
          </a:p>
          <a:p>
            <a:endParaRPr lang="en-IN" dirty="0"/>
          </a:p>
        </p:txBody>
      </p:sp>
    </p:spTree>
    <p:extLst>
      <p:ext uri="{BB962C8B-B14F-4D97-AF65-F5344CB8AC3E}">
        <p14:creationId xmlns:p14="http://schemas.microsoft.com/office/powerpoint/2010/main" val="36517164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63601" y="1510749"/>
            <a:ext cx="9536513" cy="3235422"/>
          </a:xfrm>
        </p:spPr>
        <p:txBody>
          <a:bodyPr/>
          <a:lstStyle/>
          <a:p>
            <a:pPr algn="just">
              <a:buClr>
                <a:schemeClr val="accent5"/>
              </a:buClr>
              <a:buFont typeface="Wingdings" panose="05000000000000000000" pitchFamily="2" charset="2"/>
              <a:buChar char="Ø"/>
            </a:pPr>
            <a:r>
              <a:rPr lang="en-IN" sz="3200" dirty="0">
                <a:solidFill>
                  <a:schemeClr val="tx1">
                    <a:lumMod val="95000"/>
                    <a:lumOff val="5000"/>
                  </a:schemeClr>
                </a:solidFill>
                <a:latin typeface="Verdana "/>
              </a:rPr>
              <a:t> one of the point in focus is low power capability and that feature is taken into consideration at every stage in processor design.</a:t>
            </a:r>
          </a:p>
          <a:p>
            <a:pPr algn="just">
              <a:lnSpc>
                <a:spcPct val="100000"/>
              </a:lnSpc>
              <a:buClr>
                <a:schemeClr val="accent5"/>
              </a:buClr>
              <a:buFont typeface="Wingdings" panose="05000000000000000000" pitchFamily="2" charset="2"/>
              <a:buChar char="Ø"/>
            </a:pPr>
            <a:r>
              <a:rPr lang="en-IN" sz="3200" cap="none" dirty="0">
                <a:solidFill>
                  <a:schemeClr val="tx1">
                    <a:lumMod val="95000"/>
                    <a:lumOff val="5000"/>
                  </a:schemeClr>
                </a:solidFill>
                <a:latin typeface="Verdana "/>
              </a:rPr>
              <a:t>Lets see the brief reference to each of the members of the cortex-m </a:t>
            </a:r>
            <a:r>
              <a:rPr lang="en-IN" sz="3200" dirty="0">
                <a:solidFill>
                  <a:schemeClr val="tx1">
                    <a:lumMod val="95000"/>
                    <a:lumOff val="5000"/>
                  </a:schemeClr>
                </a:solidFill>
                <a:latin typeface="Verdana "/>
              </a:rPr>
              <a:t>family</a:t>
            </a:r>
            <a:r>
              <a:rPr lang="en-IN" sz="3200" cap="none" dirty="0">
                <a:solidFill>
                  <a:schemeClr val="tx1">
                    <a:lumMod val="95000"/>
                    <a:lumOff val="5000"/>
                  </a:schemeClr>
                </a:solidFill>
                <a:latin typeface="Verdana "/>
              </a:rPr>
              <a:t>. </a:t>
            </a:r>
          </a:p>
        </p:txBody>
      </p:sp>
    </p:spTree>
    <p:extLst>
      <p:ext uri="{BB962C8B-B14F-4D97-AF65-F5344CB8AC3E}">
        <p14:creationId xmlns:p14="http://schemas.microsoft.com/office/powerpoint/2010/main" val="38385577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961" y="0"/>
            <a:ext cx="8596668" cy="695423"/>
          </a:xfrm>
        </p:spPr>
        <p:txBody>
          <a:bodyPr>
            <a:normAutofit fontScale="90000"/>
          </a:bodyPr>
          <a:lstStyle/>
          <a:p>
            <a:r>
              <a:rPr lang="en-IN" sz="4400" b="1" dirty="0">
                <a:solidFill>
                  <a:srgbClr val="7030A0"/>
                </a:solidFill>
                <a:latin typeface="Verdana "/>
              </a:rPr>
              <a:t>Cortex-M Processors Family 	</a:t>
            </a:r>
            <a:br>
              <a:rPr lang="en-IN" sz="4400" b="1" dirty="0">
                <a:solidFill>
                  <a:srgbClr val="7030A0"/>
                </a:solidFill>
                <a:latin typeface="Verdana "/>
              </a:rPr>
            </a:br>
            <a:endParaRPr lang="en-IN" sz="4400" b="1" dirty="0">
              <a:solidFill>
                <a:srgbClr val="7030A0"/>
              </a:solidFill>
              <a:latin typeface="Verdana "/>
            </a:endParaRPr>
          </a:p>
        </p:txBody>
      </p:sp>
      <p:sp>
        <p:nvSpPr>
          <p:cNvPr id="3" name="Content Placeholder 2"/>
          <p:cNvSpPr>
            <a:spLocks noGrp="1"/>
          </p:cNvSpPr>
          <p:nvPr>
            <p:ph idx="1"/>
          </p:nvPr>
        </p:nvSpPr>
        <p:spPr>
          <a:xfrm>
            <a:off x="1523372" y="1075319"/>
            <a:ext cx="9536513" cy="6036680"/>
          </a:xfrm>
        </p:spPr>
        <p:txBody>
          <a:bodyPr>
            <a:normAutofit lnSpcReduction="10000"/>
          </a:bodyPr>
          <a:lstStyle/>
          <a:p>
            <a:pPr algn="just">
              <a:buClr>
                <a:schemeClr val="accent5"/>
              </a:buClr>
              <a:buFont typeface="Wingdings" panose="05000000000000000000" pitchFamily="2" charset="2"/>
              <a:buChar char="Ø"/>
            </a:pPr>
            <a:r>
              <a:rPr lang="en-IN" sz="3200" dirty="0">
                <a:solidFill>
                  <a:schemeClr val="tx1">
                    <a:lumMod val="95000"/>
                    <a:lumOff val="5000"/>
                  </a:schemeClr>
                </a:solidFill>
                <a:latin typeface="Verdana "/>
              </a:rPr>
              <a:t> </a:t>
            </a:r>
            <a:r>
              <a:rPr lang="en-IN" sz="3200" b="1" dirty="0">
                <a:solidFill>
                  <a:srgbClr val="C00000"/>
                </a:solidFill>
                <a:latin typeface="Verdana "/>
              </a:rPr>
              <a:t>Cortex- M0: </a:t>
            </a:r>
            <a:r>
              <a:rPr lang="en-IN" sz="3200" dirty="0" smtClean="0">
                <a:solidFill>
                  <a:schemeClr val="tx1">
                    <a:lumMod val="95000"/>
                    <a:lumOff val="5000"/>
                  </a:schemeClr>
                </a:solidFill>
                <a:latin typeface="Verdana "/>
              </a:rPr>
              <a:t>It is very small processor (in size) on account of its very low gate count. It is meant to be used in very low power embedded product designs. </a:t>
            </a:r>
          </a:p>
          <a:p>
            <a:pPr algn="just">
              <a:buClr>
                <a:schemeClr val="accent5"/>
              </a:buClr>
              <a:buFont typeface="Wingdings" panose="05000000000000000000" pitchFamily="2" charset="2"/>
              <a:buChar char="Ø"/>
            </a:pPr>
            <a:endParaRPr lang="en-IN" sz="3200" dirty="0">
              <a:solidFill>
                <a:schemeClr val="tx1">
                  <a:lumMod val="95000"/>
                  <a:lumOff val="5000"/>
                </a:schemeClr>
              </a:solidFill>
              <a:latin typeface="Verdana "/>
            </a:endParaRPr>
          </a:p>
          <a:p>
            <a:pPr algn="just">
              <a:buClr>
                <a:schemeClr val="accent5"/>
              </a:buClr>
              <a:buFont typeface="Wingdings" panose="05000000000000000000" pitchFamily="2" charset="2"/>
              <a:buChar char="Ø"/>
            </a:pPr>
            <a:endParaRPr lang="en-IN" sz="3200" dirty="0" smtClean="0">
              <a:solidFill>
                <a:schemeClr val="tx1">
                  <a:lumMod val="95000"/>
                  <a:lumOff val="5000"/>
                </a:schemeClr>
              </a:solidFill>
              <a:latin typeface="Verdana "/>
            </a:endParaRPr>
          </a:p>
          <a:p>
            <a:pPr marL="0" indent="0" algn="just">
              <a:buClr>
                <a:schemeClr val="accent5"/>
              </a:buClr>
              <a:buNone/>
            </a:pPr>
            <a:r>
              <a:rPr lang="en-IN" sz="3200" dirty="0" smtClean="0">
                <a:solidFill>
                  <a:schemeClr val="tx1">
                    <a:lumMod val="95000"/>
                    <a:lumOff val="5000"/>
                  </a:schemeClr>
                </a:solidFill>
                <a:latin typeface="Verdana "/>
              </a:rPr>
              <a:t>              </a:t>
            </a:r>
            <a:endParaRPr lang="en-IN" sz="3200" dirty="0">
              <a:solidFill>
                <a:schemeClr val="tx1">
                  <a:lumMod val="95000"/>
                  <a:lumOff val="5000"/>
                </a:schemeClr>
              </a:solidFill>
              <a:latin typeface="Verdana "/>
            </a:endParaRPr>
          </a:p>
          <a:p>
            <a:pPr algn="just">
              <a:buClr>
                <a:schemeClr val="accent5"/>
              </a:buClr>
              <a:buFont typeface="Wingdings" panose="05000000000000000000" pitchFamily="2" charset="2"/>
              <a:buChar char="Ø"/>
            </a:pPr>
            <a:endParaRPr lang="en-IN" sz="3200" dirty="0" smtClean="0">
              <a:solidFill>
                <a:schemeClr val="tx1">
                  <a:lumMod val="95000"/>
                  <a:lumOff val="5000"/>
                </a:schemeClr>
              </a:solidFill>
              <a:latin typeface="Verdana "/>
            </a:endParaRPr>
          </a:p>
          <a:p>
            <a:pPr algn="just">
              <a:buClr>
                <a:schemeClr val="accent5"/>
              </a:buClr>
              <a:buFont typeface="Wingdings" panose="05000000000000000000" pitchFamily="2" charset="2"/>
              <a:buChar char="Ø"/>
            </a:pPr>
            <a:endParaRPr lang="en-IN" sz="3200" dirty="0" smtClean="0">
              <a:solidFill>
                <a:schemeClr val="tx1">
                  <a:lumMod val="95000"/>
                  <a:lumOff val="5000"/>
                </a:schemeClr>
              </a:solidFill>
              <a:latin typeface="Verdana "/>
            </a:endParaRPr>
          </a:p>
          <a:p>
            <a:pPr algn="just">
              <a:buClr>
                <a:schemeClr val="accent5"/>
              </a:buClr>
              <a:buFont typeface="Wingdings" panose="05000000000000000000" pitchFamily="2" charset="2"/>
              <a:buChar char="Ø"/>
            </a:pPr>
            <a:r>
              <a:rPr lang="en-IN" sz="3200" dirty="0">
                <a:solidFill>
                  <a:schemeClr val="tx1">
                    <a:lumMod val="95000"/>
                    <a:lumOff val="5000"/>
                  </a:schemeClr>
                </a:solidFill>
                <a:latin typeface="Verdana "/>
              </a:rPr>
              <a:t> The Arm Cortex-M0 processor is one of the smallest Arm processors available. </a:t>
            </a:r>
          </a:p>
          <a:p>
            <a:pPr algn="just">
              <a:buClr>
                <a:schemeClr val="accent5"/>
              </a:buClr>
              <a:buFont typeface="Wingdings" panose="05000000000000000000" pitchFamily="2" charset="2"/>
              <a:buChar char="Ø"/>
            </a:pPr>
            <a:endParaRPr lang="en-IN" sz="3200" dirty="0">
              <a:solidFill>
                <a:schemeClr val="tx1">
                  <a:lumMod val="95000"/>
                  <a:lumOff val="5000"/>
                </a:schemeClr>
              </a:solidFill>
              <a:latin typeface="Verdana "/>
            </a:endParaRPr>
          </a:p>
        </p:txBody>
      </p:sp>
      <p:pic>
        <p:nvPicPr>
          <p:cNvPr id="1026" name="Picture 2" descr="Takefuns ARM Cortex-M0 STM32F051C8T6 STM32 Core Board Minimum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9601" y="2560020"/>
            <a:ext cx="3844053" cy="3067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6975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5562" y="1028474"/>
            <a:ext cx="9337523" cy="5415869"/>
          </a:xfrm>
        </p:spPr>
        <p:txBody>
          <a:bodyPr>
            <a:noAutofit/>
          </a:bodyPr>
          <a:lstStyle/>
          <a:p>
            <a:pPr algn="just">
              <a:buClr>
                <a:schemeClr val="accent5"/>
              </a:buClr>
              <a:buFont typeface="Wingdings" panose="05000000000000000000" pitchFamily="2" charset="2"/>
              <a:buChar char="Ø"/>
            </a:pPr>
            <a:r>
              <a:rPr lang="en-IN" sz="3200" dirty="0">
                <a:solidFill>
                  <a:schemeClr val="tx1">
                    <a:lumMod val="95000"/>
                    <a:lumOff val="5000"/>
                  </a:schemeClr>
                </a:solidFill>
                <a:latin typeface="Verdana "/>
              </a:rPr>
              <a:t>The Cortex-M0 has an exceptionally small silicon area, low power and minimal code footprint, enabling developers to achieve 32-bit performance at an 8-bit price point, bypassing the step to 16-bit devices</a:t>
            </a:r>
            <a:r>
              <a:rPr lang="en-IN" sz="3200" dirty="0" smtClean="0">
                <a:solidFill>
                  <a:schemeClr val="tx1">
                    <a:lumMod val="95000"/>
                    <a:lumOff val="5000"/>
                  </a:schemeClr>
                </a:solidFill>
                <a:latin typeface="Verdana "/>
              </a:rPr>
              <a:t>.</a:t>
            </a:r>
          </a:p>
          <a:p>
            <a:pPr algn="just">
              <a:buClr>
                <a:schemeClr val="accent5"/>
              </a:buClr>
              <a:buFont typeface="Wingdings" panose="05000000000000000000" pitchFamily="2" charset="2"/>
              <a:buChar char="Ø"/>
            </a:pPr>
            <a:r>
              <a:rPr lang="en-IN" sz="3200" dirty="0" smtClean="0">
                <a:solidFill>
                  <a:schemeClr val="tx1">
                    <a:lumMod val="95000"/>
                    <a:lumOff val="5000"/>
                  </a:schemeClr>
                </a:solidFill>
                <a:latin typeface="Verdana "/>
              </a:rPr>
              <a:t> </a:t>
            </a:r>
            <a:r>
              <a:rPr lang="en-IN" sz="3200" dirty="0">
                <a:solidFill>
                  <a:schemeClr val="tx1">
                    <a:lumMod val="95000"/>
                    <a:lumOff val="5000"/>
                  </a:schemeClr>
                </a:solidFill>
                <a:latin typeface="Verdana "/>
              </a:rPr>
              <a:t>The ultra-low gate count of the processor enables its deployment in </a:t>
            </a:r>
            <a:r>
              <a:rPr lang="en-IN" sz="3200" dirty="0" smtClean="0">
                <a:solidFill>
                  <a:schemeClr val="tx1">
                    <a:lumMod val="95000"/>
                    <a:lumOff val="5000"/>
                  </a:schemeClr>
                </a:solidFill>
                <a:latin typeface="Verdana "/>
              </a:rPr>
              <a:t>analog </a:t>
            </a:r>
            <a:r>
              <a:rPr lang="en-IN" sz="3200" dirty="0">
                <a:solidFill>
                  <a:schemeClr val="tx1">
                    <a:lumMod val="95000"/>
                    <a:lumOff val="5000"/>
                  </a:schemeClr>
                </a:solidFill>
                <a:latin typeface="Verdana "/>
              </a:rPr>
              <a:t>and mixed signal devices.</a:t>
            </a:r>
          </a:p>
        </p:txBody>
      </p:sp>
    </p:spTree>
    <p:extLst>
      <p:ext uri="{BB962C8B-B14F-4D97-AF65-F5344CB8AC3E}">
        <p14:creationId xmlns:p14="http://schemas.microsoft.com/office/powerpoint/2010/main" val="15655280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4704" y="116114"/>
            <a:ext cx="9439124" cy="6952343"/>
          </a:xfrm>
        </p:spPr>
        <p:txBody>
          <a:bodyPr>
            <a:normAutofit lnSpcReduction="10000"/>
          </a:bodyPr>
          <a:lstStyle/>
          <a:p>
            <a:pPr algn="just">
              <a:buClr>
                <a:schemeClr val="accent5"/>
              </a:buClr>
              <a:buFont typeface="Wingdings" panose="05000000000000000000" pitchFamily="2" charset="2"/>
              <a:buChar char="Ø"/>
            </a:pPr>
            <a:r>
              <a:rPr lang="en-IN" sz="3200" b="1" dirty="0">
                <a:solidFill>
                  <a:srgbClr val="C00000"/>
                </a:solidFill>
                <a:latin typeface="Verdana "/>
              </a:rPr>
              <a:t>Cortex- </a:t>
            </a:r>
            <a:r>
              <a:rPr lang="en-IN" sz="3200" b="1" dirty="0" smtClean="0">
                <a:solidFill>
                  <a:srgbClr val="C00000"/>
                </a:solidFill>
                <a:latin typeface="Verdana "/>
              </a:rPr>
              <a:t>M0+: </a:t>
            </a:r>
            <a:r>
              <a:rPr lang="en-IN" sz="3200" dirty="0" smtClean="0">
                <a:solidFill>
                  <a:schemeClr val="tx1">
                    <a:lumMod val="95000"/>
                    <a:lumOff val="5000"/>
                  </a:schemeClr>
                </a:solidFill>
                <a:latin typeface="Verdana "/>
              </a:rPr>
              <a:t>It is similar to M0, but can boast of lower power, a shorter pipeline and an additional feature termed ‘ Single Cycle execution’ for I/O</a:t>
            </a:r>
          </a:p>
          <a:p>
            <a:pPr algn="just">
              <a:buClr>
                <a:schemeClr val="accent5"/>
              </a:buClr>
              <a:buFont typeface="Wingdings" panose="05000000000000000000" pitchFamily="2" charset="2"/>
              <a:buChar char="Ø"/>
            </a:pPr>
            <a:endParaRPr lang="en-IN" sz="3200" dirty="0">
              <a:solidFill>
                <a:schemeClr val="tx1">
                  <a:lumMod val="95000"/>
                  <a:lumOff val="5000"/>
                </a:schemeClr>
              </a:solidFill>
              <a:latin typeface="Verdana "/>
            </a:endParaRPr>
          </a:p>
          <a:p>
            <a:pPr algn="just">
              <a:buClr>
                <a:schemeClr val="accent5"/>
              </a:buClr>
              <a:buFont typeface="Wingdings" panose="05000000000000000000" pitchFamily="2" charset="2"/>
              <a:buChar char="Ø"/>
            </a:pPr>
            <a:endParaRPr lang="en-IN" sz="3200" dirty="0" smtClean="0">
              <a:solidFill>
                <a:schemeClr val="tx1">
                  <a:lumMod val="95000"/>
                  <a:lumOff val="5000"/>
                </a:schemeClr>
              </a:solidFill>
              <a:latin typeface="Verdana "/>
            </a:endParaRPr>
          </a:p>
          <a:p>
            <a:pPr algn="just">
              <a:buClr>
                <a:schemeClr val="accent5"/>
              </a:buClr>
              <a:buFont typeface="Wingdings" panose="05000000000000000000" pitchFamily="2" charset="2"/>
              <a:buChar char="Ø"/>
            </a:pPr>
            <a:endParaRPr lang="en-IN" sz="3200" dirty="0">
              <a:solidFill>
                <a:schemeClr val="tx1">
                  <a:lumMod val="95000"/>
                  <a:lumOff val="5000"/>
                </a:schemeClr>
              </a:solidFill>
              <a:latin typeface="Verdana "/>
            </a:endParaRPr>
          </a:p>
          <a:p>
            <a:pPr algn="just">
              <a:buClr>
                <a:schemeClr val="accent5"/>
              </a:buClr>
              <a:buFont typeface="Wingdings" panose="05000000000000000000" pitchFamily="2" charset="2"/>
              <a:buChar char="Ø"/>
            </a:pPr>
            <a:endParaRPr lang="en-IN" sz="3200" dirty="0" smtClean="0">
              <a:solidFill>
                <a:schemeClr val="tx1">
                  <a:lumMod val="95000"/>
                  <a:lumOff val="5000"/>
                </a:schemeClr>
              </a:solidFill>
              <a:latin typeface="Verdana "/>
            </a:endParaRPr>
          </a:p>
          <a:p>
            <a:pPr algn="just">
              <a:buClr>
                <a:schemeClr val="accent5"/>
              </a:buClr>
              <a:buFont typeface="Wingdings" panose="05000000000000000000" pitchFamily="2" charset="2"/>
              <a:buChar char="Ø"/>
            </a:pPr>
            <a:r>
              <a:rPr lang="en-IN" sz="3200" dirty="0" smtClean="0">
                <a:solidFill>
                  <a:schemeClr val="tx1">
                    <a:lumMod val="95000"/>
                    <a:lumOff val="5000"/>
                  </a:schemeClr>
                </a:solidFill>
                <a:latin typeface="Verdana "/>
              </a:rPr>
              <a:t> </a:t>
            </a:r>
            <a:r>
              <a:rPr lang="en-IN" sz="3200" dirty="0">
                <a:solidFill>
                  <a:schemeClr val="tx1">
                    <a:lumMod val="95000"/>
                    <a:lumOff val="5000"/>
                  </a:schemeClr>
                </a:solidFill>
                <a:latin typeface="Verdana "/>
              </a:rPr>
              <a:t>32-bit, Low-Power Processor at an 8-bit Cost</a:t>
            </a:r>
          </a:p>
          <a:p>
            <a:pPr algn="just">
              <a:buClr>
                <a:schemeClr val="accent5"/>
              </a:buClr>
              <a:buFont typeface="Wingdings" panose="05000000000000000000" pitchFamily="2" charset="2"/>
              <a:buChar char="Ø"/>
            </a:pPr>
            <a:r>
              <a:rPr lang="en-IN" sz="3200" dirty="0" smtClean="0">
                <a:solidFill>
                  <a:schemeClr val="tx1">
                    <a:lumMod val="95000"/>
                    <a:lumOff val="5000"/>
                  </a:schemeClr>
                </a:solidFill>
                <a:latin typeface="Verdana "/>
              </a:rPr>
              <a:t> </a:t>
            </a:r>
            <a:r>
              <a:rPr lang="en-IN" dirty="0"/>
              <a:t> </a:t>
            </a:r>
            <a:r>
              <a:rPr lang="en-IN" sz="3200" dirty="0">
                <a:solidFill>
                  <a:schemeClr val="tx1">
                    <a:lumMod val="95000"/>
                    <a:lumOff val="5000"/>
                  </a:schemeClr>
                </a:solidFill>
                <a:latin typeface="Verdana "/>
              </a:rPr>
              <a:t>The Cortex-M0+ processor has the smallest footprint and lowest power requirements of all the Cortex-M processors. The low-power processor is suitable for a wide variety of applications, including sensors and wearables.</a:t>
            </a:r>
          </a:p>
          <a:p>
            <a:pPr algn="just">
              <a:buClr>
                <a:schemeClr val="accent5"/>
              </a:buClr>
              <a:buFont typeface="Wingdings" panose="05000000000000000000" pitchFamily="2" charset="2"/>
              <a:buChar char="Ø"/>
            </a:pPr>
            <a:endParaRPr lang="en-IN" sz="3200" dirty="0">
              <a:solidFill>
                <a:schemeClr val="tx1">
                  <a:lumMod val="95000"/>
                  <a:lumOff val="5000"/>
                </a:schemeClr>
              </a:solidFill>
              <a:latin typeface="Verdana "/>
            </a:endParaRPr>
          </a:p>
          <a:p>
            <a:endParaRPr lang="en-IN" sz="3200" b="1" dirty="0">
              <a:solidFill>
                <a:srgbClr val="C00000"/>
              </a:solidFill>
              <a:latin typeface="Verdana "/>
            </a:endParaRPr>
          </a:p>
        </p:txBody>
      </p:sp>
      <p:pic>
        <p:nvPicPr>
          <p:cNvPr id="2050" name="Picture 2" descr="NXP - Om13097Ul - Dev Board, 32Bit Cortex-M0+ Mcu: Amazon.in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07031" y="1480456"/>
            <a:ext cx="4222111" cy="2452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8325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4646" y="157618"/>
            <a:ext cx="9337525" cy="6475411"/>
          </a:xfrm>
        </p:spPr>
        <p:txBody>
          <a:bodyPr/>
          <a:lstStyle/>
          <a:p>
            <a:pPr algn="just">
              <a:buClr>
                <a:schemeClr val="accent5"/>
              </a:buClr>
              <a:buFont typeface="Wingdings" panose="05000000000000000000" pitchFamily="2" charset="2"/>
              <a:buChar char="Ø"/>
            </a:pPr>
            <a:r>
              <a:rPr lang="en-IN" sz="3200" b="1" dirty="0">
                <a:solidFill>
                  <a:srgbClr val="C00000"/>
                </a:solidFill>
                <a:latin typeface="Verdana "/>
              </a:rPr>
              <a:t>Cortex- </a:t>
            </a:r>
            <a:r>
              <a:rPr lang="en-IN" sz="3200" b="1" dirty="0" smtClean="0">
                <a:solidFill>
                  <a:srgbClr val="C00000"/>
                </a:solidFill>
                <a:latin typeface="Verdana "/>
              </a:rPr>
              <a:t>M1: </a:t>
            </a:r>
            <a:r>
              <a:rPr lang="en-IN" sz="3200" dirty="0" smtClean="0">
                <a:solidFill>
                  <a:schemeClr val="tx1">
                    <a:lumMod val="95000"/>
                    <a:lumOff val="5000"/>
                  </a:schemeClr>
                </a:solidFill>
                <a:latin typeface="Verdana "/>
              </a:rPr>
              <a:t>It is optimized for FPGA designs and has a ‘tightly coupled memory’.</a:t>
            </a:r>
          </a:p>
          <a:p>
            <a:pPr algn="just">
              <a:buClr>
                <a:schemeClr val="accent5"/>
              </a:buClr>
              <a:buFont typeface="Wingdings" panose="05000000000000000000" pitchFamily="2" charset="2"/>
              <a:buChar char="Ø"/>
            </a:pPr>
            <a:r>
              <a:rPr lang="en-IN" sz="3200" dirty="0">
                <a:solidFill>
                  <a:schemeClr val="tx1">
                    <a:lumMod val="95000"/>
                    <a:lumOff val="5000"/>
                  </a:schemeClr>
                </a:solidFill>
                <a:latin typeface="Verdana "/>
              </a:rPr>
              <a:t> </a:t>
            </a:r>
            <a:r>
              <a:rPr lang="en-IN" sz="3200" dirty="0" smtClean="0">
                <a:solidFill>
                  <a:schemeClr val="tx1">
                    <a:lumMod val="95000"/>
                    <a:lumOff val="5000"/>
                  </a:schemeClr>
                </a:solidFill>
                <a:latin typeface="Verdana "/>
              </a:rPr>
              <a:t>Implementation utilizing the memory blocks on the FPGA </a:t>
            </a:r>
          </a:p>
          <a:p>
            <a:pPr algn="just">
              <a:buClr>
                <a:schemeClr val="accent5"/>
              </a:buClr>
              <a:buFont typeface="Wingdings" panose="05000000000000000000" pitchFamily="2" charset="2"/>
              <a:buChar char="Ø"/>
            </a:pPr>
            <a:r>
              <a:rPr lang="en-IN" sz="3200" dirty="0">
                <a:solidFill>
                  <a:schemeClr val="tx1">
                    <a:lumMod val="95000"/>
                    <a:lumOff val="5000"/>
                  </a:schemeClr>
                </a:solidFill>
                <a:latin typeface="Verdana "/>
              </a:rPr>
              <a:t> </a:t>
            </a:r>
            <a:r>
              <a:rPr lang="en-IN" sz="3200" dirty="0" smtClean="0">
                <a:solidFill>
                  <a:schemeClr val="tx1">
                    <a:lumMod val="95000"/>
                    <a:lumOff val="5000"/>
                  </a:schemeClr>
                </a:solidFill>
                <a:latin typeface="Verdana "/>
              </a:rPr>
              <a:t>It has the same ISA as Cortex- M0</a:t>
            </a:r>
            <a:endParaRPr lang="en-IN" sz="3200" dirty="0">
              <a:solidFill>
                <a:schemeClr val="tx1">
                  <a:lumMod val="95000"/>
                  <a:lumOff val="5000"/>
                </a:schemeClr>
              </a:solidFill>
              <a:latin typeface="Verdana "/>
            </a:endParaRPr>
          </a:p>
          <a:p>
            <a:endParaRPr lang="en-IN" dirty="0"/>
          </a:p>
        </p:txBody>
      </p:sp>
      <p:pic>
        <p:nvPicPr>
          <p:cNvPr id="3076" name="Picture 4" descr="주)아이앤씨 Cortex-M1-enabled IGLOO Development K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288" y="2984864"/>
            <a:ext cx="5519511" cy="3890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356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8857" y="186646"/>
            <a:ext cx="9482668" cy="6402840"/>
          </a:xfrm>
        </p:spPr>
        <p:txBody>
          <a:bodyPr/>
          <a:lstStyle/>
          <a:p>
            <a:pPr>
              <a:buClr>
                <a:srgbClr val="C00000"/>
              </a:buClr>
              <a:buFont typeface="Wingdings" panose="05000000000000000000" pitchFamily="2" charset="2"/>
              <a:buChar char="Ø"/>
            </a:pPr>
            <a:r>
              <a:rPr lang="en-IN" sz="3200" b="1" dirty="0">
                <a:solidFill>
                  <a:srgbClr val="C00000"/>
                </a:solidFill>
                <a:latin typeface="Verdana "/>
              </a:rPr>
              <a:t>Cortex- </a:t>
            </a:r>
            <a:r>
              <a:rPr lang="en-IN" sz="3200" b="1" dirty="0" smtClean="0">
                <a:solidFill>
                  <a:srgbClr val="C00000"/>
                </a:solidFill>
                <a:latin typeface="Verdana "/>
              </a:rPr>
              <a:t>M3: </a:t>
            </a:r>
            <a:r>
              <a:rPr lang="en-IN" sz="3200" dirty="0">
                <a:solidFill>
                  <a:schemeClr val="tx1">
                    <a:lumMod val="95000"/>
                    <a:lumOff val="5000"/>
                  </a:schemeClr>
                </a:solidFill>
                <a:latin typeface="Verdana "/>
              </a:rPr>
              <a:t>This is more powerful processor and has features meant to handle more complex designs.</a:t>
            </a:r>
          </a:p>
          <a:p>
            <a:pPr>
              <a:buClr>
                <a:srgbClr val="C00000"/>
              </a:buClr>
              <a:buFont typeface="Wingdings" panose="05000000000000000000" pitchFamily="2" charset="2"/>
              <a:buChar char="Ø"/>
            </a:pPr>
            <a:r>
              <a:rPr lang="en-IN" sz="3200" dirty="0">
                <a:solidFill>
                  <a:schemeClr val="tx1">
                    <a:lumMod val="95000"/>
                    <a:lumOff val="5000"/>
                  </a:schemeClr>
                </a:solidFill>
                <a:latin typeface="Verdana "/>
              </a:rPr>
              <a:t> It has a hardware divider which is not normally available in ARM processors.</a:t>
            </a:r>
          </a:p>
          <a:p>
            <a:pPr>
              <a:buClr>
                <a:srgbClr val="C00000"/>
              </a:buClr>
              <a:buFont typeface="Wingdings" panose="05000000000000000000" pitchFamily="2" charset="2"/>
              <a:buChar char="Ø"/>
            </a:pPr>
            <a:r>
              <a:rPr lang="en-IN" sz="3200" dirty="0">
                <a:solidFill>
                  <a:schemeClr val="tx1">
                    <a:lumMod val="95000"/>
                    <a:lumOff val="5000"/>
                  </a:schemeClr>
                </a:solidFill>
                <a:latin typeface="Verdana "/>
              </a:rPr>
              <a:t> It also has a Multiply and Accumulator unit, which helps in fast DSP computations  </a:t>
            </a:r>
          </a:p>
        </p:txBody>
      </p:sp>
      <p:pic>
        <p:nvPicPr>
          <p:cNvPr id="4098" name="Picture 2" descr="Cortex-M3 / nRF51422 Razor Board 1 - Elek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0191" y="3889828"/>
            <a:ext cx="4605111" cy="3156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2941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4649" y="186647"/>
            <a:ext cx="9221408" cy="6533467"/>
          </a:xfrm>
        </p:spPr>
        <p:txBody>
          <a:bodyPr>
            <a:normAutofit/>
          </a:bodyPr>
          <a:lstStyle/>
          <a:p>
            <a:pPr>
              <a:buClr>
                <a:srgbClr val="C00000"/>
              </a:buClr>
              <a:buFont typeface="Wingdings" panose="05000000000000000000" pitchFamily="2" charset="2"/>
              <a:buChar char="Ø"/>
            </a:pPr>
            <a:r>
              <a:rPr lang="en-IN" sz="3200" b="1" dirty="0">
                <a:solidFill>
                  <a:srgbClr val="C00000"/>
                </a:solidFill>
                <a:latin typeface="Verdana "/>
              </a:rPr>
              <a:t>Cortex- </a:t>
            </a:r>
            <a:r>
              <a:rPr lang="en-IN" sz="3200" b="1" dirty="0" smtClean="0">
                <a:solidFill>
                  <a:srgbClr val="C00000"/>
                </a:solidFill>
                <a:latin typeface="Verdana "/>
              </a:rPr>
              <a:t>M4: </a:t>
            </a:r>
            <a:r>
              <a:rPr lang="en-IN" sz="3200" dirty="0">
                <a:solidFill>
                  <a:schemeClr val="tx1">
                    <a:lumMod val="95000"/>
                    <a:lumOff val="5000"/>
                  </a:schemeClr>
                </a:solidFill>
                <a:latin typeface="Verdana "/>
              </a:rPr>
              <a:t>This is similar to M3, but has more features that cater to faster </a:t>
            </a:r>
            <a:r>
              <a:rPr lang="en-IN" sz="3200" dirty="0" smtClean="0">
                <a:solidFill>
                  <a:schemeClr val="tx1">
                    <a:lumMod val="95000"/>
                    <a:lumOff val="5000"/>
                  </a:schemeClr>
                </a:solidFill>
                <a:latin typeface="Verdana "/>
              </a:rPr>
              <a:t>digital </a:t>
            </a:r>
            <a:r>
              <a:rPr lang="en-IN" sz="3200" dirty="0">
                <a:solidFill>
                  <a:schemeClr val="tx1">
                    <a:lumMod val="95000"/>
                    <a:lumOff val="5000"/>
                  </a:schemeClr>
                </a:solidFill>
                <a:latin typeface="Verdana "/>
              </a:rPr>
              <a:t>signal processing. </a:t>
            </a:r>
          </a:p>
        </p:txBody>
      </p:sp>
      <p:pic>
        <p:nvPicPr>
          <p:cNvPr id="5122" name="Picture 2" descr="Nettigo: Teensy 3.2 - 32 bit ARM Cortex M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6089" y="2105850"/>
            <a:ext cx="6491968" cy="3652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9879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7220" y="273732"/>
            <a:ext cx="9555238" cy="6584268"/>
          </a:xfrm>
        </p:spPr>
        <p:txBody>
          <a:bodyPr>
            <a:normAutofit/>
          </a:bodyPr>
          <a:lstStyle/>
          <a:p>
            <a:pPr>
              <a:buClr>
                <a:srgbClr val="C00000"/>
              </a:buClr>
              <a:buFont typeface="Wingdings" panose="05000000000000000000" pitchFamily="2" charset="2"/>
              <a:buChar char="Ø"/>
            </a:pPr>
            <a:r>
              <a:rPr lang="en-IN" sz="3200" b="1" dirty="0">
                <a:solidFill>
                  <a:srgbClr val="C00000"/>
                </a:solidFill>
                <a:latin typeface="Verdana "/>
              </a:rPr>
              <a:t>Cortex- </a:t>
            </a:r>
            <a:r>
              <a:rPr lang="en-IN" sz="3200" b="1" dirty="0" smtClean="0">
                <a:solidFill>
                  <a:srgbClr val="C00000"/>
                </a:solidFill>
                <a:latin typeface="Verdana "/>
              </a:rPr>
              <a:t>M7: </a:t>
            </a:r>
            <a:r>
              <a:rPr lang="en-IN" sz="3200" dirty="0">
                <a:solidFill>
                  <a:schemeClr val="tx1">
                    <a:lumMod val="95000"/>
                    <a:lumOff val="5000"/>
                  </a:schemeClr>
                </a:solidFill>
                <a:latin typeface="Verdana "/>
              </a:rPr>
              <a:t>It is the highest performing processor in the M series.</a:t>
            </a:r>
          </a:p>
          <a:p>
            <a:pPr>
              <a:buClr>
                <a:srgbClr val="C00000"/>
              </a:buClr>
              <a:buFont typeface="Wingdings" panose="05000000000000000000" pitchFamily="2" charset="2"/>
              <a:buChar char="Ø"/>
            </a:pPr>
            <a:r>
              <a:rPr lang="en-IN" sz="3200" dirty="0">
                <a:solidFill>
                  <a:schemeClr val="tx1">
                    <a:lumMod val="95000"/>
                    <a:lumOff val="5000"/>
                  </a:schemeClr>
                </a:solidFill>
                <a:latin typeface="Verdana "/>
              </a:rPr>
              <a:t>It has advanced features like superscalar capability, longer pipeline, superior bus interfaces, rich DSP feature etc.   </a:t>
            </a:r>
          </a:p>
        </p:txBody>
      </p:sp>
      <p:pic>
        <p:nvPicPr>
          <p:cNvPr id="6146" name="Picture 2" descr="Atmel | SMART SAM S70 and E70 ARM Cortex-M7 (World's fastest ARM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6318" y="3320368"/>
            <a:ext cx="5809796" cy="3268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7902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1676" y="912360"/>
            <a:ext cx="8596668" cy="3880773"/>
          </a:xfrm>
        </p:spPr>
        <p:txBody>
          <a:bodyPr>
            <a:normAutofit/>
          </a:bodyPr>
          <a:lstStyle/>
          <a:p>
            <a:r>
              <a:rPr lang="en-IN" sz="3200" dirty="0" smtClean="0"/>
              <a:t>Cortex M0, M0+ and M1  processors use the ARM v6-M ISA</a:t>
            </a:r>
          </a:p>
          <a:p>
            <a:pPr marL="0" indent="0">
              <a:buNone/>
            </a:pPr>
            <a:endParaRPr lang="en-IN" sz="3200" dirty="0" smtClean="0"/>
          </a:p>
          <a:p>
            <a:r>
              <a:rPr lang="en-IN" sz="3200" dirty="0"/>
              <a:t> Cortex </a:t>
            </a:r>
            <a:r>
              <a:rPr lang="en-IN" sz="3200" dirty="0" smtClean="0"/>
              <a:t>M3, M4 </a:t>
            </a:r>
            <a:r>
              <a:rPr lang="en-IN" sz="3200" dirty="0"/>
              <a:t>and </a:t>
            </a:r>
            <a:r>
              <a:rPr lang="en-IN" sz="3200" dirty="0" smtClean="0"/>
              <a:t>M7  </a:t>
            </a:r>
            <a:r>
              <a:rPr lang="en-IN" sz="3200" dirty="0"/>
              <a:t>processors use the ARM </a:t>
            </a:r>
            <a:r>
              <a:rPr lang="en-IN" sz="3200" dirty="0" smtClean="0"/>
              <a:t>v7-M </a:t>
            </a:r>
            <a:r>
              <a:rPr lang="en-IN" sz="3200" dirty="0"/>
              <a:t>ISA</a:t>
            </a:r>
          </a:p>
          <a:p>
            <a:endParaRPr lang="en-IN" sz="3200" dirty="0"/>
          </a:p>
        </p:txBody>
      </p:sp>
    </p:spTree>
    <p:extLst>
      <p:ext uri="{BB962C8B-B14F-4D97-AF65-F5344CB8AC3E}">
        <p14:creationId xmlns:p14="http://schemas.microsoft.com/office/powerpoint/2010/main" val="28643970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8305" y="638629"/>
            <a:ext cx="8596668" cy="1320800"/>
          </a:xfrm>
        </p:spPr>
        <p:txBody>
          <a:bodyPr>
            <a:normAutofit/>
          </a:bodyPr>
          <a:lstStyle/>
          <a:p>
            <a:r>
              <a:rPr lang="en-IN" sz="4400" b="1" dirty="0" smtClean="0">
                <a:solidFill>
                  <a:srgbClr val="7030A0"/>
                </a:solidFill>
                <a:latin typeface="Verdana "/>
              </a:rPr>
              <a:t>7.2 Cortex- </a:t>
            </a:r>
            <a:r>
              <a:rPr lang="en-IN" sz="4400" b="1" dirty="0">
                <a:solidFill>
                  <a:srgbClr val="7030A0"/>
                </a:solidFill>
                <a:latin typeface="Verdana "/>
              </a:rPr>
              <a:t>M0</a:t>
            </a:r>
          </a:p>
        </p:txBody>
      </p:sp>
      <p:sp>
        <p:nvSpPr>
          <p:cNvPr id="3" name="Content Placeholder 2"/>
          <p:cNvSpPr>
            <a:spLocks noGrp="1"/>
          </p:cNvSpPr>
          <p:nvPr>
            <p:ph idx="1"/>
          </p:nvPr>
        </p:nvSpPr>
        <p:spPr>
          <a:xfrm>
            <a:off x="1620762" y="1299029"/>
            <a:ext cx="9729409" cy="5626325"/>
          </a:xfrm>
        </p:spPr>
        <p:txBody>
          <a:bodyPr>
            <a:noAutofit/>
          </a:bodyPr>
          <a:lstStyle/>
          <a:p>
            <a:pPr algn="just">
              <a:buFont typeface="Wingdings" panose="05000000000000000000" pitchFamily="2" charset="2"/>
              <a:buChar char="q"/>
            </a:pPr>
            <a:r>
              <a:rPr lang="en-IN" sz="3600" dirty="0" smtClean="0">
                <a:solidFill>
                  <a:srgbClr val="FFFF00"/>
                </a:solidFill>
              </a:rPr>
              <a:t> </a:t>
            </a:r>
            <a:r>
              <a:rPr lang="en-IN" sz="3200" dirty="0">
                <a:solidFill>
                  <a:schemeClr val="tx1">
                    <a:lumMod val="95000"/>
                    <a:lumOff val="5000"/>
                  </a:schemeClr>
                </a:solidFill>
                <a:latin typeface="Verdana "/>
              </a:rPr>
              <a:t>Cortex-M0 was released in the year 2009.</a:t>
            </a:r>
          </a:p>
          <a:p>
            <a:pPr algn="just">
              <a:buFont typeface="Wingdings" panose="05000000000000000000" pitchFamily="2" charset="2"/>
              <a:buChar char="q"/>
            </a:pPr>
            <a:r>
              <a:rPr lang="en-IN" sz="3200" dirty="0">
                <a:solidFill>
                  <a:schemeClr val="tx1">
                    <a:lumMod val="95000"/>
                    <a:lumOff val="5000"/>
                  </a:schemeClr>
                </a:solidFill>
                <a:latin typeface="Verdana "/>
              </a:rPr>
              <a:t> It was the smaller ARM processor with highly energy efficient</a:t>
            </a:r>
          </a:p>
          <a:p>
            <a:pPr algn="just">
              <a:buFont typeface="Wingdings" panose="05000000000000000000" pitchFamily="2" charset="2"/>
              <a:buChar char="q"/>
            </a:pPr>
            <a:r>
              <a:rPr lang="en-IN" sz="3200" dirty="0">
                <a:solidFill>
                  <a:schemeClr val="tx1">
                    <a:lumMod val="95000"/>
                    <a:lumOff val="5000"/>
                  </a:schemeClr>
                </a:solidFill>
                <a:latin typeface="Verdana "/>
              </a:rPr>
              <a:t> It was good enough in performance for most embedded applications</a:t>
            </a:r>
          </a:p>
          <a:p>
            <a:pPr algn="just">
              <a:buFont typeface="Wingdings" panose="05000000000000000000" pitchFamily="2" charset="2"/>
              <a:buChar char="q"/>
            </a:pPr>
            <a:r>
              <a:rPr lang="en-IN" sz="3200" dirty="0">
                <a:solidFill>
                  <a:schemeClr val="tx1">
                    <a:lumMod val="95000"/>
                    <a:lumOff val="5000"/>
                  </a:schemeClr>
                </a:solidFill>
                <a:latin typeface="Verdana "/>
              </a:rPr>
              <a:t> Based on its market review and performance, it was stated as ‘Fastest ever licenced ARM processor’.</a:t>
            </a:r>
          </a:p>
        </p:txBody>
      </p:sp>
    </p:spTree>
    <p:extLst>
      <p:ext uri="{BB962C8B-B14F-4D97-AF65-F5344CB8AC3E}">
        <p14:creationId xmlns:p14="http://schemas.microsoft.com/office/powerpoint/2010/main" val="41436910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38475" y="788988"/>
            <a:ext cx="9206896" cy="5720669"/>
          </a:xfrm>
        </p:spPr>
        <p:txBody>
          <a:bodyPr>
            <a:normAutofit/>
          </a:bodyPr>
          <a:lstStyle/>
          <a:p>
            <a:pPr algn="just">
              <a:buFont typeface="Wingdings" panose="05000000000000000000" pitchFamily="2" charset="2"/>
              <a:buChar char="q"/>
            </a:pPr>
            <a:r>
              <a:rPr lang="en-IN" sz="3600" dirty="0" smtClean="0">
                <a:solidFill>
                  <a:srgbClr val="FFFF00"/>
                </a:solidFill>
              </a:rPr>
              <a:t> </a:t>
            </a:r>
            <a:r>
              <a:rPr lang="en-IN" sz="3200" dirty="0">
                <a:solidFill>
                  <a:schemeClr val="tx1">
                    <a:lumMod val="95000"/>
                    <a:lumOff val="5000"/>
                  </a:schemeClr>
                </a:solidFill>
                <a:latin typeface="Verdana "/>
              </a:rPr>
              <a:t>It mainly focus on low power and small silicon area while keeping the performance high.</a:t>
            </a:r>
          </a:p>
          <a:p>
            <a:pPr algn="just">
              <a:buFont typeface="Wingdings" panose="05000000000000000000" pitchFamily="2" charset="2"/>
              <a:buChar char="q"/>
            </a:pPr>
            <a:r>
              <a:rPr lang="en-IN" sz="3200" dirty="0">
                <a:solidFill>
                  <a:schemeClr val="tx1">
                    <a:lumMod val="95000"/>
                    <a:lumOff val="5000"/>
                  </a:schemeClr>
                </a:solidFill>
                <a:latin typeface="Verdana "/>
              </a:rPr>
              <a:t> For this 32-bit MCU, the power silicon area are almost the same as that of 8 or 16 bit MCU. </a:t>
            </a:r>
          </a:p>
          <a:p>
            <a:pPr algn="just">
              <a:buFont typeface="Wingdings" panose="05000000000000000000" pitchFamily="2" charset="2"/>
              <a:buChar char="q"/>
            </a:pPr>
            <a:r>
              <a:rPr lang="en-IN" sz="3200" dirty="0">
                <a:solidFill>
                  <a:schemeClr val="tx1">
                    <a:lumMod val="95000"/>
                    <a:lumOff val="5000"/>
                  </a:schemeClr>
                </a:solidFill>
                <a:latin typeface="Verdana "/>
              </a:rPr>
              <a:t> Its performance is 2 to 10 times better than many 8 and 16 bit processors.</a:t>
            </a:r>
          </a:p>
        </p:txBody>
      </p:sp>
    </p:spTree>
    <p:extLst>
      <p:ext uri="{BB962C8B-B14F-4D97-AF65-F5344CB8AC3E}">
        <p14:creationId xmlns:p14="http://schemas.microsoft.com/office/powerpoint/2010/main" val="1348020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191" y="144620"/>
            <a:ext cx="10368352" cy="696686"/>
          </a:xfrm>
        </p:spPr>
        <p:txBody>
          <a:bodyPr>
            <a:noAutofit/>
          </a:bodyPr>
          <a:lstStyle/>
          <a:p>
            <a:r>
              <a:rPr lang="en-IN" sz="3200" b="1" dirty="0">
                <a:solidFill>
                  <a:srgbClr val="7030A0"/>
                </a:solidFill>
                <a:latin typeface="Verdana "/>
              </a:rPr>
              <a:t>Three-stage pipeline for Cortex-M0</a:t>
            </a:r>
          </a:p>
        </p:txBody>
      </p:sp>
      <p:sp>
        <p:nvSpPr>
          <p:cNvPr id="3" name="Content Placeholder 2"/>
          <p:cNvSpPr>
            <a:spLocks noGrp="1"/>
          </p:cNvSpPr>
          <p:nvPr>
            <p:ph idx="1"/>
          </p:nvPr>
        </p:nvSpPr>
        <p:spPr>
          <a:xfrm>
            <a:off x="2496459" y="5270360"/>
            <a:ext cx="9047237" cy="1587640"/>
          </a:xfrm>
        </p:spPr>
        <p:txBody>
          <a:bodyPr>
            <a:normAutofit/>
          </a:bodyPr>
          <a:lstStyle/>
          <a:p>
            <a:pPr>
              <a:lnSpc>
                <a:spcPct val="70000"/>
              </a:lnSpc>
              <a:buFont typeface="Wingdings" panose="05000000000000000000" pitchFamily="2" charset="2"/>
              <a:buChar char="q"/>
            </a:pPr>
            <a:r>
              <a:rPr lang="en-IN" sz="2900" dirty="0">
                <a:solidFill>
                  <a:schemeClr val="tx1">
                    <a:lumMod val="95000"/>
                    <a:lumOff val="5000"/>
                  </a:schemeClr>
                </a:solidFill>
                <a:latin typeface="Verdana "/>
              </a:rPr>
              <a:t>The three stage pipeline of M0 is a regular fetch-decode-execute pipeline</a:t>
            </a:r>
          </a:p>
          <a:p>
            <a:pPr>
              <a:lnSpc>
                <a:spcPct val="70000"/>
              </a:lnSpc>
              <a:buFont typeface="Wingdings" panose="05000000000000000000" pitchFamily="2" charset="2"/>
              <a:buChar char="q"/>
            </a:pPr>
            <a:r>
              <a:rPr lang="en-IN" sz="2900" dirty="0">
                <a:solidFill>
                  <a:schemeClr val="tx1">
                    <a:lumMod val="95000"/>
                    <a:lumOff val="5000"/>
                  </a:schemeClr>
                </a:solidFill>
                <a:latin typeface="Verdana "/>
              </a:rPr>
              <a:t> It takes 3 cycles to process an instruction</a:t>
            </a:r>
          </a:p>
        </p:txBody>
      </p:sp>
      <p:pic>
        <p:nvPicPr>
          <p:cNvPr id="4" name="Picture 3"/>
          <p:cNvPicPr>
            <a:picLocks noChangeAspect="1"/>
          </p:cNvPicPr>
          <p:nvPr/>
        </p:nvPicPr>
        <p:blipFill>
          <a:blip r:embed="rId2"/>
          <a:stretch>
            <a:fillRect/>
          </a:stretch>
        </p:blipFill>
        <p:spPr>
          <a:xfrm>
            <a:off x="2046514" y="1132690"/>
            <a:ext cx="9497182" cy="3643086"/>
          </a:xfrm>
          <a:prstGeom prst="rect">
            <a:avLst/>
          </a:prstGeom>
        </p:spPr>
      </p:pic>
    </p:spTree>
    <p:extLst>
      <p:ext uri="{BB962C8B-B14F-4D97-AF65-F5344CB8AC3E}">
        <p14:creationId xmlns:p14="http://schemas.microsoft.com/office/powerpoint/2010/main" val="25145350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4077" y="159657"/>
            <a:ext cx="8596668" cy="667658"/>
          </a:xfrm>
        </p:spPr>
        <p:txBody>
          <a:bodyPr>
            <a:normAutofit fontScale="90000"/>
          </a:bodyPr>
          <a:lstStyle/>
          <a:p>
            <a:r>
              <a:rPr lang="en-IN" sz="4400" b="1" dirty="0">
                <a:solidFill>
                  <a:srgbClr val="7030A0"/>
                </a:solidFill>
                <a:latin typeface="Verdana "/>
              </a:rPr>
              <a:t>Wat about Cortex-M0+?</a:t>
            </a:r>
          </a:p>
        </p:txBody>
      </p:sp>
      <p:sp>
        <p:nvSpPr>
          <p:cNvPr id="3" name="Content Placeholder 2"/>
          <p:cNvSpPr>
            <a:spLocks noGrp="1"/>
          </p:cNvSpPr>
          <p:nvPr>
            <p:ph idx="1"/>
          </p:nvPr>
        </p:nvSpPr>
        <p:spPr>
          <a:xfrm>
            <a:off x="1741714" y="1282474"/>
            <a:ext cx="9695543" cy="5575526"/>
          </a:xfrm>
        </p:spPr>
        <p:txBody>
          <a:bodyPr>
            <a:normAutofit/>
          </a:bodyPr>
          <a:lstStyle/>
          <a:p>
            <a:pPr algn="just">
              <a:buFont typeface="Wingdings" panose="05000000000000000000" pitchFamily="2" charset="2"/>
              <a:buChar char="q"/>
            </a:pPr>
            <a:r>
              <a:rPr lang="en-IN" sz="3600" dirty="0" smtClean="0">
                <a:solidFill>
                  <a:srgbClr val="FFFF00"/>
                </a:solidFill>
              </a:rPr>
              <a:t> </a:t>
            </a:r>
            <a:r>
              <a:rPr lang="en-IN" sz="3200" dirty="0">
                <a:solidFill>
                  <a:schemeClr val="tx1">
                    <a:lumMod val="95000"/>
                    <a:lumOff val="5000"/>
                  </a:schemeClr>
                </a:solidFill>
                <a:latin typeface="Verdana "/>
              </a:rPr>
              <a:t>Cortex-M0+ was released three years later.</a:t>
            </a:r>
          </a:p>
          <a:p>
            <a:pPr algn="just">
              <a:buFont typeface="Wingdings" panose="05000000000000000000" pitchFamily="2" charset="2"/>
              <a:buChar char="q"/>
            </a:pPr>
            <a:r>
              <a:rPr lang="en-IN" sz="3200" dirty="0">
                <a:solidFill>
                  <a:schemeClr val="tx1">
                    <a:lumMod val="95000"/>
                    <a:lumOff val="5000"/>
                  </a:schemeClr>
                </a:solidFill>
                <a:latin typeface="Verdana "/>
              </a:rPr>
              <a:t> Performance wise, the core is an upgraded version of M0</a:t>
            </a:r>
          </a:p>
          <a:p>
            <a:pPr algn="just">
              <a:buFont typeface="Wingdings" panose="05000000000000000000" pitchFamily="2" charset="2"/>
              <a:buChar char="q"/>
            </a:pPr>
            <a:r>
              <a:rPr lang="en-IN" sz="3200" dirty="0">
                <a:solidFill>
                  <a:schemeClr val="tx1">
                    <a:lumMod val="95000"/>
                    <a:lumOff val="5000"/>
                  </a:schemeClr>
                </a:solidFill>
                <a:latin typeface="Verdana "/>
              </a:rPr>
              <a:t> Uses the same software tools.</a:t>
            </a:r>
          </a:p>
          <a:p>
            <a:pPr algn="just">
              <a:buFont typeface="Wingdings" panose="05000000000000000000" pitchFamily="2" charset="2"/>
              <a:buChar char="q"/>
            </a:pPr>
            <a:r>
              <a:rPr lang="en-IN" sz="3200" dirty="0">
                <a:solidFill>
                  <a:schemeClr val="tx1">
                    <a:lumMod val="95000"/>
                    <a:lumOff val="5000"/>
                  </a:schemeClr>
                </a:solidFill>
                <a:latin typeface="Verdana "/>
              </a:rPr>
              <a:t> But difference, M0 has 3-stage pipeline whereas M0+ has only 2-stages.</a:t>
            </a:r>
          </a:p>
          <a:p>
            <a:pPr algn="just">
              <a:buFont typeface="Wingdings" panose="05000000000000000000" pitchFamily="2" charset="2"/>
              <a:buChar char="q"/>
            </a:pPr>
            <a:r>
              <a:rPr lang="en-IN" sz="3200" dirty="0">
                <a:solidFill>
                  <a:schemeClr val="tx1">
                    <a:lumMod val="95000"/>
                    <a:lumOff val="5000"/>
                  </a:schemeClr>
                </a:solidFill>
                <a:latin typeface="Verdana "/>
              </a:rPr>
              <a:t> The smaller pipeline helps in more power savings.</a:t>
            </a:r>
          </a:p>
          <a:p>
            <a:pPr algn="just">
              <a:buFont typeface="Wingdings" panose="05000000000000000000" pitchFamily="2" charset="2"/>
              <a:buChar char="q"/>
            </a:pPr>
            <a:r>
              <a:rPr lang="en-IN" sz="3200" dirty="0">
                <a:solidFill>
                  <a:schemeClr val="tx1">
                    <a:lumMod val="95000"/>
                    <a:lumOff val="5000"/>
                  </a:schemeClr>
                </a:solidFill>
                <a:latin typeface="Verdana "/>
              </a:rPr>
              <a:t> Cortex-M0+ is ideal for academic purposes, boards development and also quite inexpensive.</a:t>
            </a:r>
          </a:p>
        </p:txBody>
      </p:sp>
    </p:spTree>
    <p:extLst>
      <p:ext uri="{BB962C8B-B14F-4D97-AF65-F5344CB8AC3E}">
        <p14:creationId xmlns:p14="http://schemas.microsoft.com/office/powerpoint/2010/main" val="27245134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7506" y="709159"/>
            <a:ext cx="9439123" cy="6518953"/>
          </a:xfrm>
        </p:spPr>
        <p:txBody>
          <a:bodyPr/>
          <a:lstStyle/>
          <a:p>
            <a:pPr algn="just">
              <a:buFont typeface="Wingdings" panose="05000000000000000000" pitchFamily="2" charset="2"/>
              <a:buChar char="q"/>
            </a:pPr>
            <a:r>
              <a:rPr lang="en-IN" sz="3600" dirty="0" smtClean="0">
                <a:solidFill>
                  <a:srgbClr val="FFFF00"/>
                </a:solidFill>
              </a:rPr>
              <a:t> </a:t>
            </a:r>
            <a:r>
              <a:rPr lang="en-IN" sz="3200" dirty="0">
                <a:solidFill>
                  <a:schemeClr val="tx1">
                    <a:lumMod val="95000"/>
                    <a:lumOff val="5000"/>
                  </a:schemeClr>
                </a:solidFill>
                <a:latin typeface="Verdana "/>
              </a:rPr>
              <a:t>The architectural features of all members of the Cortex-M series have many things in common</a:t>
            </a:r>
          </a:p>
          <a:p>
            <a:pPr algn="just">
              <a:buFont typeface="Wingdings" panose="05000000000000000000" pitchFamily="2" charset="2"/>
              <a:buChar char="q"/>
            </a:pPr>
            <a:r>
              <a:rPr lang="en-IN" sz="3200" dirty="0">
                <a:solidFill>
                  <a:schemeClr val="tx1">
                    <a:lumMod val="95000"/>
                    <a:lumOff val="5000"/>
                  </a:schemeClr>
                </a:solidFill>
                <a:latin typeface="Verdana "/>
              </a:rPr>
              <a:t> So, need to understand thorough concept of Cortex-Mo is the first step.</a:t>
            </a:r>
          </a:p>
          <a:p>
            <a:pPr algn="just">
              <a:buFont typeface="Wingdings" panose="05000000000000000000" pitchFamily="2" charset="2"/>
              <a:buChar char="q"/>
            </a:pPr>
            <a:r>
              <a:rPr lang="en-IN" sz="3200" dirty="0">
                <a:solidFill>
                  <a:schemeClr val="tx1">
                    <a:lumMod val="95000"/>
                    <a:lumOff val="5000"/>
                  </a:schemeClr>
                </a:solidFill>
                <a:latin typeface="Verdana "/>
              </a:rPr>
              <a:t> So we discuss here only on M0 architecture keeping in mind that the M0+ is almost same.</a:t>
            </a:r>
          </a:p>
          <a:p>
            <a:pPr algn="just">
              <a:buFont typeface="Wingdings" panose="05000000000000000000" pitchFamily="2" charset="2"/>
              <a:buChar char="q"/>
            </a:pPr>
            <a:r>
              <a:rPr lang="en-IN" sz="3200" dirty="0">
                <a:solidFill>
                  <a:schemeClr val="tx1">
                    <a:lumMod val="95000"/>
                    <a:lumOff val="5000"/>
                  </a:schemeClr>
                </a:solidFill>
                <a:latin typeface="Verdana "/>
              </a:rPr>
              <a:t> This makes it easier to understand other members of series.</a:t>
            </a:r>
          </a:p>
          <a:p>
            <a:endParaRPr lang="en-IN" sz="3200" dirty="0"/>
          </a:p>
        </p:txBody>
      </p:sp>
    </p:spTree>
    <p:extLst>
      <p:ext uri="{BB962C8B-B14F-4D97-AF65-F5344CB8AC3E}">
        <p14:creationId xmlns:p14="http://schemas.microsoft.com/office/powerpoint/2010/main" val="10428639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075" y="164996"/>
            <a:ext cx="8596668" cy="624114"/>
          </a:xfrm>
        </p:spPr>
        <p:txBody>
          <a:bodyPr>
            <a:normAutofit/>
          </a:bodyPr>
          <a:lstStyle/>
          <a:p>
            <a:r>
              <a:rPr lang="en-IN" sz="3200" b="1" dirty="0">
                <a:solidFill>
                  <a:srgbClr val="7030A0"/>
                </a:solidFill>
                <a:latin typeface="Verdana "/>
              </a:rPr>
              <a:t>Two-stage pipeline for Cortex-M0+</a:t>
            </a:r>
          </a:p>
        </p:txBody>
      </p:sp>
      <p:sp>
        <p:nvSpPr>
          <p:cNvPr id="3" name="Content Placeholder 2"/>
          <p:cNvSpPr>
            <a:spLocks noGrp="1"/>
          </p:cNvSpPr>
          <p:nvPr>
            <p:ph idx="1"/>
          </p:nvPr>
        </p:nvSpPr>
        <p:spPr>
          <a:xfrm>
            <a:off x="2578705" y="5111367"/>
            <a:ext cx="9163353" cy="1382276"/>
          </a:xfrm>
        </p:spPr>
        <p:txBody>
          <a:bodyPr>
            <a:normAutofit/>
          </a:bodyPr>
          <a:lstStyle/>
          <a:p>
            <a:pPr>
              <a:lnSpc>
                <a:spcPct val="70000"/>
              </a:lnSpc>
              <a:buFont typeface="Wingdings" panose="05000000000000000000" pitchFamily="2" charset="2"/>
              <a:buChar char="q"/>
            </a:pPr>
            <a:r>
              <a:rPr lang="en-IN" sz="2900" dirty="0">
                <a:solidFill>
                  <a:schemeClr val="tx1">
                    <a:lumMod val="95000"/>
                    <a:lumOff val="5000"/>
                  </a:schemeClr>
                </a:solidFill>
                <a:latin typeface="Verdana "/>
              </a:rPr>
              <a:t>M0+ has 2 stages </a:t>
            </a:r>
          </a:p>
          <a:p>
            <a:pPr>
              <a:lnSpc>
                <a:spcPct val="70000"/>
              </a:lnSpc>
              <a:buFont typeface="Wingdings" panose="05000000000000000000" pitchFamily="2" charset="2"/>
              <a:buChar char="q"/>
            </a:pPr>
            <a:r>
              <a:rPr lang="en-IN" sz="2900" dirty="0">
                <a:solidFill>
                  <a:schemeClr val="tx1">
                    <a:lumMod val="95000"/>
                    <a:lumOff val="5000"/>
                  </a:schemeClr>
                </a:solidFill>
                <a:latin typeface="Verdana "/>
              </a:rPr>
              <a:t> fetch, decode &amp; execute are completed in two cycles</a:t>
            </a:r>
          </a:p>
        </p:txBody>
      </p:sp>
      <p:pic>
        <p:nvPicPr>
          <p:cNvPr id="4" name="Picture 3"/>
          <p:cNvPicPr>
            <a:picLocks noChangeAspect="1"/>
          </p:cNvPicPr>
          <p:nvPr/>
        </p:nvPicPr>
        <p:blipFill>
          <a:blip r:embed="rId2"/>
          <a:stretch>
            <a:fillRect/>
          </a:stretch>
        </p:blipFill>
        <p:spPr>
          <a:xfrm>
            <a:off x="2031999" y="1324638"/>
            <a:ext cx="9376229" cy="3251201"/>
          </a:xfrm>
          <a:prstGeom prst="rect">
            <a:avLst/>
          </a:prstGeom>
        </p:spPr>
      </p:pic>
    </p:spTree>
    <p:extLst>
      <p:ext uri="{BB962C8B-B14F-4D97-AF65-F5344CB8AC3E}">
        <p14:creationId xmlns:p14="http://schemas.microsoft.com/office/powerpoint/2010/main" val="2778277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113" y="0"/>
            <a:ext cx="10905067" cy="551543"/>
          </a:xfrm>
        </p:spPr>
        <p:txBody>
          <a:bodyPr>
            <a:noAutofit/>
          </a:bodyPr>
          <a:lstStyle/>
          <a:p>
            <a:pPr algn="ctr"/>
            <a:r>
              <a:rPr lang="en-IN" sz="3600" b="1" dirty="0">
                <a:solidFill>
                  <a:srgbClr val="7030A0"/>
                </a:solidFill>
                <a:latin typeface="Verdana "/>
              </a:rPr>
              <a:t>Advantages for a designer to choose M0 for his design</a:t>
            </a:r>
          </a:p>
        </p:txBody>
      </p:sp>
      <p:sp>
        <p:nvSpPr>
          <p:cNvPr id="3" name="Content Placeholder 2"/>
          <p:cNvSpPr>
            <a:spLocks noGrp="1"/>
          </p:cNvSpPr>
          <p:nvPr>
            <p:ph idx="1"/>
          </p:nvPr>
        </p:nvSpPr>
        <p:spPr>
          <a:xfrm>
            <a:off x="1378855" y="1074060"/>
            <a:ext cx="10697029" cy="5602511"/>
          </a:xfrm>
        </p:spPr>
        <p:txBody>
          <a:bodyPr>
            <a:normAutofit fontScale="70000" lnSpcReduction="20000"/>
          </a:bodyPr>
          <a:lstStyle/>
          <a:p>
            <a:pPr algn="just">
              <a:buFont typeface="Wingdings" panose="05000000000000000000" pitchFamily="2" charset="2"/>
              <a:buChar char="q"/>
            </a:pPr>
            <a:r>
              <a:rPr lang="en-IN" sz="3200" dirty="0"/>
              <a:t> </a:t>
            </a:r>
            <a:r>
              <a:rPr lang="en-IN" sz="4100" dirty="0">
                <a:solidFill>
                  <a:schemeClr val="tx1">
                    <a:lumMod val="95000"/>
                    <a:lumOff val="5000"/>
                  </a:schemeClr>
                </a:solidFill>
                <a:latin typeface="Verdana "/>
              </a:rPr>
              <a:t>Its architecture is simple and easy to learn and understand</a:t>
            </a:r>
          </a:p>
          <a:p>
            <a:pPr algn="just">
              <a:buFont typeface="Wingdings" panose="05000000000000000000" pitchFamily="2" charset="2"/>
              <a:buChar char="q"/>
            </a:pPr>
            <a:r>
              <a:rPr lang="en-IN" sz="4100" dirty="0">
                <a:solidFill>
                  <a:schemeClr val="tx1">
                    <a:lumMod val="95000"/>
                    <a:lumOff val="5000"/>
                  </a:schemeClr>
                </a:solidFill>
                <a:latin typeface="Verdana "/>
              </a:rPr>
              <a:t> It has low gate count</a:t>
            </a:r>
          </a:p>
          <a:p>
            <a:pPr algn="just">
              <a:buFont typeface="Wingdings" panose="05000000000000000000" pitchFamily="2" charset="2"/>
              <a:buChar char="q"/>
            </a:pPr>
            <a:r>
              <a:rPr lang="en-IN" sz="4100" dirty="0">
                <a:solidFill>
                  <a:schemeClr val="tx1">
                    <a:lumMod val="95000"/>
                    <a:lumOff val="5000"/>
                  </a:schemeClr>
                </a:solidFill>
                <a:latin typeface="Verdana "/>
              </a:rPr>
              <a:t> Its performance is quite good as far as comparison capability is concerned</a:t>
            </a:r>
          </a:p>
          <a:p>
            <a:pPr algn="just">
              <a:buFont typeface="Wingdings" panose="05000000000000000000" pitchFamily="2" charset="2"/>
              <a:buChar char="q"/>
            </a:pPr>
            <a:r>
              <a:rPr lang="en-IN" sz="4100" dirty="0">
                <a:solidFill>
                  <a:schemeClr val="tx1">
                    <a:lumMod val="95000"/>
                    <a:lumOff val="5000"/>
                  </a:schemeClr>
                </a:solidFill>
                <a:latin typeface="Verdana "/>
              </a:rPr>
              <a:t> It operates at very low power levels and is energy efficient</a:t>
            </a:r>
          </a:p>
          <a:p>
            <a:pPr algn="just">
              <a:buFont typeface="Wingdings" panose="05000000000000000000" pitchFamily="2" charset="2"/>
              <a:buChar char="q"/>
            </a:pPr>
            <a:r>
              <a:rPr lang="en-IN" sz="4100" dirty="0">
                <a:solidFill>
                  <a:schemeClr val="tx1">
                    <a:lumMod val="95000"/>
                    <a:lumOff val="5000"/>
                  </a:schemeClr>
                </a:solidFill>
                <a:latin typeface="Verdana "/>
              </a:rPr>
              <a:t> Its code density is high</a:t>
            </a:r>
          </a:p>
          <a:p>
            <a:pPr algn="just">
              <a:buFont typeface="Wingdings" panose="05000000000000000000" pitchFamily="2" charset="2"/>
              <a:buChar char="q"/>
            </a:pPr>
            <a:r>
              <a:rPr lang="en-IN" sz="4100" dirty="0">
                <a:solidFill>
                  <a:schemeClr val="tx1">
                    <a:lumMod val="95000"/>
                    <a:lumOff val="5000"/>
                  </a:schemeClr>
                </a:solidFill>
                <a:latin typeface="Verdana "/>
              </a:rPr>
              <a:t> Its interrupt handling is deterministic </a:t>
            </a:r>
          </a:p>
          <a:p>
            <a:pPr algn="just">
              <a:buFont typeface="Wingdings" panose="05000000000000000000" pitchFamily="2" charset="2"/>
              <a:buChar char="q"/>
            </a:pPr>
            <a:r>
              <a:rPr lang="en-IN" sz="4100" dirty="0">
                <a:solidFill>
                  <a:schemeClr val="tx1">
                    <a:lumMod val="95000"/>
                    <a:lumOff val="5000"/>
                  </a:schemeClr>
                </a:solidFill>
                <a:latin typeface="Verdana "/>
              </a:rPr>
              <a:t> It is upward compatible with the whole Cortex- M family</a:t>
            </a:r>
          </a:p>
          <a:p>
            <a:pPr algn="just">
              <a:buFont typeface="Wingdings" panose="05000000000000000000" pitchFamily="2" charset="2"/>
              <a:buChar char="q"/>
            </a:pPr>
            <a:r>
              <a:rPr lang="en-IN" sz="4100" dirty="0">
                <a:solidFill>
                  <a:schemeClr val="tx1">
                    <a:lumMod val="95000"/>
                    <a:lumOff val="5000"/>
                  </a:schemeClr>
                </a:solidFill>
                <a:latin typeface="Verdana "/>
              </a:rPr>
              <a:t> It has an integrated Memory Protection Unit (Optional) and thus is capable of providing platform security.</a:t>
            </a:r>
          </a:p>
          <a:p>
            <a:pPr algn="just">
              <a:buFont typeface="Wingdings" panose="05000000000000000000" pitchFamily="2" charset="2"/>
              <a:buChar char="q"/>
            </a:pPr>
            <a:r>
              <a:rPr lang="en-IN" sz="4100" dirty="0">
                <a:solidFill>
                  <a:schemeClr val="tx1">
                    <a:lumMod val="95000"/>
                    <a:lumOff val="5000"/>
                  </a:schemeClr>
                </a:solidFill>
                <a:latin typeface="Verdana "/>
              </a:rPr>
              <a:t> Its design is optimised for low power and low area</a:t>
            </a:r>
          </a:p>
        </p:txBody>
      </p:sp>
    </p:spTree>
    <p:extLst>
      <p:ext uri="{BB962C8B-B14F-4D97-AF65-F5344CB8AC3E}">
        <p14:creationId xmlns:p14="http://schemas.microsoft.com/office/powerpoint/2010/main" val="689152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646" y="114075"/>
            <a:ext cx="8596668" cy="609600"/>
          </a:xfrm>
        </p:spPr>
        <p:txBody>
          <a:bodyPr>
            <a:normAutofit fontScale="90000"/>
          </a:bodyPr>
          <a:lstStyle/>
          <a:p>
            <a:r>
              <a:rPr lang="en-IN" sz="3600" b="1" dirty="0">
                <a:solidFill>
                  <a:srgbClr val="7030A0"/>
                </a:solidFill>
                <a:latin typeface="Verdana "/>
              </a:rPr>
              <a:t>Features of Cortex-M0</a:t>
            </a:r>
          </a:p>
        </p:txBody>
      </p:sp>
      <p:sp>
        <p:nvSpPr>
          <p:cNvPr id="3" name="Content Placeholder 2"/>
          <p:cNvSpPr>
            <a:spLocks noGrp="1"/>
          </p:cNvSpPr>
          <p:nvPr>
            <p:ph idx="1"/>
          </p:nvPr>
        </p:nvSpPr>
        <p:spPr>
          <a:xfrm>
            <a:off x="2230362" y="1042989"/>
            <a:ext cx="9003695" cy="5444897"/>
          </a:xfrm>
        </p:spPr>
        <p:txBody>
          <a:bodyPr>
            <a:normAutofit/>
          </a:bodyPr>
          <a:lstStyle/>
          <a:p>
            <a:pPr algn="just">
              <a:lnSpc>
                <a:spcPct val="70000"/>
              </a:lnSpc>
              <a:buFont typeface="Wingdings" panose="05000000000000000000" pitchFamily="2" charset="2"/>
              <a:buChar char="q"/>
            </a:pPr>
            <a:r>
              <a:rPr lang="en-IN" sz="2900" dirty="0">
                <a:solidFill>
                  <a:schemeClr val="tx1">
                    <a:lumMod val="95000"/>
                    <a:lumOff val="5000"/>
                  </a:schemeClr>
                </a:solidFill>
                <a:latin typeface="Verdana "/>
              </a:rPr>
              <a:t>It is a 32-Bit processor using ARM v6M ISA.</a:t>
            </a:r>
          </a:p>
          <a:p>
            <a:pPr algn="just">
              <a:lnSpc>
                <a:spcPct val="70000"/>
              </a:lnSpc>
              <a:buFont typeface="Wingdings" panose="05000000000000000000" pitchFamily="2" charset="2"/>
              <a:buChar char="q"/>
            </a:pPr>
            <a:r>
              <a:rPr lang="en-IN" sz="2900" dirty="0">
                <a:solidFill>
                  <a:schemeClr val="tx1">
                    <a:lumMod val="95000"/>
                    <a:lumOff val="5000"/>
                  </a:schemeClr>
                </a:solidFill>
                <a:latin typeface="Verdana "/>
              </a:rPr>
              <a:t> Most of its instructions have single cycle execution capability</a:t>
            </a:r>
          </a:p>
          <a:p>
            <a:pPr algn="just">
              <a:lnSpc>
                <a:spcPct val="70000"/>
              </a:lnSpc>
              <a:buFont typeface="Wingdings" panose="05000000000000000000" pitchFamily="2" charset="2"/>
              <a:buChar char="q"/>
            </a:pPr>
            <a:r>
              <a:rPr lang="en-IN" sz="2900" dirty="0">
                <a:solidFill>
                  <a:schemeClr val="tx1">
                    <a:lumMod val="95000"/>
                    <a:lumOff val="5000"/>
                  </a:schemeClr>
                </a:solidFill>
                <a:latin typeface="Verdana "/>
              </a:rPr>
              <a:t> It has only 56 base instructions, through some instructions have more than one form of usage</a:t>
            </a:r>
          </a:p>
          <a:p>
            <a:pPr algn="just">
              <a:lnSpc>
                <a:spcPct val="70000"/>
              </a:lnSpc>
              <a:buFont typeface="Wingdings" panose="05000000000000000000" pitchFamily="2" charset="2"/>
              <a:buChar char="q"/>
            </a:pPr>
            <a:r>
              <a:rPr lang="en-IN" sz="2900" dirty="0">
                <a:solidFill>
                  <a:schemeClr val="tx1">
                    <a:lumMod val="95000"/>
                    <a:lumOff val="5000"/>
                  </a:schemeClr>
                </a:solidFill>
                <a:latin typeface="Verdana "/>
              </a:rPr>
              <a:t> It is a three-stage pipeline design</a:t>
            </a:r>
          </a:p>
          <a:p>
            <a:pPr algn="just">
              <a:lnSpc>
                <a:spcPct val="70000"/>
              </a:lnSpc>
              <a:buFont typeface="Wingdings" panose="05000000000000000000" pitchFamily="2" charset="2"/>
              <a:buChar char="q"/>
            </a:pPr>
            <a:r>
              <a:rPr lang="en-IN" sz="2900" dirty="0">
                <a:solidFill>
                  <a:schemeClr val="tx1">
                    <a:lumMod val="95000"/>
                    <a:lumOff val="5000"/>
                  </a:schemeClr>
                </a:solidFill>
                <a:latin typeface="Verdana "/>
              </a:rPr>
              <a:t> It is a Von </a:t>
            </a:r>
            <a:r>
              <a:rPr lang="en-IN" sz="2900" dirty="0" err="1">
                <a:solidFill>
                  <a:schemeClr val="tx1">
                    <a:lumMod val="95000"/>
                    <a:lumOff val="5000"/>
                  </a:schemeClr>
                </a:solidFill>
                <a:latin typeface="Verdana "/>
              </a:rPr>
              <a:t>Neuman</a:t>
            </a:r>
            <a:r>
              <a:rPr lang="en-IN" sz="2900" dirty="0">
                <a:solidFill>
                  <a:schemeClr val="tx1">
                    <a:lumMod val="95000"/>
                    <a:lumOff val="5000"/>
                  </a:schemeClr>
                </a:solidFill>
                <a:latin typeface="Verdana "/>
              </a:rPr>
              <a:t> design</a:t>
            </a:r>
          </a:p>
        </p:txBody>
      </p:sp>
    </p:spTree>
    <p:extLst>
      <p:ext uri="{BB962C8B-B14F-4D97-AF65-F5344CB8AC3E}">
        <p14:creationId xmlns:p14="http://schemas.microsoft.com/office/powerpoint/2010/main" val="24566502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505" y="0"/>
            <a:ext cx="8596668" cy="725714"/>
          </a:xfrm>
        </p:spPr>
        <p:txBody>
          <a:bodyPr>
            <a:normAutofit/>
          </a:bodyPr>
          <a:lstStyle/>
          <a:p>
            <a:r>
              <a:rPr lang="en-IN" sz="3600" b="1" dirty="0">
                <a:solidFill>
                  <a:srgbClr val="7030A0"/>
                </a:solidFill>
                <a:latin typeface="Verdana "/>
              </a:rPr>
              <a:t>7.2.2 The Core</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6076" y="1654628"/>
            <a:ext cx="8067210" cy="48840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904509" y="725714"/>
            <a:ext cx="4543664" cy="369332"/>
          </a:xfrm>
          <a:prstGeom prst="rect">
            <a:avLst/>
          </a:prstGeom>
          <a:noFill/>
        </p:spPr>
        <p:txBody>
          <a:bodyPr wrap="square" rtlCol="0">
            <a:spAutoFit/>
          </a:bodyPr>
          <a:lstStyle/>
          <a:p>
            <a:r>
              <a:rPr lang="en-US" dirty="0" smtClean="0"/>
              <a:t>Fig: Block diagram of Cortex-M0</a:t>
            </a:r>
            <a:endParaRPr lang="en-IN" dirty="0"/>
          </a:p>
        </p:txBody>
      </p:sp>
    </p:spTree>
    <p:extLst>
      <p:ext uri="{BB962C8B-B14F-4D97-AF65-F5344CB8AC3E}">
        <p14:creationId xmlns:p14="http://schemas.microsoft.com/office/powerpoint/2010/main" val="5309402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9418" y="653143"/>
            <a:ext cx="9785267" cy="5719948"/>
          </a:xfrm>
        </p:spPr>
        <p:txBody>
          <a:bodyPr>
            <a:normAutofit/>
          </a:bodyPr>
          <a:lstStyle/>
          <a:p>
            <a:pPr algn="just">
              <a:buFont typeface="Wingdings" panose="05000000000000000000" pitchFamily="2" charset="2"/>
              <a:buChar char="q"/>
            </a:pPr>
            <a:r>
              <a:rPr lang="en-IN" sz="2800" dirty="0"/>
              <a:t> </a:t>
            </a:r>
            <a:r>
              <a:rPr lang="en-IN" sz="2800" dirty="0" smtClean="0"/>
              <a:t>The components of the </a:t>
            </a:r>
            <a:r>
              <a:rPr lang="en-IN" sz="2900" dirty="0" smtClean="0">
                <a:solidFill>
                  <a:schemeClr val="tx1">
                    <a:lumMod val="95000"/>
                    <a:lumOff val="5000"/>
                  </a:schemeClr>
                </a:solidFill>
                <a:latin typeface="Verdana "/>
              </a:rPr>
              <a:t>Cortex-M0 processor is show </a:t>
            </a:r>
            <a:endParaRPr lang="en-IN" sz="2900" dirty="0">
              <a:solidFill>
                <a:schemeClr val="tx1">
                  <a:lumMod val="95000"/>
                  <a:lumOff val="5000"/>
                </a:schemeClr>
              </a:solidFill>
              <a:latin typeface="Verdana "/>
            </a:endParaRPr>
          </a:p>
          <a:p>
            <a:pPr algn="just">
              <a:buFont typeface="Wingdings" panose="05000000000000000000" pitchFamily="2" charset="2"/>
              <a:buChar char="q"/>
            </a:pPr>
            <a:r>
              <a:rPr lang="en-IN" sz="2900" dirty="0">
                <a:solidFill>
                  <a:schemeClr val="tx1">
                    <a:lumMod val="95000"/>
                    <a:lumOff val="5000"/>
                  </a:schemeClr>
                </a:solidFill>
                <a:latin typeface="Verdana "/>
              </a:rPr>
              <a:t> </a:t>
            </a:r>
            <a:r>
              <a:rPr lang="en-IN" sz="2900" dirty="0" smtClean="0">
                <a:solidFill>
                  <a:schemeClr val="tx1">
                    <a:lumMod val="95000"/>
                    <a:lumOff val="5000"/>
                  </a:schemeClr>
                </a:solidFill>
                <a:latin typeface="Verdana "/>
              </a:rPr>
              <a:t>The dotted </a:t>
            </a:r>
            <a:r>
              <a:rPr lang="en-IN" sz="2900" dirty="0">
                <a:solidFill>
                  <a:schemeClr val="tx1">
                    <a:lumMod val="95000"/>
                    <a:lumOff val="5000"/>
                  </a:schemeClr>
                </a:solidFill>
                <a:latin typeface="Verdana "/>
              </a:rPr>
              <a:t>components are optional</a:t>
            </a:r>
          </a:p>
          <a:p>
            <a:pPr algn="just">
              <a:buFont typeface="Wingdings" panose="05000000000000000000" pitchFamily="2" charset="2"/>
              <a:buChar char="q"/>
            </a:pPr>
            <a:r>
              <a:rPr lang="en-IN" sz="2900" dirty="0">
                <a:solidFill>
                  <a:schemeClr val="tx1">
                    <a:lumMod val="95000"/>
                    <a:lumOff val="5000"/>
                  </a:schemeClr>
                </a:solidFill>
                <a:latin typeface="Verdana "/>
              </a:rPr>
              <a:t> Mandatory components are </a:t>
            </a:r>
            <a:r>
              <a:rPr lang="en-IN" sz="2900" dirty="0" smtClean="0">
                <a:solidFill>
                  <a:schemeClr val="tx1">
                    <a:lumMod val="95000"/>
                    <a:lumOff val="5000"/>
                  </a:schemeClr>
                </a:solidFill>
                <a:latin typeface="Verdana "/>
              </a:rPr>
              <a:t>the core, Nested </a:t>
            </a:r>
            <a:r>
              <a:rPr lang="en-IN" sz="2900" dirty="0">
                <a:solidFill>
                  <a:schemeClr val="tx1">
                    <a:lumMod val="95000"/>
                    <a:lumOff val="5000"/>
                  </a:schemeClr>
                </a:solidFill>
                <a:latin typeface="Verdana "/>
              </a:rPr>
              <a:t>Vectored Interrupt Controller (NVIC</a:t>
            </a:r>
            <a:r>
              <a:rPr lang="en-IN" sz="2900" dirty="0" smtClean="0">
                <a:solidFill>
                  <a:schemeClr val="tx1">
                    <a:lumMod val="95000"/>
                    <a:lumOff val="5000"/>
                  </a:schemeClr>
                </a:solidFill>
                <a:latin typeface="Verdana "/>
              </a:rPr>
              <a:t>) and bus matrix.</a:t>
            </a:r>
            <a:endParaRPr lang="en-IN" sz="2900" dirty="0">
              <a:solidFill>
                <a:schemeClr val="tx1">
                  <a:lumMod val="95000"/>
                  <a:lumOff val="5000"/>
                </a:schemeClr>
              </a:solidFill>
              <a:latin typeface="Verdana "/>
            </a:endParaRPr>
          </a:p>
          <a:p>
            <a:pPr algn="just">
              <a:buFont typeface="Wingdings" panose="05000000000000000000" pitchFamily="2" charset="2"/>
              <a:buChar char="q"/>
            </a:pPr>
            <a:r>
              <a:rPr lang="en-IN" sz="2900" dirty="0">
                <a:solidFill>
                  <a:schemeClr val="tx1">
                    <a:lumMod val="95000"/>
                    <a:lumOff val="5000"/>
                  </a:schemeClr>
                </a:solidFill>
                <a:latin typeface="Verdana "/>
              </a:rPr>
              <a:t> The bus matrix that interfaces to the AMBA AHB-</a:t>
            </a:r>
            <a:r>
              <a:rPr lang="en-IN" sz="2900" dirty="0" err="1">
                <a:solidFill>
                  <a:schemeClr val="tx1">
                    <a:lumMod val="95000"/>
                    <a:lumOff val="5000"/>
                  </a:schemeClr>
                </a:solidFill>
                <a:latin typeface="Verdana "/>
              </a:rPr>
              <a:t>lite</a:t>
            </a:r>
            <a:r>
              <a:rPr lang="en-IN" sz="2900" dirty="0">
                <a:solidFill>
                  <a:schemeClr val="tx1">
                    <a:lumMod val="95000"/>
                    <a:lumOff val="5000"/>
                  </a:schemeClr>
                </a:solidFill>
                <a:latin typeface="Verdana "/>
              </a:rPr>
              <a:t> bus</a:t>
            </a:r>
          </a:p>
          <a:p>
            <a:pPr algn="just">
              <a:buFont typeface="Wingdings" panose="05000000000000000000" pitchFamily="2" charset="2"/>
              <a:buChar char="q"/>
            </a:pPr>
            <a:r>
              <a:rPr lang="en-IN" sz="2900" dirty="0">
                <a:solidFill>
                  <a:schemeClr val="tx1">
                    <a:lumMod val="95000"/>
                    <a:lumOff val="5000"/>
                  </a:schemeClr>
                </a:solidFill>
                <a:latin typeface="Verdana "/>
              </a:rPr>
              <a:t> The processor core is the computing engine which contains the registers and ALU</a:t>
            </a:r>
          </a:p>
          <a:p>
            <a:pPr algn="just">
              <a:buFont typeface="Wingdings" panose="05000000000000000000" pitchFamily="2" charset="2"/>
              <a:buChar char="q"/>
            </a:pPr>
            <a:r>
              <a:rPr lang="en-IN" sz="2900" dirty="0">
                <a:solidFill>
                  <a:schemeClr val="tx1">
                    <a:lumMod val="95000"/>
                    <a:lumOff val="5000"/>
                  </a:schemeClr>
                </a:solidFill>
                <a:latin typeface="Verdana "/>
              </a:rPr>
              <a:t> The instruction pipeline has 3 stages for M0 and 2 stages for M0</a:t>
            </a:r>
            <a:r>
              <a:rPr lang="en-IN" sz="2900" dirty="0" smtClean="0">
                <a:solidFill>
                  <a:schemeClr val="tx1">
                    <a:lumMod val="95000"/>
                    <a:lumOff val="5000"/>
                  </a:schemeClr>
                </a:solidFill>
                <a:latin typeface="Verdana "/>
              </a:rPr>
              <a:t>+.</a:t>
            </a:r>
            <a:endParaRPr lang="en-IN" sz="2900" dirty="0">
              <a:solidFill>
                <a:schemeClr val="tx1">
                  <a:lumMod val="95000"/>
                  <a:lumOff val="5000"/>
                </a:schemeClr>
              </a:solidFill>
              <a:latin typeface="Verdana "/>
            </a:endParaRPr>
          </a:p>
          <a:p>
            <a:pPr algn="just">
              <a:lnSpc>
                <a:spcPct val="70000"/>
              </a:lnSpc>
              <a:buFont typeface="Wingdings" panose="05000000000000000000" pitchFamily="2" charset="2"/>
              <a:buChar char="q"/>
            </a:pPr>
            <a:endParaRPr lang="en-IN" sz="2900" dirty="0">
              <a:solidFill>
                <a:schemeClr val="tx1">
                  <a:lumMod val="95000"/>
                  <a:lumOff val="5000"/>
                </a:schemeClr>
              </a:solidFill>
              <a:latin typeface="Verdana "/>
            </a:endParaRPr>
          </a:p>
        </p:txBody>
      </p:sp>
    </p:spTree>
    <p:extLst>
      <p:ext uri="{BB962C8B-B14F-4D97-AF65-F5344CB8AC3E}">
        <p14:creationId xmlns:p14="http://schemas.microsoft.com/office/powerpoint/2010/main" val="40867994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620" y="116115"/>
            <a:ext cx="10542835" cy="1320800"/>
          </a:xfrm>
        </p:spPr>
        <p:txBody>
          <a:bodyPr>
            <a:normAutofit/>
          </a:bodyPr>
          <a:lstStyle/>
          <a:p>
            <a:pPr algn="ctr"/>
            <a:r>
              <a:rPr lang="en-IN" sz="4000" b="1" dirty="0">
                <a:solidFill>
                  <a:srgbClr val="7030A0"/>
                </a:solidFill>
                <a:latin typeface="Verdana "/>
              </a:rPr>
              <a:t>7.2.3 Nested Vectored Interrupt </a:t>
            </a:r>
            <a:r>
              <a:rPr lang="en-IN" sz="4000" b="1" dirty="0" smtClean="0">
                <a:solidFill>
                  <a:srgbClr val="7030A0"/>
                </a:solidFill>
                <a:latin typeface="Verdana "/>
              </a:rPr>
              <a:t>Controller (NVIC)</a:t>
            </a:r>
            <a:endParaRPr lang="en-IN" sz="4000" b="1" dirty="0">
              <a:solidFill>
                <a:srgbClr val="7030A0"/>
              </a:solidFill>
              <a:latin typeface="Verdana "/>
            </a:endParaRPr>
          </a:p>
        </p:txBody>
      </p:sp>
      <p:sp>
        <p:nvSpPr>
          <p:cNvPr id="3" name="Content Placeholder 2"/>
          <p:cNvSpPr>
            <a:spLocks noGrp="1"/>
          </p:cNvSpPr>
          <p:nvPr>
            <p:ph idx="1"/>
          </p:nvPr>
        </p:nvSpPr>
        <p:spPr>
          <a:xfrm>
            <a:off x="1480458" y="1837509"/>
            <a:ext cx="9956800" cy="4206240"/>
          </a:xfrm>
        </p:spPr>
        <p:txBody>
          <a:bodyPr>
            <a:normAutofit/>
          </a:bodyPr>
          <a:lstStyle/>
          <a:p>
            <a:pPr algn="just">
              <a:buFont typeface="Wingdings" panose="05000000000000000000" pitchFamily="2" charset="2"/>
              <a:buChar char="q"/>
            </a:pPr>
            <a:r>
              <a:rPr lang="en-IN" sz="2900" dirty="0">
                <a:solidFill>
                  <a:schemeClr val="tx1">
                    <a:lumMod val="95000"/>
                    <a:lumOff val="5000"/>
                  </a:schemeClr>
                </a:solidFill>
                <a:latin typeface="Verdana "/>
              </a:rPr>
              <a:t>This is the hardware block that handles all the interrupts that comes to the processor. </a:t>
            </a:r>
          </a:p>
          <a:p>
            <a:pPr algn="just">
              <a:buFont typeface="Wingdings" panose="05000000000000000000" pitchFamily="2" charset="2"/>
              <a:buChar char="q"/>
            </a:pPr>
            <a:r>
              <a:rPr lang="en-IN" sz="2900" dirty="0">
                <a:solidFill>
                  <a:schemeClr val="tx1">
                    <a:lumMod val="95000"/>
                    <a:lumOff val="5000"/>
                  </a:schemeClr>
                </a:solidFill>
                <a:latin typeface="Verdana "/>
              </a:rPr>
              <a:t> Mechanism is found, that handles multiple interrupts and accept one of them on priority resolution schemes</a:t>
            </a:r>
          </a:p>
          <a:p>
            <a:pPr algn="just">
              <a:buFont typeface="Wingdings" panose="05000000000000000000" pitchFamily="2" charset="2"/>
              <a:buChar char="q"/>
            </a:pPr>
            <a:r>
              <a:rPr lang="en-IN" sz="2900" dirty="0">
                <a:solidFill>
                  <a:schemeClr val="tx1">
                    <a:lumMod val="95000"/>
                    <a:lumOff val="5000"/>
                  </a:schemeClr>
                </a:solidFill>
                <a:latin typeface="Verdana "/>
              </a:rPr>
              <a:t> Once the specified interrupt is acknowledged, the interrupting device can access its interrupt handler</a:t>
            </a:r>
          </a:p>
          <a:p>
            <a:pPr algn="just">
              <a:buFont typeface="Wingdings" panose="05000000000000000000" pitchFamily="2" charset="2"/>
              <a:buChar char="q"/>
            </a:pPr>
            <a:r>
              <a:rPr lang="en-IN" sz="2900" dirty="0">
                <a:solidFill>
                  <a:schemeClr val="tx1">
                    <a:lumMod val="95000"/>
                    <a:lumOff val="5000"/>
                  </a:schemeClr>
                </a:solidFill>
                <a:latin typeface="Verdana "/>
              </a:rPr>
              <a:t> The NVIC has been designed for interrupt latency to be low and deterministic.</a:t>
            </a:r>
          </a:p>
        </p:txBody>
      </p:sp>
    </p:spTree>
    <p:extLst>
      <p:ext uri="{BB962C8B-B14F-4D97-AF65-F5344CB8AC3E}">
        <p14:creationId xmlns:p14="http://schemas.microsoft.com/office/powerpoint/2010/main" val="27218160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05" y="0"/>
            <a:ext cx="9784080" cy="1508760"/>
          </a:xfrm>
        </p:spPr>
        <p:txBody>
          <a:bodyPr>
            <a:normAutofit/>
          </a:bodyPr>
          <a:lstStyle/>
          <a:p>
            <a:r>
              <a:rPr lang="en-IN" b="1" dirty="0">
                <a:solidFill>
                  <a:srgbClr val="7030A0"/>
                </a:solidFill>
                <a:latin typeface="Verdana "/>
              </a:rPr>
              <a:t>7.2.4 AMBA AHB-</a:t>
            </a:r>
            <a:r>
              <a:rPr lang="en-IN" b="1" dirty="0" err="1">
                <a:solidFill>
                  <a:srgbClr val="7030A0"/>
                </a:solidFill>
                <a:latin typeface="Verdana "/>
              </a:rPr>
              <a:t>lite</a:t>
            </a:r>
            <a:endParaRPr lang="en-IN" b="1" dirty="0">
              <a:solidFill>
                <a:srgbClr val="7030A0"/>
              </a:solidFill>
              <a:latin typeface="Verdana "/>
            </a:endParaRPr>
          </a:p>
        </p:txBody>
      </p:sp>
      <p:sp>
        <p:nvSpPr>
          <p:cNvPr id="3" name="Content Placeholder 2"/>
          <p:cNvSpPr>
            <a:spLocks noGrp="1"/>
          </p:cNvSpPr>
          <p:nvPr>
            <p:ph idx="1"/>
          </p:nvPr>
        </p:nvSpPr>
        <p:spPr>
          <a:xfrm>
            <a:off x="1725433" y="1358539"/>
            <a:ext cx="9784080" cy="4206240"/>
          </a:xfrm>
        </p:spPr>
        <p:txBody>
          <a:bodyPr>
            <a:normAutofit/>
          </a:bodyPr>
          <a:lstStyle/>
          <a:p>
            <a:pPr algn="just">
              <a:lnSpc>
                <a:spcPct val="150000"/>
              </a:lnSpc>
              <a:buFont typeface="Wingdings" panose="05000000000000000000" pitchFamily="2" charset="2"/>
              <a:buChar char="q"/>
            </a:pPr>
            <a:r>
              <a:rPr lang="en-IN" sz="2900" dirty="0">
                <a:solidFill>
                  <a:schemeClr val="tx1">
                    <a:lumMod val="95000"/>
                    <a:lumOff val="5000"/>
                  </a:schemeClr>
                </a:solidFill>
                <a:latin typeface="Verdana "/>
              </a:rPr>
              <a:t>AHB bus is a part of AMBA standard</a:t>
            </a:r>
          </a:p>
          <a:p>
            <a:pPr algn="just">
              <a:lnSpc>
                <a:spcPct val="150000"/>
              </a:lnSpc>
              <a:buFont typeface="Wingdings" panose="05000000000000000000" pitchFamily="2" charset="2"/>
              <a:buChar char="q"/>
            </a:pPr>
            <a:r>
              <a:rPr lang="en-IN" sz="2900" dirty="0">
                <a:solidFill>
                  <a:schemeClr val="tx1">
                    <a:lumMod val="95000"/>
                    <a:lumOff val="5000"/>
                  </a:schemeClr>
                </a:solidFill>
                <a:latin typeface="Verdana "/>
              </a:rPr>
              <a:t>It is on-chip internal bus protocol for data transfers within the chip</a:t>
            </a:r>
          </a:p>
        </p:txBody>
      </p:sp>
    </p:spTree>
    <p:extLst>
      <p:ext uri="{BB962C8B-B14F-4D97-AF65-F5344CB8AC3E}">
        <p14:creationId xmlns:p14="http://schemas.microsoft.com/office/powerpoint/2010/main" val="28931007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382" y="0"/>
            <a:ext cx="8911687" cy="1280890"/>
          </a:xfrm>
        </p:spPr>
        <p:txBody>
          <a:bodyPr>
            <a:normAutofit/>
          </a:bodyPr>
          <a:lstStyle/>
          <a:p>
            <a:r>
              <a:rPr lang="en-IN" b="1" dirty="0">
                <a:solidFill>
                  <a:srgbClr val="7030A0"/>
                </a:solidFill>
                <a:latin typeface="Verdana "/>
              </a:rPr>
              <a:t>7.2.5 Debug Unit</a:t>
            </a:r>
          </a:p>
        </p:txBody>
      </p:sp>
      <p:sp>
        <p:nvSpPr>
          <p:cNvPr id="3" name="Content Placeholder 2"/>
          <p:cNvSpPr>
            <a:spLocks noGrp="1"/>
          </p:cNvSpPr>
          <p:nvPr>
            <p:ph idx="1"/>
          </p:nvPr>
        </p:nvSpPr>
        <p:spPr>
          <a:xfrm>
            <a:off x="1371600" y="1905000"/>
            <a:ext cx="9817993" cy="3880773"/>
          </a:xfrm>
        </p:spPr>
        <p:txBody>
          <a:bodyPr/>
          <a:lstStyle/>
          <a:p>
            <a:pPr algn="just">
              <a:buFont typeface="Wingdings" panose="05000000000000000000" pitchFamily="2" charset="2"/>
              <a:buChar char="q"/>
            </a:pPr>
            <a:r>
              <a:rPr lang="en-IN" sz="2900" dirty="0">
                <a:solidFill>
                  <a:schemeClr val="tx1">
                    <a:lumMod val="95000"/>
                    <a:lumOff val="5000"/>
                  </a:schemeClr>
                </a:solidFill>
                <a:latin typeface="Verdana "/>
              </a:rPr>
              <a:t>It has a breakpoint and watch point units</a:t>
            </a:r>
          </a:p>
          <a:p>
            <a:pPr algn="just">
              <a:buFont typeface="Wingdings" panose="05000000000000000000" pitchFamily="2" charset="2"/>
              <a:buChar char="q"/>
            </a:pPr>
            <a:r>
              <a:rPr lang="en-IN" sz="2900" dirty="0">
                <a:solidFill>
                  <a:schemeClr val="tx1">
                    <a:lumMod val="95000"/>
                    <a:lumOff val="5000"/>
                  </a:schemeClr>
                </a:solidFill>
                <a:latin typeface="Verdana "/>
              </a:rPr>
              <a:t> User can halt execution at points he has chosen and do active debugging</a:t>
            </a:r>
          </a:p>
          <a:p>
            <a:pPr algn="just">
              <a:buFont typeface="Wingdings" panose="05000000000000000000" pitchFamily="2" charset="2"/>
              <a:buChar char="q"/>
            </a:pPr>
            <a:r>
              <a:rPr lang="en-IN" sz="2900" dirty="0">
                <a:solidFill>
                  <a:schemeClr val="tx1">
                    <a:lumMod val="95000"/>
                    <a:lumOff val="5000"/>
                  </a:schemeClr>
                </a:solidFill>
                <a:latin typeface="Verdana "/>
              </a:rPr>
              <a:t> The debugger access port is the interface by which the processor is connected to the host system</a:t>
            </a:r>
          </a:p>
          <a:p>
            <a:pPr algn="just">
              <a:buFont typeface="Wingdings" panose="05000000000000000000" pitchFamily="2" charset="2"/>
              <a:buChar char="q"/>
            </a:pPr>
            <a:r>
              <a:rPr lang="en-IN" sz="2900" dirty="0">
                <a:solidFill>
                  <a:schemeClr val="tx1">
                    <a:lumMod val="95000"/>
                    <a:lumOff val="5000"/>
                  </a:schemeClr>
                </a:solidFill>
                <a:latin typeface="Verdana "/>
              </a:rPr>
              <a:t> debugging may be done by the JTAG interface</a:t>
            </a:r>
          </a:p>
        </p:txBody>
      </p:sp>
    </p:spTree>
    <p:extLst>
      <p:ext uri="{BB962C8B-B14F-4D97-AF65-F5344CB8AC3E}">
        <p14:creationId xmlns:p14="http://schemas.microsoft.com/office/powerpoint/2010/main" val="3909143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269" y="317823"/>
            <a:ext cx="10437538" cy="804395"/>
          </a:xfrm>
        </p:spPr>
        <p:txBody>
          <a:bodyPr>
            <a:normAutofit/>
          </a:bodyPr>
          <a:lstStyle/>
          <a:p>
            <a:r>
              <a:rPr lang="en-IN" b="1" dirty="0">
                <a:solidFill>
                  <a:srgbClr val="7030A0"/>
                </a:solidFill>
                <a:latin typeface="Verdana "/>
              </a:rPr>
              <a:t>7.2.6 </a:t>
            </a:r>
            <a:r>
              <a:rPr lang="en-IN" b="1" dirty="0" smtClean="0">
                <a:solidFill>
                  <a:srgbClr val="7030A0"/>
                </a:solidFill>
                <a:latin typeface="Verdana "/>
              </a:rPr>
              <a:t>Wakeup </a:t>
            </a:r>
            <a:r>
              <a:rPr lang="en-IN" b="1" dirty="0">
                <a:solidFill>
                  <a:srgbClr val="7030A0"/>
                </a:solidFill>
                <a:latin typeface="Verdana "/>
              </a:rPr>
              <a:t>interrupt </a:t>
            </a:r>
            <a:r>
              <a:rPr lang="en-IN" b="1" dirty="0" smtClean="0">
                <a:solidFill>
                  <a:srgbClr val="7030A0"/>
                </a:solidFill>
                <a:latin typeface="Verdana "/>
              </a:rPr>
              <a:t>controller</a:t>
            </a:r>
            <a:endParaRPr lang="en-IN" b="1" dirty="0">
              <a:solidFill>
                <a:srgbClr val="7030A0"/>
              </a:solidFill>
              <a:latin typeface="Verdana "/>
            </a:endParaRPr>
          </a:p>
        </p:txBody>
      </p:sp>
      <p:sp>
        <p:nvSpPr>
          <p:cNvPr id="3" name="Content Placeholder 2"/>
          <p:cNvSpPr>
            <a:spLocks noGrp="1"/>
          </p:cNvSpPr>
          <p:nvPr>
            <p:ph idx="1"/>
          </p:nvPr>
        </p:nvSpPr>
        <p:spPr>
          <a:xfrm>
            <a:off x="1868825" y="967602"/>
            <a:ext cx="9221408" cy="5082040"/>
          </a:xfrm>
        </p:spPr>
        <p:txBody>
          <a:bodyPr>
            <a:normAutofit fontScale="92500" lnSpcReduction="20000"/>
          </a:bodyPr>
          <a:lstStyle/>
          <a:p>
            <a:pPr algn="just">
              <a:lnSpc>
                <a:spcPct val="160000"/>
              </a:lnSpc>
              <a:buFont typeface="Wingdings" panose="05000000000000000000" pitchFamily="2" charset="2"/>
              <a:buChar char="q"/>
            </a:pPr>
            <a:r>
              <a:rPr lang="en-IN" sz="2900" dirty="0">
                <a:solidFill>
                  <a:schemeClr val="tx1">
                    <a:lumMod val="95000"/>
                    <a:lumOff val="5000"/>
                  </a:schemeClr>
                </a:solidFill>
                <a:latin typeface="Verdana "/>
              </a:rPr>
              <a:t>It is optional unit which provides ultra low power sleep support</a:t>
            </a:r>
          </a:p>
          <a:p>
            <a:pPr algn="just">
              <a:lnSpc>
                <a:spcPct val="160000"/>
              </a:lnSpc>
              <a:buFont typeface="Wingdings" panose="05000000000000000000" pitchFamily="2" charset="2"/>
              <a:buChar char="q"/>
            </a:pPr>
            <a:r>
              <a:rPr lang="en-IN" sz="2900" dirty="0">
                <a:solidFill>
                  <a:schemeClr val="tx1">
                    <a:lumMod val="95000"/>
                    <a:lumOff val="5000"/>
                  </a:schemeClr>
                </a:solidFill>
                <a:latin typeface="Verdana "/>
              </a:rPr>
              <a:t> As the processor is lowered down, most of its functional units including the NVIC  are inactive</a:t>
            </a:r>
          </a:p>
          <a:p>
            <a:pPr algn="just">
              <a:lnSpc>
                <a:spcPct val="160000"/>
              </a:lnSpc>
              <a:buFont typeface="Wingdings" panose="05000000000000000000" pitchFamily="2" charset="2"/>
              <a:buChar char="q"/>
            </a:pPr>
            <a:r>
              <a:rPr lang="en-IN" sz="2900" dirty="0">
                <a:solidFill>
                  <a:schemeClr val="tx1">
                    <a:lumMod val="95000"/>
                    <a:lumOff val="5000"/>
                  </a:schemeClr>
                </a:solidFill>
                <a:latin typeface="Verdana "/>
              </a:rPr>
              <a:t> In this state, if an interrupt arrives, it is handled by the wake up interrupt controller until the processor is brought back to active state.</a:t>
            </a:r>
          </a:p>
          <a:p>
            <a:pPr algn="just">
              <a:lnSpc>
                <a:spcPct val="160000"/>
              </a:lnSpc>
              <a:buFont typeface="Wingdings" panose="05000000000000000000" pitchFamily="2" charset="2"/>
              <a:buChar char="q"/>
            </a:pPr>
            <a:r>
              <a:rPr lang="en-IN" sz="2900" dirty="0">
                <a:solidFill>
                  <a:schemeClr val="tx1">
                    <a:lumMod val="95000"/>
                    <a:lumOff val="5000"/>
                  </a:schemeClr>
                </a:solidFill>
                <a:latin typeface="Verdana "/>
              </a:rPr>
              <a:t> Thereafter, interrupt handling is done by NVIC</a:t>
            </a:r>
          </a:p>
        </p:txBody>
      </p:sp>
    </p:spTree>
    <p:extLst>
      <p:ext uri="{BB962C8B-B14F-4D97-AF65-F5344CB8AC3E}">
        <p14:creationId xmlns:p14="http://schemas.microsoft.com/office/powerpoint/2010/main" val="19413626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525" y="0"/>
            <a:ext cx="8911687" cy="1280890"/>
          </a:xfrm>
        </p:spPr>
        <p:txBody>
          <a:bodyPr>
            <a:normAutofit/>
          </a:bodyPr>
          <a:lstStyle/>
          <a:p>
            <a:r>
              <a:rPr lang="en-IN" b="1" dirty="0">
                <a:solidFill>
                  <a:srgbClr val="7030A0"/>
                </a:solidFill>
                <a:latin typeface="Verdana "/>
              </a:rPr>
              <a:t>7.3 Modes and states</a:t>
            </a:r>
          </a:p>
        </p:txBody>
      </p:sp>
      <p:sp>
        <p:nvSpPr>
          <p:cNvPr id="3" name="Content Placeholder 2"/>
          <p:cNvSpPr>
            <a:spLocks noGrp="1"/>
          </p:cNvSpPr>
          <p:nvPr>
            <p:ph idx="1"/>
          </p:nvPr>
        </p:nvSpPr>
        <p:spPr/>
        <p:txBody>
          <a:bodyPr>
            <a:normAutofit/>
          </a:bodyPr>
          <a:lstStyle/>
          <a:p>
            <a:pPr marL="363538" indent="-363538" algn="just">
              <a:lnSpc>
                <a:spcPct val="70000"/>
              </a:lnSpc>
              <a:buFont typeface="Wingdings" panose="05000000000000000000" pitchFamily="2" charset="2"/>
              <a:buChar char="q"/>
            </a:pPr>
            <a:r>
              <a:rPr lang="en-IN" sz="2900" dirty="0">
                <a:solidFill>
                  <a:schemeClr val="tx1">
                    <a:lumMod val="95000"/>
                    <a:lumOff val="5000"/>
                  </a:schemeClr>
                </a:solidFill>
                <a:latin typeface="Verdana "/>
              </a:rPr>
              <a:t>It has Various modes and States for operation</a:t>
            </a:r>
          </a:p>
          <a:p>
            <a:pPr marL="0" indent="0" algn="just">
              <a:lnSpc>
                <a:spcPct val="70000"/>
              </a:lnSpc>
              <a:buNone/>
            </a:pPr>
            <a:r>
              <a:rPr lang="en-IN" sz="2900" dirty="0">
                <a:solidFill>
                  <a:schemeClr val="tx1">
                    <a:lumMod val="95000"/>
                    <a:lumOff val="5000"/>
                  </a:schemeClr>
                </a:solidFill>
                <a:latin typeface="Verdana "/>
              </a:rPr>
              <a:t>       1. Processor States</a:t>
            </a:r>
          </a:p>
          <a:p>
            <a:pPr marL="0" indent="0" algn="just">
              <a:lnSpc>
                <a:spcPct val="70000"/>
              </a:lnSpc>
              <a:buNone/>
            </a:pPr>
            <a:r>
              <a:rPr lang="en-IN" sz="2900" dirty="0">
                <a:solidFill>
                  <a:schemeClr val="tx1">
                    <a:lumMod val="95000"/>
                    <a:lumOff val="5000"/>
                  </a:schemeClr>
                </a:solidFill>
                <a:latin typeface="Verdana "/>
              </a:rPr>
              <a:t>       2. Thread Mode</a:t>
            </a:r>
          </a:p>
          <a:p>
            <a:pPr marL="0" indent="0" algn="just">
              <a:lnSpc>
                <a:spcPct val="70000"/>
              </a:lnSpc>
              <a:buNone/>
            </a:pPr>
            <a:r>
              <a:rPr lang="en-IN" sz="2900" dirty="0">
                <a:solidFill>
                  <a:schemeClr val="tx1">
                    <a:lumMod val="95000"/>
                    <a:lumOff val="5000"/>
                  </a:schemeClr>
                </a:solidFill>
                <a:latin typeface="Verdana "/>
              </a:rPr>
              <a:t>       3. Handler Mode</a:t>
            </a:r>
          </a:p>
          <a:p>
            <a:pPr marL="0" indent="0">
              <a:buNone/>
            </a:pPr>
            <a:r>
              <a:rPr lang="en-IN" sz="2900" dirty="0">
                <a:solidFill>
                  <a:schemeClr val="tx1">
                    <a:lumMod val="95000"/>
                    <a:lumOff val="5000"/>
                  </a:schemeClr>
                </a:solidFill>
                <a:latin typeface="Verdana "/>
              </a:rPr>
              <a:t>      </a:t>
            </a:r>
          </a:p>
        </p:txBody>
      </p:sp>
    </p:spTree>
    <p:extLst>
      <p:ext uri="{BB962C8B-B14F-4D97-AF65-F5344CB8AC3E}">
        <p14:creationId xmlns:p14="http://schemas.microsoft.com/office/powerpoint/2010/main" val="16719580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519" y="0"/>
            <a:ext cx="9784080" cy="893050"/>
          </a:xfrm>
        </p:spPr>
        <p:txBody>
          <a:bodyPr>
            <a:normAutofit fontScale="90000"/>
          </a:bodyPr>
          <a:lstStyle/>
          <a:p>
            <a:r>
              <a:rPr lang="en-IN" b="1" dirty="0">
                <a:solidFill>
                  <a:srgbClr val="7030A0"/>
                </a:solidFill>
                <a:latin typeface="Verdana "/>
              </a:rPr>
              <a:t>7.3.1 Processor States</a:t>
            </a:r>
            <a:br>
              <a:rPr lang="en-IN" b="1" dirty="0">
                <a:solidFill>
                  <a:srgbClr val="7030A0"/>
                </a:solidFill>
                <a:latin typeface="Verdana "/>
              </a:rPr>
            </a:br>
            <a:endParaRPr lang="en-IN" b="1" dirty="0">
              <a:solidFill>
                <a:srgbClr val="7030A0"/>
              </a:solidFill>
              <a:latin typeface="Verdana "/>
            </a:endParaRPr>
          </a:p>
        </p:txBody>
      </p:sp>
      <p:sp>
        <p:nvSpPr>
          <p:cNvPr id="3" name="Content Placeholder 2"/>
          <p:cNvSpPr>
            <a:spLocks noGrp="1"/>
          </p:cNvSpPr>
          <p:nvPr>
            <p:ph idx="1"/>
          </p:nvPr>
        </p:nvSpPr>
        <p:spPr>
          <a:xfrm>
            <a:off x="2139269" y="1465943"/>
            <a:ext cx="8915400" cy="3777622"/>
          </a:xfrm>
        </p:spPr>
        <p:txBody>
          <a:bodyPr/>
          <a:lstStyle/>
          <a:p>
            <a:pPr marL="363538" indent="-363538" algn="just">
              <a:buFont typeface="Wingdings" panose="05000000000000000000" pitchFamily="2" charset="2"/>
              <a:buChar char="q"/>
            </a:pPr>
            <a:r>
              <a:rPr lang="en-IN" sz="2900" dirty="0" smtClean="0">
                <a:solidFill>
                  <a:schemeClr val="tx1"/>
                </a:solidFill>
                <a:latin typeface="Verdana "/>
              </a:rPr>
              <a:t>Processor </a:t>
            </a:r>
            <a:r>
              <a:rPr lang="en-IN" sz="2900" dirty="0">
                <a:solidFill>
                  <a:schemeClr val="tx1"/>
                </a:solidFill>
                <a:latin typeface="Verdana "/>
              </a:rPr>
              <a:t>has 2 states </a:t>
            </a:r>
            <a:endParaRPr lang="en-IN" sz="2900" dirty="0" smtClean="0">
              <a:solidFill>
                <a:schemeClr val="tx1"/>
              </a:solidFill>
              <a:latin typeface="Verdana "/>
            </a:endParaRPr>
          </a:p>
          <a:p>
            <a:pPr marL="363538" indent="-363538" algn="just">
              <a:buFont typeface="Wingdings" panose="05000000000000000000" pitchFamily="2" charset="2"/>
              <a:buChar char="q"/>
            </a:pPr>
            <a:r>
              <a:rPr lang="en-IN" sz="2900" dirty="0" smtClean="0">
                <a:solidFill>
                  <a:schemeClr val="tx1"/>
                </a:solidFill>
                <a:latin typeface="Verdana "/>
              </a:rPr>
              <a:t>When </a:t>
            </a:r>
            <a:r>
              <a:rPr lang="en-IN" sz="2900" dirty="0">
                <a:solidFill>
                  <a:schemeClr val="tx1"/>
                </a:solidFill>
                <a:latin typeface="Verdana "/>
              </a:rPr>
              <a:t>it is executing a program, it is said to be in the </a:t>
            </a:r>
            <a:r>
              <a:rPr lang="en-IN" sz="2900" b="1" dirty="0">
                <a:solidFill>
                  <a:schemeClr val="tx1"/>
                </a:solidFill>
                <a:latin typeface="Verdana "/>
              </a:rPr>
              <a:t>Thumb </a:t>
            </a:r>
            <a:r>
              <a:rPr lang="en-IN" sz="2900" b="1" dirty="0" smtClean="0">
                <a:solidFill>
                  <a:schemeClr val="tx1"/>
                </a:solidFill>
                <a:latin typeface="Verdana "/>
              </a:rPr>
              <a:t>State.</a:t>
            </a:r>
            <a:endParaRPr lang="en-IN" sz="2900" b="1" dirty="0">
              <a:solidFill>
                <a:schemeClr val="tx1"/>
              </a:solidFill>
              <a:latin typeface="Verdana "/>
            </a:endParaRPr>
          </a:p>
          <a:p>
            <a:pPr marL="363538" indent="-363538" algn="just">
              <a:buFont typeface="Wingdings" panose="05000000000000000000" pitchFamily="2" charset="2"/>
              <a:buChar char="q"/>
            </a:pPr>
            <a:r>
              <a:rPr lang="en-IN" sz="2900" dirty="0">
                <a:solidFill>
                  <a:schemeClr val="tx1"/>
                </a:solidFill>
                <a:latin typeface="Verdana "/>
              </a:rPr>
              <a:t> The other state is the </a:t>
            </a:r>
            <a:r>
              <a:rPr lang="en-IN" sz="2900" b="1" dirty="0">
                <a:solidFill>
                  <a:schemeClr val="tx1"/>
                </a:solidFill>
                <a:latin typeface="Verdana "/>
              </a:rPr>
              <a:t>Debug state </a:t>
            </a:r>
            <a:r>
              <a:rPr lang="en-IN" sz="2900" b="1" dirty="0" smtClean="0">
                <a:solidFill>
                  <a:schemeClr val="tx1"/>
                </a:solidFill>
                <a:latin typeface="Verdana "/>
              </a:rPr>
              <a:t>.</a:t>
            </a:r>
            <a:endParaRPr lang="en-IN" sz="2900" b="1" dirty="0">
              <a:solidFill>
                <a:schemeClr val="tx1"/>
              </a:solidFill>
              <a:latin typeface="Verdana "/>
            </a:endParaRPr>
          </a:p>
          <a:p>
            <a:pPr marL="0" indent="0" algn="just">
              <a:lnSpc>
                <a:spcPct val="70000"/>
              </a:lnSpc>
              <a:buNone/>
            </a:pPr>
            <a:endParaRPr lang="en-IN" sz="3000" dirty="0">
              <a:solidFill>
                <a:srgbClr val="FFFF00"/>
              </a:solidFill>
            </a:endParaRPr>
          </a:p>
        </p:txBody>
      </p:sp>
    </p:spTree>
    <p:extLst>
      <p:ext uri="{BB962C8B-B14F-4D97-AF65-F5344CB8AC3E}">
        <p14:creationId xmlns:p14="http://schemas.microsoft.com/office/powerpoint/2010/main" val="29833778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861" y="0"/>
            <a:ext cx="9784080" cy="1508760"/>
          </a:xfrm>
        </p:spPr>
        <p:txBody>
          <a:bodyPr>
            <a:normAutofit/>
          </a:bodyPr>
          <a:lstStyle/>
          <a:p>
            <a:r>
              <a:rPr lang="en-IN" b="1" dirty="0">
                <a:solidFill>
                  <a:srgbClr val="7030A0"/>
                </a:solidFill>
                <a:latin typeface="Verdana "/>
              </a:rPr>
              <a:t>7.3.2 Modes of operation	</a:t>
            </a:r>
          </a:p>
        </p:txBody>
      </p:sp>
      <p:sp>
        <p:nvSpPr>
          <p:cNvPr id="3" name="Content Placeholder 2"/>
          <p:cNvSpPr>
            <a:spLocks noGrp="1"/>
          </p:cNvSpPr>
          <p:nvPr>
            <p:ph idx="1"/>
          </p:nvPr>
        </p:nvSpPr>
        <p:spPr>
          <a:xfrm>
            <a:off x="1696088" y="1972887"/>
            <a:ext cx="8724853" cy="4206240"/>
          </a:xfrm>
        </p:spPr>
        <p:txBody>
          <a:bodyPr/>
          <a:lstStyle/>
          <a:p>
            <a:pPr marL="0" indent="0">
              <a:buNone/>
            </a:pPr>
            <a:r>
              <a:rPr lang="en-IN" dirty="0" smtClean="0"/>
              <a:t> </a:t>
            </a:r>
            <a:r>
              <a:rPr lang="en-IN" sz="2900" dirty="0">
                <a:solidFill>
                  <a:schemeClr val="tx1">
                    <a:lumMod val="95000"/>
                    <a:lumOff val="5000"/>
                  </a:schemeClr>
                </a:solidFill>
                <a:latin typeface="Verdana "/>
              </a:rPr>
              <a:t>When the processor is in the Thumb </a:t>
            </a:r>
            <a:r>
              <a:rPr lang="en-IN" sz="2900" dirty="0" smtClean="0">
                <a:solidFill>
                  <a:schemeClr val="tx1">
                    <a:lumMod val="95000"/>
                    <a:lumOff val="5000"/>
                  </a:schemeClr>
                </a:solidFill>
                <a:latin typeface="Verdana "/>
              </a:rPr>
              <a:t>state(when running a program), </a:t>
            </a:r>
            <a:r>
              <a:rPr lang="en-IN" sz="2900" dirty="0">
                <a:solidFill>
                  <a:schemeClr val="tx1">
                    <a:lumMod val="95000"/>
                    <a:lumOff val="5000"/>
                  </a:schemeClr>
                </a:solidFill>
                <a:latin typeface="Verdana "/>
              </a:rPr>
              <a:t>it can be either the </a:t>
            </a:r>
            <a:r>
              <a:rPr lang="en-IN" sz="2900" b="1" dirty="0">
                <a:solidFill>
                  <a:schemeClr val="tx1">
                    <a:lumMod val="95000"/>
                    <a:lumOff val="5000"/>
                  </a:schemeClr>
                </a:solidFill>
                <a:latin typeface="Verdana "/>
              </a:rPr>
              <a:t>Thread </a:t>
            </a:r>
            <a:r>
              <a:rPr lang="en-IN" sz="2900" b="1" dirty="0" smtClean="0">
                <a:solidFill>
                  <a:schemeClr val="tx1">
                    <a:lumMod val="95000"/>
                    <a:lumOff val="5000"/>
                  </a:schemeClr>
                </a:solidFill>
                <a:latin typeface="Verdana "/>
              </a:rPr>
              <a:t>mode </a:t>
            </a:r>
            <a:r>
              <a:rPr lang="en-IN" sz="2900" dirty="0" smtClean="0">
                <a:solidFill>
                  <a:schemeClr val="tx1">
                    <a:lumMod val="95000"/>
                    <a:lumOff val="5000"/>
                  </a:schemeClr>
                </a:solidFill>
                <a:latin typeface="Verdana "/>
              </a:rPr>
              <a:t>or </a:t>
            </a:r>
            <a:r>
              <a:rPr lang="en-IN" sz="2900" dirty="0">
                <a:solidFill>
                  <a:schemeClr val="tx1">
                    <a:lumMod val="95000"/>
                    <a:lumOff val="5000"/>
                  </a:schemeClr>
                </a:solidFill>
                <a:latin typeface="Verdana "/>
              </a:rPr>
              <a:t>the </a:t>
            </a:r>
            <a:r>
              <a:rPr lang="en-IN" sz="2900" b="1" dirty="0">
                <a:solidFill>
                  <a:schemeClr val="tx1">
                    <a:lumMod val="95000"/>
                    <a:lumOff val="5000"/>
                  </a:schemeClr>
                </a:solidFill>
                <a:latin typeface="Verdana "/>
              </a:rPr>
              <a:t>Handler mode</a:t>
            </a:r>
            <a:r>
              <a:rPr lang="en-IN" sz="2900" dirty="0">
                <a:solidFill>
                  <a:schemeClr val="tx1">
                    <a:lumMod val="95000"/>
                    <a:lumOff val="5000"/>
                  </a:schemeClr>
                </a:solidFill>
                <a:latin typeface="Verdana "/>
              </a:rPr>
              <a:t>.</a:t>
            </a:r>
          </a:p>
        </p:txBody>
      </p:sp>
    </p:spTree>
    <p:extLst>
      <p:ext uri="{BB962C8B-B14F-4D97-AF65-F5344CB8AC3E}">
        <p14:creationId xmlns:p14="http://schemas.microsoft.com/office/powerpoint/2010/main" val="14526778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3097" y="0"/>
            <a:ext cx="8911687" cy="1280890"/>
          </a:xfrm>
        </p:spPr>
        <p:txBody>
          <a:bodyPr>
            <a:normAutofit/>
          </a:bodyPr>
          <a:lstStyle/>
          <a:p>
            <a:r>
              <a:rPr lang="en-IN" b="1" dirty="0">
                <a:solidFill>
                  <a:srgbClr val="7030A0"/>
                </a:solidFill>
                <a:latin typeface="Verdana "/>
              </a:rPr>
              <a:t>7.3.2.1 Thread Mode</a:t>
            </a:r>
          </a:p>
        </p:txBody>
      </p:sp>
      <p:sp>
        <p:nvSpPr>
          <p:cNvPr id="3" name="Content Placeholder 2"/>
          <p:cNvSpPr>
            <a:spLocks noGrp="1"/>
          </p:cNvSpPr>
          <p:nvPr>
            <p:ph idx="1"/>
          </p:nvPr>
        </p:nvSpPr>
        <p:spPr>
          <a:xfrm>
            <a:off x="1584248" y="1142345"/>
            <a:ext cx="9769882" cy="4882605"/>
          </a:xfrm>
        </p:spPr>
        <p:txBody>
          <a:bodyPr>
            <a:normAutofit fontScale="92500"/>
          </a:bodyPr>
          <a:lstStyle/>
          <a:p>
            <a:pPr marL="363538" indent="-363538" algn="just">
              <a:buFont typeface="Wingdings" panose="05000000000000000000" pitchFamily="2" charset="2"/>
              <a:buChar char="q"/>
            </a:pPr>
            <a:r>
              <a:rPr lang="en-IN" sz="2900" dirty="0" smtClean="0">
                <a:solidFill>
                  <a:schemeClr val="tx1">
                    <a:lumMod val="95000"/>
                    <a:lumOff val="5000"/>
                  </a:schemeClr>
                </a:solidFill>
                <a:latin typeface="Verdana "/>
              </a:rPr>
              <a:t>When </a:t>
            </a:r>
            <a:r>
              <a:rPr lang="en-IN" sz="2900" dirty="0">
                <a:solidFill>
                  <a:schemeClr val="tx1">
                    <a:lumMod val="95000"/>
                    <a:lumOff val="5000"/>
                  </a:schemeClr>
                </a:solidFill>
                <a:latin typeface="Verdana "/>
              </a:rPr>
              <a:t>the processor is powered on, it is in the Thread Mode</a:t>
            </a:r>
          </a:p>
          <a:p>
            <a:pPr marL="363538" indent="-363538" algn="just">
              <a:buFont typeface="Wingdings" panose="05000000000000000000" pitchFamily="2" charset="2"/>
              <a:buChar char="q"/>
            </a:pPr>
            <a:r>
              <a:rPr lang="en-IN" sz="2900" dirty="0">
                <a:solidFill>
                  <a:schemeClr val="tx1">
                    <a:lumMod val="95000"/>
                    <a:lumOff val="5000"/>
                  </a:schemeClr>
                </a:solidFill>
                <a:latin typeface="Verdana "/>
              </a:rPr>
              <a:t> This is the mode, as it is entered on reset and also on return from an interrupt</a:t>
            </a:r>
          </a:p>
          <a:p>
            <a:pPr marL="363538" indent="-363538" algn="just">
              <a:buFont typeface="Wingdings" panose="05000000000000000000" pitchFamily="2" charset="2"/>
              <a:buChar char="q"/>
            </a:pPr>
            <a:r>
              <a:rPr lang="en-IN" sz="2900" dirty="0">
                <a:solidFill>
                  <a:schemeClr val="tx1">
                    <a:lumMod val="95000"/>
                    <a:lumOff val="5000"/>
                  </a:schemeClr>
                </a:solidFill>
                <a:latin typeface="Verdana "/>
              </a:rPr>
              <a:t> There are two stacks defined for the processor:</a:t>
            </a:r>
          </a:p>
          <a:p>
            <a:pPr marL="0" indent="0">
              <a:buNone/>
            </a:pPr>
            <a:r>
              <a:rPr lang="en-IN" dirty="0"/>
              <a:t> </a:t>
            </a:r>
            <a:r>
              <a:rPr lang="en-IN" dirty="0" smtClean="0"/>
              <a:t>       </a:t>
            </a:r>
            <a:r>
              <a:rPr lang="en-IN" sz="3000" b="1" dirty="0">
                <a:solidFill>
                  <a:srgbClr val="C00000"/>
                </a:solidFill>
              </a:rPr>
              <a:t>1. Main Stack</a:t>
            </a:r>
          </a:p>
          <a:p>
            <a:pPr marL="0" indent="0">
              <a:buNone/>
            </a:pPr>
            <a:r>
              <a:rPr lang="en-IN" sz="3000" b="1" dirty="0">
                <a:solidFill>
                  <a:srgbClr val="C00000"/>
                </a:solidFill>
              </a:rPr>
              <a:t>    </a:t>
            </a:r>
            <a:r>
              <a:rPr lang="en-IN" sz="3000" b="1" dirty="0" smtClean="0">
                <a:solidFill>
                  <a:srgbClr val="C00000"/>
                </a:solidFill>
              </a:rPr>
              <a:t>  </a:t>
            </a:r>
            <a:r>
              <a:rPr lang="en-IN" sz="3000" b="1" dirty="0">
                <a:solidFill>
                  <a:srgbClr val="C00000"/>
                </a:solidFill>
              </a:rPr>
              <a:t>2. Process Stack</a:t>
            </a:r>
          </a:p>
          <a:p>
            <a:pPr marL="363538" indent="-363538" algn="just">
              <a:buFont typeface="Wingdings" panose="05000000000000000000" pitchFamily="2" charset="2"/>
              <a:buChar char="q"/>
            </a:pPr>
            <a:r>
              <a:rPr lang="en-IN" sz="2900" dirty="0">
                <a:solidFill>
                  <a:schemeClr val="tx1">
                    <a:lumMod val="95000"/>
                    <a:lumOff val="5000"/>
                  </a:schemeClr>
                </a:solidFill>
                <a:latin typeface="Verdana "/>
              </a:rPr>
              <a:t>In the Thread mode, either of them may be used and a control register can be configured to decide whether the processor should use the main stack or the process stack. </a:t>
            </a:r>
          </a:p>
        </p:txBody>
      </p:sp>
    </p:spTree>
    <p:extLst>
      <p:ext uri="{BB962C8B-B14F-4D97-AF65-F5344CB8AC3E}">
        <p14:creationId xmlns:p14="http://schemas.microsoft.com/office/powerpoint/2010/main" val="17802107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455" y="0"/>
            <a:ext cx="8911687" cy="1280890"/>
          </a:xfrm>
        </p:spPr>
        <p:txBody>
          <a:bodyPr>
            <a:normAutofit/>
          </a:bodyPr>
          <a:lstStyle/>
          <a:p>
            <a:r>
              <a:rPr lang="en-IN" b="1" dirty="0">
                <a:solidFill>
                  <a:srgbClr val="7030A0"/>
                </a:solidFill>
                <a:latin typeface="Verdana "/>
              </a:rPr>
              <a:t>7.3.2.2 Handler mode</a:t>
            </a:r>
          </a:p>
        </p:txBody>
      </p:sp>
      <p:sp>
        <p:nvSpPr>
          <p:cNvPr id="3" name="Content Placeholder 2"/>
          <p:cNvSpPr>
            <a:spLocks noGrp="1"/>
          </p:cNvSpPr>
          <p:nvPr>
            <p:ph idx="1"/>
          </p:nvPr>
        </p:nvSpPr>
        <p:spPr>
          <a:xfrm>
            <a:off x="7227487" y="1970700"/>
            <a:ext cx="4617311" cy="4832871"/>
          </a:xfrm>
        </p:spPr>
        <p:txBody>
          <a:bodyPr/>
          <a:lstStyle/>
          <a:p>
            <a:r>
              <a:rPr lang="en-IN" sz="2900" dirty="0" smtClean="0">
                <a:solidFill>
                  <a:schemeClr val="tx1">
                    <a:lumMod val="95000"/>
                    <a:lumOff val="5000"/>
                  </a:schemeClr>
                </a:solidFill>
                <a:latin typeface="Verdana "/>
              </a:rPr>
              <a:t>This </a:t>
            </a:r>
            <a:r>
              <a:rPr lang="en-IN" sz="2900" dirty="0">
                <a:solidFill>
                  <a:schemeClr val="tx1">
                    <a:lumMod val="95000"/>
                    <a:lumOff val="5000"/>
                  </a:schemeClr>
                </a:solidFill>
                <a:latin typeface="Verdana "/>
              </a:rPr>
              <a:t>is the mode which is entered as a result of an interrupt</a:t>
            </a:r>
          </a:p>
          <a:p>
            <a:r>
              <a:rPr lang="en-IN" sz="2900" dirty="0">
                <a:solidFill>
                  <a:schemeClr val="tx1">
                    <a:lumMod val="95000"/>
                    <a:lumOff val="5000"/>
                  </a:schemeClr>
                </a:solidFill>
                <a:latin typeface="Verdana "/>
              </a:rPr>
              <a:t> figure shows the usage of these modes</a:t>
            </a:r>
          </a:p>
          <a:p>
            <a:r>
              <a:rPr lang="en-IN" dirty="0"/>
              <a:t> </a:t>
            </a:r>
            <a:r>
              <a:rPr lang="en-IN" sz="2900" dirty="0">
                <a:solidFill>
                  <a:schemeClr val="tx1">
                    <a:lumMod val="95000"/>
                    <a:lumOff val="5000"/>
                  </a:schemeClr>
                </a:solidFill>
                <a:latin typeface="Verdana "/>
              </a:rPr>
              <a:t>It is the </a:t>
            </a:r>
            <a:r>
              <a:rPr lang="en-IN" sz="3600" b="1" dirty="0" smtClean="0">
                <a:solidFill>
                  <a:srgbClr val="C00000"/>
                </a:solidFill>
              </a:rPr>
              <a:t>main stack</a:t>
            </a:r>
            <a:r>
              <a:rPr lang="en-IN" dirty="0" smtClean="0"/>
              <a:t>, </a:t>
            </a:r>
            <a:r>
              <a:rPr lang="en-IN" sz="2900" dirty="0">
                <a:solidFill>
                  <a:schemeClr val="tx1">
                    <a:lumMod val="95000"/>
                    <a:lumOff val="5000"/>
                  </a:schemeClr>
                </a:solidFill>
                <a:latin typeface="Verdana "/>
              </a:rPr>
              <a:t>that is used in this mode</a:t>
            </a:r>
          </a:p>
          <a:p>
            <a:pPr marL="0" indent="0">
              <a:buNone/>
            </a:pPr>
            <a:endParaRPr lang="en-IN" dirty="0" smtClean="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111" y="2137614"/>
            <a:ext cx="5747657" cy="44990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8901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6432" y="3559595"/>
            <a:ext cx="9351283" cy="1596573"/>
          </a:xfrm>
        </p:spPr>
        <p:txBody>
          <a:bodyPr>
            <a:normAutofit fontScale="92500"/>
          </a:bodyPr>
          <a:lstStyle/>
          <a:p>
            <a:pPr marL="0" indent="0">
              <a:buNone/>
            </a:pPr>
            <a:r>
              <a:rPr lang="en-IN" sz="2900" dirty="0">
                <a:solidFill>
                  <a:schemeClr val="tx1">
                    <a:lumMod val="95000"/>
                    <a:lumOff val="5000"/>
                  </a:schemeClr>
                </a:solidFill>
                <a:latin typeface="Verdana "/>
              </a:rPr>
              <a:t>If the processor has an OS running in it, then the thread mode will pertain to user tasks and the handler mode will be allocated for OS tasks as well as for interrupt handling</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5" y="859971"/>
            <a:ext cx="11034939" cy="2568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38258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267" y="116110"/>
            <a:ext cx="8911687" cy="1280890"/>
          </a:xfrm>
        </p:spPr>
        <p:txBody>
          <a:bodyPr>
            <a:normAutofit/>
          </a:bodyPr>
          <a:lstStyle/>
          <a:p>
            <a:r>
              <a:rPr lang="en-IN" b="1" dirty="0">
                <a:solidFill>
                  <a:srgbClr val="7030A0"/>
                </a:solidFill>
                <a:latin typeface="Verdana "/>
              </a:rPr>
              <a:t>7.4 Programming model</a:t>
            </a:r>
          </a:p>
        </p:txBody>
      </p:sp>
      <p:sp>
        <p:nvSpPr>
          <p:cNvPr id="3" name="Content Placeholder 2"/>
          <p:cNvSpPr>
            <a:spLocks noGrp="1"/>
          </p:cNvSpPr>
          <p:nvPr>
            <p:ph idx="1"/>
          </p:nvPr>
        </p:nvSpPr>
        <p:spPr>
          <a:xfrm>
            <a:off x="2218918" y="1397000"/>
            <a:ext cx="9450568" cy="4432663"/>
          </a:xfrm>
        </p:spPr>
        <p:txBody>
          <a:bodyPr/>
          <a:lstStyle/>
          <a:p>
            <a:pPr>
              <a:buFont typeface="Wingdings" panose="05000000000000000000" pitchFamily="2" charset="2"/>
              <a:buChar char="Ø"/>
            </a:pPr>
            <a:r>
              <a:rPr lang="en-IN" sz="2700" dirty="0" smtClean="0">
                <a:solidFill>
                  <a:schemeClr val="tx1">
                    <a:lumMod val="95000"/>
                    <a:lumOff val="5000"/>
                  </a:schemeClr>
                </a:solidFill>
                <a:latin typeface="Verdana "/>
              </a:rPr>
              <a:t>In </a:t>
            </a:r>
            <a:r>
              <a:rPr lang="en-IN" sz="2700" dirty="0">
                <a:solidFill>
                  <a:schemeClr val="tx1">
                    <a:lumMod val="95000"/>
                    <a:lumOff val="5000"/>
                  </a:schemeClr>
                </a:solidFill>
                <a:latin typeface="Verdana "/>
              </a:rPr>
              <a:t>an Assembly Language or a Complier design programming, the programmer sees the processor as,</a:t>
            </a:r>
          </a:p>
          <a:p>
            <a:pPr>
              <a:buFont typeface="Wingdings" panose="05000000000000000000" pitchFamily="2" charset="2"/>
              <a:buChar char="Ø"/>
            </a:pPr>
            <a:r>
              <a:rPr lang="en-IN" sz="2700" dirty="0">
                <a:solidFill>
                  <a:schemeClr val="tx1">
                    <a:lumMod val="95000"/>
                    <a:lumOff val="5000"/>
                  </a:schemeClr>
                </a:solidFill>
                <a:latin typeface="Verdana "/>
              </a:rPr>
              <a:t> A set of Registers</a:t>
            </a:r>
          </a:p>
          <a:p>
            <a:pPr>
              <a:buFont typeface="Wingdings" panose="05000000000000000000" pitchFamily="2" charset="2"/>
              <a:buChar char="Ø"/>
            </a:pPr>
            <a:r>
              <a:rPr lang="en-IN" sz="2700" dirty="0">
                <a:solidFill>
                  <a:schemeClr val="tx1">
                    <a:lumMod val="95000"/>
                    <a:lumOff val="5000"/>
                  </a:schemeClr>
                </a:solidFill>
                <a:latin typeface="Verdana "/>
              </a:rPr>
              <a:t>A set of Instructions</a:t>
            </a:r>
          </a:p>
        </p:txBody>
      </p:sp>
    </p:spTree>
    <p:extLst>
      <p:ext uri="{BB962C8B-B14F-4D97-AF65-F5344CB8AC3E}">
        <p14:creationId xmlns:p14="http://schemas.microsoft.com/office/powerpoint/2010/main" val="38606999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3319" y="1148"/>
            <a:ext cx="9784080" cy="1508760"/>
          </a:xfrm>
        </p:spPr>
        <p:txBody>
          <a:bodyPr>
            <a:normAutofit/>
          </a:bodyPr>
          <a:lstStyle/>
          <a:p>
            <a:r>
              <a:rPr lang="en-IN" b="1" dirty="0">
                <a:solidFill>
                  <a:srgbClr val="7030A0"/>
                </a:solidFill>
                <a:latin typeface="Verdana "/>
              </a:rPr>
              <a:t>7.4.1 Register Set</a:t>
            </a:r>
          </a:p>
        </p:txBody>
      </p:sp>
      <p:sp>
        <p:nvSpPr>
          <p:cNvPr id="5" name="Content Placeholder 2"/>
          <p:cNvSpPr>
            <a:spLocks noGrp="1"/>
          </p:cNvSpPr>
          <p:nvPr>
            <p:ph idx="1"/>
          </p:nvPr>
        </p:nvSpPr>
        <p:spPr>
          <a:xfrm>
            <a:off x="0" y="994651"/>
            <a:ext cx="6458857" cy="5065064"/>
          </a:xfrm>
        </p:spPr>
        <p:txBody>
          <a:bodyPr>
            <a:noAutofit/>
          </a:bodyPr>
          <a:lstStyle/>
          <a:p>
            <a:pPr>
              <a:buFont typeface="Wingdings" panose="05000000000000000000" pitchFamily="2" charset="2"/>
              <a:buChar char="Ø"/>
            </a:pPr>
            <a:r>
              <a:rPr lang="en-IN" sz="2700" dirty="0">
                <a:solidFill>
                  <a:schemeClr val="tx1">
                    <a:lumMod val="95000"/>
                    <a:lumOff val="5000"/>
                  </a:schemeClr>
                </a:solidFill>
                <a:latin typeface="Verdana "/>
              </a:rPr>
              <a:t>Figure shows the registers of the core</a:t>
            </a:r>
          </a:p>
          <a:p>
            <a:pPr>
              <a:buFont typeface="Wingdings" panose="05000000000000000000" pitchFamily="2" charset="2"/>
              <a:buChar char="Ø"/>
            </a:pPr>
            <a:r>
              <a:rPr lang="en-IN" sz="2700" dirty="0">
                <a:solidFill>
                  <a:schemeClr val="tx1">
                    <a:lumMod val="95000"/>
                    <a:lumOff val="5000"/>
                  </a:schemeClr>
                </a:solidFill>
                <a:latin typeface="Verdana "/>
              </a:rPr>
              <a:t> General purpose registers are all 32 bit and are named R0 to R12</a:t>
            </a:r>
          </a:p>
          <a:p>
            <a:pPr>
              <a:buFont typeface="Wingdings" panose="05000000000000000000" pitchFamily="2" charset="2"/>
              <a:buChar char="Ø"/>
            </a:pPr>
            <a:r>
              <a:rPr lang="en-IN" sz="2700" dirty="0">
                <a:solidFill>
                  <a:schemeClr val="tx1">
                    <a:lumMod val="95000"/>
                    <a:lumOff val="5000"/>
                  </a:schemeClr>
                </a:solidFill>
                <a:latin typeface="Verdana "/>
              </a:rPr>
              <a:t> They are used for temporary data storage</a:t>
            </a:r>
          </a:p>
          <a:p>
            <a:pPr>
              <a:buFont typeface="Wingdings" panose="05000000000000000000" pitchFamily="2" charset="2"/>
              <a:buChar char="Ø"/>
            </a:pPr>
            <a:r>
              <a:rPr lang="en-IN" sz="2700" dirty="0">
                <a:solidFill>
                  <a:schemeClr val="tx1">
                    <a:lumMod val="95000"/>
                    <a:lumOff val="5000"/>
                  </a:schemeClr>
                </a:solidFill>
                <a:latin typeface="Verdana "/>
              </a:rPr>
              <a:t> For holding operands during computations</a:t>
            </a:r>
          </a:p>
          <a:p>
            <a:pPr>
              <a:buFont typeface="Wingdings" panose="05000000000000000000" pitchFamily="2" charset="2"/>
              <a:buChar char="Ø"/>
            </a:pPr>
            <a:r>
              <a:rPr lang="en-IN" sz="2700" dirty="0">
                <a:solidFill>
                  <a:schemeClr val="tx1">
                    <a:lumMod val="95000"/>
                    <a:lumOff val="5000"/>
                  </a:schemeClr>
                </a:solidFill>
                <a:latin typeface="Verdana "/>
              </a:rPr>
              <a:t> Many instructions can use only registers R0 to R7 and are called low registers</a:t>
            </a:r>
          </a:p>
          <a:p>
            <a:pPr>
              <a:buFont typeface="Wingdings" panose="05000000000000000000" pitchFamily="2" charset="2"/>
              <a:buChar char="Ø"/>
            </a:pPr>
            <a:r>
              <a:rPr lang="en-IN" sz="2700" dirty="0">
                <a:solidFill>
                  <a:schemeClr val="tx1">
                    <a:lumMod val="95000"/>
                    <a:lumOff val="5000"/>
                  </a:schemeClr>
                </a:solidFill>
                <a:latin typeface="Verdana "/>
              </a:rPr>
              <a:t> There are other instructions where all registers can use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8856" y="853137"/>
            <a:ext cx="5733143" cy="6004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27134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719" y="110005"/>
            <a:ext cx="11598680" cy="1508760"/>
          </a:xfrm>
        </p:spPr>
        <p:txBody>
          <a:bodyPr>
            <a:normAutofit fontScale="90000"/>
          </a:bodyPr>
          <a:lstStyle/>
          <a:p>
            <a:r>
              <a:rPr lang="en-IN" b="1" dirty="0">
                <a:solidFill>
                  <a:srgbClr val="7030A0"/>
                </a:solidFill>
                <a:latin typeface="Verdana "/>
              </a:rPr>
              <a:t>7.4.2 special registers </a:t>
            </a:r>
            <a:r>
              <a:rPr lang="en-IN" b="1" dirty="0" smtClean="0">
                <a:solidFill>
                  <a:srgbClr val="7030A0"/>
                </a:solidFill>
                <a:latin typeface="Verdana "/>
              </a:rPr>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r>
              <a:rPr lang="en-IN" b="1" dirty="0" smtClean="0">
                <a:solidFill>
                  <a:srgbClr val="C00000"/>
                </a:solidFill>
                <a:latin typeface="Verdana "/>
              </a:rPr>
              <a:t>1. Stack pointer (R13)  </a:t>
            </a:r>
            <a:endParaRPr lang="en-IN" b="1" dirty="0">
              <a:solidFill>
                <a:srgbClr val="C00000"/>
              </a:solidFill>
              <a:latin typeface="Verdana "/>
            </a:endParaRPr>
          </a:p>
        </p:txBody>
      </p:sp>
      <p:sp>
        <p:nvSpPr>
          <p:cNvPr id="3" name="Content Placeholder 2"/>
          <p:cNvSpPr>
            <a:spLocks noGrp="1"/>
          </p:cNvSpPr>
          <p:nvPr>
            <p:ph idx="1"/>
          </p:nvPr>
        </p:nvSpPr>
        <p:spPr>
          <a:xfrm>
            <a:off x="2088290" y="1822994"/>
            <a:ext cx="9871482" cy="4766492"/>
          </a:xfrm>
        </p:spPr>
        <p:txBody>
          <a:bodyPr>
            <a:normAutofit lnSpcReduction="10000"/>
          </a:bodyPr>
          <a:lstStyle/>
          <a:p>
            <a:pPr>
              <a:buFont typeface="Wingdings" panose="05000000000000000000" pitchFamily="2" charset="2"/>
              <a:buChar char="v"/>
            </a:pPr>
            <a:r>
              <a:rPr lang="en-IN" sz="2700" dirty="0">
                <a:solidFill>
                  <a:schemeClr val="tx1">
                    <a:lumMod val="95000"/>
                    <a:lumOff val="5000"/>
                  </a:schemeClr>
                </a:solidFill>
                <a:latin typeface="Verdana "/>
              </a:rPr>
              <a:t>Processor uses a descending stack</a:t>
            </a:r>
          </a:p>
          <a:p>
            <a:pPr>
              <a:buFont typeface="Wingdings" panose="05000000000000000000" pitchFamily="2" charset="2"/>
              <a:buChar char="v"/>
            </a:pPr>
            <a:r>
              <a:rPr lang="en-IN" sz="2700" dirty="0">
                <a:solidFill>
                  <a:schemeClr val="tx1">
                    <a:lumMod val="95000"/>
                    <a:lumOff val="5000"/>
                  </a:schemeClr>
                </a:solidFill>
                <a:latin typeface="Verdana "/>
              </a:rPr>
              <a:t> Stack pointer which is also called R13 consists of 2 entities:</a:t>
            </a:r>
          </a:p>
          <a:p>
            <a:pPr>
              <a:buFont typeface="Wingdings" panose="05000000000000000000" pitchFamily="2" charset="2"/>
              <a:buChar char="v"/>
            </a:pPr>
            <a:r>
              <a:rPr lang="en-IN" sz="2700" dirty="0">
                <a:solidFill>
                  <a:schemeClr val="tx1">
                    <a:lumMod val="95000"/>
                    <a:lumOff val="5000"/>
                  </a:schemeClr>
                </a:solidFill>
                <a:latin typeface="Verdana "/>
              </a:rPr>
              <a:t> MSP (Main Stack Pointer)</a:t>
            </a:r>
          </a:p>
          <a:p>
            <a:pPr>
              <a:buFont typeface="Wingdings" panose="05000000000000000000" pitchFamily="2" charset="2"/>
              <a:buChar char="v"/>
            </a:pPr>
            <a:r>
              <a:rPr lang="en-IN" sz="2700" dirty="0">
                <a:solidFill>
                  <a:schemeClr val="tx1">
                    <a:lumMod val="95000"/>
                    <a:lumOff val="5000"/>
                  </a:schemeClr>
                </a:solidFill>
                <a:latin typeface="Verdana "/>
              </a:rPr>
              <a:t> PSP (Processor Stack Pointer)</a:t>
            </a:r>
          </a:p>
          <a:p>
            <a:pPr>
              <a:buFont typeface="Wingdings" panose="05000000000000000000" pitchFamily="2" charset="2"/>
              <a:buChar char="v"/>
            </a:pPr>
            <a:r>
              <a:rPr lang="en-IN" sz="2700" dirty="0">
                <a:solidFill>
                  <a:schemeClr val="tx1">
                    <a:lumMod val="95000"/>
                    <a:lumOff val="5000"/>
                  </a:schemeClr>
                </a:solidFill>
                <a:latin typeface="Verdana "/>
              </a:rPr>
              <a:t> MSP is a default stack pointer, it is also the stack pointer used in handing interrupt handlers</a:t>
            </a:r>
          </a:p>
          <a:p>
            <a:pPr>
              <a:buFont typeface="Wingdings" panose="05000000000000000000" pitchFamily="2" charset="2"/>
              <a:buChar char="v"/>
            </a:pPr>
            <a:r>
              <a:rPr lang="en-IN" sz="2700" dirty="0">
                <a:solidFill>
                  <a:schemeClr val="tx1">
                    <a:lumMod val="95000"/>
                    <a:lumOff val="5000"/>
                  </a:schemeClr>
                </a:solidFill>
                <a:latin typeface="Verdana "/>
              </a:rPr>
              <a:t> Few applications need only one stack pointer, so MSP will be used</a:t>
            </a:r>
          </a:p>
          <a:p>
            <a:pPr>
              <a:buFont typeface="Wingdings" panose="05000000000000000000" pitchFamily="2" charset="2"/>
              <a:buChar char="v"/>
            </a:pPr>
            <a:r>
              <a:rPr lang="en-IN" sz="2700" dirty="0">
                <a:solidFill>
                  <a:schemeClr val="tx1">
                    <a:lumMod val="95000"/>
                    <a:lumOff val="5000"/>
                  </a:schemeClr>
                </a:solidFill>
                <a:latin typeface="Verdana "/>
              </a:rPr>
              <a:t> System with OS takes use of MSP for OS tasks and PSP for the use of applications</a:t>
            </a:r>
          </a:p>
        </p:txBody>
      </p:sp>
    </p:spTree>
    <p:extLst>
      <p:ext uri="{BB962C8B-B14F-4D97-AF65-F5344CB8AC3E}">
        <p14:creationId xmlns:p14="http://schemas.microsoft.com/office/powerpoint/2010/main" val="42808490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719" y="0"/>
            <a:ext cx="11598680" cy="1508760"/>
          </a:xfrm>
        </p:spPr>
        <p:txBody>
          <a:bodyPr>
            <a:normAutofit fontScale="90000"/>
          </a:bodyPr>
          <a:lstStyle/>
          <a:p>
            <a:r>
              <a:rPr lang="en-IN" b="1" dirty="0">
                <a:solidFill>
                  <a:srgbClr val="7030A0"/>
                </a:solidFill>
                <a:latin typeface="Verdana "/>
              </a:rPr>
              <a:t>7.4.2 special registers </a:t>
            </a:r>
            <a:r>
              <a:rPr lang="en-IN" b="1" dirty="0" smtClean="0">
                <a:solidFill>
                  <a:srgbClr val="7030A0"/>
                </a:solidFill>
                <a:latin typeface="Verdana "/>
              </a:rPr>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r>
              <a:rPr lang="en-IN" b="1" dirty="0">
                <a:solidFill>
                  <a:srgbClr val="C00000"/>
                </a:solidFill>
                <a:latin typeface="Verdana "/>
              </a:rPr>
              <a:t>2. L</a:t>
            </a:r>
            <a:r>
              <a:rPr lang="en-IN" b="1" dirty="0" smtClean="0">
                <a:solidFill>
                  <a:srgbClr val="C00000"/>
                </a:solidFill>
                <a:latin typeface="Verdana "/>
              </a:rPr>
              <a:t>ink register (R14)  </a:t>
            </a:r>
            <a:endParaRPr lang="en-IN" b="1" dirty="0">
              <a:solidFill>
                <a:srgbClr val="C00000"/>
              </a:solidFill>
              <a:latin typeface="Verdana "/>
            </a:endParaRPr>
          </a:p>
        </p:txBody>
      </p:sp>
      <p:sp>
        <p:nvSpPr>
          <p:cNvPr id="3" name="Content Placeholder 2"/>
          <p:cNvSpPr>
            <a:spLocks noGrp="1"/>
          </p:cNvSpPr>
          <p:nvPr>
            <p:ph idx="1"/>
          </p:nvPr>
        </p:nvSpPr>
        <p:spPr>
          <a:xfrm>
            <a:off x="2510973" y="1508760"/>
            <a:ext cx="9681027" cy="5158376"/>
          </a:xfrm>
        </p:spPr>
        <p:txBody>
          <a:bodyPr>
            <a:normAutofit fontScale="92500" lnSpcReduction="20000"/>
          </a:bodyPr>
          <a:lstStyle/>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As soon as function is called or an interrupt occurs, control branches to a new location</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Address to which to return to, is the current value of PC, is saved</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Register in which the return address is stored is the Link Register</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At the end of function, the contents of the Link Register can be copied back to PC</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Such a register increases speed because when functions are called, the return address is available in a processor register, rather to a stack.</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Advantage is because registers are within CPU, but memory is outside it and memory access is slower.</a:t>
            </a:r>
          </a:p>
        </p:txBody>
      </p:sp>
    </p:spTree>
    <p:extLst>
      <p:ext uri="{BB962C8B-B14F-4D97-AF65-F5344CB8AC3E}">
        <p14:creationId xmlns:p14="http://schemas.microsoft.com/office/powerpoint/2010/main" val="36018046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320" y="124519"/>
            <a:ext cx="11598680" cy="1508760"/>
          </a:xfrm>
        </p:spPr>
        <p:txBody>
          <a:bodyPr>
            <a:normAutofit fontScale="90000"/>
          </a:bodyPr>
          <a:lstStyle/>
          <a:p>
            <a:r>
              <a:rPr lang="en-IN" b="1" dirty="0">
                <a:solidFill>
                  <a:srgbClr val="7030A0"/>
                </a:solidFill>
                <a:latin typeface="Verdana "/>
              </a:rPr>
              <a:t>7.4.2 special registers </a:t>
            </a:r>
            <a:r>
              <a:rPr lang="en-IN" b="1" dirty="0" smtClean="0">
                <a:solidFill>
                  <a:srgbClr val="7030A0"/>
                </a:solidFill>
                <a:latin typeface="Verdana "/>
              </a:rPr>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r>
              <a:rPr lang="en-IN" b="1" dirty="0" smtClean="0">
                <a:solidFill>
                  <a:srgbClr val="C00000"/>
                </a:solidFill>
                <a:latin typeface="Verdana "/>
              </a:rPr>
              <a:t>3. </a:t>
            </a:r>
            <a:r>
              <a:rPr lang="en-IN" b="1" dirty="0">
                <a:solidFill>
                  <a:srgbClr val="C00000"/>
                </a:solidFill>
                <a:latin typeface="Verdana "/>
              </a:rPr>
              <a:t>P</a:t>
            </a:r>
            <a:r>
              <a:rPr lang="en-IN" b="1" dirty="0" smtClean="0">
                <a:solidFill>
                  <a:srgbClr val="C00000"/>
                </a:solidFill>
                <a:latin typeface="Verdana "/>
              </a:rPr>
              <a:t>rogram counter (R15)  </a:t>
            </a:r>
            <a:endParaRPr lang="en-IN" b="1" dirty="0">
              <a:solidFill>
                <a:srgbClr val="C00000"/>
              </a:solidFill>
              <a:latin typeface="Verdana "/>
            </a:endParaRPr>
          </a:p>
        </p:txBody>
      </p:sp>
      <p:sp>
        <p:nvSpPr>
          <p:cNvPr id="3" name="Content Placeholder 2"/>
          <p:cNvSpPr>
            <a:spLocks noGrp="1"/>
          </p:cNvSpPr>
          <p:nvPr>
            <p:ph idx="1"/>
          </p:nvPr>
        </p:nvSpPr>
        <p:spPr>
          <a:xfrm>
            <a:off x="2336801" y="1837510"/>
            <a:ext cx="9492342" cy="5158376"/>
          </a:xfrm>
        </p:spPr>
        <p:txBody>
          <a:bodyPr>
            <a:normAutofit/>
          </a:bodyPr>
          <a:lstStyle/>
          <a:p>
            <a:pPr>
              <a:lnSpc>
                <a:spcPct val="100000"/>
              </a:lnSpc>
              <a:buFont typeface="Wingdings" panose="05000000000000000000" pitchFamily="2" charset="2"/>
              <a:buChar char="v"/>
            </a:pPr>
            <a:r>
              <a:rPr lang="en-IN" sz="3000" dirty="0" smtClean="0">
                <a:solidFill>
                  <a:srgbClr val="FFFF00"/>
                </a:solidFill>
              </a:rPr>
              <a:t> </a:t>
            </a:r>
            <a:r>
              <a:rPr lang="en-IN" sz="2500" dirty="0">
                <a:solidFill>
                  <a:schemeClr val="tx1">
                    <a:lumMod val="95000"/>
                    <a:lumOff val="5000"/>
                  </a:schemeClr>
                </a:solidFill>
                <a:latin typeface="Verdana "/>
              </a:rPr>
              <a:t>This register sequences the flow of instruction execution</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It always contains the address of the next instruction to be executed</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It is a register which is a writable as well</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Means there are ways by which can cause branching by simply writing an address into the program counter</a:t>
            </a:r>
          </a:p>
        </p:txBody>
      </p:sp>
    </p:spTree>
    <p:extLst>
      <p:ext uri="{BB962C8B-B14F-4D97-AF65-F5344CB8AC3E}">
        <p14:creationId xmlns:p14="http://schemas.microsoft.com/office/powerpoint/2010/main" val="283256093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6176" y="110004"/>
            <a:ext cx="11598680" cy="1508760"/>
          </a:xfrm>
        </p:spPr>
        <p:txBody>
          <a:bodyPr>
            <a:normAutofit fontScale="90000"/>
          </a:bodyPr>
          <a:lstStyle/>
          <a:p>
            <a:r>
              <a:rPr lang="en-IN" b="1" dirty="0">
                <a:solidFill>
                  <a:srgbClr val="7030A0"/>
                </a:solidFill>
                <a:latin typeface="Verdana "/>
              </a:rPr>
              <a:t>7.4.2 special registers </a:t>
            </a:r>
            <a:r>
              <a:rPr lang="en-IN" b="1" dirty="0" smtClean="0">
                <a:solidFill>
                  <a:srgbClr val="7030A0"/>
                </a:solidFill>
                <a:latin typeface="Verdana "/>
              </a:rPr>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br>
              <a:rPr lang="en-IN" b="1" dirty="0" smtClean="0">
                <a:solidFill>
                  <a:srgbClr val="7030A0"/>
                </a:solidFill>
                <a:latin typeface="Verdana "/>
              </a:rPr>
            </a:br>
            <a:r>
              <a:rPr lang="en-IN" b="1" dirty="0">
                <a:solidFill>
                  <a:srgbClr val="7030A0"/>
                </a:solidFill>
                <a:latin typeface="Verdana "/>
              </a:rPr>
              <a:t> </a:t>
            </a:r>
            <a:r>
              <a:rPr lang="en-IN" b="1" dirty="0" smtClean="0">
                <a:solidFill>
                  <a:srgbClr val="7030A0"/>
                </a:solidFill>
                <a:latin typeface="Verdana "/>
              </a:rPr>
              <a:t>  </a:t>
            </a:r>
            <a:r>
              <a:rPr lang="en-IN" b="1" dirty="0" smtClean="0">
                <a:solidFill>
                  <a:srgbClr val="C00000"/>
                </a:solidFill>
                <a:latin typeface="Verdana "/>
              </a:rPr>
              <a:t>4. </a:t>
            </a:r>
            <a:r>
              <a:rPr lang="en-IN" b="1" dirty="0">
                <a:solidFill>
                  <a:srgbClr val="C00000"/>
                </a:solidFill>
                <a:latin typeface="Verdana "/>
              </a:rPr>
              <a:t>P</a:t>
            </a:r>
            <a:r>
              <a:rPr lang="en-IN" b="1" dirty="0" smtClean="0">
                <a:solidFill>
                  <a:srgbClr val="C00000"/>
                </a:solidFill>
                <a:latin typeface="Verdana "/>
              </a:rPr>
              <a:t>rogram status register (PSR)  </a:t>
            </a:r>
            <a:endParaRPr lang="en-IN" b="1" dirty="0">
              <a:solidFill>
                <a:srgbClr val="C00000"/>
              </a:solidFill>
              <a:latin typeface="Verdana "/>
            </a:endParaRPr>
          </a:p>
        </p:txBody>
      </p:sp>
      <p:sp>
        <p:nvSpPr>
          <p:cNvPr id="3" name="Content Placeholder 2"/>
          <p:cNvSpPr>
            <a:spLocks noGrp="1"/>
          </p:cNvSpPr>
          <p:nvPr>
            <p:ph idx="1"/>
          </p:nvPr>
        </p:nvSpPr>
        <p:spPr>
          <a:xfrm>
            <a:off x="1669144" y="2098767"/>
            <a:ext cx="9521370" cy="3706947"/>
          </a:xfrm>
        </p:spPr>
        <p:txBody>
          <a:bodyPr>
            <a:normAutofit/>
          </a:bodyPr>
          <a:lstStyle/>
          <a:p>
            <a:pPr>
              <a:lnSpc>
                <a:spcPct val="100000"/>
              </a:lnSpc>
              <a:buFont typeface="Wingdings" panose="05000000000000000000" pitchFamily="2" charset="2"/>
              <a:buChar char="v"/>
            </a:pPr>
            <a:r>
              <a:rPr lang="en-IN" sz="3000" dirty="0" smtClean="0">
                <a:solidFill>
                  <a:srgbClr val="FFFF00"/>
                </a:solidFill>
              </a:rPr>
              <a:t> </a:t>
            </a:r>
            <a:r>
              <a:rPr lang="en-IN" sz="2500" dirty="0">
                <a:solidFill>
                  <a:schemeClr val="tx1">
                    <a:lumMod val="95000"/>
                    <a:lumOff val="5000"/>
                  </a:schemeClr>
                </a:solidFill>
                <a:latin typeface="Verdana "/>
              </a:rPr>
              <a:t>This register holds various kinds of status information</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It is a 32-bit register which holds the status information in different bit fields, and combines three registers which are:</a:t>
            </a:r>
          </a:p>
          <a:p>
            <a:pPr lvl="2">
              <a:buFont typeface="Wingdings" panose="05000000000000000000" pitchFamily="2" charset="2"/>
              <a:buChar char="§"/>
            </a:pPr>
            <a:r>
              <a:rPr lang="en-IN" sz="2100" dirty="0">
                <a:solidFill>
                  <a:schemeClr val="tx1">
                    <a:lumMod val="95000"/>
                    <a:lumOff val="5000"/>
                  </a:schemeClr>
                </a:solidFill>
                <a:latin typeface="Verdana "/>
              </a:rPr>
              <a:t>     </a:t>
            </a:r>
            <a:r>
              <a:rPr lang="en-IN" sz="2100" dirty="0" smtClean="0">
                <a:solidFill>
                  <a:schemeClr val="tx1">
                    <a:lumMod val="95000"/>
                    <a:lumOff val="5000"/>
                  </a:schemeClr>
                </a:solidFill>
                <a:latin typeface="Verdana "/>
              </a:rPr>
              <a:t>Application </a:t>
            </a:r>
            <a:r>
              <a:rPr lang="en-IN" sz="2100" dirty="0">
                <a:solidFill>
                  <a:schemeClr val="tx1">
                    <a:lumMod val="95000"/>
                    <a:lumOff val="5000"/>
                  </a:schemeClr>
                </a:solidFill>
                <a:latin typeface="Verdana "/>
              </a:rPr>
              <a:t>Program Status Register (APSR)</a:t>
            </a:r>
          </a:p>
          <a:p>
            <a:pPr lvl="2">
              <a:buFont typeface="Wingdings" panose="05000000000000000000" pitchFamily="2" charset="2"/>
              <a:buChar char="§"/>
            </a:pPr>
            <a:r>
              <a:rPr lang="en-IN" sz="2100" dirty="0">
                <a:solidFill>
                  <a:schemeClr val="tx1">
                    <a:lumMod val="95000"/>
                    <a:lumOff val="5000"/>
                  </a:schemeClr>
                </a:solidFill>
                <a:latin typeface="Verdana "/>
              </a:rPr>
              <a:t>     </a:t>
            </a:r>
            <a:r>
              <a:rPr lang="en-IN" sz="2100" dirty="0" smtClean="0">
                <a:solidFill>
                  <a:schemeClr val="tx1">
                    <a:lumMod val="95000"/>
                    <a:lumOff val="5000"/>
                  </a:schemeClr>
                </a:solidFill>
                <a:latin typeface="Verdana "/>
              </a:rPr>
              <a:t>Interrupt </a:t>
            </a:r>
            <a:r>
              <a:rPr lang="en-IN" sz="2100" dirty="0">
                <a:solidFill>
                  <a:schemeClr val="tx1">
                    <a:lumMod val="95000"/>
                    <a:lumOff val="5000"/>
                  </a:schemeClr>
                </a:solidFill>
                <a:latin typeface="Verdana "/>
              </a:rPr>
              <a:t>Program Status Register (IPSR)</a:t>
            </a:r>
          </a:p>
          <a:p>
            <a:pPr lvl="2">
              <a:buFont typeface="Wingdings" panose="05000000000000000000" pitchFamily="2" charset="2"/>
              <a:buChar char="§"/>
            </a:pPr>
            <a:r>
              <a:rPr lang="en-IN" sz="2100" dirty="0">
                <a:solidFill>
                  <a:schemeClr val="tx1">
                    <a:lumMod val="95000"/>
                    <a:lumOff val="5000"/>
                  </a:schemeClr>
                </a:solidFill>
                <a:latin typeface="Verdana "/>
              </a:rPr>
              <a:t>     </a:t>
            </a:r>
            <a:r>
              <a:rPr lang="en-IN" sz="2100" dirty="0" smtClean="0">
                <a:solidFill>
                  <a:schemeClr val="tx1">
                    <a:lumMod val="95000"/>
                    <a:lumOff val="5000"/>
                  </a:schemeClr>
                </a:solidFill>
                <a:latin typeface="Verdana "/>
              </a:rPr>
              <a:t>Execution </a:t>
            </a:r>
            <a:r>
              <a:rPr lang="en-IN" sz="2100" dirty="0">
                <a:solidFill>
                  <a:schemeClr val="tx1">
                    <a:lumMod val="95000"/>
                    <a:lumOff val="5000"/>
                  </a:schemeClr>
                </a:solidFill>
                <a:latin typeface="Verdana "/>
              </a:rPr>
              <a:t>Program Status Register (EPSR) </a:t>
            </a:r>
          </a:p>
        </p:txBody>
      </p:sp>
    </p:spTree>
    <p:extLst>
      <p:ext uri="{BB962C8B-B14F-4D97-AF65-F5344CB8AC3E}">
        <p14:creationId xmlns:p14="http://schemas.microsoft.com/office/powerpoint/2010/main" val="173470151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942" y="203200"/>
            <a:ext cx="10883082" cy="6516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45835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8290" y="1155338"/>
            <a:ext cx="9581195" cy="4577806"/>
          </a:xfrm>
        </p:spPr>
        <p:txBody>
          <a:bodyPr/>
          <a:lstStyle/>
          <a:p>
            <a:pPr>
              <a:lnSpc>
                <a:spcPct val="100000"/>
              </a:lnSpc>
              <a:buFont typeface="Wingdings" panose="05000000000000000000" pitchFamily="2" charset="2"/>
              <a:buChar char="v"/>
            </a:pPr>
            <a:r>
              <a:rPr lang="en-IN" sz="2500" dirty="0" smtClean="0">
                <a:solidFill>
                  <a:schemeClr val="tx1">
                    <a:lumMod val="95000"/>
                    <a:lumOff val="5000"/>
                  </a:schemeClr>
                </a:solidFill>
                <a:latin typeface="Verdana "/>
              </a:rPr>
              <a:t>The </a:t>
            </a:r>
            <a:r>
              <a:rPr lang="en-IN" sz="2500" dirty="0">
                <a:solidFill>
                  <a:schemeClr val="tx1">
                    <a:lumMod val="95000"/>
                    <a:lumOff val="5000"/>
                  </a:schemeClr>
                </a:solidFill>
                <a:latin typeface="Verdana "/>
              </a:rPr>
              <a:t>status flag N, Z, C, V are in the upper four bits of APSR</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The lower six bits of the IPSR are for the exception/interrupt number </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a:t>
            </a:r>
            <a:r>
              <a:rPr lang="en-IN" sz="2500" dirty="0" smtClean="0">
                <a:solidFill>
                  <a:schemeClr val="tx1">
                    <a:lumMod val="95000"/>
                    <a:lumOff val="5000"/>
                  </a:schemeClr>
                </a:solidFill>
                <a:latin typeface="Verdana "/>
              </a:rPr>
              <a:t>Bit </a:t>
            </a:r>
            <a:r>
              <a:rPr lang="en-IN" sz="2500" dirty="0">
                <a:solidFill>
                  <a:schemeClr val="tx1">
                    <a:lumMod val="95000"/>
                    <a:lumOff val="5000"/>
                  </a:schemeClr>
                </a:solidFill>
                <a:latin typeface="Verdana "/>
              </a:rPr>
              <a:t>filed 24 of the EPSR indicated the ‘state’ of the processor (Either in ARM or Thumb)</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Since the processor operates only in the Thumb mode, this bit is always 1</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a:t>
            </a:r>
            <a:r>
              <a:rPr lang="en-IN" sz="2500" dirty="0" smtClean="0">
                <a:solidFill>
                  <a:schemeClr val="tx1">
                    <a:lumMod val="95000"/>
                    <a:lumOff val="5000"/>
                  </a:schemeClr>
                </a:solidFill>
                <a:latin typeface="Verdana "/>
              </a:rPr>
              <a:t>Clearing </a:t>
            </a:r>
            <a:r>
              <a:rPr lang="en-IN" sz="2500" dirty="0">
                <a:solidFill>
                  <a:schemeClr val="tx1">
                    <a:lumMod val="95000"/>
                    <a:lumOff val="5000"/>
                  </a:schemeClr>
                </a:solidFill>
                <a:latin typeface="Verdana "/>
              </a:rPr>
              <a:t>this bit causes an exception </a:t>
            </a:r>
          </a:p>
        </p:txBody>
      </p:sp>
    </p:spTree>
    <p:extLst>
      <p:ext uri="{BB962C8B-B14F-4D97-AF65-F5344CB8AC3E}">
        <p14:creationId xmlns:p14="http://schemas.microsoft.com/office/powerpoint/2010/main" val="9995415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7659" y="5021943"/>
            <a:ext cx="9319939" cy="760549"/>
          </a:xfrm>
        </p:spPr>
        <p:txBody>
          <a:bodyPr>
            <a:noAutofit/>
          </a:bodyPr>
          <a:lstStyle/>
          <a:p>
            <a:pPr marL="0" indent="0">
              <a:buNone/>
            </a:pPr>
            <a:r>
              <a:rPr lang="en-IN" sz="2500" dirty="0">
                <a:solidFill>
                  <a:schemeClr val="tx1">
                    <a:lumMod val="95000"/>
                    <a:lumOff val="5000"/>
                  </a:schemeClr>
                </a:solidFill>
                <a:latin typeface="Verdana "/>
              </a:rPr>
              <a:t>Above table indicates that there are three other combinations of these status registers, that is, with two of them taken together.</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086" y="595084"/>
            <a:ext cx="10364966" cy="41656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64518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268" y="0"/>
            <a:ext cx="8911687" cy="1280890"/>
          </a:xfrm>
        </p:spPr>
        <p:txBody>
          <a:bodyPr/>
          <a:lstStyle/>
          <a:p>
            <a:r>
              <a:rPr lang="en-IN" sz="3600" b="1" dirty="0">
                <a:solidFill>
                  <a:srgbClr val="7030A0"/>
                </a:solidFill>
                <a:latin typeface="Verdana "/>
              </a:rPr>
              <a:t>7.4.3 Other Special registers</a:t>
            </a:r>
          </a:p>
        </p:txBody>
      </p:sp>
      <p:sp>
        <p:nvSpPr>
          <p:cNvPr id="3" name="Content Placeholder 2"/>
          <p:cNvSpPr>
            <a:spLocks noGrp="1"/>
          </p:cNvSpPr>
          <p:nvPr>
            <p:ph idx="1"/>
          </p:nvPr>
        </p:nvSpPr>
        <p:spPr>
          <a:xfrm>
            <a:off x="1491356" y="1473199"/>
            <a:ext cx="10003958" cy="4414983"/>
          </a:xfrm>
        </p:spPr>
        <p:txBody>
          <a:bodyPr>
            <a:normAutofit/>
          </a:bodyPr>
          <a:lstStyle/>
          <a:p>
            <a:pPr marL="0" indent="0" algn="ctr">
              <a:buNone/>
            </a:pPr>
            <a:r>
              <a:rPr lang="en-IN" sz="3600" dirty="0" smtClean="0">
                <a:solidFill>
                  <a:srgbClr val="C00000"/>
                </a:solidFill>
                <a:latin typeface="Verdana "/>
              </a:rPr>
              <a:t>PRI (Priority Mask Register)Masks</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Certain interrupts which are ‘non-</a:t>
            </a:r>
            <a:r>
              <a:rPr lang="en-IN" sz="2500" dirty="0" err="1">
                <a:solidFill>
                  <a:schemeClr val="tx1">
                    <a:lumMod val="95000"/>
                    <a:lumOff val="5000"/>
                  </a:schemeClr>
                </a:solidFill>
                <a:latin typeface="Verdana "/>
              </a:rPr>
              <a:t>maskable</a:t>
            </a:r>
            <a:r>
              <a:rPr lang="en-IN" sz="2500" dirty="0">
                <a:solidFill>
                  <a:schemeClr val="tx1">
                    <a:lumMod val="95000"/>
                    <a:lumOff val="5000"/>
                  </a:schemeClr>
                </a:solidFill>
                <a:latin typeface="Verdana "/>
              </a:rPr>
              <a:t>’ and other whose priorities are configurable </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This register is related to the ‘masking’ of interrupts, it is bit prevent the activation of all configurable interrupts</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This register has 32 bits, out of which only the LSB is used</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Setting the LSB to ‘1’ makes inactive</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all Interrupts with configurable priority</a:t>
            </a:r>
          </a:p>
        </p:txBody>
      </p:sp>
    </p:spTree>
    <p:extLst>
      <p:ext uri="{BB962C8B-B14F-4D97-AF65-F5344CB8AC3E}">
        <p14:creationId xmlns:p14="http://schemas.microsoft.com/office/powerpoint/2010/main" val="20359667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0115" y="341086"/>
            <a:ext cx="9608456" cy="5508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524022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1143" y="211907"/>
            <a:ext cx="10334171" cy="5985693"/>
          </a:xfrm>
        </p:spPr>
        <p:txBody>
          <a:bodyPr>
            <a:normAutofit/>
          </a:bodyPr>
          <a:lstStyle/>
          <a:p>
            <a:pPr marL="0" indent="0" algn="ctr">
              <a:buNone/>
            </a:pPr>
            <a:r>
              <a:rPr lang="en-IN" sz="3600" dirty="0">
                <a:solidFill>
                  <a:srgbClr val="C00000"/>
                </a:solidFill>
                <a:latin typeface="Verdana "/>
              </a:rPr>
              <a:t>Control </a:t>
            </a:r>
            <a:r>
              <a:rPr lang="en-IN" sz="3600" dirty="0" smtClean="0">
                <a:solidFill>
                  <a:srgbClr val="C00000"/>
                </a:solidFill>
                <a:latin typeface="Verdana "/>
              </a:rPr>
              <a:t>Register</a:t>
            </a:r>
          </a:p>
          <a:p>
            <a:pPr marL="0" indent="0" algn="ctr">
              <a:buNone/>
            </a:pPr>
            <a:endParaRPr lang="en-IN" sz="3600" dirty="0" smtClean="0">
              <a:solidFill>
                <a:srgbClr val="C00000"/>
              </a:solidFill>
              <a:latin typeface="Verdana "/>
            </a:endParaRPr>
          </a:p>
          <a:p>
            <a:pPr algn="just">
              <a:lnSpc>
                <a:spcPct val="100000"/>
              </a:lnSpc>
              <a:buFont typeface="Wingdings" panose="05000000000000000000" pitchFamily="2" charset="2"/>
              <a:buChar char="v"/>
            </a:pPr>
            <a:r>
              <a:rPr lang="en-IN" sz="2500" dirty="0">
                <a:solidFill>
                  <a:schemeClr val="tx1">
                    <a:lumMod val="95000"/>
                    <a:lumOff val="5000"/>
                  </a:schemeClr>
                </a:solidFill>
                <a:latin typeface="Verdana "/>
              </a:rPr>
              <a:t>This is another 32-bit register of which only one bit is meaningful</a:t>
            </a:r>
          </a:p>
          <a:p>
            <a:pPr algn="just">
              <a:lnSpc>
                <a:spcPct val="100000"/>
              </a:lnSpc>
              <a:buFont typeface="Wingdings" panose="05000000000000000000" pitchFamily="2" charset="2"/>
              <a:buChar char="v"/>
            </a:pPr>
            <a:r>
              <a:rPr lang="en-IN" sz="2500" dirty="0">
                <a:solidFill>
                  <a:schemeClr val="tx1">
                    <a:lumMod val="95000"/>
                    <a:lumOff val="5000"/>
                  </a:schemeClr>
                </a:solidFill>
                <a:latin typeface="Verdana "/>
              </a:rPr>
              <a:t> Bit 1 selects the stack to be used when the processor is in the ‘Thread’ mode</a:t>
            </a:r>
          </a:p>
          <a:p>
            <a:pPr algn="just">
              <a:lnSpc>
                <a:spcPct val="100000"/>
              </a:lnSpc>
              <a:buFont typeface="Wingdings" panose="05000000000000000000" pitchFamily="2" charset="2"/>
              <a:buChar char="v"/>
            </a:pPr>
            <a:r>
              <a:rPr lang="en-IN" sz="2500" dirty="0">
                <a:solidFill>
                  <a:schemeClr val="tx1">
                    <a:lumMod val="95000"/>
                    <a:lumOff val="5000"/>
                  </a:schemeClr>
                </a:solidFill>
                <a:latin typeface="Verdana "/>
              </a:rPr>
              <a:t>If the Bit=0, the main stack is specified to be active, otherwise the PSP is considered to be active</a:t>
            </a:r>
          </a:p>
          <a:p>
            <a:pPr algn="just">
              <a:lnSpc>
                <a:spcPct val="100000"/>
              </a:lnSpc>
              <a:buFont typeface="Wingdings" panose="05000000000000000000" pitchFamily="2" charset="2"/>
              <a:buChar char="v"/>
            </a:pPr>
            <a:endParaRPr lang="en-IN" sz="3000" dirty="0">
              <a:solidFill>
                <a:srgbClr val="FFFF00"/>
              </a:solidFill>
            </a:endParaRPr>
          </a:p>
        </p:txBody>
      </p:sp>
    </p:spTree>
    <p:extLst>
      <p:ext uri="{BB962C8B-B14F-4D97-AF65-F5344CB8AC3E}">
        <p14:creationId xmlns:p14="http://schemas.microsoft.com/office/powerpoint/2010/main" val="289584573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9319" y="348342"/>
            <a:ext cx="9660852" cy="6277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54799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376" y="0"/>
            <a:ext cx="9784080" cy="1508760"/>
          </a:xfrm>
        </p:spPr>
        <p:txBody>
          <a:bodyPr/>
          <a:lstStyle/>
          <a:p>
            <a:r>
              <a:rPr lang="en-IN" sz="3600" b="1" dirty="0">
                <a:solidFill>
                  <a:srgbClr val="7030A0"/>
                </a:solidFill>
                <a:latin typeface="Verdana "/>
              </a:rPr>
              <a:t>7.5 Memory Model</a:t>
            </a:r>
          </a:p>
        </p:txBody>
      </p:sp>
      <p:sp>
        <p:nvSpPr>
          <p:cNvPr id="3" name="Content Placeholder 2"/>
          <p:cNvSpPr>
            <a:spLocks noGrp="1"/>
          </p:cNvSpPr>
          <p:nvPr>
            <p:ph idx="1"/>
          </p:nvPr>
        </p:nvSpPr>
        <p:spPr>
          <a:xfrm>
            <a:off x="2351313" y="1338219"/>
            <a:ext cx="9535888" cy="4808583"/>
          </a:xfrm>
        </p:spPr>
        <p:txBody>
          <a:bodyPr>
            <a:normAutofit/>
          </a:bodyPr>
          <a:lstStyle/>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As address bus is of 32 bits, the addressing range of the processor </a:t>
            </a:r>
            <a:r>
              <a:rPr lang="en-IN" sz="2500" dirty="0" smtClean="0">
                <a:solidFill>
                  <a:schemeClr val="tx1">
                    <a:lumMod val="95000"/>
                    <a:lumOff val="5000"/>
                  </a:schemeClr>
                </a:solidFill>
                <a:latin typeface="Verdana "/>
              </a:rPr>
              <a:t>is  </a:t>
            </a:r>
            <a:r>
              <a:rPr lang="en-IN" sz="2500" dirty="0">
                <a:solidFill>
                  <a:schemeClr val="tx1">
                    <a:lumMod val="95000"/>
                    <a:lumOff val="5000"/>
                  </a:schemeClr>
                </a:solidFill>
                <a:latin typeface="Verdana "/>
              </a:rPr>
              <a:t>2     = 4 GB</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 Processor uses memory mapped I/O </a:t>
            </a:r>
          </a:p>
          <a:p>
            <a:pPr>
              <a:lnSpc>
                <a:spcPct val="100000"/>
              </a:lnSpc>
              <a:buFont typeface="Wingdings" panose="05000000000000000000" pitchFamily="2" charset="2"/>
              <a:buChar char="v"/>
            </a:pPr>
            <a:r>
              <a:rPr lang="en-IN" sz="2500" dirty="0">
                <a:solidFill>
                  <a:schemeClr val="tx1">
                    <a:lumMod val="95000"/>
                    <a:lumOff val="5000"/>
                  </a:schemeClr>
                </a:solidFill>
                <a:latin typeface="Verdana "/>
              </a:rPr>
              <a:t>4 GB space is partitioned into space </a:t>
            </a:r>
            <a:r>
              <a:rPr lang="en-IN" sz="2500" dirty="0" smtClean="0">
                <a:solidFill>
                  <a:schemeClr val="tx1">
                    <a:lumMod val="95000"/>
                    <a:lumOff val="5000"/>
                  </a:schemeClr>
                </a:solidFill>
                <a:latin typeface="Verdana "/>
              </a:rPr>
              <a:t>for memory(RAM and ROM) </a:t>
            </a:r>
            <a:r>
              <a:rPr lang="en-IN" sz="2500" dirty="0">
                <a:solidFill>
                  <a:schemeClr val="tx1">
                    <a:lumMod val="95000"/>
                    <a:lumOff val="5000"/>
                  </a:schemeClr>
                </a:solidFill>
                <a:latin typeface="Verdana "/>
              </a:rPr>
              <a:t>as well as for </a:t>
            </a:r>
            <a:r>
              <a:rPr lang="en-IN" sz="2500" dirty="0" smtClean="0">
                <a:solidFill>
                  <a:schemeClr val="tx1">
                    <a:lumMod val="95000"/>
                    <a:lumOff val="5000"/>
                  </a:schemeClr>
                </a:solidFill>
                <a:latin typeface="Verdana "/>
              </a:rPr>
              <a:t>peripherals.</a:t>
            </a:r>
          </a:p>
          <a:p>
            <a:pPr>
              <a:lnSpc>
                <a:spcPct val="100000"/>
              </a:lnSpc>
              <a:buFont typeface="Wingdings" panose="05000000000000000000" pitchFamily="2" charset="2"/>
              <a:buChar char="v"/>
            </a:pPr>
            <a:endParaRPr lang="en-IN" sz="2500" dirty="0">
              <a:solidFill>
                <a:schemeClr val="tx1">
                  <a:lumMod val="95000"/>
                  <a:lumOff val="5000"/>
                </a:schemeClr>
              </a:solidFill>
              <a:latin typeface="Verdana "/>
            </a:endParaRPr>
          </a:p>
        </p:txBody>
      </p:sp>
      <p:sp>
        <p:nvSpPr>
          <p:cNvPr id="4" name="Rectangle 3"/>
          <p:cNvSpPr/>
          <p:nvPr/>
        </p:nvSpPr>
        <p:spPr>
          <a:xfrm>
            <a:off x="4766625" y="1735250"/>
            <a:ext cx="595085" cy="1654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32</a:t>
            </a:r>
            <a:endParaRPr lang="en-IN" dirty="0">
              <a:solidFill>
                <a:schemeClr val="tx1"/>
              </a:solidFill>
            </a:endParaRPr>
          </a:p>
        </p:txBody>
      </p:sp>
    </p:spTree>
    <p:extLst>
      <p:ext uri="{BB962C8B-B14F-4D97-AF65-F5344CB8AC3E}">
        <p14:creationId xmlns:p14="http://schemas.microsoft.com/office/powerpoint/2010/main" val="386953051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117" y="261257"/>
            <a:ext cx="9482109" cy="6444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24235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153" y="174167"/>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1855904" y="1683656"/>
            <a:ext cx="9893509" cy="4310743"/>
          </a:xfrm>
        </p:spPr>
        <p:txBody>
          <a:bodyPr>
            <a:normAutofit/>
          </a:bodyPr>
          <a:lstStyle/>
          <a:p>
            <a:pPr marL="514350" indent="-514350">
              <a:buAutoNum type="arabicPeriod"/>
            </a:pPr>
            <a:r>
              <a:rPr lang="en-IN" sz="3200" b="1" dirty="0" smtClean="0">
                <a:solidFill>
                  <a:srgbClr val="FFC000"/>
                </a:solidFill>
              </a:rPr>
              <a:t>Code:</a:t>
            </a:r>
          </a:p>
          <a:p>
            <a:pPr lvl="1">
              <a:buFont typeface="Wingdings" panose="05000000000000000000" pitchFamily="2" charset="2"/>
              <a:buChar char="§"/>
            </a:pPr>
            <a:r>
              <a:rPr lang="en-IN" sz="3000" b="1" dirty="0" smtClean="0">
                <a:solidFill>
                  <a:srgbClr val="FFC000"/>
                </a:solidFill>
              </a:rPr>
              <a:t> </a:t>
            </a:r>
            <a:r>
              <a:rPr lang="en-IN" sz="2300" dirty="0">
                <a:solidFill>
                  <a:schemeClr val="tx1">
                    <a:lumMod val="95000"/>
                    <a:lumOff val="5000"/>
                  </a:schemeClr>
                </a:solidFill>
                <a:latin typeface="Verdana "/>
              </a:rPr>
              <a:t>This part of memory is of 512 MB</a:t>
            </a:r>
          </a:p>
          <a:p>
            <a:pPr lvl="1">
              <a:buFont typeface="Wingdings" panose="05000000000000000000" pitchFamily="2" charset="2"/>
              <a:buChar char="§"/>
              <a:tabLst>
                <a:tab pos="1698625" algn="l"/>
              </a:tabLst>
            </a:pPr>
            <a:r>
              <a:rPr lang="en-IN" sz="2300" dirty="0">
                <a:solidFill>
                  <a:schemeClr val="tx1">
                    <a:lumMod val="95000"/>
                    <a:lumOff val="5000"/>
                  </a:schemeClr>
                </a:solidFill>
                <a:latin typeface="Verdana "/>
              </a:rPr>
              <a:t>  </a:t>
            </a:r>
            <a:r>
              <a:rPr lang="en-IN" sz="2300" dirty="0" smtClean="0">
                <a:solidFill>
                  <a:schemeClr val="tx1">
                    <a:lumMod val="95000"/>
                    <a:lumOff val="5000"/>
                  </a:schemeClr>
                </a:solidFill>
                <a:latin typeface="Verdana "/>
              </a:rPr>
              <a:t>It </a:t>
            </a:r>
            <a:r>
              <a:rPr lang="en-IN" sz="2300" dirty="0">
                <a:solidFill>
                  <a:schemeClr val="tx1">
                    <a:lumMod val="95000"/>
                    <a:lumOff val="5000"/>
                  </a:schemeClr>
                </a:solidFill>
                <a:latin typeface="Verdana "/>
              </a:rPr>
              <a:t>is the lowest end of the map and is meant to store </a:t>
            </a:r>
            <a:r>
              <a:rPr lang="en-IN" sz="2300" dirty="0" smtClean="0">
                <a:solidFill>
                  <a:schemeClr val="tx1">
                    <a:lumMod val="95000"/>
                    <a:lumOff val="5000"/>
                  </a:schemeClr>
                </a:solidFill>
                <a:latin typeface="Verdana "/>
              </a:rPr>
              <a:t>     program </a:t>
            </a:r>
            <a:r>
              <a:rPr lang="en-IN" sz="2300" dirty="0">
                <a:solidFill>
                  <a:schemeClr val="tx1">
                    <a:lumMod val="95000"/>
                    <a:lumOff val="5000"/>
                  </a:schemeClr>
                </a:solidFill>
                <a:latin typeface="Verdana "/>
              </a:rPr>
              <a:t>code, even though data is allowed</a:t>
            </a:r>
          </a:p>
          <a:p>
            <a:pPr lvl="1">
              <a:buFont typeface="Wingdings" panose="05000000000000000000" pitchFamily="2" charset="2"/>
              <a:buChar char="§"/>
            </a:pPr>
            <a:r>
              <a:rPr lang="en-IN" sz="2300" dirty="0">
                <a:solidFill>
                  <a:schemeClr val="tx1">
                    <a:lumMod val="95000"/>
                    <a:lumOff val="5000"/>
                  </a:schemeClr>
                </a:solidFill>
                <a:latin typeface="Verdana "/>
              </a:rPr>
              <a:t> </a:t>
            </a:r>
            <a:r>
              <a:rPr lang="en-IN" sz="2300" dirty="0" smtClean="0">
                <a:solidFill>
                  <a:schemeClr val="tx1">
                    <a:lumMod val="95000"/>
                    <a:lumOff val="5000"/>
                  </a:schemeClr>
                </a:solidFill>
                <a:latin typeface="Verdana "/>
              </a:rPr>
              <a:t> This </a:t>
            </a:r>
            <a:r>
              <a:rPr lang="en-IN" sz="2300" dirty="0">
                <a:solidFill>
                  <a:schemeClr val="tx1">
                    <a:lumMod val="95000"/>
                    <a:lumOff val="5000"/>
                  </a:schemeClr>
                </a:solidFill>
                <a:latin typeface="Verdana "/>
              </a:rPr>
              <a:t>part is realised using ROM, usually FLASH ROM</a:t>
            </a:r>
          </a:p>
          <a:p>
            <a:pPr lvl="1">
              <a:buFont typeface="Wingdings" panose="05000000000000000000" pitchFamily="2" charset="2"/>
              <a:buChar char="§"/>
            </a:pPr>
            <a:r>
              <a:rPr lang="en-IN" sz="2300" dirty="0">
                <a:solidFill>
                  <a:schemeClr val="tx1">
                    <a:lumMod val="95000"/>
                    <a:lumOff val="5000"/>
                  </a:schemeClr>
                </a:solidFill>
                <a:latin typeface="Verdana "/>
              </a:rPr>
              <a:t> </a:t>
            </a:r>
            <a:r>
              <a:rPr lang="en-IN" sz="2300" dirty="0" smtClean="0">
                <a:solidFill>
                  <a:schemeClr val="tx1">
                    <a:lumMod val="95000"/>
                    <a:lumOff val="5000"/>
                  </a:schemeClr>
                </a:solidFill>
                <a:latin typeface="Verdana "/>
              </a:rPr>
              <a:t> Interrupt </a:t>
            </a:r>
            <a:r>
              <a:rPr lang="en-IN" sz="2300" dirty="0">
                <a:solidFill>
                  <a:schemeClr val="tx1">
                    <a:lumMod val="95000"/>
                    <a:lumOff val="5000"/>
                  </a:schemeClr>
                </a:solidFill>
                <a:latin typeface="Verdana "/>
              </a:rPr>
              <a:t>vector table is stored here.</a:t>
            </a:r>
          </a:p>
        </p:txBody>
      </p:sp>
    </p:spTree>
    <p:extLst>
      <p:ext uri="{BB962C8B-B14F-4D97-AF65-F5344CB8AC3E}">
        <p14:creationId xmlns:p14="http://schemas.microsoft.com/office/powerpoint/2010/main" val="109174891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439" y="0"/>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1679962" y="1669141"/>
            <a:ext cx="10207237" cy="4310743"/>
          </a:xfrm>
        </p:spPr>
        <p:txBody>
          <a:bodyPr>
            <a:normAutofit/>
          </a:bodyPr>
          <a:lstStyle/>
          <a:p>
            <a:pPr marL="0" indent="0">
              <a:buNone/>
            </a:pPr>
            <a:r>
              <a:rPr lang="en-IN" sz="3200" b="1" dirty="0" smtClean="0">
                <a:solidFill>
                  <a:srgbClr val="FFC000"/>
                </a:solidFill>
              </a:rPr>
              <a:t>2.SRAM: </a:t>
            </a:r>
            <a:r>
              <a:rPr lang="en-IN" sz="2700" dirty="0">
                <a:solidFill>
                  <a:schemeClr val="tx1">
                    <a:lumMod val="95000"/>
                    <a:lumOff val="5000"/>
                  </a:schemeClr>
                </a:solidFill>
                <a:latin typeface="Verdana "/>
              </a:rPr>
              <a:t>This part of memory is of 512 MB</a:t>
            </a:r>
          </a:p>
          <a:p>
            <a:pPr marL="1698625" indent="0">
              <a:buNone/>
            </a:pPr>
            <a:r>
              <a:rPr lang="en-IN" sz="2700" dirty="0" smtClean="0">
                <a:solidFill>
                  <a:schemeClr val="tx1">
                    <a:lumMod val="95000"/>
                    <a:lumOff val="5000"/>
                  </a:schemeClr>
                </a:solidFill>
                <a:latin typeface="Verdana "/>
              </a:rPr>
              <a:t>Can </a:t>
            </a:r>
            <a:r>
              <a:rPr lang="en-IN" sz="2700" dirty="0">
                <a:solidFill>
                  <a:schemeClr val="tx1">
                    <a:lumMod val="95000"/>
                    <a:lumOff val="5000"/>
                  </a:schemeClr>
                </a:solidFill>
                <a:latin typeface="Verdana "/>
              </a:rPr>
              <a:t>store data, though program code is allowed here</a:t>
            </a:r>
          </a:p>
          <a:p>
            <a:pPr marL="1698625" indent="0">
              <a:buNone/>
            </a:pPr>
            <a:r>
              <a:rPr lang="en-IN" sz="2700" dirty="0" smtClean="0">
                <a:solidFill>
                  <a:schemeClr val="tx1">
                    <a:lumMod val="95000"/>
                    <a:lumOff val="5000"/>
                  </a:schemeClr>
                </a:solidFill>
                <a:latin typeface="Verdana "/>
              </a:rPr>
              <a:t>This </a:t>
            </a:r>
            <a:r>
              <a:rPr lang="en-IN" sz="2700" dirty="0">
                <a:solidFill>
                  <a:schemeClr val="tx1">
                    <a:lumMod val="95000"/>
                    <a:lumOff val="5000"/>
                  </a:schemeClr>
                </a:solidFill>
                <a:latin typeface="Verdana "/>
              </a:rPr>
              <a:t>is part where Stack and Heap memories are </a:t>
            </a:r>
            <a:r>
              <a:rPr lang="en-IN" sz="2700" dirty="0" smtClean="0">
                <a:solidFill>
                  <a:schemeClr val="tx1">
                    <a:lumMod val="95000"/>
                    <a:lumOff val="5000"/>
                  </a:schemeClr>
                </a:solidFill>
                <a:latin typeface="Verdana "/>
              </a:rPr>
              <a:t>initialized </a:t>
            </a:r>
            <a:r>
              <a:rPr lang="en-IN" sz="2700" dirty="0">
                <a:solidFill>
                  <a:schemeClr val="tx1">
                    <a:lumMod val="95000"/>
                    <a:lumOff val="5000"/>
                  </a:schemeClr>
                </a:solidFill>
                <a:latin typeface="Verdana "/>
              </a:rPr>
              <a:t>to be </a:t>
            </a:r>
            <a:r>
              <a:rPr lang="en-IN" sz="2700" dirty="0" smtClean="0">
                <a:solidFill>
                  <a:schemeClr val="tx1">
                    <a:lumMod val="95000"/>
                    <a:lumOff val="5000"/>
                  </a:schemeClr>
                </a:solidFill>
                <a:latin typeface="Verdana "/>
              </a:rPr>
              <a:t>present</a:t>
            </a:r>
          </a:p>
          <a:p>
            <a:pPr marL="1698625" indent="0">
              <a:buNone/>
            </a:pPr>
            <a:r>
              <a:rPr lang="en-IN" sz="2700" dirty="0" smtClean="0">
                <a:solidFill>
                  <a:schemeClr val="tx1">
                    <a:lumMod val="95000"/>
                    <a:lumOff val="5000"/>
                  </a:schemeClr>
                </a:solidFill>
                <a:latin typeface="Verdana "/>
              </a:rPr>
              <a:t>Many </a:t>
            </a:r>
            <a:r>
              <a:rPr lang="en-IN" sz="2700" dirty="0">
                <a:solidFill>
                  <a:schemeClr val="tx1">
                    <a:lumMod val="95000"/>
                    <a:lumOff val="5000"/>
                  </a:schemeClr>
                </a:solidFill>
                <a:latin typeface="Verdana "/>
              </a:rPr>
              <a:t>designs may realise this memory part using SDRAM </a:t>
            </a:r>
          </a:p>
          <a:p>
            <a:pPr marL="1698625" indent="0">
              <a:buNone/>
            </a:pPr>
            <a:r>
              <a:rPr lang="en-IN" sz="2700" dirty="0" smtClean="0">
                <a:solidFill>
                  <a:schemeClr val="tx1">
                    <a:lumMod val="95000"/>
                    <a:lumOff val="5000"/>
                  </a:schemeClr>
                </a:solidFill>
                <a:latin typeface="Verdana "/>
              </a:rPr>
              <a:t>In </a:t>
            </a:r>
            <a:r>
              <a:rPr lang="en-IN" sz="2700" dirty="0">
                <a:solidFill>
                  <a:schemeClr val="tx1">
                    <a:lumMod val="95000"/>
                    <a:lumOff val="5000"/>
                  </a:schemeClr>
                </a:solidFill>
                <a:latin typeface="Verdana "/>
              </a:rPr>
              <a:t>programs, this section is designated as Read/Write memory</a:t>
            </a:r>
          </a:p>
        </p:txBody>
      </p:sp>
    </p:spTree>
    <p:extLst>
      <p:ext uri="{BB962C8B-B14F-4D97-AF65-F5344CB8AC3E}">
        <p14:creationId xmlns:p14="http://schemas.microsoft.com/office/powerpoint/2010/main" val="24573518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811" y="126995"/>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2131675" y="1567542"/>
            <a:ext cx="9726497" cy="5036458"/>
          </a:xfrm>
        </p:spPr>
        <p:txBody>
          <a:bodyPr>
            <a:normAutofit/>
          </a:bodyPr>
          <a:lstStyle/>
          <a:p>
            <a:pPr marL="2684463" indent="-2684463">
              <a:buNone/>
            </a:pPr>
            <a:r>
              <a:rPr lang="en-IN" sz="3200" b="1" dirty="0" smtClean="0">
                <a:solidFill>
                  <a:srgbClr val="FFC000"/>
                </a:solidFill>
              </a:rPr>
              <a:t>3. Peripheral: </a:t>
            </a:r>
            <a:r>
              <a:rPr lang="en-IN" sz="2700" dirty="0">
                <a:solidFill>
                  <a:schemeClr val="tx1">
                    <a:lumMod val="95000"/>
                    <a:lumOff val="5000"/>
                  </a:schemeClr>
                </a:solidFill>
                <a:latin typeface="Verdana "/>
              </a:rPr>
              <a:t>Memory addresses in this region are allocated to peripheral address</a:t>
            </a:r>
            <a:r>
              <a:rPr lang="en-IN" sz="2700" dirty="0" smtClean="0">
                <a:solidFill>
                  <a:schemeClr val="tx1">
                    <a:lumMod val="95000"/>
                    <a:lumOff val="5000"/>
                  </a:schemeClr>
                </a:solidFill>
                <a:latin typeface="Verdana "/>
              </a:rPr>
              <a:t>.                          </a:t>
            </a:r>
            <a:r>
              <a:rPr lang="en-IN" sz="2700" dirty="0">
                <a:solidFill>
                  <a:schemeClr val="tx1">
                    <a:lumMod val="95000"/>
                    <a:lumOff val="5000"/>
                  </a:schemeClr>
                </a:solidFill>
                <a:latin typeface="Verdana "/>
              </a:rPr>
              <a:t>Though part of it can be realised by memory device to store data</a:t>
            </a:r>
            <a:r>
              <a:rPr lang="en-IN" sz="2700" dirty="0" smtClean="0">
                <a:solidFill>
                  <a:schemeClr val="tx1">
                    <a:lumMod val="95000"/>
                    <a:lumOff val="5000"/>
                  </a:schemeClr>
                </a:solidFill>
                <a:latin typeface="Verdana "/>
              </a:rPr>
              <a:t>.                          </a:t>
            </a:r>
          </a:p>
          <a:p>
            <a:pPr marL="2684463" indent="-2684463">
              <a:buNone/>
            </a:pPr>
            <a:r>
              <a:rPr lang="en-IN" sz="2700" dirty="0">
                <a:solidFill>
                  <a:schemeClr val="tx1">
                    <a:lumMod val="95000"/>
                    <a:lumOff val="5000"/>
                  </a:schemeClr>
                </a:solidFill>
                <a:latin typeface="Verdana "/>
              </a:rPr>
              <a:t>	</a:t>
            </a:r>
            <a:r>
              <a:rPr lang="en-IN" sz="2700" dirty="0" smtClean="0">
                <a:solidFill>
                  <a:schemeClr val="tx1">
                    <a:lumMod val="95000"/>
                    <a:lumOff val="5000"/>
                  </a:schemeClr>
                </a:solidFill>
                <a:latin typeface="Verdana "/>
              </a:rPr>
              <a:t>It </a:t>
            </a:r>
            <a:r>
              <a:rPr lang="en-IN" sz="2700" dirty="0">
                <a:solidFill>
                  <a:schemeClr val="tx1">
                    <a:lumMod val="95000"/>
                    <a:lumOff val="5000"/>
                  </a:schemeClr>
                </a:solidFill>
                <a:latin typeface="Verdana "/>
              </a:rPr>
              <a:t>can be used only for ‘non-executable’ information</a:t>
            </a:r>
          </a:p>
          <a:p>
            <a:pPr marL="2786063" indent="-2786063">
              <a:buNone/>
            </a:pPr>
            <a:r>
              <a:rPr lang="en-IN" sz="2700" dirty="0">
                <a:solidFill>
                  <a:schemeClr val="tx1">
                    <a:lumMod val="95000"/>
                    <a:lumOff val="5000"/>
                  </a:schemeClr>
                </a:solidFill>
                <a:latin typeface="Verdana "/>
              </a:rPr>
              <a:t>                            </a:t>
            </a:r>
            <a:r>
              <a:rPr lang="en-IN" sz="2700" dirty="0" smtClean="0">
                <a:solidFill>
                  <a:schemeClr val="tx1">
                    <a:lumMod val="95000"/>
                    <a:lumOff val="5000"/>
                  </a:schemeClr>
                </a:solidFill>
                <a:latin typeface="Verdana "/>
              </a:rPr>
              <a:t>This </a:t>
            </a:r>
            <a:r>
              <a:rPr lang="en-IN" sz="2700" dirty="0">
                <a:solidFill>
                  <a:schemeClr val="tx1">
                    <a:lumMod val="95000"/>
                    <a:lumOff val="5000"/>
                  </a:schemeClr>
                </a:solidFill>
                <a:latin typeface="Verdana "/>
              </a:rPr>
              <a:t>attribute is referred to as ‘EXECUTE NEVER’ (XN)</a:t>
            </a:r>
          </a:p>
          <a:p>
            <a:pPr marL="0" indent="0">
              <a:buNone/>
            </a:pPr>
            <a:endParaRPr lang="en-IN" sz="3200" dirty="0" smtClean="0">
              <a:solidFill>
                <a:srgbClr val="FFFF00"/>
              </a:solidFill>
            </a:endParaRPr>
          </a:p>
        </p:txBody>
      </p:sp>
    </p:spTree>
    <p:extLst>
      <p:ext uri="{BB962C8B-B14F-4D97-AF65-F5344CB8AC3E}">
        <p14:creationId xmlns:p14="http://schemas.microsoft.com/office/powerpoint/2010/main" val="421903309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8639" y="116110"/>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2189733" y="1785256"/>
            <a:ext cx="9058839" cy="4310743"/>
          </a:xfrm>
        </p:spPr>
        <p:txBody>
          <a:bodyPr>
            <a:normAutofit/>
          </a:bodyPr>
          <a:lstStyle/>
          <a:p>
            <a:pPr marL="0" indent="0">
              <a:buNone/>
            </a:pPr>
            <a:r>
              <a:rPr lang="en-IN" sz="3200" b="1" dirty="0">
                <a:solidFill>
                  <a:srgbClr val="FFC000"/>
                </a:solidFill>
              </a:rPr>
              <a:t>4</a:t>
            </a:r>
            <a:r>
              <a:rPr lang="en-IN" sz="3200" b="1" dirty="0" smtClean="0">
                <a:solidFill>
                  <a:srgbClr val="FFC000"/>
                </a:solidFill>
              </a:rPr>
              <a:t>. External RAM: </a:t>
            </a:r>
          </a:p>
          <a:p>
            <a:pPr>
              <a:buFont typeface="Wingdings" panose="05000000000000000000" pitchFamily="2" charset="2"/>
              <a:buChar char="§"/>
            </a:pPr>
            <a:r>
              <a:rPr lang="en-IN" sz="2700" dirty="0" smtClean="0">
                <a:solidFill>
                  <a:schemeClr val="tx1">
                    <a:lumMod val="95000"/>
                    <a:lumOff val="5000"/>
                  </a:schemeClr>
                </a:solidFill>
                <a:latin typeface="Verdana "/>
              </a:rPr>
              <a:t>This </a:t>
            </a:r>
            <a:r>
              <a:rPr lang="en-IN" sz="2700" dirty="0">
                <a:solidFill>
                  <a:schemeClr val="tx1">
                    <a:lumMod val="95000"/>
                    <a:lumOff val="5000"/>
                  </a:schemeClr>
                </a:solidFill>
                <a:latin typeface="Verdana "/>
              </a:rPr>
              <a:t>is 1 Gb of space which can be mapped to external RAM</a:t>
            </a:r>
          </a:p>
          <a:p>
            <a:pPr>
              <a:buFont typeface="Wingdings" panose="05000000000000000000" pitchFamily="2" charset="2"/>
              <a:buChar char="§"/>
            </a:pPr>
            <a:r>
              <a:rPr lang="en-IN" sz="2700" dirty="0" smtClean="0">
                <a:solidFill>
                  <a:schemeClr val="tx1">
                    <a:lumMod val="95000"/>
                    <a:lumOff val="5000"/>
                  </a:schemeClr>
                </a:solidFill>
                <a:latin typeface="Verdana "/>
              </a:rPr>
              <a:t>It </a:t>
            </a:r>
            <a:r>
              <a:rPr lang="en-IN" sz="2700" dirty="0">
                <a:solidFill>
                  <a:schemeClr val="tx1">
                    <a:lumMod val="95000"/>
                    <a:lumOff val="5000"/>
                  </a:schemeClr>
                </a:solidFill>
                <a:latin typeface="Verdana "/>
              </a:rPr>
              <a:t>can store data as well as executable program code and can be realised by different kinds of semiconductor memories</a:t>
            </a:r>
          </a:p>
          <a:p>
            <a:pPr marL="0" indent="0">
              <a:buNone/>
            </a:pPr>
            <a:r>
              <a:rPr lang="en-IN" sz="2700" dirty="0">
                <a:solidFill>
                  <a:schemeClr val="tx1">
                    <a:lumMod val="95000"/>
                    <a:lumOff val="5000"/>
                  </a:schemeClr>
                </a:solidFill>
                <a:latin typeface="Verdana "/>
              </a:rPr>
              <a:t>                                       </a:t>
            </a:r>
          </a:p>
        </p:txBody>
      </p:sp>
    </p:spTree>
    <p:extLst>
      <p:ext uri="{BB962C8B-B14F-4D97-AF65-F5344CB8AC3E}">
        <p14:creationId xmlns:p14="http://schemas.microsoft.com/office/powerpoint/2010/main" val="387785596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714" y="0"/>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2030076" y="1553027"/>
            <a:ext cx="9305582" cy="4310743"/>
          </a:xfrm>
        </p:spPr>
        <p:txBody>
          <a:bodyPr>
            <a:normAutofit/>
          </a:bodyPr>
          <a:lstStyle/>
          <a:p>
            <a:pPr marL="0" indent="0">
              <a:buNone/>
            </a:pPr>
            <a:r>
              <a:rPr lang="en-IN" sz="3200" b="1" dirty="0" smtClean="0">
                <a:solidFill>
                  <a:srgbClr val="FFC000"/>
                </a:solidFill>
              </a:rPr>
              <a:t>5. Device Memory: </a:t>
            </a:r>
            <a:r>
              <a:rPr lang="en-IN" sz="2700" dirty="0">
                <a:solidFill>
                  <a:schemeClr val="tx1">
                    <a:lumMod val="95000"/>
                    <a:lumOff val="5000"/>
                  </a:schemeClr>
                </a:solidFill>
                <a:latin typeface="Verdana "/>
              </a:rPr>
              <a:t>This is 1 Gb of space</a:t>
            </a:r>
          </a:p>
          <a:p>
            <a:pPr marL="3773488" indent="-3236913">
              <a:buNone/>
            </a:pPr>
            <a:r>
              <a:rPr lang="en-IN" sz="2700" dirty="0">
                <a:solidFill>
                  <a:schemeClr val="tx1">
                    <a:lumMod val="95000"/>
                    <a:lumOff val="5000"/>
                  </a:schemeClr>
                </a:solidFill>
                <a:latin typeface="Verdana "/>
              </a:rPr>
              <a:t>                                 </a:t>
            </a:r>
            <a:r>
              <a:rPr lang="en-IN" sz="2700" dirty="0" smtClean="0">
                <a:solidFill>
                  <a:schemeClr val="tx1">
                    <a:lumMod val="95000"/>
                    <a:lumOff val="5000"/>
                  </a:schemeClr>
                </a:solidFill>
                <a:latin typeface="Verdana "/>
              </a:rPr>
              <a:t> It </a:t>
            </a:r>
            <a:r>
              <a:rPr lang="en-IN" sz="2700" dirty="0">
                <a:solidFill>
                  <a:schemeClr val="tx1">
                    <a:lumMod val="95000"/>
                    <a:lumOff val="5000"/>
                  </a:schemeClr>
                </a:solidFill>
                <a:latin typeface="Verdana "/>
              </a:rPr>
              <a:t>is a non-executable region and </a:t>
            </a:r>
            <a:r>
              <a:rPr lang="en-IN" sz="2700" dirty="0" smtClean="0">
                <a:solidFill>
                  <a:schemeClr val="tx1">
                    <a:lumMod val="95000"/>
                    <a:lumOff val="5000"/>
                  </a:schemeClr>
                </a:solidFill>
                <a:latin typeface="Verdana "/>
              </a:rPr>
              <a:t>         is </a:t>
            </a:r>
            <a:r>
              <a:rPr lang="en-IN" sz="2700" dirty="0">
                <a:solidFill>
                  <a:schemeClr val="tx1">
                    <a:lumMod val="95000"/>
                    <a:lumOff val="5000"/>
                  </a:schemeClr>
                </a:solidFill>
                <a:latin typeface="Verdana "/>
              </a:rPr>
              <a:t>used for device addresses</a:t>
            </a:r>
          </a:p>
        </p:txBody>
      </p:sp>
    </p:spTree>
    <p:extLst>
      <p:ext uri="{BB962C8B-B14F-4D97-AF65-F5344CB8AC3E}">
        <p14:creationId xmlns:p14="http://schemas.microsoft.com/office/powerpoint/2010/main" val="21441620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698" y="141509"/>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2452914" y="1698170"/>
            <a:ext cx="9318172" cy="4310743"/>
          </a:xfrm>
        </p:spPr>
        <p:txBody>
          <a:bodyPr>
            <a:normAutofit/>
          </a:bodyPr>
          <a:lstStyle/>
          <a:p>
            <a:pPr marL="0" indent="0">
              <a:buNone/>
            </a:pPr>
            <a:r>
              <a:rPr lang="en-IN" sz="3200" b="1" dirty="0" smtClean="0">
                <a:solidFill>
                  <a:srgbClr val="FFC000"/>
                </a:solidFill>
              </a:rPr>
              <a:t>6. Private Peripheral Bus: </a:t>
            </a:r>
          </a:p>
          <a:p>
            <a:pPr>
              <a:buFont typeface="Wingdings" panose="05000000000000000000" pitchFamily="2" charset="2"/>
              <a:buChar char="§"/>
            </a:pPr>
            <a:r>
              <a:rPr lang="en-IN" sz="2700" dirty="0" smtClean="0">
                <a:solidFill>
                  <a:schemeClr val="tx1">
                    <a:lumMod val="95000"/>
                    <a:lumOff val="5000"/>
                  </a:schemeClr>
                </a:solidFill>
                <a:latin typeface="Verdana "/>
              </a:rPr>
              <a:t>This </a:t>
            </a:r>
            <a:r>
              <a:rPr lang="en-IN" sz="2700" dirty="0">
                <a:solidFill>
                  <a:schemeClr val="tx1">
                    <a:lumMod val="95000"/>
                    <a:lumOff val="5000"/>
                  </a:schemeClr>
                </a:solidFill>
                <a:latin typeface="Verdana "/>
              </a:rPr>
              <a:t>is a non-executable region used for addresses of the registers of the NVIC, System Tier, and System Control Block</a:t>
            </a:r>
          </a:p>
          <a:p>
            <a:pPr>
              <a:buFont typeface="Wingdings" panose="05000000000000000000" pitchFamily="2" charset="2"/>
              <a:buChar char="§"/>
            </a:pPr>
            <a:r>
              <a:rPr lang="en-IN" sz="2700" dirty="0" smtClean="0">
                <a:solidFill>
                  <a:schemeClr val="tx1">
                    <a:lumMod val="95000"/>
                    <a:lumOff val="5000"/>
                  </a:schemeClr>
                </a:solidFill>
                <a:latin typeface="Verdana "/>
              </a:rPr>
              <a:t> </a:t>
            </a:r>
            <a:r>
              <a:rPr lang="en-IN" sz="2700" dirty="0">
                <a:solidFill>
                  <a:schemeClr val="tx1">
                    <a:lumMod val="95000"/>
                    <a:lumOff val="5000"/>
                  </a:schemeClr>
                </a:solidFill>
                <a:latin typeface="Verdana "/>
              </a:rPr>
              <a:t>Only word accesses can be used in this region</a:t>
            </a:r>
          </a:p>
        </p:txBody>
      </p:sp>
    </p:spTree>
    <p:extLst>
      <p:ext uri="{BB962C8B-B14F-4D97-AF65-F5344CB8AC3E}">
        <p14:creationId xmlns:p14="http://schemas.microsoft.com/office/powerpoint/2010/main" val="38047199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97" y="0"/>
            <a:ext cx="8911687" cy="1280890"/>
          </a:xfrm>
        </p:spPr>
        <p:txBody>
          <a:bodyPr>
            <a:normAutofit/>
          </a:bodyPr>
          <a:lstStyle/>
          <a:p>
            <a:r>
              <a:rPr lang="en-IN" sz="3600" b="1" dirty="0">
                <a:solidFill>
                  <a:srgbClr val="7030A0"/>
                </a:solidFill>
                <a:latin typeface="Verdana "/>
              </a:rPr>
              <a:t>Memory model of cotex-M0</a:t>
            </a:r>
          </a:p>
        </p:txBody>
      </p:sp>
      <p:sp>
        <p:nvSpPr>
          <p:cNvPr id="3" name="Content Placeholder 2"/>
          <p:cNvSpPr>
            <a:spLocks noGrp="1"/>
          </p:cNvSpPr>
          <p:nvPr>
            <p:ph idx="1"/>
          </p:nvPr>
        </p:nvSpPr>
        <p:spPr>
          <a:xfrm>
            <a:off x="2305038" y="1770742"/>
            <a:ext cx="9231087" cy="4310743"/>
          </a:xfrm>
        </p:spPr>
        <p:txBody>
          <a:bodyPr>
            <a:normAutofit/>
          </a:bodyPr>
          <a:lstStyle/>
          <a:p>
            <a:pPr marL="0" indent="0">
              <a:buNone/>
            </a:pPr>
            <a:r>
              <a:rPr lang="en-IN" sz="3200" b="1" dirty="0">
                <a:solidFill>
                  <a:srgbClr val="FFC000"/>
                </a:solidFill>
              </a:rPr>
              <a:t>7</a:t>
            </a:r>
            <a:r>
              <a:rPr lang="en-IN" sz="3200" b="1" dirty="0" smtClean="0">
                <a:solidFill>
                  <a:srgbClr val="FFC000"/>
                </a:solidFill>
              </a:rPr>
              <a:t>. Device Memory: </a:t>
            </a:r>
            <a:r>
              <a:rPr lang="en-IN" sz="2700" dirty="0">
                <a:solidFill>
                  <a:schemeClr val="tx1">
                    <a:lumMod val="95000"/>
                    <a:lumOff val="5000"/>
                  </a:schemeClr>
                </a:solidFill>
                <a:latin typeface="Verdana "/>
              </a:rPr>
              <a:t>This is the uppermost 512 MB constitute another non-executable (XN) device memory.</a:t>
            </a:r>
          </a:p>
          <a:p>
            <a:pPr marL="0" indent="0">
              <a:buNone/>
            </a:pPr>
            <a:r>
              <a:rPr lang="en-IN" sz="2700" dirty="0">
                <a:solidFill>
                  <a:schemeClr val="tx1">
                    <a:lumMod val="95000"/>
                    <a:lumOff val="5000"/>
                  </a:schemeClr>
                </a:solidFill>
                <a:latin typeface="Verdana "/>
              </a:rPr>
              <a:t>                                   Chip designers are allowed to use it in the way they want, or just leave it as ‘reserved’</a:t>
            </a:r>
          </a:p>
        </p:txBody>
      </p:sp>
    </p:spTree>
    <p:extLst>
      <p:ext uri="{BB962C8B-B14F-4D97-AF65-F5344CB8AC3E}">
        <p14:creationId xmlns:p14="http://schemas.microsoft.com/office/powerpoint/2010/main" val="17721605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918" y="284176"/>
            <a:ext cx="10161767" cy="1508760"/>
          </a:xfrm>
        </p:spPr>
        <p:txBody>
          <a:bodyPr>
            <a:normAutofit/>
          </a:bodyPr>
          <a:lstStyle/>
          <a:p>
            <a:r>
              <a:rPr lang="en-IN" sz="3600" b="1" dirty="0">
                <a:solidFill>
                  <a:srgbClr val="7030A0"/>
                </a:solidFill>
                <a:latin typeface="Verdana "/>
              </a:rPr>
              <a:t>7.5.1 Types and Attributes of memory</a:t>
            </a:r>
          </a:p>
        </p:txBody>
      </p:sp>
      <p:sp>
        <p:nvSpPr>
          <p:cNvPr id="3" name="Content Placeholder 2"/>
          <p:cNvSpPr>
            <a:spLocks noGrp="1"/>
          </p:cNvSpPr>
          <p:nvPr>
            <p:ph idx="1"/>
          </p:nvPr>
        </p:nvSpPr>
        <p:spPr>
          <a:xfrm>
            <a:off x="404633" y="1387563"/>
            <a:ext cx="9247368" cy="4708435"/>
          </a:xfrm>
        </p:spPr>
        <p:txBody>
          <a:bodyPr>
            <a:normAutofit/>
          </a:bodyPr>
          <a:lstStyle/>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Have seen the different sections of the memory space allocated for different applications</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Access to different areas of memory may be ‘Shareable’ if there is more than one processor/bus master in the system</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The order in which access is allowed to occur for region of memory, is defined by certain memory attributes</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they are:</a:t>
            </a:r>
          </a:p>
          <a:p>
            <a:pPr marL="0" indent="0">
              <a:lnSpc>
                <a:spcPct val="100000"/>
              </a:lnSpc>
              <a:buNone/>
            </a:pPr>
            <a:r>
              <a:rPr lang="en-IN" sz="2700" dirty="0">
                <a:solidFill>
                  <a:schemeClr val="tx1">
                    <a:lumMod val="95000"/>
                    <a:lumOff val="5000"/>
                  </a:schemeClr>
                </a:solidFill>
                <a:latin typeface="Verdana "/>
              </a:rPr>
              <a:t>             Normal, Device and Strongly-ordered </a:t>
            </a:r>
          </a:p>
        </p:txBody>
      </p:sp>
    </p:spTree>
    <p:extLst>
      <p:ext uri="{BB962C8B-B14F-4D97-AF65-F5344CB8AC3E}">
        <p14:creationId xmlns:p14="http://schemas.microsoft.com/office/powerpoint/2010/main" val="12873985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719" y="139032"/>
            <a:ext cx="9784080" cy="1508760"/>
          </a:xfrm>
        </p:spPr>
        <p:txBody>
          <a:bodyPr>
            <a:normAutofit/>
          </a:bodyPr>
          <a:lstStyle/>
          <a:p>
            <a:r>
              <a:rPr lang="en-IN" sz="3600" b="1" dirty="0">
                <a:solidFill>
                  <a:srgbClr val="7030A0"/>
                </a:solidFill>
                <a:latin typeface="Verdana "/>
              </a:rPr>
              <a:t>1. Normal</a:t>
            </a:r>
          </a:p>
        </p:txBody>
      </p:sp>
      <p:sp>
        <p:nvSpPr>
          <p:cNvPr id="3" name="Content Placeholder 2"/>
          <p:cNvSpPr>
            <a:spLocks noGrp="1"/>
          </p:cNvSpPr>
          <p:nvPr>
            <p:ph idx="1"/>
          </p:nvPr>
        </p:nvSpPr>
        <p:spPr>
          <a:xfrm>
            <a:off x="230460" y="1459470"/>
            <a:ext cx="9494111" cy="4461691"/>
          </a:xfrm>
        </p:spPr>
        <p:txBody>
          <a:bodyPr>
            <a:normAutofit/>
          </a:bodyPr>
          <a:lstStyle/>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Memory used for program execution and data storage generally occurs within the ‘Normal’ designation. </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In such kind, the processor has the freedom to do ‘Out of Order’ accessing and even speculative reads</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Means that memory access need not be in the order in which a program is coded</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Examples:    Preprogramed flash</a:t>
            </a:r>
          </a:p>
          <a:p>
            <a:pPr marL="0" indent="0">
              <a:lnSpc>
                <a:spcPct val="100000"/>
              </a:lnSpc>
              <a:buNone/>
            </a:pPr>
            <a:r>
              <a:rPr lang="en-IN" sz="2700" dirty="0">
                <a:solidFill>
                  <a:schemeClr val="tx1">
                    <a:lumMod val="95000"/>
                    <a:lumOff val="5000"/>
                  </a:schemeClr>
                </a:solidFill>
                <a:latin typeface="Verdana "/>
              </a:rPr>
              <a:t>                               ROM, SDRAM, SRAM and DDR memory</a:t>
            </a:r>
          </a:p>
        </p:txBody>
      </p:sp>
    </p:spTree>
    <p:extLst>
      <p:ext uri="{BB962C8B-B14F-4D97-AF65-F5344CB8AC3E}">
        <p14:creationId xmlns:p14="http://schemas.microsoft.com/office/powerpoint/2010/main" val="17832570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861" y="0"/>
            <a:ext cx="9784080" cy="1508760"/>
          </a:xfrm>
        </p:spPr>
        <p:txBody>
          <a:bodyPr>
            <a:normAutofit/>
          </a:bodyPr>
          <a:lstStyle/>
          <a:p>
            <a:r>
              <a:rPr lang="en-IN" sz="3600" b="1" dirty="0" smtClean="0">
                <a:solidFill>
                  <a:srgbClr val="7030A0"/>
                </a:solidFill>
                <a:latin typeface="Verdana "/>
              </a:rPr>
              <a:t>2. Device</a:t>
            </a:r>
            <a:endParaRPr lang="en-IN" sz="3600" b="1" dirty="0">
              <a:solidFill>
                <a:srgbClr val="7030A0"/>
              </a:solidFill>
              <a:latin typeface="Verdana "/>
            </a:endParaRPr>
          </a:p>
        </p:txBody>
      </p:sp>
      <p:sp>
        <p:nvSpPr>
          <p:cNvPr id="3" name="Content Placeholder 2"/>
          <p:cNvSpPr>
            <a:spLocks noGrp="1"/>
          </p:cNvSpPr>
          <p:nvPr>
            <p:ph idx="1"/>
          </p:nvPr>
        </p:nvSpPr>
        <p:spPr>
          <a:xfrm>
            <a:off x="259489" y="2098765"/>
            <a:ext cx="8057197" cy="4461691"/>
          </a:xfrm>
        </p:spPr>
        <p:txBody>
          <a:bodyPr/>
          <a:lstStyle/>
          <a:p>
            <a:pPr>
              <a:lnSpc>
                <a:spcPct val="100000"/>
              </a:lnSpc>
              <a:buFont typeface="Wingdings" panose="05000000000000000000" pitchFamily="2" charset="2"/>
              <a:buChar char="v"/>
            </a:pPr>
            <a:r>
              <a:rPr lang="en-IN" sz="3000" dirty="0" smtClean="0">
                <a:solidFill>
                  <a:srgbClr val="FFFF00"/>
                </a:solidFill>
              </a:rPr>
              <a:t> </a:t>
            </a:r>
            <a:r>
              <a:rPr lang="en-IN" sz="2700" dirty="0">
                <a:solidFill>
                  <a:schemeClr val="tx1">
                    <a:lumMod val="95000"/>
                    <a:lumOff val="5000"/>
                  </a:schemeClr>
                </a:solidFill>
                <a:latin typeface="Verdana "/>
              </a:rPr>
              <a:t>In the case of I/O’s rules of access is stricter</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Out of order is not permitted </a:t>
            </a:r>
          </a:p>
        </p:txBody>
      </p:sp>
    </p:spTree>
    <p:extLst>
      <p:ext uri="{BB962C8B-B14F-4D97-AF65-F5344CB8AC3E}">
        <p14:creationId xmlns:p14="http://schemas.microsoft.com/office/powerpoint/2010/main" val="31597222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804" y="0"/>
            <a:ext cx="9784080" cy="1508760"/>
          </a:xfrm>
        </p:spPr>
        <p:txBody>
          <a:bodyPr>
            <a:normAutofit/>
          </a:bodyPr>
          <a:lstStyle/>
          <a:p>
            <a:r>
              <a:rPr lang="en-IN" sz="3600" b="1" dirty="0" smtClean="0">
                <a:solidFill>
                  <a:srgbClr val="7030A0"/>
                </a:solidFill>
                <a:latin typeface="Verdana "/>
              </a:rPr>
              <a:t>3. Strongly ordered</a:t>
            </a:r>
            <a:endParaRPr lang="en-IN" sz="3600" b="1" dirty="0">
              <a:solidFill>
                <a:srgbClr val="7030A0"/>
              </a:solidFill>
              <a:latin typeface="Verdana "/>
            </a:endParaRPr>
          </a:p>
        </p:txBody>
      </p:sp>
      <p:sp>
        <p:nvSpPr>
          <p:cNvPr id="3" name="Content Placeholder 2"/>
          <p:cNvSpPr>
            <a:spLocks noGrp="1"/>
          </p:cNvSpPr>
          <p:nvPr>
            <p:ph idx="1"/>
          </p:nvPr>
        </p:nvSpPr>
        <p:spPr>
          <a:xfrm>
            <a:off x="578804" y="1459470"/>
            <a:ext cx="9377997" cy="4461691"/>
          </a:xfrm>
        </p:spPr>
        <p:txBody>
          <a:bodyPr/>
          <a:lstStyle/>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This attribute is required where it is necessary to ensure strict ordering of the access relative to what occurred in program order before the access and after it</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This means that the processor preserves transaction order relative to all other transactions</a:t>
            </a:r>
          </a:p>
          <a:p>
            <a:pPr marL="0" indent="0">
              <a:lnSpc>
                <a:spcPct val="100000"/>
              </a:lnSpc>
              <a:buNone/>
            </a:pPr>
            <a:endParaRPr lang="en-IN" sz="3000" dirty="0">
              <a:solidFill>
                <a:srgbClr val="FFFF00"/>
              </a:solidFill>
            </a:endParaRPr>
          </a:p>
          <a:p>
            <a:pPr marL="0" indent="0">
              <a:lnSpc>
                <a:spcPct val="100000"/>
              </a:lnSpc>
              <a:buNone/>
            </a:pPr>
            <a:r>
              <a:rPr lang="en-IN" sz="3000" dirty="0" smtClean="0">
                <a:solidFill>
                  <a:srgbClr val="C00000"/>
                </a:solidFill>
              </a:rPr>
              <a:t>Strongly-ordered memory always assumes the resource to be shareable</a:t>
            </a:r>
            <a:endParaRPr lang="en-IN" sz="3000" dirty="0">
              <a:solidFill>
                <a:srgbClr val="C00000"/>
              </a:solidFill>
            </a:endParaRPr>
          </a:p>
        </p:txBody>
      </p:sp>
    </p:spTree>
    <p:extLst>
      <p:ext uri="{BB962C8B-B14F-4D97-AF65-F5344CB8AC3E}">
        <p14:creationId xmlns:p14="http://schemas.microsoft.com/office/powerpoint/2010/main" val="210873426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16110"/>
            <a:ext cx="8911687" cy="1280890"/>
          </a:xfrm>
        </p:spPr>
        <p:txBody>
          <a:bodyPr>
            <a:normAutofit/>
          </a:bodyPr>
          <a:lstStyle/>
          <a:p>
            <a:r>
              <a:rPr lang="en-IN" sz="3600" b="1" dirty="0">
                <a:solidFill>
                  <a:srgbClr val="7030A0"/>
                </a:solidFill>
                <a:latin typeface="Verdana "/>
              </a:rPr>
              <a:t>7.5.2 Out-of-Order Access</a:t>
            </a:r>
          </a:p>
        </p:txBody>
      </p:sp>
      <p:sp>
        <p:nvSpPr>
          <p:cNvPr id="3" name="Content Placeholder 2"/>
          <p:cNvSpPr>
            <a:spLocks noGrp="1"/>
          </p:cNvSpPr>
          <p:nvPr>
            <p:ph idx="1"/>
          </p:nvPr>
        </p:nvSpPr>
        <p:spPr>
          <a:xfrm>
            <a:off x="2535162" y="1605280"/>
            <a:ext cx="8829523" cy="4206240"/>
          </a:xfrm>
        </p:spPr>
        <p:txBody>
          <a:bodyPr/>
          <a:lstStyle/>
          <a:p>
            <a:pPr>
              <a:lnSpc>
                <a:spcPct val="100000"/>
              </a:lnSpc>
              <a:buFont typeface="Wingdings" panose="05000000000000000000" pitchFamily="2" charset="2"/>
              <a:buChar char="v"/>
            </a:pPr>
            <a:r>
              <a:rPr lang="en-IN" sz="2700" dirty="0" smtClean="0">
                <a:solidFill>
                  <a:schemeClr val="tx1">
                    <a:lumMod val="95000"/>
                    <a:lumOff val="5000"/>
                  </a:schemeClr>
                </a:solidFill>
                <a:latin typeface="Verdana "/>
              </a:rPr>
              <a:t>As </a:t>
            </a:r>
            <a:r>
              <a:rPr lang="en-IN" sz="2700" dirty="0">
                <a:solidFill>
                  <a:schemeClr val="tx1">
                    <a:lumMod val="95000"/>
                    <a:lumOff val="5000"/>
                  </a:schemeClr>
                </a:solidFill>
                <a:latin typeface="Verdana "/>
              </a:rPr>
              <a:t>the program is coded, compiled and made ready to run, we assume that execution is in the order of the program lines.</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Program may change the order of execution</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It may also give higher efficiency and speed</a:t>
            </a:r>
          </a:p>
          <a:p>
            <a:pPr>
              <a:lnSpc>
                <a:spcPct val="100000"/>
              </a:lnSpc>
              <a:buFont typeface="Wingdings" panose="05000000000000000000" pitchFamily="2" charset="2"/>
              <a:buChar char="v"/>
            </a:pPr>
            <a:r>
              <a:rPr lang="en-IN" sz="2700" dirty="0">
                <a:solidFill>
                  <a:schemeClr val="tx1">
                    <a:lumMod val="95000"/>
                    <a:lumOff val="5000"/>
                  </a:schemeClr>
                </a:solidFill>
                <a:latin typeface="Verdana "/>
              </a:rPr>
              <a:t> Similarly, the order in which the memory is accessed may also be changed.</a:t>
            </a:r>
          </a:p>
          <a:p>
            <a:pPr>
              <a:lnSpc>
                <a:spcPct val="100000"/>
              </a:lnSpc>
              <a:buFont typeface="Wingdings" panose="05000000000000000000" pitchFamily="2" charset="2"/>
              <a:buChar char="v"/>
            </a:pPr>
            <a:endParaRPr lang="en-IN" sz="3000" dirty="0">
              <a:solidFill>
                <a:srgbClr val="FFFF00"/>
              </a:solidFill>
            </a:endParaRPr>
          </a:p>
        </p:txBody>
      </p:sp>
    </p:spTree>
    <p:extLst>
      <p:ext uri="{BB962C8B-B14F-4D97-AF65-F5344CB8AC3E}">
        <p14:creationId xmlns:p14="http://schemas.microsoft.com/office/powerpoint/2010/main" val="176251288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9432" y="1518194"/>
            <a:ext cx="9029654" cy="4708434"/>
          </a:xfrm>
        </p:spPr>
        <p:txBody>
          <a:bodyPr/>
          <a:lstStyle/>
          <a:p>
            <a:pPr marL="0" indent="0">
              <a:buNone/>
            </a:pPr>
            <a:r>
              <a:rPr lang="en-IN" sz="3000" dirty="0" smtClean="0">
                <a:solidFill>
                  <a:srgbClr val="C00000"/>
                </a:solidFill>
              </a:rPr>
              <a:t>Reasons </a:t>
            </a:r>
            <a:r>
              <a:rPr lang="en-IN" sz="3000" dirty="0">
                <a:solidFill>
                  <a:srgbClr val="C00000"/>
                </a:solidFill>
              </a:rPr>
              <a:t>behind it is listed as:</a:t>
            </a:r>
          </a:p>
          <a:p>
            <a:pPr marL="457200" indent="-457200">
              <a:buAutoNum type="arabicPeriod"/>
            </a:pPr>
            <a:r>
              <a:rPr lang="en-IN" sz="2700" dirty="0">
                <a:solidFill>
                  <a:schemeClr val="tx1">
                    <a:lumMod val="95000"/>
                    <a:lumOff val="5000"/>
                  </a:schemeClr>
                </a:solidFill>
                <a:latin typeface="Verdana "/>
              </a:rPr>
              <a:t>The processor can reorder same memory</a:t>
            </a:r>
          </a:p>
          <a:p>
            <a:pPr marL="457200" indent="-457200">
              <a:buAutoNum type="arabicPeriod"/>
            </a:pPr>
            <a:r>
              <a:rPr lang="en-IN" sz="2700" dirty="0">
                <a:solidFill>
                  <a:schemeClr val="tx1">
                    <a:lumMod val="95000"/>
                    <a:lumOff val="5000"/>
                  </a:schemeClr>
                </a:solidFill>
                <a:latin typeface="Verdana "/>
              </a:rPr>
              <a:t> Memory or devices in the memory map may have different wait states</a:t>
            </a:r>
          </a:p>
          <a:p>
            <a:pPr marL="457200" indent="-457200">
              <a:buAutoNum type="arabicPeriod"/>
            </a:pPr>
            <a:r>
              <a:rPr lang="en-IN" sz="2700" dirty="0">
                <a:solidFill>
                  <a:schemeClr val="tx1">
                    <a:lumMod val="95000"/>
                    <a:lumOff val="5000"/>
                  </a:schemeClr>
                </a:solidFill>
                <a:latin typeface="Verdana "/>
              </a:rPr>
              <a:t> Some memory accesses are buffered or speculative </a:t>
            </a:r>
          </a:p>
        </p:txBody>
      </p:sp>
    </p:spTree>
    <p:extLst>
      <p:ext uri="{BB962C8B-B14F-4D97-AF65-F5344CB8AC3E}">
        <p14:creationId xmlns:p14="http://schemas.microsoft.com/office/powerpoint/2010/main" val="168911534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43192" y="19734"/>
            <a:ext cx="9264952" cy="1320800"/>
          </a:xfrm>
        </p:spPr>
        <p:txBody>
          <a:bodyPr/>
          <a:lstStyle/>
          <a:p>
            <a:r>
              <a:rPr lang="en-IN" sz="3600" b="1" dirty="0" smtClean="0">
                <a:solidFill>
                  <a:srgbClr val="7030A0"/>
                </a:solidFill>
                <a:latin typeface="Verdana "/>
              </a:rPr>
              <a:t>7.6 Nested Vectored Interrupt Controller </a:t>
            </a:r>
            <a:endParaRPr lang="en-IN" sz="3600" b="1" dirty="0">
              <a:solidFill>
                <a:srgbClr val="7030A0"/>
              </a:solidFill>
              <a:latin typeface="Verdana "/>
            </a:endParaRPr>
          </a:p>
        </p:txBody>
      </p:sp>
      <p:sp>
        <p:nvSpPr>
          <p:cNvPr id="3" name="Content Placeholder 2"/>
          <p:cNvSpPr>
            <a:spLocks noGrp="1"/>
          </p:cNvSpPr>
          <p:nvPr>
            <p:ph idx="1"/>
          </p:nvPr>
        </p:nvSpPr>
        <p:spPr>
          <a:xfrm>
            <a:off x="1533205" y="1234975"/>
            <a:ext cx="10426566" cy="5054990"/>
          </a:xfrm>
        </p:spPr>
        <p:txBody>
          <a:bodyPr>
            <a:normAutofit/>
          </a:bodyPr>
          <a:lstStyle/>
          <a:p>
            <a:pPr algn="just"/>
            <a:r>
              <a:rPr lang="en-US" sz="2700" dirty="0" smtClean="0">
                <a:solidFill>
                  <a:schemeClr val="tx1">
                    <a:lumMod val="95000"/>
                    <a:lumOff val="5000"/>
                  </a:schemeClr>
                </a:solidFill>
                <a:latin typeface="Verdana "/>
              </a:rPr>
              <a:t>When </a:t>
            </a:r>
            <a:r>
              <a:rPr lang="en-US" sz="2700" dirty="0">
                <a:solidFill>
                  <a:schemeClr val="tx1">
                    <a:lumMod val="95000"/>
                    <a:lumOff val="5000"/>
                  </a:schemeClr>
                </a:solidFill>
                <a:latin typeface="Verdana "/>
              </a:rPr>
              <a:t>a currently executing program is made to stop and a new program is taken up for execution, we say that an interrupt has occurred. </a:t>
            </a:r>
          </a:p>
          <a:p>
            <a:pPr algn="just"/>
            <a:r>
              <a:rPr lang="en-US" sz="2700" dirty="0">
                <a:solidFill>
                  <a:schemeClr val="tx1">
                    <a:lumMod val="95000"/>
                    <a:lumOff val="5000"/>
                  </a:schemeClr>
                </a:solidFill>
                <a:latin typeface="Verdana "/>
              </a:rPr>
              <a:t>The word 'exception' is also associated with this event. </a:t>
            </a:r>
          </a:p>
          <a:p>
            <a:pPr algn="just"/>
            <a:r>
              <a:rPr lang="en-US" sz="2700" dirty="0">
                <a:solidFill>
                  <a:schemeClr val="tx1">
                    <a:lumMod val="95000"/>
                    <a:lumOff val="5000"/>
                  </a:schemeClr>
                </a:solidFill>
                <a:latin typeface="Verdana "/>
              </a:rPr>
              <a:t>we will use the term interrupt for all classes of such events. </a:t>
            </a:r>
          </a:p>
          <a:p>
            <a:pPr algn="just"/>
            <a:r>
              <a:rPr lang="en-US" sz="2700" dirty="0">
                <a:solidFill>
                  <a:schemeClr val="tx1">
                    <a:lumMod val="95000"/>
                    <a:lumOff val="5000"/>
                  </a:schemeClr>
                </a:solidFill>
                <a:latin typeface="Verdana "/>
              </a:rPr>
              <a:t>The  word 'exception' will then refer to a sub class of interrupts.</a:t>
            </a:r>
            <a:endParaRPr lang="en-IN" sz="2700" dirty="0">
              <a:solidFill>
                <a:schemeClr val="tx1">
                  <a:lumMod val="95000"/>
                  <a:lumOff val="5000"/>
                </a:schemeClr>
              </a:solidFill>
              <a:latin typeface="Verdana "/>
            </a:endParaRPr>
          </a:p>
          <a:p>
            <a:pPr algn="just"/>
            <a:r>
              <a:rPr lang="en-US" sz="2700" dirty="0">
                <a:solidFill>
                  <a:schemeClr val="tx1">
                    <a:lumMod val="95000"/>
                    <a:lumOff val="5000"/>
                  </a:schemeClr>
                </a:solidFill>
                <a:latin typeface="Verdana "/>
              </a:rPr>
              <a:t>situations under which the currently running program has to be temporarily suspended to give way to another sequence of instructions</a:t>
            </a:r>
            <a:r>
              <a:rPr lang="en-US" sz="2700" dirty="0" smtClean="0">
                <a:solidFill>
                  <a:schemeClr val="tx1">
                    <a:lumMod val="95000"/>
                    <a:lumOff val="5000"/>
                  </a:schemeClr>
                </a:solidFill>
                <a:latin typeface="Verdana "/>
              </a:rPr>
              <a:t>.</a:t>
            </a:r>
            <a:endParaRPr lang="en-IN" sz="2700" dirty="0">
              <a:solidFill>
                <a:schemeClr val="tx1">
                  <a:lumMod val="95000"/>
                  <a:lumOff val="5000"/>
                </a:schemeClr>
              </a:solidFill>
              <a:latin typeface="Verdana "/>
            </a:endParaRPr>
          </a:p>
        </p:txBody>
      </p:sp>
    </p:spTree>
    <p:extLst>
      <p:ext uri="{BB962C8B-B14F-4D97-AF65-F5344CB8AC3E}">
        <p14:creationId xmlns:p14="http://schemas.microsoft.com/office/powerpoint/2010/main" val="390452950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43192" y="19734"/>
            <a:ext cx="9264952" cy="1320800"/>
          </a:xfrm>
        </p:spPr>
        <p:txBody>
          <a:bodyPr/>
          <a:lstStyle/>
          <a:p>
            <a:r>
              <a:rPr lang="en-IN" sz="3600" b="1" dirty="0" smtClean="0">
                <a:solidFill>
                  <a:srgbClr val="7030A0"/>
                </a:solidFill>
                <a:latin typeface="Verdana "/>
              </a:rPr>
              <a:t>7.6 Nested Vectored Interrupt Controller </a:t>
            </a:r>
            <a:endParaRPr lang="en-IN" sz="3600" b="1" dirty="0">
              <a:solidFill>
                <a:srgbClr val="7030A0"/>
              </a:solidFill>
              <a:latin typeface="Verdana "/>
            </a:endParaRPr>
          </a:p>
        </p:txBody>
      </p:sp>
      <p:sp>
        <p:nvSpPr>
          <p:cNvPr id="3" name="Content Placeholder 2"/>
          <p:cNvSpPr>
            <a:spLocks noGrp="1"/>
          </p:cNvSpPr>
          <p:nvPr>
            <p:ph idx="1"/>
          </p:nvPr>
        </p:nvSpPr>
        <p:spPr>
          <a:xfrm>
            <a:off x="1505496" y="1340534"/>
            <a:ext cx="10426566" cy="4874880"/>
          </a:xfrm>
        </p:spPr>
        <p:txBody>
          <a:bodyPr>
            <a:normAutofit/>
          </a:bodyPr>
          <a:lstStyle/>
          <a:p>
            <a:pPr algn="just"/>
            <a:r>
              <a:rPr lang="en-US" sz="2700" dirty="0" smtClean="0">
                <a:solidFill>
                  <a:schemeClr val="tx1">
                    <a:lumMod val="95000"/>
                    <a:lumOff val="5000"/>
                  </a:schemeClr>
                </a:solidFill>
                <a:latin typeface="Verdana "/>
              </a:rPr>
              <a:t>One </a:t>
            </a:r>
            <a:r>
              <a:rPr lang="en-US" sz="2700" dirty="0">
                <a:solidFill>
                  <a:schemeClr val="tx1">
                    <a:lumMod val="95000"/>
                    <a:lumOff val="5000"/>
                  </a:schemeClr>
                </a:solidFill>
                <a:latin typeface="Verdana "/>
              </a:rPr>
              <a:t>case is when a peripheral needs service from the processor</a:t>
            </a:r>
            <a:r>
              <a:rPr lang="en-US" sz="2700" dirty="0" smtClean="0">
                <a:solidFill>
                  <a:schemeClr val="tx1">
                    <a:lumMod val="95000"/>
                    <a:lumOff val="5000"/>
                  </a:schemeClr>
                </a:solidFill>
                <a:latin typeface="Verdana "/>
              </a:rPr>
              <a:t>.</a:t>
            </a:r>
          </a:p>
          <a:p>
            <a:pPr algn="just"/>
            <a:r>
              <a:rPr lang="en-US" sz="2700" dirty="0" smtClean="0">
                <a:solidFill>
                  <a:schemeClr val="tx1">
                    <a:lumMod val="95000"/>
                    <a:lumOff val="5000"/>
                  </a:schemeClr>
                </a:solidFill>
                <a:latin typeface="Verdana "/>
              </a:rPr>
              <a:t>The </a:t>
            </a:r>
            <a:r>
              <a:rPr lang="en-US" sz="2700" dirty="0">
                <a:solidFill>
                  <a:schemeClr val="tx1">
                    <a:lumMod val="95000"/>
                    <a:lumOff val="5000"/>
                  </a:schemeClr>
                </a:solidFill>
                <a:latin typeface="Verdana "/>
              </a:rPr>
              <a:t>request from the peripheral may appear at any time with no relation to the clock of the processor. </a:t>
            </a:r>
            <a:endParaRPr lang="en-US" sz="2700" dirty="0" smtClean="0">
              <a:solidFill>
                <a:schemeClr val="tx1">
                  <a:lumMod val="95000"/>
                  <a:lumOff val="5000"/>
                </a:schemeClr>
              </a:solidFill>
              <a:latin typeface="Verdana "/>
            </a:endParaRPr>
          </a:p>
          <a:p>
            <a:pPr algn="just"/>
            <a:r>
              <a:rPr lang="en-US" sz="2700" dirty="0" smtClean="0">
                <a:solidFill>
                  <a:schemeClr val="tx1">
                    <a:lumMod val="95000"/>
                    <a:lumOff val="5000"/>
                  </a:schemeClr>
                </a:solidFill>
                <a:latin typeface="Verdana "/>
              </a:rPr>
              <a:t>Such </a:t>
            </a:r>
            <a:r>
              <a:rPr lang="en-US" sz="2700" dirty="0">
                <a:solidFill>
                  <a:schemeClr val="tx1">
                    <a:lumMod val="95000"/>
                    <a:lumOff val="5000"/>
                  </a:schemeClr>
                </a:solidFill>
                <a:latin typeface="Verdana "/>
              </a:rPr>
              <a:t>requests are 'asynchronous', that is, they appear at arbitrary instances and are not timed with the system clock</a:t>
            </a:r>
            <a:r>
              <a:rPr lang="en-US" sz="2700" dirty="0" smtClean="0">
                <a:solidFill>
                  <a:schemeClr val="tx1">
                    <a:lumMod val="95000"/>
                    <a:lumOff val="5000"/>
                  </a:schemeClr>
                </a:solidFill>
                <a:latin typeface="Verdana "/>
              </a:rPr>
              <a:t>.</a:t>
            </a:r>
          </a:p>
          <a:p>
            <a:pPr algn="just"/>
            <a:r>
              <a:rPr lang="en-US" sz="2700" dirty="0" smtClean="0">
                <a:solidFill>
                  <a:schemeClr val="tx1">
                    <a:lumMod val="95000"/>
                    <a:lumOff val="5000"/>
                  </a:schemeClr>
                </a:solidFill>
                <a:latin typeface="Verdana "/>
              </a:rPr>
              <a:t>Such </a:t>
            </a:r>
            <a:r>
              <a:rPr lang="en-US" sz="2700" dirty="0">
                <a:solidFill>
                  <a:schemeClr val="tx1">
                    <a:lumMod val="95000"/>
                    <a:lumOff val="5000"/>
                  </a:schemeClr>
                </a:solidFill>
                <a:latin typeface="Verdana "/>
              </a:rPr>
              <a:t>asynchronous requests (for service) from peripherals are titled as IRQs </a:t>
            </a:r>
            <a:r>
              <a:rPr lang="en-US" sz="2700" dirty="0" smtClean="0">
                <a:solidFill>
                  <a:schemeClr val="tx1">
                    <a:lumMod val="95000"/>
                    <a:lumOff val="5000"/>
                  </a:schemeClr>
                </a:solidFill>
                <a:latin typeface="Verdana "/>
              </a:rPr>
              <a:t>(Inter­rupt </a:t>
            </a:r>
            <a:r>
              <a:rPr lang="en-US" sz="2700" dirty="0">
                <a:solidFill>
                  <a:schemeClr val="tx1">
                    <a:lumMod val="95000"/>
                    <a:lumOff val="5000"/>
                  </a:schemeClr>
                </a:solidFill>
                <a:latin typeface="Verdana "/>
              </a:rPr>
              <a:t>Request</a:t>
            </a:r>
            <a:r>
              <a:rPr lang="en-US" sz="2700" dirty="0" smtClean="0">
                <a:solidFill>
                  <a:schemeClr val="tx1">
                    <a:lumMod val="95000"/>
                    <a:lumOff val="5000"/>
                  </a:schemeClr>
                </a:solidFill>
                <a:latin typeface="Verdana "/>
              </a:rPr>
              <a:t>).</a:t>
            </a:r>
          </a:p>
          <a:p>
            <a:pPr algn="just"/>
            <a:r>
              <a:rPr lang="en-US" sz="2800" dirty="0">
                <a:solidFill>
                  <a:schemeClr val="tx1">
                    <a:lumMod val="95000"/>
                    <a:lumOff val="5000"/>
                  </a:schemeClr>
                </a:solidFill>
                <a:latin typeface="Verdana "/>
              </a:rPr>
              <a:t>There are interrupts which are generated by conditions caused by the processor — faults or certain special conditions.</a:t>
            </a:r>
          </a:p>
          <a:p>
            <a:pPr algn="just"/>
            <a:endParaRPr lang="en-IN" sz="2700" dirty="0">
              <a:solidFill>
                <a:schemeClr val="tx1">
                  <a:lumMod val="95000"/>
                  <a:lumOff val="5000"/>
                </a:schemeClr>
              </a:solidFill>
              <a:latin typeface="Verdana "/>
            </a:endParaRPr>
          </a:p>
          <a:p>
            <a:pPr algn="just"/>
            <a:endParaRPr lang="en-IN" sz="2700" dirty="0">
              <a:solidFill>
                <a:schemeClr val="tx1">
                  <a:lumMod val="95000"/>
                  <a:lumOff val="5000"/>
                </a:schemeClr>
              </a:solidFill>
              <a:latin typeface="Verdana "/>
            </a:endParaRPr>
          </a:p>
        </p:txBody>
      </p:sp>
    </p:spTree>
    <p:extLst>
      <p:ext uri="{BB962C8B-B14F-4D97-AF65-F5344CB8AC3E}">
        <p14:creationId xmlns:p14="http://schemas.microsoft.com/office/powerpoint/2010/main" val="16753398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1268" y="624113"/>
            <a:ext cx="10560732" cy="6233887"/>
          </a:xfrm>
        </p:spPr>
        <p:txBody>
          <a:bodyPr>
            <a:normAutofit/>
          </a:bodyPr>
          <a:lstStyle/>
          <a:p>
            <a:r>
              <a:rPr lang="en-US" sz="2500" dirty="0" smtClean="0">
                <a:solidFill>
                  <a:schemeClr val="tx1">
                    <a:lumMod val="95000"/>
                    <a:lumOff val="5000"/>
                  </a:schemeClr>
                </a:solidFill>
                <a:latin typeface="Verdana "/>
              </a:rPr>
              <a:t>Shall </a:t>
            </a:r>
            <a:r>
              <a:rPr lang="en-US" sz="2500" dirty="0">
                <a:solidFill>
                  <a:schemeClr val="tx1">
                    <a:lumMod val="95000"/>
                    <a:lumOff val="5000"/>
                  </a:schemeClr>
                </a:solidFill>
                <a:latin typeface="Verdana "/>
              </a:rPr>
              <a:t>call them 'system exceptions' or just exceptions.</a:t>
            </a:r>
          </a:p>
          <a:p>
            <a:r>
              <a:rPr lang="en-US" sz="2500" dirty="0">
                <a:solidFill>
                  <a:schemeClr val="tx1">
                    <a:lumMod val="95000"/>
                    <a:lumOff val="5000"/>
                  </a:schemeClr>
                </a:solidFill>
                <a:latin typeface="Verdana "/>
              </a:rPr>
              <a:t>Some of these exceptions are 'synchronous' with respect to the CPU clock.</a:t>
            </a:r>
          </a:p>
          <a:p>
            <a:r>
              <a:rPr lang="en-US" sz="2500" dirty="0">
                <a:solidFill>
                  <a:schemeClr val="tx1">
                    <a:lumMod val="95000"/>
                    <a:lumOff val="5000"/>
                  </a:schemeClr>
                </a:solidFill>
                <a:latin typeface="Verdana "/>
              </a:rPr>
              <a:t>They are produced by the CPU control unit when faults or certain special conditions occur. </a:t>
            </a:r>
          </a:p>
          <a:p>
            <a:r>
              <a:rPr lang="en-US" sz="2500" dirty="0">
                <a:solidFill>
                  <a:schemeClr val="tx1">
                    <a:lumMod val="95000"/>
                    <a:lumOff val="5000"/>
                  </a:schemeClr>
                </a:solidFill>
                <a:latin typeface="Verdana "/>
              </a:rPr>
              <a:t>The control unit generates them only when the current instruction is terminated/completed.</a:t>
            </a:r>
          </a:p>
          <a:p>
            <a:r>
              <a:rPr lang="en-US" sz="2500" dirty="0">
                <a:solidFill>
                  <a:schemeClr val="tx1">
                    <a:lumMod val="95000"/>
                    <a:lumOff val="5000"/>
                  </a:schemeClr>
                </a:solidFill>
                <a:latin typeface="Verdana "/>
              </a:rPr>
              <a:t>For our Cortex-MO, '</a:t>
            </a:r>
            <a:r>
              <a:rPr lang="en-US" sz="2500" dirty="0" err="1">
                <a:solidFill>
                  <a:schemeClr val="tx1">
                    <a:lumMod val="95000"/>
                    <a:lumOff val="5000"/>
                  </a:schemeClr>
                </a:solidFill>
                <a:latin typeface="Verdana "/>
              </a:rPr>
              <a:t>SvCall</a:t>
            </a:r>
            <a:r>
              <a:rPr lang="en-US" sz="2500" dirty="0">
                <a:solidFill>
                  <a:schemeClr val="tx1">
                    <a:lumMod val="95000"/>
                    <a:lumOff val="5000"/>
                  </a:schemeClr>
                </a:solidFill>
                <a:latin typeface="Verdana "/>
              </a:rPr>
              <a:t>' and 'hard fault' are synchronous exceptions</a:t>
            </a:r>
          </a:p>
          <a:p>
            <a:r>
              <a:rPr lang="en-US" sz="2500" dirty="0">
                <a:solidFill>
                  <a:schemeClr val="tx1">
                    <a:lumMod val="95000"/>
                    <a:lumOff val="5000"/>
                  </a:schemeClr>
                </a:solidFill>
                <a:latin typeface="Verdana "/>
              </a:rPr>
              <a:t>whereas all other exceptions are asynchronous. </a:t>
            </a:r>
          </a:p>
        </p:txBody>
      </p:sp>
    </p:spTree>
    <p:extLst>
      <p:ext uri="{BB962C8B-B14F-4D97-AF65-F5344CB8AC3E}">
        <p14:creationId xmlns:p14="http://schemas.microsoft.com/office/powerpoint/2010/main" val="295452490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29555" y="696686"/>
            <a:ext cx="8915400" cy="798286"/>
          </a:xfrm>
        </p:spPr>
        <p:txBody>
          <a:bodyPr/>
          <a:lstStyle/>
          <a:p>
            <a:r>
              <a:rPr lang="en-US" dirty="0">
                <a:solidFill>
                  <a:schemeClr val="tx1">
                    <a:lumMod val="95000"/>
                    <a:lumOff val="5000"/>
                  </a:schemeClr>
                </a:solidFill>
                <a:latin typeface="Verdana "/>
              </a:rPr>
              <a:t>Figure illustrates the 'interrupt/ exception model' of the processor</a:t>
            </a:r>
            <a:r>
              <a:rPr lang="en-US" dirty="0" smtClean="0">
                <a:solidFill>
                  <a:schemeClr val="tx1">
                    <a:lumMod val="95000"/>
                    <a:lumOff val="5000"/>
                  </a:schemeClr>
                </a:solidFill>
                <a:latin typeface="Verdana "/>
              </a:rPr>
              <a:t>.</a:t>
            </a:r>
          </a:p>
          <a:p>
            <a:r>
              <a:rPr lang="en-US" dirty="0" smtClean="0">
                <a:solidFill>
                  <a:schemeClr val="tx1">
                    <a:lumMod val="95000"/>
                    <a:lumOff val="5000"/>
                  </a:schemeClr>
                </a:solidFill>
                <a:latin typeface="Verdana "/>
              </a:rPr>
              <a:t>Let </a:t>
            </a:r>
            <a:r>
              <a:rPr lang="en-US" dirty="0">
                <a:solidFill>
                  <a:schemeClr val="tx1">
                    <a:lumMod val="95000"/>
                    <a:lumOff val="5000"/>
                  </a:schemeClr>
                </a:solidFill>
                <a:latin typeface="Verdana "/>
              </a:rPr>
              <a:t>us now move onto understanding this model in greater depth.</a:t>
            </a:r>
            <a:endParaRPr lang="en-IN" dirty="0">
              <a:solidFill>
                <a:schemeClr val="tx1">
                  <a:lumMod val="95000"/>
                  <a:lumOff val="5000"/>
                </a:schemeClr>
              </a:solidFill>
              <a:latin typeface="Verdana "/>
            </a:endParaRPr>
          </a:p>
          <a:p>
            <a:endParaRPr lang="en-IN" dirty="0"/>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362" y="1857829"/>
            <a:ext cx="9247632" cy="4586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855852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7303" y="649185"/>
            <a:ext cx="10125303" cy="3777622"/>
          </a:xfrm>
        </p:spPr>
        <p:txBody>
          <a:bodyPr>
            <a:noAutofit/>
          </a:bodyPr>
          <a:lstStyle/>
          <a:p>
            <a:pPr algn="just">
              <a:lnSpc>
                <a:spcPct val="150000"/>
              </a:lnSpc>
            </a:pPr>
            <a:r>
              <a:rPr lang="en-US" sz="2500" dirty="0">
                <a:solidFill>
                  <a:schemeClr val="tx1">
                    <a:lumMod val="95000"/>
                    <a:lumOff val="5000"/>
                  </a:schemeClr>
                </a:solidFill>
                <a:latin typeface="Verdana "/>
              </a:rPr>
              <a:t>The </a:t>
            </a:r>
            <a:r>
              <a:rPr lang="en-US" sz="2500" dirty="0" smtClean="0">
                <a:solidFill>
                  <a:schemeClr val="tx1">
                    <a:lumMod val="95000"/>
                    <a:lumOff val="5000"/>
                  </a:schemeClr>
                </a:solidFill>
                <a:latin typeface="Verdana "/>
              </a:rPr>
              <a:t>NVIC </a:t>
            </a:r>
            <a:r>
              <a:rPr lang="en-US" sz="2500" dirty="0">
                <a:solidFill>
                  <a:schemeClr val="tx1">
                    <a:lumMod val="95000"/>
                    <a:lumOff val="5000"/>
                  </a:schemeClr>
                </a:solidFill>
                <a:latin typeface="Verdana "/>
              </a:rPr>
              <a:t>in the Cortex-MO processor family provides very flexible and easy interrupt management</a:t>
            </a:r>
            <a:r>
              <a:rPr lang="en-US" sz="2500" dirty="0" smtClean="0">
                <a:solidFill>
                  <a:schemeClr val="tx1">
                    <a:lumMod val="95000"/>
                    <a:lumOff val="5000"/>
                  </a:schemeClr>
                </a:solidFill>
                <a:latin typeface="Verdana "/>
              </a:rPr>
              <a:t>.</a:t>
            </a:r>
          </a:p>
          <a:p>
            <a:pPr algn="just">
              <a:lnSpc>
                <a:spcPct val="150000"/>
              </a:lnSpc>
            </a:pPr>
            <a:r>
              <a:rPr lang="en-US" sz="2500" dirty="0" smtClean="0">
                <a:solidFill>
                  <a:schemeClr val="tx1">
                    <a:lumMod val="95000"/>
                    <a:lumOff val="5000"/>
                  </a:schemeClr>
                </a:solidFill>
                <a:latin typeface="Verdana "/>
              </a:rPr>
              <a:t>It </a:t>
            </a:r>
            <a:r>
              <a:rPr lang="en-US" sz="2500" dirty="0">
                <a:solidFill>
                  <a:schemeClr val="tx1">
                    <a:lumMod val="95000"/>
                    <a:lumOff val="5000"/>
                  </a:schemeClr>
                </a:solidFill>
                <a:latin typeface="Verdana "/>
              </a:rPr>
              <a:t>has features of programmable priority levels, automatic nested interrupt support, along with support for multiple inter­rupt masking</a:t>
            </a:r>
            <a:r>
              <a:rPr lang="en-US" sz="2500" dirty="0" smtClean="0">
                <a:solidFill>
                  <a:schemeClr val="tx1">
                    <a:lumMod val="95000"/>
                    <a:lumOff val="5000"/>
                  </a:schemeClr>
                </a:solidFill>
                <a:latin typeface="Verdana "/>
              </a:rPr>
              <a:t>.</a:t>
            </a:r>
          </a:p>
          <a:p>
            <a:pPr algn="just">
              <a:lnSpc>
                <a:spcPct val="150000"/>
              </a:lnSpc>
            </a:pPr>
            <a:r>
              <a:rPr lang="en-US" sz="2500" dirty="0" smtClean="0">
                <a:solidFill>
                  <a:schemeClr val="tx1">
                    <a:lumMod val="95000"/>
                    <a:lumOff val="5000"/>
                  </a:schemeClr>
                </a:solidFill>
                <a:latin typeface="Verdana "/>
              </a:rPr>
              <a:t>In </a:t>
            </a:r>
            <a:r>
              <a:rPr lang="en-US" sz="2500" dirty="0">
                <a:solidFill>
                  <a:schemeClr val="tx1">
                    <a:lumMod val="95000"/>
                    <a:lumOff val="5000"/>
                  </a:schemeClr>
                </a:solidFill>
                <a:latin typeface="Verdana "/>
              </a:rPr>
              <a:t>addition to interrupt requests from peripherals, the NVIC supports internal interrupts, for example, an input from the 24-bit timer call </a:t>
            </a:r>
            <a:r>
              <a:rPr lang="en-US" sz="2500" dirty="0" err="1">
                <a:solidFill>
                  <a:schemeClr val="tx1">
                    <a:lumMod val="95000"/>
                    <a:lumOff val="5000"/>
                  </a:schemeClr>
                </a:solidFill>
                <a:latin typeface="Verdana "/>
              </a:rPr>
              <a:t>SysTick</a:t>
            </a:r>
            <a:r>
              <a:rPr lang="en-US" sz="2500" dirty="0">
                <a:solidFill>
                  <a:schemeClr val="tx1">
                    <a:lumMod val="95000"/>
                    <a:lumOff val="5000"/>
                  </a:schemeClr>
                </a:solidFill>
                <a:latin typeface="Verdana "/>
              </a:rPr>
              <a:t>, which is often used by the OS. </a:t>
            </a:r>
            <a:endParaRPr lang="en-US" sz="2500" dirty="0" smtClean="0">
              <a:solidFill>
                <a:schemeClr val="tx1">
                  <a:lumMod val="95000"/>
                  <a:lumOff val="5000"/>
                </a:schemeClr>
              </a:solidFill>
              <a:latin typeface="Verdana "/>
            </a:endParaRPr>
          </a:p>
          <a:p>
            <a:pPr algn="just">
              <a:lnSpc>
                <a:spcPct val="150000"/>
              </a:lnSpc>
            </a:pPr>
            <a:r>
              <a:rPr lang="en-US" sz="2500" dirty="0" smtClean="0">
                <a:solidFill>
                  <a:schemeClr val="tx1">
                    <a:lumMod val="95000"/>
                    <a:lumOff val="5000"/>
                  </a:schemeClr>
                </a:solidFill>
                <a:latin typeface="Verdana "/>
              </a:rPr>
              <a:t>There </a:t>
            </a:r>
            <a:r>
              <a:rPr lang="en-US" sz="2500" dirty="0">
                <a:solidFill>
                  <a:schemeClr val="tx1">
                    <a:lumMod val="95000"/>
                    <a:lumOff val="5000"/>
                  </a:schemeClr>
                </a:solidFill>
                <a:latin typeface="Verdana "/>
              </a:rPr>
              <a:t>are also additional system exceptions to support OS operations, and a non-</a:t>
            </a:r>
            <a:r>
              <a:rPr lang="en-US" sz="2500" dirty="0" err="1">
                <a:solidFill>
                  <a:schemeClr val="tx1">
                    <a:lumMod val="95000"/>
                    <a:lumOff val="5000"/>
                  </a:schemeClr>
                </a:solidFill>
                <a:latin typeface="Verdana "/>
              </a:rPr>
              <a:t>Maskable</a:t>
            </a:r>
            <a:r>
              <a:rPr lang="en-US" sz="2500" dirty="0">
                <a:solidFill>
                  <a:schemeClr val="tx1">
                    <a:lumMod val="95000"/>
                    <a:lumOff val="5000"/>
                  </a:schemeClr>
                </a:solidFill>
                <a:latin typeface="Verdana "/>
              </a:rPr>
              <a:t> Interrupt (NMI) input. </a:t>
            </a:r>
            <a:endParaRPr lang="en-US" sz="2500" dirty="0" smtClean="0">
              <a:solidFill>
                <a:schemeClr val="tx1">
                  <a:lumMod val="95000"/>
                  <a:lumOff val="5000"/>
                </a:schemeClr>
              </a:solidFill>
              <a:latin typeface="Verdana "/>
            </a:endParaRPr>
          </a:p>
        </p:txBody>
      </p:sp>
    </p:spTree>
    <p:extLst>
      <p:ext uri="{BB962C8B-B14F-4D97-AF65-F5344CB8AC3E}">
        <p14:creationId xmlns:p14="http://schemas.microsoft.com/office/powerpoint/2010/main" val="371012164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3840" y="159656"/>
            <a:ext cx="10488160" cy="1204688"/>
          </a:xfrm>
        </p:spPr>
        <p:txBody>
          <a:bodyPr>
            <a:normAutofit fontScale="55000" lnSpcReduction="20000"/>
          </a:bodyPr>
          <a:lstStyle/>
          <a:p>
            <a:r>
              <a:rPr lang="en-US" sz="4000" dirty="0">
                <a:solidFill>
                  <a:schemeClr val="tx1">
                    <a:lumMod val="95000"/>
                    <a:lumOff val="5000"/>
                  </a:schemeClr>
                </a:solidFill>
                <a:latin typeface="Verdana "/>
              </a:rPr>
              <a:t>Figure shows the NVIC in greater detail</a:t>
            </a:r>
            <a:endParaRPr lang="en-IN" sz="4000" dirty="0">
              <a:solidFill>
                <a:schemeClr val="tx1">
                  <a:lumMod val="95000"/>
                  <a:lumOff val="5000"/>
                </a:schemeClr>
              </a:solidFill>
              <a:latin typeface="Verdana "/>
            </a:endParaRPr>
          </a:p>
          <a:p>
            <a:r>
              <a:rPr lang="en-IN" sz="4000" dirty="0">
                <a:solidFill>
                  <a:schemeClr val="tx1">
                    <a:lumMod val="95000"/>
                    <a:lumOff val="5000"/>
                  </a:schemeClr>
                </a:solidFill>
                <a:latin typeface="Verdana "/>
              </a:rPr>
              <a:t> </a:t>
            </a:r>
            <a:r>
              <a:rPr lang="en-US" sz="4000" dirty="0">
                <a:solidFill>
                  <a:schemeClr val="tx1">
                    <a:lumMod val="95000"/>
                    <a:lumOff val="5000"/>
                  </a:schemeClr>
                </a:solidFill>
                <a:latin typeface="Verdana "/>
              </a:rPr>
              <a:t>Let us first talk about the </a:t>
            </a:r>
            <a:r>
              <a:rPr lang="en-US" sz="4000" dirty="0" err="1">
                <a:solidFill>
                  <a:schemeClr val="tx1">
                    <a:lumMod val="95000"/>
                    <a:lumOff val="5000"/>
                  </a:schemeClr>
                </a:solidFill>
                <a:latin typeface="Verdana "/>
              </a:rPr>
              <a:t>SysTimer</a:t>
            </a:r>
            <a:r>
              <a:rPr lang="en-US" sz="4000" dirty="0">
                <a:solidFill>
                  <a:schemeClr val="tx1">
                    <a:lumMod val="95000"/>
                    <a:lumOff val="5000"/>
                  </a:schemeClr>
                </a:solidFill>
                <a:latin typeface="Verdana "/>
              </a:rPr>
              <a:t> which is shown as a block in Fig.</a:t>
            </a:r>
          </a:p>
          <a:p>
            <a:r>
              <a:rPr lang="en-US" sz="4000" dirty="0">
                <a:solidFill>
                  <a:schemeClr val="tx1">
                    <a:lumMod val="95000"/>
                    <a:lumOff val="5000"/>
                  </a:schemeClr>
                </a:solidFill>
                <a:latin typeface="Verdana "/>
              </a:rPr>
              <a:t> The </a:t>
            </a:r>
            <a:r>
              <a:rPr lang="en-US" sz="4000" dirty="0" err="1">
                <a:solidFill>
                  <a:schemeClr val="tx1">
                    <a:lumMod val="95000"/>
                    <a:lumOff val="5000"/>
                  </a:schemeClr>
                </a:solidFill>
                <a:latin typeface="Verdana "/>
              </a:rPr>
              <a:t>SysTimer</a:t>
            </a:r>
            <a:r>
              <a:rPr lang="en-US" sz="4000" dirty="0">
                <a:solidFill>
                  <a:schemeClr val="tx1">
                    <a:lumMod val="95000"/>
                    <a:lumOff val="5000"/>
                  </a:schemeClr>
                </a:solidFill>
                <a:latin typeface="Verdana "/>
              </a:rPr>
              <a:t> is an optional block for Cortex-MO</a:t>
            </a:r>
            <a:endParaRPr lang="en-IN" sz="4000" dirty="0">
              <a:solidFill>
                <a:schemeClr val="tx1">
                  <a:lumMod val="95000"/>
                  <a:lumOff val="5000"/>
                </a:schemeClr>
              </a:solidFill>
              <a:latin typeface="Verdana "/>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0617" y="1554826"/>
            <a:ext cx="6715352" cy="5303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25901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783" y="159652"/>
            <a:ext cx="8911687" cy="1280890"/>
          </a:xfrm>
        </p:spPr>
        <p:txBody>
          <a:bodyPr>
            <a:normAutofit/>
          </a:bodyPr>
          <a:lstStyle/>
          <a:p>
            <a:r>
              <a:rPr lang="en-US" b="1" dirty="0">
                <a:solidFill>
                  <a:srgbClr val="7030A0"/>
                </a:solidFill>
                <a:latin typeface="Verdana "/>
              </a:rPr>
              <a:t>What are the uses of the </a:t>
            </a:r>
            <a:r>
              <a:rPr lang="en-US" b="1" dirty="0" err="1">
                <a:solidFill>
                  <a:srgbClr val="7030A0"/>
                </a:solidFill>
                <a:latin typeface="Verdana "/>
              </a:rPr>
              <a:t>SysTimer</a:t>
            </a:r>
            <a:r>
              <a:rPr lang="en-US" b="1" dirty="0">
                <a:solidFill>
                  <a:srgbClr val="7030A0"/>
                </a:solidFill>
                <a:latin typeface="Verdana "/>
              </a:rPr>
              <a:t>?</a:t>
            </a:r>
            <a:r>
              <a:rPr lang="en-IN" b="1" dirty="0">
                <a:solidFill>
                  <a:srgbClr val="7030A0"/>
                </a:solidFill>
                <a:latin typeface="Verdana "/>
              </a:rPr>
              <a:t/>
            </a:r>
            <a:br>
              <a:rPr lang="en-IN" b="1" dirty="0">
                <a:solidFill>
                  <a:srgbClr val="7030A0"/>
                </a:solidFill>
                <a:latin typeface="Verdana "/>
              </a:rPr>
            </a:br>
            <a:endParaRPr lang="en-IN" b="1" dirty="0">
              <a:solidFill>
                <a:srgbClr val="7030A0"/>
              </a:solidFill>
              <a:latin typeface="Verdana "/>
            </a:endParaRPr>
          </a:p>
        </p:txBody>
      </p:sp>
      <p:sp>
        <p:nvSpPr>
          <p:cNvPr id="3" name="Content Placeholder 2"/>
          <p:cNvSpPr>
            <a:spLocks noGrp="1"/>
          </p:cNvSpPr>
          <p:nvPr>
            <p:ph idx="1"/>
          </p:nvPr>
        </p:nvSpPr>
        <p:spPr>
          <a:xfrm>
            <a:off x="1689326" y="800097"/>
            <a:ext cx="10168845" cy="6057903"/>
          </a:xfrm>
        </p:spPr>
        <p:txBody>
          <a:bodyPr>
            <a:normAutofit fontScale="92500" lnSpcReduction="20000"/>
          </a:bodyPr>
          <a:lstStyle/>
          <a:p>
            <a:pPr algn="just"/>
            <a:r>
              <a:rPr lang="en-US" sz="2500" dirty="0">
                <a:solidFill>
                  <a:schemeClr val="tx1">
                    <a:lumMod val="95000"/>
                    <a:lumOff val="5000"/>
                  </a:schemeClr>
                </a:solidFill>
                <a:latin typeface="Verdana "/>
              </a:rPr>
              <a:t>It operates just like an ordinary timer. </a:t>
            </a:r>
          </a:p>
          <a:p>
            <a:pPr algn="just"/>
            <a:r>
              <a:rPr lang="en-US" sz="2500" dirty="0">
                <a:solidFill>
                  <a:schemeClr val="tx1">
                    <a:lumMod val="95000"/>
                    <a:lumOff val="5000"/>
                  </a:schemeClr>
                </a:solidFill>
                <a:latin typeface="Verdana "/>
              </a:rPr>
              <a:t>There is a 24-bit register named </a:t>
            </a:r>
            <a:r>
              <a:rPr lang="en-US" sz="2500" dirty="0" err="1">
                <a:solidFill>
                  <a:schemeClr val="tx1">
                    <a:lumMod val="95000"/>
                    <a:lumOff val="5000"/>
                  </a:schemeClr>
                </a:solidFill>
                <a:latin typeface="Verdana "/>
              </a:rPr>
              <a:t>SysTick</a:t>
            </a:r>
            <a:r>
              <a:rPr lang="en-US" sz="2500" dirty="0">
                <a:solidFill>
                  <a:schemeClr val="tx1">
                    <a:lumMod val="95000"/>
                    <a:lumOff val="5000"/>
                  </a:schemeClr>
                </a:solidFill>
                <a:latin typeface="Verdana "/>
              </a:rPr>
              <a:t> Current Value Register (SYST_CVR). </a:t>
            </a:r>
          </a:p>
          <a:p>
            <a:pPr algn="just"/>
            <a:r>
              <a:rPr lang="en-US" sz="2500" dirty="0">
                <a:solidFill>
                  <a:schemeClr val="tx1">
                    <a:lumMod val="95000"/>
                    <a:lumOff val="5000"/>
                  </a:schemeClr>
                </a:solidFill>
                <a:latin typeface="Verdana "/>
              </a:rPr>
              <a:t>The </a:t>
            </a:r>
            <a:r>
              <a:rPr lang="en-US" sz="2500" dirty="0" err="1">
                <a:solidFill>
                  <a:schemeClr val="tx1">
                    <a:lumMod val="95000"/>
                    <a:lumOff val="5000"/>
                  </a:schemeClr>
                </a:solidFill>
                <a:latin typeface="Verdana "/>
              </a:rPr>
              <a:t>SysTimer</a:t>
            </a:r>
            <a:r>
              <a:rPr lang="en-US" sz="2500" dirty="0">
                <a:solidFill>
                  <a:schemeClr val="tx1">
                    <a:lumMod val="95000"/>
                    <a:lumOff val="5000"/>
                  </a:schemeClr>
                </a:solidFill>
                <a:latin typeface="Verdana "/>
              </a:rPr>
              <a:t> is a down counter. It can be loaded with a number and when the timer is enabled, the value in this register decrements down to zero. </a:t>
            </a:r>
          </a:p>
          <a:p>
            <a:pPr algn="just"/>
            <a:r>
              <a:rPr lang="en-US" sz="2500" dirty="0">
                <a:solidFill>
                  <a:schemeClr val="tx1">
                    <a:lumMod val="95000"/>
                    <a:lumOff val="5000"/>
                  </a:schemeClr>
                </a:solidFill>
                <a:latin typeface="Verdana "/>
              </a:rPr>
              <a:t>This event can be signaled by a Flag being set to 1 or an interrupt being generated. </a:t>
            </a:r>
          </a:p>
          <a:p>
            <a:pPr algn="just"/>
            <a:r>
              <a:rPr lang="en-US" sz="2500" dirty="0">
                <a:solidFill>
                  <a:schemeClr val="tx1">
                    <a:lumMod val="95000"/>
                    <a:lumOff val="5000"/>
                  </a:schemeClr>
                </a:solidFill>
                <a:latin typeface="Verdana "/>
              </a:rPr>
              <a:t>After this the Flag can be made 0 and the count value re-loaded into the register and </a:t>
            </a:r>
            <a:r>
              <a:rPr lang="en-US" sz="2500" dirty="0" smtClean="0">
                <a:solidFill>
                  <a:schemeClr val="tx1">
                    <a:lumMod val="95000"/>
                    <a:lumOff val="5000"/>
                  </a:schemeClr>
                </a:solidFill>
                <a:latin typeface="Verdana "/>
              </a:rPr>
              <a:t>the same </a:t>
            </a:r>
            <a:r>
              <a:rPr lang="en-US" sz="2500" dirty="0">
                <a:solidFill>
                  <a:schemeClr val="tx1">
                    <a:lumMod val="95000"/>
                    <a:lumOff val="5000"/>
                  </a:schemeClr>
                </a:solidFill>
                <a:latin typeface="Verdana "/>
              </a:rPr>
              <a:t>process of down counting and setting the Flag may be repeated. </a:t>
            </a:r>
            <a:endParaRPr lang="en-US" sz="2500" dirty="0" smtClean="0">
              <a:solidFill>
                <a:schemeClr val="tx1">
                  <a:lumMod val="95000"/>
                  <a:lumOff val="5000"/>
                </a:schemeClr>
              </a:solidFill>
              <a:latin typeface="Verdana "/>
            </a:endParaRPr>
          </a:p>
          <a:p>
            <a:pPr algn="just"/>
            <a:r>
              <a:rPr lang="en-US" sz="2500" dirty="0" err="1" smtClean="0">
                <a:solidFill>
                  <a:schemeClr val="tx1">
                    <a:lumMod val="95000"/>
                    <a:lumOff val="5000"/>
                  </a:schemeClr>
                </a:solidFill>
                <a:latin typeface="Verdana "/>
              </a:rPr>
              <a:t>SysTimer</a:t>
            </a:r>
            <a:r>
              <a:rPr lang="en-US" sz="2500" dirty="0" smtClean="0">
                <a:solidFill>
                  <a:schemeClr val="tx1">
                    <a:lumMod val="95000"/>
                    <a:lumOff val="5000"/>
                  </a:schemeClr>
                </a:solidFill>
                <a:latin typeface="Verdana "/>
              </a:rPr>
              <a:t> timer </a:t>
            </a:r>
            <a:r>
              <a:rPr lang="en-US" sz="2500" dirty="0">
                <a:solidFill>
                  <a:schemeClr val="tx1">
                    <a:lumMod val="95000"/>
                    <a:lumOff val="5000"/>
                  </a:schemeClr>
                </a:solidFill>
                <a:latin typeface="Verdana "/>
              </a:rPr>
              <a:t>can be used as a reference for many applications </a:t>
            </a:r>
          </a:p>
          <a:p>
            <a:pPr marL="0" indent="0" algn="just">
              <a:buNone/>
            </a:pPr>
            <a:r>
              <a:rPr lang="en-US" sz="2500" dirty="0" smtClean="0">
                <a:solidFill>
                  <a:schemeClr val="tx1">
                    <a:lumMod val="95000"/>
                    <a:lumOff val="5000"/>
                  </a:schemeClr>
                </a:solidFill>
                <a:latin typeface="Verdana "/>
              </a:rPr>
              <a:t>        </a:t>
            </a:r>
            <a:r>
              <a:rPr lang="en-IN" sz="2500" dirty="0" smtClean="0">
                <a:solidFill>
                  <a:schemeClr val="tx1">
                    <a:lumMod val="95000"/>
                    <a:lumOff val="5000"/>
                  </a:schemeClr>
                </a:solidFill>
                <a:latin typeface="Verdana "/>
              </a:rPr>
              <a:t>ex: </a:t>
            </a:r>
            <a:r>
              <a:rPr lang="en-US" sz="2500" dirty="0" smtClean="0">
                <a:solidFill>
                  <a:schemeClr val="tx1">
                    <a:lumMod val="95000"/>
                    <a:lumOff val="5000"/>
                  </a:schemeClr>
                </a:solidFill>
                <a:latin typeface="Verdana "/>
              </a:rPr>
              <a:t>generating </a:t>
            </a:r>
            <a:r>
              <a:rPr lang="en-US" sz="2500" dirty="0">
                <a:solidFill>
                  <a:schemeClr val="tx1">
                    <a:lumMod val="95000"/>
                    <a:lumOff val="5000"/>
                  </a:schemeClr>
                </a:solidFill>
                <a:latin typeface="Verdana "/>
              </a:rPr>
              <a:t>square waves, PWMs, etc.</a:t>
            </a:r>
            <a:endParaRPr lang="en-IN" sz="2500" dirty="0">
              <a:solidFill>
                <a:schemeClr val="tx1">
                  <a:lumMod val="95000"/>
                  <a:lumOff val="5000"/>
                </a:schemeClr>
              </a:solidFill>
              <a:latin typeface="Verdana "/>
            </a:endParaRPr>
          </a:p>
          <a:p>
            <a:pPr algn="just"/>
            <a:r>
              <a:rPr lang="en-US" sz="2500" dirty="0">
                <a:solidFill>
                  <a:schemeClr val="tx1">
                    <a:lumMod val="95000"/>
                    <a:lumOff val="5000"/>
                  </a:schemeClr>
                </a:solidFill>
                <a:latin typeface="Verdana "/>
              </a:rPr>
              <a:t>When there is an OS in the system, the counting down to zero can be signaled by an Interrupt and this interrupt will be generated every time </a:t>
            </a:r>
            <a:r>
              <a:rPr lang="en-US" sz="2500" dirty="0" smtClean="0">
                <a:solidFill>
                  <a:schemeClr val="tx1">
                    <a:lumMod val="95000"/>
                    <a:lumOff val="5000"/>
                  </a:schemeClr>
                </a:solidFill>
                <a:latin typeface="Verdana "/>
              </a:rPr>
              <a:t>the </a:t>
            </a:r>
            <a:r>
              <a:rPr lang="en-US" sz="2500" dirty="0">
                <a:solidFill>
                  <a:schemeClr val="tx1">
                    <a:lumMod val="95000"/>
                    <a:lumOff val="5000"/>
                  </a:schemeClr>
                </a:solidFill>
                <a:latin typeface="Verdana "/>
              </a:rPr>
              <a:t>count reaches zero</a:t>
            </a:r>
            <a:r>
              <a:rPr lang="en-US" sz="2500" dirty="0" smtClean="0">
                <a:solidFill>
                  <a:schemeClr val="tx1">
                    <a:lumMod val="95000"/>
                    <a:lumOff val="5000"/>
                  </a:schemeClr>
                </a:solidFill>
                <a:latin typeface="Verdana "/>
              </a:rPr>
              <a:t>.</a:t>
            </a:r>
          </a:p>
          <a:p>
            <a:pPr algn="just"/>
            <a:r>
              <a:rPr lang="en-US" sz="2500" dirty="0" smtClean="0">
                <a:solidFill>
                  <a:schemeClr val="tx1">
                    <a:lumMod val="95000"/>
                    <a:lumOff val="5000"/>
                  </a:schemeClr>
                </a:solidFill>
                <a:latin typeface="Verdana "/>
              </a:rPr>
              <a:t>This, then </a:t>
            </a:r>
            <a:r>
              <a:rPr lang="en-US" sz="2500" dirty="0">
                <a:solidFill>
                  <a:schemeClr val="tx1">
                    <a:lumMod val="95000"/>
                    <a:lumOff val="5000"/>
                  </a:schemeClr>
                </a:solidFill>
                <a:latin typeface="Verdana "/>
              </a:rPr>
              <a:t>becomes a regular </a:t>
            </a:r>
            <a:r>
              <a:rPr lang="en-US" sz="2500" dirty="0" err="1">
                <a:solidFill>
                  <a:schemeClr val="tx1">
                    <a:lumMod val="95000"/>
                    <a:lumOff val="5000"/>
                  </a:schemeClr>
                </a:solidFill>
                <a:latin typeface="Verdana "/>
              </a:rPr>
              <a:t>SysTick</a:t>
            </a:r>
            <a:r>
              <a:rPr lang="en-US" sz="2500" dirty="0">
                <a:solidFill>
                  <a:schemeClr val="tx1">
                    <a:lumMod val="95000"/>
                    <a:lumOff val="5000"/>
                  </a:schemeClr>
                </a:solidFill>
                <a:latin typeface="Verdana "/>
              </a:rPr>
              <a:t> or a time keeper </a:t>
            </a:r>
            <a:r>
              <a:rPr lang="en-US" sz="2500" dirty="0" smtClean="0">
                <a:solidFill>
                  <a:schemeClr val="tx1">
                    <a:lumMod val="95000"/>
                    <a:lumOff val="5000"/>
                  </a:schemeClr>
                </a:solidFill>
                <a:latin typeface="Verdana "/>
              </a:rPr>
              <a:t>for the </a:t>
            </a:r>
            <a:r>
              <a:rPr lang="en-US" sz="2500" dirty="0">
                <a:solidFill>
                  <a:schemeClr val="tx1">
                    <a:lumMod val="95000"/>
                    <a:lumOff val="5000"/>
                  </a:schemeClr>
                </a:solidFill>
                <a:latin typeface="Verdana "/>
              </a:rPr>
              <a:t>system.</a:t>
            </a:r>
            <a:endParaRPr lang="en-IN" sz="2500" dirty="0">
              <a:solidFill>
                <a:schemeClr val="tx1">
                  <a:lumMod val="95000"/>
                  <a:lumOff val="5000"/>
                </a:schemeClr>
              </a:solidFill>
              <a:latin typeface="Verdana "/>
            </a:endParaRPr>
          </a:p>
          <a:p>
            <a:pPr algn="just"/>
            <a:endParaRPr lang="en-IN" sz="2500" dirty="0">
              <a:solidFill>
                <a:schemeClr val="tx1">
                  <a:lumMod val="95000"/>
                  <a:lumOff val="5000"/>
                </a:schemeClr>
              </a:solidFill>
              <a:latin typeface="Verdana "/>
            </a:endParaRPr>
          </a:p>
          <a:p>
            <a:pPr algn="just"/>
            <a:endParaRPr lang="en-IN" dirty="0"/>
          </a:p>
        </p:txBody>
      </p:sp>
    </p:spTree>
    <p:extLst>
      <p:ext uri="{BB962C8B-B14F-4D97-AF65-F5344CB8AC3E}">
        <p14:creationId xmlns:p14="http://schemas.microsoft.com/office/powerpoint/2010/main" val="399091866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840" y="0"/>
            <a:ext cx="8911687" cy="1280890"/>
          </a:xfrm>
        </p:spPr>
        <p:txBody>
          <a:bodyPr>
            <a:normAutofit/>
          </a:bodyPr>
          <a:lstStyle/>
          <a:p>
            <a:r>
              <a:rPr lang="en-US" b="1" dirty="0">
                <a:solidFill>
                  <a:srgbClr val="7030A0"/>
                </a:solidFill>
                <a:latin typeface="Verdana "/>
              </a:rPr>
              <a:t>7.6.1 Features of NVIC</a:t>
            </a:r>
            <a:r>
              <a:rPr lang="en-IN" b="1" dirty="0">
                <a:solidFill>
                  <a:srgbClr val="7030A0"/>
                </a:solidFill>
                <a:latin typeface="Verdana "/>
              </a:rPr>
              <a:t/>
            </a:r>
            <a:br>
              <a:rPr lang="en-IN" b="1" dirty="0">
                <a:solidFill>
                  <a:srgbClr val="7030A0"/>
                </a:solidFill>
                <a:latin typeface="Verdana "/>
              </a:rPr>
            </a:br>
            <a:endParaRPr lang="en-IN" b="1" dirty="0">
              <a:solidFill>
                <a:srgbClr val="7030A0"/>
              </a:solidFill>
              <a:latin typeface="Verdana "/>
            </a:endParaRPr>
          </a:p>
        </p:txBody>
      </p:sp>
      <p:sp>
        <p:nvSpPr>
          <p:cNvPr id="3" name="Content Placeholder 2"/>
          <p:cNvSpPr>
            <a:spLocks noGrp="1"/>
          </p:cNvSpPr>
          <p:nvPr>
            <p:ph idx="1"/>
          </p:nvPr>
        </p:nvSpPr>
        <p:spPr>
          <a:xfrm>
            <a:off x="1872343" y="640444"/>
            <a:ext cx="10145485" cy="6217555"/>
          </a:xfrm>
        </p:spPr>
        <p:txBody>
          <a:bodyPr>
            <a:normAutofit fontScale="92500"/>
          </a:bodyPr>
          <a:lstStyle/>
          <a:p>
            <a:r>
              <a:rPr lang="en-US" sz="2300" dirty="0">
                <a:solidFill>
                  <a:schemeClr val="tx1">
                    <a:lumMod val="95000"/>
                    <a:lumOff val="5000"/>
                  </a:schemeClr>
                </a:solidFill>
                <a:latin typeface="Verdana "/>
              </a:rPr>
              <a:t>The main features of the NVIC as described in the user manual </a:t>
            </a:r>
            <a:r>
              <a:rPr lang="en-US" sz="2300" dirty="0" smtClean="0">
                <a:solidFill>
                  <a:schemeClr val="tx1">
                    <a:lumMod val="95000"/>
                    <a:lumOff val="5000"/>
                  </a:schemeClr>
                </a:solidFill>
                <a:latin typeface="Verdana "/>
              </a:rPr>
              <a:t>are</a:t>
            </a:r>
          </a:p>
          <a:p>
            <a:pPr marL="457200" indent="-7938">
              <a:buFont typeface="+mj-lt"/>
              <a:buAutoNum type="arabicPeriod"/>
            </a:pPr>
            <a:r>
              <a:rPr lang="en-US" sz="2300" dirty="0">
                <a:solidFill>
                  <a:schemeClr val="tx1">
                    <a:lumMod val="95000"/>
                    <a:lumOff val="5000"/>
                  </a:schemeClr>
                </a:solidFill>
                <a:latin typeface="Verdana "/>
              </a:rPr>
              <a:t>An implementation-defined number of interrupts, in the range 1_32.</a:t>
            </a:r>
            <a:endParaRPr lang="en-IN" sz="2300" dirty="0">
              <a:solidFill>
                <a:schemeClr val="tx1">
                  <a:lumMod val="95000"/>
                  <a:lumOff val="5000"/>
                </a:schemeClr>
              </a:solidFill>
              <a:latin typeface="Verdana "/>
            </a:endParaRPr>
          </a:p>
          <a:p>
            <a:pPr marL="457200" lvl="0" indent="-7938" fontAlgn="base">
              <a:buFont typeface="+mj-lt"/>
              <a:buAutoNum type="arabicPeriod"/>
            </a:pPr>
            <a:r>
              <a:rPr lang="en-US" sz="2300" dirty="0">
                <a:solidFill>
                  <a:schemeClr val="tx1">
                    <a:lumMod val="95000"/>
                    <a:lumOff val="5000"/>
                  </a:schemeClr>
                </a:solidFill>
                <a:latin typeface="Verdana "/>
              </a:rPr>
              <a:t>A programmable priority level of 0-192 in steps of 64 for each interrupt.</a:t>
            </a:r>
            <a:endParaRPr lang="en-IN" sz="2300" dirty="0">
              <a:solidFill>
                <a:schemeClr val="tx1">
                  <a:lumMod val="95000"/>
                  <a:lumOff val="5000"/>
                </a:schemeClr>
              </a:solidFill>
              <a:latin typeface="Verdana "/>
            </a:endParaRPr>
          </a:p>
          <a:p>
            <a:pPr marL="457200" lvl="0" indent="-7938" fontAlgn="base">
              <a:buFont typeface="+mj-lt"/>
              <a:buAutoNum type="arabicPeriod"/>
            </a:pPr>
            <a:r>
              <a:rPr lang="en-US" sz="2300" dirty="0">
                <a:solidFill>
                  <a:schemeClr val="tx1">
                    <a:lumMod val="95000"/>
                    <a:lumOff val="5000"/>
                  </a:schemeClr>
                </a:solidFill>
                <a:latin typeface="Verdana "/>
              </a:rPr>
              <a:t>Level and pulse detection of interrupt signals.</a:t>
            </a:r>
            <a:endParaRPr lang="en-IN" sz="2300" dirty="0">
              <a:solidFill>
                <a:schemeClr val="tx1">
                  <a:lumMod val="95000"/>
                  <a:lumOff val="5000"/>
                </a:schemeClr>
              </a:solidFill>
              <a:latin typeface="Verdana "/>
            </a:endParaRPr>
          </a:p>
          <a:p>
            <a:pPr marL="457200" lvl="0" indent="-7938" fontAlgn="base">
              <a:buFont typeface="+mj-lt"/>
              <a:buAutoNum type="arabicPeriod"/>
            </a:pPr>
            <a:r>
              <a:rPr lang="en-US" sz="2300" dirty="0">
                <a:solidFill>
                  <a:schemeClr val="tx1">
                    <a:lumMod val="95000"/>
                    <a:lumOff val="5000"/>
                  </a:schemeClr>
                </a:solidFill>
                <a:latin typeface="Verdana "/>
              </a:rPr>
              <a:t>An external </a:t>
            </a:r>
            <a:r>
              <a:rPr lang="en-US" sz="2300" dirty="0" smtClean="0">
                <a:solidFill>
                  <a:schemeClr val="tx1">
                    <a:lumMod val="95000"/>
                    <a:lumOff val="5000"/>
                  </a:schemeClr>
                </a:solidFill>
                <a:latin typeface="Verdana "/>
              </a:rPr>
              <a:t>NMI</a:t>
            </a:r>
            <a:endParaRPr lang="en-US" sz="2300" dirty="0">
              <a:solidFill>
                <a:schemeClr val="tx1">
                  <a:lumMod val="95000"/>
                  <a:lumOff val="5000"/>
                </a:schemeClr>
              </a:solidFill>
              <a:latin typeface="Verdana "/>
            </a:endParaRPr>
          </a:p>
          <a:p>
            <a:pPr marL="0" lvl="0" indent="0" algn="just" fontAlgn="base">
              <a:buNone/>
            </a:pPr>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first and second features talk about IRQs and say it is 'implementa­tion defined'. </a:t>
            </a:r>
            <a:endParaRPr lang="en-US" sz="2300" dirty="0" smtClean="0">
              <a:solidFill>
                <a:schemeClr val="tx1">
                  <a:lumMod val="95000"/>
                  <a:lumOff val="5000"/>
                </a:schemeClr>
              </a:solidFill>
              <a:latin typeface="Verdana "/>
            </a:endParaRPr>
          </a:p>
          <a:p>
            <a:pPr marL="0" lvl="0" indent="0" algn="just" fontAlgn="base">
              <a:buNone/>
            </a:pPr>
            <a:r>
              <a:rPr lang="en-US" sz="2300" dirty="0" smtClean="0">
                <a:solidFill>
                  <a:schemeClr val="tx1">
                    <a:lumMod val="95000"/>
                    <a:lumOff val="5000"/>
                  </a:schemeClr>
                </a:solidFill>
                <a:latin typeface="Verdana "/>
              </a:rPr>
              <a:t>This </a:t>
            </a:r>
            <a:r>
              <a:rPr lang="en-US" sz="2300" dirty="0">
                <a:solidFill>
                  <a:schemeClr val="tx1">
                    <a:lumMod val="95000"/>
                    <a:lumOff val="5000"/>
                  </a:schemeClr>
                </a:solidFill>
                <a:latin typeface="Verdana "/>
              </a:rPr>
              <a:t>means that the number of interrupt (IRQs) inputs and the number of priority levels are to be decided by the application require­ments, and defined by the licensees who do the final chip design</a:t>
            </a:r>
            <a:r>
              <a:rPr lang="en-US" sz="2300" dirty="0" smtClean="0">
                <a:solidFill>
                  <a:schemeClr val="tx1">
                    <a:lumMod val="95000"/>
                    <a:lumOff val="5000"/>
                  </a:schemeClr>
                </a:solidFill>
                <a:latin typeface="Verdana "/>
              </a:rPr>
              <a:t>.</a:t>
            </a:r>
          </a:p>
          <a:p>
            <a:pPr marL="0" lvl="0" indent="0" algn="just" fontAlgn="base">
              <a:buNone/>
            </a:pPr>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third point is about the ways in which a device may cause an interrupt to be triggered. </a:t>
            </a:r>
            <a:endParaRPr lang="en-US" sz="2300" dirty="0" smtClean="0">
              <a:solidFill>
                <a:schemeClr val="tx1">
                  <a:lumMod val="95000"/>
                  <a:lumOff val="5000"/>
                </a:schemeClr>
              </a:solidFill>
              <a:latin typeface="Verdana "/>
            </a:endParaRPr>
          </a:p>
          <a:p>
            <a:pPr marL="0" lvl="0" indent="0" algn="just" fontAlgn="base">
              <a:buNone/>
            </a:pPr>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last point specifies that there is a non-</a:t>
            </a:r>
            <a:r>
              <a:rPr lang="en-US" sz="2300" dirty="0" err="1">
                <a:solidFill>
                  <a:schemeClr val="tx1">
                    <a:lumMod val="95000"/>
                    <a:lumOff val="5000"/>
                  </a:schemeClr>
                </a:solidFill>
                <a:latin typeface="Verdana "/>
              </a:rPr>
              <a:t>maskable</a:t>
            </a:r>
            <a:r>
              <a:rPr lang="en-US" sz="2300" dirty="0">
                <a:solidFill>
                  <a:schemeClr val="tx1">
                    <a:lumMod val="95000"/>
                    <a:lumOff val="5000"/>
                  </a:schemeClr>
                </a:solidFill>
                <a:latin typeface="Verdana "/>
              </a:rPr>
              <a:t> interrupt, which can be used by an external device</a:t>
            </a:r>
            <a:r>
              <a:rPr lang="en-US" sz="2300" dirty="0" smtClean="0">
                <a:solidFill>
                  <a:schemeClr val="tx1">
                    <a:lumMod val="95000"/>
                    <a:lumOff val="5000"/>
                  </a:schemeClr>
                </a:solidFill>
                <a:latin typeface="Verdana "/>
              </a:rPr>
              <a:t>.</a:t>
            </a:r>
            <a:r>
              <a:rPr lang="en-US" altLang="en-US" sz="2300" dirty="0" smtClean="0">
                <a:solidFill>
                  <a:schemeClr val="tx1">
                    <a:lumMod val="95000"/>
                    <a:lumOff val="5000"/>
                  </a:schemeClr>
                </a:solidFill>
                <a:latin typeface="Verdana "/>
              </a:rPr>
              <a:t> </a:t>
            </a:r>
          </a:p>
          <a:p>
            <a:pPr marL="0" lvl="0" indent="0" algn="just" fontAlgn="base">
              <a:buNone/>
            </a:pPr>
            <a:r>
              <a:rPr lang="en-US" altLang="en-US" sz="2300" dirty="0" smtClean="0">
                <a:solidFill>
                  <a:schemeClr val="tx1">
                    <a:lumMod val="95000"/>
                    <a:lumOff val="5000"/>
                  </a:schemeClr>
                </a:solidFill>
                <a:latin typeface="Verdana "/>
              </a:rPr>
              <a:t>With </a:t>
            </a:r>
            <a:r>
              <a:rPr lang="en-US" altLang="en-US" sz="2300" dirty="0">
                <a:solidFill>
                  <a:schemeClr val="tx1">
                    <a:lumMod val="95000"/>
                    <a:lumOff val="5000"/>
                  </a:schemeClr>
                </a:solidFill>
                <a:latin typeface="Verdana "/>
              </a:rPr>
              <a:t>this basic understanding, let us attempt to make a thorough study of the Interrupt structure of Cortex-MO.</a:t>
            </a:r>
          </a:p>
          <a:p>
            <a:pPr marL="0" lvl="0" indent="182563" defTabSz="914400" eaLnBrk="0" fontAlgn="base" hangingPunct="0">
              <a:spcBef>
                <a:spcPct val="0"/>
              </a:spcBef>
              <a:spcAft>
                <a:spcPct val="0"/>
              </a:spcAft>
              <a:buClrTx/>
              <a:buNone/>
            </a:pPr>
            <a:endParaRPr lang="en-US" altLang="en-US" sz="2300" dirty="0">
              <a:solidFill>
                <a:schemeClr val="tx1">
                  <a:lumMod val="95000"/>
                  <a:lumOff val="5000"/>
                </a:schemeClr>
              </a:solidFill>
              <a:latin typeface="Verdana "/>
            </a:endParaRPr>
          </a:p>
          <a:p>
            <a:endParaRPr lang="en-US" sz="2300" dirty="0">
              <a:solidFill>
                <a:schemeClr val="tx1">
                  <a:lumMod val="95000"/>
                  <a:lumOff val="5000"/>
                </a:schemeClr>
              </a:solidFill>
              <a:latin typeface="Verdana "/>
            </a:endParaRPr>
          </a:p>
          <a:p>
            <a:endParaRPr lang="en-US" sz="2300" dirty="0">
              <a:solidFill>
                <a:schemeClr val="tx1">
                  <a:lumMod val="95000"/>
                  <a:lumOff val="5000"/>
                </a:schemeClr>
              </a:solidFill>
              <a:latin typeface="Verdana "/>
            </a:endParaRPr>
          </a:p>
          <a:p>
            <a:endParaRPr lang="en-US" sz="2300" dirty="0" smtClean="0">
              <a:solidFill>
                <a:schemeClr val="tx1">
                  <a:lumMod val="95000"/>
                  <a:lumOff val="5000"/>
                </a:schemeClr>
              </a:solidFill>
              <a:latin typeface="Verdana "/>
            </a:endParaRPr>
          </a:p>
          <a:p>
            <a:endParaRPr lang="en-US" sz="2300" dirty="0">
              <a:solidFill>
                <a:schemeClr val="tx1">
                  <a:lumMod val="95000"/>
                  <a:lumOff val="5000"/>
                </a:schemeClr>
              </a:solidFill>
              <a:latin typeface="Verdana "/>
            </a:endParaRPr>
          </a:p>
          <a:p>
            <a:endParaRPr lang="en-IN" sz="2300" dirty="0">
              <a:solidFill>
                <a:schemeClr val="tx1">
                  <a:lumMod val="95000"/>
                  <a:lumOff val="5000"/>
                </a:schemeClr>
              </a:solidFill>
              <a:latin typeface="Verdana "/>
            </a:endParaRPr>
          </a:p>
          <a:p>
            <a:pPr marL="0" indent="0">
              <a:buNone/>
            </a:pPr>
            <a:endParaRPr lang="en-IN" sz="2300" dirty="0">
              <a:solidFill>
                <a:schemeClr val="tx1">
                  <a:lumMod val="95000"/>
                  <a:lumOff val="5000"/>
                </a:schemeClr>
              </a:solidFill>
              <a:latin typeface="Verdana "/>
            </a:endParaRPr>
          </a:p>
          <a:p>
            <a:endParaRPr lang="en-IN" sz="2300" dirty="0">
              <a:solidFill>
                <a:schemeClr val="tx1">
                  <a:lumMod val="95000"/>
                  <a:lumOff val="5000"/>
                </a:schemeClr>
              </a:solidFill>
              <a:latin typeface="Verdana "/>
            </a:endParaRPr>
          </a:p>
        </p:txBody>
      </p:sp>
      <p:sp>
        <p:nvSpPr>
          <p:cNvPr id="14" name="Rectangle 16"/>
          <p:cNvSpPr>
            <a:spLocks noChangeArrowheads="1"/>
          </p:cNvSpPr>
          <p:nvPr/>
        </p:nvSpPr>
        <p:spPr bwMode="auto">
          <a:xfrm>
            <a:off x="2365829" y="610235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3813683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097" y="116114"/>
            <a:ext cx="8911687" cy="1280890"/>
          </a:xfrm>
        </p:spPr>
        <p:txBody>
          <a:bodyPr>
            <a:normAutofit/>
          </a:bodyPr>
          <a:lstStyle/>
          <a:p>
            <a:r>
              <a:rPr lang="en-US" b="1" dirty="0">
                <a:solidFill>
                  <a:srgbClr val="7030A0"/>
                </a:solidFill>
                <a:latin typeface="Verdana "/>
              </a:rPr>
              <a:t>7.6.1.1 Interrupt processing </a:t>
            </a:r>
            <a:endParaRPr lang="en-IN" b="1" dirty="0">
              <a:solidFill>
                <a:srgbClr val="7030A0"/>
              </a:solidFill>
              <a:latin typeface="Verdana "/>
            </a:endParaRPr>
          </a:p>
        </p:txBody>
      </p:sp>
      <p:sp>
        <p:nvSpPr>
          <p:cNvPr id="3" name="Content Placeholder 2"/>
          <p:cNvSpPr>
            <a:spLocks noGrp="1"/>
          </p:cNvSpPr>
          <p:nvPr>
            <p:ph idx="1"/>
          </p:nvPr>
        </p:nvSpPr>
        <p:spPr>
          <a:xfrm>
            <a:off x="2531154" y="1397004"/>
            <a:ext cx="8915400" cy="4786082"/>
          </a:xfrm>
        </p:spPr>
        <p:txBody>
          <a:bodyPr/>
          <a:lstStyle/>
          <a:p>
            <a:pPr algn="just"/>
            <a:r>
              <a:rPr lang="en-US" sz="2300" dirty="0">
                <a:solidFill>
                  <a:schemeClr val="tx1">
                    <a:lumMod val="95000"/>
                    <a:lumOff val="5000"/>
                  </a:schemeClr>
                </a:solidFill>
                <a:latin typeface="Verdana "/>
              </a:rPr>
              <a:t>Cortex-MO has an elaborate setup for handling interrupts.</a:t>
            </a:r>
          </a:p>
          <a:p>
            <a:pPr algn="just"/>
            <a:r>
              <a:rPr lang="en-US" sz="2300" dirty="0">
                <a:solidFill>
                  <a:schemeClr val="tx1">
                    <a:lumMod val="95000"/>
                    <a:lumOff val="5000"/>
                  </a:schemeClr>
                </a:solidFill>
                <a:latin typeface="Verdana "/>
              </a:rPr>
              <a:t>The program to which control branches to, in the event of an interrupt, is generally called an ISR (Interrupt Service Routine) or Interrupt Handler. </a:t>
            </a:r>
          </a:p>
          <a:p>
            <a:pPr algn="just"/>
            <a:r>
              <a:rPr lang="en-US" sz="2300" dirty="0">
                <a:solidFill>
                  <a:schemeClr val="tx1">
                    <a:lumMod val="95000"/>
                    <a:lumOff val="5000"/>
                  </a:schemeClr>
                </a:solidFill>
                <a:latin typeface="Verdana "/>
              </a:rPr>
              <a:t>Associated with each interrupt are three attributes:</a:t>
            </a:r>
            <a:endParaRPr lang="en-IN" sz="2300" dirty="0">
              <a:solidFill>
                <a:schemeClr val="tx1">
                  <a:lumMod val="95000"/>
                  <a:lumOff val="5000"/>
                </a:schemeClr>
              </a:solidFill>
              <a:latin typeface="Verdana "/>
            </a:endParaRPr>
          </a:p>
          <a:p>
            <a:pPr marL="457200" lvl="0" indent="79375" algn="just" fontAlgn="base">
              <a:buFont typeface="+mj-lt"/>
              <a:buAutoNum type="arabicPeriod"/>
            </a:pPr>
            <a:r>
              <a:rPr lang="en-US" sz="2300" dirty="0">
                <a:solidFill>
                  <a:schemeClr val="tx1">
                    <a:lumMod val="95000"/>
                    <a:lumOff val="5000"/>
                  </a:schemeClr>
                </a:solidFill>
                <a:latin typeface="Verdana "/>
              </a:rPr>
              <a:t>Type number</a:t>
            </a:r>
            <a:endParaRPr lang="en-IN" sz="2300" dirty="0">
              <a:solidFill>
                <a:schemeClr val="tx1">
                  <a:lumMod val="95000"/>
                  <a:lumOff val="5000"/>
                </a:schemeClr>
              </a:solidFill>
              <a:latin typeface="Verdana "/>
            </a:endParaRPr>
          </a:p>
          <a:p>
            <a:pPr marL="457200" lvl="0" indent="79375" algn="just" fontAlgn="base">
              <a:buFont typeface="+mj-lt"/>
              <a:buAutoNum type="arabicPeriod"/>
            </a:pPr>
            <a:r>
              <a:rPr lang="en-US" sz="2300" dirty="0">
                <a:solidFill>
                  <a:schemeClr val="tx1">
                    <a:lumMod val="95000"/>
                    <a:lumOff val="5000"/>
                  </a:schemeClr>
                </a:solidFill>
                <a:latin typeface="Verdana "/>
              </a:rPr>
              <a:t>Priority number</a:t>
            </a:r>
            <a:endParaRPr lang="en-IN" sz="2300" dirty="0">
              <a:solidFill>
                <a:schemeClr val="tx1">
                  <a:lumMod val="95000"/>
                  <a:lumOff val="5000"/>
                </a:schemeClr>
              </a:solidFill>
              <a:latin typeface="Verdana "/>
            </a:endParaRPr>
          </a:p>
          <a:p>
            <a:pPr marL="457200" lvl="0" indent="79375" algn="just" fontAlgn="base">
              <a:buFont typeface="+mj-lt"/>
              <a:buAutoNum type="arabicPeriod"/>
            </a:pPr>
            <a:r>
              <a:rPr lang="en-US" sz="2300" dirty="0">
                <a:solidFill>
                  <a:schemeClr val="tx1">
                    <a:lumMod val="95000"/>
                    <a:lumOff val="5000"/>
                  </a:schemeClr>
                </a:solidFill>
                <a:latin typeface="Verdana "/>
              </a:rPr>
              <a:t>Vector</a:t>
            </a:r>
            <a:endParaRPr lang="en-IN" sz="2300" dirty="0">
              <a:solidFill>
                <a:schemeClr val="tx1">
                  <a:lumMod val="95000"/>
                  <a:lumOff val="5000"/>
                </a:schemeClr>
              </a:solidFill>
              <a:latin typeface="Verdana "/>
            </a:endParaRPr>
          </a:p>
          <a:p>
            <a:pPr algn="just"/>
            <a:endParaRPr lang="en-IN" sz="2100" dirty="0">
              <a:solidFill>
                <a:schemeClr val="tx1">
                  <a:lumMod val="95000"/>
                  <a:lumOff val="5000"/>
                </a:schemeClr>
              </a:solidFill>
              <a:latin typeface="Verdana "/>
            </a:endParaRPr>
          </a:p>
        </p:txBody>
      </p:sp>
    </p:spTree>
    <p:extLst>
      <p:ext uri="{BB962C8B-B14F-4D97-AF65-F5344CB8AC3E}">
        <p14:creationId xmlns:p14="http://schemas.microsoft.com/office/powerpoint/2010/main" val="4950437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2527" y="1691654"/>
            <a:ext cx="9835016" cy="6479887"/>
          </a:xfrm>
        </p:spPr>
        <p:txBody>
          <a:bodyPr>
            <a:normAutofit/>
          </a:bodyPr>
          <a:lstStyle/>
          <a:p>
            <a:pPr lvl="0" algn="just" fontAlgn="base"/>
            <a:r>
              <a:rPr lang="en-US" sz="2300" b="1" dirty="0" smtClean="0">
                <a:solidFill>
                  <a:srgbClr val="FF0000"/>
                </a:solidFill>
                <a:latin typeface="Verdana "/>
              </a:rPr>
              <a:t>Type </a:t>
            </a:r>
            <a:r>
              <a:rPr lang="en-US" sz="2300" b="1" dirty="0">
                <a:solidFill>
                  <a:srgbClr val="FF0000"/>
                </a:solidFill>
                <a:latin typeface="Verdana "/>
              </a:rPr>
              <a:t>Number: </a:t>
            </a:r>
            <a:r>
              <a:rPr lang="en-US" sz="2300" dirty="0">
                <a:solidFill>
                  <a:schemeClr val="tx1">
                    <a:lumMod val="95000"/>
                    <a:lumOff val="5000"/>
                  </a:schemeClr>
                </a:solidFill>
                <a:latin typeface="Verdana "/>
              </a:rPr>
              <a:t>Each interrupt has a type number (also designated as exception number) which is fixed. The type numbers are used as </a:t>
            </a:r>
            <a:r>
              <a:rPr lang="en-US" sz="2300" dirty="0" smtClean="0">
                <a:solidFill>
                  <a:schemeClr val="tx1">
                    <a:lumMod val="95000"/>
                    <a:lumOff val="5000"/>
                  </a:schemeClr>
                </a:solidFill>
                <a:latin typeface="Verdana "/>
              </a:rPr>
              <a:t>an index </a:t>
            </a:r>
            <a:r>
              <a:rPr lang="en-US" sz="2300" dirty="0">
                <a:solidFill>
                  <a:schemeClr val="tx1">
                    <a:lumMod val="95000"/>
                    <a:lumOff val="5000"/>
                  </a:schemeClr>
                </a:solidFill>
                <a:latin typeface="Verdana "/>
              </a:rPr>
              <a:t>to access the vector table. </a:t>
            </a:r>
            <a:endParaRPr lang="en-US" sz="2300" dirty="0" smtClean="0">
              <a:solidFill>
                <a:schemeClr val="tx1">
                  <a:lumMod val="95000"/>
                  <a:lumOff val="5000"/>
                </a:schemeClr>
              </a:solidFill>
              <a:latin typeface="Verdana "/>
            </a:endParaRPr>
          </a:p>
          <a:p>
            <a:pPr lvl="0" algn="just" fontAlgn="base"/>
            <a:r>
              <a:rPr lang="en-US" sz="2300" b="1" dirty="0">
                <a:solidFill>
                  <a:srgbClr val="FF0000"/>
                </a:solidFill>
                <a:latin typeface="Verdana "/>
              </a:rPr>
              <a:t>Priority:</a:t>
            </a:r>
            <a:r>
              <a:rPr lang="en-US" b="1" dirty="0"/>
              <a:t> </a:t>
            </a:r>
            <a:r>
              <a:rPr lang="en-US" sz="2300" dirty="0">
                <a:solidFill>
                  <a:schemeClr val="tx1">
                    <a:lumMod val="95000"/>
                    <a:lumOff val="5000"/>
                  </a:schemeClr>
                </a:solidFill>
                <a:latin typeface="Verdana "/>
              </a:rPr>
              <a:t>The priority of each interrupt is indicated by a number </a:t>
            </a:r>
            <a:r>
              <a:rPr lang="en-US"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a smaller number corresponds to a higher priority. Some specific </a:t>
            </a:r>
            <a:r>
              <a:rPr lang="en-US" sz="2300" dirty="0" smtClean="0">
                <a:solidFill>
                  <a:schemeClr val="tx1">
                    <a:lumMod val="95000"/>
                    <a:lumOff val="5000"/>
                  </a:schemeClr>
                </a:solidFill>
                <a:latin typeface="Verdana "/>
              </a:rPr>
              <a:t>interrupts </a:t>
            </a:r>
            <a:r>
              <a:rPr lang="en-US" sz="2300" dirty="0">
                <a:solidFill>
                  <a:schemeClr val="tx1">
                    <a:lumMod val="95000"/>
                    <a:lumOff val="5000"/>
                  </a:schemeClr>
                </a:solidFill>
                <a:latin typeface="Verdana "/>
              </a:rPr>
              <a:t>are given negative numbers. Priorities are configurable </a:t>
            </a:r>
            <a:r>
              <a:rPr lang="en-US" sz="2300" dirty="0" smtClean="0">
                <a:solidFill>
                  <a:schemeClr val="tx1">
                    <a:lumMod val="95000"/>
                    <a:lumOff val="5000"/>
                  </a:schemeClr>
                </a:solidFill>
                <a:latin typeface="Verdana "/>
              </a:rPr>
              <a:t>for </a:t>
            </a:r>
            <a:r>
              <a:rPr lang="en-US" sz="2300" dirty="0">
                <a:solidFill>
                  <a:schemeClr val="tx1">
                    <a:lumMod val="95000"/>
                    <a:lumOff val="5000"/>
                  </a:schemeClr>
                </a:solidFill>
                <a:latin typeface="Verdana "/>
              </a:rPr>
              <a:t>all interrupts except Reset, </a:t>
            </a:r>
            <a:r>
              <a:rPr lang="en-US" sz="2300" dirty="0" err="1">
                <a:solidFill>
                  <a:schemeClr val="tx1">
                    <a:lumMod val="95000"/>
                    <a:lumOff val="5000"/>
                  </a:schemeClr>
                </a:solidFill>
                <a:latin typeface="Verdana "/>
              </a:rPr>
              <a:t>HardFault</a:t>
            </a:r>
            <a:r>
              <a:rPr lang="en-US" sz="2300" dirty="0">
                <a:solidFill>
                  <a:schemeClr val="tx1">
                    <a:lumMod val="95000"/>
                    <a:lumOff val="5000"/>
                  </a:schemeClr>
                </a:solidFill>
                <a:latin typeface="Verdana "/>
              </a:rPr>
              <a:t> and NMI</a:t>
            </a:r>
            <a:r>
              <a:rPr lang="en-US" sz="2300" dirty="0" smtClean="0">
                <a:solidFill>
                  <a:schemeClr val="tx1">
                    <a:lumMod val="95000"/>
                    <a:lumOff val="5000"/>
                  </a:schemeClr>
                </a:solidFill>
                <a:latin typeface="Verdana "/>
              </a:rPr>
              <a:t>.</a:t>
            </a:r>
          </a:p>
          <a:p>
            <a:pPr lvl="0" algn="just" fontAlgn="base"/>
            <a:r>
              <a:rPr lang="en-US" sz="2300" b="1" dirty="0">
                <a:solidFill>
                  <a:srgbClr val="FF0000"/>
                </a:solidFill>
                <a:latin typeface="Verdana "/>
              </a:rPr>
              <a:t>Vector: </a:t>
            </a:r>
            <a:r>
              <a:rPr lang="en-US" sz="2300" dirty="0">
                <a:solidFill>
                  <a:schemeClr val="tx1">
                    <a:lumMod val="95000"/>
                    <a:lumOff val="5000"/>
                  </a:schemeClr>
                </a:solidFill>
                <a:latin typeface="Verdana "/>
              </a:rPr>
              <a:t>The term vector means 'address'. Each interrupt has an ISR. The address at which the ISR for each interrupt is stored is its 'vector' </a:t>
            </a:r>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419077097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925" y="0"/>
            <a:ext cx="8911687" cy="1280890"/>
          </a:xfrm>
        </p:spPr>
        <p:txBody>
          <a:bodyPr>
            <a:normAutofit/>
          </a:bodyPr>
          <a:lstStyle/>
          <a:p>
            <a:r>
              <a:rPr lang="en-US" b="1" dirty="0">
                <a:solidFill>
                  <a:srgbClr val="7030A0"/>
                </a:solidFill>
                <a:latin typeface="Verdana "/>
              </a:rPr>
              <a:t>7.6.2 Interrupt vector table</a:t>
            </a:r>
            <a:endParaRPr lang="en-IN" b="1" dirty="0">
              <a:solidFill>
                <a:srgbClr val="7030A0"/>
              </a:solidFill>
              <a:latin typeface="Verdana "/>
            </a:endParaRPr>
          </a:p>
        </p:txBody>
      </p:sp>
      <p:sp>
        <p:nvSpPr>
          <p:cNvPr id="3" name="Content Placeholder 2"/>
          <p:cNvSpPr>
            <a:spLocks noGrp="1"/>
          </p:cNvSpPr>
          <p:nvPr>
            <p:ph idx="1"/>
          </p:nvPr>
        </p:nvSpPr>
        <p:spPr>
          <a:xfrm>
            <a:off x="1936070" y="1088570"/>
            <a:ext cx="10052730" cy="5769429"/>
          </a:xfrm>
        </p:spPr>
        <p:txBody>
          <a:bodyPr/>
          <a:lstStyle/>
          <a:p>
            <a:pPr algn="just"/>
            <a:r>
              <a:rPr lang="en-US" sz="2300" dirty="0" smtClean="0">
                <a:solidFill>
                  <a:schemeClr val="tx1">
                    <a:lumMod val="95000"/>
                    <a:lumOff val="5000"/>
                  </a:schemeClr>
                </a:solidFill>
                <a:latin typeface="Verdana "/>
              </a:rPr>
              <a:t>When </a:t>
            </a:r>
            <a:r>
              <a:rPr lang="en-US" sz="2300" dirty="0">
                <a:solidFill>
                  <a:schemeClr val="tx1">
                    <a:lumMod val="95000"/>
                    <a:lumOff val="5000"/>
                  </a:schemeClr>
                </a:solidFill>
                <a:latin typeface="Verdana "/>
              </a:rPr>
              <a:t>an interrupt occurs, its vector is to be known by the system. </a:t>
            </a:r>
            <a:endParaRPr lang="en-US" sz="2300" dirty="0" smtClean="0">
              <a:solidFill>
                <a:schemeClr val="tx1">
                  <a:lumMod val="95000"/>
                  <a:lumOff val="5000"/>
                </a:schemeClr>
              </a:solidFill>
              <a:latin typeface="Verdana "/>
            </a:endParaRPr>
          </a:p>
          <a:p>
            <a:pPr algn="just"/>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vec­tors of all the implemented interrupts are stored in a table, sequentially in an order specified as 'type numbers'. </a:t>
            </a:r>
            <a:endParaRPr lang="en-US" sz="2300" dirty="0" smtClean="0">
              <a:solidFill>
                <a:schemeClr val="tx1">
                  <a:lumMod val="95000"/>
                  <a:lumOff val="5000"/>
                </a:schemeClr>
              </a:solidFill>
              <a:latin typeface="Verdana "/>
            </a:endParaRPr>
          </a:p>
          <a:p>
            <a:pPr algn="just"/>
            <a:r>
              <a:rPr lang="en-US" sz="2300" dirty="0" smtClean="0">
                <a:solidFill>
                  <a:schemeClr val="tx1">
                    <a:lumMod val="95000"/>
                    <a:lumOff val="5000"/>
                  </a:schemeClr>
                </a:solidFill>
                <a:latin typeface="Verdana "/>
              </a:rPr>
              <a:t>Thus</a:t>
            </a:r>
            <a:r>
              <a:rPr lang="en-US" sz="2300" dirty="0">
                <a:solidFill>
                  <a:schemeClr val="tx1">
                    <a:lumMod val="95000"/>
                    <a:lumOff val="5000"/>
                  </a:schemeClr>
                </a:solidFill>
                <a:latin typeface="Verdana "/>
              </a:rPr>
              <a:t>, the first vector in the table is of Reset, which has a type number 1. </a:t>
            </a:r>
            <a:endParaRPr lang="en-US" sz="2300" dirty="0" smtClean="0">
              <a:solidFill>
                <a:schemeClr val="tx1">
                  <a:lumMod val="95000"/>
                  <a:lumOff val="5000"/>
                </a:schemeClr>
              </a:solidFill>
              <a:latin typeface="Verdana "/>
            </a:endParaRPr>
          </a:p>
          <a:p>
            <a:pPr algn="just"/>
            <a:r>
              <a:rPr lang="en-US" sz="2300" dirty="0" smtClean="0">
                <a:solidFill>
                  <a:schemeClr val="tx1">
                    <a:lumMod val="95000"/>
                    <a:lumOff val="5000"/>
                  </a:schemeClr>
                </a:solidFill>
                <a:latin typeface="Verdana "/>
              </a:rPr>
              <a:t>Each </a:t>
            </a:r>
            <a:r>
              <a:rPr lang="en-US" sz="2300" dirty="0">
                <a:solidFill>
                  <a:schemeClr val="tx1">
                    <a:lumMod val="95000"/>
                    <a:lumOff val="5000"/>
                  </a:schemeClr>
                </a:solidFill>
                <a:latin typeface="Verdana "/>
              </a:rPr>
              <a:t>entry in the vector table is an address and hence is a 32-bit number, that is, a word. </a:t>
            </a:r>
            <a:endParaRPr lang="en-US" sz="2300" dirty="0" smtClean="0">
              <a:solidFill>
                <a:schemeClr val="tx1">
                  <a:lumMod val="95000"/>
                  <a:lumOff val="5000"/>
                </a:schemeClr>
              </a:solidFill>
              <a:latin typeface="Verdana "/>
            </a:endParaRPr>
          </a:p>
          <a:p>
            <a:pPr algn="just"/>
            <a:r>
              <a:rPr lang="en-US" sz="2300" dirty="0" smtClean="0">
                <a:solidFill>
                  <a:schemeClr val="tx1">
                    <a:lumMod val="95000"/>
                    <a:lumOff val="5000"/>
                  </a:schemeClr>
                </a:solidFill>
                <a:latin typeface="Verdana "/>
              </a:rPr>
              <a:t>Each </a:t>
            </a:r>
            <a:r>
              <a:rPr lang="en-US" sz="2300" dirty="0">
                <a:solidFill>
                  <a:schemeClr val="tx1">
                    <a:lumMod val="95000"/>
                    <a:lumOff val="5000"/>
                  </a:schemeClr>
                </a:solidFill>
                <a:latin typeface="Verdana "/>
              </a:rPr>
              <a:t>interrupt vector takes 4 bytes of space and so vectors are found at addresses Ox0, 0x04, Ox08 etc.</a:t>
            </a:r>
            <a:endParaRPr lang="en-IN" sz="2300" dirty="0">
              <a:solidFill>
                <a:schemeClr val="tx1">
                  <a:lumMod val="95000"/>
                  <a:lumOff val="5000"/>
                </a:schemeClr>
              </a:solidFill>
              <a:latin typeface="Verdana "/>
            </a:endParaRPr>
          </a:p>
          <a:p>
            <a:pPr algn="just"/>
            <a:r>
              <a:rPr lang="en-US" sz="2300" dirty="0">
                <a:solidFill>
                  <a:schemeClr val="tx1">
                    <a:lumMod val="95000"/>
                    <a:lumOff val="5000"/>
                  </a:schemeClr>
                </a:solidFill>
                <a:latin typeface="Verdana "/>
              </a:rPr>
              <a:t>This table is stored in the beginning of the memory map, that is, at loca­tion Ox000000000 onwards</a:t>
            </a:r>
            <a:r>
              <a:rPr lang="en-US" sz="2300" dirty="0" smtClean="0">
                <a:solidFill>
                  <a:schemeClr val="tx1">
                    <a:lumMod val="95000"/>
                    <a:lumOff val="5000"/>
                  </a:schemeClr>
                </a:solidFill>
                <a:latin typeface="Verdana "/>
              </a:rPr>
              <a:t>.</a:t>
            </a:r>
          </a:p>
          <a:p>
            <a:pPr algn="just"/>
            <a:r>
              <a:rPr lang="en-US"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This part of memory is implemented as ROM </a:t>
            </a:r>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295516220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695" y="1218491"/>
            <a:ext cx="7652590" cy="54871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476" y="308428"/>
            <a:ext cx="2214562" cy="775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13013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7544" y="1248230"/>
            <a:ext cx="10058400" cy="6458856"/>
          </a:xfrm>
        </p:spPr>
        <p:txBody>
          <a:bodyPr>
            <a:normAutofit/>
          </a:bodyPr>
          <a:lstStyle/>
          <a:p>
            <a:pPr algn="just"/>
            <a:r>
              <a:rPr lang="en-US" sz="2300" dirty="0">
                <a:solidFill>
                  <a:schemeClr val="tx1">
                    <a:lumMod val="95000"/>
                    <a:lumOff val="5000"/>
                  </a:schemeClr>
                </a:solidFill>
                <a:latin typeface="Verdana "/>
              </a:rPr>
              <a:t>The first entry in the Table is the initial value of the stack pointer (MSP).</a:t>
            </a:r>
          </a:p>
          <a:p>
            <a:pPr algn="just"/>
            <a:r>
              <a:rPr lang="en-US" sz="2300" dirty="0">
                <a:solidFill>
                  <a:schemeClr val="tx1">
                    <a:lumMod val="95000"/>
                    <a:lumOff val="5000"/>
                  </a:schemeClr>
                </a:solidFill>
                <a:latin typeface="Verdana "/>
              </a:rPr>
              <a:t>The size of the vector table depends on the number of interrupts implemented in the system.</a:t>
            </a:r>
          </a:p>
          <a:p>
            <a:pPr algn="just"/>
            <a:r>
              <a:rPr lang="en-US" sz="2300" dirty="0">
                <a:solidFill>
                  <a:schemeClr val="tx1">
                    <a:lumMod val="95000"/>
                    <a:lumOff val="5000"/>
                  </a:schemeClr>
                </a:solidFill>
                <a:latin typeface="Verdana "/>
              </a:rPr>
              <a:t>If there are more peripherals, there will be more interrupting devices possible, and hence a bigger vector table. </a:t>
            </a:r>
          </a:p>
          <a:p>
            <a:pPr algn="just"/>
            <a:r>
              <a:rPr lang="en-US" sz="2300" dirty="0">
                <a:solidFill>
                  <a:schemeClr val="tx1">
                    <a:lumMod val="95000"/>
                    <a:lumOff val="5000"/>
                  </a:schemeClr>
                </a:solidFill>
                <a:latin typeface="Verdana "/>
              </a:rPr>
              <a:t>Cortex M allows only 15 system exception and 321RQs.</a:t>
            </a:r>
          </a:p>
          <a:p>
            <a:pPr algn="just"/>
            <a:r>
              <a:rPr lang="en-US" sz="2300" dirty="0">
                <a:solidFill>
                  <a:schemeClr val="tx1">
                    <a:lumMod val="95000"/>
                    <a:lumOff val="5000"/>
                  </a:schemeClr>
                </a:solidFill>
                <a:latin typeface="Verdana "/>
              </a:rPr>
              <a:t> The vector stored as an entry in the table is the address of the interrupt handler associated with that specific interrupt. </a:t>
            </a:r>
          </a:p>
          <a:p>
            <a:pPr algn="just"/>
            <a:r>
              <a:rPr lang="en-US" sz="2300" dirty="0">
                <a:solidFill>
                  <a:schemeClr val="tx1">
                    <a:lumMod val="95000"/>
                    <a:lumOff val="5000"/>
                  </a:schemeClr>
                </a:solidFill>
                <a:latin typeface="Verdana "/>
              </a:rPr>
              <a:t>For example, see the entry corresponding to Interrupt 1 which is the reset interrupt, at address 0x04</a:t>
            </a:r>
          </a:p>
          <a:p>
            <a:r>
              <a:rPr lang="en-US" sz="2300" dirty="0">
                <a:solidFill>
                  <a:schemeClr val="tx1">
                    <a:lumMod val="95000"/>
                    <a:lumOff val="5000"/>
                  </a:schemeClr>
                </a:solidFill>
                <a:latin typeface="Verdana "/>
              </a:rPr>
              <a:t>The entry therein is the address to which control will branch to, when the processor is powered on or when reset</a:t>
            </a:r>
            <a:endParaRPr lang="en-IN" sz="2300" dirty="0">
              <a:solidFill>
                <a:schemeClr val="tx1">
                  <a:lumMod val="95000"/>
                  <a:lumOff val="5000"/>
                </a:schemeClr>
              </a:solidFill>
              <a:latin typeface="Verdana "/>
            </a:endParaRPr>
          </a:p>
          <a:p>
            <a:pPr algn="just"/>
            <a:endParaRPr lang="en-US"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77078318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750" y="1367971"/>
            <a:ext cx="11008157" cy="44667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278152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144" y="159653"/>
            <a:ext cx="9260114" cy="1280890"/>
          </a:xfrm>
        </p:spPr>
        <p:txBody>
          <a:bodyPr>
            <a:normAutofit/>
          </a:bodyPr>
          <a:lstStyle/>
          <a:p>
            <a:pPr algn="ctr"/>
            <a:r>
              <a:rPr lang="en-US" b="1" dirty="0">
                <a:solidFill>
                  <a:srgbClr val="7030A0"/>
                </a:solidFill>
                <a:latin typeface="Verdana "/>
              </a:rPr>
              <a:t>How exactly do we get the handlers of various interrupts?</a:t>
            </a:r>
            <a:endParaRPr lang="en-IN" b="1" dirty="0">
              <a:solidFill>
                <a:srgbClr val="7030A0"/>
              </a:solidFill>
              <a:latin typeface="Verdana "/>
            </a:endParaRPr>
          </a:p>
        </p:txBody>
      </p:sp>
      <p:sp>
        <p:nvSpPr>
          <p:cNvPr id="3" name="Content Placeholder 2"/>
          <p:cNvSpPr>
            <a:spLocks noGrp="1"/>
          </p:cNvSpPr>
          <p:nvPr>
            <p:ph idx="1"/>
          </p:nvPr>
        </p:nvSpPr>
        <p:spPr>
          <a:xfrm>
            <a:off x="1669143" y="1785256"/>
            <a:ext cx="9971313" cy="4702629"/>
          </a:xfrm>
        </p:spPr>
        <p:txBody>
          <a:bodyPr>
            <a:normAutofit/>
          </a:bodyPr>
          <a:lstStyle/>
          <a:p>
            <a:r>
              <a:rPr lang="en-US" sz="2300" dirty="0" smtClean="0">
                <a:solidFill>
                  <a:schemeClr val="tx1">
                    <a:lumMod val="95000"/>
                    <a:lumOff val="5000"/>
                  </a:schemeClr>
                </a:solidFill>
                <a:latin typeface="Verdana "/>
              </a:rPr>
              <a:t>Consider </a:t>
            </a:r>
            <a:r>
              <a:rPr lang="en-US" sz="2300" dirty="0">
                <a:solidFill>
                  <a:schemeClr val="tx1">
                    <a:lumMod val="95000"/>
                    <a:lumOff val="5000"/>
                  </a:schemeClr>
                </a:solidFill>
                <a:latin typeface="Verdana "/>
              </a:rPr>
              <a:t>the case of the reset handler.</a:t>
            </a:r>
          </a:p>
          <a:p>
            <a:r>
              <a:rPr lang="en-US" sz="2300" dirty="0">
                <a:solidFill>
                  <a:schemeClr val="tx1">
                    <a:lumMod val="95000"/>
                    <a:lumOff val="5000"/>
                  </a:schemeClr>
                </a:solidFill>
                <a:latin typeface="Verdana "/>
              </a:rPr>
              <a:t>The system designer writes a start-up code and saves it in memory as a procedure. </a:t>
            </a:r>
          </a:p>
          <a:p>
            <a:r>
              <a:rPr lang="en-US" sz="2300" dirty="0">
                <a:solidFill>
                  <a:schemeClr val="tx1">
                    <a:lumMod val="95000"/>
                    <a:lumOff val="5000"/>
                  </a:schemeClr>
                </a:solidFill>
                <a:latin typeface="Verdana "/>
              </a:rPr>
              <a:t>The starting address of this code is loaded into the location 0x000004 of the vector table. </a:t>
            </a:r>
          </a:p>
          <a:p>
            <a:r>
              <a:rPr lang="en-US" sz="2300" dirty="0">
                <a:solidFill>
                  <a:schemeClr val="tx1">
                    <a:lumMod val="95000"/>
                    <a:lumOff val="5000"/>
                  </a:schemeClr>
                </a:solidFill>
                <a:latin typeface="Verdana "/>
              </a:rPr>
              <a:t>Similar is the case for the NMI handler, Hard Fault handler etc. </a:t>
            </a:r>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135843469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982" y="145139"/>
            <a:ext cx="8911687" cy="1280890"/>
          </a:xfrm>
        </p:spPr>
        <p:txBody>
          <a:bodyPr>
            <a:normAutofit/>
          </a:bodyPr>
          <a:lstStyle/>
          <a:p>
            <a:r>
              <a:rPr lang="en-US" b="1" dirty="0">
                <a:solidFill>
                  <a:srgbClr val="7030A0"/>
                </a:solidFill>
                <a:latin typeface="Verdana "/>
              </a:rPr>
              <a:t>7.6.3 Interrupts of Cortex-MO</a:t>
            </a:r>
            <a:r>
              <a:rPr lang="en-IN" b="1" dirty="0">
                <a:solidFill>
                  <a:srgbClr val="7030A0"/>
                </a:solidFill>
                <a:latin typeface="Verdana "/>
              </a:rPr>
              <a:t/>
            </a:r>
            <a:br>
              <a:rPr lang="en-IN" b="1" dirty="0">
                <a:solidFill>
                  <a:srgbClr val="7030A0"/>
                </a:solidFill>
                <a:latin typeface="Verdana "/>
              </a:rPr>
            </a:br>
            <a:endParaRPr lang="en-IN" b="1" dirty="0">
              <a:solidFill>
                <a:srgbClr val="7030A0"/>
              </a:solidFill>
              <a:latin typeface="Verdana "/>
            </a:endParaRPr>
          </a:p>
        </p:txBody>
      </p:sp>
      <p:sp>
        <p:nvSpPr>
          <p:cNvPr id="3" name="Content Placeholder 2"/>
          <p:cNvSpPr>
            <a:spLocks noGrp="1"/>
          </p:cNvSpPr>
          <p:nvPr>
            <p:ph idx="1"/>
          </p:nvPr>
        </p:nvSpPr>
        <p:spPr>
          <a:xfrm>
            <a:off x="1500639" y="1426028"/>
            <a:ext cx="10459131" cy="5431971"/>
          </a:xfrm>
        </p:spPr>
        <p:txBody>
          <a:bodyPr>
            <a:normAutofit/>
          </a:bodyPr>
          <a:lstStyle/>
          <a:p>
            <a:pPr algn="just"/>
            <a:r>
              <a:rPr lang="en-US" sz="2300" dirty="0">
                <a:solidFill>
                  <a:schemeClr val="tx1">
                    <a:lumMod val="95000"/>
                    <a:lumOff val="5000"/>
                  </a:schemeClr>
                </a:solidFill>
                <a:latin typeface="Verdana "/>
              </a:rPr>
              <a:t>Let us look into each of the interrupts in </a:t>
            </a:r>
            <a:r>
              <a:rPr lang="en-US" sz="2300" dirty="0" smtClean="0">
                <a:solidFill>
                  <a:schemeClr val="tx1">
                    <a:lumMod val="95000"/>
                    <a:lumOff val="5000"/>
                  </a:schemeClr>
                </a:solidFill>
                <a:latin typeface="Verdana "/>
              </a:rPr>
              <a:t>detail</a:t>
            </a:r>
            <a:endParaRPr lang="en-IN" sz="2300" dirty="0">
              <a:solidFill>
                <a:schemeClr val="tx1">
                  <a:lumMod val="95000"/>
                  <a:lumOff val="5000"/>
                </a:schemeClr>
              </a:solidFill>
              <a:latin typeface="Verdana "/>
            </a:endParaRPr>
          </a:p>
          <a:p>
            <a:pPr marL="0" indent="0" algn="just">
              <a:buNone/>
            </a:pPr>
            <a:r>
              <a:rPr lang="en-US" sz="2300" dirty="0">
                <a:solidFill>
                  <a:schemeClr val="tx1">
                    <a:lumMod val="95000"/>
                    <a:lumOff val="5000"/>
                  </a:schemeClr>
                </a:solidFill>
                <a:latin typeface="Verdana "/>
              </a:rPr>
              <a:t>        1. </a:t>
            </a:r>
            <a:r>
              <a:rPr lang="en-US" sz="2300" dirty="0">
                <a:solidFill>
                  <a:srgbClr val="FF0000"/>
                </a:solidFill>
                <a:latin typeface="Verdana "/>
              </a:rPr>
              <a:t>Reset:</a:t>
            </a:r>
            <a:r>
              <a:rPr lang="en-US" sz="2300" dirty="0">
                <a:solidFill>
                  <a:schemeClr val="tx1">
                    <a:lumMod val="95000"/>
                    <a:lumOff val="5000"/>
                  </a:schemeClr>
                </a:solidFill>
                <a:latin typeface="Verdana "/>
              </a:rPr>
              <a:t> This is a special interrupt. When the processor is powered up, control goes to the reset vector. This means that the first instruction to be executed will be taken from this address. Reset, if done any time during the course of the working of the processor, will again take program control back to the reset vector. It has the type number 1 and the highest priority level in the system, as indicated by the priority number </a:t>
            </a:r>
            <a:r>
              <a:rPr lang="en-US" sz="2300" dirty="0" smtClean="0">
                <a:solidFill>
                  <a:schemeClr val="tx1">
                    <a:lumMod val="95000"/>
                    <a:lumOff val="5000"/>
                  </a:schemeClr>
                </a:solidFill>
                <a:latin typeface="Verdana "/>
              </a:rPr>
              <a:t>of 3.</a:t>
            </a:r>
          </a:p>
          <a:p>
            <a:pPr marL="0" indent="0" algn="just">
              <a:buNone/>
            </a:pPr>
            <a:endParaRPr lang="en-US" sz="2300" dirty="0" smtClean="0">
              <a:solidFill>
                <a:schemeClr val="tx1">
                  <a:lumMod val="95000"/>
                  <a:lumOff val="5000"/>
                </a:schemeClr>
              </a:solidFill>
              <a:latin typeface="Verdana "/>
            </a:endParaRPr>
          </a:p>
          <a:p>
            <a:pPr marL="0" indent="0" algn="just">
              <a:buNone/>
            </a:pPr>
            <a:r>
              <a:rPr lang="en-US"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2. </a:t>
            </a:r>
            <a:r>
              <a:rPr lang="en-US" sz="2300" dirty="0">
                <a:solidFill>
                  <a:srgbClr val="FF0000"/>
                </a:solidFill>
                <a:latin typeface="Verdana "/>
              </a:rPr>
              <a:t>NMI: </a:t>
            </a:r>
            <a:r>
              <a:rPr lang="en-US" sz="2300" dirty="0">
                <a:solidFill>
                  <a:schemeClr val="tx1">
                    <a:lumMod val="95000"/>
                    <a:lumOff val="5000"/>
                  </a:schemeClr>
                </a:solidFill>
                <a:latin typeface="Verdana "/>
              </a:rPr>
              <a:t>This stands for Non-</a:t>
            </a:r>
            <a:r>
              <a:rPr lang="en-US" sz="2300" dirty="0" err="1">
                <a:solidFill>
                  <a:schemeClr val="tx1">
                    <a:lumMod val="95000"/>
                    <a:lumOff val="5000"/>
                  </a:schemeClr>
                </a:solidFill>
                <a:latin typeface="Verdana "/>
              </a:rPr>
              <a:t>Maskable</a:t>
            </a:r>
            <a:r>
              <a:rPr lang="en-US" sz="2300" dirty="0">
                <a:solidFill>
                  <a:schemeClr val="tx1">
                    <a:lumMod val="95000"/>
                    <a:lumOff val="5000"/>
                  </a:schemeClr>
                </a:solidFill>
                <a:latin typeface="Verdana "/>
              </a:rPr>
              <a:t> Interrupt'. It can be associated with</a:t>
            </a:r>
            <a:r>
              <a:rPr lang="en-IN" sz="2300" dirty="0">
                <a:solidFill>
                  <a:schemeClr val="tx1">
                    <a:lumMod val="95000"/>
                    <a:lumOff val="5000"/>
                  </a:schemeClr>
                </a:solidFill>
                <a:latin typeface="Verdana "/>
              </a:rPr>
              <a:t> </a:t>
            </a:r>
            <a:r>
              <a:rPr lang="en-US" sz="2300" dirty="0">
                <a:solidFill>
                  <a:schemeClr val="tx1">
                    <a:lumMod val="95000"/>
                    <a:lumOff val="5000"/>
                  </a:schemeClr>
                </a:solidFill>
                <a:latin typeface="Verdana "/>
              </a:rPr>
              <a:t>a peripheral or triggered by software. In any case, it is meant for critical tasks. The NMI exception cannot be masked. It cannot be </a:t>
            </a:r>
            <a:r>
              <a:rPr lang="en-US" sz="2300" dirty="0" smtClean="0">
                <a:solidFill>
                  <a:schemeClr val="tx1">
                    <a:lumMod val="95000"/>
                    <a:lumOff val="5000"/>
                  </a:schemeClr>
                </a:solidFill>
                <a:latin typeface="Verdana "/>
              </a:rPr>
              <a:t>pre-empted by interrupts other than reset. Its priority number is -2 </a:t>
            </a:r>
          </a:p>
          <a:p>
            <a:pPr marL="0" indent="0" algn="just">
              <a:buNone/>
            </a:pPr>
            <a:r>
              <a:rPr lang="en-US"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    </a:t>
            </a:r>
            <a:endParaRPr lang="en-IN" sz="2300" dirty="0">
              <a:solidFill>
                <a:schemeClr val="tx1">
                  <a:lumMod val="95000"/>
                  <a:lumOff val="5000"/>
                </a:schemeClr>
              </a:solidFill>
              <a:latin typeface="Verdana "/>
            </a:endParaRPr>
          </a:p>
          <a:p>
            <a:pPr marL="0" indent="0" algn="just">
              <a:buNone/>
            </a:pPr>
            <a:endParaRPr lang="en-IN" sz="2300" dirty="0">
              <a:solidFill>
                <a:schemeClr val="tx1">
                  <a:lumMod val="95000"/>
                  <a:lumOff val="5000"/>
                </a:schemeClr>
              </a:solidFill>
              <a:latin typeface="Verdana "/>
            </a:endParaRPr>
          </a:p>
          <a:p>
            <a:pPr marL="0" indent="0" algn="just">
              <a:buNone/>
            </a:pPr>
            <a:endParaRPr lang="en-US" sz="2300" dirty="0" smtClean="0">
              <a:solidFill>
                <a:schemeClr val="tx1">
                  <a:lumMod val="95000"/>
                  <a:lumOff val="5000"/>
                </a:schemeClr>
              </a:solidFill>
              <a:latin typeface="Verdana "/>
            </a:endParaRPr>
          </a:p>
        </p:txBody>
      </p:sp>
    </p:spTree>
    <p:extLst>
      <p:ext uri="{BB962C8B-B14F-4D97-AF65-F5344CB8AC3E}">
        <p14:creationId xmlns:p14="http://schemas.microsoft.com/office/powerpoint/2010/main" val="224232448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9326" y="522513"/>
            <a:ext cx="9689874" cy="6226629"/>
          </a:xfrm>
        </p:spPr>
        <p:txBody>
          <a:bodyPr/>
          <a:lstStyle/>
          <a:p>
            <a:pPr marL="0" indent="0">
              <a:buNone/>
            </a:pPr>
            <a:r>
              <a:rPr lang="en-IN" dirty="0" smtClean="0"/>
              <a:t>  </a:t>
            </a:r>
            <a:r>
              <a:rPr lang="en-IN" sz="2300" dirty="0">
                <a:solidFill>
                  <a:schemeClr val="tx1">
                    <a:lumMod val="95000"/>
                    <a:lumOff val="5000"/>
                  </a:schemeClr>
                </a:solidFill>
                <a:latin typeface="Verdana "/>
              </a:rPr>
              <a:t>3. </a:t>
            </a:r>
            <a:r>
              <a:rPr lang="en-IN" sz="2300" dirty="0">
                <a:solidFill>
                  <a:srgbClr val="FF0000"/>
                </a:solidFill>
                <a:latin typeface="Verdana "/>
              </a:rPr>
              <a:t>Hard Fault: </a:t>
            </a:r>
            <a:r>
              <a:rPr lang="en-IN" sz="2300" dirty="0">
                <a:solidFill>
                  <a:schemeClr val="tx1">
                    <a:lumMod val="95000"/>
                    <a:lumOff val="5000"/>
                  </a:schemeClr>
                </a:solidFill>
                <a:latin typeface="Verdana "/>
              </a:rPr>
              <a:t>This produced by the faults which occur during program running. It has a priority level of -1 and a type number of 3. </a:t>
            </a:r>
            <a:endParaRPr lang="en-IN" sz="2300" dirty="0" smtClean="0">
              <a:solidFill>
                <a:schemeClr val="tx1">
                  <a:lumMod val="95000"/>
                  <a:lumOff val="5000"/>
                </a:schemeClr>
              </a:solidFill>
              <a:latin typeface="Verdana "/>
            </a:endParaRPr>
          </a:p>
          <a:p>
            <a:pPr marL="0" indent="0">
              <a:buNone/>
            </a:pPr>
            <a:endParaRPr lang="en-IN" sz="2300" dirty="0">
              <a:solidFill>
                <a:schemeClr val="tx1">
                  <a:lumMod val="95000"/>
                  <a:lumOff val="5000"/>
                </a:schemeClr>
              </a:solidFill>
              <a:latin typeface="Verdana "/>
            </a:endParaRPr>
          </a:p>
          <a:p>
            <a:pPr marL="0" indent="0" algn="just">
              <a:buNone/>
            </a:pPr>
            <a:r>
              <a:rPr lang="en-IN" sz="2300" dirty="0" smtClean="0">
                <a:solidFill>
                  <a:schemeClr val="tx1">
                    <a:lumMod val="95000"/>
                    <a:lumOff val="5000"/>
                  </a:schemeClr>
                </a:solidFill>
                <a:latin typeface="Verdana "/>
              </a:rPr>
              <a:t> 4. </a:t>
            </a:r>
            <a:r>
              <a:rPr lang="en-IN" sz="2300" dirty="0" err="1">
                <a:solidFill>
                  <a:srgbClr val="FF0000"/>
                </a:solidFill>
                <a:latin typeface="Verdana "/>
              </a:rPr>
              <a:t>SVCall</a:t>
            </a:r>
            <a:r>
              <a:rPr lang="en-IN" sz="2300" dirty="0">
                <a:solidFill>
                  <a:srgbClr val="FF0000"/>
                </a:solidFill>
                <a:latin typeface="Verdana "/>
              </a:rPr>
              <a:t>:</a:t>
            </a:r>
            <a:r>
              <a:rPr lang="en-IN"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This is a 'Supervisor Call ' Interrupt. It is a system exception triggered by the SVC instruction. It is useful in systems with an operat­ing system. Applications use the SVC instruction to get access to device driver functions and OS kernel functions. Its type number is 11, and its </a:t>
            </a:r>
            <a:r>
              <a:rPr lang="en-US" sz="2300" dirty="0" smtClean="0">
                <a:solidFill>
                  <a:schemeClr val="tx1">
                    <a:lumMod val="95000"/>
                    <a:lumOff val="5000"/>
                  </a:schemeClr>
                </a:solidFill>
                <a:latin typeface="Verdana "/>
              </a:rPr>
              <a:t>priority </a:t>
            </a:r>
            <a:r>
              <a:rPr lang="en-US" sz="2300" dirty="0">
                <a:solidFill>
                  <a:schemeClr val="tx1">
                    <a:lumMod val="95000"/>
                    <a:lumOff val="5000"/>
                  </a:schemeClr>
                </a:solidFill>
                <a:latin typeface="Verdana "/>
              </a:rPr>
              <a:t>is configurable using the register SPRH2</a:t>
            </a:r>
            <a:r>
              <a:rPr lang="en-US" sz="2300" dirty="0" smtClean="0">
                <a:solidFill>
                  <a:schemeClr val="tx1">
                    <a:lumMod val="95000"/>
                    <a:lumOff val="5000"/>
                  </a:schemeClr>
                </a:solidFill>
                <a:latin typeface="Verdana "/>
              </a:rPr>
              <a:t>.</a:t>
            </a:r>
          </a:p>
          <a:p>
            <a:pPr marL="0" indent="0" algn="just">
              <a:buNone/>
            </a:pPr>
            <a:endParaRPr lang="en-US" sz="2300" dirty="0">
              <a:solidFill>
                <a:schemeClr val="tx1">
                  <a:lumMod val="95000"/>
                  <a:lumOff val="5000"/>
                </a:schemeClr>
              </a:solidFill>
              <a:latin typeface="Verdana "/>
            </a:endParaRPr>
          </a:p>
          <a:p>
            <a:pPr marL="0" indent="0" algn="just">
              <a:buNone/>
            </a:pPr>
            <a:r>
              <a:rPr lang="en-US" sz="2300" dirty="0" smtClean="0">
                <a:solidFill>
                  <a:schemeClr val="tx1">
                    <a:lumMod val="95000"/>
                    <a:lumOff val="5000"/>
                  </a:schemeClr>
                </a:solidFill>
                <a:latin typeface="Verdana "/>
              </a:rPr>
              <a:t>5. </a:t>
            </a:r>
            <a:r>
              <a:rPr lang="en-US" sz="2300" dirty="0" err="1">
                <a:solidFill>
                  <a:srgbClr val="FF0000"/>
                </a:solidFill>
                <a:latin typeface="Verdana "/>
              </a:rPr>
              <a:t>PendSV</a:t>
            </a:r>
            <a:r>
              <a:rPr lang="en-US" sz="2300" dirty="0">
                <a:solidFill>
                  <a:srgbClr val="FF0000"/>
                </a:solidFill>
                <a:latin typeface="Verdana "/>
              </a:rPr>
              <a:t>:</a:t>
            </a:r>
            <a:r>
              <a:rPr lang="en-US"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This is also related to OS-level services. In an OS environment, if no other interrupt is in the active state, </a:t>
            </a:r>
            <a:r>
              <a:rPr lang="en-US" sz="2300" dirty="0" err="1">
                <a:solidFill>
                  <a:schemeClr val="tx1">
                    <a:lumMod val="95000"/>
                    <a:lumOff val="5000"/>
                  </a:schemeClr>
                </a:solidFill>
                <a:latin typeface="Verdana "/>
              </a:rPr>
              <a:t>PendSV</a:t>
            </a:r>
            <a:r>
              <a:rPr lang="en-US" sz="2300" dirty="0">
                <a:solidFill>
                  <a:schemeClr val="tx1">
                    <a:lumMod val="95000"/>
                    <a:lumOff val="5000"/>
                  </a:schemeClr>
                </a:solidFill>
                <a:latin typeface="Verdana "/>
              </a:rPr>
              <a:t> is used for context switching. Its type number is 14, and its priority is configurable using register SPRH3.</a:t>
            </a:r>
            <a:endParaRPr lang="en-IN" sz="2300" dirty="0">
              <a:solidFill>
                <a:schemeClr val="tx1">
                  <a:lumMod val="95000"/>
                  <a:lumOff val="5000"/>
                </a:schemeClr>
              </a:solidFill>
              <a:latin typeface="Verdana "/>
            </a:endParaRPr>
          </a:p>
          <a:p>
            <a:pPr marL="0" indent="0" algn="just">
              <a:buNone/>
            </a:pPr>
            <a:endParaRPr lang="en-US" sz="2300" dirty="0">
              <a:solidFill>
                <a:schemeClr val="tx1">
                  <a:lumMod val="95000"/>
                  <a:lumOff val="5000"/>
                </a:schemeClr>
              </a:solidFill>
              <a:latin typeface="Verdana "/>
            </a:endParaRPr>
          </a:p>
          <a:p>
            <a:pPr algn="just"/>
            <a:endParaRPr lang="en-US" sz="2300" dirty="0">
              <a:solidFill>
                <a:schemeClr val="tx1">
                  <a:lumMod val="95000"/>
                  <a:lumOff val="5000"/>
                </a:schemeClr>
              </a:solidFill>
              <a:latin typeface="Verdana "/>
            </a:endParaRPr>
          </a:p>
          <a:p>
            <a:pPr algn="just"/>
            <a:endParaRPr lang="en-IN" sz="2300" dirty="0">
              <a:solidFill>
                <a:schemeClr val="tx1">
                  <a:lumMod val="95000"/>
                  <a:lumOff val="5000"/>
                </a:schemeClr>
              </a:solidFill>
              <a:latin typeface="Verdana "/>
            </a:endParaRPr>
          </a:p>
          <a:p>
            <a:pPr marL="0" indent="0">
              <a:buNone/>
            </a:pPr>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308337361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6354" y="1698171"/>
            <a:ext cx="9544731" cy="4920343"/>
          </a:xfrm>
        </p:spPr>
        <p:txBody>
          <a:bodyPr/>
          <a:lstStyle/>
          <a:p>
            <a:pPr marL="0" indent="0" algn="just">
              <a:buNone/>
            </a:pPr>
            <a:r>
              <a:rPr lang="en-US" sz="2300" dirty="0">
                <a:solidFill>
                  <a:schemeClr val="tx1">
                    <a:lumMod val="95000"/>
                    <a:lumOff val="5000"/>
                  </a:schemeClr>
                </a:solidFill>
                <a:latin typeface="Verdana "/>
              </a:rPr>
              <a:t>6.</a:t>
            </a:r>
            <a:r>
              <a:rPr lang="en-US" dirty="0" smtClean="0"/>
              <a:t> </a:t>
            </a:r>
            <a:r>
              <a:rPr lang="en-US" sz="2300" dirty="0" err="1">
                <a:solidFill>
                  <a:srgbClr val="FF0000"/>
                </a:solidFill>
                <a:latin typeface="Verdana "/>
              </a:rPr>
              <a:t>SysTick</a:t>
            </a:r>
            <a:r>
              <a:rPr lang="en-US" sz="2300" dirty="0">
                <a:solidFill>
                  <a:srgbClr val="FF0000"/>
                </a:solidFill>
                <a:latin typeface="Verdana "/>
              </a:rPr>
              <a:t>:</a:t>
            </a:r>
            <a:r>
              <a:rPr lang="en-US" dirty="0"/>
              <a:t> </a:t>
            </a:r>
            <a:r>
              <a:rPr lang="en-US" sz="2300" dirty="0">
                <a:solidFill>
                  <a:schemeClr val="tx1">
                    <a:lumMod val="95000"/>
                    <a:lumOff val="5000"/>
                  </a:schemeClr>
                </a:solidFill>
                <a:latin typeface="Verdana "/>
              </a:rPr>
              <a:t>When the system timer count reaches zero, this exception is generated. This exception can be used for general counting </a:t>
            </a:r>
            <a:r>
              <a:rPr lang="en-US" sz="2300" dirty="0" err="1">
                <a:solidFill>
                  <a:schemeClr val="tx1">
                    <a:lumMod val="95000"/>
                    <a:lumOff val="5000"/>
                  </a:schemeClr>
                </a:solidFill>
                <a:latin typeface="Verdana "/>
              </a:rPr>
              <a:t>purposeses</a:t>
            </a:r>
            <a:r>
              <a:rPr lang="en-US" sz="2300" dirty="0">
                <a:solidFill>
                  <a:schemeClr val="tx1">
                    <a:lumMod val="95000"/>
                    <a:lumOff val="5000"/>
                  </a:schemeClr>
                </a:solidFill>
                <a:latin typeface="Verdana "/>
              </a:rPr>
              <a:t> and also as a system tick in an OS environment. It has a type number and its priority is configurable using the SPRH3 register</a:t>
            </a:r>
            <a:r>
              <a:rPr lang="en-US" sz="2300" dirty="0" smtClean="0">
                <a:solidFill>
                  <a:schemeClr val="tx1">
                    <a:lumMod val="95000"/>
                    <a:lumOff val="5000"/>
                  </a:schemeClr>
                </a:solidFill>
                <a:latin typeface="Verdana "/>
              </a:rPr>
              <a:t>.</a:t>
            </a:r>
            <a:endParaRPr lang="en-IN" sz="2300" dirty="0">
              <a:solidFill>
                <a:schemeClr val="tx1">
                  <a:lumMod val="95000"/>
                  <a:lumOff val="5000"/>
                </a:schemeClr>
              </a:solidFill>
              <a:latin typeface="Verdana "/>
            </a:endParaRPr>
          </a:p>
          <a:p>
            <a:pPr marL="0" indent="0" algn="just">
              <a:buNone/>
            </a:pPr>
            <a:endParaRPr lang="en-IN" sz="2300" dirty="0">
              <a:solidFill>
                <a:schemeClr val="tx1">
                  <a:lumMod val="95000"/>
                  <a:lumOff val="5000"/>
                </a:schemeClr>
              </a:solidFill>
              <a:latin typeface="Verdana "/>
            </a:endParaRPr>
          </a:p>
          <a:p>
            <a:pPr marL="0" indent="0" algn="just">
              <a:buNone/>
            </a:pPr>
            <a:r>
              <a:rPr lang="en-IN" sz="2300" dirty="0" smtClean="0">
                <a:solidFill>
                  <a:schemeClr val="tx1">
                    <a:lumMod val="95000"/>
                    <a:lumOff val="5000"/>
                  </a:schemeClr>
                </a:solidFill>
                <a:latin typeface="Verdana "/>
              </a:rPr>
              <a:t>7. </a:t>
            </a:r>
            <a:r>
              <a:rPr lang="en-IN" sz="2300" dirty="0">
                <a:solidFill>
                  <a:srgbClr val="FF0000"/>
                </a:solidFill>
                <a:latin typeface="Verdana "/>
              </a:rPr>
              <a:t>IRQs: </a:t>
            </a:r>
            <a:r>
              <a:rPr lang="en-US" sz="2300" dirty="0">
                <a:solidFill>
                  <a:schemeClr val="tx1">
                    <a:lumMod val="95000"/>
                    <a:lumOff val="5000"/>
                  </a:schemeClr>
                </a:solidFill>
                <a:latin typeface="Verdana "/>
              </a:rPr>
              <a:t>These are the interrupts generated by peripherals, but they can also be initiated by software requests. Peripherals always communicate with the system through IRQs. The number of IRQs implemented is dependent on the chip designer. </a:t>
            </a:r>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226511337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6982" y="159653"/>
            <a:ext cx="8911687" cy="1280890"/>
          </a:xfrm>
        </p:spPr>
        <p:txBody>
          <a:bodyPr>
            <a:normAutofit/>
          </a:bodyPr>
          <a:lstStyle/>
          <a:p>
            <a:r>
              <a:rPr lang="en-US" b="1" dirty="0">
                <a:solidFill>
                  <a:srgbClr val="7030A0"/>
                </a:solidFill>
                <a:latin typeface="Verdana "/>
              </a:rPr>
              <a:t>7.6.4 Interrupt response</a:t>
            </a:r>
            <a:r>
              <a:rPr lang="en-IN" b="1" dirty="0">
                <a:solidFill>
                  <a:srgbClr val="7030A0"/>
                </a:solidFill>
                <a:latin typeface="Verdana "/>
              </a:rPr>
              <a:t/>
            </a:r>
            <a:br>
              <a:rPr lang="en-IN" b="1" dirty="0">
                <a:solidFill>
                  <a:srgbClr val="7030A0"/>
                </a:solidFill>
                <a:latin typeface="Verdana "/>
              </a:rPr>
            </a:br>
            <a:endParaRPr lang="en-IN" b="1" dirty="0">
              <a:solidFill>
                <a:srgbClr val="7030A0"/>
              </a:solidFill>
              <a:latin typeface="Verdana "/>
            </a:endParaRPr>
          </a:p>
        </p:txBody>
      </p:sp>
      <p:sp>
        <p:nvSpPr>
          <p:cNvPr id="3" name="Content Placeholder 2"/>
          <p:cNvSpPr>
            <a:spLocks noGrp="1"/>
          </p:cNvSpPr>
          <p:nvPr>
            <p:ph idx="1"/>
          </p:nvPr>
        </p:nvSpPr>
        <p:spPr>
          <a:xfrm>
            <a:off x="1567544" y="1019629"/>
            <a:ext cx="10305142" cy="5838371"/>
          </a:xfrm>
        </p:spPr>
        <p:txBody>
          <a:bodyPr>
            <a:normAutofit fontScale="92500" lnSpcReduction="10000"/>
          </a:bodyPr>
          <a:lstStyle/>
          <a:p>
            <a:pPr algn="just"/>
            <a:r>
              <a:rPr lang="en-IN" sz="2300" dirty="0" smtClean="0">
                <a:solidFill>
                  <a:schemeClr val="tx1">
                    <a:lumMod val="95000"/>
                    <a:lumOff val="5000"/>
                  </a:schemeClr>
                </a:solidFill>
                <a:latin typeface="Verdana "/>
              </a:rPr>
              <a:t>At </a:t>
            </a:r>
            <a:r>
              <a:rPr lang="en-IN" sz="2300" dirty="0">
                <a:solidFill>
                  <a:schemeClr val="tx1">
                    <a:lumMod val="95000"/>
                    <a:lumOff val="5000"/>
                  </a:schemeClr>
                </a:solidFill>
                <a:latin typeface="Verdana "/>
              </a:rPr>
              <a:t>any time, each interrupt will be in one of the following states: </a:t>
            </a:r>
          </a:p>
          <a:p>
            <a:pPr marL="0" indent="0" algn="just">
              <a:buNone/>
            </a:pPr>
            <a:r>
              <a:rPr lang="en-IN" sz="2300" b="1" dirty="0" smtClean="0">
                <a:solidFill>
                  <a:schemeClr val="tx1">
                    <a:lumMod val="95000"/>
                    <a:lumOff val="5000"/>
                  </a:schemeClr>
                </a:solidFill>
                <a:latin typeface="Verdana "/>
              </a:rPr>
              <a:t>       </a:t>
            </a:r>
            <a:r>
              <a:rPr lang="en-IN" sz="2300" dirty="0" smtClean="0">
                <a:solidFill>
                  <a:schemeClr val="tx1">
                    <a:lumMod val="95000"/>
                    <a:lumOff val="5000"/>
                  </a:schemeClr>
                </a:solidFill>
                <a:latin typeface="Verdana "/>
              </a:rPr>
              <a:t>1</a:t>
            </a:r>
            <a:r>
              <a:rPr lang="en-IN" sz="2300" dirty="0">
                <a:solidFill>
                  <a:schemeClr val="tx1">
                    <a:lumMod val="95000"/>
                    <a:lumOff val="5000"/>
                  </a:schemeClr>
                </a:solidFill>
                <a:latin typeface="Verdana "/>
              </a:rPr>
              <a:t>. </a:t>
            </a:r>
            <a:r>
              <a:rPr lang="en-US" sz="2300" dirty="0">
                <a:solidFill>
                  <a:srgbClr val="FF0000"/>
                </a:solidFill>
                <a:latin typeface="Verdana "/>
              </a:rPr>
              <a:t>Inactive: </a:t>
            </a:r>
            <a:r>
              <a:rPr lang="en-US" sz="2300" dirty="0">
                <a:solidFill>
                  <a:schemeClr val="tx1">
                    <a:lumMod val="95000"/>
                    <a:lumOff val="5000"/>
                  </a:schemeClr>
                </a:solidFill>
                <a:latin typeface="Verdana "/>
              </a:rPr>
              <a:t>It does not need service currently.</a:t>
            </a:r>
            <a:endParaRPr lang="en-IN" sz="2300" dirty="0">
              <a:solidFill>
                <a:schemeClr val="tx1">
                  <a:lumMod val="95000"/>
                  <a:lumOff val="5000"/>
                </a:schemeClr>
              </a:solidFill>
              <a:latin typeface="Verdana "/>
            </a:endParaRPr>
          </a:p>
          <a:p>
            <a:pPr marL="0" lvl="0" indent="0" algn="just" fontAlgn="base">
              <a:buNone/>
            </a:pPr>
            <a:r>
              <a:rPr lang="en-US" sz="2300" dirty="0">
                <a:solidFill>
                  <a:schemeClr val="tx1">
                    <a:lumMod val="95000"/>
                    <a:lumOff val="5000"/>
                  </a:schemeClr>
                </a:solidFill>
                <a:latin typeface="Verdana "/>
              </a:rPr>
              <a:t>       2. </a:t>
            </a:r>
            <a:r>
              <a:rPr lang="en-US" sz="2300" dirty="0">
                <a:solidFill>
                  <a:srgbClr val="FF0000"/>
                </a:solidFill>
                <a:latin typeface="Verdana "/>
              </a:rPr>
              <a:t>Pending:</a:t>
            </a:r>
            <a:r>
              <a:rPr lang="en-US" sz="2300" dirty="0">
                <a:solidFill>
                  <a:schemeClr val="tx1">
                    <a:lumMod val="95000"/>
                    <a:lumOff val="5000"/>
                  </a:schemeClr>
                </a:solidFill>
                <a:latin typeface="Verdana "/>
              </a:rPr>
              <a:t> It needs service and is waiting to be accepted.</a:t>
            </a:r>
            <a:endParaRPr lang="en-IN" sz="2300" dirty="0">
              <a:solidFill>
                <a:schemeClr val="tx1">
                  <a:lumMod val="95000"/>
                  <a:lumOff val="5000"/>
                </a:schemeClr>
              </a:solidFill>
              <a:latin typeface="Verdana "/>
            </a:endParaRPr>
          </a:p>
          <a:p>
            <a:pPr marL="0" lvl="0" indent="0" algn="just" fontAlgn="base">
              <a:buNone/>
            </a:pPr>
            <a:r>
              <a:rPr lang="en-IN" sz="2300" dirty="0">
                <a:solidFill>
                  <a:schemeClr val="tx1">
                    <a:lumMod val="95000"/>
                    <a:lumOff val="5000"/>
                  </a:schemeClr>
                </a:solidFill>
                <a:latin typeface="Verdana "/>
              </a:rPr>
              <a:t>       3. </a:t>
            </a:r>
            <a:r>
              <a:rPr lang="en-US" sz="2300" dirty="0">
                <a:solidFill>
                  <a:srgbClr val="FF0000"/>
                </a:solidFill>
                <a:latin typeface="Verdana "/>
              </a:rPr>
              <a:t>Active: </a:t>
            </a:r>
            <a:r>
              <a:rPr lang="en-US" sz="2300" dirty="0">
                <a:solidFill>
                  <a:schemeClr val="tx1">
                    <a:lumMod val="95000"/>
                    <a:lumOff val="5000"/>
                  </a:schemeClr>
                </a:solidFill>
                <a:latin typeface="Verdana "/>
              </a:rPr>
              <a:t>This is the state of the interrupt which is currently being serviced.</a:t>
            </a:r>
            <a:endParaRPr lang="en-IN" sz="2300" dirty="0">
              <a:solidFill>
                <a:schemeClr val="tx1">
                  <a:lumMod val="95000"/>
                  <a:lumOff val="5000"/>
                </a:schemeClr>
              </a:solidFill>
              <a:latin typeface="Verdana "/>
            </a:endParaRPr>
          </a:p>
          <a:p>
            <a:pPr marL="711200" lvl="0" indent="-711200" algn="just" fontAlgn="base">
              <a:buNone/>
            </a:pPr>
            <a:r>
              <a:rPr lang="en-IN" sz="2300" dirty="0">
                <a:solidFill>
                  <a:schemeClr val="tx1">
                    <a:lumMod val="95000"/>
                    <a:lumOff val="5000"/>
                  </a:schemeClr>
                </a:solidFill>
                <a:latin typeface="Verdana "/>
              </a:rPr>
              <a:t>       4. </a:t>
            </a:r>
            <a:r>
              <a:rPr lang="en-US" sz="2300" dirty="0">
                <a:solidFill>
                  <a:srgbClr val="FF0000"/>
                </a:solidFill>
                <a:latin typeface="Verdana "/>
              </a:rPr>
              <a:t>Active and pending: </a:t>
            </a:r>
            <a:r>
              <a:rPr lang="en-US" sz="2300" dirty="0">
                <a:solidFill>
                  <a:schemeClr val="tx1">
                    <a:lumMod val="95000"/>
                    <a:lumOff val="5000"/>
                  </a:schemeClr>
                </a:solidFill>
                <a:latin typeface="Verdana "/>
              </a:rPr>
              <a:t>The interrupt is being serviced by the processor the same </a:t>
            </a:r>
            <a:r>
              <a:rPr lang="en-US" sz="2300" dirty="0" smtClean="0">
                <a:solidFill>
                  <a:schemeClr val="tx1">
                    <a:lumMod val="95000"/>
                    <a:lumOff val="5000"/>
                  </a:schemeClr>
                </a:solidFill>
                <a:latin typeface="Verdana "/>
              </a:rPr>
              <a:t>and </a:t>
            </a:r>
            <a:r>
              <a:rPr lang="en-US" sz="2300" dirty="0">
                <a:solidFill>
                  <a:schemeClr val="tx1">
                    <a:lumMod val="95000"/>
                    <a:lumOff val="5000"/>
                  </a:schemeClr>
                </a:solidFill>
                <a:latin typeface="Verdana "/>
              </a:rPr>
              <a:t>there is a pending interrupt from the </a:t>
            </a:r>
            <a:r>
              <a:rPr lang="en-US" sz="2300" dirty="0" err="1" smtClean="0">
                <a:solidFill>
                  <a:schemeClr val="tx1">
                    <a:lumMod val="95000"/>
                    <a:lumOff val="5000"/>
                  </a:schemeClr>
                </a:solidFill>
                <a:latin typeface="Verdana "/>
              </a:rPr>
              <a:t>saame</a:t>
            </a:r>
            <a:r>
              <a:rPr lang="en-US" sz="2300" dirty="0" smtClean="0">
                <a:solidFill>
                  <a:schemeClr val="tx1">
                    <a:lumMod val="95000"/>
                    <a:lumOff val="5000"/>
                  </a:schemeClr>
                </a:solidFill>
                <a:latin typeface="Verdana "/>
              </a:rPr>
              <a:t> </a:t>
            </a:r>
            <a:r>
              <a:rPr lang="en-US" sz="2300" dirty="0">
                <a:solidFill>
                  <a:schemeClr val="tx1">
                    <a:lumMod val="95000"/>
                    <a:lumOff val="5000"/>
                  </a:schemeClr>
                </a:solidFill>
                <a:latin typeface="Verdana "/>
              </a:rPr>
              <a:t>source</a:t>
            </a:r>
            <a:r>
              <a:rPr lang="en-US" sz="2300" dirty="0" smtClean="0">
                <a:solidFill>
                  <a:schemeClr val="tx1">
                    <a:lumMod val="95000"/>
                    <a:lumOff val="5000"/>
                  </a:schemeClr>
                </a:solidFill>
                <a:latin typeface="Verdana "/>
              </a:rPr>
              <a:t>.</a:t>
            </a:r>
          </a:p>
          <a:p>
            <a:pPr algn="just" fontAlgn="base"/>
            <a:r>
              <a:rPr lang="en-US" sz="2300" dirty="0">
                <a:solidFill>
                  <a:schemeClr val="tx1">
                    <a:lumMod val="95000"/>
                    <a:lumOff val="5000"/>
                  </a:schemeClr>
                </a:solidFill>
                <a:latin typeface="Verdana "/>
              </a:rPr>
              <a:t>In all processors, interrupt handling is more or less similar</a:t>
            </a:r>
          </a:p>
          <a:p>
            <a:pPr algn="just"/>
            <a:r>
              <a:rPr lang="en-US" sz="2300" dirty="0">
                <a:solidFill>
                  <a:schemeClr val="tx1">
                    <a:lumMod val="95000"/>
                    <a:lumOff val="5000"/>
                  </a:schemeClr>
                </a:solidFill>
                <a:latin typeface="Verdana "/>
              </a:rPr>
              <a:t>Once an interrupt is acknowledged, the most important thing to do is context saving.</a:t>
            </a:r>
          </a:p>
          <a:p>
            <a:pPr algn="just"/>
            <a:r>
              <a:rPr lang="en-US" sz="2300" dirty="0">
                <a:solidFill>
                  <a:schemeClr val="tx1">
                    <a:lumMod val="95000"/>
                    <a:lumOff val="5000"/>
                  </a:schemeClr>
                </a:solidFill>
                <a:latin typeface="Verdana "/>
              </a:rPr>
              <a:t>The context is the content of the currently used registers.</a:t>
            </a:r>
          </a:p>
          <a:p>
            <a:pPr algn="just"/>
            <a:r>
              <a:rPr lang="en-US" sz="2300" dirty="0">
                <a:solidFill>
                  <a:schemeClr val="tx1">
                    <a:lumMod val="95000"/>
                    <a:lumOff val="5000"/>
                  </a:schemeClr>
                </a:solidFill>
                <a:latin typeface="Verdana "/>
              </a:rPr>
              <a:t>The contents of these registers are pushed on to the stack.</a:t>
            </a:r>
          </a:p>
          <a:p>
            <a:pPr algn="just"/>
            <a:r>
              <a:rPr lang="en-US" sz="2300" dirty="0">
                <a:solidFill>
                  <a:schemeClr val="tx1">
                    <a:lumMod val="95000"/>
                    <a:lumOff val="5000"/>
                  </a:schemeClr>
                </a:solidFill>
                <a:latin typeface="Verdana "/>
              </a:rPr>
              <a:t>If the processor is in the Thread mode, the stack that is being used could be the main stack or </a:t>
            </a:r>
            <a:r>
              <a:rPr lang="en-US" sz="2300" dirty="0" smtClean="0">
                <a:solidFill>
                  <a:schemeClr val="tx1">
                    <a:lumMod val="95000"/>
                    <a:lumOff val="5000"/>
                  </a:schemeClr>
                </a:solidFill>
                <a:latin typeface="Verdana "/>
              </a:rPr>
              <a:t>the process </a:t>
            </a:r>
            <a:r>
              <a:rPr lang="en-US" sz="2300" dirty="0">
                <a:solidFill>
                  <a:schemeClr val="tx1">
                    <a:lumMod val="95000"/>
                    <a:lumOff val="5000"/>
                  </a:schemeClr>
                </a:solidFill>
                <a:latin typeface="Verdana "/>
              </a:rPr>
              <a:t>stack. </a:t>
            </a:r>
            <a:endParaRPr lang="en-US" sz="2300" dirty="0" smtClean="0">
              <a:solidFill>
                <a:schemeClr val="tx1">
                  <a:lumMod val="95000"/>
                  <a:lumOff val="5000"/>
                </a:schemeClr>
              </a:solidFill>
              <a:latin typeface="Verdana "/>
            </a:endParaRPr>
          </a:p>
          <a:p>
            <a:pPr algn="just"/>
            <a:r>
              <a:rPr lang="en-US" sz="2300" dirty="0">
                <a:solidFill>
                  <a:schemeClr val="tx1">
                    <a:lumMod val="95000"/>
                    <a:lumOff val="5000"/>
                  </a:schemeClr>
                </a:solidFill>
                <a:latin typeface="Verdana "/>
              </a:rPr>
              <a:t>If the processor is in the Handler mode, it is the main stack  that is relevant.</a:t>
            </a:r>
            <a:endParaRPr lang="en-IN" sz="2300" dirty="0">
              <a:solidFill>
                <a:schemeClr val="tx1">
                  <a:lumMod val="95000"/>
                  <a:lumOff val="5000"/>
                </a:schemeClr>
              </a:solidFill>
              <a:latin typeface="Verdana "/>
            </a:endParaRPr>
          </a:p>
          <a:p>
            <a:pPr algn="just"/>
            <a:endParaRPr lang="en-IN" sz="2300" dirty="0">
              <a:solidFill>
                <a:schemeClr val="tx1">
                  <a:lumMod val="95000"/>
                  <a:lumOff val="5000"/>
                </a:schemeClr>
              </a:solidFill>
              <a:latin typeface="Verdana "/>
            </a:endParaRPr>
          </a:p>
          <a:p>
            <a:pPr algn="just" fontAlgn="base"/>
            <a:endParaRPr lang="en-IN" dirty="0"/>
          </a:p>
        </p:txBody>
      </p:sp>
    </p:spTree>
    <p:extLst>
      <p:ext uri="{BB962C8B-B14F-4D97-AF65-F5344CB8AC3E}">
        <p14:creationId xmlns:p14="http://schemas.microsoft.com/office/powerpoint/2010/main" val="190817752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885" y="1506311"/>
            <a:ext cx="8610858" cy="52631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2258" y="308429"/>
            <a:ext cx="2238828" cy="1023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357980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3030" y="1701800"/>
            <a:ext cx="10159999" cy="5838371"/>
          </a:xfrm>
        </p:spPr>
        <p:txBody>
          <a:bodyPr>
            <a:normAutofit/>
          </a:bodyPr>
          <a:lstStyle/>
          <a:p>
            <a:pPr algn="just"/>
            <a:r>
              <a:rPr lang="en-US" sz="2300" dirty="0">
                <a:solidFill>
                  <a:schemeClr val="tx1">
                    <a:lumMod val="95000"/>
                    <a:lumOff val="5000"/>
                  </a:schemeClr>
                </a:solidFill>
                <a:latin typeface="Verdana "/>
              </a:rPr>
              <a:t>Figure shows, eight words are saved on the stack. </a:t>
            </a:r>
          </a:p>
          <a:p>
            <a:pPr algn="just"/>
            <a:r>
              <a:rPr lang="en-US" sz="2300" dirty="0">
                <a:solidFill>
                  <a:schemeClr val="tx1">
                    <a:lumMod val="95000"/>
                    <a:lumOff val="5000"/>
                  </a:schemeClr>
                </a:solidFill>
                <a:latin typeface="Verdana "/>
              </a:rPr>
              <a:t>These eight words are the contents of registers RO to R3, R12, LR,PC and PSR </a:t>
            </a:r>
          </a:p>
          <a:p>
            <a:pPr algn="just"/>
            <a:r>
              <a:rPr lang="en-US" sz="2300" dirty="0">
                <a:solidFill>
                  <a:schemeClr val="tx1">
                    <a:lumMod val="95000"/>
                    <a:lumOff val="5000"/>
                  </a:schemeClr>
                </a:solidFill>
                <a:latin typeface="Verdana "/>
              </a:rPr>
              <a:t>This action of saving the context is called stacking and the saved content is called a stack frame. </a:t>
            </a:r>
          </a:p>
          <a:p>
            <a:pPr algn="just"/>
            <a:r>
              <a:rPr lang="en-US" sz="2300" dirty="0">
                <a:solidFill>
                  <a:schemeClr val="tx1">
                    <a:lumMod val="95000"/>
                    <a:lumOff val="5000"/>
                  </a:schemeClr>
                </a:solidFill>
                <a:latin typeface="Verdana "/>
              </a:rPr>
              <a:t>Note that the stack frame includes the return address, which is the address of the next instruction in the interrupted program </a:t>
            </a:r>
          </a:p>
          <a:p>
            <a:pPr algn="just"/>
            <a:r>
              <a:rPr lang="en-US" sz="2300" dirty="0">
                <a:solidFill>
                  <a:schemeClr val="tx1">
                    <a:lumMod val="95000"/>
                    <a:lumOff val="5000"/>
                  </a:schemeClr>
                </a:solidFill>
                <a:latin typeface="Verdana "/>
              </a:rPr>
              <a:t>This address would have been saved in the Link Register (LR</a:t>
            </a:r>
            <a:r>
              <a:rPr lang="en-US" sz="2300" dirty="0" smtClean="0">
                <a:solidFill>
                  <a:schemeClr val="tx1">
                    <a:lumMod val="95000"/>
                    <a:lumOff val="5000"/>
                  </a:schemeClr>
                </a:solidFill>
                <a:latin typeface="Verdana "/>
              </a:rPr>
              <a:t>) when </a:t>
            </a:r>
            <a:r>
              <a:rPr lang="en-US" sz="2300" dirty="0">
                <a:solidFill>
                  <a:schemeClr val="tx1">
                    <a:lumMod val="95000"/>
                    <a:lumOff val="5000"/>
                  </a:schemeClr>
                </a:solidFill>
                <a:latin typeface="Verdana "/>
              </a:rPr>
              <a:t>the interrupt occurred.</a:t>
            </a:r>
            <a:endParaRPr lang="en-IN" sz="2300" dirty="0">
              <a:solidFill>
                <a:schemeClr val="tx1">
                  <a:lumMod val="95000"/>
                  <a:lumOff val="5000"/>
                </a:schemeClr>
              </a:solidFill>
              <a:latin typeface="Verdana "/>
            </a:endParaRPr>
          </a:p>
          <a:p>
            <a:pPr algn="just" fontAlgn="base"/>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37950389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839" y="130625"/>
            <a:ext cx="8911687" cy="1280890"/>
          </a:xfrm>
        </p:spPr>
        <p:txBody>
          <a:bodyPr>
            <a:normAutofit/>
          </a:bodyPr>
          <a:lstStyle/>
          <a:p>
            <a:r>
              <a:rPr lang="en-US" b="1" dirty="0">
                <a:solidFill>
                  <a:srgbClr val="7030A0"/>
                </a:solidFill>
                <a:latin typeface="Verdana "/>
              </a:rPr>
              <a:t>7.6.5 Reset behavior</a:t>
            </a:r>
            <a:endParaRPr lang="en-IN" b="1" dirty="0">
              <a:solidFill>
                <a:srgbClr val="7030A0"/>
              </a:solidFill>
              <a:latin typeface="Verdana "/>
            </a:endParaRPr>
          </a:p>
        </p:txBody>
      </p:sp>
      <p:sp>
        <p:nvSpPr>
          <p:cNvPr id="3" name="Content Placeholder 2"/>
          <p:cNvSpPr>
            <a:spLocks noGrp="1"/>
          </p:cNvSpPr>
          <p:nvPr>
            <p:ph idx="1"/>
          </p:nvPr>
        </p:nvSpPr>
        <p:spPr>
          <a:xfrm>
            <a:off x="2371497" y="1411515"/>
            <a:ext cx="9007703" cy="5675085"/>
          </a:xfrm>
        </p:spPr>
        <p:txBody>
          <a:bodyPr/>
          <a:lstStyle/>
          <a:p>
            <a:pPr algn="just"/>
            <a:r>
              <a:rPr lang="en-IN" dirty="0" smtClean="0"/>
              <a:t> </a:t>
            </a:r>
            <a:r>
              <a:rPr lang="en-US" sz="2300" dirty="0">
                <a:solidFill>
                  <a:schemeClr val="tx1">
                    <a:lumMod val="95000"/>
                    <a:lumOff val="5000"/>
                  </a:schemeClr>
                </a:solidFill>
                <a:latin typeface="Verdana "/>
              </a:rPr>
              <a:t>Reset is a special case of interrupt, because it corresponds to the starting of the processor activity.</a:t>
            </a:r>
            <a:endParaRPr lang="en-IN" sz="2300" dirty="0">
              <a:solidFill>
                <a:schemeClr val="tx1">
                  <a:lumMod val="95000"/>
                  <a:lumOff val="5000"/>
                </a:schemeClr>
              </a:solidFill>
              <a:latin typeface="Verdana "/>
            </a:endParaRPr>
          </a:p>
          <a:p>
            <a:pPr algn="just"/>
            <a:r>
              <a:rPr lang="en-US" sz="2300" dirty="0">
                <a:solidFill>
                  <a:schemeClr val="tx1">
                    <a:lumMod val="95000"/>
                    <a:lumOff val="5000"/>
                  </a:schemeClr>
                </a:solidFill>
                <a:latin typeface="Verdana "/>
              </a:rPr>
              <a:t>See the sequence of actions that follow a reset (interrupt of type 1). Let's review the steps that follow this interrupt.</a:t>
            </a:r>
          </a:p>
          <a:p>
            <a:pPr marL="0" indent="0" algn="just">
              <a:buNone/>
            </a:pPr>
            <a:r>
              <a:rPr lang="en-US" sz="2300" dirty="0">
                <a:solidFill>
                  <a:schemeClr val="tx1">
                    <a:lumMod val="95000"/>
                    <a:lumOff val="5000"/>
                  </a:schemeClr>
                </a:solidFill>
                <a:latin typeface="Verdana "/>
              </a:rPr>
              <a:t>     1. The processor is reset (say, a Push Button reset)</a:t>
            </a:r>
          </a:p>
          <a:p>
            <a:pPr marL="0" lvl="0" indent="0" algn="just">
              <a:buNone/>
            </a:pPr>
            <a:r>
              <a:rPr lang="en-US" sz="2300" dirty="0">
                <a:solidFill>
                  <a:schemeClr val="tx1">
                    <a:lumMod val="95000"/>
                    <a:lumOff val="5000"/>
                  </a:schemeClr>
                </a:solidFill>
                <a:latin typeface="Verdana "/>
              </a:rPr>
              <a:t>     2. The 32-bit number in address Ox0 is loaded in the MSP.</a:t>
            </a:r>
            <a:endParaRPr lang="en-IN" sz="2300" dirty="0">
              <a:solidFill>
                <a:schemeClr val="tx1">
                  <a:lumMod val="95000"/>
                  <a:lumOff val="5000"/>
                </a:schemeClr>
              </a:solidFill>
              <a:latin typeface="Verdana "/>
            </a:endParaRPr>
          </a:p>
          <a:p>
            <a:pPr marL="0" lvl="0" indent="0" algn="just">
              <a:buNone/>
            </a:pPr>
            <a:r>
              <a:rPr lang="en-IN" sz="2300" dirty="0">
                <a:solidFill>
                  <a:schemeClr val="tx1">
                    <a:lumMod val="95000"/>
                    <a:lumOff val="5000"/>
                  </a:schemeClr>
                </a:solidFill>
                <a:latin typeface="Verdana "/>
              </a:rPr>
              <a:t>     3. </a:t>
            </a:r>
            <a:r>
              <a:rPr lang="en-US" sz="2300" dirty="0">
                <a:solidFill>
                  <a:schemeClr val="tx1">
                    <a:lumMod val="95000"/>
                    <a:lumOff val="5000"/>
                  </a:schemeClr>
                </a:solidFill>
                <a:latin typeface="Verdana "/>
              </a:rPr>
              <a:t>The reset vector is taken from address 0x04.</a:t>
            </a:r>
            <a:endParaRPr lang="en-IN" sz="2300" dirty="0">
              <a:solidFill>
                <a:schemeClr val="tx1">
                  <a:lumMod val="95000"/>
                  <a:lumOff val="5000"/>
                </a:schemeClr>
              </a:solidFill>
              <a:latin typeface="Verdana "/>
            </a:endParaRPr>
          </a:p>
          <a:p>
            <a:pPr marL="0" lvl="0" indent="0" algn="just">
              <a:buNone/>
            </a:pPr>
            <a:r>
              <a:rPr lang="en-IN" sz="2300" dirty="0">
                <a:solidFill>
                  <a:schemeClr val="tx1">
                    <a:lumMod val="95000"/>
                    <a:lumOff val="5000"/>
                  </a:schemeClr>
                </a:solidFill>
                <a:latin typeface="Verdana "/>
              </a:rPr>
              <a:t>     4. </a:t>
            </a:r>
            <a:r>
              <a:rPr lang="en-US" sz="2300" dirty="0">
                <a:solidFill>
                  <a:schemeClr val="tx1">
                    <a:lumMod val="95000"/>
                    <a:lumOff val="5000"/>
                  </a:schemeClr>
                </a:solidFill>
                <a:latin typeface="Verdana "/>
              </a:rPr>
              <a:t>The reset code is executed in Thread mode.</a:t>
            </a:r>
            <a:endParaRPr lang="en-IN" sz="2300" dirty="0">
              <a:solidFill>
                <a:schemeClr val="tx1">
                  <a:lumMod val="95000"/>
                  <a:lumOff val="5000"/>
                </a:schemeClr>
              </a:solidFill>
              <a:latin typeface="Verdana "/>
            </a:endParaRPr>
          </a:p>
          <a:p>
            <a:pPr marL="0" lvl="0" indent="0" algn="just">
              <a:buNone/>
            </a:pPr>
            <a:r>
              <a:rPr lang="en-IN" sz="2300" dirty="0">
                <a:solidFill>
                  <a:schemeClr val="tx1">
                    <a:lumMod val="95000"/>
                    <a:lumOff val="5000"/>
                  </a:schemeClr>
                </a:solidFill>
                <a:latin typeface="Verdana "/>
              </a:rPr>
              <a:t>     5. </a:t>
            </a:r>
            <a:r>
              <a:rPr lang="en-US" sz="2300" dirty="0">
                <a:solidFill>
                  <a:schemeClr val="tx1">
                    <a:lumMod val="95000"/>
                    <a:lumOff val="5000"/>
                  </a:schemeClr>
                </a:solidFill>
                <a:latin typeface="Verdana "/>
              </a:rPr>
              <a:t>The application program is accessed after this.</a:t>
            </a:r>
            <a:endParaRPr lang="en-IN" sz="2300" dirty="0">
              <a:solidFill>
                <a:schemeClr val="tx1">
                  <a:lumMod val="95000"/>
                  <a:lumOff val="5000"/>
                </a:schemeClr>
              </a:solidFill>
              <a:latin typeface="Verdana "/>
            </a:endParaRPr>
          </a:p>
          <a:p>
            <a:pPr algn="just"/>
            <a:endParaRPr lang="en-IN" dirty="0"/>
          </a:p>
          <a:p>
            <a:pPr algn="just"/>
            <a:endParaRPr lang="en-IN"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23581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154" y="145138"/>
            <a:ext cx="8911687" cy="1280890"/>
          </a:xfrm>
        </p:spPr>
        <p:txBody>
          <a:bodyPr>
            <a:normAutofit/>
          </a:bodyPr>
          <a:lstStyle/>
          <a:p>
            <a:r>
              <a:rPr lang="en-US" b="1" dirty="0">
                <a:solidFill>
                  <a:srgbClr val="7030A0"/>
                </a:solidFill>
                <a:latin typeface="Verdana "/>
              </a:rPr>
              <a:t>7.6.6 Issues in interrupt processing</a:t>
            </a:r>
            <a:endParaRPr lang="en-IN" b="1" dirty="0">
              <a:solidFill>
                <a:srgbClr val="7030A0"/>
              </a:solidFill>
              <a:latin typeface="Verdana "/>
            </a:endParaRPr>
          </a:p>
        </p:txBody>
      </p:sp>
      <p:sp>
        <p:nvSpPr>
          <p:cNvPr id="3" name="Content Placeholder 2"/>
          <p:cNvSpPr>
            <a:spLocks noGrp="1"/>
          </p:cNvSpPr>
          <p:nvPr>
            <p:ph idx="1"/>
          </p:nvPr>
        </p:nvSpPr>
        <p:spPr>
          <a:xfrm>
            <a:off x="1795572" y="1966688"/>
            <a:ext cx="9922103" cy="870856"/>
          </a:xfrm>
        </p:spPr>
        <p:txBody>
          <a:bodyPr>
            <a:normAutofit/>
          </a:bodyPr>
          <a:lstStyle/>
          <a:p>
            <a:r>
              <a:rPr lang="en-US" sz="2300" dirty="0">
                <a:solidFill>
                  <a:schemeClr val="tx1">
                    <a:lumMod val="95000"/>
                    <a:lumOff val="5000"/>
                  </a:schemeClr>
                </a:solidFill>
                <a:latin typeface="Verdana "/>
              </a:rPr>
              <a:t>In this case, the pending interrupt with the lowest type number (essentially those that are more important) will be allowed precedence.</a:t>
            </a:r>
            <a:endParaRPr lang="en-IN" sz="2300" dirty="0">
              <a:solidFill>
                <a:schemeClr val="tx1">
                  <a:lumMod val="95000"/>
                  <a:lumOff val="5000"/>
                </a:schemeClr>
              </a:solidFill>
              <a:latin typeface="Verdana "/>
            </a:endParaRPr>
          </a:p>
        </p:txBody>
      </p:sp>
      <p:sp>
        <p:nvSpPr>
          <p:cNvPr id="4" name="Title 1"/>
          <p:cNvSpPr txBox="1">
            <a:spLocks/>
          </p:cNvSpPr>
          <p:nvPr/>
        </p:nvSpPr>
        <p:spPr>
          <a:xfrm>
            <a:off x="1115259" y="1299028"/>
            <a:ext cx="11282733" cy="58783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lumMod val="95000"/>
                    <a:lumOff val="5000"/>
                  </a:schemeClr>
                </a:solidFill>
                <a:latin typeface="Verdana "/>
                <a:ea typeface="+mn-ea"/>
                <a:cs typeface="+mn-cs"/>
              </a:rPr>
              <a:t>What if multiple interrupts have the same priority number?</a:t>
            </a:r>
            <a:endParaRPr lang="en-IN" sz="2800" b="1" dirty="0">
              <a:solidFill>
                <a:schemeClr val="tx1">
                  <a:lumMod val="95000"/>
                  <a:lumOff val="5000"/>
                </a:schemeClr>
              </a:solidFill>
              <a:latin typeface="Verdana "/>
              <a:ea typeface="+mn-ea"/>
              <a:cs typeface="+mn-cs"/>
            </a:endParaRPr>
          </a:p>
        </p:txBody>
      </p:sp>
      <p:sp>
        <p:nvSpPr>
          <p:cNvPr id="5" name="Title 1"/>
          <p:cNvSpPr txBox="1">
            <a:spLocks/>
          </p:cNvSpPr>
          <p:nvPr/>
        </p:nvSpPr>
        <p:spPr>
          <a:xfrm>
            <a:off x="1115259" y="3526972"/>
            <a:ext cx="10602417" cy="58783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lumMod val="95000"/>
                    <a:lumOff val="5000"/>
                  </a:schemeClr>
                </a:solidFill>
                <a:latin typeface="Verdana "/>
                <a:ea typeface="+mn-ea"/>
                <a:cs typeface="+mn-cs"/>
              </a:rPr>
              <a:t>Can an interrupt pre-empt a current handler?</a:t>
            </a:r>
            <a:endParaRPr lang="en-IN" sz="2800" b="1" dirty="0">
              <a:solidFill>
                <a:schemeClr val="tx1">
                  <a:lumMod val="95000"/>
                  <a:lumOff val="5000"/>
                </a:schemeClr>
              </a:solidFill>
              <a:latin typeface="Verdana "/>
              <a:ea typeface="+mn-ea"/>
              <a:cs typeface="+mn-cs"/>
            </a:endParaRPr>
          </a:p>
        </p:txBody>
      </p:sp>
      <p:sp>
        <p:nvSpPr>
          <p:cNvPr id="6" name="Content Placeholder 2"/>
          <p:cNvSpPr txBox="1">
            <a:spLocks/>
          </p:cNvSpPr>
          <p:nvPr/>
        </p:nvSpPr>
        <p:spPr>
          <a:xfrm>
            <a:off x="1795572" y="4114802"/>
            <a:ext cx="9922103" cy="8708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300" dirty="0">
                <a:solidFill>
                  <a:schemeClr val="tx1">
                    <a:lumMod val="95000"/>
                    <a:lumOff val="5000"/>
                  </a:schemeClr>
                </a:solidFill>
                <a:latin typeface="Verdana "/>
              </a:rPr>
              <a:t>The word </a:t>
            </a:r>
            <a:r>
              <a:rPr lang="en-US" sz="2300" dirty="0" smtClean="0">
                <a:solidFill>
                  <a:schemeClr val="tx1">
                    <a:lumMod val="95000"/>
                    <a:lumOff val="5000"/>
                  </a:schemeClr>
                </a:solidFill>
                <a:latin typeface="Verdana "/>
              </a:rPr>
              <a:t>'pre-empt </a:t>
            </a:r>
            <a:r>
              <a:rPr lang="en-US" sz="2300" dirty="0">
                <a:solidFill>
                  <a:schemeClr val="tx1">
                    <a:lumMod val="95000"/>
                    <a:lumOff val="5000"/>
                  </a:schemeClr>
                </a:solidFill>
                <a:latin typeface="Verdana "/>
              </a:rPr>
              <a:t>means </a:t>
            </a:r>
            <a:r>
              <a:rPr lang="en-US" sz="2300" dirty="0" smtClean="0">
                <a:solidFill>
                  <a:schemeClr val="tx1">
                    <a:lumMod val="95000"/>
                    <a:lumOff val="5000"/>
                  </a:schemeClr>
                </a:solidFill>
                <a:latin typeface="Verdana "/>
              </a:rPr>
              <a:t>‘remove </a:t>
            </a:r>
            <a:r>
              <a:rPr lang="en-US" sz="2300" dirty="0">
                <a:solidFill>
                  <a:schemeClr val="tx1">
                    <a:lumMod val="95000"/>
                    <a:lumOff val="5000"/>
                  </a:schemeClr>
                </a:solidFill>
                <a:latin typeface="Verdana "/>
              </a:rPr>
              <a:t>and </a:t>
            </a:r>
            <a:r>
              <a:rPr lang="en-US" sz="2300" dirty="0" smtClean="0">
                <a:solidFill>
                  <a:schemeClr val="tx1">
                    <a:lumMod val="95000"/>
                    <a:lumOff val="5000"/>
                  </a:schemeClr>
                </a:solidFill>
                <a:latin typeface="Verdana "/>
              </a:rPr>
              <a:t>replace’. </a:t>
            </a:r>
          </a:p>
          <a:p>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answer </a:t>
            </a:r>
            <a:r>
              <a:rPr lang="en-US" sz="2300" dirty="0" smtClean="0">
                <a:solidFill>
                  <a:schemeClr val="tx1">
                    <a:lumMod val="95000"/>
                    <a:lumOff val="5000"/>
                  </a:schemeClr>
                </a:solidFill>
                <a:latin typeface="Verdana "/>
              </a:rPr>
              <a:t>is </a:t>
            </a:r>
            <a:r>
              <a:rPr lang="en-US" sz="2300" dirty="0">
                <a:solidFill>
                  <a:schemeClr val="tx1">
                    <a:lumMod val="95000"/>
                    <a:lumOff val="5000"/>
                  </a:schemeClr>
                </a:solidFill>
                <a:latin typeface="Verdana "/>
              </a:rPr>
              <a:t>that </a:t>
            </a:r>
            <a:r>
              <a:rPr lang="en-US" sz="2300" dirty="0" smtClean="0">
                <a:solidFill>
                  <a:schemeClr val="tx1">
                    <a:lumMod val="95000"/>
                    <a:lumOff val="5000"/>
                  </a:schemeClr>
                </a:solidFill>
                <a:latin typeface="Verdana "/>
              </a:rPr>
              <a:t>an interrupt </a:t>
            </a:r>
            <a:r>
              <a:rPr lang="en-US" sz="2300" dirty="0">
                <a:solidFill>
                  <a:schemeClr val="tx1">
                    <a:lumMod val="95000"/>
                    <a:lumOff val="5000"/>
                  </a:schemeClr>
                </a:solidFill>
                <a:latin typeface="Verdana "/>
              </a:rPr>
              <a:t>with a higher priority than </a:t>
            </a:r>
            <a:r>
              <a:rPr lang="en-US" sz="2300" dirty="0" smtClean="0">
                <a:solidFill>
                  <a:schemeClr val="tx1">
                    <a:lumMod val="95000"/>
                    <a:lumOff val="5000"/>
                  </a:schemeClr>
                </a:solidFill>
                <a:latin typeface="Verdana "/>
              </a:rPr>
              <a:t>the currently active one may be allowed to do </a:t>
            </a:r>
            <a:r>
              <a:rPr lang="en-US" sz="2300" dirty="0">
                <a:solidFill>
                  <a:schemeClr val="tx1">
                    <a:lumMod val="95000"/>
                    <a:lumOff val="5000"/>
                  </a:schemeClr>
                </a:solidFill>
                <a:latin typeface="Verdana "/>
              </a:rPr>
              <a:t>that. </a:t>
            </a:r>
            <a:endParaRPr lang="en-US" sz="2300" dirty="0" smtClean="0">
              <a:solidFill>
                <a:schemeClr val="tx1">
                  <a:lumMod val="95000"/>
                  <a:lumOff val="5000"/>
                </a:schemeClr>
              </a:solidFill>
              <a:latin typeface="Verdana "/>
            </a:endParaRPr>
          </a:p>
          <a:p>
            <a:r>
              <a:rPr lang="en-US" sz="2300" dirty="0" smtClean="0">
                <a:solidFill>
                  <a:schemeClr val="tx1">
                    <a:lumMod val="95000"/>
                    <a:lumOff val="5000"/>
                  </a:schemeClr>
                </a:solidFill>
                <a:latin typeface="Verdana "/>
              </a:rPr>
              <a:t>This </a:t>
            </a:r>
            <a:r>
              <a:rPr lang="en-US" sz="2300" dirty="0">
                <a:solidFill>
                  <a:schemeClr val="tx1">
                    <a:lumMod val="95000"/>
                    <a:lumOff val="5000"/>
                  </a:schemeClr>
                </a:solidFill>
                <a:latin typeface="Verdana "/>
              </a:rPr>
              <a:t>has to be decided as part of </a:t>
            </a:r>
            <a:r>
              <a:rPr lang="en-US" sz="2300" dirty="0" smtClean="0">
                <a:solidFill>
                  <a:schemeClr val="tx1">
                    <a:lumMod val="95000"/>
                    <a:lumOff val="5000"/>
                  </a:schemeClr>
                </a:solidFill>
                <a:latin typeface="Verdana "/>
              </a:rPr>
              <a:t>the policy decided for the processor and/or </a:t>
            </a:r>
            <a:r>
              <a:rPr lang="en-US" sz="2300" dirty="0">
                <a:solidFill>
                  <a:schemeClr val="tx1">
                    <a:lumMod val="95000"/>
                    <a:lumOff val="5000"/>
                  </a:schemeClr>
                </a:solidFill>
                <a:latin typeface="Verdana "/>
              </a:rPr>
              <a:t>the operating system.</a:t>
            </a:r>
            <a:endParaRPr lang="en-IN" sz="2300" dirty="0">
              <a:solidFill>
                <a:schemeClr val="tx1">
                  <a:lumMod val="95000"/>
                  <a:lumOff val="5000"/>
                </a:schemeClr>
              </a:solidFill>
              <a:latin typeface="Verdana "/>
            </a:endParaRPr>
          </a:p>
        </p:txBody>
      </p:sp>
    </p:spTree>
    <p:extLst>
      <p:ext uri="{BB962C8B-B14F-4D97-AF65-F5344CB8AC3E}">
        <p14:creationId xmlns:p14="http://schemas.microsoft.com/office/powerpoint/2010/main" val="144853153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630" y="1017510"/>
            <a:ext cx="9922103" cy="870856"/>
          </a:xfrm>
        </p:spPr>
        <p:txBody>
          <a:bodyPr>
            <a:noAutofit/>
          </a:bodyPr>
          <a:lstStyle/>
          <a:p>
            <a:r>
              <a:rPr lang="en-US" sz="2300" dirty="0">
                <a:solidFill>
                  <a:schemeClr val="tx1">
                    <a:lumMod val="95000"/>
                    <a:lumOff val="5000"/>
                  </a:schemeClr>
                </a:solidFill>
                <a:latin typeface="Verdana "/>
              </a:rPr>
              <a:t>When an ISR is running, another interrupt can occur</a:t>
            </a:r>
            <a:r>
              <a:rPr lang="en-US" sz="2300" dirty="0" smtClean="0">
                <a:solidFill>
                  <a:schemeClr val="tx1">
                    <a:lumMod val="95000"/>
                    <a:lumOff val="5000"/>
                  </a:schemeClr>
                </a:solidFill>
                <a:latin typeface="Verdana "/>
              </a:rPr>
              <a:t>.</a:t>
            </a:r>
          </a:p>
          <a:p>
            <a:r>
              <a:rPr lang="en-US" sz="2300" dirty="0" smtClean="0">
                <a:solidFill>
                  <a:schemeClr val="tx1">
                    <a:lumMod val="95000"/>
                    <a:lumOff val="5000"/>
                  </a:schemeClr>
                </a:solidFill>
                <a:latin typeface="Verdana "/>
              </a:rPr>
              <a:t>If </a:t>
            </a:r>
            <a:r>
              <a:rPr lang="en-US" sz="2300" dirty="0">
                <a:solidFill>
                  <a:schemeClr val="tx1">
                    <a:lumMod val="95000"/>
                    <a:lumOff val="5000"/>
                  </a:schemeClr>
                </a:solidFill>
                <a:latin typeface="Verdana "/>
              </a:rPr>
              <a:t>all the interrupts are equal as far as importance is concerned, the second one can interrupt the first. </a:t>
            </a:r>
            <a:endParaRPr lang="en-US" sz="2300" dirty="0" smtClean="0">
              <a:solidFill>
                <a:schemeClr val="tx1">
                  <a:lumMod val="95000"/>
                  <a:lumOff val="5000"/>
                </a:schemeClr>
              </a:solidFill>
              <a:latin typeface="Verdana "/>
            </a:endParaRPr>
          </a:p>
          <a:p>
            <a:r>
              <a:rPr lang="en-US" sz="2300" dirty="0" smtClean="0">
                <a:solidFill>
                  <a:schemeClr val="tx1">
                    <a:lumMod val="95000"/>
                    <a:lumOff val="5000"/>
                  </a:schemeClr>
                </a:solidFill>
                <a:latin typeface="Verdana "/>
              </a:rPr>
              <a:t>Third </a:t>
            </a:r>
            <a:r>
              <a:rPr lang="en-US" sz="2300" dirty="0">
                <a:solidFill>
                  <a:schemeClr val="tx1">
                    <a:lumMod val="95000"/>
                    <a:lumOff val="5000"/>
                  </a:schemeClr>
                </a:solidFill>
                <a:latin typeface="Verdana "/>
              </a:rPr>
              <a:t>one can interrupt the second one and so on. </a:t>
            </a:r>
            <a:endParaRPr lang="en-US" sz="2300" dirty="0" smtClean="0">
              <a:solidFill>
                <a:schemeClr val="tx1">
                  <a:lumMod val="95000"/>
                  <a:lumOff val="5000"/>
                </a:schemeClr>
              </a:solidFill>
              <a:latin typeface="Verdana "/>
            </a:endParaRPr>
          </a:p>
          <a:p>
            <a:r>
              <a:rPr lang="en-US" sz="2300" dirty="0" smtClean="0">
                <a:solidFill>
                  <a:schemeClr val="tx1">
                    <a:lumMod val="95000"/>
                    <a:lumOff val="5000"/>
                  </a:schemeClr>
                </a:solidFill>
                <a:latin typeface="Verdana "/>
              </a:rPr>
              <a:t>This </a:t>
            </a:r>
            <a:r>
              <a:rPr lang="en-US" sz="2300" dirty="0">
                <a:solidFill>
                  <a:schemeClr val="tx1">
                    <a:lumMod val="95000"/>
                    <a:lumOff val="5000"/>
                  </a:schemeClr>
                </a:solidFill>
                <a:latin typeface="Verdana "/>
              </a:rPr>
              <a:t>is called nest­ing of interrupts'. This makes it a set of 'nested' interrupts </a:t>
            </a:r>
            <a:endParaRPr lang="en-IN" sz="2300" dirty="0">
              <a:solidFill>
                <a:schemeClr val="tx1">
                  <a:lumMod val="95000"/>
                  <a:lumOff val="5000"/>
                </a:schemeClr>
              </a:solidFill>
              <a:latin typeface="Verdana "/>
            </a:endParaRPr>
          </a:p>
        </p:txBody>
      </p:sp>
      <p:sp>
        <p:nvSpPr>
          <p:cNvPr id="4" name="Title 1"/>
          <p:cNvSpPr txBox="1">
            <a:spLocks/>
          </p:cNvSpPr>
          <p:nvPr/>
        </p:nvSpPr>
        <p:spPr>
          <a:xfrm>
            <a:off x="1579716" y="451758"/>
            <a:ext cx="11282733" cy="58783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lumMod val="95000"/>
                    <a:lumOff val="5000"/>
                  </a:schemeClr>
                </a:solidFill>
                <a:latin typeface="Verdana "/>
                <a:ea typeface="+mn-ea"/>
                <a:cs typeface="+mn-cs"/>
              </a:rPr>
              <a:t>What is meant by a 'nesting of interrupts'?</a:t>
            </a:r>
            <a:endParaRPr lang="en-IN" sz="2800" b="1" dirty="0">
              <a:solidFill>
                <a:schemeClr val="tx1">
                  <a:lumMod val="95000"/>
                  <a:lumOff val="5000"/>
                </a:schemeClr>
              </a:solidFill>
              <a:latin typeface="Verdana "/>
              <a:ea typeface="+mn-ea"/>
              <a:cs typeface="+mn-cs"/>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4580" y="3608001"/>
            <a:ext cx="7758153" cy="3101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748472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9716" y="1039588"/>
            <a:ext cx="9886570" cy="5636983"/>
          </a:xfrm>
        </p:spPr>
        <p:txBody>
          <a:bodyPr>
            <a:noAutofit/>
          </a:bodyPr>
          <a:lstStyle/>
          <a:p>
            <a:pPr algn="just"/>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NVIC of Cortex-M has the capability to handle nested interrupts in a way such that the interests of the system are safeguarded</a:t>
            </a:r>
            <a:r>
              <a:rPr lang="en-US" sz="2300" dirty="0" smtClean="0">
                <a:solidFill>
                  <a:schemeClr val="tx1">
                    <a:lumMod val="95000"/>
                    <a:lumOff val="5000"/>
                  </a:schemeClr>
                </a:solidFill>
                <a:latin typeface="Verdana "/>
              </a:rPr>
              <a:t>.</a:t>
            </a:r>
          </a:p>
          <a:p>
            <a:pPr algn="just"/>
            <a:r>
              <a:rPr lang="en-US" sz="2300" dirty="0" smtClean="0">
                <a:solidFill>
                  <a:schemeClr val="tx1">
                    <a:lumMod val="95000"/>
                    <a:lumOff val="5000"/>
                  </a:schemeClr>
                </a:solidFill>
                <a:latin typeface="Verdana "/>
              </a:rPr>
              <a:t>The </a:t>
            </a:r>
            <a:r>
              <a:rPr lang="en-US" sz="2300" dirty="0">
                <a:solidFill>
                  <a:schemeClr val="tx1">
                    <a:lumMod val="95000"/>
                    <a:lumOff val="5000"/>
                  </a:schemeClr>
                </a:solidFill>
                <a:latin typeface="Verdana "/>
              </a:rPr>
              <a:t>points taken care of are</a:t>
            </a:r>
            <a:endParaRPr lang="en-IN" sz="2300" dirty="0">
              <a:solidFill>
                <a:schemeClr val="tx1">
                  <a:lumMod val="95000"/>
                  <a:lumOff val="5000"/>
                </a:schemeClr>
              </a:solidFill>
              <a:latin typeface="Verdana "/>
            </a:endParaRPr>
          </a:p>
          <a:p>
            <a:pPr marL="711200" indent="-711200" algn="just">
              <a:buNone/>
            </a:pPr>
            <a:r>
              <a:rPr lang="en-US" sz="2300" dirty="0" smtClean="0">
                <a:solidFill>
                  <a:schemeClr val="tx1">
                    <a:lumMod val="95000"/>
                    <a:lumOff val="5000"/>
                  </a:schemeClr>
                </a:solidFill>
                <a:latin typeface="Verdana "/>
              </a:rPr>
              <a:t>     1. High-priority </a:t>
            </a:r>
            <a:r>
              <a:rPr lang="en-US" sz="2300" dirty="0">
                <a:solidFill>
                  <a:schemeClr val="tx1">
                    <a:lumMod val="95000"/>
                    <a:lumOff val="5000"/>
                  </a:schemeClr>
                </a:solidFill>
                <a:latin typeface="Verdana "/>
              </a:rPr>
              <a:t>interrupts are serviced first and they cannot be interrupted </a:t>
            </a:r>
            <a:r>
              <a:rPr lang="en-US" sz="2300" dirty="0" smtClean="0">
                <a:solidFill>
                  <a:schemeClr val="tx1">
                    <a:lumMod val="95000"/>
                    <a:lumOff val="5000"/>
                  </a:schemeClr>
                </a:solidFill>
                <a:latin typeface="Verdana "/>
              </a:rPr>
              <a:t> by </a:t>
            </a:r>
            <a:r>
              <a:rPr lang="en-US" sz="2300" dirty="0">
                <a:solidFill>
                  <a:schemeClr val="tx1">
                    <a:lumMod val="95000"/>
                    <a:lumOff val="5000"/>
                  </a:schemeClr>
                </a:solidFill>
                <a:latin typeface="Verdana "/>
              </a:rPr>
              <a:t>low-priority interrupts.</a:t>
            </a:r>
            <a:endParaRPr lang="en-IN" sz="2300" dirty="0">
              <a:solidFill>
                <a:schemeClr val="tx1">
                  <a:lumMod val="95000"/>
                  <a:lumOff val="5000"/>
                </a:schemeClr>
              </a:solidFill>
              <a:latin typeface="Verdana "/>
            </a:endParaRPr>
          </a:p>
          <a:p>
            <a:pPr marL="711200" lvl="0" indent="-711200" algn="just" fontAlgn="base">
              <a:buNone/>
            </a:pPr>
            <a:r>
              <a:rPr lang="en-US" sz="2300" dirty="0" smtClean="0">
                <a:solidFill>
                  <a:schemeClr val="tx1">
                    <a:lumMod val="95000"/>
                    <a:lumOff val="5000"/>
                  </a:schemeClr>
                </a:solidFill>
                <a:latin typeface="Verdana "/>
              </a:rPr>
              <a:t>     2. A </a:t>
            </a:r>
            <a:r>
              <a:rPr lang="en-US" sz="2300" dirty="0">
                <a:solidFill>
                  <a:schemeClr val="tx1">
                    <a:lumMod val="95000"/>
                    <a:lumOff val="5000"/>
                  </a:schemeClr>
                </a:solidFill>
                <a:latin typeface="Verdana "/>
              </a:rPr>
              <a:t>high-priority interrupt may be allowed to pre-empt a low-priority interrupt handler. </a:t>
            </a:r>
            <a:endParaRPr lang="en-IN" sz="2300" dirty="0">
              <a:solidFill>
                <a:schemeClr val="tx1">
                  <a:lumMod val="95000"/>
                  <a:lumOff val="5000"/>
                </a:schemeClr>
              </a:solidFill>
              <a:latin typeface="Verdana "/>
            </a:endParaRPr>
          </a:p>
          <a:p>
            <a:pPr marL="711200" lvl="0" indent="-711200" algn="just" fontAlgn="base">
              <a:buNone/>
            </a:pPr>
            <a:r>
              <a:rPr lang="en-US" sz="2300" dirty="0" smtClean="0">
                <a:solidFill>
                  <a:schemeClr val="tx1">
                    <a:lumMod val="95000"/>
                    <a:lumOff val="5000"/>
                  </a:schemeClr>
                </a:solidFill>
                <a:latin typeface="Verdana "/>
              </a:rPr>
              <a:t>     3. If </a:t>
            </a:r>
            <a:r>
              <a:rPr lang="en-US" sz="2300" dirty="0">
                <a:solidFill>
                  <a:schemeClr val="tx1">
                    <a:lumMod val="95000"/>
                    <a:lumOff val="5000"/>
                  </a:schemeClr>
                </a:solidFill>
                <a:latin typeface="Verdana "/>
              </a:rPr>
              <a:t>an ISR is not to be interrupted by any other interrupt, all other </a:t>
            </a:r>
            <a:r>
              <a:rPr lang="en-US" sz="2300" dirty="0" smtClean="0">
                <a:solidFill>
                  <a:schemeClr val="tx1">
                    <a:lumMod val="95000"/>
                    <a:lumOff val="5000"/>
                  </a:schemeClr>
                </a:solidFill>
                <a:latin typeface="Verdana "/>
              </a:rPr>
              <a:t>interrupts </a:t>
            </a:r>
            <a:r>
              <a:rPr lang="en-US" sz="2300" dirty="0">
                <a:solidFill>
                  <a:schemeClr val="tx1">
                    <a:lumMod val="95000"/>
                    <a:lumOff val="5000"/>
                  </a:schemeClr>
                </a:solidFill>
                <a:latin typeface="Verdana "/>
              </a:rPr>
              <a:t>may be masked (except the NMI and Reset of course). </a:t>
            </a:r>
            <a:r>
              <a:rPr lang="en-US" sz="2300" dirty="0" smtClean="0">
                <a:solidFill>
                  <a:schemeClr val="tx1">
                    <a:lumMod val="95000"/>
                    <a:lumOff val="5000"/>
                  </a:schemeClr>
                </a:solidFill>
                <a:latin typeface="Verdana "/>
              </a:rPr>
              <a:t>        This </a:t>
            </a:r>
            <a:r>
              <a:rPr lang="en-US" sz="2300" dirty="0">
                <a:solidFill>
                  <a:schemeClr val="tx1">
                    <a:lumMod val="95000"/>
                    <a:lumOff val="5000"/>
                  </a:schemeClr>
                </a:solidFill>
                <a:latin typeface="Verdana "/>
              </a:rPr>
              <a:t>can </a:t>
            </a:r>
            <a:r>
              <a:rPr lang="en-US" sz="2300" dirty="0" smtClean="0">
                <a:solidFill>
                  <a:schemeClr val="tx1">
                    <a:lumMod val="95000"/>
                    <a:lumOff val="5000"/>
                  </a:schemeClr>
                </a:solidFill>
                <a:latin typeface="Verdana "/>
              </a:rPr>
              <a:t>be</a:t>
            </a:r>
            <a:r>
              <a:rPr lang="en-IN"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done </a:t>
            </a:r>
            <a:r>
              <a:rPr lang="en-US" sz="2300" dirty="0">
                <a:solidFill>
                  <a:schemeClr val="tx1">
                    <a:lumMod val="95000"/>
                    <a:lumOff val="5000"/>
                  </a:schemeClr>
                </a:solidFill>
                <a:latin typeface="Verdana "/>
              </a:rPr>
              <a:t>by setting a bit in the </a:t>
            </a:r>
            <a:r>
              <a:rPr lang="en-US" sz="2300" dirty="0" smtClean="0">
                <a:solidFill>
                  <a:schemeClr val="tx1">
                    <a:lumMod val="95000"/>
                    <a:lumOff val="5000"/>
                  </a:schemeClr>
                </a:solidFill>
                <a:latin typeface="Verdana "/>
              </a:rPr>
              <a:t>PRIMASK register</a:t>
            </a:r>
          </a:p>
          <a:p>
            <a:pPr marL="711200" lvl="0" indent="-711200" algn="just" fontAlgn="base">
              <a:buNone/>
            </a:pPr>
            <a:r>
              <a:rPr lang="en-US"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    4. The NVIC supports dynamic re-prioritization of interrupts. This means that priority levels can be changed by software during run time. When an ISR is being run, if all other interrupts are disabled, the priority of any interrupt may be changed, without the risk of accidental re-entry. </a:t>
            </a:r>
            <a:endParaRPr lang="en-US" sz="2300" dirty="0">
              <a:solidFill>
                <a:schemeClr val="tx1">
                  <a:lumMod val="95000"/>
                  <a:lumOff val="5000"/>
                </a:schemeClr>
              </a:solidFill>
              <a:latin typeface="Verdana "/>
            </a:endParaRPr>
          </a:p>
        </p:txBody>
      </p:sp>
      <p:sp>
        <p:nvSpPr>
          <p:cNvPr id="4" name="Title 1"/>
          <p:cNvSpPr txBox="1">
            <a:spLocks/>
          </p:cNvSpPr>
          <p:nvPr/>
        </p:nvSpPr>
        <p:spPr>
          <a:xfrm>
            <a:off x="1579716" y="451758"/>
            <a:ext cx="11282733" cy="58783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lumMod val="95000"/>
                    <a:lumOff val="5000"/>
                  </a:schemeClr>
                </a:solidFill>
                <a:latin typeface="Verdana "/>
                <a:ea typeface="+mn-ea"/>
                <a:cs typeface="+mn-cs"/>
              </a:rPr>
              <a:t>H</a:t>
            </a:r>
            <a:r>
              <a:rPr lang="en-US" sz="2800" b="1" smtClean="0">
                <a:solidFill>
                  <a:schemeClr val="tx1">
                    <a:lumMod val="95000"/>
                    <a:lumOff val="5000"/>
                  </a:schemeClr>
                </a:solidFill>
                <a:latin typeface="Verdana "/>
                <a:ea typeface="+mn-ea"/>
                <a:cs typeface="+mn-cs"/>
              </a:rPr>
              <a:t>ow </a:t>
            </a:r>
            <a:r>
              <a:rPr lang="en-US" sz="2800" b="1" dirty="0">
                <a:solidFill>
                  <a:schemeClr val="tx1">
                    <a:lumMod val="95000"/>
                    <a:lumOff val="5000"/>
                  </a:schemeClr>
                </a:solidFill>
                <a:latin typeface="Verdana "/>
                <a:ea typeface="+mn-ea"/>
                <a:cs typeface="+mn-cs"/>
              </a:rPr>
              <a:t>does the NVIC take care of interrupt nesting?</a:t>
            </a:r>
            <a:endParaRPr lang="en-IN" sz="2800" b="1" dirty="0">
              <a:solidFill>
                <a:schemeClr val="tx1">
                  <a:lumMod val="95000"/>
                  <a:lumOff val="5000"/>
                </a:schemeClr>
              </a:solidFill>
              <a:latin typeface="Verdana "/>
              <a:ea typeface="+mn-ea"/>
              <a:cs typeface="+mn-cs"/>
            </a:endParaRPr>
          </a:p>
          <a:p>
            <a:endParaRPr lang="en-IN" sz="2800" b="1" dirty="0">
              <a:solidFill>
                <a:schemeClr val="tx1">
                  <a:lumMod val="95000"/>
                  <a:lumOff val="5000"/>
                </a:schemeClr>
              </a:solidFill>
              <a:latin typeface="Verdana "/>
              <a:ea typeface="+mn-ea"/>
              <a:cs typeface="+mn-cs"/>
            </a:endParaRPr>
          </a:p>
        </p:txBody>
      </p:sp>
    </p:spTree>
    <p:extLst>
      <p:ext uri="{BB962C8B-B14F-4D97-AF65-F5344CB8AC3E}">
        <p14:creationId xmlns:p14="http://schemas.microsoft.com/office/powerpoint/2010/main" val="204033302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154" y="638628"/>
            <a:ext cx="9599075" cy="1280890"/>
          </a:xfrm>
        </p:spPr>
        <p:txBody>
          <a:bodyPr>
            <a:noAutofit/>
          </a:bodyPr>
          <a:lstStyle/>
          <a:p>
            <a:r>
              <a:rPr lang="en-US" b="1" dirty="0">
                <a:solidFill>
                  <a:srgbClr val="7030A0"/>
                </a:solidFill>
                <a:latin typeface="Verdana "/>
              </a:rPr>
              <a:t>7.7 POWER MANAGEMENT USING SLEEP MODES</a:t>
            </a:r>
            <a:r>
              <a:rPr lang="en-IN" b="1" dirty="0">
                <a:solidFill>
                  <a:srgbClr val="7030A0"/>
                </a:solidFill>
                <a:latin typeface="Verdana "/>
              </a:rPr>
              <a:t/>
            </a:r>
            <a:br>
              <a:rPr lang="en-IN" b="1" dirty="0">
                <a:solidFill>
                  <a:srgbClr val="7030A0"/>
                </a:solidFill>
                <a:latin typeface="Verdana "/>
              </a:rPr>
            </a:br>
            <a:endParaRPr lang="en-IN" b="1" dirty="0">
              <a:solidFill>
                <a:srgbClr val="7030A0"/>
              </a:solidFill>
              <a:latin typeface="Verdana "/>
            </a:endParaRPr>
          </a:p>
        </p:txBody>
      </p:sp>
      <p:sp>
        <p:nvSpPr>
          <p:cNvPr id="3" name="Content Placeholder 2"/>
          <p:cNvSpPr>
            <a:spLocks noGrp="1"/>
          </p:cNvSpPr>
          <p:nvPr>
            <p:ph idx="1"/>
          </p:nvPr>
        </p:nvSpPr>
        <p:spPr>
          <a:xfrm>
            <a:off x="1707554" y="2256981"/>
            <a:ext cx="10165132" cy="3418106"/>
          </a:xfrm>
        </p:spPr>
        <p:txBody>
          <a:bodyPr/>
          <a:lstStyle/>
          <a:p>
            <a:pPr algn="just"/>
            <a:r>
              <a:rPr lang="en-US" sz="2300" dirty="0">
                <a:solidFill>
                  <a:schemeClr val="tx1">
                    <a:lumMod val="95000"/>
                    <a:lumOff val="5000"/>
                  </a:schemeClr>
                </a:solidFill>
                <a:latin typeface="Verdana "/>
              </a:rPr>
              <a:t>In general, any processor design takes care of power management </a:t>
            </a:r>
            <a:r>
              <a:rPr lang="en-US" sz="2300" dirty="0" smtClean="0">
                <a:solidFill>
                  <a:schemeClr val="tx1">
                    <a:lumMod val="95000"/>
                    <a:lumOff val="5000"/>
                  </a:schemeClr>
                </a:solidFill>
                <a:latin typeface="Verdana "/>
              </a:rPr>
              <a:t>in various </a:t>
            </a:r>
            <a:r>
              <a:rPr lang="en-US" sz="2300" dirty="0">
                <a:solidFill>
                  <a:schemeClr val="tx1">
                    <a:lumMod val="95000"/>
                    <a:lumOff val="5000"/>
                  </a:schemeClr>
                </a:solidFill>
                <a:latin typeface="Verdana "/>
              </a:rPr>
              <a:t>ways. </a:t>
            </a:r>
          </a:p>
          <a:p>
            <a:pPr algn="just"/>
            <a:r>
              <a:rPr lang="en-US" sz="2300" dirty="0">
                <a:solidFill>
                  <a:schemeClr val="tx1">
                    <a:lumMod val="95000"/>
                    <a:lumOff val="5000"/>
                  </a:schemeClr>
                </a:solidFill>
                <a:latin typeface="Verdana "/>
              </a:rPr>
              <a:t>One of the ways is by sleep modes in which minimum power is used.</a:t>
            </a:r>
          </a:p>
          <a:p>
            <a:pPr algn="just"/>
            <a:r>
              <a:rPr lang="en-US" sz="2300" dirty="0">
                <a:solidFill>
                  <a:schemeClr val="tx1">
                    <a:lumMod val="95000"/>
                    <a:lumOff val="5000"/>
                  </a:schemeClr>
                </a:solidFill>
                <a:latin typeface="Verdana "/>
              </a:rPr>
              <a:t> When the processor sleeps, it does not do processing and can even go to a soft OFF.</a:t>
            </a:r>
          </a:p>
          <a:p>
            <a:pPr algn="just"/>
            <a:r>
              <a:rPr lang="en-US" sz="2300" dirty="0">
                <a:solidFill>
                  <a:schemeClr val="tx1">
                    <a:lumMod val="95000"/>
                    <a:lumOff val="5000"/>
                  </a:schemeClr>
                </a:solidFill>
                <a:latin typeface="Verdana "/>
              </a:rPr>
              <a:t> Many embedded systems (like a mobile phone, for instance) need not work continuously, so a lot of power can be saved by putting it to sleep and then waking it up when needed</a:t>
            </a:r>
            <a:r>
              <a:rPr lang="en-US" sz="2300" dirty="0" smtClean="0">
                <a:solidFill>
                  <a:schemeClr val="tx1">
                    <a:lumMod val="95000"/>
                    <a:lumOff val="5000"/>
                  </a:schemeClr>
                </a:solidFill>
                <a:latin typeface="Verdana "/>
              </a:rPr>
              <a:t>.</a:t>
            </a:r>
          </a:p>
          <a:p>
            <a:pPr marL="0" indent="0" algn="just">
              <a:buNone/>
            </a:pPr>
            <a:endParaRPr lang="en-US" sz="2300" dirty="0">
              <a:solidFill>
                <a:schemeClr val="tx1">
                  <a:lumMod val="95000"/>
                  <a:lumOff val="5000"/>
                </a:schemeClr>
              </a:solidFill>
              <a:latin typeface="Verdana "/>
            </a:endParaRPr>
          </a:p>
          <a:p>
            <a:pPr algn="just"/>
            <a:endParaRPr lang="en-IN" sz="2300" dirty="0">
              <a:solidFill>
                <a:schemeClr val="tx1">
                  <a:lumMod val="95000"/>
                  <a:lumOff val="5000"/>
                </a:schemeClr>
              </a:solidFill>
              <a:latin typeface="Verdana "/>
            </a:endParaRPr>
          </a:p>
          <a:p>
            <a:pPr algn="just"/>
            <a:endParaRPr lang="en-IN" dirty="0"/>
          </a:p>
          <a:p>
            <a:pPr algn="just"/>
            <a:endParaRPr lang="en-IN" dirty="0"/>
          </a:p>
          <a:p>
            <a:pPr algn="just"/>
            <a:endParaRPr lang="en-IN" dirty="0"/>
          </a:p>
        </p:txBody>
      </p:sp>
    </p:spTree>
    <p:extLst>
      <p:ext uri="{BB962C8B-B14F-4D97-AF65-F5344CB8AC3E}">
        <p14:creationId xmlns:p14="http://schemas.microsoft.com/office/powerpoint/2010/main" val="393455173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6126" y="1074056"/>
            <a:ext cx="10372045" cy="3744686"/>
          </a:xfrm>
        </p:spPr>
        <p:txBody>
          <a:bodyPr>
            <a:noAutofit/>
          </a:bodyPr>
          <a:lstStyle/>
          <a:p>
            <a:pPr algn="just"/>
            <a:r>
              <a:rPr lang="en-US" sz="2800" dirty="0">
                <a:solidFill>
                  <a:schemeClr val="tx1">
                    <a:lumMod val="95000"/>
                    <a:lumOff val="5000"/>
                  </a:schemeClr>
                </a:solidFill>
                <a:latin typeface="Verdana "/>
              </a:rPr>
              <a:t>Cortex-MO has two inbuilt sleep modes as listed below</a:t>
            </a:r>
            <a:endParaRPr lang="en-IN" sz="2800" dirty="0">
              <a:solidFill>
                <a:schemeClr val="tx1">
                  <a:lumMod val="95000"/>
                  <a:lumOff val="5000"/>
                </a:schemeClr>
              </a:solidFill>
              <a:latin typeface="Verdana "/>
            </a:endParaRPr>
          </a:p>
          <a:p>
            <a:pPr marL="0" lvl="0" indent="0" algn="just" fontAlgn="base">
              <a:buNone/>
            </a:pPr>
            <a:r>
              <a:rPr lang="en-US" sz="2800" dirty="0">
                <a:solidFill>
                  <a:schemeClr val="tx1">
                    <a:lumMod val="95000"/>
                    <a:lumOff val="5000"/>
                  </a:schemeClr>
                </a:solidFill>
                <a:latin typeface="Verdana "/>
              </a:rPr>
              <a:t>      1. A sleep mode that stops the processor clock. This is the normal sleep mode.</a:t>
            </a:r>
          </a:p>
          <a:p>
            <a:pPr marL="0" lvl="0" indent="0" algn="just" fontAlgn="base">
              <a:buNone/>
            </a:pPr>
            <a:r>
              <a:rPr lang="en-US" sz="2800" dirty="0">
                <a:solidFill>
                  <a:schemeClr val="tx1">
                    <a:lumMod val="95000"/>
                    <a:lumOff val="5000"/>
                  </a:schemeClr>
                </a:solidFill>
                <a:latin typeface="Verdana "/>
              </a:rPr>
              <a:t>      2. A deep sleep mode that stops the system clock and switches off the PLL and flash </a:t>
            </a:r>
            <a:r>
              <a:rPr lang="en-US" sz="2800" dirty="0" smtClean="0">
                <a:solidFill>
                  <a:schemeClr val="tx1">
                    <a:lumMod val="95000"/>
                    <a:lumOff val="5000"/>
                  </a:schemeClr>
                </a:solidFill>
                <a:latin typeface="Verdana "/>
              </a:rPr>
              <a:t>memory</a:t>
            </a:r>
            <a:endParaRPr lang="en-IN" sz="2800" dirty="0" smtClean="0">
              <a:solidFill>
                <a:schemeClr val="tx1">
                  <a:lumMod val="95000"/>
                  <a:lumOff val="5000"/>
                </a:schemeClr>
              </a:solidFill>
              <a:latin typeface="Verdana "/>
            </a:endParaRPr>
          </a:p>
          <a:p>
            <a:pPr algn="just"/>
            <a:r>
              <a:rPr lang="en-IN" sz="2800" dirty="0">
                <a:solidFill>
                  <a:schemeClr val="tx1">
                    <a:lumMod val="95000"/>
                    <a:lumOff val="5000"/>
                  </a:schemeClr>
                </a:solidFill>
                <a:latin typeface="Verdana "/>
              </a:rPr>
              <a:t>As a chip designer, he can use either one of them OR both of them ( for different levels of sleep) according to the needs of the applications. </a:t>
            </a:r>
          </a:p>
        </p:txBody>
      </p:sp>
    </p:spTree>
    <p:extLst>
      <p:ext uri="{BB962C8B-B14F-4D97-AF65-F5344CB8AC3E}">
        <p14:creationId xmlns:p14="http://schemas.microsoft.com/office/powerpoint/2010/main" val="421410341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7030A0"/>
                </a:solidFill>
                <a:latin typeface="Verdana "/>
              </a:rPr>
              <a:t>7.7.1 Entering Sleep Mode </a:t>
            </a:r>
          </a:p>
        </p:txBody>
      </p:sp>
      <p:sp>
        <p:nvSpPr>
          <p:cNvPr id="3" name="Content Placeholder 2"/>
          <p:cNvSpPr>
            <a:spLocks noGrp="1"/>
          </p:cNvSpPr>
          <p:nvPr>
            <p:ph idx="1"/>
          </p:nvPr>
        </p:nvSpPr>
        <p:spPr>
          <a:xfrm>
            <a:off x="1596571" y="1698171"/>
            <a:ext cx="10189029" cy="4963886"/>
          </a:xfrm>
        </p:spPr>
        <p:txBody>
          <a:bodyPr>
            <a:normAutofit fontScale="92500" lnSpcReduction="20000"/>
          </a:bodyPr>
          <a:lstStyle/>
          <a:p>
            <a:pPr algn="just"/>
            <a:r>
              <a:rPr lang="en-IN" dirty="0" smtClean="0"/>
              <a:t> </a:t>
            </a:r>
            <a:r>
              <a:rPr lang="en-IN" sz="2800" dirty="0">
                <a:solidFill>
                  <a:schemeClr val="tx1">
                    <a:lumMod val="95000"/>
                    <a:lumOff val="5000"/>
                  </a:schemeClr>
                </a:solidFill>
                <a:latin typeface="Verdana "/>
              </a:rPr>
              <a:t>Entering the sleep mode is done by executing specific instructions. </a:t>
            </a:r>
          </a:p>
          <a:p>
            <a:pPr algn="just"/>
            <a:r>
              <a:rPr lang="en-IN" sz="2800" dirty="0">
                <a:solidFill>
                  <a:schemeClr val="tx1">
                    <a:lumMod val="95000"/>
                    <a:lumOff val="5000"/>
                  </a:schemeClr>
                </a:solidFill>
                <a:latin typeface="Verdana "/>
              </a:rPr>
              <a:t> One instruction is the WFI (Wait for Interrupt) &amp; other is WFE </a:t>
            </a:r>
            <a:r>
              <a:rPr lang="en-IN" sz="2800" dirty="0" smtClean="0">
                <a:solidFill>
                  <a:schemeClr val="tx1">
                    <a:lumMod val="95000"/>
                    <a:lumOff val="5000"/>
                  </a:schemeClr>
                </a:solidFill>
                <a:latin typeface="Verdana "/>
              </a:rPr>
              <a:t>       ( </a:t>
            </a:r>
            <a:r>
              <a:rPr lang="en-IN" sz="2800" dirty="0">
                <a:solidFill>
                  <a:schemeClr val="tx1">
                    <a:lumMod val="95000"/>
                    <a:lumOff val="5000"/>
                  </a:schemeClr>
                </a:solidFill>
                <a:latin typeface="Verdana "/>
              </a:rPr>
              <a:t>Wait for Event)</a:t>
            </a:r>
          </a:p>
          <a:p>
            <a:pPr algn="just"/>
            <a:r>
              <a:rPr lang="en-IN" sz="2800" dirty="0">
                <a:solidFill>
                  <a:schemeClr val="tx1">
                    <a:lumMod val="95000"/>
                    <a:lumOff val="5000"/>
                  </a:schemeClr>
                </a:solidFill>
                <a:latin typeface="Verdana "/>
              </a:rPr>
              <a:t> In the case of WFI, as executed, the processor stops program execution and goes to the sleep state. </a:t>
            </a:r>
          </a:p>
          <a:p>
            <a:pPr algn="just"/>
            <a:r>
              <a:rPr lang="en-IN" sz="2800" dirty="0">
                <a:solidFill>
                  <a:schemeClr val="tx1">
                    <a:lumMod val="95000"/>
                    <a:lumOff val="5000"/>
                  </a:schemeClr>
                </a:solidFill>
                <a:latin typeface="Verdana "/>
              </a:rPr>
              <a:t> In the case of the execution of the WFE instruction, it checks the status of one-bit event register and acts accordingly as shown below for the bit value of 0 or 1. </a:t>
            </a:r>
          </a:p>
          <a:p>
            <a:pPr algn="just"/>
            <a:r>
              <a:rPr lang="en-IN" sz="2800" dirty="0">
                <a:solidFill>
                  <a:schemeClr val="tx1">
                    <a:lumMod val="95000"/>
                    <a:lumOff val="5000"/>
                  </a:schemeClr>
                </a:solidFill>
                <a:latin typeface="Verdana "/>
              </a:rPr>
              <a:t> if 0, The processor stops executing instructions and enters sleep mode.</a:t>
            </a:r>
          </a:p>
          <a:p>
            <a:pPr algn="just"/>
            <a:r>
              <a:rPr lang="en-IN" sz="2800" dirty="0">
                <a:solidFill>
                  <a:schemeClr val="tx1">
                    <a:lumMod val="95000"/>
                    <a:lumOff val="5000"/>
                  </a:schemeClr>
                </a:solidFill>
                <a:latin typeface="Verdana "/>
              </a:rPr>
              <a:t> if 1, the processor sets the registers to zero and continues executing instructions without entering sleep mode.  </a:t>
            </a:r>
          </a:p>
        </p:txBody>
      </p:sp>
    </p:spTree>
    <p:extLst>
      <p:ext uri="{BB962C8B-B14F-4D97-AF65-F5344CB8AC3E}">
        <p14:creationId xmlns:p14="http://schemas.microsoft.com/office/powerpoint/2010/main" val="390975176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572" y="1966688"/>
            <a:ext cx="9922103" cy="870856"/>
          </a:xfrm>
        </p:spPr>
        <p:txBody>
          <a:bodyPr>
            <a:normAutofit fontScale="92500" lnSpcReduction="20000"/>
          </a:bodyPr>
          <a:lstStyle/>
          <a:p>
            <a:pPr algn="just"/>
            <a:r>
              <a:rPr lang="en-US" sz="2300" dirty="0" smtClean="0">
                <a:solidFill>
                  <a:schemeClr val="tx1">
                    <a:lumMod val="95000"/>
                    <a:lumOff val="5000"/>
                  </a:schemeClr>
                </a:solidFill>
                <a:latin typeface="Verdana "/>
              </a:rPr>
              <a:t>The event register being found to be ‘1’ indicates that there is an external event which has to be taken care of and so ‘ Sleeping; is not the right thing at this point of time. Otherwise, it is okay to go to sleep.</a:t>
            </a:r>
            <a:endParaRPr lang="en-IN" sz="2300" dirty="0">
              <a:solidFill>
                <a:schemeClr val="tx1">
                  <a:lumMod val="95000"/>
                  <a:lumOff val="5000"/>
                </a:schemeClr>
              </a:solidFill>
              <a:latin typeface="Verdana "/>
            </a:endParaRPr>
          </a:p>
        </p:txBody>
      </p:sp>
      <p:sp>
        <p:nvSpPr>
          <p:cNvPr id="4" name="Title 1"/>
          <p:cNvSpPr txBox="1">
            <a:spLocks/>
          </p:cNvSpPr>
          <p:nvPr/>
        </p:nvSpPr>
        <p:spPr>
          <a:xfrm>
            <a:off x="1115259" y="1299028"/>
            <a:ext cx="11282733" cy="58783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smtClean="0">
                <a:solidFill>
                  <a:schemeClr val="tx1">
                    <a:lumMod val="95000"/>
                    <a:lumOff val="5000"/>
                  </a:schemeClr>
                </a:solidFill>
                <a:latin typeface="Verdana "/>
                <a:ea typeface="+mn-ea"/>
                <a:cs typeface="+mn-cs"/>
              </a:rPr>
              <a:t>Why is this so?</a:t>
            </a:r>
            <a:endParaRPr lang="en-IN" sz="2800" b="1" dirty="0">
              <a:solidFill>
                <a:schemeClr val="tx1">
                  <a:lumMod val="95000"/>
                  <a:lumOff val="5000"/>
                </a:schemeClr>
              </a:solidFill>
              <a:latin typeface="Verdana "/>
              <a:ea typeface="+mn-ea"/>
              <a:cs typeface="+mn-cs"/>
            </a:endParaRPr>
          </a:p>
        </p:txBody>
      </p:sp>
      <p:sp>
        <p:nvSpPr>
          <p:cNvPr id="5" name="Title 1"/>
          <p:cNvSpPr txBox="1">
            <a:spLocks/>
          </p:cNvSpPr>
          <p:nvPr/>
        </p:nvSpPr>
        <p:spPr>
          <a:xfrm>
            <a:off x="1115259" y="3526972"/>
            <a:ext cx="10602417" cy="58783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smtClean="0">
                <a:solidFill>
                  <a:schemeClr val="tx1">
                    <a:lumMod val="95000"/>
                    <a:lumOff val="5000"/>
                  </a:schemeClr>
                </a:solidFill>
                <a:latin typeface="Verdana "/>
                <a:ea typeface="+mn-ea"/>
                <a:cs typeface="+mn-cs"/>
              </a:rPr>
              <a:t>Sleep - on - exit</a:t>
            </a:r>
            <a:endParaRPr lang="en-IN" sz="2800" b="1" dirty="0">
              <a:solidFill>
                <a:schemeClr val="tx1">
                  <a:lumMod val="95000"/>
                  <a:lumOff val="5000"/>
                </a:schemeClr>
              </a:solidFill>
              <a:latin typeface="Verdana "/>
              <a:ea typeface="+mn-ea"/>
              <a:cs typeface="+mn-cs"/>
            </a:endParaRPr>
          </a:p>
        </p:txBody>
      </p:sp>
      <p:sp>
        <p:nvSpPr>
          <p:cNvPr id="6" name="Content Placeholder 2"/>
          <p:cNvSpPr txBox="1">
            <a:spLocks/>
          </p:cNvSpPr>
          <p:nvPr/>
        </p:nvSpPr>
        <p:spPr>
          <a:xfrm>
            <a:off x="1795572" y="4114802"/>
            <a:ext cx="9922103" cy="8708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100" dirty="0" smtClean="0">
                <a:solidFill>
                  <a:schemeClr val="tx1">
                    <a:lumMod val="95000"/>
                    <a:lumOff val="5000"/>
                  </a:schemeClr>
                </a:solidFill>
                <a:latin typeface="Verdana "/>
              </a:rPr>
              <a:t>There </a:t>
            </a:r>
            <a:r>
              <a:rPr lang="en-US" sz="2100" dirty="0">
                <a:solidFill>
                  <a:schemeClr val="tx1">
                    <a:lumMod val="95000"/>
                    <a:lumOff val="5000"/>
                  </a:schemeClr>
                </a:solidFill>
                <a:latin typeface="Verdana "/>
              </a:rPr>
              <a:t>may be embedded systems that need to work only when an interrupt </a:t>
            </a:r>
            <a:r>
              <a:rPr lang="en-US" sz="2100" dirty="0" smtClean="0">
                <a:solidFill>
                  <a:schemeClr val="tx1">
                    <a:lumMod val="95000"/>
                    <a:lumOff val="5000"/>
                  </a:schemeClr>
                </a:solidFill>
                <a:latin typeface="Verdana "/>
              </a:rPr>
              <a:t>comes</a:t>
            </a:r>
            <a:r>
              <a:rPr lang="en-US" sz="2100" dirty="0">
                <a:solidFill>
                  <a:schemeClr val="tx1">
                    <a:lumMod val="95000"/>
                    <a:lumOff val="5000"/>
                  </a:schemeClr>
                </a:solidFill>
                <a:latin typeface="Verdana "/>
              </a:rPr>
              <a:t>. </a:t>
            </a:r>
            <a:endParaRPr lang="en-US" sz="2100" dirty="0" smtClean="0">
              <a:solidFill>
                <a:schemeClr val="tx1">
                  <a:lumMod val="95000"/>
                  <a:lumOff val="5000"/>
                </a:schemeClr>
              </a:solidFill>
              <a:latin typeface="Verdana "/>
            </a:endParaRPr>
          </a:p>
          <a:p>
            <a:r>
              <a:rPr lang="en-US" sz="2100" dirty="0" smtClean="0">
                <a:solidFill>
                  <a:schemeClr val="tx1">
                    <a:lumMod val="95000"/>
                    <a:lumOff val="5000"/>
                  </a:schemeClr>
                </a:solidFill>
                <a:latin typeface="Verdana "/>
              </a:rPr>
              <a:t>To </a:t>
            </a:r>
            <a:r>
              <a:rPr lang="en-US" sz="2100" dirty="0">
                <a:solidFill>
                  <a:schemeClr val="tx1">
                    <a:lumMod val="95000"/>
                    <a:lumOff val="5000"/>
                  </a:schemeClr>
                </a:solidFill>
                <a:latin typeface="Verdana "/>
              </a:rPr>
              <a:t>ensure that such systems go back to sleep immediately after exiting from an ISR, there is a condition named. SLEEPONEXIT</a:t>
            </a:r>
            <a:r>
              <a:rPr lang="en-US" sz="2100" dirty="0" smtClean="0">
                <a:solidFill>
                  <a:schemeClr val="tx1">
                    <a:lumMod val="95000"/>
                    <a:lumOff val="5000"/>
                  </a:schemeClr>
                </a:solidFill>
                <a:latin typeface="Verdana "/>
              </a:rPr>
              <a:t>.</a:t>
            </a:r>
          </a:p>
          <a:p>
            <a:r>
              <a:rPr lang="en-US" sz="2100" dirty="0" smtClean="0">
                <a:solidFill>
                  <a:schemeClr val="tx1">
                    <a:lumMod val="95000"/>
                    <a:lumOff val="5000"/>
                  </a:schemeClr>
                </a:solidFill>
                <a:latin typeface="Verdana "/>
              </a:rPr>
              <a:t> </a:t>
            </a:r>
            <a:r>
              <a:rPr lang="en-US" sz="2100" dirty="0">
                <a:solidFill>
                  <a:schemeClr val="tx1">
                    <a:lumMod val="95000"/>
                    <a:lumOff val="5000"/>
                  </a:schemeClr>
                </a:solidFill>
                <a:latin typeface="Verdana "/>
              </a:rPr>
              <a:t>This is a bit in the SCR register and if it is set to '1', it ensures that after completing an ISR, sleep state is automatically entered</a:t>
            </a:r>
            <a:endParaRPr lang="en-IN" sz="2100" dirty="0">
              <a:solidFill>
                <a:schemeClr val="tx1">
                  <a:lumMod val="95000"/>
                  <a:lumOff val="5000"/>
                </a:schemeClr>
              </a:solidFill>
              <a:latin typeface="Verdana "/>
            </a:endParaRPr>
          </a:p>
        </p:txBody>
      </p:sp>
    </p:spTree>
    <p:extLst>
      <p:ext uri="{BB962C8B-B14F-4D97-AF65-F5344CB8AC3E}">
        <p14:creationId xmlns:p14="http://schemas.microsoft.com/office/powerpoint/2010/main" val="19068059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572" y="1966687"/>
            <a:ext cx="9922103" cy="3461655"/>
          </a:xfrm>
        </p:spPr>
        <p:txBody>
          <a:bodyPr>
            <a:normAutofit/>
          </a:bodyPr>
          <a:lstStyle/>
          <a:p>
            <a:pPr algn="just"/>
            <a:r>
              <a:rPr lang="en-US" sz="2300" dirty="0" smtClean="0">
                <a:solidFill>
                  <a:schemeClr val="tx1">
                    <a:lumMod val="95000"/>
                    <a:lumOff val="5000"/>
                  </a:schemeClr>
                </a:solidFill>
                <a:latin typeface="Verdana "/>
              </a:rPr>
              <a:t>The possible events are :</a:t>
            </a:r>
          </a:p>
          <a:p>
            <a:pPr marL="0" indent="0" algn="just">
              <a:buNone/>
            </a:pPr>
            <a:r>
              <a:rPr lang="en-US" sz="2300" dirty="0" smtClean="0">
                <a:solidFill>
                  <a:schemeClr val="tx1">
                    <a:lumMod val="95000"/>
                    <a:lumOff val="5000"/>
                  </a:schemeClr>
                </a:solidFill>
                <a:latin typeface="Verdana "/>
              </a:rPr>
              <a:t>     1. Reset</a:t>
            </a:r>
          </a:p>
          <a:p>
            <a:pPr marL="0" indent="0" algn="just">
              <a:buNone/>
            </a:pPr>
            <a:r>
              <a:rPr lang="en-US"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    2. A debug event, if debug is enabled</a:t>
            </a:r>
          </a:p>
          <a:p>
            <a:pPr marL="0" indent="0" algn="just">
              <a:buNone/>
            </a:pPr>
            <a:r>
              <a:rPr lang="en-US"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    3. An exception or Interrupt with sufficient priority</a:t>
            </a:r>
          </a:p>
          <a:p>
            <a:pPr marL="0" indent="0" algn="just">
              <a:buNone/>
            </a:pPr>
            <a:r>
              <a:rPr lang="en-US" sz="2300" dirty="0">
                <a:solidFill>
                  <a:schemeClr val="tx1">
                    <a:lumMod val="95000"/>
                    <a:lumOff val="5000"/>
                  </a:schemeClr>
                </a:solidFill>
                <a:latin typeface="Verdana "/>
              </a:rPr>
              <a:t> </a:t>
            </a:r>
            <a:r>
              <a:rPr lang="en-US" sz="2300" dirty="0" smtClean="0">
                <a:solidFill>
                  <a:schemeClr val="tx1">
                    <a:lumMod val="95000"/>
                    <a:lumOff val="5000"/>
                  </a:schemeClr>
                </a:solidFill>
                <a:latin typeface="Verdana "/>
              </a:rPr>
              <a:t> </a:t>
            </a:r>
          </a:p>
        </p:txBody>
      </p:sp>
      <p:sp>
        <p:nvSpPr>
          <p:cNvPr id="4" name="Title 1"/>
          <p:cNvSpPr txBox="1">
            <a:spLocks/>
          </p:cNvSpPr>
          <p:nvPr/>
        </p:nvSpPr>
        <p:spPr>
          <a:xfrm>
            <a:off x="1478117" y="1095832"/>
            <a:ext cx="11282733" cy="58783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smtClean="0">
                <a:solidFill>
                  <a:schemeClr val="tx1">
                    <a:lumMod val="95000"/>
                    <a:lumOff val="5000"/>
                  </a:schemeClr>
                </a:solidFill>
                <a:latin typeface="Verdana "/>
                <a:ea typeface="+mn-ea"/>
                <a:cs typeface="+mn-cs"/>
              </a:rPr>
              <a:t>How and When does the processor exit the sleep mode?</a:t>
            </a:r>
            <a:endParaRPr lang="en-IN" sz="2800" b="1" dirty="0">
              <a:solidFill>
                <a:schemeClr val="tx1">
                  <a:lumMod val="95000"/>
                  <a:lumOff val="5000"/>
                </a:schemeClr>
              </a:solidFill>
              <a:latin typeface="Verdana "/>
              <a:ea typeface="+mn-ea"/>
              <a:cs typeface="+mn-cs"/>
            </a:endParaRPr>
          </a:p>
        </p:txBody>
      </p:sp>
    </p:spTree>
    <p:extLst>
      <p:ext uri="{BB962C8B-B14F-4D97-AF65-F5344CB8AC3E}">
        <p14:creationId xmlns:p14="http://schemas.microsoft.com/office/powerpoint/2010/main" val="202444018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14692</TotalTime>
  <Words>5724</Words>
  <Application>Microsoft Office PowerPoint</Application>
  <PresentationFormat>Widescreen</PresentationFormat>
  <Paragraphs>450</Paragraphs>
  <Slides>92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92</vt:i4>
      </vt:variant>
    </vt:vector>
  </HeadingPairs>
  <TitlesOfParts>
    <vt:vector size="98" baseType="lpstr">
      <vt:lpstr>Arial</vt:lpstr>
      <vt:lpstr>Century Gothic</vt:lpstr>
      <vt:lpstr>Verdana </vt:lpstr>
      <vt:lpstr>Wingdings</vt:lpstr>
      <vt:lpstr>Wingdings 3</vt:lpstr>
      <vt:lpstr>Wisp</vt:lpstr>
      <vt:lpstr>         Architecture of ARM                     Cortex-M   </vt:lpstr>
      <vt:lpstr>Introduction</vt:lpstr>
      <vt:lpstr>ARM Processor Families</vt:lpstr>
      <vt:lpstr>PowerPoint Presentation</vt:lpstr>
      <vt:lpstr>7.1 Cortex – M Processor</vt:lpstr>
      <vt:lpstr>PowerPoint Presentation</vt:lpstr>
      <vt:lpstr>Cortex-M Processors Family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7.2 Cortex- M0</vt:lpstr>
      <vt:lpstr>PowerPoint Presentation</vt:lpstr>
      <vt:lpstr>Three-stage pipeline for Cortex-M0</vt:lpstr>
      <vt:lpstr>Wat about Cortex-M0+?</vt:lpstr>
      <vt:lpstr>PowerPoint Presentation</vt:lpstr>
      <vt:lpstr>Two-stage pipeline for Cortex-M0+</vt:lpstr>
      <vt:lpstr>Advantages for a designer to choose M0 for his design</vt:lpstr>
      <vt:lpstr>Features of Cortex-M0</vt:lpstr>
      <vt:lpstr>7.2.2 The Core</vt:lpstr>
      <vt:lpstr>PowerPoint Presentation</vt:lpstr>
      <vt:lpstr>7.2.3 Nested Vectored Interrupt Controller (NVIC)</vt:lpstr>
      <vt:lpstr>7.2.4 AMBA AHB-lite</vt:lpstr>
      <vt:lpstr>7.2.5 Debug Unit</vt:lpstr>
      <vt:lpstr>7.2.6 Wakeup interrupt controller</vt:lpstr>
      <vt:lpstr>7.3 Modes and states</vt:lpstr>
      <vt:lpstr>7.3.1 Processor States </vt:lpstr>
      <vt:lpstr>7.3.2 Modes of operation </vt:lpstr>
      <vt:lpstr>7.3.2.1 Thread Mode</vt:lpstr>
      <vt:lpstr>7.3.2.2 Handler mode</vt:lpstr>
      <vt:lpstr>PowerPoint Presentation</vt:lpstr>
      <vt:lpstr>7.4 Programming model</vt:lpstr>
      <vt:lpstr>7.4.1 Register Set</vt:lpstr>
      <vt:lpstr>7.4.2 special registers                       1. Stack pointer (R13)  </vt:lpstr>
      <vt:lpstr>7.4.2 special registers                       2. Link register (R14)  </vt:lpstr>
      <vt:lpstr>7.4.2 special registers                       3. Program counter (R15)  </vt:lpstr>
      <vt:lpstr>7.4.2 special registers         4. Program status register (PSR)  </vt:lpstr>
      <vt:lpstr>PowerPoint Presentation</vt:lpstr>
      <vt:lpstr>PowerPoint Presentation</vt:lpstr>
      <vt:lpstr>PowerPoint Presentation</vt:lpstr>
      <vt:lpstr>7.4.3 Other Special registers</vt:lpstr>
      <vt:lpstr>PowerPoint Presentation</vt:lpstr>
      <vt:lpstr>PowerPoint Presentation</vt:lpstr>
      <vt:lpstr>PowerPoint Presentation</vt:lpstr>
      <vt:lpstr>7.5 Memory Model</vt:lpstr>
      <vt:lpstr>PowerPoint Presentation</vt:lpstr>
      <vt:lpstr>Memory model of cotex-M0</vt:lpstr>
      <vt:lpstr>Memory model of cotex-M0</vt:lpstr>
      <vt:lpstr>Memory model of cotex-M0</vt:lpstr>
      <vt:lpstr>Memory model of cotex-M0</vt:lpstr>
      <vt:lpstr>Memory model of cotex-M0</vt:lpstr>
      <vt:lpstr>Memory model of cotex-M0</vt:lpstr>
      <vt:lpstr>Memory model of cotex-M0</vt:lpstr>
      <vt:lpstr>7.5.1 Types and Attributes of memory</vt:lpstr>
      <vt:lpstr>1. Normal</vt:lpstr>
      <vt:lpstr>2. Device</vt:lpstr>
      <vt:lpstr>3. Strongly ordered</vt:lpstr>
      <vt:lpstr>7.5.2 Out-of-Order Access</vt:lpstr>
      <vt:lpstr>PowerPoint Presentation</vt:lpstr>
      <vt:lpstr>7.6 Nested Vectored Interrupt Controller </vt:lpstr>
      <vt:lpstr>7.6 Nested Vectored Interrupt Controller </vt:lpstr>
      <vt:lpstr>PowerPoint Presentation</vt:lpstr>
      <vt:lpstr>PowerPoint Presentation</vt:lpstr>
      <vt:lpstr>PowerPoint Presentation</vt:lpstr>
      <vt:lpstr>PowerPoint Presentation</vt:lpstr>
      <vt:lpstr>What are the uses of the SysTimer? </vt:lpstr>
      <vt:lpstr>7.6.1 Features of NVIC </vt:lpstr>
      <vt:lpstr>7.6.1.1 Interrupt processing </vt:lpstr>
      <vt:lpstr>PowerPoint Presentation</vt:lpstr>
      <vt:lpstr>7.6.2 Interrupt vector table</vt:lpstr>
      <vt:lpstr>PowerPoint Presentation</vt:lpstr>
      <vt:lpstr>PowerPoint Presentation</vt:lpstr>
      <vt:lpstr>PowerPoint Presentation</vt:lpstr>
      <vt:lpstr>How exactly do we get the handlers of various interrupts?</vt:lpstr>
      <vt:lpstr>7.6.3 Interrupts of Cortex-MO </vt:lpstr>
      <vt:lpstr>PowerPoint Presentation</vt:lpstr>
      <vt:lpstr>PowerPoint Presentation</vt:lpstr>
      <vt:lpstr>7.6.4 Interrupt response </vt:lpstr>
      <vt:lpstr>PowerPoint Presentation</vt:lpstr>
      <vt:lpstr>PowerPoint Presentation</vt:lpstr>
      <vt:lpstr>7.6.5 Reset behavior</vt:lpstr>
      <vt:lpstr>7.6.6 Issues in interrupt processing</vt:lpstr>
      <vt:lpstr>PowerPoint Presentation</vt:lpstr>
      <vt:lpstr>PowerPoint Presentation</vt:lpstr>
      <vt:lpstr>7.7 POWER MANAGEMENT USING SLEEP MODES </vt:lpstr>
      <vt:lpstr>PowerPoint Presentation</vt:lpstr>
      <vt:lpstr>7.7.1 Entering Sleep Mode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of ARM   Cortex-M</dc:title>
  <dc:creator>Admin</dc:creator>
  <cp:lastModifiedBy>Admin</cp:lastModifiedBy>
  <cp:revision>282</cp:revision>
  <dcterms:created xsi:type="dcterms:W3CDTF">2020-05-29T07:19:33Z</dcterms:created>
  <dcterms:modified xsi:type="dcterms:W3CDTF">2026-05-21T10:21:37Z</dcterms:modified>
</cp:coreProperties>
</file>