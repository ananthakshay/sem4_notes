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69"/>
  </p:notesMasterIdLst>
  <p:sldIdLst>
    <p:sldId id="327" r:id="rId2"/>
    <p:sldId id="328" r:id="rId3"/>
    <p:sldId id="329" r:id="rId4"/>
    <p:sldId id="330" r:id="rId5"/>
    <p:sldId id="331" r:id="rId6"/>
    <p:sldId id="332" r:id="rId7"/>
    <p:sldId id="333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66" r:id="rId40"/>
    <p:sldId id="367" r:id="rId41"/>
    <p:sldId id="368" r:id="rId42"/>
    <p:sldId id="369" r:id="rId43"/>
    <p:sldId id="370" r:id="rId44"/>
    <p:sldId id="371" r:id="rId45"/>
    <p:sldId id="372" r:id="rId46"/>
    <p:sldId id="373" r:id="rId47"/>
    <p:sldId id="374" r:id="rId48"/>
    <p:sldId id="375" r:id="rId49"/>
    <p:sldId id="376" r:id="rId50"/>
    <p:sldId id="377" r:id="rId51"/>
    <p:sldId id="378" r:id="rId52"/>
    <p:sldId id="379" r:id="rId53"/>
    <p:sldId id="380" r:id="rId54"/>
    <p:sldId id="381" r:id="rId55"/>
    <p:sldId id="382" r:id="rId56"/>
    <p:sldId id="383" r:id="rId57"/>
    <p:sldId id="384" r:id="rId58"/>
    <p:sldId id="385" r:id="rId59"/>
    <p:sldId id="386" r:id="rId60"/>
    <p:sldId id="387" r:id="rId61"/>
    <p:sldId id="388" r:id="rId62"/>
    <p:sldId id="389" r:id="rId63"/>
    <p:sldId id="390" r:id="rId64"/>
    <p:sldId id="391" r:id="rId65"/>
    <p:sldId id="392" r:id="rId66"/>
    <p:sldId id="393" r:id="rId67"/>
    <p:sldId id="394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364" autoAdjust="0"/>
  </p:normalViewPr>
  <p:slideViewPr>
    <p:cSldViewPr snapToGrid="0">
      <p:cViewPr varScale="1">
        <p:scale>
          <a:sx n="66" d="100"/>
          <a:sy n="66" d="100"/>
        </p:scale>
        <p:origin x="816" y="60"/>
      </p:cViewPr>
      <p:guideLst/>
    </p:cSldViewPr>
  </p:slideViewPr>
  <p:outlineViewPr>
    <p:cViewPr>
      <p:scale>
        <a:sx n="33" d="100"/>
        <a:sy n="33" d="100"/>
      </p:scale>
      <p:origin x="0" y="-1317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7DAA-32AF-4C39-A65E-9F8D8863A1E9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42567-5F1D-476D-83D8-65C368A93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79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4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36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154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498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401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926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6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99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205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37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343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4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059305"/>
          </a:xfrm>
          <a:custGeom>
            <a:avLst/>
            <a:gdLst/>
            <a:ahLst/>
            <a:cxnLst/>
            <a:rect l="l" t="t" r="r" b="b"/>
            <a:pathLst>
              <a:path w="12192000" h="2059305">
                <a:moveTo>
                  <a:pt x="0" y="2058924"/>
                </a:moveTo>
                <a:lnTo>
                  <a:pt x="12192000" y="2058924"/>
                </a:lnTo>
                <a:lnTo>
                  <a:pt x="12192000" y="0"/>
                </a:lnTo>
                <a:lnTo>
                  <a:pt x="0" y="0"/>
                </a:lnTo>
                <a:lnTo>
                  <a:pt x="0" y="2058924"/>
                </a:lnTo>
                <a:close/>
              </a:path>
            </a:pathLst>
          </a:custGeom>
          <a:solidFill>
            <a:srgbClr val="099B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887723"/>
            <a:ext cx="12192000" cy="2970530"/>
          </a:xfrm>
          <a:custGeom>
            <a:avLst/>
            <a:gdLst/>
            <a:ahLst/>
            <a:cxnLst/>
            <a:rect l="l" t="t" r="r" b="b"/>
            <a:pathLst>
              <a:path w="12192000" h="2970529">
                <a:moveTo>
                  <a:pt x="0" y="2970275"/>
                </a:moveTo>
                <a:lnTo>
                  <a:pt x="12192000" y="2970275"/>
                </a:lnTo>
                <a:lnTo>
                  <a:pt x="12192000" y="0"/>
                </a:lnTo>
                <a:lnTo>
                  <a:pt x="0" y="0"/>
                </a:lnTo>
                <a:lnTo>
                  <a:pt x="0" y="2970275"/>
                </a:lnTo>
                <a:close/>
              </a:path>
            </a:pathLst>
          </a:custGeom>
          <a:solidFill>
            <a:srgbClr val="099B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058923"/>
            <a:ext cx="12189460" cy="1828800"/>
          </a:xfrm>
          <a:custGeom>
            <a:avLst/>
            <a:gdLst/>
            <a:ahLst/>
            <a:cxnLst/>
            <a:rect l="l" t="t" r="r" b="b"/>
            <a:pathLst>
              <a:path w="12189460" h="1828800">
                <a:moveTo>
                  <a:pt x="12188952" y="0"/>
                </a:moveTo>
                <a:lnTo>
                  <a:pt x="0" y="0"/>
                </a:lnTo>
                <a:lnTo>
                  <a:pt x="0" y="1828800"/>
                </a:lnTo>
                <a:lnTo>
                  <a:pt x="12188952" y="18288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4450" y="2069972"/>
            <a:ext cx="9940290" cy="167195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4003040" marR="5080" indent="-3990975">
              <a:lnSpc>
                <a:spcPts val="5760"/>
              </a:lnSpc>
              <a:spcBef>
                <a:spcPts val="1490"/>
              </a:spcBef>
            </a:pPr>
            <a:r>
              <a:rPr sz="6000" spc="30" dirty="0">
                <a:solidFill>
                  <a:srgbClr val="2C2C2C"/>
                </a:solidFill>
                <a:latin typeface="Corbel"/>
                <a:cs typeface="Corbel"/>
              </a:rPr>
              <a:t>ASSEMBLY</a:t>
            </a:r>
            <a:r>
              <a:rPr sz="6000" spc="210" dirty="0">
                <a:solidFill>
                  <a:srgbClr val="2C2C2C"/>
                </a:solidFill>
                <a:latin typeface="Corbel"/>
                <a:cs typeface="Corbel"/>
              </a:rPr>
              <a:t> </a:t>
            </a:r>
            <a:r>
              <a:rPr sz="6000" spc="130" dirty="0">
                <a:solidFill>
                  <a:srgbClr val="2C2C2C"/>
                </a:solidFill>
                <a:latin typeface="Corbel"/>
                <a:cs typeface="Corbel"/>
              </a:rPr>
              <a:t>PROGRAMING</a:t>
            </a:r>
            <a:r>
              <a:rPr sz="6000" spc="-10" dirty="0">
                <a:solidFill>
                  <a:srgbClr val="2C2C2C"/>
                </a:solidFill>
                <a:latin typeface="Corbel"/>
                <a:cs typeface="Corbel"/>
              </a:rPr>
              <a:t> </a:t>
            </a:r>
            <a:r>
              <a:rPr sz="6000" spc="70" dirty="0">
                <a:solidFill>
                  <a:srgbClr val="2C2C2C"/>
                </a:solidFill>
                <a:latin typeface="Corbel"/>
                <a:cs typeface="Corbel"/>
              </a:rPr>
              <a:t>OF </a:t>
            </a:r>
            <a:r>
              <a:rPr sz="6000" spc="-1185" dirty="0">
                <a:solidFill>
                  <a:srgbClr val="2C2C2C"/>
                </a:solidFill>
                <a:latin typeface="Corbel"/>
                <a:cs typeface="Corbel"/>
              </a:rPr>
              <a:t> </a:t>
            </a:r>
            <a:r>
              <a:rPr sz="6000" spc="110" dirty="0">
                <a:solidFill>
                  <a:srgbClr val="2C2C2C"/>
                </a:solidFill>
                <a:latin typeface="Corbel"/>
                <a:cs typeface="Corbel"/>
              </a:rPr>
              <a:t>ARM7</a:t>
            </a:r>
            <a:endParaRPr sz="6000" dirty="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2147" y="917575"/>
            <a:ext cx="22574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1F1F1"/>
                </a:solidFill>
                <a:latin typeface="Corbel"/>
                <a:cs typeface="Corbel"/>
              </a:rPr>
              <a:t>Chapter</a:t>
            </a:r>
            <a:r>
              <a:rPr sz="4400" spc="-110" dirty="0">
                <a:solidFill>
                  <a:srgbClr val="F1F1F1"/>
                </a:solidFill>
                <a:latin typeface="Corbel"/>
                <a:cs typeface="Corbel"/>
              </a:rPr>
              <a:t> </a:t>
            </a:r>
            <a:r>
              <a:rPr sz="4400" dirty="0">
                <a:solidFill>
                  <a:srgbClr val="F1F1F1"/>
                </a:solidFill>
                <a:latin typeface="Corbel"/>
                <a:cs typeface="Corbel"/>
              </a:rPr>
              <a:t>5</a:t>
            </a:r>
            <a:endParaRPr sz="440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189930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5382" y="864184"/>
            <a:ext cx="36918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INTRODUCTION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36913" y="1993519"/>
            <a:ext cx="10053639" cy="410881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94945" marR="9525" indent="-182880">
              <a:lnSpc>
                <a:spcPts val="2700"/>
              </a:lnSpc>
              <a:spcBef>
                <a:spcPts val="340"/>
              </a:spcBef>
              <a:buClr>
                <a:srgbClr val="F56617"/>
              </a:buClr>
              <a:buFont typeface="Wingdings"/>
              <a:buChar char=""/>
              <a:tabLst>
                <a:tab pos="406400" algn="l"/>
              </a:tabLst>
            </a:pPr>
            <a:r>
              <a:rPr sz="2400" dirty="0">
                <a:latin typeface="Verdana"/>
                <a:cs typeface="Verdana"/>
              </a:rPr>
              <a:t>Assembly</a:t>
            </a:r>
            <a:r>
              <a:rPr sz="2400" spc="2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Language</a:t>
            </a:r>
            <a:r>
              <a:rPr sz="2400" spc="3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Programming</a:t>
            </a:r>
            <a:r>
              <a:rPr sz="2400" spc="3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(ALP)</a:t>
            </a:r>
            <a:r>
              <a:rPr sz="2400" spc="3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30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an</a:t>
            </a:r>
            <a:r>
              <a:rPr sz="2400" spc="3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efficient</a:t>
            </a:r>
            <a:r>
              <a:rPr sz="2400" spc="3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way</a:t>
            </a:r>
            <a:r>
              <a:rPr sz="2400" spc="3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30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using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</a:t>
            </a:r>
            <a:r>
              <a:rPr sz="2400" spc="10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set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processor.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>
              <a:lnSpc>
                <a:spcPts val="2590"/>
              </a:lnSpc>
              <a:spcBef>
                <a:spcPts val="1370"/>
              </a:spcBef>
              <a:buClr>
                <a:srgbClr val="F56617"/>
              </a:buClr>
              <a:buFont typeface="Wingdings"/>
              <a:buChar char=""/>
              <a:tabLst>
                <a:tab pos="391160" algn="l"/>
                <a:tab pos="1341755" algn="l"/>
                <a:tab pos="2576195" algn="l"/>
                <a:tab pos="3047365" algn="l"/>
                <a:tab pos="4028440" algn="l"/>
                <a:tab pos="4534535" algn="l"/>
                <a:tab pos="4947920" algn="l"/>
                <a:tab pos="6518909" algn="l"/>
                <a:tab pos="8147050" algn="l"/>
                <a:tab pos="9258300" algn="l"/>
                <a:tab pos="9728835" algn="l"/>
              </a:tabLst>
            </a:pPr>
            <a:r>
              <a:rPr sz="2400" spc="-5" dirty="0">
                <a:latin typeface="Verdana"/>
                <a:cs typeface="Verdana"/>
              </a:rPr>
              <a:t>Her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spc="5" dirty="0">
                <a:latin typeface="Verdana"/>
                <a:cs typeface="Verdana"/>
              </a:rPr>
              <a:t>co</a:t>
            </a:r>
            <a:r>
              <a:rPr sz="2400" spc="-5" dirty="0">
                <a:latin typeface="Verdana"/>
                <a:cs typeface="Verdana"/>
              </a:rPr>
              <a:t>din</a:t>
            </a:r>
            <a:r>
              <a:rPr sz="2400" dirty="0">
                <a:latin typeface="Verdana"/>
                <a:cs typeface="Verdana"/>
              </a:rPr>
              <a:t>g	</a:t>
            </a:r>
            <a:r>
              <a:rPr sz="2400" spc="-1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s	</a:t>
            </a:r>
            <a:r>
              <a:rPr sz="2400" spc="10" dirty="0">
                <a:latin typeface="Verdana"/>
                <a:cs typeface="Verdana"/>
              </a:rPr>
              <a:t>d</a:t>
            </a:r>
            <a:r>
              <a:rPr sz="2400" dirty="0">
                <a:latin typeface="Verdana"/>
                <a:cs typeface="Verdana"/>
              </a:rPr>
              <a:t>one	in	a	</a:t>
            </a:r>
            <a:r>
              <a:rPr sz="2400" spc="5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ymb</a:t>
            </a:r>
            <a:r>
              <a:rPr sz="2400" spc="10" dirty="0">
                <a:latin typeface="Verdana"/>
                <a:cs typeface="Verdana"/>
              </a:rPr>
              <a:t>o</a:t>
            </a:r>
            <a:r>
              <a:rPr sz="2400" spc="-10" dirty="0">
                <a:latin typeface="Verdana"/>
                <a:cs typeface="Verdana"/>
              </a:rPr>
              <a:t>l</a:t>
            </a:r>
            <a:r>
              <a:rPr sz="2400" spc="1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c	</a:t>
            </a:r>
            <a:r>
              <a:rPr sz="2400" spc="-10" dirty="0">
                <a:latin typeface="Verdana"/>
                <a:cs typeface="Verdana"/>
              </a:rPr>
              <a:t>l</a:t>
            </a:r>
            <a:r>
              <a:rPr sz="2400" spc="-15" dirty="0">
                <a:latin typeface="Verdana"/>
                <a:cs typeface="Verdana"/>
              </a:rPr>
              <a:t>a</a:t>
            </a:r>
            <a:r>
              <a:rPr sz="2400" dirty="0">
                <a:latin typeface="Verdana"/>
                <a:cs typeface="Verdana"/>
              </a:rPr>
              <a:t>n</a:t>
            </a:r>
            <a:r>
              <a:rPr sz="2400" spc="5" dirty="0">
                <a:latin typeface="Verdana"/>
                <a:cs typeface="Verdana"/>
              </a:rPr>
              <a:t>g</a:t>
            </a:r>
            <a:r>
              <a:rPr sz="2400" dirty="0">
                <a:latin typeface="Verdana"/>
                <a:cs typeface="Verdana"/>
              </a:rPr>
              <a:t>u</a:t>
            </a:r>
            <a:r>
              <a:rPr sz="2400" spc="10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g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spc="-5" dirty="0">
                <a:latin typeface="Verdana"/>
                <a:cs typeface="Verdana"/>
              </a:rPr>
              <a:t>w</a:t>
            </a:r>
            <a:r>
              <a:rPr sz="2400" spc="5" dirty="0">
                <a:latin typeface="Verdana"/>
                <a:cs typeface="Verdana"/>
              </a:rPr>
              <a:t>h</a:t>
            </a:r>
            <a:r>
              <a:rPr sz="2400" spc="-10" dirty="0">
                <a:latin typeface="Verdana"/>
                <a:cs typeface="Verdana"/>
              </a:rPr>
              <a:t>ic</a:t>
            </a:r>
            <a:r>
              <a:rPr sz="2400" dirty="0">
                <a:latin typeface="Verdana"/>
                <a:cs typeface="Verdana"/>
              </a:rPr>
              <a:t>h	</a:t>
            </a:r>
            <a:r>
              <a:rPr sz="2400" spc="-1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s	</a:t>
            </a:r>
            <a:r>
              <a:rPr sz="2400" spc="-5" dirty="0">
                <a:latin typeface="Verdana"/>
                <a:cs typeface="Verdana"/>
              </a:rPr>
              <a:t>general</a:t>
            </a:r>
            <a:r>
              <a:rPr sz="2400" spc="5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y  </a:t>
            </a:r>
            <a:r>
              <a:rPr sz="2400" spc="-5" dirty="0">
                <a:latin typeface="Verdana"/>
                <a:cs typeface="Verdana"/>
              </a:rPr>
              <a:t>referred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“mnemonics”.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>
              <a:lnSpc>
                <a:spcPts val="2590"/>
              </a:lnSpc>
              <a:spcBef>
                <a:spcPts val="1410"/>
              </a:spcBef>
              <a:buClr>
                <a:srgbClr val="F56617"/>
              </a:buClr>
              <a:buFont typeface="Wingdings"/>
              <a:buChar char=""/>
              <a:tabLst>
                <a:tab pos="391160" algn="l"/>
                <a:tab pos="7564755" algn="l"/>
              </a:tabLst>
            </a:pPr>
            <a:r>
              <a:rPr sz="2400" spc="-5" dirty="0">
                <a:latin typeface="Verdana"/>
                <a:cs typeface="Verdana"/>
              </a:rPr>
              <a:t>These</a:t>
            </a:r>
            <a:r>
              <a:rPr sz="2400" spc="3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mnemonic</a:t>
            </a:r>
            <a:r>
              <a:rPr sz="2400" spc="4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directly</a:t>
            </a:r>
            <a:r>
              <a:rPr sz="2400" spc="4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converted</a:t>
            </a:r>
            <a:r>
              <a:rPr sz="2400" spc="4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into	</a:t>
            </a:r>
            <a:r>
              <a:rPr sz="2400" dirty="0">
                <a:latin typeface="Verdana"/>
                <a:cs typeface="Verdana"/>
              </a:rPr>
              <a:t>machine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language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executed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processor.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>
              <a:lnSpc>
                <a:spcPts val="2590"/>
              </a:lnSpc>
              <a:spcBef>
                <a:spcPts val="1410"/>
              </a:spcBef>
              <a:buClr>
                <a:srgbClr val="F56617"/>
              </a:buClr>
              <a:buFont typeface="Wingdings"/>
              <a:buChar char=""/>
              <a:tabLst>
                <a:tab pos="391160" algn="l"/>
              </a:tabLst>
            </a:pPr>
            <a:r>
              <a:rPr sz="2400" spc="-5" dirty="0">
                <a:latin typeface="Verdana"/>
                <a:cs typeface="Verdana"/>
              </a:rPr>
              <a:t>Assembler:</a:t>
            </a:r>
            <a:r>
              <a:rPr sz="2400" spc="7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Tool</a:t>
            </a:r>
            <a:r>
              <a:rPr sz="2400" spc="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that</a:t>
            </a:r>
            <a:r>
              <a:rPr sz="2400" spc="8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does</a:t>
            </a:r>
            <a:r>
              <a:rPr sz="2400" spc="9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translation</a:t>
            </a:r>
            <a:r>
              <a:rPr sz="2400" spc="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from</a:t>
            </a:r>
            <a:r>
              <a:rPr sz="2400" spc="7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assembly</a:t>
            </a:r>
            <a:r>
              <a:rPr sz="2400" spc="8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language</a:t>
            </a:r>
            <a:r>
              <a:rPr sz="2400" spc="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machine </a:t>
            </a:r>
            <a:r>
              <a:rPr sz="2400" spc="-5" dirty="0">
                <a:latin typeface="Verdana"/>
                <a:cs typeface="Verdana"/>
              </a:rPr>
              <a:t>language.</a:t>
            </a:r>
            <a:endParaRPr sz="2400" dirty="0">
              <a:latin typeface="Verdana"/>
              <a:cs typeface="Verdana"/>
            </a:endParaRPr>
          </a:p>
          <a:p>
            <a:pPr marL="194945" marR="6985" indent="-182880">
              <a:lnSpc>
                <a:spcPts val="2480"/>
              </a:lnSpc>
              <a:spcBef>
                <a:spcPts val="1485"/>
              </a:spcBef>
              <a:buClr>
                <a:srgbClr val="F56617"/>
              </a:buClr>
              <a:buFont typeface="Wingdings"/>
              <a:buChar char=""/>
              <a:tabLst>
                <a:tab pos="391160" algn="l"/>
              </a:tabLst>
            </a:pPr>
            <a:r>
              <a:rPr sz="2400" dirty="0">
                <a:latin typeface="Verdana"/>
                <a:cs typeface="Verdana"/>
              </a:rPr>
              <a:t>Means</a:t>
            </a:r>
            <a:r>
              <a:rPr sz="2400" spc="38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its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process</a:t>
            </a:r>
            <a:r>
              <a:rPr sz="2400" spc="3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3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one-to-one</a:t>
            </a:r>
            <a:r>
              <a:rPr sz="2400" spc="3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process</a:t>
            </a:r>
            <a:r>
              <a:rPr sz="2400" spc="3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such</a:t>
            </a:r>
            <a:r>
              <a:rPr sz="2400" spc="39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that,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each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mnemonic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gets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translated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only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specific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machine </a:t>
            </a:r>
            <a:r>
              <a:rPr sz="2400" spc="-5" dirty="0">
                <a:latin typeface="Verdana"/>
                <a:cs typeface="Verdana"/>
              </a:rPr>
              <a:t>code.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04932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268" y="864184"/>
            <a:ext cx="96170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5.1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EMBEDDED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PROGRAM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DEVELOPMENT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9257" y="1499184"/>
            <a:ext cx="11199269" cy="54553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94945" marR="5715" indent="-182880" algn="just">
              <a:lnSpc>
                <a:spcPts val="2700"/>
              </a:lnSpc>
              <a:spcBef>
                <a:spcPts val="340"/>
              </a:spcBef>
              <a:buClr>
                <a:srgbClr val="F56617"/>
              </a:buClr>
              <a:buFont typeface="Wingdings"/>
              <a:buChar char=""/>
              <a:tabLst>
                <a:tab pos="406400" algn="l"/>
              </a:tabLst>
            </a:pPr>
            <a:r>
              <a:rPr sz="2400" dirty="0">
                <a:latin typeface="Verdana"/>
                <a:cs typeface="Verdana"/>
              </a:rPr>
              <a:t>ARM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spc="-5" dirty="0">
                <a:latin typeface="Verdana"/>
                <a:cs typeface="Verdana"/>
              </a:rPr>
              <a:t>an </a:t>
            </a:r>
            <a:r>
              <a:rPr sz="2400" dirty="0">
                <a:latin typeface="Verdana"/>
                <a:cs typeface="Verdana"/>
              </a:rPr>
              <a:t>embedded processor and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code </a:t>
            </a:r>
            <a:r>
              <a:rPr sz="2400" spc="-5" dirty="0">
                <a:latin typeface="Verdana"/>
                <a:cs typeface="Verdana"/>
              </a:rPr>
              <a:t>which </a:t>
            </a:r>
            <a:r>
              <a:rPr sz="2400" dirty="0">
                <a:latin typeface="Verdana"/>
                <a:cs typeface="Verdana"/>
              </a:rPr>
              <a:t>is </a:t>
            </a:r>
            <a:r>
              <a:rPr sz="2400" spc="-10" dirty="0">
                <a:latin typeface="Verdana"/>
                <a:cs typeface="Verdana"/>
              </a:rPr>
              <a:t>developed </a:t>
            </a:r>
            <a:r>
              <a:rPr sz="2400" dirty="0">
                <a:latin typeface="Verdana"/>
                <a:cs typeface="Verdana"/>
              </a:rPr>
              <a:t>has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finally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'burned'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into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its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ROM.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 algn="just">
              <a:lnSpc>
                <a:spcPts val="2590"/>
              </a:lnSpc>
              <a:spcBef>
                <a:spcPts val="1370"/>
              </a:spcBef>
              <a:buClr>
                <a:srgbClr val="F56617"/>
              </a:buClr>
              <a:buFont typeface="Wingdings"/>
              <a:buChar char=""/>
              <a:tabLst>
                <a:tab pos="391160" algn="l"/>
              </a:tabLst>
            </a:pPr>
            <a:r>
              <a:rPr sz="2400" dirty="0">
                <a:latin typeface="Verdana"/>
                <a:cs typeface="Verdana"/>
              </a:rPr>
              <a:t>Code has </a:t>
            </a:r>
            <a:r>
              <a:rPr sz="2400" spc="5" dirty="0">
                <a:latin typeface="Verdana"/>
                <a:cs typeface="Verdana"/>
              </a:rPr>
              <a:t>to </a:t>
            </a:r>
            <a:r>
              <a:rPr sz="2400" dirty="0">
                <a:latin typeface="Verdana"/>
                <a:cs typeface="Verdana"/>
              </a:rPr>
              <a:t>be </a:t>
            </a:r>
            <a:r>
              <a:rPr sz="2400" spc="-10" dirty="0">
                <a:latin typeface="Verdana"/>
                <a:cs typeface="Verdana"/>
              </a:rPr>
              <a:t>developed, </a:t>
            </a:r>
            <a:r>
              <a:rPr sz="2400" dirty="0">
                <a:latin typeface="Verdana"/>
                <a:cs typeface="Verdana"/>
              </a:rPr>
              <a:t>and thoroughly </a:t>
            </a:r>
            <a:r>
              <a:rPr sz="2400" spc="-5" dirty="0">
                <a:latin typeface="Verdana"/>
                <a:cs typeface="Verdana"/>
              </a:rPr>
              <a:t>tested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-5" dirty="0">
                <a:latin typeface="Verdana"/>
                <a:cs typeface="Verdana"/>
              </a:rPr>
              <a:t>verified </a:t>
            </a:r>
            <a:r>
              <a:rPr sz="2400" spc="5" dirty="0">
                <a:latin typeface="Verdana"/>
                <a:cs typeface="Verdana"/>
              </a:rPr>
              <a:t>to </a:t>
            </a:r>
            <a:r>
              <a:rPr sz="2400" dirty="0">
                <a:latin typeface="Verdana"/>
                <a:cs typeface="Verdana"/>
              </a:rPr>
              <a:t>be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correct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working.</a:t>
            </a:r>
            <a:endParaRPr sz="2400" dirty="0">
              <a:latin typeface="Verdana"/>
              <a:cs typeface="Verdana"/>
            </a:endParaRPr>
          </a:p>
          <a:p>
            <a:pPr marL="194945" marR="6350" indent="-182880" algn="just">
              <a:lnSpc>
                <a:spcPts val="2590"/>
              </a:lnSpc>
              <a:spcBef>
                <a:spcPts val="1410"/>
              </a:spcBef>
              <a:buClr>
                <a:srgbClr val="F56617"/>
              </a:buClr>
              <a:buFont typeface="Wingdings"/>
              <a:buChar char=""/>
              <a:tabLst>
                <a:tab pos="391160" algn="l"/>
              </a:tabLst>
            </a:pPr>
            <a:r>
              <a:rPr sz="2400" spc="-60" dirty="0">
                <a:latin typeface="Verdana"/>
                <a:cs typeface="Verdana"/>
              </a:rPr>
              <a:t>We </a:t>
            </a:r>
            <a:r>
              <a:rPr sz="2400" dirty="0">
                <a:latin typeface="Verdana"/>
                <a:cs typeface="Verdana"/>
              </a:rPr>
              <a:t>need a host computer </a:t>
            </a:r>
            <a:r>
              <a:rPr sz="2400" spc="-5" dirty="0">
                <a:latin typeface="Verdana"/>
                <a:cs typeface="Verdana"/>
              </a:rPr>
              <a:t>which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a PC, in which </a:t>
            </a:r>
            <a:r>
              <a:rPr sz="2400" spc="-5" dirty="0">
                <a:latin typeface="Verdana"/>
                <a:cs typeface="Verdana"/>
              </a:rPr>
              <a:t>the development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testing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code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done</a:t>
            </a:r>
            <a:endParaRPr sz="2400" dirty="0">
              <a:latin typeface="Verdana"/>
              <a:cs typeface="Verdana"/>
            </a:endParaRPr>
          </a:p>
          <a:p>
            <a:pPr marL="194945" marR="8255" indent="-182880" algn="just">
              <a:lnSpc>
                <a:spcPts val="2590"/>
              </a:lnSpc>
              <a:spcBef>
                <a:spcPts val="1410"/>
              </a:spcBef>
              <a:buClr>
                <a:srgbClr val="F56617"/>
              </a:buClr>
              <a:buFont typeface="Wingdings"/>
              <a:buChar char=""/>
              <a:tabLst>
                <a:tab pos="391160" algn="l"/>
              </a:tabLst>
            </a:pPr>
            <a:r>
              <a:rPr sz="2400" dirty="0">
                <a:latin typeface="Verdana"/>
                <a:cs typeface="Verdana"/>
              </a:rPr>
              <a:t>PC runs </a:t>
            </a:r>
            <a:r>
              <a:rPr sz="2400" spc="-5" dirty="0">
                <a:latin typeface="Verdana"/>
                <a:cs typeface="Verdana"/>
              </a:rPr>
              <a:t>on an x86 </a:t>
            </a:r>
            <a:r>
              <a:rPr sz="2400" spc="-35" dirty="0">
                <a:latin typeface="Verdana"/>
                <a:cs typeface="Verdana"/>
              </a:rPr>
              <a:t>processor, </a:t>
            </a:r>
            <a:r>
              <a:rPr sz="2400" dirty="0">
                <a:latin typeface="Verdana"/>
                <a:cs typeface="Verdana"/>
              </a:rPr>
              <a:t>but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spc="-10" dirty="0">
                <a:latin typeface="Verdana"/>
                <a:cs typeface="Verdana"/>
              </a:rPr>
              <a:t>program </a:t>
            </a:r>
            <a:r>
              <a:rPr sz="2400" dirty="0">
                <a:latin typeface="Verdana"/>
                <a:cs typeface="Verdana"/>
              </a:rPr>
              <a:t>that we are </a:t>
            </a:r>
            <a:r>
              <a:rPr sz="2400" spc="-5" dirty="0">
                <a:latin typeface="Verdana"/>
                <a:cs typeface="Verdana"/>
              </a:rPr>
              <a:t>working </a:t>
            </a:r>
            <a:r>
              <a:rPr sz="2400" dirty="0">
                <a:latin typeface="Verdana"/>
                <a:cs typeface="Verdana"/>
              </a:rPr>
              <a:t>on </a:t>
            </a:r>
            <a:r>
              <a:rPr sz="2400" spc="-15" dirty="0">
                <a:latin typeface="Verdana"/>
                <a:cs typeface="Verdana"/>
              </a:rPr>
              <a:t>is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another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processor's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Set</a:t>
            </a:r>
            <a:r>
              <a:rPr sz="2400" spc="-5" dirty="0">
                <a:latin typeface="Verdana"/>
                <a:cs typeface="Verdana"/>
              </a:rPr>
              <a:t> Architecture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(ISA),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is,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ARM.</a:t>
            </a:r>
          </a:p>
          <a:p>
            <a:pPr marL="194945" marR="5715" indent="-182880" algn="just">
              <a:lnSpc>
                <a:spcPts val="2590"/>
              </a:lnSpc>
              <a:spcBef>
                <a:spcPts val="1395"/>
              </a:spcBef>
              <a:buClr>
                <a:srgbClr val="F56617"/>
              </a:buClr>
              <a:buFont typeface="Wingdings"/>
              <a:buChar char=""/>
              <a:tabLst>
                <a:tab pos="391160" algn="l"/>
              </a:tabLst>
            </a:pPr>
            <a:r>
              <a:rPr sz="2400" dirty="0">
                <a:latin typeface="Verdana"/>
                <a:cs typeface="Verdana"/>
              </a:rPr>
              <a:t>when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assembly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process</a:t>
            </a:r>
            <a:r>
              <a:rPr sz="2400" dirty="0">
                <a:latin typeface="Verdana"/>
                <a:cs typeface="Verdana"/>
              </a:rPr>
              <a:t> is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complete,</a:t>
            </a:r>
            <a:r>
              <a:rPr sz="2400" dirty="0">
                <a:latin typeface="Verdana"/>
                <a:cs typeface="Verdana"/>
              </a:rPr>
              <a:t> 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binary</a:t>
            </a:r>
            <a:r>
              <a:rPr sz="2400" dirty="0">
                <a:latin typeface="Verdana"/>
                <a:cs typeface="Verdana"/>
              </a:rPr>
              <a:t> code</a:t>
            </a:r>
            <a:r>
              <a:rPr sz="2400" spc="8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that</a:t>
            </a:r>
            <a:r>
              <a:rPr sz="2400" spc="84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obtained </a:t>
            </a:r>
            <a:r>
              <a:rPr sz="2400" dirty="0">
                <a:latin typeface="Verdana"/>
                <a:cs typeface="Verdana"/>
              </a:rPr>
              <a:t>is of a processor </a:t>
            </a:r>
            <a:r>
              <a:rPr sz="2400" spc="-5" dirty="0">
                <a:latin typeface="Verdana"/>
                <a:cs typeface="Verdana"/>
              </a:rPr>
              <a:t>which </a:t>
            </a:r>
            <a:r>
              <a:rPr sz="2400" dirty="0">
                <a:latin typeface="Verdana"/>
                <a:cs typeface="Verdana"/>
              </a:rPr>
              <a:t>is not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host computer (x86). So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conversion </a:t>
            </a:r>
            <a:r>
              <a:rPr sz="2400" dirty="0">
                <a:latin typeface="Verdana"/>
                <a:cs typeface="Verdana"/>
              </a:rPr>
              <a:t>is </a:t>
            </a:r>
            <a:r>
              <a:rPr sz="2400" spc="-5" dirty="0">
                <a:latin typeface="Verdana"/>
                <a:cs typeface="Verdana"/>
              </a:rPr>
              <a:t>termed as </a:t>
            </a:r>
            <a:r>
              <a:rPr sz="2400" dirty="0">
                <a:latin typeface="Verdana"/>
                <a:cs typeface="Verdana"/>
              </a:rPr>
              <a:t>'cross assembly'. </a:t>
            </a:r>
            <a:r>
              <a:rPr sz="2400" spc="-5" dirty="0">
                <a:latin typeface="Verdana"/>
                <a:cs typeface="Verdana"/>
              </a:rPr>
              <a:t>If </a:t>
            </a:r>
            <a:r>
              <a:rPr sz="2400" dirty="0">
                <a:latin typeface="Verdana"/>
                <a:cs typeface="Verdana"/>
              </a:rPr>
              <a:t>the source </a:t>
            </a:r>
            <a:r>
              <a:rPr sz="2400" spc="-10" dirty="0">
                <a:latin typeface="Verdana"/>
                <a:cs typeface="Verdana"/>
              </a:rPr>
              <a:t>program </a:t>
            </a:r>
            <a:r>
              <a:rPr sz="2400" dirty="0">
                <a:latin typeface="Verdana"/>
                <a:cs typeface="Verdana"/>
              </a:rPr>
              <a:t>is </a:t>
            </a:r>
            <a:r>
              <a:rPr sz="2400" spc="-5" dirty="0">
                <a:latin typeface="Verdana"/>
                <a:cs typeface="Verdana"/>
              </a:rPr>
              <a:t>written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high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level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language,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spc="-10" dirty="0">
                <a:latin typeface="Verdana"/>
                <a:cs typeface="Verdana"/>
              </a:rPr>
              <a:t>translation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called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`cross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compiling'.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20743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268" y="1015949"/>
            <a:ext cx="722375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Corbel"/>
                <a:cs typeface="Corbel"/>
              </a:rPr>
              <a:t>5.1</a:t>
            </a:r>
            <a:r>
              <a:rPr sz="2400" spc="-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FF0000"/>
                </a:solidFill>
                <a:latin typeface="Corbel"/>
                <a:cs typeface="Corbel"/>
              </a:rPr>
              <a:t>EMBEDDED</a:t>
            </a:r>
            <a:r>
              <a:rPr sz="2400" spc="-4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FF0000"/>
                </a:solidFill>
                <a:latin typeface="Corbel"/>
                <a:cs typeface="Corbel"/>
              </a:rPr>
              <a:t>PROGRAM</a:t>
            </a:r>
            <a:r>
              <a:rPr sz="2400" spc="-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FF0000"/>
                </a:solidFill>
                <a:latin typeface="Corbel"/>
                <a:cs typeface="Corbel"/>
              </a:rPr>
              <a:t>DEVELOPMENT</a:t>
            </a:r>
            <a:r>
              <a:rPr sz="2400" spc="-4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FF0000"/>
                </a:solidFill>
                <a:latin typeface="Corbel"/>
                <a:cs typeface="Corbel"/>
              </a:rPr>
              <a:t>(CONTD..)</a:t>
            </a:r>
            <a:endParaRPr sz="24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6686" y="1993519"/>
            <a:ext cx="11119038" cy="4259371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95580" marR="5080" indent="-182880" algn="just">
              <a:lnSpc>
                <a:spcPct val="91200"/>
              </a:lnSpc>
              <a:spcBef>
                <a:spcPts val="350"/>
              </a:spcBef>
              <a:buClr>
                <a:srgbClr val="F56617"/>
              </a:buClr>
              <a:buFont typeface="Wingdings"/>
              <a:buChar char=""/>
              <a:tabLst>
                <a:tab pos="406400" algn="l"/>
              </a:tabLst>
            </a:pP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host PC should </a:t>
            </a:r>
            <a:r>
              <a:rPr sz="2400" spc="-10" dirty="0">
                <a:latin typeface="Verdana"/>
                <a:cs typeface="Verdana"/>
              </a:rPr>
              <a:t>have </a:t>
            </a:r>
            <a:r>
              <a:rPr sz="2400" spc="-5" dirty="0">
                <a:latin typeface="Verdana"/>
                <a:cs typeface="Verdana"/>
              </a:rPr>
              <a:t>an IDE (Integrated </a:t>
            </a:r>
            <a:r>
              <a:rPr sz="2400" spc="-10" dirty="0">
                <a:latin typeface="Verdana"/>
                <a:cs typeface="Verdana"/>
              </a:rPr>
              <a:t>Development </a:t>
            </a:r>
            <a:r>
              <a:rPr sz="2400" spc="-5" dirty="0">
                <a:latin typeface="Verdana"/>
                <a:cs typeface="Verdana"/>
              </a:rPr>
              <a:t>Environment)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which</a:t>
            </a:r>
            <a:r>
              <a:rPr sz="2400" dirty="0">
                <a:latin typeface="Verdana"/>
                <a:cs typeface="Verdana"/>
              </a:rPr>
              <a:t> is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programming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environment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</a:t>
            </a:r>
            <a:r>
              <a:rPr sz="2400" dirty="0">
                <a:latin typeface="Verdana"/>
                <a:cs typeface="Verdana"/>
              </a:rPr>
              <a:t> has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code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editor,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cross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compiler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-35" dirty="0">
                <a:latin typeface="Verdana"/>
                <a:cs typeface="Verdana"/>
              </a:rPr>
              <a:t>assembler, </a:t>
            </a:r>
            <a:r>
              <a:rPr sz="2400" spc="-40" dirty="0">
                <a:latin typeface="Verdana"/>
                <a:cs typeface="Verdana"/>
              </a:rPr>
              <a:t>debugger, </a:t>
            </a:r>
            <a:r>
              <a:rPr sz="2400" dirty="0">
                <a:latin typeface="Verdana"/>
                <a:cs typeface="Verdana"/>
              </a:rPr>
              <a:t>simulator and </a:t>
            </a:r>
            <a:r>
              <a:rPr sz="2400" spc="-10" dirty="0">
                <a:latin typeface="Verdana"/>
                <a:cs typeface="Verdana"/>
              </a:rPr>
              <a:t>graphical </a:t>
            </a:r>
            <a:r>
              <a:rPr sz="2400" dirty="0">
                <a:latin typeface="Verdana"/>
                <a:cs typeface="Verdana"/>
              </a:rPr>
              <a:t>user </a:t>
            </a:r>
            <a:r>
              <a:rPr sz="2400" spc="-5" dirty="0">
                <a:latin typeface="Verdana"/>
                <a:cs typeface="Verdana"/>
              </a:rPr>
              <a:t>interface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(GUI).</a:t>
            </a:r>
            <a:endParaRPr sz="2400" dirty="0">
              <a:latin typeface="Verdana"/>
              <a:cs typeface="Verdana"/>
            </a:endParaRPr>
          </a:p>
          <a:p>
            <a:pPr marL="285115" indent="-273050">
              <a:lnSpc>
                <a:spcPts val="2735"/>
              </a:lnSpc>
              <a:spcBef>
                <a:spcPts val="1105"/>
              </a:spcBef>
              <a:buClr>
                <a:srgbClr val="F56617"/>
              </a:buClr>
              <a:buFont typeface="Wingdings"/>
              <a:buChar char=""/>
              <a:tabLst>
                <a:tab pos="285750" algn="l"/>
                <a:tab pos="1019810" algn="l"/>
                <a:tab pos="1749425" algn="l"/>
                <a:tab pos="2458720" algn="l"/>
                <a:tab pos="4271010" algn="l"/>
                <a:tab pos="4739005" algn="l"/>
                <a:tab pos="5407660" algn="l"/>
                <a:tab pos="7029450" algn="l"/>
                <a:tab pos="8826500" algn="l"/>
                <a:tab pos="9573895" algn="l"/>
                <a:tab pos="11018520" algn="l"/>
              </a:tabLst>
            </a:pPr>
            <a:r>
              <a:rPr sz="2400" spc="-5" dirty="0">
                <a:latin typeface="Verdana"/>
                <a:cs typeface="Verdana"/>
              </a:rPr>
              <a:t>Th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spc="-5" dirty="0">
                <a:latin typeface="Verdana"/>
                <a:cs typeface="Verdana"/>
              </a:rPr>
              <a:t>ID</a:t>
            </a:r>
            <a:r>
              <a:rPr sz="2400" dirty="0">
                <a:latin typeface="Verdana"/>
                <a:cs typeface="Verdana"/>
              </a:rPr>
              <a:t>E	has	k</a:t>
            </a:r>
            <a:r>
              <a:rPr sz="2400" spc="5" dirty="0">
                <a:latin typeface="Verdana"/>
                <a:cs typeface="Verdana"/>
              </a:rPr>
              <a:t>n</a:t>
            </a:r>
            <a:r>
              <a:rPr sz="2400" dirty="0">
                <a:latin typeface="Verdana"/>
                <a:cs typeface="Verdana"/>
              </a:rPr>
              <a:t>o</a:t>
            </a:r>
            <a:r>
              <a:rPr sz="2400" spc="5" dirty="0">
                <a:latin typeface="Verdana"/>
                <a:cs typeface="Verdana"/>
              </a:rPr>
              <a:t>w</a:t>
            </a:r>
            <a:r>
              <a:rPr sz="2400" spc="-10" dirty="0">
                <a:latin typeface="Verdana"/>
                <a:cs typeface="Verdana"/>
              </a:rPr>
              <a:t>l</a:t>
            </a:r>
            <a:r>
              <a:rPr sz="2400" spc="-20" dirty="0">
                <a:latin typeface="Verdana"/>
                <a:cs typeface="Verdana"/>
              </a:rPr>
              <a:t>e</a:t>
            </a:r>
            <a:r>
              <a:rPr sz="2400" spc="-5" dirty="0">
                <a:latin typeface="Verdana"/>
                <a:cs typeface="Verdana"/>
              </a:rPr>
              <a:t>dg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spc="5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f	</a:t>
            </a:r>
            <a:r>
              <a:rPr sz="2400" spc="-5" dirty="0">
                <a:latin typeface="Verdana"/>
                <a:cs typeface="Verdana"/>
              </a:rPr>
              <a:t>th</a:t>
            </a:r>
            <a:r>
              <a:rPr sz="2400" dirty="0">
                <a:latin typeface="Verdana"/>
                <a:cs typeface="Verdana"/>
              </a:rPr>
              <a:t>e	r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spc="10" dirty="0">
                <a:latin typeface="Verdana"/>
                <a:cs typeface="Verdana"/>
              </a:rPr>
              <a:t>g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spc="-20" dirty="0">
                <a:latin typeface="Verdana"/>
                <a:cs typeface="Verdana"/>
              </a:rPr>
              <a:t>s</a:t>
            </a:r>
            <a:r>
              <a:rPr sz="2400" spc="10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s,	</a:t>
            </a:r>
            <a:r>
              <a:rPr sz="2400" spc="-10" dirty="0">
                <a:latin typeface="Verdana"/>
                <a:cs typeface="Verdana"/>
              </a:rPr>
              <a:t>ins</a:t>
            </a:r>
            <a:r>
              <a:rPr sz="2400" spc="5" dirty="0">
                <a:latin typeface="Verdana"/>
                <a:cs typeface="Verdana"/>
              </a:rPr>
              <a:t>tr</a:t>
            </a:r>
            <a:r>
              <a:rPr sz="2400" dirty="0">
                <a:latin typeface="Verdana"/>
                <a:cs typeface="Verdana"/>
              </a:rPr>
              <a:t>uc</a:t>
            </a:r>
            <a:r>
              <a:rPr sz="2400" spc="15" dirty="0">
                <a:latin typeface="Verdana"/>
                <a:cs typeface="Verdana"/>
              </a:rPr>
              <a:t>t</a:t>
            </a:r>
            <a:r>
              <a:rPr sz="2400" spc="-10" dirty="0">
                <a:latin typeface="Verdana"/>
                <a:cs typeface="Verdana"/>
              </a:rPr>
              <a:t>io</a:t>
            </a:r>
            <a:r>
              <a:rPr sz="2400" dirty="0">
                <a:latin typeface="Verdana"/>
                <a:cs typeface="Verdana"/>
              </a:rPr>
              <a:t>n	set,	memory	and</a:t>
            </a:r>
          </a:p>
          <a:p>
            <a:pPr marL="195580">
              <a:lnSpc>
                <a:spcPts val="2735"/>
              </a:lnSpc>
            </a:pPr>
            <a:r>
              <a:rPr sz="2400" spc="-10" dirty="0">
                <a:latin typeface="Verdana"/>
                <a:cs typeface="Verdana"/>
              </a:rPr>
              <a:t>peripheral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mapping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embedded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processor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which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it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used.</a:t>
            </a:r>
          </a:p>
          <a:p>
            <a:pPr marL="284480" indent="-272415">
              <a:lnSpc>
                <a:spcPct val="100000"/>
              </a:lnSpc>
              <a:spcBef>
                <a:spcPts val="1115"/>
              </a:spcBef>
              <a:buClr>
                <a:srgbClr val="F56617"/>
              </a:buClr>
              <a:buFont typeface="Wingdings"/>
              <a:buChar char=""/>
              <a:tabLst>
                <a:tab pos="285115" algn="l"/>
              </a:tabLst>
            </a:pPr>
            <a:r>
              <a:rPr sz="2400" spc="-5" dirty="0">
                <a:latin typeface="Verdana"/>
                <a:cs typeface="Verdana"/>
              </a:rPr>
              <a:t>IDE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8051 </a:t>
            </a:r>
            <a:r>
              <a:rPr sz="2400" dirty="0">
                <a:latin typeface="Verdana"/>
                <a:cs typeface="Verdana"/>
              </a:rPr>
              <a:t>cannot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 used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ARM.</a:t>
            </a:r>
          </a:p>
          <a:p>
            <a:pPr marL="285115" indent="-273050">
              <a:lnSpc>
                <a:spcPts val="2740"/>
              </a:lnSpc>
              <a:spcBef>
                <a:spcPts val="1120"/>
              </a:spcBef>
              <a:buClr>
                <a:srgbClr val="F56617"/>
              </a:buClr>
              <a:buFont typeface="Wingdings"/>
              <a:buChar char=""/>
              <a:tabLst>
                <a:tab pos="285750" algn="l"/>
              </a:tabLst>
            </a:pPr>
            <a:r>
              <a:rPr sz="2400" spc="-5" dirty="0">
                <a:latin typeface="Verdana"/>
                <a:cs typeface="Verdana"/>
              </a:rPr>
              <a:t>Our</a:t>
            </a:r>
            <a:r>
              <a:rPr sz="2400" spc="1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approach</a:t>
            </a:r>
            <a:r>
              <a:rPr sz="2400" spc="2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20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to</a:t>
            </a:r>
            <a:r>
              <a:rPr sz="2400" spc="1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use</a:t>
            </a:r>
            <a:r>
              <a:rPr sz="2400" spc="2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assembly</a:t>
            </a:r>
            <a:r>
              <a:rPr sz="2400" spc="2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programming</a:t>
            </a:r>
            <a:r>
              <a:rPr sz="2400" spc="20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for</a:t>
            </a:r>
            <a:r>
              <a:rPr sz="2400" spc="2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ARM</a:t>
            </a:r>
            <a:r>
              <a:rPr sz="2400" spc="204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core,</a:t>
            </a:r>
            <a:r>
              <a:rPr sz="2400" spc="20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2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</a:p>
          <a:p>
            <a:pPr marL="195580">
              <a:lnSpc>
                <a:spcPts val="2740"/>
              </a:lnSpc>
            </a:pPr>
            <a:r>
              <a:rPr sz="2400" spc="-10" dirty="0">
                <a:latin typeface="Verdana"/>
                <a:cs typeface="Verdana"/>
              </a:rPr>
              <a:t>programming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peripherals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9166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6970" y="496570"/>
            <a:ext cx="7223125" cy="104076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174875" marR="5080" indent="-2162810">
              <a:lnSpc>
                <a:spcPts val="3670"/>
              </a:lnSpc>
              <a:spcBef>
                <a:spcPts val="760"/>
              </a:spcBef>
            </a:pPr>
            <a:r>
              <a:rPr b="0" spc="-5" dirty="0">
                <a:solidFill>
                  <a:srgbClr val="F56617"/>
                </a:solidFill>
                <a:latin typeface="Corbel"/>
                <a:cs typeface="Corbel"/>
              </a:rPr>
              <a:t>POPUL</a:t>
            </a:r>
            <a:r>
              <a:rPr b="0" spc="5" dirty="0">
                <a:solidFill>
                  <a:srgbClr val="F56617"/>
                </a:solidFill>
                <a:latin typeface="Corbel"/>
                <a:cs typeface="Corbel"/>
              </a:rPr>
              <a:t>A</a:t>
            </a:r>
            <a:r>
              <a:rPr b="0" dirty="0">
                <a:solidFill>
                  <a:srgbClr val="F56617"/>
                </a:solidFill>
                <a:latin typeface="Corbel"/>
                <a:cs typeface="Corbel"/>
              </a:rPr>
              <a:t>R IDES</a:t>
            </a:r>
            <a:r>
              <a:rPr b="0" spc="20" dirty="0">
                <a:solidFill>
                  <a:srgbClr val="F56617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56617"/>
                </a:solidFill>
                <a:latin typeface="Corbel"/>
                <a:cs typeface="Corbel"/>
              </a:rPr>
              <a:t>IN</a:t>
            </a:r>
            <a:r>
              <a:rPr b="0" spc="-100" dirty="0">
                <a:solidFill>
                  <a:srgbClr val="F56617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56617"/>
                </a:solidFill>
                <a:latin typeface="Corbel"/>
                <a:cs typeface="Corbel"/>
              </a:rPr>
              <a:t>USE</a:t>
            </a:r>
            <a:r>
              <a:rPr b="0" spc="10" dirty="0">
                <a:solidFill>
                  <a:srgbClr val="F56617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56617"/>
                </a:solidFill>
                <a:latin typeface="Corbel"/>
                <a:cs typeface="Corbel"/>
              </a:rPr>
              <a:t>FO</a:t>
            </a:r>
            <a:r>
              <a:rPr b="0" dirty="0">
                <a:solidFill>
                  <a:srgbClr val="F56617"/>
                </a:solidFill>
                <a:latin typeface="Corbel"/>
                <a:cs typeface="Corbel"/>
              </a:rPr>
              <a:t>R</a:t>
            </a:r>
            <a:r>
              <a:rPr b="0" spc="-290" dirty="0">
                <a:solidFill>
                  <a:srgbClr val="F56617"/>
                </a:solidFill>
                <a:latin typeface="Corbel"/>
                <a:cs typeface="Corbel"/>
              </a:rPr>
              <a:t> </a:t>
            </a:r>
            <a:r>
              <a:rPr b="0" spc="-195" dirty="0">
                <a:solidFill>
                  <a:srgbClr val="F56617"/>
                </a:solidFill>
                <a:latin typeface="Corbel"/>
                <a:cs typeface="Corbel"/>
              </a:rPr>
              <a:t>V</a:t>
            </a:r>
            <a:r>
              <a:rPr b="0" spc="-5" dirty="0">
                <a:solidFill>
                  <a:srgbClr val="F56617"/>
                </a:solidFill>
                <a:latin typeface="Corbel"/>
                <a:cs typeface="Corbel"/>
              </a:rPr>
              <a:t>A</a:t>
            </a:r>
            <a:r>
              <a:rPr b="0" spc="5" dirty="0">
                <a:solidFill>
                  <a:srgbClr val="F56617"/>
                </a:solidFill>
                <a:latin typeface="Corbel"/>
                <a:cs typeface="Corbel"/>
              </a:rPr>
              <a:t>R</a:t>
            </a:r>
            <a:r>
              <a:rPr b="0" dirty="0">
                <a:solidFill>
                  <a:srgbClr val="F56617"/>
                </a:solidFill>
                <a:latin typeface="Corbel"/>
                <a:cs typeface="Corbel"/>
              </a:rPr>
              <a:t>IOUS  </a:t>
            </a:r>
            <a:r>
              <a:rPr b="0" spc="-5" dirty="0">
                <a:solidFill>
                  <a:srgbClr val="F56617"/>
                </a:solidFill>
                <a:latin typeface="Corbel"/>
                <a:cs typeface="Corbel"/>
              </a:rPr>
              <a:t>PROCESSORS.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063" y="2071116"/>
            <a:ext cx="11814048" cy="464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85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26089"/>
            <a:ext cx="64107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5" dirty="0">
                <a:solidFill>
                  <a:srgbClr val="F56617"/>
                </a:solidFill>
                <a:latin typeface="Corbel"/>
                <a:cs typeface="Corbel"/>
              </a:rPr>
              <a:t>N</a:t>
            </a:r>
            <a:r>
              <a:rPr b="0" spc="-90" dirty="0">
                <a:solidFill>
                  <a:srgbClr val="F56617"/>
                </a:solidFill>
                <a:latin typeface="Corbel"/>
                <a:cs typeface="Corbel"/>
              </a:rPr>
              <a:t>O</a:t>
            </a:r>
            <a:r>
              <a:rPr b="0" spc="-5" dirty="0">
                <a:solidFill>
                  <a:srgbClr val="F56617"/>
                </a:solidFill>
                <a:latin typeface="Corbel"/>
                <a:cs typeface="Corbel"/>
              </a:rPr>
              <a:t>T</a:t>
            </a:r>
            <a:r>
              <a:rPr b="0" dirty="0">
                <a:solidFill>
                  <a:srgbClr val="F56617"/>
                </a:solidFill>
                <a:latin typeface="Corbel"/>
                <a:cs typeface="Corbel"/>
              </a:rPr>
              <a:t>E</a:t>
            </a:r>
            <a:r>
              <a:rPr b="0" spc="-245" dirty="0">
                <a:solidFill>
                  <a:srgbClr val="F56617"/>
                </a:solidFill>
                <a:latin typeface="Corbel"/>
                <a:cs typeface="Corbel"/>
              </a:rPr>
              <a:t> </a:t>
            </a:r>
            <a:r>
              <a:rPr b="0" spc="-80" dirty="0">
                <a:solidFill>
                  <a:srgbClr val="F56617"/>
                </a:solidFill>
                <a:latin typeface="Corbel"/>
                <a:cs typeface="Corbel"/>
              </a:rPr>
              <a:t>T</a:t>
            </a:r>
            <a:r>
              <a:rPr b="0" dirty="0">
                <a:solidFill>
                  <a:srgbClr val="F56617"/>
                </a:solidFill>
                <a:latin typeface="Corbel"/>
                <a:cs typeface="Corbel"/>
              </a:rPr>
              <a:t>O</a:t>
            </a:r>
            <a:r>
              <a:rPr b="0" spc="-5" dirty="0">
                <a:solidFill>
                  <a:srgbClr val="F56617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56617"/>
                </a:solidFill>
                <a:latin typeface="Corbel"/>
                <a:cs typeface="Corbel"/>
              </a:rPr>
              <a:t>REMEMBER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2197430"/>
            <a:ext cx="10890250" cy="2395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ts val="2735"/>
              </a:lnSpc>
              <a:spcBef>
                <a:spcPts val="100"/>
              </a:spcBef>
              <a:buClr>
                <a:srgbClr val="F56617"/>
              </a:buClr>
              <a:buSzPct val="95833"/>
              <a:buFont typeface="Wingdings"/>
              <a:buChar char=""/>
              <a:tabLst>
                <a:tab pos="285750" algn="l"/>
                <a:tab pos="1160145" algn="l"/>
                <a:tab pos="1969135" algn="l"/>
                <a:tab pos="2522855" algn="l"/>
                <a:tab pos="4011929" algn="l"/>
                <a:tab pos="4566920" algn="l"/>
                <a:tab pos="5535930" algn="l"/>
                <a:tab pos="5930900" algn="l"/>
                <a:tab pos="6483985" algn="l"/>
                <a:tab pos="7709534" algn="l"/>
                <a:tab pos="8246109" algn="l"/>
                <a:tab pos="9416415" algn="l"/>
                <a:tab pos="9780905" algn="l"/>
              </a:tabLst>
            </a:pPr>
            <a:r>
              <a:rPr sz="2400" dirty="0">
                <a:latin typeface="Corbel"/>
                <a:cs typeface="Corbel"/>
              </a:rPr>
              <a:t>W</a:t>
            </a:r>
            <a:r>
              <a:rPr sz="2400" spc="-15" dirty="0">
                <a:latin typeface="Corbel"/>
                <a:cs typeface="Corbel"/>
              </a:rPr>
              <a:t>h</a:t>
            </a:r>
            <a:r>
              <a:rPr sz="2400" dirty="0">
                <a:latin typeface="Corbel"/>
                <a:cs typeface="Corbel"/>
              </a:rPr>
              <a:t>en	using	</a:t>
            </a:r>
            <a:r>
              <a:rPr sz="2400" spc="-10" dirty="0">
                <a:latin typeface="Corbel"/>
                <a:cs typeface="Corbel"/>
              </a:rPr>
              <a:t>th</a:t>
            </a:r>
            <a:r>
              <a:rPr sz="2400" dirty="0">
                <a:latin typeface="Corbel"/>
                <a:cs typeface="Corbel"/>
              </a:rPr>
              <a:t>e	assemble</a:t>
            </a:r>
            <a:r>
              <a:rPr sz="2400" spc="-120" dirty="0">
                <a:latin typeface="Corbel"/>
                <a:cs typeface="Corbel"/>
              </a:rPr>
              <a:t>r</a:t>
            </a:r>
            <a:r>
              <a:rPr sz="2400" dirty="0">
                <a:latin typeface="Corbel"/>
                <a:cs typeface="Corbel"/>
              </a:rPr>
              <a:t>,	</a:t>
            </a:r>
            <a:r>
              <a:rPr sz="2400" spc="-5" dirty="0">
                <a:latin typeface="Corbel"/>
                <a:cs typeface="Corbel"/>
              </a:rPr>
              <a:t>th</a:t>
            </a:r>
            <a:r>
              <a:rPr sz="2400" dirty="0">
                <a:latin typeface="Corbel"/>
                <a:cs typeface="Corbel"/>
              </a:rPr>
              <a:t>e	resul</a:t>
            </a:r>
            <a:r>
              <a:rPr sz="2400" spc="-15" dirty="0">
                <a:latin typeface="Corbel"/>
                <a:cs typeface="Corbel"/>
              </a:rPr>
              <a:t>t</a:t>
            </a:r>
            <a:r>
              <a:rPr sz="2400" dirty="0">
                <a:latin typeface="Corbel"/>
                <a:cs typeface="Corbel"/>
              </a:rPr>
              <a:t>s	of	</a:t>
            </a:r>
            <a:r>
              <a:rPr sz="2400" spc="-5" dirty="0">
                <a:latin typeface="Corbel"/>
                <a:cs typeface="Corbel"/>
              </a:rPr>
              <a:t>th</a:t>
            </a:r>
            <a:r>
              <a:rPr sz="2400" dirty="0">
                <a:latin typeface="Corbel"/>
                <a:cs typeface="Corbel"/>
              </a:rPr>
              <a:t>e	prog</a:t>
            </a:r>
            <a:r>
              <a:rPr sz="2400" spc="-20" dirty="0">
                <a:latin typeface="Corbel"/>
                <a:cs typeface="Corbel"/>
              </a:rPr>
              <a:t>r</a:t>
            </a:r>
            <a:r>
              <a:rPr sz="2400" dirty="0">
                <a:latin typeface="Corbel"/>
                <a:cs typeface="Corbel"/>
              </a:rPr>
              <a:t>am	</a:t>
            </a:r>
            <a:r>
              <a:rPr sz="2400" spc="-15" dirty="0">
                <a:latin typeface="Corbel"/>
                <a:cs typeface="Corbel"/>
              </a:rPr>
              <a:t>a</a:t>
            </a:r>
            <a:r>
              <a:rPr sz="2400" dirty="0">
                <a:latin typeface="Corbel"/>
                <a:cs typeface="Corbel"/>
              </a:rPr>
              <a:t>re	</a:t>
            </a:r>
            <a:r>
              <a:rPr sz="2400" spc="-5" dirty="0">
                <a:latin typeface="Corbel"/>
                <a:cs typeface="Corbel"/>
              </a:rPr>
              <a:t>ch</a:t>
            </a:r>
            <a:r>
              <a:rPr sz="2400" spc="-15" dirty="0">
                <a:latin typeface="Corbel"/>
                <a:cs typeface="Corbel"/>
              </a:rPr>
              <a:t>e</a:t>
            </a:r>
            <a:r>
              <a:rPr sz="2400" spc="-5" dirty="0">
                <a:latin typeface="Corbel"/>
                <a:cs typeface="Corbel"/>
              </a:rPr>
              <a:t>c</a:t>
            </a:r>
            <a:r>
              <a:rPr sz="2400" spc="-55" dirty="0">
                <a:latin typeface="Corbel"/>
                <a:cs typeface="Corbel"/>
              </a:rPr>
              <a:t>k</a:t>
            </a:r>
            <a:r>
              <a:rPr sz="2400" dirty="0">
                <a:latin typeface="Corbel"/>
                <a:cs typeface="Corbel"/>
              </a:rPr>
              <a:t>ed	</a:t>
            </a:r>
            <a:r>
              <a:rPr sz="2400" spc="-10" dirty="0">
                <a:latin typeface="Corbel"/>
                <a:cs typeface="Corbel"/>
              </a:rPr>
              <a:t>i</a:t>
            </a:r>
            <a:r>
              <a:rPr sz="2400" dirty="0">
                <a:latin typeface="Corbel"/>
                <a:cs typeface="Corbel"/>
              </a:rPr>
              <a:t>n	registers</a:t>
            </a:r>
          </a:p>
          <a:p>
            <a:pPr marL="194945">
              <a:lnSpc>
                <a:spcPts val="2735"/>
              </a:lnSpc>
            </a:pPr>
            <a:r>
              <a:rPr sz="2400" spc="-5" dirty="0">
                <a:latin typeface="Corbel"/>
                <a:cs typeface="Corbel"/>
              </a:rPr>
              <a:t>and/or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memory.</a:t>
            </a:r>
            <a:endParaRPr sz="2400" dirty="0">
              <a:latin typeface="Corbel"/>
              <a:cs typeface="Corbel"/>
            </a:endParaRPr>
          </a:p>
          <a:p>
            <a:pPr marL="194945" marR="5080" indent="-182880">
              <a:lnSpc>
                <a:spcPts val="2590"/>
              </a:lnSpc>
              <a:spcBef>
                <a:spcPts val="1445"/>
              </a:spcBef>
              <a:buClr>
                <a:srgbClr val="F56617"/>
              </a:buClr>
              <a:buSzPct val="95833"/>
              <a:buFont typeface="Wingdings"/>
              <a:buChar char=""/>
              <a:tabLst>
                <a:tab pos="285115" algn="l"/>
              </a:tabLst>
            </a:pPr>
            <a:r>
              <a:rPr sz="2400" spc="-5" dirty="0">
                <a:latin typeface="Corbel"/>
                <a:cs typeface="Corbel"/>
              </a:rPr>
              <a:t>When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memory</a:t>
            </a:r>
            <a:r>
              <a:rPr sz="2400" spc="-5" dirty="0">
                <a:latin typeface="Corbel"/>
                <a:cs typeface="Corbel"/>
              </a:rPr>
              <a:t> is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being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used,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we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may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need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to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choose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specific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15" dirty="0">
                <a:latin typeface="Corbel"/>
                <a:cs typeface="Corbel"/>
              </a:rPr>
              <a:t>processor,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so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that</a:t>
            </a:r>
            <a:r>
              <a:rPr sz="2400" spc="5" dirty="0">
                <a:latin typeface="Corbel"/>
                <a:cs typeface="Corbel"/>
              </a:rPr>
              <a:t> we </a:t>
            </a:r>
            <a:r>
              <a:rPr sz="2400" spc="-46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can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define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the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ROM and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RAM </a:t>
            </a:r>
            <a:r>
              <a:rPr sz="2400" spc="-5" dirty="0">
                <a:latin typeface="Corbel"/>
                <a:cs typeface="Corbel"/>
              </a:rPr>
              <a:t>spaces.</a:t>
            </a:r>
            <a:endParaRPr sz="2400" dirty="0">
              <a:latin typeface="Corbel"/>
              <a:cs typeface="Corbel"/>
            </a:endParaRPr>
          </a:p>
          <a:p>
            <a:pPr marL="327660" indent="-315595">
              <a:lnSpc>
                <a:spcPts val="2735"/>
              </a:lnSpc>
              <a:spcBef>
                <a:spcPts val="1080"/>
              </a:spcBef>
              <a:buClr>
                <a:srgbClr val="F56617"/>
              </a:buClr>
              <a:buSzPct val="95833"/>
              <a:buFont typeface="Wingdings"/>
              <a:buChar char=""/>
              <a:tabLst>
                <a:tab pos="328295" algn="l"/>
                <a:tab pos="899160" algn="l"/>
                <a:tab pos="1664335" algn="l"/>
                <a:tab pos="2719070" algn="l"/>
                <a:tab pos="3629025" algn="l"/>
                <a:tab pos="4302760" algn="l"/>
                <a:tab pos="5052695" algn="l"/>
                <a:tab pos="6019165" algn="l"/>
                <a:tab pos="6927850" algn="l"/>
                <a:tab pos="7523480" algn="l"/>
                <a:tab pos="8338820" algn="l"/>
                <a:tab pos="9482455" algn="l"/>
                <a:tab pos="9898380" algn="l"/>
              </a:tabLst>
            </a:pPr>
            <a:r>
              <a:rPr sz="2400" spc="-50" dirty="0">
                <a:latin typeface="Corbel"/>
                <a:cs typeface="Corbel"/>
              </a:rPr>
              <a:t>We	</a:t>
            </a:r>
            <a:r>
              <a:rPr sz="2400" spc="-5" dirty="0">
                <a:latin typeface="Corbel"/>
                <a:cs typeface="Corbel"/>
              </a:rPr>
              <a:t>have	chosen	NXP's	</a:t>
            </a:r>
            <a:r>
              <a:rPr sz="2400" dirty="0">
                <a:latin typeface="Corbel"/>
                <a:cs typeface="Corbel"/>
              </a:rPr>
              <a:t>LPC	</a:t>
            </a:r>
            <a:r>
              <a:rPr sz="2400" spc="-5" dirty="0">
                <a:latin typeface="Corbel"/>
                <a:cs typeface="Corbel"/>
              </a:rPr>
              <a:t>214x	series,	</a:t>
            </a:r>
            <a:r>
              <a:rPr sz="2400" dirty="0">
                <a:latin typeface="Corbel"/>
                <a:cs typeface="Corbel"/>
              </a:rPr>
              <a:t>which	</a:t>
            </a:r>
            <a:r>
              <a:rPr sz="2400" spc="-5" dirty="0">
                <a:latin typeface="Corbel"/>
                <a:cs typeface="Corbel"/>
              </a:rPr>
              <a:t>has	</a:t>
            </a:r>
            <a:r>
              <a:rPr sz="2400" dirty="0">
                <a:latin typeface="Corbel"/>
                <a:cs typeface="Corbel"/>
              </a:rPr>
              <a:t>ROM	</a:t>
            </a:r>
            <a:r>
              <a:rPr sz="2400" spc="-5" dirty="0">
                <a:latin typeface="Corbel"/>
                <a:cs typeface="Corbel"/>
              </a:rPr>
              <a:t>starting	at	address</a:t>
            </a:r>
            <a:endParaRPr sz="2400" dirty="0">
              <a:latin typeface="Corbel"/>
              <a:cs typeface="Corbel"/>
            </a:endParaRPr>
          </a:p>
          <a:p>
            <a:pPr marL="194945">
              <a:lnSpc>
                <a:spcPts val="2735"/>
              </a:lnSpc>
            </a:pPr>
            <a:r>
              <a:rPr sz="2400" spc="-5" dirty="0">
                <a:latin typeface="Corbel"/>
                <a:cs typeface="Corbel"/>
              </a:rPr>
              <a:t>Ox00000000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RAM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at</a:t>
            </a:r>
            <a:r>
              <a:rPr sz="2400" spc="-10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Ox40000000.</a:t>
            </a:r>
          </a:p>
        </p:txBody>
      </p:sp>
    </p:spTree>
    <p:extLst>
      <p:ext uri="{BB962C8B-B14F-4D97-AF65-F5344CB8AC3E}">
        <p14:creationId xmlns:p14="http://schemas.microsoft.com/office/powerpoint/2010/main" val="43455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268" y="605104"/>
            <a:ext cx="7289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5.1.1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FEATURES</a:t>
            </a:r>
            <a:r>
              <a:rPr sz="4000" spc="2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OF</a:t>
            </a:r>
            <a:r>
              <a:rPr sz="4000" spc="-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ARMV4T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ISA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814" y="1993519"/>
            <a:ext cx="11603355" cy="45859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95580" marR="10160" indent="-182880">
              <a:lnSpc>
                <a:spcPts val="2700"/>
              </a:lnSpc>
              <a:spcBef>
                <a:spcPts val="340"/>
              </a:spcBef>
              <a:buClr>
                <a:srgbClr val="F56617"/>
              </a:buClr>
              <a:buFont typeface="Wingdings"/>
              <a:buChar char=""/>
              <a:tabLst>
                <a:tab pos="406400" algn="l"/>
              </a:tabLst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version</a:t>
            </a:r>
            <a:r>
              <a:rPr sz="2400" spc="27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254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ISA</a:t>
            </a:r>
            <a:r>
              <a:rPr sz="2400" spc="2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used</a:t>
            </a:r>
            <a:r>
              <a:rPr sz="2400" spc="2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for</a:t>
            </a:r>
            <a:r>
              <a:rPr sz="2400" spc="2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ARM7</a:t>
            </a:r>
            <a:r>
              <a:rPr sz="2400" spc="2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254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v4T</a:t>
            </a:r>
            <a:r>
              <a:rPr sz="2400" spc="2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(the</a:t>
            </a:r>
            <a:r>
              <a:rPr sz="2400" spc="2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character</a:t>
            </a:r>
            <a:r>
              <a:rPr sz="2400" spc="2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'T'</a:t>
            </a:r>
            <a:r>
              <a:rPr sz="2400" spc="2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means</a:t>
            </a:r>
            <a:r>
              <a:rPr sz="2400" spc="2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Thumb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instructions</a:t>
            </a:r>
            <a:r>
              <a:rPr sz="2400" spc="10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also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included).</a:t>
            </a:r>
            <a:endParaRPr sz="2400" dirty="0">
              <a:latin typeface="Verdana"/>
              <a:cs typeface="Verdana"/>
            </a:endParaRPr>
          </a:p>
          <a:p>
            <a:pPr marL="391795" indent="-379730">
              <a:lnSpc>
                <a:spcPct val="100000"/>
              </a:lnSpc>
              <a:spcBef>
                <a:spcPts val="1040"/>
              </a:spcBef>
              <a:buClr>
                <a:srgbClr val="F56617"/>
              </a:buClr>
              <a:buFont typeface="Wingdings"/>
              <a:buChar char=""/>
              <a:tabLst>
                <a:tab pos="392430" algn="l"/>
              </a:tabLst>
            </a:pPr>
            <a:r>
              <a:rPr sz="2400" spc="-10" dirty="0">
                <a:latin typeface="Verdana"/>
                <a:cs typeface="Verdana"/>
              </a:rPr>
              <a:t>Feature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are:</a:t>
            </a:r>
            <a:endParaRPr sz="2400" dirty="0">
              <a:latin typeface="Verdana"/>
              <a:cs typeface="Verdana"/>
            </a:endParaRPr>
          </a:p>
          <a:p>
            <a:pPr marL="875030" lvl="1" indent="-413384">
              <a:lnSpc>
                <a:spcPts val="2735"/>
              </a:lnSpc>
              <a:spcBef>
                <a:spcPts val="1120"/>
              </a:spcBef>
              <a:buClr>
                <a:srgbClr val="F56617"/>
              </a:buClr>
              <a:buAutoNum type="arabicPeriod"/>
              <a:tabLst>
                <a:tab pos="875665" algn="l"/>
              </a:tabLst>
            </a:pP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general,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all</a:t>
            </a:r>
            <a:r>
              <a:rPr sz="2400" spc="7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Instructions</a:t>
            </a:r>
            <a:r>
              <a:rPr sz="2400" spc="10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size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32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bits</a:t>
            </a:r>
            <a:r>
              <a:rPr sz="2400" spc="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for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ARM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16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bits</a:t>
            </a:r>
            <a:r>
              <a:rPr sz="2400" spc="8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for</a:t>
            </a:r>
            <a:endParaRPr sz="2400" dirty="0">
              <a:latin typeface="Verdana"/>
              <a:cs typeface="Verdana"/>
            </a:endParaRPr>
          </a:p>
          <a:p>
            <a:pPr marL="469900">
              <a:lnSpc>
                <a:spcPts val="2735"/>
              </a:lnSpc>
            </a:pPr>
            <a:r>
              <a:rPr sz="2400" spc="-10" dirty="0">
                <a:latin typeface="Verdana"/>
                <a:cs typeface="Verdana"/>
              </a:rPr>
              <a:t>THUMB,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though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there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few</a:t>
            </a:r>
            <a:r>
              <a:rPr sz="2400" spc="-5" dirty="0">
                <a:latin typeface="Verdana"/>
                <a:cs typeface="Verdana"/>
              </a:rPr>
              <a:t> exceptions.</a:t>
            </a:r>
            <a:endParaRPr sz="2400" dirty="0">
              <a:latin typeface="Verdana"/>
              <a:cs typeface="Verdana"/>
            </a:endParaRPr>
          </a:p>
          <a:p>
            <a:pPr marL="469900" marR="8890" lvl="1" indent="-7620" algn="just">
              <a:lnSpc>
                <a:spcPts val="2590"/>
              </a:lnSpc>
              <a:spcBef>
                <a:spcPts val="1440"/>
              </a:spcBef>
              <a:buClr>
                <a:srgbClr val="F56617"/>
              </a:buClr>
              <a:buAutoNum type="arabicPeriod" startAt="2"/>
              <a:tabLst>
                <a:tab pos="767715" algn="l"/>
              </a:tabLst>
            </a:pPr>
            <a:r>
              <a:rPr sz="2400" spc="-5" dirty="0">
                <a:latin typeface="Verdana"/>
                <a:cs typeface="Verdana"/>
              </a:rPr>
              <a:t>There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5" dirty="0">
                <a:latin typeface="Verdana"/>
                <a:cs typeface="Verdana"/>
              </a:rPr>
              <a:t>barrel shifter </a:t>
            </a:r>
            <a:r>
              <a:rPr sz="2400" dirty="0">
                <a:latin typeface="Verdana"/>
                <a:cs typeface="Verdana"/>
              </a:rPr>
              <a:t>in the ALU, </a:t>
            </a:r>
            <a:r>
              <a:rPr sz="2400" spc="-5" dirty="0">
                <a:latin typeface="Verdana"/>
                <a:cs typeface="Verdana"/>
              </a:rPr>
              <a:t>as </a:t>
            </a:r>
            <a:r>
              <a:rPr sz="2400" dirty="0">
                <a:latin typeface="Verdana"/>
                <a:cs typeface="Verdana"/>
              </a:rPr>
              <a:t>shown </a:t>
            </a:r>
            <a:r>
              <a:rPr sz="2400" spc="-10" dirty="0">
                <a:latin typeface="Verdana"/>
                <a:cs typeface="Verdana"/>
              </a:rPr>
              <a:t>in </a:t>
            </a:r>
            <a:r>
              <a:rPr sz="2400" dirty="0">
                <a:latin typeface="Verdana"/>
                <a:cs typeface="Verdana"/>
              </a:rPr>
              <a:t>Fig. </a:t>
            </a:r>
            <a:r>
              <a:rPr sz="2400" spc="-5" dirty="0">
                <a:latin typeface="Verdana"/>
                <a:cs typeface="Verdana"/>
              </a:rPr>
              <a:t>5.1. This </a:t>
            </a:r>
            <a:r>
              <a:rPr sz="2400" dirty="0">
                <a:latin typeface="Verdana"/>
                <a:cs typeface="Verdana"/>
              </a:rPr>
              <a:t>means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 </a:t>
            </a:r>
            <a:r>
              <a:rPr sz="2400" dirty="0">
                <a:latin typeface="Verdana"/>
                <a:cs typeface="Verdana"/>
              </a:rPr>
              <a:t>one of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operands </a:t>
            </a:r>
            <a:r>
              <a:rPr sz="2400" spc="5" dirty="0">
                <a:latin typeface="Verdana"/>
                <a:cs typeface="Verdana"/>
              </a:rPr>
              <a:t>may </a:t>
            </a:r>
            <a:r>
              <a:rPr sz="2400" dirty="0">
                <a:latin typeface="Verdana"/>
                <a:cs typeface="Verdana"/>
              </a:rPr>
              <a:t>be shifted/rotated. </a:t>
            </a:r>
            <a:r>
              <a:rPr sz="2400" spc="-5" dirty="0">
                <a:latin typeface="Verdana"/>
                <a:cs typeface="Verdana"/>
              </a:rPr>
              <a:t>This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useful for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simplifying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some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types of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operations.</a:t>
            </a:r>
            <a:endParaRPr sz="2400" dirty="0">
              <a:latin typeface="Verdana"/>
              <a:cs typeface="Verdana"/>
            </a:endParaRPr>
          </a:p>
          <a:p>
            <a:pPr marL="469900" marR="12065" lvl="1" indent="-7620" algn="just">
              <a:lnSpc>
                <a:spcPts val="2590"/>
              </a:lnSpc>
              <a:spcBef>
                <a:spcPts val="1405"/>
              </a:spcBef>
              <a:buClr>
                <a:srgbClr val="F56617"/>
              </a:buClr>
              <a:buAutoNum type="arabicPeriod" startAt="2"/>
              <a:tabLst>
                <a:tab pos="767715" algn="l"/>
              </a:tabLst>
            </a:pP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use of </a:t>
            </a:r>
            <a:r>
              <a:rPr sz="2400" spc="-5" dirty="0">
                <a:latin typeface="Verdana"/>
                <a:cs typeface="Verdana"/>
              </a:rPr>
              <a:t>the barrel shifter </a:t>
            </a:r>
            <a:r>
              <a:rPr sz="2400" dirty="0">
                <a:latin typeface="Verdana"/>
                <a:cs typeface="Verdana"/>
              </a:rPr>
              <a:t>makes possible </a:t>
            </a:r>
            <a:r>
              <a:rPr sz="2400" spc="-5" dirty="0">
                <a:latin typeface="Verdana"/>
                <a:cs typeface="Verdana"/>
              </a:rPr>
              <a:t>the combination </a:t>
            </a:r>
            <a:r>
              <a:rPr sz="2400" dirty="0">
                <a:latin typeface="Verdana"/>
                <a:cs typeface="Verdana"/>
              </a:rPr>
              <a:t>of </a:t>
            </a:r>
            <a:r>
              <a:rPr sz="2400" spc="-5" dirty="0">
                <a:latin typeface="Verdana"/>
                <a:cs typeface="Verdana"/>
              </a:rPr>
              <a:t>shift </a:t>
            </a:r>
            <a:r>
              <a:rPr sz="2400" dirty="0">
                <a:latin typeface="Verdana"/>
                <a:cs typeface="Verdana"/>
              </a:rPr>
              <a:t> 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ALU </a:t>
            </a:r>
            <a:r>
              <a:rPr sz="2400" spc="-10" dirty="0">
                <a:latin typeface="Verdana"/>
                <a:cs typeface="Verdana"/>
              </a:rPr>
              <a:t>operations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single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instruction.</a:t>
            </a:r>
            <a:endParaRPr sz="2400" dirty="0">
              <a:latin typeface="Verdana"/>
              <a:cs typeface="Verdana"/>
            </a:endParaRPr>
          </a:p>
          <a:p>
            <a:pPr marL="767080" lvl="1" indent="-305435" algn="just">
              <a:lnSpc>
                <a:spcPct val="100000"/>
              </a:lnSpc>
              <a:spcBef>
                <a:spcPts val="1080"/>
              </a:spcBef>
              <a:buClr>
                <a:srgbClr val="F56617"/>
              </a:buClr>
              <a:buAutoNum type="arabicPeriod" startAt="2"/>
              <a:tabLst>
                <a:tab pos="767715" algn="l"/>
              </a:tabLst>
            </a:pPr>
            <a:r>
              <a:rPr sz="2400" dirty="0">
                <a:latin typeface="Verdana"/>
                <a:cs typeface="Verdana"/>
              </a:rPr>
              <a:t>All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operands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data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processing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instructions</a:t>
            </a:r>
            <a:r>
              <a:rPr sz="2400" spc="1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registers.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82300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5942" y="1620565"/>
            <a:ext cx="10039095" cy="4669996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469900" indent="-457200" algn="just">
              <a:lnSpc>
                <a:spcPct val="100000"/>
              </a:lnSpc>
              <a:spcBef>
                <a:spcPts val="1200"/>
              </a:spcBef>
              <a:buClr>
                <a:srgbClr val="F56617"/>
              </a:buClr>
              <a:buAutoNum type="arabicPeriod" startAt="5"/>
              <a:tabLst>
                <a:tab pos="469900" algn="l"/>
              </a:tabLst>
            </a:pPr>
            <a:r>
              <a:rPr sz="2400" spc="-5" dirty="0">
                <a:latin typeface="Verdana"/>
                <a:cs typeface="Verdana"/>
              </a:rPr>
              <a:t>Only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load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-5" dirty="0">
                <a:latin typeface="Verdana"/>
                <a:cs typeface="Verdana"/>
              </a:rPr>
              <a:t>store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instructions</a:t>
            </a:r>
            <a:r>
              <a:rPr sz="2400" spc="1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access </a:t>
            </a:r>
            <a:r>
              <a:rPr sz="2400" spc="-35" dirty="0">
                <a:latin typeface="Verdana"/>
                <a:cs typeface="Verdana"/>
              </a:rPr>
              <a:t>memory.</a:t>
            </a:r>
            <a:endParaRPr sz="2400" dirty="0">
              <a:latin typeface="Verdana"/>
              <a:cs typeface="Verdana"/>
            </a:endParaRPr>
          </a:p>
          <a:p>
            <a:pPr marL="21590" marR="5080" indent="-7620" algn="just">
              <a:lnSpc>
                <a:spcPct val="90100"/>
              </a:lnSpc>
              <a:spcBef>
                <a:spcPts val="1390"/>
              </a:spcBef>
              <a:buClr>
                <a:srgbClr val="F56617"/>
              </a:buClr>
              <a:buAutoNum type="arabicPeriod" startAt="5"/>
              <a:tabLst>
                <a:tab pos="319405" algn="l"/>
              </a:tabLst>
            </a:pPr>
            <a:r>
              <a:rPr sz="2400" dirty="0">
                <a:latin typeface="Verdana"/>
                <a:cs typeface="Verdana"/>
              </a:rPr>
              <a:t>Most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other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processors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condition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checking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only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branch 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instructions. </a:t>
            </a:r>
            <a:r>
              <a:rPr sz="2400" spc="-10" dirty="0">
                <a:latin typeface="Verdana"/>
                <a:cs typeface="Verdana"/>
              </a:rPr>
              <a:t>In </a:t>
            </a:r>
            <a:r>
              <a:rPr sz="2400" spc="-5" dirty="0">
                <a:latin typeface="Verdana"/>
                <a:cs typeface="Verdana"/>
              </a:rPr>
              <a:t>contrast, </a:t>
            </a:r>
            <a:r>
              <a:rPr sz="2400" dirty="0">
                <a:latin typeface="Verdana"/>
                <a:cs typeface="Verdana"/>
              </a:rPr>
              <a:t>here we find </a:t>
            </a:r>
            <a:r>
              <a:rPr sz="2400" spc="-5" dirty="0">
                <a:latin typeface="Verdana"/>
                <a:cs typeface="Verdana"/>
              </a:rPr>
              <a:t>that many </a:t>
            </a:r>
            <a:r>
              <a:rPr sz="2400" dirty="0">
                <a:latin typeface="Verdana"/>
                <a:cs typeface="Verdana"/>
              </a:rPr>
              <a:t>other </a:t>
            </a:r>
            <a:r>
              <a:rPr sz="2400" spc="-5" dirty="0">
                <a:latin typeface="Verdana"/>
                <a:cs typeface="Verdana"/>
              </a:rPr>
              <a:t>instructions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have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conditions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appended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it</a:t>
            </a:r>
            <a:endParaRPr sz="2400" dirty="0">
              <a:latin typeface="Verdana"/>
              <a:cs typeface="Verdana"/>
            </a:endParaRPr>
          </a:p>
          <a:p>
            <a:pPr marL="13970" marR="666750" algn="just">
              <a:lnSpc>
                <a:spcPts val="4000"/>
              </a:lnSpc>
              <a:spcBef>
                <a:spcPts val="315"/>
              </a:spcBef>
              <a:buClr>
                <a:srgbClr val="F56617"/>
              </a:buClr>
              <a:buAutoNum type="arabicPeriod" startAt="5"/>
              <a:tabLst>
                <a:tab pos="319405" algn="l"/>
              </a:tabLst>
            </a:pPr>
            <a:r>
              <a:rPr sz="2400" spc="-5" dirty="0">
                <a:latin typeface="Verdana"/>
                <a:cs typeface="Verdana"/>
              </a:rPr>
              <a:t>There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5" dirty="0">
                <a:latin typeface="Verdana"/>
                <a:cs typeface="Verdana"/>
              </a:rPr>
              <a:t>special </a:t>
            </a:r>
            <a:r>
              <a:rPr sz="2400" spc="-10" dirty="0">
                <a:latin typeface="Verdana"/>
                <a:cs typeface="Verdana"/>
              </a:rPr>
              <a:t>technique </a:t>
            </a:r>
            <a:r>
              <a:rPr sz="2400" spc="-5" dirty="0">
                <a:latin typeface="Verdana"/>
                <a:cs typeface="Verdana"/>
              </a:rPr>
              <a:t>for handling </a:t>
            </a:r>
            <a:r>
              <a:rPr sz="2400" spc="-10" dirty="0">
                <a:latin typeface="Verdana"/>
                <a:cs typeface="Verdana"/>
              </a:rPr>
              <a:t>immediate </a:t>
            </a:r>
            <a:r>
              <a:rPr sz="2400" spc="-5" dirty="0">
                <a:latin typeface="Verdana"/>
                <a:cs typeface="Verdana"/>
              </a:rPr>
              <a:t>instructions. </a:t>
            </a:r>
            <a:endParaRPr lang="en-US" sz="2400" spc="-5" dirty="0" smtClean="0">
              <a:latin typeface="Verdana"/>
              <a:cs typeface="Verdana"/>
            </a:endParaRPr>
          </a:p>
          <a:p>
            <a:pPr marL="13970" marR="666750" algn="just">
              <a:lnSpc>
                <a:spcPts val="4000"/>
              </a:lnSpc>
              <a:spcBef>
                <a:spcPts val="315"/>
              </a:spcBef>
              <a:buClr>
                <a:srgbClr val="F56617"/>
              </a:buClr>
              <a:buAutoNum type="arabicPeriod" startAt="5"/>
              <a:tabLst>
                <a:tab pos="319405" algn="l"/>
              </a:tabLst>
            </a:pPr>
            <a:r>
              <a:rPr sz="2400" spc="-5" dirty="0" smtClean="0">
                <a:latin typeface="Verdana"/>
                <a:cs typeface="Verdana"/>
              </a:rPr>
              <a:t>There</a:t>
            </a:r>
            <a:r>
              <a:rPr sz="2400" spc="5" dirty="0" smtClean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instructions</a:t>
            </a:r>
            <a:r>
              <a:rPr sz="2400" spc="10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load/store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data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multiple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registers.</a:t>
            </a:r>
            <a:endParaRPr sz="2400" dirty="0">
              <a:latin typeface="Verdana"/>
              <a:cs typeface="Verdana"/>
            </a:endParaRPr>
          </a:p>
          <a:p>
            <a:pPr marL="13970" algn="just">
              <a:lnSpc>
                <a:spcPct val="100000"/>
              </a:lnSpc>
              <a:spcBef>
                <a:spcPts val="780"/>
              </a:spcBef>
            </a:pPr>
            <a:r>
              <a:rPr sz="2400" spc="-5" dirty="0">
                <a:latin typeface="Verdana"/>
                <a:cs typeface="Verdana"/>
              </a:rPr>
              <a:t>9.Arithmetic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logical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instructions</a:t>
            </a:r>
            <a:r>
              <a:rPr sz="2400" spc="12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have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three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operand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format.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66848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1811" y="486232"/>
            <a:ext cx="10257046" cy="702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65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orbel"/>
                <a:cs typeface="Corbel"/>
              </a:rPr>
              <a:t>SOME</a:t>
            </a:r>
            <a:r>
              <a:rPr sz="2400" b="1" dirty="0">
                <a:solidFill>
                  <a:srgbClr val="FF0000"/>
                </a:solidFill>
                <a:latin typeface="Corbel"/>
                <a:cs typeface="Corbel"/>
              </a:rPr>
              <a:t> POINTS</a:t>
            </a:r>
            <a:r>
              <a:rPr sz="2400" b="1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orbel"/>
                <a:cs typeface="Corbel"/>
              </a:rPr>
              <a:t>TO</a:t>
            </a:r>
            <a:r>
              <a:rPr sz="2400" b="1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orbel"/>
                <a:cs typeface="Corbel"/>
              </a:rPr>
              <a:t>NOTE</a:t>
            </a:r>
            <a:r>
              <a:rPr sz="2400" b="1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orbel"/>
                <a:cs typeface="Corbel"/>
              </a:rPr>
              <a:t>BEFORE</a:t>
            </a:r>
            <a:r>
              <a:rPr sz="2400" b="1" spc="-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orbel"/>
                <a:cs typeface="Corbel"/>
              </a:rPr>
              <a:t>WE</a:t>
            </a:r>
            <a:r>
              <a:rPr sz="2400" b="1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orbel"/>
                <a:cs typeface="Corbel"/>
              </a:rPr>
              <a:t>START</a:t>
            </a:r>
            <a:endParaRPr sz="2400" dirty="0">
              <a:latin typeface="Corbel"/>
              <a:cs typeface="Corbel"/>
            </a:endParaRPr>
          </a:p>
          <a:p>
            <a:pPr marL="12700">
              <a:lnSpc>
                <a:spcPts val="2665"/>
              </a:lnSpc>
            </a:pPr>
            <a:r>
              <a:rPr sz="2400" b="1" spc="-45" dirty="0">
                <a:solidFill>
                  <a:srgbClr val="FF0000"/>
                </a:solidFill>
                <a:latin typeface="Corbel"/>
                <a:cs typeface="Corbel"/>
              </a:rPr>
              <a:t>ASSEMBLY</a:t>
            </a:r>
            <a:r>
              <a:rPr sz="2400" b="1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orbel"/>
                <a:cs typeface="Corbel"/>
              </a:rPr>
              <a:t>PROGRAMMING</a:t>
            </a:r>
            <a:endParaRPr sz="24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1811" y="1847214"/>
            <a:ext cx="10126418" cy="2794996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215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dirty="0">
                <a:latin typeface="Verdana"/>
                <a:cs typeface="Verdana"/>
              </a:rPr>
              <a:t>The processor can opt to use the big endian or little endian format</a:t>
            </a:r>
          </a:p>
          <a:p>
            <a:pPr marL="195580" indent="-182880">
              <a:lnSpc>
                <a:spcPct val="100000"/>
              </a:lnSpc>
              <a:spcBef>
                <a:spcPts val="1115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dirty="0">
                <a:latin typeface="Verdana"/>
                <a:cs typeface="Verdana"/>
              </a:rPr>
              <a:t>In our discussion here, we choose the little endian format.</a:t>
            </a:r>
          </a:p>
          <a:p>
            <a:pPr marL="195580" indent="-182880">
              <a:lnSpc>
                <a:spcPct val="100000"/>
              </a:lnSpc>
              <a:spcBef>
                <a:spcPts val="1115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dirty="0">
                <a:latin typeface="Verdana"/>
                <a:cs typeface="Verdana"/>
              </a:rPr>
              <a:t>8-bit (byte), 16-bit(half word) and 32-bit(word) data sizes are possible.</a:t>
            </a:r>
          </a:p>
          <a:p>
            <a:pPr marL="195580" indent="-182880">
              <a:lnSpc>
                <a:spcPct val="100000"/>
              </a:lnSpc>
              <a:spcBef>
                <a:spcPts val="1105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dirty="0">
                <a:latin typeface="Verdana"/>
                <a:cs typeface="Verdana"/>
              </a:rPr>
              <a:t>Data alignment is necessary for efficiency.</a:t>
            </a:r>
          </a:p>
        </p:txBody>
      </p:sp>
    </p:spTree>
    <p:extLst>
      <p:ext uri="{BB962C8B-B14F-4D97-AF65-F5344CB8AC3E}">
        <p14:creationId xmlns:p14="http://schemas.microsoft.com/office/powerpoint/2010/main" val="29522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268" y="605104"/>
            <a:ext cx="84524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Corbel"/>
                <a:cs typeface="Corbel"/>
              </a:rPr>
              <a:t>5.1.2</a:t>
            </a:r>
            <a:r>
              <a:rPr sz="4000" spc="-150" dirty="0">
                <a:latin typeface="Corbel"/>
                <a:cs typeface="Corbel"/>
              </a:rPr>
              <a:t> </a:t>
            </a:r>
            <a:r>
              <a:rPr sz="4000" spc="-75" dirty="0">
                <a:latin typeface="Corbel"/>
                <a:cs typeface="Corbel"/>
              </a:rPr>
              <a:t>ASSEMBLY</a:t>
            </a:r>
            <a:r>
              <a:rPr sz="4000" spc="20" dirty="0">
                <a:latin typeface="Corbel"/>
                <a:cs typeface="Corbel"/>
              </a:rPr>
              <a:t> </a:t>
            </a:r>
            <a:r>
              <a:rPr sz="4000" spc="-10" dirty="0">
                <a:latin typeface="Corbel"/>
                <a:cs typeface="Corbel"/>
              </a:rPr>
              <a:t>LANGUAGE</a:t>
            </a:r>
            <a:r>
              <a:rPr sz="4000" spc="5" dirty="0">
                <a:latin typeface="Corbel"/>
                <a:cs typeface="Corbel"/>
              </a:rPr>
              <a:t> </a:t>
            </a:r>
            <a:r>
              <a:rPr sz="4000" spc="-40" dirty="0">
                <a:latin typeface="Corbel"/>
                <a:cs typeface="Corbel"/>
              </a:rPr>
              <a:t>FORMAT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814" y="2019426"/>
            <a:ext cx="65481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3860" indent="-391795">
              <a:lnSpc>
                <a:spcPct val="100000"/>
              </a:lnSpc>
              <a:spcBef>
                <a:spcPts val="95"/>
              </a:spcBef>
              <a:buClr>
                <a:srgbClr val="F56617"/>
              </a:buClr>
              <a:buSzPct val="109090"/>
              <a:buFont typeface="Wingdings"/>
              <a:buChar char=""/>
              <a:tabLst>
                <a:tab pos="404495" algn="l"/>
              </a:tabLst>
            </a:pPr>
            <a:r>
              <a:rPr sz="2200" spc="-5" dirty="0">
                <a:latin typeface="Corbel"/>
                <a:cs typeface="Corbel"/>
              </a:rPr>
              <a:t>A</a:t>
            </a:r>
            <a:r>
              <a:rPr sz="2200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line</a:t>
            </a:r>
            <a:r>
              <a:rPr sz="2200" spc="30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in</a:t>
            </a:r>
            <a:r>
              <a:rPr sz="2200" spc="10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assembly</a:t>
            </a:r>
            <a:r>
              <a:rPr sz="2200" spc="5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language </a:t>
            </a:r>
            <a:r>
              <a:rPr sz="2200" spc="-10" dirty="0">
                <a:latin typeface="Corbel"/>
                <a:cs typeface="Corbel"/>
              </a:rPr>
              <a:t>has</a:t>
            </a:r>
            <a:r>
              <a:rPr sz="2200" spc="5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the</a:t>
            </a:r>
            <a:r>
              <a:rPr sz="2200" spc="20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following</a:t>
            </a:r>
            <a:r>
              <a:rPr sz="2200" spc="25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format.</a:t>
            </a:r>
            <a:endParaRPr sz="2200" dirty="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5780" y="2878709"/>
            <a:ext cx="833119" cy="9750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 marR="5080" indent="-108585">
              <a:lnSpc>
                <a:spcPct val="1388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bel  </a:t>
            </a:r>
            <a:r>
              <a:rPr sz="2400" spc="-10" dirty="0">
                <a:latin typeface="Verdana"/>
                <a:cs typeface="Verdana"/>
              </a:rPr>
              <a:t>SAM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8113" y="2878709"/>
            <a:ext cx="1171575" cy="9750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755" marR="5080" indent="-186690">
              <a:lnSpc>
                <a:spcPct val="1388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Opco</a:t>
            </a:r>
            <a:r>
              <a:rPr sz="2400" spc="5" dirty="0">
                <a:latin typeface="Verdana"/>
                <a:cs typeface="Verdana"/>
              </a:rPr>
              <a:t>d</a:t>
            </a:r>
            <a:r>
              <a:rPr sz="2400" dirty="0">
                <a:latin typeface="Verdana"/>
                <a:cs typeface="Verdana"/>
              </a:rPr>
              <a:t>e  Add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58590" y="2878709"/>
            <a:ext cx="1750695" cy="9750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3525">
              <a:lnSpc>
                <a:spcPct val="1388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Ope</a:t>
            </a:r>
            <a:r>
              <a:rPr sz="2400" spc="-4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an</a:t>
            </a:r>
            <a:r>
              <a:rPr sz="2400" spc="5" dirty="0">
                <a:latin typeface="Verdana"/>
                <a:cs typeface="Verdana"/>
              </a:rPr>
              <a:t>d</a:t>
            </a:r>
            <a:r>
              <a:rPr sz="2400" dirty="0">
                <a:latin typeface="Verdana"/>
                <a:cs typeface="Verdana"/>
              </a:rPr>
              <a:t>s  </a:t>
            </a:r>
            <a:r>
              <a:rPr sz="2400" spc="-5" dirty="0">
                <a:latin typeface="Verdana"/>
                <a:cs typeface="Verdana"/>
              </a:rPr>
              <a:t>R7,R6,R5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6452" y="2878709"/>
            <a:ext cx="5270500" cy="104140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215"/>
              </a:spcBef>
            </a:pPr>
            <a:r>
              <a:rPr sz="2400" spc="-5" dirty="0">
                <a:latin typeface="Verdana"/>
                <a:cs typeface="Verdana"/>
              </a:rPr>
              <a:t>;comments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400" dirty="0">
                <a:latin typeface="Verdana"/>
                <a:cs typeface="Verdana"/>
              </a:rPr>
              <a:t>;add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R6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R5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&amp;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copy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sum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R7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5780" y="4267580"/>
            <a:ext cx="10413264" cy="14029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spcBef>
                <a:spcPts val="100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dirty="0" smtClean="0">
                <a:latin typeface="Verdana"/>
                <a:cs typeface="Verdana"/>
              </a:rPr>
              <a:t>SAM </a:t>
            </a:r>
            <a:r>
              <a:rPr sz="2400" dirty="0">
                <a:latin typeface="Verdana"/>
                <a:cs typeface="Verdana"/>
              </a:rPr>
              <a:t>is the label, ADD is the opcode, and R7, R6, R5 are the operands.</a:t>
            </a:r>
          </a:p>
          <a:p>
            <a:pPr marL="195580" indent="-182880">
              <a:spcBef>
                <a:spcPts val="2160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dirty="0">
                <a:latin typeface="Verdana"/>
                <a:cs typeface="Verdana"/>
              </a:rPr>
              <a:t>What is written after the semicolon is a comment. </a:t>
            </a:r>
          </a:p>
        </p:txBody>
      </p:sp>
    </p:spTree>
    <p:extLst>
      <p:ext uri="{BB962C8B-B14F-4D97-AF65-F5344CB8AC3E}">
        <p14:creationId xmlns:p14="http://schemas.microsoft.com/office/powerpoint/2010/main" val="274466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268" y="864184"/>
            <a:ext cx="64909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2169" algn="l"/>
              </a:tabLst>
            </a:pP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5.2	ARM7</a:t>
            </a:r>
            <a:r>
              <a:rPr sz="4000" spc="-5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dirty="0">
                <a:solidFill>
                  <a:srgbClr val="FF0000"/>
                </a:solidFill>
                <a:latin typeface="Corbel"/>
                <a:cs typeface="Corbel"/>
              </a:rPr>
              <a:t>INSTRUCTION</a:t>
            </a:r>
            <a:r>
              <a:rPr sz="4000" spc="-1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SET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5371" y="1993519"/>
            <a:ext cx="11007137" cy="2911053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94945" marR="5080" indent="-182880">
              <a:lnSpc>
                <a:spcPts val="2700"/>
              </a:lnSpc>
              <a:spcBef>
                <a:spcPts val="340"/>
              </a:spcBef>
              <a:buClr>
                <a:srgbClr val="FFFFFF"/>
              </a:buClr>
              <a:buFont typeface="Wingdings"/>
              <a:buChar char=""/>
              <a:tabLst>
                <a:tab pos="315595" algn="l"/>
                <a:tab pos="316230" algn="l"/>
              </a:tabLst>
            </a:pPr>
            <a:r>
              <a:rPr dirty="0"/>
              <a:t>	</a:t>
            </a:r>
            <a:r>
              <a:rPr sz="2400" spc="-5" dirty="0" smtClean="0">
                <a:latin typeface="Verdana"/>
                <a:cs typeface="Verdana"/>
              </a:rPr>
              <a:t>The</a:t>
            </a:r>
            <a:r>
              <a:rPr sz="2400" dirty="0" smtClean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instructions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can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classified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into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following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different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types:</a:t>
            </a:r>
            <a:endParaRPr sz="2400" dirty="0">
              <a:latin typeface="Verdana"/>
              <a:cs typeface="Verdana"/>
            </a:endParaRPr>
          </a:p>
          <a:p>
            <a:pPr marL="1789430" lvl="1" indent="-515620">
              <a:lnSpc>
                <a:spcPct val="100000"/>
              </a:lnSpc>
              <a:spcBef>
                <a:spcPts val="985"/>
              </a:spcBef>
              <a:buClr>
                <a:srgbClr val="8F094D"/>
              </a:buClr>
              <a:buAutoNum type="romanUcPeriod"/>
              <a:tabLst>
                <a:tab pos="1789430" algn="l"/>
                <a:tab pos="1790064" algn="l"/>
              </a:tabLst>
            </a:pPr>
            <a:r>
              <a:rPr sz="2400" spc="-5" dirty="0">
                <a:latin typeface="Corbel"/>
                <a:cs typeface="Corbel"/>
              </a:rPr>
              <a:t>Data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processing </a:t>
            </a:r>
            <a:r>
              <a:rPr sz="2400" spc="-10" dirty="0">
                <a:latin typeface="Corbel"/>
                <a:cs typeface="Corbel"/>
              </a:rPr>
              <a:t>instructions</a:t>
            </a:r>
            <a:endParaRPr sz="2400" dirty="0">
              <a:latin typeface="Corbel"/>
              <a:cs typeface="Corbel"/>
            </a:endParaRPr>
          </a:p>
          <a:p>
            <a:pPr marL="1789430" lvl="1" indent="-515620">
              <a:lnSpc>
                <a:spcPct val="100000"/>
              </a:lnSpc>
              <a:spcBef>
                <a:spcPts val="1105"/>
              </a:spcBef>
              <a:buClr>
                <a:srgbClr val="8F094D"/>
              </a:buClr>
              <a:buAutoNum type="romanUcPeriod"/>
              <a:tabLst>
                <a:tab pos="1789430" algn="l"/>
                <a:tab pos="1790064" algn="l"/>
              </a:tabLst>
            </a:pPr>
            <a:r>
              <a:rPr sz="2400" dirty="0">
                <a:latin typeface="Corbel"/>
                <a:cs typeface="Corbel"/>
              </a:rPr>
              <a:t>Load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store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instructions</a:t>
            </a:r>
            <a:r>
              <a:rPr sz="2400" spc="-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—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single</a:t>
            </a:r>
            <a:r>
              <a:rPr sz="2400" spc="30" dirty="0">
                <a:latin typeface="Corbel"/>
                <a:cs typeface="Corbel"/>
              </a:rPr>
              <a:t> </a:t>
            </a:r>
            <a:r>
              <a:rPr sz="2400" spc="-15" dirty="0">
                <a:latin typeface="Corbel"/>
                <a:cs typeface="Corbel"/>
              </a:rPr>
              <a:t>register,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multiple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register</a:t>
            </a:r>
          </a:p>
          <a:p>
            <a:pPr marL="1789430" lvl="1" indent="-515620">
              <a:lnSpc>
                <a:spcPct val="100000"/>
              </a:lnSpc>
              <a:spcBef>
                <a:spcPts val="1120"/>
              </a:spcBef>
              <a:buClr>
                <a:srgbClr val="8F094D"/>
              </a:buClr>
              <a:buAutoNum type="romanUcPeriod"/>
              <a:tabLst>
                <a:tab pos="1789430" algn="l"/>
                <a:tab pos="1790064" algn="l"/>
              </a:tabLst>
            </a:pPr>
            <a:r>
              <a:rPr sz="2400" spc="-5" dirty="0">
                <a:latin typeface="Corbel"/>
                <a:cs typeface="Corbel"/>
              </a:rPr>
              <a:t>Branch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instructions</a:t>
            </a:r>
            <a:endParaRPr sz="2400" dirty="0">
              <a:latin typeface="Corbel"/>
              <a:cs typeface="Corbel"/>
            </a:endParaRPr>
          </a:p>
          <a:p>
            <a:pPr marL="1789430" lvl="1" indent="-515620">
              <a:lnSpc>
                <a:spcPct val="100000"/>
              </a:lnSpc>
              <a:spcBef>
                <a:spcPts val="1115"/>
              </a:spcBef>
              <a:buClr>
                <a:srgbClr val="8F094D"/>
              </a:buClr>
              <a:buAutoNum type="romanUcPeriod"/>
              <a:tabLst>
                <a:tab pos="1789430" algn="l"/>
                <a:tab pos="1790064" algn="l"/>
              </a:tabLst>
            </a:pPr>
            <a:r>
              <a:rPr sz="2400" spc="-5" dirty="0">
                <a:latin typeface="Corbel"/>
                <a:cs typeface="Corbel"/>
              </a:rPr>
              <a:t>Status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register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access instructions</a:t>
            </a:r>
            <a:endParaRPr sz="2400" dirty="0">
              <a:latin typeface="Corbel"/>
              <a:cs typeface="Corbel"/>
            </a:endParaRPr>
          </a:p>
          <a:p>
            <a:pPr marL="303530" indent="-291465">
              <a:lnSpc>
                <a:spcPct val="100000"/>
              </a:lnSpc>
              <a:spcBef>
                <a:spcPts val="1150"/>
              </a:spcBef>
              <a:buClr>
                <a:srgbClr val="F56617"/>
              </a:buClr>
              <a:buFont typeface="Wingdings"/>
              <a:buChar char=""/>
              <a:tabLst>
                <a:tab pos="304165" algn="l"/>
              </a:tabLst>
            </a:pPr>
            <a:r>
              <a:rPr sz="2200" spc="-25" dirty="0">
                <a:latin typeface="Corbel"/>
                <a:cs typeface="Corbel"/>
              </a:rPr>
              <a:t>We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will</a:t>
            </a:r>
            <a:r>
              <a:rPr sz="2200" spc="15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discuss</a:t>
            </a:r>
            <a:r>
              <a:rPr sz="2200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only</a:t>
            </a:r>
            <a:r>
              <a:rPr sz="2200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the</a:t>
            </a:r>
            <a:r>
              <a:rPr sz="2200" spc="5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first</a:t>
            </a:r>
            <a:r>
              <a:rPr sz="2200" spc="15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three</a:t>
            </a:r>
            <a:r>
              <a:rPr sz="2200" spc="10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types.</a:t>
            </a:r>
            <a:endParaRPr sz="2200" dirty="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39597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1025398"/>
            <a:ext cx="92481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</a:t>
            </a:r>
            <a:r>
              <a:rPr sz="4000" spc="3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DATA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PROCESSING</a:t>
            </a:r>
            <a:r>
              <a:rPr sz="4000" spc="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INSTRUCTIONS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9668" y="1867026"/>
            <a:ext cx="11236960" cy="456184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363220" indent="-350520">
              <a:lnSpc>
                <a:spcPct val="100000"/>
              </a:lnSpc>
              <a:spcBef>
                <a:spcPts val="1205"/>
              </a:spcBef>
              <a:buClr>
                <a:srgbClr val="2C2C2C"/>
              </a:buClr>
              <a:buFont typeface="Wingdings"/>
              <a:buChar char=""/>
              <a:tabLst>
                <a:tab pos="363220" algn="l"/>
              </a:tabLst>
            </a:pP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set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includes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move,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arithmetic,</a:t>
            </a:r>
            <a:r>
              <a:rPr sz="2400" spc="8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logical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compare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instructions.</a:t>
            </a:r>
            <a:endParaRPr sz="2400" dirty="0">
              <a:latin typeface="Verdana"/>
              <a:cs typeface="Verdana"/>
            </a:endParaRPr>
          </a:p>
          <a:p>
            <a:pPr marL="194945" marR="7620" indent="-182880">
              <a:lnSpc>
                <a:spcPts val="2590"/>
              </a:lnSpc>
              <a:spcBef>
                <a:spcPts val="1430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dirty="0">
                <a:latin typeface="Verdana"/>
                <a:cs typeface="Verdana"/>
              </a:rPr>
              <a:t>Lets</a:t>
            </a:r>
            <a:r>
              <a:rPr sz="2400" spc="3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start</a:t>
            </a:r>
            <a:r>
              <a:rPr sz="2400" spc="3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3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3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concept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3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3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barrel</a:t>
            </a:r>
            <a:r>
              <a:rPr sz="2400" spc="3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shifter</a:t>
            </a:r>
            <a:r>
              <a:rPr sz="2400" spc="35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which</a:t>
            </a:r>
            <a:r>
              <a:rPr sz="2400" spc="39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3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part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35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ALU.</a:t>
            </a:r>
            <a:endParaRPr sz="2400" dirty="0">
              <a:latin typeface="Verdana"/>
              <a:cs typeface="Verdana"/>
            </a:endParaRPr>
          </a:p>
          <a:p>
            <a:pPr marL="291465" indent="-279400">
              <a:lnSpc>
                <a:spcPts val="2775"/>
              </a:lnSpc>
              <a:spcBef>
                <a:spcPts val="1010"/>
              </a:spcBef>
              <a:buClr>
                <a:srgbClr val="2C2C2C"/>
              </a:buClr>
              <a:buSzPct val="91666"/>
              <a:buFont typeface="Wingdings"/>
              <a:buChar char=""/>
              <a:tabLst>
                <a:tab pos="292100" algn="l"/>
              </a:tabLst>
            </a:pPr>
            <a:r>
              <a:rPr sz="2400" dirty="0">
                <a:latin typeface="Verdana"/>
                <a:cs typeface="Verdana"/>
              </a:rPr>
              <a:t>A</a:t>
            </a:r>
            <a:r>
              <a:rPr sz="2400" spc="3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barrel</a:t>
            </a:r>
            <a:r>
              <a:rPr sz="2400" spc="3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shifter</a:t>
            </a:r>
            <a:r>
              <a:rPr sz="2400" spc="3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3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3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unit</a:t>
            </a:r>
            <a:r>
              <a:rPr sz="2400" spc="3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which</a:t>
            </a:r>
            <a:r>
              <a:rPr sz="2400" spc="3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can</a:t>
            </a:r>
            <a:r>
              <a:rPr sz="2400" spc="3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shift</a:t>
            </a:r>
            <a:r>
              <a:rPr sz="2400" spc="3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3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rotate</a:t>
            </a:r>
            <a:r>
              <a:rPr sz="2400" spc="3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operands</a:t>
            </a:r>
            <a:r>
              <a:rPr sz="2400" spc="3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3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any</a:t>
            </a:r>
            <a:endParaRPr sz="2400" dirty="0">
              <a:latin typeface="Verdana"/>
              <a:cs typeface="Verdana"/>
            </a:endParaRPr>
          </a:p>
          <a:p>
            <a:pPr marL="194945">
              <a:lnSpc>
                <a:spcPts val="2775"/>
              </a:lnSpc>
            </a:pPr>
            <a:r>
              <a:rPr sz="2400" dirty="0">
                <a:latin typeface="Verdana"/>
                <a:cs typeface="Verdana"/>
              </a:rPr>
              <a:t>amount.</a:t>
            </a:r>
          </a:p>
          <a:p>
            <a:pPr marL="255270" indent="-243204">
              <a:lnSpc>
                <a:spcPct val="100000"/>
              </a:lnSpc>
              <a:spcBef>
                <a:spcPts val="1115"/>
              </a:spcBef>
              <a:buClr>
                <a:srgbClr val="2C2C2C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dirty="0">
                <a:latin typeface="Verdana"/>
                <a:cs typeface="Verdana"/>
              </a:rPr>
              <a:t>Figure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shows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when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there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two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source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operands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ALU,</a:t>
            </a:r>
            <a:endParaRPr sz="2400" dirty="0">
              <a:latin typeface="Verdana"/>
              <a:cs typeface="Verdana"/>
            </a:endParaRPr>
          </a:p>
          <a:p>
            <a:pPr marL="363220" indent="-350520">
              <a:lnSpc>
                <a:spcPct val="100000"/>
              </a:lnSpc>
              <a:spcBef>
                <a:spcPts val="1105"/>
              </a:spcBef>
              <a:buClr>
                <a:srgbClr val="2C2C2C"/>
              </a:buClr>
              <a:buFont typeface="Wingdings"/>
              <a:buChar char=""/>
              <a:tabLst>
                <a:tab pos="363220" algn="l"/>
              </a:tabLst>
            </a:pPr>
            <a:r>
              <a:rPr sz="2400" dirty="0">
                <a:latin typeface="Verdana"/>
                <a:cs typeface="Verdana"/>
              </a:rPr>
              <a:t>one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them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may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 </a:t>
            </a:r>
            <a:r>
              <a:rPr sz="2400" spc="-5" dirty="0">
                <a:latin typeface="Verdana"/>
                <a:cs typeface="Verdana"/>
              </a:rPr>
              <a:t>shifted/rotated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any</a:t>
            </a:r>
            <a:r>
              <a:rPr sz="2400" dirty="0">
                <a:latin typeface="Verdana"/>
                <a:cs typeface="Verdana"/>
              </a:rPr>
              <a:t> number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times</a:t>
            </a:r>
            <a:endParaRPr sz="2400" dirty="0">
              <a:latin typeface="Verdana"/>
              <a:cs typeface="Verdana"/>
            </a:endParaRPr>
          </a:p>
          <a:p>
            <a:pPr marL="255270" indent="-243204">
              <a:lnSpc>
                <a:spcPct val="100000"/>
              </a:lnSpc>
              <a:spcBef>
                <a:spcPts val="1115"/>
              </a:spcBef>
              <a:buClr>
                <a:srgbClr val="2C2C2C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Verdana"/>
                <a:cs typeface="Verdana"/>
              </a:rPr>
              <a:t>Note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maximum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size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any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register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32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bits</a:t>
            </a:r>
            <a:endParaRPr sz="2400" dirty="0">
              <a:latin typeface="Verdana"/>
              <a:cs typeface="Verdana"/>
            </a:endParaRPr>
          </a:p>
          <a:p>
            <a:pPr marL="194945" marR="8255" indent="-182880">
              <a:lnSpc>
                <a:spcPts val="2590"/>
              </a:lnSpc>
              <a:spcBef>
                <a:spcPts val="1445"/>
              </a:spcBef>
              <a:buClr>
                <a:srgbClr val="2C2C2C"/>
              </a:buClr>
              <a:buSzPct val="95833"/>
              <a:buFont typeface="Wingdings"/>
              <a:buChar char=""/>
              <a:tabLst>
                <a:tab pos="255904" algn="l"/>
                <a:tab pos="814069" algn="l"/>
                <a:tab pos="1524635" algn="l"/>
                <a:tab pos="2638425" algn="l"/>
                <a:tab pos="3833495" algn="l"/>
                <a:tab pos="5655310" algn="l"/>
                <a:tab pos="6365240" algn="l"/>
                <a:tab pos="7081520" algn="l"/>
                <a:tab pos="8415655" algn="l"/>
                <a:tab pos="9055735" algn="l"/>
              </a:tabLst>
            </a:pPr>
            <a:r>
              <a:rPr sz="2400" spc="-5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o	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he	</a:t>
            </a:r>
            <a:r>
              <a:rPr sz="2400" spc="10" dirty="0">
                <a:latin typeface="Verdana"/>
                <a:cs typeface="Verdana"/>
              </a:rPr>
              <a:t>b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rel	</a:t>
            </a:r>
            <a:r>
              <a:rPr sz="2400" spc="5" dirty="0">
                <a:latin typeface="Verdana"/>
                <a:cs typeface="Verdana"/>
              </a:rPr>
              <a:t>s</a:t>
            </a:r>
            <a:r>
              <a:rPr sz="2400" spc="10" dirty="0">
                <a:latin typeface="Verdana"/>
                <a:cs typeface="Verdana"/>
              </a:rPr>
              <a:t>h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spc="5" dirty="0">
                <a:latin typeface="Verdana"/>
                <a:cs typeface="Verdana"/>
              </a:rPr>
              <a:t>f</a:t>
            </a:r>
            <a:r>
              <a:rPr sz="2400" spc="-5" dirty="0">
                <a:latin typeface="Verdana"/>
                <a:cs typeface="Verdana"/>
              </a:rPr>
              <a:t>te</a:t>
            </a:r>
            <a:r>
              <a:rPr sz="2400" dirty="0">
                <a:latin typeface="Verdana"/>
                <a:cs typeface="Verdana"/>
              </a:rPr>
              <a:t>r	ope</a:t>
            </a:r>
            <a:r>
              <a:rPr sz="2400" spc="-4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at</a:t>
            </a:r>
            <a:r>
              <a:rPr sz="2400" spc="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ons	a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spc="10" dirty="0">
                <a:latin typeface="Verdana"/>
                <a:cs typeface="Verdana"/>
              </a:rPr>
              <a:t>n</a:t>
            </a:r>
            <a:r>
              <a:rPr sz="2400" dirty="0">
                <a:latin typeface="Verdana"/>
                <a:cs typeface="Verdana"/>
              </a:rPr>
              <a:t>ot	needed	</a:t>
            </a:r>
            <a:r>
              <a:rPr sz="2400" spc="5" dirty="0">
                <a:latin typeface="Verdana"/>
                <a:cs typeface="Verdana"/>
              </a:rPr>
              <a:t>fo</a:t>
            </a:r>
            <a:r>
              <a:rPr sz="2400" dirty="0">
                <a:latin typeface="Verdana"/>
                <a:cs typeface="Verdana"/>
              </a:rPr>
              <a:t>r	sh</a:t>
            </a:r>
            <a:r>
              <a:rPr sz="2400" spc="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ft/r</a:t>
            </a:r>
            <a:r>
              <a:rPr sz="2400" spc="10" dirty="0">
                <a:latin typeface="Verdana"/>
                <a:cs typeface="Verdana"/>
              </a:rPr>
              <a:t>o</a:t>
            </a:r>
            <a:r>
              <a:rPr sz="2400" spc="-5" dirty="0">
                <a:latin typeface="Verdana"/>
                <a:cs typeface="Verdana"/>
              </a:rPr>
              <a:t>tat</a:t>
            </a:r>
            <a:r>
              <a:rPr sz="2400" spc="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o</a:t>
            </a:r>
            <a:r>
              <a:rPr sz="2400" spc="5" dirty="0">
                <a:latin typeface="Verdana"/>
                <a:cs typeface="Verdana"/>
              </a:rPr>
              <a:t>n</a:t>
            </a:r>
            <a:r>
              <a:rPr sz="2400" dirty="0">
                <a:latin typeface="Verdana"/>
                <a:cs typeface="Verdana"/>
              </a:rPr>
              <a:t>s  </a:t>
            </a:r>
            <a:r>
              <a:rPr sz="2400" spc="-10" dirty="0">
                <a:latin typeface="Verdana"/>
                <a:cs typeface="Verdana"/>
              </a:rPr>
              <a:t>beyond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32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times.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59565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963" y="277368"/>
            <a:ext cx="8606028" cy="641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125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940050"/>
            <a:ext cx="9834372" cy="480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98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26" y="645922"/>
            <a:ext cx="82638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5.2.1.1</a:t>
            </a:r>
            <a:r>
              <a:rPr sz="4000" spc="4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LOGICAL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SHIFT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LEFT</a:t>
            </a:r>
            <a:r>
              <a:rPr sz="4000" spc="1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(LSL</a:t>
            </a:r>
            <a:r>
              <a:rPr sz="4000" spc="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#n)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814" y="2007234"/>
            <a:ext cx="11286490" cy="445519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20979" marR="33655" indent="-182880">
              <a:lnSpc>
                <a:spcPts val="2590"/>
              </a:lnSpc>
              <a:spcBef>
                <a:spcPts val="425"/>
              </a:spcBef>
              <a:buClr>
                <a:srgbClr val="2C2C2C"/>
              </a:buClr>
              <a:buFont typeface="Wingdings"/>
              <a:buChar char=""/>
              <a:tabLst>
                <a:tab pos="387350" algn="l"/>
              </a:tabLst>
            </a:pPr>
            <a:r>
              <a:rPr sz="2400" dirty="0">
                <a:latin typeface="Verdana"/>
                <a:cs typeface="Verdana"/>
              </a:rPr>
              <a:t>When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shift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amount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specified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instruction,</a:t>
            </a:r>
            <a:r>
              <a:rPr sz="2400" spc="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it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contained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in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5" dirty="0">
                <a:latin typeface="Verdana"/>
                <a:cs typeface="Verdana"/>
              </a:rPr>
              <a:t>5-bit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field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which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may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take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any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value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from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0-31.</a:t>
            </a:r>
            <a:endParaRPr sz="2400" dirty="0">
              <a:latin typeface="Verdana"/>
              <a:cs typeface="Verdana"/>
            </a:endParaRPr>
          </a:p>
          <a:p>
            <a:pPr marL="220979" marR="33020" indent="-182880">
              <a:lnSpc>
                <a:spcPts val="2590"/>
              </a:lnSpc>
              <a:spcBef>
                <a:spcPts val="1400"/>
              </a:spcBef>
              <a:buClr>
                <a:srgbClr val="2C2C2C"/>
              </a:buClr>
              <a:buFont typeface="Wingdings"/>
              <a:buChar char=""/>
              <a:tabLst>
                <a:tab pos="281305" algn="l"/>
              </a:tabLst>
            </a:pPr>
            <a:r>
              <a:rPr sz="2400" dirty="0">
                <a:latin typeface="Verdana"/>
                <a:cs typeface="Verdana"/>
              </a:rPr>
              <a:t>A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logical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shift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left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(LSL)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takes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contents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specified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register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shifts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it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left.</a:t>
            </a:r>
            <a:endParaRPr sz="2400" dirty="0">
              <a:latin typeface="Verdana"/>
              <a:cs typeface="Verdana"/>
            </a:endParaRPr>
          </a:p>
          <a:p>
            <a:pPr marL="280670" indent="-243204">
              <a:lnSpc>
                <a:spcPct val="100000"/>
              </a:lnSpc>
              <a:spcBef>
                <a:spcPts val="1080"/>
              </a:spcBef>
              <a:buClr>
                <a:srgbClr val="2C2C2C"/>
              </a:buClr>
              <a:buFont typeface="Wingdings"/>
              <a:buChar char=""/>
              <a:tabLst>
                <a:tab pos="281305" algn="l"/>
              </a:tabLst>
            </a:pPr>
            <a:r>
              <a:rPr sz="2400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left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shift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position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equivalent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multiplication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2.</a:t>
            </a:r>
            <a:endParaRPr sz="2400" dirty="0">
              <a:latin typeface="Verdana"/>
              <a:cs typeface="Verdana"/>
            </a:endParaRPr>
          </a:p>
          <a:p>
            <a:pPr marL="220979" marR="34290" indent="-182880">
              <a:lnSpc>
                <a:spcPct val="97700"/>
              </a:lnSpc>
              <a:spcBef>
                <a:spcPts val="855"/>
              </a:spcBef>
              <a:buClr>
                <a:srgbClr val="2C2C2C"/>
              </a:buClr>
              <a:buFont typeface="Wingdings"/>
              <a:buChar char=""/>
              <a:tabLst>
                <a:tab pos="281305" algn="l"/>
              </a:tabLst>
            </a:pPr>
            <a:r>
              <a:rPr sz="2400" spc="-20" dirty="0">
                <a:latin typeface="Verdana"/>
                <a:cs typeface="Verdana"/>
              </a:rPr>
              <a:t>For</a:t>
            </a:r>
            <a:r>
              <a:rPr sz="2400" spc="229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example,</a:t>
            </a:r>
            <a:r>
              <a:rPr sz="2400" spc="2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effect</a:t>
            </a:r>
            <a:r>
              <a:rPr sz="2400" spc="2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2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LSL</a:t>
            </a:r>
            <a:r>
              <a:rPr sz="2400" spc="2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#4</a:t>
            </a:r>
            <a:r>
              <a:rPr sz="2400" spc="2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causes</a:t>
            </a:r>
            <a:r>
              <a:rPr sz="2400" spc="2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2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multiplication</a:t>
            </a:r>
            <a:r>
              <a:rPr sz="2400" spc="2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254" dirty="0">
                <a:latin typeface="Verdana"/>
                <a:cs typeface="Verdana"/>
              </a:rPr>
              <a:t> </a:t>
            </a:r>
            <a:r>
              <a:rPr sz="3600" spc="-5" dirty="0">
                <a:latin typeface="Corbel"/>
                <a:cs typeface="Corbel"/>
              </a:rPr>
              <a:t>2</a:t>
            </a:r>
            <a:r>
              <a:rPr sz="3600" spc="-7" baseline="25462" dirty="0">
                <a:latin typeface="Corbel"/>
                <a:cs typeface="Corbel"/>
              </a:rPr>
              <a:t>4</a:t>
            </a:r>
            <a:r>
              <a:rPr sz="2400" spc="-5" dirty="0">
                <a:latin typeface="Verdana"/>
                <a:cs typeface="Verdana"/>
              </a:rPr>
              <a:t>,</a:t>
            </a:r>
            <a:r>
              <a:rPr sz="2400" spc="2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that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is,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 </a:t>
            </a:r>
            <a:r>
              <a:rPr sz="2400" spc="-5" dirty="0">
                <a:latin typeface="Verdana"/>
                <a:cs typeface="Verdana"/>
              </a:rPr>
              <a:t>16.</a:t>
            </a:r>
            <a:endParaRPr sz="2400" dirty="0">
              <a:latin typeface="Verdana"/>
              <a:cs typeface="Verdana"/>
            </a:endParaRPr>
          </a:p>
          <a:p>
            <a:pPr marL="220979" marR="30480" indent="-182880">
              <a:lnSpc>
                <a:spcPts val="2590"/>
              </a:lnSpc>
              <a:spcBef>
                <a:spcPts val="1435"/>
              </a:spcBef>
              <a:buClr>
                <a:srgbClr val="2C2C2C"/>
              </a:buClr>
              <a:buFont typeface="Wingdings"/>
              <a:buChar char=""/>
              <a:tabLst>
                <a:tab pos="281305" algn="l"/>
                <a:tab pos="1012825" algn="l"/>
                <a:tab pos="1909445" algn="l"/>
                <a:tab pos="3639185" algn="l"/>
                <a:tab pos="4364990" algn="l"/>
                <a:tab pos="4828540" algn="l"/>
                <a:tab pos="5494020" algn="l"/>
                <a:tab pos="6532245" algn="l"/>
                <a:tab pos="7198359" algn="l"/>
                <a:tab pos="8100695" algn="l"/>
                <a:tab pos="8919210" algn="l"/>
                <a:tab pos="10015220" algn="l"/>
                <a:tab pos="10752455" algn="l"/>
              </a:tabLst>
            </a:pPr>
            <a:r>
              <a:rPr sz="2400" spc="-5" dirty="0">
                <a:latin typeface="Verdana"/>
                <a:cs typeface="Verdana"/>
              </a:rPr>
              <a:t>Th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spc="-10" dirty="0">
                <a:latin typeface="Verdana"/>
                <a:cs typeface="Verdana"/>
              </a:rPr>
              <a:t>l</a:t>
            </a:r>
            <a:r>
              <a:rPr sz="2400" spc="-15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ast	</a:t>
            </a:r>
            <a:r>
              <a:rPr sz="2400" spc="5" dirty="0">
                <a:latin typeface="Verdana"/>
                <a:cs typeface="Verdana"/>
              </a:rPr>
              <a:t>s</a:t>
            </a:r>
            <a:r>
              <a:rPr sz="2400" spc="-10" dirty="0">
                <a:latin typeface="Verdana"/>
                <a:cs typeface="Verdana"/>
              </a:rPr>
              <a:t>ig</a:t>
            </a:r>
            <a:r>
              <a:rPr sz="2400" spc="5" dirty="0">
                <a:latin typeface="Verdana"/>
                <a:cs typeface="Verdana"/>
              </a:rPr>
              <a:t>n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spc="5" dirty="0">
                <a:latin typeface="Verdana"/>
                <a:cs typeface="Verdana"/>
              </a:rPr>
              <a:t>f</a:t>
            </a:r>
            <a:r>
              <a:rPr sz="2400" spc="-10" dirty="0">
                <a:latin typeface="Verdana"/>
                <a:cs typeface="Verdana"/>
              </a:rPr>
              <a:t>ic</a:t>
            </a:r>
            <a:r>
              <a:rPr sz="2400" spc="5" dirty="0">
                <a:latin typeface="Verdana"/>
                <a:cs typeface="Verdana"/>
              </a:rPr>
              <a:t>a</a:t>
            </a:r>
            <a:r>
              <a:rPr sz="2400" dirty="0">
                <a:latin typeface="Verdana"/>
                <a:cs typeface="Verdana"/>
              </a:rPr>
              <a:t>nt	</a:t>
            </a:r>
            <a:r>
              <a:rPr sz="2400" spc="10" dirty="0">
                <a:latin typeface="Verdana"/>
                <a:cs typeface="Verdana"/>
              </a:rPr>
              <a:t>b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ts	</a:t>
            </a:r>
            <a:r>
              <a:rPr sz="2400" spc="5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f	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he	r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10" dirty="0">
                <a:latin typeface="Verdana"/>
                <a:cs typeface="Verdana"/>
              </a:rPr>
              <a:t>u</a:t>
            </a:r>
            <a:r>
              <a:rPr sz="2400" spc="-10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t	a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e	f</a:t>
            </a:r>
            <a:r>
              <a:rPr sz="2400" spc="10" dirty="0">
                <a:latin typeface="Verdana"/>
                <a:cs typeface="Verdana"/>
              </a:rPr>
              <a:t>i</a:t>
            </a:r>
            <a:r>
              <a:rPr sz="2400" spc="-10" dirty="0">
                <a:latin typeface="Verdana"/>
                <a:cs typeface="Verdana"/>
              </a:rPr>
              <a:t>l</a:t>
            </a:r>
            <a:r>
              <a:rPr sz="2400" spc="15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ed	</a:t>
            </a:r>
            <a:r>
              <a:rPr sz="2400" spc="-5" dirty="0">
                <a:latin typeface="Verdana"/>
                <a:cs typeface="Verdana"/>
              </a:rPr>
              <a:t>w</a:t>
            </a:r>
            <a:r>
              <a:rPr sz="2400" spc="5" dirty="0">
                <a:latin typeface="Verdana"/>
                <a:cs typeface="Verdana"/>
              </a:rPr>
              <a:t>i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h	</a:t>
            </a:r>
            <a:r>
              <a:rPr sz="2400" spc="-5" dirty="0">
                <a:latin typeface="Verdana"/>
                <a:cs typeface="Verdana"/>
              </a:rPr>
              <a:t>ze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o</a:t>
            </a:r>
            <a:r>
              <a:rPr sz="2400" spc="-1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,	and	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he  high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register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discarded.</a:t>
            </a:r>
            <a:endParaRPr sz="2400" dirty="0">
              <a:latin typeface="Verdana"/>
              <a:cs typeface="Verdana"/>
            </a:endParaRPr>
          </a:p>
          <a:p>
            <a:pPr marL="388620" indent="-350520">
              <a:lnSpc>
                <a:spcPct val="100000"/>
              </a:lnSpc>
              <a:spcBef>
                <a:spcPts val="1080"/>
              </a:spcBef>
              <a:buClr>
                <a:srgbClr val="2C2C2C"/>
              </a:buClr>
              <a:buFont typeface="Wingdings"/>
              <a:buChar char=""/>
              <a:tabLst>
                <a:tab pos="388620" algn="l"/>
              </a:tabLst>
            </a:pP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most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significant</a:t>
            </a:r>
            <a:r>
              <a:rPr sz="2400" spc="8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discarded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goes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into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Carry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flag.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85075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888" y="3308602"/>
            <a:ext cx="11771376" cy="344119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8219" y="1920239"/>
            <a:ext cx="10526268" cy="128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467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1755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99BDD"/>
                </a:solidFill>
                <a:latin typeface="Corbel"/>
                <a:cs typeface="Corbel"/>
              </a:rPr>
              <a:t>EXAM</a:t>
            </a:r>
            <a:r>
              <a:rPr sz="4000" b="0" dirty="0">
                <a:solidFill>
                  <a:srgbClr val="099BDD"/>
                </a:solidFill>
                <a:latin typeface="Corbel"/>
                <a:cs typeface="Corbel"/>
              </a:rPr>
              <a:t>P</a:t>
            </a: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LE</a:t>
            </a:r>
            <a:endParaRPr sz="4000">
              <a:latin typeface="Corbel"/>
              <a:cs typeface="Corbe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751" y="2100072"/>
            <a:ext cx="11032236" cy="432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6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26" y="645922"/>
            <a:ext cx="85991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5.2.1.2</a:t>
            </a:r>
            <a:r>
              <a:rPr sz="4000" spc="4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30" dirty="0">
                <a:solidFill>
                  <a:srgbClr val="FF0000"/>
                </a:solidFill>
                <a:latin typeface="Corbel"/>
                <a:cs typeface="Corbel"/>
              </a:rPr>
              <a:t>LOGICAL</a:t>
            </a:r>
            <a:r>
              <a:rPr sz="4000" spc="-9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SHIFT</a:t>
            </a:r>
            <a:r>
              <a:rPr sz="4000" spc="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RIGHT</a:t>
            </a:r>
            <a:r>
              <a:rPr sz="4000" spc="1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(LSR</a:t>
            </a:r>
            <a:r>
              <a:rPr sz="4000" spc="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30" dirty="0">
                <a:solidFill>
                  <a:srgbClr val="FF0000"/>
                </a:solidFill>
                <a:latin typeface="Corbel"/>
                <a:cs typeface="Corbel"/>
              </a:rPr>
              <a:t>#n)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214" y="1867026"/>
            <a:ext cx="11233150" cy="187452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363220" indent="-350520">
              <a:lnSpc>
                <a:spcPct val="100000"/>
              </a:lnSpc>
              <a:spcBef>
                <a:spcPts val="1205"/>
              </a:spcBef>
              <a:buClr>
                <a:srgbClr val="2C2C2C"/>
              </a:buClr>
              <a:buFont typeface="Wingdings"/>
              <a:buChar char=""/>
              <a:tabLst>
                <a:tab pos="363220" algn="l"/>
              </a:tabLst>
            </a:pP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similar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LSL but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shifting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towards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right.</a:t>
            </a:r>
            <a:endParaRPr sz="2400" dirty="0">
              <a:latin typeface="Verdana"/>
              <a:cs typeface="Verdana"/>
            </a:endParaRPr>
          </a:p>
          <a:p>
            <a:pPr marL="363220" indent="-350520">
              <a:lnSpc>
                <a:spcPct val="100000"/>
              </a:lnSpc>
              <a:spcBef>
                <a:spcPts val="1100"/>
              </a:spcBef>
              <a:buClr>
                <a:srgbClr val="2C2C2C"/>
              </a:buClr>
              <a:buFont typeface="Wingdings"/>
              <a:buChar char=""/>
              <a:tabLst>
                <a:tab pos="363220" algn="l"/>
              </a:tabLst>
            </a:pPr>
            <a:r>
              <a:rPr sz="2400" spc="-5" dirty="0">
                <a:latin typeface="Verdana"/>
                <a:cs typeface="Verdana"/>
              </a:rPr>
              <a:t>Shifting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right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each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position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equivalent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division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 </a:t>
            </a:r>
            <a:r>
              <a:rPr sz="2400" spc="-5" dirty="0">
                <a:latin typeface="Verdana"/>
                <a:cs typeface="Verdana"/>
              </a:rPr>
              <a:t>2.</a:t>
            </a:r>
            <a:endParaRPr sz="2400" dirty="0">
              <a:latin typeface="Verdana"/>
              <a:cs typeface="Verdana"/>
            </a:endParaRPr>
          </a:p>
          <a:p>
            <a:pPr marL="195580" marR="5080" indent="-182880">
              <a:lnSpc>
                <a:spcPts val="2590"/>
              </a:lnSpc>
              <a:spcBef>
                <a:spcPts val="144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spc="-5" dirty="0">
                <a:latin typeface="Verdana"/>
                <a:cs typeface="Verdana"/>
              </a:rPr>
              <a:t>Thus,</a:t>
            </a:r>
            <a:r>
              <a:rPr sz="2400" spc="2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LSR</a:t>
            </a:r>
            <a:r>
              <a:rPr sz="2400" spc="2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#5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causes</a:t>
            </a:r>
            <a:r>
              <a:rPr sz="2400" spc="2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data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</a:t>
            </a:r>
            <a:r>
              <a:rPr sz="2400" spc="27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8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specified</a:t>
            </a:r>
            <a:r>
              <a:rPr sz="2400" spc="3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register</a:t>
            </a:r>
            <a:r>
              <a:rPr sz="2400" spc="3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2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divided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-5" dirty="0">
                <a:latin typeface="Verdana"/>
                <a:cs typeface="Verdana"/>
              </a:rPr>
              <a:t> 32.</a:t>
            </a:r>
            <a:endParaRPr sz="24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211" y="3966971"/>
            <a:ext cx="8386572" cy="133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018" y="993357"/>
            <a:ext cx="10383012" cy="433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7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748" y="2144267"/>
            <a:ext cx="10811256" cy="419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5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26" y="645922"/>
            <a:ext cx="94894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5.2.1.3</a:t>
            </a:r>
            <a:r>
              <a:rPr sz="4000" spc="-14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ARITHMETIC</a:t>
            </a:r>
            <a:r>
              <a:rPr sz="4000" spc="-8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SHIFT</a:t>
            </a:r>
            <a:r>
              <a:rPr sz="4000" spc="1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RIGHT</a:t>
            </a:r>
            <a:r>
              <a:rPr sz="4000" spc="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dirty="0">
                <a:solidFill>
                  <a:srgbClr val="FF0000"/>
                </a:solidFill>
                <a:latin typeface="Corbel"/>
                <a:cs typeface="Corbel"/>
              </a:rPr>
              <a:t>(ASR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35" dirty="0">
                <a:solidFill>
                  <a:srgbClr val="FF0000"/>
                </a:solidFill>
                <a:latin typeface="Corbel"/>
                <a:cs typeface="Corbel"/>
              </a:rPr>
              <a:t>#n)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214" y="2007234"/>
            <a:ext cx="11237595" cy="27216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indent="-182880" algn="just">
              <a:lnSpc>
                <a:spcPts val="2590"/>
              </a:lnSpc>
              <a:spcBef>
                <a:spcPts val="42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dirty="0">
                <a:latin typeface="Verdana"/>
                <a:cs typeface="Verdana"/>
              </a:rPr>
              <a:t>An arithmetic shift right </a:t>
            </a:r>
            <a:r>
              <a:rPr sz="2400" spc="-5" dirty="0">
                <a:latin typeface="Verdana"/>
                <a:cs typeface="Verdana"/>
              </a:rPr>
              <a:t>(ASR)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spc="-5" dirty="0">
                <a:latin typeface="Verdana"/>
                <a:cs typeface="Verdana"/>
              </a:rPr>
              <a:t>similar </a:t>
            </a:r>
            <a:r>
              <a:rPr sz="2400" spc="5" dirty="0">
                <a:latin typeface="Verdana"/>
                <a:cs typeface="Verdana"/>
              </a:rPr>
              <a:t>to </a:t>
            </a:r>
            <a:r>
              <a:rPr sz="2400" spc="-5" dirty="0">
                <a:latin typeface="Verdana"/>
                <a:cs typeface="Verdana"/>
              </a:rPr>
              <a:t>logical shift right, except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</a:t>
            </a:r>
            <a:r>
              <a:rPr sz="2400" spc="5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high</a:t>
            </a:r>
            <a:r>
              <a:rPr sz="2400" spc="55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bits</a:t>
            </a:r>
            <a:r>
              <a:rPr sz="2400" spc="5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5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filled</a:t>
            </a:r>
            <a:r>
              <a:rPr sz="2400" spc="5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5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5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MSB</a:t>
            </a:r>
            <a:r>
              <a:rPr sz="2400" spc="5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5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5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register</a:t>
            </a:r>
            <a:r>
              <a:rPr sz="2400" spc="5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instead</a:t>
            </a:r>
            <a:r>
              <a:rPr sz="2400" spc="565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of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zeros.</a:t>
            </a:r>
            <a:endParaRPr sz="2400" dirty="0">
              <a:latin typeface="Verdana"/>
              <a:cs typeface="Verdana"/>
            </a:endParaRPr>
          </a:p>
          <a:p>
            <a:pPr marL="195580" marR="6985" indent="-182880" algn="just">
              <a:lnSpc>
                <a:spcPct val="90000"/>
              </a:lnSpc>
              <a:spcBef>
                <a:spcPts val="1360"/>
              </a:spcBef>
              <a:buClr>
                <a:srgbClr val="2C2C2C"/>
              </a:buClr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preserves</a:t>
            </a:r>
            <a:r>
              <a:rPr sz="2400" dirty="0">
                <a:latin typeface="Verdana"/>
                <a:cs typeface="Verdana"/>
              </a:rPr>
              <a:t> 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sign</a:t>
            </a:r>
            <a:r>
              <a:rPr sz="2400" dirty="0">
                <a:latin typeface="Verdana"/>
                <a:cs typeface="Verdana"/>
              </a:rPr>
              <a:t> in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2's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complement</a:t>
            </a:r>
            <a:r>
              <a:rPr sz="2400" dirty="0">
                <a:latin typeface="Verdana"/>
                <a:cs typeface="Verdana"/>
              </a:rPr>
              <a:t> notation.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Thus,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sign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extension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done on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data, </a:t>
            </a:r>
            <a:r>
              <a:rPr sz="2400" spc="-5" dirty="0">
                <a:latin typeface="Verdana"/>
                <a:cs typeface="Verdana"/>
              </a:rPr>
              <a:t>along with </a:t>
            </a:r>
            <a:r>
              <a:rPr sz="2400" spc="-10" dirty="0">
                <a:latin typeface="Verdana"/>
                <a:cs typeface="Verdana"/>
              </a:rPr>
              <a:t>it </a:t>
            </a:r>
            <a:r>
              <a:rPr sz="2400" spc="-5" dirty="0">
                <a:latin typeface="Verdana"/>
                <a:cs typeface="Verdana"/>
              </a:rPr>
              <a:t>being divided </a:t>
            </a:r>
            <a:r>
              <a:rPr sz="2400" spc="5" dirty="0">
                <a:latin typeface="Verdana"/>
                <a:cs typeface="Verdana"/>
              </a:rPr>
              <a:t>by </a:t>
            </a:r>
            <a:r>
              <a:rPr sz="2400" dirty="0">
                <a:latin typeface="Verdana"/>
                <a:cs typeface="Verdana"/>
              </a:rPr>
              <a:t>2 for </a:t>
            </a:r>
            <a:r>
              <a:rPr sz="2400" spc="-5" dirty="0">
                <a:latin typeface="Verdana"/>
                <a:cs typeface="Verdana"/>
              </a:rPr>
              <a:t>each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shift.</a:t>
            </a:r>
            <a:endParaRPr sz="2400" dirty="0">
              <a:latin typeface="Verdana"/>
              <a:cs typeface="Verdana"/>
            </a:endParaRPr>
          </a:p>
          <a:p>
            <a:pPr marL="363220" indent="-350520" algn="just">
              <a:lnSpc>
                <a:spcPct val="100000"/>
              </a:lnSpc>
              <a:spcBef>
                <a:spcPts val="1115"/>
              </a:spcBef>
              <a:buClr>
                <a:srgbClr val="2C2C2C"/>
              </a:buClr>
              <a:buFont typeface="Wingdings"/>
              <a:buChar char=""/>
              <a:tabLst>
                <a:tab pos="363220" algn="l"/>
              </a:tabLst>
            </a:pPr>
            <a:r>
              <a:rPr sz="2400" spc="-5" dirty="0">
                <a:latin typeface="Verdana"/>
                <a:cs typeface="Verdana"/>
              </a:rPr>
              <a:t>Thus,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ASR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#4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causes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division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16</a:t>
            </a:r>
            <a:endParaRPr sz="24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8107" y="5074920"/>
            <a:ext cx="6007608" cy="113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7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3396" y="1818129"/>
            <a:ext cx="9317736" cy="49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700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085" y="457580"/>
            <a:ext cx="11094085" cy="56591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680085" marR="497205" algn="just">
              <a:lnSpc>
                <a:spcPct val="85100"/>
              </a:lnSpc>
              <a:spcBef>
                <a:spcPts val="530"/>
              </a:spcBef>
            </a:pPr>
            <a:r>
              <a:rPr lang="en-US" sz="2400" spc="-80" dirty="0" smtClean="0">
                <a:solidFill>
                  <a:srgbClr val="FF0000"/>
                </a:solidFill>
                <a:latin typeface="Corbel"/>
                <a:cs typeface="Corbel"/>
              </a:rPr>
              <a:t>To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show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the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difference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between logical and arithmetic right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shifts, </a:t>
            </a:r>
            <a:r>
              <a:rPr lang="en-US" sz="2400" spc="-15" dirty="0" smtClean="0">
                <a:solidFill>
                  <a:srgbClr val="FF0000"/>
                </a:solidFill>
                <a:latin typeface="Corbel"/>
                <a:cs typeface="Corbel"/>
              </a:rPr>
              <a:t>consider </a:t>
            </a:r>
            <a:r>
              <a:rPr lang="en-US" sz="2400" spc="-47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A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LSR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and</a:t>
            </a:r>
            <a:r>
              <a:rPr lang="en-US" sz="2400" spc="-5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ASR</a:t>
            </a:r>
            <a:r>
              <a:rPr lang="en-US" sz="2400" spc="-5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where</a:t>
            </a:r>
            <a:r>
              <a:rPr lang="en-US" sz="2400" spc="-4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the</a:t>
            </a:r>
            <a:r>
              <a:rPr lang="en-US" sz="2400" spc="-4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value</a:t>
            </a:r>
            <a:r>
              <a:rPr lang="en-US" sz="2400" spc="-4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80" dirty="0" smtClean="0">
                <a:solidFill>
                  <a:srgbClr val="FF0000"/>
                </a:solidFill>
                <a:latin typeface="Corbel"/>
                <a:cs typeface="Corbel"/>
              </a:rPr>
              <a:t>to</a:t>
            </a:r>
            <a:r>
              <a:rPr lang="en-US" sz="2400" spc="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be</a:t>
            </a:r>
            <a:r>
              <a:rPr lang="en-US" sz="2400" spc="-3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shifted is</a:t>
            </a:r>
            <a:r>
              <a:rPr lang="en-US" sz="2400" spc="-2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15" dirty="0" smtClean="0">
                <a:solidFill>
                  <a:srgbClr val="FF0000"/>
                </a:solidFill>
                <a:latin typeface="Verdana"/>
                <a:cs typeface="Verdana"/>
              </a:rPr>
              <a:t>112</a:t>
            </a:r>
            <a:r>
              <a:rPr lang="en-US" sz="2400" spc="-434" dirty="0" smtClean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US" sz="2400" spc="-15" dirty="0" smtClean="0">
                <a:solidFill>
                  <a:srgbClr val="FF0000"/>
                </a:solidFill>
                <a:latin typeface="Corbel"/>
                <a:cs typeface="Corbel"/>
              </a:rPr>
              <a:t>and</a:t>
            </a:r>
            <a:r>
              <a:rPr lang="en-US" sz="2400" spc="-7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15" dirty="0" smtClean="0">
                <a:solidFill>
                  <a:srgbClr val="FF0000"/>
                </a:solidFill>
                <a:latin typeface="Corbel"/>
                <a:cs typeface="Corbel"/>
              </a:rPr>
              <a:t>the</a:t>
            </a:r>
            <a:r>
              <a:rPr lang="en-US" sz="2400" spc="-6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15" dirty="0" smtClean="0">
                <a:solidFill>
                  <a:srgbClr val="FF0000"/>
                </a:solidFill>
                <a:latin typeface="Corbel"/>
                <a:cs typeface="Corbel"/>
              </a:rPr>
              <a:t>shift</a:t>
            </a:r>
            <a:r>
              <a:rPr lang="en-US" sz="2400" spc="-2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10" dirty="0" smtClean="0">
                <a:solidFill>
                  <a:srgbClr val="FF0000"/>
                </a:solidFill>
                <a:latin typeface="Corbel"/>
                <a:cs typeface="Corbel"/>
              </a:rPr>
              <a:t>is</a:t>
            </a:r>
            <a:r>
              <a:rPr lang="en-US" sz="2400" spc="-2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Verdana"/>
                <a:cs typeface="Verdana"/>
              </a:rPr>
              <a:t>3</a:t>
            </a:r>
            <a:r>
              <a:rPr lang="en-US" sz="2400" spc="-390" dirty="0" smtClean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US" sz="2400" spc="-15" dirty="0" smtClean="0">
                <a:solidFill>
                  <a:srgbClr val="FF0000"/>
                </a:solidFill>
                <a:latin typeface="Corbel"/>
                <a:cs typeface="Corbel"/>
              </a:rPr>
              <a:t>places. </a:t>
            </a:r>
            <a:r>
              <a:rPr lang="en-US" sz="2400" spc="-46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160" dirty="0" smtClean="0">
                <a:solidFill>
                  <a:srgbClr val="FF0000"/>
                </a:solidFill>
                <a:latin typeface="Corbel"/>
                <a:cs typeface="Corbel"/>
              </a:rPr>
              <a:t>T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o </a:t>
            </a:r>
            <a:r>
              <a:rPr lang="en-US" sz="2400" spc="-50" dirty="0" smtClean="0">
                <a:solidFill>
                  <a:srgbClr val="FF0000"/>
                </a:solidFill>
                <a:latin typeface="Corbel"/>
                <a:cs typeface="Corbel"/>
              </a:rPr>
              <a:t>k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e</a:t>
            </a:r>
            <a:r>
              <a:rPr lang="en-US" sz="2400" spc="10" dirty="0" smtClean="0">
                <a:solidFill>
                  <a:srgbClr val="FF0000"/>
                </a:solidFill>
                <a:latin typeface="Corbel"/>
                <a:cs typeface="Corbel"/>
              </a:rPr>
              <a:t>e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p</a:t>
            </a:r>
            <a:r>
              <a:rPr lang="en-US" sz="2400" spc="-17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th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e ma</a:t>
            </a:r>
            <a:r>
              <a:rPr lang="en-US" sz="2400" spc="-10" dirty="0" smtClean="0">
                <a:solidFill>
                  <a:srgbClr val="FF0000"/>
                </a:solidFill>
                <a:latin typeface="Corbel"/>
                <a:cs typeface="Corbel"/>
              </a:rPr>
              <a:t>t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hemat</a:t>
            </a:r>
            <a:r>
              <a:rPr lang="en-US" sz="2400" spc="-10" dirty="0" smtClean="0">
                <a:solidFill>
                  <a:srgbClr val="FF0000"/>
                </a:solidFill>
                <a:latin typeface="Corbel"/>
                <a:cs typeface="Corbel"/>
              </a:rPr>
              <a:t>i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c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s</a:t>
            </a:r>
            <a:r>
              <a:rPr lang="en-US" sz="2400" spc="-2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s</a:t>
            </a:r>
            <a:r>
              <a:rPr lang="en-US" sz="2400" spc="-10" dirty="0" smtClean="0">
                <a:solidFill>
                  <a:srgbClr val="FF0000"/>
                </a:solidFill>
                <a:latin typeface="Corbel"/>
                <a:cs typeface="Corbel"/>
              </a:rPr>
              <a:t>i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mple,</a:t>
            </a:r>
            <a:r>
              <a:rPr lang="en-US" sz="2400" spc="-11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90" dirty="0" smtClean="0">
                <a:solidFill>
                  <a:srgbClr val="FF0000"/>
                </a:solidFill>
                <a:latin typeface="Corbel"/>
                <a:cs typeface="Corbel"/>
              </a:rPr>
              <a:t>w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e</a:t>
            </a:r>
            <a:r>
              <a:rPr lang="en-US" sz="2400" spc="-13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wil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l</a:t>
            </a:r>
            <a:r>
              <a:rPr lang="en-US" sz="2400" spc="-5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use 8</a:t>
            </a:r>
            <a:r>
              <a:rPr lang="en-US" sz="2400" spc="5" dirty="0" smtClean="0">
                <a:solidFill>
                  <a:srgbClr val="FF0000"/>
                </a:solidFill>
                <a:latin typeface="Corbel"/>
                <a:cs typeface="Corbel"/>
              </a:rPr>
              <a:t>-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b</a:t>
            </a:r>
            <a:r>
              <a:rPr lang="en-US" sz="2400" spc="-10" dirty="0" smtClean="0">
                <a:solidFill>
                  <a:srgbClr val="FF0000"/>
                </a:solidFill>
                <a:latin typeface="Corbel"/>
                <a:cs typeface="Corbel"/>
              </a:rPr>
              <a:t>i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t</a:t>
            </a:r>
            <a:r>
              <a:rPr lang="en-US" sz="2400" spc="1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numb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er</a:t>
            </a:r>
            <a:r>
              <a:rPr lang="en-US" sz="2400" spc="10" dirty="0" smtClean="0">
                <a:solidFill>
                  <a:srgbClr val="FF0000"/>
                </a:solidFill>
                <a:latin typeface="Corbel"/>
                <a:cs typeface="Corbel"/>
              </a:rPr>
              <a:t>s</a:t>
            </a:r>
            <a:r>
              <a:rPr sz="2400" dirty="0" smtClean="0">
                <a:solidFill>
                  <a:srgbClr val="FF0000"/>
                </a:solidFill>
                <a:latin typeface="Corbel"/>
                <a:cs typeface="Corbel"/>
              </a:rPr>
              <a:t>.</a:t>
            </a:r>
            <a:endParaRPr sz="2400" dirty="0">
              <a:solidFill>
                <a:srgbClr val="FF0000"/>
              </a:solidFill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50" dirty="0">
              <a:latin typeface="Corbel"/>
              <a:cs typeface="Corbel"/>
            </a:endParaRPr>
          </a:p>
          <a:p>
            <a:pPr marL="195580" indent="-182880">
              <a:lnSpc>
                <a:spcPct val="100000"/>
              </a:lnSpc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pattern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112 is</a:t>
            </a:r>
            <a:r>
              <a:rPr sz="2400" dirty="0">
                <a:latin typeface="Verdana"/>
                <a:cs typeface="Verdana"/>
              </a:rPr>
              <a:t> 0111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0000.</a:t>
            </a:r>
          </a:p>
          <a:p>
            <a:pPr marL="303530" indent="-291465">
              <a:lnSpc>
                <a:spcPct val="100000"/>
              </a:lnSpc>
              <a:spcBef>
                <a:spcPts val="1105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spc="-10" dirty="0">
                <a:latin typeface="Verdana"/>
                <a:cs typeface="Verdana"/>
              </a:rPr>
              <a:t>Performing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LSR </a:t>
            </a:r>
            <a:r>
              <a:rPr sz="2400" spc="-5" dirty="0">
                <a:latin typeface="Verdana"/>
                <a:cs typeface="Verdana"/>
              </a:rPr>
              <a:t>#3</a:t>
            </a:r>
            <a:r>
              <a:rPr sz="2400" spc="-10" dirty="0">
                <a:latin typeface="Verdana"/>
                <a:cs typeface="Verdana"/>
              </a:rPr>
              <a:t> transforms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 pattern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0000</a:t>
            </a:r>
            <a:r>
              <a:rPr sz="2400" dirty="0">
                <a:latin typeface="Verdana"/>
                <a:cs typeface="Verdana"/>
              </a:rPr>
              <a:t> 1110</a:t>
            </a:r>
          </a:p>
          <a:p>
            <a:pPr marL="303530" indent="-291465">
              <a:lnSpc>
                <a:spcPct val="100000"/>
              </a:lnSpc>
              <a:spcBef>
                <a:spcPts val="1115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spc="-15" dirty="0">
                <a:latin typeface="Verdana"/>
                <a:cs typeface="Verdana"/>
              </a:rPr>
              <a:t>Result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14 </a:t>
            </a:r>
            <a:r>
              <a:rPr sz="2400" dirty="0">
                <a:latin typeface="Verdana"/>
                <a:cs typeface="Verdana"/>
              </a:rPr>
              <a:t>:</a:t>
            </a:r>
            <a:r>
              <a:rPr sz="2400" spc="-5" dirty="0">
                <a:latin typeface="Verdana"/>
                <a:cs typeface="Verdana"/>
              </a:rPr>
              <a:t> 14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base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10</a:t>
            </a:r>
            <a:endParaRPr sz="2400" dirty="0">
              <a:latin typeface="Verdana"/>
              <a:cs typeface="Verdana"/>
            </a:endParaRPr>
          </a:p>
          <a:p>
            <a:pPr marL="303530" indent="-291465">
              <a:lnSpc>
                <a:spcPct val="100000"/>
              </a:lnSpc>
              <a:spcBef>
                <a:spcPts val="1120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spc="-10" dirty="0">
                <a:latin typeface="Verdana"/>
                <a:cs typeface="Verdana"/>
              </a:rPr>
              <a:t>Performing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ASR </a:t>
            </a:r>
            <a:r>
              <a:rPr sz="2400" dirty="0">
                <a:latin typeface="Verdana"/>
                <a:cs typeface="Verdana"/>
              </a:rPr>
              <a:t>#3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again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transforms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bit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pattern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0000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1110</a:t>
            </a:r>
            <a:endParaRPr sz="2400" dirty="0">
              <a:latin typeface="Verdana"/>
              <a:cs typeface="Verdana"/>
            </a:endParaRPr>
          </a:p>
          <a:p>
            <a:pPr marL="303530" indent="-291465">
              <a:lnSpc>
                <a:spcPct val="100000"/>
              </a:lnSpc>
              <a:spcBef>
                <a:spcPts val="1105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spc="-5" dirty="0">
                <a:latin typeface="Verdana"/>
                <a:cs typeface="Verdana"/>
              </a:rPr>
              <a:t>Now</a:t>
            </a:r>
            <a:r>
              <a:rPr sz="2400" dirty="0">
                <a:latin typeface="Verdana"/>
                <a:cs typeface="Verdana"/>
              </a:rPr>
              <a:t> what </a:t>
            </a:r>
            <a:r>
              <a:rPr sz="2400" spc="-5" dirty="0">
                <a:latin typeface="Verdana"/>
                <a:cs typeface="Verdana"/>
              </a:rPr>
              <a:t>happens if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number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-112?</a:t>
            </a:r>
            <a:endParaRPr sz="2400" dirty="0">
              <a:latin typeface="Verdana"/>
              <a:cs typeface="Verdana"/>
            </a:endParaRPr>
          </a:p>
          <a:p>
            <a:pPr marL="195580" marR="5080" indent="-182880">
              <a:lnSpc>
                <a:spcPts val="2590"/>
              </a:lnSpc>
              <a:spcBef>
                <a:spcPts val="1440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dirty="0"/>
              <a:t>	</a:t>
            </a:r>
            <a:r>
              <a:rPr sz="2400" spc="-5" dirty="0">
                <a:latin typeface="Verdana"/>
                <a:cs typeface="Verdana"/>
              </a:rPr>
              <a:t>First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create</a:t>
            </a:r>
            <a:r>
              <a:rPr sz="2400" dirty="0">
                <a:latin typeface="Verdana"/>
                <a:cs typeface="Verdana"/>
              </a:rPr>
              <a:t> 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2's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complement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pattern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-112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flipping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pattern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112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adding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1.</a:t>
            </a:r>
            <a:endParaRPr sz="2400" dirty="0">
              <a:latin typeface="Verdana"/>
              <a:cs typeface="Verdana"/>
            </a:endParaRPr>
          </a:p>
          <a:p>
            <a:pPr marL="303530" indent="-291465">
              <a:lnSpc>
                <a:spcPct val="100000"/>
              </a:lnSpc>
              <a:spcBef>
                <a:spcPts val="1085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dirty="0">
                <a:latin typeface="Verdana"/>
                <a:cs typeface="Verdana"/>
              </a:rPr>
              <a:t>0111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0000</a:t>
            </a:r>
            <a:r>
              <a:rPr sz="2400" spc="-5" dirty="0">
                <a:latin typeface="Verdana"/>
                <a:cs typeface="Verdana"/>
              </a:rPr>
              <a:t> becomes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(1000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1111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+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1)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becomes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1001 0000</a:t>
            </a:r>
            <a:endParaRPr sz="2400" dirty="0">
              <a:latin typeface="Verdana"/>
              <a:cs typeface="Verdana"/>
            </a:endParaRPr>
          </a:p>
          <a:p>
            <a:pPr marL="303530" indent="-291465">
              <a:lnSpc>
                <a:spcPct val="100000"/>
              </a:lnSpc>
              <a:spcBef>
                <a:spcPts val="1105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spc="-5" dirty="0">
                <a:latin typeface="Verdana"/>
                <a:cs typeface="Verdana"/>
              </a:rPr>
              <a:t>Now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perform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LSR </a:t>
            </a:r>
            <a:r>
              <a:rPr sz="2400" spc="5" dirty="0">
                <a:latin typeface="Verdana"/>
                <a:cs typeface="Verdana"/>
              </a:rPr>
              <a:t>#3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operation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1001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0000.</a:t>
            </a:r>
          </a:p>
        </p:txBody>
      </p:sp>
    </p:spTree>
    <p:extLst>
      <p:ext uri="{BB962C8B-B14F-4D97-AF65-F5344CB8AC3E}">
        <p14:creationId xmlns:p14="http://schemas.microsoft.com/office/powerpoint/2010/main" val="418591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0997" y="1998090"/>
            <a:ext cx="11289665" cy="311752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94945" marR="5080" indent="-182880">
              <a:lnSpc>
                <a:spcPts val="2660"/>
              </a:lnSpc>
              <a:spcBef>
                <a:spcPts val="370"/>
              </a:spcBef>
              <a:buClr>
                <a:srgbClr val="FFFFFF"/>
              </a:buClr>
              <a:buSzPct val="91666"/>
              <a:buFont typeface="Wingdings"/>
              <a:buChar char=""/>
              <a:tabLst>
                <a:tab pos="250190" algn="l"/>
                <a:tab pos="250825" algn="l"/>
              </a:tabLst>
            </a:pPr>
            <a:r>
              <a:rPr dirty="0"/>
              <a:t>	</a:t>
            </a: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shifts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bits</a:t>
            </a:r>
            <a:r>
              <a:rPr sz="2400" dirty="0">
                <a:latin typeface="Verdana"/>
                <a:cs typeface="Verdana"/>
              </a:rPr>
              <a:t> 3 </a:t>
            </a:r>
            <a:r>
              <a:rPr sz="2400" spc="-5" dirty="0">
                <a:latin typeface="Verdana"/>
                <a:cs typeface="Verdana"/>
              </a:rPr>
              <a:t>places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right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fills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vacated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0s:</a:t>
            </a:r>
            <a:endParaRPr sz="2400" dirty="0">
              <a:latin typeface="Verdana"/>
              <a:cs typeface="Verdana"/>
            </a:endParaRPr>
          </a:p>
          <a:p>
            <a:pPr marL="250190" indent="-238125">
              <a:lnSpc>
                <a:spcPct val="100000"/>
              </a:lnSpc>
              <a:spcBef>
                <a:spcPts val="994"/>
              </a:spcBef>
              <a:buClr>
                <a:srgbClr val="FFFFFF"/>
              </a:buClr>
              <a:buSzPct val="91666"/>
              <a:buFont typeface="Wingdings"/>
              <a:buChar char=""/>
              <a:tabLst>
                <a:tab pos="250190" algn="l"/>
                <a:tab pos="250825" algn="l"/>
              </a:tabLst>
            </a:pPr>
            <a:r>
              <a:rPr sz="2400" dirty="0">
                <a:latin typeface="Verdana"/>
                <a:cs typeface="Verdana"/>
              </a:rPr>
              <a:t>1001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0000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becomes </a:t>
            </a:r>
            <a:r>
              <a:rPr sz="2400" dirty="0">
                <a:latin typeface="Verdana"/>
                <a:cs typeface="Verdana"/>
              </a:rPr>
              <a:t>0001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0010</a:t>
            </a:r>
            <a:r>
              <a:rPr sz="2400" spc="-5" dirty="0">
                <a:latin typeface="Verdana"/>
                <a:cs typeface="Verdana"/>
              </a:rPr>
              <a:t> which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+18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Base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10</a:t>
            </a:r>
            <a:endParaRPr sz="2400" dirty="0">
              <a:latin typeface="Verdana"/>
              <a:cs typeface="Verdana"/>
            </a:endParaRPr>
          </a:p>
          <a:p>
            <a:pPr marL="303530" indent="-291465">
              <a:lnSpc>
                <a:spcPct val="100000"/>
              </a:lnSpc>
              <a:spcBef>
                <a:spcPts val="1180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spc="-5" dirty="0">
                <a:latin typeface="Verdana"/>
                <a:cs typeface="Verdana"/>
              </a:rPr>
              <a:t>Now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instead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perform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ASR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#3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operation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1001 0000.</a:t>
            </a:r>
            <a:endParaRPr sz="2400" dirty="0">
              <a:latin typeface="Verdana"/>
              <a:cs typeface="Verdana"/>
            </a:endParaRPr>
          </a:p>
          <a:p>
            <a:pPr marL="194945" marR="447040" indent="-182880">
              <a:lnSpc>
                <a:spcPts val="2590"/>
              </a:lnSpc>
              <a:spcBef>
                <a:spcPts val="1445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shifts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bits</a:t>
            </a:r>
            <a:r>
              <a:rPr sz="2400" dirty="0">
                <a:latin typeface="Verdana"/>
                <a:cs typeface="Verdana"/>
              </a:rPr>
              <a:t> 3 </a:t>
            </a:r>
            <a:r>
              <a:rPr sz="2400" spc="-5" dirty="0">
                <a:latin typeface="Verdana"/>
                <a:cs typeface="Verdana"/>
              </a:rPr>
              <a:t>places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right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fills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vacated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copies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most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significant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bit,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i.e.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15" dirty="0">
                <a:latin typeface="Verdana"/>
                <a:cs typeface="Verdana"/>
              </a:rPr>
              <a:t>1's.</a:t>
            </a:r>
            <a:endParaRPr sz="2400" dirty="0">
              <a:latin typeface="Verdana"/>
              <a:cs typeface="Verdana"/>
            </a:endParaRPr>
          </a:p>
          <a:p>
            <a:pPr marL="303530" indent="-291465">
              <a:lnSpc>
                <a:spcPct val="100000"/>
              </a:lnSpc>
              <a:spcBef>
                <a:spcPts val="1065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dirty="0">
                <a:latin typeface="Verdana"/>
                <a:cs typeface="Verdana"/>
              </a:rPr>
              <a:t>1001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0000</a:t>
            </a:r>
            <a:r>
              <a:rPr sz="2400" spc="-5" dirty="0">
                <a:latin typeface="Verdana"/>
                <a:cs typeface="Verdana"/>
              </a:rPr>
              <a:t> becomes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1111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0010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which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-14</a:t>
            </a:r>
            <a:r>
              <a:rPr sz="2400" spc="-5" dirty="0">
                <a:latin typeface="Verdana"/>
                <a:cs typeface="Verdana"/>
              </a:rPr>
              <a:t> to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base </a:t>
            </a:r>
            <a:r>
              <a:rPr sz="2400" dirty="0">
                <a:latin typeface="Verdana"/>
                <a:cs typeface="Verdana"/>
              </a:rPr>
              <a:t>10.</a:t>
            </a:r>
          </a:p>
        </p:txBody>
      </p:sp>
    </p:spTree>
    <p:extLst>
      <p:ext uri="{BB962C8B-B14F-4D97-AF65-F5344CB8AC3E}">
        <p14:creationId xmlns:p14="http://schemas.microsoft.com/office/powerpoint/2010/main" val="3228801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26" y="645922"/>
            <a:ext cx="71202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5.2.1.4</a:t>
            </a:r>
            <a:r>
              <a:rPr sz="4000" spc="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95" dirty="0">
                <a:solidFill>
                  <a:srgbClr val="FF0000"/>
                </a:solidFill>
                <a:latin typeface="Corbel"/>
                <a:cs typeface="Corbel"/>
              </a:rPr>
              <a:t>ROTATE</a:t>
            </a:r>
            <a:r>
              <a:rPr sz="4000" spc="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RIGHT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dirty="0">
                <a:solidFill>
                  <a:srgbClr val="FF0000"/>
                </a:solidFill>
                <a:latin typeface="Corbel"/>
                <a:cs typeface="Corbel"/>
              </a:rPr>
              <a:t>(ROR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30" dirty="0">
                <a:solidFill>
                  <a:srgbClr val="FF0000"/>
                </a:solidFill>
                <a:latin typeface="Corbel"/>
                <a:cs typeface="Corbel"/>
              </a:rPr>
              <a:t>#n)</a:t>
            </a:r>
            <a:endParaRPr sz="4000" dirty="0">
              <a:solidFill>
                <a:srgbClr val="FF0000"/>
              </a:solidFill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214" y="2007234"/>
            <a:ext cx="10538460" cy="12268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indent="-182880">
              <a:lnSpc>
                <a:spcPts val="2590"/>
              </a:lnSpc>
              <a:spcBef>
                <a:spcPts val="42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  <a:tab pos="1490345" algn="l"/>
                <a:tab pos="2952750" algn="l"/>
                <a:tab pos="3522345" algn="l"/>
                <a:tab pos="4601845" algn="l"/>
                <a:tab pos="5494655" algn="l"/>
                <a:tab pos="6316345" algn="l"/>
                <a:tab pos="7197090" algn="l"/>
                <a:tab pos="8404225" algn="l"/>
                <a:tab pos="10029190" algn="l"/>
              </a:tabLst>
            </a:pPr>
            <a:r>
              <a:rPr sz="2400" spc="5" dirty="0">
                <a:latin typeface="Verdana"/>
                <a:cs typeface="Verdana"/>
              </a:rPr>
              <a:t>R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ght	</a:t>
            </a:r>
            <a:r>
              <a:rPr sz="2400" spc="5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h</a:t>
            </a:r>
            <a:r>
              <a:rPr sz="2400" spc="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f</a:t>
            </a:r>
            <a:r>
              <a:rPr sz="2400" spc="5" dirty="0">
                <a:latin typeface="Verdana"/>
                <a:cs typeface="Verdana"/>
              </a:rPr>
              <a:t>t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ng	is	</a:t>
            </a:r>
            <a:r>
              <a:rPr sz="2400" spc="-5" dirty="0">
                <a:latin typeface="Verdana"/>
                <a:cs typeface="Verdana"/>
              </a:rPr>
              <a:t>d</a:t>
            </a:r>
            <a:r>
              <a:rPr sz="2400" spc="5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ne	and	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he	</a:t>
            </a:r>
            <a:r>
              <a:rPr sz="2400" spc="10" dirty="0">
                <a:latin typeface="Verdana"/>
                <a:cs typeface="Verdana"/>
              </a:rPr>
              <a:t>b</a:t>
            </a:r>
            <a:r>
              <a:rPr sz="2400" spc="-10" dirty="0">
                <a:latin typeface="Verdana"/>
                <a:cs typeface="Verdana"/>
              </a:rPr>
              <a:t>it</a:t>
            </a:r>
            <a:r>
              <a:rPr sz="2400" dirty="0">
                <a:latin typeface="Verdana"/>
                <a:cs typeface="Verdana"/>
              </a:rPr>
              <a:t>s	</a:t>
            </a:r>
            <a:r>
              <a:rPr sz="2400" spc="-5" dirty="0">
                <a:latin typeface="Verdana"/>
                <a:cs typeface="Verdana"/>
              </a:rPr>
              <a:t>w</a:t>
            </a:r>
            <a:r>
              <a:rPr sz="2400" spc="5" dirty="0">
                <a:latin typeface="Verdana"/>
                <a:cs typeface="Verdana"/>
              </a:rPr>
              <a:t>h</a:t>
            </a:r>
            <a:r>
              <a:rPr sz="2400" spc="-10" dirty="0">
                <a:latin typeface="Verdana"/>
                <a:cs typeface="Verdana"/>
              </a:rPr>
              <a:t>ic</a:t>
            </a:r>
            <a:r>
              <a:rPr sz="2400" dirty="0">
                <a:latin typeface="Verdana"/>
                <a:cs typeface="Verdana"/>
              </a:rPr>
              <a:t>h	o</a:t>
            </a:r>
            <a:r>
              <a:rPr sz="2400" spc="-35" dirty="0">
                <a:latin typeface="Verdana"/>
                <a:cs typeface="Verdana"/>
              </a:rPr>
              <a:t>v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f</a:t>
            </a:r>
            <a:r>
              <a:rPr sz="2400" spc="10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ow	</a:t>
            </a:r>
            <a:r>
              <a:rPr sz="2400" spc="5" dirty="0">
                <a:latin typeface="Verdana"/>
                <a:cs typeface="Verdana"/>
              </a:rPr>
              <a:t>a</a:t>
            </a:r>
            <a:r>
              <a:rPr sz="2400" dirty="0">
                <a:latin typeface="Verdana"/>
                <a:cs typeface="Verdana"/>
              </a:rPr>
              <a:t>re  </a:t>
            </a:r>
            <a:r>
              <a:rPr sz="2400" spc="-10" dirty="0">
                <a:latin typeface="Verdana"/>
                <a:cs typeface="Verdana"/>
              </a:rPr>
              <a:t>reintroduced</a:t>
            </a:r>
            <a:r>
              <a:rPr sz="2400" spc="7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spc="-10" dirty="0">
                <a:latin typeface="Verdana"/>
                <a:cs typeface="Verdana"/>
              </a:rPr>
              <a:t>left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end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register.</a:t>
            </a:r>
            <a:endParaRPr sz="2400" dirty="0">
              <a:latin typeface="Verdana"/>
              <a:cs typeface="Verdana"/>
            </a:endParaRPr>
          </a:p>
          <a:p>
            <a:pPr marL="363220" indent="-350520">
              <a:lnSpc>
                <a:spcPct val="100000"/>
              </a:lnSpc>
              <a:spcBef>
                <a:spcPts val="1070"/>
              </a:spcBef>
              <a:buClr>
                <a:srgbClr val="2C2C2C"/>
              </a:buClr>
              <a:buFont typeface="Wingdings"/>
              <a:buChar char=""/>
              <a:tabLst>
                <a:tab pos="363220" algn="l"/>
              </a:tabLst>
            </a:pP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spc="-10" dirty="0">
                <a:latin typeface="Verdana"/>
                <a:cs typeface="Verdana"/>
              </a:rPr>
              <a:t>last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shifted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out,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put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carry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flag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well.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9214" y="4870780"/>
            <a:ext cx="10537190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315" indent="-349250">
              <a:lnSpc>
                <a:spcPts val="2735"/>
              </a:lnSpc>
              <a:spcBef>
                <a:spcPts val="100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  <a:tab pos="1420495" algn="l"/>
                <a:tab pos="1845945" algn="l"/>
                <a:tab pos="2409825" algn="l"/>
                <a:tab pos="3598545" algn="l"/>
                <a:tab pos="4359275" algn="l"/>
                <a:tab pos="6276340" algn="l"/>
                <a:tab pos="7709534" algn="l"/>
                <a:tab pos="8385809" algn="l"/>
                <a:tab pos="9773285" algn="l"/>
                <a:tab pos="10329545" algn="l"/>
              </a:tabLst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-1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spc="-1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s	</a:t>
            </a:r>
            <a:r>
              <a:rPr sz="2400" spc="15" dirty="0">
                <a:latin typeface="Verdana"/>
                <a:cs typeface="Verdana"/>
              </a:rPr>
              <a:t>n</a:t>
            </a:r>
            <a:r>
              <a:rPr sz="2400" dirty="0">
                <a:latin typeface="Verdana"/>
                <a:cs typeface="Verdana"/>
              </a:rPr>
              <a:t>o	</a:t>
            </a:r>
            <a:r>
              <a:rPr sz="2400" spc="10" dirty="0">
                <a:latin typeface="Verdana"/>
                <a:cs typeface="Verdana"/>
              </a:rPr>
              <a:t>'</a:t>
            </a:r>
            <a:r>
              <a:rPr sz="2400" dirty="0">
                <a:latin typeface="Verdana"/>
                <a:cs typeface="Verdana"/>
              </a:rPr>
              <a:t>rotate	</a:t>
            </a:r>
            <a:r>
              <a:rPr sz="2400" spc="-10" dirty="0">
                <a:latin typeface="Verdana"/>
                <a:cs typeface="Verdana"/>
              </a:rPr>
              <a:t>left</a:t>
            </a:r>
            <a:r>
              <a:rPr sz="2400" dirty="0">
                <a:latin typeface="Verdana"/>
                <a:cs typeface="Verdana"/>
              </a:rPr>
              <a:t>'	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nst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uc</a:t>
            </a:r>
            <a:r>
              <a:rPr sz="2400" spc="10" dirty="0">
                <a:latin typeface="Verdana"/>
                <a:cs typeface="Verdana"/>
              </a:rPr>
              <a:t>t</a:t>
            </a:r>
            <a:r>
              <a:rPr sz="2400" spc="-10" dirty="0">
                <a:latin typeface="Verdana"/>
                <a:cs typeface="Verdana"/>
              </a:rPr>
              <a:t>ion</a:t>
            </a:r>
            <a:r>
              <a:rPr sz="2400" dirty="0">
                <a:latin typeface="Verdana"/>
                <a:cs typeface="Verdana"/>
              </a:rPr>
              <a:t>,	</a:t>
            </a:r>
            <a:r>
              <a:rPr sz="2400" spc="-5" dirty="0">
                <a:latin typeface="Verdana"/>
                <a:cs typeface="Verdana"/>
              </a:rPr>
              <a:t>bec</a:t>
            </a:r>
            <a:r>
              <a:rPr sz="2400" spc="-10" dirty="0">
                <a:latin typeface="Verdana"/>
                <a:cs typeface="Verdana"/>
              </a:rPr>
              <a:t>a</a:t>
            </a:r>
            <a:r>
              <a:rPr sz="2400" dirty="0">
                <a:latin typeface="Verdana"/>
                <a:cs typeface="Verdana"/>
              </a:rPr>
              <a:t>use	</a:t>
            </a:r>
            <a:r>
              <a:rPr sz="2400" spc="-10" dirty="0">
                <a:latin typeface="Verdana"/>
                <a:cs typeface="Verdana"/>
              </a:rPr>
              <a:t>lef</a:t>
            </a:r>
            <a:r>
              <a:rPr sz="2400" dirty="0">
                <a:latin typeface="Verdana"/>
                <a:cs typeface="Verdana"/>
              </a:rPr>
              <a:t>t	rot</a:t>
            </a:r>
            <a:r>
              <a:rPr sz="2400" spc="5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ion	</a:t>
            </a:r>
            <a:r>
              <a:rPr sz="2400" spc="15" dirty="0">
                <a:latin typeface="Verdana"/>
                <a:cs typeface="Verdana"/>
              </a:rPr>
              <a:t>b</a:t>
            </a:r>
            <a:r>
              <a:rPr sz="2400" dirty="0">
                <a:latin typeface="Verdana"/>
                <a:cs typeface="Verdana"/>
              </a:rPr>
              <a:t>y	n</a:t>
            </a:r>
            <a:endParaRPr sz="2400">
              <a:latin typeface="Verdana"/>
              <a:cs typeface="Verdana"/>
            </a:endParaRPr>
          </a:p>
          <a:p>
            <a:pPr marL="195580">
              <a:lnSpc>
                <a:spcPts val="2735"/>
              </a:lnSpc>
            </a:pPr>
            <a:r>
              <a:rPr sz="2400" spc="-5" dirty="0">
                <a:latin typeface="Verdana"/>
                <a:cs typeface="Verdana"/>
              </a:rPr>
              <a:t>times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-5" dirty="0">
                <a:latin typeface="Verdana"/>
                <a:cs typeface="Verdana"/>
              </a:rPr>
              <a:t> achieved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 </a:t>
            </a:r>
            <a:r>
              <a:rPr sz="2400" spc="-5" dirty="0">
                <a:latin typeface="Verdana"/>
                <a:cs typeface="Verdana"/>
              </a:rPr>
              <a:t>rotating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right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(32</a:t>
            </a:r>
            <a:r>
              <a:rPr sz="2400" dirty="0">
                <a:latin typeface="Verdana"/>
                <a:cs typeface="Verdana"/>
              </a:rPr>
              <a:t> —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n)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times.</a:t>
            </a:r>
            <a:endParaRPr sz="2400">
              <a:latin typeface="Verdana"/>
              <a:cs typeface="Verdana"/>
            </a:endParaRPr>
          </a:p>
          <a:p>
            <a:pPr marL="195580" marR="5080" indent="-182880">
              <a:lnSpc>
                <a:spcPts val="2590"/>
              </a:lnSpc>
              <a:spcBef>
                <a:spcPts val="144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spc="-20" dirty="0">
                <a:latin typeface="Verdana"/>
                <a:cs typeface="Verdana"/>
              </a:rPr>
              <a:t>For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example,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rotating</a:t>
            </a:r>
            <a:r>
              <a:rPr sz="2400" spc="2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4</a:t>
            </a:r>
            <a:r>
              <a:rPr sz="2400" spc="2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times</a:t>
            </a:r>
            <a:r>
              <a:rPr sz="2400" spc="265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to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left</a:t>
            </a:r>
            <a:r>
              <a:rPr sz="2400" spc="29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spc="2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achieved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by</a:t>
            </a:r>
            <a:r>
              <a:rPr sz="2400" spc="2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rotating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32</a:t>
            </a:r>
            <a:r>
              <a:rPr sz="2400" dirty="0">
                <a:latin typeface="Verdana"/>
                <a:cs typeface="Verdana"/>
              </a:rPr>
              <a:t> —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4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= </a:t>
            </a:r>
            <a:r>
              <a:rPr sz="2400" spc="-5" dirty="0">
                <a:latin typeface="Verdana"/>
                <a:cs typeface="Verdana"/>
              </a:rPr>
              <a:t>28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times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right.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344" y="3483864"/>
            <a:ext cx="7595616" cy="121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05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1460" y="486953"/>
            <a:ext cx="1044702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898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26" y="645922"/>
            <a:ext cx="97040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5.2.1.5</a:t>
            </a:r>
            <a:r>
              <a:rPr sz="4000" spc="4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95" dirty="0">
                <a:solidFill>
                  <a:srgbClr val="FF0000"/>
                </a:solidFill>
                <a:latin typeface="Corbel"/>
                <a:cs typeface="Corbel"/>
              </a:rPr>
              <a:t>ROTATE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RIGHT</a:t>
            </a:r>
            <a:r>
              <a:rPr sz="4000" spc="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EXTENDED</a:t>
            </a:r>
            <a:r>
              <a:rPr sz="4000" spc="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dirty="0">
                <a:solidFill>
                  <a:srgbClr val="FF0000"/>
                </a:solidFill>
                <a:latin typeface="Corbel"/>
                <a:cs typeface="Corbel"/>
              </a:rPr>
              <a:t>(RRX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30" dirty="0">
                <a:solidFill>
                  <a:srgbClr val="FF0000"/>
                </a:solidFill>
                <a:latin typeface="Corbel"/>
                <a:cs typeface="Corbel"/>
              </a:rPr>
              <a:t>#n)</a:t>
            </a:r>
            <a:endParaRPr sz="4000" dirty="0">
              <a:solidFill>
                <a:srgbClr val="FF0000"/>
              </a:solidFill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214" y="1867026"/>
            <a:ext cx="11525885" cy="1696085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363220" indent="-350520" algn="just">
              <a:lnSpc>
                <a:spcPct val="100000"/>
              </a:lnSpc>
              <a:spcBef>
                <a:spcPts val="1205"/>
              </a:spcBef>
              <a:buClr>
                <a:srgbClr val="2C2C2C"/>
              </a:buClr>
              <a:buFont typeface="Wingdings"/>
              <a:buChar char=""/>
              <a:tabLst>
                <a:tab pos="363220" algn="l"/>
              </a:tabLst>
            </a:pPr>
            <a:r>
              <a:rPr sz="2400" spc="-5" dirty="0">
                <a:latin typeface="Verdana"/>
                <a:cs typeface="Verdana"/>
              </a:rPr>
              <a:t>RRX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ROR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operation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crucial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difference.</a:t>
            </a:r>
            <a:endParaRPr sz="2400" dirty="0">
              <a:latin typeface="Verdana"/>
              <a:cs typeface="Verdana"/>
            </a:endParaRPr>
          </a:p>
          <a:p>
            <a:pPr marL="195580" marR="5080" indent="-182880" algn="just">
              <a:lnSpc>
                <a:spcPts val="2590"/>
              </a:lnSpc>
              <a:spcBef>
                <a:spcPts val="1430"/>
              </a:spcBef>
              <a:buClr>
                <a:srgbClr val="2C2C2C"/>
              </a:buClr>
              <a:buFont typeface="Wingdings"/>
              <a:buChar char=""/>
              <a:tabLst>
                <a:tab pos="363220" algn="l"/>
              </a:tabLst>
            </a:pPr>
            <a:r>
              <a:rPr sz="2400" spc="-10" dirty="0">
                <a:latin typeface="Verdana"/>
                <a:cs typeface="Verdana"/>
              </a:rPr>
              <a:t>It </a:t>
            </a:r>
            <a:r>
              <a:rPr sz="2400" dirty="0">
                <a:latin typeface="Verdana"/>
                <a:cs typeface="Verdana"/>
              </a:rPr>
              <a:t>rotates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number </a:t>
            </a:r>
            <a:r>
              <a:rPr sz="2400" spc="5" dirty="0">
                <a:latin typeface="Verdana"/>
                <a:cs typeface="Verdana"/>
              </a:rPr>
              <a:t>to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right </a:t>
            </a:r>
            <a:r>
              <a:rPr sz="2400" spc="5" dirty="0">
                <a:latin typeface="Verdana"/>
                <a:cs typeface="Verdana"/>
              </a:rPr>
              <a:t>by </a:t>
            </a:r>
            <a:r>
              <a:rPr sz="2400" dirty="0">
                <a:latin typeface="Verdana"/>
                <a:cs typeface="Verdana"/>
              </a:rPr>
              <a:t>one </a:t>
            </a:r>
            <a:r>
              <a:rPr sz="2400" spc="-5" dirty="0">
                <a:latin typeface="Verdana"/>
                <a:cs typeface="Verdana"/>
              </a:rPr>
              <a:t>place </a:t>
            </a:r>
            <a:r>
              <a:rPr sz="2400" dirty="0">
                <a:latin typeface="Verdana"/>
                <a:cs typeface="Verdana"/>
              </a:rPr>
              <a:t>but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original bit </a:t>
            </a:r>
            <a:r>
              <a:rPr sz="2400" spc="-5" dirty="0">
                <a:latin typeface="Verdana"/>
                <a:cs typeface="Verdana"/>
              </a:rPr>
              <a:t>31 </a:t>
            </a:r>
            <a:r>
              <a:rPr sz="2400" spc="10" dirty="0">
                <a:latin typeface="Verdana"/>
                <a:cs typeface="Verdana"/>
              </a:rPr>
              <a:t>is 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filled </a:t>
            </a:r>
            <a:r>
              <a:rPr sz="2400" spc="5" dirty="0">
                <a:latin typeface="Verdana"/>
                <a:cs typeface="Verdana"/>
              </a:rPr>
              <a:t>by </a:t>
            </a:r>
            <a:r>
              <a:rPr sz="2400" dirty="0">
                <a:latin typeface="Verdana"/>
                <a:cs typeface="Verdana"/>
              </a:rPr>
              <a:t>the </a:t>
            </a:r>
            <a:r>
              <a:rPr sz="2400" spc="-5" dirty="0">
                <a:latin typeface="Verdana"/>
                <a:cs typeface="Verdana"/>
              </a:rPr>
              <a:t>value </a:t>
            </a:r>
            <a:r>
              <a:rPr sz="2400" dirty="0">
                <a:latin typeface="Verdana"/>
                <a:cs typeface="Verdana"/>
              </a:rPr>
              <a:t>of </a:t>
            </a:r>
            <a:r>
              <a:rPr sz="2400" spc="-5" dirty="0">
                <a:latin typeface="Verdana"/>
                <a:cs typeface="Verdana"/>
              </a:rPr>
              <a:t>the Carry </a:t>
            </a:r>
            <a:r>
              <a:rPr sz="2400" dirty="0">
                <a:latin typeface="Verdana"/>
                <a:cs typeface="Verdana"/>
              </a:rPr>
              <a:t>flag and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original bit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moved </a:t>
            </a:r>
            <a:r>
              <a:rPr sz="2400" spc="-5" dirty="0">
                <a:latin typeface="Verdana"/>
                <a:cs typeface="Verdana"/>
              </a:rPr>
              <a:t>into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Carry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flag.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9214" y="5200650"/>
            <a:ext cx="1152334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indent="-182880">
              <a:lnSpc>
                <a:spcPts val="2590"/>
              </a:lnSpc>
              <a:spcBef>
                <a:spcPts val="42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spc="3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allows</a:t>
            </a:r>
            <a:r>
              <a:rPr sz="2400" spc="3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37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33-bit</a:t>
            </a:r>
            <a:r>
              <a:rPr sz="2400" spc="3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rotation</a:t>
            </a:r>
            <a:r>
              <a:rPr sz="2400" spc="39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by</a:t>
            </a:r>
            <a:r>
              <a:rPr sz="2400" spc="3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using</a:t>
            </a:r>
            <a:r>
              <a:rPr sz="2400" spc="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both</a:t>
            </a:r>
            <a:r>
              <a:rPr sz="2400" spc="3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39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register</a:t>
            </a:r>
            <a:r>
              <a:rPr sz="2400" spc="3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3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38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carry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flag.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9344" y="3712464"/>
            <a:ext cx="7331964" cy="133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8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1640" y="1071372"/>
            <a:ext cx="10062972" cy="453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526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99BDD"/>
                </a:solidFill>
                <a:latin typeface="Corbel"/>
                <a:cs typeface="Corbel"/>
              </a:rPr>
              <a:t>PROBLEMS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126" y="2007234"/>
            <a:ext cx="9961880" cy="27476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Verdana"/>
                <a:cs typeface="Verdana"/>
              </a:rPr>
              <a:t>Find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results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following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operations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given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contents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R1=0x0089EF32,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R2=0x80456730,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R3=0x8</a:t>
            </a:r>
            <a:endParaRPr sz="2400" dirty="0">
              <a:latin typeface="Verdana"/>
              <a:cs typeface="Verdana"/>
            </a:endParaRPr>
          </a:p>
          <a:p>
            <a:pPr marL="228600" marR="7458709">
              <a:lnSpc>
                <a:spcPts val="4000"/>
              </a:lnSpc>
              <a:spcBef>
                <a:spcPts val="270"/>
              </a:spcBef>
            </a:pPr>
            <a:r>
              <a:rPr sz="2400" dirty="0">
                <a:latin typeface="Verdana"/>
                <a:cs typeface="Verdana"/>
              </a:rPr>
              <a:t>1. </a:t>
            </a:r>
            <a:r>
              <a:rPr sz="2400" spc="-5" dirty="0">
                <a:latin typeface="Verdana"/>
                <a:cs typeface="Verdana"/>
              </a:rPr>
              <a:t>LSL R1,#8 </a:t>
            </a:r>
            <a:r>
              <a:rPr sz="2400" dirty="0">
                <a:latin typeface="Verdana"/>
                <a:cs typeface="Verdana"/>
              </a:rPr>
              <a:t> 2.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LSR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R1,#12</a:t>
            </a:r>
            <a:endParaRPr sz="2400" dirty="0">
              <a:latin typeface="Verdana"/>
              <a:cs typeface="Verdana"/>
            </a:endParaRPr>
          </a:p>
          <a:p>
            <a:pPr marL="641350" indent="-413384">
              <a:lnSpc>
                <a:spcPct val="100000"/>
              </a:lnSpc>
              <a:spcBef>
                <a:spcPts val="795"/>
              </a:spcBef>
              <a:buAutoNum type="arabicPeriod" startAt="3"/>
              <a:tabLst>
                <a:tab pos="641985" algn="l"/>
              </a:tabLst>
            </a:pPr>
            <a:r>
              <a:rPr sz="2400" spc="-5" dirty="0">
                <a:latin typeface="Verdana"/>
                <a:cs typeface="Verdana"/>
              </a:rPr>
              <a:t>ASR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R2,R3</a:t>
            </a:r>
            <a:endParaRPr sz="2400" dirty="0">
              <a:latin typeface="Verdana"/>
              <a:cs typeface="Verdana"/>
            </a:endParaRPr>
          </a:p>
          <a:p>
            <a:pPr marL="641350" indent="-413384">
              <a:lnSpc>
                <a:spcPct val="100000"/>
              </a:lnSpc>
              <a:spcBef>
                <a:spcPts val="1105"/>
              </a:spcBef>
              <a:buAutoNum type="arabicPeriod" startAt="3"/>
              <a:tabLst>
                <a:tab pos="641985" algn="l"/>
              </a:tabLst>
            </a:pPr>
            <a:r>
              <a:rPr sz="2400" spc="-10" dirty="0">
                <a:latin typeface="Verdana"/>
                <a:cs typeface="Verdana"/>
              </a:rPr>
              <a:t>ROR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R2,R3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14676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1450" y="1581838"/>
            <a:ext cx="8624316" cy="48051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2898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99BDD"/>
                </a:solidFill>
                <a:latin typeface="Corbel"/>
                <a:cs typeface="Corbel"/>
              </a:rPr>
              <a:t>ANSWERS</a:t>
            </a:r>
            <a:endParaRPr sz="400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278571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26" y="645922"/>
            <a:ext cx="80924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5.2.1.6</a:t>
            </a:r>
            <a:r>
              <a:rPr sz="4000" spc="4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5" dirty="0">
                <a:solidFill>
                  <a:srgbClr val="FF0000"/>
                </a:solidFill>
                <a:latin typeface="Corbel"/>
                <a:cs typeface="Corbel"/>
              </a:rPr>
              <a:t>MOV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Instruction</a:t>
            </a:r>
            <a:r>
              <a:rPr sz="4000" spc="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60" dirty="0">
                <a:solidFill>
                  <a:srgbClr val="FF0000"/>
                </a:solidFill>
                <a:latin typeface="Corbel"/>
                <a:cs typeface="Corbel"/>
              </a:rPr>
              <a:t>(MOV,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 MVN)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4584" y="1919985"/>
            <a:ext cx="11525885" cy="20637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4945" marR="5080" indent="-182880">
              <a:lnSpc>
                <a:spcPts val="2590"/>
              </a:lnSpc>
              <a:spcBef>
                <a:spcPts val="42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3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most</a:t>
            </a:r>
            <a:r>
              <a:rPr sz="2400" spc="3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frequently</a:t>
            </a:r>
            <a:r>
              <a:rPr sz="2400" spc="3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used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</a:t>
            </a:r>
            <a:r>
              <a:rPr sz="2400" spc="40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3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any</a:t>
            </a:r>
            <a:r>
              <a:rPr sz="2400" spc="3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processor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is</a:t>
            </a:r>
            <a:r>
              <a:rPr sz="2400" spc="3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3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one</a:t>
            </a:r>
            <a:r>
              <a:rPr sz="2400" spc="3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copies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from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source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 destination.</a:t>
            </a:r>
            <a:endParaRPr sz="2400" dirty="0">
              <a:latin typeface="Verdana"/>
              <a:cs typeface="Verdana"/>
            </a:endParaRPr>
          </a:p>
          <a:p>
            <a:pPr marL="194945" marR="6985" indent="-182880">
              <a:lnSpc>
                <a:spcPts val="2600"/>
              </a:lnSpc>
              <a:spcBef>
                <a:spcPts val="1390"/>
              </a:spcBef>
              <a:buClr>
                <a:srgbClr val="2C2C2C"/>
              </a:buClr>
              <a:buFont typeface="Wingdings"/>
              <a:buChar char=""/>
              <a:tabLst>
                <a:tab pos="255904" algn="l"/>
              </a:tabLst>
            </a:pP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ARM,</a:t>
            </a:r>
            <a:r>
              <a:rPr sz="2400" spc="1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1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`MOV'</a:t>
            </a:r>
            <a:r>
              <a:rPr sz="2400" spc="1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</a:t>
            </a:r>
            <a:r>
              <a:rPr sz="2400" spc="1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does</a:t>
            </a:r>
            <a:r>
              <a:rPr sz="2400" spc="14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the</a:t>
            </a:r>
            <a:r>
              <a:rPr sz="2400" spc="1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copying</a:t>
            </a:r>
            <a:r>
              <a:rPr sz="2400" spc="1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1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data</a:t>
            </a:r>
            <a:r>
              <a:rPr sz="2400" spc="145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to</a:t>
            </a:r>
            <a:r>
              <a:rPr sz="2400" spc="1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1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destination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register.</a:t>
            </a:r>
            <a:endParaRPr sz="2400" dirty="0">
              <a:latin typeface="Verdana"/>
              <a:cs typeface="Verdana"/>
            </a:endParaRPr>
          </a:p>
          <a:p>
            <a:pPr marL="255270" indent="-243204">
              <a:lnSpc>
                <a:spcPct val="100000"/>
              </a:lnSpc>
              <a:spcBef>
                <a:spcPts val="1070"/>
              </a:spcBef>
              <a:buClr>
                <a:srgbClr val="2C2C2C"/>
              </a:buClr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simplest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formats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MOV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</a:t>
            </a:r>
            <a:r>
              <a:rPr sz="2400" spc="1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follows:</a:t>
            </a:r>
            <a:endParaRPr sz="24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4667" y="4093464"/>
            <a:ext cx="9829800" cy="262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07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5050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EXAMPLE</a:t>
            </a:r>
            <a:r>
              <a:rPr sz="4000" b="0" spc="-85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1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4743" y="1354680"/>
            <a:ext cx="817154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is the content of the destination registers after the execution of the following instructions</a:t>
            </a:r>
            <a:r>
              <a:rPr lang="en-US" dirty="0" smtClean="0"/>
              <a:t>?</a:t>
            </a:r>
          </a:p>
          <a:p>
            <a:r>
              <a:rPr lang="en-IN" dirty="0"/>
              <a:t>R1 = 0</a:t>
            </a:r>
            <a:br>
              <a:rPr lang="en-IN" dirty="0"/>
            </a:br>
            <a:r>
              <a:rPr lang="en-IN" dirty="0"/>
              <a:t>R2 = </a:t>
            </a:r>
            <a:r>
              <a:rPr lang="en-IN" dirty="0" smtClean="0"/>
              <a:t>0x896700FF</a:t>
            </a:r>
          </a:p>
          <a:p>
            <a:endParaRPr lang="en-IN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467429" y="2505279"/>
            <a:ext cx="46736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 R3, R1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MVN R4, R1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MVN R5, R2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 R6, #235 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5029" y="409018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 dirty="0"/>
              <a:t>SOLUTION</a:t>
            </a:r>
          </a:p>
          <a:p>
            <a:pPr>
              <a:buFont typeface="+mj-lt"/>
              <a:buAutoNum type="arabicPeriod"/>
            </a:pPr>
            <a:r>
              <a:rPr lang="pt-BR" dirty="0"/>
              <a:t>R3 = 0 </a:t>
            </a:r>
          </a:p>
          <a:p>
            <a:pPr>
              <a:buFont typeface="+mj-lt"/>
              <a:buAutoNum type="arabicPeriod"/>
            </a:pPr>
            <a:r>
              <a:rPr lang="pt-BR" dirty="0"/>
              <a:t>R4 = 0xFFFFFFFF </a:t>
            </a:r>
          </a:p>
          <a:p>
            <a:pPr>
              <a:buFont typeface="+mj-lt"/>
              <a:buAutoNum type="arabicPeriod"/>
            </a:pPr>
            <a:r>
              <a:rPr lang="pt-BR" dirty="0"/>
              <a:t>R5 = 0x7698FF00 </a:t>
            </a:r>
          </a:p>
          <a:p>
            <a:pPr>
              <a:buFont typeface="+mj-lt"/>
              <a:buAutoNum type="arabicPeriod"/>
            </a:pPr>
            <a:r>
              <a:rPr lang="pt-BR" dirty="0"/>
              <a:t>R6 = 0x000000EB </a:t>
            </a:r>
            <a:r>
              <a:rPr lang="pt-BR" i="1" dirty="0"/>
              <a:t>(235 in 32-bit hexadecimal format)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5381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439" y="0"/>
            <a:ext cx="25374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EXAMPLE</a:t>
            </a:r>
            <a:r>
              <a:rPr sz="4000" b="0" spc="-75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2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6438" y="635000"/>
            <a:ext cx="1179556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result in the destination register after the execution of the following instructions, if:</a:t>
            </a:r>
          </a:p>
          <a:p>
            <a:r>
              <a:rPr lang="en-US" dirty="0"/>
              <a:t>R6 = 0xFFEE1100 and R2 = 8</a:t>
            </a:r>
          </a:p>
          <a:p>
            <a:pPr>
              <a:buFont typeface="+mj-lt"/>
              <a:buAutoNum type="arabicPeriod"/>
            </a:pPr>
            <a:r>
              <a:rPr lang="en-US" dirty="0"/>
              <a:t>MOV R10, R6, LSR #2 </a:t>
            </a:r>
          </a:p>
          <a:p>
            <a:pPr>
              <a:buFont typeface="+mj-lt"/>
              <a:buAutoNum type="arabicPeriod"/>
            </a:pPr>
            <a:r>
              <a:rPr lang="en-US" dirty="0"/>
              <a:t>MVN R9, R6, LSL #4 </a:t>
            </a:r>
          </a:p>
          <a:p>
            <a:pPr>
              <a:buFont typeface="+mj-lt"/>
              <a:buAutoNum type="arabicPeriod"/>
            </a:pPr>
            <a:r>
              <a:rPr lang="en-US" dirty="0"/>
              <a:t>MOV R8, R6, ASR R2 </a:t>
            </a:r>
            <a:endParaRPr lang="en-US" dirty="0" smtClean="0"/>
          </a:p>
          <a:p>
            <a:r>
              <a:rPr lang="en-US" dirty="0" smtClean="0"/>
              <a:t>Given:</a:t>
            </a:r>
            <a:endParaRPr lang="en-US" dirty="0"/>
          </a:p>
          <a:p>
            <a:r>
              <a:rPr lang="es-ES" dirty="0"/>
              <a:t>FF   EE   11   00</a:t>
            </a:r>
          </a:p>
          <a:p>
            <a:r>
              <a:rPr lang="es-ES" dirty="0"/>
              <a:t>11111111 11101110 00010001 </a:t>
            </a:r>
            <a:r>
              <a:rPr lang="es-ES" dirty="0" smtClean="0"/>
              <a:t>00000000</a:t>
            </a:r>
          </a:p>
          <a:p>
            <a:r>
              <a:rPr lang="pt-BR" dirty="0" smtClean="0"/>
              <a:t>1</a:t>
            </a:r>
            <a:r>
              <a:rPr lang="pt-BR" dirty="0"/>
              <a:t>) MOV R10, R6, LSR #</a:t>
            </a:r>
            <a:r>
              <a:rPr lang="pt-BR" dirty="0" smtClean="0"/>
              <a:t>2</a:t>
            </a:r>
          </a:p>
          <a:p>
            <a:r>
              <a:rPr lang="pt-BR" dirty="0" smtClean="0"/>
              <a:t> 		 </a:t>
            </a:r>
            <a:r>
              <a:rPr lang="en-US" dirty="0" smtClean="0"/>
              <a:t>Before:11111111 </a:t>
            </a:r>
            <a:r>
              <a:rPr lang="en-US" dirty="0"/>
              <a:t>11101110 00010001 00000000</a:t>
            </a:r>
          </a:p>
          <a:p>
            <a:r>
              <a:rPr lang="en-US" dirty="0" smtClean="0"/>
              <a:t>		After </a:t>
            </a:r>
            <a:r>
              <a:rPr lang="en-US" dirty="0"/>
              <a:t>LSR #</a:t>
            </a:r>
            <a:r>
              <a:rPr lang="en-US" dirty="0" smtClean="0"/>
              <a:t>2:R10=00111111 </a:t>
            </a:r>
            <a:r>
              <a:rPr lang="en-US" dirty="0"/>
              <a:t>11111011 10000100 </a:t>
            </a:r>
            <a:r>
              <a:rPr lang="en-US" dirty="0" smtClean="0"/>
              <a:t>01000000=</a:t>
            </a:r>
            <a:r>
              <a:rPr lang="pt-BR" dirty="0" smtClean="0"/>
              <a:t> </a:t>
            </a:r>
            <a:r>
              <a:rPr lang="pt-BR" dirty="0"/>
              <a:t>0x3FFB8440</a:t>
            </a:r>
            <a:endParaRPr lang="en-US" dirty="0" smtClean="0"/>
          </a:p>
          <a:p>
            <a:r>
              <a:rPr lang="pt-BR" dirty="0" smtClean="0"/>
              <a:t>2) </a:t>
            </a:r>
            <a:r>
              <a:rPr lang="pt-BR" dirty="0"/>
              <a:t>MVN R9, R6, LSL #</a:t>
            </a:r>
            <a:r>
              <a:rPr lang="pt-BR" dirty="0" smtClean="0"/>
              <a:t>4</a:t>
            </a:r>
          </a:p>
          <a:p>
            <a:r>
              <a:rPr lang="en-US" dirty="0" smtClean="0"/>
              <a:t>			Before: 	11111111 </a:t>
            </a:r>
            <a:r>
              <a:rPr lang="en-US" dirty="0"/>
              <a:t>11101110 00010001 00000000</a:t>
            </a:r>
          </a:p>
          <a:p>
            <a:r>
              <a:rPr lang="en-US" dirty="0" smtClean="0"/>
              <a:t>			After </a:t>
            </a:r>
            <a:r>
              <a:rPr lang="en-US" dirty="0"/>
              <a:t>LSL #4</a:t>
            </a:r>
            <a:r>
              <a:rPr lang="en-US" dirty="0" smtClean="0"/>
              <a:t>: 11111110 </a:t>
            </a:r>
            <a:r>
              <a:rPr lang="en-US" dirty="0"/>
              <a:t>11100001 00010000 </a:t>
            </a:r>
            <a:r>
              <a:rPr lang="en-US" dirty="0" smtClean="0"/>
              <a:t>00000000</a:t>
            </a:r>
          </a:p>
          <a:p>
            <a:r>
              <a:rPr lang="en-US" dirty="0" smtClean="0"/>
              <a:t>			Before NOT:11111110 </a:t>
            </a:r>
            <a:r>
              <a:rPr lang="en-US" dirty="0"/>
              <a:t>11100001 00010000 00000000</a:t>
            </a:r>
          </a:p>
          <a:p>
            <a:r>
              <a:rPr lang="en-US" dirty="0" smtClean="0"/>
              <a:t>			After NOT:00000001 </a:t>
            </a:r>
            <a:r>
              <a:rPr lang="en-US" dirty="0"/>
              <a:t>00011110 11101111 </a:t>
            </a:r>
            <a:r>
              <a:rPr lang="en-US" dirty="0" smtClean="0"/>
              <a:t>11111111</a:t>
            </a:r>
          </a:p>
          <a:p>
            <a:r>
              <a:rPr lang="pt-BR" dirty="0" smtClean="0"/>
              <a:t>			R9 </a:t>
            </a:r>
            <a:r>
              <a:rPr lang="pt-BR" dirty="0"/>
              <a:t>= </a:t>
            </a:r>
            <a:r>
              <a:rPr lang="pt-BR" dirty="0" smtClean="0"/>
              <a:t>0000 0001 00011 110 1110 1111 1111 1111= 0x011EEFFF</a:t>
            </a:r>
          </a:p>
          <a:p>
            <a:r>
              <a:rPr lang="pt-BR" dirty="0" smtClean="0"/>
              <a:t>3</a:t>
            </a:r>
            <a:r>
              <a:rPr lang="pt-BR" dirty="0"/>
              <a:t>) MOV R8, R6, ASR R2 (R2 = 8)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685143" y="5609649"/>
            <a:ext cx="8026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Before:11111111 </a:t>
            </a:r>
            <a:r>
              <a:rPr lang="en-IN" dirty="0"/>
              <a:t>11101110 00010001 00000000</a:t>
            </a:r>
          </a:p>
          <a:p>
            <a:r>
              <a:rPr lang="en-IN" dirty="0" smtClean="0"/>
              <a:t>After </a:t>
            </a:r>
            <a:r>
              <a:rPr lang="en-IN" dirty="0"/>
              <a:t>ASR #</a:t>
            </a:r>
            <a:r>
              <a:rPr lang="en-IN" dirty="0" smtClean="0"/>
              <a:t>8:11111111 </a:t>
            </a:r>
            <a:r>
              <a:rPr lang="en-IN" dirty="0"/>
              <a:t>11111111 11101110 </a:t>
            </a:r>
            <a:r>
              <a:rPr lang="en-IN" dirty="0" smtClean="0"/>
              <a:t>00010001</a:t>
            </a:r>
          </a:p>
          <a:p>
            <a:r>
              <a:rPr lang="pt-BR" dirty="0"/>
              <a:t>R8 = </a:t>
            </a:r>
            <a:r>
              <a:rPr lang="pt-BR" dirty="0" smtClean="0"/>
              <a:t>1111 1111 </a:t>
            </a:r>
            <a:r>
              <a:rPr lang="pt-BR" dirty="0"/>
              <a:t>11111111 11101110 </a:t>
            </a:r>
            <a:r>
              <a:rPr lang="pt-BR" dirty="0" smtClean="0"/>
              <a:t>00010001  </a:t>
            </a:r>
            <a:r>
              <a:rPr lang="pt-BR" dirty="0"/>
              <a:t>= 0xFFFFEE11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360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26" y="645922"/>
            <a:ext cx="49041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5.2.1.7</a:t>
            </a:r>
            <a:r>
              <a:rPr sz="4000" spc="3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THE</a:t>
            </a:r>
            <a:r>
              <a:rPr sz="4000" spc="-1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SUFFIX</a:t>
            </a:r>
            <a:r>
              <a:rPr sz="4000" spc="3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‘S’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4584" y="1919985"/>
            <a:ext cx="11525250" cy="29006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4945" marR="5715" indent="-182880">
              <a:lnSpc>
                <a:spcPts val="2590"/>
              </a:lnSpc>
              <a:spcBef>
                <a:spcPts val="42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dirty="0">
                <a:latin typeface="Verdana"/>
                <a:cs typeface="Verdana"/>
              </a:rPr>
              <a:t>For</a:t>
            </a:r>
            <a:r>
              <a:rPr sz="2400" spc="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any</a:t>
            </a:r>
            <a:r>
              <a:rPr sz="2400" spc="1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data</a:t>
            </a:r>
            <a:r>
              <a:rPr sz="2400" spc="8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processing</a:t>
            </a:r>
            <a:r>
              <a:rPr sz="2400" spc="114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</a:t>
            </a:r>
            <a:r>
              <a:rPr sz="2400" spc="125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to</a:t>
            </a:r>
            <a:r>
              <a:rPr sz="2400" spc="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have</a:t>
            </a:r>
            <a:r>
              <a:rPr sz="2400" spc="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8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capability</a:t>
            </a:r>
            <a:r>
              <a:rPr sz="2400" spc="11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to</a:t>
            </a:r>
            <a:r>
              <a:rPr sz="2400" spc="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update</a:t>
            </a:r>
            <a:r>
              <a:rPr sz="2400" spc="8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conditional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flags,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must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-10" dirty="0">
                <a:latin typeface="Verdana"/>
                <a:cs typeface="Verdana"/>
              </a:rPr>
              <a:t> suffixed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character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'S'.</a:t>
            </a:r>
          </a:p>
          <a:p>
            <a:pPr marL="194945" marR="5080" indent="-182880">
              <a:lnSpc>
                <a:spcPts val="2600"/>
              </a:lnSpc>
              <a:spcBef>
                <a:spcPts val="1390"/>
              </a:spcBef>
              <a:buClr>
                <a:srgbClr val="2C2C2C"/>
              </a:buClr>
              <a:buFont typeface="Wingdings"/>
              <a:buChar char=""/>
              <a:tabLst>
                <a:tab pos="255904" algn="l"/>
                <a:tab pos="655320" algn="l"/>
                <a:tab pos="1379855" algn="l"/>
                <a:tab pos="2379345" algn="l"/>
                <a:tab pos="2787650" algn="l"/>
                <a:tab pos="3453765" algn="l"/>
                <a:tab pos="5120005" algn="l"/>
                <a:tab pos="5592445" algn="l"/>
                <a:tab pos="6255385" algn="l"/>
                <a:tab pos="8155940" algn="l"/>
                <a:tab pos="8817610" algn="l"/>
                <a:tab pos="10330815" algn="l"/>
                <a:tab pos="10791190" algn="l"/>
              </a:tabLst>
            </a:pPr>
            <a:r>
              <a:rPr sz="2400" spc="-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f	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spc="15" dirty="0">
                <a:latin typeface="Verdana"/>
                <a:cs typeface="Verdana"/>
              </a:rPr>
              <a:t>h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s	s</a:t>
            </a:r>
            <a:r>
              <a:rPr sz="2400" spc="10" dirty="0">
                <a:latin typeface="Verdana"/>
                <a:cs typeface="Verdana"/>
              </a:rPr>
              <a:t>u</a:t>
            </a:r>
            <a:r>
              <a:rPr sz="2400" dirty="0">
                <a:latin typeface="Verdana"/>
                <a:cs typeface="Verdana"/>
              </a:rPr>
              <a:t>f</a:t>
            </a:r>
            <a:r>
              <a:rPr sz="2400" spc="10" dirty="0">
                <a:latin typeface="Verdana"/>
                <a:cs typeface="Verdana"/>
              </a:rPr>
              <a:t>f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x	is	</a:t>
            </a:r>
            <a:r>
              <a:rPr sz="2400" spc="10" dirty="0">
                <a:latin typeface="Verdana"/>
                <a:cs typeface="Verdana"/>
              </a:rPr>
              <a:t>n</a:t>
            </a:r>
            <a:r>
              <a:rPr sz="2400" dirty="0">
                <a:latin typeface="Verdana"/>
                <a:cs typeface="Verdana"/>
              </a:rPr>
              <a:t>ot	ap</a:t>
            </a:r>
            <a:r>
              <a:rPr sz="2400" spc="5" dirty="0">
                <a:latin typeface="Verdana"/>
                <a:cs typeface="Verdana"/>
              </a:rPr>
              <a:t>p</a:t>
            </a:r>
            <a:r>
              <a:rPr sz="2400" dirty="0">
                <a:latin typeface="Verdana"/>
                <a:cs typeface="Verdana"/>
              </a:rPr>
              <a:t>ended	</a:t>
            </a:r>
            <a:r>
              <a:rPr sz="2400" spc="10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o	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he	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5" dirty="0">
                <a:latin typeface="Verdana"/>
                <a:cs typeface="Verdana"/>
              </a:rPr>
              <a:t>truc</a:t>
            </a:r>
            <a:r>
              <a:rPr sz="2400" spc="10" dirty="0">
                <a:latin typeface="Verdana"/>
                <a:cs typeface="Verdana"/>
              </a:rPr>
              <a:t>t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spc="15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n,	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he	u</a:t>
            </a:r>
            <a:r>
              <a:rPr sz="2400" spc="15" dirty="0">
                <a:latin typeface="Verdana"/>
                <a:cs typeface="Verdana"/>
              </a:rPr>
              <a:t>p</a:t>
            </a:r>
            <a:r>
              <a:rPr sz="2400" spc="-5" dirty="0">
                <a:latin typeface="Verdana"/>
                <a:cs typeface="Verdana"/>
              </a:rPr>
              <a:t>datin</a:t>
            </a:r>
            <a:r>
              <a:rPr sz="2400" dirty="0">
                <a:latin typeface="Verdana"/>
                <a:cs typeface="Verdana"/>
              </a:rPr>
              <a:t>g	</a:t>
            </a:r>
            <a:r>
              <a:rPr sz="2400" spc="5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f	</a:t>
            </a:r>
            <a:r>
              <a:rPr sz="2400" spc="5" dirty="0">
                <a:latin typeface="Verdana"/>
                <a:cs typeface="Verdana"/>
              </a:rPr>
              <a:t>f</a:t>
            </a:r>
            <a:r>
              <a:rPr sz="2400" spc="-10" dirty="0">
                <a:latin typeface="Verdana"/>
                <a:cs typeface="Verdana"/>
              </a:rPr>
              <a:t>lags  </a:t>
            </a:r>
            <a:r>
              <a:rPr sz="2400" spc="-5" dirty="0">
                <a:latin typeface="Verdana"/>
                <a:cs typeface="Verdana"/>
              </a:rPr>
              <a:t>does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not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occur.</a:t>
            </a:r>
            <a:endParaRPr sz="2400" dirty="0">
              <a:latin typeface="Verdana"/>
              <a:cs typeface="Verdana"/>
            </a:endParaRPr>
          </a:p>
          <a:p>
            <a:pPr marL="255270" indent="-243204">
              <a:lnSpc>
                <a:spcPct val="100000"/>
              </a:lnSpc>
              <a:spcBef>
                <a:spcPts val="1070"/>
              </a:spcBef>
              <a:buClr>
                <a:srgbClr val="2C2C2C"/>
              </a:buClr>
              <a:buFont typeface="Wingdings"/>
              <a:buChar char=""/>
              <a:tabLst>
                <a:tab pos="255904" algn="l"/>
              </a:tabLst>
            </a:pPr>
            <a:r>
              <a:rPr sz="2400" spc="-20" dirty="0">
                <a:latin typeface="Verdana"/>
                <a:cs typeface="Verdana"/>
              </a:rPr>
              <a:t>For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example, the</a:t>
            </a:r>
            <a:r>
              <a:rPr sz="2400" dirty="0">
                <a:latin typeface="Verdana"/>
                <a:cs typeface="Verdana"/>
              </a:rPr>
              <a:t> MOV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</a:t>
            </a:r>
            <a:r>
              <a:rPr sz="2400" spc="1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may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 appended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as </a:t>
            </a:r>
            <a:r>
              <a:rPr sz="2400" spc="-5" dirty="0">
                <a:latin typeface="Verdana"/>
                <a:cs typeface="Verdana"/>
              </a:rPr>
              <a:t>MOVS.</a:t>
            </a:r>
            <a:endParaRPr sz="2400" dirty="0">
              <a:latin typeface="Verdana"/>
              <a:cs typeface="Verdana"/>
            </a:endParaRPr>
          </a:p>
          <a:p>
            <a:pPr marL="194945" marR="5715" indent="-182880">
              <a:lnSpc>
                <a:spcPts val="2590"/>
              </a:lnSpc>
              <a:spcBef>
                <a:spcPts val="1445"/>
              </a:spcBef>
              <a:buClr>
                <a:srgbClr val="2C2C2C"/>
              </a:buClr>
              <a:buFont typeface="Wingdings"/>
              <a:buChar char=""/>
              <a:tabLst>
                <a:tab pos="255904" algn="l"/>
                <a:tab pos="1280160" algn="l"/>
                <a:tab pos="3221990" algn="l"/>
                <a:tab pos="4260215" algn="l"/>
                <a:tab pos="5513070" algn="l"/>
                <a:tab pos="7884795" algn="l"/>
                <a:tab pos="9477375" algn="l"/>
              </a:tabLst>
            </a:pPr>
            <a:r>
              <a:rPr sz="2400" spc="-5" dirty="0">
                <a:latin typeface="Verdana"/>
                <a:cs typeface="Verdana"/>
              </a:rPr>
              <a:t>Other	instructions	which	</a:t>
            </a:r>
            <a:r>
              <a:rPr sz="2400" dirty="0">
                <a:latin typeface="Verdana"/>
                <a:cs typeface="Verdana"/>
              </a:rPr>
              <a:t>we</a:t>
            </a:r>
            <a:r>
              <a:rPr sz="2400" spc="4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will	</a:t>
            </a:r>
            <a:r>
              <a:rPr sz="2400" spc="-5" dirty="0">
                <a:latin typeface="Verdana"/>
                <a:cs typeface="Verdana"/>
              </a:rPr>
              <a:t>see</a:t>
            </a:r>
            <a:r>
              <a:rPr sz="2400" spc="4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presently,	</a:t>
            </a:r>
            <a:r>
              <a:rPr sz="2400" dirty="0">
                <a:latin typeface="Verdana"/>
                <a:cs typeface="Verdana"/>
              </a:rPr>
              <a:t>may</a:t>
            </a:r>
            <a:r>
              <a:rPr sz="2400" spc="4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also	be</a:t>
            </a:r>
            <a:r>
              <a:rPr sz="2400" spc="3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appended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suffix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13936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0244" y="1191767"/>
            <a:ext cx="9826752" cy="551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1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26" y="645922"/>
            <a:ext cx="7733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5.2.1.8</a:t>
            </a:r>
            <a:r>
              <a:rPr sz="4000" spc="-1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CONDITIONAL EXECUTION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4584" y="1919985"/>
            <a:ext cx="11525885" cy="27222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4945" marR="11430" indent="-182880" algn="just">
              <a:lnSpc>
                <a:spcPts val="2590"/>
              </a:lnSpc>
              <a:spcBef>
                <a:spcPts val="42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spc="-5" dirty="0">
                <a:latin typeface="Verdana"/>
                <a:cs typeface="Verdana"/>
              </a:rPr>
              <a:t>One </a:t>
            </a:r>
            <a:r>
              <a:rPr sz="2400" dirty="0">
                <a:latin typeface="Verdana"/>
                <a:cs typeface="Verdana"/>
              </a:rPr>
              <a:t>of ARM's special features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that it can execute any </a:t>
            </a:r>
            <a:r>
              <a:rPr sz="2400" spc="-5" dirty="0">
                <a:latin typeface="Verdana"/>
                <a:cs typeface="Verdana"/>
              </a:rPr>
              <a:t>instruction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conditionally.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 algn="just">
              <a:lnSpc>
                <a:spcPct val="90100"/>
              </a:lnSpc>
              <a:spcBef>
                <a:spcPts val="135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word conditionally </a:t>
            </a:r>
            <a:r>
              <a:rPr sz="2400" spc="-10" dirty="0">
                <a:latin typeface="Verdana"/>
                <a:cs typeface="Verdana"/>
              </a:rPr>
              <a:t>implies </a:t>
            </a:r>
            <a:r>
              <a:rPr sz="2400" spc="-5" dirty="0">
                <a:latin typeface="Verdana"/>
                <a:cs typeface="Verdana"/>
              </a:rPr>
              <a:t>that </a:t>
            </a:r>
            <a:r>
              <a:rPr sz="2400" dirty="0">
                <a:latin typeface="Verdana"/>
                <a:cs typeface="Verdana"/>
              </a:rPr>
              <a:t>the state of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condition </a:t>
            </a:r>
            <a:r>
              <a:rPr sz="2400" spc="5" dirty="0">
                <a:latin typeface="Verdana"/>
                <a:cs typeface="Verdana"/>
              </a:rPr>
              <a:t>flags </a:t>
            </a:r>
            <a:r>
              <a:rPr sz="2400" spc="-5" dirty="0">
                <a:latin typeface="Verdana"/>
                <a:cs typeface="Verdana"/>
              </a:rPr>
              <a:t>are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checked before </a:t>
            </a:r>
            <a:r>
              <a:rPr sz="2400" dirty="0">
                <a:latin typeface="Verdana"/>
                <a:cs typeface="Verdana"/>
              </a:rPr>
              <a:t>it is </a:t>
            </a:r>
            <a:r>
              <a:rPr sz="2400" spc="-5" dirty="0">
                <a:latin typeface="Verdana"/>
                <a:cs typeface="Verdana"/>
              </a:rPr>
              <a:t>decided </a:t>
            </a:r>
            <a:r>
              <a:rPr sz="2400" dirty="0">
                <a:latin typeface="Verdana"/>
                <a:cs typeface="Verdana"/>
              </a:rPr>
              <a:t>whether </a:t>
            </a:r>
            <a:r>
              <a:rPr sz="2400" spc="-5" dirty="0">
                <a:latin typeface="Verdana"/>
                <a:cs typeface="Verdana"/>
              </a:rPr>
              <a:t>the instruction </a:t>
            </a:r>
            <a:r>
              <a:rPr sz="2400" dirty="0">
                <a:latin typeface="Verdana"/>
                <a:cs typeface="Verdana"/>
              </a:rPr>
              <a:t>should be executed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not.</a:t>
            </a:r>
          </a:p>
          <a:p>
            <a:pPr marL="194945" marR="6350" indent="-182880" algn="just">
              <a:lnSpc>
                <a:spcPts val="2590"/>
              </a:lnSpc>
              <a:spcBef>
                <a:spcPts val="1445"/>
              </a:spcBef>
              <a:buClr>
                <a:srgbClr val="2C2C2C"/>
              </a:buClr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Verdana"/>
                <a:cs typeface="Verdana"/>
              </a:rPr>
              <a:t>If the </a:t>
            </a:r>
            <a:r>
              <a:rPr sz="2400" dirty="0">
                <a:latin typeface="Verdana"/>
                <a:cs typeface="Verdana"/>
              </a:rPr>
              <a:t>required </a:t>
            </a:r>
            <a:r>
              <a:rPr sz="2400" spc="-5" dirty="0">
                <a:latin typeface="Verdana"/>
                <a:cs typeface="Verdana"/>
              </a:rPr>
              <a:t>condition </a:t>
            </a:r>
            <a:r>
              <a:rPr sz="2400" dirty="0">
                <a:latin typeface="Verdana"/>
                <a:cs typeface="Verdana"/>
              </a:rPr>
              <a:t>is not met, the </a:t>
            </a:r>
            <a:r>
              <a:rPr sz="2400" spc="-5" dirty="0">
                <a:latin typeface="Verdana"/>
                <a:cs typeface="Verdana"/>
              </a:rPr>
              <a:t>instruction </a:t>
            </a:r>
            <a:r>
              <a:rPr sz="2400" dirty="0">
                <a:latin typeface="Verdana"/>
                <a:cs typeface="Verdana"/>
              </a:rPr>
              <a:t>becomes a NOP </a:t>
            </a:r>
            <a:r>
              <a:rPr sz="2400" spc="-5" dirty="0">
                <a:latin typeface="Verdana"/>
                <a:cs typeface="Verdana"/>
              </a:rPr>
              <a:t>(No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Operation).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32670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824" rIns="0" bIns="0" rtlCol="0">
            <a:spAutoFit/>
          </a:bodyPr>
          <a:lstStyle/>
          <a:p>
            <a:pPr marL="184785" marR="5080">
              <a:lnSpc>
                <a:spcPts val="3679"/>
              </a:lnSpc>
              <a:spcBef>
                <a:spcPts val="755"/>
              </a:spcBef>
            </a:pPr>
            <a:r>
              <a:rPr b="0" dirty="0">
                <a:solidFill>
                  <a:srgbClr val="099BDD"/>
                </a:solidFill>
                <a:latin typeface="Corbel"/>
                <a:cs typeface="Corbel"/>
              </a:rPr>
              <a:t>LIST</a:t>
            </a:r>
            <a:r>
              <a:rPr b="0" spc="-150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099BDD"/>
                </a:solidFill>
                <a:latin typeface="Corbel"/>
                <a:cs typeface="Corbel"/>
              </a:rPr>
              <a:t>OF</a:t>
            </a:r>
            <a:r>
              <a:rPr b="0" spc="-150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099BDD"/>
                </a:solidFill>
                <a:latin typeface="Corbel"/>
                <a:cs typeface="Corbel"/>
              </a:rPr>
              <a:t>CONDITION</a:t>
            </a:r>
            <a:r>
              <a:rPr b="0" spc="-150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099BDD"/>
                </a:solidFill>
                <a:latin typeface="Corbel"/>
                <a:cs typeface="Corbel"/>
              </a:rPr>
              <a:t>CODES</a:t>
            </a:r>
            <a:r>
              <a:rPr b="0" spc="20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099BDD"/>
                </a:solidFill>
                <a:latin typeface="Corbel"/>
                <a:cs typeface="Corbel"/>
              </a:rPr>
              <a:t>and</a:t>
            </a:r>
            <a:r>
              <a:rPr b="0" spc="-10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099BDD"/>
                </a:solidFill>
                <a:latin typeface="Corbel"/>
                <a:cs typeface="Corbel"/>
              </a:rPr>
              <a:t>the</a:t>
            </a:r>
            <a:r>
              <a:rPr b="0" spc="-15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b="0" spc="-10" dirty="0">
                <a:solidFill>
                  <a:srgbClr val="099BDD"/>
                </a:solidFill>
                <a:latin typeface="Corbel"/>
                <a:cs typeface="Corbel"/>
              </a:rPr>
              <a:t>FLAGS</a:t>
            </a:r>
            <a:r>
              <a:rPr b="0" spc="-120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b="0" spc="-30" dirty="0">
                <a:solidFill>
                  <a:srgbClr val="099BDD"/>
                </a:solidFill>
                <a:latin typeface="Corbel"/>
                <a:cs typeface="Corbel"/>
              </a:rPr>
              <a:t>UPDATED </a:t>
            </a:r>
            <a:r>
              <a:rPr b="0" spc="-705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b="0" spc="-40" dirty="0">
                <a:solidFill>
                  <a:srgbClr val="099BDD"/>
                </a:solidFill>
                <a:latin typeface="Corbel"/>
                <a:cs typeface="Corbel"/>
              </a:rPr>
              <a:t>CORRESPONDINGLY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2976" y="1658110"/>
            <a:ext cx="8418576" cy="507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7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0017" y="545337"/>
            <a:ext cx="86912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Format</a:t>
            </a:r>
            <a:r>
              <a:rPr sz="4000" spc="2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of</a:t>
            </a:r>
            <a:r>
              <a:rPr sz="4000" spc="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a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 Data</a:t>
            </a:r>
            <a:r>
              <a:rPr sz="4000" spc="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Processing</a:t>
            </a:r>
            <a:r>
              <a:rPr sz="4000" spc="3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Instruction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2673858"/>
            <a:ext cx="11438890" cy="390461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215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Corbel"/>
                <a:cs typeface="Corbel"/>
              </a:rPr>
              <a:t>Figure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shows </a:t>
            </a:r>
            <a:r>
              <a:rPr sz="2400" spc="-10" dirty="0">
                <a:latin typeface="Corbel"/>
                <a:cs typeface="Corbel"/>
              </a:rPr>
              <a:t>the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instruction</a:t>
            </a:r>
            <a:r>
              <a:rPr sz="2400" spc="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format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 </a:t>
            </a:r>
            <a:r>
              <a:rPr sz="2400" spc="-5" dirty="0">
                <a:latin typeface="Corbel"/>
                <a:cs typeface="Corbel"/>
              </a:rPr>
              <a:t>typical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data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processing instruction.</a:t>
            </a:r>
            <a:endParaRPr sz="2400" dirty="0">
              <a:latin typeface="Corbel"/>
              <a:cs typeface="Corbel"/>
            </a:endParaRPr>
          </a:p>
          <a:p>
            <a:pPr marL="195580" indent="-182880">
              <a:lnSpc>
                <a:spcPct val="100000"/>
              </a:lnSpc>
              <a:spcBef>
                <a:spcPts val="1115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dirty="0">
                <a:latin typeface="Corbel"/>
                <a:cs typeface="Corbel"/>
              </a:rPr>
              <a:t>Looking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at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Fig,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we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see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that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four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bits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are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allocated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to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specify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the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condition.</a:t>
            </a:r>
            <a:endParaRPr sz="2400" dirty="0">
              <a:latin typeface="Corbel"/>
              <a:cs typeface="Corbel"/>
            </a:endParaRPr>
          </a:p>
          <a:p>
            <a:pPr marL="195580" marR="5080" indent="-182880">
              <a:lnSpc>
                <a:spcPts val="2590"/>
              </a:lnSpc>
              <a:spcBef>
                <a:spcPts val="1445"/>
              </a:spcBef>
              <a:buClr>
                <a:srgbClr val="FFFFFF"/>
              </a:buClr>
              <a:buFont typeface="Wingdings"/>
              <a:buChar char=""/>
              <a:tabLst>
                <a:tab pos="234950" algn="l"/>
                <a:tab pos="235585" algn="l"/>
                <a:tab pos="894715" algn="l"/>
                <a:tab pos="2425065" algn="l"/>
                <a:tab pos="3757295" algn="l"/>
                <a:tab pos="4083685" algn="l"/>
                <a:tab pos="4972050" algn="l"/>
                <a:tab pos="5458460" algn="l"/>
                <a:tab pos="7054215" algn="l"/>
                <a:tab pos="7379970" algn="l"/>
                <a:tab pos="8682355" algn="l"/>
                <a:tab pos="10166350" algn="l"/>
                <a:tab pos="10605770" algn="l"/>
              </a:tabLst>
            </a:pPr>
            <a:r>
              <a:rPr dirty="0"/>
              <a:t>	</a:t>
            </a:r>
            <a:r>
              <a:rPr sz="2400" spc="-5" dirty="0">
                <a:latin typeface="Corbel"/>
                <a:cs typeface="Corbel"/>
              </a:rPr>
              <a:t>Th</a:t>
            </a:r>
            <a:r>
              <a:rPr sz="2400" dirty="0">
                <a:latin typeface="Corbel"/>
                <a:cs typeface="Corbel"/>
              </a:rPr>
              <a:t>e	in</a:t>
            </a:r>
            <a:r>
              <a:rPr sz="2400" spc="5" dirty="0">
                <a:latin typeface="Corbel"/>
                <a:cs typeface="Corbel"/>
              </a:rPr>
              <a:t>s</a:t>
            </a:r>
            <a:r>
              <a:rPr sz="2400" spc="-5" dirty="0">
                <a:latin typeface="Corbel"/>
                <a:cs typeface="Corbel"/>
              </a:rPr>
              <a:t>tr</a:t>
            </a:r>
            <a:r>
              <a:rPr sz="2400" dirty="0">
                <a:latin typeface="Corbel"/>
                <a:cs typeface="Corbel"/>
              </a:rPr>
              <a:t>u</a:t>
            </a:r>
            <a:r>
              <a:rPr sz="2400" spc="-5" dirty="0">
                <a:latin typeface="Corbel"/>
                <a:cs typeface="Corbel"/>
              </a:rPr>
              <a:t>cti</a:t>
            </a:r>
            <a:r>
              <a:rPr sz="2400" dirty="0">
                <a:latin typeface="Corbel"/>
                <a:cs typeface="Corbel"/>
              </a:rPr>
              <a:t>on	pro</a:t>
            </a:r>
            <a:r>
              <a:rPr sz="2400" spc="-15" dirty="0">
                <a:latin typeface="Corbel"/>
                <a:cs typeface="Corbel"/>
              </a:rPr>
              <a:t>d</a:t>
            </a:r>
            <a:r>
              <a:rPr sz="2400" dirty="0">
                <a:latin typeface="Corbel"/>
                <a:cs typeface="Corbel"/>
              </a:rPr>
              <a:t>uces	a	result	</a:t>
            </a:r>
            <a:r>
              <a:rPr sz="2400" spc="-5" dirty="0">
                <a:latin typeface="Corbel"/>
                <a:cs typeface="Corbel"/>
              </a:rPr>
              <a:t>b</a:t>
            </a:r>
            <a:r>
              <a:rPr sz="2400" dirty="0">
                <a:latin typeface="Corbel"/>
                <a:cs typeface="Corbel"/>
              </a:rPr>
              <a:t>y	pe</a:t>
            </a:r>
            <a:r>
              <a:rPr sz="2400" spc="-10" dirty="0">
                <a:latin typeface="Corbel"/>
                <a:cs typeface="Corbel"/>
              </a:rPr>
              <a:t>r</a:t>
            </a:r>
            <a:r>
              <a:rPr sz="2400" dirty="0">
                <a:latin typeface="Corbel"/>
                <a:cs typeface="Corbel"/>
              </a:rPr>
              <a:t>fo</a:t>
            </a:r>
            <a:r>
              <a:rPr sz="2400" spc="-15" dirty="0">
                <a:latin typeface="Corbel"/>
                <a:cs typeface="Corbel"/>
              </a:rPr>
              <a:t>r</a:t>
            </a:r>
            <a:r>
              <a:rPr sz="2400" dirty="0">
                <a:latin typeface="Corbel"/>
                <a:cs typeface="Corbel"/>
              </a:rPr>
              <a:t>mi</a:t>
            </a:r>
            <a:r>
              <a:rPr sz="2400" spc="-10" dirty="0">
                <a:latin typeface="Corbel"/>
                <a:cs typeface="Corbel"/>
              </a:rPr>
              <a:t>n</a:t>
            </a:r>
            <a:r>
              <a:rPr sz="2400" dirty="0">
                <a:latin typeface="Corbel"/>
                <a:cs typeface="Corbel"/>
              </a:rPr>
              <a:t>g	a	</a:t>
            </a:r>
            <a:r>
              <a:rPr sz="2400" spc="-5" dirty="0">
                <a:latin typeface="Corbel"/>
                <a:cs typeface="Corbel"/>
              </a:rPr>
              <a:t>spe</a:t>
            </a:r>
            <a:r>
              <a:rPr sz="2400" spc="5" dirty="0">
                <a:latin typeface="Corbel"/>
                <a:cs typeface="Corbel"/>
              </a:rPr>
              <a:t>c</a:t>
            </a:r>
            <a:r>
              <a:rPr sz="2400" dirty="0">
                <a:latin typeface="Corbel"/>
                <a:cs typeface="Corbel"/>
              </a:rPr>
              <a:t>ified	ari</a:t>
            </a:r>
            <a:r>
              <a:rPr sz="2400" spc="10" dirty="0">
                <a:latin typeface="Corbel"/>
                <a:cs typeface="Corbel"/>
              </a:rPr>
              <a:t>t</a:t>
            </a:r>
            <a:r>
              <a:rPr sz="2400" spc="-5" dirty="0">
                <a:latin typeface="Corbel"/>
                <a:cs typeface="Corbel"/>
              </a:rPr>
              <a:t>hme</a:t>
            </a:r>
            <a:r>
              <a:rPr sz="2400" spc="5" dirty="0">
                <a:latin typeface="Corbel"/>
                <a:cs typeface="Corbel"/>
              </a:rPr>
              <a:t>t</a:t>
            </a:r>
            <a:r>
              <a:rPr sz="2400" dirty="0">
                <a:latin typeface="Corbel"/>
                <a:cs typeface="Corbel"/>
              </a:rPr>
              <a:t>ic	</a:t>
            </a:r>
            <a:r>
              <a:rPr sz="2400" spc="-10" dirty="0">
                <a:latin typeface="Corbel"/>
                <a:cs typeface="Corbel"/>
              </a:rPr>
              <a:t>o</a:t>
            </a:r>
            <a:r>
              <a:rPr sz="2400" dirty="0">
                <a:latin typeface="Corbel"/>
                <a:cs typeface="Corbel"/>
              </a:rPr>
              <a:t>r	log</a:t>
            </a:r>
            <a:r>
              <a:rPr sz="2400" spc="-10" dirty="0">
                <a:latin typeface="Corbel"/>
                <a:cs typeface="Corbel"/>
              </a:rPr>
              <a:t>i</a:t>
            </a:r>
            <a:r>
              <a:rPr sz="2400" spc="-5" dirty="0">
                <a:latin typeface="Corbel"/>
                <a:cs typeface="Corbel"/>
              </a:rPr>
              <a:t>c</a:t>
            </a:r>
            <a:r>
              <a:rPr sz="2400" spc="10" dirty="0">
                <a:latin typeface="Corbel"/>
                <a:cs typeface="Corbel"/>
              </a:rPr>
              <a:t>a</a:t>
            </a:r>
            <a:r>
              <a:rPr sz="2400" dirty="0">
                <a:latin typeface="Corbel"/>
                <a:cs typeface="Corbel"/>
              </a:rPr>
              <a:t>l  </a:t>
            </a:r>
            <a:r>
              <a:rPr sz="2400" spc="-5" dirty="0">
                <a:latin typeface="Corbel"/>
                <a:cs typeface="Corbel"/>
              </a:rPr>
              <a:t>operatio</a:t>
            </a:r>
            <a:r>
              <a:rPr sz="2400" dirty="0">
                <a:latin typeface="Corbel"/>
                <a:cs typeface="Corbel"/>
              </a:rPr>
              <a:t>n on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on</a:t>
            </a:r>
            <a:r>
              <a:rPr sz="2400" dirty="0">
                <a:latin typeface="Corbel"/>
                <a:cs typeface="Corbel"/>
              </a:rPr>
              <a:t>e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or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tw</a:t>
            </a:r>
            <a:r>
              <a:rPr sz="2400" dirty="0">
                <a:latin typeface="Corbel"/>
                <a:cs typeface="Corbel"/>
              </a:rPr>
              <a:t>o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op</a:t>
            </a:r>
            <a:r>
              <a:rPr sz="2400" spc="5" dirty="0">
                <a:latin typeface="Corbel"/>
                <a:cs typeface="Corbel"/>
              </a:rPr>
              <a:t>e</a:t>
            </a:r>
            <a:r>
              <a:rPr sz="2400" dirty="0">
                <a:latin typeface="Corbel"/>
                <a:cs typeface="Corbel"/>
              </a:rPr>
              <a:t>rand</a:t>
            </a:r>
            <a:r>
              <a:rPr sz="2400" spc="-5" dirty="0">
                <a:latin typeface="Corbel"/>
                <a:cs typeface="Corbel"/>
              </a:rPr>
              <a:t>s</a:t>
            </a:r>
            <a:r>
              <a:rPr sz="2400" dirty="0">
                <a:latin typeface="Corbel"/>
                <a:cs typeface="Corbel"/>
              </a:rPr>
              <a:t>.</a:t>
            </a:r>
            <a:r>
              <a:rPr sz="2400" spc="-17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Th</a:t>
            </a:r>
            <a:r>
              <a:rPr sz="2400" dirty="0">
                <a:latin typeface="Corbel"/>
                <a:cs typeface="Corbel"/>
              </a:rPr>
              <a:t>e first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op</a:t>
            </a:r>
            <a:r>
              <a:rPr sz="2400" spc="5" dirty="0">
                <a:latin typeface="Corbel"/>
                <a:cs typeface="Corbel"/>
              </a:rPr>
              <a:t>e</a:t>
            </a:r>
            <a:r>
              <a:rPr sz="2400" dirty="0">
                <a:latin typeface="Corbel"/>
                <a:cs typeface="Corbel"/>
              </a:rPr>
              <a:t>rand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</a:t>
            </a:r>
            <a:r>
              <a:rPr sz="2400" dirty="0">
                <a:latin typeface="Corbel"/>
                <a:cs typeface="Corbel"/>
              </a:rPr>
              <a:t>s al</a:t>
            </a:r>
            <a:r>
              <a:rPr sz="2400" spc="-10" dirty="0">
                <a:latin typeface="Corbel"/>
                <a:cs typeface="Corbel"/>
              </a:rPr>
              <a:t>w</a:t>
            </a:r>
            <a:r>
              <a:rPr sz="2400" dirty="0">
                <a:latin typeface="Corbel"/>
                <a:cs typeface="Corbel"/>
              </a:rPr>
              <a:t>ays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register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(R</a:t>
            </a:r>
            <a:r>
              <a:rPr sz="2400" spc="-60" dirty="0">
                <a:latin typeface="Corbel"/>
                <a:cs typeface="Corbel"/>
              </a:rPr>
              <a:t>n</a:t>
            </a:r>
            <a:r>
              <a:rPr sz="2400" spc="-5" dirty="0">
                <a:latin typeface="Corbel"/>
                <a:cs typeface="Corbel"/>
              </a:rPr>
              <a:t>)</a:t>
            </a:r>
            <a:r>
              <a:rPr sz="2400" dirty="0">
                <a:latin typeface="Corbel"/>
                <a:cs typeface="Corbel"/>
              </a:rPr>
              <a:t>.</a:t>
            </a:r>
          </a:p>
          <a:p>
            <a:pPr marL="195580" indent="-182880">
              <a:lnSpc>
                <a:spcPct val="100000"/>
              </a:lnSpc>
              <a:spcBef>
                <a:spcPts val="1070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Corbel"/>
                <a:cs typeface="Corbel"/>
              </a:rPr>
              <a:t>The second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operand</a:t>
            </a:r>
            <a:r>
              <a:rPr sz="2400" dirty="0">
                <a:latin typeface="Corbel"/>
                <a:cs typeface="Corbel"/>
              </a:rPr>
              <a:t> may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be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 </a:t>
            </a:r>
            <a:r>
              <a:rPr sz="2400" spc="-5" dirty="0">
                <a:latin typeface="Corbel"/>
                <a:cs typeface="Corbel"/>
              </a:rPr>
              <a:t>shifted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register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spc="-15" dirty="0">
                <a:latin typeface="Corbel"/>
                <a:cs typeface="Corbel"/>
              </a:rPr>
              <a:t>(Rm)</a:t>
            </a:r>
            <a:r>
              <a:rPr sz="2400" dirty="0">
                <a:latin typeface="Corbel"/>
                <a:cs typeface="Corbel"/>
              </a:rPr>
              <a:t> or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rotated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8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bit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immediate</a:t>
            </a:r>
            <a:r>
              <a:rPr sz="2400" spc="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value.</a:t>
            </a:r>
          </a:p>
          <a:p>
            <a:pPr marL="195580" indent="-182880">
              <a:lnSpc>
                <a:spcPct val="100000"/>
              </a:lnSpc>
              <a:spcBef>
                <a:spcPts val="1115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spc="-30" dirty="0">
                <a:latin typeface="Corbel"/>
                <a:cs typeface="Corbel"/>
              </a:rPr>
              <a:t>Rd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is</a:t>
            </a:r>
            <a:r>
              <a:rPr sz="2400" spc="-10" dirty="0">
                <a:latin typeface="Corbel"/>
                <a:cs typeface="Corbel"/>
              </a:rPr>
              <a:t> the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destination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spc="-15" dirty="0">
                <a:latin typeface="Corbel"/>
                <a:cs typeface="Corbel"/>
              </a:rPr>
              <a:t>register.</a:t>
            </a:r>
            <a:endParaRPr sz="2400" dirty="0">
              <a:latin typeface="Corbel"/>
              <a:cs typeface="Corbel"/>
            </a:endParaRPr>
          </a:p>
          <a:p>
            <a:pPr marL="195580" indent="-182880">
              <a:lnSpc>
                <a:spcPct val="100000"/>
              </a:lnSpc>
              <a:spcBef>
                <a:spcPts val="1120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Corbel"/>
                <a:cs typeface="Corbel"/>
              </a:rPr>
              <a:t>The</a:t>
            </a:r>
            <a:r>
              <a:rPr sz="2400" dirty="0">
                <a:latin typeface="Corbel"/>
                <a:cs typeface="Corbel"/>
              </a:rPr>
              <a:t> flag</a:t>
            </a:r>
            <a:r>
              <a:rPr sz="2400" spc="-5" dirty="0">
                <a:latin typeface="Corbel"/>
                <a:cs typeface="Corbel"/>
              </a:rPr>
              <a:t> bits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in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the</a:t>
            </a:r>
            <a:r>
              <a:rPr sz="2400" spc="-8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CPSR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may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be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updated</a:t>
            </a:r>
            <a:r>
              <a:rPr sz="2400" spc="-5" dirty="0">
                <a:latin typeface="Corbel"/>
                <a:cs typeface="Corbel"/>
              </a:rPr>
              <a:t> if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the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instructions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has</a:t>
            </a:r>
            <a:r>
              <a:rPr sz="2400" dirty="0">
                <a:latin typeface="Corbel"/>
                <a:cs typeface="Corbel"/>
              </a:rPr>
              <a:t> been </a:t>
            </a:r>
            <a:r>
              <a:rPr sz="2400" spc="-5" dirty="0">
                <a:latin typeface="Corbel"/>
                <a:cs typeface="Corbel"/>
              </a:rPr>
              <a:t>appended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with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35" dirty="0">
                <a:latin typeface="Corbel"/>
                <a:cs typeface="Corbel"/>
              </a:rPr>
              <a:t>‘S'.</a:t>
            </a:r>
            <a:endParaRPr sz="2400" dirty="0">
              <a:latin typeface="Corbel"/>
              <a:cs typeface="Corbel"/>
            </a:endParaRPr>
          </a:p>
          <a:p>
            <a:pPr marL="243840" indent="-231775">
              <a:lnSpc>
                <a:spcPct val="100000"/>
              </a:lnSpc>
              <a:spcBef>
                <a:spcPts val="1105"/>
              </a:spcBef>
              <a:buFont typeface="Wingdings"/>
              <a:buChar char=""/>
              <a:tabLst>
                <a:tab pos="243840" algn="l"/>
                <a:tab pos="244475" algn="l"/>
              </a:tabLst>
            </a:pPr>
            <a:r>
              <a:rPr sz="2400" spc="-5" dirty="0">
                <a:latin typeface="Corbel"/>
                <a:cs typeface="Corbel"/>
              </a:rPr>
              <a:t>Otherwise,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the</a:t>
            </a:r>
            <a:r>
              <a:rPr sz="2400" spc="-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flags are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not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affected.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2436" y="1328927"/>
            <a:ext cx="9784079" cy="142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217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5597" y="836803"/>
            <a:ext cx="8622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How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 Do</a:t>
            </a:r>
            <a:r>
              <a:rPr sz="4000" spc="-2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80" dirty="0">
                <a:solidFill>
                  <a:srgbClr val="FF0000"/>
                </a:solidFill>
                <a:latin typeface="Corbel"/>
                <a:cs typeface="Corbel"/>
              </a:rPr>
              <a:t>We</a:t>
            </a:r>
            <a:r>
              <a:rPr sz="4000" spc="-114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Use</a:t>
            </a:r>
            <a:r>
              <a:rPr sz="4000" spc="-15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Conditional</a:t>
            </a:r>
            <a:r>
              <a:rPr sz="4000" spc="2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Execution?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2495" y="1867026"/>
            <a:ext cx="10569575" cy="402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236970">
              <a:lnSpc>
                <a:spcPct val="1383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Let us </a:t>
            </a:r>
            <a:r>
              <a:rPr sz="2400" spc="-10" dirty="0">
                <a:latin typeface="Verdana"/>
                <a:cs typeface="Verdana"/>
              </a:rPr>
              <a:t>take </a:t>
            </a:r>
            <a:r>
              <a:rPr sz="2400" dirty="0">
                <a:latin typeface="Verdana"/>
                <a:cs typeface="Verdana"/>
              </a:rPr>
              <a:t>a few </a:t>
            </a:r>
            <a:r>
              <a:rPr sz="2400" spc="-5" dirty="0">
                <a:latin typeface="Verdana"/>
                <a:cs typeface="Verdana"/>
              </a:rPr>
              <a:t>examples. </a:t>
            </a:r>
            <a:r>
              <a:rPr sz="2400" spc="-8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MOVEQ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R2,R4</a:t>
            </a:r>
            <a:endParaRPr sz="2400" dirty="0">
              <a:latin typeface="Verdana"/>
              <a:cs typeface="Verdana"/>
            </a:endParaRPr>
          </a:p>
          <a:p>
            <a:pPr marL="195580" marR="6985" indent="-183515" algn="just">
              <a:lnSpc>
                <a:spcPct val="90000"/>
              </a:lnSpc>
              <a:spcBef>
                <a:spcPts val="1405"/>
              </a:spcBef>
              <a:buClr>
                <a:srgbClr val="FFFFFF"/>
              </a:buClr>
              <a:buFont typeface="Wingdings"/>
              <a:buChar char=""/>
              <a:tabLst>
                <a:tab pos="196215" algn="l"/>
              </a:tabLst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above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</a:t>
            </a:r>
            <a:r>
              <a:rPr sz="2400" dirty="0">
                <a:latin typeface="Verdana"/>
                <a:cs typeface="Verdana"/>
              </a:rPr>
              <a:t> checks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flags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associated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 `EQ:( equal). Referring </a:t>
            </a:r>
            <a:r>
              <a:rPr sz="2400" spc="5" dirty="0">
                <a:latin typeface="Verdana"/>
                <a:cs typeface="Verdana"/>
              </a:rPr>
              <a:t>to </a:t>
            </a:r>
            <a:r>
              <a:rPr sz="2400" dirty="0">
                <a:latin typeface="Verdana"/>
                <a:cs typeface="Verdana"/>
              </a:rPr>
              <a:t>Table </a:t>
            </a:r>
            <a:r>
              <a:rPr sz="2400" spc="-5" dirty="0">
                <a:latin typeface="Verdana"/>
                <a:cs typeface="Verdana"/>
              </a:rPr>
              <a:t>5.3, </a:t>
            </a:r>
            <a:r>
              <a:rPr sz="2400" dirty="0">
                <a:latin typeface="Verdana"/>
                <a:cs typeface="Verdana"/>
              </a:rPr>
              <a:t>we </a:t>
            </a:r>
            <a:r>
              <a:rPr sz="2400" spc="-5" dirty="0">
                <a:latin typeface="Verdana"/>
                <a:cs typeface="Verdana"/>
              </a:rPr>
              <a:t>see </a:t>
            </a:r>
            <a:r>
              <a:rPr sz="2400" dirty="0">
                <a:latin typeface="Verdana"/>
                <a:cs typeface="Verdana"/>
              </a:rPr>
              <a:t>that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Z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flag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should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set</a:t>
            </a:r>
            <a:r>
              <a:rPr sz="2400" spc="-5" dirty="0">
                <a:latin typeface="Verdana"/>
                <a:cs typeface="Verdana"/>
              </a:rPr>
              <a:t> (Z=1),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specified.</a:t>
            </a:r>
            <a:endParaRPr sz="2400" dirty="0">
              <a:latin typeface="Verdana"/>
              <a:cs typeface="Verdana"/>
            </a:endParaRPr>
          </a:p>
          <a:p>
            <a:pPr marL="195580" marR="5080" indent="-183515" algn="just">
              <a:lnSpc>
                <a:spcPct val="90000"/>
              </a:lnSpc>
              <a:spcBef>
                <a:spcPts val="1400"/>
              </a:spcBef>
              <a:buClr>
                <a:srgbClr val="FFFFFF"/>
              </a:buClr>
              <a:buFont typeface="Wingdings"/>
              <a:buChar char=""/>
              <a:tabLst>
                <a:tab pos="196215" algn="l"/>
              </a:tabLst>
            </a:pPr>
            <a:r>
              <a:rPr sz="2400" dirty="0">
                <a:latin typeface="Verdana"/>
                <a:cs typeface="Verdana"/>
              </a:rPr>
              <a:t>After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this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</a:t>
            </a:r>
            <a:r>
              <a:rPr sz="2400" dirty="0">
                <a:latin typeface="Verdana"/>
                <a:cs typeface="Verdana"/>
              </a:rPr>
              <a:t> is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fetched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decoded,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8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condition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(whether </a:t>
            </a:r>
            <a:r>
              <a:rPr sz="2400" dirty="0">
                <a:latin typeface="Verdana"/>
                <a:cs typeface="Verdana"/>
              </a:rPr>
              <a:t>Z flag is set)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checked before this instruction comes </a:t>
            </a:r>
            <a:r>
              <a:rPr sz="2400" spc="10" dirty="0">
                <a:latin typeface="Verdana"/>
                <a:cs typeface="Verdana"/>
              </a:rPr>
              <a:t>to 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execution </a:t>
            </a:r>
            <a:r>
              <a:rPr sz="2400" dirty="0">
                <a:latin typeface="Verdana"/>
                <a:cs typeface="Verdana"/>
              </a:rPr>
              <a:t>stage. </a:t>
            </a:r>
            <a:r>
              <a:rPr sz="2400" spc="-10" dirty="0">
                <a:latin typeface="Verdana"/>
                <a:cs typeface="Verdana"/>
              </a:rPr>
              <a:t>If </a:t>
            </a:r>
            <a:r>
              <a:rPr sz="2400" dirty="0">
                <a:latin typeface="Verdana"/>
                <a:cs typeface="Verdana"/>
              </a:rPr>
              <a:t>found to be true,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execution </a:t>
            </a:r>
            <a:r>
              <a:rPr sz="2400" spc="-5" dirty="0">
                <a:latin typeface="Verdana"/>
                <a:cs typeface="Verdana"/>
              </a:rPr>
              <a:t>of </a:t>
            </a:r>
            <a:r>
              <a:rPr sz="2400" dirty="0">
                <a:latin typeface="Verdana"/>
                <a:cs typeface="Verdana"/>
              </a:rPr>
              <a:t>copying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content of </a:t>
            </a:r>
            <a:r>
              <a:rPr sz="2400" spc="-5" dirty="0">
                <a:latin typeface="Verdana"/>
                <a:cs typeface="Verdana"/>
              </a:rPr>
              <a:t>R4 </a:t>
            </a:r>
            <a:r>
              <a:rPr sz="2400" spc="5" dirty="0">
                <a:latin typeface="Verdana"/>
                <a:cs typeface="Verdana"/>
              </a:rPr>
              <a:t>to </a:t>
            </a:r>
            <a:r>
              <a:rPr sz="2400" spc="-5" dirty="0">
                <a:latin typeface="Verdana"/>
                <a:cs typeface="Verdana"/>
              </a:rPr>
              <a:t>R2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done. But if </a:t>
            </a:r>
            <a:r>
              <a:rPr sz="2400" spc="-5" dirty="0">
                <a:latin typeface="Verdana"/>
                <a:cs typeface="Verdana"/>
              </a:rPr>
              <a:t>Z=0, </a:t>
            </a:r>
            <a:r>
              <a:rPr sz="2400" spc="5" dirty="0">
                <a:latin typeface="Verdana"/>
                <a:cs typeface="Verdana"/>
              </a:rPr>
              <a:t>the </a:t>
            </a:r>
            <a:r>
              <a:rPr sz="2400" spc="-10" dirty="0">
                <a:latin typeface="Verdana"/>
                <a:cs typeface="Verdana"/>
              </a:rPr>
              <a:t>instruction </a:t>
            </a:r>
            <a:r>
              <a:rPr sz="2400" dirty="0">
                <a:latin typeface="Verdana"/>
                <a:cs typeface="Verdana"/>
              </a:rPr>
              <a:t>simply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becomes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an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NOP,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is,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does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not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get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executed.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3177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7126" y="2135505"/>
            <a:ext cx="10817225" cy="286194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Verdana"/>
                <a:cs typeface="Verdana"/>
              </a:rPr>
              <a:t>MOVHI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R5,R6</a:t>
            </a:r>
            <a:endParaRPr sz="2400" dirty="0">
              <a:latin typeface="Verdana"/>
              <a:cs typeface="Verdana"/>
            </a:endParaRPr>
          </a:p>
          <a:p>
            <a:pPr marL="194945" marR="7620" indent="-182880" algn="just">
              <a:lnSpc>
                <a:spcPts val="2590"/>
              </a:lnSpc>
              <a:spcBef>
                <a:spcPts val="1435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Verdana"/>
                <a:cs typeface="Verdana"/>
              </a:rPr>
              <a:t>Before</a:t>
            </a:r>
            <a:r>
              <a:rPr sz="2400" spc="3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it</a:t>
            </a:r>
            <a:r>
              <a:rPr sz="2400" spc="3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3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decided</a:t>
            </a:r>
            <a:r>
              <a:rPr sz="2400" spc="3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whether</a:t>
            </a:r>
            <a:r>
              <a:rPr sz="2400" spc="3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these</a:t>
            </a:r>
            <a:r>
              <a:rPr sz="2400" spc="3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instructions</a:t>
            </a:r>
            <a:r>
              <a:rPr sz="2400" spc="3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should</a:t>
            </a:r>
            <a:r>
              <a:rPr sz="2400" spc="35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be</a:t>
            </a:r>
            <a:r>
              <a:rPr sz="2400" spc="3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executed </a:t>
            </a:r>
            <a:r>
              <a:rPr sz="2400" spc="-8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not,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flags </a:t>
            </a:r>
            <a:r>
              <a:rPr sz="2400" spc="-5" dirty="0">
                <a:latin typeface="Verdana"/>
                <a:cs typeface="Verdana"/>
              </a:rPr>
              <a:t>associated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'HI'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looked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at.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Table</a:t>
            </a:r>
            <a:endParaRPr sz="2400" dirty="0">
              <a:latin typeface="Verdana"/>
              <a:cs typeface="Verdana"/>
            </a:endParaRPr>
          </a:p>
          <a:p>
            <a:pPr marL="194945" algn="just">
              <a:lnSpc>
                <a:spcPts val="2555"/>
              </a:lnSpc>
            </a:pPr>
            <a:r>
              <a:rPr sz="2400" spc="-5" dirty="0">
                <a:latin typeface="Verdana"/>
                <a:cs typeface="Verdana"/>
              </a:rPr>
              <a:t>5.3 </a:t>
            </a:r>
            <a:r>
              <a:rPr sz="2400" dirty="0">
                <a:latin typeface="Verdana"/>
                <a:cs typeface="Verdana"/>
              </a:rPr>
              <a:t>shows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C=1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 Z=0</a:t>
            </a:r>
            <a:r>
              <a:rPr sz="2400" spc="-5" dirty="0">
                <a:latin typeface="Verdana"/>
                <a:cs typeface="Verdana"/>
              </a:rPr>
              <a:t> are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conditions.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 algn="just">
              <a:lnSpc>
                <a:spcPts val="2590"/>
              </a:lnSpc>
              <a:spcBef>
                <a:spcPts val="1445"/>
              </a:spcBef>
              <a:buClr>
                <a:srgbClr val="FFFFFF"/>
              </a:buClr>
              <a:buFont typeface="Wingdings"/>
              <a:buChar char=""/>
              <a:tabLst>
                <a:tab pos="304165" algn="l"/>
              </a:tabLst>
            </a:pPr>
            <a:r>
              <a:rPr dirty="0"/>
              <a:t>	</a:t>
            </a:r>
            <a:r>
              <a:rPr sz="2400" spc="-5" dirty="0">
                <a:latin typeface="Verdana"/>
                <a:cs typeface="Verdana"/>
              </a:rPr>
              <a:t>If </a:t>
            </a:r>
            <a:r>
              <a:rPr sz="2400" dirty="0">
                <a:latin typeface="Verdana"/>
                <a:cs typeface="Verdana"/>
              </a:rPr>
              <a:t>a previous </a:t>
            </a:r>
            <a:r>
              <a:rPr sz="2400" spc="-5" dirty="0">
                <a:latin typeface="Verdana"/>
                <a:cs typeface="Verdana"/>
              </a:rPr>
              <a:t>instruction </a:t>
            </a:r>
            <a:r>
              <a:rPr sz="2400" dirty="0">
                <a:latin typeface="Verdana"/>
                <a:cs typeface="Verdana"/>
              </a:rPr>
              <a:t>had </a:t>
            </a:r>
            <a:r>
              <a:rPr sz="2400" spc="-5" dirty="0">
                <a:latin typeface="Verdana"/>
                <a:cs typeface="Verdana"/>
              </a:rPr>
              <a:t>updated </a:t>
            </a:r>
            <a:r>
              <a:rPr sz="2400" dirty="0">
                <a:latin typeface="Verdana"/>
                <a:cs typeface="Verdana"/>
              </a:rPr>
              <a:t>the flags and </a:t>
            </a:r>
            <a:r>
              <a:rPr sz="2400" spc="-5" dirty="0">
                <a:latin typeface="Verdana"/>
                <a:cs typeface="Verdana"/>
              </a:rPr>
              <a:t>these conditions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dirty="0">
                <a:latin typeface="Verdana"/>
                <a:cs typeface="Verdana"/>
              </a:rPr>
              <a:t> met,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MOVHI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</a:t>
            </a:r>
            <a:r>
              <a:rPr sz="2400" dirty="0">
                <a:latin typeface="Verdana"/>
                <a:cs typeface="Verdana"/>
              </a:rPr>
              <a:t> gets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executed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—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otherwise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it 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becomes</a:t>
            </a:r>
            <a:r>
              <a:rPr sz="2400" dirty="0">
                <a:latin typeface="Verdana"/>
                <a:cs typeface="Verdana"/>
              </a:rPr>
              <a:t> a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NOR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6172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4468" y="436626"/>
            <a:ext cx="9501505" cy="104076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760"/>
              </a:spcBef>
            </a:pP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W</a:t>
            </a:r>
            <a:r>
              <a:rPr b="0" spc="5" dirty="0">
                <a:solidFill>
                  <a:srgbClr val="FF0000"/>
                </a:solidFill>
                <a:latin typeface="Corbel"/>
                <a:cs typeface="Corbel"/>
              </a:rPr>
              <a:t>h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at</a:t>
            </a:r>
            <a:r>
              <a:rPr b="0" spc="-17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Ar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e</a:t>
            </a:r>
            <a:r>
              <a:rPr b="0" spc="-25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T</a:t>
            </a:r>
            <a:r>
              <a:rPr b="0" spc="5" dirty="0">
                <a:solidFill>
                  <a:srgbClr val="FF0000"/>
                </a:solidFill>
                <a:latin typeface="Corbel"/>
                <a:cs typeface="Corbel"/>
              </a:rPr>
              <a:t>h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e</a:t>
            </a:r>
            <a:r>
              <a:rPr b="0" spc="-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Pro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s</a:t>
            </a:r>
            <a:r>
              <a:rPr b="0" spc="-15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An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d</a:t>
            </a:r>
            <a:r>
              <a:rPr b="0" spc="-14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Con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s</a:t>
            </a:r>
            <a:r>
              <a:rPr b="0" spc="-13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O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f</a:t>
            </a:r>
            <a:r>
              <a:rPr b="0" spc="-8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Such</a:t>
            </a:r>
            <a:r>
              <a:rPr b="0" spc="-15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Cond</a:t>
            </a:r>
            <a:r>
              <a:rPr b="0" spc="5" dirty="0">
                <a:solidFill>
                  <a:srgbClr val="FF0000"/>
                </a:solidFill>
                <a:latin typeface="Corbel"/>
                <a:cs typeface="Corbel"/>
              </a:rPr>
              <a:t>i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tional  Execution</a:t>
            </a:r>
            <a:r>
              <a:rPr b="0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(Which</a:t>
            </a:r>
            <a:r>
              <a:rPr b="0" spc="-4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Is</a:t>
            </a:r>
            <a:r>
              <a:rPr b="0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Not</a:t>
            </a:r>
            <a:r>
              <a:rPr b="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Done</a:t>
            </a:r>
            <a:r>
              <a:rPr b="0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Inmost</a:t>
            </a:r>
            <a:r>
              <a:rPr b="0" spc="-15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Other</a:t>
            </a:r>
            <a:r>
              <a:rPr b="0" spc="-1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ISAs)?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867026"/>
            <a:ext cx="10888345" cy="402844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05"/>
              </a:spcBef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plus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points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(pros)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are: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 algn="just">
              <a:lnSpc>
                <a:spcPct val="90000"/>
              </a:lnSpc>
              <a:spcBef>
                <a:spcPts val="1390"/>
              </a:spcBef>
              <a:buFont typeface="Wingdings"/>
              <a:buChar char=""/>
              <a:tabLst>
                <a:tab pos="391160" algn="l"/>
              </a:tabLst>
            </a:pPr>
            <a:r>
              <a:rPr sz="2400" dirty="0">
                <a:latin typeface="Verdana"/>
                <a:cs typeface="Verdana"/>
              </a:rPr>
              <a:t>Most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ISAs</a:t>
            </a:r>
            <a:r>
              <a:rPr sz="2400" dirty="0">
                <a:latin typeface="Verdana"/>
                <a:cs typeface="Verdana"/>
              </a:rPr>
              <a:t> use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only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dirty="0">
                <a:latin typeface="Verdana"/>
                <a:cs typeface="Verdana"/>
              </a:rPr>
              <a:t> branch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instructions.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Here,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conditions</a:t>
            </a:r>
            <a:r>
              <a:rPr sz="2400" dirty="0">
                <a:latin typeface="Verdana"/>
                <a:cs typeface="Verdana"/>
              </a:rPr>
              <a:t> may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appended</a:t>
            </a:r>
            <a:r>
              <a:rPr sz="2400" spc="5" dirty="0">
                <a:latin typeface="Verdana"/>
                <a:cs typeface="Verdana"/>
              </a:rPr>
              <a:t> to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any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other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instruction,</a:t>
            </a:r>
            <a:r>
              <a:rPr sz="2400" dirty="0">
                <a:latin typeface="Verdana"/>
                <a:cs typeface="Verdana"/>
              </a:rPr>
              <a:t> 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 evaluation hardware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shared for many instructions. The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end </a:t>
            </a:r>
            <a:r>
              <a:rPr sz="2400" spc="-5" dirty="0">
                <a:latin typeface="Verdana"/>
                <a:cs typeface="Verdana"/>
              </a:rPr>
              <a:t>result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spc="-5" dirty="0">
                <a:latin typeface="Verdana"/>
                <a:cs typeface="Verdana"/>
              </a:rPr>
              <a:t>that the effective </a:t>
            </a:r>
            <a:r>
              <a:rPr sz="2400" dirty="0">
                <a:latin typeface="Verdana"/>
                <a:cs typeface="Verdana"/>
              </a:rPr>
              <a:t>number of </a:t>
            </a:r>
            <a:r>
              <a:rPr sz="2400" spc="-5" dirty="0">
                <a:latin typeface="Verdana"/>
                <a:cs typeface="Verdana"/>
              </a:rPr>
              <a:t>instructions </a:t>
            </a:r>
            <a:r>
              <a:rPr sz="2400" dirty="0">
                <a:latin typeface="Verdana"/>
                <a:cs typeface="Verdana"/>
              </a:rPr>
              <a:t>in </a:t>
            </a:r>
            <a:r>
              <a:rPr sz="2400" spc="-5" dirty="0">
                <a:latin typeface="Verdana"/>
                <a:cs typeface="Verdana"/>
              </a:rPr>
              <a:t>the ISA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becomes</a:t>
            </a:r>
            <a:r>
              <a:rPr sz="2400" dirty="0">
                <a:latin typeface="Verdana"/>
                <a:cs typeface="Verdana"/>
              </a:rPr>
              <a:t> more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than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</a:t>
            </a:r>
            <a:r>
              <a:rPr sz="2400" dirty="0">
                <a:latin typeface="Verdana"/>
                <a:cs typeface="Verdana"/>
              </a:rPr>
              <a:t> seen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directly.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-5" dirty="0">
                <a:latin typeface="Verdana"/>
                <a:cs typeface="Verdana"/>
              </a:rPr>
              <a:t> achieved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without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additional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hardware.</a:t>
            </a:r>
            <a:endParaRPr sz="2400" dirty="0">
              <a:latin typeface="Verdana"/>
              <a:cs typeface="Verdana"/>
            </a:endParaRPr>
          </a:p>
          <a:p>
            <a:pPr marL="391795" indent="-379730" algn="just">
              <a:lnSpc>
                <a:spcPct val="100000"/>
              </a:lnSpc>
              <a:spcBef>
                <a:spcPts val="1115"/>
              </a:spcBef>
              <a:buFont typeface="Wingdings"/>
              <a:buChar char=""/>
              <a:tabLst>
                <a:tab pos="392430" algn="l"/>
              </a:tabLst>
            </a:pPr>
            <a:r>
              <a:rPr sz="2400" spc="-5" dirty="0">
                <a:latin typeface="Verdana"/>
                <a:cs typeface="Verdana"/>
              </a:rPr>
              <a:t>Codes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become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dense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branching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avoided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5" dirty="0">
                <a:latin typeface="Verdana"/>
                <a:cs typeface="Verdana"/>
              </a:rPr>
              <a:t>great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extent</a:t>
            </a:r>
          </a:p>
          <a:p>
            <a:pPr marL="194945" marR="10795" indent="-182880" algn="just">
              <a:lnSpc>
                <a:spcPts val="2590"/>
              </a:lnSpc>
              <a:spcBef>
                <a:spcPts val="1450"/>
              </a:spcBef>
              <a:buFont typeface="Wingdings"/>
              <a:buChar char=""/>
              <a:tabLst>
                <a:tab pos="391160" algn="l"/>
              </a:tabLst>
            </a:pPr>
            <a:r>
              <a:rPr sz="2400" spc="5" dirty="0">
                <a:latin typeface="Verdana"/>
                <a:cs typeface="Verdana"/>
              </a:rPr>
              <a:t>By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avoiding</a:t>
            </a:r>
            <a:r>
              <a:rPr sz="2400" dirty="0">
                <a:latin typeface="Verdana"/>
                <a:cs typeface="Verdana"/>
              </a:rPr>
              <a:t> branching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(unless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absolutely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necessary),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pipeline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stalling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prevented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26022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4468" y="436626"/>
            <a:ext cx="9501505" cy="104076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760"/>
              </a:spcBef>
            </a:pP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W</a:t>
            </a:r>
            <a:r>
              <a:rPr b="0" spc="5" dirty="0">
                <a:solidFill>
                  <a:srgbClr val="FF0000"/>
                </a:solidFill>
                <a:latin typeface="Corbel"/>
                <a:cs typeface="Corbel"/>
              </a:rPr>
              <a:t>h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at</a:t>
            </a:r>
            <a:r>
              <a:rPr b="0" spc="-17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Ar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e</a:t>
            </a:r>
            <a:r>
              <a:rPr b="0" spc="-25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T</a:t>
            </a:r>
            <a:r>
              <a:rPr b="0" spc="5" dirty="0">
                <a:solidFill>
                  <a:srgbClr val="FF0000"/>
                </a:solidFill>
                <a:latin typeface="Corbel"/>
                <a:cs typeface="Corbel"/>
              </a:rPr>
              <a:t>h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e</a:t>
            </a:r>
            <a:r>
              <a:rPr b="0" spc="-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Pro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s</a:t>
            </a:r>
            <a:r>
              <a:rPr b="0" spc="-15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An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d</a:t>
            </a:r>
            <a:r>
              <a:rPr b="0" spc="-14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Con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s</a:t>
            </a:r>
            <a:r>
              <a:rPr b="0" spc="-13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O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f</a:t>
            </a:r>
            <a:r>
              <a:rPr b="0" spc="-8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Such</a:t>
            </a:r>
            <a:r>
              <a:rPr b="0" spc="-15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Cond</a:t>
            </a:r>
            <a:r>
              <a:rPr b="0" spc="5" dirty="0">
                <a:solidFill>
                  <a:srgbClr val="FF0000"/>
                </a:solidFill>
                <a:latin typeface="Corbel"/>
                <a:cs typeface="Corbel"/>
              </a:rPr>
              <a:t>i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tional  Execution</a:t>
            </a:r>
            <a:r>
              <a:rPr b="0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(Which</a:t>
            </a:r>
            <a:r>
              <a:rPr b="0" spc="-4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Is</a:t>
            </a:r>
            <a:r>
              <a:rPr b="0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Not</a:t>
            </a:r>
            <a:r>
              <a:rPr b="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Done</a:t>
            </a:r>
            <a:r>
              <a:rPr b="0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Inmost</a:t>
            </a:r>
            <a:r>
              <a:rPr b="0" spc="-15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Other</a:t>
            </a:r>
            <a:r>
              <a:rPr b="0" spc="-1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ISAs)?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867026"/>
            <a:ext cx="10132060" cy="187452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minus</a:t>
            </a:r>
            <a:r>
              <a:rPr sz="2400" spc="-5" dirty="0">
                <a:latin typeface="Verdana"/>
                <a:cs typeface="Verdana"/>
              </a:rPr>
              <a:t> points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(cons) </a:t>
            </a:r>
            <a:r>
              <a:rPr sz="2400" spc="-10" dirty="0">
                <a:latin typeface="Verdana"/>
                <a:cs typeface="Verdana"/>
              </a:rPr>
              <a:t>is:</a:t>
            </a:r>
            <a:endParaRPr sz="2400" dirty="0">
              <a:latin typeface="Verdana"/>
              <a:cs typeface="Verdana"/>
            </a:endParaRPr>
          </a:p>
          <a:p>
            <a:pPr marL="391795" indent="-379730">
              <a:lnSpc>
                <a:spcPct val="100000"/>
              </a:lnSpc>
              <a:spcBef>
                <a:spcPts val="1100"/>
              </a:spcBef>
              <a:buClr>
                <a:srgbClr val="FFFFFF"/>
              </a:buClr>
              <a:buFont typeface="Wingdings"/>
              <a:buChar char=""/>
              <a:tabLst>
                <a:tab pos="392430" algn="l"/>
              </a:tabLst>
            </a:pPr>
            <a:r>
              <a:rPr sz="2400" dirty="0">
                <a:latin typeface="Verdana"/>
                <a:cs typeface="Verdana"/>
              </a:rPr>
              <a:t>When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 </a:t>
            </a:r>
            <a:r>
              <a:rPr sz="2400" spc="-10" dirty="0">
                <a:latin typeface="Verdana"/>
                <a:cs typeface="Verdana"/>
              </a:rPr>
              <a:t>instruction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becomes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NOP,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cycle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time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 wasted.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>
              <a:lnSpc>
                <a:spcPts val="2590"/>
              </a:lnSpc>
              <a:spcBef>
                <a:spcPts val="1445"/>
              </a:spcBef>
              <a:buClr>
                <a:srgbClr val="FFFFFF"/>
              </a:buClr>
              <a:buFont typeface="Wingdings"/>
              <a:buChar char=""/>
              <a:tabLst>
                <a:tab pos="392430" algn="l"/>
              </a:tabLst>
            </a:pP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because, </a:t>
            </a:r>
            <a:r>
              <a:rPr sz="2400" spc="-10" dirty="0">
                <a:latin typeface="Verdana"/>
                <a:cs typeface="Verdana"/>
              </a:rPr>
              <a:t>even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though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execution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instruction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not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done, </a:t>
            </a:r>
            <a:r>
              <a:rPr sz="2400" dirty="0">
                <a:latin typeface="Verdana"/>
                <a:cs typeface="Verdana"/>
              </a:rPr>
              <a:t>'fetching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-5" dirty="0">
                <a:latin typeface="Verdana"/>
                <a:cs typeface="Verdana"/>
              </a:rPr>
              <a:t>decoding'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cannot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avoided.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7434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1142" y="365125"/>
            <a:ext cx="10798629" cy="1325563"/>
          </a:xfrm>
          <a:prstGeom prst="rect">
            <a:avLst/>
          </a:prstGeom>
        </p:spPr>
        <p:txBody>
          <a:bodyPr vert="horz" wrap="square" lIns="0" tIns="232282" rIns="0" bIns="0" rtlCol="0">
            <a:spAutoFit/>
          </a:bodyPr>
          <a:lstStyle/>
          <a:p>
            <a:pPr marL="982980" marR="5080">
              <a:lnSpc>
                <a:spcPts val="4079"/>
              </a:lnSpc>
              <a:spcBef>
                <a:spcPts val="83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5.2.1.9</a:t>
            </a:r>
            <a:r>
              <a:rPr sz="4000" spc="-13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ARITHMETIC</a:t>
            </a:r>
            <a:r>
              <a:rPr sz="4000" spc="-17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AND </a:t>
            </a:r>
            <a:r>
              <a:rPr sz="4000" spc="-30" dirty="0">
                <a:solidFill>
                  <a:srgbClr val="FF0000"/>
                </a:solidFill>
                <a:latin typeface="Corbel"/>
                <a:cs typeface="Corbel"/>
              </a:rPr>
              <a:t>LOGICAL </a:t>
            </a:r>
            <a:r>
              <a:rPr sz="4000" spc="-8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INSTRUCTIONS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1811" y="2506917"/>
            <a:ext cx="9485630" cy="191516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95580" indent="-182880" algn="just">
              <a:lnSpc>
                <a:spcPct val="100000"/>
              </a:lnSpc>
              <a:spcBef>
                <a:spcPts val="1150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800" spc="-10" dirty="0">
                <a:latin typeface="Verdana"/>
                <a:cs typeface="Verdana"/>
              </a:rPr>
              <a:t>The</a:t>
            </a:r>
            <a:r>
              <a:rPr sz="2800" spc="-2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general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format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is</a:t>
            </a:r>
            <a:endParaRPr sz="2800" dirty="0">
              <a:latin typeface="Verdana"/>
              <a:cs typeface="Verdana"/>
            </a:endParaRPr>
          </a:p>
          <a:p>
            <a:pPr marL="194945" marR="5080" indent="-182880" algn="just">
              <a:lnSpc>
                <a:spcPct val="90000"/>
              </a:lnSpc>
              <a:spcBef>
                <a:spcPts val="1395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800" spc="-5" dirty="0">
                <a:latin typeface="Verdana"/>
                <a:cs typeface="Verdana"/>
              </a:rPr>
              <a:t>&lt;opcode&gt;{cond}{S}Rd,Rn&lt;Op2&gt; </a:t>
            </a:r>
            <a:r>
              <a:rPr sz="2800" spc="-10" dirty="0">
                <a:latin typeface="Verdana"/>
                <a:cs typeface="Verdana"/>
              </a:rPr>
              <a:t>where, </a:t>
            </a:r>
            <a:r>
              <a:rPr sz="2800" spc="-5" dirty="0">
                <a:latin typeface="Verdana"/>
                <a:cs typeface="Verdana"/>
              </a:rPr>
              <a:t>Rd </a:t>
            </a:r>
            <a:r>
              <a:rPr sz="2800" spc="-10" dirty="0">
                <a:latin typeface="Verdana"/>
                <a:cs typeface="Verdana"/>
              </a:rPr>
              <a:t>is the </a:t>
            </a:r>
            <a:r>
              <a:rPr sz="2800" spc="-969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destination </a:t>
            </a:r>
            <a:r>
              <a:rPr sz="2800" spc="-50" dirty="0">
                <a:latin typeface="Verdana"/>
                <a:cs typeface="Verdana"/>
              </a:rPr>
              <a:t>register, </a:t>
            </a:r>
            <a:r>
              <a:rPr sz="2800" spc="-5" dirty="0">
                <a:latin typeface="Verdana"/>
                <a:cs typeface="Verdana"/>
              </a:rPr>
              <a:t>and </a:t>
            </a:r>
            <a:r>
              <a:rPr sz="2800" spc="-10" dirty="0">
                <a:latin typeface="Verdana"/>
                <a:cs typeface="Verdana"/>
              </a:rPr>
              <a:t>Rn </a:t>
            </a:r>
            <a:r>
              <a:rPr sz="2800" spc="-5" dirty="0">
                <a:latin typeface="Verdana"/>
                <a:cs typeface="Verdana"/>
              </a:rPr>
              <a:t>and </a:t>
            </a:r>
            <a:r>
              <a:rPr sz="2800" spc="-10" dirty="0">
                <a:latin typeface="Verdana"/>
                <a:cs typeface="Verdana"/>
              </a:rPr>
              <a:t>Op2 </a:t>
            </a:r>
            <a:r>
              <a:rPr sz="2800" spc="-5" dirty="0">
                <a:latin typeface="Verdana"/>
                <a:cs typeface="Verdana"/>
              </a:rPr>
              <a:t>are </a:t>
            </a:r>
            <a:r>
              <a:rPr sz="2800" spc="-10" dirty="0">
                <a:latin typeface="Verdana"/>
                <a:cs typeface="Verdana"/>
              </a:rPr>
              <a:t>the source </a:t>
            </a:r>
            <a:r>
              <a:rPr sz="2800" spc="-969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operands.</a:t>
            </a:r>
            <a:endParaRPr sz="28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693635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1811" y="865454"/>
            <a:ext cx="85909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FF0000"/>
                </a:solidFill>
                <a:latin typeface="Corbel"/>
                <a:cs typeface="Corbel"/>
              </a:rPr>
              <a:t>5.2.1.9</a:t>
            </a:r>
            <a:r>
              <a:rPr sz="4000" b="1" spc="3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b="1" spc="-5" dirty="0">
                <a:solidFill>
                  <a:srgbClr val="FF0000"/>
                </a:solidFill>
                <a:latin typeface="Corbel"/>
                <a:cs typeface="Corbel"/>
              </a:rPr>
              <a:t>ADDITION</a:t>
            </a:r>
            <a:r>
              <a:rPr sz="4000" b="1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b="1" spc="-5" dirty="0">
                <a:solidFill>
                  <a:srgbClr val="FF0000"/>
                </a:solidFill>
                <a:latin typeface="Corbel"/>
                <a:cs typeface="Corbel"/>
              </a:rPr>
              <a:t>AND</a:t>
            </a:r>
            <a:r>
              <a:rPr sz="4000" b="1" spc="-1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b="1" spc="-10" dirty="0">
                <a:solidFill>
                  <a:srgbClr val="FF0000"/>
                </a:solidFill>
                <a:latin typeface="Corbel"/>
                <a:cs typeface="Corbel"/>
              </a:rPr>
              <a:t>SUBTRACTION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6675" y="1998090"/>
            <a:ext cx="8467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Verdana"/>
                <a:cs typeface="Verdana"/>
              </a:rPr>
              <a:t>lists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addition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subtraction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instructions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ISA</a:t>
            </a:r>
            <a:endParaRPr sz="24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408" y="2808732"/>
            <a:ext cx="10922508" cy="386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337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1429" y="1016508"/>
            <a:ext cx="8258628" cy="23942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0532" y="3701796"/>
            <a:ext cx="7347204" cy="288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48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100" y="2333244"/>
            <a:ext cx="10536935" cy="329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88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1755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99BDD"/>
                </a:solidFill>
                <a:latin typeface="Corbel"/>
                <a:cs typeface="Corbel"/>
              </a:rPr>
              <a:t>EXAM</a:t>
            </a:r>
            <a:r>
              <a:rPr sz="4000" b="0" dirty="0">
                <a:solidFill>
                  <a:srgbClr val="099BDD"/>
                </a:solidFill>
                <a:latin typeface="Corbel"/>
                <a:cs typeface="Corbel"/>
              </a:rPr>
              <a:t>P</a:t>
            </a: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LE</a:t>
            </a:r>
            <a:endParaRPr sz="4000">
              <a:latin typeface="Corbel"/>
              <a:cs typeface="Corbe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644" y="2630423"/>
            <a:ext cx="966216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5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412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SOLUTION</a:t>
            </a:r>
            <a:endParaRPr sz="4000">
              <a:latin typeface="Corbel"/>
              <a:cs typeface="Corbe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403" y="2436876"/>
            <a:ext cx="9739884" cy="32232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48113" y="5950857"/>
            <a:ext cx="4804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BIC instruction Rd </a:t>
            </a:r>
            <a:r>
              <a:rPr lang="en-US" dirty="0"/>
              <a:t>= Rn AND (NOT Operand2)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870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6613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5.2.1.10</a:t>
            </a:r>
            <a:r>
              <a:rPr sz="4000" spc="-114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5" dirty="0">
                <a:solidFill>
                  <a:srgbClr val="FF0000"/>
                </a:solidFill>
                <a:latin typeface="Corbel"/>
                <a:cs typeface="Corbel"/>
              </a:rPr>
              <a:t>COMPARE</a:t>
            </a:r>
            <a:r>
              <a:rPr sz="4000" spc="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Instruction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1811" y="1867026"/>
            <a:ext cx="9261475" cy="377952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205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Verdana"/>
                <a:cs typeface="Verdana"/>
              </a:rPr>
              <a:t>There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four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instructions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comparison.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>
              <a:lnSpc>
                <a:spcPts val="2590"/>
              </a:lnSpc>
              <a:spcBef>
                <a:spcPts val="1430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400" spc="-60" dirty="0">
                <a:latin typeface="Verdana"/>
                <a:cs typeface="Verdana"/>
              </a:rPr>
              <a:t>Table</a:t>
            </a:r>
            <a:r>
              <a:rPr sz="2400" dirty="0">
                <a:latin typeface="Verdana"/>
                <a:cs typeface="Verdana"/>
              </a:rPr>
              <a:t> shows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list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operations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performed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each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them.</a:t>
            </a:r>
            <a:endParaRPr sz="2400" dirty="0">
              <a:latin typeface="Verdana"/>
              <a:cs typeface="Verdana"/>
            </a:endParaRPr>
          </a:p>
          <a:p>
            <a:pPr marL="195580" indent="-182880">
              <a:lnSpc>
                <a:spcPts val="2735"/>
              </a:lnSpc>
              <a:spcBef>
                <a:spcPts val="1080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important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feature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these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they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do</a:t>
            </a:r>
            <a:endParaRPr sz="2400" dirty="0">
              <a:latin typeface="Verdana"/>
              <a:cs typeface="Verdana"/>
            </a:endParaRPr>
          </a:p>
          <a:p>
            <a:pPr marL="194945">
              <a:lnSpc>
                <a:spcPts val="2735"/>
              </a:lnSpc>
            </a:pPr>
            <a:r>
              <a:rPr sz="2400" dirty="0">
                <a:latin typeface="Verdana"/>
                <a:cs typeface="Verdana"/>
              </a:rPr>
              <a:t>not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produce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result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— </a:t>
            </a:r>
            <a:r>
              <a:rPr sz="2400" spc="-5" dirty="0">
                <a:latin typeface="Verdana"/>
                <a:cs typeface="Verdana"/>
              </a:rPr>
              <a:t>they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only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update 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flags.</a:t>
            </a:r>
            <a:endParaRPr sz="2400" dirty="0">
              <a:latin typeface="Verdana"/>
              <a:cs typeface="Verdana"/>
            </a:endParaRPr>
          </a:p>
          <a:p>
            <a:pPr marL="303530" indent="-291465">
              <a:lnSpc>
                <a:spcPct val="100000"/>
              </a:lnSpc>
              <a:spcBef>
                <a:spcPts val="1115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spc="-5" dirty="0">
                <a:latin typeface="Verdana"/>
                <a:cs typeface="Verdana"/>
              </a:rPr>
              <a:t>Thus,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`S'</a:t>
            </a:r>
            <a:r>
              <a:rPr sz="2400" spc="-5" dirty="0">
                <a:latin typeface="Verdana"/>
                <a:cs typeface="Verdana"/>
              </a:rPr>
              <a:t> suffix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not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needed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them.</a:t>
            </a:r>
            <a:endParaRPr sz="2400" dirty="0">
              <a:latin typeface="Verdana"/>
              <a:cs typeface="Verdana"/>
            </a:endParaRPr>
          </a:p>
          <a:p>
            <a:pPr marL="195580" indent="-182880">
              <a:lnSpc>
                <a:spcPct val="100000"/>
              </a:lnSpc>
              <a:spcBef>
                <a:spcPts val="1105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Verdana"/>
                <a:cs typeface="Verdana"/>
              </a:rPr>
              <a:t>The format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these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instructions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endParaRPr sz="2400" dirty="0">
              <a:latin typeface="Verdana"/>
              <a:cs typeface="Verdana"/>
            </a:endParaRPr>
          </a:p>
          <a:p>
            <a:pPr marL="195580" indent="-182880">
              <a:lnSpc>
                <a:spcPct val="100000"/>
              </a:lnSpc>
              <a:spcBef>
                <a:spcPts val="1065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800" spc="-5" dirty="0">
                <a:latin typeface="Verdana"/>
                <a:cs typeface="Verdana"/>
              </a:rPr>
              <a:t>&lt;opcode&gt;{cond}Rn,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Operand2</a:t>
            </a:r>
            <a:endParaRPr sz="28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35317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255" y="1839467"/>
            <a:ext cx="9747504" cy="24993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6111" y="4459222"/>
            <a:ext cx="9756648" cy="230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6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4103" y="2561844"/>
            <a:ext cx="8692896" cy="215493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2472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99BDD"/>
                </a:solidFill>
                <a:latin typeface="Corbel"/>
                <a:cs typeface="Corbel"/>
              </a:rPr>
              <a:t>PROBLEM</a:t>
            </a:r>
            <a:endParaRPr sz="400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46276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828" y="1569430"/>
            <a:ext cx="9975161" cy="43373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412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SOLUTION</a:t>
            </a:r>
            <a:endParaRPr sz="400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414274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811" y="1991069"/>
            <a:ext cx="10561846" cy="35250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2472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99BDD"/>
                </a:solidFill>
                <a:latin typeface="Corbel"/>
                <a:cs typeface="Corbel"/>
              </a:rPr>
              <a:t>PROBLEM</a:t>
            </a:r>
            <a:endParaRPr sz="400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90391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7027" y="2587751"/>
            <a:ext cx="9220200" cy="30876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412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SOLUTION</a:t>
            </a:r>
            <a:endParaRPr sz="400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256056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31317"/>
            <a:ext cx="22472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99BDD"/>
                </a:solidFill>
                <a:latin typeface="Corbel"/>
                <a:cs typeface="Corbel"/>
              </a:rPr>
              <a:t>PROBLEM</a:t>
            </a:r>
            <a:endParaRPr sz="4000">
              <a:latin typeface="Corbel"/>
              <a:cs typeface="Corbe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" y="3261359"/>
            <a:ext cx="10603992" cy="84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5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74057" y="935807"/>
            <a:ext cx="10029372" cy="4855845"/>
            <a:chOff x="2272283" y="1821179"/>
            <a:chExt cx="7556500" cy="48558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2283" y="1821179"/>
              <a:ext cx="7514844" cy="34472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2283" y="5305044"/>
              <a:ext cx="7555992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840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58299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orbel"/>
                <a:cs typeface="Corbel"/>
              </a:rPr>
              <a:t>5.2.1.11</a:t>
            </a:r>
            <a:r>
              <a:rPr sz="4000" spc="25" dirty="0">
                <a:latin typeface="Corbel"/>
                <a:cs typeface="Corbel"/>
              </a:rPr>
              <a:t> </a:t>
            </a:r>
            <a:r>
              <a:rPr sz="4000" spc="-10" dirty="0">
                <a:latin typeface="Corbel"/>
                <a:cs typeface="Corbel"/>
              </a:rPr>
              <a:t>MULTIPLICATION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9325" y="2084577"/>
            <a:ext cx="9215120" cy="205295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There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are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two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basic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multiplication</a:t>
            </a:r>
            <a:r>
              <a:rPr kumimoji="0" sz="2400" b="0" i="0" u="none" strike="noStrike" kern="1200" cap="none" spc="5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instructions.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One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‘Multiply’</a:t>
            </a:r>
            <a:r>
              <a:rPr kumimoji="0" sz="2400" b="0" i="0" u="none" strike="noStrike" kern="1200" cap="none" spc="7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and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other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‘Multiply</a:t>
            </a:r>
            <a:r>
              <a:rPr kumimoji="0" sz="2400" b="0" i="0" u="none" strike="noStrike" kern="1200" cap="none" spc="4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and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Accumulate’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303530" marR="0" lvl="0" indent="-291465" algn="l" defTabSz="914400" rtl="0" eaLnBrk="1" fontAlgn="auto" latinLnBrk="0" hangingPunct="1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303530" algn="l"/>
                <a:tab pos="304165" algn="l"/>
                <a:tab pos="397764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word</a:t>
            </a:r>
            <a:r>
              <a:rPr kumimoji="0" sz="2400" b="0" i="0" u="none" strike="noStrike" kern="1200" cap="none" spc="3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‘Accumulate’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indicates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‘Addition’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303530" marR="0" lvl="0" indent="-291465" algn="l" defTabSz="914400" rtl="0" eaLnBrk="1" fontAlgn="auto" latinLnBrk="0" hangingPunct="1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303530" algn="l"/>
                <a:tab pos="304165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Instruction</a:t>
            </a:r>
            <a:r>
              <a:rPr kumimoji="0" sz="2400" b="0" i="0" u="none" strike="noStrike" kern="1200" cap="none" spc="4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format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for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both</a:t>
            </a:r>
            <a:r>
              <a:rPr kumimoji="0" sz="24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is: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9325" y="4590034"/>
            <a:ext cx="6071870" cy="1082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318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MUL{&lt;cond&gt;}{S}</a:t>
            </a:r>
            <a:r>
              <a:rPr kumimoji="0" sz="2800" b="0" i="0" u="none" strike="noStrike" kern="1200" cap="none" spc="4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Rd,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Rm,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MLA{&lt;cond&gt;}{S}</a:t>
            </a:r>
            <a:r>
              <a:rPr kumimoji="0" sz="2800" b="0" i="0" u="none" strike="noStrike" kern="1200" cap="none" spc="5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Rd,Rm,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Rs,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Rn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1604" y="4590034"/>
            <a:ext cx="4371340" cy="115062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;Rd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=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Rm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*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Rs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470534" marR="0" lvl="0" indent="0" algn="l" defTabSz="914400" rtl="0" eaLnBrk="1" fontAlgn="auto" latinLnBrk="0" hangingPunct="1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;Rd=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(Rm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*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Rs)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+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Rn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201656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276" y="1894332"/>
            <a:ext cx="10549128" cy="45034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8275" y="391668"/>
            <a:ext cx="5454468" cy="134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2472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99BDD"/>
                </a:solidFill>
                <a:latin typeface="Corbel"/>
                <a:cs typeface="Corbel"/>
              </a:rPr>
              <a:t>PROBLEM</a:t>
            </a:r>
            <a:endParaRPr sz="4000">
              <a:latin typeface="Corbel"/>
              <a:cs typeface="Corbe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83" y="2014727"/>
            <a:ext cx="11303508" cy="441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821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864" y="874340"/>
            <a:ext cx="11003280" cy="417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0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632" y="2162555"/>
            <a:ext cx="10175747" cy="345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8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39643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5.2.1.12</a:t>
            </a:r>
            <a:r>
              <a:rPr sz="400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DIVISION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1811" y="2507107"/>
            <a:ext cx="8672195" cy="3618939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84480" marR="0" lvl="0" indent="-27241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5833"/>
              <a:buFont typeface="Wingdings"/>
              <a:buChar char=""/>
              <a:tabLst>
                <a:tab pos="285115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There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no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explicit</a:t>
            </a:r>
            <a:r>
              <a:rPr kumimoji="0" sz="2400" b="0" i="0" u="none" strike="noStrike" kern="1200" cap="none" spc="4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divide</a:t>
            </a:r>
            <a:r>
              <a:rPr kumimoji="0" sz="2400" b="0" i="0" u="none" strike="noStrike" kern="1200" cap="none" spc="3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instruction</a:t>
            </a:r>
            <a:r>
              <a:rPr kumimoji="0" sz="2400" b="0" i="0" u="none" strike="noStrike" kern="1200" cap="none" spc="4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</a:t>
            </a:r>
            <a:r>
              <a:rPr kumimoji="0" lang="en-US" sz="2400" b="0" i="0" u="none" strike="noStrike" kern="1200" cap="none" spc="-5" normalizeH="0" baseline="0" noProof="0" dirty="0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h</a:t>
            </a:r>
            <a:r>
              <a:rPr kumimoji="0" sz="2400" b="0" i="0" u="none" strike="noStrike" kern="1200" cap="none" spc="-5" normalizeH="0" baseline="0" noProof="0" dirty="0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</a:t>
            </a:r>
            <a:r>
              <a:rPr kumimoji="0" sz="2400" b="0" i="0" u="none" strike="noStrike" kern="1200" cap="none" spc="15" normalizeH="0" baseline="0" noProof="0" dirty="0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ISA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284480" marR="0" lvl="0" indent="-272415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Tx/>
              <a:buSzPct val="95833"/>
              <a:buFont typeface="Wingdings"/>
              <a:buChar char=""/>
              <a:tabLst>
                <a:tab pos="285115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Division</a:t>
            </a:r>
            <a:r>
              <a:rPr kumimoji="0" sz="2400" b="0" i="0" u="none" strike="noStrike" kern="1200" cap="none" spc="5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can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be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accomplished</a:t>
            </a:r>
            <a:r>
              <a:rPr kumimoji="0" sz="2400" b="0" i="0" u="none" strike="noStrike" kern="1200" cap="none" spc="5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by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repeated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subtraction</a:t>
            </a:r>
            <a:r>
              <a:rPr kumimoji="0" lang="en-US" sz="2400" b="0" i="0" u="none" strike="noStrike" kern="1200" cap="none" spc="-10" normalizeH="0" baseline="0" noProof="0" dirty="0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lang="en-US" sz="2400" b="0" i="0" u="none" strike="noStrike" kern="1200" cap="none" spc="-10" normalizeH="0" baseline="0" noProof="0" dirty="0" err="1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i.e</a:t>
            </a:r>
            <a:r>
              <a:rPr kumimoji="0" lang="en-US" sz="2400" b="0" i="0" u="none" strike="noStrike" kern="1200" cap="none" spc="-10" normalizeH="0" baseline="0" noProof="0" dirty="0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.</a:t>
            </a:r>
            <a:endParaRPr kumimoji="0" lang="en-US" sz="2400" b="0" i="0" u="none" strike="noStrike" kern="1200" cap="none" spc="-10" normalizeH="0" baseline="0" noProof="0" dirty="0" smtClean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r>
              <a:rPr lang="en-IN" sz="2400" dirty="0" smtClean="0">
                <a:latin typeface="Verdana"/>
                <a:cs typeface="Verdana"/>
              </a:rPr>
              <a:t>DIV</a:t>
            </a:r>
            <a:r>
              <a:rPr lang="en-IN" sz="2400" dirty="0">
                <a:latin typeface="Verdana"/>
                <a:cs typeface="Verdana"/>
              </a:rPr>
              <a:t>	</a:t>
            </a:r>
            <a:r>
              <a:rPr lang="en-IN" sz="2400" dirty="0" smtClean="0">
                <a:latin typeface="Verdana"/>
                <a:cs typeface="Verdana"/>
              </a:rPr>
              <a:t>	MOV </a:t>
            </a:r>
            <a:r>
              <a:rPr lang="en-IN" sz="2400" dirty="0">
                <a:latin typeface="Verdana"/>
                <a:cs typeface="Verdana"/>
              </a:rPr>
              <a:t>QUOTIENT,#0</a:t>
            </a:r>
          </a:p>
          <a:p>
            <a:r>
              <a:rPr lang="en-IN" sz="2400" dirty="0" smtClean="0">
                <a:latin typeface="Verdana"/>
                <a:cs typeface="Verdana"/>
              </a:rPr>
              <a:t>LOOP3 </a:t>
            </a:r>
            <a:r>
              <a:rPr lang="en-IN" sz="2400" dirty="0">
                <a:latin typeface="Verdana"/>
                <a:cs typeface="Verdana"/>
              </a:rPr>
              <a:t>	SUBS DIVIDEND,DIVIDEND,DIVISOR</a:t>
            </a:r>
          </a:p>
          <a:p>
            <a:r>
              <a:rPr lang="en-IN" sz="2400" dirty="0">
                <a:latin typeface="Verdana"/>
                <a:cs typeface="Verdana"/>
              </a:rPr>
              <a:t>		ADDPL QUOTIENT,QUOTIENT,#1</a:t>
            </a:r>
          </a:p>
          <a:p>
            <a:r>
              <a:rPr lang="en-IN" sz="2400" dirty="0">
                <a:latin typeface="Verdana"/>
                <a:cs typeface="Verdana"/>
              </a:rPr>
              <a:t>		BPL </a:t>
            </a:r>
            <a:r>
              <a:rPr lang="en-IN" sz="2400" dirty="0" smtClean="0">
                <a:latin typeface="Verdana"/>
                <a:cs typeface="Verdana"/>
              </a:rPr>
              <a:t>LOOP3</a:t>
            </a:r>
            <a:endParaRPr lang="en-IN" sz="2400" dirty="0">
              <a:latin typeface="Verdana"/>
              <a:cs typeface="Verdana"/>
            </a:endParaRPr>
          </a:p>
          <a:p>
            <a:r>
              <a:rPr lang="en-IN" sz="2400" dirty="0">
                <a:latin typeface="Verdana"/>
                <a:cs typeface="Verdana"/>
              </a:rPr>
              <a:t>		ADDMI REMAINDER,DIVIDEND,DIVISOR</a:t>
            </a:r>
          </a:p>
          <a:p>
            <a:r>
              <a:rPr lang="en-IN" sz="2400" dirty="0">
                <a:latin typeface="Verdana"/>
                <a:cs typeface="Verdana"/>
              </a:rPr>
              <a:t>		BX LR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3807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63119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5.2.1.13</a:t>
            </a:r>
            <a:r>
              <a:rPr sz="4000" spc="2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BRANCH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 Instruction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1811" y="1998090"/>
            <a:ext cx="9629140" cy="2432717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94945" marR="7620" lvl="0" indent="-182880" algn="l" defTabSz="914400" rtl="0" eaLnBrk="1" fontAlgn="auto" latinLnBrk="0" hangingPunct="1">
              <a:lnSpc>
                <a:spcPts val="2660"/>
              </a:lnSpc>
              <a:spcBef>
                <a:spcPts val="370"/>
              </a:spcBef>
              <a:spcAft>
                <a:spcPts val="0"/>
              </a:spcAft>
              <a:buClr>
                <a:srgbClr val="FFFFFF"/>
              </a:buClr>
              <a:buSzPct val="91666"/>
              <a:buFont typeface="Wingdings"/>
              <a:buChar char=""/>
              <a:tabLst>
                <a:tab pos="251460" algn="l"/>
                <a:tab pos="252095" algn="l"/>
                <a:tab pos="1518285" algn="l"/>
                <a:tab pos="3502660" algn="l"/>
                <a:tab pos="4199255" algn="l"/>
                <a:tab pos="4899025" algn="l"/>
                <a:tab pos="5821045" algn="l"/>
                <a:tab pos="6642734" algn="l"/>
                <a:tab pos="7479030" algn="l"/>
                <a:tab pos="8178800" algn="l"/>
                <a:tab pos="931926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anch	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nstruc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io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n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	a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e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he	ones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h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at	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g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v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e	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he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powe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	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of 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decision</a:t>
            </a:r>
            <a:r>
              <a:rPr kumimoji="0" sz="2400" b="0" i="0" u="none" strike="noStrike" kern="1200" cap="none" spc="4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making</a:t>
            </a:r>
            <a:r>
              <a:rPr kumimoji="0" sz="24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to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computer.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194945" marR="5080" lvl="0" indent="-182880" algn="l" defTabSz="914400" rtl="0" eaLnBrk="1" fontAlgn="auto" latinLnBrk="0" hangingPunct="1">
              <a:lnSpc>
                <a:spcPts val="2590"/>
              </a:lnSpc>
              <a:spcBef>
                <a:spcPts val="138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195580" algn="l"/>
                <a:tab pos="855344" algn="l"/>
                <a:tab pos="1823085" algn="l"/>
                <a:tab pos="2807335" algn="l"/>
                <a:tab pos="3479800" algn="l"/>
                <a:tab pos="4036060" algn="l"/>
                <a:tab pos="5002530" algn="l"/>
                <a:tab pos="5494655" algn="l"/>
                <a:tab pos="6183630" algn="l"/>
                <a:tab pos="8143875" algn="l"/>
                <a:tab pos="8665210" algn="l"/>
                <a:tab pos="9121140" algn="l"/>
              </a:tabLst>
              <a:defRPr/>
            </a:pP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F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or	AR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,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he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e	are	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n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j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u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p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	c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ll	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truc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ns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	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n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he 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case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of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other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processors.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194945" marR="8255" lvl="0" indent="-182880" algn="l" defTabSz="914400" rtl="0" eaLnBrk="1" fontAlgn="auto" latinLnBrk="0" hangingPunct="1">
              <a:lnSpc>
                <a:spcPts val="2590"/>
              </a:lnSpc>
              <a:spcBef>
                <a:spcPts val="141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15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branch</a:t>
            </a:r>
            <a:r>
              <a:rPr kumimoji="0" sz="2400" b="0" i="0" u="none" strike="noStrike" kern="1200" cap="none" spc="17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instruction</a:t>
            </a:r>
            <a:r>
              <a:rPr kumimoji="0" sz="2400" b="0" i="0" u="none" strike="noStrike" kern="1200" cap="none" spc="19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with</a:t>
            </a:r>
            <a:r>
              <a:rPr kumimoji="0" sz="2400" b="0" i="0" u="none" strike="noStrike" kern="1200" cap="none" spc="18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15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mnemonic</a:t>
            </a:r>
            <a:r>
              <a:rPr kumimoji="0" sz="2400" b="0" i="0" u="none" strike="noStrike" kern="1200" cap="none" spc="17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'B'</a:t>
            </a:r>
            <a:r>
              <a:rPr kumimoji="0" sz="2400" b="0" i="0" u="none" strike="noStrike" kern="1200" cap="none" spc="17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suffices</a:t>
            </a:r>
            <a:r>
              <a:rPr kumimoji="0" sz="2400" b="0" i="0" u="none" strike="noStrike" kern="1200" cap="none" spc="17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for</a:t>
            </a:r>
            <a:r>
              <a:rPr kumimoji="0" sz="2400" b="0" i="0" u="none" strike="noStrike" kern="1200" cap="none" spc="16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all </a:t>
            </a:r>
            <a:r>
              <a:rPr kumimoji="0" sz="2400" b="0" i="0" u="none" strike="noStrike" kern="1200" cap="none" spc="-8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jumping</a:t>
            </a:r>
            <a:r>
              <a:rPr kumimoji="0" sz="2400" b="0" i="0" u="none" strike="noStrike" kern="1200" cap="none" spc="3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operations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and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procedure</a:t>
            </a:r>
            <a:r>
              <a:rPr kumimoji="0" sz="24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calls.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899550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28248"/>
            <a:ext cx="687521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5.2.1.13.1</a:t>
            </a:r>
            <a:r>
              <a:rPr spc="-6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BRANCH</a:t>
            </a:r>
            <a:r>
              <a:rPr spc="-4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(B)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1810" y="1649539"/>
            <a:ext cx="10184765" cy="271145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general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format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of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branch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instruction</a:t>
            </a:r>
            <a:r>
              <a:rPr kumimoji="0" sz="2400" b="0" i="0" u="none" strike="noStrike" kern="1200" cap="none" spc="10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‘B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label'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'label'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corresponds</a:t>
            </a:r>
            <a:r>
              <a:rPr kumimoji="0" sz="2400" b="0" i="0" u="none" strike="noStrike" kern="1200" cap="none" spc="4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to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address of</a:t>
            </a:r>
            <a:r>
              <a:rPr kumimoji="0" sz="24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target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location.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194945" marR="6985" lvl="0" indent="-182880" algn="l" defTabSz="914400" rtl="0" eaLnBrk="1" fontAlgn="auto" latinLnBrk="0" hangingPunct="1">
              <a:lnSpc>
                <a:spcPts val="2590"/>
              </a:lnSpc>
              <a:spcBef>
                <a:spcPts val="144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301625" algn="l"/>
                <a:tab pos="30226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Condition</a:t>
            </a:r>
            <a:r>
              <a:rPr kumimoji="0" sz="2400" b="0" i="0" u="none" strike="noStrike" kern="1200" cap="none" spc="28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codes</a:t>
            </a:r>
            <a:r>
              <a:rPr kumimoji="0" sz="2400" b="0" i="0" u="none" strike="noStrike" kern="1200" cap="none" spc="254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may</a:t>
            </a:r>
            <a:r>
              <a:rPr kumimoji="0" sz="2400" b="0" i="0" u="none" strike="noStrike" kern="1200" cap="none" spc="254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be</a:t>
            </a:r>
            <a:r>
              <a:rPr kumimoji="0" sz="2400" b="0" i="0" u="none" strike="noStrike" kern="1200" cap="none" spc="24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appended</a:t>
            </a:r>
            <a:r>
              <a:rPr kumimoji="0" sz="2400" b="0" i="0" u="none" strike="noStrike" kern="1200" cap="none" spc="25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to</a:t>
            </a:r>
            <a:r>
              <a:rPr kumimoji="0" sz="2400" b="0" i="0" u="none" strike="noStrike" kern="1200" cap="none" spc="254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make</a:t>
            </a:r>
            <a:r>
              <a:rPr kumimoji="0" sz="2400" b="0" i="0" u="none" strike="noStrike" kern="1200" cap="none" spc="27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it</a:t>
            </a:r>
            <a:r>
              <a:rPr kumimoji="0" sz="2400" b="0" i="0" u="none" strike="noStrike" kern="1200" cap="none" spc="26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</a:t>
            </a:r>
            <a:r>
              <a:rPr kumimoji="0" sz="2400" b="0" i="0" u="none" strike="noStrike" kern="1200" cap="none" spc="26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conditional </a:t>
            </a:r>
            <a:r>
              <a:rPr kumimoji="0" sz="2400" b="0" i="0" u="none" strike="noStrike" kern="1200" cap="none" spc="-83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branch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instruction.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194945" marR="5080" lvl="0" indent="-182880" algn="l" defTabSz="914400" rtl="0" eaLnBrk="1" fontAlgn="auto" latinLnBrk="0" hangingPunct="1">
              <a:lnSpc>
                <a:spcPts val="2590"/>
              </a:lnSpc>
              <a:spcBef>
                <a:spcPts val="140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assembler</a:t>
            </a:r>
            <a:r>
              <a:rPr kumimoji="0" sz="2400" b="0" i="0" u="none" strike="noStrike" kern="1200" cap="none" spc="33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finds</a:t>
            </a:r>
            <a:r>
              <a:rPr kumimoji="0" sz="24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32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target</a:t>
            </a:r>
            <a:r>
              <a:rPr kumimoji="0" sz="2400" b="0" i="0" u="none" strike="noStrike" kern="1200" cap="none" spc="3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address</a:t>
            </a:r>
            <a:r>
              <a:rPr kumimoji="0" sz="2400" b="0" i="0" u="none" strike="noStrike" kern="1200" cap="none" spc="3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with</a:t>
            </a:r>
            <a:r>
              <a:rPr kumimoji="0" sz="2400" b="0" i="0" u="none" strike="noStrike" kern="1200" cap="none" spc="34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3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use</a:t>
            </a:r>
            <a:r>
              <a:rPr kumimoji="0" sz="2400" b="0" i="0" u="none" strike="noStrike" kern="1200" cap="none" spc="33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of</a:t>
            </a:r>
            <a:r>
              <a:rPr kumimoji="0" sz="2400" b="0" i="0" u="none" strike="noStrike" kern="1200" cap="none" spc="3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 </a:t>
            </a:r>
            <a:r>
              <a:rPr kumimoji="0" sz="2400" b="0" i="0" u="none" strike="noStrike" kern="1200" cap="none" spc="-83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offset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specified</a:t>
            </a:r>
            <a:r>
              <a:rPr kumimoji="0" sz="24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</a:t>
            </a:r>
            <a:r>
              <a:rPr kumimoji="0" sz="2400" b="0" i="0" u="none" strike="noStrike" kern="1200" cap="none" spc="3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instruction.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3608" y="4411978"/>
            <a:ext cx="6982968" cy="244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0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623" y="3221735"/>
            <a:ext cx="10430256" cy="304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9600" y="1991867"/>
            <a:ext cx="2650236" cy="101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79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26089"/>
            <a:ext cx="900881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5.2</a:t>
            </a:r>
            <a:r>
              <a:rPr spc="5" dirty="0">
                <a:solidFill>
                  <a:srgbClr val="FF0000"/>
                </a:solidFill>
                <a:latin typeface="Corbel"/>
                <a:cs typeface="Corbel"/>
              </a:rPr>
              <a:t>.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1.</a:t>
            </a:r>
            <a:r>
              <a:rPr spc="-95" dirty="0">
                <a:solidFill>
                  <a:srgbClr val="FF0000"/>
                </a:solidFill>
                <a:latin typeface="Corbel"/>
                <a:cs typeface="Corbel"/>
              </a:rPr>
              <a:t>1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3.2</a:t>
            </a:r>
            <a:r>
              <a:rPr spc="-3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BRA</a:t>
            </a:r>
            <a:r>
              <a:rPr spc="-15" dirty="0">
                <a:solidFill>
                  <a:srgbClr val="FF0000"/>
                </a:solidFill>
                <a:latin typeface="Corbel"/>
                <a:cs typeface="Corbel"/>
              </a:rPr>
              <a:t>N</a:t>
            </a: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C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H</a:t>
            </a:r>
            <a:r>
              <a:rPr spc="-204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Wit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h</a:t>
            </a: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LI</a:t>
            </a:r>
            <a:r>
              <a:rPr spc="-10" dirty="0">
                <a:solidFill>
                  <a:srgbClr val="FF0000"/>
                </a:solidFill>
                <a:latin typeface="Corbel"/>
                <a:cs typeface="Corbel"/>
              </a:rPr>
              <a:t>N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K (B</a:t>
            </a:r>
            <a:r>
              <a:rPr spc="-10" dirty="0">
                <a:solidFill>
                  <a:srgbClr val="FF0000"/>
                </a:solidFill>
                <a:latin typeface="Corbel"/>
                <a:cs typeface="Corbel"/>
              </a:rPr>
              <a:t>L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1811" y="1998090"/>
            <a:ext cx="9629140" cy="2759473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94945" marR="8890" lvl="0" indent="-182880" algn="just" defTabSz="914400" rtl="0" eaLnBrk="1" fontAlgn="auto" latinLnBrk="0" hangingPunct="1">
              <a:lnSpc>
                <a:spcPts val="2660"/>
              </a:lnSpc>
              <a:spcBef>
                <a:spcPts val="370"/>
              </a:spcBef>
              <a:spcAft>
                <a:spcPts val="0"/>
              </a:spcAft>
              <a:buClr>
                <a:srgbClr val="2C2C2C"/>
              </a:buClr>
              <a:buSzPct val="91666"/>
              <a:buFont typeface="Wingdings"/>
              <a:buChar char=""/>
              <a:tabLst>
                <a:tab pos="34798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This instruction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saves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 current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PC into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 Link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register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(R14).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363220" marR="0" lvl="0" indent="-350520" algn="just" defTabSz="914400" rtl="0" eaLnBrk="1" fontAlgn="auto" latinLnBrk="0" hangingPunct="1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Clr>
                <a:srgbClr val="2C2C2C"/>
              </a:buClr>
              <a:buSzTx/>
              <a:buFont typeface="Wingdings"/>
              <a:buChar char=""/>
              <a:tabLst>
                <a:tab pos="36322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Thus,</a:t>
            </a:r>
            <a:r>
              <a:rPr kumimoji="0" sz="24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BL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facilitates</a:t>
            </a:r>
            <a:r>
              <a:rPr kumimoji="0" sz="2400" b="0" i="0" u="none" strike="noStrike" kern="1200" cap="none" spc="9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subroutine/procedure</a:t>
            </a:r>
            <a:r>
              <a:rPr kumimoji="0" sz="2400" b="0" i="0" u="none" strike="noStrike" kern="1200" cap="none" spc="6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calls.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194945" marR="5080" lvl="0" indent="-182880" algn="just" defTabSz="914400" rtl="0" eaLnBrk="1" fontAlgn="auto" latinLnBrk="0" hangingPunct="1">
              <a:lnSpc>
                <a:spcPct val="90000"/>
              </a:lnSpc>
              <a:spcBef>
                <a:spcPts val="1405"/>
              </a:spcBef>
              <a:spcAft>
                <a:spcPts val="0"/>
              </a:spcAft>
              <a:buClr>
                <a:srgbClr val="2C2C2C"/>
              </a:buClr>
              <a:buSzTx/>
              <a:buFont typeface="Wingdings"/>
              <a:buChar char=""/>
              <a:tabLst>
                <a:tab pos="36195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When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this instruction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 encountered,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branching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occurs 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to 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 target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address and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'return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address'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(the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address 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to 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which control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must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come back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after the procedure is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ended), </a:t>
            </a:r>
            <a:r>
              <a:rPr kumimoji="0" sz="2400" b="0" i="0" u="none" strike="noStrike" kern="1200" cap="none" spc="-83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saved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link</a:t>
            </a:r>
            <a:r>
              <a:rPr kumimoji="0" sz="2400" b="0" i="0" u="none" strike="noStrike" kern="1200" cap="none" spc="4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register.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45526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4153" y="225643"/>
            <a:ext cx="1070698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 smtClean="0">
                <a:solidFill>
                  <a:srgbClr val="FF0000"/>
                </a:solidFill>
                <a:latin typeface="Corbel"/>
                <a:cs typeface="Corbel"/>
              </a:rPr>
              <a:t>5.2</a:t>
            </a:r>
            <a:r>
              <a:rPr spc="5" dirty="0" smtClean="0">
                <a:solidFill>
                  <a:srgbClr val="FF0000"/>
                </a:solidFill>
                <a:latin typeface="Corbel"/>
                <a:cs typeface="Corbel"/>
              </a:rPr>
              <a:t>.</a:t>
            </a:r>
            <a:r>
              <a:rPr dirty="0" smtClean="0">
                <a:solidFill>
                  <a:srgbClr val="FF0000"/>
                </a:solidFill>
                <a:latin typeface="Corbel"/>
                <a:cs typeface="Corbel"/>
              </a:rPr>
              <a:t>1.</a:t>
            </a:r>
            <a:r>
              <a:rPr spc="-95" dirty="0" smtClean="0">
                <a:solidFill>
                  <a:srgbClr val="FF0000"/>
                </a:solidFill>
                <a:latin typeface="Corbel"/>
                <a:cs typeface="Corbel"/>
              </a:rPr>
              <a:t>1</a:t>
            </a:r>
            <a:r>
              <a:rPr dirty="0" smtClean="0">
                <a:solidFill>
                  <a:srgbClr val="FF0000"/>
                </a:solidFill>
                <a:latin typeface="Corbel"/>
                <a:cs typeface="Corbel"/>
              </a:rPr>
              <a:t>3.</a:t>
            </a:r>
            <a:r>
              <a:rPr lang="en-US" dirty="0" smtClean="0">
                <a:solidFill>
                  <a:srgbClr val="FF0000"/>
                </a:solidFill>
                <a:latin typeface="Corbel"/>
                <a:cs typeface="Corbel"/>
              </a:rPr>
              <a:t>3</a:t>
            </a:r>
            <a:r>
              <a:rPr spc="-3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BRA</a:t>
            </a:r>
            <a:r>
              <a:rPr spc="-15" dirty="0">
                <a:solidFill>
                  <a:srgbClr val="FF0000"/>
                </a:solidFill>
                <a:latin typeface="Corbel"/>
                <a:cs typeface="Corbel"/>
              </a:rPr>
              <a:t>N</a:t>
            </a: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C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H</a:t>
            </a:r>
            <a:r>
              <a:rPr spc="-204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IN" spc="-5" dirty="0">
                <a:solidFill>
                  <a:srgbClr val="FF0000"/>
                </a:solidFill>
                <a:latin typeface="Corbel"/>
                <a:cs typeface="Corbel"/>
              </a:rPr>
              <a:t>Wit</a:t>
            </a:r>
            <a:r>
              <a:rPr lang="en-IN" dirty="0">
                <a:solidFill>
                  <a:srgbClr val="FF0000"/>
                </a:solidFill>
                <a:latin typeface="Corbel"/>
                <a:cs typeface="Corbel"/>
              </a:rPr>
              <a:t>h</a:t>
            </a:r>
            <a:r>
              <a:rPr lang="en-IN" spc="-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IN" dirty="0">
                <a:solidFill>
                  <a:srgbClr val="FF0000"/>
                </a:solidFill>
                <a:latin typeface="Corbel"/>
                <a:cs typeface="Corbel"/>
              </a:rPr>
              <a:t>LI</a:t>
            </a:r>
            <a:r>
              <a:rPr lang="en-IN" spc="-10" dirty="0">
                <a:solidFill>
                  <a:srgbClr val="FF0000"/>
                </a:solidFill>
                <a:latin typeface="Corbel"/>
                <a:cs typeface="Corbel"/>
              </a:rPr>
              <a:t>N</a:t>
            </a:r>
            <a:r>
              <a:rPr lang="en-IN" dirty="0">
                <a:solidFill>
                  <a:srgbClr val="FF0000"/>
                </a:solidFill>
                <a:latin typeface="Corbel"/>
                <a:cs typeface="Corbel"/>
              </a:rPr>
              <a:t>K </a:t>
            </a:r>
            <a:r>
              <a:rPr lang="en-US" spc="-204" dirty="0" smtClean="0">
                <a:solidFill>
                  <a:srgbClr val="FF0000"/>
                </a:solidFill>
                <a:latin typeface="Corbel"/>
                <a:cs typeface="Corbel"/>
              </a:rPr>
              <a:t>Exchange </a:t>
            </a:r>
            <a:r>
              <a:rPr dirty="0" smtClean="0">
                <a:solidFill>
                  <a:srgbClr val="FF0000"/>
                </a:solidFill>
                <a:latin typeface="Corbel"/>
                <a:cs typeface="Corbel"/>
              </a:rPr>
              <a:t>(B</a:t>
            </a:r>
            <a:r>
              <a:rPr spc="-10" dirty="0" smtClean="0">
                <a:solidFill>
                  <a:srgbClr val="FF0000"/>
                </a:solidFill>
                <a:latin typeface="Corbel"/>
                <a:cs typeface="Corbel"/>
              </a:rPr>
              <a:t>L</a:t>
            </a:r>
            <a:r>
              <a:rPr lang="en-US" spc="-10" dirty="0" smtClean="0">
                <a:solidFill>
                  <a:srgbClr val="FF0000"/>
                </a:solidFill>
                <a:latin typeface="Corbel"/>
                <a:cs typeface="Corbel"/>
              </a:rPr>
              <a:t>X</a:t>
            </a:r>
            <a:r>
              <a:rPr dirty="0" smtClean="0">
                <a:solidFill>
                  <a:srgbClr val="FF0000"/>
                </a:solidFill>
                <a:latin typeface="Corbel"/>
                <a:cs typeface="Corbel"/>
              </a:rPr>
              <a:t>)</a:t>
            </a:r>
            <a:endParaRPr dirty="0">
              <a:solidFill>
                <a:srgbClr val="FF0000"/>
              </a:solidFill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9816" y="1190118"/>
            <a:ext cx="8921498" cy="226344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r>
              <a:rPr lang="en-US" sz="2400" b="1" dirty="0"/>
              <a:t>BLX in </a:t>
            </a:r>
            <a:r>
              <a:rPr lang="en-US" sz="2400" b="1" dirty="0" smtClean="0"/>
              <a:t>ARM </a:t>
            </a:r>
            <a:r>
              <a:rPr lang="en-US" sz="2400" dirty="0" smtClean="0"/>
              <a:t>BLX </a:t>
            </a:r>
            <a:r>
              <a:rPr lang="en-US" sz="2400" dirty="0"/>
              <a:t>= Branch with Link and Exchange</a:t>
            </a:r>
          </a:p>
          <a:p>
            <a:r>
              <a:rPr lang="en-US" sz="2400" dirty="0"/>
              <a:t>It’s used for: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/>
              <a:t>Function call (like BL)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/>
              <a:t>Switching instruction set (ARM ↔ </a:t>
            </a:r>
            <a:r>
              <a:rPr lang="en-US" sz="2400" dirty="0" smtClean="0"/>
              <a:t>Thumb)</a:t>
            </a:r>
          </a:p>
          <a:p>
            <a:r>
              <a:rPr lang="en-US" sz="2400" dirty="0" smtClean="0"/>
              <a:t>Syntax : BLX label</a:t>
            </a:r>
          </a:p>
          <a:p>
            <a:r>
              <a:rPr lang="en-US" sz="2400" dirty="0"/>
              <a:t>	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944915" y="3140338"/>
            <a:ext cx="9898742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1. Branch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/>
              <a:t>Jumps to target address (label or register)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2. Link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/>
              <a:t>Stores return address in LR (R14)</a:t>
            </a:r>
            <a:br>
              <a:rPr lang="en-US" altLang="en-US" sz="2400" dirty="0"/>
            </a:br>
            <a:r>
              <a:rPr lang="en-US" altLang="en-US" sz="2400" dirty="0" smtClean="0"/>
              <a:t>3</a:t>
            </a:r>
            <a:r>
              <a:rPr lang="en-US" altLang="en-US" sz="2400" dirty="0"/>
              <a:t>. Exchange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/>
              <a:t>Switches instruction set depending on LSB of target </a:t>
            </a:r>
            <a:r>
              <a:rPr lang="en-US" altLang="en-US" sz="2400" dirty="0" smtClean="0"/>
              <a:t>address(0/1) or(ARM/Thumb mode)</a:t>
            </a: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71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6027</TotalTime>
  <Words>2103</Words>
  <Application>Microsoft Office PowerPoint</Application>
  <PresentationFormat>Widescreen</PresentationFormat>
  <Paragraphs>257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4" baseType="lpstr">
      <vt:lpstr>Arial</vt:lpstr>
      <vt:lpstr>Calibri</vt:lpstr>
      <vt:lpstr>Calibri Light</vt:lpstr>
      <vt:lpstr>Corbel</vt:lpstr>
      <vt:lpstr>Verdana</vt:lpstr>
      <vt:lpstr>Wingdings</vt:lpstr>
      <vt:lpstr>Office Theme</vt:lpstr>
      <vt:lpstr>PowerPoint Presentation</vt:lpstr>
      <vt:lpstr>INTRODUCTION</vt:lpstr>
      <vt:lpstr>5.1 EMBEDDED PROGRAM DEVELOPMENT</vt:lpstr>
      <vt:lpstr>5.1 EMBEDDED PROGRAM DEVELOPMENT (CONTD..)</vt:lpstr>
      <vt:lpstr>POPULAR IDES IN USE FOR VARIOUS  PROCESSORS.</vt:lpstr>
      <vt:lpstr>NOTE TO REMEMBER</vt:lpstr>
      <vt:lpstr>5.1.1 FEATURES OF ARMV4T ISA</vt:lpstr>
      <vt:lpstr>PowerPoint Presentation</vt:lpstr>
      <vt:lpstr>PowerPoint Presentation</vt:lpstr>
      <vt:lpstr>5.1.2 ASSEMBLY LANGUAGE FORMAT</vt:lpstr>
      <vt:lpstr>5.2 ARM7 INSTRUCTION SET</vt:lpstr>
      <vt:lpstr>5.2.1 DATA PROCESSING INSTRUCTIONS</vt:lpstr>
      <vt:lpstr>PowerPoint Presentation</vt:lpstr>
      <vt:lpstr>PowerPoint Presentation</vt:lpstr>
      <vt:lpstr>5.2.1.1 LOGICAL SHIFT LEFT (LSL #n)</vt:lpstr>
      <vt:lpstr>PowerPoint Presentation</vt:lpstr>
      <vt:lpstr>EXAMPLE</vt:lpstr>
      <vt:lpstr>5.2.1.2 LOGICAL SHIFT RIGHT (LSR #n)</vt:lpstr>
      <vt:lpstr>PowerPoint Presentation</vt:lpstr>
      <vt:lpstr>PowerPoint Presentation</vt:lpstr>
      <vt:lpstr>5.2.1.3 ARITHMETIC SHIFT RIGHT (ASR #n)</vt:lpstr>
      <vt:lpstr>PowerPoint Presentation</vt:lpstr>
      <vt:lpstr>PowerPoint Presentation</vt:lpstr>
      <vt:lpstr>PowerPoint Presentation</vt:lpstr>
      <vt:lpstr>5.2.1.4 ROTATE RIGHT (ROR #n)</vt:lpstr>
      <vt:lpstr>PowerPoint Presentation</vt:lpstr>
      <vt:lpstr>5.2.1.5 ROTATE RIGHT EXTENDED (RRX #n)</vt:lpstr>
      <vt:lpstr>PowerPoint Presentation</vt:lpstr>
      <vt:lpstr>PROBLEMS</vt:lpstr>
      <vt:lpstr>ANSWERS</vt:lpstr>
      <vt:lpstr>5.2.1.6 MOV Instruction (MOV, MVN)</vt:lpstr>
      <vt:lpstr>EXAMPLE 1</vt:lpstr>
      <vt:lpstr>EXAMPLE 2</vt:lpstr>
      <vt:lpstr>5.2.1.7 THE SUFFIX ‘S’</vt:lpstr>
      <vt:lpstr>PowerPoint Presentation</vt:lpstr>
      <vt:lpstr>5.2.1.8 CONDITIONAL EXECUTION</vt:lpstr>
      <vt:lpstr>LIST OF CONDITION CODES and the FLAGS UPDATED  CORRESPONDINGLY</vt:lpstr>
      <vt:lpstr>Format of a Data Processing Instruction</vt:lpstr>
      <vt:lpstr>How Do We Use Conditional Execution?</vt:lpstr>
      <vt:lpstr>PowerPoint Presentation</vt:lpstr>
      <vt:lpstr>What Are The Pros And Cons Of Such Conditional  Execution (Which Is Not Done Inmost Other ISAs)?</vt:lpstr>
      <vt:lpstr>What Are The Pros And Cons Of Such Conditional  Execution (Which Is Not Done Inmost Other ISAs)?</vt:lpstr>
      <vt:lpstr>5.2.1.9 ARITHMETIC AND LOGICAL  INSTRUCTIONS</vt:lpstr>
      <vt:lpstr>PowerPoint Presentation</vt:lpstr>
      <vt:lpstr>PowerPoint Presentation</vt:lpstr>
      <vt:lpstr>PowerPoint Presentation</vt:lpstr>
      <vt:lpstr>EXAMPLE</vt:lpstr>
      <vt:lpstr>SOLUTION</vt:lpstr>
      <vt:lpstr>5.2.1.10 COMPARE Instruction</vt:lpstr>
      <vt:lpstr>PowerPoint Presentation</vt:lpstr>
      <vt:lpstr>PROBLEM</vt:lpstr>
      <vt:lpstr>SOLUTION</vt:lpstr>
      <vt:lpstr>PROBLEM</vt:lpstr>
      <vt:lpstr>SOLUTION</vt:lpstr>
      <vt:lpstr>PROBLEM</vt:lpstr>
      <vt:lpstr>PowerPoint Presentation</vt:lpstr>
      <vt:lpstr>5.2.1.11 MULTIPLICATION</vt:lpstr>
      <vt:lpstr>PowerPoint Presentation</vt:lpstr>
      <vt:lpstr>PROBLEM</vt:lpstr>
      <vt:lpstr>PowerPoint Presentation</vt:lpstr>
      <vt:lpstr>PowerPoint Presentation</vt:lpstr>
      <vt:lpstr>5.2.1.12 DIVISION</vt:lpstr>
      <vt:lpstr>5.2.1.13 BRANCH Instruction</vt:lpstr>
      <vt:lpstr>5.2.1.13.1 BRANCH (B)</vt:lpstr>
      <vt:lpstr>PowerPoint Presentation</vt:lpstr>
      <vt:lpstr>5.2.1.13.2 BRANCH With LINK (BL)</vt:lpstr>
      <vt:lpstr>5.2.1.13.3 BRANCH With LINK Exchange (BLX)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98</cp:revision>
  <dcterms:created xsi:type="dcterms:W3CDTF">2021-05-10T17:58:42Z</dcterms:created>
  <dcterms:modified xsi:type="dcterms:W3CDTF">2026-05-12T06:02:46Z</dcterms:modified>
</cp:coreProperties>
</file>