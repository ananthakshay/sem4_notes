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23.png" ContentType="image/png"/>
  <Override PartName="/ppt/media/image22.png" ContentType="image/png"/>
  <Override PartName="/ppt/media/image21.png" ContentType="image/png"/>
  <Override PartName="/ppt/media/image19.png" ContentType="image/png"/>
  <Override PartName="/ppt/media/image20.png" ContentType="image/png"/>
  <Override PartName="/ppt/media/image18.png" ContentType="image/png"/>
  <Override PartName="/ppt/media/image17.png" ContentType="image/png"/>
  <Override PartName="/ppt/media/image16.png" ContentType="image/png"/>
  <Override PartName="/ppt/media/image15.png" ContentType="image/png"/>
  <Override PartName="/ppt/media/image14.png" ContentType="image/png"/>
  <Override PartName="/ppt/media/image24.png" ContentType="image/png"/>
  <Override PartName="/ppt/media/image1.png" ContentType="image/png"/>
  <Override PartName="/ppt/media/image31.png" ContentType="image/png"/>
  <Override PartName="/ppt/media/image25.png" ContentType="image/png"/>
  <Override PartName="/ppt/media/image2.png" ContentType="image/png"/>
  <Override PartName="/ppt/media/image32.png" ContentType="image/png"/>
  <Override PartName="/ppt/media/image26.png" ContentType="image/png"/>
  <Override PartName="/ppt/media/image3.png" ContentType="image/png"/>
  <Override PartName="/ppt/media/image33.png" ContentType="image/png"/>
  <Override PartName="/ppt/media/image27.png" ContentType="image/png"/>
  <Override PartName="/ppt/media/image13.png" ContentType="image/png"/>
  <Override PartName="/ppt/media/image50.png" ContentType="image/png"/>
  <Override PartName="/ppt/media/image40.png" ContentType="image/png"/>
  <Override PartName="/ppt/media/image4.png" ContentType="image/png"/>
  <Override PartName="/ppt/media/image34.png" ContentType="image/png"/>
  <Override PartName="/ppt/media/image41.png" ContentType="image/png"/>
  <Override PartName="/ppt/media/image9.png" ContentType="image/png"/>
  <Override PartName="/ppt/media/image39.png" ContentType="image/png"/>
  <Override PartName="/ppt/media/image30.png" ContentType="image/png"/>
  <Override PartName="/ppt/media/image28.png" ContentType="image/png"/>
  <Override PartName="/ppt/media/image42.png" ContentType="image/png"/>
  <Override PartName="/ppt/media/image43.png" ContentType="image/png"/>
  <Override PartName="/ppt/media/image44.png" ContentType="image/png"/>
  <Override PartName="/ppt/media/image45.png" ContentType="image/png"/>
  <Override PartName="/ppt/media/image46.png" ContentType="image/png"/>
  <Override PartName="/ppt/media/image48.png" ContentType="image/png"/>
  <Override PartName="/ppt/media/image11.png" ContentType="image/png"/>
  <Override PartName="/ppt/media/image38.png" ContentType="image/png"/>
  <Override PartName="/ppt/media/image8.png" ContentType="image/png"/>
  <Override PartName="/ppt/media/image49.png" ContentType="image/png"/>
  <Override PartName="/ppt/media/image12.png" ContentType="image/png"/>
  <Override PartName="/ppt/media/image10.png" ContentType="image/png"/>
  <Override PartName="/ppt/media/image47.png" ContentType="image/png"/>
  <Override PartName="/ppt/media/image37.png" ContentType="image/png"/>
  <Override PartName="/ppt/media/image7.png" ContentType="image/png"/>
  <Override PartName="/ppt/media/image36.png" ContentType="image/png"/>
  <Override PartName="/ppt/media/image6.png" ContentType="image/png"/>
  <Override PartName="/ppt/media/image29.png" ContentType="image/png"/>
  <Override PartName="/ppt/media/image5.png" ContentType="image/png"/>
  <Override PartName="/ppt/media/image35.png" ContentType="image/png"/>
  <Override PartName="/ppt/presProps.xml" ContentType="application/vnd.openxmlformats-officedocument.presentationml.presProps+xml"/>
  <Override PartName="/ppt/slides/slide43.xml" ContentType="application/vnd.openxmlformats-officedocument.presentationml.slide+xml"/>
  <Override PartName="/ppt/slides/slide44.xml" ContentType="application/vnd.openxmlformats-officedocument.presentationml.slide+xml"/>
  <Override PartName="/ppt/slides/slide47.xml" ContentType="application/vnd.openxmlformats-officedocument.presentationml.slide+xml"/>
  <Override PartName="/ppt/slides/slide4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48.xml" ContentType="application/vnd.openxmlformats-officedocument.presentationml.slide+xml"/>
  <Override PartName="/ppt/slides/slide50.xml" ContentType="application/vnd.openxmlformats-officedocument.presentationml.slide+xml"/>
  <Override PartName="/ppt/slides/slide39.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_rels/slide47.xml.rels" ContentType="application/vnd.openxmlformats-package.relationships+xml"/>
  <Override PartName="/ppt/slides/_rels/slide54.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36.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27.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3.xml.rels" ContentType="application/vnd.openxmlformats-package.relationships+xml"/>
  <Override PartName="/ppt/slides/_rels/slide22.xml.rels" ContentType="application/vnd.openxmlformats-package.relationships+xml"/>
  <Override PartName="/ppt/slides/_rels/slide28.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31.xml.rels" ContentType="application/vnd.openxmlformats-package.relationships+xml"/>
  <Override PartName="/ppt/slides/_rels/slide39.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16.xml.rels" ContentType="application/vnd.openxmlformats-package.relationships+xml"/>
  <Override PartName="/ppt/slides/_rels/slide25.xml.rels" ContentType="application/vnd.openxmlformats-package.relationships+xml"/>
  <Override PartName="/ppt/slides/_rels/slide45.xml.rels" ContentType="application/vnd.openxmlformats-package.relationships+xml"/>
  <Override PartName="/ppt/slides/_rels/slide14.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38.xml.rels" ContentType="application/vnd.openxmlformats-package.relationships+xml"/>
  <Override PartName="/ppt/slides/_rels/slide23.xml.rels" ContentType="application/vnd.openxmlformats-package.relationships+xml"/>
  <Override PartName="/ppt/slides/_rels/slide52.xml.rels" ContentType="application/vnd.openxmlformats-package.relationships+xml"/>
  <Override PartName="/ppt/slides/_rels/slide58.xml.rels" ContentType="application/vnd.openxmlformats-package.relationships+xml"/>
  <Override PartName="/ppt/slides/_rels/slide53.xml.rels" ContentType="application/vnd.openxmlformats-package.relationships+xml"/>
  <Override PartName="/ppt/slides/_rels/slide46.xml.rels" ContentType="application/vnd.openxmlformats-package.relationships+xml"/>
  <Override PartName="/ppt/slides/_rels/slide59.xml.rels" ContentType="application/vnd.openxmlformats-package.relationships+xml"/>
  <Override PartName="/ppt/slides/_rels/slide57.xml.rels" ContentType="application/vnd.openxmlformats-package.relationships+xml"/>
  <Override PartName="/ppt/slides/_rels/slide42.xml.rels" ContentType="application/vnd.openxmlformats-package.relationships+xml"/>
  <Override PartName="/ppt/slides/_rels/slide20.xml.rels" ContentType="application/vnd.openxmlformats-package.relationships+xml"/>
  <Override PartName="/ppt/slides/_rels/slide51.xml.rels" ContentType="application/vnd.openxmlformats-package.relationships+xml"/>
  <Override PartName="/ppt/slides/_rels/slide35.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50.xml.rels" ContentType="application/vnd.openxmlformats-package.relationships+xml"/>
  <Override PartName="/ppt/slides/_rels/slide34.xml.rels" ContentType="application/vnd.openxmlformats-package.relationships+xml"/>
  <Override PartName="/ppt/slides/_rels/slide49.xml.rels" ContentType="application/vnd.openxmlformats-package.relationships+xml"/>
  <Override PartName="/ppt/slides/_rels/slide41.xml.rels" ContentType="application/vnd.openxmlformats-package.relationships+xml"/>
  <Override PartName="/ppt/slides/_rels/slide56.xml.rels" ContentType="application/vnd.openxmlformats-package.relationships+xml"/>
  <Override PartName="/ppt/slides/_rels/slide6.xml.rels" ContentType="application/vnd.openxmlformats-package.relationships+xml"/>
  <Override PartName="/ppt/slides/_rels/slide40.xml.rels" ContentType="application/vnd.openxmlformats-package.relationships+xml"/>
  <Override PartName="/ppt/slides/_rels/slide55.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48.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0.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10.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8.xml" ContentType="application/vnd.openxmlformats-officedocument.presentationml.slide+xml"/>
  <Override PartName="/ppt/slides/slide15.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57.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58.xml" ContentType="application/vnd.openxmlformats-officedocument.presentationml.slide+xml"/>
  <Override PartName="/ppt/slides/slide21.xml" ContentType="application/vnd.openxmlformats-officedocument.presentationml.slide+xml"/>
  <Override PartName="/ppt/slides/slide59.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Lst>
  <p:sldSz cx="12192000"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E8DC0371-41AF-42F8-93B3-B2DB5E15778E}" type="slidenum">
              <a:t>&lt;#&gt;</a:t>
            </a:fld>
          </a:p>
        </p:txBody>
      </p:sp>
      <p:sp>
        <p:nvSpPr>
          <p:cNvPr id="4" name="PlaceHolder 3"/>
          <p:cNvSpPr>
            <a:spLocks noGrp="1"/>
          </p:cNvSpPr>
          <p:nvPr>
            <p:ph type="dt" idx="1"/>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8A8487B2-5CD9-48DD-BA87-0F9B3DD0D0AE}"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E3D0893A-68ED-401B-BE5F-2BB0F893DAB9}" type="slidenum">
              <a:t>&lt;#&gt;</a:t>
            </a:fld>
          </a:p>
        </p:txBody>
      </p:sp>
      <p:sp>
        <p:nvSpPr>
          <p:cNvPr id="6" name="PlaceHolder 5"/>
          <p:cNvSpPr>
            <a:spLocks noGrp="1"/>
          </p:cNvSpPr>
          <p:nvPr>
            <p:ph type="dt" idx="1"/>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1"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CBAB1326-3BB5-4993-952C-84CF047C8C7C}"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9DA4768-239E-4231-8475-E5A3E3C9140B}"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82D4E11F-5F8F-4836-BDB0-A4BF7E242DEB}" type="slidenum">
              <a:t>&lt;#&gt;</a:t>
            </a:fld>
          </a:p>
        </p:txBody>
      </p:sp>
      <p:sp>
        <p:nvSpPr>
          <p:cNvPr id="5" name="PlaceHolder 4"/>
          <p:cNvSpPr>
            <a:spLocks noGrp="1"/>
          </p:cNvSpPr>
          <p:nvPr>
            <p:ph type="dt" idx="1"/>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6"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17"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826BFA4F-325A-4A7E-88C6-3E321FF2026C}"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0"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1"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137356B8-40B2-4D54-B62A-EB8E3B6338C4}"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4"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5"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F0CF6BC0-27FD-41C8-8D5E-CE61DDACE667}" type="slidenum">
              <a:t>&lt;#&gt;</a:t>
            </a:fld>
          </a:p>
        </p:txBody>
      </p:sp>
      <p:sp>
        <p:nvSpPr>
          <p:cNvPr id="8" name="PlaceHolder 7"/>
          <p:cNvSpPr>
            <a:spLocks noGrp="1"/>
          </p:cNvSpPr>
          <p:nvPr>
            <p:ph type="dt" idx="1"/>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28"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163B62E-A822-48E9-9F04-054899FBDCCC}" type="slidenum">
              <a:t>&lt;#&gt;</a:t>
            </a:fld>
          </a:p>
        </p:txBody>
      </p:sp>
      <p:sp>
        <p:nvSpPr>
          <p:cNvPr id="7" name="PlaceHolder 6"/>
          <p:cNvSpPr>
            <a:spLocks noGrp="1"/>
          </p:cNvSpPr>
          <p:nvPr>
            <p:ph type="dt" idx="1"/>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2"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3"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2ACFA6A3-8C8D-4AAD-90B7-271838F3067F}" type="slidenum">
              <a:t>&lt;#&gt;</a:t>
            </a:fld>
          </a:p>
        </p:txBody>
      </p:sp>
      <p:sp>
        <p:nvSpPr>
          <p:cNvPr id="9" name="PlaceHolder 8"/>
          <p:cNvSpPr>
            <a:spLocks noGrp="1"/>
          </p:cNvSpPr>
          <p:nvPr>
            <p:ph type="dt" idx="1"/>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6"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7"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8"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39"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0"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A729F2D9-A7CE-4F74-8CED-25129C37543C}" type="slidenum">
              <a:t>&lt;#&gt;</a:t>
            </a:fld>
          </a:p>
        </p:txBody>
      </p:sp>
      <p:sp>
        <p:nvSpPr>
          <p:cNvPr id="11" name="PlaceHolder 10"/>
          <p:cNvSpPr>
            <a:spLocks noGrp="1"/>
          </p:cNvSpPr>
          <p:nvPr>
            <p:ph type="dt" idx="1"/>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3D830CE-FEF5-4535-82D3-058977A075C6}" type="slidenum">
              <a:t>&lt;#&gt;</a:t>
            </a:fld>
          </a:p>
        </p:txBody>
      </p:sp>
      <p:sp>
        <p:nvSpPr>
          <p:cNvPr id="4" name="PlaceHolder 3"/>
          <p:cNvSpPr>
            <a:spLocks noGrp="1"/>
          </p:cNvSpPr>
          <p:nvPr>
            <p:ph type="dt" idx="4"/>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7" name="PlaceHolder 2"/>
          <p:cNvSpPr>
            <a:spLocks noGrp="1"/>
          </p:cNvSpPr>
          <p:nvPr>
            <p:ph type="subTitle"/>
          </p:nvPr>
        </p:nvSpPr>
        <p:spPr>
          <a:xfrm>
            <a:off x="838080" y="1825560"/>
            <a:ext cx="10515240" cy="435096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5DE11717-D362-4C3F-9395-38DB64DE6B80}"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49" name="PlaceHolder 2"/>
          <p:cNvSpPr>
            <a:spLocks noGrp="1"/>
          </p:cNvSpPr>
          <p:nvPr>
            <p:ph/>
          </p:nvPr>
        </p:nvSpPr>
        <p:spPr>
          <a:xfrm>
            <a:off x="838080" y="1825560"/>
            <a:ext cx="1051524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75F5B7DA-B176-4C3F-B7A9-629F72684181}" type="slidenum">
              <a:t>&lt;#&gt;</a:t>
            </a:fld>
          </a:p>
        </p:txBody>
      </p:sp>
      <p:sp>
        <p:nvSpPr>
          <p:cNvPr id="6" name="PlaceHolder 5"/>
          <p:cNvSpPr>
            <a:spLocks noGrp="1"/>
          </p:cNvSpPr>
          <p:nvPr>
            <p:ph type="dt" idx="4"/>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1"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2"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9E270667-D692-4316-BBE6-E5E05865FF48}"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05A56D5F-08CC-49EE-AFDD-4F662120E56A}"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838080" y="365040"/>
            <a:ext cx="10515240" cy="614412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AAC4F0CC-C1EA-4428-B2AD-ED55474592EF}" type="slidenum">
              <a:t>&lt;#&gt;</a:t>
            </a:fld>
          </a:p>
        </p:txBody>
      </p:sp>
      <p:sp>
        <p:nvSpPr>
          <p:cNvPr id="5" name="PlaceHolder 4"/>
          <p:cNvSpPr>
            <a:spLocks noGrp="1"/>
          </p:cNvSpPr>
          <p:nvPr>
            <p:ph type="dt" idx="4"/>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56"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7" name="PlaceHolder 3"/>
          <p:cNvSpPr>
            <a:spLocks noGrp="1"/>
          </p:cNvSpPr>
          <p:nvPr>
            <p:ph/>
          </p:nvPr>
        </p:nvSpPr>
        <p:spPr>
          <a:xfrm>
            <a:off x="622620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8"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91772001-8D2A-4473-9ECA-7CCCF3AEEC09}"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0" name="PlaceHolder 2"/>
          <p:cNvSpPr>
            <a:spLocks noGrp="1"/>
          </p:cNvSpPr>
          <p:nvPr>
            <p:ph/>
          </p:nvPr>
        </p:nvSpPr>
        <p:spPr>
          <a:xfrm>
            <a:off x="838080" y="1825560"/>
            <a:ext cx="5131080" cy="435096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1"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2" name="PlaceHolder 4"/>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797102EE-4594-4747-8549-86798DCD929D}"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4"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5"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6" name="PlaceHolder 4"/>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096A4CAF-EF81-4B3F-8B00-9D4A44D2293F}" type="slidenum">
              <a:t>&lt;#&gt;</a:t>
            </a:fld>
          </a:p>
        </p:txBody>
      </p:sp>
      <p:sp>
        <p:nvSpPr>
          <p:cNvPr id="8" name="PlaceHolder 7"/>
          <p:cNvSpPr>
            <a:spLocks noGrp="1"/>
          </p:cNvSpPr>
          <p:nvPr>
            <p:ph type="dt" idx="4"/>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68" name="PlaceHolder 2"/>
          <p:cNvSpPr>
            <a:spLocks noGrp="1"/>
          </p:cNvSpPr>
          <p:nvPr>
            <p:ph/>
          </p:nvPr>
        </p:nvSpPr>
        <p:spPr>
          <a:xfrm>
            <a:off x="838080" y="182556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69" name="PlaceHolder 3"/>
          <p:cNvSpPr>
            <a:spLocks noGrp="1"/>
          </p:cNvSpPr>
          <p:nvPr>
            <p:ph/>
          </p:nvPr>
        </p:nvSpPr>
        <p:spPr>
          <a:xfrm>
            <a:off x="838080" y="4098240"/>
            <a:ext cx="1051524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6EBBFC7D-C053-4776-8ECF-2F37F27EB05C}" type="slidenum">
              <a:t>&lt;#&gt;</a:t>
            </a:fld>
          </a:p>
        </p:txBody>
      </p:sp>
      <p:sp>
        <p:nvSpPr>
          <p:cNvPr id="7" name="PlaceHolder 6"/>
          <p:cNvSpPr>
            <a:spLocks noGrp="1"/>
          </p:cNvSpPr>
          <p:nvPr>
            <p:ph type="dt" idx="4"/>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1" name="PlaceHolder 2"/>
          <p:cNvSpPr>
            <a:spLocks noGrp="1"/>
          </p:cNvSpPr>
          <p:nvPr>
            <p:ph/>
          </p:nvPr>
        </p:nvSpPr>
        <p:spPr>
          <a:xfrm>
            <a:off x="83808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2" name="PlaceHolder 3"/>
          <p:cNvSpPr>
            <a:spLocks noGrp="1"/>
          </p:cNvSpPr>
          <p:nvPr>
            <p:ph/>
          </p:nvPr>
        </p:nvSpPr>
        <p:spPr>
          <a:xfrm>
            <a:off x="6226200" y="182556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3" name="PlaceHolder 4"/>
          <p:cNvSpPr>
            <a:spLocks noGrp="1"/>
          </p:cNvSpPr>
          <p:nvPr>
            <p:ph/>
          </p:nvPr>
        </p:nvSpPr>
        <p:spPr>
          <a:xfrm>
            <a:off x="83808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4" name="PlaceHolder 5"/>
          <p:cNvSpPr>
            <a:spLocks noGrp="1"/>
          </p:cNvSpPr>
          <p:nvPr>
            <p:ph/>
          </p:nvPr>
        </p:nvSpPr>
        <p:spPr>
          <a:xfrm>
            <a:off x="6226200" y="4098240"/>
            <a:ext cx="513108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CF8284C9-EC2C-4F0E-A997-2A0FB116CC27}" type="slidenum">
              <a:t>&lt;#&gt;</a:t>
            </a:fld>
          </a:p>
        </p:txBody>
      </p:sp>
      <p:sp>
        <p:nvSpPr>
          <p:cNvPr id="9" name="PlaceHolder 8"/>
          <p:cNvSpPr>
            <a:spLocks noGrp="1"/>
          </p:cNvSpPr>
          <p:nvPr>
            <p:ph type="dt" idx="4"/>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838080" y="365040"/>
            <a:ext cx="10515240" cy="1325160"/>
          </a:xfrm>
          <a:prstGeom prst="rect">
            <a:avLst/>
          </a:prstGeom>
          <a:noFill/>
          <a:ln w="0">
            <a:noFill/>
          </a:ln>
        </p:spPr>
        <p:txBody>
          <a:bodyPr lIns="0" rIns="0" tIns="0" bIns="0" anchor="ctr">
            <a:noAutofit/>
          </a:bodyPr>
          <a:p>
            <a:endParaRPr b="0" lang="en-US" sz="1800" spc="-1" strike="noStrike">
              <a:solidFill>
                <a:srgbClr val="000000"/>
              </a:solidFill>
              <a:latin typeface="Calibri"/>
            </a:endParaRPr>
          </a:p>
        </p:txBody>
      </p:sp>
      <p:sp>
        <p:nvSpPr>
          <p:cNvPr id="76" name="PlaceHolder 2"/>
          <p:cNvSpPr>
            <a:spLocks noGrp="1"/>
          </p:cNvSpPr>
          <p:nvPr>
            <p:ph/>
          </p:nvPr>
        </p:nvSpPr>
        <p:spPr>
          <a:xfrm>
            <a:off x="83808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7" name="PlaceHolder 3"/>
          <p:cNvSpPr>
            <a:spLocks noGrp="1"/>
          </p:cNvSpPr>
          <p:nvPr>
            <p:ph/>
          </p:nvPr>
        </p:nvSpPr>
        <p:spPr>
          <a:xfrm>
            <a:off x="439344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8" name="PlaceHolder 4"/>
          <p:cNvSpPr>
            <a:spLocks noGrp="1"/>
          </p:cNvSpPr>
          <p:nvPr>
            <p:ph/>
          </p:nvPr>
        </p:nvSpPr>
        <p:spPr>
          <a:xfrm>
            <a:off x="7949160" y="182556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79" name="PlaceHolder 5"/>
          <p:cNvSpPr>
            <a:spLocks noGrp="1"/>
          </p:cNvSpPr>
          <p:nvPr>
            <p:ph/>
          </p:nvPr>
        </p:nvSpPr>
        <p:spPr>
          <a:xfrm>
            <a:off x="83808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0" name="PlaceHolder 6"/>
          <p:cNvSpPr>
            <a:spLocks noGrp="1"/>
          </p:cNvSpPr>
          <p:nvPr>
            <p:ph/>
          </p:nvPr>
        </p:nvSpPr>
        <p:spPr>
          <a:xfrm>
            <a:off x="439344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81" name="PlaceHolder 7"/>
          <p:cNvSpPr>
            <a:spLocks noGrp="1"/>
          </p:cNvSpPr>
          <p:nvPr>
            <p:ph/>
          </p:nvPr>
        </p:nvSpPr>
        <p:spPr>
          <a:xfrm>
            <a:off x="7949160" y="4098240"/>
            <a:ext cx="3385800" cy="2075040"/>
          </a:xfrm>
          <a:prstGeom prst="rect">
            <a:avLst/>
          </a:prstGeom>
          <a:noFill/>
          <a:ln w="0">
            <a:noFill/>
          </a:ln>
        </p:spPr>
        <p:txBody>
          <a:bodyPr lIns="0" rIns="0" tIns="0" bIns="0" anchor="t">
            <a:normAutofit/>
          </a:bodyPr>
          <a:p>
            <a:pPr>
              <a:lnSpc>
                <a:spcPct val="90000"/>
              </a:lnSpc>
              <a:spcBef>
                <a:spcPts val="1417"/>
              </a:spcBef>
              <a:buNone/>
            </a:pPr>
            <a:endParaRPr b="0" lang="en-US" sz="280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FDDEBFAF-61D9-4567-8820-3EDCEC596EBC}" type="slidenum">
              <a:t>&lt;#&gt;</a:t>
            </a:fld>
          </a:p>
        </p:txBody>
      </p:sp>
      <p:sp>
        <p:nvSpPr>
          <p:cNvPr id="11" name="PlaceHolder 10"/>
          <p:cNvSpPr>
            <a:spLocks noGrp="1"/>
          </p:cNvSpPr>
          <p:nvPr>
            <p:ph type="dt" idx="4"/>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anchor="b">
            <a:noAutofit/>
          </a:bodyPr>
          <a:p>
            <a:pPr algn="ctr">
              <a:lnSpc>
                <a:spcPct val="90000"/>
              </a:lnSpc>
              <a:buNone/>
            </a:pPr>
            <a:r>
              <a:rPr b="0" lang="en-US" sz="6000" spc="-1" strike="noStrike">
                <a:solidFill>
                  <a:srgbClr val="000000"/>
                </a:solidFill>
                <a:latin typeface="Calibri Light"/>
              </a:rPr>
              <a:t>Click to edit Master title style</a:t>
            </a:r>
            <a:endParaRPr b="0" lang="en-US" sz="6000" spc="-1" strike="noStrike">
              <a:solidFill>
                <a:srgbClr val="000000"/>
              </a:solidFill>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anchor="ctr">
            <a:noAutofit/>
          </a:bodyPr>
          <a:lstStyle>
            <a:lvl1pPr>
              <a:lnSpc>
                <a:spcPct val="100000"/>
              </a:lnSpc>
              <a:buNone/>
              <a:defRPr b="0" lang="en-IN" sz="1200" spc="-1" strike="noStrike">
                <a:solidFill>
                  <a:srgbClr val="8b8b8b"/>
                </a:solidFill>
                <a:latin typeface="Calibri"/>
              </a:defRPr>
            </a:lvl1pPr>
          </a:lstStyle>
          <a:p>
            <a:pPr>
              <a:lnSpc>
                <a:spcPct val="100000"/>
              </a:lnSpc>
              <a:buNone/>
            </a:pPr>
            <a:r>
              <a:rPr b="0" lang="en-IN" sz="1200" spc="-1" strike="noStrike">
                <a:solidFill>
                  <a:srgbClr val="8b8b8b"/>
                </a:solidFill>
                <a:latin typeface="Calibri"/>
              </a:rPr>
              <a:t>&lt;date/time&gt;</a:t>
            </a:r>
            <a:endParaRPr b="0" lang="en-IN" sz="1200" spc="-1" strike="noStrike">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anchor="ctr">
            <a:noAutofit/>
          </a:bodyPr>
          <a:lstStyle>
            <a:lvl1pPr algn="r">
              <a:lnSpc>
                <a:spcPct val="100000"/>
              </a:lnSpc>
              <a:buNone/>
              <a:defRPr b="0" lang="en-IN" sz="1200" spc="-1" strike="noStrike">
                <a:solidFill>
                  <a:srgbClr val="8b8b8b"/>
                </a:solidFill>
                <a:latin typeface="Calibri"/>
              </a:defRPr>
            </a:lvl1pPr>
          </a:lstStyle>
          <a:p>
            <a:pPr algn="r">
              <a:lnSpc>
                <a:spcPct val="100000"/>
              </a:lnSpc>
              <a:buNone/>
            </a:pPr>
            <a:fld id="{16C6687C-D2E4-4EC1-88C0-DCD57994502E}" type="slidenum">
              <a:rPr b="0" lang="en-IN" sz="1200" spc="-1" strike="noStrike">
                <a:solidFill>
                  <a:srgbClr val="8b8b8b"/>
                </a:solidFill>
                <a:latin typeface="Calibri"/>
              </a:rPr>
              <a:t>&lt;number&gt;</a:t>
            </a:fld>
            <a:endParaRPr b="0" lang="en-IN" sz="12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en-US" sz="2800" spc="-1" strike="noStrike">
                <a:solidFill>
                  <a:srgbClr val="000000"/>
                </a:solidFill>
                <a:latin typeface="Calibri"/>
              </a:rPr>
              <a:t>Click to edit the outline text format</a:t>
            </a:r>
            <a:endParaRPr b="0" lang="en-US" sz="2800" spc="-1" strike="noStrike">
              <a:solidFill>
                <a:srgbClr val="000000"/>
              </a:solidFill>
              <a:latin typeface="Calibri"/>
            </a:endParaRPr>
          </a:p>
          <a:p>
            <a:pPr lvl="1" marL="864000" indent="-324000">
              <a:lnSpc>
                <a:spcPct val="90000"/>
              </a:lnSpc>
              <a:spcBef>
                <a:spcPts val="1134"/>
              </a:spcBef>
              <a:buClr>
                <a:srgbClr val="000000"/>
              </a:buClr>
              <a:buSzPct val="75000"/>
              <a:buFont typeface="Symbol" charset="2"/>
              <a:buChar char=""/>
            </a:pPr>
            <a:r>
              <a:rPr b="0" lang="en-US" sz="2000" spc="-1" strike="noStrike">
                <a:solidFill>
                  <a:srgbClr val="000000"/>
                </a:solidFill>
                <a:latin typeface="Calibri"/>
              </a:rPr>
              <a:t>Second Outline Level</a:t>
            </a:r>
            <a:endParaRPr b="0" lang="en-US" sz="2000" spc="-1" strike="noStrike">
              <a:solidFill>
                <a:srgbClr val="000000"/>
              </a:solidFill>
              <a:latin typeface="Calibri"/>
            </a:endParaRPr>
          </a:p>
          <a:p>
            <a:pPr lvl="2" marL="1296000" indent="-288000">
              <a:lnSpc>
                <a:spcPct val="90000"/>
              </a:lnSpc>
              <a:spcBef>
                <a:spcPts val="850"/>
              </a:spcBef>
              <a:buClr>
                <a:srgbClr val="000000"/>
              </a:buClr>
              <a:buSzPct val="45000"/>
              <a:buFont typeface="Wingdings" charset="2"/>
              <a:buChar char=""/>
            </a:pPr>
            <a:r>
              <a:rPr b="0" lang="en-US" sz="1800" spc="-1" strike="noStrike">
                <a:solidFill>
                  <a:srgbClr val="000000"/>
                </a:solidFill>
                <a:latin typeface="Calibri"/>
              </a:rPr>
              <a:t>Third Outline Level</a:t>
            </a:r>
            <a:endParaRPr b="0" lang="en-US" sz="1800" spc="-1" strike="noStrike">
              <a:solidFill>
                <a:srgbClr val="000000"/>
              </a:solidFill>
              <a:latin typeface="Calibri"/>
            </a:endParaRPr>
          </a:p>
          <a:p>
            <a:pPr lvl="3" marL="1728000" indent="-216000">
              <a:lnSpc>
                <a:spcPct val="90000"/>
              </a:lnSpc>
              <a:spcBef>
                <a:spcPts val="567"/>
              </a:spcBef>
              <a:buClr>
                <a:srgbClr val="000000"/>
              </a:buClr>
              <a:buSzPct val="75000"/>
              <a:buFont typeface="Symbol" charset="2"/>
              <a:buChar char=""/>
            </a:pPr>
            <a:r>
              <a:rPr b="0" lang="en-US" sz="1800" spc="-1" strike="noStrike">
                <a:solidFill>
                  <a:srgbClr val="000000"/>
                </a:solidFill>
                <a:latin typeface="Calibri"/>
              </a:rPr>
              <a:t>Fourth Outline Level</a:t>
            </a:r>
            <a:endParaRPr b="0" lang="en-US" sz="1800" spc="-1" strike="noStrike">
              <a:solidFill>
                <a:srgbClr val="000000"/>
              </a:solidFill>
              <a:latin typeface="Calibri"/>
            </a:endParaRPr>
          </a:p>
          <a:p>
            <a:pPr lvl="4" marL="2160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Fifth Outline Level</a:t>
            </a:r>
            <a:endParaRPr b="0" lang="en-US" sz="2000" spc="-1" strike="noStrike">
              <a:solidFill>
                <a:srgbClr val="000000"/>
              </a:solidFill>
              <a:latin typeface="Calibri"/>
            </a:endParaRPr>
          </a:p>
          <a:p>
            <a:pPr lvl="5" marL="2592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Sixth Outline Level</a:t>
            </a:r>
            <a:endParaRPr b="0" lang="en-US" sz="2000" spc="-1" strike="noStrike">
              <a:solidFill>
                <a:srgbClr val="000000"/>
              </a:solidFill>
              <a:latin typeface="Calibri"/>
            </a:endParaRPr>
          </a:p>
          <a:p>
            <a:pPr lvl="6" marL="3024000" indent="-216000">
              <a:lnSpc>
                <a:spcPct val="90000"/>
              </a:lnSpc>
              <a:spcBef>
                <a:spcPts val="283"/>
              </a:spcBef>
              <a:buClr>
                <a:srgbClr val="000000"/>
              </a:buClr>
              <a:buSzPct val="45000"/>
              <a:buFont typeface="Wingdings" charset="2"/>
              <a:buChar char=""/>
            </a:pPr>
            <a:r>
              <a:rPr b="0" lang="en-US" sz="2000" spc="-1" strike="noStrike">
                <a:solidFill>
                  <a:srgbClr val="000000"/>
                </a:solidFill>
                <a:latin typeface="Calibri"/>
              </a:rPr>
              <a:t>Seventh Outline Level</a:t>
            </a:r>
            <a:endParaRPr b="0" lang="en-US"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US" sz="4400" spc="-1" strike="noStrike">
                <a:solidFill>
                  <a:srgbClr val="000000"/>
                </a:solidFill>
                <a:latin typeface="Calibri Light"/>
              </a:rPr>
              <a:t>Click to edit Master title style</a:t>
            </a:r>
            <a:endParaRPr b="0" lang="en-US" sz="4400" spc="-1" strike="noStrike">
              <a:solidFill>
                <a:srgbClr val="000000"/>
              </a:solidFill>
              <a:latin typeface="Calibri"/>
            </a:endParaRPr>
          </a:p>
        </p:txBody>
      </p:sp>
      <p:sp>
        <p:nvSpPr>
          <p:cNvPr id="42" name="PlaceHolder 2"/>
          <p:cNvSpPr>
            <a:spLocks noGrp="1"/>
          </p:cNvSpPr>
          <p:nvPr>
            <p:ph type="body"/>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Edit Master text styles</a:t>
            </a:r>
            <a:endParaRPr b="0" lang="en-US" sz="2800" spc="-1" strike="noStrike">
              <a:solidFill>
                <a:srgbClr val="000000"/>
              </a:solidFill>
              <a:latin typeface="Calibri"/>
            </a:endParaRPr>
          </a:p>
          <a:p>
            <a:pPr lvl="1" marL="685800" indent="-228600">
              <a:lnSpc>
                <a:spcPct val="90000"/>
              </a:lnSpc>
              <a:spcBef>
                <a:spcPts val="499"/>
              </a:spcBef>
              <a:buClr>
                <a:srgbClr val="000000"/>
              </a:buClr>
              <a:buFont typeface="Arial"/>
              <a:buChar char="•"/>
            </a:pPr>
            <a:r>
              <a:rPr b="0" lang="en-US" sz="2400" spc="-1" strike="noStrike">
                <a:solidFill>
                  <a:srgbClr val="000000"/>
                </a:solidFill>
                <a:latin typeface="Calibri"/>
              </a:rPr>
              <a:t>Second level</a:t>
            </a:r>
            <a:endParaRPr b="0" lang="en-US" sz="2400" spc="-1" strike="noStrike">
              <a:solidFill>
                <a:srgbClr val="000000"/>
              </a:solidFill>
              <a:latin typeface="Calibri"/>
            </a:endParaRPr>
          </a:p>
          <a:p>
            <a:pPr lvl="2" marL="1143000" indent="-228600">
              <a:lnSpc>
                <a:spcPct val="90000"/>
              </a:lnSpc>
              <a:spcBef>
                <a:spcPts val="499"/>
              </a:spcBef>
              <a:buClr>
                <a:srgbClr val="000000"/>
              </a:buClr>
              <a:buFont typeface="Arial"/>
              <a:buChar char="•"/>
            </a:pPr>
            <a:r>
              <a:rPr b="0" lang="en-US" sz="2000" spc="-1" strike="noStrike">
                <a:solidFill>
                  <a:srgbClr val="000000"/>
                </a:solidFill>
                <a:latin typeface="Calibri"/>
              </a:rPr>
              <a:t>Third level</a:t>
            </a:r>
            <a:endParaRPr b="0" lang="en-US" sz="2000" spc="-1" strike="noStrike">
              <a:solidFill>
                <a:srgbClr val="000000"/>
              </a:solidFill>
              <a:latin typeface="Calibri"/>
            </a:endParaRPr>
          </a:p>
          <a:p>
            <a:pPr lvl="3" marL="1600200" indent="-228600">
              <a:lnSpc>
                <a:spcPct val="90000"/>
              </a:lnSpc>
              <a:spcBef>
                <a:spcPts val="499"/>
              </a:spcBef>
              <a:buClr>
                <a:srgbClr val="000000"/>
              </a:buClr>
              <a:buFont typeface="Arial"/>
              <a:buChar char="•"/>
            </a:pPr>
            <a:r>
              <a:rPr b="0" lang="en-US" sz="1800" spc="-1" strike="noStrike">
                <a:solidFill>
                  <a:srgbClr val="000000"/>
                </a:solidFill>
                <a:latin typeface="Calibri"/>
              </a:rPr>
              <a:t>Fourth level</a:t>
            </a:r>
            <a:endParaRPr b="0" lang="en-US" sz="1800" spc="-1" strike="noStrike">
              <a:solidFill>
                <a:srgbClr val="000000"/>
              </a:solidFill>
              <a:latin typeface="Calibri"/>
            </a:endParaRPr>
          </a:p>
          <a:p>
            <a:pPr lvl="4" marL="2057400" indent="-228600">
              <a:lnSpc>
                <a:spcPct val="90000"/>
              </a:lnSpc>
              <a:spcBef>
                <a:spcPts val="499"/>
              </a:spcBef>
              <a:buClr>
                <a:srgbClr val="000000"/>
              </a:buClr>
              <a:buFont typeface="Arial"/>
              <a:buChar char="•"/>
            </a:pPr>
            <a:r>
              <a:rPr b="0" lang="en-US" sz="1800" spc="-1" strike="noStrike">
                <a:solidFill>
                  <a:srgbClr val="000000"/>
                </a:solidFill>
                <a:latin typeface="Calibri"/>
              </a:rPr>
              <a:t>Fifth level</a:t>
            </a:r>
            <a:endParaRPr b="0" lang="en-US" sz="1800" spc="-1" strike="noStrike">
              <a:solidFill>
                <a:srgbClr val="000000"/>
              </a:solidFill>
              <a:latin typeface="Calibri"/>
            </a:endParaRPr>
          </a:p>
        </p:txBody>
      </p:sp>
      <p:sp>
        <p:nvSpPr>
          <p:cNvPr id="43" name="PlaceHolder 3"/>
          <p:cNvSpPr>
            <a:spLocks noGrp="1"/>
          </p:cNvSpPr>
          <p:nvPr>
            <p:ph type="dt" idx="4"/>
          </p:nvPr>
        </p:nvSpPr>
        <p:spPr>
          <a:xfrm>
            <a:off x="838080" y="6356520"/>
            <a:ext cx="2742840" cy="364680"/>
          </a:xfrm>
          <a:prstGeom prst="rect">
            <a:avLst/>
          </a:prstGeom>
          <a:noFill/>
          <a:ln w="0">
            <a:noFill/>
          </a:ln>
        </p:spPr>
        <p:txBody>
          <a:bodyPr anchor="ctr">
            <a:noAutofit/>
          </a:bodyPr>
          <a:lstStyle>
            <a:lvl1pPr>
              <a:lnSpc>
                <a:spcPct val="100000"/>
              </a:lnSpc>
              <a:buNone/>
              <a:defRPr b="0" lang="en-IN" sz="1200" spc="-1" strike="noStrike">
                <a:solidFill>
                  <a:srgbClr val="8b8b8b"/>
                </a:solidFill>
                <a:latin typeface="Calibri"/>
              </a:defRPr>
            </a:lvl1pPr>
          </a:lstStyle>
          <a:p>
            <a:pPr>
              <a:lnSpc>
                <a:spcPct val="100000"/>
              </a:lnSpc>
              <a:buNone/>
            </a:pPr>
            <a:r>
              <a:rPr b="0" lang="en-IN" sz="1200" spc="-1" strike="noStrike">
                <a:solidFill>
                  <a:srgbClr val="8b8b8b"/>
                </a:solidFill>
                <a:latin typeface="Calibri"/>
              </a:rPr>
              <a:t>&lt;date/time&gt;</a:t>
            </a:r>
            <a:endParaRPr b="0" lang="en-IN" sz="1200" spc="-1" strike="noStrike">
              <a:latin typeface="Times New Roman"/>
            </a:endParaRPr>
          </a:p>
        </p:txBody>
      </p:sp>
      <p:sp>
        <p:nvSpPr>
          <p:cNvPr id="44" name="PlaceHolder 4"/>
          <p:cNvSpPr>
            <a:spLocks noGrp="1"/>
          </p:cNvSpPr>
          <p:nvPr>
            <p:ph type="ftr" idx="5"/>
          </p:nvPr>
        </p:nvSpPr>
        <p:spPr>
          <a:xfrm>
            <a:off x="4038480" y="6356520"/>
            <a:ext cx="4114440" cy="36468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5" name="PlaceHolder 5"/>
          <p:cNvSpPr>
            <a:spLocks noGrp="1"/>
          </p:cNvSpPr>
          <p:nvPr>
            <p:ph type="sldNum" idx="6"/>
          </p:nvPr>
        </p:nvSpPr>
        <p:spPr>
          <a:xfrm>
            <a:off x="8610480" y="6356520"/>
            <a:ext cx="2742840" cy="364680"/>
          </a:xfrm>
          <a:prstGeom prst="rect">
            <a:avLst/>
          </a:prstGeom>
          <a:noFill/>
          <a:ln w="0">
            <a:noFill/>
          </a:ln>
        </p:spPr>
        <p:txBody>
          <a:bodyPr anchor="ctr">
            <a:noAutofit/>
          </a:bodyPr>
          <a:lstStyle>
            <a:lvl1pPr algn="r">
              <a:lnSpc>
                <a:spcPct val="100000"/>
              </a:lnSpc>
              <a:buNone/>
              <a:defRPr b="0" lang="en-IN" sz="1200" spc="-1" strike="noStrike">
                <a:solidFill>
                  <a:srgbClr val="8b8b8b"/>
                </a:solidFill>
                <a:latin typeface="Calibri"/>
              </a:defRPr>
            </a:lvl1pPr>
          </a:lstStyle>
          <a:p>
            <a:pPr algn="r">
              <a:lnSpc>
                <a:spcPct val="100000"/>
              </a:lnSpc>
              <a:buNone/>
            </a:pPr>
            <a:fld id="{6CC30800-DA39-4131-AAD6-63C4FE4B985D}" type="slidenum">
              <a:rPr b="0" lang="en-IN" sz="1200" spc="-1" strike="noStrike">
                <a:solidFill>
                  <a:srgbClr val="8b8b8b"/>
                </a:solidFill>
                <a:latin typeface="Calibri"/>
              </a:rPr>
              <a:t>&lt;number&gt;</a:t>
            </a:fld>
            <a:endParaRPr b="0" lang="en-IN"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
</Relationships>
</file>

<file path=ppt/slides/_rels/slide2.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
</Relationships>
</file>

<file path=ppt/slides/_rels/slide5.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
</Relationships>
</file>

<file path=ppt/slides/_rels/slide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3.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6.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3.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3.xml"/>
</Relationships>
</file>

<file path=ppt/slides/_rels/slide18.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image" Target="../media/image15.png"/><Relationship Id="rId3" Type="http://schemas.openxmlformats.org/officeDocument/2006/relationships/slideLayout" Target="../slideLayouts/slideLayout13.xml"/>
</Relationships>
</file>

<file path=ppt/slides/_rels/slide19.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13.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21.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13.xml"/>
</Relationships>
</file>

<file path=ppt/slides/_rels/slide22.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13.xml"/>
</Relationships>
</file>

<file path=ppt/slides/_rels/slide23.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3.xml"/>
</Relationships>
</file>

<file path=ppt/slides/_rels/slide2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3.xml"/>
</Relationships>
</file>

<file path=ppt/slides/_rels/slide25.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3.xml"/>
</Relationships>
</file>

<file path=ppt/slides/_rels/slide26.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3.xml"/>
</Relationships>
</file>

<file path=ppt/slides/_rels/slide27.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3.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3.xml"/>
</Relationships>
</file>

<file path=ppt/slides/_rels/slide2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3.xml"/>
</Relationships>
</file>

<file path=ppt/slides/_rels/slide30.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3.xml"/>
</Relationships>
</file>

<file path=ppt/slides/_rels/slide31.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3.xml"/>
</Relationships>
</file>

<file path=ppt/slides/_rels/slide3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13.xml"/>
</Relationships>
</file>

<file path=ppt/slides/_rels/slide3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13.xml"/>
</Relationships>
</file>

<file path=ppt/slides/_rels/slide3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3.xml"/>
</Relationships>
</file>

<file path=ppt/slides/_rels/slide3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13.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8.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13.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0.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3.xml"/>
</Relationships>
</file>

<file path=ppt/slides/_rels/slide41.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3.xml"/>
</Relationships>
</file>

<file path=ppt/slides/_rels/slide42.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3.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4.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3.xml"/>
</Relationships>
</file>

<file path=ppt/slides/_rels/slide45.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3.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2.xml"/>
</Relationships>
</file>

<file path=ppt/slides/_rels/slide49.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2.xml"/>
</Relationships>
</file>

<file path=ppt/slides/_rels/slide50.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
</Relationships>
</file>

<file path=ppt/slides/_rels/slide51.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2.xml"/>
</Relationships>
</file>

<file path=ppt/slides/_rels/slide52.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13.xml"/>
</Relationships>
</file>

<file path=ppt/slides/_rels/slide53.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2.xml"/>
</Relationships>
</file>

<file path=ppt/slides/_rels/slide54.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13.xml"/>
</Relationships>
</file>

<file path=ppt/slides/_rels/slide55.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image" Target="../media/image47.png"/><Relationship Id="rId3" Type="http://schemas.openxmlformats.org/officeDocument/2006/relationships/slideLayout" Target="../slideLayouts/slideLayout2.xml"/>
</Relationships>
</file>

<file path=ppt/slides/_rels/slide56.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3.xml"/>
</Relationships>
</file>

<file path=ppt/slides/_rels/slide57.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3.xml"/>
</Relationships>
</file>

<file path=ppt/slides/_rels/slide58.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3.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PlaceHolder 1"/>
          <p:cNvSpPr>
            <a:spLocks noGrp="1"/>
          </p:cNvSpPr>
          <p:nvPr>
            <p:ph type="title"/>
          </p:nvPr>
        </p:nvSpPr>
        <p:spPr>
          <a:xfrm>
            <a:off x="1074240" y="410040"/>
            <a:ext cx="10515240" cy="757800"/>
          </a:xfrm>
          <a:prstGeom prst="rect">
            <a:avLst/>
          </a:prstGeom>
          <a:noFill/>
          <a:ln w="0">
            <a:noFill/>
          </a:ln>
        </p:spPr>
        <p:txBody>
          <a:bodyPr anchor="ctr">
            <a:normAutofit fontScale="82000"/>
          </a:bodyPr>
          <a:p>
            <a:pPr>
              <a:lnSpc>
                <a:spcPct val="90000"/>
              </a:lnSpc>
              <a:buNone/>
            </a:pPr>
            <a:r>
              <a:rPr b="1" lang="en-US" sz="3600" spc="-1" strike="noStrike">
                <a:solidFill>
                  <a:srgbClr val="008000"/>
                </a:solidFill>
                <a:latin typeface="Calibri Light"/>
              </a:rPr>
              <a:t>Using summary statistics to spot problems</a:t>
            </a:r>
            <a:endParaRPr b="0" lang="en-US" sz="3600" spc="-1" strike="noStrike">
              <a:solidFill>
                <a:srgbClr val="000000"/>
              </a:solidFill>
              <a:latin typeface="Calibri"/>
            </a:endParaRPr>
          </a:p>
        </p:txBody>
      </p:sp>
      <p:sp>
        <p:nvSpPr>
          <p:cNvPr id="83" name="PlaceHolder 2"/>
          <p:cNvSpPr>
            <a:spLocks noGrp="1"/>
          </p:cNvSpPr>
          <p:nvPr>
            <p:ph/>
          </p:nvPr>
        </p:nvSpPr>
        <p:spPr>
          <a:xfrm>
            <a:off x="1027080" y="133848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IN" sz="2800" spc="-1" strike="noStrike">
                <a:solidFill>
                  <a:srgbClr val="000000"/>
                </a:solidFill>
                <a:latin typeface="Calibri"/>
              </a:rPr>
              <a:t>use the summary command</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84" name="Picture 4" descr=""/>
          <p:cNvPicPr/>
          <p:nvPr/>
        </p:nvPicPr>
        <p:blipFill>
          <a:blip r:embed="rId1"/>
          <a:stretch/>
        </p:blipFill>
        <p:spPr>
          <a:xfrm>
            <a:off x="1130400" y="2056680"/>
            <a:ext cx="8051760" cy="3632760"/>
          </a:xfrm>
          <a:prstGeom prst="rect">
            <a:avLst/>
          </a:prstGeom>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PlaceHolder 1"/>
          <p:cNvSpPr>
            <a:spLocks noGrp="1"/>
          </p:cNvSpPr>
          <p:nvPr>
            <p:ph type="title"/>
          </p:nvPr>
        </p:nvSpPr>
        <p:spPr>
          <a:xfrm>
            <a:off x="838080" y="365040"/>
            <a:ext cx="10515240" cy="66816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Summary statistics(Contd..)</a:t>
            </a:r>
            <a:endParaRPr b="0" lang="en-US" sz="3600" spc="-1" strike="noStrike">
              <a:solidFill>
                <a:srgbClr val="000000"/>
              </a:solidFill>
              <a:latin typeface="Calibri"/>
            </a:endParaRPr>
          </a:p>
        </p:txBody>
      </p:sp>
      <p:pic>
        <p:nvPicPr>
          <p:cNvPr id="86" name="Content Placeholder 3" descr=""/>
          <p:cNvPicPr/>
          <p:nvPr/>
        </p:nvPicPr>
        <p:blipFill>
          <a:blip r:embed="rId1"/>
          <a:stretch/>
        </p:blipFill>
        <p:spPr>
          <a:xfrm>
            <a:off x="838080" y="1323720"/>
            <a:ext cx="8346240" cy="4790160"/>
          </a:xfrm>
          <a:prstGeom prst="rect">
            <a:avLst/>
          </a:prstGeom>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title"/>
          </p:nvPr>
        </p:nvSpPr>
        <p:spPr>
          <a:xfrm>
            <a:off x="838080" y="365040"/>
            <a:ext cx="10515240" cy="588600"/>
          </a:xfrm>
          <a:prstGeom prst="rect">
            <a:avLst/>
          </a:prstGeom>
          <a:noFill/>
          <a:ln w="0">
            <a:noFill/>
          </a:ln>
        </p:spPr>
        <p:txBody>
          <a:bodyPr anchor="ctr">
            <a:normAutofit fontScale="84000"/>
          </a:bodyPr>
          <a:p>
            <a:pPr>
              <a:lnSpc>
                <a:spcPct val="90000"/>
              </a:lnSpc>
              <a:buNone/>
            </a:pPr>
            <a:r>
              <a:rPr b="1" lang="en-US" sz="3600" spc="-1" strike="noStrike">
                <a:solidFill>
                  <a:srgbClr val="008000"/>
                </a:solidFill>
                <a:latin typeface="Calibri Light"/>
              </a:rPr>
              <a:t>Typical problems revealed by data summaries</a:t>
            </a:r>
            <a:endParaRPr b="0" lang="en-US" sz="3600" spc="-1" strike="noStrike">
              <a:solidFill>
                <a:srgbClr val="000000"/>
              </a:solidFill>
              <a:latin typeface="Calibri"/>
            </a:endParaRPr>
          </a:p>
        </p:txBody>
      </p:sp>
      <p:sp>
        <p:nvSpPr>
          <p:cNvPr id="88" name="PlaceHolder 2"/>
          <p:cNvSpPr>
            <a:spLocks noGrp="1"/>
          </p:cNvSpPr>
          <p:nvPr>
            <p:ph/>
          </p:nvPr>
        </p:nvSpPr>
        <p:spPr>
          <a:xfrm>
            <a:off x="838080" y="1253160"/>
            <a:ext cx="10515240" cy="4350960"/>
          </a:xfrm>
          <a:prstGeom prst="rect">
            <a:avLst/>
          </a:prstGeom>
          <a:noFill/>
          <a:ln w="0">
            <a:noFill/>
          </a:ln>
        </p:spPr>
        <p:txBody>
          <a:bodyPr anchor="t">
            <a:noAutofit/>
          </a:bodyPr>
          <a:p>
            <a:pPr>
              <a:lnSpc>
                <a:spcPct val="90000"/>
              </a:lnSpc>
              <a:spcBef>
                <a:spcPts val="1001"/>
              </a:spcBef>
              <a:buNone/>
              <a:tabLst>
                <a:tab algn="l" pos="0"/>
              </a:tabLst>
            </a:pPr>
            <a:r>
              <a:rPr b="0" lang="en-US" sz="2800" spc="-1" strike="noStrike">
                <a:solidFill>
                  <a:srgbClr val="000000"/>
                </a:solidFill>
                <a:latin typeface="Calibri"/>
              </a:rPr>
              <a:t>At this stage, you’re looking for several common issues: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Missing values</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Invalid values and outliers</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Data ranges that are too wide or too narrow.</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IN" sz="2800" spc="-1" strike="noStrike">
                <a:solidFill>
                  <a:srgbClr val="000000"/>
                </a:solidFill>
                <a:latin typeface="Calibri"/>
              </a:rPr>
              <a:t>Units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PlaceHolder 1"/>
          <p:cNvSpPr>
            <a:spLocks noGrp="1"/>
          </p:cNvSpPr>
          <p:nvPr>
            <p:ph type="title"/>
          </p:nvPr>
        </p:nvSpPr>
        <p:spPr>
          <a:xfrm>
            <a:off x="838080" y="365040"/>
            <a:ext cx="10515240" cy="807480"/>
          </a:xfrm>
          <a:prstGeom prst="rect">
            <a:avLst/>
          </a:prstGeom>
          <a:noFill/>
          <a:ln w="0">
            <a:noFill/>
          </a:ln>
        </p:spPr>
        <p:txBody>
          <a:bodyPr anchor="ctr">
            <a:normAutofit/>
          </a:bodyPr>
          <a:p>
            <a:pPr>
              <a:lnSpc>
                <a:spcPct val="90000"/>
              </a:lnSpc>
              <a:buNone/>
            </a:pPr>
            <a:r>
              <a:rPr b="1" lang="en-IN" sz="3600" spc="-1" strike="noStrike">
                <a:solidFill>
                  <a:srgbClr val="008000"/>
                </a:solidFill>
                <a:latin typeface="Calibri Light"/>
              </a:rPr>
              <a:t>MISSING VALUES</a:t>
            </a:r>
            <a:endParaRPr b="0" lang="en-US" sz="3600" spc="-1" strike="noStrike">
              <a:solidFill>
                <a:srgbClr val="000000"/>
              </a:solidFill>
              <a:latin typeface="Calibri"/>
            </a:endParaRPr>
          </a:p>
        </p:txBody>
      </p:sp>
      <p:pic>
        <p:nvPicPr>
          <p:cNvPr id="90" name="Content Placeholder 3" descr=""/>
          <p:cNvPicPr/>
          <p:nvPr/>
        </p:nvPicPr>
        <p:blipFill>
          <a:blip r:embed="rId1"/>
          <a:stretch/>
        </p:blipFill>
        <p:spPr>
          <a:xfrm>
            <a:off x="924480" y="1520640"/>
            <a:ext cx="9044280" cy="4750560"/>
          </a:xfrm>
          <a:prstGeom prst="rect">
            <a:avLst/>
          </a:prstGeom>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PlaceHolder 1"/>
          <p:cNvSpPr>
            <a:spLocks noGrp="1"/>
          </p:cNvSpPr>
          <p:nvPr>
            <p:ph type="title"/>
          </p:nvPr>
        </p:nvSpPr>
        <p:spPr>
          <a:xfrm>
            <a:off x="838080" y="506880"/>
            <a:ext cx="10515240" cy="377280"/>
          </a:xfrm>
          <a:prstGeom prst="rect">
            <a:avLst/>
          </a:prstGeom>
          <a:noFill/>
          <a:ln w="0">
            <a:noFill/>
          </a:ln>
        </p:spPr>
        <p:txBody>
          <a:bodyPr anchor="ctr">
            <a:noAutofit/>
          </a:bodyPr>
          <a:p>
            <a:pPr>
              <a:lnSpc>
                <a:spcPct val="90000"/>
              </a:lnSpc>
              <a:buNone/>
            </a:pPr>
            <a:br>
              <a:rPr sz="3600"/>
            </a:br>
            <a:r>
              <a:rPr b="1" lang="en-IN" sz="3600" spc="-1" strike="noStrike">
                <a:solidFill>
                  <a:srgbClr val="008000"/>
                </a:solidFill>
                <a:latin typeface="Calibri Light"/>
              </a:rPr>
              <a:t>INVALID VALUES AND OUTLIERS</a:t>
            </a:r>
            <a:br>
              <a:rPr sz="3600"/>
            </a:br>
            <a:endParaRPr b="0" lang="en-US" sz="3600" spc="-1" strike="noStrike">
              <a:solidFill>
                <a:srgbClr val="000000"/>
              </a:solidFill>
              <a:latin typeface="Calibri"/>
            </a:endParaRPr>
          </a:p>
        </p:txBody>
      </p:sp>
      <p:pic>
        <p:nvPicPr>
          <p:cNvPr id="92" name="Content Placeholder 3" descr=""/>
          <p:cNvPicPr/>
          <p:nvPr/>
        </p:nvPicPr>
        <p:blipFill>
          <a:blip r:embed="rId1"/>
          <a:stretch/>
        </p:blipFill>
        <p:spPr>
          <a:xfrm>
            <a:off x="838080" y="1441080"/>
            <a:ext cx="10362960" cy="426348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title"/>
          </p:nvPr>
        </p:nvSpPr>
        <p:spPr>
          <a:xfrm>
            <a:off x="838080" y="365040"/>
            <a:ext cx="10515240" cy="58860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Data Range</a:t>
            </a:r>
            <a:endParaRPr b="0" lang="en-US" sz="3600" spc="-1" strike="noStrike">
              <a:solidFill>
                <a:srgbClr val="000000"/>
              </a:solidFill>
              <a:latin typeface="Calibri"/>
            </a:endParaRPr>
          </a:p>
        </p:txBody>
      </p:sp>
      <p:pic>
        <p:nvPicPr>
          <p:cNvPr id="94" name="Content Placeholder 3" descr=""/>
          <p:cNvPicPr/>
          <p:nvPr/>
        </p:nvPicPr>
        <p:blipFill>
          <a:blip r:embed="rId1"/>
          <a:stretch/>
        </p:blipFill>
        <p:spPr>
          <a:xfrm>
            <a:off x="735480" y="1630080"/>
            <a:ext cx="10617840" cy="3498120"/>
          </a:xfrm>
          <a:prstGeom prst="rect">
            <a:avLst/>
          </a:prstGeom>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PlaceHolder 1"/>
          <p:cNvSpPr>
            <a:spLocks noGrp="1"/>
          </p:cNvSpPr>
          <p:nvPr>
            <p:ph type="title"/>
          </p:nvPr>
        </p:nvSpPr>
        <p:spPr>
          <a:xfrm>
            <a:off x="838080" y="365040"/>
            <a:ext cx="10515240" cy="58860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Units</a:t>
            </a:r>
            <a:endParaRPr b="0" lang="en-US" sz="3600" spc="-1" strike="noStrike">
              <a:solidFill>
                <a:srgbClr val="000000"/>
              </a:solidFill>
              <a:latin typeface="Calibri"/>
            </a:endParaRPr>
          </a:p>
        </p:txBody>
      </p:sp>
      <p:pic>
        <p:nvPicPr>
          <p:cNvPr id="96" name="Content Placeholder 3" descr=""/>
          <p:cNvPicPr/>
          <p:nvPr/>
        </p:nvPicPr>
        <p:blipFill>
          <a:blip r:embed="rId1"/>
          <a:stretch/>
        </p:blipFill>
        <p:spPr>
          <a:xfrm>
            <a:off x="838080" y="1690560"/>
            <a:ext cx="9288000" cy="4286520"/>
          </a:xfrm>
          <a:prstGeom prst="rect">
            <a:avLst/>
          </a:prstGeom>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PlaceHolder 1"/>
          <p:cNvSpPr>
            <a:spLocks noGrp="1"/>
          </p:cNvSpPr>
          <p:nvPr>
            <p:ph type="title"/>
          </p:nvPr>
        </p:nvSpPr>
        <p:spPr>
          <a:xfrm>
            <a:off x="838080" y="365040"/>
            <a:ext cx="10515240" cy="886680"/>
          </a:xfrm>
          <a:prstGeom prst="rect">
            <a:avLst/>
          </a:prstGeom>
          <a:noFill/>
          <a:ln w="0">
            <a:noFill/>
          </a:ln>
        </p:spPr>
        <p:txBody>
          <a:bodyPr anchor="ctr">
            <a:noAutofit/>
          </a:bodyPr>
          <a:p>
            <a:pPr>
              <a:lnSpc>
                <a:spcPct val="90000"/>
              </a:lnSpc>
              <a:buNone/>
            </a:pPr>
            <a:r>
              <a:rPr b="1" lang="en-US" sz="4000" spc="-1" strike="noStrike">
                <a:solidFill>
                  <a:srgbClr val="008000"/>
                </a:solidFill>
                <a:latin typeface="Calibri Light"/>
              </a:rPr>
              <a:t>Spotting problems using graphics and visualization</a:t>
            </a:r>
            <a:endParaRPr b="0" lang="en-US" sz="4000" spc="-1" strike="noStrike">
              <a:solidFill>
                <a:srgbClr val="000000"/>
              </a:solidFill>
              <a:latin typeface="Calibri"/>
            </a:endParaRPr>
          </a:p>
        </p:txBody>
      </p:sp>
      <p:sp>
        <p:nvSpPr>
          <p:cNvPr id="98" name="PlaceHolder 2"/>
          <p:cNvSpPr>
            <a:spLocks noGrp="1"/>
          </p:cNvSpPr>
          <p:nvPr>
            <p:ph/>
          </p:nvPr>
        </p:nvSpPr>
        <p:spPr>
          <a:xfrm>
            <a:off x="838080" y="1441080"/>
            <a:ext cx="10515240" cy="473544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spot plenty of problems just by looking over the data summaries.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For other properties of the data, pictures are better than text. </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99" name="Picture 3" descr=""/>
          <p:cNvPicPr/>
          <p:nvPr/>
        </p:nvPicPr>
        <p:blipFill>
          <a:blip r:embed="rId1"/>
          <a:stretch/>
        </p:blipFill>
        <p:spPr>
          <a:xfrm>
            <a:off x="924480" y="2753280"/>
            <a:ext cx="10306440" cy="4034880"/>
          </a:xfrm>
          <a:prstGeom prst="rect">
            <a:avLst/>
          </a:prstGeom>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PlaceHolder 1"/>
          <p:cNvSpPr>
            <a:spLocks noGrp="1"/>
          </p:cNvSpPr>
          <p:nvPr>
            <p:ph type="title"/>
          </p:nvPr>
        </p:nvSpPr>
        <p:spPr>
          <a:xfrm>
            <a:off x="838080" y="365040"/>
            <a:ext cx="10515240" cy="687960"/>
          </a:xfrm>
          <a:prstGeom prst="rect">
            <a:avLst/>
          </a:prstGeom>
          <a:noFill/>
          <a:ln w="0">
            <a:noFill/>
          </a:ln>
        </p:spPr>
        <p:txBody>
          <a:bodyPr anchor="ctr">
            <a:normAutofit fontScale="98000"/>
          </a:bodyPr>
          <a:p>
            <a:pPr>
              <a:lnSpc>
                <a:spcPct val="90000"/>
              </a:lnSpc>
              <a:buNone/>
            </a:pPr>
            <a:r>
              <a:rPr b="1" lang="en-US" sz="4400" spc="-1" strike="noStrike">
                <a:solidFill>
                  <a:srgbClr val="008000"/>
                </a:solidFill>
                <a:latin typeface="Calibri Light"/>
              </a:rPr>
              <a:t>Graphics and visualization</a:t>
            </a:r>
            <a:endParaRPr b="0" lang="en-US" sz="4400" spc="-1" strike="noStrike">
              <a:solidFill>
                <a:srgbClr val="000000"/>
              </a:solidFill>
              <a:latin typeface="Calibri"/>
            </a:endParaRPr>
          </a:p>
        </p:txBody>
      </p:sp>
      <p:sp>
        <p:nvSpPr>
          <p:cNvPr id="101" name="PlaceHolder 2"/>
          <p:cNvSpPr>
            <a:spLocks noGrp="1"/>
          </p:cNvSpPr>
          <p:nvPr>
            <p:ph/>
          </p:nvPr>
        </p:nvSpPr>
        <p:spPr>
          <a:xfrm>
            <a:off x="838080" y="1132920"/>
            <a:ext cx="10515240" cy="504360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graphic should display as much information as it can, with the lowest possible cognitive strain to the viewer.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Strive for clarity. Make the data stand out. Specific tips for increasing clarity include – Avoid too many superimposed elements, such as too many curves in the same graphing space</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Find the right aspect ratio and scaling to properly bring out the details of the data. – Avoid having the data all skewed to one side or the other of your graph.</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 </a:t>
            </a:r>
            <a:r>
              <a:rPr b="0" lang="en-US" sz="2800" spc="-1" strike="noStrike">
                <a:solidFill>
                  <a:srgbClr val="000000"/>
                </a:solidFill>
                <a:latin typeface="Calibri"/>
              </a:rPr>
              <a:t>Visualization is an iterative process. Its purpose is to answer questions about the data</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5240" cy="72792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ggplot2</a:t>
            </a:r>
            <a:endParaRPr b="0" lang="en-US" sz="3600" spc="-1" strike="noStrike">
              <a:solidFill>
                <a:srgbClr val="000000"/>
              </a:solidFill>
              <a:latin typeface="Calibri"/>
            </a:endParaRPr>
          </a:p>
        </p:txBody>
      </p:sp>
      <p:sp>
        <p:nvSpPr>
          <p:cNvPr id="103" name="PlaceHolder 2"/>
          <p:cNvSpPr>
            <a:spLocks noGrp="1"/>
          </p:cNvSpPr>
          <p:nvPr>
            <p:ph/>
          </p:nvPr>
        </p:nvSpPr>
        <p:spPr>
          <a:xfrm>
            <a:off x="917640" y="12531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we use ggplot2 to demonstrate the visualizations and graphics; of course, other R visualization packages can produce similar graphics</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Graphs in ggplot2 can only be defined on data frames. The variables in a graph—the x variable, the y variable, the variables that define the color or the size of the points—are called aesthetics, and are declared by using the aes function.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The ggplot() function declares the graph object. The arguments to ggplot() can include the data frame of interest and the aesthetics.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The ggplot() function doesn’t of itself produce a visualization; visualizations are produced by layers.</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PlaceHolder 1"/>
          <p:cNvSpPr>
            <a:spLocks noGrp="1"/>
          </p:cNvSpPr>
          <p:nvPr>
            <p:ph type="title"/>
          </p:nvPr>
        </p:nvSpPr>
        <p:spPr>
          <a:xfrm>
            <a:off x="838080" y="365040"/>
            <a:ext cx="10515240" cy="727920"/>
          </a:xfrm>
          <a:prstGeom prst="rect">
            <a:avLst/>
          </a:prstGeom>
          <a:noFill/>
          <a:ln w="0">
            <a:noFill/>
          </a:ln>
        </p:spPr>
        <p:txBody>
          <a:bodyPr anchor="ctr">
            <a:noAutofit/>
          </a:bodyPr>
          <a:p>
            <a:pPr>
              <a:lnSpc>
                <a:spcPct val="90000"/>
              </a:lnSpc>
              <a:buNone/>
            </a:pPr>
            <a:r>
              <a:rPr b="1" lang="en-US" sz="4000" spc="-1" strike="noStrike">
                <a:solidFill>
                  <a:srgbClr val="008000"/>
                </a:solidFill>
                <a:latin typeface="Calibri Light"/>
              </a:rPr>
              <a:t>Visually checking distributions for a single variable</a:t>
            </a:r>
            <a:endParaRPr b="0" lang="en-US" sz="4000" spc="-1" strike="noStrike">
              <a:solidFill>
                <a:srgbClr val="000000"/>
              </a:solidFill>
              <a:latin typeface="Calibri"/>
            </a:endParaRPr>
          </a:p>
        </p:txBody>
      </p:sp>
      <p:sp>
        <p:nvSpPr>
          <p:cNvPr id="105" name="PlaceHolder 2"/>
          <p:cNvSpPr>
            <a:spLocks noGrp="1"/>
          </p:cNvSpPr>
          <p:nvPr>
            <p:ph/>
          </p:nvPr>
        </p:nvSpPr>
        <p:spPr>
          <a:xfrm>
            <a:off x="838080" y="1253160"/>
            <a:ext cx="10515240" cy="4350960"/>
          </a:xfrm>
          <a:prstGeom prst="rect">
            <a:avLst/>
          </a:prstGeom>
          <a:noFill/>
          <a:ln w="0">
            <a:noFill/>
          </a:ln>
        </p:spPr>
        <p:txBody>
          <a:bodyPr anchor="t">
            <a:normAutofit/>
          </a:bodyPr>
          <a:p>
            <a:pPr>
              <a:lnSpc>
                <a:spcPct val="90000"/>
              </a:lnSpc>
              <a:spcBef>
                <a:spcPts val="1001"/>
              </a:spcBef>
              <a:buNone/>
              <a:tabLst>
                <a:tab algn="l" pos="0"/>
              </a:tabLst>
            </a:pPr>
            <a:r>
              <a:rPr b="0" lang="en-US" sz="2800" spc="-1" strike="noStrike">
                <a:solidFill>
                  <a:srgbClr val="000000"/>
                </a:solidFill>
                <a:latin typeface="Calibri"/>
              </a:rPr>
              <a:t>The visualizations in this section help you answer questions like these:</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What is the peak value of the distribution?</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How many peaks are there in the distribution (unimodality versus bimodality)?</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How normal (or lognormal) is the data? </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How much does the data vary?</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Is it concentrated in a certain interval or in a certain category?</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PlaceHolder 1"/>
          <p:cNvSpPr>
            <a:spLocks noGrp="1"/>
          </p:cNvSpPr>
          <p:nvPr>
            <p:ph type="title"/>
          </p:nvPr>
        </p:nvSpPr>
        <p:spPr>
          <a:xfrm>
            <a:off x="838080" y="365040"/>
            <a:ext cx="10515240" cy="747720"/>
          </a:xfrm>
          <a:prstGeom prst="rect">
            <a:avLst/>
          </a:prstGeom>
          <a:noFill/>
          <a:ln w="0">
            <a:noFill/>
          </a:ln>
        </p:spPr>
        <p:txBody>
          <a:bodyPr anchor="ctr">
            <a:noAutofit/>
          </a:bodyPr>
          <a:p>
            <a:pPr>
              <a:lnSpc>
                <a:spcPct val="90000"/>
              </a:lnSpc>
              <a:buNone/>
            </a:pPr>
            <a:r>
              <a:rPr b="1" lang="en-IN" sz="4000" spc="-1" strike="noStrike">
                <a:solidFill>
                  <a:srgbClr val="008000"/>
                </a:solidFill>
                <a:latin typeface="Calibri Light"/>
              </a:rPr>
              <a:t>Unimodal distribution and Bimodal Distribution</a:t>
            </a:r>
            <a:endParaRPr b="0" lang="en-US" sz="4000" spc="-1" strike="noStrike">
              <a:solidFill>
                <a:srgbClr val="000000"/>
              </a:solidFill>
              <a:latin typeface="Calibri"/>
            </a:endParaRPr>
          </a:p>
        </p:txBody>
      </p:sp>
      <p:pic>
        <p:nvPicPr>
          <p:cNvPr id="107" name="Content Placeholder 4" descr=""/>
          <p:cNvPicPr/>
          <p:nvPr/>
        </p:nvPicPr>
        <p:blipFill>
          <a:blip r:embed="rId1"/>
          <a:stretch/>
        </p:blipFill>
        <p:spPr>
          <a:xfrm>
            <a:off x="974160" y="1113120"/>
            <a:ext cx="10008360" cy="580392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title"/>
          </p:nvPr>
        </p:nvSpPr>
        <p:spPr>
          <a:xfrm>
            <a:off x="1172880" y="365040"/>
            <a:ext cx="10180800" cy="1325160"/>
          </a:xfrm>
          <a:prstGeom prst="rect">
            <a:avLst/>
          </a:prstGeom>
          <a:noFill/>
          <a:ln w="0">
            <a:noFill/>
          </a:ln>
        </p:spPr>
        <p:txBody>
          <a:bodyPr anchor="ctr">
            <a:noAutofit/>
          </a:bodyPr>
          <a:p>
            <a:pPr>
              <a:lnSpc>
                <a:spcPct val="90000"/>
              </a:lnSpc>
              <a:buNone/>
            </a:pPr>
            <a:r>
              <a:rPr b="1" lang="en-IN" sz="4000" spc="-1" strike="noStrike">
                <a:solidFill>
                  <a:srgbClr val="008000"/>
                </a:solidFill>
                <a:latin typeface="Calibri Light"/>
              </a:rPr>
              <a:t>HISTOGRAMS</a:t>
            </a:r>
            <a:endParaRPr b="0" lang="en-US" sz="4000" spc="-1" strike="noStrike">
              <a:solidFill>
                <a:srgbClr val="000000"/>
              </a:solidFill>
              <a:latin typeface="Calibri"/>
            </a:endParaRPr>
          </a:p>
        </p:txBody>
      </p:sp>
      <p:sp>
        <p:nvSpPr>
          <p:cNvPr id="109" name="PlaceHolder 2"/>
          <p:cNvSpPr>
            <a:spLocks noGrp="1"/>
          </p:cNvSpPr>
          <p:nvPr>
            <p:ph/>
          </p:nvPr>
        </p:nvSpPr>
        <p:spPr>
          <a:xfrm>
            <a:off x="879480" y="12531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basic histogram bins a variable into fixed-width buckets and returns the number of data points that falls into each bucket.</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10" name="Picture 4" descr=""/>
          <p:cNvPicPr/>
          <p:nvPr/>
        </p:nvPicPr>
        <p:blipFill>
          <a:blip r:embed="rId1"/>
          <a:stretch/>
        </p:blipFill>
        <p:spPr>
          <a:xfrm>
            <a:off x="1172880" y="2116440"/>
            <a:ext cx="9928800" cy="453240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title"/>
          </p:nvPr>
        </p:nvSpPr>
        <p:spPr>
          <a:xfrm>
            <a:off x="838080" y="365040"/>
            <a:ext cx="10515240" cy="757800"/>
          </a:xfrm>
          <a:prstGeom prst="rect">
            <a:avLst/>
          </a:prstGeom>
          <a:noFill/>
          <a:ln w="0">
            <a:noFill/>
          </a:ln>
        </p:spPr>
        <p:txBody>
          <a:bodyPr anchor="ctr">
            <a:noAutofit/>
          </a:bodyPr>
          <a:p>
            <a:pPr>
              <a:lnSpc>
                <a:spcPct val="90000"/>
              </a:lnSpc>
              <a:buNone/>
            </a:pPr>
            <a:r>
              <a:rPr b="1" lang="en-US" sz="4000" spc="-1" strike="noStrike">
                <a:solidFill>
                  <a:srgbClr val="008000"/>
                </a:solidFill>
                <a:latin typeface="Calibri Light"/>
              </a:rPr>
              <a:t>Plotting a Histogram</a:t>
            </a:r>
            <a:endParaRPr b="0" lang="en-US" sz="4000" spc="-1" strike="noStrike">
              <a:solidFill>
                <a:srgbClr val="000000"/>
              </a:solidFill>
              <a:latin typeface="Calibri"/>
            </a:endParaRPr>
          </a:p>
        </p:txBody>
      </p:sp>
      <p:pic>
        <p:nvPicPr>
          <p:cNvPr id="112" name="Content Placeholder 4" descr=""/>
          <p:cNvPicPr/>
          <p:nvPr/>
        </p:nvPicPr>
        <p:blipFill>
          <a:blip r:embed="rId1"/>
          <a:stretch/>
        </p:blipFill>
        <p:spPr>
          <a:xfrm>
            <a:off x="983880" y="1123200"/>
            <a:ext cx="9958680" cy="482004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 name="PlaceHolder 1"/>
          <p:cNvSpPr>
            <a:spLocks noGrp="1"/>
          </p:cNvSpPr>
          <p:nvPr>
            <p:ph type="title"/>
          </p:nvPr>
        </p:nvSpPr>
        <p:spPr>
          <a:xfrm>
            <a:off x="838080" y="365040"/>
            <a:ext cx="10515240" cy="817200"/>
          </a:xfrm>
          <a:prstGeom prst="rect">
            <a:avLst/>
          </a:prstGeom>
          <a:noFill/>
          <a:ln w="0">
            <a:noFill/>
          </a:ln>
        </p:spPr>
        <p:txBody>
          <a:bodyPr anchor="ctr">
            <a:noAutofit/>
          </a:bodyPr>
          <a:p>
            <a:pPr>
              <a:lnSpc>
                <a:spcPct val="90000"/>
              </a:lnSpc>
              <a:buNone/>
            </a:pPr>
            <a:r>
              <a:rPr b="1" lang="en-IN" sz="4000" spc="-1" strike="noStrike">
                <a:solidFill>
                  <a:srgbClr val="008000"/>
                </a:solidFill>
                <a:latin typeface="Calibri Light"/>
              </a:rPr>
              <a:t>DENSITY PLOTS</a:t>
            </a:r>
            <a:endParaRPr b="0" lang="en-US" sz="4000" spc="-1" strike="noStrike">
              <a:solidFill>
                <a:srgbClr val="000000"/>
              </a:solidFill>
              <a:latin typeface="Calibri"/>
            </a:endParaRPr>
          </a:p>
        </p:txBody>
      </p:sp>
      <p:sp>
        <p:nvSpPr>
          <p:cNvPr id="114" name="PlaceHolder 2"/>
          <p:cNvSpPr>
            <a:spLocks noGrp="1"/>
          </p:cNvSpPr>
          <p:nvPr>
            <p:ph/>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density plot as a “continuous histogram” of a variable, except the area under the density plot is equal to 1.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point on a density plot corresponds to the fraction of data (or the percentage of data, divided by 100) that takes on a particular value.</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83080" y="85680"/>
            <a:ext cx="10170720" cy="718920"/>
          </a:xfrm>
          <a:prstGeom prst="rect">
            <a:avLst/>
          </a:prstGeom>
          <a:noFill/>
          <a:ln w="0">
            <a:noFill/>
          </a:ln>
        </p:spPr>
        <p:txBody>
          <a:bodyPr anchor="ctr">
            <a:noAutofit/>
          </a:bodyPr>
          <a:p>
            <a:pPr>
              <a:lnSpc>
                <a:spcPct val="90000"/>
              </a:lnSpc>
              <a:buNone/>
            </a:pPr>
            <a:r>
              <a:rPr b="1" lang="en-US" sz="4000" spc="-1" strike="noStrike">
                <a:solidFill>
                  <a:srgbClr val="008000"/>
                </a:solidFill>
                <a:latin typeface="Calibri Light"/>
              </a:rPr>
              <a:t>Producing a Density Plot</a:t>
            </a:r>
            <a:endParaRPr b="0" lang="en-US" sz="4000" spc="-1" strike="noStrike">
              <a:solidFill>
                <a:srgbClr val="000000"/>
              </a:solidFill>
              <a:latin typeface="Calibri"/>
            </a:endParaRPr>
          </a:p>
        </p:txBody>
      </p:sp>
      <p:pic>
        <p:nvPicPr>
          <p:cNvPr id="116" name="Content Placeholder 4" descr=""/>
          <p:cNvPicPr/>
          <p:nvPr/>
        </p:nvPicPr>
        <p:blipFill>
          <a:blip r:embed="rId1"/>
          <a:stretch/>
        </p:blipFill>
        <p:spPr>
          <a:xfrm>
            <a:off x="988920" y="5029200"/>
            <a:ext cx="10213560" cy="1562760"/>
          </a:xfrm>
          <a:prstGeom prst="rect">
            <a:avLst/>
          </a:prstGeom>
          <a:ln w="0">
            <a:noFill/>
          </a:ln>
        </p:spPr>
      </p:pic>
      <p:pic>
        <p:nvPicPr>
          <p:cNvPr id="117" name="Picture 5" descr=""/>
          <p:cNvPicPr/>
          <p:nvPr/>
        </p:nvPicPr>
        <p:blipFill>
          <a:blip r:embed="rId2"/>
          <a:stretch/>
        </p:blipFill>
        <p:spPr>
          <a:xfrm>
            <a:off x="1182600" y="954000"/>
            <a:ext cx="9570960" cy="4074840"/>
          </a:xfrm>
          <a:prstGeom prst="rect">
            <a:avLst/>
          </a:prstGeom>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 name="PlaceHolder 1"/>
          <p:cNvSpPr>
            <a:spLocks noGrp="1"/>
          </p:cNvSpPr>
          <p:nvPr>
            <p:ph type="title"/>
          </p:nvPr>
        </p:nvSpPr>
        <p:spPr>
          <a:xfrm>
            <a:off x="838080" y="109440"/>
            <a:ext cx="10515240" cy="705240"/>
          </a:xfrm>
          <a:prstGeom prst="rect">
            <a:avLst/>
          </a:prstGeom>
          <a:noFill/>
          <a:ln w="0">
            <a:noFill/>
          </a:ln>
        </p:spPr>
        <p:txBody>
          <a:bodyPr anchor="ctr">
            <a:normAutofit/>
          </a:bodyPr>
          <a:p>
            <a:pPr>
              <a:lnSpc>
                <a:spcPct val="90000"/>
              </a:lnSpc>
              <a:buNone/>
            </a:pPr>
            <a:r>
              <a:rPr b="1" lang="en-IN" sz="4000" spc="-1" strike="noStrike">
                <a:solidFill>
                  <a:srgbClr val="008000"/>
                </a:solidFill>
                <a:latin typeface="Calibri Light"/>
              </a:rPr>
              <a:t>BAR CHARTS</a:t>
            </a:r>
            <a:endParaRPr b="0" lang="en-US" sz="4000" spc="-1" strike="noStrike">
              <a:solidFill>
                <a:srgbClr val="000000"/>
              </a:solidFill>
              <a:latin typeface="Calibri"/>
            </a:endParaRPr>
          </a:p>
        </p:txBody>
      </p:sp>
      <p:sp>
        <p:nvSpPr>
          <p:cNvPr id="119" name="PlaceHolder 2"/>
          <p:cNvSpPr>
            <a:spLocks noGrp="1"/>
          </p:cNvSpPr>
          <p:nvPr>
            <p:ph/>
          </p:nvPr>
        </p:nvSpPr>
        <p:spPr>
          <a:xfrm>
            <a:off x="967320" y="815040"/>
            <a:ext cx="10515240" cy="459612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bar chart is a histogram for discrete data: it records the frequency of every value of a categorical variable</a:t>
            </a:r>
            <a:endParaRPr b="0" lang="en-US" sz="2800" spc="-1" strike="noStrike">
              <a:solidFill>
                <a:srgbClr val="000000"/>
              </a:solidFill>
              <a:latin typeface="Calibri"/>
            </a:endParaRPr>
          </a:p>
          <a:p>
            <a:pPr>
              <a:lnSpc>
                <a:spcPct val="90000"/>
              </a:lnSpc>
              <a:spcBef>
                <a:spcPts val="1001"/>
              </a:spcBef>
              <a:buNone/>
              <a:tabLst>
                <a:tab algn="l" pos="0"/>
              </a:tabLst>
            </a:pPr>
            <a:r>
              <a:rPr b="0" lang="en-IN" sz="2800" spc="-1" strike="noStrike">
                <a:solidFill>
                  <a:srgbClr val="ff0000"/>
                </a:solidFill>
                <a:latin typeface="Calibri"/>
              </a:rPr>
              <a:t> </a:t>
            </a:r>
            <a:r>
              <a:rPr b="0" lang="en-IN" sz="2800" spc="-1" strike="noStrike">
                <a:solidFill>
                  <a:srgbClr val="ff0000"/>
                </a:solidFill>
                <a:latin typeface="Calibri"/>
              </a:rPr>
              <a:t>ggplot(custdata) + geom_bar(aes(x=marital.stat), fill="gray")</a:t>
            </a: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p:txBody>
      </p:sp>
      <p:pic>
        <p:nvPicPr>
          <p:cNvPr id="120" name="Picture 4" descr=""/>
          <p:cNvPicPr/>
          <p:nvPr/>
        </p:nvPicPr>
        <p:blipFill>
          <a:blip r:embed="rId1"/>
          <a:stretch/>
        </p:blipFill>
        <p:spPr>
          <a:xfrm>
            <a:off x="1192680" y="2261520"/>
            <a:ext cx="8855640" cy="4308120"/>
          </a:xfrm>
          <a:prstGeom prst="rect">
            <a:avLst/>
          </a:prstGeom>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 name="PlaceHolder 1"/>
          <p:cNvSpPr>
            <a:spLocks noGrp="1"/>
          </p:cNvSpPr>
          <p:nvPr>
            <p:ph type="title"/>
          </p:nvPr>
        </p:nvSpPr>
        <p:spPr>
          <a:xfrm>
            <a:off x="917640" y="199080"/>
            <a:ext cx="10515240" cy="515880"/>
          </a:xfrm>
          <a:prstGeom prst="rect">
            <a:avLst/>
          </a:prstGeom>
          <a:noFill/>
          <a:ln w="0">
            <a:noFill/>
          </a:ln>
        </p:spPr>
        <p:txBody>
          <a:bodyPr anchor="ctr">
            <a:normAutofit fontScale="77000"/>
          </a:bodyPr>
          <a:p>
            <a:pPr>
              <a:lnSpc>
                <a:spcPct val="90000"/>
              </a:lnSpc>
              <a:buNone/>
            </a:pPr>
            <a:r>
              <a:rPr b="1" lang="en-US" sz="4000" spc="-1" strike="noStrike">
                <a:solidFill>
                  <a:srgbClr val="008000"/>
                </a:solidFill>
                <a:latin typeface="Calibri Light"/>
              </a:rPr>
              <a:t>Horizontal Bar Chart</a:t>
            </a:r>
            <a:endParaRPr b="0" lang="en-US" sz="4000" spc="-1" strike="noStrike">
              <a:solidFill>
                <a:srgbClr val="000000"/>
              </a:solidFill>
              <a:latin typeface="Calibri"/>
            </a:endParaRPr>
          </a:p>
        </p:txBody>
      </p:sp>
      <p:pic>
        <p:nvPicPr>
          <p:cNvPr id="122" name="Content Placeholder 6" descr=""/>
          <p:cNvPicPr/>
          <p:nvPr/>
        </p:nvPicPr>
        <p:blipFill>
          <a:blip r:embed="rId1"/>
          <a:stretch/>
        </p:blipFill>
        <p:spPr>
          <a:xfrm>
            <a:off x="1262160" y="2494800"/>
            <a:ext cx="9421920" cy="3935520"/>
          </a:xfrm>
          <a:prstGeom prst="rect">
            <a:avLst/>
          </a:prstGeom>
          <a:ln w="0">
            <a:noFill/>
          </a:ln>
        </p:spPr>
      </p:pic>
      <p:pic>
        <p:nvPicPr>
          <p:cNvPr id="123" name="Picture 4" descr=""/>
          <p:cNvPicPr/>
          <p:nvPr/>
        </p:nvPicPr>
        <p:blipFill>
          <a:blip r:embed="rId2"/>
          <a:stretch/>
        </p:blipFill>
        <p:spPr>
          <a:xfrm>
            <a:off x="889560" y="715320"/>
            <a:ext cx="10412640" cy="19411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838080" y="365040"/>
            <a:ext cx="10515240" cy="82728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Visualizations for Single Variable</a:t>
            </a:r>
            <a:endParaRPr b="0" lang="en-US" sz="3600" spc="-1" strike="noStrike">
              <a:solidFill>
                <a:srgbClr val="000000"/>
              </a:solidFill>
              <a:latin typeface="Calibri"/>
            </a:endParaRPr>
          </a:p>
        </p:txBody>
      </p:sp>
      <p:pic>
        <p:nvPicPr>
          <p:cNvPr id="125" name="Content Placeholder 4" descr=""/>
          <p:cNvPicPr/>
          <p:nvPr/>
        </p:nvPicPr>
        <p:blipFill>
          <a:blip r:embed="rId1"/>
          <a:stretch/>
        </p:blipFill>
        <p:spPr>
          <a:xfrm>
            <a:off x="646200" y="1997640"/>
            <a:ext cx="9874080" cy="3855960"/>
          </a:xfrm>
          <a:prstGeom prst="rect">
            <a:avLst/>
          </a:prstGeom>
          <a:ln w="0">
            <a:noFill/>
          </a:ln>
        </p:spPr>
      </p:pic>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838080" y="365040"/>
            <a:ext cx="10515240" cy="92664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Visually checking relationships between two variables</a:t>
            </a:r>
            <a:endParaRPr b="0" lang="en-US" sz="3600" spc="-1" strike="noStrike">
              <a:solidFill>
                <a:srgbClr val="000000"/>
              </a:solidFill>
              <a:latin typeface="Calibri"/>
            </a:endParaRPr>
          </a:p>
        </p:txBody>
      </p:sp>
      <p:sp>
        <p:nvSpPr>
          <p:cNvPr id="127" name="PlaceHolder 2"/>
          <p:cNvSpPr>
            <a:spLocks noGrp="1"/>
          </p:cNvSpPr>
          <p:nvPr>
            <p:ph/>
          </p:nvPr>
        </p:nvSpPr>
        <p:spPr>
          <a:xfrm>
            <a:off x="838080" y="1530720"/>
            <a:ext cx="10515240" cy="4645800"/>
          </a:xfrm>
          <a:prstGeom prst="rect">
            <a:avLst/>
          </a:prstGeom>
          <a:noFill/>
          <a:ln w="0">
            <a:noFill/>
          </a:ln>
        </p:spPr>
        <p:txBody>
          <a:bodyPr anchor="t">
            <a:normAutofit/>
          </a:bodyPr>
          <a:p>
            <a:pPr>
              <a:lnSpc>
                <a:spcPct val="90000"/>
              </a:lnSpc>
              <a:spcBef>
                <a:spcPts val="1001"/>
              </a:spcBef>
              <a:buNone/>
              <a:tabLst>
                <a:tab algn="l" pos="0"/>
              </a:tabLst>
            </a:pPr>
            <a:r>
              <a:rPr b="0" lang="en-US" sz="2800" spc="-1" strike="noStrike">
                <a:solidFill>
                  <a:srgbClr val="000000"/>
                </a:solidFill>
                <a:latin typeface="Calibri"/>
              </a:rPr>
              <a:t>In addition to examining variables in isolation, Find the relationship between two variables.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For example, you might want to answer questions like these: </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Is there a relationship between the two inputs age and income in my data? </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What kind of relationship, and how strong? </a:t>
            </a:r>
            <a:endParaRPr b="0" lang="en-US" sz="2800" spc="-1" strike="noStrike">
              <a:solidFill>
                <a:srgbClr val="000000"/>
              </a:solidFill>
              <a:latin typeface="Calibri"/>
            </a:endParaRPr>
          </a:p>
          <a:p>
            <a:pPr marL="571680" indent="-571680">
              <a:lnSpc>
                <a:spcPct val="90000"/>
              </a:lnSpc>
              <a:spcBef>
                <a:spcPts val="1001"/>
              </a:spcBef>
              <a:buClr>
                <a:srgbClr val="000000"/>
              </a:buClr>
              <a:buFont typeface="Calibri Light"/>
              <a:buAutoNum type="romanLcPeriod"/>
              <a:tabLst>
                <a:tab algn="l" pos="0"/>
              </a:tabLst>
            </a:pPr>
            <a:r>
              <a:rPr b="0" lang="en-US" sz="2800" spc="-1" strike="noStrike">
                <a:solidFill>
                  <a:srgbClr val="000000"/>
                </a:solidFill>
                <a:latin typeface="Calibri"/>
              </a:rPr>
              <a:t>Is there a relationship between the input marital status and the output health insurance? How strong?</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1123200" y="365040"/>
            <a:ext cx="10230480" cy="777600"/>
          </a:xfrm>
          <a:prstGeom prst="rect">
            <a:avLst/>
          </a:prstGeom>
          <a:noFill/>
          <a:ln w="0">
            <a:noFill/>
          </a:ln>
        </p:spPr>
        <p:txBody>
          <a:bodyPr anchor="ctr">
            <a:normAutofit/>
          </a:bodyPr>
          <a:p>
            <a:pPr>
              <a:lnSpc>
                <a:spcPct val="90000"/>
              </a:lnSpc>
              <a:buNone/>
            </a:pPr>
            <a:r>
              <a:rPr b="1" lang="en-IN" sz="3600" spc="-1" strike="noStrike">
                <a:solidFill>
                  <a:srgbClr val="008000"/>
                </a:solidFill>
                <a:latin typeface="Calibri Light"/>
              </a:rPr>
              <a:t>LINE PLOTS</a:t>
            </a:r>
            <a:endParaRPr b="0" lang="en-US" sz="3600" spc="-1" strike="noStrike">
              <a:solidFill>
                <a:srgbClr val="000000"/>
              </a:solidFill>
              <a:latin typeface="Calibri"/>
            </a:endParaRPr>
          </a:p>
        </p:txBody>
      </p:sp>
      <p:sp>
        <p:nvSpPr>
          <p:cNvPr id="129" name="PlaceHolder 2"/>
          <p:cNvSpPr>
            <a:spLocks noGrp="1"/>
          </p:cNvSpPr>
          <p:nvPr>
            <p:ph/>
          </p:nvPr>
        </p:nvSpPr>
        <p:spPr>
          <a:xfrm>
            <a:off x="1325160" y="1447920"/>
            <a:ext cx="10515240" cy="4350960"/>
          </a:xfrm>
          <a:prstGeom prst="rect">
            <a:avLst/>
          </a:prstGeom>
          <a:noFill/>
          <a:ln w="0">
            <a:noFill/>
          </a:ln>
        </p:spPr>
        <p:txBody>
          <a:bodyPr anchor="t">
            <a:noAutofit/>
          </a:bodyPr>
          <a:p>
            <a:pPr marL="228600" indent="-228600" algn="just">
              <a:lnSpc>
                <a:spcPct val="90000"/>
              </a:lnSpc>
              <a:spcBef>
                <a:spcPts val="1001"/>
              </a:spcBef>
              <a:buClr>
                <a:srgbClr val="000000"/>
              </a:buClr>
              <a:buFont typeface="Arial"/>
              <a:buChar char="•"/>
            </a:pPr>
            <a:r>
              <a:rPr b="0" lang="en-US" sz="2800" spc="-1" strike="noStrike">
                <a:solidFill>
                  <a:srgbClr val="000000"/>
                </a:solidFill>
                <a:latin typeface="Calibri"/>
              </a:rPr>
              <a:t>First, let’s consider the relationship between two continuous variables.</a:t>
            </a:r>
            <a:endParaRPr b="0" lang="en-US" sz="2800" spc="-1" strike="noStrike">
              <a:solidFill>
                <a:srgbClr val="000000"/>
              </a:solidFill>
              <a:latin typeface="Calibri"/>
            </a:endParaRPr>
          </a:p>
          <a:p>
            <a:pPr marL="228600" indent="-228600" algn="just">
              <a:lnSpc>
                <a:spcPct val="90000"/>
              </a:lnSpc>
              <a:spcBef>
                <a:spcPts val="1001"/>
              </a:spcBef>
              <a:buClr>
                <a:srgbClr val="000000"/>
              </a:buClr>
              <a:buFont typeface="Arial"/>
              <a:buChar char="•"/>
            </a:pPr>
            <a:r>
              <a:rPr b="0" lang="en-US" sz="2800" spc="-1" strike="noStrike">
                <a:solidFill>
                  <a:srgbClr val="000000"/>
                </a:solidFill>
                <a:latin typeface="Calibri"/>
              </a:rPr>
              <a:t>Line plots work best when the relationship between two variables is relatively clean: each x value has a unique (or nearly unique) y value, as in figure ,plot figure with </a:t>
            </a:r>
            <a:r>
              <a:rPr b="0" lang="en-US" sz="2800" spc="-1" strike="noStrike">
                <a:solidFill>
                  <a:srgbClr val="ff0000"/>
                </a:solidFill>
                <a:latin typeface="Calibri"/>
              </a:rPr>
              <a:t>geom_line</a:t>
            </a:r>
            <a:r>
              <a:rPr b="0" lang="en-US" sz="2800" spc="-1" strike="noStrike">
                <a:solidFill>
                  <a:srgbClr val="000000"/>
                </a:solidFill>
                <a:latin typeface="Calibri"/>
              </a:rPr>
              <a:t>.</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30" name="Picture 4" descr=""/>
          <p:cNvPicPr/>
          <p:nvPr/>
        </p:nvPicPr>
        <p:blipFill>
          <a:blip r:embed="rId1"/>
          <a:stretch/>
        </p:blipFill>
        <p:spPr>
          <a:xfrm>
            <a:off x="1325160" y="3623760"/>
            <a:ext cx="9541800" cy="2319480"/>
          </a:xfrm>
          <a:prstGeom prst="rect">
            <a:avLst/>
          </a:prstGeom>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 name="PlaceHolder 1"/>
          <p:cNvSpPr>
            <a:spLocks noGrp="1"/>
          </p:cNvSpPr>
          <p:nvPr>
            <p:ph type="title"/>
          </p:nvPr>
        </p:nvSpPr>
        <p:spPr>
          <a:xfrm>
            <a:off x="1043640" y="365040"/>
            <a:ext cx="10309680" cy="69804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Line Plot</a:t>
            </a:r>
            <a:endParaRPr b="0" lang="en-US" sz="3600" spc="-1" strike="noStrike">
              <a:solidFill>
                <a:srgbClr val="000000"/>
              </a:solidFill>
              <a:latin typeface="Calibri"/>
            </a:endParaRPr>
          </a:p>
        </p:txBody>
      </p:sp>
      <p:pic>
        <p:nvPicPr>
          <p:cNvPr id="132" name="Content Placeholder 4" descr=""/>
          <p:cNvPicPr/>
          <p:nvPr/>
        </p:nvPicPr>
        <p:blipFill>
          <a:blip r:embed="rId1"/>
          <a:stretch/>
        </p:blipFill>
        <p:spPr>
          <a:xfrm>
            <a:off x="1550520" y="1162800"/>
            <a:ext cx="8537400" cy="4015080"/>
          </a:xfrm>
          <a:prstGeom prst="rect">
            <a:avLst/>
          </a:prstGeom>
          <a:ln w="0">
            <a:noFill/>
          </a:ln>
        </p:spPr>
      </p:pic>
      <p:sp>
        <p:nvSpPr>
          <p:cNvPr id="133" name="TextBox 6"/>
          <p:cNvSpPr/>
          <p:nvPr/>
        </p:nvSpPr>
        <p:spPr>
          <a:xfrm>
            <a:off x="675720" y="5510520"/>
            <a:ext cx="10677600" cy="82116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400" spc="-1" strike="noStrike">
                <a:solidFill>
                  <a:srgbClr val="ff0000"/>
                </a:solidFill>
                <a:latin typeface="Calibri"/>
              </a:rPr>
              <a:t>When the data is not so cleanly related, line plots aren’t as useful; then use the scatter plot instead</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PlaceHolder 1"/>
          <p:cNvSpPr>
            <a:spLocks noGrp="1"/>
          </p:cNvSpPr>
          <p:nvPr>
            <p:ph type="title"/>
          </p:nvPr>
        </p:nvSpPr>
        <p:spPr>
          <a:xfrm>
            <a:off x="925200" y="365040"/>
            <a:ext cx="10428120" cy="89676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SCATTER PLOTS AND SMOOTHING CURVES</a:t>
            </a:r>
            <a:endParaRPr b="0" lang="en-US" sz="3600" spc="-1" strike="noStrike">
              <a:solidFill>
                <a:srgbClr val="000000"/>
              </a:solidFill>
              <a:latin typeface="Calibri"/>
            </a:endParaRPr>
          </a:p>
        </p:txBody>
      </p:sp>
      <p:sp>
        <p:nvSpPr>
          <p:cNvPr id="135" name="PlaceHolder 2"/>
          <p:cNvSpPr>
            <a:spLocks noGrp="1"/>
          </p:cNvSpPr>
          <p:nvPr>
            <p:ph/>
          </p:nvPr>
        </p:nvSpPr>
        <p:spPr>
          <a:xfrm>
            <a:off x="838080" y="1262160"/>
            <a:ext cx="10515240" cy="49143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relationship between age and health insurance, and also a relationship between income and health insurance. But what is the relationship between age and income? If they track each other perfectly, then you might not want to use both variables in a model for health insurance.</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The appropriate summary statistic is the correlation, which we compute on a safe subset of our data.</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36" name="Picture 4" descr=""/>
          <p:cNvPicPr/>
          <p:nvPr/>
        </p:nvPicPr>
        <p:blipFill>
          <a:blip r:embed="rId1"/>
          <a:stretch/>
        </p:blipFill>
        <p:spPr>
          <a:xfrm>
            <a:off x="1091880" y="4543920"/>
            <a:ext cx="10428120" cy="2116080"/>
          </a:xfrm>
          <a:prstGeom prst="rect">
            <a:avLst/>
          </a:prstGeom>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7" name="PlaceHolder 1"/>
          <p:cNvSpPr>
            <a:spLocks noGrp="1"/>
          </p:cNvSpPr>
          <p:nvPr>
            <p:ph type="title"/>
          </p:nvPr>
        </p:nvSpPr>
        <p:spPr>
          <a:xfrm>
            <a:off x="838080" y="365040"/>
            <a:ext cx="10515240" cy="86688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Scatter Plot</a:t>
            </a:r>
            <a:endParaRPr b="0" lang="en-US" sz="3600" spc="-1" strike="noStrike">
              <a:solidFill>
                <a:srgbClr val="000000"/>
              </a:solidFill>
              <a:latin typeface="Calibri"/>
            </a:endParaRPr>
          </a:p>
        </p:txBody>
      </p:sp>
      <p:pic>
        <p:nvPicPr>
          <p:cNvPr id="138" name="Content Placeholder 4" descr=""/>
          <p:cNvPicPr/>
          <p:nvPr/>
        </p:nvPicPr>
        <p:blipFill>
          <a:blip r:embed="rId1"/>
          <a:stretch/>
        </p:blipFill>
        <p:spPr>
          <a:xfrm>
            <a:off x="838080" y="1232280"/>
            <a:ext cx="10372680" cy="5173920"/>
          </a:xfrm>
          <a:prstGeom prst="rect">
            <a:avLst/>
          </a:prstGeom>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9" name="PlaceHolder 1"/>
          <p:cNvSpPr>
            <a:spLocks noGrp="1"/>
          </p:cNvSpPr>
          <p:nvPr>
            <p:ph type="title"/>
          </p:nvPr>
        </p:nvSpPr>
        <p:spPr>
          <a:xfrm>
            <a:off x="1031040" y="365040"/>
            <a:ext cx="10322280" cy="70740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Scatter Plot</a:t>
            </a:r>
            <a:endParaRPr b="0" lang="en-US" sz="3600" spc="-1" strike="noStrike">
              <a:solidFill>
                <a:srgbClr val="000000"/>
              </a:solidFill>
              <a:latin typeface="Calibri"/>
            </a:endParaRPr>
          </a:p>
        </p:txBody>
      </p:sp>
      <p:pic>
        <p:nvPicPr>
          <p:cNvPr id="140" name="Content Placeholder 4" descr=""/>
          <p:cNvPicPr/>
          <p:nvPr/>
        </p:nvPicPr>
        <p:blipFill>
          <a:blip r:embed="rId1"/>
          <a:stretch/>
        </p:blipFill>
        <p:spPr>
          <a:xfrm>
            <a:off x="1242360" y="1162800"/>
            <a:ext cx="9133560" cy="3816360"/>
          </a:xfrm>
          <a:prstGeom prst="rect">
            <a:avLst/>
          </a:prstGeom>
          <a:ln w="0">
            <a:noFill/>
          </a:ln>
        </p:spPr>
      </p:pic>
      <p:sp>
        <p:nvSpPr>
          <p:cNvPr id="141" name="TextBox 6"/>
          <p:cNvSpPr/>
          <p:nvPr/>
        </p:nvSpPr>
        <p:spPr>
          <a:xfrm>
            <a:off x="1031040" y="5069520"/>
            <a:ext cx="10885320" cy="1614240"/>
          </a:xfrm>
          <a:prstGeom prst="rect">
            <a:avLst/>
          </a:prstGeom>
          <a:noFill/>
          <a:ln w="0">
            <a:noFill/>
          </a:ln>
        </p:spPr>
        <p:style>
          <a:lnRef idx="0"/>
          <a:fillRef idx="0"/>
          <a:effectRef idx="0"/>
          <a:fontRef idx="minor"/>
        </p:style>
        <p:txBody>
          <a:bodyPr lIns="90000" rIns="90000" tIns="45000" bIns="45000" anchor="t">
            <a:spAutoFit/>
          </a:bodyPr>
          <a:p>
            <a:pPr algn="just">
              <a:lnSpc>
                <a:spcPct val="100000"/>
              </a:lnSpc>
              <a:buNone/>
            </a:pPr>
            <a:r>
              <a:rPr b="0" lang="en-US" sz="2000" spc="-1" strike="noStrike">
                <a:solidFill>
                  <a:srgbClr val="000000"/>
                </a:solidFill>
                <a:latin typeface="Calibri"/>
              </a:rPr>
              <a:t>The relationship between age and income isn’t easy to see. You can try to make the relationship clearer by also plotting a linear fit through the data, as shown in figure. using the </a:t>
            </a:r>
            <a:r>
              <a:rPr b="0" lang="en-US" sz="2000" spc="-1" strike="noStrike">
                <a:solidFill>
                  <a:srgbClr val="ff0000"/>
                </a:solidFill>
                <a:latin typeface="Calibri"/>
              </a:rPr>
              <a:t>stat_smooth layer</a:t>
            </a:r>
            <a:r>
              <a:rPr b="0" lang="en-US" sz="2000" spc="-1" strike="noStrike">
                <a:solidFill>
                  <a:srgbClr val="000000"/>
                </a:solidFill>
                <a:latin typeface="Calibri"/>
              </a:rPr>
              <a:t>:</a:t>
            </a:r>
            <a:endParaRPr b="0" lang="en-IN" sz="2000" spc="-1" strike="noStrike">
              <a:latin typeface="Arial"/>
            </a:endParaRPr>
          </a:p>
          <a:p>
            <a:pPr algn="just">
              <a:lnSpc>
                <a:spcPct val="100000"/>
              </a:lnSpc>
              <a:buNone/>
            </a:pPr>
            <a:r>
              <a:rPr b="0" lang="en-US" sz="2000" spc="-1" strike="noStrike">
                <a:solidFill>
                  <a:srgbClr val="000000"/>
                </a:solidFill>
                <a:latin typeface="Calibri"/>
              </a:rPr>
              <a:t>ggplot(custdata2, aes(x=age, y=income)) + geom_point() + stat_smooth(method="lm") + ylim(0, 200000)</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838080" y="365040"/>
            <a:ext cx="10515240" cy="633240"/>
          </a:xfrm>
          <a:prstGeom prst="rect">
            <a:avLst/>
          </a:prstGeom>
          <a:noFill/>
          <a:ln w="0">
            <a:noFill/>
          </a:ln>
        </p:spPr>
        <p:txBody>
          <a:bodyPr anchor="ctr">
            <a:normAutofit/>
          </a:bodyPr>
          <a:p>
            <a:pPr>
              <a:lnSpc>
                <a:spcPct val="90000"/>
              </a:lnSpc>
              <a:buNone/>
            </a:pPr>
            <a:r>
              <a:rPr b="1" lang="en-IN" sz="3600" spc="-1" strike="noStrike">
                <a:solidFill>
                  <a:srgbClr val="008000"/>
                </a:solidFill>
                <a:latin typeface="Calibri Light"/>
              </a:rPr>
              <a:t>HEXBIN PLOTS</a:t>
            </a:r>
            <a:endParaRPr b="0" lang="en-US" sz="3600" spc="-1" strike="noStrike">
              <a:solidFill>
                <a:srgbClr val="000000"/>
              </a:solidFill>
              <a:latin typeface="Calibri"/>
            </a:endParaRPr>
          </a:p>
        </p:txBody>
      </p:sp>
      <p:sp>
        <p:nvSpPr>
          <p:cNvPr id="143" name="PlaceHolder 2"/>
          <p:cNvSpPr>
            <a:spLocks noGrp="1"/>
          </p:cNvSpPr>
          <p:nvPr>
            <p:ph/>
          </p:nvPr>
        </p:nvSpPr>
        <p:spPr>
          <a:xfrm>
            <a:off x="838080" y="998640"/>
            <a:ext cx="10419120" cy="5033520"/>
          </a:xfrm>
          <a:prstGeom prst="rect">
            <a:avLst/>
          </a:prstGeom>
          <a:noFill/>
          <a:ln w="0">
            <a:noFill/>
          </a:ln>
        </p:spPr>
        <p:txBody>
          <a:bodyPr anchor="t">
            <a:noAutofit/>
          </a:bodyPr>
          <a:p>
            <a:pPr marL="228600" indent="-228600" algn="just">
              <a:lnSpc>
                <a:spcPct val="90000"/>
              </a:lnSpc>
              <a:spcBef>
                <a:spcPts val="1001"/>
              </a:spcBef>
              <a:buClr>
                <a:srgbClr val="000000"/>
              </a:buClr>
              <a:buFont typeface="Arial"/>
              <a:buChar char="•"/>
            </a:pPr>
            <a:r>
              <a:rPr b="0" lang="en-US" sz="2800" spc="-1" strike="noStrike">
                <a:solidFill>
                  <a:srgbClr val="000000"/>
                </a:solidFill>
                <a:latin typeface="Calibri"/>
              </a:rPr>
              <a:t>A hexbin plot is like a two-dimensional histogram. The data is divided into bins, and the number of data points in each bin is represented by color or shading</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44" name="Picture 4" descr=""/>
          <p:cNvPicPr/>
          <p:nvPr/>
        </p:nvPicPr>
        <p:blipFill>
          <a:blip r:embed="rId1"/>
          <a:stretch/>
        </p:blipFill>
        <p:spPr>
          <a:xfrm>
            <a:off x="1232280" y="2345760"/>
            <a:ext cx="9225720" cy="4253760"/>
          </a:xfrm>
          <a:prstGeom prst="rect">
            <a:avLst/>
          </a:prstGeom>
          <a:ln w="0">
            <a:noFill/>
          </a:ln>
        </p:spPr>
      </p:pic>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1189440" y="365040"/>
            <a:ext cx="10163880" cy="777600"/>
          </a:xfrm>
          <a:prstGeom prst="rect">
            <a:avLst/>
          </a:prstGeom>
          <a:noFill/>
          <a:ln w="0">
            <a:noFill/>
          </a:ln>
        </p:spPr>
        <p:txBody>
          <a:bodyPr anchor="ctr">
            <a:normAutofit/>
          </a:bodyPr>
          <a:p>
            <a:pPr>
              <a:lnSpc>
                <a:spcPct val="90000"/>
              </a:lnSpc>
              <a:buNone/>
            </a:pPr>
            <a:r>
              <a:rPr b="1" lang="en-IN" sz="3600" spc="-1" strike="noStrike">
                <a:solidFill>
                  <a:srgbClr val="008000"/>
                </a:solidFill>
                <a:latin typeface="Calibri Light"/>
              </a:rPr>
              <a:t>HEXBIN PLOTS</a:t>
            </a:r>
            <a:endParaRPr b="0" lang="en-US" sz="3600" spc="-1" strike="noStrike">
              <a:solidFill>
                <a:srgbClr val="000000"/>
              </a:solidFill>
              <a:latin typeface="Calibri"/>
            </a:endParaRPr>
          </a:p>
        </p:txBody>
      </p:sp>
      <p:pic>
        <p:nvPicPr>
          <p:cNvPr id="146" name="Content Placeholder 4" descr=""/>
          <p:cNvPicPr/>
          <p:nvPr/>
        </p:nvPicPr>
        <p:blipFill>
          <a:blip r:embed="rId1"/>
          <a:stretch/>
        </p:blipFill>
        <p:spPr>
          <a:xfrm>
            <a:off x="1023840" y="1143000"/>
            <a:ext cx="9978480" cy="5118120"/>
          </a:xfrm>
          <a:prstGeom prst="rect">
            <a:avLst/>
          </a:prstGeom>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838080" y="255960"/>
            <a:ext cx="10515240" cy="876960"/>
          </a:xfrm>
          <a:prstGeom prst="rect">
            <a:avLst/>
          </a:prstGeom>
          <a:noFill/>
          <a:ln w="0">
            <a:noFill/>
          </a:ln>
        </p:spPr>
        <p:txBody>
          <a:bodyPr anchor="ctr">
            <a:normAutofit fontScale="81000"/>
          </a:bodyPr>
          <a:p>
            <a:pPr>
              <a:lnSpc>
                <a:spcPct val="90000"/>
              </a:lnSpc>
              <a:buNone/>
            </a:pPr>
            <a:r>
              <a:rPr b="1" lang="en-US" sz="3600" spc="-1" strike="noStrike">
                <a:solidFill>
                  <a:srgbClr val="008000"/>
                </a:solidFill>
                <a:latin typeface="Calibri Light"/>
              </a:rPr>
              <a:t>BAR CHARTS FOR TWO CATEGORICAL VARIABLES</a:t>
            </a:r>
            <a:endParaRPr b="0" lang="en-US" sz="3600" spc="-1" strike="noStrike">
              <a:solidFill>
                <a:srgbClr val="000000"/>
              </a:solidFill>
              <a:latin typeface="Calibri"/>
            </a:endParaRPr>
          </a:p>
        </p:txBody>
      </p:sp>
      <p:sp>
        <p:nvSpPr>
          <p:cNvPr id="148" name="PlaceHolder 2"/>
          <p:cNvSpPr>
            <a:spLocks noGrp="1"/>
          </p:cNvSpPr>
          <p:nvPr>
            <p:ph/>
          </p:nvPr>
        </p:nvSpPr>
        <p:spPr>
          <a:xfrm>
            <a:off x="1037160" y="129204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Example: the relationship between marital status and the probability of health insurance coverage.</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49" name="Picture 4" descr=""/>
          <p:cNvPicPr/>
          <p:nvPr/>
        </p:nvPicPr>
        <p:blipFill>
          <a:blip r:embed="rId1"/>
          <a:stretch/>
        </p:blipFill>
        <p:spPr>
          <a:xfrm>
            <a:off x="1411200" y="2328480"/>
            <a:ext cx="9411840" cy="4380120"/>
          </a:xfrm>
          <a:prstGeom prst="rect">
            <a:avLst/>
          </a:prstGeom>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838080" y="365040"/>
            <a:ext cx="10515240" cy="787320"/>
          </a:xfrm>
          <a:prstGeom prst="rect">
            <a:avLst/>
          </a:prstGeom>
          <a:noFill/>
          <a:ln w="0">
            <a:noFill/>
          </a:ln>
        </p:spPr>
        <p:txBody>
          <a:bodyPr anchor="ctr">
            <a:normAutofit fontScale="76000"/>
          </a:bodyPr>
          <a:p>
            <a:pPr>
              <a:lnSpc>
                <a:spcPct val="90000"/>
              </a:lnSpc>
              <a:buNone/>
            </a:pPr>
            <a:r>
              <a:rPr b="1" lang="en-US" sz="3600" spc="-1" strike="noStrike">
                <a:solidFill>
                  <a:srgbClr val="008000"/>
                </a:solidFill>
                <a:latin typeface="Calibri Light"/>
              </a:rPr>
              <a:t>BAR CHARTS FOR TWO CATEGORICAL VARIABLES</a:t>
            </a:r>
            <a:endParaRPr b="0" lang="en-US" sz="3600" spc="-1" strike="noStrike">
              <a:solidFill>
                <a:srgbClr val="000000"/>
              </a:solidFill>
              <a:latin typeface="Calibri"/>
            </a:endParaRPr>
          </a:p>
        </p:txBody>
      </p:sp>
      <p:pic>
        <p:nvPicPr>
          <p:cNvPr id="151" name="Content Placeholder 4" descr=""/>
          <p:cNvPicPr/>
          <p:nvPr/>
        </p:nvPicPr>
        <p:blipFill>
          <a:blip r:embed="rId1"/>
          <a:stretch/>
        </p:blipFill>
        <p:spPr>
          <a:xfrm>
            <a:off x="1073520" y="1153080"/>
            <a:ext cx="9282960" cy="5023800"/>
          </a:xfrm>
          <a:prstGeom prst="rect">
            <a:avLst/>
          </a:prstGeom>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PlaceHolder 1"/>
          <p:cNvSpPr>
            <a:spLocks noGrp="1"/>
          </p:cNvSpPr>
          <p:nvPr>
            <p:ph type="title"/>
          </p:nvPr>
        </p:nvSpPr>
        <p:spPr>
          <a:xfrm>
            <a:off x="838080" y="365040"/>
            <a:ext cx="10515240" cy="86292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Filled Bar Chart</a:t>
            </a:r>
            <a:endParaRPr b="0" lang="en-US" sz="3600" spc="-1" strike="noStrike">
              <a:solidFill>
                <a:srgbClr val="000000"/>
              </a:solidFill>
              <a:latin typeface="Calibri"/>
            </a:endParaRPr>
          </a:p>
        </p:txBody>
      </p:sp>
      <p:pic>
        <p:nvPicPr>
          <p:cNvPr id="153" name="Content Placeholder 3" descr=""/>
          <p:cNvPicPr/>
          <p:nvPr/>
        </p:nvPicPr>
        <p:blipFill>
          <a:blip r:embed="rId1"/>
          <a:stretch/>
        </p:blipFill>
        <p:spPr>
          <a:xfrm>
            <a:off x="955440" y="1228320"/>
            <a:ext cx="9048240" cy="5472360"/>
          </a:xfrm>
          <a:prstGeom prst="rect">
            <a:avLst/>
          </a:prstGeom>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838080" y="283320"/>
            <a:ext cx="10515240" cy="821880"/>
          </a:xfrm>
          <a:prstGeom prst="rect">
            <a:avLst/>
          </a:prstGeom>
          <a:noFill/>
          <a:ln w="0">
            <a:noFill/>
          </a:ln>
        </p:spPr>
        <p:txBody>
          <a:bodyPr anchor="ctr">
            <a:noAutofit/>
          </a:bodyPr>
          <a:p>
            <a:pPr>
              <a:lnSpc>
                <a:spcPct val="90000"/>
              </a:lnSpc>
              <a:buNone/>
            </a:pPr>
            <a:r>
              <a:rPr b="1" lang="en-US" sz="4400" spc="-1" strike="noStrike">
                <a:solidFill>
                  <a:srgbClr val="008000"/>
                </a:solidFill>
                <a:latin typeface="Calibri Light"/>
              </a:rPr>
              <a:t>Filled Bar with Rug Chart</a:t>
            </a:r>
            <a:endParaRPr b="0" lang="en-US" sz="4400" spc="-1" strike="noStrike">
              <a:solidFill>
                <a:srgbClr val="000000"/>
              </a:solidFill>
              <a:latin typeface="Calibri"/>
            </a:endParaRPr>
          </a:p>
        </p:txBody>
      </p:sp>
      <p:sp>
        <p:nvSpPr>
          <p:cNvPr id="155" name="PlaceHolder 2"/>
          <p:cNvSpPr>
            <a:spLocks noGrp="1"/>
          </p:cNvSpPr>
          <p:nvPr>
            <p:ph/>
          </p:nvPr>
        </p:nvSpPr>
        <p:spPr>
          <a:xfrm>
            <a:off x="838080" y="1105560"/>
            <a:ext cx="10515240" cy="486648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To get a simultaneous sense of both the population in each category and the ratio of insured to uninsured, you can add what’s called a rug to the filled bar chart.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A rug is a series of ticks or points on the x-axis, one tick per datum. The rug is dense where you have a lot of data, and sparse where you have little data. This is shown in figure Generate this graph by adding a geom_point layer to the graph</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56" name="Picture 4" descr=""/>
          <p:cNvPicPr/>
          <p:nvPr/>
        </p:nvPicPr>
        <p:blipFill>
          <a:blip r:embed="rId1"/>
          <a:stretch/>
        </p:blipFill>
        <p:spPr>
          <a:xfrm>
            <a:off x="1078200" y="4271760"/>
            <a:ext cx="9703080" cy="2237760"/>
          </a:xfrm>
          <a:prstGeom prst="rect">
            <a:avLst/>
          </a:prstGeom>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7" name="PlaceHolder 1"/>
          <p:cNvSpPr>
            <a:spLocks noGrp="1"/>
          </p:cNvSpPr>
          <p:nvPr>
            <p:ph type="title"/>
          </p:nvPr>
        </p:nvSpPr>
        <p:spPr>
          <a:xfrm>
            <a:off x="838080" y="365040"/>
            <a:ext cx="10515240" cy="794520"/>
          </a:xfrm>
          <a:prstGeom prst="rect">
            <a:avLst/>
          </a:prstGeom>
          <a:noFill/>
          <a:ln w="0">
            <a:noFill/>
          </a:ln>
        </p:spPr>
        <p:txBody>
          <a:bodyPr anchor="ctr">
            <a:noAutofit/>
          </a:bodyPr>
          <a:p>
            <a:pPr>
              <a:lnSpc>
                <a:spcPct val="90000"/>
              </a:lnSpc>
              <a:buNone/>
            </a:pPr>
            <a:r>
              <a:rPr b="1" lang="en-US" sz="4400" spc="-1" strike="noStrike">
                <a:solidFill>
                  <a:srgbClr val="008000"/>
                </a:solidFill>
                <a:latin typeface="Calibri Light"/>
              </a:rPr>
              <a:t>Filled Bar with Rug Chart</a:t>
            </a:r>
            <a:endParaRPr b="0" lang="en-US" sz="4400" spc="-1" strike="noStrike">
              <a:solidFill>
                <a:srgbClr val="000000"/>
              </a:solidFill>
              <a:latin typeface="Calibri"/>
            </a:endParaRPr>
          </a:p>
        </p:txBody>
      </p:sp>
      <p:pic>
        <p:nvPicPr>
          <p:cNvPr id="158" name="Content Placeholder 3" descr=""/>
          <p:cNvPicPr/>
          <p:nvPr/>
        </p:nvPicPr>
        <p:blipFill>
          <a:blip r:embed="rId1"/>
          <a:stretch/>
        </p:blipFill>
        <p:spPr>
          <a:xfrm>
            <a:off x="838080" y="1269360"/>
            <a:ext cx="9929520" cy="4871880"/>
          </a:xfrm>
          <a:prstGeom prst="rect">
            <a:avLst/>
          </a:prstGeom>
          <a:ln w="0">
            <a:noFill/>
          </a:ln>
        </p:spPr>
      </p:pic>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9" name="PlaceHolder 1"/>
          <p:cNvSpPr>
            <a:spLocks noGrp="1"/>
          </p:cNvSpPr>
          <p:nvPr>
            <p:ph type="title"/>
          </p:nvPr>
        </p:nvSpPr>
        <p:spPr>
          <a:xfrm>
            <a:off x="838080" y="365040"/>
            <a:ext cx="10515240" cy="65808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Different Styles of Bar Chart</a:t>
            </a:r>
            <a:endParaRPr b="0" lang="en-US" sz="3600" spc="-1" strike="noStrike">
              <a:solidFill>
                <a:srgbClr val="000000"/>
              </a:solidFill>
              <a:latin typeface="Calibri"/>
            </a:endParaRPr>
          </a:p>
        </p:txBody>
      </p:sp>
      <p:pic>
        <p:nvPicPr>
          <p:cNvPr id="160" name="Content Placeholder 4" descr=""/>
          <p:cNvPicPr/>
          <p:nvPr/>
        </p:nvPicPr>
        <p:blipFill>
          <a:blip r:embed="rId1"/>
          <a:stretch/>
        </p:blipFill>
        <p:spPr>
          <a:xfrm>
            <a:off x="964080" y="1272240"/>
            <a:ext cx="10389240" cy="486000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1" name="PlaceHolder 1"/>
          <p:cNvSpPr>
            <a:spLocks noGrp="1"/>
          </p:cNvSpPr>
          <p:nvPr>
            <p:ph type="title"/>
          </p:nvPr>
        </p:nvSpPr>
        <p:spPr>
          <a:xfrm>
            <a:off x="838080" y="365040"/>
            <a:ext cx="10515240" cy="75780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Visualizations for Two variables</a:t>
            </a:r>
            <a:endParaRPr b="0" lang="en-US" sz="3600" spc="-1" strike="noStrike">
              <a:solidFill>
                <a:srgbClr val="000000"/>
              </a:solidFill>
              <a:latin typeface="Calibri"/>
            </a:endParaRPr>
          </a:p>
        </p:txBody>
      </p:sp>
      <p:pic>
        <p:nvPicPr>
          <p:cNvPr id="162" name="Content Placeholder 4" descr=""/>
          <p:cNvPicPr/>
          <p:nvPr/>
        </p:nvPicPr>
        <p:blipFill>
          <a:blip r:embed="rId1"/>
          <a:stretch/>
        </p:blipFill>
        <p:spPr>
          <a:xfrm>
            <a:off x="944280" y="1123200"/>
            <a:ext cx="10515240" cy="5369400"/>
          </a:xfrm>
          <a:prstGeom prst="rect">
            <a:avLst/>
          </a:prstGeom>
          <a:ln w="0">
            <a:noFill/>
          </a:ln>
        </p:spPr>
      </p:pic>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838080" y="365040"/>
            <a:ext cx="10515240" cy="59868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Other Graphs</a:t>
            </a:r>
            <a:endParaRPr b="0" lang="en-US" sz="3600" spc="-1" strike="noStrike">
              <a:solidFill>
                <a:srgbClr val="000000"/>
              </a:solidFill>
              <a:latin typeface="Calibri"/>
            </a:endParaRPr>
          </a:p>
        </p:txBody>
      </p:sp>
      <p:sp>
        <p:nvSpPr>
          <p:cNvPr id="164" name="PlaceHolder 2"/>
          <p:cNvSpPr>
            <a:spLocks noGrp="1"/>
          </p:cNvSpPr>
          <p:nvPr>
            <p:ph/>
          </p:nvPr>
        </p:nvSpPr>
        <p:spPr>
          <a:xfrm>
            <a:off x="838080" y="105948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000" spc="-1" strike="noStrike">
                <a:solidFill>
                  <a:srgbClr val="000000"/>
                </a:solidFill>
                <a:latin typeface="Open Sans"/>
              </a:rPr>
              <a:t>A Box and Whisker Plot, also known simply as a Boxplot, is a graphical representation of data distribution through its quartiles. </a:t>
            </a:r>
            <a:endParaRPr b="0" lang="en-US" sz="20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000" spc="-1" strike="noStrike">
                <a:solidFill>
                  <a:srgbClr val="000000"/>
                </a:solidFill>
                <a:latin typeface="Open Sans"/>
              </a:rPr>
              <a:t>The graph is presented in the form of a rectangle with lines emanating from both the top and the bottom. </a:t>
            </a:r>
            <a:endParaRPr b="0" lang="en-US" sz="20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000" spc="-1" strike="noStrike">
                <a:solidFill>
                  <a:srgbClr val="000000"/>
                </a:solidFill>
                <a:latin typeface="Open Sans"/>
              </a:rPr>
              <a:t>These lines, called "whiskers," depict the variability outside the upper and lower quartiles.</a:t>
            </a:r>
            <a:endParaRPr b="0" lang="en-US" sz="20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65" name="Picture 4" descr=""/>
          <p:cNvPicPr/>
          <p:nvPr/>
        </p:nvPicPr>
        <p:blipFill>
          <a:blip r:embed="rId1"/>
          <a:stretch/>
        </p:blipFill>
        <p:spPr>
          <a:xfrm>
            <a:off x="1875600" y="3235320"/>
            <a:ext cx="7943400" cy="2844720"/>
          </a:xfrm>
          <a:prstGeom prst="rect">
            <a:avLst/>
          </a:prstGeom>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838080" y="365040"/>
            <a:ext cx="10515240" cy="906840"/>
          </a:xfrm>
          <a:prstGeom prst="rect">
            <a:avLst/>
          </a:prstGeom>
          <a:noFill/>
          <a:ln w="0">
            <a:noFill/>
          </a:ln>
        </p:spPr>
        <p:txBody>
          <a:bodyPr anchor="ctr">
            <a:normAutofit fontScale="48000"/>
          </a:bodyPr>
          <a:p>
            <a:pPr>
              <a:lnSpc>
                <a:spcPct val="90000"/>
              </a:lnSpc>
              <a:buNone/>
            </a:pPr>
            <a:br>
              <a:rPr sz="3600"/>
            </a:br>
            <a:r>
              <a:rPr b="1" lang="en-US" sz="4000" spc="-1" strike="noStrike">
                <a:solidFill>
                  <a:srgbClr val="008000"/>
                </a:solidFill>
                <a:latin typeface="Calibri Light"/>
              </a:rPr>
              <a:t>What are the ggplot2 library's key components or grammar?</a:t>
            </a:r>
            <a:br>
              <a:rPr sz="4000"/>
            </a:br>
            <a:endParaRPr b="0" lang="en-US" sz="4000" spc="-1" strike="noStrike">
              <a:solidFill>
                <a:srgbClr val="000000"/>
              </a:solidFill>
              <a:latin typeface="Calibri"/>
            </a:endParaRPr>
          </a:p>
        </p:txBody>
      </p:sp>
      <p:pic>
        <p:nvPicPr>
          <p:cNvPr id="167" name="Content Placeholder 4" descr=""/>
          <p:cNvPicPr/>
          <p:nvPr/>
        </p:nvPicPr>
        <p:blipFill>
          <a:blip r:embed="rId1"/>
          <a:stretch/>
        </p:blipFill>
        <p:spPr>
          <a:xfrm>
            <a:off x="838080" y="1962000"/>
            <a:ext cx="10382040" cy="293328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8" name="PlaceHolder 1"/>
          <p:cNvSpPr>
            <a:spLocks noGrp="1"/>
          </p:cNvSpPr>
          <p:nvPr>
            <p:ph type="title"/>
          </p:nvPr>
        </p:nvSpPr>
        <p:spPr>
          <a:xfrm>
            <a:off x="838080" y="365040"/>
            <a:ext cx="10515240" cy="737640"/>
          </a:xfrm>
          <a:prstGeom prst="rect">
            <a:avLst/>
          </a:prstGeom>
          <a:noFill/>
          <a:ln w="0">
            <a:noFill/>
          </a:ln>
        </p:spPr>
        <p:txBody>
          <a:bodyPr anchor="ctr">
            <a:normAutofit/>
          </a:bodyPr>
          <a:p>
            <a:pPr>
              <a:lnSpc>
                <a:spcPct val="90000"/>
              </a:lnSpc>
              <a:buNone/>
            </a:pPr>
            <a:r>
              <a:rPr b="1" lang="en-IN" sz="3600" spc="-1" strike="noStrike">
                <a:solidFill>
                  <a:srgbClr val="008000"/>
                </a:solidFill>
                <a:latin typeface="Calibri Light"/>
              </a:rPr>
              <a:t>Summary</a:t>
            </a:r>
            <a:endParaRPr b="0" lang="en-US" sz="3600" spc="-1" strike="noStrike">
              <a:solidFill>
                <a:srgbClr val="000000"/>
              </a:solidFill>
              <a:latin typeface="Calibri"/>
            </a:endParaRPr>
          </a:p>
        </p:txBody>
      </p:sp>
      <p:sp>
        <p:nvSpPr>
          <p:cNvPr id="169" name="PlaceHolder 2"/>
          <p:cNvSpPr>
            <a:spLocks noGrp="1"/>
          </p:cNvSpPr>
          <p:nvPr>
            <p:ph/>
          </p:nvPr>
        </p:nvSpPr>
        <p:spPr>
          <a:xfrm>
            <a:off x="947520" y="12531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Take the time to examine your data before diving into the modeling.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The summary command helps you spot issues with data range, units, data type, and missing or invalid values.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Visualization additionally gives you a sense of data distribution and relationships among variables.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Visualization is an iterative process and helps answer questions about the data. </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Time spent here is time not wasted during the modeling process. </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838080" y="365040"/>
            <a:ext cx="10515240" cy="71784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Data Set</a:t>
            </a:r>
            <a:endParaRPr b="0" lang="en-US" sz="3600" spc="-1" strike="noStrike">
              <a:solidFill>
                <a:srgbClr val="000000"/>
              </a:solidFill>
              <a:latin typeface="Calibri"/>
            </a:endParaRPr>
          </a:p>
        </p:txBody>
      </p:sp>
      <p:pic>
        <p:nvPicPr>
          <p:cNvPr id="171" name="Content Placeholder 4" descr=""/>
          <p:cNvPicPr/>
          <p:nvPr/>
        </p:nvPicPr>
        <p:blipFill>
          <a:blip r:embed="rId1"/>
          <a:stretch/>
        </p:blipFill>
        <p:spPr>
          <a:xfrm>
            <a:off x="905040" y="1371600"/>
            <a:ext cx="10382040" cy="4740480"/>
          </a:xfrm>
          <a:prstGeom prst="rect">
            <a:avLst/>
          </a:prstGeom>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PlaceHolder 1"/>
          <p:cNvSpPr>
            <a:spLocks noGrp="1"/>
          </p:cNvSpPr>
          <p:nvPr>
            <p:ph type="title"/>
          </p:nvPr>
        </p:nvSpPr>
        <p:spPr>
          <a:xfrm>
            <a:off x="838080" y="365040"/>
            <a:ext cx="10515240" cy="936720"/>
          </a:xfrm>
          <a:prstGeom prst="rect">
            <a:avLst/>
          </a:prstGeom>
          <a:noFill/>
          <a:ln w="0">
            <a:noFill/>
          </a:ln>
        </p:spPr>
        <p:txBody>
          <a:bodyPr anchor="ctr">
            <a:noAutofit/>
          </a:bodyPr>
          <a:p>
            <a:pPr>
              <a:lnSpc>
                <a:spcPct val="90000"/>
              </a:lnSpc>
              <a:buNone/>
            </a:pPr>
            <a:r>
              <a:rPr b="1" lang="en-US" sz="3600" spc="-1" strike="noStrike">
                <a:solidFill>
                  <a:srgbClr val="008000"/>
                </a:solidFill>
                <a:latin typeface="Calibri Light"/>
              </a:rPr>
              <a:t>Analytics Example</a:t>
            </a:r>
            <a:endParaRPr b="0" lang="en-US" sz="3600" spc="-1" strike="noStrike">
              <a:solidFill>
                <a:srgbClr val="000000"/>
              </a:solidFill>
              <a:latin typeface="Calibri"/>
            </a:endParaRPr>
          </a:p>
        </p:txBody>
      </p:sp>
      <p:sp>
        <p:nvSpPr>
          <p:cNvPr id="173" name="PlaceHolder 2"/>
          <p:cNvSpPr>
            <a:spLocks noGrp="1"/>
          </p:cNvSpPr>
          <p:nvPr>
            <p:ph/>
          </p:nvPr>
        </p:nvSpPr>
        <p:spPr>
          <a:xfrm>
            <a:off x="944280" y="1470960"/>
            <a:ext cx="10409400" cy="4705560"/>
          </a:xfrm>
          <a:prstGeom prst="rect">
            <a:avLst/>
          </a:prstGeom>
          <a:noFill/>
          <a:ln w="0">
            <a:noFill/>
          </a:ln>
        </p:spPr>
        <p:txBody>
          <a:bodyPr anchor="t">
            <a:noAutofit/>
          </a:bodyPr>
          <a:p>
            <a:pPr>
              <a:lnSpc>
                <a:spcPct val="90000"/>
              </a:lnSpc>
              <a:spcBef>
                <a:spcPts val="1001"/>
              </a:spcBef>
              <a:buNone/>
              <a:tabLst>
                <a:tab algn="l" pos="0"/>
              </a:tabLst>
            </a:pPr>
            <a:r>
              <a:rPr b="1" lang="en-IN" sz="2800" spc="-1" strike="noStrike">
                <a:solidFill>
                  <a:srgbClr val="10162f"/>
                </a:solidFill>
                <a:latin typeface="Apercu"/>
              </a:rPr>
              <a:t>Univariate analysis</a:t>
            </a:r>
            <a:endParaRPr b="0" lang="en-US" sz="2800" spc="-1" strike="noStrike">
              <a:solidFill>
                <a:srgbClr val="000000"/>
              </a:solidFill>
              <a:latin typeface="Calibri"/>
            </a:endParaRPr>
          </a:p>
          <a:p>
            <a:pPr marL="571680" indent="-571680">
              <a:lnSpc>
                <a:spcPct val="90000"/>
              </a:lnSpc>
              <a:spcBef>
                <a:spcPts val="1001"/>
              </a:spcBef>
              <a:buClr>
                <a:srgbClr val="10162f"/>
              </a:buClr>
              <a:buFont typeface="Calibri Light"/>
              <a:buAutoNum type="romanLcPeriod"/>
              <a:tabLst>
                <a:tab algn="l" pos="0"/>
              </a:tabLst>
            </a:pPr>
            <a:r>
              <a:rPr b="0" lang="en-US" sz="2800" spc="-1" strike="noStrike">
                <a:solidFill>
                  <a:srgbClr val="10162f"/>
                </a:solidFill>
                <a:latin typeface="Apercu"/>
              </a:rPr>
              <a:t>What is the typical price of a rental in New York City?</a:t>
            </a:r>
            <a:endParaRPr b="0" lang="en-US" sz="2800" spc="-1" strike="noStrike">
              <a:solidFill>
                <a:srgbClr val="000000"/>
              </a:solidFill>
              <a:latin typeface="Calibri"/>
            </a:endParaRPr>
          </a:p>
          <a:p>
            <a:pPr marL="571680" indent="-571680">
              <a:lnSpc>
                <a:spcPct val="90000"/>
              </a:lnSpc>
              <a:spcBef>
                <a:spcPts val="1001"/>
              </a:spcBef>
              <a:buClr>
                <a:srgbClr val="10162f"/>
              </a:buClr>
              <a:buFont typeface="Calibri Light"/>
              <a:buAutoNum type="romanLcPeriod"/>
              <a:tabLst>
                <a:tab algn="l" pos="0"/>
              </a:tabLst>
            </a:pPr>
            <a:r>
              <a:rPr b="0" lang="en-US" sz="2800" spc="-1" strike="noStrike">
                <a:solidFill>
                  <a:srgbClr val="10162f"/>
                </a:solidFill>
                <a:latin typeface="Apercu"/>
              </a:rPr>
              <a:t>What proportion of NYC rentals have a gym?</a:t>
            </a:r>
            <a:endParaRPr b="0" lang="en-US" sz="2800" spc="-1" strike="noStrike">
              <a:solidFill>
                <a:srgbClr val="000000"/>
              </a:solidFill>
              <a:latin typeface="Calibri"/>
            </a:endParaRPr>
          </a:p>
          <a:p>
            <a:pPr>
              <a:lnSpc>
                <a:spcPct val="90000"/>
              </a:lnSpc>
              <a:spcBef>
                <a:spcPts val="1001"/>
              </a:spcBef>
              <a:buNone/>
              <a:tabLst>
                <a:tab algn="l" pos="0"/>
              </a:tabLst>
            </a:pPr>
            <a:r>
              <a:rPr b="1" lang="en-IN" sz="2800" spc="-1" strike="noStrike">
                <a:solidFill>
                  <a:srgbClr val="10162f"/>
                </a:solidFill>
                <a:latin typeface="Apercu"/>
              </a:rPr>
              <a:t>Quantitative variables</a:t>
            </a:r>
            <a:endParaRPr b="0" lang="en-US" sz="2800" spc="-1" strike="noStrike">
              <a:solidFill>
                <a:srgbClr val="000000"/>
              </a:solidFill>
              <a:latin typeface="Calibri"/>
            </a:endParaRPr>
          </a:p>
          <a:p>
            <a:pPr>
              <a:lnSpc>
                <a:spcPct val="90000"/>
              </a:lnSpc>
              <a:spcBef>
                <a:spcPts val="1001"/>
              </a:spcBef>
              <a:buNone/>
              <a:tabLst>
                <a:tab algn="l" pos="0"/>
              </a:tabLst>
            </a:pPr>
            <a:r>
              <a:rPr b="0" lang="en-US" sz="2800" spc="-1" strike="noStrike">
                <a:solidFill>
                  <a:srgbClr val="10162f"/>
                </a:solidFill>
                <a:latin typeface="Apercu"/>
              </a:rPr>
              <a:t>Box plots (or violin plots) and histograms are common choices for visually summarizing a quantitative variable. These plots are useful because they simultaneously communicate information about minimum and maximum values, central location, and spread.</a:t>
            </a: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838080" y="365040"/>
            <a:ext cx="10515240" cy="787320"/>
          </a:xfrm>
          <a:prstGeom prst="rect">
            <a:avLst/>
          </a:prstGeom>
          <a:noFill/>
          <a:ln w="0">
            <a:noFill/>
          </a:ln>
        </p:spPr>
        <p:txBody>
          <a:bodyPr anchor="ctr">
            <a:normAutofit/>
          </a:bodyPr>
          <a:p>
            <a:pPr>
              <a:lnSpc>
                <a:spcPct val="90000"/>
              </a:lnSpc>
              <a:buNone/>
            </a:pPr>
            <a:r>
              <a:rPr b="1" lang="en-US" sz="3600" spc="-1" strike="noStrike">
                <a:solidFill>
                  <a:srgbClr val="008000"/>
                </a:solidFill>
                <a:latin typeface="Calibri Light"/>
              </a:rPr>
              <a:t>Analytics Example(Contd..)</a:t>
            </a:r>
            <a:endParaRPr b="0" lang="en-US" sz="3600" spc="-1" strike="noStrike">
              <a:solidFill>
                <a:srgbClr val="000000"/>
              </a:solidFill>
              <a:latin typeface="Calibri"/>
            </a:endParaRPr>
          </a:p>
        </p:txBody>
      </p:sp>
      <p:sp>
        <p:nvSpPr>
          <p:cNvPr id="175" name="PlaceHolder 2"/>
          <p:cNvSpPr>
            <a:spLocks noGrp="1"/>
          </p:cNvSpPr>
          <p:nvPr>
            <p:ph/>
          </p:nvPr>
        </p:nvSpPr>
        <p:spPr>
          <a:xfrm>
            <a:off x="838080" y="156240"/>
            <a:ext cx="10405800" cy="3978720"/>
          </a:xfrm>
          <a:prstGeom prst="rect">
            <a:avLst/>
          </a:prstGeom>
          <a:noFill/>
          <a:ln w="0">
            <a:noFill/>
          </a:ln>
        </p:spPr>
        <p:txBody>
          <a:bodyPr numCol="1" spcCol="0" anchor="ctr">
            <a:noAutofit/>
          </a:bodyPr>
          <a:p>
            <a:pPr>
              <a:lnSpc>
                <a:spcPct val="100000"/>
              </a:lnSpc>
              <a:buNone/>
              <a:tabLst>
                <a:tab algn="l" pos="0"/>
              </a:tabLst>
            </a:pPr>
            <a:r>
              <a:rPr b="0" lang="en-US" sz="2400" spc="-1" strike="noStrike">
                <a:solidFill>
                  <a:srgbClr val="10162f"/>
                </a:solidFill>
                <a:latin typeface="Apercu"/>
              </a:rPr>
              <a:t>For example, suppose we are interested in learning more about the price of apartments in NYC. A good starting place is to plot a box plot of the </a:t>
            </a:r>
            <a:r>
              <a:rPr b="0" lang="en-US" sz="2400" spc="-1" strike="noStrike">
                <a:solidFill>
                  <a:srgbClr val="10162f"/>
                </a:solidFill>
                <a:latin typeface="Monaco"/>
              </a:rPr>
              <a:t>rent</a:t>
            </a:r>
            <a:r>
              <a:rPr b="0" lang="en-US" sz="2400" spc="-1" strike="noStrike">
                <a:solidFill>
                  <a:srgbClr val="10162f"/>
                </a:solidFill>
                <a:latin typeface="Apercu"/>
              </a:rPr>
              <a:t> variable. We could plot a boxplot of rent as follows:</a:t>
            </a:r>
            <a:r>
              <a:rPr b="0" lang="en-US" sz="2400" spc="-1" strike="noStrike">
                <a:solidFill>
                  <a:srgbClr val="000000"/>
                </a:solidFill>
                <a:latin typeface="Arial"/>
              </a:rPr>
              <a:t> </a:t>
            </a:r>
            <a:endParaRPr b="0" lang="en-US" sz="2400" spc="-1" strike="noStrike">
              <a:solidFill>
                <a:srgbClr val="000000"/>
              </a:solidFill>
              <a:latin typeface="Calibri"/>
            </a:endParaRPr>
          </a:p>
          <a:p>
            <a:pPr>
              <a:lnSpc>
                <a:spcPct val="100000"/>
              </a:lnSpc>
              <a:buNone/>
              <a:tabLst>
                <a:tab algn="l" pos="0"/>
              </a:tabLst>
            </a:pPr>
            <a:endParaRPr b="0" lang="en-US" sz="1800" spc="-1" strike="noStrike">
              <a:solidFill>
                <a:srgbClr val="000000"/>
              </a:solidFill>
              <a:latin typeface="Calibri"/>
            </a:endParaRPr>
          </a:p>
        </p:txBody>
      </p:sp>
      <p:pic>
        <p:nvPicPr>
          <p:cNvPr id="176" name="Picture 5" descr=""/>
          <p:cNvPicPr/>
          <p:nvPr/>
        </p:nvPicPr>
        <p:blipFill>
          <a:blip r:embed="rId1"/>
          <a:stretch/>
        </p:blipFill>
        <p:spPr>
          <a:xfrm>
            <a:off x="1320480" y="2782800"/>
            <a:ext cx="8737560" cy="3895920"/>
          </a:xfrm>
          <a:prstGeom prst="rect">
            <a:avLst/>
          </a:prstGeom>
          <a:ln w="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838080" y="365040"/>
            <a:ext cx="10515240" cy="923760"/>
          </a:xfrm>
          <a:prstGeom prst="rect">
            <a:avLst/>
          </a:prstGeom>
          <a:noFill/>
          <a:ln w="0">
            <a:noFill/>
          </a:ln>
        </p:spPr>
        <p:txBody>
          <a:bodyPr anchor="ctr">
            <a:noAutofit/>
          </a:bodyPr>
          <a:p>
            <a:pPr>
              <a:lnSpc>
                <a:spcPct val="90000"/>
              </a:lnSpc>
              <a:buNone/>
            </a:pPr>
            <a:r>
              <a:rPr b="1" lang="en-US" sz="4400" spc="-1" strike="noStrike">
                <a:solidFill>
                  <a:srgbClr val="008000"/>
                </a:solidFill>
                <a:latin typeface="Calibri Light"/>
              </a:rPr>
              <a:t>Analytics Example(Contd..)</a:t>
            </a:r>
            <a:endParaRPr b="0" lang="en-US" sz="4400" spc="-1" strike="noStrike">
              <a:solidFill>
                <a:srgbClr val="000000"/>
              </a:solidFill>
              <a:latin typeface="Calibri"/>
            </a:endParaRPr>
          </a:p>
        </p:txBody>
      </p:sp>
      <p:sp>
        <p:nvSpPr>
          <p:cNvPr id="178" name="PlaceHolder 2"/>
          <p:cNvSpPr>
            <a:spLocks noGrp="1"/>
          </p:cNvSpPr>
          <p:nvPr>
            <p:ph/>
          </p:nvPr>
        </p:nvSpPr>
        <p:spPr>
          <a:xfrm>
            <a:off x="838080" y="1289160"/>
            <a:ext cx="10515240" cy="4887360"/>
          </a:xfrm>
          <a:prstGeom prst="rect">
            <a:avLst/>
          </a:prstGeom>
          <a:noFill/>
          <a:ln w="0">
            <a:noFill/>
          </a:ln>
        </p:spPr>
        <p:txBody>
          <a:bodyPr anchor="t">
            <a:noAutofit/>
          </a:bodyPr>
          <a:p>
            <a:pPr marL="228600" indent="-228600">
              <a:lnSpc>
                <a:spcPct val="90000"/>
              </a:lnSpc>
              <a:spcBef>
                <a:spcPts val="1001"/>
              </a:spcBef>
              <a:buClr>
                <a:srgbClr val="10162f"/>
              </a:buClr>
              <a:buFont typeface="Arial"/>
              <a:buChar char="•"/>
            </a:pPr>
            <a:r>
              <a:rPr b="0" lang="en-US" sz="2800" spc="-1" strike="noStrike">
                <a:solidFill>
                  <a:srgbClr val="10162f"/>
                </a:solidFill>
                <a:latin typeface="Apercu"/>
              </a:rPr>
              <a:t>We can see that most rental prices fall within a range of $2500-$5000; however, there are many outliers, particularly on the high end.</a:t>
            </a:r>
            <a:endParaRPr b="0" lang="en-US" sz="2800" spc="-1" strike="noStrike">
              <a:solidFill>
                <a:srgbClr val="000000"/>
              </a:solidFill>
              <a:latin typeface="Calibri"/>
            </a:endParaRPr>
          </a:p>
          <a:p>
            <a:pPr marL="228600" indent="-228600">
              <a:lnSpc>
                <a:spcPct val="90000"/>
              </a:lnSpc>
              <a:spcBef>
                <a:spcPts val="1001"/>
              </a:spcBef>
              <a:buClr>
                <a:srgbClr val="10162f"/>
              </a:buClr>
              <a:buFont typeface="Arial"/>
              <a:buChar char="•"/>
            </a:pPr>
            <a:r>
              <a:rPr b="0" lang="en-US" sz="2800" spc="-1" strike="noStrike">
                <a:solidFill>
                  <a:srgbClr val="10162f"/>
                </a:solidFill>
                <a:latin typeface="Apercu"/>
              </a:rPr>
              <a:t>For more detail, we can also plot a histogram of the </a:t>
            </a:r>
            <a:r>
              <a:rPr b="0" lang="en-US" sz="1200" spc="-1" strike="noStrike">
                <a:solidFill>
                  <a:srgbClr val="10162f"/>
                </a:solidFill>
                <a:latin typeface="Monaco"/>
              </a:rPr>
              <a:t>rent</a:t>
            </a:r>
            <a:r>
              <a:rPr b="0" lang="en-US" sz="1050" spc="-1" strike="noStrike">
                <a:solidFill>
                  <a:srgbClr val="10162f"/>
                </a:solidFill>
                <a:latin typeface="Apercu"/>
              </a:rPr>
              <a:t> </a:t>
            </a:r>
            <a:r>
              <a:rPr b="0" lang="en-US" sz="2800" spc="-1" strike="noStrike">
                <a:solidFill>
                  <a:srgbClr val="10162f"/>
                </a:solidFill>
                <a:latin typeface="Apercu"/>
              </a:rPr>
              <a:t>variable.</a:t>
            </a:r>
            <a:r>
              <a:rPr b="0" lang="en-US" sz="2800" spc="-1" strike="noStrike">
                <a:solidFill>
                  <a:srgbClr val="000000"/>
                </a:solidFill>
                <a:latin typeface="Calibri"/>
              </a:rPr>
              <a:t> </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79" name="Picture 6" descr=""/>
          <p:cNvPicPr/>
          <p:nvPr/>
        </p:nvPicPr>
        <p:blipFill>
          <a:blip r:embed="rId1"/>
          <a:stretch/>
        </p:blipFill>
        <p:spPr>
          <a:xfrm>
            <a:off x="1182600" y="2743200"/>
            <a:ext cx="7444080" cy="3749400"/>
          </a:xfrm>
          <a:prstGeom prst="rect">
            <a:avLst/>
          </a:prstGeom>
          <a:ln w="0">
            <a:noFill/>
          </a:ln>
        </p:spPr>
      </p:pic>
      <p:sp>
        <p:nvSpPr>
          <p:cNvPr id="180" name="TextBox 8"/>
          <p:cNvSpPr/>
          <p:nvPr/>
        </p:nvSpPr>
        <p:spPr>
          <a:xfrm>
            <a:off x="7849440" y="4994280"/>
            <a:ext cx="3503880" cy="91260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1800" spc="-1" strike="noStrike">
                <a:solidFill>
                  <a:srgbClr val="10162f"/>
                </a:solidFill>
                <a:latin typeface="Apercu"/>
              </a:rPr>
              <a:t>The histogram highlights the long right-handed tail for rental prices.</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PlaceHolder 1"/>
          <p:cNvSpPr>
            <a:spLocks noGrp="1"/>
          </p:cNvSpPr>
          <p:nvPr>
            <p:ph type="title"/>
          </p:nvPr>
        </p:nvSpPr>
        <p:spPr>
          <a:xfrm>
            <a:off x="838080" y="365040"/>
            <a:ext cx="10515240" cy="750960"/>
          </a:xfrm>
          <a:prstGeom prst="rect">
            <a:avLst/>
          </a:prstGeom>
          <a:noFill/>
          <a:ln w="0">
            <a:noFill/>
          </a:ln>
        </p:spPr>
        <p:txBody>
          <a:bodyPr anchor="ctr">
            <a:normAutofit fontScale="35000"/>
          </a:bodyPr>
          <a:p>
            <a:pPr>
              <a:lnSpc>
                <a:spcPct val="90000"/>
              </a:lnSpc>
              <a:buNone/>
            </a:pPr>
            <a:br>
              <a:rPr sz="4400"/>
            </a:br>
            <a:r>
              <a:rPr b="1" lang="en-US" sz="4400" spc="-1" strike="noStrike">
                <a:solidFill>
                  <a:srgbClr val="008000"/>
                </a:solidFill>
                <a:latin typeface="Calibri Light"/>
              </a:rPr>
              <a:t>Analytics Example(Contd..)-</a:t>
            </a:r>
            <a:r>
              <a:rPr b="1" lang="en-IN" sz="4400" spc="-1" strike="noStrike">
                <a:solidFill>
                  <a:srgbClr val="0070c0"/>
                </a:solidFill>
                <a:latin typeface="Apercu"/>
              </a:rPr>
              <a:t>Categorical variables</a:t>
            </a:r>
            <a:br>
              <a:rPr sz="4400"/>
            </a:br>
            <a:endParaRPr b="0" lang="en-US" sz="4400" spc="-1" strike="noStrike">
              <a:solidFill>
                <a:srgbClr val="000000"/>
              </a:solidFill>
              <a:latin typeface="Calibri"/>
            </a:endParaRPr>
          </a:p>
        </p:txBody>
      </p:sp>
      <p:sp>
        <p:nvSpPr>
          <p:cNvPr id="182" name="PlaceHolder 2"/>
          <p:cNvSpPr>
            <a:spLocks noGrp="1"/>
          </p:cNvSpPr>
          <p:nvPr>
            <p:ph/>
          </p:nvPr>
        </p:nvSpPr>
        <p:spPr>
          <a:xfrm>
            <a:off x="969120" y="1116360"/>
            <a:ext cx="10515240" cy="4350960"/>
          </a:xfrm>
          <a:prstGeom prst="rect">
            <a:avLst/>
          </a:prstGeom>
          <a:noFill/>
          <a:ln w="0">
            <a:noFill/>
          </a:ln>
        </p:spPr>
        <p:txBody>
          <a:bodyPr anchor="t">
            <a:noAutofit/>
          </a:bodyPr>
          <a:p>
            <a:pPr marL="228600" indent="-228600">
              <a:lnSpc>
                <a:spcPct val="90000"/>
              </a:lnSpc>
              <a:spcBef>
                <a:spcPts val="1001"/>
              </a:spcBef>
              <a:buClr>
                <a:srgbClr val="10162f"/>
              </a:buClr>
              <a:buFont typeface="Arial"/>
              <a:buChar char="•"/>
            </a:pPr>
            <a:r>
              <a:rPr b="0" lang="en-US" sz="2800" spc="-1" strike="noStrike">
                <a:solidFill>
                  <a:srgbClr val="10162f"/>
                </a:solidFill>
                <a:latin typeface="Apercu"/>
              </a:rPr>
              <a:t>For example, suppose we want to know how many apartments are available in each borough. We can visually represent that information as follows:</a:t>
            </a:r>
            <a:endParaRPr b="0" lang="en-US" sz="2800" spc="-1" strike="noStrike">
              <a:solidFill>
                <a:srgbClr val="000000"/>
              </a:solidFill>
              <a:latin typeface="Calibri"/>
            </a:endParaRPr>
          </a:p>
          <a:p>
            <a:pPr>
              <a:lnSpc>
                <a:spcPct val="90000"/>
              </a:lnSpc>
              <a:spcBef>
                <a:spcPts val="1001"/>
              </a:spcBef>
              <a:buNone/>
            </a:pPr>
            <a:endParaRPr b="0" lang="en-US" sz="2800" spc="-1" strike="noStrike">
              <a:solidFill>
                <a:srgbClr val="000000"/>
              </a:solidFill>
              <a:latin typeface="Calibri"/>
            </a:endParaRPr>
          </a:p>
        </p:txBody>
      </p:sp>
      <p:pic>
        <p:nvPicPr>
          <p:cNvPr id="183" name="Picture 4" descr=""/>
          <p:cNvPicPr/>
          <p:nvPr/>
        </p:nvPicPr>
        <p:blipFill>
          <a:blip r:embed="rId1"/>
          <a:stretch/>
        </p:blipFill>
        <p:spPr>
          <a:xfrm>
            <a:off x="2653920" y="2454480"/>
            <a:ext cx="7146000" cy="3857040"/>
          </a:xfrm>
          <a:prstGeom prst="rect">
            <a:avLst/>
          </a:prstGeom>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1" lang="en-US" sz="4400" spc="-1" strike="noStrike">
                <a:solidFill>
                  <a:srgbClr val="008000"/>
                </a:solidFill>
                <a:latin typeface="Calibri Light"/>
              </a:rPr>
              <a:t>Analytics Example(Contd..)-</a:t>
            </a:r>
            <a:r>
              <a:rPr b="1" lang="en-IN" sz="4400" spc="-1" strike="noStrike">
                <a:solidFill>
                  <a:srgbClr val="0070c0"/>
                </a:solidFill>
                <a:latin typeface="Apercu"/>
              </a:rPr>
              <a:t>Bivariate analysis</a:t>
            </a:r>
            <a:br>
              <a:rPr sz="4400"/>
            </a:br>
            <a:endParaRPr b="0" lang="en-US" sz="4400" spc="-1" strike="noStrike">
              <a:solidFill>
                <a:srgbClr val="000000"/>
              </a:solidFill>
              <a:latin typeface="Calibri"/>
            </a:endParaRPr>
          </a:p>
        </p:txBody>
      </p:sp>
      <p:sp>
        <p:nvSpPr>
          <p:cNvPr id="185" name="PlaceHolder 2"/>
          <p:cNvSpPr>
            <a:spLocks noGrp="1"/>
          </p:cNvSpPr>
          <p:nvPr>
            <p:ph/>
          </p:nvPr>
        </p:nvSpPr>
        <p:spPr>
          <a:xfrm>
            <a:off x="907920" y="1139760"/>
            <a:ext cx="10515240" cy="4350960"/>
          </a:xfrm>
          <a:prstGeom prst="rect">
            <a:avLst/>
          </a:prstGeom>
          <a:noFill/>
          <a:ln w="0">
            <a:noFill/>
          </a:ln>
        </p:spPr>
        <p:txBody>
          <a:bodyPr anchor="t">
            <a:noAutofit/>
          </a:bodyPr>
          <a:p>
            <a:pPr marL="228600" indent="-228600">
              <a:lnSpc>
                <a:spcPct val="90000"/>
              </a:lnSpc>
              <a:spcBef>
                <a:spcPts val="1001"/>
              </a:spcBef>
              <a:buClr>
                <a:srgbClr val="10162f"/>
              </a:buClr>
              <a:buFont typeface="Arial"/>
              <a:buChar char="•"/>
            </a:pPr>
            <a:r>
              <a:rPr b="0" lang="en-US" sz="2800" spc="-1" strike="noStrike">
                <a:solidFill>
                  <a:srgbClr val="10162f"/>
                </a:solidFill>
                <a:latin typeface="Apercu"/>
              </a:rPr>
              <a:t>In the relationship between two variables in a dataset. </a:t>
            </a:r>
            <a:endParaRPr b="0" lang="en-US" sz="2800" spc="-1" strike="noStrike">
              <a:solidFill>
                <a:srgbClr val="000000"/>
              </a:solidFill>
              <a:latin typeface="Calibri"/>
            </a:endParaRPr>
          </a:p>
          <a:p>
            <a:pPr>
              <a:lnSpc>
                <a:spcPct val="90000"/>
              </a:lnSpc>
              <a:spcBef>
                <a:spcPts val="1001"/>
              </a:spcBef>
              <a:buNone/>
              <a:tabLst>
                <a:tab algn="l" pos="0"/>
              </a:tabLst>
            </a:pPr>
            <a:r>
              <a:rPr b="0" lang="en-US" sz="2800" spc="-1" strike="noStrike">
                <a:solidFill>
                  <a:srgbClr val="10162f"/>
                </a:solidFill>
                <a:latin typeface="Apercu"/>
              </a:rPr>
              <a:t>For example:</a:t>
            </a:r>
            <a:endParaRPr b="0" lang="en-US" sz="2800" spc="-1" strike="noStrike">
              <a:solidFill>
                <a:srgbClr val="000000"/>
              </a:solidFill>
              <a:latin typeface="Calibri"/>
            </a:endParaRPr>
          </a:p>
          <a:p>
            <a:pPr marL="571680" indent="-571680">
              <a:lnSpc>
                <a:spcPct val="90000"/>
              </a:lnSpc>
              <a:spcBef>
                <a:spcPts val="1001"/>
              </a:spcBef>
              <a:buClr>
                <a:srgbClr val="10162f"/>
              </a:buClr>
              <a:buFont typeface="Calibri Light"/>
              <a:buAutoNum type="romanLcPeriod"/>
              <a:tabLst>
                <a:tab algn="l" pos="0"/>
              </a:tabLst>
            </a:pPr>
            <a:r>
              <a:rPr b="0" lang="en-US" sz="2800" spc="-1" strike="noStrike">
                <a:solidFill>
                  <a:srgbClr val="10162f"/>
                </a:solidFill>
                <a:latin typeface="Apercu"/>
              </a:rPr>
              <a:t>Do apartments in different boroughs tend to cost different amounts?</a:t>
            </a:r>
            <a:endParaRPr b="0" lang="en-US" sz="2800" spc="-1" strike="noStrike">
              <a:solidFill>
                <a:srgbClr val="000000"/>
              </a:solidFill>
              <a:latin typeface="Calibri"/>
            </a:endParaRPr>
          </a:p>
          <a:p>
            <a:pPr marL="571680" indent="-571680">
              <a:lnSpc>
                <a:spcPct val="90000"/>
              </a:lnSpc>
              <a:spcBef>
                <a:spcPts val="1001"/>
              </a:spcBef>
              <a:buClr>
                <a:srgbClr val="10162f"/>
              </a:buClr>
              <a:buFont typeface="Calibri Light"/>
              <a:buAutoNum type="romanLcPeriod"/>
              <a:tabLst>
                <a:tab algn="l" pos="0"/>
              </a:tabLst>
            </a:pPr>
            <a:r>
              <a:rPr b="0" lang="en-US" sz="2800" spc="-1" strike="noStrike">
                <a:solidFill>
                  <a:srgbClr val="10162f"/>
                </a:solidFill>
                <a:latin typeface="Apercu"/>
              </a:rPr>
              <a:t>What is the relationship between the area of an apartment and how much it costs?</a:t>
            </a: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6" name="PlaceHolder 1"/>
          <p:cNvSpPr>
            <a:spLocks noGrp="1"/>
          </p:cNvSpPr>
          <p:nvPr>
            <p:ph type="title"/>
          </p:nvPr>
        </p:nvSpPr>
        <p:spPr>
          <a:xfrm>
            <a:off x="838080" y="914400"/>
            <a:ext cx="10515240" cy="317520"/>
          </a:xfrm>
          <a:prstGeom prst="rect">
            <a:avLst/>
          </a:prstGeom>
          <a:noFill/>
          <a:ln w="0">
            <a:noFill/>
          </a:ln>
        </p:spPr>
        <p:txBody>
          <a:bodyPr anchor="ctr">
            <a:normAutofit fontScale="18000"/>
          </a:bodyPr>
          <a:p>
            <a:pPr>
              <a:lnSpc>
                <a:spcPct val="90000"/>
              </a:lnSpc>
              <a:buNone/>
            </a:pPr>
            <a:r>
              <a:rPr b="1" lang="en-US" sz="4000" spc="-1" strike="noStrike">
                <a:solidFill>
                  <a:srgbClr val="008000"/>
                </a:solidFill>
                <a:latin typeface="Calibri Light"/>
              </a:rPr>
              <a:t>Analytics Example(Contd..)-</a:t>
            </a:r>
            <a:r>
              <a:rPr b="1" lang="en-US" sz="4000" spc="-1" strike="noStrike">
                <a:solidFill>
                  <a:srgbClr val="0070c0"/>
                </a:solidFill>
                <a:latin typeface="Apercu"/>
              </a:rPr>
              <a:t>One quantitative variable and one categorical variable</a:t>
            </a:r>
            <a:br>
              <a:rPr sz="4400"/>
            </a:br>
            <a:endParaRPr b="0" lang="en-US" sz="4000" spc="-1" strike="noStrike">
              <a:solidFill>
                <a:srgbClr val="000000"/>
              </a:solidFill>
              <a:latin typeface="Calibri"/>
            </a:endParaRPr>
          </a:p>
        </p:txBody>
      </p:sp>
      <p:pic>
        <p:nvPicPr>
          <p:cNvPr id="187" name="Content Placeholder 4" descr=""/>
          <p:cNvPicPr/>
          <p:nvPr/>
        </p:nvPicPr>
        <p:blipFill>
          <a:blip r:embed="rId1"/>
          <a:stretch/>
        </p:blipFill>
        <p:spPr>
          <a:xfrm>
            <a:off x="1043640" y="1366920"/>
            <a:ext cx="9014400" cy="4123800"/>
          </a:xfrm>
          <a:prstGeom prst="rect">
            <a:avLst/>
          </a:prstGeom>
          <a:ln w="0">
            <a:noFill/>
          </a:ln>
        </p:spPr>
      </p:pic>
      <p:sp>
        <p:nvSpPr>
          <p:cNvPr id="188" name="TextBox 6"/>
          <p:cNvSpPr/>
          <p:nvPr/>
        </p:nvSpPr>
        <p:spPr>
          <a:xfrm>
            <a:off x="934200" y="5625720"/>
            <a:ext cx="9123840" cy="69948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0" lang="en-US" sz="2000" spc="-1" strike="noStrike">
                <a:solidFill>
                  <a:srgbClr val="10162f"/>
                </a:solidFill>
                <a:latin typeface="Apercu"/>
              </a:rPr>
              <a:t>This plot indicates that rental prices in Manhattan tend to be higher and have more variation than rental prices in other boroughs.</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838080" y="365040"/>
            <a:ext cx="10515240" cy="1325160"/>
          </a:xfrm>
          <a:prstGeom prst="rect">
            <a:avLst/>
          </a:prstGeom>
          <a:noFill/>
          <a:ln w="0">
            <a:noFill/>
          </a:ln>
        </p:spPr>
        <p:txBody>
          <a:bodyPr anchor="ctr">
            <a:normAutofit fontScale="49000"/>
          </a:bodyPr>
          <a:p>
            <a:pPr>
              <a:lnSpc>
                <a:spcPct val="90000"/>
              </a:lnSpc>
              <a:buNone/>
            </a:pPr>
            <a:r>
              <a:rPr b="1" lang="en-US" sz="4400" spc="-1" strike="noStrike">
                <a:solidFill>
                  <a:srgbClr val="008000"/>
                </a:solidFill>
                <a:latin typeface="Calibri Light"/>
              </a:rPr>
              <a:t>Analytics Example(Contd..)-</a:t>
            </a:r>
            <a:r>
              <a:rPr b="1" lang="en-IN" sz="4400" spc="-1" strike="noStrike">
                <a:solidFill>
                  <a:srgbClr val="0070c0"/>
                </a:solidFill>
                <a:latin typeface="Apercu"/>
              </a:rPr>
              <a:t>Two quantitative variables</a:t>
            </a:r>
            <a:br>
              <a:rPr sz="4400"/>
            </a:br>
            <a:br>
              <a:rPr sz="4400"/>
            </a:br>
            <a:br>
              <a:rPr sz="4400"/>
            </a:br>
            <a:endParaRPr b="0" lang="en-US" sz="4400" spc="-1" strike="noStrike">
              <a:solidFill>
                <a:srgbClr val="000000"/>
              </a:solidFill>
              <a:latin typeface="Calibri"/>
            </a:endParaRPr>
          </a:p>
        </p:txBody>
      </p:sp>
      <p:sp>
        <p:nvSpPr>
          <p:cNvPr id="190" name="PlaceHolder 2"/>
          <p:cNvSpPr>
            <a:spLocks noGrp="1"/>
          </p:cNvSpPr>
          <p:nvPr>
            <p:ph/>
          </p:nvPr>
        </p:nvSpPr>
        <p:spPr>
          <a:xfrm>
            <a:off x="963360" y="-624960"/>
            <a:ext cx="10265400" cy="3978720"/>
          </a:xfrm>
          <a:prstGeom prst="rect">
            <a:avLst/>
          </a:prstGeom>
          <a:noFill/>
          <a:ln w="0">
            <a:noFill/>
          </a:ln>
        </p:spPr>
        <p:txBody>
          <a:bodyPr numCol="1" spcCol="0" anchor="ctr">
            <a:noAutofit/>
          </a:bodyPr>
          <a:p>
            <a:pPr>
              <a:lnSpc>
                <a:spcPct val="100000"/>
              </a:lnSpc>
              <a:buNone/>
              <a:tabLst>
                <a:tab algn="l" pos="0"/>
              </a:tabLst>
            </a:pPr>
            <a:r>
              <a:rPr b="0" lang="en-US" sz="2800" spc="-1" strike="noStrike">
                <a:solidFill>
                  <a:srgbClr val="10162f"/>
                </a:solidFill>
                <a:latin typeface="Apercu"/>
              </a:rPr>
              <a:t>Explore the relationship between </a:t>
            </a:r>
            <a:r>
              <a:rPr b="0" lang="en-US" sz="2800" spc="-1" strike="noStrike">
                <a:solidFill>
                  <a:srgbClr val="10162f"/>
                </a:solidFill>
                <a:latin typeface="Monaco"/>
              </a:rPr>
              <a:t>rent</a:t>
            </a:r>
            <a:r>
              <a:rPr b="0" lang="en-US" sz="2800" spc="-1" strike="noStrike">
                <a:solidFill>
                  <a:srgbClr val="10162f"/>
                </a:solidFill>
                <a:latin typeface="Apercu"/>
              </a:rPr>
              <a:t> and </a:t>
            </a:r>
            <a:r>
              <a:rPr b="0" lang="en-US" sz="2800" spc="-1" strike="noStrike">
                <a:solidFill>
                  <a:srgbClr val="10162f"/>
                </a:solidFill>
                <a:latin typeface="Monaco"/>
              </a:rPr>
              <a:t>size_sqft</a:t>
            </a:r>
            <a:r>
              <a:rPr b="0" lang="en-US" sz="2800" spc="-1" strike="noStrike">
                <a:solidFill>
                  <a:srgbClr val="10162f"/>
                </a:solidFill>
                <a:latin typeface="Apercu"/>
              </a:rPr>
              <a:t>.</a:t>
            </a:r>
            <a:endParaRPr b="0" lang="en-US" sz="2800" spc="-1" strike="noStrike">
              <a:solidFill>
                <a:srgbClr val="000000"/>
              </a:solidFill>
              <a:latin typeface="Calibri"/>
            </a:endParaRPr>
          </a:p>
          <a:p>
            <a:pPr>
              <a:lnSpc>
                <a:spcPct val="100000"/>
              </a:lnSpc>
              <a:buNone/>
              <a:tabLst>
                <a:tab algn="l" pos="0"/>
              </a:tabLst>
            </a:pPr>
            <a:r>
              <a:rPr b="0" lang="en-US" sz="2800" spc="-1" strike="noStrike">
                <a:solidFill>
                  <a:srgbClr val="10162f"/>
                </a:solidFill>
                <a:latin typeface="Apercu"/>
              </a:rPr>
              <a:t>create a scatter plot of these two variables:</a:t>
            </a:r>
            <a:endParaRPr b="0" lang="en-US" sz="2800" spc="-1" strike="noStrike">
              <a:solidFill>
                <a:srgbClr val="000000"/>
              </a:solidFill>
              <a:latin typeface="Calibri"/>
            </a:endParaRPr>
          </a:p>
        </p:txBody>
      </p:sp>
      <p:pic>
        <p:nvPicPr>
          <p:cNvPr id="191" name="Picture 6" descr=""/>
          <p:cNvPicPr/>
          <p:nvPr/>
        </p:nvPicPr>
        <p:blipFill>
          <a:blip r:embed="rId1"/>
          <a:stretch/>
        </p:blipFill>
        <p:spPr>
          <a:xfrm>
            <a:off x="1202760" y="1924920"/>
            <a:ext cx="8547120" cy="4301280"/>
          </a:xfrm>
          <a:prstGeom prst="rect">
            <a:avLst/>
          </a:prstGeom>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2" name="PlaceHolder 1"/>
          <p:cNvSpPr>
            <a:spLocks noGrp="1"/>
          </p:cNvSpPr>
          <p:nvPr>
            <p:ph type="title"/>
          </p:nvPr>
        </p:nvSpPr>
        <p:spPr>
          <a:xfrm>
            <a:off x="1097280" y="300240"/>
            <a:ext cx="10058040" cy="641520"/>
          </a:xfrm>
          <a:prstGeom prst="rect">
            <a:avLst/>
          </a:prstGeom>
          <a:noFill/>
          <a:ln w="0">
            <a:noFill/>
          </a:ln>
        </p:spPr>
        <p:txBody>
          <a:bodyPr anchor="b">
            <a:normAutofit/>
          </a:bodyPr>
          <a:p>
            <a:pPr algn="ctr">
              <a:lnSpc>
                <a:spcPct val="90000"/>
              </a:lnSpc>
              <a:buNone/>
            </a:pPr>
            <a:r>
              <a:rPr b="1" i="1" lang="en-IN" sz="3000" spc="-1" strike="noStrike">
                <a:solidFill>
                  <a:srgbClr val="00704a"/>
                </a:solidFill>
                <a:latin typeface="NewBaskerville-Italic"/>
              </a:rPr>
              <a:t>Managing Data</a:t>
            </a:r>
            <a:endParaRPr b="0" lang="en-US" sz="3000" spc="-1" strike="noStrike">
              <a:solidFill>
                <a:srgbClr val="000000"/>
              </a:solidFill>
              <a:latin typeface="Calibri"/>
            </a:endParaRPr>
          </a:p>
        </p:txBody>
      </p:sp>
      <p:sp>
        <p:nvSpPr>
          <p:cNvPr id="193" name="PlaceHolder 2"/>
          <p:cNvSpPr>
            <a:spLocks noGrp="1"/>
          </p:cNvSpPr>
          <p:nvPr>
            <p:ph type="subTitle"/>
          </p:nvPr>
        </p:nvSpPr>
        <p:spPr>
          <a:xfrm>
            <a:off x="1200600" y="1404000"/>
            <a:ext cx="9954720" cy="3906720"/>
          </a:xfrm>
          <a:prstGeom prst="rect">
            <a:avLst/>
          </a:prstGeom>
          <a:noFill/>
          <a:ln w="0">
            <a:noFill/>
          </a:ln>
        </p:spPr>
        <p:txBody>
          <a:bodyPr anchor="t">
            <a:noAutofit/>
          </a:bodyPr>
          <a:p>
            <a:pPr>
              <a:lnSpc>
                <a:spcPct val="90000"/>
              </a:lnSpc>
              <a:spcBef>
                <a:spcPts val="1001"/>
              </a:spcBef>
              <a:buNone/>
              <a:tabLst>
                <a:tab algn="l" pos="0"/>
              </a:tabLst>
            </a:pPr>
            <a:r>
              <a:rPr b="1" i="1" lang="en-IN" sz="2800" spc="-1" strike="noStrike">
                <a:solidFill>
                  <a:srgbClr val="00704a"/>
                </a:solidFill>
                <a:latin typeface="FranklinGothic-DemiItal"/>
              </a:rPr>
              <a:t>This chapter covers</a:t>
            </a:r>
            <a:endParaRPr b="0" lang="en-IN" sz="2800" spc="-1" strike="noStrike">
              <a:latin typeface="Arial"/>
            </a:endParaRPr>
          </a:p>
          <a:p>
            <a:pPr>
              <a:lnSpc>
                <a:spcPct val="90000"/>
              </a:lnSpc>
              <a:spcBef>
                <a:spcPts val="1001"/>
              </a:spcBef>
              <a:buNone/>
              <a:tabLst>
                <a:tab algn="l" pos="0"/>
              </a:tabLst>
            </a:pPr>
            <a:endParaRPr b="0" lang="en-IN" sz="2400" spc="-1" strike="noStrike">
              <a:latin typeface="Arial"/>
            </a:endParaRPr>
          </a:p>
          <a:p>
            <a:pPr marL="285840" indent="-285840">
              <a:lnSpc>
                <a:spcPct val="90000"/>
              </a:lnSpc>
              <a:spcBef>
                <a:spcPts val="1001"/>
              </a:spcBef>
              <a:buClr>
                <a:srgbClr val="00704a"/>
              </a:buClr>
              <a:buFont typeface="Wingdings" charset="2"/>
              <a:buChar char=""/>
              <a:tabLst>
                <a:tab algn="l" pos="0"/>
              </a:tabLst>
            </a:pPr>
            <a:r>
              <a:rPr b="0" lang="en-IN" sz="2800" spc="-1" strike="noStrike">
                <a:solidFill>
                  <a:srgbClr val="00704a"/>
                </a:solidFill>
                <a:latin typeface="FranklinGothic-Book"/>
              </a:rPr>
              <a:t>Fixing data quality problems</a:t>
            </a:r>
            <a:endParaRPr b="0" lang="en-IN" sz="2800" spc="-1" strike="noStrike">
              <a:latin typeface="Arial"/>
            </a:endParaRPr>
          </a:p>
          <a:p>
            <a:pPr marL="285840" indent="-285840">
              <a:lnSpc>
                <a:spcPct val="90000"/>
              </a:lnSpc>
              <a:spcBef>
                <a:spcPts val="1001"/>
              </a:spcBef>
              <a:buClr>
                <a:srgbClr val="00704a"/>
              </a:buClr>
              <a:buFont typeface="Wingdings" charset="2"/>
              <a:buChar char=""/>
              <a:tabLst>
                <a:tab algn="l" pos="0"/>
              </a:tabLst>
            </a:pPr>
            <a:r>
              <a:rPr b="0" lang="en-US" sz="2800" spc="-1" strike="noStrike">
                <a:solidFill>
                  <a:srgbClr val="00704a"/>
                </a:solidFill>
                <a:latin typeface="FranklinGothic-Book"/>
              </a:rPr>
              <a:t>Organizing your data for the </a:t>
            </a:r>
            <a:r>
              <a:rPr b="0" lang="en-IN" sz="2800" spc="-1" strike="noStrike">
                <a:solidFill>
                  <a:srgbClr val="00704a"/>
                </a:solidFill>
                <a:latin typeface="FranklinGothic-Book"/>
              </a:rPr>
              <a:t>modeling process</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1459440" y="243000"/>
            <a:ext cx="9695880" cy="641520"/>
          </a:xfrm>
          <a:prstGeom prst="rect">
            <a:avLst/>
          </a:prstGeom>
          <a:noFill/>
          <a:ln w="0">
            <a:noFill/>
          </a:ln>
        </p:spPr>
        <p:txBody>
          <a:bodyPr anchor="b">
            <a:normAutofit/>
          </a:bodyPr>
          <a:p>
            <a:pPr algn="ctr">
              <a:lnSpc>
                <a:spcPct val="90000"/>
              </a:lnSpc>
              <a:buNone/>
            </a:pPr>
            <a:r>
              <a:rPr b="1" i="1" lang="en-IN" sz="3000" spc="-1" strike="noStrike">
                <a:solidFill>
                  <a:srgbClr val="00704a"/>
                </a:solidFill>
                <a:latin typeface="FranklinGothic-DemiItal"/>
              </a:rPr>
              <a:t>4.1 Cleaning data</a:t>
            </a:r>
            <a:endParaRPr b="0" lang="en-US" sz="3000" spc="-1" strike="noStrike">
              <a:solidFill>
                <a:srgbClr val="000000"/>
              </a:solidFill>
              <a:latin typeface="Calibri"/>
            </a:endParaRPr>
          </a:p>
        </p:txBody>
      </p:sp>
      <p:sp>
        <p:nvSpPr>
          <p:cNvPr id="195" name="PlaceHolder 2"/>
          <p:cNvSpPr>
            <a:spLocks noGrp="1"/>
          </p:cNvSpPr>
          <p:nvPr>
            <p:ph type="subTitle"/>
          </p:nvPr>
        </p:nvSpPr>
        <p:spPr>
          <a:xfrm>
            <a:off x="1320840" y="1163880"/>
            <a:ext cx="9834480" cy="4359240"/>
          </a:xfrm>
          <a:prstGeom prst="rect">
            <a:avLst/>
          </a:prstGeom>
          <a:noFill/>
          <a:ln w="0">
            <a:noFill/>
          </a:ln>
        </p:spPr>
        <p:txBody>
          <a:bodyPr anchor="t">
            <a:noAutofit/>
          </a:bodyPr>
          <a:p>
            <a:pPr marL="457200" indent="-457200">
              <a:lnSpc>
                <a:spcPct val="90000"/>
              </a:lnSpc>
              <a:spcBef>
                <a:spcPts val="1001"/>
              </a:spcBef>
              <a:buClr>
                <a:srgbClr val="000000"/>
              </a:buClr>
              <a:buFont typeface="Wingdings" charset="2"/>
              <a:buChar char=""/>
            </a:pPr>
            <a:r>
              <a:rPr b="0" lang="en-IN" sz="2800" spc="-1" strike="noStrike">
                <a:solidFill>
                  <a:srgbClr val="000000"/>
                </a:solidFill>
                <a:latin typeface="NewBaskerville-Roman"/>
              </a:rPr>
              <a:t>Converting </a:t>
            </a:r>
            <a:r>
              <a:rPr b="0" lang="en-US" sz="2800" spc="-1" strike="noStrike">
                <a:solidFill>
                  <a:srgbClr val="000000"/>
                </a:solidFill>
                <a:latin typeface="NewBaskerville-Roman"/>
              </a:rPr>
              <a:t>continuous variables to discrete; </a:t>
            </a:r>
            <a:endParaRPr b="0" lang="en-IN" sz="2800" spc="-1" strike="noStrike">
              <a:latin typeface="Arial"/>
            </a:endParaRPr>
          </a:p>
          <a:p>
            <a:pPr marL="457200" indent="-457200">
              <a:lnSpc>
                <a:spcPct val="90000"/>
              </a:lnSpc>
              <a:spcBef>
                <a:spcPts val="1001"/>
              </a:spcBef>
              <a:buClr>
                <a:srgbClr val="000000"/>
              </a:buClr>
              <a:buFont typeface="Wingdings" charset="2"/>
              <a:buChar char=""/>
            </a:pPr>
            <a:r>
              <a:rPr b="0" lang="en-US" sz="2800" spc="-1" strike="noStrike">
                <a:solidFill>
                  <a:srgbClr val="000000"/>
                </a:solidFill>
                <a:latin typeface="NewBaskerville-Roman"/>
              </a:rPr>
              <a:t>normalization and rescaling; </a:t>
            </a:r>
            <a:endParaRPr b="0" lang="en-IN" sz="2800" spc="-1" strike="noStrike">
              <a:latin typeface="Arial"/>
            </a:endParaRPr>
          </a:p>
          <a:p>
            <a:pPr marL="457200" indent="-457200">
              <a:lnSpc>
                <a:spcPct val="90000"/>
              </a:lnSpc>
              <a:spcBef>
                <a:spcPts val="1001"/>
              </a:spcBef>
              <a:buClr>
                <a:srgbClr val="000000"/>
              </a:buClr>
              <a:buFont typeface="Wingdings" charset="2"/>
              <a:buChar char=""/>
            </a:pPr>
            <a:r>
              <a:rPr b="0" lang="en-US" sz="2800" spc="-1" strike="noStrike">
                <a:solidFill>
                  <a:srgbClr val="000000"/>
                </a:solidFill>
                <a:latin typeface="NewBaskerville-Roman"/>
              </a:rPr>
              <a:t>and logarithmic </a:t>
            </a:r>
            <a:r>
              <a:rPr b="0" lang="en-IN" sz="2800" spc="-1" strike="noStrike">
                <a:solidFill>
                  <a:srgbClr val="000000"/>
                </a:solidFill>
                <a:latin typeface="NewBaskerville-Roman"/>
              </a:rPr>
              <a:t>transformations.</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6" name="PlaceHolder 1"/>
          <p:cNvSpPr>
            <a:spLocks noGrp="1"/>
          </p:cNvSpPr>
          <p:nvPr>
            <p:ph type="title"/>
          </p:nvPr>
        </p:nvSpPr>
        <p:spPr>
          <a:xfrm>
            <a:off x="1200600" y="272520"/>
            <a:ext cx="10058040" cy="641520"/>
          </a:xfrm>
          <a:prstGeom prst="rect">
            <a:avLst/>
          </a:prstGeom>
          <a:noFill/>
          <a:ln w="0">
            <a:noFill/>
          </a:ln>
        </p:spPr>
        <p:txBody>
          <a:bodyPr anchor="b">
            <a:normAutofit/>
          </a:bodyPr>
          <a:p>
            <a:pPr algn="ctr">
              <a:lnSpc>
                <a:spcPct val="90000"/>
              </a:lnSpc>
              <a:buNone/>
            </a:pPr>
            <a:r>
              <a:rPr b="1" i="1" lang="en-US" sz="3000" spc="-1" strike="noStrike">
                <a:solidFill>
                  <a:srgbClr val="00704a"/>
                </a:solidFill>
                <a:latin typeface="FranklinGothic-DemiItal"/>
              </a:rPr>
              <a:t>4.1.1 Treating missing values (NAs)</a:t>
            </a:r>
            <a:endParaRPr b="0" lang="en-US" sz="3000" spc="-1" strike="noStrike">
              <a:solidFill>
                <a:srgbClr val="000000"/>
              </a:solidFill>
              <a:latin typeface="Calibri"/>
            </a:endParaRPr>
          </a:p>
        </p:txBody>
      </p:sp>
      <p:sp>
        <p:nvSpPr>
          <p:cNvPr id="197" name="PlaceHolder 2"/>
          <p:cNvSpPr>
            <a:spLocks noGrp="1"/>
          </p:cNvSpPr>
          <p:nvPr>
            <p:ph type="subTitle"/>
          </p:nvPr>
        </p:nvSpPr>
        <p:spPr>
          <a:xfrm>
            <a:off x="1200600" y="1136160"/>
            <a:ext cx="9954720" cy="4710240"/>
          </a:xfrm>
          <a:prstGeom prst="rect">
            <a:avLst/>
          </a:prstGeom>
          <a:noFill/>
          <a:ln w="0">
            <a:noFill/>
          </a:ln>
        </p:spPr>
        <p:txBody>
          <a:bodyPr anchor="t">
            <a:noAutofit/>
          </a:bodyPr>
          <a:p>
            <a:pPr algn="just">
              <a:lnSpc>
                <a:spcPct val="90000"/>
              </a:lnSpc>
              <a:spcBef>
                <a:spcPts val="1001"/>
              </a:spcBef>
              <a:buNone/>
              <a:tabLst>
                <a:tab algn="l" pos="0"/>
              </a:tabLst>
            </a:pPr>
            <a:r>
              <a:rPr b="0" lang="en-US" sz="2800" spc="-1" strike="noStrike">
                <a:solidFill>
                  <a:srgbClr val="000000"/>
                </a:solidFill>
                <a:latin typeface="NewBaskerville-Roman"/>
              </a:rPr>
              <a:t>Fundamentally, there are two things you can do with these variables: drop the rows with missing values, or convert the missing values to a meaningful value.</a:t>
            </a:r>
            <a:endParaRPr b="0" lang="en-IN" sz="2800" spc="-1" strike="noStrike">
              <a:latin typeface="Arial"/>
            </a:endParaRPr>
          </a:p>
          <a:p>
            <a:pPr>
              <a:lnSpc>
                <a:spcPct val="90000"/>
              </a:lnSpc>
              <a:spcBef>
                <a:spcPts val="1001"/>
              </a:spcBef>
              <a:buNone/>
              <a:tabLst>
                <a:tab algn="l" pos="0"/>
              </a:tabLst>
            </a:pPr>
            <a:r>
              <a:rPr b="1" i="1" lang="en-US" sz="2800" spc="-1" strike="noStrike">
                <a:solidFill>
                  <a:srgbClr val="c00000"/>
                </a:solidFill>
                <a:latin typeface="FranklinGothic-Demi"/>
              </a:rPr>
              <a:t>TO DROP OR NOT TO DROP?</a:t>
            </a:r>
            <a:endParaRPr b="0" lang="en-IN" sz="2800" spc="-1" strike="noStrike">
              <a:latin typeface="Arial"/>
            </a:endParaRPr>
          </a:p>
          <a:p>
            <a:pPr>
              <a:lnSpc>
                <a:spcPct val="90000"/>
              </a:lnSpc>
              <a:spcBef>
                <a:spcPts val="1001"/>
              </a:spcBef>
              <a:buNone/>
              <a:tabLst>
                <a:tab algn="l" pos="0"/>
              </a:tabLst>
            </a:pPr>
            <a:endParaRPr b="0" lang="en-IN" sz="2800" spc="-1" strike="noStrike">
              <a:latin typeface="Arial"/>
            </a:endParaRPr>
          </a:p>
        </p:txBody>
      </p:sp>
      <p:pic>
        <p:nvPicPr>
          <p:cNvPr id="198" name="Picture 4" descr=""/>
          <p:cNvPicPr/>
          <p:nvPr/>
        </p:nvPicPr>
        <p:blipFill>
          <a:blip r:embed="rId1"/>
          <a:stretch/>
        </p:blipFill>
        <p:spPr>
          <a:xfrm>
            <a:off x="1182600" y="3090960"/>
            <a:ext cx="9730080" cy="3493800"/>
          </a:xfrm>
          <a:prstGeom prst="rect">
            <a:avLst/>
          </a:prstGeom>
          <a:ln w="0">
            <a:noFill/>
          </a:ln>
        </p:spPr>
      </p:pic>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1097280" y="300240"/>
            <a:ext cx="10058040" cy="641520"/>
          </a:xfrm>
          <a:prstGeom prst="rect">
            <a:avLst/>
          </a:prstGeom>
          <a:noFill/>
          <a:ln w="0">
            <a:noFill/>
          </a:ln>
        </p:spPr>
        <p:txBody>
          <a:bodyPr anchor="b">
            <a:normAutofit/>
          </a:bodyPr>
          <a:p>
            <a:pPr algn="ctr">
              <a:lnSpc>
                <a:spcPct val="90000"/>
              </a:lnSpc>
              <a:buNone/>
            </a:pPr>
            <a:r>
              <a:rPr b="1" i="1" lang="en-US" sz="3000" spc="-1" strike="noStrike">
                <a:solidFill>
                  <a:srgbClr val="00704a"/>
                </a:solidFill>
                <a:latin typeface="NewBaskerville-Italic"/>
              </a:rPr>
              <a:t>4.1.1 Treating missing values (NAs)</a:t>
            </a:r>
            <a:endParaRPr b="0" lang="en-US" sz="3000" spc="-1" strike="noStrike">
              <a:solidFill>
                <a:srgbClr val="000000"/>
              </a:solidFill>
              <a:latin typeface="Calibri"/>
            </a:endParaRPr>
          </a:p>
        </p:txBody>
      </p:sp>
      <p:sp>
        <p:nvSpPr>
          <p:cNvPr id="200" name="PlaceHolder 2"/>
          <p:cNvSpPr>
            <a:spLocks noGrp="1"/>
          </p:cNvSpPr>
          <p:nvPr>
            <p:ph type="subTitle"/>
          </p:nvPr>
        </p:nvSpPr>
        <p:spPr>
          <a:xfrm>
            <a:off x="1097280" y="1222920"/>
            <a:ext cx="10058040" cy="5094360"/>
          </a:xfrm>
          <a:prstGeom prst="rect">
            <a:avLst/>
          </a:prstGeom>
          <a:noFill/>
          <a:ln w="0">
            <a:noFill/>
          </a:ln>
        </p:spPr>
        <p:txBody>
          <a:bodyPr anchor="t">
            <a:noAutofit/>
          </a:bodyPr>
          <a:p>
            <a:pPr>
              <a:lnSpc>
                <a:spcPct val="90000"/>
              </a:lnSpc>
              <a:spcBef>
                <a:spcPts val="1001"/>
              </a:spcBef>
              <a:buNone/>
              <a:tabLst>
                <a:tab algn="l" pos="0"/>
              </a:tabLst>
            </a:pPr>
            <a:r>
              <a:rPr b="1" lang="en-US" sz="2800" spc="-1" strike="noStrike">
                <a:solidFill>
                  <a:srgbClr val="c00000"/>
                </a:solidFill>
                <a:latin typeface="FranklinGothic-Demi"/>
              </a:rPr>
              <a:t>TO DROP OR NOT TO DROP?</a:t>
            </a:r>
            <a:endParaRPr b="0" lang="en-IN" sz="2800" spc="-1" strike="noStrike">
              <a:latin typeface="Arial"/>
            </a:endParaRPr>
          </a:p>
          <a:p>
            <a:pPr algn="ctr">
              <a:lnSpc>
                <a:spcPct val="90000"/>
              </a:lnSpc>
              <a:spcBef>
                <a:spcPts val="1001"/>
              </a:spcBef>
              <a:buNone/>
              <a:tabLst>
                <a:tab algn="l" pos="0"/>
              </a:tabLst>
            </a:pPr>
            <a:endParaRPr b="0" lang="en-IN" sz="2800" spc="-1" strike="noStrike">
              <a:latin typeface="Arial"/>
            </a:endParaRPr>
          </a:p>
        </p:txBody>
      </p:sp>
      <p:pic>
        <p:nvPicPr>
          <p:cNvPr id="201" name="Picture 4" descr=""/>
          <p:cNvPicPr/>
          <p:nvPr/>
        </p:nvPicPr>
        <p:blipFill>
          <a:blip r:embed="rId1"/>
          <a:stretch/>
        </p:blipFill>
        <p:spPr>
          <a:xfrm>
            <a:off x="964080" y="1928160"/>
            <a:ext cx="10644480" cy="4669920"/>
          </a:xfrm>
          <a:prstGeom prst="rect">
            <a:avLst/>
          </a:prstGeom>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2" name="PlaceHolder 1"/>
          <p:cNvSpPr>
            <a:spLocks noGrp="1"/>
          </p:cNvSpPr>
          <p:nvPr>
            <p:ph type="title"/>
          </p:nvPr>
        </p:nvSpPr>
        <p:spPr>
          <a:xfrm>
            <a:off x="1097280" y="240120"/>
            <a:ext cx="10058040" cy="729360"/>
          </a:xfrm>
          <a:prstGeom prst="rect">
            <a:avLst/>
          </a:prstGeom>
          <a:noFill/>
          <a:ln w="0">
            <a:noFill/>
          </a:ln>
        </p:spPr>
        <p:txBody>
          <a:bodyPr anchor="b">
            <a:normAutofit fontScale="23000"/>
          </a:bodyPr>
          <a:p>
            <a:pPr algn="ctr">
              <a:lnSpc>
                <a:spcPct val="90000"/>
              </a:lnSpc>
              <a:buNone/>
            </a:pPr>
            <a:br>
              <a:rPr sz="3200"/>
            </a:br>
            <a:br>
              <a:rPr sz="3200"/>
            </a:br>
            <a:br>
              <a:rPr sz="3200"/>
            </a:br>
            <a:br>
              <a:rPr sz="3200"/>
            </a:br>
            <a:br>
              <a:rPr sz="3200"/>
            </a:br>
            <a:endParaRPr b="0" lang="en-US" sz="3200" spc="-1" strike="noStrike">
              <a:solidFill>
                <a:srgbClr val="000000"/>
              </a:solidFill>
              <a:latin typeface="Calibri"/>
            </a:endParaRPr>
          </a:p>
        </p:txBody>
      </p:sp>
      <p:sp>
        <p:nvSpPr>
          <p:cNvPr id="203" name="PlaceHolder 2"/>
          <p:cNvSpPr>
            <a:spLocks noGrp="1"/>
          </p:cNvSpPr>
          <p:nvPr>
            <p:ph type="subTitle"/>
          </p:nvPr>
        </p:nvSpPr>
        <p:spPr>
          <a:xfrm>
            <a:off x="1366920" y="1422360"/>
            <a:ext cx="9954720" cy="4571640"/>
          </a:xfrm>
          <a:prstGeom prst="rect">
            <a:avLst/>
          </a:prstGeom>
          <a:noFill/>
          <a:ln w="0">
            <a:noFill/>
          </a:ln>
        </p:spPr>
        <p:txBody>
          <a:bodyPr anchor="t">
            <a:noAutofit/>
          </a:bodyPr>
          <a:p>
            <a:pPr>
              <a:lnSpc>
                <a:spcPct val="90000"/>
              </a:lnSpc>
              <a:spcBef>
                <a:spcPts val="1001"/>
              </a:spcBef>
              <a:buNone/>
              <a:tabLst>
                <a:tab algn="l" pos="0"/>
              </a:tabLst>
            </a:pPr>
            <a:r>
              <a:rPr b="1" i="1" lang="en-IN" sz="2800" spc="-1" strike="noStrike">
                <a:solidFill>
                  <a:srgbClr val="c00000"/>
                </a:solidFill>
                <a:latin typeface="FranklinGothic-Demi"/>
              </a:rPr>
              <a:t>MISSING DATA IN CATEGORICAL VARIABLES</a:t>
            </a:r>
            <a:endParaRPr b="0" lang="en-IN" sz="2800" spc="-1" strike="noStrike">
              <a:latin typeface="Arial"/>
            </a:endParaRPr>
          </a:p>
          <a:p>
            <a:pPr>
              <a:lnSpc>
                <a:spcPct val="90000"/>
              </a:lnSpc>
              <a:spcBef>
                <a:spcPts val="1001"/>
              </a:spcBef>
              <a:buNone/>
              <a:tabLst>
                <a:tab algn="l" pos="0"/>
              </a:tabLst>
            </a:pPr>
            <a:r>
              <a:rPr b="0" lang="en-US" sz="2800" spc="-1" strike="noStrike">
                <a:solidFill>
                  <a:srgbClr val="000000"/>
                </a:solidFill>
                <a:latin typeface="NewBaskerville-Roman"/>
              </a:rPr>
              <a:t>The most straightforward solution is just to create a new category for the variable, </a:t>
            </a:r>
            <a:r>
              <a:rPr b="0" lang="en-IN" sz="2800" spc="-1" strike="noStrike">
                <a:solidFill>
                  <a:srgbClr val="000000"/>
                </a:solidFill>
                <a:latin typeface="NewBaskerville-Roman"/>
              </a:rPr>
              <a:t>called </a:t>
            </a:r>
            <a:r>
              <a:rPr b="0" i="1" lang="en-IN" sz="2800" spc="-1" strike="noStrike">
                <a:solidFill>
                  <a:srgbClr val="000000"/>
                </a:solidFill>
                <a:latin typeface="NewBaskerville-Italic"/>
              </a:rPr>
              <a:t>missing</a:t>
            </a:r>
            <a:r>
              <a:rPr b="0" lang="en-IN" sz="2800" spc="-1" strike="noStrike">
                <a:solidFill>
                  <a:srgbClr val="000000"/>
                </a:solidFill>
                <a:latin typeface="NewBaskerville-Roman"/>
              </a:rPr>
              <a:t>.</a:t>
            </a:r>
            <a:endParaRPr b="0" lang="en-IN" sz="2800" spc="-1" strike="noStrike">
              <a:latin typeface="Arial"/>
            </a:endParaRPr>
          </a:p>
          <a:p>
            <a:pPr>
              <a:lnSpc>
                <a:spcPct val="90000"/>
              </a:lnSpc>
              <a:spcBef>
                <a:spcPts val="1001"/>
              </a:spcBef>
              <a:buNone/>
              <a:tabLst>
                <a:tab algn="l" pos="0"/>
              </a:tabLst>
            </a:pPr>
            <a:endParaRPr b="0" lang="en-IN" sz="2000" spc="-1" strike="noStrike">
              <a:latin typeface="Arial"/>
            </a:endParaRPr>
          </a:p>
        </p:txBody>
      </p:sp>
      <p:sp>
        <p:nvSpPr>
          <p:cNvPr id="204" name="TextBox 5"/>
          <p:cNvSpPr/>
          <p:nvPr/>
        </p:nvSpPr>
        <p:spPr>
          <a:xfrm>
            <a:off x="1366920" y="642240"/>
            <a:ext cx="9585720" cy="500760"/>
          </a:xfrm>
          <a:prstGeom prst="rect">
            <a:avLst/>
          </a:prstGeom>
          <a:noFill/>
          <a:ln w="0">
            <a:noFill/>
          </a:ln>
        </p:spPr>
        <p:style>
          <a:lnRef idx="0"/>
          <a:fillRef idx="0"/>
          <a:effectRef idx="0"/>
          <a:fontRef idx="minor"/>
        </p:style>
        <p:txBody>
          <a:bodyPr lIns="90000" rIns="90000" tIns="45000" bIns="45000" anchor="t">
            <a:spAutoFit/>
          </a:bodyPr>
          <a:p>
            <a:pPr algn="ctr">
              <a:lnSpc>
                <a:spcPct val="90000"/>
              </a:lnSpc>
              <a:buNone/>
            </a:pPr>
            <a:r>
              <a:rPr b="1" i="1" lang="en-US" sz="3000" spc="-1" strike="noStrike">
                <a:solidFill>
                  <a:srgbClr val="00704a"/>
                </a:solidFill>
                <a:latin typeface="NewBaskerville-Italic"/>
              </a:rPr>
              <a:t>4.1.1 Treating missing values (NAs)</a:t>
            </a:r>
            <a:endParaRPr b="0" lang="en-IN" sz="3000" spc="-1" strike="noStrike">
              <a:latin typeface="Arial"/>
            </a:endParaRPr>
          </a:p>
        </p:txBody>
      </p:sp>
      <p:pic>
        <p:nvPicPr>
          <p:cNvPr id="205" name="Picture 7" descr=""/>
          <p:cNvPicPr/>
          <p:nvPr/>
        </p:nvPicPr>
        <p:blipFill>
          <a:blip r:embed="rId1"/>
          <a:stretch/>
        </p:blipFill>
        <p:spPr>
          <a:xfrm>
            <a:off x="1510920" y="2961720"/>
            <a:ext cx="9313920" cy="3655800"/>
          </a:xfrm>
          <a:prstGeom prst="rect">
            <a:avLst/>
          </a:prstGeom>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title"/>
          </p:nvPr>
        </p:nvSpPr>
        <p:spPr>
          <a:xfrm>
            <a:off x="1097280" y="874800"/>
            <a:ext cx="10058040" cy="765000"/>
          </a:xfrm>
          <a:prstGeom prst="rect">
            <a:avLst/>
          </a:prstGeom>
          <a:noFill/>
          <a:ln w="0">
            <a:noFill/>
          </a:ln>
        </p:spPr>
        <p:txBody>
          <a:bodyPr anchor="b">
            <a:normAutofit fontScale="18000"/>
          </a:bodyPr>
          <a:p>
            <a:pPr algn="ctr">
              <a:lnSpc>
                <a:spcPct val="90000"/>
              </a:lnSpc>
              <a:buNone/>
            </a:pPr>
            <a:br>
              <a:rPr sz="3000"/>
            </a:br>
            <a:br>
              <a:rPr sz="3000"/>
            </a:br>
            <a:br>
              <a:rPr sz="3000"/>
            </a:br>
            <a:br>
              <a:rPr sz="3000"/>
            </a:br>
            <a:br>
              <a:rPr sz="3000"/>
            </a:br>
            <a:br>
              <a:rPr sz="3000"/>
            </a:br>
            <a:br>
              <a:rPr sz="3000"/>
            </a:br>
            <a:br>
              <a:rPr sz="3000"/>
            </a:br>
            <a:r>
              <a:rPr b="1" i="1" lang="en-US" sz="3300" spc="-1" strike="noStrike">
                <a:solidFill>
                  <a:srgbClr val="00704a"/>
                </a:solidFill>
                <a:latin typeface="NewBaskerville-Italic"/>
              </a:rPr>
              <a:t>4.1.1 Treating missing values (NAs)</a:t>
            </a:r>
            <a:endParaRPr b="0" lang="en-US" sz="3300" spc="-1" strike="noStrike">
              <a:solidFill>
                <a:srgbClr val="000000"/>
              </a:solidFill>
              <a:latin typeface="Calibri"/>
            </a:endParaRPr>
          </a:p>
        </p:txBody>
      </p:sp>
      <p:pic>
        <p:nvPicPr>
          <p:cNvPr id="207" name="Picture 3" descr=""/>
          <p:cNvPicPr/>
          <p:nvPr/>
        </p:nvPicPr>
        <p:blipFill>
          <a:blip r:embed="rId1"/>
          <a:stretch/>
        </p:blipFill>
        <p:spPr>
          <a:xfrm>
            <a:off x="1097280" y="2819160"/>
            <a:ext cx="10058040" cy="2935080"/>
          </a:xfrm>
          <a:prstGeom prst="rect">
            <a:avLst/>
          </a:prstGeom>
          <a:ln w="0">
            <a:noFill/>
          </a:ln>
        </p:spPr>
      </p:pic>
      <p:sp>
        <p:nvSpPr>
          <p:cNvPr id="208" name="TextBox 4"/>
          <p:cNvSpPr/>
          <p:nvPr/>
        </p:nvSpPr>
        <p:spPr>
          <a:xfrm>
            <a:off x="1097280" y="2296080"/>
            <a:ext cx="7074720" cy="94284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IN" sz="2800" spc="-1" strike="noStrike">
                <a:solidFill>
                  <a:srgbClr val="c00000"/>
                </a:solidFill>
                <a:latin typeface="FranklinGothic-Demi"/>
              </a:rPr>
              <a:t>MISSING DATA IN CATEGORICAL VARIABLES</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title"/>
          </p:nvPr>
        </p:nvSpPr>
        <p:spPr>
          <a:xfrm>
            <a:off x="838080" y="365040"/>
            <a:ext cx="10515240" cy="1006200"/>
          </a:xfrm>
          <a:prstGeom prst="rect">
            <a:avLst/>
          </a:prstGeom>
          <a:noFill/>
          <a:ln w="0">
            <a:noFill/>
          </a:ln>
        </p:spPr>
        <p:txBody>
          <a:bodyPr anchor="ctr">
            <a:normAutofit/>
          </a:bodyPr>
          <a:p>
            <a:pPr algn="ctr">
              <a:lnSpc>
                <a:spcPct val="90000"/>
              </a:lnSpc>
              <a:buNone/>
            </a:pPr>
            <a:r>
              <a:rPr b="1" i="1" lang="en-US" sz="3000" spc="-1" strike="noStrike">
                <a:solidFill>
                  <a:srgbClr val="00704a"/>
                </a:solidFill>
                <a:latin typeface="NewBaskerville-Italic"/>
              </a:rPr>
              <a:t>4.1.1 Treating missing values (NAs)</a:t>
            </a:r>
            <a:endParaRPr b="0" lang="en-US" sz="3000" spc="-1" strike="noStrike">
              <a:solidFill>
                <a:srgbClr val="000000"/>
              </a:solidFill>
              <a:latin typeface="Calibri"/>
            </a:endParaRPr>
          </a:p>
        </p:txBody>
      </p:sp>
      <p:sp>
        <p:nvSpPr>
          <p:cNvPr id="210" name="PlaceHolder 2"/>
          <p:cNvSpPr>
            <a:spLocks noGrp="1"/>
          </p:cNvSpPr>
          <p:nvPr>
            <p:ph/>
          </p:nvPr>
        </p:nvSpPr>
        <p:spPr>
          <a:xfrm>
            <a:off x="838080" y="1825560"/>
            <a:ext cx="10515240" cy="4350960"/>
          </a:xfrm>
          <a:prstGeom prst="rect">
            <a:avLst/>
          </a:prstGeom>
          <a:noFill/>
          <a:ln w="0">
            <a:noFill/>
          </a:ln>
        </p:spPr>
        <p:txBody>
          <a:bodyPr anchor="t">
            <a:noAutofit/>
          </a:bodyPr>
          <a:p>
            <a:pPr>
              <a:lnSpc>
                <a:spcPct val="90000"/>
              </a:lnSpc>
              <a:spcBef>
                <a:spcPts val="1001"/>
              </a:spcBef>
              <a:buNone/>
              <a:tabLst>
                <a:tab algn="l" pos="0"/>
              </a:tabLst>
            </a:pPr>
            <a:r>
              <a:rPr b="1" i="1" lang="en-US" sz="2800" spc="-1" strike="noStrike">
                <a:solidFill>
                  <a:srgbClr val="c00000"/>
                </a:solidFill>
                <a:latin typeface="FranklinGothic-Demi"/>
              </a:rPr>
              <a:t>MISSING VALUES IN NUMERIC DATA</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IN" sz="1800" spc="-1" strike="noStrike">
                <a:solidFill>
                  <a:srgbClr val="000000"/>
                </a:solidFill>
                <a:latin typeface="Courier New"/>
              </a:rPr>
              <a:t>&gt; summary(custdata$Income)</a:t>
            </a:r>
            <a:endParaRPr b="0" lang="en-US" sz="1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1800" spc="-1" strike="noStrike">
                <a:solidFill>
                  <a:srgbClr val="000000"/>
                </a:solidFill>
                <a:latin typeface="Courier New"/>
              </a:rPr>
              <a:t>Min. 1st Qu. Median Mean  3rd Qu. Max.  NA’s</a:t>
            </a:r>
            <a:endParaRPr b="0" lang="en-US" sz="1800" spc="-1" strike="noStrike">
              <a:solidFill>
                <a:srgbClr val="000000"/>
              </a:solidFill>
              <a:latin typeface="Calibri"/>
            </a:endParaRPr>
          </a:p>
          <a:p>
            <a:pPr>
              <a:lnSpc>
                <a:spcPct val="90000"/>
              </a:lnSpc>
              <a:spcBef>
                <a:spcPts val="1001"/>
              </a:spcBef>
              <a:buNone/>
              <a:tabLst>
                <a:tab algn="l" pos="0"/>
              </a:tabLst>
            </a:pPr>
            <a:r>
              <a:rPr b="0" lang="en-IN" sz="1800" spc="-1" strike="noStrike">
                <a:solidFill>
                  <a:srgbClr val="000000"/>
                </a:solidFill>
                <a:latin typeface="Courier New"/>
              </a:rPr>
              <a:t>  </a:t>
            </a:r>
            <a:r>
              <a:rPr b="0" lang="en-IN" sz="1800" spc="-1" strike="noStrike">
                <a:solidFill>
                  <a:srgbClr val="000000"/>
                </a:solidFill>
                <a:latin typeface="Courier New"/>
              </a:rPr>
              <a:t>0    25000    45000 66200 82000  615000 328</a:t>
            </a:r>
            <a:endParaRPr b="0" lang="en-US" sz="1800" spc="-1" strike="noStrike">
              <a:solidFill>
                <a:srgbClr val="000000"/>
              </a:solidFill>
              <a:latin typeface="Calibri"/>
            </a:endParaRPr>
          </a:p>
          <a:p>
            <a:pPr>
              <a:lnSpc>
                <a:spcPct val="90000"/>
              </a:lnSpc>
              <a:spcBef>
                <a:spcPts val="1001"/>
              </a:spcBef>
              <a:buNone/>
              <a:tabLst>
                <a:tab algn="l" pos="0"/>
              </a:tabLst>
            </a:pPr>
            <a:r>
              <a:rPr b="1" i="1" lang="en-US" sz="2800" spc="-1" strike="noStrike">
                <a:solidFill>
                  <a:srgbClr val="c00000"/>
                </a:solidFill>
                <a:latin typeface="FranklinGothic-Demi"/>
              </a:rPr>
              <a:t>WHEN VALUES ARE MISSING RANDOMLY</a:t>
            </a: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p:txBody>
      </p:sp>
      <p:pic>
        <p:nvPicPr>
          <p:cNvPr id="211" name="Picture 6" descr=""/>
          <p:cNvPicPr/>
          <p:nvPr/>
        </p:nvPicPr>
        <p:blipFill>
          <a:blip r:embed="rId1"/>
          <a:stretch/>
        </p:blipFill>
        <p:spPr>
          <a:xfrm>
            <a:off x="838080" y="4035240"/>
            <a:ext cx="9856080" cy="2141280"/>
          </a:xfrm>
          <a:prstGeom prst="rect">
            <a:avLst/>
          </a:prstGeom>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title"/>
          </p:nvPr>
        </p:nvSpPr>
        <p:spPr>
          <a:xfrm>
            <a:off x="1097280" y="300240"/>
            <a:ext cx="10058040" cy="641520"/>
          </a:xfrm>
          <a:prstGeom prst="rect">
            <a:avLst/>
          </a:prstGeom>
          <a:noFill/>
          <a:ln w="0">
            <a:noFill/>
          </a:ln>
        </p:spPr>
        <p:txBody>
          <a:bodyPr anchor="b">
            <a:normAutofit fontScale="31000"/>
          </a:bodyPr>
          <a:p>
            <a:pPr algn="ctr">
              <a:lnSpc>
                <a:spcPct val="90000"/>
              </a:lnSpc>
              <a:buNone/>
            </a:pPr>
            <a:br>
              <a:rPr sz="3200"/>
            </a:br>
            <a:br>
              <a:rPr sz="3200"/>
            </a:br>
            <a:br>
              <a:rPr sz="3100"/>
            </a:br>
            <a:endParaRPr b="0" lang="en-US" sz="3200" spc="-1" strike="noStrike">
              <a:solidFill>
                <a:srgbClr val="000000"/>
              </a:solidFill>
              <a:latin typeface="Calibri"/>
            </a:endParaRPr>
          </a:p>
        </p:txBody>
      </p:sp>
      <p:sp>
        <p:nvSpPr>
          <p:cNvPr id="213" name="PlaceHolder 2"/>
          <p:cNvSpPr>
            <a:spLocks noGrp="1"/>
          </p:cNvSpPr>
          <p:nvPr>
            <p:ph type="subTitle"/>
          </p:nvPr>
        </p:nvSpPr>
        <p:spPr>
          <a:xfrm>
            <a:off x="1200600" y="1306800"/>
            <a:ext cx="9954720" cy="553680"/>
          </a:xfrm>
          <a:prstGeom prst="rect">
            <a:avLst/>
          </a:prstGeom>
          <a:noFill/>
          <a:ln w="0">
            <a:noFill/>
          </a:ln>
        </p:spPr>
        <p:txBody>
          <a:bodyPr anchor="t">
            <a:noAutofit/>
          </a:bodyPr>
          <a:p>
            <a:pPr>
              <a:lnSpc>
                <a:spcPct val="90000"/>
              </a:lnSpc>
              <a:spcBef>
                <a:spcPts val="1001"/>
              </a:spcBef>
              <a:buNone/>
              <a:tabLst>
                <a:tab algn="l" pos="0"/>
              </a:tabLst>
            </a:pPr>
            <a:r>
              <a:rPr b="1" i="1" lang="en-US" sz="2800" spc="-1" strike="noStrike">
                <a:solidFill>
                  <a:srgbClr val="c00000"/>
                </a:solidFill>
                <a:latin typeface="FranklinGothic-Demi"/>
              </a:rPr>
              <a:t>WHEN VALUES ARE MISSING SYSTEMATICALLY</a:t>
            </a:r>
            <a:endParaRPr b="0" lang="en-IN" sz="2800" spc="-1" strike="noStrike">
              <a:latin typeface="Arial"/>
            </a:endParaRPr>
          </a:p>
          <a:p>
            <a:pPr>
              <a:lnSpc>
                <a:spcPct val="90000"/>
              </a:lnSpc>
              <a:spcBef>
                <a:spcPts val="1001"/>
              </a:spcBef>
              <a:buNone/>
              <a:tabLst>
                <a:tab algn="l" pos="0"/>
              </a:tabLst>
            </a:pPr>
            <a:endParaRPr b="0" lang="en-IN" sz="2800" spc="-1" strike="noStrike">
              <a:latin typeface="Arial"/>
            </a:endParaRPr>
          </a:p>
        </p:txBody>
      </p:sp>
      <p:pic>
        <p:nvPicPr>
          <p:cNvPr id="214" name="Picture 4" descr=""/>
          <p:cNvPicPr/>
          <p:nvPr/>
        </p:nvPicPr>
        <p:blipFill>
          <a:blip r:embed="rId1"/>
          <a:stretch/>
        </p:blipFill>
        <p:spPr>
          <a:xfrm>
            <a:off x="1351800" y="2087280"/>
            <a:ext cx="8859240" cy="4631400"/>
          </a:xfrm>
          <a:prstGeom prst="rect">
            <a:avLst/>
          </a:prstGeom>
          <a:ln w="0">
            <a:noFill/>
          </a:ln>
        </p:spPr>
      </p:pic>
      <p:sp>
        <p:nvSpPr>
          <p:cNvPr id="215" name="TextBox 5"/>
          <p:cNvSpPr/>
          <p:nvPr/>
        </p:nvSpPr>
        <p:spPr>
          <a:xfrm>
            <a:off x="2541960" y="526680"/>
            <a:ext cx="6552000" cy="1003320"/>
          </a:xfrm>
          <a:prstGeom prst="rect">
            <a:avLst/>
          </a:prstGeom>
          <a:noFill/>
          <a:ln w="0">
            <a:noFill/>
          </a:ln>
        </p:spPr>
        <p:style>
          <a:lnRef idx="0"/>
          <a:fillRef idx="0"/>
          <a:effectRef idx="0"/>
          <a:fontRef idx="minor"/>
        </p:style>
        <p:txBody>
          <a:bodyPr lIns="90000" rIns="90000" tIns="45000" bIns="45000" anchor="t">
            <a:spAutoFit/>
          </a:bodyPr>
          <a:p>
            <a:pPr>
              <a:lnSpc>
                <a:spcPct val="100000"/>
              </a:lnSpc>
              <a:buNone/>
            </a:pPr>
            <a:r>
              <a:rPr b="1" i="1" lang="en-US" sz="3000" spc="-1" strike="noStrike">
                <a:solidFill>
                  <a:srgbClr val="00704a"/>
                </a:solidFill>
                <a:latin typeface="NewBaskerville-Italic"/>
              </a:rPr>
              <a:t>4.1.1 Treating missing values (NAs)</a:t>
            </a:r>
            <a:endParaRPr b="0" lang="en-IN" sz="3000" spc="-1" strike="noStrike">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6" name="PlaceHolder 1"/>
          <p:cNvSpPr>
            <a:spLocks noGrp="1"/>
          </p:cNvSpPr>
          <p:nvPr>
            <p:ph type="title"/>
          </p:nvPr>
        </p:nvSpPr>
        <p:spPr>
          <a:xfrm>
            <a:off x="838080" y="735480"/>
            <a:ext cx="10515240" cy="745200"/>
          </a:xfrm>
          <a:prstGeom prst="rect">
            <a:avLst/>
          </a:prstGeom>
          <a:noFill/>
          <a:ln w="0">
            <a:noFill/>
          </a:ln>
        </p:spPr>
        <p:txBody>
          <a:bodyPr anchor="ctr">
            <a:noAutofit/>
          </a:bodyPr>
          <a:p>
            <a:pPr algn="ctr">
              <a:lnSpc>
                <a:spcPct val="90000"/>
              </a:lnSpc>
              <a:buNone/>
            </a:pPr>
            <a:r>
              <a:rPr b="1" i="1" lang="en-US" sz="3000" spc="-1" strike="noStrike">
                <a:solidFill>
                  <a:srgbClr val="00704a"/>
                </a:solidFill>
                <a:latin typeface="NewBaskerville-Italic"/>
              </a:rPr>
              <a:t>4.1.1 Treating missing values (NAs)</a:t>
            </a:r>
            <a:endParaRPr b="0" lang="en-US" sz="3000" spc="-1" strike="noStrike">
              <a:solidFill>
                <a:srgbClr val="000000"/>
              </a:solidFill>
              <a:latin typeface="Calibri"/>
            </a:endParaRPr>
          </a:p>
        </p:txBody>
      </p:sp>
      <p:pic>
        <p:nvPicPr>
          <p:cNvPr id="217" name="Content Placeholder 4" descr=""/>
          <p:cNvPicPr/>
          <p:nvPr/>
        </p:nvPicPr>
        <p:blipFill>
          <a:blip r:embed="rId1"/>
          <a:stretch/>
        </p:blipFill>
        <p:spPr>
          <a:xfrm>
            <a:off x="838080" y="1639800"/>
            <a:ext cx="10515240" cy="351792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title"/>
          </p:nvPr>
        </p:nvSpPr>
        <p:spPr>
          <a:xfrm>
            <a:off x="1097280" y="300240"/>
            <a:ext cx="10058040" cy="641520"/>
          </a:xfrm>
          <a:prstGeom prst="rect">
            <a:avLst/>
          </a:prstGeom>
          <a:noFill/>
          <a:ln w="0">
            <a:noFill/>
          </a:ln>
        </p:spPr>
        <p:txBody>
          <a:bodyPr anchor="b">
            <a:normAutofit/>
          </a:bodyPr>
          <a:p>
            <a:pPr algn="ctr">
              <a:lnSpc>
                <a:spcPct val="90000"/>
              </a:lnSpc>
              <a:buNone/>
            </a:pPr>
            <a:r>
              <a:rPr b="1" i="1" lang="en-IN" sz="3000" spc="-1" strike="noStrike">
                <a:solidFill>
                  <a:srgbClr val="00704a"/>
                </a:solidFill>
                <a:latin typeface="NewBaskerville-Italic"/>
              </a:rPr>
              <a:t>4.1.2 Data transformations</a:t>
            </a:r>
            <a:endParaRPr b="0" lang="en-US" sz="3000" spc="-1" strike="noStrike">
              <a:solidFill>
                <a:srgbClr val="000000"/>
              </a:solidFill>
              <a:latin typeface="Calibri"/>
            </a:endParaRPr>
          </a:p>
        </p:txBody>
      </p:sp>
      <p:sp>
        <p:nvSpPr>
          <p:cNvPr id="219" name="PlaceHolder 2"/>
          <p:cNvSpPr>
            <a:spLocks noGrp="1"/>
          </p:cNvSpPr>
          <p:nvPr>
            <p:ph type="subTitle"/>
          </p:nvPr>
        </p:nvSpPr>
        <p:spPr>
          <a:xfrm>
            <a:off x="1200600" y="942120"/>
            <a:ext cx="9954720" cy="4017600"/>
          </a:xfrm>
          <a:prstGeom prst="rect">
            <a:avLst/>
          </a:prstGeom>
          <a:noFill/>
          <a:ln w="0">
            <a:noFill/>
          </a:ln>
        </p:spPr>
        <p:txBody>
          <a:bodyPr anchor="t">
            <a:noAutofit/>
          </a:bodyPr>
          <a:p>
            <a:pPr>
              <a:lnSpc>
                <a:spcPct val="90000"/>
              </a:lnSpc>
              <a:spcBef>
                <a:spcPts val="1001"/>
              </a:spcBef>
              <a:buNone/>
              <a:tabLst>
                <a:tab algn="l" pos="0"/>
              </a:tabLst>
            </a:pPr>
            <a:r>
              <a:rPr b="0" lang="en-US" sz="2000" spc="-1" strike="noStrike">
                <a:solidFill>
                  <a:srgbClr val="000000"/>
                </a:solidFill>
                <a:latin typeface="Calibri"/>
              </a:rPr>
              <a:t>The purpose of data transformation is to make data easier to model—and easier to understand.</a:t>
            </a:r>
            <a:endParaRPr b="0" lang="en-IN" sz="2000" spc="-1" strike="noStrike">
              <a:latin typeface="Arial"/>
            </a:endParaRPr>
          </a:p>
          <a:p>
            <a:pPr>
              <a:lnSpc>
                <a:spcPct val="90000"/>
              </a:lnSpc>
              <a:spcBef>
                <a:spcPts val="1001"/>
              </a:spcBef>
              <a:buNone/>
              <a:tabLst>
                <a:tab algn="l" pos="0"/>
              </a:tabLst>
            </a:pPr>
            <a:endParaRPr b="0" lang="en-IN" sz="2000" spc="-1" strike="noStrike">
              <a:latin typeface="Arial"/>
            </a:endParaRPr>
          </a:p>
        </p:txBody>
      </p:sp>
      <p:pic>
        <p:nvPicPr>
          <p:cNvPr id="220" name="Picture 3" descr=""/>
          <p:cNvPicPr/>
          <p:nvPr/>
        </p:nvPicPr>
        <p:blipFill>
          <a:blip r:embed="rId1"/>
          <a:stretch/>
        </p:blipFill>
        <p:spPr>
          <a:xfrm>
            <a:off x="1200600" y="1730880"/>
            <a:ext cx="9307800" cy="1076040"/>
          </a:xfrm>
          <a:prstGeom prst="rect">
            <a:avLst/>
          </a:prstGeom>
          <a:ln w="0">
            <a:noFill/>
          </a:ln>
        </p:spPr>
      </p:pic>
      <p:pic>
        <p:nvPicPr>
          <p:cNvPr id="221" name="Picture 4" descr=""/>
          <p:cNvPicPr/>
          <p:nvPr/>
        </p:nvPicPr>
        <p:blipFill>
          <a:blip r:embed="rId2"/>
          <a:stretch/>
        </p:blipFill>
        <p:spPr>
          <a:xfrm>
            <a:off x="1692360" y="2807280"/>
            <a:ext cx="8283960" cy="3449160"/>
          </a:xfrm>
          <a:prstGeom prst="rect">
            <a:avLst/>
          </a:prstGeom>
          <a:ln w="0">
            <a:noFill/>
          </a:ln>
        </p:spPr>
      </p:pic>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838080" y="169200"/>
            <a:ext cx="10515240" cy="714960"/>
          </a:xfrm>
          <a:prstGeom prst="rect">
            <a:avLst/>
          </a:prstGeom>
          <a:noFill/>
          <a:ln w="0">
            <a:noFill/>
          </a:ln>
        </p:spPr>
        <p:txBody>
          <a:bodyPr anchor="ctr">
            <a:normAutofit/>
          </a:bodyPr>
          <a:p>
            <a:pPr algn="ctr">
              <a:lnSpc>
                <a:spcPct val="90000"/>
              </a:lnSpc>
              <a:buNone/>
            </a:pPr>
            <a:r>
              <a:rPr b="1" i="1" lang="en-IN" sz="3000" spc="-1" strike="noStrike">
                <a:solidFill>
                  <a:srgbClr val="00704a"/>
                </a:solidFill>
                <a:latin typeface="NewBaskerville-Italic"/>
              </a:rPr>
              <a:t>4.1.2 Data transformations</a:t>
            </a:r>
            <a:endParaRPr b="0" lang="en-US" sz="3000" spc="-1" strike="noStrike">
              <a:solidFill>
                <a:srgbClr val="000000"/>
              </a:solidFill>
              <a:latin typeface="Calibri"/>
            </a:endParaRPr>
          </a:p>
        </p:txBody>
      </p:sp>
      <p:sp>
        <p:nvSpPr>
          <p:cNvPr id="223" name="PlaceHolder 2"/>
          <p:cNvSpPr>
            <a:spLocks noGrp="1"/>
          </p:cNvSpPr>
          <p:nvPr>
            <p:ph/>
          </p:nvPr>
        </p:nvSpPr>
        <p:spPr>
          <a:xfrm>
            <a:off x="725400" y="974160"/>
            <a:ext cx="10627920" cy="5202720"/>
          </a:xfrm>
          <a:prstGeom prst="rect">
            <a:avLst/>
          </a:prstGeom>
          <a:noFill/>
          <a:ln w="0">
            <a:noFill/>
          </a:ln>
        </p:spPr>
        <p:txBody>
          <a:bodyPr anchor="t">
            <a:noAutofit/>
          </a:bodyPr>
          <a:p>
            <a:pPr>
              <a:lnSpc>
                <a:spcPct val="90000"/>
              </a:lnSpc>
              <a:spcBef>
                <a:spcPts val="1001"/>
              </a:spcBef>
              <a:buNone/>
              <a:tabLst>
                <a:tab algn="l" pos="0"/>
              </a:tabLst>
            </a:pPr>
            <a:r>
              <a:rPr b="1" i="1" lang="en-US" sz="2800" spc="-1" strike="noStrike">
                <a:solidFill>
                  <a:srgbClr val="c00000"/>
                </a:solidFill>
                <a:latin typeface="Calibri"/>
              </a:rPr>
              <a:t>CONVERTING CONTINUOUS VARIABLES TO DISCRETE</a:t>
            </a:r>
            <a:endParaRPr b="0" lang="en-US" sz="2800" spc="-1" strike="noStrike">
              <a:solidFill>
                <a:srgbClr val="000000"/>
              </a:solidFill>
              <a:latin typeface="Calibri"/>
            </a:endParaRPr>
          </a:p>
          <a:p>
            <a:pPr marL="228600" indent="-228600" algn="just">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Discretizing continuous variables is useful when the relationship between input and output isn’t linear, but you’re using a modeling technique that assumes it is, like regression </a:t>
            </a:r>
            <a:endParaRPr b="0" lang="en-US" sz="2800" spc="-1" strike="noStrike">
              <a:solidFill>
                <a:srgbClr val="000000"/>
              </a:solidFill>
              <a:latin typeface="Calibri"/>
            </a:endParaRPr>
          </a:p>
          <a:p>
            <a:pPr>
              <a:lnSpc>
                <a:spcPct val="90000"/>
              </a:lnSpc>
              <a:spcBef>
                <a:spcPts val="1001"/>
              </a:spcBef>
              <a:buNone/>
              <a:tabLst>
                <a:tab algn="l" pos="0"/>
              </a:tabLst>
            </a:pPr>
            <a:endParaRPr b="0" lang="en-US" sz="2800" spc="-1" strike="noStrike">
              <a:solidFill>
                <a:srgbClr val="000000"/>
              </a:solidFill>
              <a:latin typeface="Calibri"/>
            </a:endParaRPr>
          </a:p>
        </p:txBody>
      </p:sp>
      <p:pic>
        <p:nvPicPr>
          <p:cNvPr id="224" name="Picture 3" descr=""/>
          <p:cNvPicPr/>
          <p:nvPr/>
        </p:nvPicPr>
        <p:blipFill>
          <a:blip r:embed="rId1"/>
          <a:stretch/>
        </p:blipFill>
        <p:spPr>
          <a:xfrm>
            <a:off x="1063440" y="2753280"/>
            <a:ext cx="9918720" cy="4124520"/>
          </a:xfrm>
          <a:prstGeom prst="rect">
            <a:avLst/>
          </a:prstGeom>
          <a:ln w="0">
            <a:noFill/>
          </a:ln>
        </p:spPr>
      </p:pic>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5" name="PlaceHolder 1"/>
          <p:cNvSpPr>
            <a:spLocks noGrp="1"/>
          </p:cNvSpPr>
          <p:nvPr>
            <p:ph type="title"/>
          </p:nvPr>
        </p:nvSpPr>
        <p:spPr>
          <a:xfrm>
            <a:off x="838080" y="365040"/>
            <a:ext cx="10515240" cy="664920"/>
          </a:xfrm>
          <a:prstGeom prst="rect">
            <a:avLst/>
          </a:prstGeom>
          <a:noFill/>
          <a:ln w="0">
            <a:noFill/>
          </a:ln>
        </p:spPr>
        <p:txBody>
          <a:bodyPr anchor="ctr">
            <a:normAutofit fontScale="95000"/>
          </a:bodyPr>
          <a:p>
            <a:pPr algn="ctr">
              <a:lnSpc>
                <a:spcPct val="90000"/>
              </a:lnSpc>
              <a:buNone/>
            </a:pPr>
            <a:r>
              <a:rPr b="1" i="1" lang="en-IN" sz="4400" spc="-1" strike="noStrike">
                <a:solidFill>
                  <a:srgbClr val="00704a"/>
                </a:solidFill>
                <a:latin typeface="NewBaskerville-Italic"/>
              </a:rPr>
              <a:t>4.1.2 Data transformations</a:t>
            </a:r>
            <a:endParaRPr b="0" lang="en-US" sz="4400" spc="-1" strike="noStrike">
              <a:solidFill>
                <a:srgbClr val="000000"/>
              </a:solidFill>
              <a:latin typeface="Calibri"/>
            </a:endParaRPr>
          </a:p>
        </p:txBody>
      </p:sp>
      <p:sp>
        <p:nvSpPr>
          <p:cNvPr id="226" name="PlaceHolder 2"/>
          <p:cNvSpPr>
            <a:spLocks noGrp="1"/>
          </p:cNvSpPr>
          <p:nvPr>
            <p:ph/>
          </p:nvPr>
        </p:nvSpPr>
        <p:spPr>
          <a:xfrm>
            <a:off x="838080" y="1244520"/>
            <a:ext cx="10515240" cy="4932000"/>
          </a:xfrm>
          <a:prstGeom prst="rect">
            <a:avLst/>
          </a:prstGeom>
          <a:noFill/>
          <a:ln w="0">
            <a:noFill/>
          </a:ln>
        </p:spPr>
        <p:txBody>
          <a:bodyPr anchor="t">
            <a:noAutofit/>
          </a:bodyPr>
          <a:p>
            <a:pPr>
              <a:lnSpc>
                <a:spcPct val="90000"/>
              </a:lnSpc>
              <a:spcBef>
                <a:spcPts val="1001"/>
              </a:spcBef>
              <a:buNone/>
              <a:tabLst>
                <a:tab algn="l" pos="0"/>
              </a:tabLst>
            </a:pPr>
            <a:r>
              <a:rPr b="1" i="1" lang="en-IN" sz="2800" spc="-1" strike="noStrike">
                <a:solidFill>
                  <a:srgbClr val="c00000"/>
                </a:solidFill>
                <a:latin typeface="Calibri"/>
              </a:rPr>
              <a:t>NORMALIZATION AND RESCALING</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tabLst>
                <a:tab algn="l" pos="0"/>
              </a:tabLst>
            </a:pPr>
            <a:r>
              <a:rPr b="0" lang="en-US" sz="2800" spc="-1" strike="noStrike">
                <a:solidFill>
                  <a:srgbClr val="000000"/>
                </a:solidFill>
                <a:latin typeface="Calibri"/>
              </a:rPr>
              <a:t>Normalization is useful when absolute quantities are less meaningful than relative ones</a:t>
            </a:r>
            <a:endParaRPr b="0" lang="en-US" sz="2800" spc="-1" strike="noStrike">
              <a:solidFill>
                <a:srgbClr val="000000"/>
              </a:solidFill>
              <a:latin typeface="Calibri"/>
            </a:endParaRPr>
          </a:p>
        </p:txBody>
      </p:sp>
      <p:pic>
        <p:nvPicPr>
          <p:cNvPr id="227" name="Picture 3" descr=""/>
          <p:cNvPicPr/>
          <p:nvPr/>
        </p:nvPicPr>
        <p:blipFill>
          <a:blip r:embed="rId1"/>
          <a:stretch/>
        </p:blipFill>
        <p:spPr>
          <a:xfrm>
            <a:off x="838080" y="2679840"/>
            <a:ext cx="10912320" cy="4051080"/>
          </a:xfrm>
          <a:prstGeom prst="rect">
            <a:avLst/>
          </a:prstGeom>
          <a:ln w="0">
            <a:noFill/>
          </a:ln>
        </p:spPr>
      </p:pic>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5240" cy="815760"/>
          </a:xfrm>
          <a:prstGeom prst="rect">
            <a:avLst/>
          </a:prstGeom>
          <a:noFill/>
          <a:ln w="0">
            <a:noFill/>
          </a:ln>
        </p:spPr>
        <p:txBody>
          <a:bodyPr anchor="ctr">
            <a:noAutofit/>
          </a:bodyPr>
          <a:p>
            <a:pPr>
              <a:lnSpc>
                <a:spcPct val="90000"/>
              </a:lnSpc>
              <a:buNone/>
            </a:pPr>
            <a:r>
              <a:rPr b="1" i="1" lang="en-IN" sz="4400" spc="-1" strike="noStrike">
                <a:solidFill>
                  <a:srgbClr val="00704a"/>
                </a:solidFill>
                <a:latin typeface="NewBaskerville-Italic"/>
              </a:rPr>
              <a:t>4.1.2 Data transformations</a:t>
            </a:r>
            <a:endParaRPr b="0" lang="en-US" sz="4400" spc="-1" strike="noStrike">
              <a:solidFill>
                <a:srgbClr val="000000"/>
              </a:solidFill>
              <a:latin typeface="Calibri"/>
            </a:endParaRPr>
          </a:p>
        </p:txBody>
      </p:sp>
      <p:pic>
        <p:nvPicPr>
          <p:cNvPr id="229" name="Content Placeholder 3" descr=""/>
          <p:cNvPicPr/>
          <p:nvPr/>
        </p:nvPicPr>
        <p:blipFill>
          <a:blip r:embed="rId1"/>
          <a:stretch/>
        </p:blipFill>
        <p:spPr>
          <a:xfrm>
            <a:off x="838080" y="1371600"/>
            <a:ext cx="10515240" cy="4482720"/>
          </a:xfrm>
          <a:prstGeom prst="rect">
            <a:avLst/>
          </a:prstGeom>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838080" y="365040"/>
            <a:ext cx="10515240" cy="1325160"/>
          </a:xfrm>
          <a:prstGeom prst="rect">
            <a:avLst/>
          </a:prstGeom>
          <a:noFill/>
          <a:ln w="0">
            <a:noFill/>
          </a:ln>
        </p:spPr>
        <p:txBody>
          <a:bodyPr anchor="ctr">
            <a:noAutofit/>
          </a:bodyPr>
          <a:p>
            <a:pPr>
              <a:lnSpc>
                <a:spcPct val="90000"/>
              </a:lnSpc>
              <a:buNone/>
            </a:pPr>
            <a:r>
              <a:rPr b="0" lang="en-IN" sz="4400" spc="-1" strike="noStrike">
                <a:solidFill>
                  <a:srgbClr val="000000"/>
                </a:solidFill>
                <a:latin typeface="Calibri Light"/>
              </a:rPr>
              <a:t>4.3 Summary</a:t>
            </a:r>
            <a:endParaRPr b="0" lang="en-US" sz="4400" spc="-1" strike="noStrike">
              <a:solidFill>
                <a:srgbClr val="000000"/>
              </a:solidFill>
              <a:latin typeface="Calibri"/>
            </a:endParaRPr>
          </a:p>
        </p:txBody>
      </p:sp>
      <p:sp>
        <p:nvSpPr>
          <p:cNvPr id="231" name="PlaceHolder 2"/>
          <p:cNvSpPr>
            <a:spLocks noGrp="1"/>
          </p:cNvSpPr>
          <p:nvPr>
            <p:ph/>
          </p:nvPr>
        </p:nvSpPr>
        <p:spPr>
          <a:xfrm>
            <a:off x="838080" y="1825560"/>
            <a:ext cx="10515240" cy="4350960"/>
          </a:xfrm>
          <a:prstGeom prst="rect">
            <a:avLst/>
          </a:prstGeom>
          <a:noFill/>
          <a:ln w="0">
            <a:noFill/>
          </a:ln>
        </p:spPr>
        <p:txBody>
          <a:bodyPr anchor="t">
            <a:noAutofit/>
          </a:bodyPr>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data quality that is as good as you can make it. You’ve fixed problems with missing data and performed any needed transformations. You’re ready to go on to the modeling stage</a:t>
            </a:r>
            <a:endParaRPr b="0" lang="en-US" sz="2800" spc="-1" strike="noStrike">
              <a:solidFill>
                <a:srgbClr val="000000"/>
              </a:solidFill>
              <a:latin typeface="Calibri"/>
            </a:endParaRPr>
          </a:p>
          <a:p>
            <a:pPr marL="228600" indent="-228600">
              <a:lnSpc>
                <a:spcPct val="90000"/>
              </a:lnSpc>
              <a:spcBef>
                <a:spcPts val="1001"/>
              </a:spcBef>
              <a:buClr>
                <a:srgbClr val="000000"/>
              </a:buClr>
              <a:buFont typeface="Arial"/>
              <a:buChar char="•"/>
            </a:pPr>
            <a:r>
              <a:rPr b="0" lang="en-US" sz="2800" spc="-1" strike="noStrike">
                <a:solidFill>
                  <a:srgbClr val="000000"/>
                </a:solidFill>
                <a:latin typeface="Calibri"/>
              </a:rPr>
              <a:t>Remember, though, that data science is an iterative process. You may discover during the modeling process that you have to do additional data cleaning or transformation. You may have to go back even further and collect different types of data.</a:t>
            </a:r>
            <a:endParaRPr b="0" lang="en-US" sz="28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752</TotalTime>
  <Application>LibreOffice/7.3.7.2$Linux_X86_64 LibreOffice_project/30$Build-2</Application>
  <AppVersion>15.0000</AppVersion>
  <Words>3075</Words>
  <Paragraphs>271</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2023-08-16T04:11:45Z</dcterms:created>
  <dc:creator>ADMIN</dc:creator>
  <dc:description/>
  <dc:language>en-IN</dc:language>
  <cp:lastModifiedBy/>
  <dcterms:modified xsi:type="dcterms:W3CDTF">2026-05-13T12:36:00Z</dcterms:modified>
  <cp:revision>74</cp:revision>
  <dc:subject/>
  <dc:title>The data science process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92</vt:i4>
  </property>
</Properties>
</file>