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23.png" ContentType="image/png"/>
  <Override PartName="/ppt/media/image22.png" ContentType="image/png"/>
  <Override PartName="/ppt/media/image21.png" ContentType="image/png"/>
  <Override PartName="/ppt/media/image19.png" ContentType="image/png"/>
  <Override PartName="/ppt/media/image4.png" ContentType="image/png"/>
  <Override PartName="/ppt/media/image27.png" ContentType="image/png"/>
  <Override PartName="/ppt/media/image28.png" ContentType="image/png"/>
  <Override PartName="/ppt/media/image5.png" ContentType="image/png"/>
  <Override PartName="/ppt/media/image30.png" ContentType="image/png"/>
  <Override PartName="/ppt/media/image10.png" ContentType="image/png"/>
  <Override PartName="/ppt/media/image29.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13.png" ContentType="image/png"/>
  <Override PartName="/ppt/media/image9.png" ContentType="image/png"/>
  <Override PartName="/ppt/media/image33.png" ContentType="image/png"/>
  <Override PartName="/ppt/media/image3.png" ContentType="image/png"/>
  <Override PartName="/ppt/media/image26.png" ContentType="image/png"/>
  <Override PartName="/ppt/media/image32.png" ContentType="image/png"/>
  <Override PartName="/ppt/media/image2.png" ContentType="image/png"/>
  <Override PartName="/ppt/media/image25.png" ContentType="image/png"/>
  <Override PartName="/ppt/media/image31.png" ContentType="image/png"/>
  <Override PartName="/ppt/media/image1.png" ContentType="image/png"/>
  <Override PartName="/ppt/media/image24.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20.png" ContentType="image/png"/>
  <Override PartName="/ppt/presProps.xml" ContentType="application/vnd.openxmlformats-officedocument.presentationml.presProps+xml"/>
  <Override PartName="/ppt/slides/_rels/slide118.xml.rels" ContentType="application/vnd.openxmlformats-package.relationships+xml"/>
  <Override PartName="/ppt/slides/_rels/slide85.xml.rels" ContentType="application/vnd.openxmlformats-package.relationships+xml"/>
  <Override PartName="/ppt/slides/_rels/slide88.xml.rels" ContentType="application/vnd.openxmlformats-package.relationships+xml"/>
  <Override PartName="/ppt/slides/_rels/slide115.xml.rels" ContentType="application/vnd.openxmlformats-package.relationships+xml"/>
  <Override PartName="/ppt/slides/_rels/slide82.xml.rels" ContentType="application/vnd.openxmlformats-package.relationships+xml"/>
  <Override PartName="/ppt/slides/_rels/slide38.xml.rels" ContentType="application/vnd.openxmlformats-package.relationships+xml"/>
  <Override PartName="/ppt/slides/_rels/slide114.xml.rels" ContentType="application/vnd.openxmlformats-package.relationships+xml"/>
  <Override PartName="/ppt/slides/_rels/slide37.xml.rels" ContentType="application/vnd.openxmlformats-package.relationships+xml"/>
  <Override PartName="/ppt/slides/_rels/slide81.xml.rels" ContentType="application/vnd.openxmlformats-package.relationships+xml"/>
  <Override PartName="/ppt/slides/_rels/slide113.xml.rels" ContentType="application/vnd.openxmlformats-package.relationships+xml"/>
  <Override PartName="/ppt/slides/_rels/slide36.xml.rels" ContentType="application/vnd.openxmlformats-package.relationships+xml"/>
  <Override PartName="/ppt/slides/_rels/slide80.xml.rels" ContentType="application/vnd.openxmlformats-package.relationships+xml"/>
  <Override PartName="/ppt/slides/_rels/slide29.xml.rels" ContentType="application/vnd.openxmlformats-package.relationships+xml"/>
  <Override PartName="/ppt/slides/_rels/slide55.xml.rels" ContentType="application/vnd.openxmlformats-package.relationships+xml"/>
  <Override PartName="/ppt/slides/_rels/slide40.xml.rels" ContentType="application/vnd.openxmlformats-package.relationships+xml"/>
  <Override PartName="/ppt/slides/_rels/slide89.xml.rels" ContentType="application/vnd.openxmlformats-package.relationships+xml"/>
  <Override PartName="/ppt/slides/_rels/slide14.xml.rels" ContentType="application/vnd.openxmlformats-package.relationships+xml"/>
  <Override PartName="/ppt/slides/_rels/slide31.xml.rels" ContentType="application/vnd.openxmlformats-package.relationships+xml"/>
  <Override PartName="/ppt/slides/_rels/slide131.xml.rels" ContentType="application/vnd.openxmlformats-package.relationships+xml"/>
  <Override PartName="/ppt/slides/_rels/slide137.xml.rels" ContentType="application/vnd.openxmlformats-package.relationships+xml"/>
  <Override PartName="/ppt/slides/_rels/slide53.xml.rels" ContentType="application/vnd.openxmlformats-package.relationships+xml"/>
  <Override PartName="/ppt/slides/_rels/slide77.xml.rels" ContentType="application/vnd.openxmlformats-package.relationships+xml"/>
  <Override PartName="/ppt/slides/_rels/slide133.xml.rels" ContentType="application/vnd.openxmlformats-package.relationships+xml"/>
  <Override PartName="/ppt/slides/_rels/slide84.xml.rels" ContentType="application/vnd.openxmlformats-package.relationships+xml"/>
  <Override PartName="/ppt/slides/_rels/slide117.xml.rels" ContentType="application/vnd.openxmlformats-package.relationships+xml"/>
  <Override PartName="/ppt/slides/_rels/slide87.xml.rels" ContentType="application/vnd.openxmlformats-package.relationships+xml"/>
  <Override PartName="/ppt/slides/_rels/slide3.xml.rels" ContentType="application/vnd.openxmlformats-package.relationships+xml"/>
  <Override PartName="/ppt/slides/_rels/slide139.xml.rels" ContentType="application/vnd.openxmlformats-package.relationships+xml"/>
  <Override PartName="/ppt/slides/_rels/slide54.xml.rels" ContentType="application/vnd.openxmlformats-package.relationships+xml"/>
  <Override PartName="/ppt/slides/_rels/slide33.xml.rels" ContentType="application/vnd.openxmlformats-package.relationships+xml"/>
  <Override PartName="/ppt/slides/_rels/slide110.xml.rels" ContentType="application/vnd.openxmlformats-package.relationships+xml"/>
  <Override PartName="/ppt/slides/_rels/slide129.xml.rels" ContentType="application/vnd.openxmlformats-package.relationships+xml"/>
  <Override PartName="/ppt/slides/_rels/slide96.xml.rels" ContentType="application/vnd.openxmlformats-package.relationships+xml"/>
  <Override PartName="/ppt/slides/_rels/slide43.xml.rels" ContentType="application/vnd.openxmlformats-package.relationships+xml"/>
  <Override PartName="/ppt/slides/_rels/slide4.xml.rels" ContentType="application/vnd.openxmlformats-package.relationships+xml"/>
  <Override PartName="/ppt/slides/_rels/slide134.xml.rels" ContentType="application/vnd.openxmlformats-package.relationships+xml"/>
  <Override PartName="/ppt/slides/_rels/slide78.xml.rels" ContentType="application/vnd.openxmlformats-package.relationships+xml"/>
  <Override PartName="/ppt/slides/_rels/slide2.xml.rels" ContentType="application/vnd.openxmlformats-package.relationships+xml"/>
  <Override PartName="/ppt/slides/_rels/slide119.xml.rels" ContentType="application/vnd.openxmlformats-package.relationships+xml"/>
  <Override PartName="/ppt/slides/_rels/slide86.xml.rels" ContentType="application/vnd.openxmlformats-package.relationships+xml"/>
  <Override PartName="/ppt/slides/_rels/slide27.xml.rels" ContentType="application/vnd.openxmlformats-package.relationships+xml"/>
  <Override PartName="/ppt/slides/_rels/slide12.xml.rels" ContentType="application/vnd.openxmlformats-package.relationships+xml"/>
  <Override PartName="/ppt/slides/_rels/slide44.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97.xml.rels" ContentType="application/vnd.openxmlformats-package.relationships+xml"/>
  <Override PartName="/ppt/slides/_rels/slide28.xml.rels" ContentType="application/vnd.openxmlformats-package.relationships+xml"/>
  <Override PartName="/ppt/slides/_rels/slide98.xml.rels" ContentType="application/vnd.openxmlformats-package.relationships+xml"/>
  <Override PartName="/ppt/slides/_rels/slide45.xml.rels" ContentType="application/vnd.openxmlformats-package.relationships+xml"/>
  <Override PartName="/ppt/slides/_rels/slide13.xml.rels" ContentType="application/vnd.openxmlformats-package.relationships+xml"/>
  <Override PartName="/ppt/slides/_rels/slide132.xml.rels" ContentType="application/vnd.openxmlformats-package.relationships+xml"/>
  <Override PartName="/ppt/slides/_rels/slide99.xml.rels" ContentType="application/vnd.openxmlformats-package.relationships+xml"/>
  <Override PartName="/ppt/slides/_rels/slide50.xml.rels" ContentType="application/vnd.openxmlformats-package.relationships+xml"/>
  <Override PartName="/ppt/slides/_rels/slide30.xml.rels" ContentType="application/vnd.openxmlformats-package.relationships+xml"/>
  <Override PartName="/ppt/slides/_rels/slide5.xml.rels" ContentType="application/vnd.openxmlformats-package.relationships+xml"/>
  <Override PartName="/ppt/slides/_rels/slide135.xml.rels" ContentType="application/vnd.openxmlformats-package.relationships+xml"/>
  <Override PartName="/ppt/slides/_rels/slide79.xml.rels" ContentType="application/vnd.openxmlformats-package.relationships+xml"/>
  <Override PartName="/ppt/slides/_rels/slide60.xml.rels" ContentType="application/vnd.openxmlformats-package.relationships+xml"/>
  <Override PartName="/ppt/slides/_rels/slide56.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34.xml.rels" ContentType="application/vnd.openxmlformats-package.relationships+xml"/>
  <Override PartName="/ppt/slides/_rels/slide111.xml.rels" ContentType="application/vnd.openxmlformats-package.relationships+xml"/>
  <Override PartName="/ppt/slides/_rels/slide128.xml.rels" ContentType="application/vnd.openxmlformats-package.relationships+xml"/>
  <Override PartName="/ppt/slides/_rels/slide95.xml.rels" ContentType="application/vnd.openxmlformats-package.relationships+xml"/>
  <Override PartName="/ppt/slides/_rels/slide138.xml.rels" ContentType="application/vnd.openxmlformats-package.relationships+xml"/>
  <Override PartName="/ppt/slides/_rels/slide52.xml.rels" ContentType="application/vnd.openxmlformats-package.relationships+xml"/>
  <Override PartName="/ppt/slides/_rels/slide61.xml.rels" ContentType="application/vnd.openxmlformats-package.relationships+xml"/>
  <Override PartName="/ppt/slides/_rels/slide57.xml.rels" ContentType="application/vnd.openxmlformats-package.relationships+xml"/>
  <Override PartName="/ppt/slides/_rels/slide32.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42.xml.rels" ContentType="application/vnd.openxmlformats-package.relationships+xml"/>
  <Override PartName="/ppt/slides/_rels/slide51.xml.rels" ContentType="application/vnd.openxmlformats-package.relationships+xml"/>
  <Override PartName="/ppt/slides/_rels/slide130.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136.xml.rels" ContentType="application/vnd.openxmlformats-package.relationships+xml"/>
  <Override PartName="/ppt/slides/_rels/slide35.xml.rels" ContentType="application/vnd.openxmlformats-package.relationships+xml"/>
  <Override PartName="/ppt/slides/_rels/slide112.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58.xml.rels" ContentType="application/vnd.openxmlformats-package.relationships+xml"/>
  <Override PartName="/ppt/slides/_rels/slide15.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22.xml.rels" ContentType="application/vnd.openxmlformats-package.relationships+xml"/>
  <Override PartName="/ppt/slides/_rels/slide18.xml.rels" ContentType="application/vnd.openxmlformats-package.relationships+xml"/>
  <Override PartName="/ppt/slides/_rels/slide123.xml.rels" ContentType="application/vnd.openxmlformats-package.relationships+xml"/>
  <Override PartName="/ppt/slides/_rels/slide46.xml.rels" ContentType="application/vnd.openxmlformats-package.relationships+xml"/>
  <Override PartName="/ppt/slides/_rels/slide90.xml.rels" ContentType="application/vnd.openxmlformats-package.relationships+xml"/>
  <Override PartName="/ppt/slides/_rels/slide19.xml.rels" ContentType="application/vnd.openxmlformats-package.relationships+xml"/>
  <Override PartName="/ppt/slides/_rels/slide127.xml.rels" ContentType="application/vnd.openxmlformats-package.relationships+xml"/>
  <Override PartName="/ppt/slides/_rels/slide94.xml.rels" ContentType="application/vnd.openxmlformats-package.relationships+xml"/>
  <Override PartName="/ppt/slides/_rels/slide124.xml.rels" ContentType="application/vnd.openxmlformats-package.relationships+xml"/>
  <Override PartName="/ppt/slides/_rels/slide47.xml.rels" ContentType="application/vnd.openxmlformats-package.relationships+xml"/>
  <Override PartName="/ppt/slides/_rels/slide91.xml.rels" ContentType="application/vnd.openxmlformats-package.relationships+xml"/>
  <Override PartName="/ppt/slides/_rels/slide62.xml.rels" ContentType="application/vnd.openxmlformats-package.relationships+xml"/>
  <Override PartName="/ppt/slides/_rels/slide140.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121.xml.rels" ContentType="application/vnd.openxmlformats-package.relationships+xml"/>
  <Override PartName="/ppt/slides/_rels/slide66.xml.rels" ContentType="application/vnd.openxmlformats-package.relationships+xml"/>
  <Override PartName="/ppt/slides/_rels/slide122.xml.rels" ContentType="application/vnd.openxmlformats-package.relationships+xml"/>
  <Override PartName="/ppt/slides/_rels/slide67.xml.rels" ContentType="application/vnd.openxmlformats-package.relationships+xml"/>
  <Override PartName="/ppt/slides/_rels/slide125.xml.rels" ContentType="application/vnd.openxmlformats-package.relationships+xml"/>
  <Override PartName="/ppt/slides/_rels/slide48.xml.rels" ContentType="application/vnd.openxmlformats-package.relationships+xml"/>
  <Override PartName="/ppt/slides/_rels/slide92.xml.rels" ContentType="application/vnd.openxmlformats-package.relationships+xml"/>
  <Override PartName="/ppt/slides/_rels/slide120.xml.rels" ContentType="application/vnd.openxmlformats-package.relationships+xml"/>
  <Override PartName="/ppt/slides/_rels/slide83.xml.rels" ContentType="application/vnd.openxmlformats-package.relationships+xml"/>
  <Override PartName="/ppt/slides/_rels/slide116.xml.rels" ContentType="application/vnd.openxmlformats-package.relationships+xml"/>
  <Override PartName="/ppt/slides/_rels/slide39.xml.rels" ContentType="application/vnd.openxmlformats-package.relationships+xml"/>
  <Override PartName="/ppt/slides/_rels/slide68.xml.rels" ContentType="application/vnd.openxmlformats-package.relationships+xml"/>
  <Override PartName="/ppt/slides/_rels/slide126.xml.rels" ContentType="application/vnd.openxmlformats-package.relationships+xml"/>
  <Override PartName="/ppt/slides/_rels/slide93.xml.rels" ContentType="application/vnd.openxmlformats-package.relationships+xml"/>
  <Override PartName="/ppt/slides/_rels/slide49.xml.rels" ContentType="application/vnd.openxmlformats-package.relationships+xml"/>
  <Override PartName="/ppt/slides/_rels/slide69.xml.rels" ContentType="application/vnd.openxmlformats-package.relationships+xml"/>
  <Override PartName="/ppt/slides/_rels/slide106.xml.rels" ContentType="application/vnd.openxmlformats-package.relationships+xml"/>
  <Override PartName="/ppt/slides/_rels/slide73.xml.rels" ContentType="application/vnd.openxmlformats-package.relationships+xml"/>
  <Override PartName="/ppt/slides/_rels/slide23.xml.rels" ContentType="application/vnd.openxmlformats-package.relationships+xml"/>
  <Override PartName="/ppt/slides/_rels/slide100.xml.rels" ContentType="application/vnd.openxmlformats-package.relationships+xml"/>
  <Override PartName="/ppt/slides/_rels/slide24.xml.rels" ContentType="application/vnd.openxmlformats-package.relationships+xml"/>
  <Override PartName="/ppt/slides/_rels/slide101.xml.rels" ContentType="application/vnd.openxmlformats-package.relationships+xml"/>
  <Override PartName="/ppt/slides/_rels/slide25.xml.rels" ContentType="application/vnd.openxmlformats-package.relationships+xml"/>
  <Override PartName="/ppt/slides/_rels/slide102.xml.rels" ContentType="application/vnd.openxmlformats-package.relationships+xml"/>
  <Override PartName="/ppt/slides/_rels/slide71.xml.rels" ContentType="application/vnd.openxmlformats-package.relationships+xml"/>
  <Override PartName="/ppt/slides/_rels/slide104.xml.rels" ContentType="application/vnd.openxmlformats-package.relationships+xml"/>
  <Override PartName="/ppt/slides/_rels/slide74.xml.rels" ContentType="application/vnd.openxmlformats-package.relationships+xml"/>
  <Override PartName="/ppt/slides/_rels/slide107.xml.rels" ContentType="application/vnd.openxmlformats-package.relationships+xml"/>
  <Override PartName="/ppt/slides/_rels/slide108.xml.rels" ContentType="application/vnd.openxmlformats-package.relationships+xml"/>
  <Override PartName="/ppt/slides/_rels/slide75.xml.rels" ContentType="application/vnd.openxmlformats-package.relationships+xml"/>
  <Override PartName="/ppt/slides/_rels/slide72.xml.rels" ContentType="application/vnd.openxmlformats-package.relationships+xml"/>
  <Override PartName="/ppt/slides/_rels/slide105.xml.rels" ContentType="application/vnd.openxmlformats-package.relationships+xml"/>
  <Override PartName="/ppt/slides/_rels/slide70.xml.rels" ContentType="application/vnd.openxmlformats-package.relationships+xml"/>
  <Override PartName="/ppt/slides/_rels/slide26.xml.rels" ContentType="application/vnd.openxmlformats-package.relationships+xml"/>
  <Override PartName="/ppt/slides/_rels/slide103.xml.rels" ContentType="application/vnd.openxmlformats-package.relationships+xml"/>
  <Override PartName="/ppt/slides/_rels/slide109.xml.rels" ContentType="application/vnd.openxmlformats-package.relationships+xml"/>
  <Override PartName="/ppt/slides/_rels/slide76.xml.rels" ContentType="application/vnd.openxmlformats-package.relationships+xml"/>
  <Override PartName="/ppt/slides/slide127.xml" ContentType="application/vnd.openxmlformats-officedocument.presentationml.slide+xml"/>
  <Override PartName="/ppt/slides/slide99.xml" ContentType="application/vnd.openxmlformats-officedocument.presentationml.slide+xml"/>
  <Override PartName="/ppt/slides/slide126.xml" ContentType="application/vnd.openxmlformats-officedocument.presentationml.slide+xml"/>
  <Override PartName="/ppt/slides/slide98.xml" ContentType="application/vnd.openxmlformats-officedocument.presentationml.slide+xml"/>
  <Override PartName="/ppt/slides/slide125.xml" ContentType="application/vnd.openxmlformats-officedocument.presentationml.slide+xml"/>
  <Override PartName="/ppt/slides/slide97.xml" ContentType="application/vnd.openxmlformats-officedocument.presentationml.slide+xml"/>
  <Override PartName="/ppt/slides/slide29.xml" ContentType="application/vnd.openxmlformats-officedocument.presentationml.slide+xml"/>
  <Override PartName="/ppt/slides/slide124.xml" ContentType="application/vnd.openxmlformats-officedocument.presentationml.slide+xml"/>
  <Override PartName="/ppt/slides/slide96.xml" ContentType="application/vnd.openxmlformats-officedocument.presentationml.slide+xml"/>
  <Override PartName="/ppt/slides/slide28.xml" ContentType="application/vnd.openxmlformats-officedocument.presentationml.slide+xml"/>
  <Override PartName="/ppt/slides/slide123.xml" ContentType="application/vnd.openxmlformats-officedocument.presentationml.slide+xml"/>
  <Override PartName="/ppt/slides/slide95.xml" ContentType="application/vnd.openxmlformats-officedocument.presentationml.slide+xml"/>
  <Override PartName="/ppt/slides/slide27.xml" ContentType="application/vnd.openxmlformats-officedocument.presentationml.slide+xml"/>
  <Override PartName="/ppt/slides/slide57.xml" ContentType="application/vnd.openxmlformats-officedocument.presentationml.slide+xml"/>
  <Override PartName="/ppt/slides/slide1.xml" ContentType="application/vnd.openxmlformats-officedocument.presentationml.slide+xml"/>
  <Override PartName="/ppt/slides/slide108.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109.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0.xml" ContentType="application/vnd.openxmlformats-officedocument.presentationml.slide+xml"/>
  <Override PartName="/ppt/slides/slide139.xml" ContentType="application/vnd.openxmlformats-officedocument.presentationml.slide+xml"/>
  <Override PartName="/ppt/slides/slide5.xml" ContentType="application/vnd.openxmlformats-officedocument.presentationml.slide+xml"/>
  <Override PartName="/ppt/slides/slide41.xml" ContentType="application/vnd.openxmlformats-officedocument.presentationml.slide+xml"/>
  <Override PartName="/ppt/slides/slide6.xml" ContentType="application/vnd.openxmlformats-officedocument.presentationml.slide+xml"/>
  <Override PartName="/ppt/slides/slide30.xml" ContentType="application/vnd.openxmlformats-officedocument.presentationml.slide+xml"/>
  <Override PartName="/ppt/slides/slide129.xml" ContentType="application/vnd.openxmlformats-officedocument.presentationml.slide+xml"/>
  <Override PartName="/ppt/slides/slide31.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1.xml" ContentType="application/vnd.openxmlformats-officedocument.presentationml.slide+xml"/>
  <Override PartName="/ppt/slides/slide128.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80.xml" ContentType="application/vnd.openxmlformats-officedocument.presentationml.slide+xml"/>
  <Override PartName="/ppt/slides/slide43.xml" ContentType="application/vnd.openxmlformats-officedocument.presentationml.slide+xml"/>
  <Override PartName="/ppt/slides/slide33.xml" ContentType="application/vnd.openxmlformats-officedocument.presentationml.slide+xml"/>
  <Override PartName="/ppt/slides/slide52.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81.xml" ContentType="application/vnd.openxmlformats-officedocument.presentationml.slide+xml"/>
  <Override PartName="/ppt/slides/slide140.xml" ContentType="application/vnd.openxmlformats-officedocument.presentationml.slide+xml"/>
  <Override PartName="/ppt/slides/slide44.xml" ContentType="application/vnd.openxmlformats-officedocument.presentationml.slide+xml"/>
  <Override PartName="/ppt/slides/slide130.xml" ContentType="application/vnd.openxmlformats-officedocument.presentationml.slide+xml"/>
  <Override PartName="/ppt/slides/slide34.xml" ContentType="application/vnd.openxmlformats-officedocument.presentationml.slide+xml"/>
  <Override PartName="/ppt/slides/slide49.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50.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135.xml" ContentType="application/vnd.openxmlformats-officedocument.presentationml.slide+xml"/>
  <Override PartName="/ppt/slides/slide47.xml" ContentType="application/vnd.openxmlformats-officedocument.presentationml.slide+xml"/>
  <Override PartName="/ppt/slides/slide38.xml" ContentType="application/vnd.openxmlformats-officedocument.presentationml.slide+xml"/>
  <Override PartName="/ppt/slides/slide134.xml" ContentType="application/vnd.openxmlformats-officedocument.presentationml.slide+xml"/>
  <Override PartName="/ppt/slides/slide46.xml" ContentType="application/vnd.openxmlformats-officedocument.presentationml.slide+xml"/>
  <Override PartName="/ppt/slides/slide37.xml" ContentType="application/vnd.openxmlformats-officedocument.presentationml.slide+xml"/>
  <Override PartName="/ppt/slides/slide133.xml" ContentType="application/vnd.openxmlformats-officedocument.presentationml.slide+xml"/>
  <Override PartName="/ppt/slides/slide45.xml" ContentType="application/vnd.openxmlformats-officedocument.presentationml.slide+xml"/>
  <Override PartName="/ppt/slides/slide36.xml" ContentType="application/vnd.openxmlformats-officedocument.presentationml.slide+xml"/>
  <Override PartName="/ppt/slides/slide132.xml" ContentType="application/vnd.openxmlformats-officedocument.presentationml.slide+xml"/>
  <Override PartName="/ppt/slides/slide107.xml" ContentType="application/vnd.openxmlformats-officedocument.presentationml.slide+xml"/>
  <Override PartName="/ppt/slides/slide79.xml" ContentType="application/vnd.openxmlformats-officedocument.presentationml.slide+xml"/>
  <Override PartName="/ppt/slides/slide131.xml" ContentType="application/vnd.openxmlformats-officedocument.presentationml.slide+xml"/>
  <Override PartName="/ppt/slides/slide35.xml" ContentType="application/vnd.openxmlformats-officedocument.presentationml.slide+xml"/>
  <Override PartName="/ppt/slides/slide32.xml" ContentType="application/vnd.openxmlformats-officedocument.presentationml.slide+xml"/>
  <Override PartName="/ppt/slides/slide110.xml" ContentType="application/vnd.openxmlformats-officedocument.presentationml.slide+xml"/>
  <Override PartName="/ppt/slides/slide14.xml" ContentType="application/vnd.openxmlformats-officedocument.presentationml.slide+xml"/>
  <Override PartName="/ppt/slides/slide82.xml" ContentType="application/vnd.openxmlformats-officedocument.presentationml.slide+xml"/>
  <Override PartName="/ppt/slides/slide20.xml" ContentType="application/vnd.openxmlformats-officedocument.presentationml.slide+xml"/>
  <Override PartName="/ppt/slides/slide119.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111.xml" ContentType="application/vnd.openxmlformats-officedocument.presentationml.slide+xml"/>
  <Override PartName="/ppt/slides/slide83.xml" ContentType="application/vnd.openxmlformats-officedocument.presentationml.slide+xml"/>
  <Override PartName="/ppt/slides/slide21.xml" ContentType="application/vnd.openxmlformats-officedocument.presentationml.slide+xml"/>
  <Override PartName="/ppt/slides/slide59.xml" ContentType="application/vnd.openxmlformats-officedocument.presentationml.slide+xml"/>
  <Override PartName="/ppt/slides/slide16.xml" ContentType="application/vnd.openxmlformats-officedocument.presentationml.slide+xml"/>
  <Override PartName="/ppt/slides/slide112.xml" ContentType="application/vnd.openxmlformats-officedocument.presentationml.slide+xml"/>
  <Override PartName="/ppt/slides/slide84.xml" ContentType="application/vnd.openxmlformats-officedocument.presentationml.slide+xml"/>
  <Override PartName="/ppt/slides/slide22.xml" ContentType="application/vnd.openxmlformats-officedocument.presentationml.slide+xml"/>
  <Override PartName="/ppt/slides/slide90.xml" ContentType="application/vnd.openxmlformats-officedocument.presentationml.slide+xml"/>
  <Override PartName="/ppt/slides/slide23.xml" ContentType="application/vnd.openxmlformats-officedocument.presentationml.slide+xml"/>
  <Override PartName="/ppt/slides/slide91.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120.xml" ContentType="application/vnd.openxmlformats-officedocument.presentationml.slide+xml"/>
  <Override PartName="/ppt/slides/slide24.xml" ContentType="application/vnd.openxmlformats-officedocument.presentationml.slide+xml"/>
  <Override PartName="/ppt/slides/slide92.xml" ContentType="application/vnd.openxmlformats-officedocument.presentationml.slide+xml"/>
  <Override PartName="/ppt/slides/slide68.xml" ContentType="application/vnd.openxmlformats-officedocument.presentationml.slide+xml"/>
  <Override PartName="/ppt/slides/slide25.xml" ContentType="application/vnd.openxmlformats-officedocument.presentationml.slide+xml"/>
  <Override PartName="/ppt/slides/slide121.xml" ContentType="application/vnd.openxmlformats-officedocument.presentationml.slide+xml"/>
  <Override PartName="/ppt/slides/slide93.xml" ContentType="application/vnd.openxmlformats-officedocument.presentationml.slide+xml"/>
  <Override PartName="/ppt/slides/slide69.xml" ContentType="application/vnd.openxmlformats-officedocument.presentationml.slide+xml"/>
  <Override PartName="/ppt/slides/slide26.xml" ContentType="application/vnd.openxmlformats-officedocument.presentationml.slide+xml"/>
  <Override PartName="/ppt/slides/slide122.xml" ContentType="application/vnd.openxmlformats-officedocument.presentationml.slide+xml"/>
  <Override PartName="/ppt/slides/slide94.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100.xml" ContentType="application/vnd.openxmlformats-officedocument.presentationml.slide+xml"/>
  <Override PartName="/ppt/slides/slide72.xml" ContentType="application/vnd.openxmlformats-officedocument.presentationml.slide+xml"/>
  <Override PartName="/ppt/slides/slide101.xml" ContentType="application/vnd.openxmlformats-officedocument.presentationml.slide+xml"/>
  <Override PartName="/ppt/slides/slide73.xml" ContentType="application/vnd.openxmlformats-officedocument.presentationml.slide+xml"/>
  <Override PartName="/ppt/slides/slide102.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103.xml" ContentType="application/vnd.openxmlformats-officedocument.presentationml.slide+xml"/>
  <Override PartName="/ppt/slides/slide76.xml" ContentType="application/vnd.openxmlformats-officedocument.presentationml.slide+xml"/>
  <Override PartName="/ppt/slides/slide104.xml" ContentType="application/vnd.openxmlformats-officedocument.presentationml.slide+xml"/>
  <Override PartName="/ppt/slides/slide77.xml" ContentType="application/vnd.openxmlformats-officedocument.presentationml.slide+xml"/>
  <Override PartName="/ppt/slides/slide105.xml" ContentType="application/vnd.openxmlformats-officedocument.presentationml.slide+xml"/>
  <Override PartName="/ppt/slides/slide78.xml" ContentType="application/vnd.openxmlformats-officedocument.presentationml.slide+xml"/>
  <Override PartName="/ppt/slides/slide106.xml" ContentType="application/vnd.openxmlformats-officedocument.presentationml.slide+xml"/>
  <Override PartName="/ppt/slides/slide17.xml" ContentType="application/vnd.openxmlformats-officedocument.presentationml.slide+xml"/>
  <Override PartName="/ppt/slides/slide85.xml" ContentType="application/vnd.openxmlformats-officedocument.presentationml.slide+xml"/>
  <Override PartName="/ppt/slides/slide113.xml" ContentType="application/vnd.openxmlformats-officedocument.presentationml.slide+xml"/>
  <Override PartName="/ppt/slides/slide18.xml" ContentType="application/vnd.openxmlformats-officedocument.presentationml.slide+xml"/>
  <Override PartName="/ppt/slides/slide86.xml" ContentType="application/vnd.openxmlformats-officedocument.presentationml.slide+xml"/>
  <Override PartName="/ppt/slides/slide114.xml" ContentType="application/vnd.openxmlformats-officedocument.presentationml.slide+xml"/>
  <Override PartName="/ppt/slides/slide87.xml" ContentType="application/vnd.openxmlformats-officedocument.presentationml.slide+xml"/>
  <Override PartName="/ppt/slides/slide19.xml" ContentType="application/vnd.openxmlformats-officedocument.presentationml.slide+xml"/>
  <Override PartName="/ppt/slides/slide115.xml" ContentType="application/vnd.openxmlformats-officedocument.presentationml.slide+xml"/>
  <Override PartName="/ppt/slides/slide88.xml" ContentType="application/vnd.openxmlformats-officedocument.presentationml.slide+xml"/>
  <Override PartName="/ppt/slides/slide116.xml" ContentType="application/vnd.openxmlformats-officedocument.presentationml.slide+xml"/>
  <Override PartName="/ppt/slides/slide89.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104.xml"/><Relationship Id="rId107" Type="http://schemas.openxmlformats.org/officeDocument/2006/relationships/slide" Target="slides/slide105.xml"/><Relationship Id="rId108" Type="http://schemas.openxmlformats.org/officeDocument/2006/relationships/slide" Target="slides/slide106.xml"/><Relationship Id="rId109" Type="http://schemas.openxmlformats.org/officeDocument/2006/relationships/slide" Target="slides/slide107.xml"/><Relationship Id="rId110" Type="http://schemas.openxmlformats.org/officeDocument/2006/relationships/slide" Target="slides/slide108.xml"/><Relationship Id="rId111" Type="http://schemas.openxmlformats.org/officeDocument/2006/relationships/slide" Target="slides/slide109.xml"/><Relationship Id="rId112" Type="http://schemas.openxmlformats.org/officeDocument/2006/relationships/slide" Target="slides/slide110.xml"/><Relationship Id="rId113" Type="http://schemas.openxmlformats.org/officeDocument/2006/relationships/slide" Target="slides/slide111.xml"/><Relationship Id="rId114" Type="http://schemas.openxmlformats.org/officeDocument/2006/relationships/slide" Target="slides/slide112.xml"/><Relationship Id="rId115" Type="http://schemas.openxmlformats.org/officeDocument/2006/relationships/slide" Target="slides/slide113.xml"/><Relationship Id="rId116" Type="http://schemas.openxmlformats.org/officeDocument/2006/relationships/slide" Target="slides/slide114.xml"/><Relationship Id="rId117" Type="http://schemas.openxmlformats.org/officeDocument/2006/relationships/slide" Target="slides/slide115.xml"/><Relationship Id="rId118" Type="http://schemas.openxmlformats.org/officeDocument/2006/relationships/slide" Target="slides/slide116.xml"/><Relationship Id="rId119" Type="http://schemas.openxmlformats.org/officeDocument/2006/relationships/slide" Target="slides/slide117.xml"/><Relationship Id="rId120" Type="http://schemas.openxmlformats.org/officeDocument/2006/relationships/slide" Target="slides/slide118.xml"/><Relationship Id="rId121" Type="http://schemas.openxmlformats.org/officeDocument/2006/relationships/slide" Target="slides/slide119.xml"/><Relationship Id="rId122" Type="http://schemas.openxmlformats.org/officeDocument/2006/relationships/slide" Target="slides/slide120.xml"/><Relationship Id="rId123" Type="http://schemas.openxmlformats.org/officeDocument/2006/relationships/slide" Target="slides/slide121.xml"/><Relationship Id="rId124" Type="http://schemas.openxmlformats.org/officeDocument/2006/relationships/slide" Target="slides/slide122.xml"/><Relationship Id="rId125" Type="http://schemas.openxmlformats.org/officeDocument/2006/relationships/slide" Target="slides/slide123.xml"/><Relationship Id="rId126" Type="http://schemas.openxmlformats.org/officeDocument/2006/relationships/slide" Target="slides/slide124.xml"/><Relationship Id="rId127" Type="http://schemas.openxmlformats.org/officeDocument/2006/relationships/slide" Target="slides/slide125.xml"/><Relationship Id="rId128" Type="http://schemas.openxmlformats.org/officeDocument/2006/relationships/slide" Target="slides/slide126.xml"/><Relationship Id="rId129" Type="http://schemas.openxmlformats.org/officeDocument/2006/relationships/slide" Target="slides/slide127.xml"/><Relationship Id="rId130" Type="http://schemas.openxmlformats.org/officeDocument/2006/relationships/slide" Target="slides/slide128.xml"/><Relationship Id="rId131" Type="http://schemas.openxmlformats.org/officeDocument/2006/relationships/slide" Target="slides/slide129.xml"/><Relationship Id="rId132" Type="http://schemas.openxmlformats.org/officeDocument/2006/relationships/slide" Target="slides/slide130.xml"/><Relationship Id="rId133" Type="http://schemas.openxmlformats.org/officeDocument/2006/relationships/slide" Target="slides/slide131.xml"/><Relationship Id="rId134" Type="http://schemas.openxmlformats.org/officeDocument/2006/relationships/slide" Target="slides/slide132.xml"/><Relationship Id="rId135" Type="http://schemas.openxmlformats.org/officeDocument/2006/relationships/slide" Target="slides/slide133.xml"/><Relationship Id="rId136" Type="http://schemas.openxmlformats.org/officeDocument/2006/relationships/slide" Target="slides/slide134.xml"/><Relationship Id="rId137" Type="http://schemas.openxmlformats.org/officeDocument/2006/relationships/slide" Target="slides/slide135.xml"/><Relationship Id="rId138" Type="http://schemas.openxmlformats.org/officeDocument/2006/relationships/slide" Target="slides/slide136.xml"/><Relationship Id="rId139" Type="http://schemas.openxmlformats.org/officeDocument/2006/relationships/slide" Target="slides/slide137.xml"/><Relationship Id="rId140" Type="http://schemas.openxmlformats.org/officeDocument/2006/relationships/slide" Target="slides/slide138.xml"/><Relationship Id="rId141" Type="http://schemas.openxmlformats.org/officeDocument/2006/relationships/slide" Target="slides/slide139.xml"/><Relationship Id="rId142" Type="http://schemas.openxmlformats.org/officeDocument/2006/relationships/slide" Target="slides/slide140.xml"/><Relationship Id="rId14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BAD8563A-4779-4028-96DB-900B9EF7DAFC}"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 name="PlaceHolder 2"/>
          <p:cNvSpPr>
            <a:spLocks noGrp="1"/>
          </p:cNvSpPr>
          <p:nvPr>
            <p:ph type="subTitle"/>
          </p:nvPr>
        </p:nvSpPr>
        <p:spPr>
          <a:xfrm>
            <a:off x="1097280" y="1845720"/>
            <a:ext cx="10058040" cy="402300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FF81D85-AE45-4634-926C-AEE2F9567699}"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 name="PlaceHolder 2"/>
          <p:cNvSpPr>
            <a:spLocks noGrp="1"/>
          </p:cNvSpPr>
          <p:nvPr>
            <p:ph/>
          </p:nvPr>
        </p:nvSpPr>
        <p:spPr>
          <a:xfrm>
            <a:off x="1097280" y="1845720"/>
            <a:ext cx="100580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E6DD3F1-C581-4079-BA27-F497BF1CD4EF}"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 name="PlaceHolder 2"/>
          <p:cNvSpPr>
            <a:spLocks noGrp="1"/>
          </p:cNvSpPr>
          <p:nvPr>
            <p:ph/>
          </p:nvPr>
        </p:nvSpPr>
        <p:spPr>
          <a:xfrm>
            <a:off x="109728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14" name="PlaceHolder 3"/>
          <p:cNvSpPr>
            <a:spLocks noGrp="1"/>
          </p:cNvSpPr>
          <p:nvPr>
            <p:ph/>
          </p:nvPr>
        </p:nvSpPr>
        <p:spPr>
          <a:xfrm>
            <a:off x="625140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0CBACCD-90D6-4DE0-9D75-115EF792FA2E}"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2F9B2DC-CEC9-472E-8C7B-320BDE573E30}"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1097280" y="286560"/>
            <a:ext cx="10058040" cy="672480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CF81FF0-DEAC-49C5-8063-4261414DE45F}"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8" name="PlaceHolder 2"/>
          <p:cNvSpPr>
            <a:spLocks noGrp="1"/>
          </p:cNvSpPr>
          <p:nvPr>
            <p:ph/>
          </p:nvPr>
        </p:nvSpPr>
        <p:spPr>
          <a:xfrm>
            <a:off x="109728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19" name="PlaceHolder 3"/>
          <p:cNvSpPr>
            <a:spLocks noGrp="1"/>
          </p:cNvSpPr>
          <p:nvPr>
            <p:ph/>
          </p:nvPr>
        </p:nvSpPr>
        <p:spPr>
          <a:xfrm>
            <a:off x="625140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20" name="PlaceHolder 4"/>
          <p:cNvSpPr>
            <a:spLocks noGrp="1"/>
          </p:cNvSpPr>
          <p:nvPr>
            <p:ph/>
          </p:nvPr>
        </p:nvSpPr>
        <p:spPr>
          <a:xfrm>
            <a:off x="109728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E5E4013-F7A7-4F52-A6D3-4B2E4479A9AE}"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2" name="PlaceHolder 2"/>
          <p:cNvSpPr>
            <a:spLocks noGrp="1"/>
          </p:cNvSpPr>
          <p:nvPr>
            <p:ph/>
          </p:nvPr>
        </p:nvSpPr>
        <p:spPr>
          <a:xfrm>
            <a:off x="109728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23" name="PlaceHolder 3"/>
          <p:cNvSpPr>
            <a:spLocks noGrp="1"/>
          </p:cNvSpPr>
          <p:nvPr>
            <p:ph/>
          </p:nvPr>
        </p:nvSpPr>
        <p:spPr>
          <a:xfrm>
            <a:off x="625140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24" name="PlaceHolder 4"/>
          <p:cNvSpPr>
            <a:spLocks noGrp="1"/>
          </p:cNvSpPr>
          <p:nvPr>
            <p:ph/>
          </p:nvPr>
        </p:nvSpPr>
        <p:spPr>
          <a:xfrm>
            <a:off x="625140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084A778-51AE-40E3-8A75-0AD0CAE0EF51}"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6" name="PlaceHolder 2"/>
          <p:cNvSpPr>
            <a:spLocks noGrp="1"/>
          </p:cNvSpPr>
          <p:nvPr>
            <p:ph/>
          </p:nvPr>
        </p:nvSpPr>
        <p:spPr>
          <a:xfrm>
            <a:off x="109728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27" name="PlaceHolder 3"/>
          <p:cNvSpPr>
            <a:spLocks noGrp="1"/>
          </p:cNvSpPr>
          <p:nvPr>
            <p:ph/>
          </p:nvPr>
        </p:nvSpPr>
        <p:spPr>
          <a:xfrm>
            <a:off x="625140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28" name="PlaceHolder 4"/>
          <p:cNvSpPr>
            <a:spLocks noGrp="1"/>
          </p:cNvSpPr>
          <p:nvPr>
            <p:ph/>
          </p:nvPr>
        </p:nvSpPr>
        <p:spPr>
          <a:xfrm>
            <a:off x="1097280" y="3947040"/>
            <a:ext cx="100580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BF93E60-4417-45F0-B9B4-9D8FB8D3FB8F}"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1097280" y="1845720"/>
            <a:ext cx="100580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31" name="PlaceHolder 3"/>
          <p:cNvSpPr>
            <a:spLocks noGrp="1"/>
          </p:cNvSpPr>
          <p:nvPr>
            <p:ph/>
          </p:nvPr>
        </p:nvSpPr>
        <p:spPr>
          <a:xfrm>
            <a:off x="1097280" y="3947040"/>
            <a:ext cx="100580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A41DFE90-16CE-4087-9D89-2013AEC7F665}"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3" name="PlaceHolder 2"/>
          <p:cNvSpPr>
            <a:spLocks noGrp="1"/>
          </p:cNvSpPr>
          <p:nvPr>
            <p:ph/>
          </p:nvPr>
        </p:nvSpPr>
        <p:spPr>
          <a:xfrm>
            <a:off x="109728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34" name="PlaceHolder 3"/>
          <p:cNvSpPr>
            <a:spLocks noGrp="1"/>
          </p:cNvSpPr>
          <p:nvPr>
            <p:ph/>
          </p:nvPr>
        </p:nvSpPr>
        <p:spPr>
          <a:xfrm>
            <a:off x="625140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35" name="PlaceHolder 4"/>
          <p:cNvSpPr>
            <a:spLocks noGrp="1"/>
          </p:cNvSpPr>
          <p:nvPr>
            <p:ph/>
          </p:nvPr>
        </p:nvSpPr>
        <p:spPr>
          <a:xfrm>
            <a:off x="109728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36" name="PlaceHolder 5"/>
          <p:cNvSpPr>
            <a:spLocks noGrp="1"/>
          </p:cNvSpPr>
          <p:nvPr>
            <p:ph/>
          </p:nvPr>
        </p:nvSpPr>
        <p:spPr>
          <a:xfrm>
            <a:off x="625140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1E131B22-49A8-49DF-BAF6-9F43DB1B7E9C}"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8" name="PlaceHolder 2"/>
          <p:cNvSpPr>
            <a:spLocks noGrp="1"/>
          </p:cNvSpPr>
          <p:nvPr>
            <p:ph/>
          </p:nvPr>
        </p:nvSpPr>
        <p:spPr>
          <a:xfrm>
            <a:off x="1097280" y="184572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39" name="PlaceHolder 3"/>
          <p:cNvSpPr>
            <a:spLocks noGrp="1"/>
          </p:cNvSpPr>
          <p:nvPr>
            <p:ph/>
          </p:nvPr>
        </p:nvSpPr>
        <p:spPr>
          <a:xfrm>
            <a:off x="4498200" y="184572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40" name="PlaceHolder 4"/>
          <p:cNvSpPr>
            <a:spLocks noGrp="1"/>
          </p:cNvSpPr>
          <p:nvPr>
            <p:ph/>
          </p:nvPr>
        </p:nvSpPr>
        <p:spPr>
          <a:xfrm>
            <a:off x="7899120" y="184572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41" name="PlaceHolder 5"/>
          <p:cNvSpPr>
            <a:spLocks noGrp="1"/>
          </p:cNvSpPr>
          <p:nvPr>
            <p:ph/>
          </p:nvPr>
        </p:nvSpPr>
        <p:spPr>
          <a:xfrm>
            <a:off x="1097280" y="394704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42" name="PlaceHolder 6"/>
          <p:cNvSpPr>
            <a:spLocks noGrp="1"/>
          </p:cNvSpPr>
          <p:nvPr>
            <p:ph/>
          </p:nvPr>
        </p:nvSpPr>
        <p:spPr>
          <a:xfrm>
            <a:off x="4498200" y="394704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43" name="PlaceHolder 7"/>
          <p:cNvSpPr>
            <a:spLocks noGrp="1"/>
          </p:cNvSpPr>
          <p:nvPr>
            <p:ph/>
          </p:nvPr>
        </p:nvSpPr>
        <p:spPr>
          <a:xfrm>
            <a:off x="7899120" y="394704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C8FE67D9-906A-4DA7-A0F4-03422C4F75DD}" type="slidenum">
              <a:t>&lt;#&gt;</a:t>
            </a:fld>
          </a:p>
        </p:txBody>
      </p:sp>
      <p:sp>
        <p:nvSpPr>
          <p:cNvPr id="11" name="PlaceHolder 10"/>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1" name="Rectangle 8"/>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2" name="Straight Connector 9"/>
          <p:cNvSpPr/>
          <p:nvPr/>
        </p:nvSpPr>
        <p:spPr>
          <a:xfrm>
            <a:off x="1193400" y="1737720"/>
            <a:ext cx="9966960" cy="360"/>
          </a:xfrm>
          <a:prstGeom prst="line">
            <a:avLst/>
          </a:prstGeom>
          <a:ln w="6350">
            <a:solidFill>
              <a:srgbClr val="000000">
                <a:lumMod val="50000"/>
                <a:lumOff val="50000"/>
              </a:srgbClr>
            </a:solidFill>
            <a:round/>
          </a:ln>
        </p:spPr>
        <p:style>
          <a:lnRef idx="1">
            <a:schemeClr val="accent1"/>
          </a:lnRef>
          <a:fillRef idx="0">
            <a:schemeClr val="accent1"/>
          </a:fillRef>
          <a:effectRef idx="0">
            <a:schemeClr val="accent1"/>
          </a:effectRef>
          <a:fontRef idx="minor"/>
        </p:style>
      </p:sp>
      <p:sp>
        <p:nvSpPr>
          <p:cNvPr id="3"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Click to edit Master title style</a:t>
            </a:r>
            <a:endParaRPr b="0" lang="en-US" sz="4800" spc="-1" strike="noStrike">
              <a:solidFill>
                <a:srgbClr val="000000"/>
              </a:solidFill>
              <a:latin typeface="Calibri"/>
            </a:endParaRPr>
          </a:p>
        </p:txBody>
      </p:sp>
      <p:sp>
        <p:nvSpPr>
          <p:cNvPr id="4" name="PlaceHolder 2"/>
          <p:cNvSpPr>
            <a:spLocks noGrp="1"/>
          </p:cNvSpPr>
          <p:nvPr>
            <p:ph type="body"/>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Edit Master text styles</a:t>
            </a:r>
            <a:endParaRPr b="0" lang="en-US" sz="2000" spc="-1" strike="noStrike">
              <a:solidFill>
                <a:srgbClr val="404040"/>
              </a:solidFill>
              <a:latin typeface="Calibri"/>
            </a:endParaRPr>
          </a:p>
          <a:p>
            <a:pPr lvl="1" marL="384120" indent="-182880">
              <a:lnSpc>
                <a:spcPct val="90000"/>
              </a:lnSpc>
              <a:spcBef>
                <a:spcPts val="201"/>
              </a:spcBef>
              <a:spcAft>
                <a:spcPts val="400"/>
              </a:spcAft>
              <a:buClr>
                <a:srgbClr val="e48312"/>
              </a:buClr>
              <a:buFont typeface="Calibri"/>
              <a:buChar char="◦"/>
            </a:pPr>
            <a:r>
              <a:rPr b="0" lang="en-US" sz="1800" spc="-1" strike="noStrike">
                <a:solidFill>
                  <a:srgbClr val="404040"/>
                </a:solidFill>
                <a:latin typeface="Calibri"/>
              </a:rPr>
              <a:t>Second level</a:t>
            </a:r>
            <a:endParaRPr b="0" lang="en-US" sz="1800" spc="-1" strike="noStrike">
              <a:solidFill>
                <a:srgbClr val="404040"/>
              </a:solidFill>
              <a:latin typeface="Calibri"/>
            </a:endParaRPr>
          </a:p>
          <a:p>
            <a:pPr lvl="2" marL="567000" indent="-182880">
              <a:lnSpc>
                <a:spcPct val="90000"/>
              </a:lnSpc>
              <a:spcBef>
                <a:spcPts val="201"/>
              </a:spcBef>
              <a:spcAft>
                <a:spcPts val="400"/>
              </a:spcAft>
              <a:buClr>
                <a:srgbClr val="e48312"/>
              </a:buClr>
              <a:buFont typeface="Calibri"/>
              <a:buChar char="◦"/>
            </a:pPr>
            <a:r>
              <a:rPr b="0" lang="en-US" sz="1400" spc="-1" strike="noStrike">
                <a:solidFill>
                  <a:srgbClr val="404040"/>
                </a:solidFill>
                <a:latin typeface="Calibri"/>
              </a:rPr>
              <a:t>Third level</a:t>
            </a:r>
            <a:endParaRPr b="0" lang="en-US" sz="1400" spc="-1" strike="noStrike">
              <a:solidFill>
                <a:srgbClr val="404040"/>
              </a:solidFill>
              <a:latin typeface="Calibri"/>
            </a:endParaRPr>
          </a:p>
          <a:p>
            <a:pPr lvl="3" marL="749880" indent="-182880">
              <a:lnSpc>
                <a:spcPct val="90000"/>
              </a:lnSpc>
              <a:spcBef>
                <a:spcPts val="201"/>
              </a:spcBef>
              <a:spcAft>
                <a:spcPts val="400"/>
              </a:spcAft>
              <a:buClr>
                <a:srgbClr val="e48312"/>
              </a:buClr>
              <a:buFont typeface="Calibri"/>
              <a:buChar char="◦"/>
            </a:pPr>
            <a:r>
              <a:rPr b="0" lang="en-US" sz="1400" spc="-1" strike="noStrike">
                <a:solidFill>
                  <a:srgbClr val="404040"/>
                </a:solidFill>
                <a:latin typeface="Calibri"/>
              </a:rPr>
              <a:t>Fourth level</a:t>
            </a:r>
            <a:endParaRPr b="0" lang="en-US" sz="1400" spc="-1" strike="noStrike">
              <a:solidFill>
                <a:srgbClr val="404040"/>
              </a:solidFill>
              <a:latin typeface="Calibri"/>
            </a:endParaRPr>
          </a:p>
          <a:p>
            <a:pPr lvl="4" marL="932760" indent="-182880">
              <a:lnSpc>
                <a:spcPct val="90000"/>
              </a:lnSpc>
              <a:spcBef>
                <a:spcPts val="201"/>
              </a:spcBef>
              <a:spcAft>
                <a:spcPts val="400"/>
              </a:spcAft>
              <a:buClr>
                <a:srgbClr val="e48312"/>
              </a:buClr>
              <a:buFont typeface="Calibri"/>
              <a:buChar char="◦"/>
            </a:pPr>
            <a:r>
              <a:rPr b="0" lang="en-US" sz="1400" spc="-1" strike="noStrike">
                <a:solidFill>
                  <a:srgbClr val="404040"/>
                </a:solidFill>
                <a:latin typeface="Calibri"/>
              </a:rPr>
              <a:t>Fifth level</a:t>
            </a:r>
            <a:endParaRPr b="0" lang="en-US" sz="1400" spc="-1" strike="noStrike">
              <a:solidFill>
                <a:srgbClr val="404040"/>
              </a:solidFill>
              <a:latin typeface="Calibri"/>
            </a:endParaRPr>
          </a:p>
        </p:txBody>
      </p:sp>
      <p:sp>
        <p:nvSpPr>
          <p:cNvPr id="5" name="PlaceHolder 3"/>
          <p:cNvSpPr>
            <a:spLocks noGrp="1"/>
          </p:cNvSpPr>
          <p:nvPr>
            <p:ph type="dt" idx="1"/>
          </p:nvPr>
        </p:nvSpPr>
        <p:spPr>
          <a:xfrm>
            <a:off x="1097280" y="6459840"/>
            <a:ext cx="2471760" cy="364680"/>
          </a:xfrm>
          <a:prstGeom prst="rect">
            <a:avLst/>
          </a:prstGeom>
          <a:noFill/>
          <a:ln w="0">
            <a:noFill/>
          </a:ln>
        </p:spPr>
        <p:txBody>
          <a:bodyPr anchor="ctr">
            <a:noAutofit/>
          </a:bodyPr>
          <a:lstStyle>
            <a:lvl1pPr>
              <a:lnSpc>
                <a:spcPct val="100000"/>
              </a:lnSpc>
              <a:buNone/>
              <a:defRPr b="0" lang="en-IN" sz="900" spc="-1" strike="noStrike">
                <a:solidFill>
                  <a:srgbClr val="ffffff"/>
                </a:solidFill>
                <a:latin typeface="Calibri"/>
              </a:defRPr>
            </a:lvl1pPr>
          </a:lstStyle>
          <a:p>
            <a:pPr>
              <a:lnSpc>
                <a:spcPct val="100000"/>
              </a:lnSpc>
              <a:buNone/>
            </a:pPr>
            <a:r>
              <a:rPr b="0" lang="en-IN" sz="900" spc="-1" strike="noStrike">
                <a:solidFill>
                  <a:srgbClr val="ffffff"/>
                </a:solidFill>
                <a:latin typeface="Calibri"/>
              </a:rPr>
              <a:t>&lt;date/time&gt;</a:t>
            </a:r>
            <a:endParaRPr b="0" lang="en-IN" sz="900" spc="-1" strike="noStrike">
              <a:latin typeface="Times New Roman"/>
            </a:endParaRPr>
          </a:p>
        </p:txBody>
      </p:sp>
      <p:sp>
        <p:nvSpPr>
          <p:cNvPr id="6" name="PlaceHolder 4"/>
          <p:cNvSpPr>
            <a:spLocks noGrp="1"/>
          </p:cNvSpPr>
          <p:nvPr>
            <p:ph type="ftr" idx="2"/>
          </p:nvPr>
        </p:nvSpPr>
        <p:spPr>
          <a:xfrm>
            <a:off x="3686040" y="6459840"/>
            <a:ext cx="482256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7" name="PlaceHolder 5"/>
          <p:cNvSpPr>
            <a:spLocks noGrp="1"/>
          </p:cNvSpPr>
          <p:nvPr>
            <p:ph type="sldNum" idx="3"/>
          </p:nvPr>
        </p:nvSpPr>
        <p:spPr>
          <a:xfrm>
            <a:off x="9900360" y="6459840"/>
            <a:ext cx="1311840" cy="364680"/>
          </a:xfrm>
          <a:prstGeom prst="rect">
            <a:avLst/>
          </a:prstGeom>
          <a:noFill/>
          <a:ln w="0">
            <a:noFill/>
          </a:ln>
        </p:spPr>
        <p:txBody>
          <a:bodyPr anchor="ctr">
            <a:noAutofit/>
          </a:bodyPr>
          <a:lstStyle>
            <a:lvl1pPr algn="r">
              <a:lnSpc>
                <a:spcPct val="100000"/>
              </a:lnSpc>
              <a:buNone/>
              <a:defRPr b="0" lang="en-IN" sz="1050" spc="-1" strike="noStrike">
                <a:solidFill>
                  <a:srgbClr val="ffffff"/>
                </a:solidFill>
                <a:latin typeface="Calibri"/>
              </a:defRPr>
            </a:lvl1pPr>
          </a:lstStyle>
          <a:p>
            <a:pPr algn="r">
              <a:lnSpc>
                <a:spcPct val="100000"/>
              </a:lnSpc>
              <a:buNone/>
            </a:pPr>
            <a:fld id="{D4E928A7-0F93-42E2-A794-D0721A886AF7}" type="slidenum">
              <a:rPr b="0" lang="en-IN" sz="1050" spc="-1" strike="noStrike">
                <a:solidFill>
                  <a:srgbClr val="ffffff"/>
                </a:solidFill>
                <a:latin typeface="Calibri"/>
              </a:rPr>
              <a:t>&lt;number&gt;</a:t>
            </a:fld>
            <a:endParaRPr b="0" lang="en-IN"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1.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0.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1.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2.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_rels/slide123.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8.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4.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6.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
</Relationships>
</file>

<file path=ppt/slides/_rels/slide137.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9.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2346840" y="794160"/>
            <a:ext cx="7683480" cy="747720"/>
          </a:xfrm>
          <a:prstGeom prst="rect">
            <a:avLst/>
          </a:prstGeom>
          <a:noFill/>
          <a:ln w="0">
            <a:noFill/>
          </a:ln>
        </p:spPr>
        <p:txBody>
          <a:bodyPr anchor="b">
            <a:normAutofit fontScale="70000"/>
          </a:bodyPr>
          <a:p>
            <a:pPr>
              <a:lnSpc>
                <a:spcPct val="85000"/>
              </a:lnSpc>
              <a:buNone/>
            </a:pPr>
            <a:r>
              <a:rPr b="1" lang="en-US" sz="3600" spc="-52" strike="noStrike">
                <a:solidFill>
                  <a:srgbClr val="404040"/>
                </a:solidFill>
                <a:latin typeface="Calibri Light"/>
              </a:rPr>
              <a:t>Chapter 3: Loading and Handling Data in R</a:t>
            </a:r>
            <a:endParaRPr b="0" lang="en-US" sz="3600" spc="-1" strike="noStrike">
              <a:solidFill>
                <a:srgbClr val="000000"/>
              </a:solidFill>
              <a:latin typeface="Calibri"/>
            </a:endParaRPr>
          </a:p>
        </p:txBody>
      </p:sp>
      <p:sp>
        <p:nvSpPr>
          <p:cNvPr id="45"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Wingdings" charset="2"/>
              <a:buChar char=""/>
            </a:pPr>
            <a:r>
              <a:rPr b="0" lang="en-IN" sz="2000" spc="-1" strike="noStrike">
                <a:solidFill>
                  <a:srgbClr val="404040"/>
                </a:solidFill>
                <a:latin typeface="Calibri"/>
              </a:rPr>
              <a:t>Store data of varied data types into vectors, matrixes, and lists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IN" sz="2000" spc="-1" strike="noStrike">
                <a:solidFill>
                  <a:srgbClr val="404040"/>
                </a:solidFill>
                <a:latin typeface="Calibri"/>
              </a:rPr>
              <a:t>Load data from .csv, spreadsheets, web, Jason documents, and </a:t>
            </a:r>
            <a:r>
              <a:rPr b="0" lang="en-IN" sz="2000" spc="-1" strike="noStrike">
                <a:solidFill>
                  <a:srgbClr val="ff0000"/>
                </a:solidFill>
                <a:latin typeface="Calibri"/>
              </a:rPr>
              <a:t>XML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IN" sz="2000" spc="-1" strike="noStrike">
                <a:solidFill>
                  <a:srgbClr val="404040"/>
                </a:solidFill>
                <a:latin typeface="Calibri"/>
              </a:rPr>
              <a:t>Deal with missing or invalid values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IN" sz="2000" spc="-1" strike="noStrike">
                <a:solidFill>
                  <a:srgbClr val="404040"/>
                </a:solidFill>
                <a:latin typeface="Calibri"/>
              </a:rPr>
              <a:t>Run R functions on the data (</a:t>
            </a:r>
            <a:r>
              <a:rPr b="0" lang="en-IN" sz="2000" spc="-1" strike="noStrike">
                <a:solidFill>
                  <a:srgbClr val="ff0000"/>
                </a:solidFill>
                <a:latin typeface="Calibri"/>
              </a:rPr>
              <a:t>sum(), min(), max(), rep(), grep(), substr(), strsplit()</a:t>
            </a:r>
            <a:r>
              <a:rPr b="0" lang="en-IN" sz="2000" spc="-1" strike="noStrike">
                <a:solidFill>
                  <a:srgbClr val="404040"/>
                </a:solidFill>
                <a:latin typeface="Calibri"/>
              </a:rPr>
              <a:t>, etc.)</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IN" sz="2000" spc="-1" strike="noStrike">
                <a:solidFill>
                  <a:srgbClr val="404040"/>
                </a:solidFill>
                <a:latin typeface="Calibri"/>
              </a:rPr>
              <a:t>Use R with databases such as </a:t>
            </a:r>
            <a:r>
              <a:rPr b="0" lang="en-IN" sz="2000" spc="-1" strike="noStrike">
                <a:solidFill>
                  <a:srgbClr val="ff0000"/>
                </a:solidFill>
                <a:latin typeface="Calibri"/>
              </a:rPr>
              <a:t>MySQL, PostgreSQL, SQLlite</a:t>
            </a:r>
            <a:r>
              <a:rPr b="0" lang="en-IN" sz="2000" spc="-1" strike="noStrike">
                <a:solidFill>
                  <a:srgbClr val="404040"/>
                </a:solidFill>
                <a:latin typeface="Calibri"/>
              </a:rPr>
              <a:t>, and </a:t>
            </a:r>
            <a:r>
              <a:rPr b="0" lang="en-IN" sz="2000" spc="-1" strike="noStrike">
                <a:solidFill>
                  <a:srgbClr val="ff0000"/>
                </a:solidFill>
                <a:latin typeface="Calibri"/>
              </a:rPr>
              <a:t>JasperDB</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IN" sz="2000" spc="-1" strike="noStrike">
                <a:solidFill>
                  <a:srgbClr val="404040"/>
                </a:solidFill>
                <a:latin typeface="Calibri"/>
              </a:rPr>
              <a:t>Create visualisations to help with deeper understanding of data</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2240640" y="792360"/>
            <a:ext cx="7442640" cy="664560"/>
          </a:xfrm>
          <a:prstGeom prst="rect">
            <a:avLst/>
          </a:prstGeom>
          <a:noFill/>
          <a:ln w="0">
            <a:noFill/>
          </a:ln>
        </p:spPr>
        <p:txBody>
          <a:bodyPr anchor="b">
            <a:normAutofit fontScale="92000"/>
          </a:bodyPr>
          <a:p>
            <a:pPr algn="ctr">
              <a:lnSpc>
                <a:spcPct val="85000"/>
              </a:lnSpc>
              <a:buNone/>
            </a:pPr>
            <a:r>
              <a:rPr b="0" lang="en-US" sz="4800" spc="-52" strike="noStrike">
                <a:solidFill>
                  <a:srgbClr val="404040"/>
                </a:solidFill>
                <a:latin typeface="Calibri Light"/>
              </a:rPr>
              <a:t>Introduction</a:t>
            </a:r>
            <a:endParaRPr b="0" lang="en-US" sz="4800" spc="-1" strike="noStrike">
              <a:solidFill>
                <a:srgbClr val="000000"/>
              </a:solidFill>
              <a:latin typeface="Calibri"/>
            </a:endParaRPr>
          </a:p>
        </p:txBody>
      </p:sp>
      <p:sp>
        <p:nvSpPr>
          <p:cNvPr id="47" name="PlaceHolder 2"/>
          <p:cNvSpPr>
            <a:spLocks noGrp="1"/>
          </p:cNvSpPr>
          <p:nvPr>
            <p:ph/>
          </p:nvPr>
        </p:nvSpPr>
        <p:spPr>
          <a:xfrm>
            <a:off x="1097280" y="1845720"/>
            <a:ext cx="10058040" cy="4023000"/>
          </a:xfrm>
          <a:prstGeom prst="rect">
            <a:avLst/>
          </a:prstGeom>
          <a:noFill/>
          <a:ln w="0">
            <a:noFill/>
          </a:ln>
        </p:spPr>
        <p:txBody>
          <a:bodyPr lIns="0" rIns="0" anchor="t">
            <a:normAutofit fontScale="94000"/>
          </a:bodyPr>
          <a:p>
            <a:pPr marL="360360" indent="-268200" algn="just">
              <a:lnSpc>
                <a:spcPct val="110000"/>
              </a:lnSpc>
              <a:spcAft>
                <a:spcPts val="201"/>
              </a:spcAft>
              <a:buClr>
                <a:srgbClr val="e48312"/>
              </a:buClr>
              <a:buFont typeface="Wingdings" charset="2"/>
              <a:buChar char=""/>
            </a:pPr>
            <a:r>
              <a:rPr b="0" lang="en-US" sz="2000" spc="-1" strike="noStrike">
                <a:solidFill>
                  <a:srgbClr val="404040"/>
                </a:solidFill>
                <a:latin typeface="Calibri"/>
              </a:rPr>
              <a:t>Enterprise applications today generate a huge amount of data. </a:t>
            </a:r>
            <a:endParaRPr b="0" lang="en-US" sz="2000" spc="-1" strike="noStrike">
              <a:solidFill>
                <a:srgbClr val="404040"/>
              </a:solidFill>
              <a:latin typeface="Calibri"/>
            </a:endParaRPr>
          </a:p>
          <a:p>
            <a:pPr marL="360360" indent="-268200" algn="just">
              <a:lnSpc>
                <a:spcPct val="110000"/>
              </a:lnSpc>
              <a:spcAft>
                <a:spcPts val="201"/>
              </a:spcAft>
              <a:buClr>
                <a:srgbClr val="e48312"/>
              </a:buClr>
              <a:buFont typeface="Wingdings" charset="2"/>
              <a:buChar char=""/>
            </a:pPr>
            <a:r>
              <a:rPr b="0" lang="en-US" sz="2000" spc="-1" strike="noStrike">
                <a:solidFill>
                  <a:srgbClr val="404040"/>
                </a:solidFill>
                <a:latin typeface="Calibri"/>
              </a:rPr>
              <a:t>This data is analysed to draw </a:t>
            </a:r>
            <a:r>
              <a:rPr b="0" lang="en-US" sz="2000" spc="-1" strike="noStrike">
                <a:solidFill>
                  <a:srgbClr val="ff0000"/>
                </a:solidFill>
                <a:latin typeface="Calibri"/>
              </a:rPr>
              <a:t>useful insights </a:t>
            </a:r>
            <a:r>
              <a:rPr b="0" lang="en-US" sz="2000" spc="-1" strike="noStrike">
                <a:solidFill>
                  <a:srgbClr val="404040"/>
                </a:solidFill>
                <a:latin typeface="Calibri"/>
              </a:rPr>
              <a:t>that can help decision makers make better and faster decisions. </a:t>
            </a:r>
            <a:endParaRPr b="0" lang="en-US" sz="2000" spc="-1" strike="noStrike">
              <a:solidFill>
                <a:srgbClr val="404040"/>
              </a:solidFill>
              <a:latin typeface="Calibri"/>
            </a:endParaRPr>
          </a:p>
          <a:p>
            <a:pPr marL="360360" indent="-268200" algn="just">
              <a:lnSpc>
                <a:spcPct val="110000"/>
              </a:lnSpc>
              <a:spcAft>
                <a:spcPts val="201"/>
              </a:spcAft>
              <a:buClr>
                <a:srgbClr val="e48312"/>
              </a:buClr>
              <a:buFont typeface="Wingdings" charset="2"/>
              <a:buChar char=""/>
            </a:pPr>
            <a:r>
              <a:rPr b="0" lang="en-US" sz="2000" spc="-1" strike="noStrike">
                <a:solidFill>
                  <a:srgbClr val="404040"/>
                </a:solidFill>
                <a:latin typeface="Calibri"/>
              </a:rPr>
              <a:t>This chapter introduces the </a:t>
            </a:r>
            <a:r>
              <a:rPr b="0" lang="en-US" sz="2000" spc="-1" strike="noStrike">
                <a:solidFill>
                  <a:srgbClr val="ff0000"/>
                </a:solidFill>
                <a:latin typeface="Calibri"/>
              </a:rPr>
              <a:t>different data types such as numbers, text, logical values, dates, </a:t>
            </a:r>
            <a:r>
              <a:rPr b="0" lang="en-US" sz="2000" spc="-1" strike="noStrike">
                <a:solidFill>
                  <a:srgbClr val="404040"/>
                </a:solidFill>
                <a:latin typeface="Calibri"/>
              </a:rPr>
              <a:t>etc., supported in R. </a:t>
            </a:r>
            <a:endParaRPr b="0" lang="en-US" sz="2000" spc="-1" strike="noStrike">
              <a:solidFill>
                <a:srgbClr val="404040"/>
              </a:solidFill>
              <a:latin typeface="Calibri"/>
            </a:endParaRPr>
          </a:p>
          <a:p>
            <a:pPr marL="360360" indent="-268200" algn="just">
              <a:lnSpc>
                <a:spcPct val="110000"/>
              </a:lnSpc>
              <a:spcAft>
                <a:spcPts val="201"/>
              </a:spcAft>
              <a:buClr>
                <a:srgbClr val="e48312"/>
              </a:buClr>
              <a:buFont typeface="Wingdings" charset="2"/>
              <a:buChar char=""/>
            </a:pPr>
            <a:r>
              <a:rPr b="0" lang="en-US" sz="2000" spc="-1" strike="noStrike">
                <a:solidFill>
                  <a:srgbClr val="404040"/>
                </a:solidFill>
                <a:latin typeface="Calibri"/>
              </a:rPr>
              <a:t>It also describes various </a:t>
            </a:r>
            <a:r>
              <a:rPr b="0" lang="en-US" sz="2000" spc="-1" strike="noStrike">
                <a:solidFill>
                  <a:srgbClr val="ff0000"/>
                </a:solidFill>
                <a:latin typeface="Calibri"/>
              </a:rPr>
              <a:t>R objects </a:t>
            </a:r>
            <a:r>
              <a:rPr b="0" lang="en-US" sz="2000" spc="-1" strike="noStrike">
                <a:solidFill>
                  <a:srgbClr val="404040"/>
                </a:solidFill>
                <a:latin typeface="Calibri"/>
              </a:rPr>
              <a:t>such as </a:t>
            </a:r>
            <a:r>
              <a:rPr b="0" lang="en-US" sz="2000" spc="-1" strike="noStrike">
                <a:solidFill>
                  <a:srgbClr val="ff0000"/>
                </a:solidFill>
                <a:latin typeface="Calibri"/>
              </a:rPr>
              <a:t>vector, matrix, list, dataset, </a:t>
            </a:r>
            <a:r>
              <a:rPr b="0" lang="en-US" sz="2000" spc="-1" strike="noStrike">
                <a:solidFill>
                  <a:srgbClr val="404040"/>
                </a:solidFill>
                <a:latin typeface="Calibri"/>
              </a:rPr>
              <a:t>etc., </a:t>
            </a:r>
            <a:endParaRPr b="0" lang="en-US" sz="2000" spc="-1" strike="noStrike">
              <a:solidFill>
                <a:srgbClr val="404040"/>
              </a:solidFill>
              <a:latin typeface="Calibri"/>
            </a:endParaRPr>
          </a:p>
          <a:p>
            <a:pPr marL="360360" indent="-268200" algn="just">
              <a:lnSpc>
                <a:spcPct val="110000"/>
              </a:lnSpc>
              <a:spcAft>
                <a:spcPts val="201"/>
              </a:spcAft>
              <a:buClr>
                <a:srgbClr val="e48312"/>
              </a:buClr>
              <a:buFont typeface="Wingdings" charset="2"/>
              <a:buChar char=""/>
            </a:pPr>
            <a:r>
              <a:rPr b="0" lang="en-US" sz="2000" spc="-1" strike="noStrike">
                <a:solidFill>
                  <a:srgbClr val="404040"/>
                </a:solidFill>
                <a:latin typeface="Calibri"/>
              </a:rPr>
              <a:t>how to </a:t>
            </a:r>
            <a:r>
              <a:rPr b="0" lang="en-US" sz="2000" spc="-1" strike="noStrike">
                <a:solidFill>
                  <a:srgbClr val="ff0000"/>
                </a:solidFill>
                <a:latin typeface="Calibri"/>
              </a:rPr>
              <a:t>manipulate data using R functions </a:t>
            </a:r>
            <a:r>
              <a:rPr b="0" lang="en-US" sz="2000" spc="-1" strike="noStrike">
                <a:solidFill>
                  <a:srgbClr val="404040"/>
                </a:solidFill>
                <a:latin typeface="Calibri"/>
              </a:rPr>
              <a:t>such as </a:t>
            </a:r>
            <a:r>
              <a:rPr b="0" lang="en-US" sz="2000" spc="-1" strike="noStrike">
                <a:solidFill>
                  <a:srgbClr val="ff0000"/>
                </a:solidFill>
                <a:latin typeface="Calibri"/>
              </a:rPr>
              <a:t>sum(), min(), max(), rep() and string functions such as substr(), grep(), strsplit(),</a:t>
            </a:r>
            <a:r>
              <a:rPr b="0" lang="en-US" sz="2000" spc="-1" strike="noStrike">
                <a:solidFill>
                  <a:srgbClr val="404040"/>
                </a:solidFill>
                <a:latin typeface="Calibri"/>
              </a:rPr>
              <a:t> etc. </a:t>
            </a:r>
            <a:endParaRPr b="0" lang="en-US" sz="2000" spc="-1" strike="noStrike">
              <a:solidFill>
                <a:srgbClr val="404040"/>
              </a:solidFill>
              <a:latin typeface="Calibri"/>
            </a:endParaRPr>
          </a:p>
          <a:p>
            <a:pPr marL="360360" indent="-268200" algn="just">
              <a:lnSpc>
                <a:spcPct val="110000"/>
              </a:lnSpc>
              <a:spcAft>
                <a:spcPts val="201"/>
              </a:spcAft>
              <a:buClr>
                <a:srgbClr val="e48312"/>
              </a:buClr>
              <a:buFont typeface="Wingdings" charset="2"/>
              <a:buChar char=""/>
            </a:pPr>
            <a:r>
              <a:rPr b="0" lang="en-US" sz="2000" spc="-1" strike="noStrike">
                <a:solidFill>
                  <a:srgbClr val="404040"/>
                </a:solidFill>
                <a:latin typeface="Calibri"/>
              </a:rPr>
              <a:t>It explores </a:t>
            </a:r>
            <a:r>
              <a:rPr b="0" lang="en-US" sz="2000" spc="-1" strike="noStrike">
                <a:solidFill>
                  <a:srgbClr val="ff0000"/>
                </a:solidFill>
                <a:latin typeface="Calibri"/>
              </a:rPr>
              <a:t>import of data into R from .csv </a:t>
            </a:r>
            <a:r>
              <a:rPr b="0" lang="en-US" sz="2000" spc="-1" strike="noStrike">
                <a:solidFill>
                  <a:srgbClr val="404040"/>
                </a:solidFill>
                <a:latin typeface="Calibri"/>
              </a:rPr>
              <a:t>(comma separated values), </a:t>
            </a:r>
            <a:r>
              <a:rPr b="0" lang="en-US" sz="2000" spc="-1" strike="noStrike">
                <a:solidFill>
                  <a:srgbClr val="ff0000"/>
                </a:solidFill>
                <a:latin typeface="Calibri"/>
              </a:rPr>
              <a:t>spreadsheets, XML documents, JASON </a:t>
            </a:r>
            <a:r>
              <a:rPr b="0" lang="en-US" sz="2000" spc="-1" strike="noStrike">
                <a:solidFill>
                  <a:srgbClr val="404040"/>
                </a:solidFill>
                <a:latin typeface="Calibri"/>
              </a:rPr>
              <a:t>(Java Script Object Notation) documents, web data, etc., and interfacing R with databases such as </a:t>
            </a:r>
            <a:r>
              <a:rPr b="0" lang="en-US" sz="2000" spc="-1" strike="noStrike">
                <a:solidFill>
                  <a:srgbClr val="ff0000"/>
                </a:solidFill>
                <a:latin typeface="Calibri"/>
              </a:rPr>
              <a:t>MySQL, PostGreSQL, SQLlite</a:t>
            </a:r>
            <a:r>
              <a:rPr b="0" lang="en-US" sz="2000" spc="-1" strike="noStrike">
                <a:solidFill>
                  <a:srgbClr val="404040"/>
                </a:solidFill>
                <a:latin typeface="Calibri"/>
              </a:rPr>
              <a:t>, etc.</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1028160" y="425520"/>
            <a:ext cx="10515240" cy="96300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Challenges of analytical Data Processing</a:t>
            </a:r>
            <a:endParaRPr b="0" lang="en-US" sz="3600" spc="-1" strike="noStrike">
              <a:solidFill>
                <a:srgbClr val="000000"/>
              </a:solidFill>
              <a:latin typeface="Calibri"/>
            </a:endParaRPr>
          </a:p>
        </p:txBody>
      </p:sp>
      <p:sp>
        <p:nvSpPr>
          <p:cNvPr id="49" name="PlaceHolder 2"/>
          <p:cNvSpPr>
            <a:spLocks noGrp="1"/>
          </p:cNvSpPr>
          <p:nvPr>
            <p:ph/>
          </p:nvPr>
        </p:nvSpPr>
        <p:spPr>
          <a:xfrm>
            <a:off x="1097280" y="1845720"/>
            <a:ext cx="10058040" cy="4023000"/>
          </a:xfrm>
          <a:prstGeom prst="rect">
            <a:avLst/>
          </a:prstGeom>
          <a:noFill/>
          <a:ln w="0">
            <a:noFill/>
          </a:ln>
        </p:spPr>
        <p:txBody>
          <a:bodyPr lIns="0" rIns="0" anchor="t">
            <a:normAutofit/>
          </a:bodyPr>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Analytical data processing is a part of business intelligence that includes </a:t>
            </a:r>
            <a:r>
              <a:rPr b="0" lang="en-US" sz="2000" spc="-1" strike="noStrike">
                <a:solidFill>
                  <a:srgbClr val="ff0000"/>
                </a:solidFill>
                <a:latin typeface="Calibri"/>
              </a:rPr>
              <a:t>relational database, data warehousing, data mining and report mining.</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 is a computer processing technique that handles </a:t>
            </a:r>
            <a:r>
              <a:rPr b="0" lang="en-US" sz="2000" spc="-1" strike="noStrike">
                <a:solidFill>
                  <a:srgbClr val="ff0000"/>
                </a:solidFill>
                <a:latin typeface="Calibri"/>
              </a:rPr>
              <a:t>different types of business processing practices like sales, budgeting, financial reporting, management reporting</a:t>
            </a:r>
            <a:r>
              <a:rPr b="0" lang="en-US" sz="2000" spc="-1" strike="noStrike">
                <a:solidFill>
                  <a:srgbClr val="404040"/>
                </a:solidFill>
                <a:latin typeface="Calibri"/>
              </a:rPr>
              <a:t>, etc.</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IN" sz="2000" spc="-1" strike="noStrike">
                <a:solidFill>
                  <a:srgbClr val="ff0000"/>
                </a:solidFill>
                <a:latin typeface="Calibri"/>
              </a:rPr>
              <a:t>Data Formats</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IN" sz="2000" spc="-1" strike="noStrike">
                <a:solidFill>
                  <a:srgbClr val="ff0000"/>
                </a:solidFill>
                <a:latin typeface="Calibri"/>
              </a:rPr>
              <a:t>Data Quality</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IN" sz="2000" spc="-1" strike="noStrike">
                <a:solidFill>
                  <a:srgbClr val="ff0000"/>
                </a:solidFill>
                <a:latin typeface="Calibri"/>
              </a:rPr>
              <a:t>Project Scope</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Output Result via Stakeholder Expectation Management</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1097280" y="669600"/>
            <a:ext cx="10515240" cy="704160"/>
          </a:xfrm>
          <a:prstGeom prst="rect">
            <a:avLst/>
          </a:prstGeom>
          <a:noFill/>
          <a:ln w="0">
            <a:noFill/>
          </a:ln>
        </p:spPr>
        <p:txBody>
          <a:bodyPr anchor="b">
            <a:normAutofit fontScale="19000"/>
          </a:bodyPr>
          <a:p>
            <a:pPr>
              <a:lnSpc>
                <a:spcPct val="85000"/>
              </a:lnSpc>
              <a:buNone/>
            </a:pPr>
            <a:br>
              <a:rPr sz="4800"/>
            </a:br>
            <a:br>
              <a:rPr sz="4800"/>
            </a:br>
            <a:br>
              <a:rPr sz="4800"/>
            </a:br>
            <a:br>
              <a:rPr sz="4800"/>
            </a:br>
            <a:endParaRPr b="0" lang="en-US" sz="4800" spc="-1" strike="noStrike">
              <a:solidFill>
                <a:srgbClr val="000000"/>
              </a:solidFill>
              <a:latin typeface="Calibri"/>
            </a:endParaRPr>
          </a:p>
        </p:txBody>
      </p:sp>
      <p:sp>
        <p:nvSpPr>
          <p:cNvPr id="51"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Data is the main element of business analytics.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Business analytics uses sets of data to store a large amount of data.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Selecting a </a:t>
            </a:r>
            <a:r>
              <a:rPr b="0" lang="en-US" sz="2000" spc="-1" strike="noStrike">
                <a:solidFill>
                  <a:srgbClr val="ff0000"/>
                </a:solidFill>
                <a:latin typeface="Calibri"/>
              </a:rPr>
              <a:t>data format </a:t>
            </a:r>
            <a:r>
              <a:rPr b="0" lang="en-US" sz="2000" spc="-1" strike="noStrike">
                <a:solidFill>
                  <a:srgbClr val="404040"/>
                </a:solidFill>
                <a:latin typeface="Calibri"/>
              </a:rPr>
              <a:t>is the first challenge in analytical data processing for researchers or developers.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R is a </a:t>
            </a:r>
            <a:r>
              <a:rPr b="0" lang="en-US" sz="2000" spc="-1" strike="noStrike">
                <a:solidFill>
                  <a:srgbClr val="ff0000"/>
                </a:solidFill>
                <a:latin typeface="Calibri"/>
              </a:rPr>
              <a:t>well-documented programming language </a:t>
            </a:r>
            <a:r>
              <a:rPr b="0" lang="en-US" sz="2000" spc="-1" strike="noStrike">
                <a:solidFill>
                  <a:srgbClr val="404040"/>
                </a:solidFill>
                <a:latin typeface="Calibri"/>
              </a:rPr>
              <a:t>that stores data in the form of an object.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 has a very simple syntax that helps in processing any type of data.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R provides many packages and features such as open database connectivity (ODBC), which process different types of data formats. </a:t>
            </a:r>
            <a:endParaRPr b="0" lang="en-US" sz="2000" spc="-1" strike="noStrike">
              <a:solidFill>
                <a:srgbClr val="404040"/>
              </a:solidFill>
              <a:latin typeface="Calibri"/>
            </a:endParaRPr>
          </a:p>
        </p:txBody>
      </p:sp>
      <p:sp>
        <p:nvSpPr>
          <p:cNvPr id="52" name="Rectangle 3"/>
          <p:cNvSpPr/>
          <p:nvPr/>
        </p:nvSpPr>
        <p:spPr>
          <a:xfrm>
            <a:off x="1097280" y="645480"/>
            <a:ext cx="809820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3600" spc="-1" strike="noStrike">
                <a:solidFill>
                  <a:srgbClr val="000000"/>
                </a:solidFill>
                <a:latin typeface="Calibri"/>
              </a:rPr>
              <a:t>Data Formats</a:t>
            </a:r>
            <a:br>
              <a:rPr sz="3600"/>
            </a:br>
            <a:endParaRPr b="0" lang="en-IN" sz="36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425520"/>
            <a:ext cx="10515240" cy="87660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Data Quality</a:t>
            </a:r>
            <a:endParaRPr b="0" lang="en-US" sz="3600" spc="-1" strike="noStrike">
              <a:solidFill>
                <a:srgbClr val="000000"/>
              </a:solidFill>
              <a:latin typeface="Calibri"/>
            </a:endParaRPr>
          </a:p>
        </p:txBody>
      </p:sp>
      <p:sp>
        <p:nvSpPr>
          <p:cNvPr id="54" name="PlaceHolder 2"/>
          <p:cNvSpPr>
            <a:spLocks noGrp="1"/>
          </p:cNvSpPr>
          <p:nvPr>
            <p:ph/>
          </p:nvPr>
        </p:nvSpPr>
        <p:spPr>
          <a:xfrm>
            <a:off x="993600" y="1888560"/>
            <a:ext cx="10515240" cy="4350960"/>
          </a:xfrm>
          <a:prstGeom prst="rect">
            <a:avLst/>
          </a:prstGeom>
          <a:noFill/>
          <a:ln w="0">
            <a:noFill/>
          </a:ln>
        </p:spPr>
        <p:txBody>
          <a:bodyPr lIns="0" rIns="0" anchor="t">
            <a:noAutofit/>
          </a:bodyPr>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Maintaining </a:t>
            </a:r>
            <a:r>
              <a:rPr b="0" lang="en-US" sz="2000" spc="-1" strike="noStrike">
                <a:solidFill>
                  <a:srgbClr val="ff0000"/>
                </a:solidFill>
                <a:latin typeface="Calibri"/>
              </a:rPr>
              <a:t>data quality </a:t>
            </a:r>
            <a:r>
              <a:rPr b="0" lang="en-US" sz="2000" spc="-1" strike="noStrike">
                <a:solidFill>
                  <a:srgbClr val="404040"/>
                </a:solidFill>
                <a:latin typeface="Calibri"/>
              </a:rPr>
              <a:t>is another </a:t>
            </a:r>
            <a:r>
              <a:rPr b="0" lang="en-US" sz="2000" spc="-1" strike="noStrike">
                <a:solidFill>
                  <a:srgbClr val="ff0000"/>
                </a:solidFill>
                <a:latin typeface="Calibri"/>
              </a:rPr>
              <a:t>challenge in analytical data processing. </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Business analysts are required to </a:t>
            </a:r>
            <a:r>
              <a:rPr b="0" lang="en-US" sz="2000" spc="-1" strike="noStrike">
                <a:solidFill>
                  <a:srgbClr val="ff0000"/>
                </a:solidFill>
                <a:latin typeface="Calibri"/>
              </a:rPr>
              <a:t>deliver perfect information, inferences, outliers and output without any missing or invalid value. </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 data with </a:t>
            </a:r>
            <a:r>
              <a:rPr b="0" lang="en-US" sz="2000" spc="-1" strike="noStrike">
                <a:solidFill>
                  <a:srgbClr val="ff0000"/>
                </a:solidFill>
                <a:latin typeface="Calibri"/>
              </a:rPr>
              <a:t>inferior input or output is bound to give incorrect quality results. </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With the help of R, </a:t>
            </a:r>
            <a:r>
              <a:rPr b="0" lang="en-US" sz="2000" spc="-1" strike="noStrike">
                <a:solidFill>
                  <a:srgbClr val="ff0000"/>
                </a:solidFill>
                <a:latin typeface="Calibri"/>
              </a:rPr>
              <a:t>business analysts can maintain data quality</a:t>
            </a:r>
            <a:r>
              <a:rPr b="0" lang="en-US" sz="2000" spc="-1" strike="noStrike">
                <a:solidFill>
                  <a:srgbClr val="404040"/>
                </a:solidFill>
                <a:latin typeface="Calibri"/>
              </a:rPr>
              <a:t>. </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Different tools of R help business analysts in </a:t>
            </a:r>
            <a:r>
              <a:rPr b="0" lang="en-US" sz="2000" spc="-1" strike="noStrike">
                <a:solidFill>
                  <a:srgbClr val="ff0000"/>
                </a:solidFill>
                <a:latin typeface="Calibri"/>
              </a:rPr>
              <a:t>removing invalid data, replacing missing values and removing outliers in data.</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1166040" y="934560"/>
            <a:ext cx="10515240" cy="658080"/>
          </a:xfrm>
          <a:prstGeom prst="rect">
            <a:avLst/>
          </a:prstGeom>
          <a:noFill/>
          <a:ln w="0">
            <a:noFill/>
          </a:ln>
        </p:spPr>
        <p:txBody>
          <a:bodyPr anchor="b">
            <a:normAutofit fontScale="41000"/>
          </a:bodyPr>
          <a:p>
            <a:pPr>
              <a:lnSpc>
                <a:spcPct val="85000"/>
              </a:lnSpc>
              <a:buNone/>
            </a:pPr>
            <a:br>
              <a:rPr sz="4800"/>
            </a:br>
            <a:endParaRPr b="0" lang="en-US" sz="4800" spc="-1" strike="noStrike">
              <a:solidFill>
                <a:srgbClr val="000000"/>
              </a:solidFill>
              <a:latin typeface="Calibri"/>
            </a:endParaRPr>
          </a:p>
        </p:txBody>
      </p:sp>
      <p:sp>
        <p:nvSpPr>
          <p:cNvPr id="56" name="PlaceHolder 2"/>
          <p:cNvSpPr>
            <a:spLocks noGrp="1"/>
          </p:cNvSpPr>
          <p:nvPr>
            <p:ph/>
          </p:nvPr>
        </p:nvSpPr>
        <p:spPr>
          <a:xfrm>
            <a:off x="1042920" y="1865880"/>
            <a:ext cx="10515240" cy="435096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Projects based on analytical data processing are costly and time consuming.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Hence, before starting a new project, business analysts should analyse the scope of the project.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They should identify the amount of data required from external sources, time of delivery and other parameters related to the project. </a:t>
            </a:r>
            <a:endParaRPr b="0" lang="en-US" sz="2000" spc="-1" strike="noStrike">
              <a:solidFill>
                <a:srgbClr val="404040"/>
              </a:solidFill>
              <a:latin typeface="Calibri"/>
            </a:endParaRPr>
          </a:p>
        </p:txBody>
      </p:sp>
      <p:sp>
        <p:nvSpPr>
          <p:cNvPr id="57" name="Rectangle 3"/>
          <p:cNvSpPr/>
          <p:nvPr/>
        </p:nvSpPr>
        <p:spPr>
          <a:xfrm>
            <a:off x="930960" y="853200"/>
            <a:ext cx="91443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3600" spc="-1" strike="noStrike">
                <a:solidFill>
                  <a:srgbClr val="000000"/>
                </a:solidFill>
                <a:latin typeface="Calibri"/>
              </a:rPr>
              <a:t>Project Scope</a:t>
            </a:r>
            <a:endParaRPr b="0" lang="en-IN" sz="36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1097280" y="750600"/>
            <a:ext cx="10515240" cy="918000"/>
          </a:xfrm>
          <a:prstGeom prst="rect">
            <a:avLst/>
          </a:prstGeom>
          <a:noFill/>
          <a:ln w="0">
            <a:noFill/>
          </a:ln>
        </p:spPr>
        <p:txBody>
          <a:bodyPr anchor="b">
            <a:normAutofit fontScale="55000"/>
          </a:bodyPr>
          <a:p>
            <a:pPr>
              <a:lnSpc>
                <a:spcPct val="85000"/>
              </a:lnSpc>
              <a:buNone/>
            </a:pPr>
            <a:br>
              <a:rPr sz="3600"/>
            </a:br>
            <a:r>
              <a:rPr b="0" lang="en-US" sz="3600" spc="-52" strike="noStrike">
                <a:solidFill>
                  <a:srgbClr val="404040"/>
                </a:solidFill>
                <a:latin typeface="Calibri Light"/>
              </a:rPr>
              <a:t>Output Result via Stakeholder Expectation Management</a:t>
            </a:r>
            <a:br>
              <a:rPr sz="3600"/>
            </a:br>
            <a:endParaRPr b="0" lang="en-US" sz="3600" spc="-1" strike="noStrike">
              <a:solidFill>
                <a:srgbClr val="000000"/>
              </a:solidFill>
              <a:latin typeface="Calibri"/>
            </a:endParaRPr>
          </a:p>
        </p:txBody>
      </p:sp>
      <p:sp>
        <p:nvSpPr>
          <p:cNvPr id="59"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In analytical data processing, analysts design projects that generate output with different types of values like p-value, the degree of freedom, etc.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However, users or stakeholders prefer to see the output.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The stakeholders do not want to see the constraints used in data processing, assumptions, hypothesis, p-values, chi-square value or any other value.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 </a:t>
            </a:r>
            <a:r>
              <a:rPr b="0" lang="en-US" sz="2000" spc="-1" strike="noStrike">
                <a:solidFill>
                  <a:srgbClr val="404040"/>
                </a:solidFill>
                <a:latin typeface="Calibri"/>
              </a:rPr>
              <a:t>Hence, an analytical project should try to fulfil all the expectations of the stakeholders.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964080" y="709200"/>
            <a:ext cx="10515240" cy="7502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Expression , Variables and functions</a:t>
            </a:r>
            <a:endParaRPr b="0" lang="en-US" sz="4800" spc="-1" strike="noStrike">
              <a:solidFill>
                <a:srgbClr val="000000"/>
              </a:solidFill>
              <a:latin typeface="Calibri"/>
            </a:endParaRPr>
          </a:p>
        </p:txBody>
      </p:sp>
      <p:pic>
        <p:nvPicPr>
          <p:cNvPr id="61" name="Content Placeholder 3" descr=""/>
          <p:cNvPicPr/>
          <p:nvPr/>
        </p:nvPicPr>
        <p:blipFill>
          <a:blip r:embed="rId1"/>
          <a:stretch/>
        </p:blipFill>
        <p:spPr>
          <a:xfrm>
            <a:off x="1607760" y="2210400"/>
            <a:ext cx="7875360" cy="4098240"/>
          </a:xfrm>
          <a:prstGeom prst="rect">
            <a:avLst/>
          </a:prstGeom>
          <a:ln w="0">
            <a:noFill/>
          </a:ln>
        </p:spPr>
      </p:pic>
      <p:sp>
        <p:nvSpPr>
          <p:cNvPr id="62" name="Rectangle 4"/>
          <p:cNvSpPr/>
          <p:nvPr/>
        </p:nvSpPr>
        <p:spPr>
          <a:xfrm>
            <a:off x="964080" y="1459800"/>
            <a:ext cx="9163080" cy="912600"/>
          </a:xfrm>
          <a:prstGeom prst="rect">
            <a:avLst/>
          </a:prstGeom>
          <a:noFill/>
          <a:ln w="0">
            <a:noFill/>
          </a:ln>
        </p:spPr>
        <p:style>
          <a:lnRef idx="0"/>
          <a:fillRef idx="0"/>
          <a:effectRef idx="0"/>
          <a:fontRef idx="minor"/>
        </p:style>
        <p:txBody>
          <a:bodyPr lIns="90000" rIns="90000" tIns="45000" bIns="45000" anchor="t">
            <a:spAutoFit/>
          </a:bodyPr>
          <a:p>
            <a:pPr marL="85680" indent="-85680">
              <a:lnSpc>
                <a:spcPct val="100000"/>
              </a:lnSpc>
              <a:buNone/>
              <a:tabLst>
                <a:tab algn="l" pos="0"/>
              </a:tabLst>
            </a:pPr>
            <a:r>
              <a:rPr b="0" lang="en-IN" sz="1800" spc="-1" strike="noStrike">
                <a:solidFill>
                  <a:srgbClr val="000000"/>
                </a:solidFill>
                <a:latin typeface="Calibri"/>
              </a:rPr>
              <a:t> </a:t>
            </a:r>
            <a:r>
              <a:rPr b="0" lang="en-IN" sz="1800" spc="-1" strike="noStrike">
                <a:solidFill>
                  <a:srgbClr val="000000"/>
                </a:solidFill>
                <a:latin typeface="Calibri"/>
              </a:rPr>
              <a:t>Few arithmetic operations such as addition, subtraction, multiplication, division,   exponentiation, finding the remainder (modulus), integer division and computing the square root </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990000"/>
            <a:ext cx="10515240" cy="70056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Logical Values</a:t>
            </a:r>
            <a:endParaRPr b="0" lang="en-US" sz="3600" spc="-1" strike="noStrike">
              <a:solidFill>
                <a:srgbClr val="000000"/>
              </a:solidFill>
              <a:latin typeface="Calibri"/>
            </a:endParaRPr>
          </a:p>
        </p:txBody>
      </p:sp>
      <p:sp>
        <p:nvSpPr>
          <p:cNvPr id="64" name="PlaceHolder 2"/>
          <p:cNvSpPr>
            <a:spLocks noGrp="1"/>
          </p:cNvSpPr>
          <p:nvPr>
            <p:ph/>
          </p:nvPr>
        </p:nvSpPr>
        <p:spPr>
          <a:xfrm>
            <a:off x="1097280" y="1845720"/>
            <a:ext cx="10058040" cy="4023000"/>
          </a:xfrm>
          <a:prstGeom prst="rect">
            <a:avLst/>
          </a:prstGeom>
          <a:noFill/>
          <a:ln w="0">
            <a:noFill/>
          </a:ln>
        </p:spPr>
        <p:txBody>
          <a:bodyPr lIns="0" rIns="0" anchor="t">
            <a:noAutofit/>
          </a:bodyPr>
          <a:p>
            <a:pPr>
              <a:lnSpc>
                <a:spcPct val="90000"/>
              </a:lnSpc>
              <a:spcBef>
                <a:spcPts val="1417"/>
              </a:spcBef>
              <a:buNone/>
            </a:pPr>
            <a:endParaRPr b="0" lang="en-US" sz="2000" spc="-1" strike="noStrike">
              <a:solidFill>
                <a:srgbClr val="404040"/>
              </a:solidFill>
              <a:latin typeface="Calibri"/>
            </a:endParaRPr>
          </a:p>
        </p:txBody>
      </p:sp>
      <p:pic>
        <p:nvPicPr>
          <p:cNvPr id="65" name="Picture 3" descr=""/>
          <p:cNvPicPr/>
          <p:nvPr/>
        </p:nvPicPr>
        <p:blipFill>
          <a:blip r:embed="rId1"/>
          <a:stretch/>
        </p:blipFill>
        <p:spPr>
          <a:xfrm>
            <a:off x="2216880" y="2606760"/>
            <a:ext cx="2139120" cy="2422080"/>
          </a:xfrm>
          <a:prstGeom prst="rect">
            <a:avLst/>
          </a:prstGeom>
          <a:ln w="0">
            <a:noFill/>
          </a:ln>
        </p:spPr>
      </p:pic>
      <p:sp>
        <p:nvSpPr>
          <p:cNvPr id="66" name="Rectangle 4"/>
          <p:cNvSpPr/>
          <p:nvPr/>
        </p:nvSpPr>
        <p:spPr>
          <a:xfrm>
            <a:off x="1072440" y="1893240"/>
            <a:ext cx="1004688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000000"/>
                </a:solidFill>
                <a:latin typeface="Calibri"/>
              </a:rPr>
              <a:t>Logical values are TRUE and FALSE or T and F. Note that these are case sensitive. The equality operator is ==.</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1130040" y="365040"/>
            <a:ext cx="10223280" cy="77328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Guided Activity</a:t>
            </a:r>
            <a:endParaRPr b="0" lang="en-US" sz="4800" spc="-1" strike="noStrike">
              <a:solidFill>
                <a:srgbClr val="000000"/>
              </a:solidFill>
              <a:latin typeface="Calibri"/>
            </a:endParaRPr>
          </a:p>
        </p:txBody>
      </p:sp>
      <p:sp>
        <p:nvSpPr>
          <p:cNvPr id="68" name="PlaceHolder 2"/>
          <p:cNvSpPr>
            <a:spLocks noGrp="1"/>
          </p:cNvSpPr>
          <p:nvPr>
            <p:ph/>
          </p:nvPr>
        </p:nvSpPr>
        <p:spPr>
          <a:xfrm>
            <a:off x="1235160" y="1894680"/>
            <a:ext cx="10515240" cy="435096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Step 1: Create a vector, x consisting of 10 elements with values ranging from 1 to 10.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Step 2: Display the contents of the vector, x.</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Step 3: Print the values of those elements whose values are either greater than 7 or less than 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Step 4: Print the values of those elements whose values are greater than 7 and less than 10.</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Guided Activity-solution</a:t>
            </a:r>
            <a:endParaRPr b="0" lang="en-US" sz="4800" spc="-1" strike="noStrike">
              <a:solidFill>
                <a:srgbClr val="000000"/>
              </a:solidFill>
              <a:latin typeface="Calibri"/>
            </a:endParaRPr>
          </a:p>
        </p:txBody>
      </p:sp>
      <p:sp>
        <p:nvSpPr>
          <p:cNvPr id="70" name="PlaceHolder 2"/>
          <p:cNvSpPr>
            <a:spLocks noGrp="1"/>
          </p:cNvSpPr>
          <p:nvPr>
            <p:ph/>
          </p:nvPr>
        </p:nvSpPr>
        <p:spPr>
          <a:xfrm>
            <a:off x="1097280" y="1845720"/>
            <a:ext cx="10058040" cy="4023000"/>
          </a:xfrm>
          <a:prstGeom prst="rect">
            <a:avLst/>
          </a:prstGeom>
          <a:noFill/>
          <a:ln w="0">
            <a:noFill/>
          </a:ln>
        </p:spPr>
        <p:txBody>
          <a:bodyPr lIns="0" rIns="0" anchor="t">
            <a:normAutofit fontScale="86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Step 1: Create a vector, x consisting of 10 elements with values ranging from 1 to 10. Section 3.5 of this chapter deals with creation, accessing vector elements and vector arithmetic,  etc.  </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ff0000"/>
                </a:solidFill>
                <a:latin typeface="Calibri"/>
              </a:rPr>
              <a:t>     </a:t>
            </a:r>
            <a:r>
              <a:rPr b="0" lang="en-US" sz="2000" spc="-1" strike="noStrike">
                <a:solidFill>
                  <a:srgbClr val="ff0000"/>
                </a:solidFill>
                <a:latin typeface="Calibri"/>
              </a:rPr>
              <a:t>&gt;  x &lt;- c(1:10)</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tabLst>
                <a:tab algn="l" pos="0"/>
              </a:tabLst>
            </a:pPr>
            <a:r>
              <a:rPr b="0" lang="en-US" sz="2000" spc="-1" strike="noStrike">
                <a:solidFill>
                  <a:srgbClr val="404040"/>
                </a:solidFill>
                <a:latin typeface="Calibri"/>
              </a:rPr>
              <a:t>Step 2: Display the contents of the vector, x.</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     </a:t>
            </a:r>
            <a:r>
              <a:rPr b="0" lang="en-US" sz="2000" spc="-1" strike="noStrike">
                <a:solidFill>
                  <a:srgbClr val="ff0000"/>
                </a:solidFill>
                <a:latin typeface="Calibri"/>
              </a:rPr>
              <a:t>&gt; x [1]  1  2  3  4  5  6  7  8  9  10</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Step 3: Print the values of those elements whose values are either greater than 7 or less than 5.</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404040"/>
                </a:solidFill>
                <a:latin typeface="Calibri"/>
              </a:rPr>
              <a:t>   </a:t>
            </a:r>
            <a:r>
              <a:rPr b="0" lang="en-IN" sz="2000" spc="-1" strike="noStrike">
                <a:solidFill>
                  <a:srgbClr val="ff0000"/>
                </a:solidFill>
                <a:latin typeface="Calibri"/>
              </a:rPr>
              <a:t>&gt;x[(x&gt;7) | (x&lt;5)] [1]  1  2  3  4  8  9 10</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Step 4: Print the values of those elements whose values are greater than 7 and less than 10.</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ff0000"/>
                </a:solidFill>
                <a:latin typeface="Calibri"/>
              </a:rPr>
              <a:t>&gt;  x[(x&gt;7) &amp; (x&lt;10)] [1]  8  9</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Dates</a:t>
            </a:r>
            <a:endParaRPr b="0" lang="en-US" sz="4800" spc="-1" strike="noStrike">
              <a:solidFill>
                <a:srgbClr val="000000"/>
              </a:solidFill>
              <a:latin typeface="Calibri"/>
            </a:endParaRPr>
          </a:p>
        </p:txBody>
      </p:sp>
      <p:sp>
        <p:nvSpPr>
          <p:cNvPr id="72" name="PlaceHolder 2"/>
          <p:cNvSpPr>
            <a:spLocks noGrp="1"/>
          </p:cNvSpPr>
          <p:nvPr>
            <p:ph/>
          </p:nvPr>
        </p:nvSpPr>
        <p:spPr>
          <a:xfrm>
            <a:off x="1097280" y="1822320"/>
            <a:ext cx="10515240" cy="4350960"/>
          </a:xfrm>
          <a:prstGeom prst="rect">
            <a:avLst/>
          </a:prstGeom>
          <a:noFill/>
          <a:ln w="0">
            <a:noFill/>
          </a:ln>
        </p:spPr>
        <p:txBody>
          <a:bodyPr lIns="0" rIns="0" anchor="t">
            <a:normAutofit/>
          </a:bodyPr>
          <a:p>
            <a:pPr>
              <a:lnSpc>
                <a:spcPct val="90000"/>
              </a:lnSpc>
              <a:spcBef>
                <a:spcPts val="1199"/>
              </a:spcBef>
              <a:spcAft>
                <a:spcPts val="201"/>
              </a:spcAft>
              <a:buNone/>
              <a:tabLst>
                <a:tab algn="l" pos="0"/>
              </a:tabLst>
            </a:pPr>
            <a:r>
              <a:rPr b="0" lang="en-US" sz="2000" spc="-1" strike="noStrike">
                <a:solidFill>
                  <a:srgbClr val="404040"/>
                </a:solidFill>
                <a:latin typeface="Calibri"/>
              </a:rPr>
              <a:t>The default format of date is YYYY-MM-DD. </a:t>
            </a:r>
            <a:endParaRPr b="0" lang="en-US" sz="2000" spc="-1" strike="noStrike">
              <a:solidFill>
                <a:srgbClr val="404040"/>
              </a:solidFill>
              <a:latin typeface="Calibri"/>
            </a:endParaRPr>
          </a:p>
          <a:p>
            <a:pPr marL="571680" indent="-571680">
              <a:lnSpc>
                <a:spcPct val="90000"/>
              </a:lnSpc>
              <a:spcBef>
                <a:spcPts val="1199"/>
              </a:spcBef>
              <a:spcAft>
                <a:spcPts val="201"/>
              </a:spcAft>
              <a:buClr>
                <a:srgbClr val="e48312"/>
              </a:buClr>
              <a:buFont typeface="Calibri"/>
              <a:buAutoNum type="romanLcParenR"/>
              <a:tabLst>
                <a:tab algn="l" pos="0"/>
              </a:tabLst>
            </a:pPr>
            <a:r>
              <a:rPr b="0" lang="en-US" sz="2000" spc="-1" strike="noStrike">
                <a:solidFill>
                  <a:srgbClr val="404040"/>
                </a:solidFill>
                <a:latin typeface="Calibri"/>
              </a:rPr>
              <a:t>Print system’s date.</a:t>
            </a:r>
            <a:endParaRPr b="0" lang="en-US" sz="2000" spc="-1" strike="noStrike">
              <a:solidFill>
                <a:srgbClr val="404040"/>
              </a:solidFill>
              <a:latin typeface="Calibri"/>
            </a:endParaRPr>
          </a:p>
          <a:p>
            <a:pPr marL="571680" indent="-571680">
              <a:lnSpc>
                <a:spcPct val="90000"/>
              </a:lnSpc>
              <a:spcBef>
                <a:spcPts val="1199"/>
              </a:spcBef>
              <a:spcAft>
                <a:spcPts val="201"/>
              </a:spcAft>
              <a:buClr>
                <a:srgbClr val="e48312"/>
              </a:buClr>
              <a:buFont typeface="Calibri"/>
              <a:buAutoNum type="romanLcParenR"/>
              <a:tabLst>
                <a:tab algn="l" pos="0"/>
              </a:tabLst>
            </a:pPr>
            <a:r>
              <a:rPr b="0" lang="en-US" sz="2000" spc="-1" strike="noStrike">
                <a:solidFill>
                  <a:srgbClr val="404040"/>
                </a:solidFill>
                <a:latin typeface="Calibri"/>
              </a:rPr>
              <a:t>Print system’s time.</a:t>
            </a:r>
            <a:endParaRPr b="0" lang="en-US" sz="2000" spc="-1" strike="noStrike">
              <a:solidFill>
                <a:srgbClr val="404040"/>
              </a:solidFill>
              <a:latin typeface="Calibri"/>
            </a:endParaRPr>
          </a:p>
          <a:p>
            <a:pPr marL="571680" indent="-571680">
              <a:lnSpc>
                <a:spcPct val="90000"/>
              </a:lnSpc>
              <a:spcBef>
                <a:spcPts val="1199"/>
              </a:spcBef>
              <a:spcAft>
                <a:spcPts val="201"/>
              </a:spcAft>
              <a:buClr>
                <a:srgbClr val="e48312"/>
              </a:buClr>
              <a:buFont typeface="Calibri"/>
              <a:buAutoNum type="romanLcParenR"/>
              <a:tabLst>
                <a:tab algn="l" pos="0"/>
              </a:tabLst>
            </a:pPr>
            <a:r>
              <a:rPr b="0" lang="en-IN" sz="2000" spc="-1" strike="noStrike">
                <a:solidFill>
                  <a:srgbClr val="404040"/>
                </a:solidFill>
                <a:latin typeface="Calibri"/>
              </a:rPr>
              <a:t>Print the time zone.</a:t>
            </a:r>
            <a:endParaRPr b="0" lang="en-US" sz="2000" spc="-1" strike="noStrike">
              <a:solidFill>
                <a:srgbClr val="404040"/>
              </a:solidFill>
              <a:latin typeface="Calibri"/>
            </a:endParaRPr>
          </a:p>
          <a:p>
            <a:pPr marL="571680" indent="-571680">
              <a:lnSpc>
                <a:spcPct val="90000"/>
              </a:lnSpc>
              <a:spcBef>
                <a:spcPts val="1199"/>
              </a:spcBef>
              <a:spcAft>
                <a:spcPts val="201"/>
              </a:spcAft>
              <a:buClr>
                <a:srgbClr val="e48312"/>
              </a:buClr>
              <a:buFont typeface="Calibri"/>
              <a:buAutoNum type="romanLcParenR"/>
              <a:tabLst>
                <a:tab algn="l" pos="0"/>
              </a:tabLst>
            </a:pPr>
            <a:r>
              <a:rPr b="0" lang="en-IN" sz="2000" spc="-1" strike="noStrike">
                <a:solidFill>
                  <a:srgbClr val="404040"/>
                </a:solidFill>
                <a:latin typeface="Calibri"/>
              </a:rPr>
              <a:t>Print today’s date.</a:t>
            </a:r>
            <a:endParaRPr b="0" lang="en-US" sz="2000" spc="-1" strike="noStrike">
              <a:solidFill>
                <a:srgbClr val="404040"/>
              </a:solidFill>
              <a:latin typeface="Calibri"/>
            </a:endParaRPr>
          </a:p>
          <a:p>
            <a:pPr marL="571680" indent="-571680">
              <a:lnSpc>
                <a:spcPct val="90000"/>
              </a:lnSpc>
              <a:spcBef>
                <a:spcPts val="1199"/>
              </a:spcBef>
              <a:spcAft>
                <a:spcPts val="201"/>
              </a:spcAft>
              <a:buClr>
                <a:srgbClr val="e48312"/>
              </a:buClr>
              <a:buFont typeface="Calibri"/>
              <a:buAutoNum type="romanLcParenR"/>
              <a:tabLst>
                <a:tab algn="l" pos="0"/>
              </a:tabLst>
            </a:pPr>
            <a:r>
              <a:rPr b="0" lang="en-US" sz="2000" spc="-1" strike="noStrike">
                <a:solidFill>
                  <a:srgbClr val="404040"/>
                </a:solidFill>
                <a:latin typeface="Calibri"/>
              </a:rPr>
              <a:t>Store date as a text data type.</a:t>
            </a:r>
            <a:endParaRPr b="0" lang="en-US" sz="2000" spc="-1" strike="noStrike">
              <a:solidFill>
                <a:srgbClr val="404040"/>
              </a:solidFill>
              <a:latin typeface="Calibri"/>
            </a:endParaRPr>
          </a:p>
          <a:p>
            <a:pPr marL="571680" indent="-571680">
              <a:lnSpc>
                <a:spcPct val="90000"/>
              </a:lnSpc>
              <a:spcBef>
                <a:spcPts val="1199"/>
              </a:spcBef>
              <a:spcAft>
                <a:spcPts val="201"/>
              </a:spcAft>
              <a:buClr>
                <a:srgbClr val="e48312"/>
              </a:buClr>
              <a:buFont typeface="Calibri"/>
              <a:buAutoNum type="romanLcParenR"/>
              <a:tabLst>
                <a:tab algn="l" pos="0"/>
              </a:tabLst>
            </a:pPr>
            <a:r>
              <a:rPr b="0" lang="en-US" sz="2000" spc="-1" strike="noStrike">
                <a:solidFill>
                  <a:srgbClr val="404040"/>
                </a:solidFill>
                <a:latin typeface="Calibri"/>
              </a:rPr>
              <a:t>Convert the date stored as text data type into a date data type.</a:t>
            </a:r>
            <a:endParaRPr b="0" lang="en-US" sz="2000" spc="-1" strike="noStrike">
              <a:solidFill>
                <a:srgbClr val="404040"/>
              </a:solidFill>
              <a:latin typeface="Calibri"/>
            </a:endParaRPr>
          </a:p>
          <a:p>
            <a:pPr marL="571680" indent="-571680">
              <a:lnSpc>
                <a:spcPct val="90000"/>
              </a:lnSpc>
              <a:spcBef>
                <a:spcPts val="1199"/>
              </a:spcBef>
              <a:spcAft>
                <a:spcPts val="201"/>
              </a:spcAft>
              <a:buClr>
                <a:srgbClr val="e48312"/>
              </a:buClr>
              <a:buFont typeface="Calibri"/>
              <a:buAutoNum type="romanLcParenR"/>
              <a:tabLst>
                <a:tab algn="l" pos="0"/>
              </a:tabLst>
            </a:pPr>
            <a:r>
              <a:rPr b="0" lang="en-US" sz="2000" spc="-1" strike="noStrike">
                <a:solidFill>
                  <a:srgbClr val="404040"/>
                </a:solidFill>
                <a:latin typeface="Calibri"/>
              </a:rPr>
              <a:t>Find the difference between the following two dates.red as text data type into a date data type.</a:t>
            </a:r>
            <a:endParaRPr b="0" lang="en-US" sz="2000" spc="-1" strike="noStrike">
              <a:solidFill>
                <a:srgbClr val="404040"/>
              </a:solidFill>
              <a:latin typeface="Calibri"/>
            </a:endParaRPr>
          </a:p>
          <a:p>
            <a:pPr marL="571680" indent="-571680">
              <a:lnSpc>
                <a:spcPct val="90000"/>
              </a:lnSpc>
              <a:spcBef>
                <a:spcPts val="1199"/>
              </a:spcBef>
              <a:spcAft>
                <a:spcPts val="201"/>
              </a:spcAft>
              <a:buClr>
                <a:srgbClr val="e48312"/>
              </a:buClr>
              <a:buFont typeface="Calibri"/>
              <a:buAutoNum type="romanLcParenR"/>
              <a:tabLst>
                <a:tab algn="l" pos="0"/>
              </a:tabLst>
            </a:pPr>
            <a:r>
              <a:rPr b="0" lang="en-US" sz="2000" spc="-1" strike="noStrike">
                <a:solidFill>
                  <a:srgbClr val="404040"/>
                </a:solidFill>
                <a:latin typeface="Calibri"/>
              </a:rPr>
              <a:t>Find the difference between the following two dates.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924480" y="787680"/>
            <a:ext cx="10515240" cy="669600"/>
          </a:xfrm>
          <a:prstGeom prst="rect">
            <a:avLst/>
          </a:prstGeom>
          <a:noFill/>
          <a:ln w="0">
            <a:noFill/>
          </a:ln>
        </p:spPr>
        <p:txBody>
          <a:bodyPr anchor="b">
            <a:normAutofit fontScale="93000"/>
          </a:bodyPr>
          <a:p>
            <a:pPr>
              <a:lnSpc>
                <a:spcPct val="85000"/>
              </a:lnSpc>
              <a:buNone/>
            </a:pPr>
            <a:r>
              <a:rPr b="0" lang="en-US" sz="4800" spc="-52" strike="noStrike">
                <a:solidFill>
                  <a:srgbClr val="404040"/>
                </a:solidFill>
                <a:latin typeface="Calibri Light"/>
              </a:rPr>
              <a:t>Solution-Slide #12</a:t>
            </a:r>
            <a:endParaRPr b="0" lang="en-US" sz="4800" spc="-1" strike="noStrike">
              <a:solidFill>
                <a:srgbClr val="000000"/>
              </a:solidFill>
              <a:latin typeface="Calibri"/>
            </a:endParaRPr>
          </a:p>
        </p:txBody>
      </p:sp>
      <p:pic>
        <p:nvPicPr>
          <p:cNvPr id="74" name="Content Placeholder 3" descr=""/>
          <p:cNvPicPr/>
          <p:nvPr/>
        </p:nvPicPr>
        <p:blipFill>
          <a:blip r:embed="rId1"/>
          <a:stretch/>
        </p:blipFill>
        <p:spPr>
          <a:xfrm>
            <a:off x="838080" y="1930680"/>
            <a:ext cx="6701040" cy="42109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Solution-Slide #12</a:t>
            </a:r>
            <a:endParaRPr b="0" lang="en-US" sz="4800" spc="-1" strike="noStrike">
              <a:solidFill>
                <a:srgbClr val="000000"/>
              </a:solidFill>
              <a:latin typeface="Calibri"/>
            </a:endParaRPr>
          </a:p>
        </p:txBody>
      </p:sp>
      <p:pic>
        <p:nvPicPr>
          <p:cNvPr id="76" name="Content Placeholder 3" descr=""/>
          <p:cNvPicPr/>
          <p:nvPr/>
        </p:nvPicPr>
        <p:blipFill>
          <a:blip r:embed="rId1"/>
          <a:stretch/>
        </p:blipFill>
        <p:spPr>
          <a:xfrm>
            <a:off x="922680" y="1825560"/>
            <a:ext cx="7725960" cy="43509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950400" y="908640"/>
            <a:ext cx="10515240" cy="523080"/>
          </a:xfrm>
          <a:prstGeom prst="rect">
            <a:avLst/>
          </a:prstGeom>
          <a:noFill/>
          <a:ln w="0">
            <a:noFill/>
          </a:ln>
        </p:spPr>
        <p:txBody>
          <a:bodyPr anchor="b">
            <a:normAutofit fontScale="69000"/>
          </a:bodyPr>
          <a:p>
            <a:pPr>
              <a:lnSpc>
                <a:spcPct val="85000"/>
              </a:lnSpc>
              <a:buNone/>
            </a:pPr>
            <a:r>
              <a:rPr b="0" lang="en-IN" sz="4800" spc="-52" strike="noStrike">
                <a:solidFill>
                  <a:srgbClr val="404040"/>
                </a:solidFill>
                <a:latin typeface="Calibri Light"/>
              </a:rPr>
              <a:t>Variables</a:t>
            </a:r>
            <a:endParaRPr b="0" lang="en-US" sz="4800" spc="-1" strike="noStrike">
              <a:solidFill>
                <a:srgbClr val="000000"/>
              </a:solidFill>
              <a:latin typeface="Calibri"/>
            </a:endParaRPr>
          </a:p>
        </p:txBody>
      </p:sp>
      <p:sp>
        <p:nvSpPr>
          <p:cNvPr id="78" name="PlaceHolder 2"/>
          <p:cNvSpPr>
            <a:spLocks noGrp="1"/>
          </p:cNvSpPr>
          <p:nvPr>
            <p:ph/>
          </p:nvPr>
        </p:nvSpPr>
        <p:spPr>
          <a:xfrm>
            <a:off x="1097280" y="1845720"/>
            <a:ext cx="10058040" cy="4023000"/>
          </a:xfrm>
          <a:prstGeom prst="rect">
            <a:avLst/>
          </a:prstGeom>
          <a:noFill/>
          <a:ln w="0">
            <a:noFill/>
          </a:ln>
        </p:spPr>
        <p:txBody>
          <a:bodyPr lIns="0" rIns="0" anchor="t">
            <a:normAutofit/>
          </a:bodyPr>
          <a:p>
            <a:pPr>
              <a:lnSpc>
                <a:spcPct val="90000"/>
              </a:lnSpc>
              <a:spcBef>
                <a:spcPts val="1199"/>
              </a:spcBef>
              <a:spcAft>
                <a:spcPts val="201"/>
              </a:spcAft>
              <a:buNone/>
              <a:tabLst>
                <a:tab algn="l" pos="0"/>
              </a:tabLst>
            </a:pPr>
            <a:r>
              <a:rPr b="0" lang="en-US" sz="2000" spc="-1" strike="noStrike">
                <a:solidFill>
                  <a:srgbClr val="404040"/>
                </a:solidFill>
                <a:latin typeface="Calibri"/>
              </a:rPr>
              <a:t>(i) Assign a value of 50 to the variable called ‘Var’.</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(ii) Print the value in the variable, ‘Var’.</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(iii) Perform arithmetic operations on the variable, ‘Var’.</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(iv) Reassign a string value to the variable, ‘Var’. Print the value in the variable, ‘Var’.</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v)Reassign a logical value to the variable, ‘Var’.</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Solution-slide#15</a:t>
            </a:r>
            <a:endParaRPr b="0" lang="en-US" sz="4800" spc="-1" strike="noStrike">
              <a:solidFill>
                <a:srgbClr val="000000"/>
              </a:solidFill>
              <a:latin typeface="Calibri"/>
            </a:endParaRPr>
          </a:p>
        </p:txBody>
      </p:sp>
      <p:sp>
        <p:nvSpPr>
          <p:cNvPr id="80" name="PlaceHolder 2"/>
          <p:cNvSpPr>
            <a:spLocks noGrp="1"/>
          </p:cNvSpPr>
          <p:nvPr>
            <p:ph/>
          </p:nvPr>
        </p:nvSpPr>
        <p:spPr>
          <a:xfrm>
            <a:off x="1097280" y="1845720"/>
            <a:ext cx="10058040" cy="4023000"/>
          </a:xfrm>
          <a:prstGeom prst="rect">
            <a:avLst/>
          </a:prstGeom>
          <a:noFill/>
          <a:ln w="0">
            <a:noFill/>
          </a:ln>
        </p:spPr>
        <p:txBody>
          <a:bodyPr lIns="0" rIns="0" anchor="t">
            <a:noAutofit/>
          </a:bodyPr>
          <a:p>
            <a:pPr>
              <a:lnSpc>
                <a:spcPct val="100000"/>
              </a:lnSpc>
              <a:spcAft>
                <a:spcPts val="201"/>
              </a:spcAft>
              <a:buNone/>
              <a:tabLst>
                <a:tab algn="l" pos="0"/>
              </a:tabLst>
            </a:pPr>
            <a:r>
              <a:rPr b="0" lang="en-US" sz="1200" spc="-1" strike="noStrike">
                <a:solidFill>
                  <a:srgbClr val="404040"/>
                </a:solidFill>
                <a:latin typeface="Calibri"/>
              </a:rPr>
              <a:t>(i) Assign a value of 50 to the variable called ‘Var’.</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&gt; Var &lt;-50</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Or</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&gt; Var=5</a:t>
            </a:r>
            <a:endParaRPr b="0" lang="en-US" sz="1200" spc="-1" strike="noStrike">
              <a:solidFill>
                <a:srgbClr val="404040"/>
              </a:solidFill>
              <a:latin typeface="Calibri"/>
            </a:endParaRPr>
          </a:p>
          <a:p>
            <a:pPr>
              <a:lnSpc>
                <a:spcPct val="100000"/>
              </a:lnSpc>
              <a:spcAft>
                <a:spcPts val="201"/>
              </a:spcAft>
              <a:buNone/>
              <a:tabLst>
                <a:tab algn="l" pos="0"/>
              </a:tabLst>
            </a:pPr>
            <a:r>
              <a:rPr b="0" lang="en-US" sz="1200" spc="-1" strike="noStrike">
                <a:solidFill>
                  <a:srgbClr val="404040"/>
                </a:solidFill>
                <a:latin typeface="Calibri"/>
              </a:rPr>
              <a:t>(ii) Print the value in the variable, ‘Var’.</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&gt; Var</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[1] 50</a:t>
            </a:r>
            <a:endParaRPr b="0" lang="en-US" sz="1200" spc="-1" strike="noStrike">
              <a:solidFill>
                <a:srgbClr val="404040"/>
              </a:solidFill>
              <a:latin typeface="Calibri"/>
            </a:endParaRPr>
          </a:p>
          <a:p>
            <a:pPr>
              <a:lnSpc>
                <a:spcPct val="100000"/>
              </a:lnSpc>
              <a:spcAft>
                <a:spcPts val="201"/>
              </a:spcAft>
              <a:buNone/>
              <a:tabLst>
                <a:tab algn="l" pos="0"/>
              </a:tabLst>
            </a:pPr>
            <a:r>
              <a:rPr b="0" lang="en-US" sz="1200" spc="-1" strike="noStrike">
                <a:solidFill>
                  <a:srgbClr val="404040"/>
                </a:solidFill>
                <a:latin typeface="Calibri"/>
              </a:rPr>
              <a:t>(iii) Perform arithmetic operations on the variable, ‘Var’.</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&gt; Var + 10</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[1] 60</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&gt; Var / 2</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[1] 25</a:t>
            </a:r>
            <a:endParaRPr b="0" lang="en-US" sz="1200" spc="-1" strike="noStrike">
              <a:solidFill>
                <a:srgbClr val="404040"/>
              </a:solidFill>
              <a:latin typeface="Calibri"/>
            </a:endParaRPr>
          </a:p>
          <a:p>
            <a:pPr>
              <a:lnSpc>
                <a:spcPct val="100000"/>
              </a:lnSpc>
              <a:spcAft>
                <a:spcPts val="201"/>
              </a:spcAft>
              <a:buNone/>
              <a:tabLst>
                <a:tab algn="l" pos="0"/>
              </a:tabLst>
            </a:pPr>
            <a:endParaRPr b="0" lang="en-US" sz="1200" spc="-1" strike="noStrike">
              <a:solidFill>
                <a:srgbClr val="404040"/>
              </a:solidFill>
              <a:latin typeface="Calibri"/>
            </a:endParaRPr>
          </a:p>
          <a:p>
            <a:pPr>
              <a:lnSpc>
                <a:spcPct val="100000"/>
              </a:lnSpc>
              <a:spcAft>
                <a:spcPts val="201"/>
              </a:spcAft>
              <a:buNone/>
              <a:tabLst>
                <a:tab algn="l" pos="0"/>
              </a:tabLst>
            </a:pPr>
            <a:r>
              <a:rPr b="0" lang="en-US" sz="1200" spc="-1" strike="noStrike">
                <a:solidFill>
                  <a:srgbClr val="404040"/>
                </a:solidFill>
                <a:latin typeface="Calibri"/>
              </a:rPr>
              <a:t>(iv) Reassign a string value to the variable, ‘Var’. Print the value in the variable, ‘Var’.</a:t>
            </a:r>
            <a:endParaRPr b="0" lang="en-US" sz="1200" spc="-1" strike="noStrike">
              <a:solidFill>
                <a:srgbClr val="404040"/>
              </a:solidFill>
              <a:latin typeface="Calibri"/>
            </a:endParaRPr>
          </a:p>
          <a:p>
            <a:pPr>
              <a:lnSpc>
                <a:spcPct val="100000"/>
              </a:lnSpc>
              <a:spcAft>
                <a:spcPts val="201"/>
              </a:spcAft>
              <a:buNone/>
              <a:tabLst>
                <a:tab algn="l" pos="0"/>
              </a:tabLst>
            </a:pP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&gt; Var &lt;- “R is a Statistical Programming Language”</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&gt; Var</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[1] “R is a Statistical Programming Language”</a:t>
            </a:r>
            <a:endParaRPr b="0" lang="en-US" sz="1200" spc="-1" strike="noStrike">
              <a:solidFill>
                <a:srgbClr val="404040"/>
              </a:solidFill>
              <a:latin typeface="Calibri"/>
            </a:endParaRPr>
          </a:p>
          <a:p>
            <a:pPr>
              <a:lnSpc>
                <a:spcPct val="100000"/>
              </a:lnSpc>
              <a:spcAft>
                <a:spcPts val="201"/>
              </a:spcAft>
              <a:buNone/>
              <a:tabLst>
                <a:tab algn="l" pos="0"/>
              </a:tabLst>
            </a:pPr>
            <a:endParaRPr b="0" lang="en-US" sz="1200" spc="-1" strike="noStrike">
              <a:solidFill>
                <a:srgbClr val="404040"/>
              </a:solidFill>
              <a:latin typeface="Calibri"/>
            </a:endParaRPr>
          </a:p>
          <a:p>
            <a:pPr>
              <a:lnSpc>
                <a:spcPct val="100000"/>
              </a:lnSpc>
              <a:spcAft>
                <a:spcPts val="201"/>
              </a:spcAft>
              <a:buNone/>
              <a:tabLst>
                <a:tab algn="l" pos="0"/>
              </a:tabLst>
            </a:pPr>
            <a:r>
              <a:rPr b="0" lang="en-US" sz="1200" spc="-1" strike="noStrike">
                <a:solidFill>
                  <a:srgbClr val="404040"/>
                </a:solidFill>
                <a:latin typeface="Calibri"/>
              </a:rPr>
              <a:t>(v) Reassign a logical value to the variable, ‘Var’.</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&gt; Var &lt;- TRUE</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&gt; Var</a:t>
            </a:r>
            <a:endParaRPr b="0" lang="en-US" sz="1200" spc="-1" strike="noStrike">
              <a:solidFill>
                <a:srgbClr val="404040"/>
              </a:solidFill>
              <a:latin typeface="Calibri"/>
            </a:endParaRPr>
          </a:p>
          <a:p>
            <a:pPr marL="716040">
              <a:lnSpc>
                <a:spcPct val="100000"/>
              </a:lnSpc>
              <a:spcAft>
                <a:spcPts val="201"/>
              </a:spcAft>
              <a:buNone/>
              <a:tabLst>
                <a:tab algn="l" pos="0"/>
              </a:tabLst>
            </a:pPr>
            <a:r>
              <a:rPr b="0" lang="en-US" sz="1200" spc="-1" strike="noStrike">
                <a:solidFill>
                  <a:srgbClr val="404040"/>
                </a:solidFill>
                <a:latin typeface="Calibri"/>
              </a:rPr>
              <a:t>[1] TRUE</a:t>
            </a:r>
            <a:endParaRPr b="0" lang="en-US" sz="12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1097280" y="286560"/>
            <a:ext cx="10058040" cy="94608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Functions</a:t>
            </a:r>
            <a:endParaRPr b="0" lang="en-US" sz="4800" spc="-1" strike="noStrike">
              <a:solidFill>
                <a:srgbClr val="000000"/>
              </a:solidFill>
              <a:latin typeface="Calibri"/>
            </a:endParaRPr>
          </a:p>
        </p:txBody>
      </p:sp>
      <p:sp>
        <p:nvSpPr>
          <p:cNvPr id="82"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sum() function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sum() function returns the sum of all the values in its arguments.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Syntax</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sum(..., na.rm = FALSE)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where ... implies numeric or complex or logical vectors.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na.rm</a:t>
            </a:r>
            <a:r>
              <a:rPr b="0" lang="en-US" sz="2000" spc="-1" strike="noStrike">
                <a:solidFill>
                  <a:srgbClr val="404040"/>
                </a:solidFill>
                <a:latin typeface="Calibri"/>
              </a:rPr>
              <a:t> accepts a logical value.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Should missing values (including NaN (Not a Number)) be removed?</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915840" y="874080"/>
            <a:ext cx="10515240" cy="86796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sum() function-Examples</a:t>
            </a:r>
            <a:endParaRPr b="0" lang="en-US" sz="4800" spc="-1" strike="noStrike">
              <a:solidFill>
                <a:srgbClr val="000000"/>
              </a:solidFill>
              <a:latin typeface="Calibri"/>
            </a:endParaRPr>
          </a:p>
        </p:txBody>
      </p:sp>
      <p:sp>
        <p:nvSpPr>
          <p:cNvPr id="84" name="PlaceHolder 2"/>
          <p:cNvSpPr>
            <a:spLocks noGrp="1"/>
          </p:cNvSpPr>
          <p:nvPr>
            <p:ph/>
          </p:nvPr>
        </p:nvSpPr>
        <p:spPr>
          <a:xfrm>
            <a:off x="1097280" y="1845720"/>
            <a:ext cx="10058040" cy="4023000"/>
          </a:xfrm>
          <a:prstGeom prst="rect">
            <a:avLst/>
          </a:prstGeom>
          <a:noFill/>
          <a:ln w="0">
            <a:noFill/>
          </a:ln>
        </p:spPr>
        <p:txBody>
          <a:bodyPr lIns="0" rIns="0" anchor="t">
            <a:normAutofit fontScale="89000"/>
          </a:bodyPr>
          <a:p>
            <a:pPr>
              <a:lnSpc>
                <a:spcPct val="90000"/>
              </a:lnSpc>
              <a:spcBef>
                <a:spcPts val="1199"/>
              </a:spcBef>
              <a:spcAft>
                <a:spcPts val="201"/>
              </a:spcAft>
              <a:buNone/>
              <a:tabLst>
                <a:tab algn="l" pos="0"/>
              </a:tabLst>
            </a:pP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(i) Sum the values ‘1’, ‘2’ and ‘3’ provided as arguments to sum()</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(ii) What will be the output if NA is used for one of the arguments to sum()?</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(iii) What will be the output if NaN is used for one of the arguments to sum()?</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(iv) What will be the output if NA and NaN are used as arguments to sum()?</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(v) What will be the output if option, na.rm is set to TRUE?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Solution-slide#18</a:t>
            </a:r>
            <a:endParaRPr b="0" lang="en-US" sz="4800" spc="-1" strike="noStrike">
              <a:solidFill>
                <a:srgbClr val="000000"/>
              </a:solidFill>
              <a:latin typeface="Calibri"/>
            </a:endParaRPr>
          </a:p>
        </p:txBody>
      </p:sp>
      <p:sp>
        <p:nvSpPr>
          <p:cNvPr id="86" name="PlaceHolder 2"/>
          <p:cNvSpPr>
            <a:spLocks noGrp="1"/>
          </p:cNvSpPr>
          <p:nvPr>
            <p:ph/>
          </p:nvPr>
        </p:nvSpPr>
        <p:spPr>
          <a:xfrm>
            <a:off x="1097280" y="1845720"/>
            <a:ext cx="10058040" cy="4023000"/>
          </a:xfrm>
          <a:prstGeom prst="rect">
            <a:avLst/>
          </a:prstGeom>
          <a:noFill/>
          <a:ln w="0">
            <a:noFill/>
          </a:ln>
        </p:spPr>
        <p:txBody>
          <a:bodyPr lIns="0" rIns="0" anchor="t">
            <a:noAutofit/>
          </a:bodyPr>
          <a:p>
            <a:pPr>
              <a:lnSpc>
                <a:spcPct val="120000"/>
              </a:lnSpc>
              <a:spcAft>
                <a:spcPts val="201"/>
              </a:spcAft>
              <a:buNone/>
              <a:tabLst>
                <a:tab algn="l" pos="0"/>
              </a:tabLst>
            </a:pPr>
            <a:r>
              <a:rPr b="1" lang="en-US" sz="1100" spc="-1" strike="noStrike">
                <a:solidFill>
                  <a:srgbClr val="404040"/>
                </a:solidFill>
                <a:latin typeface="Calibri"/>
              </a:rPr>
              <a:t>Examples</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(i) Sum the values ‘1’, ‘2’ and ‘3’ provided as arguments to sum()</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&gt; sum(1, 2, 3)</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[1] 6</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(ii) What will be the output if NA is used for one of the arguments to sum()?</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&gt; sum(1, 5, NA, na.rm=FALSE)</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[1] NA</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If na.rm is FALSE, an NA or NaN value in any of the argument will cause NA or</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NaN to be returned.</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(iii) What will be the output if NaN is used for one of the arguments to sum()?</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&gt; sum(1, 5, NaN, na.rm= FALSE)</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[1] NaN</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(iv) What will be the output if NA and NaN are used as arguments to sum()?</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&gt; sum(1, 5, NA, NaN, na.rm=FALSE)</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[1] NA</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(v) What will be the output if option, na.rm is set to TRUE?</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If na.rm is TRUE, an NA or NaN value in any of the argument will be ignored.</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&gt; sum(1, 5, NA, na.rm=TRUE)</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[1] 6</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&gt; sum(1, 5, NA, NaN, na.rm=TRUE)</a:t>
            </a:r>
            <a:endParaRPr b="0" lang="en-US" sz="1100" spc="-1" strike="noStrike">
              <a:solidFill>
                <a:srgbClr val="404040"/>
              </a:solidFill>
              <a:latin typeface="Calibri"/>
            </a:endParaRPr>
          </a:p>
          <a:p>
            <a:pPr>
              <a:lnSpc>
                <a:spcPct val="120000"/>
              </a:lnSpc>
              <a:spcAft>
                <a:spcPts val="201"/>
              </a:spcAft>
              <a:buNone/>
              <a:tabLst>
                <a:tab algn="l" pos="0"/>
              </a:tabLst>
            </a:pPr>
            <a:r>
              <a:rPr b="0" lang="en-US" sz="1100" spc="-1" strike="noStrike">
                <a:solidFill>
                  <a:srgbClr val="404040"/>
                </a:solidFill>
                <a:latin typeface="Calibri"/>
              </a:rPr>
              <a:t>[1] 6</a:t>
            </a:r>
            <a:endParaRPr b="0" lang="en-US" sz="11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min() function</a:t>
            </a:r>
            <a:endParaRPr b="0" lang="en-US" sz="4800" spc="-1" strike="noStrike">
              <a:solidFill>
                <a:srgbClr val="000000"/>
              </a:solidFill>
              <a:latin typeface="Calibri"/>
            </a:endParaRPr>
          </a:p>
        </p:txBody>
      </p:sp>
      <p:sp>
        <p:nvSpPr>
          <p:cNvPr id="88"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min() function returns the minimum of all the values present in their arguments.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Syntax</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min(..., na.rm=FALSE)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where ... implies </a:t>
            </a:r>
            <a:r>
              <a:rPr b="0" lang="en-US" sz="2000" spc="-1" strike="noStrike">
                <a:solidFill>
                  <a:srgbClr val="ff0000"/>
                </a:solidFill>
                <a:latin typeface="Calibri"/>
              </a:rPr>
              <a:t>numeric or character arguments </a:t>
            </a:r>
            <a:r>
              <a:rPr b="0" lang="en-US" sz="2000" spc="-1" strike="noStrike">
                <a:solidFill>
                  <a:srgbClr val="404040"/>
                </a:solidFill>
                <a:latin typeface="Calibri"/>
              </a:rPr>
              <a:t>and </a:t>
            </a:r>
            <a:r>
              <a:rPr b="0" lang="en-US" sz="2000" spc="-1" strike="noStrike">
                <a:solidFill>
                  <a:srgbClr val="ff0000"/>
                </a:solidFill>
                <a:latin typeface="Calibri"/>
              </a:rPr>
              <a:t>na.rm accepts a logical value</a:t>
            </a:r>
            <a:r>
              <a:rPr b="0" lang="en-US" sz="2000" spc="-1" strike="noStrike">
                <a:solidFill>
                  <a:srgbClr val="404040"/>
                </a:solidFill>
                <a:latin typeface="Calibri"/>
              </a:rPr>
              <a: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Should missing values (including NaN) be removed?</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min() function</a:t>
            </a:r>
            <a:endParaRPr b="0" lang="en-US" sz="4800" spc="-1" strike="noStrike">
              <a:solidFill>
                <a:srgbClr val="000000"/>
              </a:solidFill>
              <a:latin typeface="Calibri"/>
            </a:endParaRPr>
          </a:p>
        </p:txBody>
      </p:sp>
      <p:sp>
        <p:nvSpPr>
          <p:cNvPr id="90" name="PlaceHolder 2"/>
          <p:cNvSpPr>
            <a:spLocks noGrp="1"/>
          </p:cNvSpPr>
          <p:nvPr>
            <p:ph/>
          </p:nvPr>
        </p:nvSpPr>
        <p:spPr>
          <a:xfrm>
            <a:off x="1097280" y="1845720"/>
            <a:ext cx="10058040" cy="4023000"/>
          </a:xfrm>
          <a:prstGeom prst="rect">
            <a:avLst/>
          </a:prstGeom>
          <a:noFill/>
          <a:ln w="0">
            <a:noFill/>
          </a:ln>
        </p:spPr>
        <p:txBody>
          <a:bodyPr lIns="0" rIns="0" anchor="t">
            <a:normAutofit/>
          </a:bodyPr>
          <a:p>
            <a:pPr>
              <a:lnSpc>
                <a:spcPct val="90000"/>
              </a:lnSpc>
              <a:spcBef>
                <a:spcPts val="1199"/>
              </a:spcBef>
              <a:spcAft>
                <a:spcPts val="201"/>
              </a:spcAft>
              <a:buNone/>
              <a:tabLst>
                <a:tab algn="l" pos="0"/>
              </a:tabLst>
            </a:pPr>
            <a:r>
              <a:rPr b="0" lang="en-US" sz="2000" spc="-1" strike="noStrike">
                <a:solidFill>
                  <a:srgbClr val="404040"/>
                </a:solidFill>
                <a:latin typeface="Calibri"/>
              </a:rPr>
              <a:t>What will be the output for the following commands?</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&gt; min(1, 2, 3)</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&gt; min(1, 2, 3, NA, na.rm=FALSE)</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&gt; min(1, 2, 3, NaN, na.rm=FALSE)</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&gt; min(1, 2, 3, NA, NaN, na.rm=FALSE)</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&gt; min(1, 2, 3, NA, NaN, na.rm=TRUE)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Solution-slide#21</a:t>
            </a:r>
            <a:endParaRPr b="0" lang="en-US" sz="4800" spc="-1" strike="noStrike">
              <a:solidFill>
                <a:srgbClr val="000000"/>
              </a:solidFill>
              <a:latin typeface="Calibri"/>
            </a:endParaRPr>
          </a:p>
        </p:txBody>
      </p:sp>
      <p:sp>
        <p:nvSpPr>
          <p:cNvPr id="92" name="PlaceHolder 2"/>
          <p:cNvSpPr>
            <a:spLocks noGrp="1"/>
          </p:cNvSpPr>
          <p:nvPr>
            <p:ph/>
          </p:nvPr>
        </p:nvSpPr>
        <p:spPr>
          <a:xfrm>
            <a:off x="1097280" y="1845720"/>
            <a:ext cx="10058040" cy="4023000"/>
          </a:xfrm>
          <a:prstGeom prst="rect">
            <a:avLst/>
          </a:prstGeom>
          <a:noFill/>
          <a:ln w="0">
            <a:noFill/>
          </a:ln>
        </p:spPr>
        <p:txBody>
          <a:bodyPr lIns="0" rIns="0" anchor="t">
            <a:noAutofit/>
          </a:bodyPr>
          <a:p>
            <a:pPr>
              <a:lnSpc>
                <a:spcPct val="100000"/>
              </a:lnSpc>
              <a:buNone/>
              <a:tabLst>
                <a:tab algn="l" pos="0"/>
              </a:tabLst>
            </a:pPr>
            <a:r>
              <a:rPr b="1" lang="en-US" sz="1600" spc="-1" strike="noStrike">
                <a:solidFill>
                  <a:srgbClr val="404040"/>
                </a:solidFill>
                <a:latin typeface="Calibri"/>
              </a:rPr>
              <a:t>Example</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&gt; min(1, 2, 3)</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[1] 1</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If na.rm is FALSE, an NA or NaN value in any of the argument will cause NA or NaN to be returned.</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&gt; min(1, 2, 3, NA, na.rm=FALSE)</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[1] NA</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&gt; min(1, 2, 3, NaN, na.rm=FALSE)</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[1] NaN</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&gt; min(1, 2, 3, NA, NaN, na.rm=FALSE)</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[1] NA</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If na.rm is TRUE, an NA or NaN value in any of the argument will be ignored.</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&gt; min(1, 2, 3, NA, NaN, na.rm=TRUE)</a:t>
            </a:r>
            <a:endParaRPr b="0" lang="en-US" sz="1600" spc="-1" strike="noStrike">
              <a:solidFill>
                <a:srgbClr val="404040"/>
              </a:solidFill>
              <a:latin typeface="Calibri"/>
            </a:endParaRPr>
          </a:p>
          <a:p>
            <a:pPr>
              <a:lnSpc>
                <a:spcPct val="100000"/>
              </a:lnSpc>
              <a:buNone/>
              <a:tabLst>
                <a:tab algn="l" pos="0"/>
              </a:tabLst>
            </a:pPr>
            <a:r>
              <a:rPr b="0" lang="en-US" sz="1600" spc="-1" strike="noStrike">
                <a:solidFill>
                  <a:srgbClr val="404040"/>
                </a:solidFill>
                <a:latin typeface="Calibri"/>
              </a:rPr>
              <a:t>[1] 1</a:t>
            </a:r>
            <a:endParaRPr b="0" lang="en-US" sz="16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68680" y="970200"/>
            <a:ext cx="10515240" cy="665280"/>
          </a:xfrm>
          <a:prstGeom prst="rect">
            <a:avLst/>
          </a:prstGeom>
          <a:noFill/>
          <a:ln w="0">
            <a:noFill/>
          </a:ln>
        </p:spPr>
        <p:txBody>
          <a:bodyPr anchor="b">
            <a:normAutofit fontScale="22000"/>
          </a:bodyPr>
          <a:p>
            <a:pPr>
              <a:lnSpc>
                <a:spcPct val="85000"/>
              </a:lnSpc>
              <a:buNone/>
            </a:pPr>
            <a:br>
              <a:rPr sz="4800"/>
            </a:br>
            <a:br>
              <a:rPr sz="4800"/>
            </a:br>
            <a:br>
              <a:rPr sz="4800"/>
            </a:br>
            <a:endParaRPr b="0" lang="en-US" sz="4800" spc="-1" strike="noStrike">
              <a:solidFill>
                <a:srgbClr val="000000"/>
              </a:solidFill>
              <a:latin typeface="Calibri"/>
            </a:endParaRPr>
          </a:p>
        </p:txBody>
      </p:sp>
      <p:sp>
        <p:nvSpPr>
          <p:cNvPr id="94" name="PlaceHolder 2"/>
          <p:cNvSpPr>
            <a:spLocks noGrp="1"/>
          </p:cNvSpPr>
          <p:nvPr>
            <p:ph/>
          </p:nvPr>
        </p:nvSpPr>
        <p:spPr>
          <a:xfrm>
            <a:off x="1097280" y="1845720"/>
            <a:ext cx="10058040" cy="3153600"/>
          </a:xfrm>
          <a:prstGeom prst="rect">
            <a:avLst/>
          </a:prstGeom>
          <a:noFill/>
          <a:ln w="0">
            <a:noFill/>
          </a:ln>
        </p:spPr>
        <p:txBody>
          <a:bodyPr lIns="0" rIns="0" anchor="t">
            <a:noAutofit/>
          </a:bodyPr>
          <a:p>
            <a:pPr>
              <a:lnSpc>
                <a:spcPct val="90000"/>
              </a:lnSpc>
              <a:spcBef>
                <a:spcPts val="1199"/>
              </a:spcBef>
              <a:spcAft>
                <a:spcPts val="201"/>
              </a:spcAft>
              <a:buNone/>
              <a:tabLst>
                <a:tab algn="l" pos="0"/>
              </a:tabLst>
            </a:pPr>
            <a:r>
              <a:rPr b="0" lang="en-US" sz="2000" spc="-1" strike="noStrike">
                <a:solidFill>
                  <a:srgbClr val="404040"/>
                </a:solidFill>
                <a:latin typeface="Calibri"/>
              </a:rPr>
              <a:t>max() function returns the maximum of all the values present in their arguments.</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1" lang="en-US" sz="2000" spc="-1" strike="noStrike">
                <a:solidFill>
                  <a:srgbClr val="ff0000"/>
                </a:solidFill>
                <a:latin typeface="Calibri"/>
              </a:rPr>
              <a:t>Syntax</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tabLst>
                <a:tab algn="l" pos="0"/>
              </a:tabLst>
            </a:pPr>
            <a:r>
              <a:rPr b="0" lang="en-US" sz="2000" spc="-1" strike="noStrike">
                <a:solidFill>
                  <a:srgbClr val="404040"/>
                </a:solidFill>
                <a:latin typeface="Calibri"/>
              </a:rPr>
              <a:t>max(..., na.rm=FALSE)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tabLst>
                <a:tab algn="l" pos="0"/>
              </a:tabLst>
            </a:pPr>
            <a:r>
              <a:rPr b="0" lang="en-US" sz="2000" spc="-1" strike="noStrike">
                <a:solidFill>
                  <a:srgbClr val="404040"/>
                </a:solidFill>
                <a:latin typeface="Calibri"/>
              </a:rPr>
              <a:t>where ... implies numeric or character arguments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tabLst>
                <a:tab algn="l" pos="0"/>
              </a:tabLst>
            </a:pPr>
            <a:r>
              <a:rPr b="0" lang="en-US" sz="2000" spc="-1" strike="noStrike">
                <a:solidFill>
                  <a:srgbClr val="404040"/>
                </a:solidFill>
                <a:latin typeface="Calibri"/>
              </a:rPr>
              <a:t>na.rm accepts a logical value.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tabLst>
                <a:tab algn="l" pos="0"/>
              </a:tabLst>
            </a:pPr>
            <a:r>
              <a:rPr b="0" lang="en-US" sz="2000" spc="-1" strike="noStrike">
                <a:solidFill>
                  <a:srgbClr val="404040"/>
                </a:solidFill>
                <a:latin typeface="Calibri"/>
              </a:rPr>
              <a:t>Should missing values (including NaN) be removed?</a:t>
            </a:r>
            <a:endParaRPr b="0" lang="en-US" sz="2000" spc="-1" strike="noStrike">
              <a:solidFill>
                <a:srgbClr val="404040"/>
              </a:solidFill>
              <a:latin typeface="Calibri"/>
            </a:endParaRPr>
          </a:p>
        </p:txBody>
      </p:sp>
      <p:sp>
        <p:nvSpPr>
          <p:cNvPr id="95" name="Rectangle 3"/>
          <p:cNvSpPr/>
          <p:nvPr/>
        </p:nvSpPr>
        <p:spPr>
          <a:xfrm>
            <a:off x="1097280" y="888840"/>
            <a:ext cx="609552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3600" spc="-1" strike="noStrike">
                <a:solidFill>
                  <a:srgbClr val="000000"/>
                </a:solidFill>
                <a:latin typeface="Calibri"/>
              </a:rPr>
              <a:t>max() function</a:t>
            </a:r>
            <a:br>
              <a:rPr sz="3600"/>
            </a:br>
            <a:endParaRPr b="0" lang="en-IN" sz="36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967680" y="826560"/>
            <a:ext cx="10515240" cy="550080"/>
          </a:xfrm>
          <a:prstGeom prst="rect">
            <a:avLst/>
          </a:prstGeom>
          <a:noFill/>
          <a:ln w="0">
            <a:noFill/>
          </a:ln>
        </p:spPr>
        <p:txBody>
          <a:bodyPr anchor="b">
            <a:normAutofit fontScale="45000"/>
          </a:bodyPr>
          <a:p>
            <a:pPr>
              <a:lnSpc>
                <a:spcPct val="85000"/>
              </a:lnSpc>
              <a:buNone/>
            </a:pPr>
            <a:br>
              <a:rPr sz="3600"/>
            </a:br>
            <a:endParaRPr b="0" lang="en-US" sz="3600" spc="-1" strike="noStrike">
              <a:solidFill>
                <a:srgbClr val="000000"/>
              </a:solidFill>
              <a:latin typeface="Calibri"/>
            </a:endParaRPr>
          </a:p>
        </p:txBody>
      </p:sp>
      <p:sp>
        <p:nvSpPr>
          <p:cNvPr id="97" name="PlaceHolder 2"/>
          <p:cNvSpPr>
            <a:spLocks noGrp="1"/>
          </p:cNvSpPr>
          <p:nvPr>
            <p:ph/>
          </p:nvPr>
        </p:nvSpPr>
        <p:spPr>
          <a:xfrm>
            <a:off x="967680" y="1930680"/>
            <a:ext cx="10515240" cy="4310280"/>
          </a:xfrm>
          <a:prstGeom prst="rect">
            <a:avLst/>
          </a:prstGeom>
          <a:noFill/>
          <a:ln w="0">
            <a:noFill/>
          </a:ln>
        </p:spPr>
        <p:txBody>
          <a:bodyPr lIns="0" rIns="0" anchor="t">
            <a:normAutofit fontScale="80000"/>
          </a:bodyPr>
          <a:p>
            <a:pPr>
              <a:lnSpc>
                <a:spcPct val="90000"/>
              </a:lnSpc>
              <a:spcBef>
                <a:spcPts val="1199"/>
              </a:spcBef>
              <a:spcAft>
                <a:spcPts val="201"/>
              </a:spcAft>
              <a:buNone/>
              <a:tabLst>
                <a:tab algn="l" pos="0"/>
              </a:tabLst>
            </a:pPr>
            <a:r>
              <a:rPr b="0" lang="en-US" sz="2000" spc="-1" strike="noStrike">
                <a:solidFill>
                  <a:srgbClr val="404040"/>
                </a:solidFill>
                <a:latin typeface="Calibri"/>
              </a:rPr>
              <a:t>&gt; max(44, 78, 66)</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[1] 78</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ff0000"/>
                </a:solidFill>
                <a:latin typeface="Calibri"/>
              </a:rPr>
              <a:t>If na.rm is FALSE, an NA or NaN value in any of the argument will cause NA or NaN to be returned.</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404040"/>
                </a:solidFill>
                <a:latin typeface="Calibri"/>
              </a:rPr>
              <a:t>&gt; max(44, 78, 66, NA, na.rm=FALSE)</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404040"/>
                </a:solidFill>
                <a:latin typeface="Calibri"/>
              </a:rPr>
              <a:t>[1] NA</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404040"/>
                </a:solidFill>
                <a:latin typeface="Calibri"/>
              </a:rPr>
              <a:t>&gt; max(44, 78, 66, NaN, na.rm=FALSE)</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404040"/>
                </a:solidFill>
                <a:latin typeface="Calibri"/>
              </a:rPr>
              <a:t>[1] NaN</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404040"/>
                </a:solidFill>
                <a:latin typeface="Calibri"/>
              </a:rPr>
              <a:t>&gt; max(44, 78, 66, NA, NaN, na.rm=FALSE)</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404040"/>
                </a:solidFill>
                <a:latin typeface="Calibri"/>
              </a:rPr>
              <a:t>[1] NA</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ff0000"/>
                </a:solidFill>
                <a:latin typeface="Calibri"/>
              </a:rPr>
              <a:t>If na.rm is TRUE, an NA or NaN value in any of the argument will be ignored.</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404040"/>
                </a:solidFill>
                <a:latin typeface="Calibri"/>
              </a:rPr>
              <a:t>&gt; max(44, 78, 66, NA, NaN, na.rm=TRUE)</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IN" sz="2000" spc="-1" strike="noStrike">
                <a:solidFill>
                  <a:srgbClr val="404040"/>
                </a:solidFill>
                <a:latin typeface="Calibri"/>
              </a:rPr>
              <a:t>[1] 78</a:t>
            </a:r>
            <a:endParaRPr b="0" lang="en-US" sz="2000" spc="-1" strike="noStrike">
              <a:solidFill>
                <a:srgbClr val="404040"/>
              </a:solidFill>
              <a:latin typeface="Calibri"/>
            </a:endParaRPr>
          </a:p>
        </p:txBody>
      </p:sp>
      <p:sp>
        <p:nvSpPr>
          <p:cNvPr id="98" name="Rectangle 3"/>
          <p:cNvSpPr/>
          <p:nvPr/>
        </p:nvSpPr>
        <p:spPr>
          <a:xfrm>
            <a:off x="908640" y="1101960"/>
            <a:ext cx="846972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400" spc="-1" strike="noStrike">
                <a:solidFill>
                  <a:srgbClr val="000000"/>
                </a:solidFill>
                <a:latin typeface="Calibri"/>
              </a:rPr>
              <a:t>Example</a:t>
            </a:r>
            <a:br>
              <a:rPr sz="2400"/>
            </a:b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907200" y="612000"/>
            <a:ext cx="10058040" cy="96300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seq() function</a:t>
            </a:r>
            <a:endParaRPr b="0" lang="en-US" sz="3600" spc="-1" strike="noStrike">
              <a:solidFill>
                <a:srgbClr val="000000"/>
              </a:solidFill>
              <a:latin typeface="Calibri"/>
            </a:endParaRPr>
          </a:p>
        </p:txBody>
      </p:sp>
      <p:sp>
        <p:nvSpPr>
          <p:cNvPr id="100" name="PlaceHolder 2"/>
          <p:cNvSpPr>
            <a:spLocks noGrp="1"/>
          </p:cNvSpPr>
          <p:nvPr>
            <p:ph/>
          </p:nvPr>
        </p:nvSpPr>
        <p:spPr>
          <a:xfrm>
            <a:off x="1016280" y="1693080"/>
            <a:ext cx="10515240" cy="4350960"/>
          </a:xfrm>
          <a:prstGeom prst="rect">
            <a:avLst/>
          </a:prstGeom>
          <a:noFill/>
          <a:ln w="0">
            <a:noFill/>
          </a:ln>
        </p:spPr>
        <p:txBody>
          <a:bodyPr lIns="0" rIns="0" anchor="t">
            <a:normAutofit/>
          </a:bodyPr>
          <a:p>
            <a:pPr>
              <a:lnSpc>
                <a:spcPct val="90000"/>
              </a:lnSpc>
              <a:spcBef>
                <a:spcPts val="1199"/>
              </a:spcBef>
              <a:spcAft>
                <a:spcPts val="201"/>
              </a:spcAft>
              <a:buNone/>
              <a:tabLst>
                <a:tab algn="l" pos="0"/>
              </a:tabLst>
            </a:pPr>
            <a:r>
              <a:rPr b="0" lang="en-US" sz="2000" spc="-1" strike="noStrike">
                <a:solidFill>
                  <a:srgbClr val="404040"/>
                </a:solidFill>
                <a:latin typeface="Calibri"/>
              </a:rPr>
              <a:t>seq() function generates a regular sequence.</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ff0000"/>
                </a:solidFill>
                <a:latin typeface="Calibri"/>
              </a:rPr>
              <a:t>Syntax</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seq(start from, end at, interval, length.out)</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where,</a:t>
            </a:r>
            <a:endParaRPr b="0" lang="en-US" sz="2000" spc="-1" strike="noStrike">
              <a:solidFill>
                <a:srgbClr val="404040"/>
              </a:solidFill>
              <a:latin typeface="Calibri"/>
            </a:endParaRPr>
          </a:p>
          <a:p>
            <a:pPr marL="896760">
              <a:lnSpc>
                <a:spcPct val="90000"/>
              </a:lnSpc>
              <a:spcBef>
                <a:spcPts val="1199"/>
              </a:spcBef>
              <a:spcAft>
                <a:spcPts val="201"/>
              </a:spcAft>
              <a:buNone/>
              <a:tabLst>
                <a:tab algn="l" pos="0"/>
              </a:tabLst>
            </a:pPr>
            <a:r>
              <a:rPr b="0" lang="en-US" sz="2000" spc="-1" strike="noStrike">
                <a:solidFill>
                  <a:srgbClr val="c00000"/>
                </a:solidFill>
                <a:latin typeface="Calibri"/>
              </a:rPr>
              <a:t>Start from</a:t>
            </a:r>
            <a:r>
              <a:rPr b="0" lang="en-US" sz="2000" spc="-1" strike="noStrike">
                <a:solidFill>
                  <a:srgbClr val="404040"/>
                </a:solidFill>
                <a:latin typeface="Calibri"/>
              </a:rPr>
              <a:t>: It is the start value of the sequence.</a:t>
            </a:r>
            <a:endParaRPr b="0" lang="en-US" sz="2000" spc="-1" strike="noStrike">
              <a:solidFill>
                <a:srgbClr val="404040"/>
              </a:solidFill>
              <a:latin typeface="Calibri"/>
            </a:endParaRPr>
          </a:p>
          <a:p>
            <a:pPr marL="896760">
              <a:lnSpc>
                <a:spcPct val="90000"/>
              </a:lnSpc>
              <a:spcBef>
                <a:spcPts val="1199"/>
              </a:spcBef>
              <a:spcAft>
                <a:spcPts val="201"/>
              </a:spcAft>
              <a:buNone/>
              <a:tabLst>
                <a:tab algn="l" pos="0"/>
              </a:tabLst>
            </a:pPr>
            <a:r>
              <a:rPr b="0" lang="en-US" sz="2000" spc="-1" strike="noStrike">
                <a:solidFill>
                  <a:srgbClr val="c00000"/>
                </a:solidFill>
                <a:latin typeface="Calibri"/>
              </a:rPr>
              <a:t>End at: </a:t>
            </a:r>
            <a:r>
              <a:rPr b="0" lang="en-US" sz="2000" spc="-1" strike="noStrike">
                <a:solidFill>
                  <a:srgbClr val="404040"/>
                </a:solidFill>
                <a:latin typeface="Calibri"/>
              </a:rPr>
              <a:t>It is the maximal or end value of the sequence.</a:t>
            </a:r>
            <a:endParaRPr b="0" lang="en-US" sz="2000" spc="-1" strike="noStrike">
              <a:solidFill>
                <a:srgbClr val="404040"/>
              </a:solidFill>
              <a:latin typeface="Calibri"/>
            </a:endParaRPr>
          </a:p>
          <a:p>
            <a:pPr marL="896760">
              <a:lnSpc>
                <a:spcPct val="90000"/>
              </a:lnSpc>
              <a:spcBef>
                <a:spcPts val="1199"/>
              </a:spcBef>
              <a:spcAft>
                <a:spcPts val="201"/>
              </a:spcAft>
              <a:buNone/>
              <a:tabLst>
                <a:tab algn="l" pos="0"/>
              </a:tabLst>
            </a:pPr>
            <a:r>
              <a:rPr b="0" lang="en-US" sz="2000" spc="-1" strike="noStrike">
                <a:solidFill>
                  <a:srgbClr val="c00000"/>
                </a:solidFill>
                <a:latin typeface="Calibri"/>
              </a:rPr>
              <a:t>Interval:</a:t>
            </a:r>
            <a:r>
              <a:rPr b="0" lang="en-US" sz="2000" spc="-1" strike="noStrike">
                <a:solidFill>
                  <a:srgbClr val="404040"/>
                </a:solidFill>
                <a:latin typeface="Calibri"/>
              </a:rPr>
              <a:t> It is the increment of the sequence.</a:t>
            </a:r>
            <a:endParaRPr b="0" lang="en-US" sz="2000" spc="-1" strike="noStrike">
              <a:solidFill>
                <a:srgbClr val="404040"/>
              </a:solidFill>
              <a:latin typeface="Calibri"/>
            </a:endParaRPr>
          </a:p>
          <a:p>
            <a:pPr marL="896760">
              <a:lnSpc>
                <a:spcPct val="90000"/>
              </a:lnSpc>
              <a:spcBef>
                <a:spcPts val="1199"/>
              </a:spcBef>
              <a:spcAft>
                <a:spcPts val="201"/>
              </a:spcAft>
              <a:buNone/>
              <a:tabLst>
                <a:tab algn="l" pos="0"/>
              </a:tabLst>
            </a:pPr>
            <a:r>
              <a:rPr b="0" lang="en-US" sz="2000" spc="-1" strike="noStrike">
                <a:solidFill>
                  <a:srgbClr val="c00000"/>
                </a:solidFill>
                <a:latin typeface="Calibri"/>
              </a:rPr>
              <a:t>length.out: </a:t>
            </a:r>
            <a:r>
              <a:rPr b="0" lang="en-US" sz="2000" spc="-1" strike="noStrike">
                <a:solidFill>
                  <a:srgbClr val="404040"/>
                </a:solidFill>
                <a:latin typeface="Calibri"/>
              </a:rPr>
              <a:t>It is the desired length of the sequence.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1096920" y="1233720"/>
            <a:ext cx="10515240" cy="456840"/>
          </a:xfrm>
          <a:prstGeom prst="rect">
            <a:avLst/>
          </a:prstGeom>
          <a:noFill/>
          <a:ln w="0">
            <a:noFill/>
          </a:ln>
        </p:spPr>
        <p:txBody>
          <a:bodyPr anchor="b">
            <a:normAutofit fontScale="15000"/>
          </a:bodyPr>
          <a:p>
            <a:pPr>
              <a:lnSpc>
                <a:spcPct val="85000"/>
              </a:lnSpc>
              <a:buNone/>
            </a:pPr>
            <a:br>
              <a:rPr sz="3600"/>
            </a:br>
            <a:br>
              <a:rPr sz="3600"/>
            </a:br>
            <a:br>
              <a:rPr sz="3600"/>
            </a:br>
            <a:br>
              <a:rPr sz="3600"/>
            </a:br>
            <a:endParaRPr b="0" lang="en-US" sz="3600" spc="-1" strike="noStrike">
              <a:solidFill>
                <a:srgbClr val="000000"/>
              </a:solidFill>
              <a:latin typeface="Calibri"/>
            </a:endParaRPr>
          </a:p>
        </p:txBody>
      </p:sp>
      <p:sp>
        <p:nvSpPr>
          <p:cNvPr id="102" name="PlaceHolder 2"/>
          <p:cNvSpPr>
            <a:spLocks noGrp="1"/>
          </p:cNvSpPr>
          <p:nvPr>
            <p:ph/>
          </p:nvPr>
        </p:nvSpPr>
        <p:spPr>
          <a:xfrm>
            <a:off x="1096920" y="1929240"/>
            <a:ext cx="10515240" cy="4350960"/>
          </a:xfrm>
          <a:prstGeom prst="rect">
            <a:avLst/>
          </a:prstGeom>
          <a:noFill/>
          <a:ln w="0">
            <a:noFill/>
          </a:ln>
        </p:spPr>
        <p:txBody>
          <a:bodyPr lIns="0" rIns="0" anchor="t">
            <a:normAutofit fontScale="88000"/>
          </a:bodyPr>
          <a:p>
            <a:pPr>
              <a:lnSpc>
                <a:spcPct val="90000"/>
              </a:lnSpc>
              <a:spcBef>
                <a:spcPts val="1199"/>
              </a:spcBef>
              <a:spcAft>
                <a:spcPts val="201"/>
              </a:spcAft>
              <a:buNone/>
              <a:tabLst>
                <a:tab algn="l" pos="0"/>
              </a:tabLst>
            </a:pPr>
            <a:r>
              <a:rPr b="0" lang="en-US" sz="2000" spc="-1" strike="noStrike">
                <a:solidFill>
                  <a:srgbClr val="404040"/>
                </a:solidFill>
                <a:latin typeface="Calibri"/>
              </a:rPr>
              <a:t>&gt; seq(1, 10, 2)</a:t>
            </a:r>
            <a:endParaRPr b="0" lang="en-US" sz="2000" spc="-1" strike="noStrike">
              <a:solidFill>
                <a:srgbClr val="404040"/>
              </a:solidFill>
              <a:latin typeface="Calibri"/>
            </a:endParaRPr>
          </a:p>
          <a:p>
            <a:pPr marL="181080">
              <a:lnSpc>
                <a:spcPct val="90000"/>
              </a:lnSpc>
              <a:spcBef>
                <a:spcPts val="1199"/>
              </a:spcBef>
              <a:spcAft>
                <a:spcPts val="201"/>
              </a:spcAft>
              <a:buNone/>
              <a:tabLst>
                <a:tab algn="l" pos="0"/>
              </a:tabLst>
            </a:pPr>
            <a:r>
              <a:rPr b="0" lang="en-US" sz="2000" spc="-1" strike="noStrike">
                <a:solidFill>
                  <a:srgbClr val="404040"/>
                </a:solidFill>
                <a:latin typeface="Calibri"/>
              </a:rPr>
              <a:t>[1] 1 3 5 7 9</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&gt; seq(1, 10, length.out=10)</a:t>
            </a:r>
            <a:endParaRPr b="0" lang="en-US" sz="2000" spc="-1" strike="noStrike">
              <a:solidFill>
                <a:srgbClr val="404040"/>
              </a:solidFill>
              <a:latin typeface="Calibri"/>
            </a:endParaRPr>
          </a:p>
          <a:p>
            <a:pPr marL="181080">
              <a:lnSpc>
                <a:spcPct val="90000"/>
              </a:lnSpc>
              <a:spcBef>
                <a:spcPts val="1199"/>
              </a:spcBef>
              <a:spcAft>
                <a:spcPts val="201"/>
              </a:spcAft>
              <a:buNone/>
              <a:tabLst>
                <a:tab algn="l" pos="0"/>
              </a:tabLst>
            </a:pPr>
            <a:r>
              <a:rPr b="0" lang="en-US" sz="2000" spc="-1" strike="noStrike">
                <a:solidFill>
                  <a:srgbClr val="404040"/>
                </a:solidFill>
                <a:latin typeface="Calibri"/>
              </a:rPr>
              <a:t>[1] 1 2 3 4 5 6 7 8 9 10</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&gt; seq(18)</a:t>
            </a:r>
            <a:endParaRPr b="0" lang="en-US" sz="2000" spc="-1" strike="noStrike">
              <a:solidFill>
                <a:srgbClr val="404040"/>
              </a:solidFill>
              <a:latin typeface="Calibri"/>
            </a:endParaRPr>
          </a:p>
          <a:p>
            <a:pPr marL="181080">
              <a:lnSpc>
                <a:spcPct val="90000"/>
              </a:lnSpc>
              <a:spcBef>
                <a:spcPts val="1199"/>
              </a:spcBef>
              <a:spcAft>
                <a:spcPts val="201"/>
              </a:spcAft>
              <a:buNone/>
              <a:tabLst>
                <a:tab algn="l" pos="0"/>
              </a:tabLst>
            </a:pPr>
            <a:r>
              <a:rPr b="0" lang="en-US" sz="2000" spc="-1" strike="noStrike">
                <a:solidFill>
                  <a:srgbClr val="404040"/>
                </a:solidFill>
                <a:latin typeface="Calibri"/>
              </a:rPr>
              <a:t>[1] 1 2 3 4 5 6 7 8 9 10 11 12 13 14 15 16 17 18</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Or</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&gt; seq_len(18)</a:t>
            </a:r>
            <a:endParaRPr b="0" lang="en-US" sz="2000" spc="-1" strike="noStrike">
              <a:solidFill>
                <a:srgbClr val="404040"/>
              </a:solidFill>
              <a:latin typeface="Calibri"/>
            </a:endParaRPr>
          </a:p>
          <a:p>
            <a:pPr marL="181080">
              <a:lnSpc>
                <a:spcPct val="90000"/>
              </a:lnSpc>
              <a:spcBef>
                <a:spcPts val="1199"/>
              </a:spcBef>
              <a:spcAft>
                <a:spcPts val="201"/>
              </a:spcAft>
              <a:buNone/>
              <a:tabLst>
                <a:tab algn="l" pos="0"/>
              </a:tabLst>
            </a:pPr>
            <a:r>
              <a:rPr b="0" lang="en-US" sz="2000" spc="-1" strike="noStrike">
                <a:solidFill>
                  <a:srgbClr val="404040"/>
                </a:solidFill>
                <a:latin typeface="Calibri"/>
              </a:rPr>
              <a:t>[1] 1 2 3 4 5 6 7 8 9 10 11 12 13 14 15 16 17 18</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&gt; seq(1, 6, by=3)</a:t>
            </a:r>
            <a:endParaRPr b="0" lang="en-US" sz="2000" spc="-1" strike="noStrike">
              <a:solidFill>
                <a:srgbClr val="404040"/>
              </a:solidFill>
              <a:latin typeface="Calibri"/>
            </a:endParaRPr>
          </a:p>
          <a:p>
            <a:pPr marL="181080">
              <a:lnSpc>
                <a:spcPct val="90000"/>
              </a:lnSpc>
              <a:spcBef>
                <a:spcPts val="1199"/>
              </a:spcBef>
              <a:spcAft>
                <a:spcPts val="201"/>
              </a:spcAft>
              <a:buNone/>
              <a:tabLst>
                <a:tab algn="l" pos="0"/>
              </a:tabLst>
            </a:pPr>
            <a:r>
              <a:rPr b="0" lang="en-US" sz="2000" spc="-1" strike="noStrike">
                <a:solidFill>
                  <a:srgbClr val="404040"/>
                </a:solidFill>
                <a:latin typeface="Calibri"/>
              </a:rPr>
              <a:t>[1] 1 4</a:t>
            </a:r>
            <a:endParaRPr b="0" lang="en-US" sz="2000" spc="-1" strike="noStrike">
              <a:solidFill>
                <a:srgbClr val="404040"/>
              </a:solidFill>
              <a:latin typeface="Calibri"/>
            </a:endParaRPr>
          </a:p>
        </p:txBody>
      </p:sp>
      <p:sp>
        <p:nvSpPr>
          <p:cNvPr id="103" name="Rectangle 3"/>
          <p:cNvSpPr/>
          <p:nvPr/>
        </p:nvSpPr>
        <p:spPr>
          <a:xfrm>
            <a:off x="1012320" y="1139040"/>
            <a:ext cx="6095520" cy="1064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3200" spc="-1" strike="noStrike">
                <a:solidFill>
                  <a:srgbClr val="000000"/>
                </a:solidFill>
                <a:latin typeface="Calibri"/>
              </a:rPr>
              <a:t>Example</a:t>
            </a:r>
            <a:br>
              <a:rPr sz="3200"/>
            </a:br>
            <a:endParaRPr b="0" lang="en-IN" sz="32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856800"/>
            <a:ext cx="10515240" cy="73008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Manipulating Text in Data</a:t>
            </a:r>
            <a:endParaRPr b="0" lang="en-US" sz="3600" spc="-1" strike="noStrike">
              <a:solidFill>
                <a:srgbClr val="000000"/>
              </a:solidFill>
              <a:latin typeface="Calibri"/>
            </a:endParaRPr>
          </a:p>
        </p:txBody>
      </p:sp>
      <p:pic>
        <p:nvPicPr>
          <p:cNvPr id="105" name="Content Placeholder 3" descr=""/>
          <p:cNvPicPr/>
          <p:nvPr/>
        </p:nvPicPr>
        <p:blipFill>
          <a:blip r:embed="rId1"/>
          <a:stretch/>
        </p:blipFill>
        <p:spPr>
          <a:xfrm>
            <a:off x="838080" y="1867320"/>
            <a:ext cx="9194040" cy="406728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81280" y="900000"/>
            <a:ext cx="10515240" cy="60948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 </a:t>
            </a:r>
            <a:r>
              <a:rPr b="0" lang="en-IN" sz="3600" spc="-52" strike="noStrike">
                <a:solidFill>
                  <a:srgbClr val="404040"/>
                </a:solidFill>
                <a:latin typeface="Calibri Light"/>
              </a:rPr>
              <a:t>Manipulating Text in Data</a:t>
            </a:r>
            <a:endParaRPr b="0" lang="en-US" sz="3600" spc="-1" strike="noStrike">
              <a:solidFill>
                <a:srgbClr val="000000"/>
              </a:solidFill>
              <a:latin typeface="Calibri"/>
            </a:endParaRPr>
          </a:p>
        </p:txBody>
      </p:sp>
      <p:sp>
        <p:nvSpPr>
          <p:cNvPr id="107" name="PlaceHolder 2"/>
          <p:cNvSpPr>
            <a:spLocks noGrp="1"/>
          </p:cNvSpPr>
          <p:nvPr>
            <p:ph/>
          </p:nvPr>
        </p:nvSpPr>
        <p:spPr>
          <a:xfrm>
            <a:off x="1002240" y="1846080"/>
            <a:ext cx="9366480" cy="3959280"/>
          </a:xfrm>
          <a:prstGeom prst="rect">
            <a:avLst/>
          </a:prstGeom>
          <a:noFill/>
          <a:ln w="0">
            <a:noFill/>
          </a:ln>
        </p:spPr>
        <p:txBody>
          <a:bodyPr lIns="0" rIns="0" anchor="t">
            <a:noAutofit/>
          </a:bodyPr>
          <a:p>
            <a:pPr>
              <a:lnSpc>
                <a:spcPct val="120000"/>
              </a:lnSpc>
              <a:spcAft>
                <a:spcPts val="201"/>
              </a:spcAft>
              <a:buNone/>
              <a:tabLst>
                <a:tab algn="l" pos="0"/>
              </a:tabLst>
            </a:pPr>
            <a:r>
              <a:rPr b="0" lang="en-US" sz="1200" spc="-1" strike="noStrike">
                <a:solidFill>
                  <a:srgbClr val="ff0000"/>
                </a:solidFill>
                <a:latin typeface="Calibri"/>
              </a:rPr>
              <a:t>rep() function</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rep() function </a:t>
            </a:r>
            <a:r>
              <a:rPr b="0" lang="en-US" sz="1200" spc="-1" strike="noStrike">
                <a:solidFill>
                  <a:srgbClr val="00b050"/>
                </a:solidFill>
                <a:latin typeface="Calibri"/>
              </a:rPr>
              <a:t>repeats a given argument for a specified number of times.</a:t>
            </a:r>
            <a:r>
              <a:rPr b="0" lang="en-US" sz="1200" spc="-1" strike="noStrike">
                <a:solidFill>
                  <a:srgbClr val="404040"/>
                </a:solidFill>
                <a:latin typeface="Calibri"/>
              </a:rPr>
              <a:t> In the example</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below, the string, ‘statistics’ is repeated three times.</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Example</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&gt; rep(“statistics”, 3)</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[1] “statistics” “statistics” “statistics”</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ff0000"/>
                </a:solidFill>
                <a:latin typeface="Calibri"/>
              </a:rPr>
              <a:t>grep() function</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In the example below, the function grep() </a:t>
            </a:r>
            <a:r>
              <a:rPr b="0" lang="en-US" sz="1200" spc="-1" strike="noStrike">
                <a:solidFill>
                  <a:srgbClr val="00b050"/>
                </a:solidFill>
                <a:latin typeface="Calibri"/>
              </a:rPr>
              <a:t>finds the index position at which the string,</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00b050"/>
                </a:solidFill>
                <a:latin typeface="Calibri"/>
              </a:rPr>
              <a:t>‘</a:t>
            </a:r>
            <a:r>
              <a:rPr b="0" lang="en-US" sz="1200" spc="-1" strike="noStrike">
                <a:solidFill>
                  <a:srgbClr val="00b050"/>
                </a:solidFill>
                <a:latin typeface="Calibri"/>
              </a:rPr>
              <a:t>statistical’ is present.</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Example</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&gt; grep(“statistical”,c(“R”,“is”,“a”,“statistical”,“language”),</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fixed=TRUE)</a:t>
            </a:r>
            <a:endParaRPr b="0" lang="en-US" sz="1200" spc="-1" strike="noStrike">
              <a:solidFill>
                <a:srgbClr val="404040"/>
              </a:solidFill>
              <a:latin typeface="Calibri"/>
            </a:endParaRPr>
          </a:p>
          <a:p>
            <a:pPr>
              <a:lnSpc>
                <a:spcPct val="120000"/>
              </a:lnSpc>
              <a:spcAft>
                <a:spcPts val="201"/>
              </a:spcAft>
              <a:buNone/>
              <a:tabLst>
                <a:tab algn="l" pos="0"/>
              </a:tabLst>
            </a:pPr>
            <a:r>
              <a:rPr b="0" lang="en-US" sz="1200" spc="-1" strike="noStrike">
                <a:solidFill>
                  <a:srgbClr val="404040"/>
                </a:solidFill>
                <a:latin typeface="Calibri"/>
              </a:rPr>
              <a:t>[1] 4</a:t>
            </a:r>
            <a:endParaRPr b="0" lang="en-US" sz="12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1097280" y="286560"/>
            <a:ext cx="10058040" cy="1450440"/>
          </a:xfrm>
          <a:prstGeom prst="rect">
            <a:avLst/>
          </a:prstGeom>
          <a:noFill/>
          <a:ln w="0">
            <a:noFill/>
          </a:ln>
        </p:spPr>
        <p:txBody>
          <a:bodyPr anchor="b">
            <a:noAutofit/>
          </a:bodyPr>
          <a:p>
            <a:endParaRPr b="0" lang="en-US" sz="1800" spc="-1" strike="noStrike">
              <a:solidFill>
                <a:srgbClr val="000000"/>
              </a:solidFill>
              <a:latin typeface="Calibri"/>
            </a:endParaRPr>
          </a:p>
        </p:txBody>
      </p:sp>
      <p:sp>
        <p:nvSpPr>
          <p:cNvPr id="109" name="PlaceHolder 2"/>
          <p:cNvSpPr>
            <a:spLocks noGrp="1"/>
          </p:cNvSpPr>
          <p:nvPr>
            <p:ph/>
          </p:nvPr>
        </p:nvSpPr>
        <p:spPr>
          <a:xfrm>
            <a:off x="1097280" y="1845720"/>
            <a:ext cx="10058040" cy="4023000"/>
          </a:xfrm>
          <a:prstGeom prst="rect">
            <a:avLst/>
          </a:prstGeom>
          <a:noFill/>
          <a:ln w="0">
            <a:noFill/>
          </a:ln>
        </p:spPr>
        <p:txBody>
          <a:bodyPr lIns="0" rIns="0" anchor="t">
            <a:normAutofit fontScale="91000"/>
          </a:bodyPr>
          <a:p>
            <a:pPr>
              <a:lnSpc>
                <a:spcPct val="120000"/>
              </a:lnSpc>
              <a:spcAft>
                <a:spcPts val="201"/>
              </a:spcAft>
              <a:buNone/>
              <a:tabLst>
                <a:tab algn="l" pos="0"/>
              </a:tabLst>
            </a:pPr>
            <a:r>
              <a:rPr b="0" lang="en-US" sz="2000" spc="-1" strike="noStrike">
                <a:solidFill>
                  <a:srgbClr val="ff0000"/>
                </a:solidFill>
                <a:latin typeface="Calibri"/>
              </a:rPr>
              <a:t>toupper() function</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toupper() function </a:t>
            </a:r>
            <a:r>
              <a:rPr b="0" lang="en-US" sz="2000" spc="-1" strike="noStrike">
                <a:solidFill>
                  <a:srgbClr val="00b050"/>
                </a:solidFill>
                <a:latin typeface="Calibri"/>
              </a:rPr>
              <a:t>converts a given character vector into upper case.</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Syntax</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toupper(x)</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x -&gt;is a character vector</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Example</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&gt; toupper(“statistics”)</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[1] “STATISTICS”</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Or</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00b050"/>
                </a:solidFill>
                <a:latin typeface="Calibri"/>
              </a:rPr>
              <a:t>&gt; casefold </a:t>
            </a:r>
            <a:r>
              <a:rPr b="0" lang="en-US" sz="2000" spc="-1" strike="noStrike">
                <a:solidFill>
                  <a:srgbClr val="404040"/>
                </a:solidFill>
                <a:latin typeface="Calibri"/>
              </a:rPr>
              <a:t>(“r programming language”, upper=TRUE)</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[1] “R PROGRAMMING LANGUAGE”</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976320" y="925920"/>
            <a:ext cx="10515240" cy="60948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Manipulating Text in Data</a:t>
            </a:r>
            <a:endParaRPr b="0" lang="en-US" sz="3600" spc="-1" strike="noStrike">
              <a:solidFill>
                <a:srgbClr val="000000"/>
              </a:solidFill>
              <a:latin typeface="Calibri"/>
            </a:endParaRPr>
          </a:p>
        </p:txBody>
      </p:sp>
      <p:sp>
        <p:nvSpPr>
          <p:cNvPr id="111" name="PlaceHolder 2"/>
          <p:cNvSpPr>
            <a:spLocks noGrp="1"/>
          </p:cNvSpPr>
          <p:nvPr>
            <p:ph/>
          </p:nvPr>
        </p:nvSpPr>
        <p:spPr>
          <a:xfrm>
            <a:off x="907200" y="1842840"/>
            <a:ext cx="10515240" cy="5437440"/>
          </a:xfrm>
          <a:prstGeom prst="rect">
            <a:avLst/>
          </a:prstGeom>
          <a:noFill/>
          <a:ln w="0">
            <a:noFill/>
          </a:ln>
        </p:spPr>
        <p:txBody>
          <a:bodyPr lIns="0" rIns="0" anchor="t">
            <a:normAutofit/>
          </a:bodyPr>
          <a:p>
            <a:pPr>
              <a:lnSpc>
                <a:spcPct val="120000"/>
              </a:lnSpc>
              <a:spcAft>
                <a:spcPts val="201"/>
              </a:spcAft>
              <a:buNone/>
              <a:tabLst>
                <a:tab algn="l" pos="0"/>
              </a:tabLst>
            </a:pPr>
            <a:r>
              <a:rPr b="0" lang="en-US" sz="2000" spc="-1" strike="noStrike">
                <a:solidFill>
                  <a:srgbClr val="ff0000"/>
                </a:solidFill>
                <a:latin typeface="Calibri"/>
              </a:rPr>
              <a:t>tolower() function</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tolower() function converts the given character vector into lower case.</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Syntax</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tolower(x)</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x -&gt; is a character vector</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Example</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&gt; tolower(“STATISTICS”)</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[1] “statistics”</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Or</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&gt; casefold(“R PROGRAMMING LANGUAGE”, upper=FALSE)</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[1] “r programming language”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1036800" y="691920"/>
            <a:ext cx="10058040" cy="96372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Manipulating Text in Data</a:t>
            </a:r>
            <a:endParaRPr b="0" lang="en-US" sz="4800" spc="-1" strike="noStrike">
              <a:solidFill>
                <a:srgbClr val="000000"/>
              </a:solidFill>
              <a:latin typeface="Calibri"/>
            </a:endParaRPr>
          </a:p>
        </p:txBody>
      </p:sp>
      <p:sp>
        <p:nvSpPr>
          <p:cNvPr id="113" name="PlaceHolder 2"/>
          <p:cNvSpPr>
            <a:spLocks noGrp="1"/>
          </p:cNvSpPr>
          <p:nvPr>
            <p:ph/>
          </p:nvPr>
        </p:nvSpPr>
        <p:spPr>
          <a:xfrm>
            <a:off x="1097280" y="1845720"/>
            <a:ext cx="10058040" cy="4023000"/>
          </a:xfrm>
          <a:prstGeom prst="rect">
            <a:avLst/>
          </a:prstGeom>
          <a:noFill/>
          <a:ln w="0">
            <a:noFill/>
          </a:ln>
        </p:spPr>
        <p:txBody>
          <a:bodyPr lIns="0" rIns="0" anchor="t">
            <a:normAutofit fontScale="83000"/>
          </a:bodyPr>
          <a:p>
            <a:pPr>
              <a:lnSpc>
                <a:spcPct val="120000"/>
              </a:lnSpc>
              <a:spcAft>
                <a:spcPts val="201"/>
              </a:spcAft>
              <a:buNone/>
              <a:tabLst>
                <a:tab algn="l" pos="0"/>
              </a:tabLst>
            </a:pPr>
            <a:r>
              <a:rPr b="0" lang="en-US" sz="2000" spc="-1" strike="noStrike">
                <a:solidFill>
                  <a:srgbClr val="ff0000"/>
                </a:solidFill>
                <a:latin typeface="Calibri"/>
              </a:rPr>
              <a:t>substr() function</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substr() function extracts or replaces substrings in a character vector.</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Syntax</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00b050"/>
                </a:solidFill>
                <a:latin typeface="Calibri"/>
              </a:rPr>
              <a:t>substr(x, start, stop)</a:t>
            </a:r>
            <a:endParaRPr b="0" lang="en-US" sz="2000" spc="-1" strike="noStrike">
              <a:solidFill>
                <a:srgbClr val="404040"/>
              </a:solidFill>
              <a:latin typeface="Calibri"/>
            </a:endParaRPr>
          </a:p>
          <a:p>
            <a:pPr marL="1258920">
              <a:lnSpc>
                <a:spcPct val="120000"/>
              </a:lnSpc>
              <a:spcAft>
                <a:spcPts val="201"/>
              </a:spcAft>
              <a:buNone/>
              <a:tabLst>
                <a:tab algn="l" pos="0"/>
              </a:tabLst>
            </a:pPr>
            <a:r>
              <a:rPr b="0" lang="en-US" sz="2000" spc="-1" strike="noStrike">
                <a:solidFill>
                  <a:srgbClr val="404040"/>
                </a:solidFill>
                <a:latin typeface="Calibri"/>
              </a:rPr>
              <a:t>x -&gt;character vector</a:t>
            </a:r>
            <a:endParaRPr b="0" lang="en-US" sz="2000" spc="-1" strike="noStrike">
              <a:solidFill>
                <a:srgbClr val="404040"/>
              </a:solidFill>
              <a:latin typeface="Calibri"/>
            </a:endParaRPr>
          </a:p>
          <a:p>
            <a:pPr marL="1258920">
              <a:lnSpc>
                <a:spcPct val="120000"/>
              </a:lnSpc>
              <a:spcAft>
                <a:spcPts val="201"/>
              </a:spcAft>
              <a:buNone/>
              <a:tabLst>
                <a:tab algn="l" pos="0"/>
              </a:tabLst>
            </a:pPr>
            <a:r>
              <a:rPr b="0" lang="en-US" sz="2000" spc="-1" strike="noStrike">
                <a:solidFill>
                  <a:srgbClr val="404040"/>
                </a:solidFill>
                <a:latin typeface="Calibri"/>
              </a:rPr>
              <a:t>Start -&gt; start position of extraction or replacement</a:t>
            </a:r>
            <a:endParaRPr b="0" lang="en-US" sz="2000" spc="-1" strike="noStrike">
              <a:solidFill>
                <a:srgbClr val="404040"/>
              </a:solidFill>
              <a:latin typeface="Calibri"/>
            </a:endParaRPr>
          </a:p>
          <a:p>
            <a:pPr marL="1258920">
              <a:lnSpc>
                <a:spcPct val="120000"/>
              </a:lnSpc>
              <a:spcAft>
                <a:spcPts val="201"/>
              </a:spcAft>
              <a:buNone/>
              <a:tabLst>
                <a:tab algn="l" pos="0"/>
              </a:tabLst>
            </a:pPr>
            <a:r>
              <a:rPr b="0" lang="en-US" sz="2000" spc="-1" strike="noStrike">
                <a:solidFill>
                  <a:srgbClr val="404040"/>
                </a:solidFill>
                <a:latin typeface="Calibri"/>
              </a:rPr>
              <a:t>stop -&gt;stop or end position of extraction or replacement</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ff0000"/>
                </a:solidFill>
                <a:latin typeface="Calibri"/>
              </a:rPr>
              <a:t>Example</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Extract the string ‘tic’ from ‘statistics’. Begin the extraction at position 7 and continue the</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extraction till position 9.</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&gt; substr(“statistics”, 7, 9)</a:t>
            </a:r>
            <a:endParaRPr b="0" lang="en-US" sz="2000" spc="-1" strike="noStrike">
              <a:solidFill>
                <a:srgbClr val="404040"/>
              </a:solidFill>
              <a:latin typeface="Calibri"/>
            </a:endParaRPr>
          </a:p>
          <a:p>
            <a:pPr>
              <a:lnSpc>
                <a:spcPct val="120000"/>
              </a:lnSpc>
              <a:spcAft>
                <a:spcPts val="201"/>
              </a:spcAft>
              <a:buNone/>
              <a:tabLst>
                <a:tab algn="l" pos="0"/>
              </a:tabLst>
            </a:pPr>
            <a:r>
              <a:rPr b="0" lang="en-US" sz="2000" spc="-1" strike="noStrike">
                <a:solidFill>
                  <a:srgbClr val="404040"/>
                </a:solidFill>
                <a:latin typeface="Calibri"/>
              </a:rPr>
              <a:t>[1] “tic”</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1209600" y="707040"/>
            <a:ext cx="10058040" cy="62640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Missing Values Treatment in R</a:t>
            </a:r>
            <a:endParaRPr b="0" lang="en-US" sz="3600" spc="-1" strike="noStrike">
              <a:solidFill>
                <a:srgbClr val="000000"/>
              </a:solidFill>
              <a:latin typeface="Calibri"/>
            </a:endParaRPr>
          </a:p>
        </p:txBody>
      </p:sp>
      <p:sp>
        <p:nvSpPr>
          <p:cNvPr id="115" name="PlaceHolder 2"/>
          <p:cNvSpPr>
            <a:spLocks noGrp="1"/>
          </p:cNvSpPr>
          <p:nvPr>
            <p:ph/>
          </p:nvPr>
        </p:nvSpPr>
        <p:spPr>
          <a:xfrm>
            <a:off x="1209600" y="1819800"/>
            <a:ext cx="10058040" cy="4023000"/>
          </a:xfrm>
          <a:prstGeom prst="rect">
            <a:avLst/>
          </a:prstGeom>
          <a:noFill/>
          <a:ln w="0">
            <a:noFill/>
          </a:ln>
        </p:spPr>
        <p:txBody>
          <a:bodyPr lIns="0" rIns="0" anchor="t">
            <a:noAutofit/>
          </a:bodyPr>
          <a:p>
            <a:pPr marL="91440" indent="-91440">
              <a:lnSpc>
                <a:spcPct val="100000"/>
              </a:lnSpc>
              <a:buClr>
                <a:srgbClr val="e48312"/>
              </a:buClr>
              <a:buFont typeface="Calibri"/>
              <a:buChar char=" "/>
            </a:pPr>
            <a:r>
              <a:rPr b="0" lang="en-US" sz="2000" spc="-1" strike="noStrike">
                <a:solidFill>
                  <a:srgbClr val="404040"/>
                </a:solidFill>
                <a:latin typeface="Calibri"/>
              </a:rPr>
              <a:t>During analytical data processing, users come across problems caused by missing and</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infinite values. To get an accurate output, users should remove or clean the missing values.</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In R, NA (Not Available) represents missing values and Inf (Infinite) represents infinite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values. R provides different functions that identify the missing values during processing</a:t>
            </a:r>
            <a:endParaRPr b="0" lang="en-US" sz="2000" spc="-1" strike="noStrike">
              <a:solidFill>
                <a:srgbClr val="404040"/>
              </a:solidFill>
              <a:latin typeface="Calibri"/>
            </a:endParaRPr>
          </a:p>
        </p:txBody>
      </p:sp>
      <p:pic>
        <p:nvPicPr>
          <p:cNvPr id="116" name="Picture 3" descr=""/>
          <p:cNvPicPr/>
          <p:nvPr/>
        </p:nvPicPr>
        <p:blipFill>
          <a:blip r:embed="rId1"/>
          <a:stretch/>
        </p:blipFill>
        <p:spPr>
          <a:xfrm>
            <a:off x="1682280" y="3134160"/>
            <a:ext cx="7737480" cy="319500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097280" y="933480"/>
            <a:ext cx="10058040" cy="679320"/>
          </a:xfrm>
          <a:prstGeom prst="rect">
            <a:avLst/>
          </a:prstGeom>
          <a:noFill/>
          <a:ln w="0">
            <a:noFill/>
          </a:ln>
        </p:spPr>
        <p:txBody>
          <a:bodyPr anchor="b">
            <a:normAutofit fontScale="79000"/>
          </a:bodyPr>
          <a:p>
            <a:pPr>
              <a:lnSpc>
                <a:spcPct val="85000"/>
              </a:lnSpc>
              <a:buNone/>
            </a:pPr>
            <a:r>
              <a:rPr b="0" lang="en-US" sz="3600" spc="-52" strike="noStrike">
                <a:solidFill>
                  <a:srgbClr val="404040"/>
                </a:solidFill>
                <a:latin typeface="Calibri Light"/>
              </a:rPr>
              <a:t>Using the ‘as’ operator to Change the structure of Data</a:t>
            </a:r>
            <a:endParaRPr b="0" lang="en-US" sz="3600" spc="-1" strike="noStrike">
              <a:solidFill>
                <a:srgbClr val="000000"/>
              </a:solidFill>
              <a:latin typeface="Calibri"/>
            </a:endParaRPr>
          </a:p>
        </p:txBody>
      </p:sp>
      <p:sp>
        <p:nvSpPr>
          <p:cNvPr id="118" name="PlaceHolder 2"/>
          <p:cNvSpPr>
            <a:spLocks noGrp="1"/>
          </p:cNvSpPr>
          <p:nvPr>
            <p:ph/>
          </p:nvPr>
        </p:nvSpPr>
        <p:spPr>
          <a:xfrm>
            <a:off x="1097280" y="1845720"/>
            <a:ext cx="10058040" cy="4023000"/>
          </a:xfrm>
          <a:prstGeom prst="rect">
            <a:avLst/>
          </a:prstGeom>
          <a:noFill/>
          <a:ln w="0">
            <a:noFill/>
          </a:ln>
        </p:spPr>
        <p:txBody>
          <a:bodyPr lIns="0" rIns="0" anchor="t">
            <a:normAutofit fontScale="87000"/>
          </a:bodyPr>
          <a:p>
            <a:pPr marL="251640" indent="-343080" algn="just">
              <a:lnSpc>
                <a:spcPct val="100000"/>
              </a:lnSpc>
              <a:buClr>
                <a:srgbClr val="e48312"/>
              </a:buClr>
              <a:buFont typeface="Wingdings" charset="2"/>
              <a:buChar char=""/>
            </a:pPr>
            <a:r>
              <a:rPr b="0" lang="en-US" sz="2000" spc="-1" strike="noStrike">
                <a:solidFill>
                  <a:srgbClr val="404040"/>
                </a:solidFill>
                <a:latin typeface="Calibri"/>
              </a:rPr>
              <a:t>Sometimes analytical data processing requires data conversion from one data format</a:t>
            </a:r>
            <a:endParaRPr b="0" lang="en-US" sz="2000" spc="-1" strike="noStrike">
              <a:solidFill>
                <a:srgbClr val="404040"/>
              </a:solidFill>
              <a:latin typeface="Calibri"/>
            </a:endParaRPr>
          </a:p>
          <a:p>
            <a:pPr algn="just">
              <a:lnSpc>
                <a:spcPct val="100000"/>
              </a:lnSpc>
              <a:buNone/>
              <a:tabLst>
                <a:tab algn="l" pos="0"/>
              </a:tabLst>
            </a:pPr>
            <a:r>
              <a:rPr b="0" lang="en-US" sz="2000" spc="-1" strike="noStrike">
                <a:solidFill>
                  <a:srgbClr val="404040"/>
                </a:solidFill>
                <a:latin typeface="Calibri"/>
              </a:rPr>
              <a:t>      </a:t>
            </a:r>
            <a:r>
              <a:rPr b="0" lang="en-US" sz="2000" spc="-1" strike="noStrike">
                <a:solidFill>
                  <a:srgbClr val="404040"/>
                </a:solidFill>
                <a:latin typeface="Calibri"/>
              </a:rPr>
              <a:t>into another. </a:t>
            </a:r>
            <a:endParaRPr b="0" lang="en-US" sz="2000" spc="-1" strike="noStrike">
              <a:solidFill>
                <a:srgbClr val="404040"/>
              </a:solidFill>
              <a:latin typeface="Calibri"/>
            </a:endParaRPr>
          </a:p>
          <a:p>
            <a:pPr marL="343080" indent="-343080" algn="just">
              <a:lnSpc>
                <a:spcPct val="100000"/>
              </a:lnSpc>
              <a:buClr>
                <a:srgbClr val="e48312"/>
              </a:buClr>
              <a:buFont typeface="Wingdings" charset="2"/>
              <a:buChar char=""/>
              <a:tabLst>
                <a:tab algn="l" pos="0"/>
              </a:tabLst>
            </a:pPr>
            <a:r>
              <a:rPr b="0" lang="en-US" sz="2000" spc="-1" strike="noStrike">
                <a:solidFill>
                  <a:srgbClr val="404040"/>
                </a:solidFill>
                <a:latin typeface="Calibri"/>
              </a:rPr>
              <a:t>Generally, analytical data processing stores data in a table format, wherein it requires only    some     part of the table or another structure to store the table’s data. </a:t>
            </a:r>
            <a:endParaRPr b="0" lang="en-US" sz="2000" spc="-1" strike="noStrike">
              <a:solidFill>
                <a:srgbClr val="404040"/>
              </a:solidFill>
              <a:latin typeface="Calibri"/>
            </a:endParaRPr>
          </a:p>
          <a:p>
            <a:pPr marL="251640" indent="-343080" algn="just">
              <a:lnSpc>
                <a:spcPct val="100000"/>
              </a:lnSpc>
              <a:buClr>
                <a:srgbClr val="e48312"/>
              </a:buClr>
              <a:buFont typeface="Wingdings" charset="2"/>
              <a:buChar char=""/>
              <a:tabLst>
                <a:tab algn="l" pos="0"/>
              </a:tabLst>
            </a:pPr>
            <a:r>
              <a:rPr b="0" lang="en-US" sz="2000" spc="-1" strike="noStrike">
                <a:solidFill>
                  <a:srgbClr val="404040"/>
                </a:solidFill>
                <a:latin typeface="Calibri"/>
              </a:rPr>
              <a:t>In this c</a:t>
            </a:r>
            <a:endParaRPr b="0" lang="en-US" sz="2000" spc="-1" strike="noStrike">
              <a:solidFill>
                <a:srgbClr val="404040"/>
              </a:solidFill>
              <a:latin typeface="Calibri"/>
            </a:endParaRPr>
          </a:p>
          <a:p>
            <a:pPr marL="251640" indent="-343080" algn="just">
              <a:lnSpc>
                <a:spcPct val="100000"/>
              </a:lnSpc>
              <a:buClr>
                <a:srgbClr val="e48312"/>
              </a:buClr>
              <a:buFont typeface="Wingdings" charset="2"/>
              <a:buChar char=""/>
              <a:tabLst>
                <a:tab algn="l" pos="0"/>
              </a:tabLst>
            </a:pPr>
            <a:r>
              <a:rPr b="0" lang="en-US" sz="2000" spc="-1" strike="noStrike">
                <a:solidFill>
                  <a:srgbClr val="404040"/>
                </a:solidFill>
                <a:latin typeface="Calibri"/>
              </a:rPr>
              <a:t>The operator ‘as’ provides the facility to convert the structure of one dataset into another</a:t>
            </a:r>
            <a:endParaRPr b="0" lang="en-US" sz="2000" spc="-1" strike="noStrike">
              <a:solidFill>
                <a:srgbClr val="404040"/>
              </a:solidFill>
              <a:latin typeface="Calibri"/>
            </a:endParaRPr>
          </a:p>
          <a:p>
            <a:pPr marL="251640" indent="-343080" algn="just">
              <a:lnSpc>
                <a:spcPct val="100000"/>
              </a:lnSpc>
              <a:buClr>
                <a:srgbClr val="e48312"/>
              </a:buClr>
              <a:buFont typeface="Wingdings" charset="2"/>
              <a:buChar char=""/>
              <a:tabLst>
                <a:tab algn="l" pos="0"/>
              </a:tabLst>
            </a:pPr>
            <a:r>
              <a:rPr b="0" lang="en-US" sz="2000" spc="-1" strike="noStrike">
                <a:solidFill>
                  <a:srgbClr val="404040"/>
                </a:solidFill>
                <a:latin typeface="Calibri"/>
              </a:rPr>
              <a:t>structure in R. </a:t>
            </a:r>
            <a:endParaRPr b="0" lang="en-US" sz="2000" spc="-1" strike="noStrike">
              <a:solidFill>
                <a:srgbClr val="404040"/>
              </a:solidFill>
              <a:latin typeface="Calibri"/>
            </a:endParaRPr>
          </a:p>
          <a:p>
            <a:pPr marL="251640" indent="-343080" algn="just">
              <a:lnSpc>
                <a:spcPct val="100000"/>
              </a:lnSpc>
              <a:buClr>
                <a:srgbClr val="e48312"/>
              </a:buClr>
              <a:buFont typeface="Wingdings" charset="2"/>
              <a:buChar char=""/>
              <a:tabLst>
                <a:tab algn="l" pos="0"/>
              </a:tabLst>
            </a:pPr>
            <a:r>
              <a:rPr b="0" lang="en-US" sz="2000" spc="-1" strike="noStrike">
                <a:solidFill>
                  <a:srgbClr val="00b050"/>
                </a:solidFill>
                <a:latin typeface="Calibri"/>
              </a:rPr>
              <a:t>The syntax of using this operator is as.objecttype(objectname)</a:t>
            </a:r>
            <a:endParaRPr b="0" lang="en-US" sz="2000" spc="-1" strike="noStrike">
              <a:solidFill>
                <a:srgbClr val="404040"/>
              </a:solidFill>
              <a:latin typeface="Calibri"/>
            </a:endParaRPr>
          </a:p>
          <a:p>
            <a:pPr algn="just">
              <a:lnSpc>
                <a:spcPct val="100000"/>
              </a:lnSpc>
              <a:buNone/>
              <a:tabLst>
                <a:tab algn="l" pos="0"/>
              </a:tabLst>
            </a:pPr>
            <a:r>
              <a:rPr b="0" lang="en-US" sz="2000" spc="-1" strike="noStrike">
                <a:solidFill>
                  <a:srgbClr val="404040"/>
                </a:solidFill>
                <a:latin typeface="Calibri"/>
              </a:rPr>
              <a:t>      </a:t>
            </a:r>
            <a:r>
              <a:rPr b="0" lang="en-US" sz="2000" spc="-1" strike="noStrike">
                <a:solidFill>
                  <a:srgbClr val="404040"/>
                </a:solidFill>
                <a:latin typeface="Calibri"/>
              </a:rPr>
              <a:t>where,</a:t>
            </a:r>
            <a:endParaRPr b="0" lang="en-US" sz="2000" spc="-1" strike="noStrike">
              <a:solidFill>
                <a:srgbClr val="404040"/>
              </a:solidFill>
              <a:latin typeface="Calibri"/>
            </a:endParaRPr>
          </a:p>
          <a:p>
            <a:pPr algn="just">
              <a:lnSpc>
                <a:spcPct val="100000"/>
              </a:lnSpc>
              <a:buNone/>
              <a:tabLst>
                <a:tab algn="l" pos="0"/>
              </a:tabLst>
            </a:pPr>
            <a:r>
              <a:rPr b="0" lang="en-US" sz="2000" spc="-1" strike="noStrike">
                <a:solidFill>
                  <a:srgbClr val="00b050"/>
                </a:solidFill>
                <a:latin typeface="Calibri"/>
              </a:rPr>
              <a:t>      </a:t>
            </a:r>
            <a:r>
              <a:rPr b="0" lang="en-US" sz="2000" spc="-1" strike="noStrike">
                <a:solidFill>
                  <a:srgbClr val="00b050"/>
                </a:solidFill>
                <a:latin typeface="Calibri"/>
              </a:rPr>
              <a:t>objecttype </a:t>
            </a:r>
            <a:r>
              <a:rPr b="0" lang="en-US" sz="2000" spc="-1" strike="noStrike">
                <a:solidFill>
                  <a:srgbClr val="404040"/>
                </a:solidFill>
                <a:latin typeface="Calibri"/>
              </a:rPr>
              <a:t>is the type of object like data.frame, matrix, list, etc. and objectname is the</a:t>
            </a:r>
            <a:endParaRPr b="0" lang="en-US" sz="2000" spc="-1" strike="noStrike">
              <a:solidFill>
                <a:srgbClr val="404040"/>
              </a:solidFill>
              <a:latin typeface="Calibri"/>
            </a:endParaRPr>
          </a:p>
          <a:p>
            <a:pPr marL="361800" indent="-361800" algn="just">
              <a:lnSpc>
                <a:spcPct val="100000"/>
              </a:lnSpc>
              <a:buNone/>
              <a:tabLst>
                <a:tab algn="l" pos="0"/>
              </a:tabLst>
            </a:pPr>
            <a:r>
              <a:rPr b="0" lang="en-US" sz="2000" spc="-1" strike="noStrike">
                <a:solidFill>
                  <a:srgbClr val="404040"/>
                </a:solidFill>
                <a:latin typeface="Calibri"/>
              </a:rPr>
              <a:t>      </a:t>
            </a:r>
            <a:r>
              <a:rPr b="0" lang="en-US" sz="2000" spc="-1" strike="noStrike">
                <a:solidFill>
                  <a:srgbClr val="404040"/>
                </a:solidFill>
                <a:latin typeface="Calibri"/>
              </a:rPr>
              <a:t>name of the object that needs to be converted into another format. </a:t>
            </a:r>
            <a:endParaRPr b="0" lang="en-US" sz="2000" spc="-1" strike="noStrike">
              <a:solidFill>
                <a:srgbClr val="404040"/>
              </a:solidFill>
              <a:latin typeface="Calibri"/>
            </a:endParaRPr>
          </a:p>
          <a:p>
            <a:pPr marL="91440" indent="-91440" algn="just">
              <a:lnSpc>
                <a:spcPct val="100000"/>
              </a:lnSpc>
              <a:buClr>
                <a:srgbClr val="e48312"/>
              </a:buClr>
              <a:buFont typeface="Wingdings" charset="2"/>
              <a:buChar char=""/>
              <a:tabLst>
                <a:tab algn="l" pos="0"/>
              </a:tabLst>
            </a:pPr>
            <a:r>
              <a:rPr b="0" lang="en-US" sz="2000" spc="-1" strike="noStrike">
                <a:solidFill>
                  <a:srgbClr val="404040"/>
                </a:solidFill>
                <a:latin typeface="Calibri"/>
              </a:rPr>
              <a:t>    </a:t>
            </a:r>
            <a:r>
              <a:rPr b="0" lang="en-US" sz="2000" spc="-1" strike="noStrike">
                <a:solidFill>
                  <a:srgbClr val="404040"/>
                </a:solidFill>
                <a:latin typeface="Calibri"/>
              </a:rPr>
              <a:t>In this case, R can convert the structure of the table into other structures like </a:t>
            </a:r>
            <a:r>
              <a:rPr b="0" lang="en-US" sz="2000" spc="-1" strike="noStrike">
                <a:solidFill>
                  <a:srgbClr val="00b050"/>
                </a:solidFill>
                <a:latin typeface="Calibri"/>
              </a:rPr>
              <a:t>factor, list, </a:t>
            </a:r>
            <a:r>
              <a:rPr b="0" lang="en-US" sz="2000" spc="-1" strike="noStrike">
                <a:solidFill>
                  <a:srgbClr val="404040"/>
                </a:solidFill>
                <a:latin typeface="Calibri"/>
              </a:rPr>
              <a:t>etc.</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097280" y="286560"/>
            <a:ext cx="10058040" cy="105876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Using the ‘as’ operator to Change the structure of Data</a:t>
            </a:r>
            <a:endParaRPr b="0" lang="en-US" sz="3600" spc="-1" strike="noStrike">
              <a:solidFill>
                <a:srgbClr val="000000"/>
              </a:solidFill>
              <a:latin typeface="Calibri"/>
            </a:endParaRPr>
          </a:p>
        </p:txBody>
      </p:sp>
      <p:sp>
        <p:nvSpPr>
          <p:cNvPr id="120" name="PlaceHolder 2"/>
          <p:cNvSpPr>
            <a:spLocks noGrp="1"/>
          </p:cNvSpPr>
          <p:nvPr>
            <p:ph/>
          </p:nvPr>
        </p:nvSpPr>
        <p:spPr>
          <a:xfrm>
            <a:off x="1097280" y="1845720"/>
            <a:ext cx="4328280" cy="4023000"/>
          </a:xfrm>
          <a:prstGeom prst="rect">
            <a:avLst/>
          </a:prstGeom>
          <a:noFill/>
          <a:ln w="0">
            <a:noFill/>
          </a:ln>
        </p:spPr>
        <p:txBody>
          <a:bodyPr lIns="0" rIns="0" anchor="t">
            <a:noAutofit/>
          </a:bodyPr>
          <a:p>
            <a:pPr marL="91440" indent="-91440">
              <a:lnSpc>
                <a:spcPct val="100000"/>
              </a:lnSpc>
              <a:buClr>
                <a:srgbClr val="e48312"/>
              </a:buClr>
              <a:buFont typeface="Calibri"/>
              <a:buChar char=" "/>
            </a:pPr>
            <a:r>
              <a:rPr b="0" lang="en-US" sz="2000" spc="-1" strike="noStrike">
                <a:solidFill>
                  <a:srgbClr val="404040"/>
                </a:solidFill>
                <a:latin typeface="Calibri"/>
              </a:rPr>
              <a:t>Also, </a:t>
            </a:r>
            <a:r>
              <a:rPr b="0" lang="en-US" sz="2000" spc="-1" strike="noStrike">
                <a:solidFill>
                  <a:srgbClr val="00b050"/>
                </a:solidFill>
                <a:latin typeface="Calibri"/>
              </a:rPr>
              <a:t>as.numeric() </a:t>
            </a:r>
            <a:r>
              <a:rPr b="0" lang="en-US" sz="2000" spc="-1" strike="noStrike">
                <a:solidFill>
                  <a:srgbClr val="404040"/>
                </a:solidFill>
                <a:latin typeface="Calibri"/>
              </a:rPr>
              <a:t>and </a:t>
            </a:r>
            <a:r>
              <a:rPr b="0" lang="en-US" sz="2000" spc="-1" strike="noStrike">
                <a:solidFill>
                  <a:srgbClr val="00b050"/>
                </a:solidFill>
                <a:latin typeface="Calibri"/>
              </a:rPr>
              <a:t>as.character() </a:t>
            </a:r>
            <a:r>
              <a:rPr b="0" lang="en-US" sz="2000" spc="-1" strike="noStrike">
                <a:solidFill>
                  <a:srgbClr val="404040"/>
                </a:solidFill>
                <a:latin typeface="Calibri"/>
              </a:rPr>
              <a:t>functions </a:t>
            </a:r>
            <a:r>
              <a:rPr b="0" lang="en-US" sz="2000" spc="-1" strike="noStrike">
                <a:solidFill>
                  <a:srgbClr val="00b050"/>
                </a:solidFill>
                <a:latin typeface="Calibri"/>
              </a:rPr>
              <a:t>convert characters and numbers,</a:t>
            </a:r>
            <a:r>
              <a:rPr b="0" lang="en-US" sz="2000" spc="-1" strike="noStrike">
                <a:solidFill>
                  <a:srgbClr val="404040"/>
                </a:solidFill>
                <a:latin typeface="Calibri"/>
              </a:rPr>
              <a:t>respectively.</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The following </a:t>
            </a:r>
            <a:r>
              <a:rPr b="0" lang="en-US" sz="2000" spc="-1" strike="noStrike">
                <a:solidFill>
                  <a:srgbClr val="ff0000"/>
                </a:solidFill>
                <a:latin typeface="Calibri"/>
              </a:rPr>
              <a:t>example</a:t>
            </a:r>
            <a:r>
              <a:rPr b="0" lang="en-US" sz="2000" spc="-1" strike="noStrike">
                <a:solidFill>
                  <a:srgbClr val="404040"/>
                </a:solidFill>
                <a:latin typeface="Calibri"/>
              </a:rPr>
              <a:t> creates a data frame D using two vectors a and b (Figure 3.3).</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Now the command </a:t>
            </a:r>
            <a:r>
              <a:rPr b="0" lang="en-US" sz="2000" spc="-1" strike="noStrike">
                <a:solidFill>
                  <a:srgbClr val="ff0000"/>
                </a:solidFill>
                <a:latin typeface="Calibri"/>
              </a:rPr>
              <a:t>‘as.list(D)’ </a:t>
            </a:r>
            <a:r>
              <a:rPr b="0" lang="en-US" sz="2000" spc="-1" strike="noStrike">
                <a:solidFill>
                  <a:srgbClr val="404040"/>
                </a:solidFill>
                <a:latin typeface="Calibri"/>
              </a:rPr>
              <a:t>converts the </a:t>
            </a:r>
            <a:r>
              <a:rPr b="0" lang="en-US" sz="2000" spc="-1" strike="noStrike">
                <a:solidFill>
                  <a:srgbClr val="ff0000"/>
                </a:solidFill>
                <a:latin typeface="Calibri"/>
              </a:rPr>
              <a:t>data frame into list B. </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The command </a:t>
            </a:r>
            <a:r>
              <a:rPr b="0" lang="en-US" sz="2000" spc="-1" strike="noStrike">
                <a:solidFill>
                  <a:srgbClr val="ff0000"/>
                </a:solidFill>
                <a:latin typeface="Calibri"/>
              </a:rPr>
              <a:t>‘as.matrix(D)’ </a:t>
            </a:r>
            <a:r>
              <a:rPr b="0" lang="en-US" sz="2000" spc="-1" strike="noStrike">
                <a:solidFill>
                  <a:srgbClr val="404040"/>
                </a:solidFill>
                <a:latin typeface="Calibri"/>
              </a:rPr>
              <a:t>converts the </a:t>
            </a:r>
            <a:r>
              <a:rPr b="0" lang="en-US" sz="2000" spc="-1" strike="noStrike">
                <a:solidFill>
                  <a:srgbClr val="ff0000"/>
                </a:solidFill>
                <a:latin typeface="Calibri"/>
              </a:rPr>
              <a:t>data frame into a matrix.</a:t>
            </a:r>
            <a:endParaRPr b="0" lang="en-US" sz="2000" spc="-1" strike="noStrike">
              <a:solidFill>
                <a:srgbClr val="404040"/>
              </a:solidFill>
              <a:latin typeface="Calibri"/>
            </a:endParaRPr>
          </a:p>
        </p:txBody>
      </p:sp>
      <p:pic>
        <p:nvPicPr>
          <p:cNvPr id="121" name="Picture 3" descr=""/>
          <p:cNvPicPr/>
          <p:nvPr/>
        </p:nvPicPr>
        <p:blipFill>
          <a:blip r:embed="rId1"/>
          <a:stretch/>
        </p:blipFill>
        <p:spPr>
          <a:xfrm>
            <a:off x="5807520" y="1794240"/>
            <a:ext cx="5984640" cy="404820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Vectors</a:t>
            </a:r>
            <a:endParaRPr b="0" lang="en-US" sz="3600" spc="-1" strike="noStrike">
              <a:solidFill>
                <a:srgbClr val="000000"/>
              </a:solidFill>
              <a:latin typeface="Calibri"/>
            </a:endParaRPr>
          </a:p>
        </p:txBody>
      </p:sp>
      <p:sp>
        <p:nvSpPr>
          <p:cNvPr id="123" name="PlaceHolder 2"/>
          <p:cNvSpPr>
            <a:spLocks noGrp="1"/>
          </p:cNvSpPr>
          <p:nvPr>
            <p:ph/>
          </p:nvPr>
        </p:nvSpPr>
        <p:spPr>
          <a:xfrm>
            <a:off x="1097280" y="1845720"/>
            <a:ext cx="4035240" cy="4023000"/>
          </a:xfrm>
          <a:prstGeom prst="rect">
            <a:avLst/>
          </a:prstGeom>
          <a:noFill/>
          <a:ln w="0">
            <a:noFill/>
          </a:ln>
        </p:spPr>
        <p:txBody>
          <a:bodyPr lIns="0" rIns="0" anchor="t">
            <a:normAutofit fontScale="91000"/>
          </a:bodyPr>
          <a:p>
            <a:pPr marL="91440" indent="-91440">
              <a:lnSpc>
                <a:spcPct val="100000"/>
              </a:lnSpc>
              <a:buClr>
                <a:srgbClr val="e48312"/>
              </a:buClr>
              <a:buFont typeface="Calibri"/>
              <a:buChar char=" "/>
            </a:pPr>
            <a:r>
              <a:rPr b="0" lang="en-US" sz="2000" spc="-1" strike="noStrike">
                <a:solidFill>
                  <a:srgbClr val="404040"/>
                </a:solidFill>
                <a:latin typeface="Calibri"/>
              </a:rPr>
              <a:t>A vector can have a list of values. The values can be numbers, strings or logical. All the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values in a vector should be of the same data type.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A few points to remember about vectors in R are:</a:t>
            </a:r>
            <a:endParaRPr b="0" lang="en-US" sz="2000" spc="-1" strike="noStrike">
              <a:solidFill>
                <a:srgbClr val="404040"/>
              </a:solidFill>
              <a:latin typeface="Calibri"/>
            </a:endParaRPr>
          </a:p>
          <a:p>
            <a:pPr marL="91440" indent="-91440">
              <a:lnSpc>
                <a:spcPct val="100000"/>
              </a:lnSpc>
              <a:buClr>
                <a:srgbClr val="e48312"/>
              </a:buClr>
              <a:buFont typeface="Wingdings" charset="2"/>
              <a:buChar char=""/>
            </a:pPr>
            <a:r>
              <a:rPr b="0" lang="en-US" sz="2000" spc="-1" strike="noStrike">
                <a:solidFill>
                  <a:srgbClr val="404040"/>
                </a:solidFill>
                <a:latin typeface="Calibri"/>
              </a:rPr>
              <a:t>Vectors are stored like arrays in C</a:t>
            </a:r>
            <a:endParaRPr b="0" lang="en-US" sz="2000" spc="-1" strike="noStrike">
              <a:solidFill>
                <a:srgbClr val="404040"/>
              </a:solidFill>
              <a:latin typeface="Calibri"/>
            </a:endParaRPr>
          </a:p>
          <a:p>
            <a:pPr marL="91440" indent="-91440">
              <a:lnSpc>
                <a:spcPct val="100000"/>
              </a:lnSpc>
              <a:buClr>
                <a:srgbClr val="e48312"/>
              </a:buClr>
              <a:buFont typeface="Wingdings" charset="2"/>
              <a:buChar char=""/>
            </a:pPr>
            <a:r>
              <a:rPr b="0" lang="en-US" sz="2000" spc="-1" strike="noStrike">
                <a:solidFill>
                  <a:srgbClr val="404040"/>
                </a:solidFill>
                <a:latin typeface="Calibri"/>
              </a:rPr>
              <a:t>Vector indices begin at 1</a:t>
            </a:r>
            <a:endParaRPr b="0" lang="en-US" sz="2000" spc="-1" strike="noStrike">
              <a:solidFill>
                <a:srgbClr val="404040"/>
              </a:solidFill>
              <a:latin typeface="Calibri"/>
            </a:endParaRPr>
          </a:p>
          <a:p>
            <a:pPr marL="91440" indent="-91440">
              <a:lnSpc>
                <a:spcPct val="100000"/>
              </a:lnSpc>
              <a:buClr>
                <a:srgbClr val="e48312"/>
              </a:buClr>
              <a:buFont typeface="Wingdings" charset="2"/>
              <a:buChar char=""/>
            </a:pPr>
            <a:r>
              <a:rPr b="0" lang="en-US" sz="2000" spc="-1" strike="noStrike">
                <a:solidFill>
                  <a:srgbClr val="404040"/>
                </a:solidFill>
                <a:latin typeface="Calibri"/>
              </a:rPr>
              <a:t>All vector elements must have the same mode such as integer, numeric (floating point number), character (string), logical (Boolean), complex, object, etc.</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Vectors</a:t>
            </a:r>
            <a:endParaRPr b="0" lang="en-US" sz="3600" spc="-1" strike="noStrike">
              <a:solidFill>
                <a:srgbClr val="000000"/>
              </a:solidFill>
              <a:latin typeface="Calibri"/>
            </a:endParaRPr>
          </a:p>
        </p:txBody>
      </p:sp>
      <p:sp>
        <p:nvSpPr>
          <p:cNvPr id="125" name="PlaceHolder 2"/>
          <p:cNvSpPr>
            <a:spLocks noGrp="1"/>
          </p:cNvSpPr>
          <p:nvPr>
            <p:ph/>
          </p:nvPr>
        </p:nvSpPr>
        <p:spPr>
          <a:xfrm>
            <a:off x="1097280" y="1845720"/>
            <a:ext cx="10058040" cy="4023000"/>
          </a:xfrm>
          <a:prstGeom prst="rect">
            <a:avLst/>
          </a:prstGeom>
          <a:noFill/>
          <a:ln w="0">
            <a:noFill/>
          </a:ln>
        </p:spPr>
        <p:txBody>
          <a:bodyPr lIns="0" rIns="0" anchor="t">
            <a:normAutofit fontScale="63000"/>
          </a:bodyPr>
          <a:p>
            <a:pPr marL="91440" indent="-91440">
              <a:lnSpc>
                <a:spcPct val="120000"/>
              </a:lnSpc>
              <a:buClr>
                <a:srgbClr val="e48312"/>
              </a:buClr>
              <a:buFont typeface="Calibri"/>
              <a:buChar char=" "/>
            </a:pPr>
            <a:r>
              <a:rPr b="0" lang="en-US" sz="2000" spc="-1" strike="noStrike">
                <a:solidFill>
                  <a:srgbClr val="404040"/>
                </a:solidFill>
                <a:latin typeface="Calibri"/>
              </a:rPr>
              <a:t>Let us create a few vectors.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1. Create a vector of numbers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c(4, 7, 8)</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4 7 8</a:t>
            </a:r>
            <a:endParaRPr b="0" lang="en-US" sz="2000" spc="-1" strike="noStrike">
              <a:solidFill>
                <a:srgbClr val="404040"/>
              </a:solidFill>
              <a:latin typeface="Calibri"/>
            </a:endParaRPr>
          </a:p>
          <a:p>
            <a:pPr>
              <a:lnSpc>
                <a:spcPct val="120000"/>
              </a:lnSpc>
              <a:buNone/>
            </a:pP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The c function (c is short for combine) creates a new vector consisting of three  values, viz. 4, 7 and 8.</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2. Create a vector of string values.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c(“R”, “SAS”, “SPSS”)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“R” “SAS” “SPSS”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3. Create a vector of logical values.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c(TRUE, FALSE)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TRUE FALSE</a:t>
            </a:r>
            <a:endParaRPr b="0" lang="en-US" sz="2000" spc="-1" strike="noStrike">
              <a:solidFill>
                <a:srgbClr val="404040"/>
              </a:solidFill>
              <a:latin typeface="Calibri"/>
            </a:endParaRPr>
          </a:p>
          <a:p>
            <a:pPr>
              <a:lnSpc>
                <a:spcPct val="120000"/>
              </a:lnSpc>
              <a:buNone/>
            </a:pP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A vector cannot hold values of different data types. Consider the example below on  placing integer, string and Boolean values together in a vector.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c(4, 8, “R”, FALSE)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“4” “8” “R” “FALSE”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Sequence Vector</a:t>
            </a:r>
            <a:endParaRPr b="0" lang="en-US" sz="3600" spc="-1" strike="noStrike">
              <a:solidFill>
                <a:srgbClr val="000000"/>
              </a:solidFill>
              <a:latin typeface="Calibri"/>
            </a:endParaRPr>
          </a:p>
        </p:txBody>
      </p:sp>
      <p:sp>
        <p:nvSpPr>
          <p:cNvPr id="127" name="PlaceHolder 2"/>
          <p:cNvSpPr>
            <a:spLocks noGrp="1"/>
          </p:cNvSpPr>
          <p:nvPr>
            <p:ph/>
          </p:nvPr>
        </p:nvSpPr>
        <p:spPr>
          <a:xfrm>
            <a:off x="1097280" y="1845720"/>
            <a:ext cx="10058040" cy="4023000"/>
          </a:xfrm>
          <a:prstGeom prst="rect">
            <a:avLst/>
          </a:prstGeom>
          <a:noFill/>
          <a:ln w="0">
            <a:noFill/>
          </a:ln>
        </p:spPr>
        <p:txBody>
          <a:bodyPr lIns="0" rIns="0" anchor="t">
            <a:normAutofit fontScale="46000"/>
          </a:bodyPr>
          <a:p>
            <a:pPr marL="91440" indent="-91440">
              <a:lnSpc>
                <a:spcPct val="120000"/>
              </a:lnSpc>
              <a:buClr>
                <a:srgbClr val="e48312"/>
              </a:buClr>
              <a:buFont typeface="Calibri"/>
              <a:buChar char=" "/>
            </a:pPr>
            <a:r>
              <a:rPr b="0" lang="en-US" sz="2000" spc="-1" strike="noStrike">
                <a:solidFill>
                  <a:srgbClr val="404040"/>
                </a:solidFill>
                <a:latin typeface="Calibri"/>
              </a:rPr>
              <a:t>A sequence vector can be created with a start:end notation.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Create a sequence of numbers between 1 and 5 (both inclusive).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0000"/>
                </a:solidFill>
                <a:latin typeface="Calibri"/>
              </a:rPr>
              <a:t>&gt; 1:5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 2 3 4 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Or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&gt; seq(1:5)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 2 3 4 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The default increment with seq is 1. However, it also allows the use of increments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other than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seq (1, 10, 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 3 5 7 9</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Or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seq (from=1, to=10, by=2)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 3 5 7 9</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Or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seq (1, 10, by=2)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 3 5 7 9</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seq can also generate numbers in the descending order.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10:1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10 9 8 7 6 5 4 3 2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seq (10, 1, by=–2)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10 8 6 4 2</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rep function</a:t>
            </a:r>
            <a:endParaRPr b="0" lang="en-US" sz="4800" spc="-1" strike="noStrike">
              <a:solidFill>
                <a:srgbClr val="000000"/>
              </a:solidFill>
              <a:latin typeface="Calibri"/>
            </a:endParaRPr>
          </a:p>
        </p:txBody>
      </p:sp>
      <p:sp>
        <p:nvSpPr>
          <p:cNvPr id="129" name="PlaceHolder 2"/>
          <p:cNvSpPr>
            <a:spLocks noGrp="1"/>
          </p:cNvSpPr>
          <p:nvPr>
            <p:ph/>
          </p:nvPr>
        </p:nvSpPr>
        <p:spPr>
          <a:xfrm>
            <a:off x="1097280" y="1845720"/>
            <a:ext cx="10058040" cy="4023000"/>
          </a:xfrm>
          <a:prstGeom prst="rect">
            <a:avLst/>
          </a:prstGeom>
          <a:noFill/>
          <a:ln w="0">
            <a:noFill/>
          </a:ln>
        </p:spPr>
        <p:txBody>
          <a:bodyPr lIns="0" rIns="0" anchor="t">
            <a:normAutofit fontScale="74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The rep function is used to place the same constant into long vectors.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The syntax is rep(z,k), which creates a vector of k*length(z) elements, each equals to z.</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Demonstrate rep function.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Act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rep (3, 4)</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3 3 3 3</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Or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x &lt;-rep (3, 4)</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x</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3 3 3 3</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1166400" y="1123200"/>
            <a:ext cx="10058040" cy="411840"/>
          </a:xfrm>
          <a:prstGeom prst="rect">
            <a:avLst/>
          </a:prstGeom>
          <a:noFill/>
          <a:ln w="0">
            <a:noFill/>
          </a:ln>
        </p:spPr>
        <p:txBody>
          <a:bodyPr anchor="b">
            <a:noAutofit/>
          </a:bodyPr>
          <a:p>
            <a:pPr>
              <a:lnSpc>
                <a:spcPct val="85000"/>
              </a:lnSpc>
              <a:buNone/>
            </a:pPr>
            <a:r>
              <a:rPr b="0" lang="en-IN" sz="3600" spc="-52" strike="noStrike">
                <a:solidFill>
                  <a:srgbClr val="404040"/>
                </a:solidFill>
                <a:latin typeface="Calibri Light"/>
              </a:rPr>
              <a:t>Vector Access</a:t>
            </a:r>
            <a:endParaRPr b="0" lang="en-US" sz="3600" spc="-1" strike="noStrike">
              <a:solidFill>
                <a:srgbClr val="000000"/>
              </a:solidFill>
              <a:latin typeface="Calibri"/>
            </a:endParaRPr>
          </a:p>
        </p:txBody>
      </p:sp>
      <p:sp>
        <p:nvSpPr>
          <p:cNvPr id="131" name="PlaceHolder 2"/>
          <p:cNvSpPr>
            <a:spLocks noGrp="1"/>
          </p:cNvSpPr>
          <p:nvPr>
            <p:ph/>
          </p:nvPr>
        </p:nvSpPr>
        <p:spPr>
          <a:xfrm>
            <a:off x="1097280" y="1845720"/>
            <a:ext cx="10058040" cy="4023000"/>
          </a:xfrm>
          <a:prstGeom prst="rect">
            <a:avLst/>
          </a:prstGeom>
          <a:noFill/>
          <a:ln w="0">
            <a:noFill/>
          </a:ln>
        </p:spPr>
        <p:txBody>
          <a:bodyPr lIns="0" rIns="0" anchor="t">
            <a:normAutofit fontScale="67000"/>
          </a:bodyPr>
          <a:p>
            <a:pPr marL="7200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c00000"/>
                </a:solidFill>
                <a:latin typeface="Calibri"/>
              </a:rPr>
              <a:t>Let us create a variable, ‘VariableSeq’ and assign to it a vector consisting of string values.</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&gt; VariableSeq &lt;- c (“R”, “is”, “a”, “programming”, “language”)</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c00000"/>
                </a:solidFill>
                <a:latin typeface="Calibri"/>
              </a:rPr>
              <a:t>To access values in a vector, specify the indices at which the value is present in the vector.</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c00000"/>
                </a:solidFill>
                <a:latin typeface="Calibri"/>
              </a:rPr>
              <a:t>Indices start at 1.</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&gt; VariableSeq[1]</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[1] “R”</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&gt; VariableSeq[2]</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[1] “is”</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&gt; VariableSeq[3]</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[1] “a”</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&gt; VariableSeq[4]</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[1] “programming”</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&gt; VariableSeq[5]</a:t>
            </a:r>
            <a:endParaRPr b="0" lang="en-US" sz="2000" spc="-1" strike="noStrike">
              <a:solidFill>
                <a:srgbClr val="404040"/>
              </a:solidFill>
              <a:latin typeface="Calibri"/>
            </a:endParaRPr>
          </a:p>
          <a:p>
            <a:pPr marL="72000" indent="-91440">
              <a:lnSpc>
                <a:spcPct val="120000"/>
              </a:lnSpc>
              <a:buClr>
                <a:srgbClr val="e48312"/>
              </a:buClr>
              <a:buFont typeface="Calibri"/>
              <a:buChar char=" "/>
            </a:pPr>
            <a:r>
              <a:rPr b="0" lang="en-US" sz="2000" spc="-1" strike="noStrike">
                <a:solidFill>
                  <a:srgbClr val="404040"/>
                </a:solidFill>
                <a:latin typeface="Calibri"/>
              </a:rPr>
              <a:t>[1] “language”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1097280" y="821520"/>
            <a:ext cx="10058040" cy="80856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Vector Access</a:t>
            </a:r>
            <a:endParaRPr b="0" lang="en-US" sz="3600" spc="-1" strike="noStrike">
              <a:solidFill>
                <a:srgbClr val="000000"/>
              </a:solidFill>
              <a:latin typeface="Calibri"/>
            </a:endParaRPr>
          </a:p>
        </p:txBody>
      </p:sp>
      <p:sp>
        <p:nvSpPr>
          <p:cNvPr id="133" name="PlaceHolder 2"/>
          <p:cNvSpPr>
            <a:spLocks noGrp="1"/>
          </p:cNvSpPr>
          <p:nvPr>
            <p:ph/>
          </p:nvPr>
        </p:nvSpPr>
        <p:spPr>
          <a:xfrm>
            <a:off x="1097280" y="1845720"/>
            <a:ext cx="10058040" cy="4023000"/>
          </a:xfrm>
          <a:prstGeom prst="rect">
            <a:avLst/>
          </a:prstGeom>
          <a:noFill/>
          <a:ln w="0">
            <a:noFill/>
          </a:ln>
        </p:spPr>
        <p:txBody>
          <a:bodyPr lIns="0" rIns="0" anchor="t">
            <a:normAutofit fontScale="82000"/>
          </a:bodyPr>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Assign new values in an existing vector. </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0000"/>
                </a:solidFill>
                <a:latin typeface="Calibri"/>
              </a:rPr>
              <a:t>For example, let us assign value, ‘goodprogramming’ at indices 4 in the existing vector, ‘VariableSeq’.</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0000"/>
                </a:solidFill>
                <a:latin typeface="Calibri"/>
              </a:rPr>
              <a:t>&gt; VariableSeq[4] &lt;- “good programming”</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b050"/>
                </a:solidFill>
                <a:latin typeface="Calibri"/>
              </a:rPr>
              <a:t>Outcome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VariableSeq[4]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“good programming”</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To access more than one value from the vector.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(a) Access the first and the fifth element from the vector, ‘VariableSeq’.</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VariableSeq[c(1, 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“R” “language”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Vector Access</a:t>
            </a:r>
            <a:endParaRPr b="0" lang="en-US" sz="3600" spc="-1" strike="noStrike">
              <a:solidFill>
                <a:srgbClr val="000000"/>
              </a:solidFill>
              <a:latin typeface="Calibri"/>
            </a:endParaRPr>
          </a:p>
        </p:txBody>
      </p:sp>
      <p:sp>
        <p:nvSpPr>
          <p:cNvPr id="135" name="PlaceHolder 2"/>
          <p:cNvSpPr>
            <a:spLocks noGrp="1"/>
          </p:cNvSpPr>
          <p:nvPr>
            <p:ph/>
          </p:nvPr>
        </p:nvSpPr>
        <p:spPr>
          <a:xfrm>
            <a:off x="1097280" y="1845720"/>
            <a:ext cx="10058040" cy="4023000"/>
          </a:xfrm>
          <a:prstGeom prst="rect">
            <a:avLst/>
          </a:prstGeom>
          <a:noFill/>
          <a:ln w="0">
            <a:noFill/>
          </a:ln>
        </p:spPr>
        <p:txBody>
          <a:bodyPr lIns="0" rIns="0" anchor="t">
            <a:normAutofit fontScale="74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(b) Access first to the fourth element from the vector, ‘VariableSeq’.</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VariableSeq[1:4]</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“R” “is” “a” “good programming”</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(c) Access the first, fourth and the fifth element from the vector, ‘VariableSeq’.</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VariableSeq[c(1, 4:5)]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“R” “good programming” “language”</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(d) Retrieve all the values from the variable, ‘VariableSeq’</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&gt; VariableSeq</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“R” “is” “a” “good programming”</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[5] “language”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1097280" y="528120"/>
            <a:ext cx="10058040" cy="110196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Vector Names</a:t>
            </a:r>
            <a:endParaRPr b="0" lang="en-US" sz="3600" spc="-1" strike="noStrike">
              <a:solidFill>
                <a:srgbClr val="000000"/>
              </a:solidFill>
              <a:latin typeface="Calibri"/>
            </a:endParaRPr>
          </a:p>
        </p:txBody>
      </p:sp>
      <p:sp>
        <p:nvSpPr>
          <p:cNvPr id="137" name="PlaceHolder 2"/>
          <p:cNvSpPr>
            <a:spLocks noGrp="1"/>
          </p:cNvSpPr>
          <p:nvPr>
            <p:ph/>
          </p:nvPr>
        </p:nvSpPr>
        <p:spPr>
          <a:xfrm>
            <a:off x="1097280" y="1845720"/>
            <a:ext cx="10058040" cy="4023000"/>
          </a:xfrm>
          <a:prstGeom prst="rect">
            <a:avLst/>
          </a:prstGeom>
          <a:noFill/>
          <a:ln w="0">
            <a:noFill/>
          </a:ln>
        </p:spPr>
        <p:txBody>
          <a:bodyPr lIns="0" rIns="0" anchor="t">
            <a:normAutofit fontScale="82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The names() function helps to assign names to the vector elements.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This is accomplished in two steps as shown: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&gt; placeholder &lt;- 1:5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&gt; names(placeholder) &lt;- c(“r”, “is”, “a”, “programming”, “language”)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The vector elements can then be retrieved using the indices position.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placeholder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r is a programming language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1 2 3 4 5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placeholder [3]</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3</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Vector Names</a:t>
            </a:r>
            <a:endParaRPr b="0" lang="en-US" sz="3600" spc="-1" strike="noStrike">
              <a:solidFill>
                <a:srgbClr val="000000"/>
              </a:solidFill>
              <a:latin typeface="Calibri"/>
            </a:endParaRPr>
          </a:p>
        </p:txBody>
      </p:sp>
      <p:sp>
        <p:nvSpPr>
          <p:cNvPr id="139" name="PlaceHolder 2"/>
          <p:cNvSpPr>
            <a:spLocks noGrp="1"/>
          </p:cNvSpPr>
          <p:nvPr>
            <p:ph/>
          </p:nvPr>
        </p:nvSpPr>
        <p:spPr>
          <a:xfrm>
            <a:off x="1097280" y="1845720"/>
            <a:ext cx="562248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Plot a bar graph using the barplot function. The barplot function uses a vector’s values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to plot a bar chart.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Act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vector used is called BarVector.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BarVector &lt;- c(4, 7, 8)</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barplot(BarVector)</a:t>
            </a:r>
            <a:endParaRPr b="0" lang="en-US" sz="2000" spc="-1" strike="noStrike">
              <a:solidFill>
                <a:srgbClr val="404040"/>
              </a:solidFill>
              <a:latin typeface="Calibri"/>
            </a:endParaRPr>
          </a:p>
        </p:txBody>
      </p:sp>
      <p:pic>
        <p:nvPicPr>
          <p:cNvPr id="140" name="Picture 3" descr=""/>
          <p:cNvPicPr/>
          <p:nvPr/>
        </p:nvPicPr>
        <p:blipFill>
          <a:blip r:embed="rId1"/>
          <a:stretch/>
        </p:blipFill>
        <p:spPr>
          <a:xfrm>
            <a:off x="6836400" y="1919520"/>
            <a:ext cx="3314880" cy="319104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Vector Math</a:t>
            </a:r>
            <a:endParaRPr b="0" lang="en-US" sz="3600" spc="-1" strike="noStrike">
              <a:solidFill>
                <a:srgbClr val="000000"/>
              </a:solidFill>
              <a:latin typeface="Calibri"/>
            </a:endParaRPr>
          </a:p>
        </p:txBody>
      </p:sp>
      <p:sp>
        <p:nvSpPr>
          <p:cNvPr id="142" name="PlaceHolder 2"/>
          <p:cNvSpPr>
            <a:spLocks noGrp="1"/>
          </p:cNvSpPr>
          <p:nvPr>
            <p:ph/>
          </p:nvPr>
        </p:nvSpPr>
        <p:spPr>
          <a:xfrm>
            <a:off x="1097280" y="1845720"/>
            <a:ext cx="10058040" cy="4023000"/>
          </a:xfrm>
          <a:prstGeom prst="rect">
            <a:avLst/>
          </a:prstGeom>
          <a:noFill/>
          <a:ln w="0">
            <a:noFill/>
          </a:ln>
        </p:spPr>
        <p:txBody>
          <a:bodyPr lIns="0" rIns="0" anchor="t">
            <a:normAutofit fontScale="56000"/>
          </a:bodyPr>
          <a:p>
            <a:pPr marL="91440" indent="-91440">
              <a:lnSpc>
                <a:spcPct val="120000"/>
              </a:lnSpc>
              <a:buClr>
                <a:srgbClr val="e48312"/>
              </a:buClr>
              <a:buFont typeface="Calibri"/>
              <a:buChar char=" "/>
            </a:pPr>
            <a:r>
              <a:rPr b="0" lang="en-US" sz="2000" spc="-1" strike="noStrike">
                <a:solidFill>
                  <a:srgbClr val="c00000"/>
                </a:solidFill>
                <a:latin typeface="Calibri"/>
              </a:rPr>
              <a:t>Let us define a vector, ‘x’ with three values. Let us add a scalar value (single value) to the vector. This value will get added to each vector element.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 &lt;- c(4, 7, 8)</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5 8 9</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However, the vector will retain its individual elements.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4 7 8</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If the vector needs to be updated with the new values, type the statement given below.</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 &lt;- x + 1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5 8 9</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We can run other arithmetic operations on the vector as given: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 –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4 7 8</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 * 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10 16 18</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 / 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2.5 4.0 4.5</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1157760" y="804240"/>
            <a:ext cx="10058040" cy="60156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Vector Recycling</a:t>
            </a:r>
            <a:endParaRPr b="0" lang="en-US" sz="3600" spc="-1" strike="noStrike">
              <a:solidFill>
                <a:srgbClr val="000000"/>
              </a:solidFill>
              <a:latin typeface="Calibri"/>
            </a:endParaRPr>
          </a:p>
        </p:txBody>
      </p:sp>
      <p:sp>
        <p:nvSpPr>
          <p:cNvPr id="144"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100000"/>
              </a:lnSpc>
              <a:buClr>
                <a:srgbClr val="e48312"/>
              </a:buClr>
              <a:buFont typeface="Calibri"/>
              <a:buChar char=" "/>
            </a:pPr>
            <a:r>
              <a:rPr b="0" lang="en-US" sz="2000" spc="-1" strike="noStrike">
                <a:solidFill>
                  <a:srgbClr val="404040"/>
                </a:solidFill>
                <a:latin typeface="Calibri"/>
              </a:rPr>
              <a:t>If an operation is performed involving two vectors that requires them to be of the same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length, the shorter one is recycled, i.e. repeated until it is long enough to match the longer</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one.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c00000"/>
                </a:solidFill>
                <a:latin typeface="Calibri"/>
              </a:rPr>
              <a:t>Add two vectors wherein one has length, 3 and the other has length, 6.</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&gt; c(1, 2, 3) + c(4, 5, 6, 7, 8, 9)</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5 7 9 8 10 12</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c00000"/>
                </a:solidFill>
                <a:latin typeface="Calibri"/>
              </a:rPr>
              <a:t>Multiply the two vectors wherein one has length, 3 and the other has length, 6.</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&gt; c(1, 2, 3) * c(4, 5, 6, 7, 8, 9)</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4 10 18 7 16 27</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1097280" y="623160"/>
            <a:ext cx="10058040" cy="100692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Vector Recycling</a:t>
            </a:r>
            <a:endParaRPr b="0" lang="en-US" sz="3600" spc="-1" strike="noStrike">
              <a:solidFill>
                <a:srgbClr val="000000"/>
              </a:solidFill>
              <a:latin typeface="Calibri"/>
            </a:endParaRPr>
          </a:p>
        </p:txBody>
      </p:sp>
      <p:sp>
        <p:nvSpPr>
          <p:cNvPr id="146" name="PlaceHolder 2"/>
          <p:cNvSpPr>
            <a:spLocks noGrp="1"/>
          </p:cNvSpPr>
          <p:nvPr>
            <p:ph/>
          </p:nvPr>
        </p:nvSpPr>
        <p:spPr>
          <a:xfrm>
            <a:off x="1097280" y="1845720"/>
            <a:ext cx="4431960" cy="4023000"/>
          </a:xfrm>
          <a:prstGeom prst="rect">
            <a:avLst/>
          </a:prstGeom>
          <a:noFill/>
          <a:ln w="0">
            <a:noFill/>
          </a:ln>
        </p:spPr>
        <p:txBody>
          <a:bodyPr lIns="0" rIns="0" anchor="t">
            <a:normAutofit fontScale="59000"/>
          </a:bodyPr>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Plot a Scatter Plot. </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The function to plot a scatter plot is ‘plot’. This function uses two vectors, i.e. one for the x axis and another for the y axis. </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The objective is to understand the relationship between numbers and their sines. </a:t>
            </a:r>
            <a:endParaRPr b="0" lang="en-US" sz="2000" spc="-1" strike="noStrike">
              <a:solidFill>
                <a:srgbClr val="404040"/>
              </a:solidFill>
              <a:latin typeface="Calibri"/>
            </a:endParaRPr>
          </a:p>
          <a:p>
            <a:pPr marL="91440" indent="-91440" algn="just">
              <a:lnSpc>
                <a:spcPct val="120000"/>
              </a:lnSpc>
              <a:buClr>
                <a:srgbClr val="e48312"/>
              </a:buClr>
              <a:buFont typeface="Calibri"/>
              <a:buChar char=" "/>
            </a:pPr>
            <a:r>
              <a:rPr b="0" lang="en-US" sz="2000" spc="-1" strike="noStrike">
                <a:solidFill>
                  <a:srgbClr val="404040"/>
                </a:solidFill>
                <a:latin typeface="Calibri"/>
              </a:rPr>
              <a:t>We will use two vectors. Vector, x which will have a sequence of values between 1 and 25 at an interval of 0.1 and vector, y which stores the sines of all values held in vector, 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 &lt;-seq(1, 25, 0.1)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y &lt;-sin(x)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The plot function takes the values in the vector, x and plots it on the horizontal axis. It then takes the values in the vector, y and places it on the vertical axis (Figure 3.4).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plot(x, y)</a:t>
            </a:r>
            <a:endParaRPr b="0" lang="en-US" sz="2000" spc="-1" strike="noStrike">
              <a:solidFill>
                <a:srgbClr val="404040"/>
              </a:solidFill>
              <a:latin typeface="Calibri"/>
            </a:endParaRPr>
          </a:p>
        </p:txBody>
      </p:sp>
      <p:pic>
        <p:nvPicPr>
          <p:cNvPr id="147" name="Picture 3" descr=""/>
          <p:cNvPicPr/>
          <p:nvPr/>
        </p:nvPicPr>
        <p:blipFill>
          <a:blip r:embed="rId1"/>
          <a:stretch/>
        </p:blipFill>
        <p:spPr>
          <a:xfrm>
            <a:off x="6126480" y="1845720"/>
            <a:ext cx="4419720" cy="404820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097280" y="924840"/>
            <a:ext cx="10058040" cy="73080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Matrices</a:t>
            </a:r>
            <a:endParaRPr b="0" lang="en-US" sz="3600" spc="-1" strike="noStrike">
              <a:solidFill>
                <a:srgbClr val="000000"/>
              </a:solidFill>
              <a:latin typeface="Calibri"/>
            </a:endParaRPr>
          </a:p>
        </p:txBody>
      </p:sp>
      <p:sp>
        <p:nvSpPr>
          <p:cNvPr id="149" name="PlaceHolder 2"/>
          <p:cNvSpPr>
            <a:spLocks noGrp="1"/>
          </p:cNvSpPr>
          <p:nvPr>
            <p:ph/>
          </p:nvPr>
        </p:nvSpPr>
        <p:spPr>
          <a:xfrm>
            <a:off x="1097280" y="1845720"/>
            <a:ext cx="10058040" cy="4023000"/>
          </a:xfrm>
          <a:prstGeom prst="rect">
            <a:avLst/>
          </a:prstGeom>
          <a:noFill/>
          <a:ln w="0">
            <a:noFill/>
          </a:ln>
        </p:spPr>
        <p:txBody>
          <a:bodyPr lIns="0" rIns="0" anchor="t">
            <a:normAutofit fontScale="51000"/>
          </a:bodyPr>
          <a:p>
            <a:pPr marL="91440" indent="-91440">
              <a:lnSpc>
                <a:spcPct val="120000"/>
              </a:lnSpc>
              <a:buClr>
                <a:srgbClr val="e48312"/>
              </a:buClr>
              <a:buFont typeface="Calibri"/>
              <a:buChar char=" "/>
            </a:pPr>
            <a:r>
              <a:rPr b="0" lang="en-US" sz="2000" spc="-1" strike="noStrike">
                <a:solidFill>
                  <a:srgbClr val="c00000"/>
                </a:solidFill>
                <a:latin typeface="Calibri"/>
              </a:rPr>
              <a:t>Matrices are nothing but two-dimensional arrays.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Let us create a matrix which is 3 rows by 4 columns and set all its elements to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matrix (1, 3, 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1] [, 2] [, 3] [, 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[2, ]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[3, ]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Use a vector to create an array, 3 rows high and 3 columns wide.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1: Begin by creating a vector that has elements from 10 to 90 with an interval of 10.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a &lt;- seq(10, 90, by = 10)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2: Validate by printing the value of vector a.</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a</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10 20 30 40 50 60 70 80 90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3: Call the matrix function with vector, ‘a’ the number of rows and the number of columns.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matrix (a, 3,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1] [, 2] [,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 10 40 70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[2, ] 20 50 80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[3, ] 30 60 90</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1097280" y="1045800"/>
            <a:ext cx="10058040" cy="63612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Matrices</a:t>
            </a:r>
            <a:endParaRPr b="0" lang="en-US" sz="3600" spc="-1" strike="noStrike">
              <a:solidFill>
                <a:srgbClr val="000000"/>
              </a:solidFill>
              <a:latin typeface="Calibri"/>
            </a:endParaRPr>
          </a:p>
        </p:txBody>
      </p:sp>
      <p:sp>
        <p:nvSpPr>
          <p:cNvPr id="151" name="PlaceHolder 2"/>
          <p:cNvSpPr>
            <a:spLocks noGrp="1"/>
          </p:cNvSpPr>
          <p:nvPr>
            <p:ph/>
          </p:nvPr>
        </p:nvSpPr>
        <p:spPr>
          <a:xfrm>
            <a:off x="1097280" y="1845720"/>
            <a:ext cx="10058040" cy="4023000"/>
          </a:xfrm>
          <a:prstGeom prst="rect">
            <a:avLst/>
          </a:prstGeom>
          <a:noFill/>
          <a:ln w="0">
            <a:noFill/>
          </a:ln>
        </p:spPr>
        <p:txBody>
          <a:bodyPr lIns="0" rIns="0" anchor="t">
            <a:normAutofit fontScale="59000"/>
          </a:bodyPr>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Re-shape the vector itself into an array using the dim function.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70c0"/>
                </a:solidFill>
                <a:latin typeface="Calibri"/>
              </a:rPr>
              <a:t>Step 1: Begin by creating a vector that has elements from 10 to 90 with an interval of 10.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a &lt;- seq (10, 90, by = 10)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70c0"/>
                </a:solidFill>
                <a:latin typeface="Calibri"/>
              </a:rPr>
              <a:t>Step 2: Validate by printing the value of vector, a.</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a</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10 20 30 40 50 60 70 80 90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70c0"/>
                </a:solidFill>
                <a:latin typeface="Calibri"/>
              </a:rPr>
              <a:t>Step 3: Assign new dimensions to vector, a by passing a vector having 3 rows and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70c0"/>
                </a:solidFill>
                <a:latin typeface="Calibri"/>
              </a:rPr>
              <a:t>columns (c (3,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dim(a) &lt;- c(3,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70c0"/>
                </a:solidFill>
                <a:latin typeface="Calibri"/>
              </a:rPr>
              <a:t>Step 4: Print the values of vector, a. You will notice that the values have shifted to form 3 rows by 3 columns. </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The vector is no longer one dimensional. It has been converted into</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a two-dimensional matrix that is 3 rows high and 3 columns wide.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pt-BR" sz="2000" spc="-1" strike="noStrike">
                <a:solidFill>
                  <a:srgbClr val="404040"/>
                </a:solidFill>
                <a:latin typeface="Calibri"/>
              </a:rPr>
              <a:t>&gt; a</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pt-BR" sz="2000" spc="-1" strike="noStrike">
                <a:solidFill>
                  <a:srgbClr val="404040"/>
                </a:solidFill>
                <a:latin typeface="Calibri"/>
              </a:rPr>
              <a:t>[, 1] [, 2] [,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pt-BR" sz="2000" spc="-1" strike="noStrike">
                <a:solidFill>
                  <a:srgbClr val="404040"/>
                </a:solidFill>
                <a:latin typeface="Calibri"/>
              </a:rPr>
              <a:t>[1, ] 10 40 70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pt-BR" sz="2000" spc="-1" strike="noStrike">
                <a:solidFill>
                  <a:srgbClr val="404040"/>
                </a:solidFill>
                <a:latin typeface="Calibri"/>
              </a:rPr>
              <a:t>[2, ] 20 50 80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pt-BR" sz="2000" spc="-1" strike="noStrike">
                <a:solidFill>
                  <a:srgbClr val="404040"/>
                </a:solidFill>
                <a:latin typeface="Calibri"/>
              </a:rPr>
              <a:t>[3, ] 30 60 90</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1097280" y="959400"/>
            <a:ext cx="10058040" cy="56700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Matrix Access</a:t>
            </a:r>
            <a:endParaRPr b="0" lang="en-US" sz="3600" spc="-1" strike="noStrike">
              <a:solidFill>
                <a:srgbClr val="000000"/>
              </a:solidFill>
              <a:latin typeface="Calibri"/>
            </a:endParaRPr>
          </a:p>
        </p:txBody>
      </p:sp>
      <p:sp>
        <p:nvSpPr>
          <p:cNvPr id="153" name="PlaceHolder 2"/>
          <p:cNvSpPr>
            <a:spLocks noGrp="1"/>
          </p:cNvSpPr>
          <p:nvPr>
            <p:ph/>
          </p:nvPr>
        </p:nvSpPr>
        <p:spPr>
          <a:xfrm>
            <a:off x="1097280" y="1845720"/>
            <a:ext cx="10058040" cy="4023000"/>
          </a:xfrm>
          <a:prstGeom prst="rect">
            <a:avLst/>
          </a:prstGeom>
          <a:noFill/>
          <a:ln w="0">
            <a:noFill/>
          </a:ln>
        </p:spPr>
        <p:txBody>
          <a:bodyPr lIns="0" rIns="0" anchor="t">
            <a:normAutofit fontScale="53000"/>
          </a:bodyPr>
          <a:p>
            <a:pPr marL="91440" indent="-91440">
              <a:lnSpc>
                <a:spcPct val="9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c00000"/>
                </a:solidFill>
                <a:latin typeface="Calibri"/>
              </a:rPr>
              <a:t>Access the elements of a 3 *4 matrix.</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0070c0"/>
                </a:solidFill>
                <a:latin typeface="Calibri"/>
              </a:rPr>
              <a:t>Step 1: Create a matrix, ‘mat’, 3 rows high and 4 columns wide using a vector.</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&gt; x &lt;- 1:12</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&gt; x</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[1] 1 2 3 4 5 6 7 8 9 10 11 12</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&gt; mat &lt;- matrix (x, 3, 4)</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&gt; mat</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 1] [, 2] [, 3] [, 4]</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[1, ] 1 4 7 10</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[2, ] 2 5 8 11</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[3, ] 3 6 9 12</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0070c0"/>
                </a:solidFill>
                <a:latin typeface="Calibri"/>
              </a:rPr>
              <a:t>Step 2: Access the element present in the second row and third column of the matrix, ‘mat’.</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&gt; mat [2, 3]</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[1] 8</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c00000"/>
                </a:solidFill>
                <a:latin typeface="Calibri"/>
              </a:rPr>
              <a:t>Access the third row of an existing matrix.</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0070c0"/>
                </a:solidFill>
                <a:latin typeface="Calibri"/>
              </a:rPr>
              <a:t>Step 1: Let us begin by printing the values of an existing matrix, ‘mat’</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&gt; mat</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 1] [, 2] [, 3] [, 4]</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[1, ] 1 4 7 10</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[2, ] 2 5 8 11</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[3, ] 3 6 9 12</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0070c0"/>
                </a:solidFill>
                <a:latin typeface="Calibri"/>
              </a:rPr>
              <a:t>Step 2: To access the third row of the matrix, simply provide the row number and omit</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0070c0"/>
                </a:solidFill>
                <a:latin typeface="Calibri"/>
              </a:rPr>
              <a:t>the column number.</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&gt; mat [3, ]</a:t>
            </a:r>
            <a:endParaRPr b="0" lang="en-US" sz="2000" spc="-1" strike="noStrike">
              <a:solidFill>
                <a:srgbClr val="404040"/>
              </a:solidFill>
              <a:latin typeface="Calibri"/>
            </a:endParaRPr>
          </a:p>
          <a:p>
            <a:pPr marL="91440" indent="-91440">
              <a:lnSpc>
                <a:spcPct val="90000"/>
              </a:lnSpc>
              <a:buClr>
                <a:srgbClr val="e48312"/>
              </a:buClr>
              <a:buFont typeface="Calibri"/>
              <a:buChar char=" "/>
            </a:pPr>
            <a:r>
              <a:rPr b="0" lang="en-US" sz="2000" spc="-1" strike="noStrike">
                <a:solidFill>
                  <a:srgbClr val="404040"/>
                </a:solidFill>
                <a:latin typeface="Calibri"/>
              </a:rPr>
              <a:t>[1] 3 6 9 12</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1200960" y="950760"/>
            <a:ext cx="10058040" cy="497880"/>
          </a:xfrm>
          <a:prstGeom prst="rect">
            <a:avLst/>
          </a:prstGeom>
          <a:noFill/>
          <a:ln w="0">
            <a:noFill/>
          </a:ln>
        </p:spPr>
        <p:txBody>
          <a:bodyPr anchor="b">
            <a:normAutofit fontScale="87000"/>
          </a:bodyPr>
          <a:p>
            <a:pPr>
              <a:lnSpc>
                <a:spcPct val="85000"/>
              </a:lnSpc>
              <a:buNone/>
            </a:pPr>
            <a:r>
              <a:rPr b="0" lang="en-IN" sz="3600" spc="-52" strike="noStrike">
                <a:solidFill>
                  <a:srgbClr val="404040"/>
                </a:solidFill>
                <a:latin typeface="Calibri Light"/>
              </a:rPr>
              <a:t>Matrix Access</a:t>
            </a:r>
            <a:endParaRPr b="0" lang="en-US" sz="3600" spc="-1" strike="noStrike">
              <a:solidFill>
                <a:srgbClr val="000000"/>
              </a:solidFill>
              <a:latin typeface="Calibri"/>
            </a:endParaRPr>
          </a:p>
        </p:txBody>
      </p:sp>
      <p:sp>
        <p:nvSpPr>
          <p:cNvPr id="155" name="PlaceHolder 2"/>
          <p:cNvSpPr>
            <a:spLocks noGrp="1"/>
          </p:cNvSpPr>
          <p:nvPr>
            <p:ph/>
          </p:nvPr>
        </p:nvSpPr>
        <p:spPr>
          <a:xfrm>
            <a:off x="1097280" y="1845720"/>
            <a:ext cx="10058040" cy="4023000"/>
          </a:xfrm>
          <a:prstGeom prst="rect">
            <a:avLst/>
          </a:prstGeom>
          <a:noFill/>
          <a:ln w="0">
            <a:noFill/>
          </a:ln>
        </p:spPr>
        <p:txBody>
          <a:bodyPr lIns="0" rIns="0" anchor="t">
            <a:normAutofit fontScale="89000"/>
          </a:bodyPr>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Access the second column of an existing matrix.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1: Let us begin by printing the values of an existing matrix, ‘mat’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mat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1] [, 2] [, 3] [, 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 1 4 7 10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[2, ] 2 5 8 11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[3, ] 3 6 9 12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2: To access the second column of the matrix, simply provide the column number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and omit the row number.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mat[, 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4 5 6</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097280" y="638280"/>
            <a:ext cx="10058040" cy="64656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Matrix Access</a:t>
            </a:r>
            <a:endParaRPr b="0" lang="en-US" sz="3600" spc="-1" strike="noStrike">
              <a:solidFill>
                <a:srgbClr val="000000"/>
              </a:solidFill>
              <a:latin typeface="Calibri"/>
            </a:endParaRPr>
          </a:p>
        </p:txBody>
      </p:sp>
      <p:sp>
        <p:nvSpPr>
          <p:cNvPr id="157" name="PlaceHolder 2"/>
          <p:cNvSpPr>
            <a:spLocks noGrp="1"/>
          </p:cNvSpPr>
          <p:nvPr>
            <p:ph/>
          </p:nvPr>
        </p:nvSpPr>
        <p:spPr>
          <a:xfrm>
            <a:off x="1097280" y="1845720"/>
            <a:ext cx="10058040" cy="4023000"/>
          </a:xfrm>
          <a:prstGeom prst="rect">
            <a:avLst/>
          </a:prstGeom>
          <a:noFill/>
          <a:ln w="0">
            <a:noFill/>
          </a:ln>
        </p:spPr>
        <p:txBody>
          <a:bodyPr lIns="0" rIns="0" anchor="t">
            <a:normAutofit fontScale="71000"/>
          </a:bodyPr>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Access the second and third columns of an existing matrix.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1: Let us begin by printing the values of an existing matrix, ‘mat’.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mat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1] [, 2] [, 3] [, 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 1 4 7 10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[2, ] 2 5 8 11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[3, ] 3 6 9 12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2: To access the second and third columns of the matrix, simply provide the column numbers and omit the row number.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mat[,2:3]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1] [, 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 4 7</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[2, ] 5 8</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[3, ] 6 9</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1097280" y="683280"/>
            <a:ext cx="10058040" cy="86040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Matrix Access</a:t>
            </a:r>
            <a:endParaRPr b="0" lang="en-US" sz="3600" spc="-1" strike="noStrike">
              <a:solidFill>
                <a:srgbClr val="000000"/>
              </a:solidFill>
              <a:latin typeface="Calibri"/>
            </a:endParaRPr>
          </a:p>
        </p:txBody>
      </p:sp>
      <p:sp>
        <p:nvSpPr>
          <p:cNvPr id="159" name="PlaceHolder 2"/>
          <p:cNvSpPr>
            <a:spLocks noGrp="1"/>
          </p:cNvSpPr>
          <p:nvPr>
            <p:ph/>
          </p:nvPr>
        </p:nvSpPr>
        <p:spPr>
          <a:xfrm>
            <a:off x="1097280" y="1845720"/>
            <a:ext cx="10058040" cy="4023000"/>
          </a:xfrm>
          <a:prstGeom prst="rect">
            <a:avLst/>
          </a:prstGeom>
          <a:noFill/>
          <a:ln w="0">
            <a:noFill/>
          </a:ln>
        </p:spPr>
        <p:txBody>
          <a:bodyPr lIns="0" rIns="0" anchor="t">
            <a:normAutofit fontScale="59000"/>
          </a:bodyPr>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Create a contour plot.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Create a matrix, ‘mat’ which is 9 rows high and 9 columns wide and assign the value ‘1’ to all its elements.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mat &lt;- matrix(1, 9, 9)</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Print all the values of the matrix, ‘mat’.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mat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1] [, 2] [, 3] [, 4] [, 5] [, 6] [, 7] [, 8] [, 9]</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 1 1 1 1 1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[2, ] 1 1 1 1 1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[3, ] 1 1 1 1 1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[4, ] 1 1 1 1 1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[5, ] 1 1 1 1 1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[6, ] 1 1 1 1 1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[7, ] 1 1 1 1 1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[8, ] 1 1 1 1 1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[9, ] 1 1 1 1 1 1 1 1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Assign ‘0’ as the value to the element present in the third row and third column of the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matrix, ‘mat’.</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Matrix Access</a:t>
            </a:r>
            <a:br>
              <a:rPr sz="4800"/>
            </a:br>
            <a:endParaRPr b="0" lang="en-US" sz="4800" spc="-1" strike="noStrike">
              <a:solidFill>
                <a:srgbClr val="000000"/>
              </a:solidFill>
              <a:latin typeface="Calibri"/>
            </a:endParaRPr>
          </a:p>
        </p:txBody>
      </p:sp>
      <p:sp>
        <p:nvSpPr>
          <p:cNvPr id="161" name="PlaceHolder 2"/>
          <p:cNvSpPr>
            <a:spLocks noGrp="1"/>
          </p:cNvSpPr>
          <p:nvPr>
            <p:ph/>
          </p:nvPr>
        </p:nvSpPr>
        <p:spPr>
          <a:xfrm>
            <a:off x="1097280" y="1845720"/>
            <a:ext cx="5958720" cy="4023000"/>
          </a:xfrm>
          <a:prstGeom prst="rect">
            <a:avLst/>
          </a:prstGeom>
          <a:noFill/>
          <a:ln w="0">
            <a:noFill/>
          </a:ln>
        </p:spPr>
        <p:txBody>
          <a:bodyPr lIns="0" rIns="0" anchor="t">
            <a:noAutofit/>
          </a:bodyPr>
          <a:p>
            <a:pPr marL="91440" indent="-91440">
              <a:lnSpc>
                <a:spcPct val="10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Create a 3D perspective plot with the </a:t>
            </a:r>
            <a:r>
              <a:rPr b="0" lang="en-US" sz="2000" spc="-1" strike="noStrike">
                <a:solidFill>
                  <a:srgbClr val="c00000"/>
                </a:solidFill>
                <a:latin typeface="Calibri"/>
              </a:rPr>
              <a:t>persp() </a:t>
            </a:r>
            <a:r>
              <a:rPr b="0" lang="en-US" sz="2000" spc="-1" strike="noStrike">
                <a:solidFill>
                  <a:srgbClr val="404040"/>
                </a:solidFill>
                <a:latin typeface="Calibri"/>
              </a:rPr>
              <a:t>function (Figure 3.6). </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It provides a </a:t>
            </a:r>
            <a:r>
              <a:rPr b="0" lang="en-US" sz="2000" spc="-1" strike="noStrike">
                <a:solidFill>
                  <a:srgbClr val="c00000"/>
                </a:solidFill>
                <a:latin typeface="Calibri"/>
              </a:rPr>
              <a:t>3D wireframe plot </a:t>
            </a:r>
            <a:r>
              <a:rPr b="0" lang="en-US" sz="2000" spc="-1" strike="noStrike">
                <a:solidFill>
                  <a:srgbClr val="404040"/>
                </a:solidFill>
                <a:latin typeface="Calibri"/>
              </a:rPr>
              <a:t>most commonly used to display a surface.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&gt;persp(mat)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We can add a title to our plot with the parameter ‘main’. </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Similarly, ‘xlab’, ‘ylab’ and ‘zlab’ can be used to label the three axes.  Coloring of the plot is done with parameter ‘col’. Similarly, we can add shading with the parameter ‘shade’.</a:t>
            </a:r>
            <a:endParaRPr b="0" lang="en-US" sz="2000" spc="-1" strike="noStrike">
              <a:solidFill>
                <a:srgbClr val="404040"/>
              </a:solidFill>
              <a:latin typeface="Calibri"/>
            </a:endParaRPr>
          </a:p>
        </p:txBody>
      </p:sp>
      <p:pic>
        <p:nvPicPr>
          <p:cNvPr id="162" name="Picture 3" descr=""/>
          <p:cNvPicPr/>
          <p:nvPr/>
        </p:nvPicPr>
        <p:blipFill>
          <a:blip r:embed="rId1"/>
          <a:stretch/>
        </p:blipFill>
        <p:spPr>
          <a:xfrm>
            <a:off x="6986160" y="1845720"/>
            <a:ext cx="4909320" cy="3343320"/>
          </a:xfrm>
          <a:prstGeom prst="rect">
            <a:avLst/>
          </a:prstGeom>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1097280" y="1028520"/>
            <a:ext cx="10058040" cy="63612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Factors</a:t>
            </a:r>
            <a:endParaRPr b="0" lang="en-US" sz="3600" spc="-1" strike="noStrike">
              <a:solidFill>
                <a:srgbClr val="000000"/>
              </a:solidFill>
              <a:latin typeface="Calibri"/>
            </a:endParaRPr>
          </a:p>
        </p:txBody>
      </p:sp>
      <p:sp>
        <p:nvSpPr>
          <p:cNvPr id="164" name="PlaceHolder 2"/>
          <p:cNvSpPr>
            <a:spLocks noGrp="1"/>
          </p:cNvSpPr>
          <p:nvPr>
            <p:ph/>
          </p:nvPr>
        </p:nvSpPr>
        <p:spPr>
          <a:xfrm>
            <a:off x="1097280" y="1845720"/>
            <a:ext cx="10058040" cy="4023000"/>
          </a:xfrm>
          <a:prstGeom prst="rect">
            <a:avLst/>
          </a:prstGeom>
          <a:noFill/>
          <a:ln w="0">
            <a:noFill/>
          </a:ln>
        </p:spPr>
        <p:txBody>
          <a:bodyPr lIns="0" rIns="0" anchor="t">
            <a:normAutofit fontScale="80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School, ‘XYZ’ places students in groups, also called houses. Each group is assigned a unique color such as ‘red’, ‘green’, ‘blue’ or ‘yellow’. HouseColor is a vector that stores the house colors of a group of students.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HouseColor &lt;- c(‘red’, ‘green’, ‘blue’, ‘yellow’, red’, ‘green’, ‘blue’, ‘blue’)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types &lt;- </a:t>
            </a:r>
            <a:r>
              <a:rPr b="0" lang="en-US" sz="2000" spc="-1" strike="noStrike">
                <a:solidFill>
                  <a:srgbClr val="c00000"/>
                </a:solidFill>
                <a:latin typeface="Calibri"/>
              </a:rPr>
              <a:t>factor(HouseColor)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HouseColor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“red” “green” “blue” “yellow” “red” “green” “blue” “blue”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print(HouseColor)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“red” “green” “blue” “yellow” “red” “green” “blue” “blue”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print (types)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red green blue yellow red green blue blue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Levels: blue green red yellow</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1097280" y="933480"/>
            <a:ext cx="10058040" cy="662040"/>
          </a:xfrm>
          <a:prstGeom prst="rect">
            <a:avLst/>
          </a:prstGeom>
          <a:noFill/>
          <a:ln w="0">
            <a:noFill/>
          </a:ln>
        </p:spPr>
        <p:txBody>
          <a:bodyPr anchor="b">
            <a:normAutofit fontScale="91000"/>
          </a:bodyPr>
          <a:p>
            <a:pPr>
              <a:lnSpc>
                <a:spcPct val="85000"/>
              </a:lnSpc>
              <a:buNone/>
            </a:pPr>
            <a:r>
              <a:rPr b="0" lang="en-IN" sz="4800" spc="-52" strike="noStrike">
                <a:solidFill>
                  <a:srgbClr val="404040"/>
                </a:solidFill>
                <a:latin typeface="Calibri Light"/>
              </a:rPr>
              <a:t>Factors</a:t>
            </a:r>
            <a:endParaRPr b="0" lang="en-US" sz="4800" spc="-1" strike="noStrike">
              <a:solidFill>
                <a:srgbClr val="000000"/>
              </a:solidFill>
              <a:latin typeface="Calibri"/>
            </a:endParaRPr>
          </a:p>
        </p:txBody>
      </p:sp>
      <p:sp>
        <p:nvSpPr>
          <p:cNvPr id="166"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100000"/>
              </a:lnSpc>
              <a:buClr>
                <a:srgbClr val="e48312"/>
              </a:buClr>
              <a:buFont typeface="Calibri"/>
              <a:buChar char=" "/>
            </a:pPr>
            <a:r>
              <a:rPr b="0" lang="en-US" sz="2000" spc="-1" strike="noStrike">
                <a:solidFill>
                  <a:srgbClr val="c00000"/>
                </a:solidFill>
                <a:latin typeface="Calibri"/>
              </a:rPr>
              <a:t>Levels denotes the unique values. </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The above has four distinct values such as ‘blue’, ‘green’, ‘red’ and ‘yellow’.</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&gt; as.integer(types)</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3 2 1 4 3 2 1 1</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The above output is explained as given below.</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is the number assigned to blue.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2 is the number assigned to green.</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3 is the number assigned to red.</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4 is the number assigned to yellow.</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&gt; levels(types)</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“blue” “green” “red” “yellow”</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List</a:t>
            </a:r>
            <a:endParaRPr b="0" lang="en-US" sz="3600" spc="-1" strike="noStrike">
              <a:solidFill>
                <a:srgbClr val="000000"/>
              </a:solidFill>
              <a:latin typeface="Calibri"/>
            </a:endParaRPr>
          </a:p>
        </p:txBody>
      </p:sp>
      <p:sp>
        <p:nvSpPr>
          <p:cNvPr id="168" name="PlaceHolder 2"/>
          <p:cNvSpPr>
            <a:spLocks noGrp="1"/>
          </p:cNvSpPr>
          <p:nvPr>
            <p:ph/>
          </p:nvPr>
        </p:nvSpPr>
        <p:spPr>
          <a:xfrm>
            <a:off x="1097280" y="1845720"/>
            <a:ext cx="10058040" cy="4023000"/>
          </a:xfrm>
          <a:prstGeom prst="rect">
            <a:avLst/>
          </a:prstGeom>
          <a:noFill/>
          <a:ln w="0">
            <a:noFill/>
          </a:ln>
        </p:spPr>
        <p:txBody>
          <a:bodyPr lIns="0" rIns="0" anchor="t">
            <a:normAutofit fontScale="76000"/>
          </a:bodyPr>
          <a:p>
            <a:pPr marL="91440" indent="-91440">
              <a:lnSpc>
                <a:spcPct val="120000"/>
              </a:lnSpc>
              <a:buClr>
                <a:srgbClr val="e48312"/>
              </a:buClr>
              <a:buFont typeface="Calibri"/>
              <a:buChar char=" "/>
            </a:pPr>
            <a:r>
              <a:rPr b="0" lang="en-US" sz="2000" spc="-1" strike="noStrike">
                <a:solidFill>
                  <a:srgbClr val="c00000"/>
                </a:solidFill>
                <a:latin typeface="Calibri"/>
              </a:rPr>
              <a:t>List is similar to C Struct.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Create a list in 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To create a list, ‘emp’ having three elements, ‘EmpName’, ‘EmpUnit’ and ‘EmpSal’.</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emp &lt;- list (“EmpName=“Alex”, EmpUnit = “IT”, EmpSal = 55000)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b050"/>
                </a:solidFill>
                <a:latin typeface="Calibri"/>
              </a:rPr>
              <a:t>Outcome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To get the elements of the list, ‘emp’ use the command given below.</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emp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$EmpName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“Alex”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$EmpUnit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“IT”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$EmpSal</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55000</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List</a:t>
            </a:r>
            <a:endParaRPr b="0" lang="en-US" sz="3600" spc="-1" strike="noStrike">
              <a:solidFill>
                <a:srgbClr val="000000"/>
              </a:solidFill>
              <a:latin typeface="Calibri"/>
            </a:endParaRPr>
          </a:p>
        </p:txBody>
      </p:sp>
      <p:sp>
        <p:nvSpPr>
          <p:cNvPr id="170" name="PlaceHolder 2"/>
          <p:cNvSpPr>
            <a:spLocks noGrp="1"/>
          </p:cNvSpPr>
          <p:nvPr>
            <p:ph/>
          </p:nvPr>
        </p:nvSpPr>
        <p:spPr>
          <a:xfrm>
            <a:off x="1097280" y="1845720"/>
            <a:ext cx="10058040" cy="4023000"/>
          </a:xfrm>
          <a:prstGeom prst="rect">
            <a:avLst/>
          </a:prstGeom>
          <a:noFill/>
          <a:ln w="0">
            <a:noFill/>
          </a:ln>
        </p:spPr>
        <p:txBody>
          <a:bodyPr lIns="0" rIns="0" anchor="t">
            <a:normAutofit/>
          </a:bodyPr>
          <a:p>
            <a:pPr marL="91440" indent="-91440">
              <a:lnSpc>
                <a:spcPct val="110000"/>
              </a:lnSpc>
              <a:buClr>
                <a:srgbClr val="e48312"/>
              </a:buClr>
              <a:buFont typeface="Calibri"/>
              <a:buChar char=" "/>
            </a:pPr>
            <a:r>
              <a:rPr b="0" lang="en-US" sz="2000" spc="-1" strike="noStrike">
                <a:solidFill>
                  <a:srgbClr val="404040"/>
                </a:solidFill>
                <a:latin typeface="Calibri"/>
              </a:rPr>
              <a:t>Actually, the element names, e.g. ‘EmpName’, ‘EmpUnit’ and ‘EmpSal’ are optional.</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We could alternatively do this as shown below.</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&gt; EmpList &lt;- list(“Alex”, “IT”, 55000)</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&gt; EmpList</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[[1]]</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[1] “Alex”</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[[2]]</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[1] “IT”</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[[3]]</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[1] 55000</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List Tags and Values</a:t>
            </a:r>
            <a:endParaRPr b="0" lang="en-US" sz="3600" spc="-1" strike="noStrike">
              <a:solidFill>
                <a:srgbClr val="000000"/>
              </a:solidFill>
              <a:latin typeface="Calibri"/>
            </a:endParaRPr>
          </a:p>
        </p:txBody>
      </p:sp>
      <p:sp>
        <p:nvSpPr>
          <p:cNvPr id="172" name="PlaceHolder 2"/>
          <p:cNvSpPr>
            <a:spLocks noGrp="1"/>
          </p:cNvSpPr>
          <p:nvPr>
            <p:ph/>
          </p:nvPr>
        </p:nvSpPr>
        <p:spPr>
          <a:xfrm>
            <a:off x="1097280" y="1845720"/>
            <a:ext cx="9806040" cy="3493800"/>
          </a:xfrm>
          <a:prstGeom prst="rect">
            <a:avLst/>
          </a:prstGeom>
          <a:noFill/>
          <a:ln w="0">
            <a:noFill/>
          </a:ln>
        </p:spPr>
        <p:txBody>
          <a:bodyPr lIns="0" rIns="0" anchor="t">
            <a:noAutofit/>
          </a:bodyPr>
          <a:p>
            <a:pPr marL="91440" indent="-91440">
              <a:lnSpc>
                <a:spcPct val="100000"/>
              </a:lnSpc>
              <a:buClr>
                <a:srgbClr val="e48312"/>
              </a:buClr>
              <a:buFont typeface="Calibri"/>
              <a:buChar char=" "/>
            </a:pPr>
            <a:r>
              <a:rPr b="0" lang="en-US" sz="2000" spc="-1" strike="noStrike">
                <a:solidFill>
                  <a:srgbClr val="c00000"/>
                </a:solidFill>
                <a:latin typeface="Calibri"/>
              </a:rPr>
              <a:t>A list has elements. The elements in a list can have names, which are referred to as tags.</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c00000"/>
                </a:solidFill>
                <a:latin typeface="Calibri"/>
              </a:rPr>
              <a:t>Elements can also have values.</a:t>
            </a:r>
            <a:endParaRPr b="0" lang="en-US" sz="2000" spc="-1" strike="noStrike">
              <a:solidFill>
                <a:srgbClr val="404040"/>
              </a:solidFill>
              <a:latin typeface="Calibri"/>
            </a:endParaRPr>
          </a:p>
          <a:p>
            <a:pPr>
              <a:lnSpc>
                <a:spcPct val="100000"/>
              </a:lnSpc>
              <a:buNone/>
            </a:pP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For example, in the ‘emp’ list we have three elements, viz. EmpName, EmpUnit and</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EmpSal. The values are as follows. The element ‘EmpName’ has the value ‘Alex’, the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element ‘EmpUnit’ has the value ‘IT’ and </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c00000"/>
                </a:solidFill>
                <a:latin typeface="Calibri"/>
              </a:rPr>
              <a:t>Retrieve the names of the elements in the list ‘emp’.</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&gt; names(emp)</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“EmpName” “EmpUnit” “EmpSal”the element ‘EmpSal’ has the value 55000.</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List Tags and Values</a:t>
            </a:r>
            <a:endParaRPr b="0" lang="en-US" sz="4800" spc="-1" strike="noStrike">
              <a:solidFill>
                <a:srgbClr val="000000"/>
              </a:solidFill>
              <a:latin typeface="Calibri"/>
            </a:endParaRPr>
          </a:p>
        </p:txBody>
      </p:sp>
      <p:sp>
        <p:nvSpPr>
          <p:cNvPr id="174" name="PlaceHolder 2"/>
          <p:cNvSpPr>
            <a:spLocks noGrp="1"/>
          </p:cNvSpPr>
          <p:nvPr>
            <p:ph/>
          </p:nvPr>
        </p:nvSpPr>
        <p:spPr>
          <a:xfrm>
            <a:off x="1097280" y="1845720"/>
            <a:ext cx="10058040" cy="4023000"/>
          </a:xfrm>
          <a:prstGeom prst="rect">
            <a:avLst/>
          </a:prstGeom>
          <a:noFill/>
          <a:ln w="0">
            <a:noFill/>
          </a:ln>
        </p:spPr>
        <p:txBody>
          <a:bodyPr lIns="0" rIns="0" anchor="t">
            <a:normAutofit fontScale="63000"/>
          </a:bodyPr>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Retrieve the values of the elements in the list ‘emp’.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unlist(emp)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EmpName EmpUnit EmpSal “Alex” “IT” “55000”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The command to retrieve the value of a single element in the list ‘emp’ is given below.</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Retrieve the value of the element ‘EmpName’ in the list ‘emp’.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0000"/>
                </a:solidFill>
                <a:latin typeface="Calibri"/>
              </a:rPr>
              <a:t>&gt; unlist(emp[“EmpName”])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EmpName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a:t>
            </a:r>
            <a:r>
              <a:rPr b="0" lang="en-US" sz="2000" spc="-1" strike="noStrike">
                <a:solidFill>
                  <a:srgbClr val="404040"/>
                </a:solidFill>
                <a:latin typeface="Calibri"/>
              </a:rPr>
              <a:t>Alex”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The value of the other elements in the list can be checked in a similar manner.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unlist(emp[“EmpUnit”])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EmpUnit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a:t>
            </a:r>
            <a:r>
              <a:rPr b="0" lang="en-US" sz="2000" spc="-1" strike="noStrike">
                <a:solidFill>
                  <a:srgbClr val="404040"/>
                </a:solidFill>
                <a:latin typeface="Calibri"/>
              </a:rPr>
              <a:t>IT”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unlist(emp[“EmpSal”])</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EmpSal</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55000</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1183680" y="683280"/>
            <a:ext cx="10058040" cy="77400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Add/Delete Element to or from a List</a:t>
            </a:r>
            <a:endParaRPr b="0" lang="en-US" sz="3600" spc="-1" strike="noStrike">
              <a:solidFill>
                <a:srgbClr val="000000"/>
              </a:solidFill>
              <a:latin typeface="Calibri"/>
            </a:endParaRPr>
          </a:p>
        </p:txBody>
      </p:sp>
      <p:sp>
        <p:nvSpPr>
          <p:cNvPr id="176" name="PlaceHolder 2"/>
          <p:cNvSpPr>
            <a:spLocks noGrp="1"/>
          </p:cNvSpPr>
          <p:nvPr>
            <p:ph/>
          </p:nvPr>
        </p:nvSpPr>
        <p:spPr>
          <a:xfrm>
            <a:off x="1097280" y="1845720"/>
            <a:ext cx="10058040" cy="4023000"/>
          </a:xfrm>
          <a:prstGeom prst="rect">
            <a:avLst/>
          </a:prstGeom>
          <a:noFill/>
          <a:ln w="0">
            <a:noFill/>
          </a:ln>
        </p:spPr>
        <p:txBody>
          <a:bodyPr lIns="0" rIns="0" anchor="t">
            <a:normAutofit fontScale="61000"/>
          </a:bodyPr>
          <a:p>
            <a:pPr marL="91440" indent="-91440">
              <a:lnSpc>
                <a:spcPct val="100000"/>
              </a:lnSpc>
              <a:buClr>
                <a:srgbClr val="e48312"/>
              </a:buClr>
              <a:buFont typeface="Calibri"/>
              <a:buChar char=" "/>
            </a:pPr>
            <a:r>
              <a:rPr b="0" lang="en-US" sz="2000" spc="-1" strike="noStrike">
                <a:solidFill>
                  <a:srgbClr val="00b050"/>
                </a:solidFill>
                <a:latin typeface="Calibri"/>
              </a:rPr>
              <a:t>Before adding an element to the list ‘emp’, let us verify what elements exist in the list.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&gt; emp</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$EmpName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“Alex”</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$EmpUnit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“IT”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$EmpSal</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55000</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c00000"/>
                </a:solidFill>
                <a:latin typeface="Calibri"/>
              </a:rPr>
              <a:t>Add an element with the name ‘EmpDesg’ and value ‘Software Engineer’ to the list, ‘emp’.</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&gt; emp$EmpDesg = “Software Engineer”</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00b050"/>
                </a:solidFill>
                <a:latin typeface="Calibri"/>
              </a:rPr>
              <a:t>Outcome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&gt; emp</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$EmpName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[1] “Alex”</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$EmpUnit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[1] “IT”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$EmpSal</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[1] 55000</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$EmpDesg</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IN" sz="2000" spc="-1" strike="noStrike">
                <a:solidFill>
                  <a:srgbClr val="404040"/>
                </a:solidFill>
                <a:latin typeface="Calibri"/>
              </a:rPr>
              <a:t>[1] “Software Engineer”</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Add/Delete Element to or from a List</a:t>
            </a:r>
            <a:endParaRPr b="0" lang="en-US" sz="3600" spc="-1" strike="noStrike">
              <a:solidFill>
                <a:srgbClr val="000000"/>
              </a:solidFill>
              <a:latin typeface="Calibri"/>
            </a:endParaRPr>
          </a:p>
        </p:txBody>
      </p:sp>
      <p:sp>
        <p:nvSpPr>
          <p:cNvPr id="178" name="PlaceHolder 2"/>
          <p:cNvSpPr>
            <a:spLocks noGrp="1"/>
          </p:cNvSpPr>
          <p:nvPr>
            <p:ph/>
          </p:nvPr>
        </p:nvSpPr>
        <p:spPr>
          <a:xfrm>
            <a:off x="1097280" y="1845720"/>
            <a:ext cx="10058040" cy="4023000"/>
          </a:xfrm>
          <a:prstGeom prst="rect">
            <a:avLst/>
          </a:prstGeom>
          <a:noFill/>
          <a:ln w="0">
            <a:noFill/>
          </a:ln>
        </p:spPr>
        <p:txBody>
          <a:bodyPr lIns="0" rIns="0" anchor="t">
            <a:normAutofit fontScale="96000"/>
          </a:bodyPr>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Delete an element with the name ‘EmpUnit’ and value ‘IT’ from the list, ‘emp’.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emp$EmpUnit &lt;- NULL</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Outcome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emp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$EmpName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“Alex”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$EmpSal</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55000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$EmpDesg</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“Software Engineer”</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Size of a List</a:t>
            </a:r>
            <a:endParaRPr b="0" lang="en-US" sz="3600" spc="-1" strike="noStrike">
              <a:solidFill>
                <a:srgbClr val="000000"/>
              </a:solidFill>
              <a:latin typeface="Calibri"/>
            </a:endParaRPr>
          </a:p>
        </p:txBody>
      </p:sp>
      <p:sp>
        <p:nvSpPr>
          <p:cNvPr id="180" name="PlaceHolder 2"/>
          <p:cNvSpPr>
            <a:spLocks noGrp="1"/>
          </p:cNvSpPr>
          <p:nvPr>
            <p:ph/>
          </p:nvPr>
        </p:nvSpPr>
        <p:spPr>
          <a:xfrm>
            <a:off x="1097280" y="1845720"/>
            <a:ext cx="10058040" cy="4023000"/>
          </a:xfrm>
          <a:prstGeom prst="rect">
            <a:avLst/>
          </a:prstGeom>
          <a:noFill/>
          <a:ln w="0">
            <a:noFill/>
          </a:ln>
        </p:spPr>
        <p:txBody>
          <a:bodyPr lIns="0" rIns="0" anchor="t">
            <a:normAutofit fontScale="82000"/>
          </a:bodyPr>
          <a:p>
            <a:pPr marL="91440" indent="-91440">
              <a:lnSpc>
                <a:spcPct val="120000"/>
              </a:lnSpc>
              <a:buClr>
                <a:srgbClr val="e48312"/>
              </a:buClr>
              <a:buFont typeface="Calibri"/>
              <a:buChar char=" "/>
            </a:pPr>
            <a:r>
              <a:rPr b="0" lang="en-US" sz="2000" spc="-1" strike="noStrike">
                <a:solidFill>
                  <a:srgbClr val="00b050"/>
                </a:solidFill>
                <a:latin typeface="Calibri"/>
              </a:rPr>
              <a:t>length() function </a:t>
            </a:r>
            <a:r>
              <a:rPr b="0" lang="en-US" sz="2000" spc="-1" strike="noStrike">
                <a:solidFill>
                  <a:srgbClr val="404040"/>
                </a:solidFill>
                <a:latin typeface="Calibri"/>
              </a:rPr>
              <a:t>can be used to determine the number of elements present in the list.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The list, ‘emp’ has three elements as shown: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emp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$EmpName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“Alex”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$EmpSal</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55000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$EmpDesg</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“Software Engineer”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Determine the number of elements in the list, ‘emp’.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length(emp)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3</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1097280" y="741960"/>
            <a:ext cx="10058040" cy="534600"/>
          </a:xfrm>
          <a:prstGeom prst="rect">
            <a:avLst/>
          </a:prstGeom>
          <a:noFill/>
          <a:ln w="0">
            <a:noFill/>
          </a:ln>
        </p:spPr>
        <p:txBody>
          <a:bodyPr anchor="b">
            <a:normAutofit fontScale="95000"/>
          </a:bodyPr>
          <a:p>
            <a:pPr>
              <a:lnSpc>
                <a:spcPct val="85000"/>
              </a:lnSpc>
              <a:buNone/>
            </a:pPr>
            <a:r>
              <a:rPr b="0" lang="en-IN" sz="3600" spc="-52" strike="noStrike">
                <a:solidFill>
                  <a:srgbClr val="404040"/>
                </a:solidFill>
                <a:latin typeface="Calibri Light"/>
              </a:rPr>
              <a:t>Size of a List</a:t>
            </a:r>
            <a:endParaRPr b="0" lang="en-US" sz="3600" spc="-1" strike="noStrike">
              <a:solidFill>
                <a:srgbClr val="000000"/>
              </a:solidFill>
              <a:latin typeface="Calibri"/>
            </a:endParaRPr>
          </a:p>
        </p:txBody>
      </p:sp>
      <p:sp>
        <p:nvSpPr>
          <p:cNvPr id="182" name="PlaceHolder 2"/>
          <p:cNvSpPr>
            <a:spLocks noGrp="1"/>
          </p:cNvSpPr>
          <p:nvPr>
            <p:ph/>
          </p:nvPr>
        </p:nvSpPr>
        <p:spPr>
          <a:xfrm>
            <a:off x="1097280" y="1845720"/>
            <a:ext cx="10058040" cy="4023000"/>
          </a:xfrm>
          <a:prstGeom prst="rect">
            <a:avLst/>
          </a:prstGeom>
          <a:noFill/>
          <a:ln w="0">
            <a:noFill/>
          </a:ln>
        </p:spPr>
        <p:txBody>
          <a:bodyPr lIns="0" rIns="0" anchor="t">
            <a:normAutofit fontScale="67000"/>
          </a:bodyPr>
          <a:p>
            <a:pPr marL="91440" indent="-91440">
              <a:lnSpc>
                <a:spcPct val="100000"/>
              </a:lnSpc>
              <a:buClr>
                <a:srgbClr val="e48312"/>
              </a:buClr>
              <a:buFont typeface="Calibri"/>
              <a:buChar char=" "/>
            </a:pPr>
            <a:r>
              <a:rPr b="0" lang="en-US" sz="2000" spc="-1" strike="noStrike">
                <a:solidFill>
                  <a:srgbClr val="00b050"/>
                </a:solidFill>
                <a:latin typeface="Calibri"/>
              </a:rPr>
              <a:t>Recursive List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c00000"/>
                </a:solidFill>
                <a:latin typeface="Calibri"/>
              </a:rPr>
              <a:t>A recursive list means a list within a list.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00b050"/>
                </a:solidFill>
                <a:latin typeface="Calibri"/>
              </a:rPr>
              <a:t>Objective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c00000"/>
                </a:solidFill>
                <a:latin typeface="Calibri"/>
              </a:rPr>
              <a:t>Create a list within a list.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Let us begin with two lists, ‘emp’ and ‘emp1’. The elements in both the lists are as shown below.</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00b050"/>
                </a:solidFill>
                <a:latin typeface="Calibri"/>
              </a:rPr>
              <a:t>&gt; emp</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$EmpName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“Alex”</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$EmpSal</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55000</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$EmpDesg</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“Software Engineer”</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00b050"/>
                </a:solidFill>
                <a:latin typeface="Calibri"/>
              </a:rPr>
              <a:t>&gt; emp1</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$EmpUnit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“IT”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$EmpCity</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[1] “Los Angeles”</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We would like to combine both the lists into a single list called ‘EmpList’.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00b050"/>
                </a:solidFill>
                <a:latin typeface="Calibri"/>
              </a:rPr>
              <a:t>&gt; EmpList &lt;- list(emp, emp1)</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Size of a List</a:t>
            </a:r>
            <a:endParaRPr b="0" lang="en-US" sz="3600" spc="-1" strike="noStrike">
              <a:solidFill>
                <a:srgbClr val="000000"/>
              </a:solidFill>
              <a:latin typeface="Calibri"/>
            </a:endParaRPr>
          </a:p>
        </p:txBody>
      </p:sp>
      <p:sp>
        <p:nvSpPr>
          <p:cNvPr id="184" name="PlaceHolder 2"/>
          <p:cNvSpPr>
            <a:spLocks noGrp="1"/>
          </p:cNvSpPr>
          <p:nvPr>
            <p:ph/>
          </p:nvPr>
        </p:nvSpPr>
        <p:spPr>
          <a:xfrm>
            <a:off x="1097280" y="1845720"/>
            <a:ext cx="10058040" cy="4023000"/>
          </a:xfrm>
          <a:prstGeom prst="rect">
            <a:avLst/>
          </a:prstGeom>
          <a:noFill/>
          <a:ln w="0">
            <a:noFill/>
          </a:ln>
        </p:spPr>
        <p:txBody>
          <a:bodyPr lIns="0" rIns="0" anchor="t">
            <a:normAutofit fontScale="63000"/>
          </a:bodyPr>
          <a:p>
            <a:pPr marL="91440" indent="-91440">
              <a:lnSpc>
                <a:spcPct val="120000"/>
              </a:lnSpc>
              <a:buClr>
                <a:srgbClr val="e48312"/>
              </a:buClr>
              <a:buFont typeface="Calibri"/>
              <a:buChar char=" "/>
            </a:pPr>
            <a:r>
              <a:rPr b="0" lang="en-IN" sz="2000" spc="-1" strike="noStrike">
                <a:solidFill>
                  <a:srgbClr val="00b050"/>
                </a:solidFill>
                <a:latin typeface="Calibri"/>
              </a:rPr>
              <a:t>Outcome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EmpList</a:t>
            </a:r>
            <a:endParaRPr b="0" lang="en-US" sz="2000" spc="-1" strike="noStrike">
              <a:solidFill>
                <a:srgbClr val="404040"/>
              </a:solidFill>
              <a:latin typeface="Calibri"/>
            </a:endParaRPr>
          </a:p>
          <a:p>
            <a:pPr marL="630360" indent="-90360">
              <a:lnSpc>
                <a:spcPct val="120000"/>
              </a:lnSpc>
              <a:buClr>
                <a:srgbClr val="e48312"/>
              </a:buClr>
              <a:buFont typeface="Calibri"/>
              <a:buChar char=" "/>
            </a:pPr>
            <a:r>
              <a:rPr b="0" lang="en-IN" sz="2000" spc="-1" strike="noStrike">
                <a:solidFill>
                  <a:srgbClr val="404040"/>
                </a:solidFill>
                <a:latin typeface="Calibri"/>
              </a:rPr>
              <a:t>[[1]]</a:t>
            </a:r>
            <a:endParaRPr b="0" lang="en-US" sz="2000" spc="-1" strike="noStrike">
              <a:solidFill>
                <a:srgbClr val="404040"/>
              </a:solidFill>
              <a:latin typeface="Calibri"/>
            </a:endParaRPr>
          </a:p>
          <a:p>
            <a:pPr marL="630360" indent="-90360">
              <a:lnSpc>
                <a:spcPct val="120000"/>
              </a:lnSpc>
              <a:buClr>
                <a:srgbClr val="e48312"/>
              </a:buClr>
              <a:buFont typeface="Calibri"/>
              <a:buChar char=" "/>
            </a:pPr>
            <a:r>
              <a:rPr b="0" lang="en-IN" sz="2000" spc="-1" strike="noStrike">
                <a:solidFill>
                  <a:srgbClr val="404040"/>
                </a:solidFill>
                <a:latin typeface="Calibri"/>
              </a:rPr>
              <a:t>[[1]] $EmpName</a:t>
            </a:r>
            <a:endParaRPr b="0" lang="en-US" sz="2000" spc="-1" strike="noStrike">
              <a:solidFill>
                <a:srgbClr val="404040"/>
              </a:solidFill>
              <a:latin typeface="Calibri"/>
            </a:endParaRPr>
          </a:p>
          <a:p>
            <a:pPr marL="630360" indent="-90360">
              <a:lnSpc>
                <a:spcPct val="120000"/>
              </a:lnSpc>
              <a:buClr>
                <a:srgbClr val="e48312"/>
              </a:buClr>
              <a:buFont typeface="Calibri"/>
              <a:buChar char=" "/>
            </a:pPr>
            <a:r>
              <a:rPr b="0" lang="en-IN" sz="2000" spc="-1" strike="noStrike">
                <a:solidFill>
                  <a:srgbClr val="404040"/>
                </a:solidFill>
                <a:latin typeface="Calibri"/>
              </a:rPr>
              <a:t>[1] “Alex”</a:t>
            </a:r>
            <a:endParaRPr b="0" lang="en-US" sz="2000" spc="-1" strike="noStrike">
              <a:solidFill>
                <a:srgbClr val="404040"/>
              </a:solidFill>
              <a:latin typeface="Calibri"/>
            </a:endParaRPr>
          </a:p>
          <a:p>
            <a:pPr>
              <a:lnSpc>
                <a:spcPct val="120000"/>
              </a:lnSpc>
              <a:buNone/>
            </a:pPr>
            <a:endParaRPr b="0" lang="en-US" sz="2000" spc="-1" strike="noStrike">
              <a:solidFill>
                <a:srgbClr val="404040"/>
              </a:solidFill>
              <a:latin typeface="Calibri"/>
            </a:endParaRPr>
          </a:p>
          <a:p>
            <a:pPr marL="630360" indent="-90360">
              <a:lnSpc>
                <a:spcPct val="120000"/>
              </a:lnSpc>
              <a:buClr>
                <a:srgbClr val="e48312"/>
              </a:buClr>
              <a:buFont typeface="Calibri"/>
              <a:buChar char=" "/>
            </a:pPr>
            <a:r>
              <a:rPr b="0" lang="en-IN" sz="2000" spc="-1" strike="noStrike">
                <a:solidFill>
                  <a:srgbClr val="404040"/>
                </a:solidFill>
                <a:latin typeface="Calibri"/>
              </a:rPr>
              <a:t>[[1]]$EmpSal</a:t>
            </a:r>
            <a:endParaRPr b="0" lang="en-US" sz="2000" spc="-1" strike="noStrike">
              <a:solidFill>
                <a:srgbClr val="404040"/>
              </a:solidFill>
              <a:latin typeface="Calibri"/>
            </a:endParaRPr>
          </a:p>
          <a:p>
            <a:pPr marL="630360" indent="-630360">
              <a:lnSpc>
                <a:spcPct val="120000"/>
              </a:lnSpc>
              <a:buClr>
                <a:srgbClr val="e48312"/>
              </a:buClr>
              <a:buFont typeface="Calibri"/>
              <a:buChar char=" "/>
            </a:pPr>
            <a:r>
              <a:rPr b="0" lang="en-IN" sz="2000" spc="-1" strike="noStrike">
                <a:solidFill>
                  <a:srgbClr val="404040"/>
                </a:solidFill>
                <a:latin typeface="Calibri"/>
              </a:rPr>
              <a:t>[1] 55000</a:t>
            </a:r>
            <a:endParaRPr b="0" lang="en-US" sz="2000" spc="-1" strike="noStrike">
              <a:solidFill>
                <a:srgbClr val="404040"/>
              </a:solidFill>
              <a:latin typeface="Calibri"/>
            </a:endParaRPr>
          </a:p>
          <a:p>
            <a:pPr>
              <a:lnSpc>
                <a:spcPct val="120000"/>
              </a:lnSpc>
              <a:buNone/>
            </a:pPr>
            <a:endParaRPr b="0" lang="en-US" sz="2000" spc="-1" strike="noStrike">
              <a:solidFill>
                <a:srgbClr val="404040"/>
              </a:solidFill>
              <a:latin typeface="Calibri"/>
            </a:endParaRPr>
          </a:p>
          <a:p>
            <a:pPr marL="630360" indent="-630360">
              <a:lnSpc>
                <a:spcPct val="120000"/>
              </a:lnSpc>
              <a:buClr>
                <a:srgbClr val="e48312"/>
              </a:buClr>
              <a:buFont typeface="Calibri"/>
              <a:buChar char=" "/>
            </a:pPr>
            <a:r>
              <a:rPr b="0" lang="en-IN" sz="2000" spc="-1" strike="noStrike">
                <a:solidFill>
                  <a:srgbClr val="404040"/>
                </a:solidFill>
                <a:latin typeface="Calibri"/>
              </a:rPr>
              <a:t>[[1]]$EmpDesg</a:t>
            </a:r>
            <a:endParaRPr b="0" lang="en-US" sz="2000" spc="-1" strike="noStrike">
              <a:solidFill>
                <a:srgbClr val="404040"/>
              </a:solidFill>
              <a:latin typeface="Calibri"/>
            </a:endParaRPr>
          </a:p>
          <a:p>
            <a:pPr marL="630360" indent="-630360">
              <a:lnSpc>
                <a:spcPct val="120000"/>
              </a:lnSpc>
              <a:buClr>
                <a:srgbClr val="e48312"/>
              </a:buClr>
              <a:buFont typeface="Calibri"/>
              <a:buChar char=" "/>
            </a:pPr>
            <a:r>
              <a:rPr b="0" lang="en-IN" sz="2000" spc="-1" strike="noStrike">
                <a:solidFill>
                  <a:srgbClr val="404040"/>
                </a:solidFill>
                <a:latin typeface="Calibri"/>
              </a:rPr>
              <a:t>[1] “Software Engineer”</a:t>
            </a:r>
            <a:endParaRPr b="0" lang="en-US" sz="2000" spc="-1" strike="noStrike">
              <a:solidFill>
                <a:srgbClr val="404040"/>
              </a:solidFill>
              <a:latin typeface="Calibri"/>
            </a:endParaRPr>
          </a:p>
          <a:p>
            <a:pPr marL="630360" indent="-630360">
              <a:lnSpc>
                <a:spcPct val="120000"/>
              </a:lnSpc>
              <a:buClr>
                <a:srgbClr val="e48312"/>
              </a:buClr>
              <a:buFont typeface="Calibri"/>
              <a:buChar char=" "/>
            </a:pPr>
            <a:r>
              <a:rPr b="0" lang="en-IN" sz="2000" spc="-1" strike="noStrike">
                <a:solidFill>
                  <a:srgbClr val="404040"/>
                </a:solidFill>
                <a:latin typeface="Calibri"/>
              </a:rPr>
              <a:t>[[2]]</a:t>
            </a:r>
            <a:endParaRPr b="0" lang="en-US" sz="2000" spc="-1" strike="noStrike">
              <a:solidFill>
                <a:srgbClr val="404040"/>
              </a:solidFill>
              <a:latin typeface="Calibri"/>
            </a:endParaRPr>
          </a:p>
          <a:p>
            <a:pPr>
              <a:lnSpc>
                <a:spcPct val="120000"/>
              </a:lnSpc>
              <a:buNone/>
            </a:pPr>
            <a:endParaRPr b="0" lang="en-US" sz="2000" spc="-1" strike="noStrike">
              <a:solidFill>
                <a:srgbClr val="404040"/>
              </a:solidFill>
              <a:latin typeface="Calibri"/>
            </a:endParaRPr>
          </a:p>
          <a:p>
            <a:pPr marL="630360" indent="-90360">
              <a:lnSpc>
                <a:spcPct val="120000"/>
              </a:lnSpc>
              <a:buClr>
                <a:srgbClr val="e48312"/>
              </a:buClr>
              <a:buFont typeface="Calibri"/>
              <a:buChar char=" "/>
            </a:pPr>
            <a:r>
              <a:rPr b="0" lang="en-IN" sz="2000" spc="-1" strike="noStrike">
                <a:solidFill>
                  <a:srgbClr val="404040"/>
                </a:solidFill>
                <a:latin typeface="Calibri"/>
              </a:rPr>
              <a:t>[[2]]$EmpUnit</a:t>
            </a:r>
            <a:endParaRPr b="0" lang="en-US" sz="2000" spc="-1" strike="noStrike">
              <a:solidFill>
                <a:srgbClr val="404040"/>
              </a:solidFill>
              <a:latin typeface="Calibri"/>
            </a:endParaRPr>
          </a:p>
          <a:p>
            <a:pPr marL="630360" indent="-90360">
              <a:lnSpc>
                <a:spcPct val="120000"/>
              </a:lnSpc>
              <a:buClr>
                <a:srgbClr val="e48312"/>
              </a:buClr>
              <a:buFont typeface="Calibri"/>
              <a:buChar char=" "/>
            </a:pPr>
            <a:r>
              <a:rPr b="0" lang="en-IN" sz="2000" spc="-1" strike="noStrike">
                <a:solidFill>
                  <a:srgbClr val="404040"/>
                </a:solidFill>
                <a:latin typeface="Calibri"/>
              </a:rPr>
              <a:t>[1] “IT”</a:t>
            </a:r>
            <a:endParaRPr b="0" lang="en-US" sz="2000" spc="-1" strike="noStrike">
              <a:solidFill>
                <a:srgbClr val="404040"/>
              </a:solidFill>
              <a:latin typeface="Calibri"/>
            </a:endParaRPr>
          </a:p>
          <a:p>
            <a:pPr marL="630360" indent="-90360">
              <a:lnSpc>
                <a:spcPct val="120000"/>
              </a:lnSpc>
              <a:buClr>
                <a:srgbClr val="e48312"/>
              </a:buClr>
              <a:buFont typeface="Calibri"/>
              <a:buChar char=" "/>
            </a:pPr>
            <a:r>
              <a:rPr b="0" lang="en-IN" sz="2000" spc="-1" strike="noStrike">
                <a:solidFill>
                  <a:srgbClr val="404040"/>
                </a:solidFill>
                <a:latin typeface="Calibri"/>
              </a:rPr>
              <a:t>[[2]]$EmpCity</a:t>
            </a:r>
            <a:endParaRPr b="0" lang="en-US" sz="2000" spc="-1" strike="noStrike">
              <a:solidFill>
                <a:srgbClr val="404040"/>
              </a:solidFill>
              <a:latin typeface="Calibri"/>
            </a:endParaRPr>
          </a:p>
          <a:p>
            <a:pPr marL="630360" indent="-90360">
              <a:lnSpc>
                <a:spcPct val="120000"/>
              </a:lnSpc>
              <a:buClr>
                <a:srgbClr val="e48312"/>
              </a:buClr>
              <a:buFont typeface="Calibri"/>
              <a:buChar char=" "/>
            </a:pPr>
            <a:r>
              <a:rPr b="0" lang="en-IN" sz="2000" spc="-1" strike="noStrike">
                <a:solidFill>
                  <a:srgbClr val="404040"/>
                </a:solidFill>
                <a:latin typeface="Calibri"/>
              </a:rPr>
              <a:t>[1] “Los Angeles”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Few Common analytical tasks</a:t>
            </a:r>
            <a:endParaRPr b="0" lang="en-US" sz="3600" spc="-1" strike="noStrike">
              <a:solidFill>
                <a:srgbClr val="000000"/>
              </a:solidFill>
              <a:latin typeface="Calibri"/>
            </a:endParaRPr>
          </a:p>
        </p:txBody>
      </p:sp>
      <p:sp>
        <p:nvSpPr>
          <p:cNvPr id="186" name="PlaceHolder 2"/>
          <p:cNvSpPr>
            <a:spLocks noGrp="1"/>
          </p:cNvSpPr>
          <p:nvPr>
            <p:ph/>
          </p:nvPr>
        </p:nvSpPr>
        <p:spPr>
          <a:xfrm>
            <a:off x="1097280" y="1845720"/>
            <a:ext cx="3879720" cy="3157200"/>
          </a:xfrm>
          <a:prstGeom prst="rect">
            <a:avLst/>
          </a:prstGeom>
          <a:noFill/>
          <a:ln w="0">
            <a:noFill/>
          </a:ln>
        </p:spPr>
        <p:txBody>
          <a:bodyPr lIns="0" rIns="0" anchor="t">
            <a:normAutofit fontScale="83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Reading, writing, updating and merging data are common operations in any programming language.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These are used for processing data. All programming languages work with different types of data like numeric, characters, logical, etc.</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00b050"/>
                </a:solidFill>
                <a:latin typeface="Calibri"/>
              </a:rPr>
              <a:t>1) Exploring a Dataset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Table 3.4 describes some functions for exploring a dataset.</a:t>
            </a:r>
            <a:endParaRPr b="0" lang="en-US" sz="2000" spc="-1" strike="noStrike">
              <a:solidFill>
                <a:srgbClr val="404040"/>
              </a:solidFill>
              <a:latin typeface="Calibri"/>
            </a:endParaRPr>
          </a:p>
        </p:txBody>
      </p:sp>
      <p:pic>
        <p:nvPicPr>
          <p:cNvPr id="187" name="Picture 3" descr=""/>
          <p:cNvPicPr/>
          <p:nvPr/>
        </p:nvPicPr>
        <p:blipFill>
          <a:blip r:embed="rId1"/>
          <a:stretch/>
        </p:blipFill>
        <p:spPr>
          <a:xfrm>
            <a:off x="5396040" y="1845720"/>
            <a:ext cx="5759280" cy="4166280"/>
          </a:xfrm>
          <a:prstGeom prst="rect">
            <a:avLst/>
          </a:prstGeom>
          <a:ln w="0">
            <a:noFill/>
          </a:ln>
        </p:spPr>
      </p:pic>
      <p:pic>
        <p:nvPicPr>
          <p:cNvPr id="188" name="Picture 4" descr=""/>
          <p:cNvPicPr/>
          <p:nvPr/>
        </p:nvPicPr>
        <p:blipFill>
          <a:blip r:embed="rId2"/>
          <a:stretch/>
        </p:blipFill>
        <p:spPr>
          <a:xfrm>
            <a:off x="1112040" y="4872600"/>
            <a:ext cx="4283640" cy="1247760"/>
          </a:xfrm>
          <a:prstGeom prst="rect">
            <a:avLst/>
          </a:prstGeom>
          <a:ln w="0">
            <a:noFill/>
          </a:ln>
        </p:spPr>
      </p:pic>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Few Common analytical tasks</a:t>
            </a:r>
            <a:endParaRPr b="0" lang="en-US" sz="3600" spc="-1" strike="noStrike">
              <a:solidFill>
                <a:srgbClr val="000000"/>
              </a:solidFill>
              <a:latin typeface="Calibri"/>
            </a:endParaRPr>
          </a:p>
        </p:txBody>
      </p:sp>
      <p:sp>
        <p:nvSpPr>
          <p:cNvPr id="190" name="PlaceHolder 2"/>
          <p:cNvSpPr>
            <a:spLocks noGrp="1"/>
          </p:cNvSpPr>
          <p:nvPr>
            <p:ph/>
          </p:nvPr>
        </p:nvSpPr>
        <p:spPr>
          <a:xfrm>
            <a:off x="1097280" y="1845720"/>
            <a:ext cx="438012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00b050"/>
                </a:solidFill>
                <a:latin typeface="Calibri"/>
              </a:rPr>
              <a:t>2)Conditional Manipulation of a Dataset</a:t>
            </a:r>
            <a:endParaRPr b="0" lang="en-US" sz="2000" spc="-1" strike="noStrike">
              <a:solidFill>
                <a:srgbClr val="404040"/>
              </a:solidFill>
              <a:latin typeface="Calibri"/>
            </a:endParaRPr>
          </a:p>
          <a:p>
            <a:pPr marL="181080" indent="-181080">
              <a:lnSpc>
                <a:spcPct val="100000"/>
              </a:lnSpc>
              <a:buNone/>
              <a:tabLst>
                <a:tab algn="l" pos="0"/>
              </a:tabLst>
            </a:pPr>
            <a:r>
              <a:rPr b="0" lang="en-US" sz="2000" spc="-1" strike="noStrike">
                <a:solidFill>
                  <a:srgbClr val="00b050"/>
                </a:solidFill>
                <a:latin typeface="Calibri"/>
              </a:rPr>
              <a:t>    </a:t>
            </a:r>
            <a:r>
              <a:rPr b="0" lang="en-US" sz="2000" spc="-1" strike="noStrike">
                <a:solidFill>
                  <a:srgbClr val="000000"/>
                </a:solidFill>
                <a:latin typeface="Calibri"/>
              </a:rPr>
              <a:t>Analytical data processing sometimes may require specific rows and columns of a dataset.</a:t>
            </a:r>
            <a:endParaRPr b="0" lang="en-US" sz="2000" spc="-1" strike="noStrike">
              <a:solidFill>
                <a:srgbClr val="404040"/>
              </a:solidFill>
              <a:latin typeface="Calibri"/>
            </a:endParaRPr>
          </a:p>
          <a:p>
            <a:pPr marL="181080" indent="-181080">
              <a:lnSpc>
                <a:spcPct val="100000"/>
              </a:lnSpc>
              <a:buClr>
                <a:srgbClr val="e48312"/>
              </a:buClr>
              <a:buFont typeface="Calibri"/>
              <a:buChar char=" "/>
              <a:tabLst>
                <a:tab algn="l" pos="0"/>
              </a:tabLst>
            </a:pPr>
            <a:r>
              <a:rPr b="0" lang="en-US" sz="2000" spc="-1" strike="noStrike">
                <a:solidFill>
                  <a:srgbClr val="000000"/>
                </a:solidFill>
                <a:latin typeface="Calibri"/>
              </a:rPr>
              <a:t>Table 3.5 lists commands that can be used for accessing specific rows and columns of</a:t>
            </a:r>
            <a:endParaRPr b="0" lang="en-US" sz="2000" spc="-1" strike="noStrike">
              <a:solidFill>
                <a:srgbClr val="404040"/>
              </a:solidFill>
              <a:latin typeface="Calibri"/>
            </a:endParaRPr>
          </a:p>
          <a:p>
            <a:pPr marL="181080" indent="-181080">
              <a:lnSpc>
                <a:spcPct val="100000"/>
              </a:lnSpc>
              <a:buClr>
                <a:srgbClr val="e48312"/>
              </a:buClr>
              <a:buFont typeface="Calibri"/>
              <a:buChar char=" "/>
              <a:tabLst>
                <a:tab algn="l" pos="0"/>
              </a:tabLst>
            </a:pPr>
            <a:r>
              <a:rPr b="0" lang="en-US" sz="2000" spc="-1" strike="noStrike">
                <a:solidFill>
                  <a:srgbClr val="000000"/>
                </a:solidFill>
                <a:latin typeface="Calibri"/>
              </a:rPr>
              <a:t>a dataset.</a:t>
            </a:r>
            <a:endParaRPr b="0" lang="en-US" sz="2000" spc="-1" strike="noStrike">
              <a:solidFill>
                <a:srgbClr val="404040"/>
              </a:solidFill>
              <a:latin typeface="Calibri"/>
            </a:endParaRPr>
          </a:p>
          <a:p>
            <a:pPr>
              <a:lnSpc>
                <a:spcPct val="100000"/>
              </a:lnSpc>
              <a:buNone/>
              <a:tabLst>
                <a:tab algn="l" pos="0"/>
              </a:tabLst>
            </a:pPr>
            <a:endParaRPr b="0" lang="en-US" sz="2000" spc="-1" strike="noStrike">
              <a:solidFill>
                <a:srgbClr val="404040"/>
              </a:solidFill>
              <a:latin typeface="Calibri"/>
            </a:endParaRPr>
          </a:p>
        </p:txBody>
      </p:sp>
      <p:pic>
        <p:nvPicPr>
          <p:cNvPr id="191" name="Picture 4" descr=""/>
          <p:cNvPicPr/>
          <p:nvPr/>
        </p:nvPicPr>
        <p:blipFill>
          <a:blip r:embed="rId1"/>
          <a:stretch/>
        </p:blipFill>
        <p:spPr>
          <a:xfrm>
            <a:off x="5693400" y="1845720"/>
            <a:ext cx="5771160" cy="4324680"/>
          </a:xfrm>
          <a:prstGeom prst="rect">
            <a:avLst/>
          </a:prstGeom>
          <a:ln w="0">
            <a:noFill/>
          </a:ln>
        </p:spPr>
      </p:pic>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Merging Data</a:t>
            </a:r>
            <a:endParaRPr b="0" lang="en-US" sz="3600" spc="-1" strike="noStrike">
              <a:solidFill>
                <a:srgbClr val="000000"/>
              </a:solidFill>
              <a:latin typeface="Calibri"/>
            </a:endParaRPr>
          </a:p>
        </p:txBody>
      </p:sp>
      <p:sp>
        <p:nvSpPr>
          <p:cNvPr id="193" name="PlaceHolder 2"/>
          <p:cNvSpPr>
            <a:spLocks noGrp="1"/>
          </p:cNvSpPr>
          <p:nvPr>
            <p:ph/>
          </p:nvPr>
        </p:nvSpPr>
        <p:spPr>
          <a:xfrm>
            <a:off x="1097280" y="1845720"/>
            <a:ext cx="4906440" cy="4023000"/>
          </a:xfrm>
          <a:prstGeom prst="rect">
            <a:avLst/>
          </a:prstGeom>
          <a:noFill/>
          <a:ln w="0">
            <a:noFill/>
          </a:ln>
        </p:spPr>
        <p:txBody>
          <a:bodyPr lIns="0" rIns="0" anchor="t">
            <a:normAutofit fontScale="81000"/>
          </a:bodyPr>
          <a:p>
            <a:pPr marL="91440" indent="-91440">
              <a:lnSpc>
                <a:spcPct val="100000"/>
              </a:lnSpc>
              <a:buClr>
                <a:srgbClr val="e48312"/>
              </a:buClr>
              <a:buFont typeface="Calibri"/>
              <a:buChar char=" "/>
            </a:pPr>
            <a:r>
              <a:rPr b="0" lang="en-US" sz="2000" spc="-1" strike="noStrike">
                <a:solidFill>
                  <a:srgbClr val="404040"/>
                </a:solidFill>
                <a:latin typeface="Calibri"/>
              </a:rPr>
              <a:t>Merging different datasets or objects is another common task used in most processing</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activities. Analytical data processing may also require merging two or more data objects. R</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provides a function merge() that merges data objects. The merge() function combines data</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frames by common columns or row names. It also follows the database join operations.</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00b050"/>
                </a:solidFill>
                <a:latin typeface="Calibri"/>
              </a:rPr>
              <a:t>The syntax of the merge() function is given as follows:</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c00000"/>
                </a:solidFill>
                <a:latin typeface="Calibri"/>
              </a:rPr>
              <a:t>merge(x, y,...) </a:t>
            </a:r>
            <a:r>
              <a:rPr b="0" lang="en-US" sz="2000" spc="-1" strike="noStrike">
                <a:solidFill>
                  <a:srgbClr val="404040"/>
                </a:solidFill>
                <a:latin typeface="Calibri"/>
              </a:rPr>
              <a:t>OR</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c00000"/>
                </a:solidFill>
                <a:latin typeface="Calibri"/>
              </a:rPr>
              <a:t>merge(x, y, by = intersect(names(x), names(y)), by.x = by, by.y =</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c00000"/>
                </a:solidFill>
                <a:latin typeface="Calibri"/>
              </a:rPr>
              <a:t>by, all = FALSE, all.x = all, all.y = all, ...)</a:t>
            </a:r>
            <a:endParaRPr b="0" lang="en-US" sz="2000" spc="-1" strike="noStrike">
              <a:solidFill>
                <a:srgbClr val="404040"/>
              </a:solidFill>
              <a:latin typeface="Calibri"/>
            </a:endParaRPr>
          </a:p>
        </p:txBody>
      </p:sp>
      <p:pic>
        <p:nvPicPr>
          <p:cNvPr id="194" name="Picture 4" descr=""/>
          <p:cNvPicPr/>
          <p:nvPr/>
        </p:nvPicPr>
        <p:blipFill>
          <a:blip r:embed="rId1"/>
          <a:stretch/>
        </p:blipFill>
        <p:spPr>
          <a:xfrm>
            <a:off x="6004080" y="1845720"/>
            <a:ext cx="4827960" cy="4271400"/>
          </a:xfrm>
          <a:prstGeom prst="rect">
            <a:avLst/>
          </a:prstGeom>
          <a:ln w="0">
            <a:noFill/>
          </a:ln>
        </p:spPr>
      </p:pic>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Unit-III</a:t>
            </a:r>
            <a:endParaRPr b="0" lang="en-US" sz="4800" spc="-1" strike="noStrike">
              <a:solidFill>
                <a:srgbClr val="000000"/>
              </a:solidFill>
              <a:latin typeface="Calibri"/>
            </a:endParaRPr>
          </a:p>
        </p:txBody>
      </p:sp>
      <p:sp>
        <p:nvSpPr>
          <p:cNvPr id="196" name="PlaceHolder 2"/>
          <p:cNvSpPr>
            <a:spLocks noGrp="1"/>
          </p:cNvSpPr>
          <p:nvPr>
            <p:ph/>
          </p:nvPr>
        </p:nvSpPr>
        <p:spPr>
          <a:xfrm>
            <a:off x="1097280" y="1845720"/>
            <a:ext cx="10058040" cy="4023000"/>
          </a:xfrm>
          <a:prstGeom prst="rect">
            <a:avLst/>
          </a:prstGeom>
          <a:noFill/>
          <a:ln w="0">
            <a:noFill/>
          </a:ln>
        </p:spPr>
        <p:txBody>
          <a:bodyPr lIns="0" rIns="0" anchor="t">
            <a:normAutofit fontScale="97000"/>
          </a:bodyPr>
          <a:p>
            <a:pPr marL="457200" indent="-457200">
              <a:lnSpc>
                <a:spcPct val="120000"/>
              </a:lnSpc>
              <a:buClr>
                <a:srgbClr val="e48312"/>
              </a:buClr>
              <a:buFont typeface="Calibri Light"/>
              <a:buAutoNum type="arabicPeriod"/>
            </a:pPr>
            <a:r>
              <a:rPr b="0" lang="en-IN" sz="2000" spc="-1" strike="noStrike">
                <a:solidFill>
                  <a:srgbClr val="404040"/>
                </a:solidFill>
                <a:latin typeface="Calibri"/>
              </a:rPr>
              <a:t>Aggregating and Group Processing of a Variable ,  aggregate() </a:t>
            </a:r>
            <a:endParaRPr b="0" lang="en-US" sz="2000" spc="-1" strike="noStrike">
              <a:solidFill>
                <a:srgbClr val="404040"/>
              </a:solidFill>
              <a:latin typeface="Calibri"/>
            </a:endParaRPr>
          </a:p>
          <a:p>
            <a:pPr marL="457200" indent="-457200">
              <a:lnSpc>
                <a:spcPct val="120000"/>
              </a:lnSpc>
              <a:buClr>
                <a:srgbClr val="e48312"/>
              </a:buClr>
              <a:buFont typeface="Calibri Light"/>
              <a:buAutoNum type="arabicPeriod"/>
            </a:pPr>
            <a:r>
              <a:rPr b="0" lang="en-IN" sz="2000" spc="-1" strike="noStrike">
                <a:solidFill>
                  <a:srgbClr val="404040"/>
                </a:solidFill>
                <a:latin typeface="Calibri"/>
              </a:rPr>
              <a:t>Simple Analysis Using :Input,Describe Data Structure,Describe Variable Structure, Output </a:t>
            </a:r>
            <a:endParaRPr b="0" lang="en-US" sz="2000" spc="-1" strike="noStrike">
              <a:solidFill>
                <a:srgbClr val="404040"/>
              </a:solidFill>
              <a:latin typeface="Calibri"/>
            </a:endParaRPr>
          </a:p>
          <a:p>
            <a:pPr marL="457200" indent="-457200">
              <a:lnSpc>
                <a:spcPct val="120000"/>
              </a:lnSpc>
              <a:buClr>
                <a:srgbClr val="e48312"/>
              </a:buClr>
              <a:buFont typeface="Calibri Light"/>
              <a:buAutoNum type="arabicPeriod"/>
            </a:pPr>
            <a:r>
              <a:rPr b="0" lang="en-IN" sz="2000" spc="-1" strike="noStrike">
                <a:solidFill>
                  <a:srgbClr val="404040"/>
                </a:solidFill>
                <a:latin typeface="Calibri"/>
              </a:rPr>
              <a:t>Methods for Reading Data :CSV and Spreadsheets ,Reading Data from PackageS,Reading Data from Web/APIs Reading a JSON (Java Script Object Notation) Document ,Reading an XML File </a:t>
            </a:r>
            <a:endParaRPr b="0" lang="en-US" sz="2000" spc="-1" strike="noStrike">
              <a:solidFill>
                <a:srgbClr val="404040"/>
              </a:solidFill>
              <a:latin typeface="Calibri"/>
            </a:endParaRPr>
          </a:p>
          <a:p>
            <a:pPr marL="457200" indent="-457200">
              <a:lnSpc>
                <a:spcPct val="120000"/>
              </a:lnSpc>
              <a:buClr>
                <a:srgbClr val="e48312"/>
              </a:buClr>
              <a:buFont typeface="Calibri Light"/>
              <a:buAutoNum type="arabicPeriod"/>
            </a:pPr>
            <a:r>
              <a:rPr b="0" lang="en-IN" sz="2000" spc="-1" strike="noStrike">
                <a:solidFill>
                  <a:srgbClr val="404040"/>
                </a:solidFill>
                <a:latin typeface="Calibri"/>
              </a:rPr>
              <a:t>Comparison of R GUIs for Data Input 106</a:t>
            </a:r>
            <a:endParaRPr b="0" lang="en-US" sz="2000" spc="-1" strike="noStrike">
              <a:solidFill>
                <a:srgbClr val="404040"/>
              </a:solidFill>
              <a:latin typeface="Calibri"/>
            </a:endParaRPr>
          </a:p>
          <a:p>
            <a:pPr marL="457200" indent="-457200">
              <a:lnSpc>
                <a:spcPct val="120000"/>
              </a:lnSpc>
              <a:buClr>
                <a:srgbClr val="e48312"/>
              </a:buClr>
              <a:buFont typeface="Calibri Light"/>
              <a:buAutoNum type="arabicPeriod"/>
            </a:pPr>
            <a:r>
              <a:rPr b="0" lang="en-IN" sz="2000" spc="-1" strike="noStrike">
                <a:solidFill>
                  <a:srgbClr val="404040"/>
                </a:solidFill>
                <a:latin typeface="Calibri"/>
              </a:rPr>
              <a:t>Using R with Databases and Business Intelligence Systems:RODBC Using MySQL and R</a:t>
            </a:r>
            <a:endParaRPr b="0" lang="en-US" sz="2000" spc="-1" strike="noStrike">
              <a:solidFill>
                <a:srgbClr val="404040"/>
              </a:solidFill>
              <a:latin typeface="Calibri"/>
            </a:endParaRPr>
          </a:p>
          <a:p>
            <a:pPr marL="457200" indent="-457200">
              <a:lnSpc>
                <a:spcPct val="120000"/>
              </a:lnSpc>
              <a:buClr>
                <a:srgbClr val="e48312"/>
              </a:buClr>
              <a:buFont typeface="Calibri Light"/>
              <a:buAutoNum type="arabicPeriod"/>
            </a:pPr>
            <a:r>
              <a:rPr b="0" lang="en-IN" sz="2000" spc="-1" strike="noStrike">
                <a:solidFill>
                  <a:srgbClr val="404040"/>
                </a:solidFill>
                <a:latin typeface="Calibri"/>
              </a:rPr>
              <a:t>Using PostgreSQL and R ,Using SQLite and R,Using JasperDB and R,Using Pentaho and R</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Aggregating and group Processing of a Variable</a:t>
            </a:r>
            <a:endParaRPr b="0" lang="en-US" sz="4800" spc="-1" strike="noStrike">
              <a:solidFill>
                <a:srgbClr val="000000"/>
              </a:solidFill>
              <a:latin typeface="Calibri"/>
            </a:endParaRPr>
          </a:p>
        </p:txBody>
      </p:sp>
      <p:sp>
        <p:nvSpPr>
          <p:cNvPr id="198"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Aggregate and group operations aggregate the data of specific variables of a dataset after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grouping variable data. Like merging, analytical data processing also requires aggregation</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404040"/>
                </a:solidFill>
                <a:latin typeface="Calibri"/>
              </a:rPr>
              <a:t>  </a:t>
            </a:r>
            <a:r>
              <a:rPr b="0" lang="en-US" sz="2000" spc="-1" strike="noStrike">
                <a:solidFill>
                  <a:srgbClr val="404040"/>
                </a:solidFill>
                <a:latin typeface="Calibri"/>
              </a:rPr>
              <a:t>and grouping operation on a dataset. R provides some functions for aggregation operation.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tabLst>
                <a:tab algn="l" pos="0"/>
              </a:tabLst>
            </a:pPr>
            <a:r>
              <a:rPr b="0" lang="en-US" sz="2000" spc="-1" strike="noStrike">
                <a:solidFill>
                  <a:srgbClr val="404040"/>
                </a:solidFill>
                <a:latin typeface="Calibri"/>
              </a:rPr>
              <a:t>The next section describes two functions aggregate() and tapply() of R.</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aggregate() Function</a:t>
            </a:r>
            <a:endParaRPr b="0" lang="en-US" sz="4800" spc="-1" strike="noStrike">
              <a:solidFill>
                <a:srgbClr val="000000"/>
              </a:solidFill>
              <a:latin typeface="Calibri"/>
            </a:endParaRPr>
          </a:p>
        </p:txBody>
      </p:sp>
      <p:sp>
        <p:nvSpPr>
          <p:cNvPr id="200"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a:t>
            </a:r>
            <a:r>
              <a:rPr b="0" lang="en-US" sz="2000" spc="-1" strike="noStrike">
                <a:solidFill>
                  <a:srgbClr val="ff0000"/>
                </a:solidFill>
                <a:latin typeface="Calibri"/>
              </a:rPr>
              <a:t>aggregate() function </a:t>
            </a:r>
            <a:r>
              <a:rPr b="0" lang="en-US" sz="2000" spc="-1" strike="noStrike">
                <a:solidFill>
                  <a:srgbClr val="404040"/>
                </a:solidFill>
                <a:latin typeface="Calibri"/>
              </a:rPr>
              <a:t>is an inbuilt function of R that aggregates data values.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function also splits data into groups after performing given statistical functions.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syntax of the aggregate() function is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aggregate(x, ...) or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aggregate(x, by, FUN,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where, x is an object, by argument defines the list of group elements of the specific variable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of the dataset, FUN argument is a statistic function that returns a numeric value after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given statistic operations and the dots ‘...’ define the other optional argument.</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tapply() Function</a:t>
            </a:r>
            <a:endParaRPr b="0" lang="en-US" sz="4800" spc="-1" strike="noStrike">
              <a:solidFill>
                <a:srgbClr val="000000"/>
              </a:solidFill>
              <a:latin typeface="Calibri"/>
            </a:endParaRPr>
          </a:p>
        </p:txBody>
      </p:sp>
      <p:sp>
        <p:nvSpPr>
          <p:cNvPr id="202" name="PlaceHolder 2"/>
          <p:cNvSpPr>
            <a:spLocks noGrp="1"/>
          </p:cNvSpPr>
          <p:nvPr>
            <p:ph/>
          </p:nvPr>
        </p:nvSpPr>
        <p:spPr>
          <a:xfrm>
            <a:off x="1097280" y="1845720"/>
            <a:ext cx="10058040" cy="4023000"/>
          </a:xfrm>
          <a:prstGeom prst="rect">
            <a:avLst/>
          </a:prstGeom>
          <a:noFill/>
          <a:ln w="0">
            <a:noFill/>
          </a:ln>
        </p:spPr>
        <p:txBody>
          <a:bodyPr lIns="0" rIns="0" anchor="t">
            <a:normAutofit fontScale="88000"/>
          </a:bodyPr>
          <a:p>
            <a:pPr marL="91440" indent="-91440">
              <a:lnSpc>
                <a:spcPct val="110000"/>
              </a:lnSpc>
              <a:buClr>
                <a:srgbClr val="e48312"/>
              </a:buClr>
              <a:buFont typeface="Calibri"/>
              <a:buChar char=" "/>
            </a:pPr>
            <a:r>
              <a:rPr b="0" lang="en-US" sz="2000" spc="-1" strike="noStrike">
                <a:solidFill>
                  <a:srgbClr val="404040"/>
                </a:solidFill>
                <a:latin typeface="Calibri"/>
              </a:rPr>
              <a:t>The </a:t>
            </a:r>
            <a:r>
              <a:rPr b="0" lang="en-US" sz="2000" spc="-1" strike="noStrike">
                <a:solidFill>
                  <a:srgbClr val="ff0000"/>
                </a:solidFill>
                <a:latin typeface="Calibri"/>
              </a:rPr>
              <a:t>tapply() function </a:t>
            </a:r>
            <a:r>
              <a:rPr b="0" lang="en-US" sz="2000" spc="-1" strike="noStrike">
                <a:solidFill>
                  <a:srgbClr val="404040"/>
                </a:solidFill>
                <a:latin typeface="Calibri"/>
              </a:rPr>
              <a:t>is also an inbuilt function of R and works in a manner similar</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to the function </a:t>
            </a:r>
            <a:r>
              <a:rPr b="0" lang="en-US" sz="2000" spc="-1" strike="noStrike">
                <a:solidFill>
                  <a:srgbClr val="ff0000"/>
                </a:solidFill>
                <a:latin typeface="Calibri"/>
              </a:rPr>
              <a:t>aggregate(). </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The function aggregates the data values into groups after performing the given statistical functions. </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404040"/>
                </a:solidFill>
                <a:latin typeface="Calibri"/>
              </a:rPr>
              <a:t>The syntax of the </a:t>
            </a:r>
            <a:r>
              <a:rPr b="0" lang="en-US" sz="2000" spc="-1" strike="noStrike">
                <a:solidFill>
                  <a:srgbClr val="ff0000"/>
                </a:solidFill>
                <a:latin typeface="Calibri"/>
              </a:rPr>
              <a:t>tapply () </a:t>
            </a:r>
            <a:r>
              <a:rPr b="0" lang="en-US" sz="2000" spc="-1" strike="noStrike">
                <a:solidFill>
                  <a:srgbClr val="404040"/>
                </a:solidFill>
                <a:latin typeface="Calibri"/>
              </a:rPr>
              <a:t>function is</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ff0000"/>
                </a:solidFill>
                <a:latin typeface="Calibri"/>
              </a:rPr>
              <a:t>tapply (x, ...) or</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ff0000"/>
                </a:solidFill>
                <a:latin typeface="Calibri"/>
              </a:rPr>
              <a:t>tapply(x, INDEX, FUN, ...)</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000000"/>
                </a:solidFill>
                <a:latin typeface="Calibri"/>
              </a:rPr>
              <a:t>where, x is an object that defines the summary variable, INDEX argument defines the</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000000"/>
                </a:solidFill>
                <a:latin typeface="Calibri"/>
              </a:rPr>
              <a:t>list of group elements—also called group variable, FUN argument is a statistic function</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000000"/>
                </a:solidFill>
                <a:latin typeface="Calibri"/>
              </a:rPr>
              <a:t>that returns a numeric value after given statistic operations and the dots ‘...’ define the</a:t>
            </a:r>
            <a:endParaRPr b="0" lang="en-US" sz="2000" spc="-1" strike="noStrike">
              <a:solidFill>
                <a:srgbClr val="404040"/>
              </a:solidFill>
              <a:latin typeface="Calibri"/>
            </a:endParaRPr>
          </a:p>
          <a:p>
            <a:pPr marL="91440" indent="-91440">
              <a:lnSpc>
                <a:spcPct val="110000"/>
              </a:lnSpc>
              <a:buClr>
                <a:srgbClr val="e48312"/>
              </a:buClr>
              <a:buFont typeface="Calibri"/>
              <a:buChar char=" "/>
            </a:pPr>
            <a:r>
              <a:rPr b="0" lang="en-US" sz="2000" spc="-1" strike="noStrike">
                <a:solidFill>
                  <a:srgbClr val="000000"/>
                </a:solidFill>
                <a:latin typeface="Calibri"/>
              </a:rPr>
              <a:t>other optional argument.</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Simple analysis using R</a:t>
            </a:r>
            <a:endParaRPr b="0" lang="en-US" sz="4800" spc="-1" strike="noStrike">
              <a:solidFill>
                <a:srgbClr val="000000"/>
              </a:solidFill>
              <a:latin typeface="Calibri"/>
            </a:endParaRPr>
          </a:p>
        </p:txBody>
      </p:sp>
      <p:sp>
        <p:nvSpPr>
          <p:cNvPr id="204"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You will learn how to read data from a dataset, perform a common operation and see the output.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Input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Input is the first step in any processing, including analytical data processing. Here, the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input is dataset, ‘Fruit’. For reading the dataset into R, use </a:t>
            </a:r>
            <a:r>
              <a:rPr b="0" lang="en-US" sz="2000" spc="-1" strike="noStrike">
                <a:solidFill>
                  <a:srgbClr val="c00000"/>
                </a:solidFill>
                <a:latin typeface="Calibri"/>
              </a:rPr>
              <a:t>read.table() </a:t>
            </a:r>
            <a:r>
              <a:rPr b="0" lang="en-US" sz="2000" spc="-1" strike="noStrike">
                <a:solidFill>
                  <a:srgbClr val="404040"/>
                </a:solidFill>
                <a:latin typeface="Calibri"/>
              </a:rPr>
              <a:t>or </a:t>
            </a:r>
            <a:r>
              <a:rPr b="0" lang="en-US" sz="2000" spc="-1" strike="noStrike">
                <a:solidFill>
                  <a:srgbClr val="c00000"/>
                </a:solidFill>
                <a:latin typeface="Calibri"/>
              </a:rPr>
              <a:t>read.csv()</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function.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c00000"/>
                </a:solidFill>
                <a:latin typeface="Calibri"/>
              </a:rPr>
              <a:t>Describe Data Structure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000000"/>
                </a:solidFill>
                <a:latin typeface="Calibri"/>
              </a:rPr>
              <a:t>After reading the dataset into the R workspace, the dataset can be described using different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000000"/>
                </a:solidFill>
                <a:latin typeface="Calibri"/>
              </a:rPr>
              <a:t>functions like </a:t>
            </a:r>
            <a:r>
              <a:rPr b="0" lang="en-US" sz="2000" spc="-1" strike="noStrike">
                <a:solidFill>
                  <a:srgbClr val="ff0000"/>
                </a:solidFill>
                <a:latin typeface="Calibri"/>
              </a:rPr>
              <a:t>names(), str(), summary(), head() and tail().</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Simple analysis using R</a:t>
            </a:r>
            <a:endParaRPr b="0" lang="en-US" sz="4800" spc="-1" strike="noStrike">
              <a:solidFill>
                <a:srgbClr val="000000"/>
              </a:solidFill>
              <a:latin typeface="Calibri"/>
            </a:endParaRPr>
          </a:p>
        </p:txBody>
      </p:sp>
      <p:sp>
        <p:nvSpPr>
          <p:cNvPr id="206" name="PlaceHolder 2"/>
          <p:cNvSpPr>
            <a:spLocks noGrp="1"/>
          </p:cNvSpPr>
          <p:nvPr>
            <p:ph/>
          </p:nvPr>
        </p:nvSpPr>
        <p:spPr>
          <a:xfrm>
            <a:off x="1097280" y="1845720"/>
            <a:ext cx="10058040" cy="4023000"/>
          </a:xfrm>
          <a:prstGeom prst="rect">
            <a:avLst/>
          </a:prstGeom>
          <a:noFill/>
          <a:ln w="0">
            <a:noFill/>
          </a:ln>
        </p:spPr>
        <p:txBody>
          <a:bodyPr lIns="0" rIns="0" anchor="t">
            <a:normAutofit fontScale="93000"/>
          </a:bodyPr>
          <a:p>
            <a:pPr marL="91440" indent="-91440" algn="just">
              <a:lnSpc>
                <a:spcPct val="90000"/>
              </a:lnSpc>
              <a:spcBef>
                <a:spcPts val="1199"/>
              </a:spcBef>
              <a:spcAft>
                <a:spcPts val="201"/>
              </a:spcAft>
              <a:buClr>
                <a:srgbClr val="e48312"/>
              </a:buClr>
              <a:buFont typeface="Calibri"/>
              <a:buChar char=" "/>
            </a:pPr>
            <a:r>
              <a:rPr b="0" lang="en-IN" sz="2000" spc="-1" strike="noStrike">
                <a:solidFill>
                  <a:srgbClr val="c00000"/>
                </a:solidFill>
                <a:latin typeface="Calibri"/>
              </a:rPr>
              <a:t>Describe Variable Str</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After describing the dataset, you can also describe the variables of the dataset using</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different functions. For describing the variables and performing operations on them,</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many functions are available. </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IN" sz="2000" spc="-1" strike="noStrike">
                <a:solidFill>
                  <a:srgbClr val="c00000"/>
                </a:solidFill>
                <a:latin typeface="Calibri"/>
              </a:rPr>
              <a:t>Methods for reading Data</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000000"/>
                </a:solidFill>
                <a:latin typeface="Calibri"/>
              </a:rPr>
              <a:t>R supports different types of data formats related to a database. With the help of import</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000000"/>
                </a:solidFill>
                <a:latin typeface="Calibri"/>
              </a:rPr>
              <a:t>and export utility of R, any type of data can be imported and exported into R. In this</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000000"/>
                </a:solidFill>
                <a:latin typeface="Calibri"/>
              </a:rPr>
              <a:t>section, you will learn about the different methods used for reading data.</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Simple analysis using R</a:t>
            </a:r>
            <a:endParaRPr b="0" lang="en-US" sz="4800" spc="-1" strike="noStrike">
              <a:solidFill>
                <a:srgbClr val="000000"/>
              </a:solidFill>
              <a:latin typeface="Calibri"/>
            </a:endParaRPr>
          </a:p>
        </p:txBody>
      </p:sp>
      <p:sp>
        <p:nvSpPr>
          <p:cNvPr id="208"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c00000"/>
                </a:solidFill>
                <a:latin typeface="Calibri"/>
              </a:rPr>
              <a:t>CSV and Spreadsheets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000000"/>
                </a:solidFill>
                <a:latin typeface="Calibri"/>
              </a:rPr>
              <a:t>Comma separated value (CSV) files and spreadsheets are used for storing small size data.</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000000"/>
                </a:solidFill>
                <a:latin typeface="Calibri"/>
              </a:rPr>
              <a:t>R has an inbuilt function facility through which analysts can read both types of files.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Reading CSV Files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 CSV file uses .csv extension and stores data in a table structure format in any plain text.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following function reads data from a CSV file: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read.csv(‘filename’)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where,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filename is the name of the CSV file that needs to be imported.</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Methods for Reading Data</a:t>
            </a:r>
            <a:endParaRPr b="0" lang="en-US" sz="4800" spc="-1" strike="noStrike">
              <a:solidFill>
                <a:srgbClr val="000000"/>
              </a:solidFill>
              <a:latin typeface="Calibri"/>
            </a:endParaRPr>
          </a:p>
        </p:txBody>
      </p:sp>
      <p:sp>
        <p:nvSpPr>
          <p:cNvPr id="210"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a:t>
            </a:r>
            <a:r>
              <a:rPr b="0" lang="en-US" sz="2000" spc="-1" strike="noStrike">
                <a:solidFill>
                  <a:srgbClr val="c00000"/>
                </a:solidFill>
                <a:latin typeface="Calibri"/>
              </a:rPr>
              <a:t>read.table() </a:t>
            </a:r>
            <a:r>
              <a:rPr b="0" lang="en-US" sz="2000" spc="-1" strike="noStrike">
                <a:solidFill>
                  <a:srgbClr val="404040"/>
                </a:solidFill>
                <a:latin typeface="Calibri"/>
              </a:rPr>
              <a:t>function can also read data from CSV files.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syntax of the function is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read.table(‘filename’, header=TRUE, sep=‘,’,...)</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where,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filename</a:t>
            </a:r>
            <a:r>
              <a:rPr b="0" lang="en-US" sz="2000" spc="-1" strike="noStrike">
                <a:solidFill>
                  <a:srgbClr val="404040"/>
                </a:solidFill>
                <a:latin typeface="Calibri"/>
              </a:rPr>
              <a:t> argument defines the path of the file to be read, </a:t>
            </a:r>
            <a:r>
              <a:rPr b="0" lang="en-US" sz="2000" spc="-1" strike="noStrike">
                <a:solidFill>
                  <a:srgbClr val="c00000"/>
                </a:solidFill>
                <a:latin typeface="Calibri"/>
              </a:rPr>
              <a:t>header</a:t>
            </a:r>
            <a:r>
              <a:rPr b="0" lang="en-US" sz="2000" spc="-1" strike="noStrike">
                <a:solidFill>
                  <a:srgbClr val="404040"/>
                </a:solidFill>
                <a:latin typeface="Calibri"/>
              </a:rPr>
              <a:t> argument contains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logical values TRUE and FALSE for defining whether the file has header names on the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first line or not, </a:t>
            </a:r>
            <a:r>
              <a:rPr b="0" lang="en-US" sz="2000" spc="-1" strike="noStrike">
                <a:solidFill>
                  <a:srgbClr val="c00000"/>
                </a:solidFill>
                <a:latin typeface="Calibri"/>
              </a:rPr>
              <a:t>sep</a:t>
            </a:r>
            <a:r>
              <a:rPr b="0" lang="en-US" sz="2000" spc="-1" strike="noStrike">
                <a:solidFill>
                  <a:srgbClr val="404040"/>
                </a:solidFill>
                <a:latin typeface="Calibri"/>
              </a:rPr>
              <a:t> argument defines the character used for separating each column of</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file and the dots </a:t>
            </a:r>
            <a:r>
              <a:rPr b="0" lang="en-US" sz="2000" spc="-1" strike="noStrike">
                <a:solidFill>
                  <a:srgbClr val="c00000"/>
                </a:solidFill>
                <a:latin typeface="Calibri"/>
              </a:rPr>
              <a:t>‘...’</a:t>
            </a:r>
            <a:r>
              <a:rPr b="0" lang="en-US" sz="2000" spc="-1" strike="noStrike">
                <a:solidFill>
                  <a:srgbClr val="404040"/>
                </a:solidFill>
                <a:latin typeface="Calibri"/>
              </a:rPr>
              <a:t> define the other optional arguments.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Methods for Reading Data</a:t>
            </a:r>
            <a:endParaRPr b="0" lang="en-US" sz="4800" spc="-1" strike="noStrike">
              <a:solidFill>
                <a:srgbClr val="000000"/>
              </a:solidFill>
              <a:latin typeface="Calibri"/>
            </a:endParaRPr>
          </a:p>
        </p:txBody>
      </p:sp>
      <p:sp>
        <p:nvSpPr>
          <p:cNvPr id="212" name="PlaceHolder 2"/>
          <p:cNvSpPr>
            <a:spLocks noGrp="1"/>
          </p:cNvSpPr>
          <p:nvPr>
            <p:ph/>
          </p:nvPr>
        </p:nvSpPr>
        <p:spPr>
          <a:xfrm>
            <a:off x="1097280" y="1845720"/>
            <a:ext cx="10058040" cy="4023000"/>
          </a:xfrm>
          <a:prstGeom prst="rect">
            <a:avLst/>
          </a:prstGeom>
          <a:noFill/>
          <a:ln w="0">
            <a:noFill/>
          </a:ln>
        </p:spPr>
        <p:txBody>
          <a:bodyPr lIns="0" rIns="0" anchor="t">
            <a:norm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c00000"/>
                </a:solidFill>
                <a:latin typeface="Calibri"/>
              </a:rPr>
              <a:t>Reading Spreadsheets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 spreadsheet is a table that stores data in rows and columns.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An Excel file uses .xlsx extension and stores data in a spreadsheet.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syntax of the read.xlsx() function is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read.xlsx(‘filename’,...)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where,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filename</a:t>
            </a:r>
            <a:r>
              <a:rPr b="0" lang="en-US" sz="2000" spc="-1" strike="noStrike">
                <a:solidFill>
                  <a:srgbClr val="404040"/>
                </a:solidFill>
                <a:latin typeface="Calibri"/>
              </a:rPr>
              <a:t> argument defines the path of the file to be read and the dots </a:t>
            </a:r>
            <a:r>
              <a:rPr b="0" lang="en-US" sz="2000" spc="-1" strike="noStrike">
                <a:solidFill>
                  <a:srgbClr val="c00000"/>
                </a:solidFill>
                <a:latin typeface="Calibri"/>
              </a:rPr>
              <a:t>‘...’</a:t>
            </a:r>
            <a:r>
              <a:rPr b="0" lang="en-US" sz="2000" spc="-1" strike="noStrike">
                <a:solidFill>
                  <a:srgbClr val="404040"/>
                </a:solidFill>
                <a:latin typeface="Calibri"/>
              </a:rPr>
              <a:t> define the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other optional arguments.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1097280" y="286560"/>
            <a:ext cx="10058040" cy="68796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Reading Data from Packages</a:t>
            </a:r>
            <a:endParaRPr b="0" lang="en-US" sz="3600" spc="-1" strike="noStrike">
              <a:solidFill>
                <a:srgbClr val="000000"/>
              </a:solidFill>
              <a:latin typeface="Calibri"/>
            </a:endParaRPr>
          </a:p>
        </p:txBody>
      </p:sp>
      <p:sp>
        <p:nvSpPr>
          <p:cNvPr id="214" name="PlaceHolder 2"/>
          <p:cNvSpPr>
            <a:spLocks noGrp="1"/>
          </p:cNvSpPr>
          <p:nvPr>
            <p:ph/>
          </p:nvPr>
        </p:nvSpPr>
        <p:spPr>
          <a:xfrm>
            <a:off x="1097280" y="1845720"/>
            <a:ext cx="10058040" cy="4023000"/>
          </a:xfrm>
          <a:prstGeom prst="rect">
            <a:avLst/>
          </a:prstGeom>
          <a:noFill/>
          <a:ln w="0">
            <a:noFill/>
          </a:ln>
        </p:spPr>
        <p:txBody>
          <a:bodyPr lIns="0" rIns="0" anchor="t">
            <a:normAutofit fontScale="84000"/>
          </a:bodyPr>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 package is a collection of functions and datasets. In R, many packages are available for</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doing different types of operations. Some functions for reading and loading the dataset from and into </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packages defined in R are explained next.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library() Function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library() function loads packages into the R workspace. It is compulsory to import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package before reading the available dataset of that package. The syntax of the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library() function is: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library(packagename)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where,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packagename argument is the name of the package to be read.</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Reading Data from Packages</a:t>
            </a:r>
            <a:endParaRPr b="0" lang="en-US" sz="4800" spc="-1" strike="noStrike">
              <a:solidFill>
                <a:srgbClr val="000000"/>
              </a:solidFill>
              <a:latin typeface="Calibri"/>
            </a:endParaRPr>
          </a:p>
        </p:txBody>
      </p:sp>
      <p:sp>
        <p:nvSpPr>
          <p:cNvPr id="216"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data() Function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data() function lists all the available datasets of the loaded package into the 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workspace. For loading a new dataset into the loaded packages, users need to pass the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name of the new dataset into data() function. The syntax of the data() function is: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data(datasetname)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where,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datasetname</a:t>
            </a:r>
            <a:r>
              <a:rPr b="0" lang="en-US" sz="2000" spc="-1" strike="noStrike">
                <a:solidFill>
                  <a:srgbClr val="404040"/>
                </a:solidFill>
                <a:latin typeface="Calibri"/>
              </a:rPr>
              <a:t> argument is the name of the dataset to be read.</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Comparison of R GUIs for Data input</a:t>
            </a:r>
            <a:endParaRPr b="0" lang="en-US" sz="4800" spc="-1" strike="noStrike">
              <a:solidFill>
                <a:srgbClr val="000000"/>
              </a:solidFill>
              <a:latin typeface="Calibri"/>
            </a:endParaRPr>
          </a:p>
        </p:txBody>
      </p:sp>
      <p:sp>
        <p:nvSpPr>
          <p:cNvPr id="218"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R is mainly used for </a:t>
            </a:r>
            <a:r>
              <a:rPr b="0" lang="en-US" sz="2000" spc="-1" strike="noStrike">
                <a:solidFill>
                  <a:srgbClr val="ff0000"/>
                </a:solidFill>
                <a:latin typeface="Calibri"/>
              </a:rPr>
              <a:t>statistical analytical data processing</a:t>
            </a:r>
            <a:r>
              <a:rPr b="0" lang="en-US" sz="2000" spc="-1" strike="noStrike">
                <a:solidFill>
                  <a:srgbClr val="404040"/>
                </a:solidFill>
                <a:latin typeface="Calibri"/>
              </a:rPr>
              <a:t>. Analytical data processing needs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 large dataset that is stored in a tabular form. Sometimes it is difficult to use inbuilt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functions of R for doing such analytical data processing operations in R console. Hence,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to overcome this problem, GUI is developed for 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Graphical user interface </a:t>
            </a:r>
            <a:r>
              <a:rPr b="0" lang="en-US" sz="2000" spc="-1" strike="noStrike">
                <a:solidFill>
                  <a:srgbClr val="404040"/>
                </a:solidFill>
                <a:latin typeface="Calibri"/>
              </a:rPr>
              <a:t>is a graphical medium through which users interact with the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language or perform operations. Different GUIs are available for data input in R. Each</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GUI has its own features.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GUI</a:t>
            </a:r>
            <a:endParaRPr b="0" lang="en-US" sz="4800" spc="-1" strike="noStrike">
              <a:solidFill>
                <a:srgbClr val="000000"/>
              </a:solidFill>
              <a:latin typeface="Calibri"/>
            </a:endParaRPr>
          </a:p>
        </p:txBody>
      </p:sp>
      <p:pic>
        <p:nvPicPr>
          <p:cNvPr id="220" name="Content Placeholder 4" descr=""/>
          <p:cNvPicPr/>
          <p:nvPr/>
        </p:nvPicPr>
        <p:blipFill>
          <a:blip r:embed="rId1"/>
          <a:stretch/>
        </p:blipFill>
        <p:spPr>
          <a:xfrm>
            <a:off x="2620080" y="1846440"/>
            <a:ext cx="7011360" cy="4022280"/>
          </a:xfrm>
          <a:prstGeom prst="rect">
            <a:avLst/>
          </a:prstGeom>
          <a:ln w="0">
            <a:noFill/>
          </a:ln>
        </p:spPr>
      </p:pic>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Using R with Databases and Business intelligence systems</a:t>
            </a:r>
            <a:endParaRPr b="0" lang="en-US" sz="3600" spc="-1" strike="noStrike">
              <a:solidFill>
                <a:srgbClr val="000000"/>
              </a:solidFill>
              <a:latin typeface="Calibri"/>
            </a:endParaRPr>
          </a:p>
        </p:txBody>
      </p:sp>
      <p:sp>
        <p:nvSpPr>
          <p:cNvPr id="222" name="PlaceHolder 2"/>
          <p:cNvSpPr>
            <a:spLocks noGrp="1"/>
          </p:cNvSpPr>
          <p:nvPr>
            <p:ph/>
          </p:nvPr>
        </p:nvSpPr>
        <p:spPr>
          <a:xfrm>
            <a:off x="1097280" y="1845720"/>
            <a:ext cx="10058040" cy="4023000"/>
          </a:xfrm>
          <a:prstGeom prst="rect">
            <a:avLst/>
          </a:prstGeom>
          <a:noFill/>
          <a:ln w="0">
            <a:noFill/>
          </a:ln>
        </p:spPr>
        <p:txBody>
          <a:bodyPr lIns="0" rIns="0" anchor="t">
            <a:normAutofit fontScale="91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Business analytical processing uses </a:t>
            </a:r>
            <a:r>
              <a:rPr b="0" lang="en-US" sz="2000" spc="-1" strike="noStrike">
                <a:solidFill>
                  <a:srgbClr val="ff0000"/>
                </a:solidFill>
                <a:latin typeface="Calibri"/>
              </a:rPr>
              <a:t>database for storing large volume of information</a:t>
            </a:r>
            <a:r>
              <a:rPr b="0" lang="en-US" sz="2000" spc="-1" strike="noStrike">
                <a:solidFill>
                  <a:srgbClr val="404040"/>
                </a:solidFill>
                <a:latin typeface="Calibri"/>
              </a:rPr>
              <a: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Business intelligence systems or business intelligence tools handle all the analytical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processing of a database and use different types of database systems.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tools support the </a:t>
            </a:r>
            <a:r>
              <a:rPr b="0" lang="en-US" sz="2000" spc="-1" strike="noStrike">
                <a:solidFill>
                  <a:srgbClr val="ff0000"/>
                </a:solidFill>
                <a:latin typeface="Calibri"/>
              </a:rPr>
              <a:t>relational database processing (RDBMS), </a:t>
            </a:r>
            <a:r>
              <a:rPr b="0" lang="en-US" sz="2000" spc="-1" strike="noStrike">
                <a:solidFill>
                  <a:srgbClr val="404040"/>
                </a:solidFill>
                <a:latin typeface="Calibri"/>
              </a:rPr>
              <a:t>accessing a part of the large database, getting a summary of the database, accessing it concurrently, managing security, constraints, server connectivity and other functionality.</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At present, different types of databases are available in the market for processing.</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They have many inbuilt tools, GUIs and other inbuilt functions through which database processing becomes easy.</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learn about database connection with SQL, MySQL, PostGreSQL and SQL Lite database as R provides inbuilt packages to access all of these.</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Major Functions of RMySQL</a:t>
            </a:r>
            <a:endParaRPr b="0" lang="en-US" sz="3600" spc="-1" strike="noStrike">
              <a:solidFill>
                <a:srgbClr val="000000"/>
              </a:solidFill>
              <a:latin typeface="Calibri"/>
            </a:endParaRPr>
          </a:p>
        </p:txBody>
      </p:sp>
      <p:pic>
        <p:nvPicPr>
          <p:cNvPr id="224" name="Content Placeholder 4" descr=""/>
          <p:cNvPicPr/>
          <p:nvPr/>
        </p:nvPicPr>
        <p:blipFill>
          <a:blip r:embed="rId1"/>
          <a:stretch/>
        </p:blipFill>
        <p:spPr>
          <a:xfrm>
            <a:off x="1097280" y="1846440"/>
            <a:ext cx="9426600" cy="4493880"/>
          </a:xfrm>
          <a:prstGeom prst="rect">
            <a:avLst/>
          </a:prstGeom>
          <a:ln w="0">
            <a:noFill/>
          </a:ln>
        </p:spPr>
      </p:pic>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Chapter 4: Exploring Data in R</a:t>
            </a:r>
            <a:endParaRPr b="0" lang="en-US" sz="3600" spc="-1" strike="noStrike">
              <a:solidFill>
                <a:srgbClr val="000000"/>
              </a:solidFill>
              <a:latin typeface="Calibri"/>
            </a:endParaRPr>
          </a:p>
        </p:txBody>
      </p:sp>
      <p:sp>
        <p:nvSpPr>
          <p:cNvPr id="226"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0070c0"/>
                </a:solidFill>
                <a:latin typeface="Calibri"/>
              </a:rPr>
              <a:t>Introduction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R provides interactive data visualisations to support analyses of statistical data.</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In R, data  is usually stored in data frames owing to its ability to hold data of varied data types.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These </a:t>
            </a:r>
            <a:r>
              <a:rPr b="0" lang="en-US" sz="2000" spc="-1" strike="noStrike">
                <a:solidFill>
                  <a:srgbClr val="c00000"/>
                </a:solidFill>
                <a:latin typeface="Calibri"/>
              </a:rPr>
              <a:t>data frames </a:t>
            </a:r>
            <a:r>
              <a:rPr b="0" lang="en-US" sz="2000" spc="-1" strike="noStrike">
                <a:solidFill>
                  <a:srgbClr val="404040"/>
                </a:solidFill>
                <a:latin typeface="Calibri"/>
              </a:rPr>
              <a:t>are unlike the matrices, which can store data of only one type.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we will begin by learning about </a:t>
            </a:r>
            <a:r>
              <a:rPr b="0" lang="en-US" sz="2000" spc="-1" strike="noStrike">
                <a:solidFill>
                  <a:srgbClr val="c00000"/>
                </a:solidFill>
                <a:latin typeface="Calibri"/>
              </a:rPr>
              <a:t>data frames and gradually progress to read in data from</a:t>
            </a:r>
            <a:endParaRPr b="0" lang="en-US" sz="2000" spc="-1" strike="noStrike">
              <a:solidFill>
                <a:srgbClr val="404040"/>
              </a:solidFill>
              <a:latin typeface="Calibri"/>
            </a:endParaRPr>
          </a:p>
          <a:p>
            <a:pPr>
              <a:lnSpc>
                <a:spcPct val="90000"/>
              </a:lnSpc>
              <a:spcBef>
                <a:spcPts val="1199"/>
              </a:spcBef>
              <a:spcAft>
                <a:spcPts val="201"/>
              </a:spcAft>
              <a:buNone/>
              <a:tabLst>
                <a:tab algn="l" pos="0"/>
              </a:tabLst>
            </a:pPr>
            <a:r>
              <a:rPr b="0" lang="en-US" sz="2000" spc="-1" strike="noStrike">
                <a:solidFill>
                  <a:srgbClr val="c00000"/>
                </a:solidFill>
                <a:latin typeface="Calibri"/>
              </a:rPr>
              <a:t> </a:t>
            </a:r>
            <a:r>
              <a:rPr b="0" lang="en-US" sz="2000" spc="-1" strike="noStrike">
                <a:solidFill>
                  <a:srgbClr val="c00000"/>
                </a:solidFill>
                <a:latin typeface="Calibri"/>
              </a:rPr>
              <a:t>.csv, tab separated value files, tables, etc., into data frames.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Wingdings" charset="2"/>
              <a:buChar char=""/>
              <a:tabLst>
                <a:tab algn="l" pos="0"/>
              </a:tabLst>
            </a:pPr>
            <a:r>
              <a:rPr b="0" lang="en-US" sz="2000" spc="-1" strike="noStrike">
                <a:solidFill>
                  <a:srgbClr val="404040"/>
                </a:solidFill>
                <a:latin typeface="Calibri"/>
              </a:rPr>
              <a:t> </a:t>
            </a:r>
            <a:r>
              <a:rPr b="0" lang="en-US" sz="2000" spc="-1" strike="noStrike">
                <a:solidFill>
                  <a:srgbClr val="404040"/>
                </a:solidFill>
                <a:latin typeface="Calibri"/>
              </a:rPr>
              <a:t>Finally, we will </a:t>
            </a:r>
            <a:r>
              <a:rPr b="0" lang="en-US" sz="2000" spc="-1" strike="noStrike">
                <a:solidFill>
                  <a:srgbClr val="c00000"/>
                </a:solidFill>
                <a:latin typeface="Calibri"/>
              </a:rPr>
              <a:t>explore data using various functions </a:t>
            </a:r>
            <a:r>
              <a:rPr b="0" lang="en-US" sz="2000" spc="-1" strike="noStrike">
                <a:solidFill>
                  <a:srgbClr val="404040"/>
                </a:solidFill>
                <a:latin typeface="Calibri"/>
              </a:rPr>
              <a:t>and </a:t>
            </a:r>
            <a:r>
              <a:rPr b="0" lang="en-US" sz="2000" spc="-1" strike="noStrike">
                <a:solidFill>
                  <a:srgbClr val="c00000"/>
                </a:solidFill>
                <a:latin typeface="Calibri"/>
              </a:rPr>
              <a:t>interactive visualisations provided by R</a:t>
            </a:r>
            <a:r>
              <a:rPr b="0" lang="en-US" sz="2000" spc="-1" strike="noStrike">
                <a:solidFill>
                  <a:srgbClr val="404040"/>
                </a:solidFill>
                <a:latin typeface="Calibri"/>
              </a:rPr>
              <a:t>.</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Data Frames</a:t>
            </a:r>
            <a:endParaRPr b="0" lang="en-US" sz="3600" spc="-1" strike="noStrike">
              <a:solidFill>
                <a:srgbClr val="000000"/>
              </a:solidFill>
              <a:latin typeface="Calibri"/>
            </a:endParaRPr>
          </a:p>
        </p:txBody>
      </p:sp>
      <p:sp>
        <p:nvSpPr>
          <p:cNvPr id="228"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 has a specific </a:t>
            </a:r>
            <a:r>
              <a:rPr b="0" lang="en-US" sz="2000" spc="-1" strike="noStrike">
                <a:solidFill>
                  <a:srgbClr val="c00000"/>
                </a:solidFill>
                <a:latin typeface="Calibri"/>
              </a:rPr>
              <a:t>number of columns</a:t>
            </a:r>
            <a:r>
              <a:rPr b="0" lang="en-US" sz="2000" spc="-1" strike="noStrike">
                <a:solidFill>
                  <a:srgbClr val="404040"/>
                </a:solidFill>
                <a:latin typeface="Calibri"/>
              </a:rPr>
              <a:t>, each of which is expected to contain values of a particular data type.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 also has an indeterminate number of rows, i.e. sets of related values for each column.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Assume, we have been asked to store data of our employees (such as employee ID, name and the project that they are working on).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We have been given three independent vectors, viz., namely, “EmpNo”, “EmpName” and “ProjName” that holds details such as employee ids, employee names and project names, respectively.</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Data Frames</a:t>
            </a:r>
            <a:endParaRPr b="0" lang="en-US" sz="3600" spc="-1" strike="noStrike">
              <a:solidFill>
                <a:srgbClr val="000000"/>
              </a:solidFill>
              <a:latin typeface="Calibri"/>
            </a:endParaRPr>
          </a:p>
        </p:txBody>
      </p:sp>
      <p:sp>
        <p:nvSpPr>
          <p:cNvPr id="230"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&gt;EmpNo &lt;- c(1000, 1001, 1002, 1003, 1004)</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&gt;EmpName &lt;- c(“Jack”, “Jane”, “Margaritta”, “Joe”, “Dave”)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&gt;ProjName &lt;- c(“PO1”, “PO2”, “PO3”, “PO4”, “PO5”)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However, we need a </a:t>
            </a:r>
            <a:r>
              <a:rPr b="0" lang="en-US" sz="2000" spc="-1" strike="noStrike">
                <a:solidFill>
                  <a:srgbClr val="c00000"/>
                </a:solidFill>
                <a:latin typeface="Calibri"/>
              </a:rPr>
              <a:t>data structure similar to a database table </a:t>
            </a:r>
            <a:r>
              <a:rPr b="0" lang="en-US" sz="2000" spc="-1" strike="noStrike">
                <a:solidFill>
                  <a:srgbClr val="404040"/>
                </a:solidFill>
                <a:latin typeface="Calibri"/>
              </a:rPr>
              <a:t>or an </a:t>
            </a:r>
            <a:r>
              <a:rPr b="0" lang="en-US" sz="2000" spc="-1" strike="noStrike">
                <a:solidFill>
                  <a:srgbClr val="c00000"/>
                </a:solidFill>
                <a:latin typeface="Calibri"/>
              </a:rPr>
              <a:t>Excel spreadsheet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that can </a:t>
            </a:r>
            <a:r>
              <a:rPr b="0" lang="en-US" sz="2000" spc="-1" strike="noStrike">
                <a:solidFill>
                  <a:srgbClr val="c00000"/>
                </a:solidFill>
                <a:latin typeface="Calibri"/>
              </a:rPr>
              <a:t>bind all these details together</a:t>
            </a:r>
            <a:r>
              <a:rPr b="0" lang="en-US" sz="2000" spc="-1" strike="noStrike">
                <a:solidFill>
                  <a:srgbClr val="404040"/>
                </a:solidFill>
                <a:latin typeface="Calibri"/>
              </a:rPr>
              <a:t>.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We create a </a:t>
            </a:r>
            <a:r>
              <a:rPr b="0" lang="en-US" sz="2000" spc="-1" strike="noStrike">
                <a:solidFill>
                  <a:srgbClr val="c00000"/>
                </a:solidFill>
                <a:latin typeface="Calibri"/>
              </a:rPr>
              <a:t>data frame </a:t>
            </a:r>
            <a:r>
              <a:rPr b="0" lang="en-US" sz="2000" spc="-1" strike="noStrike">
                <a:solidFill>
                  <a:srgbClr val="404040"/>
                </a:solidFill>
                <a:latin typeface="Calibri"/>
              </a:rPr>
              <a:t>by the name, “Employee”to store all the three vectors together.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&gt;Employee &lt;- </a:t>
            </a:r>
            <a:r>
              <a:rPr b="0" lang="en-US" sz="2000" spc="-1" strike="noStrike">
                <a:solidFill>
                  <a:srgbClr val="c00000"/>
                </a:solidFill>
                <a:latin typeface="Calibri"/>
              </a:rPr>
              <a:t>data.frame</a:t>
            </a:r>
            <a:r>
              <a:rPr b="0" lang="en-US" sz="2000" spc="-1" strike="noStrike">
                <a:solidFill>
                  <a:srgbClr val="404040"/>
                </a:solidFill>
                <a:latin typeface="Calibri"/>
              </a:rPr>
              <a:t>(EmpNo, EmpName, ProjName)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Data Frames</a:t>
            </a:r>
            <a:endParaRPr b="0" lang="en-US" sz="3600" spc="-1" strike="noStrike">
              <a:solidFill>
                <a:srgbClr val="000000"/>
              </a:solidFill>
              <a:latin typeface="Calibri"/>
            </a:endParaRPr>
          </a:p>
        </p:txBody>
      </p:sp>
      <p:sp>
        <p:nvSpPr>
          <p:cNvPr id="232"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Let us print the content of the date frame, “Employee”.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Employee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EmpNo EmpName ProjName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1000 Jack PO1</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2 1001 Jane PO2</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3 1002 Margaritta PO3</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4 1003 Joe PO4</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5 1004 Dave PO5</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Data Frame Access</a:t>
            </a:r>
            <a:endParaRPr b="0" lang="en-US" sz="3600" spc="-1" strike="noStrike">
              <a:solidFill>
                <a:srgbClr val="000000"/>
              </a:solidFill>
              <a:latin typeface="Calibri"/>
            </a:endParaRPr>
          </a:p>
        </p:txBody>
      </p:sp>
      <p:sp>
        <p:nvSpPr>
          <p:cNvPr id="234" name="PlaceHolder 2"/>
          <p:cNvSpPr>
            <a:spLocks noGrp="1"/>
          </p:cNvSpPr>
          <p:nvPr>
            <p:ph/>
          </p:nvPr>
        </p:nvSpPr>
        <p:spPr>
          <a:xfrm>
            <a:off x="1097280" y="1845720"/>
            <a:ext cx="10058040" cy="4023000"/>
          </a:xfrm>
          <a:prstGeom prst="rect">
            <a:avLst/>
          </a:prstGeom>
          <a:noFill/>
          <a:ln w="0">
            <a:noFill/>
          </a:ln>
        </p:spPr>
        <p:txBody>
          <a:bodyPr lIns="0" rIns="0" anchor="t">
            <a:normAutofit fontScale="71000"/>
          </a:bodyPr>
          <a:p>
            <a:pPr marL="91440" indent="-91440">
              <a:lnSpc>
                <a:spcPct val="120000"/>
              </a:lnSpc>
              <a:buClr>
                <a:srgbClr val="e48312"/>
              </a:buClr>
              <a:buFont typeface="Calibri"/>
              <a:buChar char=" "/>
            </a:pPr>
            <a:r>
              <a:rPr b="0" lang="en-US" sz="2000" spc="-1" strike="noStrike">
                <a:solidFill>
                  <a:srgbClr val="404040"/>
                </a:solidFill>
                <a:latin typeface="Calibri"/>
              </a:rPr>
              <a:t>There are </a:t>
            </a:r>
            <a:r>
              <a:rPr b="0" lang="en-US" sz="2000" spc="-1" strike="noStrike">
                <a:solidFill>
                  <a:srgbClr val="c00000"/>
                </a:solidFill>
                <a:latin typeface="Calibri"/>
              </a:rPr>
              <a:t>two ways to access the content of data frames</a:t>
            </a:r>
            <a:r>
              <a:rPr b="0" lang="en-US" sz="2000" spc="-1" strike="noStrike">
                <a:solidFill>
                  <a:srgbClr val="404040"/>
                </a:solidFill>
                <a:latin typeface="Calibri"/>
              </a:rPr>
              <a: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i. By providing the </a:t>
            </a:r>
            <a:r>
              <a:rPr b="0" lang="en-US" sz="2000" spc="-1" strike="noStrike">
                <a:solidFill>
                  <a:srgbClr val="c00000"/>
                </a:solidFill>
                <a:latin typeface="Calibri"/>
              </a:rPr>
              <a:t>index number </a:t>
            </a:r>
            <a:r>
              <a:rPr b="0" lang="en-US" sz="2000" spc="-1" strike="noStrike">
                <a:solidFill>
                  <a:srgbClr val="404040"/>
                </a:solidFill>
                <a:latin typeface="Calibri"/>
              </a:rPr>
              <a:t>in square brackets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ii. By providing the </a:t>
            </a:r>
            <a:r>
              <a:rPr b="0" lang="en-US" sz="2000" spc="-1" strike="noStrike">
                <a:solidFill>
                  <a:srgbClr val="c00000"/>
                </a:solidFill>
                <a:latin typeface="Calibri"/>
              </a:rPr>
              <a:t>column name </a:t>
            </a:r>
            <a:r>
              <a:rPr b="0" lang="en-US" sz="2000" spc="-1" strike="noStrike">
                <a:solidFill>
                  <a:srgbClr val="404040"/>
                </a:solidFill>
                <a:latin typeface="Calibri"/>
              </a:rPr>
              <a:t>as a string in double brackets.</a:t>
            </a:r>
            <a:endParaRPr b="0" lang="en-US" sz="2000" spc="-1" strike="noStrike">
              <a:solidFill>
                <a:srgbClr val="404040"/>
              </a:solidFill>
              <a:latin typeface="Calibri"/>
            </a:endParaRPr>
          </a:p>
          <a:p>
            <a:pPr>
              <a:lnSpc>
                <a:spcPct val="120000"/>
              </a:lnSpc>
              <a:buNone/>
            </a:pP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By Providing the Index Number in Square Brackets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Example 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To access the second column, “EmpName”, we type the following command at the 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prompt.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Employee[2]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EmpName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Jack</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2 Jane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3 Margaritta</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4 Joe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5 Dave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Data Frame Access</a:t>
            </a:r>
            <a:endParaRPr b="0" lang="en-US" sz="3600" spc="-1" strike="noStrike">
              <a:solidFill>
                <a:srgbClr val="000000"/>
              </a:solidFill>
              <a:latin typeface="Calibri"/>
            </a:endParaRPr>
          </a:p>
        </p:txBody>
      </p:sp>
      <p:sp>
        <p:nvSpPr>
          <p:cNvPr id="236" name="PlaceHolder 2"/>
          <p:cNvSpPr>
            <a:spLocks noGrp="1"/>
          </p:cNvSpPr>
          <p:nvPr>
            <p:ph/>
          </p:nvPr>
        </p:nvSpPr>
        <p:spPr>
          <a:xfrm>
            <a:off x="1097280" y="1845720"/>
            <a:ext cx="10058040" cy="4023000"/>
          </a:xfrm>
          <a:prstGeom prst="rect">
            <a:avLst/>
          </a:prstGeom>
          <a:noFill/>
          <a:ln w="0">
            <a:noFill/>
          </a:ln>
        </p:spPr>
        <p:txBody>
          <a:bodyPr lIns="0" rIns="0" anchor="t">
            <a:normAutofit fontScale="90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Example 2</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To access the first and the second column, “EmpNo” and “EmpName”, we type the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following command at the R prompt.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Employee[1:2]</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EmpNo EmpName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1000 Jack</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2 1001 Jane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3 1002 Margaritta</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4 1003 Joe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5 1004 Dave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Data Frame Access</a:t>
            </a:r>
            <a:endParaRPr b="0" lang="en-US" sz="3600" spc="-1" strike="noStrike">
              <a:solidFill>
                <a:srgbClr val="000000"/>
              </a:solidFill>
              <a:latin typeface="Calibri"/>
            </a:endParaRPr>
          </a:p>
        </p:txBody>
      </p:sp>
      <p:sp>
        <p:nvSpPr>
          <p:cNvPr id="238" name="PlaceHolder 2"/>
          <p:cNvSpPr>
            <a:spLocks noGrp="1"/>
          </p:cNvSpPr>
          <p:nvPr>
            <p:ph/>
          </p:nvPr>
        </p:nvSpPr>
        <p:spPr>
          <a:xfrm>
            <a:off x="1097280" y="1845720"/>
            <a:ext cx="10058040" cy="4023000"/>
          </a:xfrm>
          <a:prstGeom prst="rect">
            <a:avLst/>
          </a:prstGeom>
          <a:noFill/>
          <a:ln w="0">
            <a:noFill/>
          </a:ln>
        </p:spPr>
        <p:txBody>
          <a:bodyPr lIns="0" rIns="0" anchor="t">
            <a:normAutofit fontScale="63000"/>
          </a:bodyPr>
          <a:p>
            <a:pPr marL="91440" indent="-91440">
              <a:lnSpc>
                <a:spcPct val="120000"/>
              </a:lnSpc>
              <a:buClr>
                <a:srgbClr val="e48312"/>
              </a:buClr>
              <a:buFont typeface="Calibri"/>
              <a:buChar char=" "/>
            </a:pPr>
            <a:r>
              <a:rPr b="0" lang="en-IN" sz="2000" spc="-1" strike="noStrike">
                <a:solidFill>
                  <a:srgbClr val="404040"/>
                </a:solidFill>
                <a:latin typeface="Calibri"/>
              </a:rPr>
              <a:t>Example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Employee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EmpNo EmpName ProjName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3 1002 Margaritta PO3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Example 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Let us define row names for the rows in the data frame.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row.names(Employee) &lt;- c(“Employee 1”, “Employee 2”, “Employee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a:t>
            </a:r>
            <a:r>
              <a:rPr b="0" lang="en-US" sz="2000" spc="-1" strike="noStrike">
                <a:solidFill>
                  <a:srgbClr val="404040"/>
                </a:solidFill>
                <a:latin typeface="Calibri"/>
              </a:rPr>
              <a:t>Employee 4”, “Employee 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row.names (Employee)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“Employee 1” “Employee 2” “Employee 3” “Employee 4” “Employee 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Employee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EmpNo EmpName ProjName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Employee 1 1000 Jack P01</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Employee 2 1001 Jane P02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Employee 3 1002 Margaritta P03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Employee 4 1003 Joe P04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Employee 5 1004 Dave P05</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Ordering the Data Frames</a:t>
            </a:r>
            <a:br>
              <a:rPr sz="3600"/>
            </a:br>
            <a:endParaRPr b="0" lang="en-US" sz="3600" spc="-1" strike="noStrike">
              <a:solidFill>
                <a:srgbClr val="000000"/>
              </a:solidFill>
              <a:latin typeface="Calibri"/>
            </a:endParaRPr>
          </a:p>
        </p:txBody>
      </p:sp>
      <p:sp>
        <p:nvSpPr>
          <p:cNvPr id="240"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Let us display the content of the data frame, “Employee” in ascending order of</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t>
            </a:r>
            <a:r>
              <a:rPr b="0" lang="en-US" sz="2000" spc="-1" strike="noStrike">
                <a:solidFill>
                  <a:srgbClr val="404040"/>
                </a:solidFill>
                <a:latin typeface="Calibri"/>
              </a:rPr>
              <a:t>EmpExpYears”.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Employee[order(Employee$EmpExpYears),]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EmpNo EmpName ProjName EmpExpYears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1000 Jack P01 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3 1002 Margaritta P03 6</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5 1004 Dave P05 7</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2 1001 Jane P02 9</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4 1003 Joe P04 12</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1097280" y="286560"/>
            <a:ext cx="10058040" cy="1450440"/>
          </a:xfrm>
          <a:prstGeom prst="rect">
            <a:avLst/>
          </a:prstGeom>
          <a:noFill/>
          <a:ln w="0">
            <a:noFill/>
          </a:ln>
        </p:spPr>
        <p:txBody>
          <a:bodyPr anchor="b">
            <a:noAutofit/>
          </a:bodyPr>
          <a:p>
            <a:endParaRPr b="0" lang="en-US" sz="1800" spc="-1" strike="noStrike">
              <a:solidFill>
                <a:srgbClr val="000000"/>
              </a:solidFill>
              <a:latin typeface="Calibri"/>
            </a:endParaRPr>
          </a:p>
        </p:txBody>
      </p:sp>
      <p:sp>
        <p:nvSpPr>
          <p:cNvPr id="242"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Use the syntax as shown next to display the content of the data frame, “Employee” in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descending order of “EmpExpYears”.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&gt; Employee[order(-Employee$EmpExpYears),]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EmpNo EmpName ProjName EmpExpYears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4 1003 Joe P04 12</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2 1001 Jane P02 9</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5 1004 Dave P05 7</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3 1002 Margaritta P03 6</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1 1000 Jack P01 5</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R Functions For unDerstanDing Data in Data Frames</a:t>
            </a:r>
            <a:endParaRPr b="0" lang="en-US" sz="4800" spc="-1" strike="noStrike">
              <a:solidFill>
                <a:srgbClr val="000000"/>
              </a:solidFill>
              <a:latin typeface="Calibri"/>
            </a:endParaRPr>
          </a:p>
        </p:txBody>
      </p:sp>
      <p:sp>
        <p:nvSpPr>
          <p:cNvPr id="244" name="PlaceHolder 2"/>
          <p:cNvSpPr>
            <a:spLocks noGrp="1"/>
          </p:cNvSpPr>
          <p:nvPr>
            <p:ph/>
          </p:nvPr>
        </p:nvSpPr>
        <p:spPr>
          <a:xfrm>
            <a:off x="1097280" y="1845720"/>
            <a:ext cx="10058040" cy="4023000"/>
          </a:xfrm>
          <a:prstGeom prst="rect">
            <a:avLst/>
          </a:prstGeom>
          <a:noFill/>
          <a:ln w="0">
            <a:noFill/>
          </a:ln>
        </p:spPr>
        <p:txBody>
          <a:bodyPr lIns="0" rIns="0" anchor="t">
            <a:normAutofit fontScale="82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We will explore the data held in the data frame with the help of the following 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functions: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 dim()</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r nrow()</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r ncol()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 str()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 summary()</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 names()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 head()</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 tail()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 edit()</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1097280" y="286560"/>
            <a:ext cx="10058040" cy="1450440"/>
          </a:xfrm>
          <a:prstGeom prst="rect">
            <a:avLst/>
          </a:prstGeom>
          <a:noFill/>
          <a:ln w="0">
            <a:noFill/>
          </a:ln>
        </p:spPr>
        <p:txBody>
          <a:bodyPr anchor="b">
            <a:noAutofit/>
          </a:bodyPr>
          <a:p>
            <a:endParaRPr b="0" lang="en-US" sz="1800" spc="-1" strike="noStrike">
              <a:solidFill>
                <a:srgbClr val="000000"/>
              </a:solidFill>
              <a:latin typeface="Calibri"/>
            </a:endParaRPr>
          </a:p>
        </p:txBody>
      </p:sp>
      <p:pic>
        <p:nvPicPr>
          <p:cNvPr id="246" name="Content Placeholder 4" descr=""/>
          <p:cNvPicPr/>
          <p:nvPr/>
        </p:nvPicPr>
        <p:blipFill>
          <a:blip r:embed="rId1"/>
          <a:stretch/>
        </p:blipFill>
        <p:spPr>
          <a:xfrm>
            <a:off x="1097280" y="1846440"/>
            <a:ext cx="10271880" cy="4022280"/>
          </a:xfrm>
          <a:prstGeom prst="rect">
            <a:avLst/>
          </a:prstGeom>
          <a:ln w="0">
            <a:noFill/>
          </a:ln>
        </p:spPr>
      </p:pic>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LoaD Data Frames</a:t>
            </a:r>
            <a:endParaRPr b="0" lang="en-US" sz="4800" spc="-1" strike="noStrike">
              <a:solidFill>
                <a:srgbClr val="000000"/>
              </a:solidFill>
              <a:latin typeface="Calibri"/>
            </a:endParaRPr>
          </a:p>
        </p:txBody>
      </p:sp>
      <p:sp>
        <p:nvSpPr>
          <p:cNvPr id="248"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Reading from a</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Let us load this file using the read.csv function.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ItemDataFrame &lt;- read.csv(“D:/item.csv”)</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ItemDataFrame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Itemcode ItemCategory ItemPrice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I1001 Electronics 700</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2 I1002 Desktop supplies 300</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3 I1003 Office supplies 350 .csv (comma separated values file)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Subsetting Data Frame</a:t>
            </a:r>
            <a:endParaRPr b="0" lang="en-US" sz="4800" spc="-1" strike="noStrike">
              <a:solidFill>
                <a:srgbClr val="000000"/>
              </a:solidFill>
              <a:latin typeface="Calibri"/>
            </a:endParaRPr>
          </a:p>
        </p:txBody>
      </p:sp>
      <p:sp>
        <p:nvSpPr>
          <p:cNvPr id="250" name="PlaceHolder 2"/>
          <p:cNvSpPr>
            <a:spLocks noGrp="1"/>
          </p:cNvSpPr>
          <p:nvPr>
            <p:ph/>
          </p:nvPr>
        </p:nvSpPr>
        <p:spPr>
          <a:xfrm>
            <a:off x="1097280" y="1845720"/>
            <a:ext cx="10058040" cy="4023000"/>
          </a:xfrm>
          <a:prstGeom prst="rect">
            <a:avLst/>
          </a:prstGeom>
          <a:noFill/>
          <a:ln w="0">
            <a:noFill/>
          </a:ln>
        </p:spPr>
        <p:txBody>
          <a:bodyPr lIns="0" rIns="0" anchor="t">
            <a:normAutofit fontScale="84000"/>
          </a:bodyPr>
          <a:p>
            <a:pPr marL="91440" indent="-91440">
              <a:lnSpc>
                <a:spcPct val="120000"/>
              </a:lnSpc>
              <a:buClr>
                <a:srgbClr val="e48312"/>
              </a:buClr>
              <a:buFont typeface="Calibri"/>
              <a:buChar char=" "/>
            </a:pPr>
            <a:r>
              <a:rPr b="0" lang="en-US" sz="2000" spc="-1" strike="noStrike">
                <a:solidFill>
                  <a:srgbClr val="404040"/>
                </a:solidFill>
                <a:latin typeface="Calibri"/>
              </a:rPr>
              <a:t>To subset the data frame and display the details of only those items whose price is greater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than or equal to 350.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subset(ItemDataFrame, ItemPrice &gt;=350)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Itemcode ItemCategory ItemPrice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I1001 Electronics 700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3 I1003 Office supplies 350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To subset the data frame and display only the category to which the items belong (items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whose price is greater than or equal to 350).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subset(ItemDataFrame,ItemPrice &gt;=350, select = c(ItemCategory))</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ItemCategory</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Electronics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3 Office supplies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1097280" y="286560"/>
            <a:ext cx="10058040" cy="1450440"/>
          </a:xfrm>
          <a:prstGeom prst="rect">
            <a:avLst/>
          </a:prstGeom>
          <a:noFill/>
          <a:ln w="0">
            <a:noFill/>
          </a:ln>
        </p:spPr>
        <p:txBody>
          <a:bodyPr anchor="b">
            <a:noAutofit/>
          </a:bodyPr>
          <a:p>
            <a:endParaRPr b="0" lang="en-US" sz="1800" spc="-1" strike="noStrike">
              <a:solidFill>
                <a:srgbClr val="000000"/>
              </a:solidFill>
              <a:latin typeface="Calibri"/>
            </a:endParaRPr>
          </a:p>
        </p:txBody>
      </p:sp>
      <p:sp>
        <p:nvSpPr>
          <p:cNvPr id="252"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To subset the data frame and display only the items where the category is either “Office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supplies” or “Desktop supplies”.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&gt; subset(ItemDataFrame, ItemCategory == “Office supplies” | ItemCat-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egory == “Desktop supplies”)</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Itemcode ItemCategory ItemPrice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2 I1002 Desktop supplies 300</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3 I1003 Office supplies 350</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Reading from a Tab Separated Value File</a:t>
            </a:r>
            <a:endParaRPr b="0" lang="en-US" sz="4800" spc="-1" strike="noStrike">
              <a:solidFill>
                <a:srgbClr val="000000"/>
              </a:solidFill>
              <a:latin typeface="Calibri"/>
            </a:endParaRPr>
          </a:p>
        </p:txBody>
      </p:sp>
      <p:sp>
        <p:nvSpPr>
          <p:cNvPr id="254"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For any file that uses a delimiter other than a comma, one can use the read.table command.</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Example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We have created a tab separated file by the name, “item-tab-sep.txt” in the D:\ drive. It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has the following content.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Itemcode ItemQtyOnHand ItemReorderLvl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I1001 75 25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I1002 30 25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I1003 35 25</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Example</a:t>
            </a:r>
            <a:br>
              <a:rPr sz="3600"/>
            </a:br>
            <a:endParaRPr b="0" lang="en-US" sz="3600" spc="-1" strike="noStrike">
              <a:solidFill>
                <a:srgbClr val="000000"/>
              </a:solidFill>
              <a:latin typeface="Calibri"/>
            </a:endParaRPr>
          </a:p>
        </p:txBody>
      </p:sp>
      <p:sp>
        <p:nvSpPr>
          <p:cNvPr id="256"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For any file that uses a delimiter other than a comma, one can use the read.table command.</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Example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We have created a tab separated file by the name, “item-tab-sep.txt” in the D:\ drive. It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has the following content.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Itemcode ItemQtyOnHand ItemReorderLvl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I1001 75 25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I1002 30 25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I1003 35 25</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Example</a:t>
            </a:r>
            <a:br>
              <a:rPr sz="3600"/>
            </a:br>
            <a:endParaRPr b="0" lang="en-US" sz="3600" spc="-1" strike="noStrike">
              <a:solidFill>
                <a:srgbClr val="000000"/>
              </a:solidFill>
              <a:latin typeface="Calibri"/>
            </a:endParaRPr>
          </a:p>
        </p:txBody>
      </p:sp>
      <p:sp>
        <p:nvSpPr>
          <p:cNvPr id="258"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Now let us read the content of the specified file into the data frame, “ItemDataFrame”.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&gt; ItemDataFrame &lt;- read.table(“D:/item-tab-sep.txt”,sep=“\t”,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header=TRUE)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&gt; ItemDataFrame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Itemcode ItemQtyOnHand ItemReorderLvl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1 I1001 70 25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2 I1002 30 25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3 I1003 35 25</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Reading from a Table</a:t>
            </a:r>
            <a:endParaRPr b="0" lang="en-US" sz="4800" spc="-1" strike="noStrike">
              <a:solidFill>
                <a:srgbClr val="000000"/>
              </a:solidFill>
              <a:latin typeface="Calibri"/>
            </a:endParaRPr>
          </a:p>
        </p:txBody>
      </p:sp>
      <p:sp>
        <p:nvSpPr>
          <p:cNvPr id="260" name="PlaceHolder 2"/>
          <p:cNvSpPr>
            <a:spLocks noGrp="1"/>
          </p:cNvSpPr>
          <p:nvPr>
            <p:ph/>
          </p:nvPr>
        </p:nvSpPr>
        <p:spPr>
          <a:xfrm>
            <a:off x="1097280" y="173736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 data table can reside in a text file. The cells inside the table are separated by blank</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characters. An example of a table with 4 rows and 3 columns is given as follows:</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p:txBody>
      </p:sp>
      <p:pic>
        <p:nvPicPr>
          <p:cNvPr id="261" name="Picture 4" descr=""/>
          <p:cNvPicPr/>
          <p:nvPr/>
        </p:nvPicPr>
        <p:blipFill>
          <a:blip r:embed="rId1"/>
          <a:stretch/>
        </p:blipFill>
        <p:spPr>
          <a:xfrm>
            <a:off x="2895480" y="2619360"/>
            <a:ext cx="6400440" cy="1618920"/>
          </a:xfrm>
          <a:prstGeom prst="rect">
            <a:avLst/>
          </a:prstGeom>
          <a:ln w="0">
            <a:noFill/>
          </a:ln>
        </p:spPr>
      </p:pic>
      <p:pic>
        <p:nvPicPr>
          <p:cNvPr id="262" name="Picture 6" descr=""/>
          <p:cNvPicPr/>
          <p:nvPr/>
        </p:nvPicPr>
        <p:blipFill>
          <a:blip r:embed="rId2"/>
          <a:stretch/>
        </p:blipFill>
        <p:spPr>
          <a:xfrm>
            <a:off x="2895480" y="2619360"/>
            <a:ext cx="6400440" cy="1618920"/>
          </a:xfrm>
          <a:prstGeom prst="rect">
            <a:avLst/>
          </a:prstGeom>
          <a:ln w="0">
            <a:noFill/>
          </a:ln>
        </p:spPr>
      </p:pic>
      <p:sp>
        <p:nvSpPr>
          <p:cNvPr id="263" name="TextBox 8"/>
          <p:cNvSpPr/>
          <p:nvPr/>
        </p:nvSpPr>
        <p:spPr>
          <a:xfrm>
            <a:off x="1097280" y="4057560"/>
            <a:ext cx="10274400" cy="2558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000000"/>
                </a:solidFill>
                <a:latin typeface="Calibri"/>
              </a:rPr>
              <a:t>Copy and paste the table in a file named “d:/mydata.txt” with a text editor and then</a:t>
            </a:r>
            <a:endParaRPr b="0" lang="en-IN" sz="1800" spc="-1" strike="noStrike">
              <a:latin typeface="Arial"/>
            </a:endParaRPr>
          </a:p>
          <a:p>
            <a:pPr>
              <a:lnSpc>
                <a:spcPct val="100000"/>
              </a:lnSpc>
              <a:buNone/>
            </a:pPr>
            <a:r>
              <a:rPr b="0" lang="en-IN" sz="1800" spc="-1" strike="noStrike">
                <a:solidFill>
                  <a:srgbClr val="000000"/>
                </a:solidFill>
                <a:latin typeface="Calibri"/>
              </a:rPr>
              <a:t>load the data into the workspace with the function read.table.</a:t>
            </a:r>
            <a:endParaRPr b="0" lang="en-IN" sz="1800" spc="-1" strike="noStrike">
              <a:latin typeface="Arial"/>
            </a:endParaRPr>
          </a:p>
          <a:p>
            <a:pPr>
              <a:lnSpc>
                <a:spcPct val="100000"/>
              </a:lnSpc>
              <a:buNone/>
            </a:pPr>
            <a:r>
              <a:rPr b="0" lang="en-IN" sz="1800" spc="-1" strike="noStrike">
                <a:solidFill>
                  <a:srgbClr val="000000"/>
                </a:solidFill>
                <a:latin typeface="Calibri"/>
              </a:rPr>
              <a:t>&gt; mydata = read.table(“d:/mydata.txt”)</a:t>
            </a:r>
            <a:endParaRPr b="0" lang="en-IN" sz="1800" spc="-1" strike="noStrike">
              <a:latin typeface="Arial"/>
            </a:endParaRPr>
          </a:p>
          <a:p>
            <a:pPr>
              <a:lnSpc>
                <a:spcPct val="100000"/>
              </a:lnSpc>
              <a:buNone/>
            </a:pPr>
            <a:r>
              <a:rPr b="0" lang="en-IN" sz="1800" spc="-1" strike="noStrike">
                <a:solidFill>
                  <a:srgbClr val="000000"/>
                </a:solidFill>
                <a:latin typeface="Calibri"/>
              </a:rPr>
              <a:t>&gt; mydata</a:t>
            </a:r>
            <a:endParaRPr b="0" lang="en-IN" sz="1800" spc="-1" strike="noStrike">
              <a:latin typeface="Arial"/>
            </a:endParaRPr>
          </a:p>
          <a:p>
            <a:pPr>
              <a:lnSpc>
                <a:spcPct val="100000"/>
              </a:lnSpc>
              <a:buNone/>
            </a:pPr>
            <a:r>
              <a:rPr b="0" lang="en-IN" sz="1800" spc="-1" strike="noStrike">
                <a:solidFill>
                  <a:srgbClr val="000000"/>
                </a:solidFill>
                <a:latin typeface="Calibri"/>
              </a:rPr>
              <a:t>V1 V2 V3</a:t>
            </a:r>
            <a:endParaRPr b="0" lang="en-IN" sz="1800" spc="-1" strike="noStrike">
              <a:latin typeface="Arial"/>
            </a:endParaRPr>
          </a:p>
          <a:p>
            <a:pPr>
              <a:lnSpc>
                <a:spcPct val="100000"/>
              </a:lnSpc>
              <a:buNone/>
            </a:pPr>
            <a:r>
              <a:rPr b="0" lang="en-IN" sz="1800" spc="-1" strike="noStrike">
                <a:solidFill>
                  <a:srgbClr val="000000"/>
                </a:solidFill>
                <a:latin typeface="Calibri"/>
              </a:rPr>
              <a:t>1 1001 Physics 85</a:t>
            </a:r>
            <a:endParaRPr b="0" lang="en-IN" sz="1800" spc="-1" strike="noStrike">
              <a:latin typeface="Arial"/>
            </a:endParaRPr>
          </a:p>
          <a:p>
            <a:pPr>
              <a:lnSpc>
                <a:spcPct val="100000"/>
              </a:lnSpc>
              <a:buNone/>
            </a:pPr>
            <a:r>
              <a:rPr b="0" lang="en-IN" sz="1800" spc="-1" strike="noStrike">
                <a:solidFill>
                  <a:srgbClr val="000000"/>
                </a:solidFill>
                <a:latin typeface="Calibri"/>
              </a:rPr>
              <a:t>2 2001 Chemistry 87</a:t>
            </a:r>
            <a:endParaRPr b="0" lang="en-IN" sz="1800" spc="-1" strike="noStrike">
              <a:latin typeface="Arial"/>
            </a:endParaRPr>
          </a:p>
          <a:p>
            <a:pPr>
              <a:lnSpc>
                <a:spcPct val="100000"/>
              </a:lnSpc>
              <a:buNone/>
            </a:pPr>
            <a:r>
              <a:rPr b="0" lang="en-IN" sz="1800" spc="-1" strike="noStrike">
                <a:solidFill>
                  <a:srgbClr val="000000"/>
                </a:solidFill>
                <a:latin typeface="Calibri"/>
              </a:rPr>
              <a:t>3 3001 Mathematics 93</a:t>
            </a:r>
            <a:endParaRPr b="0" lang="en-IN" sz="1800" spc="-1" strike="noStrike">
              <a:latin typeface="Arial"/>
            </a:endParaRPr>
          </a:p>
          <a:p>
            <a:pPr>
              <a:lnSpc>
                <a:spcPct val="100000"/>
              </a:lnSpc>
              <a:buNone/>
            </a:pPr>
            <a:r>
              <a:rPr b="0" lang="en-IN" sz="1800" spc="-1" strike="noStrike">
                <a:solidFill>
                  <a:srgbClr val="000000"/>
                </a:solidFill>
                <a:latin typeface="Calibri"/>
              </a:rPr>
              <a:t>4 4001 English 84</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Merging Data Frames</a:t>
            </a:r>
            <a:endParaRPr b="0" lang="en-US" sz="4800" spc="-1" strike="noStrike">
              <a:solidFill>
                <a:srgbClr val="000000"/>
              </a:solidFill>
              <a:latin typeface="Calibri"/>
            </a:endParaRPr>
          </a:p>
        </p:txBody>
      </p:sp>
      <p:sp>
        <p:nvSpPr>
          <p:cNvPr id="265" name="PlaceHolder 2"/>
          <p:cNvSpPr>
            <a:spLocks noGrp="1"/>
          </p:cNvSpPr>
          <p:nvPr>
            <p:ph/>
          </p:nvPr>
        </p:nvSpPr>
        <p:spPr>
          <a:xfrm>
            <a:off x="1097280" y="1845720"/>
            <a:ext cx="10058040" cy="4023000"/>
          </a:xfrm>
          <a:prstGeom prst="rect">
            <a:avLst/>
          </a:prstGeom>
          <a:noFill/>
          <a:ln w="0">
            <a:noFill/>
          </a:ln>
        </p:spPr>
        <p:txBody>
          <a:bodyPr lIns="0" rIns="0" anchor="t">
            <a:normAutofit fontScale="85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Let us now attempt to merge two data frames using the merge function. The merge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function takes an x frame (item.csv) and a y frame (item-tab-sep.txt) as arguments. By default, it joins the two frames on columns with the same name (the two “Itemcode”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columns).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csvitem &lt;- read.csv(“d:/item.csv”)</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tabitem &lt;- read.table(“d:/item-tab-sep.txt”,sep=“\t”,header=TRUE)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merge (x=csvitem, y=tabitem)</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Itemcode ItemCategory ItemPrice ItemQtyOnHand ItemReorderLvl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I1001 Electronics 700 70 25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2 I1002 Desktop supplies 300 30 25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3 I1003 Office supplies 350 35 25</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Exploring Data</a:t>
            </a:r>
            <a:endParaRPr b="0" lang="en-US" sz="4800" spc="-1" strike="noStrike">
              <a:solidFill>
                <a:srgbClr val="000000"/>
              </a:solidFill>
              <a:latin typeface="Calibri"/>
            </a:endParaRPr>
          </a:p>
        </p:txBody>
      </p:sp>
      <p:sp>
        <p:nvSpPr>
          <p:cNvPr id="267" name="PlaceHolder 2"/>
          <p:cNvSpPr>
            <a:spLocks noGrp="1"/>
          </p:cNvSpPr>
          <p:nvPr>
            <p:ph/>
          </p:nvPr>
        </p:nvSpPr>
        <p:spPr>
          <a:xfrm>
            <a:off x="1097280" y="1845720"/>
            <a:ext cx="10058040" cy="4023000"/>
          </a:xfrm>
          <a:prstGeom prst="rect">
            <a:avLst/>
          </a:prstGeom>
          <a:noFill/>
          <a:ln w="0">
            <a:noFill/>
          </a:ln>
        </p:spPr>
        <p:txBody>
          <a:bodyPr lIns="0" rIns="0" anchor="t">
            <a:normAutofit fontScale="75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Data in R is a set of organised information. Statistical data type is more common in 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which is a set of observations where values for the variables are passed. These input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variables are used in measuring, controlling or manipulating the results of a program.</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Each variable differs in size and type. R supports the following basic data types to explore:</a:t>
            </a:r>
            <a:endParaRPr b="0" lang="en-US" sz="2000" spc="-1" strike="noStrike">
              <a:solidFill>
                <a:srgbClr val="404040"/>
              </a:solidFill>
              <a:latin typeface="Calibri"/>
            </a:endParaRPr>
          </a:p>
          <a:p>
            <a:pPr marL="982800" indent="-352440">
              <a:lnSpc>
                <a:spcPct val="120000"/>
              </a:lnSpc>
              <a:buClr>
                <a:srgbClr val="e48312"/>
              </a:buClr>
              <a:buFont typeface="Wingdings" charset="2"/>
              <a:buChar char=""/>
            </a:pPr>
            <a:r>
              <a:rPr b="0" lang="en-US" sz="2000" spc="-1" strike="noStrike">
                <a:solidFill>
                  <a:srgbClr val="404040"/>
                </a:solidFill>
                <a:latin typeface="Calibri"/>
              </a:rPr>
              <a:t> </a:t>
            </a:r>
            <a:r>
              <a:rPr b="0" lang="en-US" sz="2000" spc="-1" strike="noStrike">
                <a:solidFill>
                  <a:srgbClr val="404040"/>
                </a:solidFill>
                <a:latin typeface="Calibri"/>
              </a:rPr>
              <a:t>Integer</a:t>
            </a:r>
            <a:endParaRPr b="0" lang="en-US" sz="2000" spc="-1" strike="noStrike">
              <a:solidFill>
                <a:srgbClr val="404040"/>
              </a:solidFill>
              <a:latin typeface="Calibri"/>
            </a:endParaRPr>
          </a:p>
          <a:p>
            <a:pPr marL="982800" indent="-352440">
              <a:lnSpc>
                <a:spcPct val="120000"/>
              </a:lnSpc>
              <a:buClr>
                <a:srgbClr val="e48312"/>
              </a:buClr>
              <a:buFont typeface="Wingdings" charset="2"/>
              <a:buChar char=""/>
            </a:pPr>
            <a:r>
              <a:rPr b="0" lang="en-US" sz="2000" spc="-1" strike="noStrike">
                <a:solidFill>
                  <a:srgbClr val="404040"/>
                </a:solidFill>
                <a:latin typeface="Calibri"/>
              </a:rPr>
              <a:t>Numeric</a:t>
            </a:r>
            <a:endParaRPr b="0" lang="en-US" sz="2000" spc="-1" strike="noStrike">
              <a:solidFill>
                <a:srgbClr val="404040"/>
              </a:solidFill>
              <a:latin typeface="Calibri"/>
            </a:endParaRPr>
          </a:p>
          <a:p>
            <a:pPr marL="982800" indent="-352440">
              <a:lnSpc>
                <a:spcPct val="120000"/>
              </a:lnSpc>
              <a:buClr>
                <a:srgbClr val="e48312"/>
              </a:buClr>
              <a:buFont typeface="Wingdings" charset="2"/>
              <a:buChar char=""/>
            </a:pPr>
            <a:r>
              <a:rPr b="0" lang="en-US" sz="2000" spc="-1" strike="noStrike">
                <a:solidFill>
                  <a:srgbClr val="404040"/>
                </a:solidFill>
                <a:latin typeface="Calibri"/>
              </a:rPr>
              <a:t>Logical</a:t>
            </a:r>
            <a:endParaRPr b="0" lang="en-US" sz="2000" spc="-1" strike="noStrike">
              <a:solidFill>
                <a:srgbClr val="404040"/>
              </a:solidFill>
              <a:latin typeface="Calibri"/>
            </a:endParaRPr>
          </a:p>
          <a:p>
            <a:pPr marL="982800" indent="-352440">
              <a:lnSpc>
                <a:spcPct val="120000"/>
              </a:lnSpc>
              <a:buClr>
                <a:srgbClr val="e48312"/>
              </a:buClr>
              <a:buFont typeface="Wingdings" charset="2"/>
              <a:buChar char=""/>
            </a:pPr>
            <a:r>
              <a:rPr b="0" lang="en-US" sz="2000" spc="-1" strike="noStrike">
                <a:solidFill>
                  <a:srgbClr val="404040"/>
                </a:solidFill>
                <a:latin typeface="Calibri"/>
              </a:rPr>
              <a:t>Character/string</a:t>
            </a:r>
            <a:endParaRPr b="0" lang="en-US" sz="2000" spc="-1" strike="noStrike">
              <a:solidFill>
                <a:srgbClr val="404040"/>
              </a:solidFill>
              <a:latin typeface="Calibri"/>
            </a:endParaRPr>
          </a:p>
          <a:p>
            <a:pPr marL="982800" indent="-352440">
              <a:lnSpc>
                <a:spcPct val="120000"/>
              </a:lnSpc>
              <a:buClr>
                <a:srgbClr val="e48312"/>
              </a:buClr>
              <a:buFont typeface="Wingdings" charset="2"/>
              <a:buChar char=""/>
            </a:pPr>
            <a:r>
              <a:rPr b="0" lang="en-US" sz="2000" spc="-1" strike="noStrike">
                <a:solidFill>
                  <a:srgbClr val="404040"/>
                </a:solidFill>
                <a:latin typeface="Calibri"/>
              </a:rPr>
              <a:t>Factor</a:t>
            </a:r>
            <a:endParaRPr b="0" lang="en-US" sz="2000" spc="-1" strike="noStrike">
              <a:solidFill>
                <a:srgbClr val="404040"/>
              </a:solidFill>
              <a:latin typeface="Calibri"/>
            </a:endParaRPr>
          </a:p>
          <a:p>
            <a:pPr marL="982800" indent="-352440">
              <a:lnSpc>
                <a:spcPct val="120000"/>
              </a:lnSpc>
              <a:buClr>
                <a:srgbClr val="e48312"/>
              </a:buClr>
              <a:buFont typeface="Wingdings" charset="2"/>
              <a:buChar char=""/>
            </a:pPr>
            <a:r>
              <a:rPr b="0" lang="en-US" sz="2000" spc="-1" strike="noStrike">
                <a:solidFill>
                  <a:srgbClr val="404040"/>
                </a:solidFill>
                <a:latin typeface="Calibri"/>
              </a:rPr>
              <a:t>Complex</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Data types have been covered in Chapter 2. Based on the specific data characteristics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in R, data can be explored in different ways. You will learn about these methods in the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following section.</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Exploratory Data Analysis</a:t>
            </a:r>
            <a:endParaRPr b="0" lang="en-US" sz="4800" spc="-1" strike="noStrike">
              <a:solidFill>
                <a:srgbClr val="000000"/>
              </a:solidFill>
              <a:latin typeface="Calibri"/>
            </a:endParaRPr>
          </a:p>
        </p:txBody>
      </p:sp>
      <p:sp>
        <p:nvSpPr>
          <p:cNvPr id="269"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Exploratory data analysis (EDA) involves dataset analysis to summarise the main</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characteristics in the form of visual representations. Exploratory data analysis using R is</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an approach used to summarise and visualise the main characteristics of a dataset, which</a:t>
            </a:r>
            <a:endParaRPr b="0" lang="en-US" sz="2000" spc="-1" strike="noStrike">
              <a:solidFill>
                <a:srgbClr val="404040"/>
              </a:solidFill>
              <a:latin typeface="Calibri"/>
            </a:endParaRPr>
          </a:p>
          <a:p>
            <a:pPr marL="91440" indent="-91440" algn="just">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differs from initial data analysis.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1097280" y="286560"/>
            <a:ext cx="10058040" cy="80856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Exploratory Data Analysis</a:t>
            </a:r>
            <a:endParaRPr b="0" lang="en-US" sz="3600" spc="-1" strike="noStrike">
              <a:solidFill>
                <a:srgbClr val="000000"/>
              </a:solidFill>
              <a:latin typeface="Calibri"/>
            </a:endParaRPr>
          </a:p>
        </p:txBody>
      </p:sp>
      <p:sp>
        <p:nvSpPr>
          <p:cNvPr id="271" name="PlaceHolder 2"/>
          <p:cNvSpPr>
            <a:spLocks noGrp="1"/>
          </p:cNvSpPr>
          <p:nvPr>
            <p:ph/>
          </p:nvPr>
        </p:nvSpPr>
        <p:spPr>
          <a:xfrm>
            <a:off x="1097280" y="1845720"/>
            <a:ext cx="10058040" cy="4023000"/>
          </a:xfrm>
          <a:prstGeom prst="rect">
            <a:avLst/>
          </a:prstGeom>
          <a:noFill/>
          <a:ln w="0">
            <a:noFill/>
          </a:ln>
        </p:spPr>
        <p:txBody>
          <a:bodyPr lIns="0" rIns="0" anchor="t">
            <a:normAutofit fontScale="86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main aim of EDA is to summarise and visualise the main characteristics of a dataset.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 focuses on:</a:t>
            </a:r>
            <a:endParaRPr b="0" lang="en-US" sz="2000" spc="-1" strike="noStrike">
              <a:solidFill>
                <a:srgbClr val="404040"/>
              </a:solidFill>
              <a:latin typeface="Calibri"/>
            </a:endParaRPr>
          </a:p>
          <a:p>
            <a:pPr marL="716040" indent="-8568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Exploring data by understanding its structure and variables</a:t>
            </a:r>
            <a:endParaRPr b="0" lang="en-US" sz="2000" spc="-1" strike="noStrike">
              <a:solidFill>
                <a:srgbClr val="404040"/>
              </a:solidFill>
              <a:latin typeface="Calibri"/>
            </a:endParaRPr>
          </a:p>
          <a:p>
            <a:pPr marL="716040" indent="-8568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Developing an intuition about the dataset</a:t>
            </a:r>
            <a:endParaRPr b="0" lang="en-US" sz="2000" spc="-1" strike="noStrike">
              <a:solidFill>
                <a:srgbClr val="404040"/>
              </a:solidFill>
              <a:latin typeface="Calibri"/>
            </a:endParaRPr>
          </a:p>
          <a:p>
            <a:pPr marL="716040" indent="-8568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Considering how the dataset came into existence</a:t>
            </a:r>
            <a:endParaRPr b="0" lang="en-US" sz="2000" spc="-1" strike="noStrike">
              <a:solidFill>
                <a:srgbClr val="404040"/>
              </a:solidFill>
              <a:latin typeface="Calibri"/>
            </a:endParaRPr>
          </a:p>
          <a:p>
            <a:pPr marL="716040" indent="-8568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Deciding how to investigate by providing a formal statistical method</a:t>
            </a:r>
            <a:endParaRPr b="0" lang="en-US" sz="2000" spc="-1" strike="noStrike">
              <a:solidFill>
                <a:srgbClr val="404040"/>
              </a:solidFill>
              <a:latin typeface="Calibri"/>
            </a:endParaRPr>
          </a:p>
          <a:p>
            <a:pPr marL="716040" indent="-8568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Extending better insights about the dataset</a:t>
            </a:r>
            <a:endParaRPr b="0" lang="en-US" sz="2000" spc="-1" strike="noStrike">
              <a:solidFill>
                <a:srgbClr val="404040"/>
              </a:solidFill>
              <a:latin typeface="Calibri"/>
            </a:endParaRPr>
          </a:p>
          <a:p>
            <a:pPr marL="716040" indent="-8568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Formulating a hypothesis that leads to new data collection</a:t>
            </a:r>
            <a:endParaRPr b="0" lang="en-US" sz="2000" spc="-1" strike="noStrike">
              <a:solidFill>
                <a:srgbClr val="404040"/>
              </a:solidFill>
              <a:latin typeface="Calibri"/>
            </a:endParaRPr>
          </a:p>
          <a:p>
            <a:pPr marL="716040" indent="-8568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Handling any missing values</a:t>
            </a:r>
            <a:endParaRPr b="0" lang="en-US" sz="2000" spc="-1" strike="noStrike">
              <a:solidFill>
                <a:srgbClr val="404040"/>
              </a:solidFill>
              <a:latin typeface="Calibri"/>
            </a:endParaRPr>
          </a:p>
          <a:p>
            <a:pPr marL="716040" indent="-8568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Investigating with more formal statistical methods.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1097280" y="286560"/>
            <a:ext cx="10058040" cy="85176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Exploratory Data Analysis</a:t>
            </a:r>
            <a:endParaRPr b="0" lang="en-US" sz="3600" spc="-1" strike="noStrike">
              <a:solidFill>
                <a:srgbClr val="000000"/>
              </a:solidFill>
              <a:latin typeface="Calibri"/>
            </a:endParaRPr>
          </a:p>
        </p:txBody>
      </p:sp>
      <p:sp>
        <p:nvSpPr>
          <p:cNvPr id="273"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Some of the graphical techniques used by EDA are:</a:t>
            </a:r>
            <a:endParaRPr b="0" lang="en-US" sz="2000" spc="-1" strike="noStrike">
              <a:solidFill>
                <a:srgbClr val="404040"/>
              </a:solidFill>
              <a:latin typeface="Calibri"/>
            </a:endParaRPr>
          </a:p>
          <a:p>
            <a:pPr marL="896760" indent="-36180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Box plot</a:t>
            </a:r>
            <a:endParaRPr b="0" lang="en-US" sz="2000" spc="-1" strike="noStrike">
              <a:solidFill>
                <a:srgbClr val="404040"/>
              </a:solidFill>
              <a:latin typeface="Calibri"/>
            </a:endParaRPr>
          </a:p>
          <a:p>
            <a:pPr marL="896760" indent="-36180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Histogram</a:t>
            </a:r>
            <a:endParaRPr b="0" lang="en-US" sz="2000" spc="-1" strike="noStrike">
              <a:solidFill>
                <a:srgbClr val="404040"/>
              </a:solidFill>
              <a:latin typeface="Calibri"/>
            </a:endParaRPr>
          </a:p>
          <a:p>
            <a:pPr marL="896760" indent="-36180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Scatter plot</a:t>
            </a:r>
            <a:endParaRPr b="0" lang="en-US" sz="2000" spc="-1" strike="noStrike">
              <a:solidFill>
                <a:srgbClr val="404040"/>
              </a:solidFill>
              <a:latin typeface="Calibri"/>
            </a:endParaRPr>
          </a:p>
          <a:p>
            <a:pPr marL="896760" indent="-36180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Run chart</a:t>
            </a:r>
            <a:endParaRPr b="0" lang="en-US" sz="2000" spc="-1" strike="noStrike">
              <a:solidFill>
                <a:srgbClr val="404040"/>
              </a:solidFill>
              <a:latin typeface="Calibri"/>
            </a:endParaRPr>
          </a:p>
          <a:p>
            <a:pPr marL="896760" indent="-36180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Bar chart</a:t>
            </a:r>
            <a:endParaRPr b="0" lang="en-US" sz="2000" spc="-1" strike="noStrike">
              <a:solidFill>
                <a:srgbClr val="404040"/>
              </a:solidFill>
              <a:latin typeface="Calibri"/>
            </a:endParaRPr>
          </a:p>
          <a:p>
            <a:pPr marL="896760" indent="-36180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Density plots</a:t>
            </a:r>
            <a:endParaRPr b="0" lang="en-US" sz="2000" spc="-1" strike="noStrike">
              <a:solidFill>
                <a:srgbClr val="404040"/>
              </a:solidFill>
              <a:latin typeface="Calibri"/>
            </a:endParaRPr>
          </a:p>
          <a:p>
            <a:pPr marL="896760" indent="-36180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Calibri"/>
              </a:rPr>
              <a:t>Pareto chart</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Data summary</a:t>
            </a:r>
            <a:endParaRPr b="0" lang="en-US" sz="3600" spc="-1" strike="noStrike">
              <a:solidFill>
                <a:srgbClr val="000000"/>
              </a:solidFill>
              <a:latin typeface="Calibri"/>
            </a:endParaRPr>
          </a:p>
        </p:txBody>
      </p:sp>
      <p:sp>
        <p:nvSpPr>
          <p:cNvPr id="275"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Data summary in R can be obtained by using various R functions. Table 4.2 provides a</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brief overview of few R functions.</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p:txBody>
      </p:sp>
      <p:pic>
        <p:nvPicPr>
          <p:cNvPr id="276" name="Picture 3" descr=""/>
          <p:cNvPicPr/>
          <p:nvPr/>
        </p:nvPicPr>
        <p:blipFill>
          <a:blip r:embed="rId1"/>
          <a:stretch/>
        </p:blipFill>
        <p:spPr>
          <a:xfrm>
            <a:off x="945000" y="2612880"/>
            <a:ext cx="8638920" cy="3632400"/>
          </a:xfrm>
          <a:prstGeom prst="rect">
            <a:avLst/>
          </a:prstGeom>
          <a:ln w="0">
            <a:noFill/>
          </a:ln>
        </p:spPr>
      </p:pic>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Example</a:t>
            </a:r>
            <a:endParaRPr b="0" lang="en-US" sz="4800" spc="-1" strike="noStrike">
              <a:solidFill>
                <a:srgbClr val="000000"/>
              </a:solidFill>
              <a:latin typeface="Calibri"/>
            </a:endParaRPr>
          </a:p>
        </p:txBody>
      </p:sp>
      <p:sp>
        <p:nvSpPr>
          <p:cNvPr id="278"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We will execute few R functions on the data set, “Employee”. Let us begin by displaying</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contents of the dataset, “Employee”.</a:t>
            </a:r>
            <a:endParaRPr b="0" lang="en-US" sz="2000" spc="-1" strike="noStrike">
              <a:solidFill>
                <a:srgbClr val="404040"/>
              </a:solidFill>
              <a:latin typeface="Calibri"/>
            </a:endParaRPr>
          </a:p>
          <a:p>
            <a:pPr marL="801720" indent="-80172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Employee</a:t>
            </a:r>
            <a:endParaRPr b="0" lang="en-US" sz="2000" spc="-1" strike="noStrike">
              <a:solidFill>
                <a:srgbClr val="404040"/>
              </a:solidFill>
              <a:latin typeface="Calibri"/>
            </a:endParaRPr>
          </a:p>
          <a:p>
            <a:pPr marL="801720" indent="-80172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EmpNo EmpName ProjName EmpExpYears</a:t>
            </a:r>
            <a:endParaRPr b="0" lang="en-US" sz="2000" spc="-1" strike="noStrike">
              <a:solidFill>
                <a:srgbClr val="404040"/>
              </a:solidFill>
              <a:latin typeface="Calibri"/>
            </a:endParaRPr>
          </a:p>
          <a:p>
            <a:pPr marL="801720" indent="-80172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 1000 Jack P01 5</a:t>
            </a:r>
            <a:endParaRPr b="0" lang="en-US" sz="2000" spc="-1" strike="noStrike">
              <a:solidFill>
                <a:srgbClr val="404040"/>
              </a:solidFill>
              <a:latin typeface="Calibri"/>
            </a:endParaRPr>
          </a:p>
          <a:p>
            <a:pPr marL="801720" indent="-80172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2 1001 Jane P02 9</a:t>
            </a:r>
            <a:endParaRPr b="0" lang="en-US" sz="2000" spc="-1" strike="noStrike">
              <a:solidFill>
                <a:srgbClr val="404040"/>
              </a:solidFill>
              <a:latin typeface="Calibri"/>
            </a:endParaRPr>
          </a:p>
          <a:p>
            <a:pPr marL="801720" indent="-80172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3 1002 Margaritta P03 6</a:t>
            </a:r>
            <a:endParaRPr b="0" lang="en-US" sz="2000" spc="-1" strike="noStrike">
              <a:solidFill>
                <a:srgbClr val="404040"/>
              </a:solidFill>
              <a:latin typeface="Calibri"/>
            </a:endParaRPr>
          </a:p>
          <a:p>
            <a:pPr marL="801720" indent="-80172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4 1003 Joe P04 12</a:t>
            </a:r>
            <a:endParaRPr b="0" lang="en-US" sz="2000" spc="-1" strike="noStrike">
              <a:solidFill>
                <a:srgbClr val="404040"/>
              </a:solidFill>
              <a:latin typeface="Calibri"/>
            </a:endParaRPr>
          </a:p>
          <a:p>
            <a:pPr marL="801720" indent="-80172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5 1004 Dave P05 7</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Example</a:t>
            </a:r>
            <a:endParaRPr b="0" lang="en-US" sz="3600" spc="-1" strike="noStrike">
              <a:solidFill>
                <a:srgbClr val="000000"/>
              </a:solidFill>
              <a:latin typeface="Calibri"/>
            </a:endParaRPr>
          </a:p>
        </p:txBody>
      </p:sp>
      <p:sp>
        <p:nvSpPr>
          <p:cNvPr id="280" name="PlaceHolder 2"/>
          <p:cNvSpPr>
            <a:spLocks noGrp="1"/>
          </p:cNvSpPr>
          <p:nvPr>
            <p:ph/>
          </p:nvPr>
        </p:nvSpPr>
        <p:spPr>
          <a:xfrm>
            <a:off x="1097280" y="1845720"/>
            <a:ext cx="10058040" cy="4023000"/>
          </a:xfrm>
          <a:prstGeom prst="rect">
            <a:avLst/>
          </a:prstGeom>
          <a:noFill/>
          <a:ln w="0">
            <a:noFill/>
          </a:ln>
        </p:spPr>
        <p:txBody>
          <a:bodyPr lIns="0" rIns="0" anchor="t">
            <a:normAutofit fontScale="85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a:t>
            </a:r>
            <a:r>
              <a:rPr b="0" lang="en-US" sz="2000" spc="-1" strike="noStrike">
                <a:solidFill>
                  <a:srgbClr val="ff0000"/>
                </a:solidFill>
                <a:latin typeface="Calibri"/>
              </a:rPr>
              <a:t>summary(Employee[4]) </a:t>
            </a:r>
            <a:r>
              <a:rPr b="0" lang="en-US" sz="2000" spc="-1" strike="noStrike">
                <a:solidFill>
                  <a:srgbClr val="404040"/>
                </a:solidFill>
                <a:latin typeface="Calibri"/>
              </a:rPr>
              <a:t>function works on the fourth column, “EmpExpYears” and computes the minimum, 1st quartile, median, mean, 3rd quartile and maximum for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its value.</a:t>
            </a:r>
            <a:endParaRPr b="0" lang="en-US" sz="2000" spc="-1" strike="noStrike">
              <a:solidFill>
                <a:srgbClr val="404040"/>
              </a:solidFill>
              <a:latin typeface="Calibri"/>
            </a:endParaRPr>
          </a:p>
          <a:p>
            <a:pPr marL="716040" indent="-9036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summary(Employee[4])</a:t>
            </a:r>
            <a:endParaRPr b="0" lang="en-US" sz="2000" spc="-1" strike="noStrike">
              <a:solidFill>
                <a:srgbClr val="404040"/>
              </a:solidFill>
              <a:latin typeface="Calibri"/>
            </a:endParaRPr>
          </a:p>
          <a:p>
            <a:pPr marL="716040" indent="-9036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EmpExpYears</a:t>
            </a:r>
            <a:endParaRPr b="0" lang="en-US" sz="2000" spc="-1" strike="noStrike">
              <a:solidFill>
                <a:srgbClr val="404040"/>
              </a:solidFill>
              <a:latin typeface="Calibri"/>
            </a:endParaRPr>
          </a:p>
          <a:p>
            <a:pPr marL="716040" indent="-9036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Min. : 5.0</a:t>
            </a:r>
            <a:endParaRPr b="0" lang="en-US" sz="2000" spc="-1" strike="noStrike">
              <a:solidFill>
                <a:srgbClr val="404040"/>
              </a:solidFill>
              <a:latin typeface="Calibri"/>
            </a:endParaRPr>
          </a:p>
          <a:p>
            <a:pPr marL="716040" indent="-9036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1st Qu. : 6.0</a:t>
            </a:r>
            <a:endParaRPr b="0" lang="en-US" sz="2000" spc="-1" strike="noStrike">
              <a:solidFill>
                <a:srgbClr val="404040"/>
              </a:solidFill>
              <a:latin typeface="Calibri"/>
            </a:endParaRPr>
          </a:p>
          <a:p>
            <a:pPr marL="716040" indent="-9036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Median : 7.0</a:t>
            </a:r>
            <a:endParaRPr b="0" lang="en-US" sz="2000" spc="-1" strike="noStrike">
              <a:solidFill>
                <a:srgbClr val="404040"/>
              </a:solidFill>
              <a:latin typeface="Calibri"/>
            </a:endParaRPr>
          </a:p>
          <a:p>
            <a:pPr marL="716040" indent="-9036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Mean : 7.8</a:t>
            </a:r>
            <a:endParaRPr b="0" lang="en-US" sz="2000" spc="-1" strike="noStrike">
              <a:solidFill>
                <a:srgbClr val="404040"/>
              </a:solidFill>
              <a:latin typeface="Calibri"/>
            </a:endParaRPr>
          </a:p>
          <a:p>
            <a:pPr marL="716040" indent="-9036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3rd Qu. : 9.0</a:t>
            </a:r>
            <a:endParaRPr b="0" lang="en-US" sz="2000" spc="-1" strike="noStrike">
              <a:solidFill>
                <a:srgbClr val="404040"/>
              </a:solidFill>
              <a:latin typeface="Calibri"/>
            </a:endParaRPr>
          </a:p>
          <a:p>
            <a:pPr marL="716040" indent="-9036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Max. : 12.0</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Functions</a:t>
            </a:r>
            <a:endParaRPr b="0" lang="en-US" sz="3600" spc="-1" strike="noStrike">
              <a:solidFill>
                <a:srgbClr val="000000"/>
              </a:solidFill>
              <a:latin typeface="Calibri"/>
            </a:endParaRPr>
          </a:p>
        </p:txBody>
      </p:sp>
      <p:pic>
        <p:nvPicPr>
          <p:cNvPr id="282" name="Content Placeholder 3" descr=""/>
          <p:cNvPicPr/>
          <p:nvPr/>
        </p:nvPicPr>
        <p:blipFill>
          <a:blip r:embed="rId1"/>
          <a:stretch/>
        </p:blipFill>
        <p:spPr>
          <a:xfrm>
            <a:off x="1097280" y="2027160"/>
            <a:ext cx="8814240" cy="3510720"/>
          </a:xfrm>
          <a:prstGeom prst="rect">
            <a:avLst/>
          </a:prstGeom>
          <a:ln w="0">
            <a:noFill/>
          </a:ln>
        </p:spPr>
      </p:pic>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1097280" y="614520"/>
            <a:ext cx="10058040" cy="92952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Finding the missing Values</a:t>
            </a:r>
            <a:endParaRPr b="0" lang="en-US" sz="3600" spc="-1" strike="noStrike">
              <a:solidFill>
                <a:srgbClr val="000000"/>
              </a:solidFill>
              <a:latin typeface="Calibri"/>
            </a:endParaRPr>
          </a:p>
        </p:txBody>
      </p:sp>
      <p:sp>
        <p:nvSpPr>
          <p:cNvPr id="284"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100000"/>
              </a:lnSpc>
              <a:buClr>
                <a:srgbClr val="e48312"/>
              </a:buClr>
              <a:buFont typeface="Calibri"/>
              <a:buChar char=" "/>
            </a:pPr>
            <a:r>
              <a:rPr b="0" lang="en-US" sz="2000" spc="-1" strike="noStrike">
                <a:solidFill>
                  <a:srgbClr val="404040"/>
                </a:solidFill>
                <a:latin typeface="Calibri"/>
              </a:rPr>
              <a:t>In R, missing data is indicated as NA in the dataset, where NA refers to “Not Available”.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It is neither a string nor a numeric value, but it is used to specify the missing data. Input</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vectors can be created with the missing values as follows: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x &lt;- c(2,5,86,9,NA,45,3)</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y &lt;- c(“red”,NA,“NA”)</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In this </a:t>
            </a:r>
            <a:r>
              <a:rPr b="0" lang="en-US" sz="2000" spc="-1" strike="noStrike">
                <a:solidFill>
                  <a:srgbClr val="ff0000"/>
                </a:solidFill>
                <a:latin typeface="Calibri"/>
              </a:rPr>
              <a:t>case</a:t>
            </a:r>
            <a:r>
              <a:rPr b="0" lang="en-US" sz="2000" spc="-1" strike="noStrike">
                <a:solidFill>
                  <a:srgbClr val="404040"/>
                </a:solidFill>
                <a:latin typeface="Calibri"/>
              </a:rPr>
              <a:t>, x contains numeric values as the input. Here, NA can be used to avoid any errors or other numeric exceptions like infinity. </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In the </a:t>
            </a:r>
            <a:r>
              <a:rPr b="0" lang="en-US" sz="2000" spc="-1" strike="noStrike">
                <a:solidFill>
                  <a:srgbClr val="ff0000"/>
                </a:solidFill>
                <a:latin typeface="Calibri"/>
              </a:rPr>
              <a:t>second example</a:t>
            </a:r>
            <a:r>
              <a:rPr b="0" lang="en-US" sz="2000" spc="-1" strike="noStrike">
                <a:solidFill>
                  <a:srgbClr val="404040"/>
                </a:solidFill>
                <a:latin typeface="Calibri"/>
              </a:rPr>
              <a:t>, y contains the string values as the input.</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1251000" y="286560"/>
            <a:ext cx="9904320" cy="111060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Finding the missing Values</a:t>
            </a:r>
            <a:endParaRPr b="0" lang="en-US" sz="3600" spc="-1" strike="noStrike">
              <a:solidFill>
                <a:srgbClr val="000000"/>
              </a:solidFill>
              <a:latin typeface="Calibri"/>
            </a:endParaRPr>
          </a:p>
        </p:txBody>
      </p:sp>
      <p:pic>
        <p:nvPicPr>
          <p:cNvPr id="286" name="Content Placeholder 3" descr=""/>
          <p:cNvPicPr/>
          <p:nvPr/>
        </p:nvPicPr>
        <p:blipFill>
          <a:blip r:embed="rId1"/>
          <a:stretch/>
        </p:blipFill>
        <p:spPr>
          <a:xfrm>
            <a:off x="1175760" y="1967760"/>
            <a:ext cx="8493840" cy="3794400"/>
          </a:xfrm>
          <a:prstGeom prst="rect">
            <a:avLst/>
          </a:prstGeom>
          <a:ln w="0">
            <a:noFill/>
          </a:ln>
        </p:spPr>
      </p:pic>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Invalid Values and outliers</a:t>
            </a:r>
            <a:endParaRPr b="0" lang="en-US" sz="3600" spc="-1" strike="noStrike">
              <a:solidFill>
                <a:srgbClr val="000000"/>
              </a:solidFill>
              <a:latin typeface="Calibri"/>
            </a:endParaRPr>
          </a:p>
        </p:txBody>
      </p:sp>
      <p:sp>
        <p:nvSpPr>
          <p:cNvPr id="288" name="PlaceHolder 2"/>
          <p:cNvSpPr>
            <a:spLocks noGrp="1"/>
          </p:cNvSpPr>
          <p:nvPr>
            <p:ph/>
          </p:nvPr>
        </p:nvSpPr>
        <p:spPr>
          <a:xfrm>
            <a:off x="1097280" y="1845720"/>
            <a:ext cx="8494920" cy="4023000"/>
          </a:xfrm>
          <a:prstGeom prst="rect">
            <a:avLst/>
          </a:prstGeom>
          <a:noFill/>
          <a:ln w="0">
            <a:noFill/>
          </a:ln>
        </p:spPr>
        <p:txBody>
          <a:bodyPr lIns="0" rIns="0" anchor="t">
            <a:normAutofit fontScale="77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In R, special checks are conducted for handling </a:t>
            </a:r>
            <a:r>
              <a:rPr b="0" lang="en-US" sz="2000" spc="-1" strike="noStrike">
                <a:solidFill>
                  <a:srgbClr val="ff0000"/>
                </a:solidFill>
                <a:latin typeface="Calibri"/>
              </a:rPr>
              <a:t>invalid values</a:t>
            </a:r>
            <a:r>
              <a:rPr b="0" lang="en-US" sz="2000" spc="-1" strike="noStrike">
                <a:solidFill>
                  <a:srgbClr val="404040"/>
                </a:solidFill>
                <a:latin typeface="Calibri"/>
              </a:rPr>
              <a:t>.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An invalid value can be </a:t>
            </a:r>
            <a:r>
              <a:rPr b="0" lang="en-US" sz="2000" spc="-1" strike="noStrike">
                <a:solidFill>
                  <a:srgbClr val="ff0000"/>
                </a:solidFill>
                <a:latin typeface="Calibri"/>
              </a:rPr>
              <a:t>NA, NaN, Inf or -Inf</a:t>
            </a:r>
            <a:r>
              <a:rPr b="0" lang="en-US" sz="2000" spc="-1" strike="noStrike">
                <a:solidFill>
                  <a:srgbClr val="404040"/>
                </a:solidFill>
                <a:latin typeface="Calibri"/>
              </a:rPr>
              <a:t>.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Functions for these invalid values include </a:t>
            </a:r>
            <a:r>
              <a:rPr b="0" lang="en-US" sz="2000" spc="-1" strike="noStrike">
                <a:solidFill>
                  <a:srgbClr val="ff0000"/>
                </a:solidFill>
                <a:latin typeface="Calibri"/>
              </a:rPr>
              <a:t>anyNA(x), anyInvalid(x) </a:t>
            </a:r>
            <a:r>
              <a:rPr b="0" lang="en-US" sz="2000" spc="-1" strike="noStrike">
                <a:solidFill>
                  <a:srgbClr val="404040"/>
                </a:solidFill>
                <a:latin typeface="Calibri"/>
              </a:rPr>
              <a:t>and </a:t>
            </a:r>
            <a:r>
              <a:rPr b="0" lang="en-US" sz="2000" spc="-1" strike="noStrike">
                <a:solidFill>
                  <a:srgbClr val="ff0000"/>
                </a:solidFill>
                <a:latin typeface="Calibri"/>
              </a:rPr>
              <a:t>is.invalid(x)</a:t>
            </a:r>
            <a:r>
              <a:rPr b="0" lang="en-US" sz="2000" spc="-1" strike="noStrike">
                <a:solidFill>
                  <a:srgbClr val="404040"/>
                </a:solidFill>
                <a:latin typeface="Calibri"/>
              </a:rPr>
              <a:t>, where the value of x can be a vector, matrix or array.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Here, </a:t>
            </a:r>
            <a:r>
              <a:rPr b="0" lang="en-US" sz="2000" spc="-1" strike="noStrike">
                <a:solidFill>
                  <a:srgbClr val="ff0000"/>
                </a:solidFill>
                <a:latin typeface="Calibri"/>
              </a:rPr>
              <a:t>anyNA</a:t>
            </a:r>
            <a:r>
              <a:rPr b="0" lang="en-US" sz="2000" spc="-1" strike="noStrike">
                <a:solidFill>
                  <a:srgbClr val="404040"/>
                </a:solidFill>
                <a:latin typeface="Calibri"/>
              </a:rPr>
              <a:t> function returns a TRUE value if the input has any Na or NaN values. Else, it returns a FALSE value. This function </a:t>
            </a:r>
            <a:r>
              <a:rPr b="0" lang="en-US" sz="2000" spc="-1" strike="noStrike">
                <a:solidFill>
                  <a:srgbClr val="ff0000"/>
                </a:solidFill>
                <a:latin typeface="Calibri"/>
              </a:rPr>
              <a:t>anyInvalid </a:t>
            </a:r>
            <a:r>
              <a:rPr b="0" lang="en-US" sz="2000" spc="-1" strike="noStrike">
                <a:solidFill>
                  <a:srgbClr val="000000"/>
                </a:solidFill>
                <a:latin typeface="Calibri"/>
              </a:rPr>
              <a:t>function</a:t>
            </a:r>
            <a:r>
              <a:rPr b="0" lang="en-US" sz="2000" spc="-1" strike="noStrike">
                <a:solidFill>
                  <a:srgbClr val="ff0000"/>
                </a:solidFill>
                <a:latin typeface="Calibri"/>
              </a:rPr>
              <a:t> </a:t>
            </a:r>
            <a:r>
              <a:rPr b="0" lang="en-US" sz="2000" spc="-1" strike="noStrike">
                <a:solidFill>
                  <a:srgbClr val="404040"/>
                </a:solidFill>
                <a:latin typeface="Calibri"/>
              </a:rPr>
              <a:t>returns a TRUE value, if the input has any invalid values. Else, it returns a FALSE value.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This function is equivalent to </a:t>
            </a:r>
            <a:r>
              <a:rPr b="0" lang="en-US" sz="2000" spc="-1" strike="noStrike">
                <a:solidFill>
                  <a:srgbClr val="ff0000"/>
                </a:solidFill>
                <a:latin typeface="Calibri"/>
              </a:rPr>
              <a:t>any(is.na(x)).  anyInvalid function </a:t>
            </a:r>
            <a:r>
              <a:rPr b="0" lang="en-US" sz="2000" spc="-1" strike="noStrike">
                <a:solidFill>
                  <a:srgbClr val="000000"/>
                </a:solidFill>
                <a:latin typeface="Calibri"/>
              </a:rPr>
              <a:t>returns a TRUE value, if the input has any invalid values. Else, it returns a FALSE value. This function is equivalent to any(is.valid(x)).</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000000"/>
                </a:solidFill>
                <a:latin typeface="Calibri"/>
              </a:rPr>
              <a:t>Unlike the other two functions, </a:t>
            </a:r>
            <a:r>
              <a:rPr b="0" lang="en-US" sz="2000" spc="-1" strike="noStrike">
                <a:solidFill>
                  <a:srgbClr val="ff0000"/>
                </a:solidFill>
                <a:latin typeface="Calibri"/>
              </a:rPr>
              <a:t>is.invalid </a:t>
            </a:r>
            <a:r>
              <a:rPr b="0" lang="en-US" sz="2000" spc="-1" strike="noStrike">
                <a:solidFill>
                  <a:srgbClr val="000000"/>
                </a:solidFill>
                <a:latin typeface="Calibri"/>
              </a:rPr>
              <a:t>returns an object corresponding to each input value. If the input is invalid, it returns TRUE, else it returns FALSE.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000000"/>
                </a:solidFill>
                <a:latin typeface="Calibri"/>
              </a:rPr>
              <a:t>This function is also equivalent to </a:t>
            </a:r>
            <a:r>
              <a:rPr b="0" lang="en-US" sz="2000" spc="-1" strike="noStrike">
                <a:solidFill>
                  <a:srgbClr val="ff0000"/>
                </a:solidFill>
                <a:latin typeface="Calibri"/>
              </a:rPr>
              <a:t>(is.na(x) | is.infinite(x)).</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Examples </a:t>
            </a:r>
            <a:endParaRPr b="0" lang="en-US" sz="3600" spc="-1" strike="noStrike">
              <a:solidFill>
                <a:srgbClr val="000000"/>
              </a:solidFill>
              <a:latin typeface="Calibri"/>
            </a:endParaRPr>
          </a:p>
        </p:txBody>
      </p:sp>
      <p:sp>
        <p:nvSpPr>
          <p:cNvPr id="290" name="PlaceHolder 2"/>
          <p:cNvSpPr>
            <a:spLocks noGrp="1"/>
          </p:cNvSpPr>
          <p:nvPr>
            <p:ph/>
          </p:nvPr>
        </p:nvSpPr>
        <p:spPr>
          <a:xfrm>
            <a:off x="1097280" y="1845720"/>
            <a:ext cx="10058040" cy="4023000"/>
          </a:xfrm>
          <a:prstGeom prst="rect">
            <a:avLst/>
          </a:prstGeom>
          <a:noFill/>
          <a:ln w="0">
            <a:noFill/>
          </a:ln>
        </p:spPr>
        <p:txBody>
          <a:bodyPr lIns="0" rIns="0" anchor="t">
            <a:normAutofit fontScale="76000"/>
          </a:bodyPr>
          <a:p>
            <a:pPr marL="85680" indent="-85680">
              <a:lnSpc>
                <a:spcPct val="120000"/>
              </a:lnSpc>
              <a:buClr>
                <a:srgbClr val="e48312"/>
              </a:buClr>
              <a:buFont typeface="Calibri"/>
              <a:buChar char=" "/>
            </a:pPr>
            <a:r>
              <a:rPr b="0" lang="en-IN" sz="2000" spc="-1" strike="noStrike">
                <a:solidFill>
                  <a:srgbClr val="404040"/>
                </a:solidFill>
                <a:latin typeface="Calibri"/>
              </a:rPr>
              <a:t>Few examples with the above functions are:</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c00000"/>
                </a:solidFill>
                <a:latin typeface="Calibri"/>
              </a:rPr>
              <a:t>&gt; anyNA(c(-9,NaN,9))</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404040"/>
                </a:solidFill>
                <a:latin typeface="Calibri"/>
              </a:rPr>
              <a:t>[1] TRUE</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404040"/>
                </a:solidFill>
                <a:latin typeface="Calibri"/>
              </a:rPr>
              <a:t>is.finite(c(-9, Inf,9))</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c00000"/>
                </a:solidFill>
                <a:latin typeface="Calibri"/>
              </a:rPr>
              <a:t>&gt; is.finite(c(-9, Inf,9))</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404040"/>
                </a:solidFill>
                <a:latin typeface="Calibri"/>
              </a:rPr>
              <a:t>[1] TRUE FALSE TRUE</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404040"/>
                </a:solidFill>
                <a:latin typeface="Calibri"/>
              </a:rPr>
              <a:t>is.infinite(c(-9, Inf,9))</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c00000"/>
                </a:solidFill>
                <a:latin typeface="Calibri"/>
              </a:rPr>
              <a:t>&gt; is.infinite(c(-9, Inf, 9))</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404040"/>
                </a:solidFill>
                <a:latin typeface="Calibri"/>
              </a:rPr>
              <a:t>[1] FALSE TRUE FALSE</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404040"/>
                </a:solidFill>
                <a:latin typeface="Calibri"/>
              </a:rPr>
              <a:t>is.nan(c(-9, Inf,9))</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c00000"/>
                </a:solidFill>
                <a:latin typeface="Calibri"/>
              </a:rPr>
              <a:t>&gt; is.nan(c(-9, Inf, 9))</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404040"/>
                </a:solidFill>
                <a:latin typeface="Calibri"/>
              </a:rPr>
              <a:t>[1] FALSE FALSE FALSE</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c00000"/>
                </a:solidFill>
                <a:latin typeface="Calibri"/>
              </a:rPr>
              <a:t>&gt; is.nan(c(-9, Inf, NaN))</a:t>
            </a:r>
            <a:endParaRPr b="0" lang="en-US" sz="2000" spc="-1" strike="noStrike">
              <a:solidFill>
                <a:srgbClr val="404040"/>
              </a:solidFill>
              <a:latin typeface="Calibri"/>
            </a:endParaRPr>
          </a:p>
          <a:p>
            <a:pPr marL="716040" indent="-85680">
              <a:lnSpc>
                <a:spcPct val="120000"/>
              </a:lnSpc>
              <a:buClr>
                <a:srgbClr val="e48312"/>
              </a:buClr>
              <a:buFont typeface="Calibri"/>
              <a:buChar char=" "/>
            </a:pPr>
            <a:r>
              <a:rPr b="0" lang="en-IN" sz="2000" spc="-1" strike="noStrike">
                <a:solidFill>
                  <a:srgbClr val="404040"/>
                </a:solidFill>
                <a:latin typeface="Calibri"/>
              </a:rPr>
              <a:t>[1] FALSE FALSE TRUE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1097280" y="286560"/>
            <a:ext cx="10058040" cy="9122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Invalid Values and outliers</a:t>
            </a:r>
            <a:endParaRPr b="0" lang="en-US" sz="3600" spc="-1" strike="noStrike">
              <a:solidFill>
                <a:srgbClr val="000000"/>
              </a:solidFill>
              <a:latin typeface="Calibri"/>
            </a:endParaRPr>
          </a:p>
        </p:txBody>
      </p:sp>
      <p:sp>
        <p:nvSpPr>
          <p:cNvPr id="292"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The basic idea of invalid values and outliers can be explained with a simple example.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Obtain the min, max, median mean, 1st quantile, 3rd quantile values using the summary()</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function.</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p:txBody>
      </p:sp>
      <p:pic>
        <p:nvPicPr>
          <p:cNvPr id="293" name="Picture 3" descr=""/>
          <p:cNvPicPr/>
          <p:nvPr/>
        </p:nvPicPr>
        <p:blipFill>
          <a:blip r:embed="rId1"/>
          <a:stretch/>
        </p:blipFill>
        <p:spPr>
          <a:xfrm>
            <a:off x="1259280" y="3405600"/>
            <a:ext cx="4493880" cy="2526840"/>
          </a:xfrm>
          <a:prstGeom prst="rect">
            <a:avLst/>
          </a:prstGeom>
          <a:ln w="0">
            <a:noFill/>
          </a:ln>
        </p:spPr>
      </p:pic>
      <p:pic>
        <p:nvPicPr>
          <p:cNvPr id="294" name="Picture 5" descr=""/>
          <p:cNvPicPr/>
          <p:nvPr/>
        </p:nvPicPr>
        <p:blipFill>
          <a:blip r:embed="rId2"/>
          <a:stretch/>
        </p:blipFill>
        <p:spPr>
          <a:xfrm>
            <a:off x="5915880" y="2909520"/>
            <a:ext cx="5142600" cy="3324240"/>
          </a:xfrm>
          <a:prstGeom prst="rect">
            <a:avLst/>
          </a:prstGeom>
          <a:ln w="0">
            <a:noFill/>
          </a:ln>
        </p:spPr>
      </p:pic>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1097280" y="286560"/>
            <a:ext cx="10058040" cy="68796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Descriptive statistics</a:t>
            </a:r>
            <a:endParaRPr b="0" lang="en-US" sz="3600" spc="-1" strike="noStrike">
              <a:solidFill>
                <a:srgbClr val="000000"/>
              </a:solidFill>
              <a:latin typeface="Calibri"/>
            </a:endParaRPr>
          </a:p>
        </p:txBody>
      </p:sp>
      <p:sp>
        <p:nvSpPr>
          <p:cNvPr id="296" name="PlaceHolder 2"/>
          <p:cNvSpPr>
            <a:spLocks noGrp="1"/>
          </p:cNvSpPr>
          <p:nvPr>
            <p:ph/>
          </p:nvPr>
        </p:nvSpPr>
        <p:spPr>
          <a:xfrm>
            <a:off x="1097280" y="1845720"/>
            <a:ext cx="10058040" cy="4023000"/>
          </a:xfrm>
          <a:prstGeom prst="rect">
            <a:avLst/>
          </a:prstGeom>
          <a:noFill/>
          <a:ln w="0">
            <a:noFill/>
          </a:ln>
        </p:spPr>
        <p:txBody>
          <a:bodyPr lIns="0" rIns="0" anchor="t">
            <a:normAutofit fontScale="96000"/>
          </a:bodyPr>
          <a:p>
            <a:pPr marL="91440" indent="-91440">
              <a:lnSpc>
                <a:spcPct val="90000"/>
              </a:lnSpc>
              <a:spcBef>
                <a:spcPts val="1199"/>
              </a:spcBef>
              <a:spcAft>
                <a:spcPts val="201"/>
              </a:spcAft>
              <a:buClr>
                <a:srgbClr val="e48312"/>
              </a:buClr>
              <a:buFont typeface="Calibri"/>
              <a:buChar char=" "/>
            </a:pPr>
            <a:r>
              <a:rPr b="0" lang="en-IN" sz="2000" spc="-1" strike="noStrike">
                <a:solidFill>
                  <a:srgbClr val="ff0000"/>
                </a:solidFill>
                <a:latin typeface="Calibri"/>
              </a:rPr>
              <a:t>Data Range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Data range in R helps in identifying the extent of difference in input data. The data range   of the observation variable is the difference between the largest and the smallest data value in a dataset. The value of a data range can be calculated by subtracting the smallest value from the largest value, i.e. </a:t>
            </a:r>
            <a:r>
              <a:rPr b="0" lang="en-US" sz="2000" spc="-1" strike="noStrike">
                <a:solidFill>
                  <a:srgbClr val="ff0000"/>
                </a:solidFill>
                <a:latin typeface="Calibri"/>
              </a:rPr>
              <a:t>Range = Largest value – Smallest value</a:t>
            </a:r>
            <a:r>
              <a:rPr b="0" lang="en-US" sz="2000" spc="-1" strike="noStrike">
                <a:solidFill>
                  <a:srgbClr val="404040"/>
                </a:solidFill>
                <a:latin typeface="Calibri"/>
              </a:rPr>
              <a: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ff0000"/>
                </a:solidFill>
                <a:latin typeface="Calibri"/>
              </a:rPr>
              <a:t>For example</a:t>
            </a:r>
            <a:r>
              <a:rPr b="0" lang="en-US" sz="2000" spc="-1" strike="noStrike">
                <a:solidFill>
                  <a:srgbClr val="404040"/>
                </a:solidFill>
                <a:latin typeface="Calibri"/>
              </a:rPr>
              <a:t>, the range or the duration of rainfall can be computed as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 Calculates the duration.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&gt;duration = time$rainfall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#Apply max and min function to return the range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&gt;max(duration) - min(duration)</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1097280" y="286560"/>
            <a:ext cx="10058040" cy="58428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Descriptive statistics</a:t>
            </a:r>
            <a:endParaRPr b="0" lang="en-US" sz="3600" spc="-1" strike="noStrike">
              <a:solidFill>
                <a:srgbClr val="000000"/>
              </a:solidFill>
              <a:latin typeface="Calibri"/>
            </a:endParaRPr>
          </a:p>
        </p:txBody>
      </p:sp>
      <p:sp>
        <p:nvSpPr>
          <p:cNvPr id="298" name="PlaceHolder 2"/>
          <p:cNvSpPr>
            <a:spLocks noGrp="1"/>
          </p:cNvSpPr>
          <p:nvPr>
            <p:ph/>
          </p:nvPr>
        </p:nvSpPr>
        <p:spPr>
          <a:xfrm>
            <a:off x="1097280" y="1845720"/>
            <a:ext cx="5458320" cy="4321800"/>
          </a:xfrm>
          <a:prstGeom prst="rect">
            <a:avLst/>
          </a:prstGeom>
          <a:noFill/>
          <a:ln w="0">
            <a:noFill/>
          </a:ln>
        </p:spPr>
        <p:txBody>
          <a:bodyPr lIns="0" rIns="0" anchor="t">
            <a:normAutofit fontScale="40000"/>
          </a:bodyPr>
          <a:p>
            <a:pPr marL="91440" indent="-91440">
              <a:lnSpc>
                <a:spcPct val="120000"/>
              </a:lnSpc>
              <a:buClr>
                <a:srgbClr val="e48312"/>
              </a:buClr>
              <a:buFont typeface="Calibri"/>
              <a:buChar char=" "/>
            </a:pPr>
            <a:r>
              <a:rPr b="0" lang="en-US" sz="3400" spc="-1" strike="noStrike">
                <a:solidFill>
                  <a:srgbClr val="ff0000"/>
                </a:solidFill>
                <a:latin typeface="Calibri"/>
              </a:rPr>
              <a:t>Frequency</a:t>
            </a:r>
            <a:endParaRPr b="0" lang="en-US" sz="34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Frequency is </a:t>
            </a:r>
            <a:r>
              <a:rPr b="0" lang="en-US" sz="2000" spc="-1" strike="noStrike">
                <a:solidFill>
                  <a:srgbClr val="ff0000"/>
                </a:solidFill>
                <a:latin typeface="Calibri"/>
              </a:rPr>
              <a:t>a summary of data occurrence in a collection of non-overlapping types</a:t>
            </a:r>
            <a:r>
              <a:rPr b="0" lang="en-US" sz="2000" spc="-1" strike="noStrike">
                <a:solidFill>
                  <a:srgbClr val="404040"/>
                </a:solidFill>
                <a:latin typeface="Calibri"/>
              </a:rPr>
              <a:t>. In R, </a:t>
            </a:r>
            <a:r>
              <a:rPr b="0" lang="en-US" sz="2000" spc="-1" strike="noStrike">
                <a:solidFill>
                  <a:srgbClr val="ff0000"/>
                </a:solidFill>
                <a:latin typeface="Calibri"/>
              </a:rPr>
              <a:t>freq function can be used to find the frequency distribution of vector inputs. </a:t>
            </a:r>
            <a:r>
              <a:rPr b="0" lang="en-US" sz="2000" spc="-1" strike="noStrike">
                <a:solidFill>
                  <a:srgbClr val="404040"/>
                </a:solidFill>
                <a:latin typeface="Calibri"/>
              </a:rPr>
              <a:t>In the example given, consider sellers as the dataset and the frequency distribution of the shopvariable is the summary of the number of sellers in each shop.</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head(subset(mtcars, select = ‘gear’))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gear                    </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Mazda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RX4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Mazda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RX4 Wag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Datsun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710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4</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Hornet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4 Drive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Hornet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Sportabout </a:t>
            </a:r>
            <a:r>
              <a:rPr b="0" lang="en-US" sz="2000" spc="-1" strike="noStrike">
                <a:solidFill>
                  <a:srgbClr val="404040"/>
                </a:solidFill>
                <a:latin typeface="Calibri"/>
              </a:rPr>
              <a:t>	</a:t>
            </a:r>
            <a:r>
              <a:rPr b="0" lang="en-US" sz="2000" spc="-1" strike="noStrike">
                <a:solidFill>
                  <a:srgbClr val="404040"/>
                </a:solidFill>
                <a:latin typeface="Calibri"/>
              </a:rPr>
              <a:t>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Valiant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	</a:t>
            </a:r>
            <a:r>
              <a:rPr b="0" lang="en-US" sz="2000" spc="-1" strike="noStrike">
                <a:solidFill>
                  <a:srgbClr val="404040"/>
                </a:solidFill>
                <a:latin typeface="Calibri"/>
              </a:rPr>
              <a:t>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factor(mtcars$gear)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[1] 4 4 4 3 3 3 3 4 4 4 4 3 3 3 3 3 3 4 4 4 3 3 3 3 3 4 5 5 5 5 5 4                                                                     </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Levels: 3 4 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w = table(mtcars$gear)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w</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3 4 5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15 12 5</a:t>
            </a:r>
            <a:endParaRPr b="0" lang="en-US" sz="2000" spc="-1" strike="noStrike">
              <a:solidFill>
                <a:srgbClr val="404040"/>
              </a:solidFill>
              <a:latin typeface="Calibri"/>
            </a:endParaRPr>
          </a:p>
          <a:p>
            <a:pPr>
              <a:lnSpc>
                <a:spcPct val="120000"/>
              </a:lnSpc>
              <a:buNone/>
            </a:pP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t = as.data.frame(w)</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Var1 Freq</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1 3 15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2 4 12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3 5 5</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p:txBody>
      </p:sp>
      <p:sp>
        <p:nvSpPr>
          <p:cNvPr id="299" name="Content Placeholder 2"/>
          <p:cNvSpPr/>
          <p:nvPr/>
        </p:nvSpPr>
        <p:spPr>
          <a:xfrm>
            <a:off x="6927120" y="1845720"/>
            <a:ext cx="3735000" cy="4321800"/>
          </a:xfrm>
          <a:prstGeom prst="rect">
            <a:avLst/>
          </a:prstGeom>
          <a:noFill/>
          <a:ln w="0">
            <a:noFill/>
          </a:ln>
        </p:spPr>
        <p:style>
          <a:lnRef idx="0"/>
          <a:fillRef idx="0"/>
          <a:effectRef idx="0"/>
          <a:fontRef idx="minor"/>
        </p:style>
        <p:txBody>
          <a:bodyPr lIns="0" rIns="0" anchor="t">
            <a:noAutofit/>
          </a:bodyPr>
          <a:p>
            <a:pPr>
              <a:lnSpc>
                <a:spcPct val="100000"/>
              </a:lnSpc>
              <a:buNone/>
            </a:pPr>
            <a:endParaRPr b="0" lang="en-IN" sz="11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&gt; names(t) [1] = ‘gear’</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&gt; t</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gear Freq</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1 3 15</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2 4 12</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3 5 5</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The cbind()function can be used to display the result in column format.</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&gt; w</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3 4 5</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15 12 5</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&gt; cbind(w)</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w</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3 15</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4 12</a:t>
            </a:r>
            <a:endParaRPr b="0" lang="en-IN" sz="1600" spc="-1" strike="noStrike">
              <a:latin typeface="Arial"/>
            </a:endParaRPr>
          </a:p>
          <a:p>
            <a:pPr marL="91440" indent="-91440">
              <a:lnSpc>
                <a:spcPct val="100000"/>
              </a:lnSpc>
              <a:buClr>
                <a:srgbClr val="e48312"/>
              </a:buClr>
              <a:buFont typeface="Calibri"/>
              <a:buChar char=" "/>
            </a:pPr>
            <a:r>
              <a:rPr b="0" lang="en-US" sz="1600" spc="-1" strike="noStrike">
                <a:solidFill>
                  <a:srgbClr val="404040"/>
                </a:solidFill>
                <a:latin typeface="Calibri"/>
              </a:rPr>
              <a:t>5 5</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735120" y="562680"/>
            <a:ext cx="10058040" cy="63612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Descriptive statistics</a:t>
            </a:r>
            <a:endParaRPr b="0" lang="en-US" sz="3600" spc="-1" strike="noStrike">
              <a:solidFill>
                <a:srgbClr val="000000"/>
              </a:solidFill>
              <a:latin typeface="Calibri"/>
            </a:endParaRPr>
          </a:p>
        </p:txBody>
      </p:sp>
      <p:sp>
        <p:nvSpPr>
          <p:cNvPr id="301" name="PlaceHolder 2"/>
          <p:cNvSpPr>
            <a:spLocks noGrp="1"/>
          </p:cNvSpPr>
          <p:nvPr>
            <p:ph/>
          </p:nvPr>
        </p:nvSpPr>
        <p:spPr>
          <a:xfrm>
            <a:off x="735120" y="1650960"/>
            <a:ext cx="5372280" cy="4482000"/>
          </a:xfrm>
          <a:prstGeom prst="rect">
            <a:avLst/>
          </a:prstGeom>
          <a:noFill/>
          <a:ln w="0">
            <a:noFill/>
          </a:ln>
        </p:spPr>
        <p:txBody>
          <a:bodyPr lIns="0" rIns="0" anchor="t">
            <a:normAutofit fontScale="20000"/>
          </a:bodyPr>
          <a:p>
            <a:pPr marL="91440" indent="-91440">
              <a:lnSpc>
                <a:spcPct val="120000"/>
              </a:lnSpc>
              <a:buClr>
                <a:srgbClr val="e48312"/>
              </a:buClr>
              <a:buFont typeface="Calibri"/>
              <a:buChar char=" "/>
            </a:pPr>
            <a:r>
              <a:rPr b="1" lang="en-IN" sz="7200" spc="-1" strike="noStrike">
                <a:solidFill>
                  <a:srgbClr val="ff0000"/>
                </a:solidFill>
                <a:latin typeface="Calibri"/>
              </a:rPr>
              <a:t>Mode</a:t>
            </a:r>
            <a:endParaRPr b="0" lang="en-US" sz="7200" spc="-1" strike="noStrike">
              <a:solidFill>
                <a:srgbClr val="404040"/>
              </a:solidFill>
              <a:latin typeface="Calibri"/>
            </a:endParaRPr>
          </a:p>
          <a:p>
            <a:pPr marL="91440" indent="-91440">
              <a:lnSpc>
                <a:spcPct val="120000"/>
              </a:lnSpc>
              <a:buClr>
                <a:srgbClr val="e48312"/>
              </a:buClr>
              <a:buFont typeface="Calibri"/>
              <a:buChar char=" "/>
            </a:pPr>
            <a:r>
              <a:rPr b="0" lang="en-US" sz="5600" spc="-1" strike="noStrike">
                <a:solidFill>
                  <a:srgbClr val="404040"/>
                </a:solidFill>
                <a:latin typeface="Calibri"/>
              </a:rPr>
              <a:t>Mode is similar to frequency, except that the value of mode returns the highest number  of occurrences in a dataset. Mode can take both numeric and character as input data. Mode does not have any standard inbuilt function to calculate mode of the given inputs. </a:t>
            </a:r>
            <a:r>
              <a:rPr b="0" lang="en-IN" sz="5600" spc="-1" strike="noStrike">
                <a:solidFill>
                  <a:srgbClr val="404040"/>
                </a:solidFill>
                <a:latin typeface="Calibri"/>
              </a:rPr>
              <a:t>A sample code to return the mode value is</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c00000"/>
                </a:solidFill>
                <a:latin typeface="Calibri"/>
              </a:rPr>
              <a:t>#Create the function</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getmode &lt;- function(y){</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uniqy &lt;- unique(y)</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uniqy[which.max(tabulate(match(y,uniqy)))]</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c00000"/>
                </a:solidFill>
                <a:latin typeface="Calibri"/>
              </a:rPr>
              <a:t># Define the input vector values</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v &lt;- c(5,6,4,8,5,7,4,6,5,8,3,2,1)</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c00000"/>
                </a:solidFill>
                <a:latin typeface="Calibri"/>
              </a:rPr>
              <a:t>#Calculate the mode with user-defined functions</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resultmode&lt;- getmode(v)</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print(resultmode)</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c00000"/>
                </a:solidFill>
                <a:latin typeface="Calibri"/>
              </a:rPr>
              <a:t>#Define characters as input vector values</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charv &lt;-c(“as”,“is”,“is”,“it”,“in”)</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c00000"/>
                </a:solidFill>
                <a:latin typeface="Calibri"/>
              </a:rPr>
              <a:t>#Calculate mode using user-defined function</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resultmode &lt;- getmode(charv)</a:t>
            </a:r>
            <a:endParaRPr b="0" lang="en-US" sz="5600" spc="-1" strike="noStrike">
              <a:solidFill>
                <a:srgbClr val="404040"/>
              </a:solidFill>
              <a:latin typeface="Calibri"/>
            </a:endParaRPr>
          </a:p>
          <a:p>
            <a:pPr marL="91440" indent="-91440">
              <a:lnSpc>
                <a:spcPct val="120000"/>
              </a:lnSpc>
              <a:buClr>
                <a:srgbClr val="e48312"/>
              </a:buClr>
              <a:buFont typeface="Calibri"/>
              <a:buChar char=" "/>
            </a:pPr>
            <a:r>
              <a:rPr b="0" lang="en-IN" sz="5600" spc="-1" strike="noStrike">
                <a:solidFill>
                  <a:srgbClr val="404040"/>
                </a:solidFill>
                <a:latin typeface="Calibri"/>
              </a:rPr>
              <a:t>print(resultmode)</a:t>
            </a:r>
            <a:endParaRPr b="0" lang="en-US" sz="5600" spc="-1" strike="noStrike">
              <a:solidFill>
                <a:srgbClr val="404040"/>
              </a:solidFill>
              <a:latin typeface="Calibri"/>
            </a:endParaRPr>
          </a:p>
        </p:txBody>
      </p:sp>
      <p:sp>
        <p:nvSpPr>
          <p:cNvPr id="302" name="Rectangle 4"/>
          <p:cNvSpPr/>
          <p:nvPr/>
        </p:nvSpPr>
        <p:spPr>
          <a:xfrm>
            <a:off x="6521400" y="1737360"/>
            <a:ext cx="5373720" cy="4744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ff0000"/>
                </a:solidFill>
                <a:latin typeface="Calibri"/>
              </a:rPr>
              <a:t>Mean and Median</a:t>
            </a:r>
            <a:r>
              <a:rPr b="1" lang="en-US" sz="1800" spc="-1" strike="noStrike">
                <a:solidFill>
                  <a:srgbClr val="ff0000"/>
                </a:solidFill>
                <a:latin typeface="Calibri"/>
              </a:rPr>
              <a:t> </a:t>
            </a:r>
            <a:endParaRPr b="0" lang="en-IN" sz="1800" spc="-1" strike="noStrike">
              <a:latin typeface="Arial"/>
            </a:endParaRPr>
          </a:p>
          <a:p>
            <a:pPr>
              <a:lnSpc>
                <a:spcPct val="100000"/>
              </a:lnSpc>
              <a:buNone/>
            </a:pPr>
            <a:r>
              <a:rPr b="0" lang="en-US" sz="1600" spc="-1" strike="noStrike">
                <a:solidFill>
                  <a:srgbClr val="000000"/>
                </a:solidFill>
                <a:latin typeface="Calibri"/>
              </a:rPr>
              <a:t>Statistical data in R is analysed using inbuilt functions. These inbuilt functions are found in the base R package. The functions take vector values as input with arguments and produce the output.</a:t>
            </a:r>
            <a:endParaRPr b="0" lang="en-IN" sz="1600" spc="-1" strike="noStrike">
              <a:latin typeface="Arial"/>
            </a:endParaRPr>
          </a:p>
          <a:p>
            <a:pPr>
              <a:lnSpc>
                <a:spcPct val="100000"/>
              </a:lnSpc>
              <a:buNone/>
            </a:pPr>
            <a:r>
              <a:rPr b="1" lang="en-US" sz="1600" spc="-1" strike="noStrike">
                <a:solidFill>
                  <a:srgbClr val="ff0000"/>
                </a:solidFill>
                <a:latin typeface="Calibri"/>
              </a:rPr>
              <a:t>Mean</a:t>
            </a:r>
            <a:endParaRPr b="0" lang="en-IN" sz="1600" spc="-1" strike="noStrike">
              <a:latin typeface="Arial"/>
            </a:endParaRPr>
          </a:p>
          <a:p>
            <a:pPr>
              <a:lnSpc>
                <a:spcPct val="100000"/>
              </a:lnSpc>
              <a:buNone/>
            </a:pPr>
            <a:r>
              <a:rPr b="0" lang="en-US" sz="1600" spc="-1" strike="noStrike">
                <a:solidFill>
                  <a:srgbClr val="000000"/>
                </a:solidFill>
                <a:latin typeface="Calibri"/>
              </a:rPr>
              <a:t>Mean is the sum of input values divided by the sum of the number of inputs. It is also called the average of the input values. In R, mean is calculated by inbuilt functions. The</a:t>
            </a:r>
            <a:endParaRPr b="0" lang="en-IN" sz="1600" spc="-1" strike="noStrike">
              <a:latin typeface="Arial"/>
            </a:endParaRPr>
          </a:p>
          <a:p>
            <a:pPr>
              <a:lnSpc>
                <a:spcPct val="100000"/>
              </a:lnSpc>
              <a:buNone/>
            </a:pPr>
            <a:r>
              <a:rPr b="0" lang="en-US" sz="1600" spc="-1" strike="noStrike">
                <a:solidFill>
                  <a:srgbClr val="000000"/>
                </a:solidFill>
                <a:latin typeface="Calibri"/>
              </a:rPr>
              <a:t>function </a:t>
            </a:r>
            <a:r>
              <a:rPr b="0" lang="en-US" sz="1600" spc="-1" strike="noStrike">
                <a:solidFill>
                  <a:srgbClr val="ff0000"/>
                </a:solidFill>
                <a:latin typeface="Calibri"/>
              </a:rPr>
              <a:t>mean() </a:t>
            </a:r>
            <a:r>
              <a:rPr b="0" lang="en-US" sz="1600" spc="-1" strike="noStrike">
                <a:solidFill>
                  <a:srgbClr val="000000"/>
                </a:solidFill>
                <a:latin typeface="Calibri"/>
              </a:rPr>
              <a:t>gives the output of the mean value in R.</a:t>
            </a:r>
            <a:endParaRPr b="0" lang="en-IN" sz="1600" spc="-1" strike="noStrike">
              <a:latin typeface="Arial"/>
            </a:endParaRPr>
          </a:p>
          <a:p>
            <a:pPr>
              <a:lnSpc>
                <a:spcPct val="100000"/>
              </a:lnSpc>
              <a:buNone/>
            </a:pPr>
            <a:r>
              <a:rPr b="0" lang="en-US" sz="1600" spc="-1" strike="noStrike">
                <a:solidFill>
                  <a:srgbClr val="000000"/>
                </a:solidFill>
                <a:latin typeface="Calibri"/>
              </a:rPr>
              <a:t>Basic syntax for the mean() function in R is:</a:t>
            </a:r>
            <a:endParaRPr b="0" lang="en-IN" sz="1600" spc="-1" strike="noStrike">
              <a:latin typeface="Arial"/>
            </a:endParaRPr>
          </a:p>
          <a:p>
            <a:pPr>
              <a:lnSpc>
                <a:spcPct val="100000"/>
              </a:lnSpc>
              <a:buNone/>
            </a:pPr>
            <a:r>
              <a:rPr b="0" lang="en-US" sz="1600" spc="-1" strike="noStrike">
                <a:solidFill>
                  <a:srgbClr val="ff0000"/>
                </a:solidFill>
                <a:latin typeface="Calibri"/>
              </a:rPr>
              <a:t>mean(x, trim=0, na.rm = FALSE,...)</a:t>
            </a:r>
            <a:endParaRPr b="0" lang="en-IN" sz="1600" spc="-1" strike="noStrike">
              <a:latin typeface="Arial"/>
            </a:endParaRPr>
          </a:p>
          <a:p>
            <a:pPr>
              <a:lnSpc>
                <a:spcPct val="100000"/>
              </a:lnSpc>
              <a:buNone/>
            </a:pPr>
            <a:r>
              <a:rPr b="0" lang="en-US" sz="1600" spc="-1" strike="noStrike">
                <a:solidFill>
                  <a:srgbClr val="000000"/>
                </a:solidFill>
                <a:latin typeface="Calibri"/>
              </a:rPr>
              <a:t>where,</a:t>
            </a:r>
            <a:endParaRPr b="0" lang="en-IN" sz="1600" spc="-1" strike="noStrike">
              <a:latin typeface="Arial"/>
            </a:endParaRPr>
          </a:p>
          <a:p>
            <a:pPr>
              <a:lnSpc>
                <a:spcPct val="100000"/>
              </a:lnSpc>
              <a:buNone/>
            </a:pPr>
            <a:r>
              <a:rPr b="0" lang="en-US" sz="1600" spc="-1" strike="noStrike">
                <a:solidFill>
                  <a:srgbClr val="000000"/>
                </a:solidFill>
                <a:latin typeface="Calibri"/>
              </a:rPr>
              <a:t>x is the input vector, trim specifies some drop in observations from both the sorted ends of the input vector and na.rm removes the missing values in the input vector.</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1097280" y="131400"/>
            <a:ext cx="10058040" cy="1403640"/>
          </a:xfrm>
          <a:prstGeom prst="rect">
            <a:avLst/>
          </a:prstGeom>
          <a:noFill/>
          <a:ln w="0">
            <a:noFill/>
          </a:ln>
        </p:spPr>
        <p:txBody>
          <a:bodyPr anchor="b">
            <a:normAutofit/>
          </a:bodyPr>
          <a:p>
            <a:pPr>
              <a:lnSpc>
                <a:spcPct val="85000"/>
              </a:lnSpc>
              <a:buNone/>
            </a:pPr>
            <a:r>
              <a:rPr b="0" lang="en-US" sz="3600" spc="-52" strike="noStrike">
                <a:solidFill>
                  <a:srgbClr val="000000"/>
                </a:solidFill>
                <a:latin typeface="Calibri Light"/>
              </a:rPr>
              <a:t>Example -Mean</a:t>
            </a:r>
            <a:br>
              <a:rPr sz="3600"/>
            </a:br>
            <a:endParaRPr b="0" lang="en-US" sz="3600" spc="-1" strike="noStrike">
              <a:solidFill>
                <a:srgbClr val="000000"/>
              </a:solidFill>
              <a:latin typeface="Calibri"/>
            </a:endParaRPr>
          </a:p>
        </p:txBody>
      </p:sp>
      <p:sp>
        <p:nvSpPr>
          <p:cNvPr id="304" name="PlaceHolder 2"/>
          <p:cNvSpPr>
            <a:spLocks noGrp="1"/>
          </p:cNvSpPr>
          <p:nvPr>
            <p:ph/>
          </p:nvPr>
        </p:nvSpPr>
        <p:spPr>
          <a:xfrm>
            <a:off x="1097280" y="1845720"/>
            <a:ext cx="4233600" cy="4408200"/>
          </a:xfrm>
          <a:prstGeom prst="rect">
            <a:avLst/>
          </a:prstGeom>
          <a:noFill/>
          <a:ln w="0">
            <a:noFill/>
          </a:ln>
        </p:spPr>
        <p:txBody>
          <a:bodyPr lIns="0" rIns="0" anchor="t">
            <a:normAutofit fontScale="83000"/>
          </a:bodyPr>
          <a:p>
            <a:pPr marL="91440" indent="-91440">
              <a:lnSpc>
                <a:spcPct val="120000"/>
              </a:lnSpc>
              <a:buClr>
                <a:srgbClr val="e48312"/>
              </a:buClr>
              <a:buFont typeface="Calibri"/>
              <a:buChar char=" "/>
            </a:pPr>
            <a:r>
              <a:rPr b="0" lang="en-US" sz="2000" spc="-1" strike="noStrike">
                <a:solidFill>
                  <a:srgbClr val="404040"/>
                </a:solidFill>
                <a:latin typeface="Calibri"/>
              </a:rPr>
              <a:t>A sample code to calculate the mean in R is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#Define a vector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x&lt;- c(15,54,6,5,9.2,36,5.3,8,-7,-5)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Find the mean of the vector inputs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result.mean &lt;- mean(x)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print(result.mean)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Output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On execution, it would produce an output value of [1]12.65.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x&lt;- c(15,54,6,5,9.2,36,5.3,8,-7,-5)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result.mean &lt;- mean(x)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print (result.mean)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12.65</a:t>
            </a:r>
            <a:endParaRPr b="0" lang="en-US" sz="2000" spc="-1" strike="noStrike">
              <a:solidFill>
                <a:srgbClr val="404040"/>
              </a:solidFill>
              <a:latin typeface="Calibri"/>
            </a:endParaRPr>
          </a:p>
        </p:txBody>
      </p:sp>
      <p:sp>
        <p:nvSpPr>
          <p:cNvPr id="305" name="Rectangle 3"/>
          <p:cNvSpPr/>
          <p:nvPr/>
        </p:nvSpPr>
        <p:spPr>
          <a:xfrm>
            <a:off x="5400000" y="1845360"/>
            <a:ext cx="6529680" cy="5027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000000"/>
                </a:solidFill>
                <a:latin typeface="Calibri"/>
              </a:rPr>
              <a:t>When the trim parameter is selected, it sorts the vector values first and drops the input values for calculating the mean based on the trim value from both the ends. Say trim = 0.4, 4 values from both the ends of sorted vector values are dropped. </a:t>
            </a:r>
            <a:endParaRPr b="0" lang="en-IN" sz="1800" spc="-1" strike="noStrike">
              <a:latin typeface="Arial"/>
            </a:endParaRPr>
          </a:p>
          <a:p>
            <a:pPr>
              <a:lnSpc>
                <a:spcPct val="100000"/>
              </a:lnSpc>
              <a:buNone/>
            </a:pPr>
            <a:r>
              <a:rPr b="0" lang="en-US" sz="1800" spc="-1" strike="noStrike">
                <a:solidFill>
                  <a:srgbClr val="c00000"/>
                </a:solidFill>
                <a:latin typeface="Calibri"/>
              </a:rPr>
              <a:t>Example 2</a:t>
            </a:r>
            <a:endParaRPr b="0" lang="en-IN" sz="1800" spc="-1" strike="noStrike">
              <a:latin typeface="Arial"/>
            </a:endParaRPr>
          </a:p>
          <a:p>
            <a:pPr>
              <a:lnSpc>
                <a:spcPct val="100000"/>
              </a:lnSpc>
              <a:buNone/>
            </a:pPr>
            <a:r>
              <a:rPr b="0" lang="en-US" sz="1800" spc="-1" strike="noStrike">
                <a:solidFill>
                  <a:srgbClr val="000000"/>
                </a:solidFill>
                <a:latin typeface="Calibri"/>
              </a:rPr>
              <a:t>#Define a vector</a:t>
            </a:r>
            <a:endParaRPr b="0" lang="en-IN" sz="1800" spc="-1" strike="noStrike">
              <a:latin typeface="Arial"/>
            </a:endParaRPr>
          </a:p>
          <a:p>
            <a:pPr>
              <a:lnSpc>
                <a:spcPct val="100000"/>
              </a:lnSpc>
              <a:buNone/>
            </a:pPr>
            <a:r>
              <a:rPr b="0" lang="en-US" sz="1800" spc="-1" strike="noStrike">
                <a:solidFill>
                  <a:srgbClr val="000000"/>
                </a:solidFill>
                <a:latin typeface="Calibri"/>
              </a:rPr>
              <a:t>x&lt;- c(15,54,6,5,9.2,36,5.3,8,-7,-5)</a:t>
            </a:r>
            <a:endParaRPr b="0" lang="en-IN" sz="1800" spc="-1" strike="noStrike">
              <a:latin typeface="Arial"/>
            </a:endParaRPr>
          </a:p>
          <a:p>
            <a:pPr>
              <a:lnSpc>
                <a:spcPct val="100000"/>
              </a:lnSpc>
              <a:buNone/>
            </a:pPr>
            <a:r>
              <a:rPr b="0" lang="en-US" sz="1800" spc="-1" strike="noStrike">
                <a:solidFill>
                  <a:srgbClr val="000000"/>
                </a:solidFill>
                <a:latin typeface="Calibri"/>
              </a:rPr>
              <a:t># Find the mean of the vector inputs</a:t>
            </a:r>
            <a:endParaRPr b="0" lang="en-IN" sz="1800" spc="-1" strike="noStrike">
              <a:latin typeface="Arial"/>
            </a:endParaRPr>
          </a:p>
          <a:p>
            <a:pPr>
              <a:lnSpc>
                <a:spcPct val="100000"/>
              </a:lnSpc>
              <a:buNone/>
            </a:pPr>
            <a:r>
              <a:rPr b="0" lang="en-US" sz="1800" spc="-1" strike="noStrike">
                <a:solidFill>
                  <a:srgbClr val="000000"/>
                </a:solidFill>
                <a:latin typeface="Calibri"/>
              </a:rPr>
              <a:t>result.mean &lt;- mean(x, trim =0.3)</a:t>
            </a:r>
            <a:endParaRPr b="0" lang="en-IN" sz="1800" spc="-1" strike="noStrike">
              <a:latin typeface="Arial"/>
            </a:endParaRPr>
          </a:p>
          <a:p>
            <a:pPr>
              <a:lnSpc>
                <a:spcPct val="100000"/>
              </a:lnSpc>
              <a:buNone/>
            </a:pPr>
            <a:r>
              <a:rPr b="0" lang="en-US" sz="1800" spc="-1" strike="noStrike">
                <a:solidFill>
                  <a:srgbClr val="000000"/>
                </a:solidFill>
                <a:latin typeface="Calibri"/>
              </a:rPr>
              <a:t>print(result.mean)</a:t>
            </a:r>
            <a:endParaRPr b="0" lang="en-IN" sz="1800" spc="-1" strike="noStrike">
              <a:latin typeface="Arial"/>
            </a:endParaRPr>
          </a:p>
          <a:p>
            <a:pPr>
              <a:lnSpc>
                <a:spcPct val="100000"/>
              </a:lnSpc>
              <a:buNone/>
            </a:pPr>
            <a:r>
              <a:rPr b="0" lang="en-US" sz="1800" spc="-1" strike="noStrike">
                <a:solidFill>
                  <a:srgbClr val="000000"/>
                </a:solidFill>
                <a:latin typeface="Calibri"/>
              </a:rPr>
              <a:t>Output</a:t>
            </a:r>
            <a:endParaRPr b="0" lang="en-IN" sz="1800" spc="-1" strike="noStrike">
              <a:latin typeface="Arial"/>
            </a:endParaRPr>
          </a:p>
          <a:p>
            <a:pPr>
              <a:lnSpc>
                <a:spcPct val="100000"/>
              </a:lnSpc>
              <a:buNone/>
            </a:pPr>
            <a:r>
              <a:rPr b="0" lang="en-US" sz="1800" spc="-1" strike="noStrike">
                <a:solidFill>
                  <a:srgbClr val="c00000"/>
                </a:solidFill>
                <a:latin typeface="Calibri"/>
              </a:rPr>
              <a:t>On execution, it would produce an output value of[1] 7.125</a:t>
            </a:r>
            <a:endParaRPr b="0" lang="en-IN" sz="1800" spc="-1" strike="noStrike">
              <a:latin typeface="Arial"/>
            </a:endParaRPr>
          </a:p>
          <a:p>
            <a:pPr>
              <a:lnSpc>
                <a:spcPct val="100000"/>
              </a:lnSpc>
              <a:buNone/>
            </a:pPr>
            <a:r>
              <a:rPr b="0" lang="en-US" sz="1800" spc="-1" strike="noStrike">
                <a:solidFill>
                  <a:srgbClr val="000000"/>
                </a:solidFill>
                <a:latin typeface="Calibri"/>
              </a:rPr>
              <a:t>&gt; x&lt;- c(15,54,6,5,9.2,36,5.3,8,-7,-5)</a:t>
            </a:r>
            <a:endParaRPr b="0" lang="en-IN" sz="1800" spc="-1" strike="noStrike">
              <a:latin typeface="Arial"/>
            </a:endParaRPr>
          </a:p>
          <a:p>
            <a:pPr>
              <a:lnSpc>
                <a:spcPct val="100000"/>
              </a:lnSpc>
              <a:buNone/>
            </a:pPr>
            <a:r>
              <a:rPr b="0" lang="en-US" sz="1800" spc="-1" strike="noStrike">
                <a:solidFill>
                  <a:srgbClr val="000000"/>
                </a:solidFill>
                <a:latin typeface="Calibri"/>
              </a:rPr>
              <a:t>&gt; result.means &lt;- mean(x, trim =0.3)</a:t>
            </a:r>
            <a:endParaRPr b="0" lang="en-IN" sz="1800" spc="-1" strike="noStrike">
              <a:latin typeface="Arial"/>
            </a:endParaRPr>
          </a:p>
          <a:p>
            <a:pPr>
              <a:lnSpc>
                <a:spcPct val="100000"/>
              </a:lnSpc>
              <a:buNone/>
            </a:pPr>
            <a:r>
              <a:rPr b="0" lang="en-US" sz="1800" spc="-1" strike="noStrike">
                <a:solidFill>
                  <a:srgbClr val="000000"/>
                </a:solidFill>
                <a:latin typeface="Calibri"/>
              </a:rPr>
              <a:t>&gt; print(result.mean)</a:t>
            </a:r>
            <a:endParaRPr b="0" lang="en-IN" sz="1800" spc="-1" strike="noStrike">
              <a:latin typeface="Arial"/>
            </a:endParaRPr>
          </a:p>
          <a:p>
            <a:pPr>
              <a:lnSpc>
                <a:spcPct val="100000"/>
              </a:lnSpc>
              <a:buNone/>
            </a:pPr>
            <a:r>
              <a:rPr b="0" lang="en-US" sz="1800" spc="-1" strike="noStrike">
                <a:solidFill>
                  <a:srgbClr val="000000"/>
                </a:solidFill>
                <a:latin typeface="Calibri"/>
              </a:rPr>
              <a:t>[1] 7.125</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1097280" y="286560"/>
            <a:ext cx="10058040" cy="1308960"/>
          </a:xfrm>
          <a:prstGeom prst="rect">
            <a:avLst/>
          </a:prstGeom>
          <a:noFill/>
          <a:ln w="0">
            <a:noFill/>
          </a:ln>
        </p:spPr>
        <p:txBody>
          <a:bodyPr anchor="b">
            <a:normAutofit/>
          </a:bodyPr>
          <a:p>
            <a:pPr>
              <a:lnSpc>
                <a:spcPct val="85000"/>
              </a:lnSpc>
              <a:buNone/>
            </a:pPr>
            <a:r>
              <a:rPr b="0" lang="en-US" sz="3600" spc="-52" strike="noStrike">
                <a:solidFill>
                  <a:srgbClr val="000000"/>
                </a:solidFill>
                <a:latin typeface="Calibri Light"/>
              </a:rPr>
              <a:t>Example -Mean</a:t>
            </a:r>
            <a:br>
              <a:rPr sz="3600"/>
            </a:br>
            <a:endParaRPr b="0" lang="en-US" sz="3600" spc="-1" strike="noStrike">
              <a:solidFill>
                <a:srgbClr val="000000"/>
              </a:solidFill>
              <a:latin typeface="Calibri"/>
            </a:endParaRPr>
          </a:p>
        </p:txBody>
      </p:sp>
      <p:sp>
        <p:nvSpPr>
          <p:cNvPr id="307" name="PlaceHolder 2"/>
          <p:cNvSpPr>
            <a:spLocks noGrp="1"/>
          </p:cNvSpPr>
          <p:nvPr>
            <p:ph/>
          </p:nvPr>
        </p:nvSpPr>
        <p:spPr>
          <a:xfrm>
            <a:off x="1097280" y="1845720"/>
            <a:ext cx="4242240" cy="4023000"/>
          </a:xfrm>
          <a:prstGeom prst="rect">
            <a:avLst/>
          </a:prstGeom>
          <a:noFill/>
          <a:ln w="0">
            <a:noFill/>
          </a:ln>
        </p:spPr>
        <p:txBody>
          <a:bodyPr lIns="0" rIns="0" anchor="t">
            <a:normAutofit fontScale="63000"/>
          </a:bodyPr>
          <a:p>
            <a:pPr marL="91440" indent="-91440">
              <a:lnSpc>
                <a:spcPct val="120000"/>
              </a:lnSpc>
              <a:buClr>
                <a:srgbClr val="e48312"/>
              </a:buClr>
              <a:buFont typeface="Calibri"/>
              <a:buChar char=" "/>
            </a:pPr>
            <a:r>
              <a:rPr b="0" lang="en-US" sz="2000" spc="-1" strike="noStrike">
                <a:solidFill>
                  <a:srgbClr val="c00000"/>
                </a:solidFill>
                <a:latin typeface="Calibri"/>
              </a:rPr>
              <a:t>Example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In case of any </a:t>
            </a:r>
            <a:r>
              <a:rPr b="0" lang="en-US" sz="2000" spc="-1" strike="noStrike">
                <a:solidFill>
                  <a:srgbClr val="c00000"/>
                </a:solidFill>
                <a:latin typeface="Calibri"/>
              </a:rPr>
              <a:t>missing value</a:t>
            </a:r>
            <a:r>
              <a:rPr b="0" lang="en-US" sz="2000" spc="-1" strike="noStrike">
                <a:solidFill>
                  <a:srgbClr val="404040"/>
                </a:solidFill>
                <a:latin typeface="Calibri"/>
              </a:rPr>
              <a:t>, the </a:t>
            </a:r>
            <a:r>
              <a:rPr b="0" lang="en-US" sz="2000" spc="-1" strike="noStrike">
                <a:solidFill>
                  <a:srgbClr val="c00000"/>
                </a:solidFill>
                <a:latin typeface="Calibri"/>
              </a:rPr>
              <a:t>mean() function </a:t>
            </a:r>
            <a:r>
              <a:rPr b="0" lang="en-US" sz="2000" spc="-1" strike="noStrike">
                <a:solidFill>
                  <a:srgbClr val="404040"/>
                </a:solidFill>
                <a:latin typeface="Calibri"/>
              </a:rPr>
              <a:t>would return </a:t>
            </a:r>
            <a:r>
              <a:rPr b="0" lang="en-US" sz="2000" spc="-1" strike="noStrike">
                <a:solidFill>
                  <a:srgbClr val="c00000"/>
                </a:solidFill>
                <a:latin typeface="Calibri"/>
              </a:rPr>
              <a:t>NA</a:t>
            </a:r>
            <a:r>
              <a:rPr b="0" lang="en-US" sz="2000" spc="-1" strike="noStrike">
                <a:solidFill>
                  <a:srgbClr val="404040"/>
                </a:solidFill>
                <a:latin typeface="Calibri"/>
              </a:rPr>
              <a:t>. In order to overcome such cases, </a:t>
            </a:r>
            <a:r>
              <a:rPr b="0" lang="en-US" sz="2000" spc="-1" strike="noStrike">
                <a:solidFill>
                  <a:srgbClr val="c00000"/>
                </a:solidFill>
                <a:latin typeface="Calibri"/>
              </a:rPr>
              <a:t>na.rm = TRUE is used to remove the NA values from the list for calculating  the mean in 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#Define a vector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x&lt;- c(15,54,6,5,9.2,36,5.3,8,-7,-5,NA)</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Find the mean of the vector inputs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result.mean &lt;- mean(x)</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print(result.mean)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#Dropping NA values from finding the mean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result.mean &lt;- mean(x, na.rm=TRUE)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print(result.mean)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Output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On execution, it would produce an output value of</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[1]NA</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[1]12.65</a:t>
            </a:r>
            <a:endParaRPr b="0" lang="en-US" sz="2000" spc="-1" strike="noStrike">
              <a:solidFill>
                <a:srgbClr val="404040"/>
              </a:solidFill>
              <a:latin typeface="Calibri"/>
            </a:endParaRPr>
          </a:p>
        </p:txBody>
      </p:sp>
      <p:sp>
        <p:nvSpPr>
          <p:cNvPr id="308" name="Rectangle 3"/>
          <p:cNvSpPr/>
          <p:nvPr/>
        </p:nvSpPr>
        <p:spPr>
          <a:xfrm>
            <a:off x="5541120" y="1845720"/>
            <a:ext cx="6095520" cy="4478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c00000"/>
                </a:solidFill>
                <a:latin typeface="Calibri"/>
              </a:rPr>
              <a:t>Example 4</a:t>
            </a:r>
            <a:endParaRPr b="0" lang="en-IN" sz="1800" spc="-1" strike="noStrike">
              <a:latin typeface="Arial"/>
            </a:endParaRPr>
          </a:p>
          <a:p>
            <a:pPr>
              <a:lnSpc>
                <a:spcPct val="100000"/>
              </a:lnSpc>
              <a:buNone/>
            </a:pPr>
            <a:r>
              <a:rPr b="0" lang="en-IN" sz="1800" spc="-1" strike="noStrike">
                <a:solidFill>
                  <a:srgbClr val="0070c0"/>
                </a:solidFill>
                <a:latin typeface="Calibri"/>
              </a:rPr>
              <a:t>Objective:</a:t>
            </a:r>
            <a:r>
              <a:rPr b="0" lang="en-IN" sz="1800" spc="-1" strike="noStrike">
                <a:solidFill>
                  <a:srgbClr val="000000"/>
                </a:solidFill>
                <a:latin typeface="Calibri"/>
              </a:rPr>
              <a:t> To determine the mean of a set of numbers. To plot the numbers in a barplot and have a straight line run through the plot at the mean.</a:t>
            </a:r>
            <a:endParaRPr b="0" lang="en-IN" sz="1800" spc="-1" strike="noStrike">
              <a:latin typeface="Arial"/>
            </a:endParaRPr>
          </a:p>
          <a:p>
            <a:pPr>
              <a:lnSpc>
                <a:spcPct val="100000"/>
              </a:lnSpc>
              <a:buNone/>
            </a:pPr>
            <a:r>
              <a:rPr b="0" lang="en-IN" sz="1800" spc="-1" strike="noStrike">
                <a:solidFill>
                  <a:srgbClr val="000000"/>
                </a:solidFill>
                <a:latin typeface="Calibri"/>
              </a:rPr>
              <a:t>Step 1: To create a vector, “numbers”.</a:t>
            </a:r>
            <a:endParaRPr b="0" lang="en-IN" sz="1800" spc="-1" strike="noStrike">
              <a:latin typeface="Arial"/>
            </a:endParaRPr>
          </a:p>
          <a:p>
            <a:pPr>
              <a:lnSpc>
                <a:spcPct val="100000"/>
              </a:lnSpc>
              <a:buNone/>
            </a:pPr>
            <a:r>
              <a:rPr b="0" lang="en-IN" sz="1800" spc="-1" strike="noStrike">
                <a:solidFill>
                  <a:srgbClr val="000000"/>
                </a:solidFill>
                <a:latin typeface="Calibri"/>
              </a:rPr>
              <a:t>&gt; numbers &lt;-c(1, 3, 5, 2, 8, 7, 9, 10)</a:t>
            </a:r>
            <a:endParaRPr b="0" lang="en-IN" sz="1800" spc="-1" strike="noStrike">
              <a:latin typeface="Arial"/>
            </a:endParaRPr>
          </a:p>
          <a:p>
            <a:pPr>
              <a:lnSpc>
                <a:spcPct val="100000"/>
              </a:lnSpc>
              <a:buNone/>
            </a:pPr>
            <a:r>
              <a:rPr b="0" lang="en-IN" sz="1800" spc="-1" strike="noStrike">
                <a:solidFill>
                  <a:srgbClr val="000000"/>
                </a:solidFill>
                <a:latin typeface="Calibri"/>
              </a:rPr>
              <a:t>Step 2: To compute the mean value of the set of numbers contained in the vector, “numbers”.</a:t>
            </a:r>
            <a:endParaRPr b="0" lang="en-IN" sz="1800" spc="-1" strike="noStrike">
              <a:latin typeface="Arial"/>
            </a:endParaRPr>
          </a:p>
          <a:p>
            <a:pPr>
              <a:lnSpc>
                <a:spcPct val="100000"/>
              </a:lnSpc>
              <a:buNone/>
            </a:pPr>
            <a:r>
              <a:rPr b="0" lang="en-IN" sz="1800" spc="-1" strike="noStrike">
                <a:solidFill>
                  <a:srgbClr val="c00000"/>
                </a:solidFill>
                <a:latin typeface="Calibri"/>
              </a:rPr>
              <a:t>&gt; mean (numbers)</a:t>
            </a:r>
            <a:endParaRPr b="0" lang="en-IN" sz="1800" spc="-1" strike="noStrike">
              <a:latin typeface="Arial"/>
            </a:endParaRPr>
          </a:p>
          <a:p>
            <a:pPr>
              <a:lnSpc>
                <a:spcPct val="100000"/>
              </a:lnSpc>
              <a:buNone/>
            </a:pPr>
            <a:r>
              <a:rPr b="0" lang="en-IN" sz="1800" spc="-1" strike="noStrike">
                <a:solidFill>
                  <a:srgbClr val="000000"/>
                </a:solidFill>
                <a:latin typeface="Calibri"/>
              </a:rPr>
              <a:t>[1] 5.625</a:t>
            </a:r>
            <a:endParaRPr b="0" lang="en-IN" sz="1800" spc="-1" strike="noStrike">
              <a:latin typeface="Arial"/>
            </a:endParaRPr>
          </a:p>
          <a:p>
            <a:pPr>
              <a:lnSpc>
                <a:spcPct val="100000"/>
              </a:lnSpc>
              <a:buNone/>
            </a:pPr>
            <a:r>
              <a:rPr b="0" lang="en-IN" sz="1800" spc="-1" strike="noStrike">
                <a:solidFill>
                  <a:srgbClr val="0070c0"/>
                </a:solidFill>
                <a:latin typeface="Calibri"/>
              </a:rPr>
              <a:t>Outcome: The mean value for the vector, “numbers” is computed as 5.625.</a:t>
            </a:r>
            <a:endParaRPr b="0" lang="en-IN" sz="1800" spc="-1" strike="noStrike">
              <a:latin typeface="Arial"/>
            </a:endParaRPr>
          </a:p>
          <a:p>
            <a:pPr>
              <a:lnSpc>
                <a:spcPct val="100000"/>
              </a:lnSpc>
              <a:buNone/>
            </a:pPr>
            <a:r>
              <a:rPr b="0" lang="en-IN" sz="1800" spc="-1" strike="noStrike">
                <a:solidFill>
                  <a:srgbClr val="000000"/>
                </a:solidFill>
                <a:latin typeface="Calibri"/>
              </a:rPr>
              <a:t>Step 3: To plot a bar plot using the vector, “numbers”.</a:t>
            </a:r>
            <a:endParaRPr b="0" lang="en-IN" sz="1800" spc="-1" strike="noStrike">
              <a:latin typeface="Arial"/>
            </a:endParaRPr>
          </a:p>
          <a:p>
            <a:pPr>
              <a:lnSpc>
                <a:spcPct val="100000"/>
              </a:lnSpc>
              <a:buNone/>
            </a:pPr>
            <a:r>
              <a:rPr b="0" lang="en-US" sz="1800" spc="-1" strike="noStrike">
                <a:solidFill>
                  <a:srgbClr val="c00000"/>
                </a:solidFill>
                <a:latin typeface="Calibri"/>
              </a:rPr>
              <a:t>&gt;barplot(numbers)</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1097280" y="286560"/>
            <a:ext cx="10058040" cy="1165680"/>
          </a:xfrm>
          <a:prstGeom prst="rect">
            <a:avLst/>
          </a:prstGeom>
          <a:noFill/>
          <a:ln w="0">
            <a:noFill/>
          </a:ln>
        </p:spPr>
        <p:txBody>
          <a:bodyPr anchor="b">
            <a:normAutofit/>
          </a:bodyPr>
          <a:p>
            <a:pPr>
              <a:lnSpc>
                <a:spcPct val="85000"/>
              </a:lnSpc>
              <a:buNone/>
            </a:pPr>
            <a:r>
              <a:rPr b="0" lang="en-US" sz="3600" spc="-52" strike="noStrike">
                <a:solidFill>
                  <a:srgbClr val="000000"/>
                </a:solidFill>
                <a:latin typeface="Calibri Light"/>
              </a:rPr>
              <a:t>Example -Mean</a:t>
            </a:r>
            <a:br>
              <a:rPr sz="3600"/>
            </a:br>
            <a:endParaRPr b="0" lang="en-US" sz="3600" spc="-1" strike="noStrike">
              <a:solidFill>
                <a:srgbClr val="000000"/>
              </a:solidFill>
              <a:latin typeface="Calibri"/>
            </a:endParaRPr>
          </a:p>
        </p:txBody>
      </p:sp>
      <p:pic>
        <p:nvPicPr>
          <p:cNvPr id="310" name="Content Placeholder 3" descr=""/>
          <p:cNvPicPr/>
          <p:nvPr/>
        </p:nvPicPr>
        <p:blipFill>
          <a:blip r:embed="rId1"/>
          <a:stretch/>
        </p:blipFill>
        <p:spPr>
          <a:xfrm>
            <a:off x="979920" y="1806120"/>
            <a:ext cx="3667320" cy="1635480"/>
          </a:xfrm>
          <a:prstGeom prst="rect">
            <a:avLst/>
          </a:prstGeom>
          <a:ln w="0">
            <a:noFill/>
          </a:ln>
        </p:spPr>
      </p:pic>
      <p:sp>
        <p:nvSpPr>
          <p:cNvPr id="311" name="Rectangle 4"/>
          <p:cNvSpPr/>
          <p:nvPr/>
        </p:nvSpPr>
        <p:spPr>
          <a:xfrm>
            <a:off x="1236600" y="3441960"/>
            <a:ext cx="5051880" cy="3107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000000"/>
                </a:solidFill>
                <a:latin typeface="Calibri"/>
              </a:rPr>
              <a:t>Step 4: Use the </a:t>
            </a:r>
            <a:r>
              <a:rPr b="0" lang="en-IN" sz="1800" spc="-1" strike="noStrike">
                <a:solidFill>
                  <a:srgbClr val="c00000"/>
                </a:solidFill>
                <a:latin typeface="Calibri"/>
              </a:rPr>
              <a:t>abline function </a:t>
            </a:r>
            <a:r>
              <a:rPr b="0" lang="en-IN" sz="1800" spc="-1" strike="noStrike">
                <a:solidFill>
                  <a:srgbClr val="000000"/>
                </a:solidFill>
                <a:latin typeface="Calibri"/>
              </a:rPr>
              <a:t>to have a straight line (horizontal line) run through the bar plot at the mean value. The </a:t>
            </a:r>
            <a:r>
              <a:rPr b="0" lang="en-IN" sz="1800" spc="-1" strike="noStrike">
                <a:solidFill>
                  <a:srgbClr val="c00000"/>
                </a:solidFill>
                <a:latin typeface="Calibri"/>
              </a:rPr>
              <a:t>abline function </a:t>
            </a:r>
            <a:r>
              <a:rPr b="0" lang="en-IN" sz="1800" spc="-1" strike="noStrike">
                <a:solidFill>
                  <a:srgbClr val="000000"/>
                </a:solidFill>
                <a:latin typeface="Calibri"/>
              </a:rPr>
              <a:t>can take an h parameter with a value to draw a horizontal line or a v parameter for a vertical line. When it’s called, it updates the previous plot. Draw a horizontal line across the plot at the mean.</a:t>
            </a:r>
            <a:endParaRPr b="0" lang="en-IN" sz="1800" spc="-1" strike="noStrike">
              <a:latin typeface="Arial"/>
            </a:endParaRPr>
          </a:p>
          <a:p>
            <a:pPr>
              <a:lnSpc>
                <a:spcPct val="100000"/>
              </a:lnSpc>
              <a:buNone/>
            </a:pPr>
            <a:r>
              <a:rPr b="0" lang="en-IN" sz="1800" spc="-1" strike="noStrike">
                <a:solidFill>
                  <a:srgbClr val="000000"/>
                </a:solidFill>
                <a:latin typeface="Calibri"/>
              </a:rPr>
              <a:t>&gt; barplot (numbers)</a:t>
            </a:r>
            <a:endParaRPr b="0" lang="en-IN" sz="1800" spc="-1" strike="noStrike">
              <a:latin typeface="Arial"/>
            </a:endParaRPr>
          </a:p>
          <a:p>
            <a:pPr>
              <a:lnSpc>
                <a:spcPct val="100000"/>
              </a:lnSpc>
              <a:buNone/>
            </a:pPr>
            <a:r>
              <a:rPr b="0" lang="en-IN" sz="1800" spc="-1" strike="noStrike">
                <a:solidFill>
                  <a:srgbClr val="000000"/>
                </a:solidFill>
                <a:latin typeface="Calibri"/>
              </a:rPr>
              <a:t>&gt; abline (h = mean (numbers))</a:t>
            </a:r>
            <a:endParaRPr b="0" lang="en-IN" sz="1800" spc="-1" strike="noStrike">
              <a:latin typeface="Arial"/>
            </a:endParaRPr>
          </a:p>
        </p:txBody>
      </p:sp>
      <p:pic>
        <p:nvPicPr>
          <p:cNvPr id="312" name="Picture 5" descr=""/>
          <p:cNvPicPr/>
          <p:nvPr/>
        </p:nvPicPr>
        <p:blipFill>
          <a:blip r:embed="rId2"/>
          <a:stretch/>
        </p:blipFill>
        <p:spPr>
          <a:xfrm>
            <a:off x="6875280" y="1806120"/>
            <a:ext cx="3985200" cy="2135520"/>
          </a:xfrm>
          <a:prstGeom prst="rect">
            <a:avLst/>
          </a:prstGeom>
          <a:ln w="0">
            <a:noFill/>
          </a:ln>
        </p:spPr>
      </p:pic>
      <p:sp>
        <p:nvSpPr>
          <p:cNvPr id="313" name="Rectangle 6"/>
          <p:cNvSpPr/>
          <p:nvPr/>
        </p:nvSpPr>
        <p:spPr>
          <a:xfrm>
            <a:off x="6875280" y="4295880"/>
            <a:ext cx="491652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000000"/>
                </a:solidFill>
                <a:latin typeface="Calibri"/>
              </a:rPr>
              <a:t>Outcome: A straight line at the computed mean value (5.625) runs through the bar plot</a:t>
            </a:r>
            <a:endParaRPr b="0" lang="en-IN" sz="1800" spc="-1" strike="noStrike">
              <a:latin typeface="Arial"/>
            </a:endParaRPr>
          </a:p>
          <a:p>
            <a:pPr>
              <a:lnSpc>
                <a:spcPct val="100000"/>
              </a:lnSpc>
              <a:buNone/>
            </a:pPr>
            <a:r>
              <a:rPr b="0" lang="en-IN" sz="1800" spc="-1" strike="noStrike">
                <a:solidFill>
                  <a:srgbClr val="000000"/>
                </a:solidFill>
                <a:latin typeface="Calibri"/>
              </a:rPr>
              <a:t>computed on the vector, “numbers”.</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1192320" y="717840"/>
            <a:ext cx="10058040" cy="68796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Median</a:t>
            </a:r>
            <a:endParaRPr b="0" lang="en-US" sz="3600" spc="-1" strike="noStrike">
              <a:solidFill>
                <a:srgbClr val="000000"/>
              </a:solidFill>
              <a:latin typeface="Calibri"/>
            </a:endParaRPr>
          </a:p>
        </p:txBody>
      </p:sp>
      <p:sp>
        <p:nvSpPr>
          <p:cNvPr id="315" name="PlaceHolder 2"/>
          <p:cNvSpPr>
            <a:spLocks noGrp="1"/>
          </p:cNvSpPr>
          <p:nvPr>
            <p:ph/>
          </p:nvPr>
        </p:nvSpPr>
        <p:spPr>
          <a:xfrm>
            <a:off x="1097280" y="1845720"/>
            <a:ext cx="4518000" cy="376956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c00000"/>
                </a:solidFill>
                <a:latin typeface="Calibri"/>
              </a:rPr>
              <a:t>Median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Median is the middle value of the given inputs. In R, the median can be found using the median() function. Basic syntax for calculating the median in R is median(x, na.rm=FALSE) where, x is the input vector value and na.rm removes the missing values in the input vector.</a:t>
            </a:r>
            <a:endParaRPr b="0" lang="en-US" sz="2000" spc="-1" strike="noStrike">
              <a:solidFill>
                <a:srgbClr val="404040"/>
              </a:solidFill>
              <a:latin typeface="Calibri"/>
            </a:endParaRPr>
          </a:p>
        </p:txBody>
      </p:sp>
      <p:sp>
        <p:nvSpPr>
          <p:cNvPr id="316" name="Rectangle 3"/>
          <p:cNvSpPr/>
          <p:nvPr/>
        </p:nvSpPr>
        <p:spPr>
          <a:xfrm>
            <a:off x="6126480" y="1745640"/>
            <a:ext cx="490248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c00000"/>
                </a:solidFill>
                <a:latin typeface="Calibri"/>
              </a:rPr>
              <a:t>Example 1</a:t>
            </a:r>
            <a:endParaRPr b="0" lang="en-IN" sz="1800" spc="-1" strike="noStrike">
              <a:latin typeface="Arial"/>
            </a:endParaRPr>
          </a:p>
          <a:p>
            <a:pPr>
              <a:lnSpc>
                <a:spcPct val="100000"/>
              </a:lnSpc>
              <a:buNone/>
            </a:pPr>
            <a:r>
              <a:rPr b="0" lang="en-IN" sz="1800" spc="-1" strike="noStrike">
                <a:solidFill>
                  <a:srgbClr val="000000"/>
                </a:solidFill>
                <a:latin typeface="Calibri"/>
              </a:rPr>
              <a:t>A sample to find out the median value of the input vector in R is</a:t>
            </a:r>
            <a:endParaRPr b="0" lang="en-IN" sz="1800" spc="-1" strike="noStrike">
              <a:latin typeface="Arial"/>
            </a:endParaRPr>
          </a:p>
          <a:p>
            <a:pPr>
              <a:lnSpc>
                <a:spcPct val="100000"/>
              </a:lnSpc>
              <a:buNone/>
            </a:pPr>
            <a:r>
              <a:rPr b="0" lang="en-IN" sz="1800" spc="-1" strike="noStrike">
                <a:solidFill>
                  <a:srgbClr val="000000"/>
                </a:solidFill>
                <a:latin typeface="Calibri"/>
              </a:rPr>
              <a:t>#Define a vector</a:t>
            </a:r>
            <a:endParaRPr b="0" lang="en-IN" sz="1800" spc="-1" strike="noStrike">
              <a:latin typeface="Arial"/>
            </a:endParaRPr>
          </a:p>
          <a:p>
            <a:pPr>
              <a:lnSpc>
                <a:spcPct val="100000"/>
              </a:lnSpc>
              <a:buNone/>
            </a:pPr>
            <a:r>
              <a:rPr b="0" lang="en-IN" sz="1800" spc="-1" strike="noStrike">
                <a:solidFill>
                  <a:srgbClr val="000000"/>
                </a:solidFill>
                <a:latin typeface="Calibri"/>
              </a:rPr>
              <a:t>x&lt;- c(15,54,6,5,9.2,36,5.3,8,-7,-5)</a:t>
            </a:r>
            <a:endParaRPr b="0" lang="en-IN" sz="1800" spc="-1" strike="noStrike">
              <a:latin typeface="Arial"/>
            </a:endParaRPr>
          </a:p>
          <a:p>
            <a:pPr>
              <a:lnSpc>
                <a:spcPct val="100000"/>
              </a:lnSpc>
              <a:buNone/>
            </a:pPr>
            <a:r>
              <a:rPr b="0" lang="en-IN" sz="1800" spc="-1" strike="noStrike">
                <a:solidFill>
                  <a:srgbClr val="000000"/>
                </a:solidFill>
                <a:latin typeface="Calibri"/>
              </a:rPr>
              <a:t># Find the median value</a:t>
            </a:r>
            <a:endParaRPr b="0" lang="en-IN" sz="1800" spc="-1" strike="noStrike">
              <a:latin typeface="Arial"/>
            </a:endParaRPr>
          </a:p>
          <a:p>
            <a:pPr>
              <a:lnSpc>
                <a:spcPct val="100000"/>
              </a:lnSpc>
              <a:buNone/>
            </a:pPr>
            <a:r>
              <a:rPr b="0" lang="en-IN" sz="1800" spc="-1" strike="noStrike">
                <a:solidFill>
                  <a:srgbClr val="000000"/>
                </a:solidFill>
                <a:latin typeface="Calibri"/>
              </a:rPr>
              <a:t>median.result &lt;-median(x)</a:t>
            </a:r>
            <a:endParaRPr b="0" lang="en-IN" sz="1800" spc="-1" strike="noStrike">
              <a:latin typeface="Arial"/>
            </a:endParaRPr>
          </a:p>
          <a:p>
            <a:pPr>
              <a:lnSpc>
                <a:spcPct val="100000"/>
              </a:lnSpc>
              <a:buNone/>
            </a:pPr>
            <a:r>
              <a:rPr b="0" lang="en-IN" sz="1800" spc="-1" strike="noStrike">
                <a:solidFill>
                  <a:srgbClr val="000000"/>
                </a:solidFill>
                <a:latin typeface="Calibri"/>
              </a:rPr>
              <a:t>print(median.result)</a:t>
            </a:r>
            <a:endParaRPr b="0" lang="en-IN" sz="1800" spc="-1" strike="noStrike">
              <a:latin typeface="Arial"/>
            </a:endParaRPr>
          </a:p>
          <a:p>
            <a:pPr>
              <a:lnSpc>
                <a:spcPct val="100000"/>
              </a:lnSpc>
              <a:buNone/>
            </a:pPr>
            <a:r>
              <a:rPr b="0" lang="en-IN" sz="1800" spc="-1" strike="noStrike">
                <a:solidFill>
                  <a:srgbClr val="000000"/>
                </a:solidFill>
                <a:latin typeface="Calibri"/>
              </a:rPr>
              <a:t>On execution, it would produce an output value of [1]7.</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1097280" y="666000"/>
            <a:ext cx="10058040" cy="84312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Example-Median</a:t>
            </a:r>
            <a:endParaRPr b="0" lang="en-US" sz="3600" spc="-1" strike="noStrike">
              <a:solidFill>
                <a:srgbClr val="000000"/>
              </a:solidFill>
              <a:latin typeface="Calibri"/>
            </a:endParaRPr>
          </a:p>
        </p:txBody>
      </p:sp>
      <p:sp>
        <p:nvSpPr>
          <p:cNvPr id="318" name="PlaceHolder 2"/>
          <p:cNvSpPr>
            <a:spLocks noGrp="1"/>
          </p:cNvSpPr>
          <p:nvPr>
            <p:ph/>
          </p:nvPr>
        </p:nvSpPr>
        <p:spPr>
          <a:xfrm>
            <a:off x="1097280" y="1770840"/>
            <a:ext cx="4466520" cy="4023000"/>
          </a:xfrm>
          <a:prstGeom prst="rect">
            <a:avLst/>
          </a:prstGeom>
          <a:noFill/>
          <a:ln w="0">
            <a:noFill/>
          </a:ln>
        </p:spPr>
        <p:txBody>
          <a:bodyPr lIns="0" rIns="0" anchor="t">
            <a:normAutofit fontScale="89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c00000"/>
                </a:solidFill>
                <a:latin typeface="Calibri"/>
              </a:rPr>
              <a:t>Example 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70c0"/>
                </a:solidFill>
                <a:latin typeface="Calibri"/>
              </a:rPr>
              <a:t>Objective:</a:t>
            </a:r>
            <a:r>
              <a:rPr b="0" lang="en-US" sz="2000" spc="-1" strike="noStrike">
                <a:solidFill>
                  <a:srgbClr val="404040"/>
                </a:solidFill>
                <a:latin typeface="Calibri"/>
              </a:rPr>
              <a:t> To determine the median of a set of numbers. To plot the numbers in a barplot and have a straight line run through the plot at the median.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Step 1: To create a vector, “numbers”.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numbers &lt;- c(1, 3, 5, 2, 8, 7, 9, 10)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Step 2: To compute the median value of the set of numbers contained in the vector, “numbers”.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median(numbers)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6</a:t>
            </a:r>
            <a:endParaRPr b="0" lang="en-US" sz="2000" spc="-1" strike="noStrike">
              <a:solidFill>
                <a:srgbClr val="404040"/>
              </a:solidFill>
              <a:latin typeface="Calibri"/>
            </a:endParaRPr>
          </a:p>
        </p:txBody>
      </p:sp>
      <p:sp>
        <p:nvSpPr>
          <p:cNvPr id="319" name="Rectangle 3"/>
          <p:cNvSpPr/>
          <p:nvPr/>
        </p:nvSpPr>
        <p:spPr>
          <a:xfrm>
            <a:off x="6038640" y="1770840"/>
            <a:ext cx="5598360" cy="2063880"/>
          </a:xfrm>
          <a:prstGeom prst="rect">
            <a:avLst/>
          </a:prstGeom>
          <a:noFill/>
          <a:ln w="0">
            <a:noFill/>
          </a:ln>
        </p:spPr>
        <p:style>
          <a:lnRef idx="0"/>
          <a:fillRef idx="0"/>
          <a:effectRef idx="0"/>
          <a:fontRef idx="minor"/>
        </p:style>
        <p:txBody>
          <a:bodyPr lIns="90000" rIns="90000" tIns="45000" bIns="45000" anchor="t">
            <a:spAutoFit/>
          </a:bodyPr>
          <a:p>
            <a:pPr>
              <a:lnSpc>
                <a:spcPct val="120000"/>
              </a:lnSpc>
              <a:buNone/>
            </a:pPr>
            <a:r>
              <a:rPr b="0" lang="en-US" sz="1800" spc="-1" strike="noStrike">
                <a:solidFill>
                  <a:srgbClr val="c00000"/>
                </a:solidFill>
                <a:latin typeface="Calibri"/>
              </a:rPr>
              <a:t>Step 3: To plot a bar plot using the vector, “numbers”. Use the abline function to have a straight line (horizontal line) run through the bar plot at the median.</a:t>
            </a:r>
            <a:endParaRPr b="0" lang="en-IN" sz="1800" spc="-1" strike="noStrike">
              <a:latin typeface="Arial"/>
            </a:endParaRPr>
          </a:p>
          <a:p>
            <a:pPr>
              <a:lnSpc>
                <a:spcPct val="120000"/>
              </a:lnSpc>
              <a:buNone/>
            </a:pPr>
            <a:r>
              <a:rPr b="0" lang="en-IN" sz="1800" spc="-1" strike="noStrike">
                <a:solidFill>
                  <a:srgbClr val="c00000"/>
                </a:solidFill>
                <a:latin typeface="Calibri"/>
              </a:rPr>
              <a:t>&gt; barplot (numbers)</a:t>
            </a:r>
            <a:endParaRPr b="0" lang="en-IN" sz="1800" spc="-1" strike="noStrike">
              <a:latin typeface="Arial"/>
            </a:endParaRPr>
          </a:p>
          <a:p>
            <a:pPr>
              <a:lnSpc>
                <a:spcPct val="120000"/>
              </a:lnSpc>
              <a:buNone/>
            </a:pPr>
            <a:r>
              <a:rPr b="0" lang="en-US" sz="1800" spc="-1" strike="noStrike">
                <a:solidFill>
                  <a:srgbClr val="c00000"/>
                </a:solidFill>
                <a:latin typeface="Calibri"/>
              </a:rPr>
              <a:t>&gt;abline(h=median(“numbers”)</a:t>
            </a:r>
            <a:endParaRPr b="0" lang="en-IN" sz="1800" spc="-1" strike="noStrike">
              <a:latin typeface="Arial"/>
            </a:endParaRPr>
          </a:p>
        </p:txBody>
      </p:sp>
      <p:pic>
        <p:nvPicPr>
          <p:cNvPr id="320" name="Picture 4" descr=""/>
          <p:cNvPicPr/>
          <p:nvPr/>
        </p:nvPicPr>
        <p:blipFill>
          <a:blip r:embed="rId1"/>
          <a:stretch/>
        </p:blipFill>
        <p:spPr>
          <a:xfrm>
            <a:off x="7447680" y="3525120"/>
            <a:ext cx="3438720" cy="1917720"/>
          </a:xfrm>
          <a:prstGeom prst="rect">
            <a:avLst/>
          </a:prstGeom>
          <a:ln w="0">
            <a:noFill/>
          </a:ln>
        </p:spPr>
      </p:pic>
      <p:sp>
        <p:nvSpPr>
          <p:cNvPr id="321" name="Rectangle 5"/>
          <p:cNvSpPr/>
          <p:nvPr/>
        </p:nvSpPr>
        <p:spPr>
          <a:xfrm>
            <a:off x="6008400" y="5443200"/>
            <a:ext cx="5921640" cy="912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000000"/>
                </a:solidFill>
                <a:latin typeface="Calibri"/>
              </a:rPr>
              <a:t>Outcome: A straight line at the computed median value (6.0) runs through the bar plot computed on the vector, “numbers”.</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1209600" y="649080"/>
            <a:ext cx="10058040" cy="87768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Standard Deviation</a:t>
            </a:r>
            <a:endParaRPr b="0" lang="en-US" sz="3600" spc="-1" strike="noStrike">
              <a:solidFill>
                <a:srgbClr val="000000"/>
              </a:solidFill>
              <a:latin typeface="Calibri"/>
            </a:endParaRPr>
          </a:p>
        </p:txBody>
      </p:sp>
      <p:sp>
        <p:nvSpPr>
          <p:cNvPr id="323" name="PlaceHolder 2"/>
          <p:cNvSpPr>
            <a:spLocks noGrp="1"/>
          </p:cNvSpPr>
          <p:nvPr>
            <p:ph/>
          </p:nvPr>
        </p:nvSpPr>
        <p:spPr>
          <a:xfrm>
            <a:off x="1097280" y="1845720"/>
            <a:ext cx="4966560" cy="4399560"/>
          </a:xfrm>
          <a:prstGeom prst="rect">
            <a:avLst/>
          </a:prstGeom>
          <a:noFill/>
          <a:ln w="0">
            <a:noFill/>
          </a:ln>
        </p:spPr>
        <p:txBody>
          <a:bodyPr lIns="0" rIns="0" anchor="t">
            <a:normAutofit fontScale="73000"/>
          </a:bodyPr>
          <a:p>
            <a:pPr marL="91440" indent="-91440">
              <a:lnSpc>
                <a:spcPct val="120000"/>
              </a:lnSpc>
              <a:buClr>
                <a:srgbClr val="e48312"/>
              </a:buClr>
              <a:buFont typeface="Calibri"/>
              <a:buChar char=" "/>
            </a:pPr>
            <a:r>
              <a:rPr b="0" lang="en-US" sz="2000" spc="-1" strike="noStrike">
                <a:solidFill>
                  <a:srgbClr val="0070c0"/>
                </a:solidFill>
                <a:latin typeface="Calibri"/>
              </a:rPr>
              <a:t>Objective:</a:t>
            </a:r>
            <a:r>
              <a:rPr b="0" lang="en-US" sz="2000" spc="-1" strike="noStrike">
                <a:solidFill>
                  <a:srgbClr val="404040"/>
                </a:solidFill>
                <a:latin typeface="Calibri"/>
              </a:rPr>
              <a:t> To determine the standard deviation. To plot the numbers in a bar plot and have a straight line run through the plot at the mean and another straight line run through the plot at mean + standard deviation.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Step 1: To create a vector, “numbers”.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numbers &lt;- c(1,3,5,2,8,7,9,10)</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Step 2: To compute the mean value of the set of numbers contained in the vector, “numbers”.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mean(numbers)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5.625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c00000"/>
                </a:solidFill>
                <a:latin typeface="Calibri"/>
              </a:rPr>
              <a:t>Step 3: To determine the standard deviation of the set of numbers held in the vector, “numbers”.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deviation &lt;- sd(numbers)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deviation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3.377975</a:t>
            </a:r>
            <a:endParaRPr b="0" lang="en-US" sz="2000" spc="-1" strike="noStrike">
              <a:solidFill>
                <a:srgbClr val="404040"/>
              </a:solidFill>
              <a:latin typeface="Calibri"/>
            </a:endParaRPr>
          </a:p>
        </p:txBody>
      </p:sp>
      <p:sp>
        <p:nvSpPr>
          <p:cNvPr id="324" name="Rectangle 3"/>
          <p:cNvSpPr/>
          <p:nvPr/>
        </p:nvSpPr>
        <p:spPr>
          <a:xfrm>
            <a:off x="6300000" y="1845720"/>
            <a:ext cx="6095520" cy="39301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c00000"/>
                </a:solidFill>
                <a:latin typeface="Calibri"/>
              </a:rPr>
              <a:t>Step 4: To plot a bar plot using the vector, “numbers”.</a:t>
            </a:r>
            <a:endParaRPr b="0" lang="en-IN" sz="1800" spc="-1" strike="noStrike">
              <a:latin typeface="Arial"/>
            </a:endParaRPr>
          </a:p>
          <a:p>
            <a:pPr>
              <a:lnSpc>
                <a:spcPct val="100000"/>
              </a:lnSpc>
              <a:buNone/>
            </a:pPr>
            <a:r>
              <a:rPr b="0" lang="en-IN" sz="1800" spc="-1" strike="noStrike">
                <a:solidFill>
                  <a:srgbClr val="000000"/>
                </a:solidFill>
                <a:latin typeface="Calibri"/>
              </a:rPr>
              <a:t>&gt; barplot (numbers)</a:t>
            </a:r>
            <a:endParaRPr b="0" lang="en-IN" sz="1800" spc="-1" strike="noStrike">
              <a:latin typeface="Arial"/>
            </a:endParaRPr>
          </a:p>
          <a:p>
            <a:pPr>
              <a:lnSpc>
                <a:spcPct val="100000"/>
              </a:lnSpc>
              <a:buNone/>
            </a:pPr>
            <a:r>
              <a:rPr b="0" lang="en-IN" sz="1800" spc="-1" strike="noStrike">
                <a:solidFill>
                  <a:srgbClr val="c00000"/>
                </a:solidFill>
                <a:latin typeface="Calibri"/>
              </a:rPr>
              <a:t>Step 5: Use the abline function to have a straight line (horizontal line) run through the bar plot at the mean value (5.625) and another straight line run through the bar plot at</a:t>
            </a:r>
            <a:endParaRPr b="0" lang="en-IN" sz="1800" spc="-1" strike="noStrike">
              <a:latin typeface="Arial"/>
            </a:endParaRPr>
          </a:p>
          <a:p>
            <a:pPr>
              <a:lnSpc>
                <a:spcPct val="100000"/>
              </a:lnSpc>
              <a:buNone/>
            </a:pPr>
            <a:r>
              <a:rPr b="0" lang="en-IN" sz="1800" spc="-1" strike="noStrike">
                <a:solidFill>
                  <a:srgbClr val="c00000"/>
                </a:solidFill>
                <a:latin typeface="Calibri"/>
              </a:rPr>
              <a:t>mean value + standard deviation (5.625 + 3.377975)</a:t>
            </a:r>
            <a:endParaRPr b="0" lang="en-IN" sz="1800" spc="-1" strike="noStrike">
              <a:latin typeface="Arial"/>
            </a:endParaRPr>
          </a:p>
          <a:p>
            <a:pPr>
              <a:lnSpc>
                <a:spcPct val="100000"/>
              </a:lnSpc>
              <a:buNone/>
            </a:pPr>
            <a:r>
              <a:rPr b="0" lang="en-IN" sz="1800" spc="-1" strike="noStrike">
                <a:solidFill>
                  <a:srgbClr val="000000"/>
                </a:solidFill>
                <a:latin typeface="Calibri"/>
              </a:rPr>
              <a:t>&gt; barplot (numbers)</a:t>
            </a:r>
            <a:endParaRPr b="0" lang="en-IN" sz="1800" spc="-1" strike="noStrike">
              <a:latin typeface="Arial"/>
            </a:endParaRPr>
          </a:p>
          <a:p>
            <a:pPr>
              <a:lnSpc>
                <a:spcPct val="100000"/>
              </a:lnSpc>
              <a:buNone/>
            </a:pPr>
            <a:r>
              <a:rPr b="0" lang="en-IN" sz="1800" spc="-1" strike="noStrike">
                <a:solidFill>
                  <a:srgbClr val="000000"/>
                </a:solidFill>
                <a:latin typeface="Calibri"/>
              </a:rPr>
              <a:t>&gt;abline (h=sd(numbers))</a:t>
            </a:r>
            <a:endParaRPr b="0" lang="en-IN" sz="1800" spc="-1" strike="noStrike">
              <a:latin typeface="Arial"/>
            </a:endParaRPr>
          </a:p>
          <a:p>
            <a:pPr>
              <a:lnSpc>
                <a:spcPct val="100000"/>
              </a:lnSpc>
              <a:buNone/>
            </a:pPr>
            <a:r>
              <a:rPr b="0" lang="en-IN" sz="1800" spc="-1" strike="noStrike">
                <a:solidFill>
                  <a:srgbClr val="000000"/>
                </a:solidFill>
                <a:latin typeface="Calibri"/>
              </a:rPr>
              <a:t>&gt;abline (h=sd(numbers)) +mean(numbers))</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p:txBody>
      </p:sp>
      <p:pic>
        <p:nvPicPr>
          <p:cNvPr id="325" name="Picture 4" descr=""/>
          <p:cNvPicPr/>
          <p:nvPr/>
        </p:nvPicPr>
        <p:blipFill>
          <a:blip r:embed="rId1"/>
          <a:stretch/>
        </p:blipFill>
        <p:spPr>
          <a:xfrm>
            <a:off x="6473520" y="4721040"/>
            <a:ext cx="3791520" cy="1593000"/>
          </a:xfrm>
          <a:prstGeom prst="rect">
            <a:avLst/>
          </a:prstGeom>
          <a:ln w="0">
            <a:noFill/>
          </a:ln>
        </p:spPr>
      </p:pic>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Mode</a:t>
            </a:r>
            <a:endParaRPr b="0" lang="en-US" sz="4800" spc="-1" strike="noStrike">
              <a:solidFill>
                <a:srgbClr val="000000"/>
              </a:solidFill>
              <a:latin typeface="Calibri"/>
            </a:endParaRPr>
          </a:p>
        </p:txBody>
      </p:sp>
      <p:sp>
        <p:nvSpPr>
          <p:cNvPr id="327" name="PlaceHolder 2"/>
          <p:cNvSpPr>
            <a:spLocks noGrp="1"/>
          </p:cNvSpPr>
          <p:nvPr>
            <p:ph/>
          </p:nvPr>
        </p:nvSpPr>
        <p:spPr>
          <a:xfrm>
            <a:off x="1097280" y="1845720"/>
            <a:ext cx="10058040" cy="4023000"/>
          </a:xfrm>
          <a:prstGeom prst="rect">
            <a:avLst/>
          </a:prstGeom>
          <a:noFill/>
          <a:ln w="0">
            <a:noFill/>
          </a:ln>
        </p:spPr>
        <p:txBody>
          <a:bodyPr lIns="0" rIns="0" anchor="t">
            <a:normAutofit fontScale="74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Objective: To determine the mode of a set of numbers. R does not have a standard inbuilt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function to determine the mode. We will write out own, “Mode” function. This function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will take the vector as the input and return the mode as the output value.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Step 1: Create a user-defined function, “Mode”.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Mode &lt;- function(v)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UniqValue &lt;- unique(v)</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UniqValue[which.max(tabulate(match(v, UniqValue)))]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Mode &lt;-function(v) {</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 UniqValue &lt;- unique(v)</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 UniqValue[which.max(tabulate(match(v, UniqValue)))]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 }</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Mode</a:t>
            </a:r>
            <a:endParaRPr b="0" lang="en-US" sz="4800" spc="-1" strike="noStrike">
              <a:solidFill>
                <a:srgbClr val="000000"/>
              </a:solidFill>
              <a:latin typeface="Calibri"/>
            </a:endParaRPr>
          </a:p>
        </p:txBody>
      </p:sp>
      <p:sp>
        <p:nvSpPr>
          <p:cNvPr id="329" name="PlaceHolder 2"/>
          <p:cNvSpPr>
            <a:spLocks noGrp="1"/>
          </p:cNvSpPr>
          <p:nvPr>
            <p:ph/>
          </p:nvPr>
        </p:nvSpPr>
        <p:spPr>
          <a:xfrm>
            <a:off x="1097280" y="1845720"/>
            <a:ext cx="10058040" cy="4023000"/>
          </a:xfrm>
          <a:prstGeom prst="rect">
            <a:avLst/>
          </a:prstGeom>
          <a:noFill/>
          <a:ln w="0">
            <a:noFill/>
          </a:ln>
        </p:spPr>
        <p:txBody>
          <a:bodyPr lIns="0" rIns="0" anchor="t">
            <a:normAutofit fontScale="46000"/>
          </a:bodyPr>
          <a:p>
            <a:pPr marL="91440" indent="-91440">
              <a:lnSpc>
                <a:spcPct val="120000"/>
              </a:lnSpc>
              <a:buClr>
                <a:srgbClr val="e48312"/>
              </a:buClr>
              <a:buFont typeface="Calibri"/>
              <a:buChar char=" "/>
            </a:pPr>
            <a:r>
              <a:rPr b="0" lang="en-US" sz="2000" spc="-1" strike="noStrike">
                <a:solidFill>
                  <a:srgbClr val="404040"/>
                </a:solidFill>
                <a:latin typeface="Calibri"/>
              </a:rPr>
              <a:t>While writing the above function, “Mode”, we have used three other functions provided</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by R, viz. “unique”, “tabulate” and “match”.</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unique function: The “unique” function will take the vector as the input and returns the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vector with the duplicates removed.</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2 1 2 3 1 2 3 4 1 5 5 3 2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unique(v)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2 1 3 4 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match function: Takes a vector as the input and returns the vector that has the position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of (first) match of its first arguments in its second.</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2 1 2 3 1 2 3 4 1 5 5 3 2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UniqValue &lt;- unique(v)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UniqValue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2 1 3 4 5</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match(v,UniqValue)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1 2 1 3 2 1 3 4 2 5 5 3 1 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tabulate function: Takes an integer valued vector as the input and counts the number of</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times each integer occurs in it.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tabulate(match(v,UniqValue))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4 3 4 1 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Going by our example, “2” occurs four times, “1” occurs three times, “3” occurs four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times, “4” occurs one time and “5” occurs two times.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Mode</a:t>
            </a:r>
            <a:endParaRPr b="0" lang="en-US" sz="4800" spc="-1" strike="noStrike">
              <a:solidFill>
                <a:srgbClr val="000000"/>
              </a:solidFill>
              <a:latin typeface="Calibri"/>
            </a:endParaRPr>
          </a:p>
        </p:txBody>
      </p:sp>
      <p:sp>
        <p:nvSpPr>
          <p:cNvPr id="331" name="PlaceHolder 2"/>
          <p:cNvSpPr>
            <a:spLocks noGrp="1"/>
          </p:cNvSpPr>
          <p:nvPr>
            <p:ph/>
          </p:nvPr>
        </p:nvSpPr>
        <p:spPr>
          <a:xfrm>
            <a:off x="1097280" y="1845720"/>
            <a:ext cx="10058040" cy="4023000"/>
          </a:xfrm>
          <a:prstGeom prst="rect">
            <a:avLst/>
          </a:prstGeom>
          <a:noFill/>
          <a:ln w="0">
            <a:noFill/>
          </a:ln>
        </p:spPr>
        <p:txBody>
          <a:bodyPr lIns="0" rIns="0" anchor="t">
            <a:normAutofit fontScale="71000"/>
          </a:bodyPr>
          <a:p>
            <a:pPr marL="91440" indent="-91440">
              <a:lnSpc>
                <a:spcPct val="120000"/>
              </a:lnSpc>
              <a:buClr>
                <a:srgbClr val="e48312"/>
              </a:buClr>
              <a:buFont typeface="Calibri"/>
              <a:buChar char=" "/>
            </a:pPr>
            <a:r>
              <a:rPr b="0" lang="en-US" sz="2000" spc="-1" strike="noStrike">
                <a:solidFill>
                  <a:srgbClr val="404040"/>
                </a:solidFill>
                <a:latin typeface="Calibri"/>
              </a:rPr>
              <a:t>Step 2: Create a vector, “v”.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v &lt;- c(2,1,2,3,1,2,3,4,1,5,5,3,2,3)</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3: Call the function, “Mode” and pass the vector, “v” to it.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Output &lt;- Mode(v)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4: Print out the mode value of the vector, “v”.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print(Output)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2</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Let us pass a character vector, “charv” to the “Mode” function.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1: Create a character vector, “charv”.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charv &lt;- c(“o”,“it”,“the”,“it”,“it”)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2: Call the function, “Mode” and pass the character vector, “charv” to it.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Output &lt;- Mode(charv)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Step 3: Print out the mode value of the vector, “v”.</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print(Output)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[1] “it”</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Unit -V</a:t>
            </a:r>
            <a:endParaRPr b="0" lang="en-US" sz="4800" spc="-1" strike="noStrike">
              <a:solidFill>
                <a:srgbClr val="000000"/>
              </a:solidFill>
              <a:latin typeface="Calibri"/>
            </a:endParaRPr>
          </a:p>
        </p:txBody>
      </p:sp>
      <p:sp>
        <p:nvSpPr>
          <p:cNvPr id="333" name="PlaceHolder 2"/>
          <p:cNvSpPr>
            <a:spLocks noGrp="1"/>
          </p:cNvSpPr>
          <p:nvPr>
            <p:ph/>
          </p:nvPr>
        </p:nvSpPr>
        <p:spPr>
          <a:xfrm>
            <a:off x="1097280" y="1845720"/>
            <a:ext cx="10058040" cy="4023000"/>
          </a:xfrm>
          <a:prstGeom prst="rect">
            <a:avLst/>
          </a:prstGeom>
          <a:noFill/>
          <a:ln w="0">
            <a:noFill/>
          </a:ln>
        </p:spPr>
        <p:txBody>
          <a:bodyPr lIns="0" rIns="0" anchor="t">
            <a:noAutofit/>
          </a:bodyPr>
          <a:p>
            <a:pPr>
              <a:lnSpc>
                <a:spcPct val="90000"/>
              </a:lnSpc>
              <a:spcBef>
                <a:spcPts val="1417"/>
              </a:spcBef>
              <a:buNone/>
            </a:pP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1097280" y="577800"/>
            <a:ext cx="10058040" cy="689760"/>
          </a:xfrm>
          <a:prstGeom prst="rect">
            <a:avLst/>
          </a:prstGeom>
          <a:noFill/>
          <a:ln w="0">
            <a:noFill/>
          </a:ln>
        </p:spPr>
        <p:txBody>
          <a:bodyPr anchor="b">
            <a:normAutofit fontScale="72000"/>
          </a:bodyPr>
          <a:p>
            <a:pPr>
              <a:lnSpc>
                <a:spcPct val="85000"/>
              </a:lnSpc>
              <a:buNone/>
            </a:pPr>
            <a:r>
              <a:rPr b="0" lang="en-US" sz="4400" spc="-52" strike="noStrike">
                <a:solidFill>
                  <a:srgbClr val="404040"/>
                </a:solidFill>
                <a:latin typeface="Calibri Light"/>
              </a:rPr>
              <a:t>Spotting problems in Data With Visualisation</a:t>
            </a:r>
            <a:endParaRPr b="0" lang="en-US" sz="4400" spc="-1" strike="noStrike">
              <a:solidFill>
                <a:srgbClr val="000000"/>
              </a:solidFill>
              <a:latin typeface="Calibri"/>
            </a:endParaRPr>
          </a:p>
        </p:txBody>
      </p:sp>
      <p:sp>
        <p:nvSpPr>
          <p:cNvPr id="335" name="PlaceHolder 2"/>
          <p:cNvSpPr>
            <a:spLocks noGrp="1"/>
          </p:cNvSpPr>
          <p:nvPr>
            <p:ph/>
          </p:nvPr>
        </p:nvSpPr>
        <p:spPr>
          <a:xfrm>
            <a:off x="1097280" y="1737360"/>
            <a:ext cx="5104800" cy="4023000"/>
          </a:xfrm>
          <a:prstGeom prst="rect">
            <a:avLst/>
          </a:prstGeom>
          <a:noFill/>
          <a:ln w="0">
            <a:noFill/>
          </a:ln>
        </p:spPr>
        <p:txBody>
          <a:bodyPr lIns="0" rIns="0" anchor="t">
            <a:normAutofit fontScale="58000"/>
          </a:bodyPr>
          <a:p>
            <a:pPr marL="91440" indent="-91440" algn="just">
              <a:lnSpc>
                <a:spcPct val="120000"/>
              </a:lnSpc>
              <a:buClr>
                <a:srgbClr val="e48312"/>
              </a:buClr>
              <a:buFont typeface="Calibri"/>
              <a:buChar char=" "/>
            </a:pPr>
            <a:r>
              <a:rPr b="0" lang="en-US" sz="2000" spc="-1" strike="noStrike">
                <a:solidFill>
                  <a:srgbClr val="404040"/>
                </a:solidFill>
                <a:latin typeface="Calibri"/>
              </a:rPr>
              <a:t>For a better understanding of input data, pictures or charts are preferred over text.</a:t>
            </a:r>
            <a:endParaRPr b="0" lang="en-US" sz="2000" spc="-1" strike="noStrike">
              <a:solidFill>
                <a:srgbClr val="404040"/>
              </a:solidFill>
              <a:latin typeface="Calibri"/>
            </a:endParaRPr>
          </a:p>
          <a:p>
            <a:pPr marL="91440" indent="-91440" algn="just">
              <a:lnSpc>
                <a:spcPct val="120000"/>
              </a:lnSpc>
              <a:buClr>
                <a:srgbClr val="e48312"/>
              </a:buClr>
              <a:buFont typeface="Calibri"/>
              <a:buChar char=" "/>
            </a:pPr>
            <a:r>
              <a:rPr b="0" lang="en-US" sz="2000" spc="-1" strike="noStrike">
                <a:solidFill>
                  <a:srgbClr val="404040"/>
                </a:solidFill>
                <a:latin typeface="Calibri"/>
              </a:rPr>
              <a:t>Visualisation engages the audience well and numerical values, on comparison, cannot represent a big dataset in an engaging manner.</a:t>
            </a:r>
            <a:endParaRPr b="0" lang="en-US" sz="2000" spc="-1" strike="noStrike">
              <a:solidFill>
                <a:srgbClr val="404040"/>
              </a:solidFill>
              <a:latin typeface="Calibri"/>
            </a:endParaRPr>
          </a:p>
          <a:p>
            <a:pPr marL="91440" indent="-91440" algn="just">
              <a:lnSpc>
                <a:spcPct val="120000"/>
              </a:lnSpc>
              <a:buClr>
                <a:srgbClr val="e48312"/>
              </a:buClr>
              <a:buFont typeface="Calibri"/>
              <a:buChar char=" "/>
            </a:pPr>
            <a:r>
              <a:rPr b="0" lang="en-US" sz="2000" spc="-1" strike="noStrike">
                <a:solidFill>
                  <a:srgbClr val="404040"/>
                </a:solidFill>
                <a:latin typeface="Calibri"/>
              </a:rPr>
              <a:t>From Figure 4.1, we observe that the graph represents the density of data with respect to the age of the customers. The use of graphical representation to examine the given set of data is called visualisation. </a:t>
            </a:r>
            <a:endParaRPr b="0" lang="en-US" sz="2000" spc="-1" strike="noStrike">
              <a:solidFill>
                <a:srgbClr val="404040"/>
              </a:solidFill>
              <a:latin typeface="Calibri"/>
            </a:endParaRPr>
          </a:p>
          <a:p>
            <a:pPr marL="91440" indent="-91440" algn="just">
              <a:lnSpc>
                <a:spcPct val="120000"/>
              </a:lnSpc>
              <a:buClr>
                <a:srgbClr val="e48312"/>
              </a:buClr>
              <a:buFont typeface="Calibri"/>
              <a:buChar char=" "/>
            </a:pPr>
            <a:r>
              <a:rPr b="0" lang="en-US" sz="2000" spc="-1" strike="noStrike">
                <a:solidFill>
                  <a:srgbClr val="404040"/>
                </a:solidFill>
                <a:latin typeface="Calibri"/>
              </a:rPr>
              <a:t>With this visualisation, it is easier to calculate the following:</a:t>
            </a:r>
            <a:endParaRPr b="0" lang="en-US" sz="2000" spc="-1" strike="noStrike">
              <a:solidFill>
                <a:srgbClr val="404040"/>
              </a:solidFill>
              <a:latin typeface="Calibri"/>
            </a:endParaRPr>
          </a:p>
          <a:p>
            <a:pPr marL="801720" indent="-90360" algn="just">
              <a:lnSpc>
                <a:spcPct val="120000"/>
              </a:lnSpc>
              <a:buClr>
                <a:srgbClr val="e48312"/>
              </a:buClr>
              <a:buFont typeface="Calibri"/>
              <a:buChar char=" "/>
            </a:pPr>
            <a:r>
              <a:rPr b="0" lang="en-US" sz="2000" spc="-1" strike="noStrike">
                <a:solidFill>
                  <a:srgbClr val="404040"/>
                </a:solidFill>
                <a:latin typeface="Calibri"/>
              </a:rPr>
              <a:t>To determine the peak value of the age of the customers (maximum value)</a:t>
            </a:r>
            <a:endParaRPr b="0" lang="en-US" sz="2000" spc="-1" strike="noStrike">
              <a:solidFill>
                <a:srgbClr val="404040"/>
              </a:solidFill>
              <a:latin typeface="Calibri"/>
            </a:endParaRPr>
          </a:p>
          <a:p>
            <a:pPr marL="801720" indent="-90360" algn="just">
              <a:lnSpc>
                <a:spcPct val="120000"/>
              </a:lnSpc>
              <a:buClr>
                <a:srgbClr val="e48312"/>
              </a:buClr>
              <a:buFont typeface="Calibri"/>
              <a:buChar char=" "/>
            </a:pPr>
            <a:r>
              <a:rPr b="0" lang="en-US" sz="2000" spc="-1" strike="noStrike">
                <a:solidFill>
                  <a:srgbClr val="404040"/>
                </a:solidFill>
                <a:latin typeface="Calibri"/>
              </a:rPr>
              <a:t>To estimate the existence of the sub-population</a:t>
            </a:r>
            <a:endParaRPr b="0" lang="en-US" sz="2000" spc="-1" strike="noStrike">
              <a:solidFill>
                <a:srgbClr val="404040"/>
              </a:solidFill>
              <a:latin typeface="Calibri"/>
            </a:endParaRPr>
          </a:p>
          <a:p>
            <a:pPr marL="801720" indent="-90360" algn="just">
              <a:lnSpc>
                <a:spcPct val="120000"/>
              </a:lnSpc>
              <a:buClr>
                <a:srgbClr val="e48312"/>
              </a:buClr>
              <a:buFont typeface="Calibri"/>
              <a:buChar char=" "/>
            </a:pPr>
            <a:r>
              <a:rPr b="0" lang="en-US" sz="2000" spc="-1" strike="noStrike">
                <a:solidFill>
                  <a:srgbClr val="404040"/>
                </a:solidFill>
                <a:latin typeface="Calibri"/>
              </a:rPr>
              <a:t>To determine the outlier values.</a:t>
            </a:r>
            <a:endParaRPr b="0" lang="en-US" sz="2000" spc="-1" strike="noStrike">
              <a:solidFill>
                <a:srgbClr val="404040"/>
              </a:solidFill>
              <a:latin typeface="Calibri"/>
            </a:endParaRPr>
          </a:p>
          <a:p>
            <a:pPr marL="91440" indent="-91440" algn="just">
              <a:lnSpc>
                <a:spcPct val="120000"/>
              </a:lnSpc>
              <a:buClr>
                <a:srgbClr val="e48312"/>
              </a:buClr>
              <a:buFont typeface="Calibri"/>
              <a:buChar char=" "/>
            </a:pPr>
            <a:r>
              <a:rPr b="0" lang="en-US" sz="2000" spc="-1" strike="noStrike">
                <a:solidFill>
                  <a:srgbClr val="404040"/>
                </a:solidFill>
                <a:latin typeface="Calibri"/>
              </a:rPr>
              <a:t>The graphical representation displays the maximum available information from the</a:t>
            </a:r>
            <a:endParaRPr b="0" lang="en-US" sz="2000" spc="-1" strike="noStrike">
              <a:solidFill>
                <a:srgbClr val="404040"/>
              </a:solidFill>
              <a:latin typeface="Calibri"/>
            </a:endParaRPr>
          </a:p>
          <a:p>
            <a:pPr marL="91440" indent="-91440" algn="just">
              <a:lnSpc>
                <a:spcPct val="120000"/>
              </a:lnSpc>
              <a:buClr>
                <a:srgbClr val="e48312"/>
              </a:buClr>
              <a:buFont typeface="Calibri"/>
              <a:buChar char=" "/>
            </a:pPr>
            <a:r>
              <a:rPr b="0" lang="en-US" sz="2000" spc="-1" strike="noStrike">
                <a:solidFill>
                  <a:srgbClr val="404040"/>
                </a:solidFill>
                <a:latin typeface="Calibri"/>
              </a:rPr>
              <a:t>lowest to the highest value. </a:t>
            </a:r>
            <a:endParaRPr b="0" lang="en-US" sz="2000" spc="-1" strike="noStrike">
              <a:solidFill>
                <a:srgbClr val="404040"/>
              </a:solidFill>
              <a:latin typeface="Calibri"/>
            </a:endParaRPr>
          </a:p>
          <a:p>
            <a:pPr marL="91440" indent="-91440" algn="just">
              <a:lnSpc>
                <a:spcPct val="120000"/>
              </a:lnSpc>
              <a:buClr>
                <a:srgbClr val="e48312"/>
              </a:buClr>
              <a:buFont typeface="Calibri"/>
              <a:buChar char=" "/>
            </a:pPr>
            <a:r>
              <a:rPr b="0" lang="en-US" sz="2000" spc="-1" strike="noStrike">
                <a:solidFill>
                  <a:srgbClr val="404040"/>
                </a:solidFill>
                <a:latin typeface="Calibri"/>
              </a:rPr>
              <a:t>It also presents users with greater data clarity. For better usage of visualisation, the right aspect ratio and scaling of data is needed.</a:t>
            </a:r>
            <a:endParaRPr b="0" lang="en-US" sz="2000" spc="-1" strike="noStrike">
              <a:solidFill>
                <a:srgbClr val="404040"/>
              </a:solidFill>
              <a:latin typeface="Calibri"/>
            </a:endParaRPr>
          </a:p>
        </p:txBody>
      </p:sp>
      <p:pic>
        <p:nvPicPr>
          <p:cNvPr id="336" name="Picture 3" descr=""/>
          <p:cNvPicPr/>
          <p:nvPr/>
        </p:nvPicPr>
        <p:blipFill>
          <a:blip r:embed="rId1"/>
          <a:stretch/>
        </p:blipFill>
        <p:spPr>
          <a:xfrm>
            <a:off x="6745680" y="1737360"/>
            <a:ext cx="4890960" cy="3724560"/>
          </a:xfrm>
          <a:prstGeom prst="rect">
            <a:avLst/>
          </a:prstGeom>
          <a:ln w="0">
            <a:noFill/>
          </a:ln>
        </p:spPr>
      </p:pic>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Visually Checking Distributions for a Single Variable</a:t>
            </a:r>
            <a:endParaRPr b="0" lang="en-US" sz="3600" spc="-1" strike="noStrike">
              <a:solidFill>
                <a:srgbClr val="000000"/>
              </a:solidFill>
              <a:latin typeface="Calibri"/>
            </a:endParaRPr>
          </a:p>
        </p:txBody>
      </p:sp>
      <p:sp>
        <p:nvSpPr>
          <p:cNvPr id="338" name="PlaceHolder 2"/>
          <p:cNvSpPr>
            <a:spLocks noGrp="1"/>
          </p:cNvSpPr>
          <p:nvPr>
            <p:ph/>
          </p:nvPr>
        </p:nvSpPr>
        <p:spPr>
          <a:xfrm>
            <a:off x="1097280" y="1845720"/>
            <a:ext cx="9952920" cy="4023000"/>
          </a:xfrm>
          <a:prstGeom prst="rect">
            <a:avLst/>
          </a:prstGeom>
          <a:noFill/>
          <a:ln w="0">
            <a:noFill/>
          </a:ln>
        </p:spPr>
        <p:txBody>
          <a:bodyPr lIns="0" rIns="0" anchor="t">
            <a:normAutofit/>
          </a:bodyPr>
          <a:p>
            <a:pPr marL="91440" indent="-91440">
              <a:lnSpc>
                <a:spcPct val="110000"/>
              </a:lnSpc>
              <a:buClr>
                <a:srgbClr val="e48312"/>
              </a:buClr>
              <a:buFont typeface="Calibri"/>
              <a:buChar char=" "/>
            </a:pPr>
            <a:r>
              <a:rPr b="0" lang="en-US" sz="2000" spc="-1" strike="noStrike">
                <a:solidFill>
                  <a:srgbClr val="404040"/>
                </a:solidFill>
                <a:latin typeface="Calibri"/>
              </a:rPr>
              <a:t>With R visualisation, one can answer the following questions:</a:t>
            </a:r>
            <a:endParaRPr b="0" lang="en-US" sz="2000" spc="-1" strike="noStrike">
              <a:solidFill>
                <a:srgbClr val="404040"/>
              </a:solidFill>
              <a:latin typeface="Calibri"/>
            </a:endParaRPr>
          </a:p>
          <a:p>
            <a:pPr marL="1258920" indent="-457200">
              <a:lnSpc>
                <a:spcPct val="110000"/>
              </a:lnSpc>
              <a:buClr>
                <a:srgbClr val="e48312"/>
              </a:buClr>
              <a:buFont typeface="Calibri Light"/>
              <a:buAutoNum type="romanLcPeriod"/>
            </a:pPr>
            <a:r>
              <a:rPr b="0" lang="en-US" sz="2000" spc="-1" strike="noStrike">
                <a:solidFill>
                  <a:srgbClr val="404040"/>
                </a:solidFill>
                <a:latin typeface="Calibri"/>
              </a:rPr>
              <a:t>What is the peak value of the standard distribution?</a:t>
            </a:r>
            <a:endParaRPr b="0" lang="en-US" sz="2000" spc="-1" strike="noStrike">
              <a:solidFill>
                <a:srgbClr val="404040"/>
              </a:solidFill>
              <a:latin typeface="Calibri"/>
            </a:endParaRPr>
          </a:p>
          <a:p>
            <a:pPr marL="1258920" indent="-457200">
              <a:lnSpc>
                <a:spcPct val="110000"/>
              </a:lnSpc>
              <a:buClr>
                <a:srgbClr val="e48312"/>
              </a:buClr>
              <a:buFont typeface="Calibri Light"/>
              <a:buAutoNum type="romanLcPeriod"/>
            </a:pPr>
            <a:r>
              <a:rPr b="0" lang="en-US" sz="2000" spc="-1" strike="noStrike">
                <a:solidFill>
                  <a:srgbClr val="404040"/>
                </a:solidFill>
                <a:latin typeface="Calibri"/>
              </a:rPr>
              <a:t>How many peaks are there in a distribution? (Basically bimodality vs unimodality)</a:t>
            </a:r>
            <a:endParaRPr b="0" lang="en-US" sz="2000" spc="-1" strike="noStrike">
              <a:solidFill>
                <a:srgbClr val="404040"/>
              </a:solidFill>
              <a:latin typeface="Calibri"/>
            </a:endParaRPr>
          </a:p>
          <a:p>
            <a:pPr marL="1258920" indent="-457200">
              <a:lnSpc>
                <a:spcPct val="110000"/>
              </a:lnSpc>
              <a:buClr>
                <a:srgbClr val="e48312"/>
              </a:buClr>
              <a:buFont typeface="Calibri Light"/>
              <a:buAutoNum type="romanLcPeriod"/>
            </a:pPr>
            <a:r>
              <a:rPr b="0" lang="en-US" sz="2000" spc="-1" strike="noStrike">
                <a:solidFill>
                  <a:srgbClr val="404040"/>
                </a:solidFill>
                <a:latin typeface="Calibri"/>
              </a:rPr>
              <a:t> </a:t>
            </a:r>
            <a:r>
              <a:rPr b="0" lang="en-US" sz="2000" spc="-1" strike="noStrike">
                <a:solidFill>
                  <a:srgbClr val="404040"/>
                </a:solidFill>
                <a:latin typeface="Calibri"/>
              </a:rPr>
              <a:t>Is it normal data or lognormal data?</a:t>
            </a:r>
            <a:endParaRPr b="0" lang="en-US" sz="2000" spc="-1" strike="noStrike">
              <a:solidFill>
                <a:srgbClr val="404040"/>
              </a:solidFill>
              <a:latin typeface="Calibri"/>
            </a:endParaRPr>
          </a:p>
          <a:p>
            <a:pPr marL="1258920" indent="-457200">
              <a:lnSpc>
                <a:spcPct val="110000"/>
              </a:lnSpc>
              <a:buClr>
                <a:srgbClr val="e48312"/>
              </a:buClr>
              <a:buFont typeface="Calibri Light"/>
              <a:buAutoNum type="romanLcPeriod"/>
            </a:pPr>
            <a:r>
              <a:rPr b="0" lang="en-US" sz="2000" spc="-1" strike="noStrike">
                <a:solidFill>
                  <a:srgbClr val="404040"/>
                </a:solidFill>
                <a:latin typeface="Calibri"/>
              </a:rPr>
              <a:t>How does the given data vary?</a:t>
            </a:r>
            <a:endParaRPr b="0" lang="en-US" sz="2000" spc="-1" strike="noStrike">
              <a:solidFill>
                <a:srgbClr val="404040"/>
              </a:solidFill>
              <a:latin typeface="Calibri"/>
            </a:endParaRPr>
          </a:p>
          <a:p>
            <a:pPr marL="1258920" indent="-457200">
              <a:lnSpc>
                <a:spcPct val="110000"/>
              </a:lnSpc>
              <a:buClr>
                <a:srgbClr val="e48312"/>
              </a:buClr>
              <a:buFont typeface="Calibri Light"/>
              <a:buAutoNum type="romanLcPeriod"/>
            </a:pPr>
            <a:r>
              <a:rPr b="0" lang="en-US" sz="2000" spc="-1" strike="noStrike">
                <a:solidFill>
                  <a:srgbClr val="404040"/>
                </a:solidFill>
                <a:latin typeface="Calibri"/>
              </a:rPr>
              <a:t>Is the given data concerned in a certain interval or category?</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Histograms</a:t>
            </a:r>
            <a:endParaRPr b="0" lang="en-US" sz="3600" spc="-1" strike="noStrike">
              <a:solidFill>
                <a:srgbClr val="000000"/>
              </a:solidFill>
              <a:latin typeface="Calibri"/>
            </a:endParaRPr>
          </a:p>
        </p:txBody>
      </p:sp>
      <p:sp>
        <p:nvSpPr>
          <p:cNvPr id="340" name="PlaceHolder 2"/>
          <p:cNvSpPr>
            <a:spLocks noGrp="1"/>
          </p:cNvSpPr>
          <p:nvPr>
            <p:ph/>
          </p:nvPr>
        </p:nvSpPr>
        <p:spPr>
          <a:xfrm>
            <a:off x="1097280" y="1845720"/>
            <a:ext cx="10058040" cy="4023000"/>
          </a:xfrm>
          <a:prstGeom prst="rect">
            <a:avLst/>
          </a:prstGeom>
          <a:noFill/>
          <a:ln w="0">
            <a:noFill/>
          </a:ln>
        </p:spPr>
        <p:txBody>
          <a:bodyPr lIns="0" rIns="0" anchor="t">
            <a:normAutofit fontScale="98000"/>
          </a:bodyPr>
          <a:p>
            <a:pPr marL="91440" indent="-91440" algn="just">
              <a:lnSpc>
                <a:spcPct val="100000"/>
              </a:lnSpc>
              <a:buClr>
                <a:srgbClr val="e48312"/>
              </a:buClr>
              <a:buFont typeface="Calibri"/>
              <a:buChar char=" "/>
            </a:pPr>
            <a:r>
              <a:rPr b="0" lang="en-US" sz="2000" spc="-1" strike="noStrike">
                <a:solidFill>
                  <a:srgbClr val="0070c0"/>
                </a:solidFill>
                <a:latin typeface="Calibri"/>
              </a:rPr>
              <a:t>A histogram is a graphical illustration of the distribution of numerical data in successive numerical intervals of equal sizes. </a:t>
            </a:r>
            <a:endParaRPr b="0" lang="en-US" sz="2000" spc="-1" strike="noStrike">
              <a:solidFill>
                <a:srgbClr val="404040"/>
              </a:solidFill>
              <a:latin typeface="Calibri"/>
            </a:endParaRPr>
          </a:p>
          <a:p>
            <a:pPr marL="91440" indent="-91440" algn="just">
              <a:lnSpc>
                <a:spcPct val="100000"/>
              </a:lnSpc>
              <a:buClr>
                <a:srgbClr val="e48312"/>
              </a:buClr>
              <a:buFont typeface="Calibri"/>
              <a:buChar char=" "/>
            </a:pPr>
            <a:r>
              <a:rPr b="0" lang="en-US" sz="2000" spc="-1" strike="noStrike">
                <a:solidFill>
                  <a:srgbClr val="404040"/>
                </a:solidFill>
                <a:latin typeface="Calibri"/>
              </a:rPr>
              <a:t>It looks similar to a bar graph. However, values are grouped into continuous ranges in a histogram. </a:t>
            </a:r>
            <a:endParaRPr b="0" lang="en-US" sz="2000" spc="-1" strike="noStrike">
              <a:solidFill>
                <a:srgbClr val="404040"/>
              </a:solidFill>
              <a:latin typeface="Calibri"/>
            </a:endParaRPr>
          </a:p>
          <a:p>
            <a:pPr marL="91440" indent="-91440" algn="just">
              <a:lnSpc>
                <a:spcPct val="100000"/>
              </a:lnSpc>
              <a:buClr>
                <a:srgbClr val="e48312"/>
              </a:buClr>
              <a:buFont typeface="Calibri"/>
              <a:buChar char=" "/>
            </a:pPr>
            <a:r>
              <a:rPr b="0" lang="en-US" sz="2000" spc="-1" strike="noStrike">
                <a:solidFill>
                  <a:srgbClr val="404040"/>
                </a:solidFill>
                <a:latin typeface="Calibri"/>
              </a:rPr>
              <a:t>The height of a histogram bar represents the number of values occurring in a particular range. R uses hist(x) function to create simple histograms, where x is a numeric value to be plotted. Basic syntax to create a histogram using R is:</a:t>
            </a:r>
            <a:endParaRPr b="0" lang="en-US" sz="2000" spc="-1" strike="noStrike">
              <a:solidFill>
                <a:srgbClr val="404040"/>
              </a:solidFill>
              <a:latin typeface="Calibri"/>
            </a:endParaRPr>
          </a:p>
          <a:p>
            <a:pPr marL="91440" indent="-91440" algn="ctr">
              <a:lnSpc>
                <a:spcPct val="100000"/>
              </a:lnSpc>
              <a:buClr>
                <a:srgbClr val="e48312"/>
              </a:buClr>
              <a:buFont typeface="Calibri"/>
              <a:buChar char=" "/>
            </a:pPr>
            <a:r>
              <a:rPr b="0" lang="en-US" sz="2000" spc="-1" strike="noStrike">
                <a:solidFill>
                  <a:srgbClr val="ff0000"/>
                </a:solidFill>
                <a:latin typeface="Calibri"/>
              </a:rPr>
              <a:t>hist(v,main,xlab,xlim,ylim,breaks,col,border)</a:t>
            </a:r>
            <a:endParaRPr b="0" lang="en-US" sz="2000" spc="-1" strike="noStrike">
              <a:solidFill>
                <a:srgbClr val="404040"/>
              </a:solidFill>
              <a:latin typeface="Calibri"/>
            </a:endParaRPr>
          </a:p>
          <a:p>
            <a:pPr marL="91440" indent="-91440" algn="just">
              <a:lnSpc>
                <a:spcPct val="100000"/>
              </a:lnSpc>
              <a:buClr>
                <a:srgbClr val="e48312"/>
              </a:buClr>
              <a:buFont typeface="Calibri"/>
              <a:buChar char=" "/>
            </a:pPr>
            <a:r>
              <a:rPr b="0" lang="en-US" sz="2000" spc="-1" strike="noStrike">
                <a:solidFill>
                  <a:srgbClr val="0070c0"/>
                </a:solidFill>
                <a:latin typeface="Calibri"/>
              </a:rPr>
              <a:t>where, v takes a vector that contains numeric values, ‘main’ is the main title of the bar chart, xlab is the label of the X-axis, xlim specifies the range of values on the X-axis, ylim specifies the range of values on the Y-axis, ‘breaks’ control the number of bins or mentions the width of the bar, ‘col’ sets the colour of the bars and ‘border’ sets the border colour of the bars.</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Example 1</a:t>
            </a:r>
            <a:br>
              <a:rPr sz="4800"/>
            </a:br>
            <a:endParaRPr b="0" lang="en-US" sz="4800" spc="-1" strike="noStrike">
              <a:solidFill>
                <a:srgbClr val="000000"/>
              </a:solidFill>
              <a:latin typeface="Calibri"/>
            </a:endParaRPr>
          </a:p>
        </p:txBody>
      </p:sp>
      <p:sp>
        <p:nvSpPr>
          <p:cNvPr id="342"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 simple histogram can be created by just providing the input vector where other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parameters are optional.</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 Create data for the histogram</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h&lt;- c (8,13,30,5,28)</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#Create histogram for H</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hist(h)</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Example 2</a:t>
            </a:r>
            <a:br>
              <a:rPr sz="4800"/>
            </a:br>
            <a:endParaRPr b="0" lang="en-US" sz="4800" spc="-1" strike="noStrike">
              <a:solidFill>
                <a:srgbClr val="000000"/>
              </a:solidFill>
              <a:latin typeface="Calibri"/>
            </a:endParaRPr>
          </a:p>
        </p:txBody>
      </p:sp>
      <p:sp>
        <p:nvSpPr>
          <p:cNvPr id="344" name="PlaceHolder 2"/>
          <p:cNvSpPr>
            <a:spLocks noGrp="1"/>
          </p:cNvSpPr>
          <p:nvPr>
            <p:ph/>
          </p:nvPr>
        </p:nvSpPr>
        <p:spPr>
          <a:xfrm>
            <a:off x="1002240" y="1906200"/>
            <a:ext cx="10058040" cy="4023000"/>
          </a:xfrm>
          <a:prstGeom prst="rect">
            <a:avLst/>
          </a:prstGeom>
          <a:noFill/>
          <a:ln w="0">
            <a:noFill/>
          </a:ln>
        </p:spPr>
        <p:txBody>
          <a:bodyPr lIns="0" rIns="0" anchor="t">
            <a:normAutofit fontScale="88000"/>
          </a:bodyPr>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A histogram simple can be created by providing the input vector “v”, file name, label for</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X-axis “xlab”, colour “col” and colour “border” as shown:</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 Create data for the histogram</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H &lt;- c (8,13,30,5,28)</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 Give a file name for the histogram</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png(file = “samplehistogram.png”)</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#Create a sample histogram</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hist(H, xlab=“Categories”, col=“red”)</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#Save the sample histogram file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Calibri"/>
              </a:rPr>
              <a:t>dev.off()</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3600" spc="-52" strike="noStrike">
                <a:solidFill>
                  <a:srgbClr val="404040"/>
                </a:solidFill>
                <a:latin typeface="Calibri Light"/>
              </a:rPr>
              <a:t>Density Plots</a:t>
            </a:r>
            <a:endParaRPr b="0" lang="en-US" sz="3600" spc="-1" strike="noStrike">
              <a:solidFill>
                <a:srgbClr val="000000"/>
              </a:solidFill>
              <a:latin typeface="Calibri"/>
            </a:endParaRPr>
          </a:p>
        </p:txBody>
      </p:sp>
      <p:sp>
        <p:nvSpPr>
          <p:cNvPr id="346"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100000"/>
              </a:lnSpc>
              <a:buClr>
                <a:srgbClr val="e48312"/>
              </a:buClr>
              <a:buFont typeface="Calibri"/>
              <a:buChar char=" "/>
            </a:pPr>
            <a:r>
              <a:rPr b="0" lang="en-US" sz="2000" spc="-1" strike="noStrike">
                <a:solidFill>
                  <a:srgbClr val="404040"/>
                </a:solidFill>
                <a:latin typeface="Calibri"/>
              </a:rPr>
              <a:t>A density plot is referred to as a ‘continuous histogram’ of the given variable. However,</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the area of the curve under the density plot is equal to 1. Therefore, the point on the</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density plot diagram matches the fraction of the data (or the percentage of the data which</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is divided by 100 that takes a particular value). The resulting value of the fraction is very</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small.</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A density plot is an effective way to assess the distribution of a variable. It provides a</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better reference in finding a parametric distribution. The basic syntax to create a plot is</a:t>
            </a:r>
            <a:endParaRPr b="0" lang="en-US" sz="2000" spc="-1" strike="noStrike">
              <a:solidFill>
                <a:srgbClr val="404040"/>
              </a:solidFill>
              <a:latin typeface="Calibri"/>
            </a:endParaRPr>
          </a:p>
          <a:p>
            <a:pPr marL="91440" indent="-91440">
              <a:lnSpc>
                <a:spcPct val="100000"/>
              </a:lnSpc>
              <a:buClr>
                <a:srgbClr val="e48312"/>
              </a:buClr>
              <a:buFont typeface="Calibri"/>
              <a:buChar char=" "/>
            </a:pPr>
            <a:r>
              <a:rPr b="0" lang="en-US" sz="2000" spc="-1" strike="noStrike">
                <a:solidFill>
                  <a:srgbClr val="404040"/>
                </a:solidFill>
                <a:latin typeface="Calibri"/>
              </a:rPr>
              <a:t>plot(density(x)), where x is a numeric vector value.</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1097280" y="543600"/>
            <a:ext cx="10058040" cy="1081080"/>
          </a:xfrm>
          <a:prstGeom prst="rect">
            <a:avLst/>
          </a:prstGeom>
          <a:noFill/>
          <a:ln w="0">
            <a:noFill/>
          </a:ln>
        </p:spPr>
        <p:txBody>
          <a:bodyPr anchor="b">
            <a:normAutofit fontScale="87000"/>
          </a:bodyPr>
          <a:p>
            <a:pPr>
              <a:lnSpc>
                <a:spcPct val="85000"/>
              </a:lnSpc>
              <a:buNone/>
            </a:pPr>
            <a:r>
              <a:rPr b="0" lang="en-US" sz="4000" spc="-52" strike="noStrike">
                <a:solidFill>
                  <a:srgbClr val="404040"/>
                </a:solidFill>
                <a:latin typeface="Calibri Light"/>
              </a:rPr>
              <a:t>Example 1</a:t>
            </a:r>
            <a:br>
              <a:rPr sz="4000"/>
            </a:br>
            <a:endParaRPr b="0" lang="en-US" sz="4000" spc="-1" strike="noStrike">
              <a:solidFill>
                <a:srgbClr val="000000"/>
              </a:solidFill>
              <a:latin typeface="Calibri"/>
            </a:endParaRPr>
          </a:p>
        </p:txBody>
      </p:sp>
      <p:sp>
        <p:nvSpPr>
          <p:cNvPr id="348" name="PlaceHolder 2"/>
          <p:cNvSpPr>
            <a:spLocks noGrp="1"/>
          </p:cNvSpPr>
          <p:nvPr>
            <p:ph/>
          </p:nvPr>
        </p:nvSpPr>
        <p:spPr>
          <a:xfrm>
            <a:off x="1097280" y="1845720"/>
            <a:ext cx="5656680" cy="4023000"/>
          </a:xfrm>
          <a:prstGeom prst="rect">
            <a:avLst/>
          </a:prstGeom>
          <a:noFill/>
          <a:ln w="0">
            <a:noFill/>
          </a:ln>
        </p:spPr>
        <p:txBody>
          <a:bodyPr lIns="0" rIns="0" anchor="t">
            <a:normAutofit fontScale="92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 simple </a:t>
            </a:r>
            <a:r>
              <a:rPr b="0" lang="en-US" sz="2000" spc="-1" strike="noStrike">
                <a:solidFill>
                  <a:srgbClr val="0070c0"/>
                </a:solidFill>
                <a:latin typeface="Calibri"/>
              </a:rPr>
              <a:t>density plot </a:t>
            </a:r>
            <a:r>
              <a:rPr b="0" lang="en-US" sz="2000" spc="-1" strike="noStrike">
                <a:solidFill>
                  <a:srgbClr val="404040"/>
                </a:solidFill>
                <a:latin typeface="Calibri"/>
              </a:rPr>
              <a:t>can be created by just passing the values and using the </a:t>
            </a:r>
            <a:r>
              <a:rPr b="0" lang="en-US" sz="2000" spc="-1" strike="noStrike">
                <a:solidFill>
                  <a:srgbClr val="0070c0"/>
                </a:solidFill>
                <a:latin typeface="Calibri"/>
              </a:rPr>
              <a:t>plot()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function (Figure 4.5).</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 Create data for the density plot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h &lt;- </a:t>
            </a:r>
            <a:r>
              <a:rPr b="0" lang="en-US" sz="2000" spc="-1" strike="noStrike">
                <a:solidFill>
                  <a:srgbClr val="0070c0"/>
                </a:solidFill>
                <a:latin typeface="Calibri"/>
              </a:rPr>
              <a:t>density</a:t>
            </a:r>
            <a:r>
              <a:rPr b="0" lang="en-US" sz="2000" spc="-1" strike="noStrike">
                <a:solidFill>
                  <a:srgbClr val="404040"/>
                </a:solidFill>
                <a:latin typeface="Calibri"/>
              </a:rPr>
              <a:t> (c(0.0, 38.0, 50.0, 51.7, 64.0, 146.0))</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#Create density plot for h</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plot(h)</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h &lt;- density (c(0.0, 38.0, 50.0, 51.7, 64.0, 146.0))</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&gt; plot(h, xlab=“Values”, ylab=“Density”)</a:t>
            </a:r>
            <a:endParaRPr b="0" lang="en-US" sz="2000" spc="-1" strike="noStrike">
              <a:solidFill>
                <a:srgbClr val="404040"/>
              </a:solidFill>
              <a:latin typeface="Calibri"/>
            </a:endParaRPr>
          </a:p>
        </p:txBody>
      </p:sp>
      <p:pic>
        <p:nvPicPr>
          <p:cNvPr id="349" name="Picture 3" descr=""/>
          <p:cNvPicPr/>
          <p:nvPr/>
        </p:nvPicPr>
        <p:blipFill>
          <a:blip r:embed="rId1"/>
          <a:stretch/>
        </p:blipFill>
        <p:spPr>
          <a:xfrm>
            <a:off x="7185960" y="2047680"/>
            <a:ext cx="4200840" cy="3400560"/>
          </a:xfrm>
          <a:prstGeom prst="rect">
            <a:avLst/>
          </a:prstGeom>
          <a:ln w="0">
            <a:noFill/>
          </a:ln>
        </p:spPr>
      </p:pic>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1097280" y="734400"/>
            <a:ext cx="10058040" cy="808560"/>
          </a:xfrm>
          <a:prstGeom prst="rect">
            <a:avLst/>
          </a:prstGeom>
          <a:noFill/>
          <a:ln w="0">
            <a:noFill/>
          </a:ln>
        </p:spPr>
        <p:txBody>
          <a:bodyPr anchor="b">
            <a:noAutofit/>
          </a:bodyPr>
          <a:p>
            <a:pPr>
              <a:lnSpc>
                <a:spcPct val="85000"/>
              </a:lnSpc>
              <a:buNone/>
            </a:pPr>
            <a:r>
              <a:rPr b="0" lang="en-IN" sz="4800" spc="-52" strike="noStrike">
                <a:solidFill>
                  <a:srgbClr val="404040"/>
                </a:solidFill>
                <a:latin typeface="Calibri Light"/>
              </a:rPr>
              <a:t>Bar Charts</a:t>
            </a:r>
            <a:endParaRPr b="0" lang="en-US" sz="4800" spc="-1" strike="noStrike">
              <a:solidFill>
                <a:srgbClr val="000000"/>
              </a:solidFill>
              <a:latin typeface="Calibri"/>
            </a:endParaRPr>
          </a:p>
        </p:txBody>
      </p:sp>
      <p:sp>
        <p:nvSpPr>
          <p:cNvPr id="351" name="PlaceHolder 2"/>
          <p:cNvSpPr>
            <a:spLocks noGrp="1"/>
          </p:cNvSpPr>
          <p:nvPr>
            <p:ph/>
          </p:nvPr>
        </p:nvSpPr>
        <p:spPr>
          <a:xfrm>
            <a:off x="1097280" y="1845720"/>
            <a:ext cx="5150880" cy="4023000"/>
          </a:xfrm>
          <a:prstGeom prst="rect">
            <a:avLst/>
          </a:prstGeom>
          <a:noFill/>
          <a:ln w="0">
            <a:noFill/>
          </a:ln>
        </p:spPr>
        <p:txBody>
          <a:bodyPr lIns="0" rIns="0" anchor="t">
            <a:normAutofit fontScale="75000"/>
          </a:bodyPr>
          <a:p>
            <a:pPr marL="91440" indent="-91440">
              <a:lnSpc>
                <a:spcPct val="120000"/>
              </a:lnSpc>
              <a:buClr>
                <a:srgbClr val="e48312"/>
              </a:buClr>
              <a:buFont typeface="Calibri"/>
              <a:buChar char=" "/>
            </a:pPr>
            <a:r>
              <a:rPr b="0" lang="en-US" sz="2000" spc="-1" strike="noStrike">
                <a:solidFill>
                  <a:srgbClr val="404040"/>
                </a:solidFill>
                <a:latin typeface="Calibri"/>
              </a:rPr>
              <a:t>R uses the barplot() function to create a bar chart. The basic syntax for creating a</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bar chart using R is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  </a:t>
            </a:r>
            <a:r>
              <a:rPr b="0" lang="en-US" sz="2000" spc="-1" strike="noStrike">
                <a:solidFill>
                  <a:srgbClr val="ff0000"/>
                </a:solidFill>
                <a:latin typeface="Calibri"/>
              </a:rPr>
              <a:t>barplot(H, xlab, ylab, main, names.arg, col)</a:t>
            </a:r>
            <a:endParaRPr b="0" lang="en-US" sz="2000" spc="-1" strike="noStrike">
              <a:solidFill>
                <a:srgbClr val="404040"/>
              </a:solidFill>
              <a:latin typeface="Calibri"/>
            </a:endParaRPr>
          </a:p>
          <a:p>
            <a:pPr>
              <a:lnSpc>
                <a:spcPct val="120000"/>
              </a:lnSpc>
              <a:buNone/>
            </a:pP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Some basic bar charts commonly used in R are:</a:t>
            </a:r>
            <a:endParaRPr b="0" lang="en-US" sz="2000" spc="-1" strike="noStrike">
              <a:solidFill>
                <a:srgbClr val="404040"/>
              </a:solidFill>
              <a:latin typeface="Calibri"/>
            </a:endParaRPr>
          </a:p>
          <a:p>
            <a:pPr marL="628560" indent="-266760">
              <a:lnSpc>
                <a:spcPct val="120000"/>
              </a:lnSpc>
              <a:buClr>
                <a:srgbClr val="e48312"/>
              </a:buClr>
              <a:buFont typeface="Wingdings" charset="2"/>
              <a:buChar char=""/>
            </a:pPr>
            <a:r>
              <a:rPr b="0" lang="en-US" sz="2000" spc="-1" strike="noStrike">
                <a:solidFill>
                  <a:srgbClr val="ff0000"/>
                </a:solidFill>
                <a:latin typeface="Calibri"/>
              </a:rPr>
              <a:t>Simple bar chart</a:t>
            </a:r>
            <a:endParaRPr b="0" lang="en-US" sz="2000" spc="-1" strike="noStrike">
              <a:solidFill>
                <a:srgbClr val="404040"/>
              </a:solidFill>
              <a:latin typeface="Calibri"/>
            </a:endParaRPr>
          </a:p>
          <a:p>
            <a:pPr marL="628560" indent="-266760">
              <a:lnSpc>
                <a:spcPct val="120000"/>
              </a:lnSpc>
              <a:buClr>
                <a:srgbClr val="e48312"/>
              </a:buClr>
              <a:buFont typeface="Wingdings" charset="2"/>
              <a:buChar char=""/>
            </a:pPr>
            <a:r>
              <a:rPr b="0" lang="en-US" sz="2000" spc="-1" strike="noStrike">
                <a:solidFill>
                  <a:srgbClr val="ff0000"/>
                </a:solidFill>
                <a:latin typeface="Calibri"/>
              </a:rPr>
              <a:t>Grouped bar chart</a:t>
            </a:r>
            <a:endParaRPr b="0" lang="en-US" sz="2000" spc="-1" strike="noStrike">
              <a:solidFill>
                <a:srgbClr val="404040"/>
              </a:solidFill>
              <a:latin typeface="Calibri"/>
            </a:endParaRPr>
          </a:p>
          <a:p>
            <a:pPr marL="628560" indent="-266760">
              <a:lnSpc>
                <a:spcPct val="120000"/>
              </a:lnSpc>
              <a:buClr>
                <a:srgbClr val="e48312"/>
              </a:buClr>
              <a:buFont typeface="Wingdings" charset="2"/>
              <a:buChar char=""/>
            </a:pPr>
            <a:r>
              <a:rPr b="0" lang="en-US" sz="2000" spc="-1" strike="noStrike">
                <a:solidFill>
                  <a:srgbClr val="ff0000"/>
                </a:solidFill>
                <a:latin typeface="Calibri"/>
              </a:rPr>
              <a:t>Stacked bar chart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ff0000"/>
                </a:solidFill>
                <a:latin typeface="Calibri"/>
              </a:rPr>
              <a:t>1. Simple Bar Chart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A simple bar chart is created by just providing the input values and a name to the bar</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chart. The following code creates and saves a bar chart using the </a:t>
            </a:r>
            <a:r>
              <a:rPr b="0" lang="en-US" sz="2000" spc="-1" strike="noStrike">
                <a:solidFill>
                  <a:srgbClr val="0070c0"/>
                </a:solidFill>
                <a:latin typeface="Calibri"/>
              </a:rPr>
              <a:t>barplot() </a:t>
            </a:r>
            <a:r>
              <a:rPr b="0" lang="en-US" sz="2000" spc="-1" strike="noStrike">
                <a:solidFill>
                  <a:srgbClr val="404040"/>
                </a:solidFill>
                <a:latin typeface="Calibri"/>
              </a:rPr>
              <a:t>function in R.</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1097280" y="475920"/>
            <a:ext cx="10058040" cy="1293480"/>
          </a:xfrm>
          <a:prstGeom prst="rect">
            <a:avLst/>
          </a:prstGeom>
          <a:noFill/>
          <a:ln w="0">
            <a:noFill/>
          </a:ln>
        </p:spPr>
        <p:txBody>
          <a:bodyPr anchor="b">
            <a:normAutofit fontScale="88000"/>
          </a:bodyPr>
          <a:p>
            <a:pPr>
              <a:lnSpc>
                <a:spcPct val="85000"/>
              </a:lnSpc>
              <a:buNone/>
            </a:pPr>
            <a:r>
              <a:rPr b="0" lang="en-US" sz="4800" spc="-52" strike="noStrike">
                <a:solidFill>
                  <a:srgbClr val="404040"/>
                </a:solidFill>
                <a:latin typeface="Calibri Light"/>
              </a:rPr>
              <a:t>Example 1</a:t>
            </a:r>
            <a:br>
              <a:rPr sz="4800"/>
            </a:br>
            <a:endParaRPr b="0" lang="en-US" sz="4800" spc="-1" strike="noStrike">
              <a:solidFill>
                <a:srgbClr val="000000"/>
              </a:solidFill>
              <a:latin typeface="Calibri"/>
            </a:endParaRPr>
          </a:p>
        </p:txBody>
      </p:sp>
      <p:sp>
        <p:nvSpPr>
          <p:cNvPr id="353" name="PlaceHolder 2"/>
          <p:cNvSpPr>
            <a:spLocks noGrp="1"/>
          </p:cNvSpPr>
          <p:nvPr>
            <p:ph/>
          </p:nvPr>
        </p:nvSpPr>
        <p:spPr>
          <a:xfrm>
            <a:off x="1097280" y="1845720"/>
            <a:ext cx="10058040" cy="4023000"/>
          </a:xfrm>
          <a:prstGeom prst="rect">
            <a:avLst/>
          </a:prstGeom>
          <a:noFill/>
          <a:ln w="0">
            <a:noFill/>
          </a:ln>
        </p:spPr>
        <p:txBody>
          <a:bodyPr lIns="0" rIns="0" anchor="t">
            <a:normAutofit fontScale="97000"/>
          </a:bodyPr>
          <a:p>
            <a:pPr marL="91440" indent="-91440">
              <a:lnSpc>
                <a:spcPct val="120000"/>
              </a:lnSpc>
              <a:buClr>
                <a:srgbClr val="e48312"/>
              </a:buClr>
              <a:buFont typeface="Calibri"/>
              <a:buChar char=" "/>
            </a:pPr>
            <a:r>
              <a:rPr b="0" lang="en-US" sz="2000" spc="-1" strike="noStrike">
                <a:solidFill>
                  <a:srgbClr val="404040"/>
                </a:solidFill>
                <a:latin typeface="Calibri"/>
              </a:rPr>
              <a:t># Create data for the bar chart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H &lt;- c (8,13,30,5,28)</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#Give a name for the bar chart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png(file = “samplebarchart.png”)</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#Plot bar chart using barplot() function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0070c0"/>
                </a:solidFill>
                <a:latin typeface="Calibri"/>
              </a:rPr>
              <a:t>barplot(H)</a:t>
            </a:r>
            <a:endParaRPr b="0" lang="en-US" sz="2000" spc="-1" strike="noStrike">
              <a:solidFill>
                <a:srgbClr val="404040"/>
              </a:solidFill>
              <a:latin typeface="Calibri"/>
            </a:endParaRPr>
          </a:p>
          <a:p>
            <a:pPr>
              <a:lnSpc>
                <a:spcPct val="120000"/>
              </a:lnSpc>
              <a:buNone/>
            </a:pP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#Save the file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dev.off()</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H &lt;- c (8,13,30,5,28)</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&gt; </a:t>
            </a:r>
            <a:r>
              <a:rPr b="0" lang="en-US" sz="2000" spc="-1" strike="noStrike">
                <a:solidFill>
                  <a:srgbClr val="0070c0"/>
                </a:solidFill>
                <a:latin typeface="Calibri"/>
              </a:rPr>
              <a:t>barplot (H, xlab = “Categories”, ylab=“Values”, col=“blue”)</a:t>
            </a:r>
            <a:endParaRPr b="0" lang="en-US" sz="2000" spc="-1" strike="noStrike">
              <a:solidFill>
                <a:srgbClr val="404040"/>
              </a:solidFill>
              <a:latin typeface="Calibri"/>
            </a:endParaRPr>
          </a:p>
          <a:p>
            <a:pPr>
              <a:lnSpc>
                <a:spcPct val="90000"/>
              </a:lnSpc>
              <a:spcBef>
                <a:spcPts val="1199"/>
              </a:spcBef>
              <a:spcAft>
                <a:spcPts val="201"/>
              </a:spcAft>
              <a:buNone/>
            </a:pPr>
            <a:endParaRPr b="0" lang="en-US" sz="2000" spc="-1" strike="noStrike">
              <a:solidFill>
                <a:srgbClr val="404040"/>
              </a:solidFill>
              <a:latin typeface="Calibri"/>
            </a:endParaRPr>
          </a:p>
        </p:txBody>
      </p:sp>
      <p:pic>
        <p:nvPicPr>
          <p:cNvPr id="354" name="Picture 3" descr=""/>
          <p:cNvPicPr/>
          <p:nvPr/>
        </p:nvPicPr>
        <p:blipFill>
          <a:blip r:embed="rId1"/>
          <a:stretch/>
        </p:blipFill>
        <p:spPr>
          <a:xfrm>
            <a:off x="7286760" y="2133360"/>
            <a:ext cx="4038120" cy="3371760"/>
          </a:xfrm>
          <a:prstGeom prst="rect">
            <a:avLst/>
          </a:prstGeom>
          <a:ln w="0">
            <a:noFill/>
          </a:ln>
        </p:spPr>
      </p:pic>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4000" spc="-52" strike="noStrike">
                <a:solidFill>
                  <a:srgbClr val="404040"/>
                </a:solidFill>
                <a:latin typeface="Calibri Light"/>
              </a:rPr>
              <a:t>Group Bar Chart</a:t>
            </a:r>
            <a:endParaRPr b="0" lang="en-US" sz="4000" spc="-1" strike="noStrike">
              <a:solidFill>
                <a:srgbClr val="000000"/>
              </a:solidFill>
              <a:latin typeface="Calibri"/>
            </a:endParaRPr>
          </a:p>
        </p:txBody>
      </p:sp>
      <p:sp>
        <p:nvSpPr>
          <p:cNvPr id="356"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A group data in R is used to handle multiple</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inputs and takes the value of the matrix. This</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group bar chart is created using the </a:t>
            </a:r>
            <a:r>
              <a:rPr b="0" lang="en-US" sz="2000" spc="-1" strike="noStrike">
                <a:solidFill>
                  <a:srgbClr val="0070c0"/>
                </a:solidFill>
                <a:latin typeface="Calibri"/>
              </a:rPr>
              <a:t>barplot()</a:t>
            </a:r>
            <a:endParaRPr b="0" lang="en-US" sz="2000" spc="-1" strike="noStrike">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function and accepts the matrix inputs.</a:t>
            </a:r>
            <a:endParaRPr b="0" lang="en-US" sz="2000" spc="-1" strike="noStrike">
              <a:solidFill>
                <a:srgbClr val="404040"/>
              </a:solidFill>
              <a:latin typeface="Calibri"/>
            </a:endParaRPr>
          </a:p>
        </p:txBody>
      </p:sp>
      <p:pic>
        <p:nvPicPr>
          <p:cNvPr id="357" name="Picture 4" descr=""/>
          <p:cNvPicPr/>
          <p:nvPr/>
        </p:nvPicPr>
        <p:blipFill>
          <a:blip r:embed="rId1"/>
          <a:stretch/>
        </p:blipFill>
        <p:spPr>
          <a:xfrm>
            <a:off x="5983200" y="1845720"/>
            <a:ext cx="5753520" cy="3571920"/>
          </a:xfrm>
          <a:prstGeom prst="rect">
            <a:avLst/>
          </a:prstGeom>
          <a:ln w="0">
            <a:noFill/>
          </a:ln>
        </p:spPr>
      </p:pic>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1097280" y="286560"/>
            <a:ext cx="10058040" cy="1484640"/>
          </a:xfrm>
          <a:prstGeom prst="rect">
            <a:avLst/>
          </a:prstGeom>
          <a:noFill/>
          <a:ln w="0">
            <a:noFill/>
          </a:ln>
        </p:spPr>
        <p:txBody>
          <a:bodyPr anchor="b">
            <a:noAutofit/>
          </a:bodyPr>
          <a:p>
            <a:pPr>
              <a:lnSpc>
                <a:spcPct val="85000"/>
              </a:lnSpc>
              <a:buNone/>
            </a:pPr>
            <a:r>
              <a:rPr b="0" lang="en-US" sz="4800" spc="-52" strike="noStrike">
                <a:solidFill>
                  <a:srgbClr val="404040"/>
                </a:solidFill>
                <a:latin typeface="Calibri Light"/>
              </a:rPr>
              <a:t>Example 2</a:t>
            </a:r>
            <a:endParaRPr b="0" lang="en-US" sz="4800" spc="-1" strike="noStrike">
              <a:solidFill>
                <a:srgbClr val="000000"/>
              </a:solidFill>
              <a:latin typeface="Calibri"/>
            </a:endParaRPr>
          </a:p>
        </p:txBody>
      </p:sp>
      <p:sp>
        <p:nvSpPr>
          <p:cNvPr id="359" name="PlaceHolder 2"/>
          <p:cNvSpPr>
            <a:spLocks noGrp="1"/>
          </p:cNvSpPr>
          <p:nvPr>
            <p:ph/>
          </p:nvPr>
        </p:nvSpPr>
        <p:spPr>
          <a:xfrm>
            <a:off x="1066680" y="1737360"/>
            <a:ext cx="5086080" cy="4396320"/>
          </a:xfrm>
          <a:prstGeom prst="rect">
            <a:avLst/>
          </a:prstGeom>
          <a:noFill/>
          <a:ln w="0">
            <a:noFill/>
          </a:ln>
        </p:spPr>
        <p:txBody>
          <a:bodyPr lIns="0" rIns="0" anchor="t">
            <a:normAutofit/>
          </a:bodyPr>
          <a:p>
            <a:pPr marL="91440" indent="-91440">
              <a:lnSpc>
                <a:spcPct val="120000"/>
              </a:lnSpc>
              <a:buClr>
                <a:srgbClr val="e48312"/>
              </a:buClr>
              <a:buFont typeface="Calibri"/>
              <a:buChar char=" "/>
            </a:pPr>
            <a:r>
              <a:rPr b="0" lang="en-US" sz="1200" spc="-1" strike="noStrike">
                <a:solidFill>
                  <a:srgbClr val="404040"/>
                </a:solidFill>
                <a:latin typeface="Calibri"/>
              </a:rPr>
              <a:t>The bar chart is drawn horizontally by passing</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the “horiz” parameter TRUE. This can be shown</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with a sample program as follows:</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 Create data for the bar chart</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H &lt;- c (8,13,30,5,28)</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#Give a name for the bar chart</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png(file = “samplebarchart.png”)</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#Plot bar chart using barplot() function</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barplot(H, horiz=TRUE))</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#Save the file</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dev.off()</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&gt; barplot(H, xlab = “Values”, ylab=“Categories”, col=“blue”,</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horiz=TRUE)</a:t>
            </a:r>
            <a:endParaRPr b="0" lang="en-US" sz="1200" spc="-1" strike="noStrike">
              <a:solidFill>
                <a:srgbClr val="404040"/>
              </a:solidFill>
              <a:latin typeface="Calibri"/>
            </a:endParaRPr>
          </a:p>
          <a:p>
            <a:pPr marL="91440" indent="-91440">
              <a:lnSpc>
                <a:spcPct val="120000"/>
              </a:lnSpc>
              <a:buClr>
                <a:srgbClr val="e48312"/>
              </a:buClr>
              <a:buFont typeface="Calibri"/>
              <a:buChar char=" "/>
            </a:pPr>
            <a:r>
              <a:rPr b="0" lang="en-US" sz="1200" spc="-1" strike="noStrike">
                <a:solidFill>
                  <a:srgbClr val="404040"/>
                </a:solidFill>
                <a:latin typeface="Calibri"/>
              </a:rPr>
              <a:t>Example</a:t>
            </a:r>
            <a:endParaRPr b="0" lang="en-US" sz="1200" spc="-1" strike="noStrike">
              <a:solidFill>
                <a:srgbClr val="404040"/>
              </a:solidFill>
              <a:latin typeface="Calibri"/>
            </a:endParaRPr>
          </a:p>
          <a:p>
            <a:pPr marL="91440" indent="-91440">
              <a:lnSpc>
                <a:spcPct val="90000"/>
              </a:lnSpc>
              <a:buClr>
                <a:srgbClr val="e48312"/>
              </a:buClr>
              <a:buFont typeface="Calibri"/>
              <a:buChar char=" "/>
            </a:pPr>
            <a:r>
              <a:rPr b="0" lang="en-IN" sz="1200" spc="-1" strike="noStrike">
                <a:solidFill>
                  <a:srgbClr val="404040"/>
                </a:solidFill>
                <a:latin typeface="Calibri"/>
              </a:rPr>
              <a:t>&gt; colors &lt;- c(“green”,“orange”,“brown”)</a:t>
            </a:r>
            <a:endParaRPr b="0" lang="en-US" sz="1200" spc="-1" strike="noStrike">
              <a:solidFill>
                <a:srgbClr val="404040"/>
              </a:solidFill>
              <a:latin typeface="Calibri"/>
            </a:endParaRPr>
          </a:p>
          <a:p>
            <a:pPr marL="91440" indent="-91440">
              <a:lnSpc>
                <a:spcPct val="90000"/>
              </a:lnSpc>
              <a:buClr>
                <a:srgbClr val="e48312"/>
              </a:buClr>
              <a:buFont typeface="Calibri"/>
              <a:buChar char=" "/>
            </a:pPr>
            <a:r>
              <a:rPr b="0" lang="en-IN" sz="1200" spc="-1" strike="noStrike">
                <a:solidFill>
                  <a:srgbClr val="404040"/>
                </a:solidFill>
                <a:latin typeface="Calibri"/>
              </a:rPr>
              <a:t>&gt; months &lt;- c(“Mar”,“Apr”,“May”,“Jun”,“Jul”)</a:t>
            </a:r>
            <a:endParaRPr b="0" lang="en-US" sz="1200" spc="-1" strike="noStrike">
              <a:solidFill>
                <a:srgbClr val="404040"/>
              </a:solidFill>
              <a:latin typeface="Calibri"/>
            </a:endParaRPr>
          </a:p>
          <a:p>
            <a:pPr marL="91440" indent="-91440">
              <a:lnSpc>
                <a:spcPct val="90000"/>
              </a:lnSpc>
              <a:buClr>
                <a:srgbClr val="e48312"/>
              </a:buClr>
              <a:buFont typeface="Calibri"/>
              <a:buChar char=" "/>
            </a:pPr>
            <a:r>
              <a:rPr b="0" lang="en-IN" sz="1200" spc="-1" strike="noStrike">
                <a:solidFill>
                  <a:srgbClr val="404040"/>
                </a:solidFill>
                <a:latin typeface="Calibri"/>
              </a:rPr>
              <a:t>&gt; regions &lt;- c(“East”,“West”,“North”)</a:t>
            </a:r>
            <a:endParaRPr b="0" lang="en-US" sz="1200" spc="-1" strike="noStrike">
              <a:solidFill>
                <a:srgbClr val="404040"/>
              </a:solidFill>
              <a:latin typeface="Calibri"/>
            </a:endParaRPr>
          </a:p>
          <a:p>
            <a:pPr marL="91440" indent="-91440">
              <a:lnSpc>
                <a:spcPct val="90000"/>
              </a:lnSpc>
              <a:buClr>
                <a:srgbClr val="e48312"/>
              </a:buClr>
              <a:buFont typeface="Calibri"/>
              <a:buChar char=" "/>
            </a:pPr>
            <a:r>
              <a:rPr b="0" lang="en-IN" sz="1200" spc="-1" strike="noStrike">
                <a:solidFill>
                  <a:srgbClr val="404040"/>
                </a:solidFill>
                <a:latin typeface="Calibri"/>
              </a:rPr>
              <a:t>&gt; Values &lt;- matrix(c(2,9,3,11,9,4,8,7,3,12,5,2,8,10,11),nrow=3,ncol</a:t>
            </a:r>
            <a:endParaRPr b="0" lang="en-US" sz="1200" spc="-1" strike="noStrike">
              <a:solidFill>
                <a:srgbClr val="404040"/>
              </a:solidFill>
              <a:latin typeface="Calibri"/>
            </a:endParaRPr>
          </a:p>
          <a:p>
            <a:pPr marL="91440" indent="-91440">
              <a:lnSpc>
                <a:spcPct val="90000"/>
              </a:lnSpc>
              <a:buClr>
                <a:srgbClr val="e48312"/>
              </a:buClr>
              <a:buFont typeface="Calibri"/>
              <a:buChar char=" "/>
            </a:pPr>
            <a:r>
              <a:rPr b="0" lang="en-IN" sz="1200" spc="-1" strike="noStrike">
                <a:solidFill>
                  <a:srgbClr val="404040"/>
                </a:solidFill>
                <a:latin typeface="Calibri"/>
              </a:rPr>
              <a:t>= 5,byrow = TRUE)</a:t>
            </a:r>
            <a:endParaRPr b="0" lang="en-US" sz="1200" spc="-1" strike="noStrike">
              <a:solidFill>
                <a:srgbClr val="404040"/>
              </a:solidFill>
              <a:latin typeface="Calibri"/>
            </a:endParaRPr>
          </a:p>
          <a:p>
            <a:pPr>
              <a:lnSpc>
                <a:spcPct val="120000"/>
              </a:lnSpc>
              <a:buNone/>
            </a:pPr>
            <a:endParaRPr b="0" lang="en-US" sz="1200" spc="-1" strike="noStrike">
              <a:solidFill>
                <a:srgbClr val="404040"/>
              </a:solidFill>
              <a:latin typeface="Calibri"/>
            </a:endParaRPr>
          </a:p>
          <a:p>
            <a:pPr>
              <a:lnSpc>
                <a:spcPct val="120000"/>
              </a:lnSpc>
              <a:buNone/>
            </a:pPr>
            <a:endParaRPr b="0" lang="en-US" sz="1200" spc="-1" strike="noStrike">
              <a:solidFill>
                <a:srgbClr val="404040"/>
              </a:solidFill>
              <a:latin typeface="Calibri"/>
            </a:endParaRPr>
          </a:p>
        </p:txBody>
      </p:sp>
      <p:sp>
        <p:nvSpPr>
          <p:cNvPr id="360" name="Rectangle 4"/>
          <p:cNvSpPr/>
          <p:nvPr/>
        </p:nvSpPr>
        <p:spPr>
          <a:xfrm>
            <a:off x="6305400" y="1718280"/>
            <a:ext cx="5067000" cy="4105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200" spc="-1" strike="noStrike">
                <a:solidFill>
                  <a:srgbClr val="000000"/>
                </a:solidFill>
                <a:latin typeface="Calibri"/>
              </a:rPr>
              <a:t>&gt; Values</a:t>
            </a:r>
            <a:endParaRPr b="0" lang="en-IN" sz="1200" spc="-1" strike="noStrike">
              <a:latin typeface="Arial"/>
            </a:endParaRPr>
          </a:p>
          <a:p>
            <a:pPr>
              <a:lnSpc>
                <a:spcPct val="100000"/>
              </a:lnSpc>
              <a:buNone/>
            </a:pPr>
            <a:r>
              <a:rPr b="0" lang="en-IN" sz="1200" spc="-1" strike="noStrike">
                <a:solidFill>
                  <a:srgbClr val="000000"/>
                </a:solidFill>
                <a:latin typeface="Calibri"/>
              </a:rPr>
              <a:t>[,1] [,2] [,3] [,4] [,5]</a:t>
            </a:r>
            <a:endParaRPr b="0" lang="en-IN" sz="1200" spc="-1" strike="noStrike">
              <a:latin typeface="Arial"/>
            </a:endParaRPr>
          </a:p>
          <a:p>
            <a:pPr>
              <a:lnSpc>
                <a:spcPct val="100000"/>
              </a:lnSpc>
              <a:buNone/>
            </a:pPr>
            <a:r>
              <a:rPr b="0" lang="en-IN" sz="1200" spc="-1" strike="noStrike">
                <a:solidFill>
                  <a:srgbClr val="000000"/>
                </a:solidFill>
                <a:latin typeface="Calibri"/>
              </a:rPr>
              <a:t>[1,] 2 9 3 11 9</a:t>
            </a:r>
            <a:endParaRPr b="0" lang="en-IN" sz="1200" spc="-1" strike="noStrike">
              <a:latin typeface="Arial"/>
            </a:endParaRPr>
          </a:p>
          <a:p>
            <a:pPr>
              <a:lnSpc>
                <a:spcPct val="100000"/>
              </a:lnSpc>
              <a:buNone/>
            </a:pPr>
            <a:r>
              <a:rPr b="0" lang="en-IN" sz="1200" spc="-1" strike="noStrike">
                <a:solidFill>
                  <a:srgbClr val="000000"/>
                </a:solidFill>
                <a:latin typeface="Calibri"/>
              </a:rPr>
              <a:t>[2,] 4 8 7 3 12</a:t>
            </a:r>
            <a:endParaRPr b="0" lang="en-IN" sz="1200" spc="-1" strike="noStrike">
              <a:latin typeface="Arial"/>
            </a:endParaRPr>
          </a:p>
          <a:p>
            <a:pPr>
              <a:lnSpc>
                <a:spcPct val="100000"/>
              </a:lnSpc>
              <a:buNone/>
            </a:pPr>
            <a:r>
              <a:rPr b="0" lang="en-IN" sz="1200" spc="-1" strike="noStrike">
                <a:solidFill>
                  <a:srgbClr val="000000"/>
                </a:solidFill>
                <a:latin typeface="Calibri"/>
              </a:rPr>
              <a:t>[3,] 5 2 8 10 11</a:t>
            </a:r>
            <a:endParaRPr b="0" lang="en-IN" sz="1200" spc="-1" strike="noStrike">
              <a:latin typeface="Arial"/>
            </a:endParaRPr>
          </a:p>
          <a:p>
            <a:pPr>
              <a:lnSpc>
                <a:spcPct val="100000"/>
              </a:lnSpc>
              <a:buNone/>
            </a:pPr>
            <a:r>
              <a:rPr b="0" lang="en-IN" sz="1200" spc="-1" strike="noStrike">
                <a:solidFill>
                  <a:srgbClr val="000000"/>
                </a:solidFill>
                <a:latin typeface="Calibri"/>
              </a:rPr>
              <a:t>&gt; rownames(Values) &lt;- regions</a:t>
            </a:r>
            <a:endParaRPr b="0" lang="en-IN" sz="1200" spc="-1" strike="noStrike">
              <a:latin typeface="Arial"/>
            </a:endParaRPr>
          </a:p>
          <a:p>
            <a:pPr>
              <a:lnSpc>
                <a:spcPct val="100000"/>
              </a:lnSpc>
              <a:buNone/>
            </a:pPr>
            <a:r>
              <a:rPr b="0" lang="en-IN" sz="1200" spc="-1" strike="noStrike">
                <a:solidFill>
                  <a:srgbClr val="000000"/>
                </a:solidFill>
                <a:latin typeface="Calibri"/>
              </a:rPr>
              <a:t>&gt; rownames(Values)</a:t>
            </a:r>
            <a:endParaRPr b="0" lang="en-IN" sz="1200" spc="-1" strike="noStrike">
              <a:latin typeface="Arial"/>
            </a:endParaRPr>
          </a:p>
          <a:p>
            <a:pPr>
              <a:lnSpc>
                <a:spcPct val="100000"/>
              </a:lnSpc>
              <a:buNone/>
            </a:pPr>
            <a:r>
              <a:rPr b="0" lang="en-IN" sz="1200" spc="-1" strike="noStrike">
                <a:solidFill>
                  <a:srgbClr val="000000"/>
                </a:solidFill>
                <a:latin typeface="Calibri"/>
              </a:rPr>
              <a:t>[1] “East” “West” “North”</a:t>
            </a:r>
            <a:endParaRPr b="0" lang="en-IN" sz="1200" spc="-1" strike="noStrike">
              <a:latin typeface="Arial"/>
            </a:endParaRPr>
          </a:p>
          <a:p>
            <a:pPr>
              <a:lnSpc>
                <a:spcPct val="100000"/>
              </a:lnSpc>
              <a:buNone/>
            </a:pPr>
            <a:r>
              <a:rPr b="0" lang="en-IN" sz="1200" spc="-1" strike="noStrike">
                <a:solidFill>
                  <a:srgbClr val="000000"/>
                </a:solidFill>
                <a:latin typeface="Calibri"/>
              </a:rPr>
              <a:t>&gt; Values</a:t>
            </a:r>
            <a:endParaRPr b="0" lang="en-IN" sz="1200" spc="-1" strike="noStrike">
              <a:latin typeface="Arial"/>
            </a:endParaRPr>
          </a:p>
          <a:p>
            <a:pPr>
              <a:lnSpc>
                <a:spcPct val="100000"/>
              </a:lnSpc>
              <a:buNone/>
            </a:pPr>
            <a:r>
              <a:rPr b="0" lang="en-IN" sz="1200" spc="-1" strike="noStrike">
                <a:solidFill>
                  <a:srgbClr val="000000"/>
                </a:solidFill>
                <a:latin typeface="Calibri"/>
              </a:rPr>
              <a:t>[,1] [,2] [,3] [,4] [,5]</a:t>
            </a:r>
            <a:endParaRPr b="0" lang="en-IN" sz="1200" spc="-1" strike="noStrike">
              <a:latin typeface="Arial"/>
            </a:endParaRPr>
          </a:p>
          <a:p>
            <a:pPr>
              <a:lnSpc>
                <a:spcPct val="100000"/>
              </a:lnSpc>
              <a:buNone/>
            </a:pPr>
            <a:r>
              <a:rPr b="0" lang="en-IN" sz="1200" spc="-1" strike="noStrike">
                <a:solidFill>
                  <a:srgbClr val="000000"/>
                </a:solidFill>
                <a:latin typeface="Calibri"/>
              </a:rPr>
              <a:t>East 2 9 3 11 9</a:t>
            </a:r>
            <a:endParaRPr b="0" lang="en-IN" sz="1200" spc="-1" strike="noStrike">
              <a:latin typeface="Arial"/>
            </a:endParaRPr>
          </a:p>
          <a:p>
            <a:pPr>
              <a:lnSpc>
                <a:spcPct val="100000"/>
              </a:lnSpc>
              <a:buNone/>
            </a:pPr>
            <a:r>
              <a:rPr b="0" lang="en-IN" sz="1200" spc="-1" strike="noStrike">
                <a:solidFill>
                  <a:srgbClr val="000000"/>
                </a:solidFill>
                <a:latin typeface="Calibri"/>
              </a:rPr>
              <a:t>West 4 8 7 3 12</a:t>
            </a:r>
            <a:endParaRPr b="0" lang="en-IN" sz="1200" spc="-1" strike="noStrike">
              <a:latin typeface="Arial"/>
            </a:endParaRPr>
          </a:p>
          <a:p>
            <a:pPr>
              <a:lnSpc>
                <a:spcPct val="100000"/>
              </a:lnSpc>
              <a:buNone/>
            </a:pPr>
            <a:r>
              <a:rPr b="0" lang="en-IN" sz="1200" spc="-1" strike="noStrike">
                <a:solidFill>
                  <a:srgbClr val="000000"/>
                </a:solidFill>
                <a:latin typeface="Calibri"/>
              </a:rPr>
              <a:t>North 5 2 8 10 11</a:t>
            </a:r>
            <a:endParaRPr b="0" lang="en-IN" sz="1200" spc="-1" strike="noStrike">
              <a:latin typeface="Arial"/>
            </a:endParaRPr>
          </a:p>
          <a:p>
            <a:pPr>
              <a:lnSpc>
                <a:spcPct val="100000"/>
              </a:lnSpc>
              <a:buNone/>
            </a:pPr>
            <a:r>
              <a:rPr b="0" lang="en-IN" sz="1200" spc="-1" strike="noStrike">
                <a:solidFill>
                  <a:srgbClr val="000000"/>
                </a:solidFill>
                <a:latin typeface="Calibri"/>
              </a:rPr>
              <a:t>&gt; colnames(Values) &lt;- months</a:t>
            </a:r>
            <a:endParaRPr b="0" lang="en-IN" sz="1200" spc="-1" strike="noStrike">
              <a:latin typeface="Arial"/>
            </a:endParaRPr>
          </a:p>
          <a:p>
            <a:pPr>
              <a:lnSpc>
                <a:spcPct val="100000"/>
              </a:lnSpc>
              <a:buNone/>
            </a:pPr>
            <a:r>
              <a:rPr b="0" lang="en-IN" sz="1200" spc="-1" strike="noStrike">
                <a:solidFill>
                  <a:srgbClr val="000000"/>
                </a:solidFill>
                <a:latin typeface="Calibri"/>
              </a:rPr>
              <a:t>&gt; Values</a:t>
            </a:r>
            <a:endParaRPr b="0" lang="en-IN" sz="1200" spc="-1" strike="noStrike">
              <a:latin typeface="Arial"/>
            </a:endParaRPr>
          </a:p>
          <a:p>
            <a:pPr>
              <a:lnSpc>
                <a:spcPct val="100000"/>
              </a:lnSpc>
              <a:buNone/>
            </a:pPr>
            <a:r>
              <a:rPr b="0" lang="en-IN" sz="1200" spc="-1" strike="noStrike">
                <a:solidFill>
                  <a:srgbClr val="000000"/>
                </a:solidFill>
                <a:latin typeface="Calibri"/>
              </a:rPr>
              <a:t>Mar Apr May Jun Jul</a:t>
            </a:r>
            <a:endParaRPr b="0" lang="en-IN" sz="1200" spc="-1" strike="noStrike">
              <a:latin typeface="Arial"/>
            </a:endParaRPr>
          </a:p>
          <a:p>
            <a:pPr>
              <a:lnSpc>
                <a:spcPct val="100000"/>
              </a:lnSpc>
              <a:buNone/>
            </a:pPr>
            <a:r>
              <a:rPr b="0" lang="en-IN" sz="1200" spc="-1" strike="noStrike">
                <a:solidFill>
                  <a:srgbClr val="000000"/>
                </a:solidFill>
                <a:latin typeface="Calibri"/>
              </a:rPr>
              <a:t>East 2 9 3 11 9</a:t>
            </a:r>
            <a:endParaRPr b="0" lang="en-IN" sz="1200" spc="-1" strike="noStrike">
              <a:latin typeface="Arial"/>
            </a:endParaRPr>
          </a:p>
          <a:p>
            <a:pPr>
              <a:lnSpc>
                <a:spcPct val="100000"/>
              </a:lnSpc>
              <a:buNone/>
            </a:pPr>
            <a:r>
              <a:rPr b="0" lang="en-IN" sz="1200" spc="-1" strike="noStrike">
                <a:solidFill>
                  <a:srgbClr val="000000"/>
                </a:solidFill>
                <a:latin typeface="Calibri"/>
              </a:rPr>
              <a:t>West 4 8 7 3 12</a:t>
            </a:r>
            <a:endParaRPr b="0" lang="en-IN" sz="1200" spc="-1" strike="noStrike">
              <a:latin typeface="Arial"/>
            </a:endParaRPr>
          </a:p>
          <a:p>
            <a:pPr>
              <a:lnSpc>
                <a:spcPct val="100000"/>
              </a:lnSpc>
              <a:buNone/>
            </a:pPr>
            <a:r>
              <a:rPr b="0" lang="en-IN" sz="1200" spc="-1" strike="noStrike">
                <a:solidFill>
                  <a:srgbClr val="000000"/>
                </a:solidFill>
                <a:latin typeface="Calibri"/>
              </a:rPr>
              <a:t>North 5 2 8 10 11</a:t>
            </a:r>
            <a:endParaRPr b="0" lang="en-IN" sz="1200" spc="-1" strike="noStrike">
              <a:latin typeface="Arial"/>
            </a:endParaRPr>
          </a:p>
          <a:p>
            <a:pPr>
              <a:lnSpc>
                <a:spcPct val="100000"/>
              </a:lnSpc>
              <a:buNone/>
            </a:pPr>
            <a:r>
              <a:rPr b="0" lang="en-IN" sz="1200" spc="-1" strike="noStrike">
                <a:solidFill>
                  <a:srgbClr val="000000"/>
                </a:solidFill>
                <a:latin typeface="Calibri"/>
              </a:rPr>
              <a:t>&gt; barplot(Values, col=colors, width=2, beside=TRUE, names.</a:t>
            </a:r>
            <a:endParaRPr b="0" lang="en-IN" sz="1200" spc="-1" strike="noStrike">
              <a:latin typeface="Arial"/>
            </a:endParaRPr>
          </a:p>
          <a:p>
            <a:pPr>
              <a:lnSpc>
                <a:spcPct val="100000"/>
              </a:lnSpc>
              <a:buNone/>
            </a:pPr>
            <a:r>
              <a:rPr b="0" lang="en-IN" sz="1200" spc="-1" strike="noStrike">
                <a:solidFill>
                  <a:srgbClr val="000000"/>
                </a:solidFill>
                <a:latin typeface="Calibri"/>
              </a:rPr>
              <a:t>arg=months, main=“Total Revenue 2015 by month”)</a:t>
            </a:r>
            <a:endParaRPr b="0" lang="en-IN" sz="1200" spc="-1" strike="noStrike">
              <a:latin typeface="Arial"/>
            </a:endParaRPr>
          </a:p>
          <a:p>
            <a:pPr>
              <a:lnSpc>
                <a:spcPct val="100000"/>
              </a:lnSpc>
              <a:buNone/>
            </a:pPr>
            <a:r>
              <a:rPr b="0" lang="en-IN" sz="1200" spc="-1" strike="noStrike">
                <a:solidFill>
                  <a:srgbClr val="000000"/>
                </a:solidFill>
                <a:latin typeface="Calibri"/>
              </a:rPr>
              <a:t>&gt; legend(“topleft”, regions, cex=0.6, bty= “n”, fill=colors);</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IN" sz="4000" spc="-52" strike="noStrike">
                <a:solidFill>
                  <a:srgbClr val="404040"/>
                </a:solidFill>
                <a:latin typeface="Calibri Light"/>
              </a:rPr>
              <a:t>Stacked Bar Chart</a:t>
            </a:r>
            <a:endParaRPr b="0" lang="en-US" sz="4000" spc="-1" strike="noStrike">
              <a:solidFill>
                <a:srgbClr val="000000"/>
              </a:solidFill>
              <a:latin typeface="Calibri"/>
            </a:endParaRPr>
          </a:p>
        </p:txBody>
      </p:sp>
      <p:sp>
        <p:nvSpPr>
          <p:cNvPr id="362" name="PlaceHolder 2"/>
          <p:cNvSpPr>
            <a:spLocks noGrp="1"/>
          </p:cNvSpPr>
          <p:nvPr>
            <p:ph/>
          </p:nvPr>
        </p:nvSpPr>
        <p:spPr>
          <a:xfrm>
            <a:off x="1097280" y="1845720"/>
            <a:ext cx="6046200" cy="4023000"/>
          </a:xfrm>
          <a:prstGeom prst="rect">
            <a:avLst/>
          </a:prstGeom>
          <a:noFill/>
          <a:ln w="0">
            <a:noFill/>
          </a:ln>
        </p:spPr>
        <p:txBody>
          <a:bodyPr lIns="0" rIns="0" anchor="t">
            <a:normAutofit fontScale="67000"/>
          </a:bodyPr>
          <a:p>
            <a:pPr marL="91440" indent="-91440">
              <a:lnSpc>
                <a:spcPct val="120000"/>
              </a:lnSpc>
              <a:buClr>
                <a:srgbClr val="e48312"/>
              </a:buClr>
              <a:buFont typeface="Calibri"/>
              <a:buChar char=" "/>
            </a:pPr>
            <a:r>
              <a:rPr b="0" lang="en-US" sz="2000" spc="-1" strike="noStrike">
                <a:solidFill>
                  <a:srgbClr val="404040"/>
                </a:solidFill>
                <a:latin typeface="Calibri"/>
              </a:rPr>
              <a:t>Stacked bar chart is similar to group bar chart where multiple inputs can take different</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graphical representations. Except by grouping the values, the stacked bar chart stacks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US" sz="2000" spc="-1" strike="noStrike">
                <a:solidFill>
                  <a:srgbClr val="404040"/>
                </a:solidFill>
                <a:latin typeface="Calibri"/>
              </a:rPr>
              <a:t>each bar one after the other based on the input values.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Example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days &lt;- c(“Mon”,“Tues”,“Wed”)</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months &lt;- c(“Jan”,“Feb”,“Mar”,“Apr”,“May”)</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colours &lt;- c(“red”,“blue”,“green”)</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val &lt;- matrix(c(2,5,8,6,9,4,6,4,7,10,12,5,6,11,13), nrow =3, ncol</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=5, byrow =TRUE)</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barplot(val,main=“Total”,names.arg=months,xlab=“Months”,ylab=“Day</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s”,col=colours)</a:t>
            </a:r>
            <a:endParaRPr b="0" lang="en-US" sz="2000" spc="-1" strike="noStrike">
              <a:solidFill>
                <a:srgbClr val="404040"/>
              </a:solidFill>
              <a:latin typeface="Calibri"/>
            </a:endParaRPr>
          </a:p>
          <a:p>
            <a:pPr marL="91440" indent="-91440">
              <a:lnSpc>
                <a:spcPct val="120000"/>
              </a:lnSpc>
              <a:buClr>
                <a:srgbClr val="e48312"/>
              </a:buClr>
              <a:buFont typeface="Calibri"/>
              <a:buChar char=" "/>
            </a:pPr>
            <a:r>
              <a:rPr b="0" lang="en-IN" sz="2000" spc="-1" strike="noStrike">
                <a:solidFill>
                  <a:srgbClr val="404040"/>
                </a:solidFill>
                <a:latin typeface="Calibri"/>
              </a:rPr>
              <a:t>&gt; legend(“topleft”, days, cex=1.3,fill=colours)</a:t>
            </a:r>
            <a:endParaRPr b="0" lang="en-US" sz="2000" spc="-1" strike="noStrike">
              <a:solidFill>
                <a:srgbClr val="404040"/>
              </a:solidFill>
              <a:latin typeface="Calibri"/>
            </a:endParaRPr>
          </a:p>
        </p:txBody>
      </p:sp>
      <p:pic>
        <p:nvPicPr>
          <p:cNvPr id="363" name="Picture 3" descr=""/>
          <p:cNvPicPr/>
          <p:nvPr/>
        </p:nvPicPr>
        <p:blipFill>
          <a:blip r:embed="rId1"/>
          <a:stretch/>
        </p:blipFill>
        <p:spPr>
          <a:xfrm>
            <a:off x="7262280" y="2315880"/>
            <a:ext cx="4557600" cy="3552840"/>
          </a:xfrm>
          <a:prstGeom prst="rect">
            <a:avLst/>
          </a:prstGeom>
          <a:ln w="0">
            <a:noFill/>
          </a:ln>
        </p:spPr>
      </p:pic>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1217160" y="605880"/>
            <a:ext cx="9818280" cy="817200"/>
          </a:xfrm>
          <a:prstGeom prst="rect">
            <a:avLst/>
          </a:prstGeom>
          <a:noFill/>
          <a:ln w="0">
            <a:noFill/>
          </a:ln>
        </p:spPr>
        <p:txBody>
          <a:bodyPr anchor="b">
            <a:normAutofit/>
          </a:bodyPr>
          <a:p>
            <a:pPr>
              <a:lnSpc>
                <a:spcPct val="85000"/>
              </a:lnSpc>
              <a:buNone/>
            </a:pPr>
            <a:r>
              <a:rPr b="0" lang="en-US" sz="3600" spc="-52" strike="noStrike">
                <a:solidFill>
                  <a:srgbClr val="404040"/>
                </a:solidFill>
                <a:latin typeface="Calibri Light"/>
              </a:rPr>
              <a:t>Key Terms</a:t>
            </a:r>
            <a:endParaRPr b="0" lang="en-US" sz="3600" spc="-1" strike="noStrike">
              <a:solidFill>
                <a:srgbClr val="000000"/>
              </a:solidFill>
              <a:latin typeface="Calibri"/>
            </a:endParaRPr>
          </a:p>
        </p:txBody>
      </p:sp>
      <p:sp>
        <p:nvSpPr>
          <p:cNvPr id="365" name="PlaceHolder 2"/>
          <p:cNvSpPr>
            <a:spLocks noGrp="1"/>
          </p:cNvSpPr>
          <p:nvPr>
            <p:ph/>
          </p:nvPr>
        </p:nvSpPr>
        <p:spPr>
          <a:xfrm>
            <a:off x="1217160" y="1854360"/>
            <a:ext cx="10058040" cy="4023000"/>
          </a:xfrm>
          <a:prstGeom prst="rect">
            <a:avLst/>
          </a:prstGeom>
          <a:noFill/>
          <a:ln w="0">
            <a:noFill/>
          </a:ln>
        </p:spPr>
        <p:txBody>
          <a:bodyPr numCol="2" spcCol="0" lIns="0" rIns="0" anchor="t">
            <a:normAutofit fontScale="67000"/>
          </a:bodyPr>
          <a:p>
            <a:pPr marL="266760" indent="-181080" algn="just">
              <a:lnSpc>
                <a:spcPct val="120000"/>
              </a:lnSpc>
              <a:buClr>
                <a:srgbClr val="e48312"/>
              </a:buClr>
              <a:buFont typeface="Wingdings" charset="2"/>
              <a:buChar char=""/>
            </a:pPr>
            <a:r>
              <a:rPr b="0" lang="en-US" sz="2000" spc="-1" strike="noStrike">
                <a:solidFill>
                  <a:srgbClr val="404040"/>
                </a:solidFill>
                <a:latin typeface="Calibri"/>
              </a:rPr>
              <a:t>Bar chart: A bar chart is a pictorial representation of statistical data.</a:t>
            </a:r>
            <a:endParaRPr b="0" lang="en-US" sz="2000" spc="-1" strike="noStrike">
              <a:solidFill>
                <a:srgbClr val="404040"/>
              </a:solidFill>
              <a:latin typeface="Calibri"/>
            </a:endParaRPr>
          </a:p>
          <a:p>
            <a:pPr algn="just">
              <a:lnSpc>
                <a:spcPct val="120000"/>
              </a:lnSpc>
              <a:buNone/>
            </a:pPr>
            <a:endParaRPr b="0" lang="en-US" sz="2000" spc="-1" strike="noStrike">
              <a:solidFill>
                <a:srgbClr val="404040"/>
              </a:solidFill>
              <a:latin typeface="Calibri"/>
            </a:endParaRPr>
          </a:p>
          <a:p>
            <a:pPr marL="266760" indent="-181080" algn="just">
              <a:lnSpc>
                <a:spcPct val="120000"/>
              </a:lnSpc>
              <a:buClr>
                <a:srgbClr val="e48312"/>
              </a:buClr>
              <a:buFont typeface="Wingdings" charset="2"/>
              <a:buChar char=""/>
            </a:pPr>
            <a:r>
              <a:rPr b="0" lang="en-US" sz="2000" spc="-1" strike="noStrike">
                <a:solidFill>
                  <a:srgbClr val="404040"/>
                </a:solidFill>
                <a:latin typeface="Calibri"/>
              </a:rPr>
              <a:t>Data range: Data range is the difference between the largest and smallest data values in a dataset.</a:t>
            </a:r>
            <a:endParaRPr b="0" lang="en-US" sz="2000" spc="-1" strike="noStrike">
              <a:solidFill>
                <a:srgbClr val="404040"/>
              </a:solidFill>
              <a:latin typeface="Calibri"/>
            </a:endParaRPr>
          </a:p>
          <a:p>
            <a:pPr marL="266760" indent="-181080" algn="just">
              <a:lnSpc>
                <a:spcPct val="120000"/>
              </a:lnSpc>
              <a:buClr>
                <a:srgbClr val="e48312"/>
              </a:buClr>
              <a:buFont typeface="Wingdings" charset="2"/>
              <a:buChar char=""/>
              <a:tabLst>
                <a:tab algn="l" pos="266760"/>
              </a:tabLst>
            </a:pPr>
            <a:r>
              <a:rPr b="0" lang="en-US" sz="2000" spc="-1" strike="noStrike">
                <a:solidFill>
                  <a:srgbClr val="404040"/>
                </a:solidFill>
                <a:latin typeface="Calibri"/>
              </a:rPr>
              <a:t>Data visualisation: The use of graphical representation to examine a given set of data is called data visualisation.</a:t>
            </a:r>
            <a:endParaRPr b="0" lang="en-US" sz="2000" spc="-1" strike="noStrike">
              <a:solidFill>
                <a:srgbClr val="404040"/>
              </a:solidFill>
              <a:latin typeface="Calibri"/>
            </a:endParaRPr>
          </a:p>
          <a:p>
            <a:pPr marL="266760" indent="-181080" algn="just">
              <a:lnSpc>
                <a:spcPct val="120000"/>
              </a:lnSpc>
              <a:buClr>
                <a:srgbClr val="e48312"/>
              </a:buClr>
              <a:buFont typeface="Wingdings" charset="2"/>
              <a:buChar char=""/>
              <a:tabLst>
                <a:tab algn="l" pos="266760"/>
              </a:tabLst>
            </a:pPr>
            <a:r>
              <a:rPr b="0" lang="en-US" sz="2000" spc="-1" strike="noStrike">
                <a:solidFill>
                  <a:srgbClr val="404040"/>
                </a:solidFill>
                <a:latin typeface="Calibri"/>
              </a:rPr>
              <a:t>Density plot: A density plot is otherwise referred to as a ‘continuous histogram’ of a given variable, except the area of the curve under the density plot is equal to 1.</a:t>
            </a:r>
            <a:endParaRPr b="0" lang="en-US" sz="2000" spc="-1" strike="noStrike">
              <a:solidFill>
                <a:srgbClr val="404040"/>
              </a:solidFill>
              <a:latin typeface="Calibri"/>
            </a:endParaRPr>
          </a:p>
          <a:p>
            <a:pPr marL="266760" indent="-181080" algn="just">
              <a:lnSpc>
                <a:spcPct val="120000"/>
              </a:lnSpc>
              <a:buClr>
                <a:srgbClr val="e48312"/>
              </a:buClr>
              <a:buFont typeface="Wingdings" charset="2"/>
              <a:buChar char=""/>
              <a:tabLst>
                <a:tab algn="l" pos="266760"/>
              </a:tabLst>
            </a:pPr>
            <a:r>
              <a:rPr b="0" lang="en-US" sz="2000" spc="-1" strike="noStrike">
                <a:solidFill>
                  <a:srgbClr val="404040"/>
                </a:solidFill>
                <a:latin typeface="Calibri"/>
              </a:rPr>
              <a:t>EDA: Exploratory Data Analysis (EDA) involves analysing datasets to summarise their main characteristics in the form of visual representations.</a:t>
            </a:r>
            <a:endParaRPr b="0" lang="en-US" sz="2000" spc="-1" strike="noStrike">
              <a:solidFill>
                <a:srgbClr val="404040"/>
              </a:solidFill>
              <a:latin typeface="Calibri"/>
            </a:endParaRPr>
          </a:p>
          <a:p>
            <a:pPr algn="just">
              <a:lnSpc>
                <a:spcPct val="120000"/>
              </a:lnSpc>
              <a:buNone/>
              <a:tabLst>
                <a:tab algn="l" pos="266760"/>
              </a:tabLst>
            </a:pPr>
            <a:endParaRPr b="0" lang="en-US" sz="2000" spc="-1" strike="noStrike">
              <a:solidFill>
                <a:srgbClr val="404040"/>
              </a:solidFill>
              <a:latin typeface="Calibri"/>
            </a:endParaRPr>
          </a:p>
          <a:p>
            <a:pPr marL="266760" indent="-181080" algn="just">
              <a:lnSpc>
                <a:spcPct val="120000"/>
              </a:lnSpc>
              <a:buClr>
                <a:srgbClr val="e48312"/>
              </a:buClr>
              <a:buFont typeface="Wingdings" charset="2"/>
              <a:buChar char=""/>
              <a:tabLst>
                <a:tab algn="l" pos="266760"/>
              </a:tabLst>
            </a:pPr>
            <a:r>
              <a:rPr b="0" lang="en-US" sz="2000" spc="-1" strike="noStrike">
                <a:solidFill>
                  <a:srgbClr val="404040"/>
                </a:solidFill>
                <a:latin typeface="Calibri"/>
              </a:rPr>
              <a:t>Frequency: Frequency is a summary of data occurrences in a collection of non- overlapping types.</a:t>
            </a:r>
            <a:endParaRPr b="0" lang="en-US" sz="2000" spc="-1" strike="noStrike">
              <a:solidFill>
                <a:srgbClr val="404040"/>
              </a:solidFill>
              <a:latin typeface="Calibri"/>
            </a:endParaRPr>
          </a:p>
          <a:p>
            <a:pPr marL="361800" indent="-276120" algn="just">
              <a:lnSpc>
                <a:spcPct val="120000"/>
              </a:lnSpc>
              <a:buClr>
                <a:srgbClr val="e48312"/>
              </a:buClr>
              <a:buFont typeface="Wingdings" charset="2"/>
              <a:buChar char=""/>
              <a:tabLst>
                <a:tab algn="l" pos="266760"/>
              </a:tabLst>
            </a:pPr>
            <a:r>
              <a:rPr b="0" lang="en-US" sz="2000" spc="-1" strike="noStrike">
                <a:solidFill>
                  <a:srgbClr val="404040"/>
                </a:solidFill>
                <a:latin typeface="Calibri"/>
              </a:rPr>
              <a:t>Histogram: Histogram is a graphical illustration of the distribution of numerical data in successive numerical intervals of equal size.</a:t>
            </a:r>
            <a:endParaRPr b="0" lang="en-US" sz="2000" spc="-1" strike="noStrike">
              <a:solidFill>
                <a:srgbClr val="404040"/>
              </a:solidFill>
              <a:latin typeface="Calibri"/>
            </a:endParaRPr>
          </a:p>
          <a:p>
            <a:pPr algn="just">
              <a:lnSpc>
                <a:spcPct val="120000"/>
              </a:lnSpc>
              <a:buNone/>
              <a:tabLst>
                <a:tab algn="l" pos="266760"/>
              </a:tabLst>
            </a:pPr>
            <a:endParaRPr b="0" lang="en-US" sz="2000" spc="-1" strike="noStrike">
              <a:solidFill>
                <a:srgbClr val="404040"/>
              </a:solidFill>
              <a:latin typeface="Calibri"/>
            </a:endParaRPr>
          </a:p>
          <a:p>
            <a:pPr marL="361800" indent="-276120" algn="just">
              <a:lnSpc>
                <a:spcPct val="120000"/>
              </a:lnSpc>
              <a:buClr>
                <a:srgbClr val="e48312"/>
              </a:buClr>
              <a:buFont typeface="Wingdings" charset="2"/>
              <a:buChar char=""/>
              <a:tabLst>
                <a:tab algn="l" pos="266760"/>
              </a:tabLst>
            </a:pPr>
            <a:r>
              <a:rPr b="0" lang="en-US" sz="2000" spc="-1" strike="noStrike">
                <a:solidFill>
                  <a:srgbClr val="404040"/>
                </a:solidFill>
                <a:latin typeface="Calibri"/>
              </a:rPr>
              <a:t>Mean: Mean is generally referred to as summing up of input values and dividing the sum by the number of inputs.</a:t>
            </a:r>
            <a:endParaRPr b="0" lang="en-US" sz="2000" spc="-1" strike="noStrike">
              <a:solidFill>
                <a:srgbClr val="404040"/>
              </a:solidFill>
              <a:latin typeface="Calibri"/>
            </a:endParaRPr>
          </a:p>
          <a:p>
            <a:pPr marL="361800" indent="-276120" algn="just">
              <a:lnSpc>
                <a:spcPct val="120000"/>
              </a:lnSpc>
              <a:buClr>
                <a:srgbClr val="e48312"/>
              </a:buClr>
              <a:buFont typeface="Wingdings" charset="2"/>
              <a:buChar char=""/>
              <a:tabLst>
                <a:tab algn="l" pos="266760"/>
              </a:tabLst>
            </a:pPr>
            <a:r>
              <a:rPr b="0" lang="en-US" sz="2000" spc="-1" strike="noStrike">
                <a:solidFill>
                  <a:srgbClr val="404040"/>
                </a:solidFill>
                <a:latin typeface="Calibri"/>
              </a:rPr>
              <a:t>Median: Median is the middle value of the given inputs.</a:t>
            </a:r>
            <a:endParaRPr b="0" lang="en-US" sz="2000" spc="-1" strike="noStrike">
              <a:solidFill>
                <a:srgbClr val="404040"/>
              </a:solidFill>
              <a:latin typeface="Calibri"/>
            </a:endParaRPr>
          </a:p>
          <a:p>
            <a:pPr marL="361800" indent="-276120" algn="just">
              <a:lnSpc>
                <a:spcPct val="120000"/>
              </a:lnSpc>
              <a:buClr>
                <a:srgbClr val="e48312"/>
              </a:buClr>
              <a:buFont typeface="Wingdings" charset="2"/>
              <a:buChar char=""/>
              <a:tabLst>
                <a:tab algn="l" pos="266760"/>
              </a:tabLst>
            </a:pPr>
            <a:r>
              <a:rPr b="0" lang="en-US" sz="2000" spc="-1" strike="noStrike">
                <a:solidFill>
                  <a:srgbClr val="404040"/>
                </a:solidFill>
                <a:latin typeface="Calibri"/>
              </a:rPr>
              <a:t>Mode: Mode is similar to frequency except the value of mode returns the highest number of occurrences in a dataset.</a:t>
            </a:r>
            <a:endParaRPr b="0" lang="en-US" sz="2000" spc="-1" strike="noStrike">
              <a:solidFill>
                <a:srgbClr val="404040"/>
              </a:solidFill>
              <a:latin typeface="Calibri"/>
            </a:endParaRPr>
          </a:p>
          <a:p>
            <a:pPr algn="just">
              <a:lnSpc>
                <a:spcPct val="120000"/>
              </a:lnSpc>
              <a:buNone/>
              <a:tabLst>
                <a:tab algn="l" pos="266760"/>
              </a:tabLst>
            </a:pPr>
            <a:endParaRPr b="0" lang="en-US" sz="2000" spc="-1" strike="noStrike">
              <a:solidFill>
                <a:srgbClr val="404040"/>
              </a:solidFill>
              <a:latin typeface="Calibri"/>
            </a:endParaRPr>
          </a:p>
          <a:p>
            <a:pPr marL="361800" indent="-276120" algn="just">
              <a:lnSpc>
                <a:spcPct val="120000"/>
              </a:lnSpc>
              <a:buClr>
                <a:srgbClr val="e48312"/>
              </a:buClr>
              <a:buFont typeface="Wingdings" charset="2"/>
              <a:buChar char=""/>
              <a:tabLst>
                <a:tab algn="l" pos="266760"/>
              </a:tabLst>
            </a:pPr>
            <a:r>
              <a:rPr b="0" lang="en-US" sz="2000" spc="-1" strike="noStrike">
                <a:solidFill>
                  <a:srgbClr val="404040"/>
                </a:solidFill>
                <a:latin typeface="Calibri"/>
              </a:rPr>
              <a:t>Outliers: Outliers are considered to be incorrect or error input data.</a:t>
            </a:r>
            <a:endParaRPr b="0" lang="en-US" sz="2000" spc="-1" strike="noStrike">
              <a:solidFill>
                <a:srgbClr val="40404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Retrospect</Template>
  <TotalTime>1260</TotalTime>
  <Application>LibreOffice/7.3.7.2$Linux_X86_64 LibreOffice_project/30$Build-2</Application>
  <AppVersion>15.0000</AppVersion>
  <Words>13711</Words>
  <Paragraphs>1552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2026-03-16T09:15:15Z</dcterms:created>
  <dc:creator>ADMIN</dc:creator>
  <dc:description/>
  <dc:language>en-IN</dc:language>
  <cp:lastModifiedBy>ADMIN</cp:lastModifiedBy>
  <dcterms:modified xsi:type="dcterms:W3CDTF">2026-05-06T00:53:07Z</dcterms:modified>
  <cp:revision>133</cp:revision>
  <dc:subject/>
  <dc:title>Loading and Handling Data in 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140</vt:i4>
  </property>
</Properties>
</file>