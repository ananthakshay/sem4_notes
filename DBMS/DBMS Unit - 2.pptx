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 id="2147483987" r:id="rId3"/>
    <p:sldMasterId id="2147483999" r:id="rId4"/>
  </p:sldMasterIdLst>
  <p:notesMasterIdLst>
    <p:notesMasterId r:id="rId127"/>
  </p:notesMasterIdLst>
  <p:sldIdLst>
    <p:sldId id="446" r:id="rId5"/>
    <p:sldId id="258" r:id="rId6"/>
    <p:sldId id="259" r:id="rId7"/>
    <p:sldId id="260" r:id="rId8"/>
    <p:sldId id="438" r:id="rId9"/>
    <p:sldId id="261" r:id="rId10"/>
    <p:sldId id="262" r:id="rId11"/>
    <p:sldId id="264" r:id="rId12"/>
    <p:sldId id="263"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440" r:id="rId26"/>
    <p:sldId id="439" r:id="rId27"/>
    <p:sldId id="277" r:id="rId28"/>
    <p:sldId id="278" r:id="rId29"/>
    <p:sldId id="279" r:id="rId30"/>
    <p:sldId id="280" r:id="rId31"/>
    <p:sldId id="282" r:id="rId32"/>
    <p:sldId id="283" r:id="rId33"/>
    <p:sldId id="284" r:id="rId34"/>
    <p:sldId id="296" r:id="rId35"/>
    <p:sldId id="298" r:id="rId36"/>
    <p:sldId id="447" r:id="rId37"/>
    <p:sldId id="299" r:id="rId38"/>
    <p:sldId id="300" r:id="rId39"/>
    <p:sldId id="301" r:id="rId40"/>
    <p:sldId id="302" r:id="rId41"/>
    <p:sldId id="303" r:id="rId42"/>
    <p:sldId id="304" r:id="rId43"/>
    <p:sldId id="305" r:id="rId44"/>
    <p:sldId id="306" r:id="rId45"/>
    <p:sldId id="307" r:id="rId46"/>
    <p:sldId id="308" r:id="rId47"/>
    <p:sldId id="309" r:id="rId48"/>
    <p:sldId id="310" r:id="rId49"/>
    <p:sldId id="311" r:id="rId50"/>
    <p:sldId id="312" r:id="rId51"/>
    <p:sldId id="313" r:id="rId52"/>
    <p:sldId id="314" r:id="rId53"/>
    <p:sldId id="315" r:id="rId54"/>
    <p:sldId id="316" r:id="rId55"/>
    <p:sldId id="317" r:id="rId56"/>
    <p:sldId id="318" r:id="rId57"/>
    <p:sldId id="319" r:id="rId58"/>
    <p:sldId id="320" r:id="rId59"/>
    <p:sldId id="321" r:id="rId60"/>
    <p:sldId id="322" r:id="rId61"/>
    <p:sldId id="323" r:id="rId62"/>
    <p:sldId id="324" r:id="rId63"/>
    <p:sldId id="325" r:id="rId64"/>
    <p:sldId id="326" r:id="rId65"/>
    <p:sldId id="327" r:id="rId66"/>
    <p:sldId id="328" r:id="rId67"/>
    <p:sldId id="329" r:id="rId68"/>
    <p:sldId id="330" r:id="rId69"/>
    <p:sldId id="331" r:id="rId70"/>
    <p:sldId id="332" r:id="rId71"/>
    <p:sldId id="333" r:id="rId72"/>
    <p:sldId id="441" r:id="rId73"/>
    <p:sldId id="334" r:id="rId74"/>
    <p:sldId id="335" r:id="rId75"/>
    <p:sldId id="336" r:id="rId76"/>
    <p:sldId id="337" r:id="rId77"/>
    <p:sldId id="338" r:id="rId78"/>
    <p:sldId id="339" r:id="rId79"/>
    <p:sldId id="340" r:id="rId80"/>
    <p:sldId id="341" r:id="rId81"/>
    <p:sldId id="342" r:id="rId82"/>
    <p:sldId id="343" r:id="rId83"/>
    <p:sldId id="344" r:id="rId84"/>
    <p:sldId id="345" r:id="rId85"/>
    <p:sldId id="346" r:id="rId86"/>
    <p:sldId id="442" r:id="rId87"/>
    <p:sldId id="348" r:id="rId88"/>
    <p:sldId id="349" r:id="rId89"/>
    <p:sldId id="443" r:id="rId90"/>
    <p:sldId id="350" r:id="rId91"/>
    <p:sldId id="351" r:id="rId92"/>
    <p:sldId id="444" r:id="rId93"/>
    <p:sldId id="352" r:id="rId94"/>
    <p:sldId id="445" r:id="rId95"/>
    <p:sldId id="428" r:id="rId96"/>
    <p:sldId id="429" r:id="rId97"/>
    <p:sldId id="430" r:id="rId98"/>
    <p:sldId id="431" r:id="rId99"/>
    <p:sldId id="432" r:id="rId100"/>
    <p:sldId id="433" r:id="rId101"/>
    <p:sldId id="434" r:id="rId102"/>
    <p:sldId id="435" r:id="rId103"/>
    <p:sldId id="448" r:id="rId104"/>
    <p:sldId id="450" r:id="rId105"/>
    <p:sldId id="449" r:id="rId106"/>
    <p:sldId id="451" r:id="rId107"/>
    <p:sldId id="452" r:id="rId108"/>
    <p:sldId id="453" r:id="rId109"/>
    <p:sldId id="454" r:id="rId110"/>
    <p:sldId id="455" r:id="rId111"/>
    <p:sldId id="457" r:id="rId112"/>
    <p:sldId id="456" r:id="rId113"/>
    <p:sldId id="458" r:id="rId114"/>
    <p:sldId id="467" r:id="rId115"/>
    <p:sldId id="461" r:id="rId116"/>
    <p:sldId id="460" r:id="rId117"/>
    <p:sldId id="468" r:id="rId118"/>
    <p:sldId id="459" r:id="rId119"/>
    <p:sldId id="462" r:id="rId120"/>
    <p:sldId id="469" r:id="rId121"/>
    <p:sldId id="463" r:id="rId122"/>
    <p:sldId id="464" r:id="rId123"/>
    <p:sldId id="465" r:id="rId124"/>
    <p:sldId id="466" r:id="rId125"/>
    <p:sldId id="353" r:id="rId1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dmasri sridhar" initials="ps" lastIdx="1" clrIdx="0">
    <p:extLst>
      <p:ext uri="{19B8F6BF-5375-455C-9EA6-DF929625EA0E}">
        <p15:presenceInfo xmlns:p15="http://schemas.microsoft.com/office/powerpoint/2012/main" userId="padmasri sridha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909" autoAdjust="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commentAuthors" Target="commentAuthor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presProps" Target="presProp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viewProps" Target="viewProp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tableStyles" Target="tableStyle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4.xml"/><Relationship Id="rId9" Type="http://schemas.openxmlformats.org/officeDocument/2006/relationships/slide" Target="slides/slide5.xml"/><Relationship Id="rId26" Type="http://schemas.openxmlformats.org/officeDocument/2006/relationships/slide" Target="slides/slide2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10-15T11:31:47.771" idx="1">
    <p:pos x="10" y="10"/>
    <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B68C70-67D0-4074-940C-EF6473263E72}" type="datetimeFigureOut">
              <a:rPr lang="en-US" smtClean="0"/>
              <a:pPr/>
              <a:t>3/10/2026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6025AC-DB57-4545-9843-741B52998D8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36025AC-DB57-4545-9843-741B52998D81}" type="slidenum">
              <a:rPr lang="en-US" smtClean="0"/>
              <a:pPr/>
              <a:t>5</a:t>
            </a:fld>
            <a:endParaRPr lang="en-US"/>
          </a:p>
        </p:txBody>
      </p:sp>
    </p:spTree>
    <p:extLst>
      <p:ext uri="{BB962C8B-B14F-4D97-AF65-F5344CB8AC3E}">
        <p14:creationId xmlns:p14="http://schemas.microsoft.com/office/powerpoint/2010/main" val="38938854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62B4FDE3-0F9B-4B22-AABC-2278CC284BC1}" type="slidenum">
              <a:rPr lang="en-CA"/>
              <a:pPr/>
              <a:t>31</a:t>
            </a:fld>
            <a:endParaRPr lang="en-CA"/>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96F2478B-4268-4537-9075-B5DCCAFB259A}" type="slidenum">
              <a:rPr lang="en-CA"/>
              <a:pPr/>
              <a:t>32</a:t>
            </a:fld>
            <a:endParaRPr lang="en-CA"/>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96F2478B-4268-4537-9075-B5DCCAFB259A}" type="slidenum">
              <a:rPr lang="en-CA"/>
              <a:pPr/>
              <a:t>33</a:t>
            </a:fld>
            <a:endParaRPr lang="en-CA"/>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9383803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DAFC6A9E-6334-421F-AB50-3E13064AD6DD}" type="slidenum">
              <a:rPr lang="en-CA"/>
              <a:pPr/>
              <a:t>34</a:t>
            </a:fld>
            <a:endParaRPr lang="en-CA"/>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51E388E4-4DE0-4A15-BCBA-C2F4FF7E56A4}" type="slidenum">
              <a:rPr lang="en-CA"/>
              <a:pPr/>
              <a:t>35</a:t>
            </a:fld>
            <a:endParaRPr lang="en-CA"/>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EE01C989-87E0-45C9-917E-36478A618288}" type="slidenum">
              <a:rPr lang="en-CA"/>
              <a:pPr/>
              <a:t>36</a:t>
            </a:fld>
            <a:endParaRPr lang="en-CA"/>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0DB78191-FEC3-432B-B792-ADE7F119DBE8}" type="slidenum">
              <a:rPr lang="en-CA"/>
              <a:pPr/>
              <a:t>37</a:t>
            </a:fld>
            <a:endParaRPr lang="en-CA"/>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C63540B3-A68B-4856-88ED-DF8B445963F2}" type="slidenum">
              <a:rPr lang="en-CA"/>
              <a:pPr/>
              <a:t>38</a:t>
            </a:fld>
            <a:endParaRPr lang="en-CA"/>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CF21739A-477F-429A-9807-632BF044563E}" type="slidenum">
              <a:rPr lang="en-CA"/>
              <a:pPr/>
              <a:t>39</a:t>
            </a:fld>
            <a:endParaRPr lang="en-CA"/>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A3F11A98-1C10-49A8-AA92-D10A993FA29C}" type="slidenum">
              <a:rPr lang="en-CA"/>
              <a:pPr/>
              <a:t>40</a:t>
            </a:fld>
            <a:endParaRPr lang="en-CA"/>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8F95BCCE-1EEB-4593-A266-6A0F246FD0C6}" type="slidenum">
              <a:rPr lang="en-CA"/>
              <a:pPr/>
              <a:t>41</a:t>
            </a:fld>
            <a:endParaRPr lang="en-CA"/>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63C8D3BC-F92D-4DD7-8A15-A25729DE90F0}" type="slidenum">
              <a:rPr lang="en-CA"/>
              <a:pPr/>
              <a:t>42</a:t>
            </a:fld>
            <a:endParaRPr lang="en-CA"/>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490B2134-5F16-418C-9590-1EAC8B07479C}" type="slidenum">
              <a:rPr lang="en-CA"/>
              <a:pPr/>
              <a:t>43</a:t>
            </a:fld>
            <a:endParaRPr lang="en-CA"/>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B3F8DF3F-2233-48BA-AF0B-83EBE1154D63}" type="slidenum">
              <a:rPr lang="en-CA"/>
              <a:pPr/>
              <a:t>44</a:t>
            </a:fld>
            <a:endParaRPr lang="en-CA"/>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AEEE5E7D-1F72-42BA-AFE9-014B1634D130}" type="slidenum">
              <a:rPr lang="en-CA"/>
              <a:pPr/>
              <a:t>45</a:t>
            </a:fld>
            <a:endParaRPr lang="en-CA"/>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B2429BC3-0EED-40A7-88E2-D490B822FA94}" type="slidenum">
              <a:rPr lang="en-CA"/>
              <a:pPr/>
              <a:t>46</a:t>
            </a:fld>
            <a:endParaRPr lang="en-CA"/>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9FBAB045-0561-418B-8D8A-DB3EE05E5739}" type="slidenum">
              <a:rPr lang="en-CA"/>
              <a:pPr/>
              <a:t>47</a:t>
            </a:fld>
            <a:endParaRPr lang="en-CA"/>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E55E9C73-EA8C-44BA-B92D-AD89A1C7A74A}" type="slidenum">
              <a:rPr lang="en-CA"/>
              <a:pPr/>
              <a:t>48</a:t>
            </a:fld>
            <a:endParaRPr lang="en-CA"/>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8C9AB629-9BB4-467A-AF42-F54F116EE361}" type="slidenum">
              <a:rPr lang="en-CA"/>
              <a:pPr/>
              <a:t>49</a:t>
            </a:fld>
            <a:endParaRPr lang="en-CA"/>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8E7AEB25-0473-4E82-BDF2-6DE7F2C06180}" type="slidenum">
              <a:rPr lang="en-CA"/>
              <a:pPr/>
              <a:t>50</a:t>
            </a:fld>
            <a:endParaRPr lang="en-CA"/>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7ED0C65B-F871-423A-AAF0-1A657E059768}" type="slidenum">
              <a:rPr lang="en-CA"/>
              <a:pPr/>
              <a:t>51</a:t>
            </a:fld>
            <a:endParaRPr lang="en-CA"/>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5175750B-C5F8-441B-93F4-98FE1435898B}" type="slidenum">
              <a:rPr lang="en-CA"/>
              <a:pPr/>
              <a:t>52</a:t>
            </a:fld>
            <a:endParaRPr lang="en-CA"/>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91AB4D86-B127-4EF8-A998-3DC8508FE1B2}" type="slidenum">
              <a:rPr lang="en-CA"/>
              <a:pPr/>
              <a:t>53</a:t>
            </a:fld>
            <a:endParaRPr lang="en-CA"/>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E3B52C1E-41A9-48EA-84B6-DAC508ED80DE}" type="slidenum">
              <a:rPr lang="en-CA"/>
              <a:pPr/>
              <a:t>54</a:t>
            </a:fld>
            <a:endParaRPr lang="en-CA"/>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F6A6288B-591E-4C7D-A69A-3B94ECAC554C}" type="slidenum">
              <a:rPr lang="en-CA"/>
              <a:pPr/>
              <a:t>55</a:t>
            </a:fld>
            <a:endParaRPr lang="en-CA"/>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34D32269-300C-43C3-8FBD-4D176D967A68}" type="slidenum">
              <a:rPr lang="en-CA"/>
              <a:pPr/>
              <a:t>56</a:t>
            </a:fld>
            <a:endParaRPr lang="en-CA"/>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9655DA38-388F-43A3-993B-595E0E670D80}" type="slidenum">
              <a:rPr lang="en-CA"/>
              <a:pPr/>
              <a:t>57</a:t>
            </a:fld>
            <a:endParaRPr lang="en-CA"/>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FF5B017D-F0A2-4B44-885E-A1504B3F71DB}" type="slidenum">
              <a:rPr lang="en-CA"/>
              <a:pPr/>
              <a:t>58</a:t>
            </a:fld>
            <a:endParaRPr lang="en-CA"/>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4E5064BD-2C00-452A-B86D-1EC357475017}" type="slidenum">
              <a:rPr lang="en-CA"/>
              <a:pPr/>
              <a:t>59</a:t>
            </a:fld>
            <a:endParaRPr lang="en-CA"/>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A36FC1AD-EAF7-4E7D-B944-B9916D2F23A7}" type="slidenum">
              <a:rPr lang="en-CA"/>
              <a:pPr/>
              <a:t>60</a:t>
            </a:fld>
            <a:endParaRPr lang="en-CA"/>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fld id="{7A4805B7-54E6-4D72-BF00-3C8FD6BE17FF}" type="slidenum">
              <a:rPr lang="en-CA"/>
              <a:pPr/>
              <a:t>61</a:t>
            </a:fld>
            <a:endParaRPr lang="en-CA"/>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p>
            <a:fld id="{76D5CA79-28FD-4E06-B835-943B40EB820E}" type="slidenum">
              <a:rPr lang="en-CA"/>
              <a:pPr/>
              <a:t>62</a:t>
            </a:fld>
            <a:endParaRPr lang="en-CA"/>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p>
            <a:fld id="{B672C98F-5DC6-4FB7-8671-BEF4D8F90814}" type="slidenum">
              <a:rPr lang="en-CA"/>
              <a:pPr/>
              <a:t>63</a:t>
            </a:fld>
            <a:endParaRPr lang="en-CA"/>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EB3DACC0-A88A-4B42-9396-32030B72D630}" type="slidenum">
              <a:rPr lang="en-CA"/>
              <a:pPr/>
              <a:t>64</a:t>
            </a:fld>
            <a:endParaRPr lang="en-CA"/>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6866A975-E91E-4367-86E7-C79CD82C40F6}" type="slidenum">
              <a:rPr lang="en-CA"/>
              <a:pPr/>
              <a:t>65</a:t>
            </a:fld>
            <a:endParaRPr lang="en-CA"/>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922A9441-0857-4357-9B48-7B515D3D0562}" type="slidenum">
              <a:rPr lang="en-CA"/>
              <a:pPr/>
              <a:t>66</a:t>
            </a:fld>
            <a:endParaRPr lang="en-CA"/>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fld id="{60CB59CF-E979-4AFA-BECC-63D50B750834}" type="slidenum">
              <a:rPr lang="en-CA"/>
              <a:pPr/>
              <a:t>67</a:t>
            </a:fld>
            <a:endParaRPr lang="en-CA"/>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p>
            <a:fld id="{F40EBFD6-DCFA-48F0-9582-BBACB7980EAD}" type="slidenum">
              <a:rPr lang="en-CA"/>
              <a:pPr/>
              <a:t>68</a:t>
            </a:fld>
            <a:endParaRPr lang="en-CA"/>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p>
            <a:fld id="{F40EBFD6-DCFA-48F0-9582-BBACB7980EAD}" type="slidenum">
              <a:rPr lang="en-CA"/>
              <a:pPr/>
              <a:t>69</a:t>
            </a:fld>
            <a:endParaRPr lang="en-CA"/>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29469168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p>
            <a:fld id="{612184CF-C471-4526-BB2D-86DF3ED0B28D}" type="slidenum">
              <a:rPr lang="en-CA"/>
              <a:pPr/>
              <a:t>70</a:t>
            </a:fld>
            <a:endParaRPr lang="en-CA"/>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8D168EE8-3B99-4887-AFD1-48C10C840C24}" type="slidenum">
              <a:rPr lang="en-CA"/>
              <a:pPr/>
              <a:t>71</a:t>
            </a:fld>
            <a:endParaRPr lang="en-CA"/>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p>
            <a:fld id="{1503B848-F181-49DC-A110-48E12D213C30}" type="slidenum">
              <a:rPr lang="en-CA"/>
              <a:pPr/>
              <a:t>72</a:t>
            </a:fld>
            <a:endParaRPr lang="en-CA"/>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p>
            <a:fld id="{EB38F1CB-F238-4D12-BB43-3EC84DABB7AE}" type="slidenum">
              <a:rPr lang="en-CA"/>
              <a:pPr/>
              <a:t>73</a:t>
            </a:fld>
            <a:endParaRPr lang="en-CA"/>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3F05AFE5-F4FC-4A5F-BB69-41E7F90D7F07}" type="slidenum">
              <a:rPr lang="en-CA"/>
              <a:pPr/>
              <a:t>74</a:t>
            </a:fld>
            <a:endParaRPr lang="en-CA"/>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p>
            <a:fld id="{30BCD2DE-69BE-45DA-BFC5-73F0E05FBA9F}" type="slidenum">
              <a:rPr lang="en-CA"/>
              <a:pPr/>
              <a:t>75</a:t>
            </a:fld>
            <a:endParaRPr lang="en-CA"/>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5E735DAB-689C-4B0C-9BAB-41B56C3DAAF6}" type="slidenum">
              <a:rPr lang="en-CA"/>
              <a:pPr/>
              <a:t>76</a:t>
            </a:fld>
            <a:endParaRPr lang="en-CA"/>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A6901F64-04F1-4DA9-BA38-FB7728A54531}" type="slidenum">
              <a:rPr lang="en-CA"/>
              <a:pPr/>
              <a:t>77</a:t>
            </a:fld>
            <a:endParaRPr lang="en-CA"/>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7455DB3A-179B-4122-B96B-E6E93AD803D7}" type="slidenum">
              <a:rPr lang="en-CA"/>
              <a:pPr/>
              <a:t>78</a:t>
            </a:fld>
            <a:endParaRPr lang="en-CA"/>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fld id="{6E5588F3-91E6-4433-887A-7A37465B1284}" type="slidenum">
              <a:rPr lang="en-CA"/>
              <a:pPr/>
              <a:t>79</a:t>
            </a:fld>
            <a:endParaRPr lang="en-CA"/>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927BB7A5-8C5B-4642-A4EA-1612E67BE69F}" type="slidenum">
              <a:rPr lang="en-CA"/>
              <a:pPr/>
              <a:t>80</a:t>
            </a:fld>
            <a:endParaRPr lang="en-CA"/>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70E3CFE9-95C8-403B-B79F-B3F007C98BBA}" type="slidenum">
              <a:rPr lang="en-CA"/>
              <a:pPr/>
              <a:t>81</a:t>
            </a:fld>
            <a:endParaRPr lang="en-CA"/>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fld id="{18977EAD-5004-4D09-B462-C9A3962659E7}" type="slidenum">
              <a:rPr lang="en-CA"/>
              <a:pPr/>
              <a:t>82</a:t>
            </a:fld>
            <a:endParaRPr lang="en-CA"/>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821964C5-D628-489A-A564-D6D513D2E6C4}" type="slidenum">
              <a:rPr lang="en-CA"/>
              <a:pPr/>
              <a:t>83</a:t>
            </a:fld>
            <a:endParaRPr lang="en-CA"/>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103881627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p:spPr>
        <p:txBody>
          <a:bodyPr/>
          <a:lstStyle/>
          <a:p>
            <a:fld id="{EF55249C-6A8D-4BF0-8568-9E2FEA579F6F}" type="slidenum">
              <a:rPr lang="en-CA"/>
              <a:pPr/>
              <a:t>84</a:t>
            </a:fld>
            <a:endParaRPr lang="en-CA"/>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p>
            <a:fld id="{03780E9C-034B-4D83-8496-335A7C6001BA}" type="slidenum">
              <a:rPr lang="en-CA"/>
              <a:pPr/>
              <a:t>85</a:t>
            </a:fld>
            <a:endParaRPr lang="en-CA"/>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95113513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p>
            <a:fld id="{47BE89A0-6914-478C-9CB8-CDE1003EB4A4}" type="slidenum">
              <a:rPr lang="en-CA"/>
              <a:pPr/>
              <a:t>87</a:t>
            </a:fld>
            <a:endParaRPr lang="en-CA"/>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p>
            <a:fld id="{BE2E3C46-D8D2-400C-81B2-C5D1E6CFAA9E}" type="slidenum">
              <a:rPr lang="en-CA"/>
              <a:pPr/>
              <a:t>88</a:t>
            </a:fld>
            <a:endParaRPr lang="en-CA"/>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p>
            <a:fld id="{C4E1DE1A-CED1-4C93-BE80-8353ADDD3355}" type="slidenum">
              <a:rPr lang="en-CA"/>
              <a:pPr/>
              <a:t>90</a:t>
            </a:fld>
            <a:endParaRPr lang="en-CA"/>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F2C48E5C-5684-45ED-BB12-B02062AC900D}" type="slidenum">
              <a:rPr lang="en-CA"/>
              <a:pPr/>
              <a:t>122</a:t>
            </a:fld>
            <a:endParaRPr lang="en-CA"/>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en-US" sz="18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endParaRPr kumimoji="0" lang="en-US" dirty="0"/>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30" name="Date Placeholder 29"/>
          <p:cNvSpPr>
            <a:spLocks noGrp="1"/>
          </p:cNvSpPr>
          <p:nvPr>
            <p:ph type="dt" sz="half" idx="10"/>
          </p:nvPr>
        </p:nvSpPr>
        <p:spPr/>
        <p:txBody>
          <a:bodyPr/>
          <a:lstStyle>
            <a:lvl1pPr>
              <a:defRPr>
                <a:solidFill>
                  <a:srgbClr val="FFFFFF"/>
                </a:solidFill>
              </a:defRPr>
            </a:lvl1pPr>
            <a:extLst/>
          </a:lstStyle>
          <a:p>
            <a:fld id="{6A8A1138-5438-4BCE-B61A-0A456A2FE0D1}" type="datetime2">
              <a:rPr lang="en-US" smtClean="0"/>
              <a:t>Tuesday, March 10, 2026</a:t>
            </a:fld>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
        <p:nvSpPr>
          <p:cNvPr id="8" name="Footer Placeholder 21"/>
          <p:cNvSpPr txBox="1">
            <a:spLocks/>
          </p:cNvSpPr>
          <p:nvPr/>
        </p:nvSpPr>
        <p:spPr>
          <a:xfrm>
            <a:off x="3429000" y="6248400"/>
            <a:ext cx="4343400" cy="517525"/>
          </a:xfrm>
          <a:prstGeom prst="rect">
            <a:avLst/>
          </a:prstGeom>
        </p:spPr>
        <p:txBody>
          <a:bodyPr vert="horz" anchor="b"/>
          <a:lstStyle>
            <a:lvl1pPr algn="ctr" eaLnBrk="1" latinLnBrk="0" hangingPunct="1">
              <a:defRPr kumimoji="0" sz="1000">
                <a:solidFill>
                  <a:schemeClr val="tx1"/>
                </a:solidFill>
              </a:defRPr>
            </a:lvl1pPr>
            <a:extLs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mn-cs"/>
              </a:rPr>
              <a:t>Database Management Systems</a:t>
            </a:r>
            <a:endParaRPr kumimoji="0" lang="en-US" sz="1000" b="0"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Manjunatha A S, Dept. of CSE</a:t>
            </a:r>
          </a:p>
        </p:txBody>
      </p:sp>
    </p:spTree>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152400" y="6324600"/>
            <a:ext cx="1920240" cy="365760"/>
          </a:xfrm>
        </p:spPr>
        <p:txBody>
          <a:bodyPr/>
          <a:lstStyle/>
          <a:p>
            <a:fld id="{73F41ADA-8180-4866-9F0A-8E2DA49BCB6B}" type="datetime2">
              <a:rPr lang="en-US" smtClean="0"/>
              <a:t>Tuesday, March 10, 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
        <p:nvSpPr>
          <p:cNvPr id="8" name="Footer Placeholder 21"/>
          <p:cNvSpPr>
            <a:spLocks noGrp="1"/>
          </p:cNvSpPr>
          <p:nvPr>
            <p:ph type="ftr" sz="quarter" idx="3"/>
          </p:nvPr>
        </p:nvSpPr>
        <p:spPr>
          <a:xfrm>
            <a:off x="32766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a:p>
        </p:txBody>
      </p:sp>
    </p:spTree>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AAC6AA6-11D2-40DC-89FE-0A766D84C13F}" type="datetime2">
              <a:rPr lang="en-US" smtClean="0"/>
              <a:t>Tuesday, March 10, 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9" name="Footer Placeholder 21"/>
          <p:cNvSpPr>
            <a:spLocks noGrp="1"/>
          </p:cNvSpPr>
          <p:nvPr>
            <p:ph type="ftr" sz="quarter" idx="3"/>
          </p:nvPr>
        </p:nvSpPr>
        <p:spPr>
          <a:xfrm>
            <a:off x="32766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a:p>
        </p:txBody>
      </p:sp>
    </p:spTree>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2A420C1-F766-434A-B90B-5FEB3B491794}" type="datetime2">
              <a:rPr lang="en-US" smtClean="0"/>
              <a:t>Tuesday, March 10, 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
        <p:nvSpPr>
          <p:cNvPr id="9" name="Footer Placeholder 21"/>
          <p:cNvSpPr>
            <a:spLocks noGrp="1"/>
          </p:cNvSpPr>
          <p:nvPr>
            <p:ph type="ftr" sz="quarter" idx="3"/>
          </p:nvPr>
        </p:nvSpPr>
        <p:spPr>
          <a:xfrm>
            <a:off x="32766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a:p>
        </p:txBody>
      </p:sp>
    </p:spTree>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D287FE9-FFE0-4AF6-9FBA-A91FDACB24D5}" type="datetime2">
              <a:rPr lang="en-US" smtClean="0"/>
              <a:t>Tuesday, March 10, 2026</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0" name="Footer Placeholder 21"/>
          <p:cNvSpPr>
            <a:spLocks noGrp="1"/>
          </p:cNvSpPr>
          <p:nvPr>
            <p:ph type="ftr" sz="quarter" idx="13"/>
          </p:nvPr>
        </p:nvSpPr>
        <p:spPr>
          <a:xfrm>
            <a:off x="32766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a:p>
        </p:txBody>
      </p:sp>
    </p:spTree>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C35EFB5-142C-4595-9B3B-A4D2B5A1ACA1}" type="datetime2">
              <a:rPr lang="en-US" smtClean="0"/>
              <a:t>Tuesday, March 10,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
        <p:nvSpPr>
          <p:cNvPr id="7" name="Footer Placeholder 21"/>
          <p:cNvSpPr>
            <a:spLocks noGrp="1"/>
          </p:cNvSpPr>
          <p:nvPr>
            <p:ph type="ftr" sz="quarter" idx="3"/>
          </p:nvPr>
        </p:nvSpPr>
        <p:spPr>
          <a:xfrm>
            <a:off x="32766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a:p>
        </p:txBody>
      </p:sp>
    </p:spTree>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60A8B9-0DFD-4589-9A5C-A0BABBE1C9DA}" type="datetime2">
              <a:rPr lang="en-US" smtClean="0"/>
              <a:t>Tuesday, March 10, 2026</a:t>
            </a:fld>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Footer Placeholder 21"/>
          <p:cNvSpPr>
            <a:spLocks noGrp="1"/>
          </p:cNvSpPr>
          <p:nvPr>
            <p:ph type="ftr" sz="quarter" idx="3"/>
          </p:nvPr>
        </p:nvSpPr>
        <p:spPr>
          <a:xfrm>
            <a:off x="32766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a:p>
        </p:txBody>
      </p:sp>
    </p:spTree>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A6F57B09-615F-4025-BA97-2B43174CEA7A}" type="datetime2">
              <a:rPr lang="en-US" smtClean="0"/>
              <a:t>Tuesday, March 10, 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Footer Placeholder 21"/>
          <p:cNvSpPr>
            <a:spLocks noGrp="1"/>
          </p:cNvSpPr>
          <p:nvPr>
            <p:ph type="ftr" sz="quarter" idx="3"/>
          </p:nvPr>
        </p:nvSpPr>
        <p:spPr>
          <a:xfrm>
            <a:off x="32766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a:p>
        </p:txBody>
      </p:sp>
    </p:spTree>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85C0F32D-50D5-4EC4-8900-A442080F2EDC}" type="datetime2">
              <a:rPr lang="en-US" smtClean="0"/>
              <a:t>Tuesday, March 10, 2026</a:t>
            </a:fld>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5" name="Footer Placeholder 21"/>
          <p:cNvSpPr>
            <a:spLocks noGrp="1"/>
          </p:cNvSpPr>
          <p:nvPr>
            <p:ph type="ftr" sz="quarter" idx="3"/>
          </p:nvPr>
        </p:nvSpPr>
        <p:spPr>
          <a:xfrm>
            <a:off x="32766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a:p>
        </p:txBody>
      </p:sp>
    </p:spTree>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809E218-5D4D-4592-A7DF-17761E8760B1}" type="datetime2">
              <a:rPr lang="en-US" smtClean="0"/>
              <a:t>Tuesday, March 10, 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Footer Placeholder 21"/>
          <p:cNvSpPr>
            <a:spLocks noGrp="1"/>
          </p:cNvSpPr>
          <p:nvPr>
            <p:ph type="ftr" sz="quarter" idx="3"/>
          </p:nvPr>
        </p:nvSpPr>
        <p:spPr>
          <a:xfrm>
            <a:off x="32766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a:p>
        </p:txBody>
      </p:sp>
    </p:spTree>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94541C5-E35D-4E4F-A175-E03AC04E63E0}" type="datetime2">
              <a:rPr lang="en-US" smtClean="0"/>
              <a:t>Tuesday, March 10, 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Footer Placeholder 21"/>
          <p:cNvSpPr>
            <a:spLocks noGrp="1"/>
          </p:cNvSpPr>
          <p:nvPr>
            <p:ph type="ftr" sz="quarter" idx="3"/>
          </p:nvPr>
        </p:nvSpPr>
        <p:spPr>
          <a:xfrm>
            <a:off x="32766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a:p>
        </p:txBody>
      </p:sp>
    </p:spTree>
  </p:cSld>
  <p:clrMapOvr>
    <a:masterClrMapping/>
  </p:clrMapOvr>
  <p:transition>
    <p:dissolv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228E297-73F2-456E-B842-5084F4A0515E}" type="datetime2">
              <a:rPr lang="en-US" smtClean="0"/>
              <a:t>Tuesday, March 10, 2026</a:t>
            </a:fld>
            <a:endParaRPr lang="en-US"/>
          </a:p>
        </p:txBody>
      </p:sp>
      <p:sp>
        <p:nvSpPr>
          <p:cNvPr id="6" name="Slide Number Placeholder 5"/>
          <p:cNvSpPr>
            <a:spLocks noGrp="1"/>
          </p:cNvSpPr>
          <p:nvPr>
            <p:ph type="sldNum" sz="quarter" idx="12"/>
          </p:nvPr>
        </p:nvSpPr>
        <p:spPr/>
        <p:txBody>
          <a:bodyPr/>
          <a:lstStyle/>
          <a:p>
            <a:fld id="{CAB7B898-8492-4198-9088-587B79373852}" type="slidenum">
              <a:rPr lang="en-US" smtClean="0"/>
              <a:pPr/>
              <a:t>‹#›</a:t>
            </a:fld>
            <a:endParaRPr lang="en-US"/>
          </a:p>
        </p:txBody>
      </p:sp>
      <p:sp>
        <p:nvSpPr>
          <p:cNvPr id="8" name="Footer Placeholder 21"/>
          <p:cNvSpPr>
            <a:spLocks noGrp="1"/>
          </p:cNvSpPr>
          <p:nvPr>
            <p:ph type="ftr" sz="quarter" idx="3"/>
          </p:nvPr>
        </p:nvSpPr>
        <p:spPr>
          <a:xfrm>
            <a:off x="23622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7A02A45-7D36-4274-87CB-D9D395504E8E}" type="datetime2">
              <a:rPr lang="en-US" smtClean="0"/>
              <a:t>Tuesday, March 10, 2026</a:t>
            </a:fld>
            <a:endParaRPr lang="en-US"/>
          </a:p>
        </p:txBody>
      </p:sp>
      <p:sp>
        <p:nvSpPr>
          <p:cNvPr id="6" name="Slide Number Placeholder 5"/>
          <p:cNvSpPr>
            <a:spLocks noGrp="1"/>
          </p:cNvSpPr>
          <p:nvPr>
            <p:ph type="sldNum" sz="quarter" idx="12"/>
          </p:nvPr>
        </p:nvSpPr>
        <p:spPr/>
        <p:txBody>
          <a:bodyPr/>
          <a:lstStyle/>
          <a:p>
            <a:fld id="{CAB7B898-8492-4198-9088-587B79373852}" type="slidenum">
              <a:rPr lang="en-US" smtClean="0"/>
              <a:pPr/>
              <a:t>‹#›</a:t>
            </a:fld>
            <a:endParaRPr lang="en-US"/>
          </a:p>
        </p:txBody>
      </p:sp>
      <p:sp>
        <p:nvSpPr>
          <p:cNvPr id="8" name="Footer Placeholder 21"/>
          <p:cNvSpPr>
            <a:spLocks noGrp="1"/>
          </p:cNvSpPr>
          <p:nvPr>
            <p:ph type="ftr" sz="quarter" idx="3"/>
          </p:nvPr>
        </p:nvSpPr>
        <p:spPr>
          <a:xfrm>
            <a:off x="23622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F3FBCC-9F61-4A98-9E2C-92419840AF48}" type="datetime2">
              <a:rPr lang="en-US" smtClean="0"/>
              <a:t>Tuesday, March 10, 2026</a:t>
            </a:fld>
            <a:endParaRPr lang="en-US"/>
          </a:p>
        </p:txBody>
      </p:sp>
      <p:sp>
        <p:nvSpPr>
          <p:cNvPr id="6" name="Slide Number Placeholder 5"/>
          <p:cNvSpPr>
            <a:spLocks noGrp="1"/>
          </p:cNvSpPr>
          <p:nvPr>
            <p:ph type="sldNum" sz="quarter" idx="12"/>
          </p:nvPr>
        </p:nvSpPr>
        <p:spPr/>
        <p:txBody>
          <a:bodyPr/>
          <a:lstStyle/>
          <a:p>
            <a:fld id="{CAB7B898-8492-4198-9088-587B79373852}" type="slidenum">
              <a:rPr lang="en-US" smtClean="0"/>
              <a:pPr/>
              <a:t>‹#›</a:t>
            </a:fld>
            <a:endParaRPr lang="en-US"/>
          </a:p>
        </p:txBody>
      </p:sp>
      <p:sp>
        <p:nvSpPr>
          <p:cNvPr id="8" name="Footer Placeholder 21"/>
          <p:cNvSpPr>
            <a:spLocks noGrp="1"/>
          </p:cNvSpPr>
          <p:nvPr>
            <p:ph type="ftr" sz="quarter" idx="3"/>
          </p:nvPr>
        </p:nvSpPr>
        <p:spPr>
          <a:xfrm>
            <a:off x="23622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7B3A00D-568C-43FA-9943-A7E0616F8A47}" type="datetime2">
              <a:rPr lang="en-US" smtClean="0"/>
              <a:t>Tuesday, March 10, 2026</a:t>
            </a:fld>
            <a:endParaRPr lang="en-US"/>
          </a:p>
        </p:txBody>
      </p:sp>
      <p:sp>
        <p:nvSpPr>
          <p:cNvPr id="7" name="Slide Number Placeholder 6"/>
          <p:cNvSpPr>
            <a:spLocks noGrp="1"/>
          </p:cNvSpPr>
          <p:nvPr>
            <p:ph type="sldNum" sz="quarter" idx="12"/>
          </p:nvPr>
        </p:nvSpPr>
        <p:spPr/>
        <p:txBody>
          <a:bodyPr/>
          <a:lstStyle/>
          <a:p>
            <a:fld id="{CAB7B898-8492-4198-9088-587B79373852}" type="slidenum">
              <a:rPr lang="en-US" smtClean="0"/>
              <a:pPr/>
              <a:t>‹#›</a:t>
            </a:fld>
            <a:endParaRPr lang="en-US"/>
          </a:p>
        </p:txBody>
      </p:sp>
      <p:sp>
        <p:nvSpPr>
          <p:cNvPr id="8" name="Footer Placeholder 21"/>
          <p:cNvSpPr>
            <a:spLocks noGrp="1"/>
          </p:cNvSpPr>
          <p:nvPr>
            <p:ph type="ftr" sz="quarter" idx="3"/>
          </p:nvPr>
        </p:nvSpPr>
        <p:spPr>
          <a:xfrm>
            <a:off x="24384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BEA4AA9-A4AC-4415-9878-F8064DFC1B69}" type="datetime2">
              <a:rPr lang="en-US" smtClean="0"/>
              <a:t>Tuesday, March 10, 2026</a:t>
            </a:fld>
            <a:endParaRPr lang="en-US"/>
          </a:p>
        </p:txBody>
      </p:sp>
      <p:sp>
        <p:nvSpPr>
          <p:cNvPr id="9" name="Slide Number Placeholder 8"/>
          <p:cNvSpPr>
            <a:spLocks noGrp="1"/>
          </p:cNvSpPr>
          <p:nvPr>
            <p:ph type="sldNum" sz="quarter" idx="12"/>
          </p:nvPr>
        </p:nvSpPr>
        <p:spPr/>
        <p:txBody>
          <a:bodyPr/>
          <a:lstStyle/>
          <a:p>
            <a:fld id="{CAB7B898-8492-4198-9088-587B79373852}" type="slidenum">
              <a:rPr lang="en-US" smtClean="0"/>
              <a:pPr/>
              <a:t>‹#›</a:t>
            </a:fld>
            <a:endParaRPr lang="en-US"/>
          </a:p>
        </p:txBody>
      </p:sp>
      <p:sp>
        <p:nvSpPr>
          <p:cNvPr id="10" name="Footer Placeholder 21"/>
          <p:cNvSpPr>
            <a:spLocks noGrp="1"/>
          </p:cNvSpPr>
          <p:nvPr>
            <p:ph type="ftr" sz="quarter" idx="13"/>
          </p:nvPr>
        </p:nvSpPr>
        <p:spPr>
          <a:xfrm>
            <a:off x="23622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19432D-9722-4638-A80D-3F0E1E8708CA}" type="datetime2">
              <a:rPr lang="en-US" smtClean="0"/>
              <a:t>Tuesday, March 10, 2026</a:t>
            </a:fld>
            <a:endParaRPr lang="en-US"/>
          </a:p>
        </p:txBody>
      </p:sp>
      <p:sp>
        <p:nvSpPr>
          <p:cNvPr id="5" name="Slide Number Placeholder 4"/>
          <p:cNvSpPr>
            <a:spLocks noGrp="1"/>
          </p:cNvSpPr>
          <p:nvPr>
            <p:ph type="sldNum" sz="quarter" idx="12"/>
          </p:nvPr>
        </p:nvSpPr>
        <p:spPr/>
        <p:txBody>
          <a:bodyPr/>
          <a:lstStyle/>
          <a:p>
            <a:fld id="{CAB7B898-8492-4198-9088-587B79373852}" type="slidenum">
              <a:rPr lang="en-US" smtClean="0"/>
              <a:pPr/>
              <a:t>‹#›</a:t>
            </a:fld>
            <a:endParaRPr lang="en-US"/>
          </a:p>
        </p:txBody>
      </p:sp>
      <p:sp>
        <p:nvSpPr>
          <p:cNvPr id="6" name="Footer Placeholder 21"/>
          <p:cNvSpPr>
            <a:spLocks noGrp="1"/>
          </p:cNvSpPr>
          <p:nvPr>
            <p:ph type="ftr" sz="quarter" idx="3"/>
          </p:nvPr>
        </p:nvSpPr>
        <p:spPr>
          <a:xfrm>
            <a:off x="23622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50F78D-3F0C-49A0-9F9E-9B4A5552EF10}" type="datetime2">
              <a:rPr lang="en-US" smtClean="0"/>
              <a:t>Tuesday, March 10, 2026</a:t>
            </a:fld>
            <a:endParaRPr lang="en-US"/>
          </a:p>
        </p:txBody>
      </p:sp>
      <p:sp>
        <p:nvSpPr>
          <p:cNvPr id="4" name="Slide Number Placeholder 3"/>
          <p:cNvSpPr>
            <a:spLocks noGrp="1"/>
          </p:cNvSpPr>
          <p:nvPr>
            <p:ph type="sldNum" sz="quarter" idx="12"/>
          </p:nvPr>
        </p:nvSpPr>
        <p:spPr/>
        <p:txBody>
          <a:bodyPr/>
          <a:lstStyle/>
          <a:p>
            <a:fld id="{CAB7B898-8492-4198-9088-587B79373852}" type="slidenum">
              <a:rPr lang="en-US" smtClean="0"/>
              <a:pPr/>
              <a:t>‹#›</a:t>
            </a:fld>
            <a:endParaRPr lang="en-US"/>
          </a:p>
        </p:txBody>
      </p:sp>
      <p:sp>
        <p:nvSpPr>
          <p:cNvPr id="5" name="Footer Placeholder 21"/>
          <p:cNvSpPr>
            <a:spLocks noGrp="1"/>
          </p:cNvSpPr>
          <p:nvPr>
            <p:ph type="ftr" sz="quarter" idx="3"/>
          </p:nvPr>
        </p:nvSpPr>
        <p:spPr>
          <a:xfrm>
            <a:off x="23622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6674F8-5503-4CB2-B1AE-7ED8869AEA93}" type="datetime2">
              <a:rPr lang="en-US" smtClean="0"/>
              <a:t>Tuesday, March 10, 2026</a:t>
            </a:fld>
            <a:endParaRPr lang="en-US"/>
          </a:p>
        </p:txBody>
      </p:sp>
      <p:sp>
        <p:nvSpPr>
          <p:cNvPr id="7" name="Slide Number Placeholder 6"/>
          <p:cNvSpPr>
            <a:spLocks noGrp="1"/>
          </p:cNvSpPr>
          <p:nvPr>
            <p:ph type="sldNum" sz="quarter" idx="12"/>
          </p:nvPr>
        </p:nvSpPr>
        <p:spPr/>
        <p:txBody>
          <a:bodyPr/>
          <a:lstStyle/>
          <a:p>
            <a:fld id="{CAB7B898-8492-4198-9088-587B79373852}" type="slidenum">
              <a:rPr lang="en-US" smtClean="0"/>
              <a:pPr/>
              <a:t>‹#›</a:t>
            </a:fld>
            <a:endParaRPr lang="en-US"/>
          </a:p>
        </p:txBody>
      </p:sp>
      <p:sp>
        <p:nvSpPr>
          <p:cNvPr id="8" name="Footer Placeholder 21"/>
          <p:cNvSpPr>
            <a:spLocks noGrp="1"/>
          </p:cNvSpPr>
          <p:nvPr>
            <p:ph type="ftr" sz="quarter" idx="3"/>
          </p:nvPr>
        </p:nvSpPr>
        <p:spPr>
          <a:xfrm>
            <a:off x="23622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25ACCE-332F-4F94-8909-152A02A107AA}" type="datetime2">
              <a:rPr lang="en-US" smtClean="0"/>
              <a:t>Tuesday, March 10, 2026</a:t>
            </a:fld>
            <a:endParaRPr lang="en-US"/>
          </a:p>
        </p:txBody>
      </p:sp>
      <p:sp>
        <p:nvSpPr>
          <p:cNvPr id="7" name="Slide Number Placeholder 6"/>
          <p:cNvSpPr>
            <a:spLocks noGrp="1"/>
          </p:cNvSpPr>
          <p:nvPr>
            <p:ph type="sldNum" sz="quarter" idx="12"/>
          </p:nvPr>
        </p:nvSpPr>
        <p:spPr/>
        <p:txBody>
          <a:bodyPr/>
          <a:lstStyle/>
          <a:p>
            <a:fld id="{CAB7B898-8492-4198-9088-587B79373852}" type="slidenum">
              <a:rPr lang="en-US" smtClean="0"/>
              <a:pPr/>
              <a:t>‹#›</a:t>
            </a:fld>
            <a:endParaRPr lang="en-US"/>
          </a:p>
        </p:txBody>
      </p:sp>
      <p:sp>
        <p:nvSpPr>
          <p:cNvPr id="8" name="Footer Placeholder 21"/>
          <p:cNvSpPr>
            <a:spLocks noGrp="1"/>
          </p:cNvSpPr>
          <p:nvPr>
            <p:ph type="ftr" sz="quarter" idx="3"/>
          </p:nvPr>
        </p:nvSpPr>
        <p:spPr>
          <a:xfrm>
            <a:off x="23622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B9A368-9146-4DFF-8658-B11AFADFEA9F}" type="datetime2">
              <a:rPr lang="en-US" smtClean="0"/>
              <a:t>Tuesday, March 10, 2026</a:t>
            </a:fld>
            <a:endParaRPr lang="en-US"/>
          </a:p>
        </p:txBody>
      </p:sp>
      <p:sp>
        <p:nvSpPr>
          <p:cNvPr id="6" name="Slide Number Placeholder 5"/>
          <p:cNvSpPr>
            <a:spLocks noGrp="1"/>
          </p:cNvSpPr>
          <p:nvPr>
            <p:ph type="sldNum" sz="quarter" idx="12"/>
          </p:nvPr>
        </p:nvSpPr>
        <p:spPr/>
        <p:txBody>
          <a:bodyPr/>
          <a:lstStyle/>
          <a:p>
            <a:fld id="{CAB7B898-8492-4198-9088-587B79373852}" type="slidenum">
              <a:rPr lang="en-US" smtClean="0"/>
              <a:pPr/>
              <a:t>‹#›</a:t>
            </a:fld>
            <a:endParaRPr lang="en-US"/>
          </a:p>
        </p:txBody>
      </p:sp>
      <p:sp>
        <p:nvSpPr>
          <p:cNvPr id="7" name="Footer Placeholder 21"/>
          <p:cNvSpPr>
            <a:spLocks noGrp="1"/>
          </p:cNvSpPr>
          <p:nvPr>
            <p:ph type="ftr" sz="quarter" idx="3"/>
          </p:nvPr>
        </p:nvSpPr>
        <p:spPr>
          <a:xfrm>
            <a:off x="24384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3AE9DBA-439C-47B4-B1BF-BC0B198C4C11}" type="datetime2">
              <a:rPr lang="en-US" smtClean="0"/>
              <a:t>Tuesday, March 10, 2026</a:t>
            </a:fld>
            <a:endParaRPr lang="en-US"/>
          </a:p>
        </p:txBody>
      </p:sp>
      <p:sp>
        <p:nvSpPr>
          <p:cNvPr id="6" name="Slide Number Placeholder 5"/>
          <p:cNvSpPr>
            <a:spLocks noGrp="1"/>
          </p:cNvSpPr>
          <p:nvPr>
            <p:ph type="sldNum" sz="quarter" idx="12"/>
          </p:nvPr>
        </p:nvSpPr>
        <p:spPr/>
        <p:txBody>
          <a:bodyPr/>
          <a:lstStyle/>
          <a:p>
            <a:fld id="{CAB7B898-8492-4198-9088-587B79373852}" type="slidenum">
              <a:rPr lang="en-US" smtClean="0"/>
              <a:pPr/>
              <a:t>‹#›</a:t>
            </a:fld>
            <a:endParaRPr lang="en-US"/>
          </a:p>
        </p:txBody>
      </p:sp>
      <p:sp>
        <p:nvSpPr>
          <p:cNvPr id="7" name="Footer Placeholder 21"/>
          <p:cNvSpPr>
            <a:spLocks noGrp="1"/>
          </p:cNvSpPr>
          <p:nvPr>
            <p:ph type="ftr" sz="quarter" idx="3"/>
          </p:nvPr>
        </p:nvSpPr>
        <p:spPr>
          <a:xfrm>
            <a:off x="23622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8AA9844-F4D8-4AA3-8B36-123F69C580C3}" type="datetime2">
              <a:rPr lang="en-US" smtClean="0"/>
              <a:t>Tuesday, March 10, 2026</a:t>
            </a:fld>
            <a:endParaRPr lang="en-US"/>
          </a:p>
        </p:txBody>
      </p:sp>
      <p:sp>
        <p:nvSpPr>
          <p:cNvPr id="5" name="Slide Number Placeholder 4"/>
          <p:cNvSpPr>
            <a:spLocks noGrp="1"/>
          </p:cNvSpPr>
          <p:nvPr>
            <p:ph type="sldNum" sz="quarter" idx="12"/>
          </p:nvPr>
        </p:nvSpPr>
        <p:spPr/>
        <p:txBody>
          <a:bodyPr/>
          <a:lstStyle/>
          <a:p>
            <a:fld id="{CAB7B898-8492-4198-9088-587B79373852}" type="slidenum">
              <a:rPr lang="en-US" smtClean="0"/>
              <a:pPr/>
              <a:t>‹#›</a:t>
            </a:fld>
            <a:endParaRPr lang="en-US"/>
          </a:p>
        </p:txBody>
      </p:sp>
      <p:sp>
        <p:nvSpPr>
          <p:cNvPr id="6" name="Footer Placeholder 21"/>
          <p:cNvSpPr txBox="1">
            <a:spLocks/>
          </p:cNvSpPr>
          <p:nvPr userDrawn="1"/>
        </p:nvSpPr>
        <p:spPr>
          <a:xfrm>
            <a:off x="25908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sng" strike="noStrike" kern="1200" cap="none" spc="0" normalizeH="0" baseline="0" noProof="0" dirty="0">
                <a:ln>
                  <a:noFill/>
                </a:ln>
                <a:solidFill>
                  <a:schemeClr val="tx1"/>
                </a:solidFill>
                <a:effectLst/>
                <a:uLnTx/>
                <a:uFillTx/>
                <a:latin typeface="+mn-lt"/>
                <a:ea typeface="+mn-ea"/>
                <a:cs typeface="+mn-cs"/>
              </a:rPr>
              <a:t>Database Management Systems</a:t>
            </a:r>
            <a:endParaRPr kumimoji="0" lang="en-US" sz="1000" b="0" i="0" u="sng"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Manjunatha A S, Dept. of CSE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9327E96-347E-4EBB-829E-AF5F975CE128}" type="datetime2">
              <a:rPr lang="en-US" smtClean="0"/>
              <a:t>Tuesday, March 10, 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1008331"/>
      </p:ext>
    </p:extLst>
  </p:cSld>
  <p:clrMapOvr>
    <a:masterClrMapping/>
  </p:clrMapOvr>
  <p:transition>
    <p:dissolv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0674AA-D57A-4FB2-B8D4-234C4A0870F5}" type="datetime2">
              <a:rPr lang="en-US" smtClean="0"/>
              <a:t>Tuesday, March 10,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95585870"/>
      </p:ext>
    </p:extLst>
  </p:cSld>
  <p:clrMapOvr>
    <a:masterClrMapping/>
  </p:clrMapOvr>
  <p:transition>
    <p:dissolv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55029-21A2-4CE9-9BC7-5F1ED85D3F7D}" type="datetime2">
              <a:rPr lang="en-US" smtClean="0"/>
              <a:t>Tuesday, March 10,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7842008"/>
      </p:ext>
    </p:extLst>
  </p:cSld>
  <p:clrMapOvr>
    <a:masterClrMapping/>
  </p:clrMapOvr>
  <p:transition>
    <p:dissolv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138789-D489-49A0-A000-E4685DCE94EF}" type="datetime2">
              <a:rPr lang="en-US" smtClean="0"/>
              <a:t>Tuesday, March 10,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09578634"/>
      </p:ext>
    </p:extLst>
  </p:cSld>
  <p:clrMapOvr>
    <a:masterClrMapping/>
  </p:clrMapOvr>
  <p:transition>
    <p:dissolv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F20475-3D1F-4273-A1B2-600DEAF28451}" type="datetime2">
              <a:rPr lang="en-US" smtClean="0"/>
              <a:t>Tuesday, March 10,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82599928"/>
      </p:ext>
    </p:extLst>
  </p:cSld>
  <p:clrMapOvr>
    <a:masterClrMapping/>
  </p:clrMapOvr>
  <p:transition>
    <p:dissolv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4DFF31-B108-42B3-989C-3F28E1357052}" type="datetime2">
              <a:rPr lang="en-US" smtClean="0"/>
              <a:t>Tuesday, March 10, 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51243851"/>
      </p:ext>
    </p:extLst>
  </p:cSld>
  <p:clrMapOvr>
    <a:masterClrMapping/>
  </p:clrMapOvr>
  <p:transition>
    <p:dissolv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2070C5F-440E-43B2-90F9-1F4A464F1847}" type="datetime2">
              <a:rPr lang="en-US" smtClean="0"/>
              <a:t>Tuesday, March 10, 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34780808"/>
      </p:ext>
    </p:extLst>
  </p:cSld>
  <p:clrMapOvr>
    <a:masterClrMapping/>
  </p:clrMapOvr>
  <p:transition>
    <p:dissolv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1A6EE85B-8933-446A-B4EE-9AACF99CEC85}" type="datetime2">
              <a:rPr lang="en-US" smtClean="0"/>
              <a:t>Tuesday, March 10, 2026</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730048352"/>
      </p:ext>
    </p:extLst>
  </p:cSld>
  <p:clrMapOvr>
    <a:masterClrMapping/>
  </p:clrMapOvr>
  <p:transition>
    <p:dissolv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F629B3-B879-4CF5-8700-A6A31A6BAE1B}" type="datetime2">
              <a:rPr lang="en-US" smtClean="0"/>
              <a:t>Tuesday, March 10,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42490830"/>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E6C701-1B12-428E-A42C-28EB82953B6A}" type="datetime2">
              <a:rPr lang="en-US" smtClean="0"/>
              <a:t>Tuesday, March 10,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30697484"/>
      </p:ext>
    </p:extLst>
  </p:cSld>
  <p:clrMapOvr>
    <a:masterClrMapping/>
  </p:clrMapOvr>
  <p:transition>
    <p:dissolv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70D519-2F18-4C0F-93D8-F2E2532E2708}" type="datetime2">
              <a:rPr lang="en-US" smtClean="0"/>
              <a:t>Tuesday, March 10,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14032600"/>
      </p:ext>
    </p:extLst>
  </p:cSld>
  <p:clrMapOvr>
    <a:masterClrMapping/>
  </p:clrMapOvr>
  <p:transition>
    <p:dissolv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9144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0753C6C-49AC-4660-9292-C29F178A234A}" type="datetime1">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06341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B1B6CB-82DF-4FAE-8538-4C88BBBC6429}" type="datetime1">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297112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3FEFBF-8AF9-4A29-BD75-CC3524057B0E}" type="datetime1">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37466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AB9379C-C301-4B3C-BA27-20C98EFA1484}" type="datetime1">
              <a:rPr lang="en-IN" smtClean="0"/>
              <a:t>10-03-2026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664678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BBEEA6-3A23-4D0C-87EF-5F7519CCBD0A}" type="datetime1">
              <a:rPr lang="en-IN" smtClean="0"/>
              <a:t>10-03-2026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727745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FF3ACB5-BBC7-4DC3-B179-C796931B73B6}" type="datetime1">
              <a:rPr lang="en-IN" smtClean="0"/>
              <a:t>10-03-2026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0936786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A207F94-DF2A-4B4B-A97C-CEE8694C1292}" type="datetime1">
              <a:rPr lang="en-IN" smtClean="0"/>
              <a:t>10-03-2026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2118882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F2FBC8B8-04F6-4790-ACB9-7700A168E60C}" type="datetime1">
              <a:rPr lang="en-IN" smtClean="0"/>
              <a:t>10-03-2026</a:t>
            </a:fld>
            <a:endParaRPr lang="en-IN"/>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141188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4948" cy="59436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E394D1E6-C112-4E85-A2AB-E496C282FADD}" type="datetime1">
              <a:rPr lang="en-IN" smtClean="0"/>
              <a:t>10-03-2026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110208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32D7DB-DFC1-4C4B-B0C2-9383F1815FCB}" type="datetime1">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9924179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214791-7A54-4EEE-BA40-A8FAADC4A438}" type="datetime1">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1791211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61963" y="279400"/>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8229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3938590"/>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1" y="6416675"/>
            <a:ext cx="1954213" cy="304800"/>
          </a:xfrm>
        </p:spPr>
        <p:txBody>
          <a:bodyPr/>
          <a:lstStyle>
            <a:lvl1pPr>
              <a:defRPr/>
            </a:lvl1pPr>
          </a:lstStyle>
          <a:p>
            <a:fld id="{689C5DD6-EF3F-44D2-A2FF-BB2CFDE42227}" type="datetime2">
              <a:rPr lang="en-US" smtClean="0"/>
              <a:pPr/>
              <a:t>Tuesday, March 10, 2026</a:t>
            </a:fld>
            <a:endParaRPr lang="en-US"/>
          </a:p>
        </p:txBody>
      </p:sp>
      <p:sp>
        <p:nvSpPr>
          <p:cNvPr id="6" name="Footer Placeholder 5"/>
          <p:cNvSpPr>
            <a:spLocks noGrp="1"/>
          </p:cNvSpPr>
          <p:nvPr>
            <p:ph type="ftr" sz="quarter" idx="11"/>
          </p:nvPr>
        </p:nvSpPr>
        <p:spPr>
          <a:xfrm>
            <a:off x="2484438" y="6416675"/>
            <a:ext cx="4427537" cy="304800"/>
          </a:xfrm>
        </p:spPr>
        <p:txBody>
          <a:bodyPr/>
          <a:lstStyle>
            <a:lvl1pPr>
              <a:defRPr/>
            </a:lvl1pPr>
          </a:lstStyle>
          <a:p>
            <a:r>
              <a:rPr lang="en-US"/>
              <a:t>Manjunatha A S, Senior Asst. Prof. Dept. of Computer Science &amp; Engg</a:t>
            </a:r>
          </a:p>
        </p:txBody>
      </p:sp>
      <p:sp>
        <p:nvSpPr>
          <p:cNvPr id="7" name="Slide Number Placeholder 6"/>
          <p:cNvSpPr>
            <a:spLocks noGrp="1"/>
          </p:cNvSpPr>
          <p:nvPr>
            <p:ph type="sldNum" sz="quarter" idx="12"/>
          </p:nvPr>
        </p:nvSpPr>
        <p:spPr>
          <a:xfrm>
            <a:off x="7343776" y="6453190"/>
            <a:ext cx="1343025" cy="268287"/>
          </a:xfrm>
        </p:spPr>
        <p:txBody>
          <a:bodyPr/>
          <a:lstStyle>
            <a:lvl1pPr>
              <a:defRPr/>
            </a:lvl1pPr>
          </a:lstStyle>
          <a:p>
            <a:fld id="{2D358066-D84C-4609-9149-E3B2EF0BED30}" type="slidenum">
              <a:rPr lang="en-US"/>
              <a:pPr/>
              <a:t>‹#›</a:t>
            </a:fld>
            <a:endParaRPr lang="en-US"/>
          </a:p>
        </p:txBody>
      </p:sp>
    </p:spTree>
    <p:extLst>
      <p:ext uri="{BB962C8B-B14F-4D97-AF65-F5344CB8AC3E}">
        <p14:creationId xmlns:p14="http://schemas.microsoft.com/office/powerpoint/2010/main" val="3480589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61963" y="279400"/>
            <a:ext cx="8229600" cy="1143000"/>
          </a:xfrm>
        </p:spPr>
        <p:txBody>
          <a:bodyPr/>
          <a:lstStyle/>
          <a:p>
            <a:r>
              <a:rPr lang="en-US"/>
              <a:t>Click to edit Master title style</a:t>
            </a:r>
          </a:p>
        </p:txBody>
      </p:sp>
      <p:sp>
        <p:nvSpPr>
          <p:cNvPr id="3" name="SmartArt Placeholder 2"/>
          <p:cNvSpPr>
            <a:spLocks noGrp="1"/>
          </p:cNvSpPr>
          <p:nvPr>
            <p:ph type="dgm" idx="1"/>
          </p:nvPr>
        </p:nvSpPr>
        <p:spPr>
          <a:xfrm>
            <a:off x="457200" y="1600202"/>
            <a:ext cx="8229600" cy="4525963"/>
          </a:xfrm>
        </p:spPr>
        <p:txBody>
          <a:bodyPr/>
          <a:lstStyle/>
          <a:p>
            <a:endParaRPr lang="en-US"/>
          </a:p>
        </p:txBody>
      </p:sp>
      <p:sp>
        <p:nvSpPr>
          <p:cNvPr id="4" name="Date Placeholder 3"/>
          <p:cNvSpPr>
            <a:spLocks noGrp="1"/>
          </p:cNvSpPr>
          <p:nvPr>
            <p:ph type="dt" sz="half" idx="10"/>
          </p:nvPr>
        </p:nvSpPr>
        <p:spPr>
          <a:xfrm>
            <a:off x="457201" y="6416675"/>
            <a:ext cx="1954213" cy="304800"/>
          </a:xfrm>
        </p:spPr>
        <p:txBody>
          <a:bodyPr/>
          <a:lstStyle>
            <a:lvl1pPr>
              <a:defRPr/>
            </a:lvl1pPr>
          </a:lstStyle>
          <a:p>
            <a:fld id="{29345485-C39B-405D-81F3-FD194FD7C968}" type="datetime2">
              <a:rPr lang="en-US" smtClean="0"/>
              <a:pPr/>
              <a:t>Tuesday, March 10, 2026</a:t>
            </a:fld>
            <a:endParaRPr lang="en-US"/>
          </a:p>
        </p:txBody>
      </p:sp>
      <p:sp>
        <p:nvSpPr>
          <p:cNvPr id="5" name="Footer Placeholder 4"/>
          <p:cNvSpPr>
            <a:spLocks noGrp="1"/>
          </p:cNvSpPr>
          <p:nvPr>
            <p:ph type="ftr" sz="quarter" idx="11"/>
          </p:nvPr>
        </p:nvSpPr>
        <p:spPr>
          <a:xfrm>
            <a:off x="2484438" y="6416675"/>
            <a:ext cx="4427537" cy="304800"/>
          </a:xfrm>
        </p:spPr>
        <p:txBody>
          <a:bodyPr/>
          <a:lstStyle>
            <a:lvl1pPr>
              <a:defRPr/>
            </a:lvl1pPr>
          </a:lstStyle>
          <a:p>
            <a:r>
              <a:rPr lang="en-US"/>
              <a:t>Manjunatha A S, Senior Asst. Prof. Dept. of Computer Science &amp; Engg</a:t>
            </a:r>
          </a:p>
        </p:txBody>
      </p:sp>
      <p:sp>
        <p:nvSpPr>
          <p:cNvPr id="6" name="Slide Number Placeholder 5"/>
          <p:cNvSpPr>
            <a:spLocks noGrp="1"/>
          </p:cNvSpPr>
          <p:nvPr>
            <p:ph type="sldNum" sz="quarter" idx="12"/>
          </p:nvPr>
        </p:nvSpPr>
        <p:spPr>
          <a:xfrm>
            <a:off x="7343776" y="6453190"/>
            <a:ext cx="1343025" cy="268287"/>
          </a:xfrm>
        </p:spPr>
        <p:txBody>
          <a:bodyPr/>
          <a:lstStyle>
            <a:lvl1pPr>
              <a:defRPr/>
            </a:lvl1pPr>
          </a:lstStyle>
          <a:p>
            <a:fld id="{078EDDF7-EB16-4C02-A468-898388AC2F92}" type="slidenum">
              <a:rPr lang="en-US"/>
              <a:pPr/>
              <a:t>‹#›</a:t>
            </a:fld>
            <a:endParaRPr lang="en-US"/>
          </a:p>
        </p:txBody>
      </p:sp>
    </p:spTree>
    <p:extLst>
      <p:ext uri="{BB962C8B-B14F-4D97-AF65-F5344CB8AC3E}">
        <p14:creationId xmlns:p14="http://schemas.microsoft.com/office/powerpoint/2010/main" val="3918687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19" name="32-Point Star 18"/>
          <p:cNvSpPr/>
          <p:nvPr/>
        </p:nvSpPr>
        <p:spPr>
          <a:xfrm>
            <a:off x="8610600" y="6324600"/>
            <a:ext cx="457200" cy="457200"/>
          </a:xfrm>
          <a:prstGeom prst="star3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p:cNvSpPr>
            <a:spLocks/>
          </p:cNvSpPr>
          <p:nvPr/>
        </p:nvSpPr>
        <p:spPr bwMode="auto">
          <a:xfrm rot="18479735">
            <a:off x="5011345" y="43691"/>
            <a:ext cx="1280679" cy="7838368"/>
          </a:xfrm>
          <a:custGeom>
            <a:avLst>
              <a:gd name="A1" fmla="val 0"/>
              <a:gd name="A2" fmla="val 0"/>
              <a:gd name="A3" fmla="val 0"/>
              <a:gd name="A4" fmla="val 0"/>
              <a:gd name="A5" fmla="val 0"/>
              <a:gd name="A6" fmla="val 0"/>
              <a:gd name="A7" fmla="val 0"/>
              <a:gd name="A8" fmla="val 0"/>
            </a:avLst>
            <a:gdLst>
              <a:gd name="connsiteX0" fmla="*/ 4960 w 14960"/>
              <a:gd name="connsiteY0" fmla="*/ 59 h 10000"/>
              <a:gd name="connsiteX1" fmla="*/ 14960 w 14960"/>
              <a:gd name="connsiteY1" fmla="*/ 10000 h 10000"/>
              <a:gd name="connsiteX2" fmla="*/ 12386 w 14960"/>
              <a:gd name="connsiteY2" fmla="*/ 10000 h 10000"/>
              <a:gd name="connsiteX3" fmla="*/ 0 w 14960"/>
              <a:gd name="connsiteY3" fmla="*/ 7042 h 10000"/>
              <a:gd name="connsiteX4" fmla="*/ 4961 w 14960"/>
              <a:gd name="connsiteY4" fmla="*/ 0 h 10000"/>
              <a:gd name="connsiteX0" fmla="*/ 4960 w 14960"/>
              <a:gd name="connsiteY0" fmla="*/ 59 h 10000"/>
              <a:gd name="connsiteX1" fmla="*/ 13880 w 14960"/>
              <a:gd name="connsiteY1" fmla="*/ 1127 h 10000"/>
              <a:gd name="connsiteX2" fmla="*/ 14960 w 14960"/>
              <a:gd name="connsiteY2" fmla="*/ 10000 h 10000"/>
              <a:gd name="connsiteX3" fmla="*/ 12386 w 14960"/>
              <a:gd name="connsiteY3" fmla="*/ 10000 h 10000"/>
              <a:gd name="connsiteX4" fmla="*/ 0 w 14960"/>
              <a:gd name="connsiteY4" fmla="*/ 7042 h 10000"/>
              <a:gd name="connsiteX5" fmla="*/ 4961 w 14960"/>
              <a:gd name="connsiteY5" fmla="*/ 0 h 10000"/>
              <a:gd name="connsiteX0" fmla="*/ 0 w 10000"/>
              <a:gd name="connsiteY0" fmla="*/ 59 h 10000"/>
              <a:gd name="connsiteX1" fmla="*/ 8920 w 10000"/>
              <a:gd name="connsiteY1" fmla="*/ 1127 h 10000"/>
              <a:gd name="connsiteX2" fmla="*/ 10000 w 10000"/>
              <a:gd name="connsiteY2" fmla="*/ 10000 h 10000"/>
              <a:gd name="connsiteX3" fmla="*/ 7426 w 10000"/>
              <a:gd name="connsiteY3" fmla="*/ 10000 h 10000"/>
              <a:gd name="connsiteX4" fmla="*/ 8920 w 10000"/>
              <a:gd name="connsiteY4" fmla="*/ 1127 h 10000"/>
              <a:gd name="connsiteX5" fmla="*/ 1 w 10000"/>
              <a:gd name="connsiteY5" fmla="*/ 0 h 10000"/>
              <a:gd name="connsiteX0" fmla="*/ 0 w 10000"/>
              <a:gd name="connsiteY0" fmla="*/ 0 h 9941"/>
              <a:gd name="connsiteX1" fmla="*/ 8920 w 10000"/>
              <a:gd name="connsiteY1" fmla="*/ 1068 h 9941"/>
              <a:gd name="connsiteX2" fmla="*/ 10000 w 10000"/>
              <a:gd name="connsiteY2" fmla="*/ 9941 h 9941"/>
              <a:gd name="connsiteX3" fmla="*/ 7426 w 10000"/>
              <a:gd name="connsiteY3" fmla="*/ 9941 h 9941"/>
              <a:gd name="connsiteX4" fmla="*/ 8920 w 10000"/>
              <a:gd name="connsiteY4" fmla="*/ 1068 h 9941"/>
              <a:gd name="connsiteX5" fmla="*/ 8920 w 10000"/>
              <a:gd name="connsiteY5" fmla="*/ 1068 h 9941"/>
              <a:gd name="connsiteX0" fmla="*/ 1494 w 2574"/>
              <a:gd name="connsiteY0" fmla="*/ 142 h 8926"/>
              <a:gd name="connsiteX1" fmla="*/ 1494 w 2574"/>
              <a:gd name="connsiteY1" fmla="*/ 0 h 8926"/>
              <a:gd name="connsiteX2" fmla="*/ 2574 w 2574"/>
              <a:gd name="connsiteY2" fmla="*/ 8926 h 8926"/>
              <a:gd name="connsiteX3" fmla="*/ 0 w 2574"/>
              <a:gd name="connsiteY3" fmla="*/ 8926 h 8926"/>
              <a:gd name="connsiteX4" fmla="*/ 1494 w 2574"/>
              <a:gd name="connsiteY4" fmla="*/ 0 h 8926"/>
              <a:gd name="connsiteX5" fmla="*/ 1494 w 2574"/>
              <a:gd name="connsiteY5" fmla="*/ 0 h 8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74" h="8926">
                <a:moveTo>
                  <a:pt x="1494" y="142"/>
                </a:moveTo>
                <a:lnTo>
                  <a:pt x="1494" y="0"/>
                </a:lnTo>
                <a:lnTo>
                  <a:pt x="2574" y="8926"/>
                </a:lnTo>
                <a:lnTo>
                  <a:pt x="0" y="8926"/>
                </a:lnTo>
                <a:lnTo>
                  <a:pt x="1494" y="0"/>
                </a:lnTo>
                <a:lnTo>
                  <a:pt x="1494"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6019799"/>
            <a:ext cx="3690451" cy="85266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cxnSp>
        <p:nvCxnSpPr>
          <p:cNvPr id="15" name="Straight Connector 14"/>
          <p:cNvCxnSpPr/>
          <p:nvPr/>
        </p:nvCxnSpPr>
        <p:spPr>
          <a:xfrm>
            <a:off x="0" y="5867400"/>
            <a:ext cx="3396272" cy="1004721"/>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304800" y="274638"/>
            <a:ext cx="85344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endParaRPr kumimoji="0" lang="en-US" dirty="0"/>
          </a:p>
        </p:txBody>
      </p:sp>
      <p:sp>
        <p:nvSpPr>
          <p:cNvPr id="30" name="Text Placeholder 29"/>
          <p:cNvSpPr>
            <a:spLocks noGrp="1"/>
          </p:cNvSpPr>
          <p:nvPr>
            <p:ph type="body" idx="1"/>
          </p:nvPr>
        </p:nvSpPr>
        <p:spPr>
          <a:xfrm>
            <a:off x="304800" y="1481328"/>
            <a:ext cx="85344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sp>
        <p:nvSpPr>
          <p:cNvPr id="10" name="Date Placeholder 9"/>
          <p:cNvSpPr>
            <a:spLocks noGrp="1"/>
          </p:cNvSpPr>
          <p:nvPr>
            <p:ph type="dt" sz="half" idx="2"/>
          </p:nvPr>
        </p:nvSpPr>
        <p:spPr>
          <a:xfrm>
            <a:off x="304800" y="6324600"/>
            <a:ext cx="1920240" cy="365760"/>
          </a:xfrm>
          <a:prstGeom prst="rect">
            <a:avLst/>
          </a:prstGeom>
        </p:spPr>
        <p:txBody>
          <a:bodyPr vert="horz" anchor="b"/>
          <a:lstStyle>
            <a:lvl1pPr algn="l" eaLnBrk="1" latinLnBrk="0" hangingPunct="1">
              <a:defRPr kumimoji="0" sz="1000">
                <a:solidFill>
                  <a:schemeClr val="tx1"/>
                </a:solidFill>
              </a:defRPr>
            </a:lvl1pPr>
            <a:extLst/>
          </a:lstStyle>
          <a:p>
            <a:fld id="{FBF629B3-B879-4CF5-8700-A6A31A6BAE1B}" type="datetime2">
              <a:rPr lang="en-US" smtClean="0"/>
              <a:t>Tuesday, March 10, 2026</a:t>
            </a:fld>
            <a:endParaRPr lang="en-US"/>
          </a:p>
        </p:txBody>
      </p:sp>
      <p:sp>
        <p:nvSpPr>
          <p:cNvPr id="22" name="Footer Placeholder 21"/>
          <p:cNvSpPr>
            <a:spLocks noGrp="1"/>
          </p:cNvSpPr>
          <p:nvPr>
            <p:ph type="ftr" sz="quarter" idx="3"/>
          </p:nvPr>
        </p:nvSpPr>
        <p:spPr>
          <a:xfrm>
            <a:off x="32766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311030"/>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dissolve/>
  </p:transition>
  <p:hf sldNum="0"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just" rtl="0" eaLnBrk="1" latinLnBrk="0" hangingPunct="1">
        <a:spcBef>
          <a:spcPts val="400"/>
        </a:spcBef>
        <a:spcAft>
          <a:spcPts val="0"/>
        </a:spcAft>
        <a:buClr>
          <a:schemeClr val="accent1"/>
        </a:buClr>
        <a:buSzPct val="68000"/>
        <a:buFont typeface="Wingdings" pitchFamily="2" charset="2"/>
        <a:buChar char="v"/>
        <a:defRPr kumimoji="0" sz="2800" kern="1200">
          <a:solidFill>
            <a:schemeClr val="tx1"/>
          </a:solidFill>
          <a:latin typeface="+mn-lt"/>
          <a:ea typeface="+mn-ea"/>
          <a:cs typeface="+mn-cs"/>
        </a:defRPr>
      </a:lvl1pPr>
      <a:lvl2pPr marL="621792" indent="-228600" algn="just" rtl="0" eaLnBrk="1" latinLnBrk="0" hangingPunct="1">
        <a:spcBef>
          <a:spcPts val="324"/>
        </a:spcBef>
        <a:buClr>
          <a:schemeClr val="accent1"/>
        </a:buClr>
        <a:buFont typeface="Wingdings" pitchFamily="2" charset="2"/>
        <a:buChar char="Ø"/>
        <a:defRPr kumimoji="0" sz="1800" kern="1200">
          <a:solidFill>
            <a:schemeClr val="tx1"/>
          </a:solidFill>
          <a:latin typeface="+mn-lt"/>
          <a:ea typeface="+mn-ea"/>
          <a:cs typeface="+mn-cs"/>
        </a:defRPr>
      </a:lvl2pPr>
      <a:lvl3pPr marL="859536" indent="-228600" algn="just" rtl="0" eaLnBrk="1" latinLnBrk="0" hangingPunct="1">
        <a:spcBef>
          <a:spcPts val="350"/>
        </a:spcBef>
        <a:buClr>
          <a:schemeClr val="accent2"/>
        </a:buClr>
        <a:buSzPct val="100000"/>
        <a:buFont typeface="Book Antiqua" pitchFamily="18" charset="0"/>
        <a:buChar char="►"/>
        <a:defRPr kumimoji="0" sz="1800" kern="1200">
          <a:solidFill>
            <a:schemeClr val="tx1"/>
          </a:solidFill>
          <a:latin typeface="+mn-lt"/>
          <a:ea typeface="+mn-ea"/>
          <a:cs typeface="+mn-cs"/>
        </a:defRPr>
      </a:lvl3pPr>
      <a:lvl4pPr marL="1143000" indent="-228600" algn="just" rtl="0" eaLnBrk="1" latinLnBrk="0" hangingPunct="1">
        <a:spcBef>
          <a:spcPts val="350"/>
        </a:spcBef>
        <a:buClr>
          <a:schemeClr val="accent2"/>
        </a:buClr>
        <a:buFont typeface="Wingdings" pitchFamily="2" charset="2"/>
        <a:buChar char="§"/>
        <a:defRPr kumimoji="0" sz="1600" kern="1200">
          <a:solidFill>
            <a:schemeClr val="tx1"/>
          </a:solidFill>
          <a:latin typeface="+mn-lt"/>
          <a:ea typeface="+mn-ea"/>
          <a:cs typeface="+mn-cs"/>
        </a:defRPr>
      </a:lvl4pPr>
      <a:lvl5pPr marL="1371600" indent="-228600" algn="just" rtl="0" eaLnBrk="1" latinLnBrk="0" hangingPunct="1">
        <a:spcBef>
          <a:spcPts val="350"/>
        </a:spcBef>
        <a:buClr>
          <a:schemeClr val="accent2"/>
        </a:buClr>
        <a:buFont typeface="Wingdings 2"/>
        <a:buChar char=""/>
        <a:defRPr kumimoji="0" sz="14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816095-3841-4875-84C3-55366F208F82}" type="datetime2">
              <a:rPr lang="en-US" smtClean="0"/>
              <a:t>Tuesday, March 10, 2026</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B7B898-8492-4198-9088-587B79373852}" type="slidenum">
              <a:rPr lang="en-US" smtClean="0"/>
              <a:pPr/>
              <a:t>‹#›</a:t>
            </a:fld>
            <a:endParaRPr lang="en-US"/>
          </a:p>
        </p:txBody>
      </p:sp>
      <p:sp>
        <p:nvSpPr>
          <p:cNvPr id="8" name="Footer Placeholder 21"/>
          <p:cNvSpPr>
            <a:spLocks noGrp="1"/>
          </p:cNvSpPr>
          <p:nvPr>
            <p:ph type="ftr" sz="quarter" idx="3"/>
          </p:nvPr>
        </p:nvSpPr>
        <p:spPr>
          <a:xfrm>
            <a:off x="2362200" y="6172200"/>
            <a:ext cx="4343400" cy="517525"/>
          </a:xfrm>
          <a:prstGeom prst="rect">
            <a:avLst/>
          </a:prstGeom>
        </p:spPr>
        <p:txBody>
          <a:bodyPr vert="horz" anchor="b"/>
          <a:lstStyle>
            <a:lvl1pPr algn="ctr" eaLnBrk="1" latinLnBrk="0" hangingPunct="1">
              <a:defRPr kumimoji="0" sz="1000">
                <a:solidFill>
                  <a:schemeClr val="tx1"/>
                </a:solidFill>
              </a:defRPr>
            </a:lvl1pPr>
            <a:extLst/>
          </a:lstStyle>
          <a:p>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FBF629B3-B879-4CF5-8700-A6A31A6BAE1B}" type="datetime2">
              <a:rPr lang="en-US" smtClean="0"/>
              <a:t>Tuesday, March 10, 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B6F15528-21DE-4FAA-801E-634DDDAF4B2B}" type="slidenum">
              <a:rPr lang="en-US" smtClean="0"/>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3301805"/>
      </p:ext>
    </p:extLst>
  </p:cSld>
  <p:clrMap bg1="lt1" tx1="dk1" bg2="lt2" tx2="dk2" accent1="accent1" accent2="accent2" accent3="accent3" accent4="accent4" accent5="accent5" accent6="accent6" hlink="hlink" folHlink="folHlink"/>
  <p:sldLayoutIdLst>
    <p:sldLayoutId id="2147483988" r:id="rId1"/>
    <p:sldLayoutId id="2147483989" r:id="rId2"/>
    <p:sldLayoutId id="2147483990" r:id="rId3"/>
    <p:sldLayoutId id="2147483991" r:id="rId4"/>
    <p:sldLayoutId id="2147483992" r:id="rId5"/>
    <p:sldLayoutId id="2147483993" r:id="rId6"/>
    <p:sldLayoutId id="2147483994" r:id="rId7"/>
    <p:sldLayoutId id="2147483995" r:id="rId8"/>
    <p:sldLayoutId id="2147483996" r:id="rId9"/>
    <p:sldLayoutId id="2147483997" r:id="rId10"/>
    <p:sldLayoutId id="2147483998" r:id="rId11"/>
  </p:sldLayoutIdLst>
  <p:transition>
    <p:dissolve/>
  </p:transition>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845734"/>
            <a:ext cx="75438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675">
                <a:solidFill>
                  <a:srgbClr val="FFFFFF"/>
                </a:solidFill>
              </a:defRPr>
            </a:lvl1pPr>
          </a:lstStyle>
          <a:p>
            <a:fld id="{FBF629B3-B879-4CF5-8700-A6A31A6BAE1B}" type="datetime2">
              <a:rPr lang="en-US" smtClean="0"/>
              <a:t>Tuesday, March 10, 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788">
                <a:solidFill>
                  <a:srgbClr val="FFFFFF"/>
                </a:solidFill>
              </a:defRPr>
            </a:lvl1pPr>
          </a:lstStyle>
          <a:p>
            <a:fld id="{B6F15528-21DE-4FAA-801E-634DDDAF4B2B}" type="slidenum">
              <a:rPr lang="en-US" smtClean="0"/>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7174515"/>
      </p:ext>
    </p:extLst>
  </p:cSld>
  <p:clrMap bg1="lt1" tx1="dk1" bg2="lt2" tx2="dk2" accent1="accent1" accent2="accent2" accent3="accent3" accent4="accent4" accent5="accent5" accent6="accent6" hlink="hlink" folHlink="folHlink"/>
  <p:sldLayoutIdLst>
    <p:sldLayoutId id="2147484000" r:id="rId1"/>
    <p:sldLayoutId id="2147484001" r:id="rId2"/>
    <p:sldLayoutId id="2147484002" r:id="rId3"/>
    <p:sldLayoutId id="2147484003" r:id="rId4"/>
    <p:sldLayoutId id="2147484004" r:id="rId5"/>
    <p:sldLayoutId id="2147484005" r:id="rId6"/>
    <p:sldLayoutId id="2147484006" r:id="rId7"/>
    <p:sldLayoutId id="2147484007" r:id="rId8"/>
    <p:sldLayoutId id="2147484008" r:id="rId9"/>
    <p:sldLayoutId id="2147484009" r:id="rId10"/>
    <p:sldLayoutId id="2147484010" r:id="rId11"/>
    <p:sldLayoutId id="2147484011" r:id="rId12"/>
    <p:sldLayoutId id="2147484012" r:id="rId13"/>
  </p:sldLayoutIdLst>
  <p:hf sldNum="0"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5.xml"/></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29.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5.xml"/></Relationships>
</file>

<file path=ppt/slides/_rels/slide6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40.xml"/><Relationship Id="rId1" Type="http://schemas.openxmlformats.org/officeDocument/2006/relationships/slideLayout" Target="../slideLayouts/slideLayout25.xml"/></Relationships>
</file>

<file path=ppt/slides/_rels/slide7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29.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5.xml"/></Relationships>
</file>

<file path=ppt/slides/_rels/slide7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4.xml"/><Relationship Id="rId1" Type="http://schemas.openxmlformats.org/officeDocument/2006/relationships/slideLayout" Target="../slideLayouts/slideLayout25.xml"/></Relationships>
</file>

<file path=ppt/slides/_rels/slide7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29.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5.xml"/></Relationships>
</file>

<file path=ppt/slides/_rels/slide7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9.xml"/><Relationship Id="rId1" Type="http://schemas.openxmlformats.org/officeDocument/2006/relationships/slideLayout" Target="../slideLayouts/slideLayout25.xml"/></Relationships>
</file>

<file path=ppt/slides/_rels/slide7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2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5.xml"/></Relationships>
</file>

<file path=ppt/slides/_rels/slide8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3.xml"/><Relationship Id="rId1" Type="http://schemas.openxmlformats.org/officeDocument/2006/relationships/slideLayout" Target="../slideLayouts/slideLayout29.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5.xml"/></Relationships>
</file>

<file path=ppt/slides/_rels/slide8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55.xml"/><Relationship Id="rId1" Type="http://schemas.openxmlformats.org/officeDocument/2006/relationships/slideLayout" Target="../slideLayouts/slideLayout25.xml"/><Relationship Id="rId5" Type="http://schemas.openxmlformats.org/officeDocument/2006/relationships/image" Target="../media/image23.emf"/><Relationship Id="rId4" Type="http://schemas.openxmlformats.org/officeDocument/2006/relationships/image" Target="../media/image22.emf"/></Relationships>
</file>

<file path=ppt/slides/_rels/slide8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6.xml"/><Relationship Id="rId1" Type="http://schemas.openxmlformats.org/officeDocument/2006/relationships/slideLayout" Target="../slideLayouts/slideLayout25.xml"/><Relationship Id="rId5" Type="http://schemas.openxmlformats.org/officeDocument/2006/relationships/image" Target="../media/image26.emf"/><Relationship Id="rId4" Type="http://schemas.openxmlformats.org/officeDocument/2006/relationships/image" Target="../media/image25.png"/></Relationships>
</file>

<file path=ppt/slides/_rels/slide8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5.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9.xml"/></Relationships>
</file>

<file path=ppt/slides/_rels/slide9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5.xml"/></Relationships>
</file>

<file path=ppt/slides/_rels/slide10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5.xml"/></Relationships>
</file>

<file path=ppt/slides/_rels/slide10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5.xml"/></Relationships>
</file>

<file path=ppt/slides/_rels/slide10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5.xml"/></Relationships>
</file>

<file path=ppt/slides/_rels/slide10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5.xml"/></Relationships>
</file>

<file path=ppt/slides/_rels/slide10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5.xml"/></Relationships>
</file>

<file path=ppt/slides/_rels/slide10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5.xml"/></Relationships>
</file>

<file path=ppt/slides/_rels/slide10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5.xml"/></Relationships>
</file>

<file path=ppt/slides/_rels/slide10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5.xml"/></Relationships>
</file>

<file path=ppt/slides/_rels/slide10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5.xml"/></Relationships>
</file>

<file path=ppt/slides/_rels/slide1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5.xml"/></Relationships>
</file>

<file path=ppt/slides/_rels/slide1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5.xml"/></Relationships>
</file>

<file path=ppt/slides/_rels/slide1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5.xml"/></Relationships>
</file>

<file path=ppt/slides/_rels/slide1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5.xml"/></Relationships>
</file>

<file path=ppt/slides/_rels/slide11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5.xml"/></Relationships>
</file>

<file path=ppt/slides/_rels/slide11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5.xml"/></Relationships>
</file>

<file path=ppt/slides/_rels/slide11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5.xml"/></Relationships>
</file>

<file path=ppt/slides/_rels/slide11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5.xml"/></Relationships>
</file>

<file path=ppt/slides/_rels/slide1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5.xml"/></Relationships>
</file>

<file path=ppt/slides/_rels/slide1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5.xml"/></Relationships>
</file>

<file path=ppt/slides/_rels/slide12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5.xml"/></Relationships>
</file>

<file path=ppt/slides/_rels/slide121.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5.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2286000"/>
          </a:xfrm>
        </p:spPr>
        <p:txBody>
          <a:bodyPr>
            <a:normAutofit/>
          </a:bodyPr>
          <a:lstStyle/>
          <a:p>
            <a:pPr algn="ctr"/>
            <a:r>
              <a:rPr lang="en-US" sz="3200" b="1" dirty="0" smtClean="0"/>
              <a:t>MODULE – 2</a:t>
            </a:r>
            <a:br>
              <a:rPr lang="en-US" sz="3200" b="1" dirty="0" smtClean="0"/>
            </a:br>
            <a:endParaRPr lang="en-US" sz="3200" b="1" dirty="0"/>
          </a:p>
        </p:txBody>
      </p:sp>
      <p:sp>
        <p:nvSpPr>
          <p:cNvPr id="3" name="Subtitle 2"/>
          <p:cNvSpPr>
            <a:spLocks noGrp="1"/>
          </p:cNvSpPr>
          <p:nvPr>
            <p:ph type="subTitle" idx="1"/>
          </p:nvPr>
        </p:nvSpPr>
        <p:spPr/>
        <p:txBody>
          <a:bodyPr>
            <a:noAutofit/>
          </a:bodyPr>
          <a:lstStyle/>
          <a:p>
            <a:pPr algn="ctr"/>
            <a:r>
              <a:rPr lang="en-US" sz="2000" b="1" dirty="0" smtClean="0"/>
              <a:t>Prepared by Mushtaq Ahmed D.M Assistant Professor, </a:t>
            </a:r>
          </a:p>
          <a:p>
            <a:pPr algn="ctr"/>
            <a:r>
              <a:rPr lang="en-US" sz="2000" b="1" dirty="0" smtClean="0"/>
              <a:t>Dept. of ISE</a:t>
            </a:r>
            <a:endParaRPr lang="en-US" sz="2000" b="1" dirty="0"/>
          </a:p>
        </p:txBody>
      </p:sp>
      <p:sp>
        <p:nvSpPr>
          <p:cNvPr id="4" name="TextBox 3"/>
          <p:cNvSpPr txBox="1"/>
          <p:nvPr/>
        </p:nvSpPr>
        <p:spPr>
          <a:xfrm>
            <a:off x="0" y="1981200"/>
            <a:ext cx="9144000" cy="1938992"/>
          </a:xfrm>
          <a:prstGeom prst="rect">
            <a:avLst/>
          </a:prstGeom>
          <a:noFill/>
        </p:spPr>
        <p:txBody>
          <a:bodyPr wrap="square" rtlCol="0">
            <a:spAutoFit/>
          </a:bodyPr>
          <a:lstStyle/>
          <a:p>
            <a:pPr lvl="0" algn="ctr">
              <a:spcBef>
                <a:spcPct val="0"/>
              </a:spcBef>
              <a:defRPr/>
            </a:pPr>
            <a:r>
              <a:rPr lang="en-US" sz="2400" b="1" cap="all" dirty="0">
                <a:solidFill>
                  <a:schemeClr val="tx2"/>
                </a:solidFill>
              </a:rPr>
              <a:t>Relational Model</a:t>
            </a:r>
          </a:p>
          <a:p>
            <a:pPr lvl="0" algn="ctr">
              <a:spcBef>
                <a:spcPct val="0"/>
              </a:spcBef>
              <a:defRPr/>
            </a:pPr>
            <a:endParaRPr lang="en-US" sz="2400" b="1" cap="all" dirty="0">
              <a:solidFill>
                <a:schemeClr val="tx2"/>
              </a:solidFill>
            </a:endParaRPr>
          </a:p>
          <a:p>
            <a:pPr lvl="0" algn="ctr">
              <a:spcBef>
                <a:spcPct val="0"/>
              </a:spcBef>
              <a:defRPr/>
            </a:pPr>
            <a:r>
              <a:rPr lang="en-US" sz="2400" b="1" cap="all" dirty="0">
                <a:solidFill>
                  <a:schemeClr val="tx2"/>
                </a:solidFill>
              </a:rPr>
              <a:t>Relational Algebra</a:t>
            </a:r>
          </a:p>
          <a:p>
            <a:pPr lvl="0" algn="ctr">
              <a:spcBef>
                <a:spcPct val="0"/>
              </a:spcBef>
              <a:defRPr/>
            </a:pPr>
            <a:endParaRPr lang="en-US" sz="2400" b="1" cap="all" dirty="0">
              <a:solidFill>
                <a:schemeClr val="tx2"/>
              </a:solidFill>
            </a:endParaRPr>
          </a:p>
          <a:p>
            <a:pPr lvl="0" algn="ctr">
              <a:spcBef>
                <a:spcPct val="0"/>
              </a:spcBef>
              <a:defRPr/>
            </a:pPr>
            <a:r>
              <a:rPr lang="en-US" sz="2400" b="1" cap="all" dirty="0">
                <a:solidFill>
                  <a:schemeClr val="tx2"/>
                </a:solidFill>
              </a:rPr>
              <a:t>Mapping Conceptual Design into a Logical Design</a:t>
            </a:r>
          </a:p>
        </p:txBody>
      </p:sp>
    </p:spTree>
    <p:extLst>
      <p:ext uri="{BB962C8B-B14F-4D97-AF65-F5344CB8AC3E}">
        <p14:creationId xmlns:p14="http://schemas.microsoft.com/office/powerpoint/2010/main" val="35160327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22960" y="286605"/>
            <a:ext cx="7543800" cy="627796"/>
          </a:xfrm>
        </p:spPr>
        <p:txBody>
          <a:bodyPr>
            <a:normAutofit fontScale="90000"/>
          </a:bodyPr>
          <a:lstStyle/>
          <a:p>
            <a:r>
              <a:rPr lang="en-US" dirty="0"/>
              <a:t>Relational Model Concepts</a:t>
            </a:r>
          </a:p>
        </p:txBody>
      </p:sp>
      <p:sp>
        <p:nvSpPr>
          <p:cNvPr id="2" name="Content Placeholder 1"/>
          <p:cNvSpPr>
            <a:spLocks noGrp="1"/>
          </p:cNvSpPr>
          <p:nvPr>
            <p:ph idx="1"/>
          </p:nvPr>
        </p:nvSpPr>
        <p:spPr>
          <a:xfrm>
            <a:off x="190500" y="912342"/>
            <a:ext cx="8763000" cy="5488458"/>
          </a:xfrm>
        </p:spPr>
        <p:txBody>
          <a:bodyPr>
            <a:normAutofit lnSpcReduction="10000"/>
          </a:bodyPr>
          <a:lstStyle/>
          <a:p>
            <a:pPr algn="just">
              <a:lnSpc>
                <a:spcPct val="150000"/>
              </a:lnSpc>
              <a:spcBef>
                <a:spcPts val="0"/>
              </a:spcBef>
              <a:spcAft>
                <a:spcPts val="0"/>
              </a:spcAft>
              <a:buFont typeface="Arial" panose="020B0604020202020204" pitchFamily="34" charset="0"/>
              <a:buChar char="•"/>
              <a:defRPr/>
            </a:pPr>
            <a:r>
              <a:rPr lang="en-US" dirty="0"/>
              <a:t>The relational Model of Data is based on the concept of a Relation.</a:t>
            </a:r>
          </a:p>
          <a:p>
            <a:pPr algn="just">
              <a:lnSpc>
                <a:spcPct val="150000"/>
              </a:lnSpc>
              <a:spcBef>
                <a:spcPts val="0"/>
              </a:spcBef>
              <a:spcAft>
                <a:spcPts val="0"/>
              </a:spcAft>
              <a:buFont typeface="Arial" panose="020B0604020202020204" pitchFamily="34" charset="0"/>
              <a:buChar char="•"/>
              <a:defRPr/>
            </a:pPr>
            <a:r>
              <a:rPr lang="en-US" dirty="0"/>
              <a:t>A Relation is a mathematical concept based on the ideas of sets.</a:t>
            </a:r>
          </a:p>
          <a:p>
            <a:pPr algn="just">
              <a:lnSpc>
                <a:spcPct val="150000"/>
              </a:lnSpc>
              <a:spcBef>
                <a:spcPts val="0"/>
              </a:spcBef>
              <a:spcAft>
                <a:spcPts val="0"/>
              </a:spcAft>
              <a:buFont typeface="Arial" panose="020B0604020202020204" pitchFamily="34" charset="0"/>
              <a:buChar char="•"/>
            </a:pPr>
            <a:r>
              <a:rPr lang="en-IN" sz="2100" dirty="0" smtClean="0"/>
              <a:t>When </a:t>
            </a:r>
            <a:r>
              <a:rPr lang="en-IN" sz="2100" dirty="0"/>
              <a:t>a relation is thought of as a table of values, each row(tuple) in the table represents a collection of related data values. </a:t>
            </a:r>
          </a:p>
          <a:p>
            <a:pPr algn="just">
              <a:lnSpc>
                <a:spcPct val="150000"/>
              </a:lnSpc>
              <a:spcBef>
                <a:spcPts val="0"/>
              </a:spcBef>
              <a:spcAft>
                <a:spcPts val="0"/>
              </a:spcAft>
              <a:buFont typeface="Arial" panose="020B0604020202020204" pitchFamily="34" charset="0"/>
              <a:buChar char="•"/>
            </a:pPr>
            <a:r>
              <a:rPr lang="en-IN" sz="2100" dirty="0"/>
              <a:t>A row(tuple) represents a fact that typically corresponds to a real-world entity or relationship. </a:t>
            </a:r>
          </a:p>
          <a:p>
            <a:pPr algn="just">
              <a:lnSpc>
                <a:spcPct val="150000"/>
              </a:lnSpc>
              <a:spcBef>
                <a:spcPts val="0"/>
              </a:spcBef>
              <a:spcAft>
                <a:spcPts val="0"/>
              </a:spcAft>
              <a:buFont typeface="Arial" panose="020B0604020202020204" pitchFamily="34" charset="0"/>
              <a:buChar char="•"/>
            </a:pPr>
            <a:r>
              <a:rPr lang="en-IN" sz="2100" dirty="0"/>
              <a:t>The table name and column names are used to help to interpret the meaning of the values in each row.</a:t>
            </a:r>
          </a:p>
          <a:p>
            <a:pPr algn="just">
              <a:lnSpc>
                <a:spcPct val="150000"/>
              </a:lnSpc>
              <a:spcBef>
                <a:spcPts val="0"/>
              </a:spcBef>
              <a:spcAft>
                <a:spcPts val="0"/>
              </a:spcAft>
              <a:buFont typeface="Arial" panose="020B0604020202020204" pitchFamily="34" charset="0"/>
              <a:buChar char="•"/>
            </a:pPr>
            <a:r>
              <a:rPr lang="en-IN" dirty="0"/>
              <a:t>In the formal relational model terminology</a:t>
            </a:r>
          </a:p>
          <a:p>
            <a:pPr marL="0" indent="0" algn="just">
              <a:lnSpc>
                <a:spcPct val="150000"/>
              </a:lnSpc>
              <a:spcBef>
                <a:spcPts val="0"/>
              </a:spcBef>
              <a:spcAft>
                <a:spcPts val="0"/>
              </a:spcAft>
              <a:buNone/>
            </a:pPr>
            <a:r>
              <a:rPr lang="en-IN" dirty="0"/>
              <a:t>	 (</a:t>
            </a:r>
            <a:r>
              <a:rPr lang="en-IN" dirty="0" err="1"/>
              <a:t>i</a:t>
            </a:r>
            <a:r>
              <a:rPr lang="en-IN" dirty="0"/>
              <a:t>) a row is called a tuple</a:t>
            </a:r>
          </a:p>
          <a:p>
            <a:pPr marL="0" indent="0" algn="just">
              <a:lnSpc>
                <a:spcPct val="150000"/>
              </a:lnSpc>
              <a:spcBef>
                <a:spcPts val="0"/>
              </a:spcBef>
              <a:spcAft>
                <a:spcPts val="0"/>
              </a:spcAft>
              <a:buNone/>
            </a:pPr>
            <a:r>
              <a:rPr lang="en-IN" dirty="0"/>
              <a:t>	(ii) a column header is called an attribute</a:t>
            </a:r>
          </a:p>
          <a:p>
            <a:pPr marL="0" indent="0" algn="just">
              <a:lnSpc>
                <a:spcPct val="150000"/>
              </a:lnSpc>
              <a:spcBef>
                <a:spcPts val="0"/>
              </a:spcBef>
              <a:spcAft>
                <a:spcPts val="0"/>
              </a:spcAft>
              <a:buNone/>
            </a:pPr>
            <a:r>
              <a:rPr lang="en-IN" dirty="0"/>
              <a:t>	(iii) the table is called a relation. </a:t>
            </a:r>
            <a:endParaRPr lang="en-US" dirty="0"/>
          </a:p>
          <a:p>
            <a:pPr algn="just">
              <a:lnSpc>
                <a:spcPct val="90000"/>
              </a:lnSpc>
              <a:defRPr/>
            </a:pPr>
            <a:endParaRPr lang="en-US" dirty="0"/>
          </a:p>
          <a:p>
            <a:pPr algn="just"/>
            <a:endParaRPr lang="en-US" dirty="0"/>
          </a:p>
        </p:txBody>
      </p:sp>
    </p:spTree>
  </p:cSld>
  <p:clrMapOvr>
    <a:masterClrMapping/>
  </p:clrMapOvr>
  <p:transition>
    <p:dissolv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46406" y="609600"/>
            <a:ext cx="7543800" cy="780196"/>
          </a:xfrm>
        </p:spPr>
        <p:txBody>
          <a:bodyPr>
            <a:normAutofit/>
          </a:bodyPr>
          <a:lstStyle/>
          <a:p>
            <a:r>
              <a:rPr lang="en-US" sz="4400" b="1" dirty="0"/>
              <a:t>Informal</a:t>
            </a:r>
            <a:r>
              <a:rPr lang="en-US" b="1" dirty="0"/>
              <a:t> </a:t>
            </a:r>
            <a:r>
              <a:rPr lang="en-US" sz="4400" b="1" dirty="0"/>
              <a:t>Definitions</a:t>
            </a:r>
          </a:p>
        </p:txBody>
      </p:sp>
      <p:sp>
        <p:nvSpPr>
          <p:cNvPr id="2" name="Content Placeholder 1"/>
          <p:cNvSpPr>
            <a:spLocks noGrp="1"/>
          </p:cNvSpPr>
          <p:nvPr>
            <p:ph idx="1"/>
          </p:nvPr>
        </p:nvSpPr>
        <p:spPr>
          <a:xfrm>
            <a:off x="822959" y="1981200"/>
            <a:ext cx="7543801" cy="4023360"/>
          </a:xfrm>
        </p:spPr>
        <p:txBody>
          <a:bodyPr>
            <a:normAutofit/>
          </a:bodyPr>
          <a:lstStyle/>
          <a:p>
            <a:pPr algn="just"/>
            <a:r>
              <a:rPr lang="en-US" dirty="0"/>
              <a:t>RELATION:  A table of values</a:t>
            </a:r>
          </a:p>
          <a:p>
            <a:pPr lvl="1" algn="just">
              <a:lnSpc>
                <a:spcPct val="90000"/>
              </a:lnSpc>
            </a:pPr>
            <a:r>
              <a:rPr lang="en-US" sz="2000" dirty="0"/>
              <a:t>A relation may be thought of as a </a:t>
            </a:r>
            <a:r>
              <a:rPr lang="en-US" sz="2000" b="1" dirty="0"/>
              <a:t>set of rows</a:t>
            </a:r>
            <a:r>
              <a:rPr lang="en-US" sz="2000" dirty="0"/>
              <a:t>.</a:t>
            </a:r>
          </a:p>
          <a:p>
            <a:pPr lvl="1" algn="just">
              <a:lnSpc>
                <a:spcPct val="90000"/>
              </a:lnSpc>
            </a:pPr>
            <a:r>
              <a:rPr lang="en-US" sz="2000" dirty="0"/>
              <a:t>A relation may alternately be though of as a </a:t>
            </a:r>
            <a:r>
              <a:rPr lang="en-US" sz="2000" b="1" dirty="0"/>
              <a:t>set of columns</a:t>
            </a:r>
            <a:r>
              <a:rPr lang="en-US" sz="2000" dirty="0"/>
              <a:t>.</a:t>
            </a:r>
          </a:p>
          <a:p>
            <a:pPr lvl="1" algn="just">
              <a:lnSpc>
                <a:spcPct val="90000"/>
              </a:lnSpc>
            </a:pPr>
            <a:r>
              <a:rPr lang="en-US" sz="2000" dirty="0"/>
              <a:t>Each row represents a fact that corresponds to a real-world </a:t>
            </a:r>
            <a:r>
              <a:rPr lang="en-US" sz="2000" b="1" dirty="0"/>
              <a:t>entity</a:t>
            </a:r>
            <a:r>
              <a:rPr lang="en-US" sz="2000" dirty="0"/>
              <a:t> or </a:t>
            </a:r>
            <a:r>
              <a:rPr lang="en-US" sz="2000" b="1" dirty="0"/>
              <a:t>relationship</a:t>
            </a:r>
            <a:r>
              <a:rPr lang="en-US" sz="2000" dirty="0"/>
              <a:t>.</a:t>
            </a:r>
          </a:p>
          <a:p>
            <a:pPr lvl="1" algn="just">
              <a:lnSpc>
                <a:spcPct val="90000"/>
              </a:lnSpc>
            </a:pPr>
            <a:r>
              <a:rPr lang="en-US" sz="2000" dirty="0"/>
              <a:t>Each row has a value of an item or set of items that uniquely identifies that row in the table.</a:t>
            </a:r>
          </a:p>
          <a:p>
            <a:pPr lvl="1" algn="just">
              <a:lnSpc>
                <a:spcPct val="90000"/>
              </a:lnSpc>
            </a:pPr>
            <a:r>
              <a:rPr lang="en-US" sz="2000" dirty="0"/>
              <a:t>Sometimes row-ids or sequential numbers are assigned to identify the rows in the table.</a:t>
            </a:r>
          </a:p>
          <a:p>
            <a:pPr lvl="1" algn="just">
              <a:lnSpc>
                <a:spcPct val="90000"/>
              </a:lnSpc>
            </a:pPr>
            <a:r>
              <a:rPr lang="en-US" sz="2000" dirty="0"/>
              <a:t>Each column typically is called by its column name or column header or attribute name.</a:t>
            </a:r>
          </a:p>
          <a:p>
            <a:pPr algn="just"/>
            <a:endParaRPr lang="en-US" dirty="0"/>
          </a:p>
        </p:txBody>
      </p:sp>
    </p:spTree>
  </p:cSld>
  <p:clrMapOvr>
    <a:masterClrMapping/>
  </p:clrMapOvr>
  <p:transition>
    <p:dissolv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22960" y="414387"/>
            <a:ext cx="7543800" cy="551595"/>
          </a:xfrm>
        </p:spPr>
        <p:txBody>
          <a:bodyPr>
            <a:noAutofit/>
          </a:bodyPr>
          <a:lstStyle/>
          <a:p>
            <a:pPr algn="just"/>
            <a:r>
              <a:rPr lang="en-US" sz="2800" b="1" dirty="0"/>
              <a:t>Domains, Attributes, Tuples and Relations</a:t>
            </a:r>
          </a:p>
        </p:txBody>
      </p:sp>
      <p:sp>
        <p:nvSpPr>
          <p:cNvPr id="2" name="Content Placeholder 1"/>
          <p:cNvSpPr>
            <a:spLocks noGrp="1"/>
          </p:cNvSpPr>
          <p:nvPr>
            <p:ph idx="1"/>
          </p:nvPr>
        </p:nvSpPr>
        <p:spPr>
          <a:xfrm>
            <a:off x="213360" y="990600"/>
            <a:ext cx="8763000" cy="5548184"/>
          </a:xfrm>
        </p:spPr>
        <p:txBody>
          <a:bodyPr>
            <a:normAutofit/>
          </a:bodyPr>
          <a:lstStyle/>
          <a:p>
            <a:pPr algn="just"/>
            <a:r>
              <a:rPr lang="en-US" dirty="0"/>
              <a:t>Domain</a:t>
            </a:r>
          </a:p>
          <a:p>
            <a:pPr lvl="1" algn="just">
              <a:buFont typeface="Arial" panose="020B0604020202020204" pitchFamily="34" charset="0"/>
              <a:buChar char="•"/>
            </a:pPr>
            <a:r>
              <a:rPr lang="en-US" dirty="0"/>
              <a:t>A </a:t>
            </a:r>
            <a:r>
              <a:rPr lang="en-US" b="1" dirty="0"/>
              <a:t>domain</a:t>
            </a:r>
            <a:r>
              <a:rPr lang="en-US" dirty="0"/>
              <a:t> D is a set of atomic values.</a:t>
            </a:r>
          </a:p>
          <a:p>
            <a:pPr lvl="1" algn="just">
              <a:buFont typeface="Arial" panose="020B0604020202020204" pitchFamily="34" charset="0"/>
              <a:buChar char="•"/>
            </a:pPr>
            <a:endParaRPr lang="en-US" dirty="0"/>
          </a:p>
          <a:p>
            <a:pPr lvl="1" algn="just">
              <a:buFont typeface="Arial" panose="020B0604020202020204" pitchFamily="34" charset="0"/>
              <a:buChar char="•"/>
            </a:pPr>
            <a:r>
              <a:rPr lang="en-US" dirty="0"/>
              <a:t>Atomic means that each value in the domain is indivisible as far as the relational model is concerned.</a:t>
            </a:r>
          </a:p>
          <a:p>
            <a:pPr lvl="1" algn="just">
              <a:buFont typeface="Arial" panose="020B0604020202020204" pitchFamily="34" charset="0"/>
              <a:buChar char="•"/>
            </a:pPr>
            <a:r>
              <a:rPr lang="en-IN" dirty="0" err="1"/>
              <a:t>Usa_phone_numbers</a:t>
            </a:r>
            <a:r>
              <a:rPr lang="en-IN" dirty="0"/>
              <a:t>. The set of ten-digit phone numbers valid in the United States.</a:t>
            </a:r>
          </a:p>
          <a:p>
            <a:pPr lvl="1" algn="just">
              <a:buFont typeface="Arial" panose="020B0604020202020204" pitchFamily="34" charset="0"/>
              <a:buChar char="•"/>
            </a:pPr>
            <a:r>
              <a:rPr lang="en-IN" dirty="0" err="1"/>
              <a:t>Social_security_numbers</a:t>
            </a:r>
            <a:r>
              <a:rPr lang="en-IN" dirty="0"/>
              <a:t>. The set of valid nine-digit Social Security numbers. (This is a unique identifier assigned to each person in the United States for employment, tax, and benefits purposes.)</a:t>
            </a:r>
          </a:p>
          <a:p>
            <a:pPr lvl="1" algn="just">
              <a:buFont typeface="Arial" panose="020B0604020202020204" pitchFamily="34" charset="0"/>
              <a:buChar char="•"/>
            </a:pPr>
            <a:r>
              <a:rPr lang="en-IN" sz="1800" b="0" i="0" u="none" strike="noStrike" baseline="0" dirty="0" err="1">
                <a:latin typeface="AkzidenzGroteskBE-Regular"/>
              </a:rPr>
              <a:t>Employee_ages</a:t>
            </a:r>
            <a:r>
              <a:rPr lang="en-IN" sz="1800" b="0" i="0" u="none" strike="noStrike" baseline="0" dirty="0">
                <a:latin typeface="MinionPro-Regular"/>
              </a:rPr>
              <a:t>. Possible ages of employees in a company; each must be an integer value between 15 and 80.</a:t>
            </a:r>
            <a:endParaRPr lang="en-IN" dirty="0"/>
          </a:p>
          <a:p>
            <a:pPr lvl="1" algn="just">
              <a:buFont typeface="Arial" panose="020B0604020202020204" pitchFamily="34" charset="0"/>
              <a:buChar char="•"/>
            </a:pPr>
            <a:r>
              <a:rPr lang="en-IN" dirty="0"/>
              <a:t>A data type or format is also specified for each domain. </a:t>
            </a:r>
          </a:p>
          <a:p>
            <a:pPr marL="201168" lvl="1" indent="0" algn="just">
              <a:buNone/>
            </a:pPr>
            <a:r>
              <a:rPr lang="en-IN" dirty="0"/>
              <a:t>    * For example, the data type for the domain </a:t>
            </a:r>
            <a:r>
              <a:rPr lang="en-IN" dirty="0" err="1"/>
              <a:t>Usa_phone_numbers</a:t>
            </a:r>
            <a:r>
              <a:rPr lang="en-IN" dirty="0"/>
              <a:t> can be declared as a </a:t>
            </a:r>
          </a:p>
          <a:p>
            <a:pPr marL="201168" lvl="1" indent="0" algn="just">
              <a:buNone/>
            </a:pPr>
            <a:r>
              <a:rPr lang="en-IN" dirty="0"/>
              <a:t>    character string of the form (</a:t>
            </a:r>
            <a:r>
              <a:rPr lang="en-IN" dirty="0" err="1"/>
              <a:t>ddd</a:t>
            </a:r>
            <a:r>
              <a:rPr lang="en-IN" dirty="0"/>
              <a:t>)</a:t>
            </a:r>
            <a:r>
              <a:rPr lang="en-IN" dirty="0" err="1"/>
              <a:t>ddd-dddd</a:t>
            </a:r>
            <a:r>
              <a:rPr lang="en-IN" dirty="0"/>
              <a:t>, where each d is a numeric (decimal) digit and   </a:t>
            </a:r>
          </a:p>
          <a:p>
            <a:pPr marL="201168" lvl="1" indent="0" algn="just">
              <a:buNone/>
            </a:pPr>
            <a:r>
              <a:rPr lang="en-IN" dirty="0"/>
              <a:t>     the first three digits form a valid telephone area code</a:t>
            </a:r>
          </a:p>
          <a:p>
            <a:pPr algn="l"/>
            <a:r>
              <a:rPr lang="en-IN" dirty="0"/>
              <a:t>    * </a:t>
            </a:r>
            <a:r>
              <a:rPr lang="en-IN" sz="1800" b="0" i="0" u="none" strike="noStrike" baseline="0" dirty="0">
                <a:latin typeface="MinionPro-Regular"/>
              </a:rPr>
              <a:t>The data type for </a:t>
            </a:r>
            <a:r>
              <a:rPr lang="en-IN" sz="1800" b="0" i="0" u="none" strike="noStrike" baseline="0" dirty="0" err="1">
                <a:latin typeface="AkzidenzGroteskBE-Regular"/>
              </a:rPr>
              <a:t>Employee_ages</a:t>
            </a:r>
            <a:r>
              <a:rPr lang="en-IN" sz="1800" b="0" i="0" u="none" strike="noStrike" baseline="0" dirty="0">
                <a:latin typeface="AkzidenzGroteskBE-Regular"/>
              </a:rPr>
              <a:t> </a:t>
            </a:r>
            <a:r>
              <a:rPr lang="en-IN" sz="1800" b="0" i="0" u="none" strike="noStrike" baseline="0" dirty="0">
                <a:latin typeface="MinionPro-Regular"/>
              </a:rPr>
              <a:t>is an integer number between 15 and 80.</a:t>
            </a:r>
            <a:endParaRPr lang="en-US" dirty="0"/>
          </a:p>
          <a:p>
            <a:pPr lvl="1" algn="just">
              <a:buFont typeface="Arial" panose="020B0604020202020204" pitchFamily="34" charset="0"/>
              <a:buChar char="•"/>
            </a:pPr>
            <a:endParaRPr lang="en-US" dirty="0"/>
          </a:p>
          <a:p>
            <a:pPr algn="just">
              <a:buFont typeface="Arial" panose="020B0604020202020204" pitchFamily="34" charset="0"/>
              <a:buChar char="•"/>
            </a:pPr>
            <a:endParaRPr lang="en-US" dirty="0"/>
          </a:p>
          <a:p>
            <a:pPr algn="just"/>
            <a:endParaRPr lang="en-US" dirty="0"/>
          </a:p>
        </p:txBody>
      </p:sp>
    </p:spTree>
  </p:cSld>
  <p:clrMapOvr>
    <a:masterClrMapping/>
  </p:clrMapOvr>
  <p:transition>
    <p:dissolv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22960" y="286605"/>
            <a:ext cx="7543800" cy="399195"/>
          </a:xfrm>
        </p:spPr>
        <p:txBody>
          <a:bodyPr>
            <a:noAutofit/>
          </a:bodyPr>
          <a:lstStyle/>
          <a:p>
            <a:pPr algn="just"/>
            <a:r>
              <a:rPr lang="en-US" sz="2800" dirty="0"/>
              <a:t>Domains, Attributes, Tuples and Relations</a:t>
            </a:r>
          </a:p>
        </p:txBody>
      </p:sp>
      <p:sp>
        <p:nvSpPr>
          <p:cNvPr id="2" name="Content Placeholder 1"/>
          <p:cNvSpPr>
            <a:spLocks noGrp="1"/>
          </p:cNvSpPr>
          <p:nvPr>
            <p:ph idx="1"/>
          </p:nvPr>
        </p:nvSpPr>
        <p:spPr>
          <a:xfrm>
            <a:off x="190500" y="305140"/>
            <a:ext cx="8763000" cy="5943260"/>
          </a:xfrm>
        </p:spPr>
        <p:txBody>
          <a:bodyPr>
            <a:normAutofit fontScale="92500" lnSpcReduction="10000"/>
          </a:bodyPr>
          <a:lstStyle/>
          <a:p>
            <a:pPr lvl="1" algn="just">
              <a:buFont typeface="Arial" panose="020B0604020202020204" pitchFamily="34" charset="0"/>
              <a:buChar char="•"/>
            </a:pPr>
            <a:endParaRPr lang="en-US" dirty="0"/>
          </a:p>
          <a:p>
            <a:pPr algn="just">
              <a:buFont typeface="Arial" panose="020B0604020202020204" pitchFamily="34" charset="0"/>
              <a:buChar char="•"/>
            </a:pPr>
            <a:r>
              <a:rPr lang="en-US" dirty="0"/>
              <a:t>Relation Schema</a:t>
            </a:r>
          </a:p>
          <a:p>
            <a:pPr lvl="1" algn="just">
              <a:buFont typeface="Arial" panose="020B0604020202020204" pitchFamily="34" charset="0"/>
              <a:buChar char="•"/>
            </a:pPr>
            <a:r>
              <a:rPr lang="en-US" b="1" dirty="0"/>
              <a:t>Relation schema</a:t>
            </a:r>
            <a:r>
              <a:rPr lang="en-US" dirty="0"/>
              <a:t> </a:t>
            </a:r>
            <a:r>
              <a:rPr lang="en-US" i="1" dirty="0"/>
              <a:t>R</a:t>
            </a:r>
            <a:r>
              <a:rPr lang="en-US" dirty="0"/>
              <a:t>, denoted by </a:t>
            </a:r>
            <a:r>
              <a:rPr lang="en-US" i="1" dirty="0"/>
              <a:t>R</a:t>
            </a:r>
            <a:r>
              <a:rPr lang="en-US" dirty="0"/>
              <a:t> (A</a:t>
            </a:r>
            <a:r>
              <a:rPr lang="en-US" baseline="-25000" dirty="0"/>
              <a:t>1</a:t>
            </a:r>
            <a:r>
              <a:rPr lang="en-US" dirty="0"/>
              <a:t>, A</a:t>
            </a:r>
            <a:r>
              <a:rPr lang="en-US" baseline="-25000" dirty="0"/>
              <a:t>2</a:t>
            </a:r>
            <a:r>
              <a:rPr lang="en-US" dirty="0"/>
              <a:t>, .....A</a:t>
            </a:r>
            <a:r>
              <a:rPr lang="en-US" baseline="-25000" dirty="0"/>
              <a:t>n</a:t>
            </a:r>
            <a:r>
              <a:rPr lang="en-US" dirty="0"/>
              <a:t>) is made up of a relation name R and a list of attributes A</a:t>
            </a:r>
            <a:r>
              <a:rPr lang="en-US" baseline="-25000" dirty="0"/>
              <a:t>1</a:t>
            </a:r>
            <a:r>
              <a:rPr lang="en-US" dirty="0"/>
              <a:t>, A</a:t>
            </a:r>
            <a:r>
              <a:rPr lang="en-US" baseline="-25000" dirty="0"/>
              <a:t>2</a:t>
            </a:r>
            <a:r>
              <a:rPr lang="en-US" dirty="0"/>
              <a:t>, …, A</a:t>
            </a:r>
            <a:r>
              <a:rPr lang="en-US" baseline="-25000" dirty="0"/>
              <a:t>n</a:t>
            </a:r>
          </a:p>
          <a:p>
            <a:pPr lvl="1" algn="just">
              <a:buFont typeface="Arial" panose="020B0604020202020204" pitchFamily="34" charset="0"/>
              <a:buChar char="•"/>
            </a:pPr>
            <a:r>
              <a:rPr lang="en-US" dirty="0"/>
              <a:t>Each </a:t>
            </a:r>
            <a:r>
              <a:rPr lang="en-US" b="1" dirty="0"/>
              <a:t>attribute</a:t>
            </a:r>
            <a:r>
              <a:rPr lang="en-US" dirty="0"/>
              <a:t> A</a:t>
            </a:r>
            <a:r>
              <a:rPr lang="en-US" baseline="-25000" dirty="0"/>
              <a:t>i </a:t>
            </a:r>
            <a:r>
              <a:rPr lang="en-US" dirty="0"/>
              <a:t>is a name of a role played by some domain D in the relation schema R.</a:t>
            </a:r>
          </a:p>
          <a:p>
            <a:pPr lvl="1" algn="just">
              <a:buFont typeface="Arial" panose="020B0604020202020204" pitchFamily="34" charset="0"/>
              <a:buChar char="•"/>
            </a:pPr>
            <a:r>
              <a:rPr lang="en-US" dirty="0"/>
              <a:t>D is called the domain of A</a:t>
            </a:r>
            <a:r>
              <a:rPr lang="en-US" baseline="-25000" dirty="0"/>
              <a:t>i</a:t>
            </a:r>
            <a:r>
              <a:rPr lang="en-US" dirty="0"/>
              <a:t> and is denoted by </a:t>
            </a:r>
            <a:r>
              <a:rPr lang="en-US" b="1" dirty="0"/>
              <a:t>dom(A</a:t>
            </a:r>
            <a:r>
              <a:rPr lang="en-US" b="1" baseline="-25000" dirty="0"/>
              <a:t>i</a:t>
            </a:r>
            <a:r>
              <a:rPr lang="en-US" b="1" dirty="0"/>
              <a:t>)</a:t>
            </a:r>
            <a:r>
              <a:rPr lang="en-US" dirty="0"/>
              <a:t>.</a:t>
            </a:r>
          </a:p>
          <a:p>
            <a:pPr lvl="1" algn="just">
              <a:buFont typeface="Arial" panose="020B0604020202020204" pitchFamily="34" charset="0"/>
              <a:buChar char="•"/>
            </a:pPr>
            <a:r>
              <a:rPr lang="en-IN" sz="1800" b="0" i="0" u="none" strike="noStrike" baseline="0" dirty="0">
                <a:latin typeface="MinionPro-Regular"/>
              </a:rPr>
              <a:t>A relation schema is used to </a:t>
            </a:r>
            <a:r>
              <a:rPr lang="en-IN" sz="1800" b="0" i="1" u="none" strike="noStrike" baseline="0" dirty="0">
                <a:latin typeface="MinionPro-It"/>
              </a:rPr>
              <a:t>describe </a:t>
            </a:r>
            <a:r>
              <a:rPr lang="en-IN" sz="1800" b="0" i="0" u="none" strike="noStrike" baseline="0" dirty="0">
                <a:latin typeface="MinionPro-Regular"/>
              </a:rPr>
              <a:t>a relation; </a:t>
            </a:r>
            <a:r>
              <a:rPr lang="en-IN" sz="1800" b="0" i="1" u="none" strike="noStrike" baseline="0" dirty="0">
                <a:latin typeface="MinionPro-It"/>
              </a:rPr>
              <a:t>R </a:t>
            </a:r>
            <a:r>
              <a:rPr lang="en-IN" sz="1800" b="0" i="0" u="none" strike="noStrike" baseline="0" dirty="0">
                <a:latin typeface="MinionPro-Regular"/>
              </a:rPr>
              <a:t>is called the </a:t>
            </a:r>
            <a:r>
              <a:rPr lang="en-IN" sz="1800" b="1" i="0" u="none" strike="noStrike" baseline="0" dirty="0">
                <a:latin typeface="MinionPro-Bold"/>
              </a:rPr>
              <a:t>name </a:t>
            </a:r>
            <a:r>
              <a:rPr lang="en-IN" sz="1800" b="0" i="0" u="none" strike="noStrike" baseline="0" dirty="0">
                <a:latin typeface="MinionPro-Regular"/>
              </a:rPr>
              <a:t>of this relation</a:t>
            </a:r>
            <a:endParaRPr lang="en-US" dirty="0"/>
          </a:p>
          <a:p>
            <a:pPr algn="just">
              <a:buFont typeface="Arial" panose="020B0604020202020204" pitchFamily="34" charset="0"/>
              <a:buChar char="•"/>
            </a:pPr>
            <a:r>
              <a:rPr lang="en-US" dirty="0"/>
              <a:t>Degree of the relation</a:t>
            </a:r>
          </a:p>
          <a:p>
            <a:pPr algn="l"/>
            <a:r>
              <a:rPr lang="en-US" dirty="0"/>
              <a:t>The </a:t>
            </a:r>
            <a:r>
              <a:rPr lang="en-US" b="1" dirty="0"/>
              <a:t>degree</a:t>
            </a:r>
            <a:r>
              <a:rPr lang="en-US" dirty="0"/>
              <a:t> or </a:t>
            </a:r>
            <a:r>
              <a:rPr lang="en-US" b="1" dirty="0"/>
              <a:t>arity</a:t>
            </a:r>
            <a:r>
              <a:rPr lang="en-US" dirty="0"/>
              <a:t> of a relation is the number of attributes n of its relation schema.</a:t>
            </a:r>
            <a:r>
              <a:rPr lang="en-IN" sz="1800" b="0" i="0" u="none" strike="noStrike" baseline="0" dirty="0">
                <a:latin typeface="MinionPro-Regular"/>
              </a:rPr>
              <a:t> </a:t>
            </a:r>
          </a:p>
          <a:p>
            <a:pPr algn="l">
              <a:buFont typeface="Arial" panose="020B0604020202020204" pitchFamily="34" charset="0"/>
              <a:buChar char="•"/>
            </a:pPr>
            <a:r>
              <a:rPr lang="en-IN" sz="1800" b="0" i="0" u="none" strike="noStrike" baseline="0" dirty="0">
                <a:latin typeface="MinionPro-Regular"/>
              </a:rPr>
              <a:t>A relation of degree seven, which stores information about university students, would contain seven attributes describing each student as follows:</a:t>
            </a:r>
          </a:p>
          <a:p>
            <a:pPr algn="l"/>
            <a:r>
              <a:rPr lang="en-IN" sz="1800" b="0" i="0" u="none" strike="noStrike" baseline="0" dirty="0">
                <a:latin typeface="AkzidenzGroteskBE-Regular"/>
              </a:rPr>
              <a:t>STUDENT(Name, </a:t>
            </a:r>
            <a:r>
              <a:rPr lang="en-IN" sz="1800" b="0" i="0" u="none" strike="noStrike" baseline="0" dirty="0" err="1">
                <a:latin typeface="AkzidenzGroteskBE-Regular"/>
              </a:rPr>
              <a:t>Ssn</a:t>
            </a:r>
            <a:r>
              <a:rPr lang="en-IN" sz="1800" b="0" i="0" u="none" strike="noStrike" baseline="0" dirty="0">
                <a:latin typeface="AkzidenzGroteskBE-Regular"/>
              </a:rPr>
              <a:t>, </a:t>
            </a:r>
            <a:r>
              <a:rPr lang="en-IN" sz="1800" b="0" i="0" u="none" strike="noStrike" baseline="0" dirty="0" err="1">
                <a:latin typeface="AkzidenzGroteskBE-Regular"/>
              </a:rPr>
              <a:t>Home_phone</a:t>
            </a:r>
            <a:r>
              <a:rPr lang="en-IN" sz="1800" b="0" i="0" u="none" strike="noStrike" baseline="0" dirty="0">
                <a:latin typeface="AkzidenzGroteskBE-Regular"/>
              </a:rPr>
              <a:t>, Address, </a:t>
            </a:r>
            <a:r>
              <a:rPr lang="en-IN" sz="1800" b="0" i="0" u="none" strike="noStrike" baseline="0" dirty="0" err="1">
                <a:latin typeface="AkzidenzGroteskBE-Regular"/>
              </a:rPr>
              <a:t>Office_phone</a:t>
            </a:r>
            <a:r>
              <a:rPr lang="en-IN" sz="1800" b="0" i="0" u="none" strike="noStrike" baseline="0" dirty="0">
                <a:latin typeface="AkzidenzGroteskBE-Regular"/>
              </a:rPr>
              <a:t>, Age, </a:t>
            </a:r>
            <a:r>
              <a:rPr lang="en-IN" sz="1800" b="0" i="0" u="none" strike="noStrike" baseline="0" dirty="0" err="1">
                <a:latin typeface="AkzidenzGroteskBE-Regular"/>
              </a:rPr>
              <a:t>Gpa</a:t>
            </a:r>
            <a:r>
              <a:rPr lang="en-IN" sz="1800" b="0" i="0" u="none" strike="noStrike" baseline="0" dirty="0">
                <a:latin typeface="AkzidenzGroteskBE-Regular"/>
              </a:rPr>
              <a:t>)</a:t>
            </a:r>
          </a:p>
          <a:p>
            <a:pPr algn="l">
              <a:buFont typeface="Arial" panose="020B0604020202020204" pitchFamily="34" charset="0"/>
              <a:buChar char="•"/>
            </a:pPr>
            <a:r>
              <a:rPr lang="en-IN" sz="1800" b="0" i="0" u="none" strike="noStrike" baseline="0" dirty="0">
                <a:latin typeface="MinionPro-Regular"/>
              </a:rPr>
              <a:t>Using the data type of each attribute, the definition is sometimes written as:</a:t>
            </a:r>
          </a:p>
          <a:p>
            <a:pPr algn="l"/>
            <a:r>
              <a:rPr lang="en-IN" sz="1800" b="0" i="0" u="none" strike="noStrike" baseline="0" dirty="0">
                <a:latin typeface="AkzidenzGroteskBE-Regular"/>
              </a:rPr>
              <a:t>STUDENT(Name: </a:t>
            </a:r>
            <a:r>
              <a:rPr lang="en-IN" sz="1800" b="0" i="0" u="none" strike="noStrike" baseline="0" dirty="0">
                <a:latin typeface="MinionPro-Regular"/>
              </a:rPr>
              <a:t>string</a:t>
            </a:r>
            <a:r>
              <a:rPr lang="en-IN" sz="1800" b="0" i="0" u="none" strike="noStrike" baseline="0" dirty="0">
                <a:latin typeface="AkzidenzGroteskBE-Regular"/>
              </a:rPr>
              <a:t>, </a:t>
            </a:r>
            <a:r>
              <a:rPr lang="en-IN" sz="1800" b="0" i="0" u="none" strike="noStrike" baseline="0" dirty="0" err="1">
                <a:latin typeface="AkzidenzGroteskBE-Regular"/>
              </a:rPr>
              <a:t>Ssn</a:t>
            </a:r>
            <a:r>
              <a:rPr lang="en-IN" sz="1800" b="0" i="0" u="none" strike="noStrike" baseline="0" dirty="0">
                <a:latin typeface="AkzidenzGroteskBE-Regular"/>
              </a:rPr>
              <a:t>: </a:t>
            </a:r>
            <a:r>
              <a:rPr lang="en-IN" sz="1800" b="0" i="0" u="none" strike="noStrike" baseline="0" dirty="0">
                <a:latin typeface="MinionPro-Regular"/>
              </a:rPr>
              <a:t>string</a:t>
            </a:r>
            <a:r>
              <a:rPr lang="en-IN" sz="1800" b="0" i="0" u="none" strike="noStrike" baseline="0" dirty="0">
                <a:latin typeface="AkzidenzGroteskBE-Regular"/>
              </a:rPr>
              <a:t>, </a:t>
            </a:r>
            <a:r>
              <a:rPr lang="en-IN" sz="1800" b="0" i="0" u="none" strike="noStrike" baseline="0" dirty="0" err="1">
                <a:latin typeface="AkzidenzGroteskBE-Regular"/>
              </a:rPr>
              <a:t>Home_phone</a:t>
            </a:r>
            <a:r>
              <a:rPr lang="en-IN" sz="1800" b="0" i="0" u="none" strike="noStrike" baseline="0" dirty="0">
                <a:latin typeface="AkzidenzGroteskBE-Regular"/>
              </a:rPr>
              <a:t>: </a:t>
            </a:r>
            <a:r>
              <a:rPr lang="en-IN" sz="1800" b="0" i="0" u="none" strike="noStrike" baseline="0" dirty="0">
                <a:latin typeface="MinionPro-Regular"/>
              </a:rPr>
              <a:t>string</a:t>
            </a:r>
            <a:r>
              <a:rPr lang="en-IN" sz="1800" b="0" i="0" u="none" strike="noStrike" baseline="0" dirty="0">
                <a:latin typeface="AkzidenzGroteskBE-Regular"/>
              </a:rPr>
              <a:t>, Address: </a:t>
            </a:r>
            <a:r>
              <a:rPr lang="en-IN" sz="1800" b="0" i="0" u="none" strike="noStrike" baseline="0" dirty="0">
                <a:latin typeface="MinionPro-Regular"/>
              </a:rPr>
              <a:t>string</a:t>
            </a:r>
            <a:r>
              <a:rPr lang="en-IN" sz="1800" b="0" i="0" u="none" strike="noStrike" baseline="0" dirty="0">
                <a:latin typeface="AkzidenzGroteskBE-Regular"/>
              </a:rPr>
              <a:t>, </a:t>
            </a:r>
            <a:r>
              <a:rPr lang="en-IN" sz="1800" b="0" i="0" u="none" strike="noStrike" baseline="0" dirty="0" err="1">
                <a:latin typeface="AkzidenzGroteskBE-Regular"/>
              </a:rPr>
              <a:t>Office_phone</a:t>
            </a:r>
            <a:r>
              <a:rPr lang="en-IN" sz="1800" b="0" i="0" u="none" strike="noStrike" baseline="0" dirty="0">
                <a:latin typeface="AkzidenzGroteskBE-Regular"/>
              </a:rPr>
              <a:t>: </a:t>
            </a:r>
            <a:r>
              <a:rPr lang="en-IN" sz="1800" b="0" i="0" u="none" strike="noStrike" baseline="0" dirty="0">
                <a:latin typeface="MinionPro-Regular"/>
              </a:rPr>
              <a:t>string</a:t>
            </a:r>
            <a:r>
              <a:rPr lang="en-IN" sz="1800" b="0" i="0" u="none" strike="noStrike" baseline="0" dirty="0">
                <a:latin typeface="AkzidenzGroteskBE-Regular"/>
              </a:rPr>
              <a:t>, Age: </a:t>
            </a:r>
            <a:r>
              <a:rPr lang="en-IN" sz="1800" b="0" i="0" u="none" strike="noStrike" baseline="0" dirty="0">
                <a:latin typeface="MinionPro-Regular"/>
              </a:rPr>
              <a:t>integer</a:t>
            </a:r>
            <a:r>
              <a:rPr lang="en-IN" sz="1800" b="0" i="0" u="none" strike="noStrike" baseline="0" dirty="0">
                <a:latin typeface="AkzidenzGroteskBE-Regular"/>
              </a:rPr>
              <a:t>, </a:t>
            </a:r>
            <a:r>
              <a:rPr lang="en-IN" sz="1800" b="0" i="0" u="none" strike="noStrike" baseline="0" dirty="0" err="1">
                <a:latin typeface="AkzidenzGroteskBE-Regular"/>
              </a:rPr>
              <a:t>Gpa</a:t>
            </a:r>
            <a:r>
              <a:rPr lang="en-IN" sz="1800" b="0" i="0" u="none" strike="noStrike" baseline="0" dirty="0">
                <a:latin typeface="AkzidenzGroteskBE-Regular"/>
              </a:rPr>
              <a:t>: </a:t>
            </a:r>
            <a:r>
              <a:rPr lang="en-IN" sz="1800" b="0" i="0" u="none" strike="noStrike" baseline="0" dirty="0">
                <a:latin typeface="MinionPro-Regular"/>
              </a:rPr>
              <a:t>real</a:t>
            </a:r>
            <a:r>
              <a:rPr lang="en-IN" sz="1800" b="0" i="0" u="none" strike="noStrike" baseline="0" dirty="0">
                <a:latin typeface="AkzidenzGroteskBE-Regular"/>
              </a:rPr>
              <a:t>)</a:t>
            </a:r>
          </a:p>
          <a:p>
            <a:pPr algn="l">
              <a:buFont typeface="Arial" panose="020B0604020202020204" pitchFamily="34" charset="0"/>
              <a:buChar char="•"/>
            </a:pPr>
            <a:r>
              <a:rPr lang="en-IN" sz="1800" b="0" i="0" u="none" strike="noStrike" baseline="0" dirty="0">
                <a:latin typeface="MinionPro-Regular"/>
              </a:rPr>
              <a:t>For this relation schema, </a:t>
            </a:r>
            <a:r>
              <a:rPr lang="en-IN" sz="1800" b="0" i="0" u="none" strike="noStrike" baseline="0" dirty="0">
                <a:latin typeface="AkzidenzGroteskBE-Regular"/>
              </a:rPr>
              <a:t>STUDENT </a:t>
            </a:r>
            <a:r>
              <a:rPr lang="en-IN" sz="1800" b="0" i="0" u="none" strike="noStrike" baseline="0" dirty="0">
                <a:latin typeface="MinionPro-Regular"/>
              </a:rPr>
              <a:t>is the name of the relation, which has seven attributes. </a:t>
            </a:r>
          </a:p>
          <a:p>
            <a:pPr algn="l"/>
            <a:r>
              <a:rPr lang="en-IN" sz="1800" b="0" i="0" u="none" strike="noStrike" baseline="0" dirty="0" err="1">
                <a:latin typeface="MinionPro-Regular"/>
              </a:rPr>
              <a:t>dom</a:t>
            </a:r>
            <a:r>
              <a:rPr lang="en-IN" sz="1800" b="0" i="0" u="none" strike="noStrike" baseline="0" dirty="0">
                <a:latin typeface="MinionPro-Regular"/>
              </a:rPr>
              <a:t>(</a:t>
            </a:r>
            <a:r>
              <a:rPr lang="en-IN" sz="1800" b="0" i="0" u="none" strike="noStrike" baseline="0" dirty="0">
                <a:latin typeface="AkzidenzGroteskBE-Regular"/>
              </a:rPr>
              <a:t>Name</a:t>
            </a:r>
            <a:r>
              <a:rPr lang="en-IN" sz="1800" b="0" i="0" u="none" strike="noStrike" baseline="0" dirty="0">
                <a:latin typeface="MinionPro-Regular"/>
              </a:rPr>
              <a:t>) = </a:t>
            </a:r>
            <a:r>
              <a:rPr lang="en-IN" sz="1800" b="0" i="0" u="none" strike="noStrike" baseline="0" dirty="0">
                <a:latin typeface="AkzidenzGroteskBE-Regular"/>
              </a:rPr>
              <a:t>Names</a:t>
            </a:r>
            <a:r>
              <a:rPr lang="en-IN" sz="1800" b="0" i="0" u="none" strike="noStrike" baseline="0" dirty="0">
                <a:latin typeface="MinionPro-Regular"/>
              </a:rPr>
              <a:t>; </a:t>
            </a:r>
            <a:r>
              <a:rPr lang="en-IN" sz="1800" b="0" i="0" u="none" strike="noStrike" baseline="0" dirty="0" err="1">
                <a:latin typeface="MinionPro-Regular"/>
              </a:rPr>
              <a:t>dom</a:t>
            </a:r>
            <a:r>
              <a:rPr lang="en-IN" sz="1800" b="0" i="0" u="none" strike="noStrike" baseline="0" dirty="0">
                <a:latin typeface="MinionPro-Regular"/>
              </a:rPr>
              <a:t>(</a:t>
            </a:r>
            <a:r>
              <a:rPr lang="en-IN" sz="1800" b="0" i="0" u="none" strike="noStrike" baseline="0" dirty="0" err="1">
                <a:latin typeface="AkzidenzGroteskBE-Regular"/>
              </a:rPr>
              <a:t>Ssn</a:t>
            </a:r>
            <a:r>
              <a:rPr lang="en-IN" sz="1800" b="0" i="0" u="none" strike="noStrike" baseline="0" dirty="0">
                <a:latin typeface="MinionPro-Regular"/>
              </a:rPr>
              <a:t>) = </a:t>
            </a:r>
            <a:r>
              <a:rPr lang="en-IN" sz="1800" b="0" i="0" u="none" strike="noStrike" baseline="0" dirty="0" err="1">
                <a:latin typeface="AkzidenzGroteskBE-Regular"/>
              </a:rPr>
              <a:t>Social_security_numbers</a:t>
            </a:r>
            <a:r>
              <a:rPr lang="en-IN" sz="1800" b="0" i="0" u="none" strike="noStrike" baseline="0" dirty="0">
                <a:latin typeface="AkzidenzGroteskBE-Regular"/>
              </a:rPr>
              <a:t>;</a:t>
            </a:r>
            <a:endParaRPr lang="en-US" dirty="0"/>
          </a:p>
          <a:p>
            <a:pPr algn="just">
              <a:buFont typeface="Arial" panose="020B0604020202020204" pitchFamily="34" charset="0"/>
              <a:buChar char="•"/>
            </a:pPr>
            <a:endParaRPr lang="en-US" dirty="0"/>
          </a:p>
          <a:p>
            <a:pPr algn="just"/>
            <a:endParaRPr lang="en-US" dirty="0"/>
          </a:p>
        </p:txBody>
      </p:sp>
    </p:spTree>
    <p:extLst>
      <p:ext uri="{BB962C8B-B14F-4D97-AF65-F5344CB8AC3E}">
        <p14:creationId xmlns:p14="http://schemas.microsoft.com/office/powerpoint/2010/main" val="3014746750"/>
      </p:ext>
    </p:extLst>
  </p:cSld>
  <p:clrMapOvr>
    <a:masterClrMapping/>
  </p:clrMapOvr>
  <p:transition>
    <p:dissolv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Contd…</a:t>
            </a:r>
          </a:p>
        </p:txBody>
      </p:sp>
      <p:sp>
        <p:nvSpPr>
          <p:cNvPr id="2" name="Content Placeholder 1"/>
          <p:cNvSpPr>
            <a:spLocks noGrp="1"/>
          </p:cNvSpPr>
          <p:nvPr>
            <p:ph idx="1"/>
          </p:nvPr>
        </p:nvSpPr>
        <p:spPr/>
        <p:txBody>
          <a:bodyPr>
            <a:normAutofit/>
          </a:bodyPr>
          <a:lstStyle/>
          <a:p>
            <a:pPr algn="just"/>
            <a:r>
              <a:rPr lang="en-US" dirty="0"/>
              <a:t>Relation </a:t>
            </a:r>
          </a:p>
          <a:p>
            <a:pPr lvl="1" algn="just"/>
            <a:r>
              <a:rPr lang="en-US" dirty="0"/>
              <a:t>A </a:t>
            </a:r>
            <a:r>
              <a:rPr lang="en-US" b="1" dirty="0"/>
              <a:t>relation </a:t>
            </a:r>
            <a:r>
              <a:rPr lang="en-US" dirty="0"/>
              <a:t>or </a:t>
            </a:r>
            <a:r>
              <a:rPr lang="en-US" b="1" dirty="0"/>
              <a:t>relation state </a:t>
            </a:r>
            <a:r>
              <a:rPr lang="en-US" dirty="0"/>
              <a:t>r of the relation schema </a:t>
            </a:r>
            <a:r>
              <a:rPr lang="en-US" i="1" dirty="0"/>
              <a:t>R</a:t>
            </a:r>
            <a:r>
              <a:rPr lang="en-US" dirty="0"/>
              <a:t> (A</a:t>
            </a:r>
            <a:r>
              <a:rPr lang="en-US" baseline="-25000" dirty="0"/>
              <a:t>1</a:t>
            </a:r>
            <a:r>
              <a:rPr lang="en-US" dirty="0"/>
              <a:t>, A</a:t>
            </a:r>
            <a:r>
              <a:rPr lang="en-US" baseline="-25000" dirty="0"/>
              <a:t>2</a:t>
            </a:r>
            <a:r>
              <a:rPr lang="en-US" dirty="0"/>
              <a:t>, .....A</a:t>
            </a:r>
            <a:r>
              <a:rPr lang="en-US" baseline="-25000" dirty="0"/>
              <a:t>n</a:t>
            </a:r>
            <a:r>
              <a:rPr lang="en-US" dirty="0"/>
              <a:t>), also denoted by r(R), is a set of n – tuples r = {t</a:t>
            </a:r>
            <a:r>
              <a:rPr lang="en-US" baseline="-25000" dirty="0"/>
              <a:t>1</a:t>
            </a:r>
            <a:r>
              <a:rPr lang="en-US" dirty="0"/>
              <a:t>, t</a:t>
            </a:r>
            <a:r>
              <a:rPr lang="en-US" baseline="-25000" dirty="0"/>
              <a:t>2</a:t>
            </a:r>
            <a:r>
              <a:rPr lang="en-US" dirty="0"/>
              <a:t>, …, t</a:t>
            </a:r>
            <a:r>
              <a:rPr lang="en-US" baseline="-25000" dirty="0"/>
              <a:t>m</a:t>
            </a:r>
            <a:r>
              <a:rPr lang="en-US" dirty="0"/>
              <a:t>}.</a:t>
            </a:r>
          </a:p>
          <a:p>
            <a:pPr lvl="1" algn="just"/>
            <a:r>
              <a:rPr lang="en-US" dirty="0"/>
              <a:t>Each </a:t>
            </a:r>
            <a:r>
              <a:rPr lang="en-US" b="1" dirty="0"/>
              <a:t>n – tuple </a:t>
            </a:r>
            <a:r>
              <a:rPr lang="en-US" dirty="0"/>
              <a:t>t is an ordered list of n values t = &lt;v</a:t>
            </a:r>
            <a:r>
              <a:rPr lang="en-US" baseline="-25000" dirty="0"/>
              <a:t>1</a:t>
            </a:r>
            <a:r>
              <a:rPr lang="en-US" dirty="0"/>
              <a:t>, v</a:t>
            </a:r>
            <a:r>
              <a:rPr lang="en-US" baseline="-25000" dirty="0"/>
              <a:t>2</a:t>
            </a:r>
            <a:r>
              <a:rPr lang="en-US" dirty="0"/>
              <a:t>, …,v</a:t>
            </a:r>
            <a:r>
              <a:rPr lang="en-US" baseline="-25000" dirty="0"/>
              <a:t>n</a:t>
            </a:r>
            <a:r>
              <a:rPr lang="en-US" dirty="0"/>
              <a:t>&gt; , where each v</a:t>
            </a:r>
            <a:r>
              <a:rPr lang="en-US" baseline="-25000" dirty="0"/>
              <a:t>i</a:t>
            </a:r>
            <a:r>
              <a:rPr lang="en-US" dirty="0"/>
              <a:t>, 1≤ i ≤ n, is an element of dom(A</a:t>
            </a:r>
            <a:r>
              <a:rPr lang="en-US" baseline="-25000" dirty="0"/>
              <a:t>i</a:t>
            </a:r>
            <a:r>
              <a:rPr lang="en-US" dirty="0"/>
              <a:t>) or is a special NULL value.</a:t>
            </a:r>
          </a:p>
          <a:p>
            <a:pPr algn="just"/>
            <a:endParaRPr lang="en-US" dirty="0"/>
          </a:p>
          <a:p>
            <a:pPr algn="just"/>
            <a:r>
              <a:rPr lang="en-US" dirty="0"/>
              <a:t>The terms relation intension for the relation schema R and relation extension for a relation state r(R) are commonly used.</a:t>
            </a:r>
          </a:p>
          <a:p>
            <a:pPr algn="just"/>
            <a:endParaRPr lang="en-US" dirty="0"/>
          </a:p>
          <a:p>
            <a:pPr algn="just"/>
            <a:endParaRPr lang="en-US" dirty="0"/>
          </a:p>
        </p:txBody>
      </p:sp>
    </p:spTree>
  </p:cSld>
  <p:clrMapOvr>
    <a:masterClrMapping/>
  </p:clrMapOvr>
  <p:transition>
    <p:dissolv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Mathematical Definition</a:t>
            </a:r>
          </a:p>
        </p:txBody>
      </p:sp>
      <p:sp>
        <p:nvSpPr>
          <p:cNvPr id="2" name="Content Placeholder 1"/>
          <p:cNvSpPr>
            <a:spLocks noGrp="1"/>
          </p:cNvSpPr>
          <p:nvPr>
            <p:ph idx="1"/>
          </p:nvPr>
        </p:nvSpPr>
        <p:spPr>
          <a:xfrm>
            <a:off x="822959" y="1845734"/>
            <a:ext cx="7543801" cy="4402666"/>
          </a:xfrm>
        </p:spPr>
        <p:txBody>
          <a:bodyPr>
            <a:noAutofit/>
          </a:bodyPr>
          <a:lstStyle/>
          <a:p>
            <a:pPr algn="just"/>
            <a:r>
              <a:rPr lang="en-US" dirty="0"/>
              <a:t>A relation schema or relation state r(R) is a mathematical relation of degree n on the domains dom(A</a:t>
            </a:r>
            <a:r>
              <a:rPr lang="en-US" baseline="-25000" dirty="0"/>
              <a:t>1</a:t>
            </a:r>
            <a:r>
              <a:rPr lang="en-US" dirty="0"/>
              <a:t>), dom(A</a:t>
            </a:r>
            <a:r>
              <a:rPr lang="en-US" baseline="-25000" dirty="0"/>
              <a:t>2</a:t>
            </a:r>
            <a:r>
              <a:rPr lang="en-US" dirty="0"/>
              <a:t>),…, dom(A</a:t>
            </a:r>
            <a:r>
              <a:rPr lang="en-US" baseline="-25000" dirty="0"/>
              <a:t>n</a:t>
            </a:r>
            <a:r>
              <a:rPr lang="en-US" dirty="0"/>
              <a:t>) which is a subset of the Cartesian product of the domains that defines R:</a:t>
            </a:r>
          </a:p>
          <a:p>
            <a:pPr algn="ctr">
              <a:buNone/>
            </a:pPr>
            <a:r>
              <a:rPr lang="en-US" dirty="0"/>
              <a:t>r(R) ⊆ (dom(A</a:t>
            </a:r>
            <a:r>
              <a:rPr lang="en-US" baseline="-25000" dirty="0"/>
              <a:t>1</a:t>
            </a:r>
            <a:r>
              <a:rPr lang="en-US" dirty="0"/>
              <a:t>) X dom(A</a:t>
            </a:r>
            <a:r>
              <a:rPr lang="en-US" baseline="-25000" dirty="0"/>
              <a:t>2</a:t>
            </a:r>
            <a:r>
              <a:rPr lang="en-US" dirty="0"/>
              <a:t>) X … X dom(A</a:t>
            </a:r>
            <a:r>
              <a:rPr lang="en-US" baseline="-25000" dirty="0"/>
              <a:t>n</a:t>
            </a:r>
            <a:r>
              <a:rPr lang="en-US" dirty="0"/>
              <a:t>))</a:t>
            </a:r>
          </a:p>
          <a:p>
            <a:pPr algn="just"/>
            <a:r>
              <a:rPr lang="en-US" dirty="0" smtClean="0"/>
              <a:t>The </a:t>
            </a:r>
            <a:r>
              <a:rPr lang="en-US" dirty="0"/>
              <a:t>Cartesian product specifies all possible combinations of values from the underlying domains.</a:t>
            </a:r>
          </a:p>
          <a:p>
            <a:pPr algn="just"/>
            <a:r>
              <a:rPr lang="en-US" dirty="0" smtClean="0"/>
              <a:t>The </a:t>
            </a:r>
            <a:r>
              <a:rPr lang="en-US" dirty="0"/>
              <a:t>total number of values, or cardinality in a domain D by |D|, the total number of tuples in the Cartesian product is</a:t>
            </a:r>
          </a:p>
          <a:p>
            <a:pPr algn="ctr">
              <a:buNone/>
            </a:pPr>
            <a:r>
              <a:rPr lang="en-US" dirty="0" err="1" smtClean="0"/>
              <a:t>dom</a:t>
            </a:r>
            <a:r>
              <a:rPr lang="en-US" dirty="0" smtClean="0"/>
              <a:t>(A</a:t>
            </a:r>
            <a:r>
              <a:rPr lang="en-US" baseline="-25000" dirty="0" smtClean="0"/>
              <a:t>1</a:t>
            </a:r>
            <a:r>
              <a:rPr lang="en-US" dirty="0"/>
              <a:t>)| X |dom(A</a:t>
            </a:r>
            <a:r>
              <a:rPr lang="en-US" baseline="-25000" dirty="0"/>
              <a:t>2</a:t>
            </a:r>
            <a:r>
              <a:rPr lang="en-US" dirty="0"/>
              <a:t>)| X … X |dom(A</a:t>
            </a:r>
            <a:r>
              <a:rPr lang="en-US" baseline="-25000" dirty="0"/>
              <a:t>n</a:t>
            </a:r>
            <a:r>
              <a:rPr lang="en-US" dirty="0"/>
              <a:t>)|</a:t>
            </a:r>
          </a:p>
          <a:p>
            <a:pPr algn="just"/>
            <a:r>
              <a:rPr lang="en-US" dirty="0"/>
              <a:t>Current relation state</a:t>
            </a:r>
          </a:p>
          <a:p>
            <a:pPr lvl="1" algn="just"/>
            <a:r>
              <a:rPr lang="en-US" dirty="0"/>
              <a:t>A </a:t>
            </a:r>
            <a:r>
              <a:rPr lang="en-US" dirty="0" smtClean="0"/>
              <a:t>relation state </a:t>
            </a:r>
            <a:r>
              <a:rPr lang="en-US" dirty="0"/>
              <a:t>at a given time is called the current relation state</a:t>
            </a:r>
            <a:r>
              <a:rPr lang="en-US" dirty="0" smtClean="0"/>
              <a:t>.</a:t>
            </a:r>
            <a:endParaRPr lang="en-US" dirty="0"/>
          </a:p>
        </p:txBody>
      </p:sp>
    </p:spTree>
  </p:cSld>
  <p:clrMapOvr>
    <a:masterClrMapping/>
  </p:clrMapOvr>
  <p:transition>
    <p:dissolv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33400" y="457200"/>
            <a:ext cx="7543800" cy="822961"/>
          </a:xfrm>
        </p:spPr>
        <p:txBody>
          <a:bodyPr/>
          <a:lstStyle/>
          <a:p>
            <a:r>
              <a:rPr lang="en-US" dirty="0"/>
              <a:t>Example…</a:t>
            </a:r>
          </a:p>
        </p:txBody>
      </p:sp>
      <p:pic>
        <p:nvPicPr>
          <p:cNvPr id="7" name="Picture 7" descr="31755_FIG0701.gif                                              0001035BEeyore                         B91DCF3B:"/>
          <p:cNvPicPr>
            <a:picLocks noGrp="1" noChangeAspect="1" noChangeArrowheads="1"/>
          </p:cNvPicPr>
          <p:nvPr>
            <p:ph idx="1"/>
          </p:nvPr>
        </p:nvPicPr>
        <p:blipFill>
          <a:blip r:embed="rId2" cstate="print"/>
          <a:srcRect/>
          <a:stretch>
            <a:fillRect/>
          </a:stretch>
        </p:blipFill>
        <p:spPr bwMode="auto">
          <a:xfrm>
            <a:off x="152400" y="1524000"/>
            <a:ext cx="8534400" cy="4038600"/>
          </a:xfrm>
          <a:prstGeom prst="rect">
            <a:avLst/>
          </a:prstGeom>
          <a:noFill/>
          <a:ln w="9525">
            <a:noFill/>
            <a:miter lim="800000"/>
            <a:headEnd/>
            <a:tailEnd/>
          </a:ln>
        </p:spPr>
      </p:pic>
    </p:spTree>
  </p:cSld>
  <p:clrMapOvr>
    <a:masterClrMapping/>
  </p:clrMapOvr>
  <p:transition>
    <p:dissolv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Characteristics of Relations</a:t>
            </a:r>
          </a:p>
        </p:txBody>
      </p:sp>
      <p:sp>
        <p:nvSpPr>
          <p:cNvPr id="2" name="Content Placeholder 1"/>
          <p:cNvSpPr>
            <a:spLocks noGrp="1"/>
          </p:cNvSpPr>
          <p:nvPr>
            <p:ph idx="1"/>
          </p:nvPr>
        </p:nvSpPr>
        <p:spPr>
          <a:xfrm>
            <a:off x="822959" y="2362200"/>
            <a:ext cx="7543801" cy="2650066"/>
          </a:xfrm>
        </p:spPr>
        <p:txBody>
          <a:bodyPr>
            <a:normAutofit/>
          </a:bodyPr>
          <a:lstStyle/>
          <a:p>
            <a:pPr marL="514350" indent="-514350">
              <a:buFont typeface="+mj-lt"/>
              <a:buAutoNum type="arabicPeriod"/>
            </a:pPr>
            <a:r>
              <a:rPr lang="en-US" sz="2800" dirty="0"/>
              <a:t>Ordering of tuples in a relation</a:t>
            </a:r>
          </a:p>
          <a:p>
            <a:pPr marL="514350" indent="-514350" algn="just">
              <a:buFont typeface="+mj-lt"/>
              <a:buAutoNum type="arabicPeriod"/>
            </a:pPr>
            <a:r>
              <a:rPr lang="en-US" sz="2800" dirty="0" smtClean="0"/>
              <a:t>Ordering </a:t>
            </a:r>
            <a:r>
              <a:rPr lang="en-US" sz="2800" dirty="0"/>
              <a:t>of values within a tuple and an Alternative definition of a relation</a:t>
            </a:r>
          </a:p>
          <a:p>
            <a:pPr marL="514350" indent="-514350">
              <a:buFont typeface="+mj-lt"/>
              <a:buAutoNum type="arabicPeriod"/>
            </a:pPr>
            <a:r>
              <a:rPr lang="en-US" sz="2800" dirty="0" smtClean="0"/>
              <a:t>Values </a:t>
            </a:r>
            <a:r>
              <a:rPr lang="en-US" sz="2800" dirty="0"/>
              <a:t>and NULLs in tuples</a:t>
            </a:r>
          </a:p>
          <a:p>
            <a:pPr marL="514350" indent="-514350" algn="just">
              <a:buFont typeface="+mj-lt"/>
              <a:buAutoNum type="arabicPeriod"/>
            </a:pPr>
            <a:r>
              <a:rPr lang="en-US" sz="2800" dirty="0" smtClean="0"/>
              <a:t>Interpretation </a:t>
            </a:r>
            <a:r>
              <a:rPr lang="en-US" sz="2800" dirty="0"/>
              <a:t>(Meaning) of a relation</a:t>
            </a:r>
          </a:p>
        </p:txBody>
      </p:sp>
    </p:spTree>
  </p:cSld>
  <p:clrMapOvr>
    <a:masterClrMapping/>
  </p:clrMapOvr>
  <p:transition>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22960" y="838200"/>
            <a:ext cx="7543800" cy="932596"/>
          </a:xfrm>
        </p:spPr>
        <p:txBody>
          <a:bodyPr>
            <a:normAutofit/>
          </a:bodyPr>
          <a:lstStyle/>
          <a:p>
            <a:r>
              <a:rPr lang="en-US" sz="4400" b="1" dirty="0"/>
              <a:t>Ordering of Tuples in a Relation</a:t>
            </a:r>
          </a:p>
        </p:txBody>
      </p:sp>
      <p:sp>
        <p:nvSpPr>
          <p:cNvPr id="2" name="Content Placeholder 1"/>
          <p:cNvSpPr>
            <a:spLocks noGrp="1"/>
          </p:cNvSpPr>
          <p:nvPr>
            <p:ph idx="1"/>
          </p:nvPr>
        </p:nvSpPr>
        <p:spPr>
          <a:xfrm>
            <a:off x="822959" y="2057400"/>
            <a:ext cx="7543801" cy="4023360"/>
          </a:xfrm>
        </p:spPr>
        <p:txBody>
          <a:bodyPr>
            <a:normAutofit/>
          </a:bodyPr>
          <a:lstStyle/>
          <a:p>
            <a:pPr algn="just"/>
            <a:r>
              <a:rPr lang="en-US" sz="2400" dirty="0">
                <a:cs typeface="Times New Roman" pitchFamily="18" charset="0"/>
              </a:rPr>
              <a:t>A relation is a set of tuples</a:t>
            </a:r>
            <a:r>
              <a:rPr lang="en-US" sz="2400" dirty="0" smtClean="0">
                <a:cs typeface="Times New Roman" pitchFamily="18" charset="0"/>
              </a:rPr>
              <a:t>.</a:t>
            </a:r>
          </a:p>
          <a:p>
            <a:pPr algn="just"/>
            <a:endParaRPr lang="en-US" sz="2400" dirty="0">
              <a:cs typeface="Times New Roman" pitchFamily="18" charset="0"/>
            </a:endParaRPr>
          </a:p>
          <a:p>
            <a:pPr marL="365760" lvl="1" indent="-256032" algn="just">
              <a:spcBef>
                <a:spcPts val="400"/>
              </a:spcBef>
              <a:buSzPct val="68000"/>
              <a:buFont typeface="Wingdings" pitchFamily="2" charset="2"/>
              <a:buChar char="v"/>
            </a:pPr>
            <a:r>
              <a:rPr lang="en-US" sz="2800" dirty="0" smtClean="0">
                <a:cs typeface="Times New Roman" pitchFamily="18" charset="0"/>
              </a:rPr>
              <a:t>The </a:t>
            </a:r>
            <a:r>
              <a:rPr lang="en-US" sz="2800" dirty="0">
                <a:cs typeface="Times New Roman" pitchFamily="18" charset="0"/>
              </a:rPr>
              <a:t>tuples are not  considered to be ordered, even though they appear to be in the tabular form</a:t>
            </a:r>
            <a:r>
              <a:rPr lang="en-US" sz="2800" dirty="0" smtClean="0">
                <a:cs typeface="Times New Roman" pitchFamily="18" charset="0"/>
              </a:rPr>
              <a:t>.</a:t>
            </a:r>
          </a:p>
          <a:p>
            <a:pPr marL="365760" lvl="1" indent="-256032" algn="just">
              <a:spcBef>
                <a:spcPts val="400"/>
              </a:spcBef>
              <a:buSzPct val="68000"/>
              <a:buFont typeface="Wingdings" pitchFamily="2" charset="2"/>
              <a:buChar char="v"/>
            </a:pPr>
            <a:endParaRPr lang="en-US" sz="3200" dirty="0">
              <a:cs typeface="Times New Roman" pitchFamily="18" charset="0"/>
            </a:endParaRPr>
          </a:p>
          <a:p>
            <a:pPr algn="just"/>
            <a:r>
              <a:rPr lang="en-US" sz="2400" dirty="0" smtClean="0"/>
              <a:t>Relation </a:t>
            </a:r>
            <a:r>
              <a:rPr lang="en-US" sz="2400" dirty="0"/>
              <a:t>is not sensitive to the ordering of tuples.</a:t>
            </a:r>
          </a:p>
        </p:txBody>
      </p:sp>
    </p:spTree>
  </p:cSld>
  <p:clrMapOvr>
    <a:masterClrMapping/>
  </p:clrMapOvr>
  <p:transition>
    <p:dissolv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pPr algn="just"/>
            <a:r>
              <a:rPr lang="en-US" sz="3200" b="1" dirty="0"/>
              <a:t>Ordering of values within a tuple and an Alternative definition of a relation</a:t>
            </a:r>
          </a:p>
        </p:txBody>
      </p:sp>
      <p:sp>
        <p:nvSpPr>
          <p:cNvPr id="2" name="Content Placeholder 1"/>
          <p:cNvSpPr>
            <a:spLocks noGrp="1"/>
          </p:cNvSpPr>
          <p:nvPr>
            <p:ph idx="1"/>
          </p:nvPr>
        </p:nvSpPr>
        <p:spPr/>
        <p:txBody>
          <a:bodyPr>
            <a:normAutofit/>
          </a:bodyPr>
          <a:lstStyle/>
          <a:p>
            <a:pPr algn="just"/>
            <a:endParaRPr lang="en-US" sz="2400" dirty="0" smtClean="0"/>
          </a:p>
          <a:p>
            <a:pPr algn="just"/>
            <a:r>
              <a:rPr lang="en-US" sz="2400" dirty="0" smtClean="0"/>
              <a:t>From </a:t>
            </a:r>
            <a:r>
              <a:rPr lang="en-US" sz="2400" dirty="0"/>
              <a:t>the definition of the relation, an n – tuple is a ordered list of values, so the ordering of values in a tuple is important</a:t>
            </a:r>
            <a:r>
              <a:rPr lang="en-US" sz="2400" dirty="0" smtClean="0"/>
              <a:t>.</a:t>
            </a:r>
          </a:p>
          <a:p>
            <a:pPr algn="just"/>
            <a:endParaRPr lang="en-US" sz="900" dirty="0"/>
          </a:p>
          <a:p>
            <a:pPr algn="just"/>
            <a:r>
              <a:rPr lang="en-US" sz="2400" dirty="0" smtClean="0"/>
              <a:t>Alternative </a:t>
            </a:r>
            <a:r>
              <a:rPr lang="en-US" sz="2400" dirty="0"/>
              <a:t>Definition</a:t>
            </a:r>
          </a:p>
          <a:p>
            <a:pPr lvl="1" algn="just"/>
            <a:r>
              <a:rPr lang="en-US" sz="2000" dirty="0"/>
              <a:t>A relation schema R = {A</a:t>
            </a:r>
            <a:r>
              <a:rPr lang="en-US" sz="2000" baseline="-25000" dirty="0"/>
              <a:t>1</a:t>
            </a:r>
            <a:r>
              <a:rPr lang="en-US" sz="2000" dirty="0"/>
              <a:t>, A</a:t>
            </a:r>
            <a:r>
              <a:rPr lang="en-US" sz="2000" baseline="-25000" dirty="0"/>
              <a:t>2</a:t>
            </a:r>
            <a:r>
              <a:rPr lang="en-US" sz="2000" dirty="0"/>
              <a:t>, …, A</a:t>
            </a:r>
            <a:r>
              <a:rPr lang="en-US" sz="2000" baseline="-25000" dirty="0"/>
              <a:t>n</a:t>
            </a:r>
            <a:r>
              <a:rPr lang="en-US" sz="2000" dirty="0"/>
              <a:t>} is a set of attributes, and a relation state r(R) is a finite set of mappings r = {t</a:t>
            </a:r>
            <a:r>
              <a:rPr lang="en-US" sz="2000" baseline="-25000" dirty="0"/>
              <a:t>1</a:t>
            </a:r>
            <a:r>
              <a:rPr lang="en-US" sz="2000" dirty="0"/>
              <a:t>, t</a:t>
            </a:r>
            <a:r>
              <a:rPr lang="en-US" sz="2000" baseline="-25000" dirty="0"/>
              <a:t>2</a:t>
            </a:r>
            <a:r>
              <a:rPr lang="en-US" sz="2000" dirty="0"/>
              <a:t>, …, t</a:t>
            </a:r>
            <a:r>
              <a:rPr lang="en-US" sz="2000" baseline="-25000" dirty="0"/>
              <a:t>m</a:t>
            </a:r>
            <a:r>
              <a:rPr lang="en-US" sz="2000" dirty="0"/>
              <a:t>}, where each tuple </a:t>
            </a:r>
            <a:r>
              <a:rPr lang="en-US" sz="2000" dirty="0" err="1"/>
              <a:t>t</a:t>
            </a:r>
            <a:r>
              <a:rPr lang="en-US" sz="2000" baseline="-25000" dirty="0" err="1"/>
              <a:t>i</a:t>
            </a:r>
            <a:r>
              <a:rPr lang="en-US" sz="2000" dirty="0"/>
              <a:t> is a mapping from R to D, and D is the union of the attribute domains; that is, D = dom(A</a:t>
            </a:r>
            <a:r>
              <a:rPr lang="en-US" sz="2000" baseline="-25000" dirty="0"/>
              <a:t>1</a:t>
            </a:r>
            <a:r>
              <a:rPr lang="en-US" sz="2000" dirty="0"/>
              <a:t>) U dom(A</a:t>
            </a:r>
            <a:r>
              <a:rPr lang="en-US" sz="2000" baseline="-25000" dirty="0"/>
              <a:t>2</a:t>
            </a:r>
            <a:r>
              <a:rPr lang="en-US" sz="2000" dirty="0"/>
              <a:t>) U … U dom(A</a:t>
            </a:r>
            <a:r>
              <a:rPr lang="en-US" sz="2000" baseline="-25000" dirty="0"/>
              <a:t>n</a:t>
            </a:r>
            <a:r>
              <a:rPr lang="en-US" sz="2000" dirty="0"/>
              <a:t>).</a:t>
            </a:r>
          </a:p>
          <a:p>
            <a:pPr algn="just"/>
            <a:endParaRPr lang="en-US" dirty="0"/>
          </a:p>
          <a:p>
            <a:pPr algn="just"/>
            <a:endParaRPr lang="en-US" dirty="0"/>
          </a:p>
        </p:txBody>
      </p:sp>
    </p:spTree>
  </p:cSld>
  <p:clrMapOvr>
    <a:masterClrMapping/>
  </p:clrMapOvr>
  <p:transition>
    <p:dissolv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a:t>Values and NULLs in the Tuples</a:t>
            </a:r>
          </a:p>
        </p:txBody>
      </p:sp>
      <p:sp>
        <p:nvSpPr>
          <p:cNvPr id="2" name="Content Placeholder 1"/>
          <p:cNvSpPr>
            <a:spLocks noGrp="1"/>
          </p:cNvSpPr>
          <p:nvPr>
            <p:ph idx="1"/>
          </p:nvPr>
        </p:nvSpPr>
        <p:spPr>
          <a:xfrm>
            <a:off x="822959" y="2133600"/>
            <a:ext cx="7543801" cy="2971800"/>
          </a:xfrm>
        </p:spPr>
        <p:txBody>
          <a:bodyPr/>
          <a:lstStyle/>
          <a:p>
            <a:pPr algn="just"/>
            <a:r>
              <a:rPr lang="en-US" sz="2400" dirty="0">
                <a:cs typeface="Times New Roman" pitchFamily="18" charset="0"/>
              </a:rPr>
              <a:t>All values are considered </a:t>
            </a:r>
            <a:r>
              <a:rPr lang="en-US" sz="2400" i="1" dirty="0">
                <a:cs typeface="Times New Roman" pitchFamily="18" charset="0"/>
              </a:rPr>
              <a:t>atomic</a:t>
            </a:r>
            <a:r>
              <a:rPr lang="en-US" sz="2400" dirty="0">
                <a:cs typeface="Times New Roman" pitchFamily="18" charset="0"/>
              </a:rPr>
              <a:t>  (indivisible).</a:t>
            </a:r>
          </a:p>
          <a:p>
            <a:pPr algn="just"/>
            <a:r>
              <a:rPr lang="en-US" sz="2400" dirty="0" smtClean="0">
                <a:cs typeface="Times New Roman" pitchFamily="18" charset="0"/>
              </a:rPr>
              <a:t>This </a:t>
            </a:r>
            <a:r>
              <a:rPr lang="en-US" sz="2400" dirty="0">
                <a:cs typeface="Times New Roman" pitchFamily="18" charset="0"/>
              </a:rPr>
              <a:t>model sometimes called as the flat relational model.</a:t>
            </a:r>
          </a:p>
          <a:p>
            <a:pPr algn="just"/>
            <a:r>
              <a:rPr lang="en-US" sz="2400" dirty="0" smtClean="0">
                <a:cs typeface="Times New Roman" pitchFamily="18" charset="0"/>
              </a:rPr>
              <a:t>A </a:t>
            </a:r>
            <a:r>
              <a:rPr lang="en-US" sz="2400" dirty="0">
                <a:cs typeface="Times New Roman" pitchFamily="18" charset="0"/>
              </a:rPr>
              <a:t>special </a:t>
            </a:r>
            <a:r>
              <a:rPr lang="en-US" sz="2400" b="1" dirty="0">
                <a:cs typeface="Times New Roman" pitchFamily="18" charset="0"/>
              </a:rPr>
              <a:t>NULL </a:t>
            </a:r>
            <a:r>
              <a:rPr lang="en-US" sz="2400" dirty="0">
                <a:cs typeface="Times New Roman" pitchFamily="18" charset="0"/>
              </a:rPr>
              <a:t>value is used to represent values that are unknown or inapplicable to certain tuples.</a:t>
            </a:r>
          </a:p>
          <a:p>
            <a:pPr algn="just"/>
            <a:endParaRPr lang="en-US" dirty="0">
              <a:cs typeface="Times New Roman" pitchFamily="18" charset="0"/>
            </a:endParaRPr>
          </a:p>
          <a:p>
            <a:pPr algn="just"/>
            <a:endParaRPr lang="en-US" dirty="0"/>
          </a:p>
        </p:txBody>
      </p:sp>
    </p:spTree>
  </p:cSld>
  <p:clrMapOvr>
    <a:masterClrMapping/>
  </p:clrMapOvr>
  <p:transition>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4400" dirty="0"/>
              <a:t>Interpretation (Meaning) of a Relation</a:t>
            </a:r>
            <a:endParaRPr lang="en-US" dirty="0"/>
          </a:p>
        </p:txBody>
      </p:sp>
      <p:sp>
        <p:nvSpPr>
          <p:cNvPr id="2" name="Content Placeholder 1"/>
          <p:cNvSpPr>
            <a:spLocks noGrp="1"/>
          </p:cNvSpPr>
          <p:nvPr>
            <p:ph idx="1"/>
          </p:nvPr>
        </p:nvSpPr>
        <p:spPr>
          <a:xfrm>
            <a:off x="833511" y="2362200"/>
            <a:ext cx="7543801" cy="4023360"/>
          </a:xfrm>
        </p:spPr>
        <p:txBody>
          <a:bodyPr>
            <a:normAutofit/>
          </a:bodyPr>
          <a:lstStyle/>
          <a:p>
            <a:pPr algn="just"/>
            <a:r>
              <a:rPr lang="en-US" sz="2400" dirty="0"/>
              <a:t>The relation schema can be interpreted as a declaration or a type of </a:t>
            </a:r>
            <a:r>
              <a:rPr lang="en-US" sz="2400" b="1" dirty="0"/>
              <a:t>assertion</a:t>
            </a:r>
            <a:r>
              <a:rPr lang="en-US" sz="2400" b="1" dirty="0" smtClean="0"/>
              <a:t>.</a:t>
            </a:r>
          </a:p>
          <a:p>
            <a:pPr algn="just"/>
            <a:endParaRPr lang="en-US" sz="2400" b="1" dirty="0"/>
          </a:p>
          <a:p>
            <a:pPr algn="just"/>
            <a:r>
              <a:rPr lang="en-US" sz="2400" dirty="0" smtClean="0"/>
              <a:t>For </a:t>
            </a:r>
            <a:r>
              <a:rPr lang="en-US" sz="2400" dirty="0"/>
              <a:t>example, the schema of the student entity has a Name, SSN, </a:t>
            </a:r>
            <a:r>
              <a:rPr lang="en-US" sz="2400" dirty="0" err="1"/>
              <a:t>HomePhone</a:t>
            </a:r>
            <a:r>
              <a:rPr lang="en-US" sz="2400" dirty="0"/>
              <a:t>, Address, </a:t>
            </a:r>
            <a:r>
              <a:rPr lang="en-US" sz="2400" dirty="0" err="1"/>
              <a:t>Officephone</a:t>
            </a:r>
            <a:r>
              <a:rPr lang="en-US" sz="2400" dirty="0"/>
              <a:t>, Age and GPA. Each tuple in the relation can then be interpreted as a fact or a particular instance of the relation.</a:t>
            </a:r>
          </a:p>
        </p:txBody>
      </p:sp>
    </p:spTree>
  </p:cSld>
  <p:clrMapOvr>
    <a:masterClrMapping/>
  </p:clrMapOvr>
  <p:transition>
    <p:dissolv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Example…</a:t>
            </a:r>
          </a:p>
        </p:txBody>
      </p:sp>
      <p:pic>
        <p:nvPicPr>
          <p:cNvPr id="7" name="Picture 5" descr="31755_FIG0702.gif                                              0001035BEeyore                         B91DCF3B:"/>
          <p:cNvPicPr>
            <a:picLocks noGrp="1" noChangeAspect="1" noChangeArrowheads="1"/>
          </p:cNvPicPr>
          <p:nvPr>
            <p:ph idx="1"/>
          </p:nvPr>
        </p:nvPicPr>
        <p:blipFill>
          <a:blip r:embed="rId2" cstate="print"/>
          <a:srcRect/>
          <a:stretch>
            <a:fillRect/>
          </a:stretch>
        </p:blipFill>
        <p:spPr bwMode="auto">
          <a:xfrm>
            <a:off x="304800" y="2209800"/>
            <a:ext cx="7924800" cy="3537857"/>
          </a:xfrm>
          <a:prstGeom prst="rect">
            <a:avLst/>
          </a:prstGeom>
          <a:noFill/>
          <a:ln w="9525">
            <a:noFill/>
            <a:miter lim="800000"/>
            <a:headEnd/>
            <a:tailEnd/>
          </a:ln>
        </p:spPr>
      </p:pic>
    </p:spTree>
  </p:cSld>
  <p:clrMapOvr>
    <a:masterClrMapping/>
  </p:clrMapOvr>
  <p:transition>
    <p:dissolv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12648" y="876885"/>
            <a:ext cx="7543800" cy="762001"/>
          </a:xfrm>
        </p:spPr>
        <p:txBody>
          <a:bodyPr>
            <a:normAutofit/>
          </a:bodyPr>
          <a:lstStyle/>
          <a:p>
            <a:r>
              <a:rPr lang="en-US" sz="4000" b="1" dirty="0"/>
              <a:t>Relational Model Notations</a:t>
            </a:r>
          </a:p>
        </p:txBody>
      </p:sp>
      <p:sp>
        <p:nvSpPr>
          <p:cNvPr id="2" name="Content Placeholder 1"/>
          <p:cNvSpPr>
            <a:spLocks noGrp="1"/>
          </p:cNvSpPr>
          <p:nvPr>
            <p:ph idx="1"/>
          </p:nvPr>
        </p:nvSpPr>
        <p:spPr>
          <a:xfrm>
            <a:off x="457200" y="2133600"/>
            <a:ext cx="8308848" cy="2133600"/>
          </a:xfrm>
        </p:spPr>
        <p:txBody>
          <a:bodyPr>
            <a:noAutofit/>
          </a:bodyPr>
          <a:lstStyle/>
          <a:p>
            <a:pPr algn="just"/>
            <a:r>
              <a:rPr lang="en-US" sz="2800" dirty="0"/>
              <a:t>Following notations are used in the Relational Model</a:t>
            </a:r>
            <a:r>
              <a:rPr lang="en-US" sz="2800" dirty="0" smtClean="0"/>
              <a:t>:</a:t>
            </a:r>
          </a:p>
          <a:p>
            <a:pPr algn="just"/>
            <a:endParaRPr lang="en-US" sz="1000" dirty="0"/>
          </a:p>
          <a:p>
            <a:pPr lvl="1" algn="just"/>
            <a:r>
              <a:rPr lang="en-US" sz="2400" dirty="0"/>
              <a:t>A relation schema R of degree n is denoted by R(A1, A2, …, An</a:t>
            </a:r>
            <a:r>
              <a:rPr lang="en-US" sz="2400" dirty="0" smtClean="0"/>
              <a:t>).</a:t>
            </a:r>
          </a:p>
          <a:p>
            <a:pPr lvl="1" algn="just"/>
            <a:endParaRPr lang="en-US" sz="1100" dirty="0"/>
          </a:p>
          <a:p>
            <a:pPr lvl="1" algn="just"/>
            <a:r>
              <a:rPr lang="en-US" sz="2400" dirty="0"/>
              <a:t>The letters Q, R, S denote relation names</a:t>
            </a:r>
            <a:r>
              <a:rPr lang="en-US" sz="2400" dirty="0" smtClean="0"/>
              <a:t>.</a:t>
            </a:r>
          </a:p>
          <a:p>
            <a:pPr marL="201168" lvl="1" indent="0" algn="just">
              <a:buNone/>
            </a:pPr>
            <a:endParaRPr lang="en-US" sz="1100" dirty="0"/>
          </a:p>
          <a:p>
            <a:pPr lvl="1" algn="just"/>
            <a:r>
              <a:rPr lang="en-US" sz="2400" dirty="0"/>
              <a:t>The letters q, r, s denote relation states</a:t>
            </a:r>
            <a:r>
              <a:rPr lang="en-US" sz="2400" dirty="0" smtClean="0"/>
              <a:t>.</a:t>
            </a:r>
          </a:p>
          <a:p>
            <a:pPr lvl="1" algn="just"/>
            <a:endParaRPr lang="en-US" sz="1200" dirty="0"/>
          </a:p>
          <a:p>
            <a:pPr lvl="1" algn="just"/>
            <a:r>
              <a:rPr lang="en-US" sz="2400" dirty="0"/>
              <a:t>The letters t, u, v denote tuples.</a:t>
            </a:r>
          </a:p>
          <a:p>
            <a:pPr lvl="1" algn="just"/>
            <a:endParaRPr lang="en-US" sz="2400" dirty="0"/>
          </a:p>
          <a:p>
            <a:pPr algn="just"/>
            <a:endParaRPr lang="en-US" sz="2800" dirty="0"/>
          </a:p>
          <a:p>
            <a:pPr algn="just"/>
            <a:endParaRPr lang="en-US" sz="2800" dirty="0"/>
          </a:p>
          <a:p>
            <a:pPr algn="just"/>
            <a:endParaRPr lang="en-US" sz="2800" dirty="0"/>
          </a:p>
        </p:txBody>
      </p:sp>
    </p:spTree>
  </p:cSld>
  <p:clrMapOvr>
    <a:masterClrMapping/>
  </p:clrMapOvr>
  <p:transition>
    <p:dissolv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pPr algn="just"/>
            <a:r>
              <a:rPr lang="en-US" sz="2800" b="1" dirty="0"/>
              <a:t>Relational Model Constraints and Relational Database Schemas</a:t>
            </a:r>
          </a:p>
        </p:txBody>
      </p:sp>
      <p:sp>
        <p:nvSpPr>
          <p:cNvPr id="2" name="Content Placeholder 1"/>
          <p:cNvSpPr>
            <a:spLocks noGrp="1"/>
          </p:cNvSpPr>
          <p:nvPr>
            <p:ph idx="1"/>
          </p:nvPr>
        </p:nvSpPr>
        <p:spPr>
          <a:xfrm>
            <a:off x="701039" y="1905000"/>
            <a:ext cx="7787641" cy="4326466"/>
          </a:xfrm>
        </p:spPr>
        <p:txBody>
          <a:bodyPr>
            <a:normAutofit fontScale="77500" lnSpcReduction="20000"/>
          </a:bodyPr>
          <a:lstStyle/>
          <a:p>
            <a:pPr algn="just"/>
            <a:r>
              <a:rPr lang="en-US" sz="2600" dirty="0">
                <a:latin typeface="Times New Roman" panose="02020603050405020304" pitchFamily="18" charset="0"/>
                <a:cs typeface="Times New Roman" panose="02020603050405020304" pitchFamily="18" charset="0"/>
              </a:rPr>
              <a:t>Constraints on databases can generally be divided into three main categories:</a:t>
            </a:r>
          </a:p>
          <a:p>
            <a:pPr algn="just"/>
            <a:endParaRPr lang="en-US" sz="2600" dirty="0">
              <a:latin typeface="Times New Roman" panose="02020603050405020304" pitchFamily="18" charset="0"/>
              <a:cs typeface="Times New Roman" panose="02020603050405020304" pitchFamily="18" charset="0"/>
            </a:endParaRPr>
          </a:p>
          <a:p>
            <a:pPr lvl="1" algn="just"/>
            <a:r>
              <a:rPr lang="en-US" sz="2600" dirty="0">
                <a:latin typeface="Times New Roman" panose="02020603050405020304" pitchFamily="18" charset="0"/>
                <a:cs typeface="Times New Roman" panose="02020603050405020304" pitchFamily="18" charset="0"/>
              </a:rPr>
              <a:t>Inherent model based or Implicit </a:t>
            </a:r>
            <a:r>
              <a:rPr lang="en-US" sz="2600" dirty="0" smtClean="0">
                <a:latin typeface="Times New Roman" panose="02020603050405020304" pitchFamily="18" charset="0"/>
                <a:cs typeface="Times New Roman" panose="02020603050405020304" pitchFamily="18" charset="0"/>
              </a:rPr>
              <a:t>constraint</a:t>
            </a:r>
          </a:p>
          <a:p>
            <a:pPr lvl="2" algn="just"/>
            <a:r>
              <a:rPr lang="en-US" sz="2600" dirty="0" smtClean="0">
                <a:latin typeface="Times New Roman" panose="02020603050405020304" pitchFamily="18" charset="0"/>
                <a:cs typeface="Times New Roman" panose="02020603050405020304" pitchFamily="18" charset="0"/>
              </a:rPr>
              <a:t>Constraints </a:t>
            </a:r>
            <a:r>
              <a:rPr lang="en-US" sz="2600" dirty="0">
                <a:latin typeface="Times New Roman" panose="02020603050405020304" pitchFamily="18" charset="0"/>
                <a:cs typeface="Times New Roman" panose="02020603050405020304" pitchFamily="18" charset="0"/>
              </a:rPr>
              <a:t>that are inherent to the data model-</a:t>
            </a:r>
            <a:r>
              <a:rPr lang="en-IN" sz="2600" b="0" i="0" u="none" strike="noStrike" baseline="0" dirty="0">
                <a:latin typeface="Times New Roman" panose="02020603050405020304" pitchFamily="18" charset="0"/>
                <a:cs typeface="Times New Roman" panose="02020603050405020304" pitchFamily="18" charset="0"/>
              </a:rPr>
              <a:t>the constraint that a </a:t>
            </a:r>
            <a:r>
              <a:rPr lang="en-IN" sz="2600" b="0" i="0" u="none" strike="noStrike" baseline="0" dirty="0" smtClean="0">
                <a:latin typeface="Times New Roman" panose="02020603050405020304" pitchFamily="18" charset="0"/>
                <a:cs typeface="Times New Roman" panose="02020603050405020304" pitchFamily="18" charset="0"/>
              </a:rPr>
              <a:t>relation </a:t>
            </a:r>
            <a:r>
              <a:rPr lang="en-IN" sz="2600" b="0" i="0" u="none" strike="noStrike" baseline="0" dirty="0">
                <a:latin typeface="Times New Roman" panose="02020603050405020304" pitchFamily="18" charset="0"/>
                <a:cs typeface="Times New Roman" panose="02020603050405020304" pitchFamily="18" charset="0"/>
              </a:rPr>
              <a:t>cannot have duplicate tuples is an inherent constraint</a:t>
            </a:r>
            <a:r>
              <a:rPr lang="en-IN" sz="2200" b="0" i="0" u="none" strike="noStrike" baseline="0" dirty="0" smtClean="0">
                <a:latin typeface="Times New Roman" panose="02020603050405020304" pitchFamily="18" charset="0"/>
                <a:cs typeface="Times New Roman" panose="02020603050405020304" pitchFamily="18" charset="0"/>
              </a:rPr>
              <a:t>.</a:t>
            </a:r>
          </a:p>
          <a:p>
            <a:pPr marL="201168" lvl="1" indent="0" algn="just">
              <a:buNone/>
            </a:pPr>
            <a:endParaRPr lang="en-US" sz="2600" dirty="0">
              <a:latin typeface="Times New Roman" panose="02020603050405020304" pitchFamily="18" charset="0"/>
              <a:cs typeface="Times New Roman" panose="02020603050405020304" pitchFamily="18" charset="0"/>
            </a:endParaRPr>
          </a:p>
          <a:p>
            <a:pPr lvl="1" algn="just"/>
            <a:r>
              <a:rPr lang="en-US" sz="2600" dirty="0">
                <a:latin typeface="Times New Roman" panose="02020603050405020304" pitchFamily="18" charset="0"/>
                <a:cs typeface="Times New Roman" panose="02020603050405020304" pitchFamily="18" charset="0"/>
              </a:rPr>
              <a:t>Schema based or Explicit constraint</a:t>
            </a:r>
          </a:p>
          <a:p>
            <a:pPr lvl="2" algn="just"/>
            <a:r>
              <a:rPr lang="en-US" sz="2600" dirty="0">
                <a:latin typeface="Times New Roman" panose="02020603050405020304" pitchFamily="18" charset="0"/>
                <a:cs typeface="Times New Roman" panose="02020603050405020304" pitchFamily="18" charset="0"/>
              </a:rPr>
              <a:t>Constraints that are directly expressed in schemas of the data model</a:t>
            </a:r>
          </a:p>
          <a:p>
            <a:pPr lvl="1" algn="just"/>
            <a:endParaRPr lang="en-US" sz="2600" dirty="0">
              <a:latin typeface="Times New Roman" panose="02020603050405020304" pitchFamily="18" charset="0"/>
              <a:cs typeface="Times New Roman" panose="02020603050405020304" pitchFamily="18" charset="0"/>
            </a:endParaRPr>
          </a:p>
          <a:p>
            <a:pPr lvl="1" algn="just"/>
            <a:r>
              <a:rPr lang="en-US" sz="2600" dirty="0">
                <a:latin typeface="Times New Roman" panose="02020603050405020304" pitchFamily="18" charset="0"/>
                <a:cs typeface="Times New Roman" panose="02020603050405020304" pitchFamily="18" charset="0"/>
              </a:rPr>
              <a:t>Application based or Semantic constraint or Business </a:t>
            </a:r>
            <a:r>
              <a:rPr lang="en-US" sz="2600" dirty="0" smtClean="0">
                <a:latin typeface="Times New Roman" panose="02020603050405020304" pitchFamily="18" charset="0"/>
                <a:cs typeface="Times New Roman" panose="02020603050405020304" pitchFamily="18" charset="0"/>
              </a:rPr>
              <a:t>rules</a:t>
            </a:r>
          </a:p>
          <a:p>
            <a:pPr lvl="1" algn="just"/>
            <a:endParaRPr lang="en-US" sz="2600" dirty="0">
              <a:latin typeface="Times New Roman" panose="02020603050405020304" pitchFamily="18" charset="0"/>
              <a:cs typeface="Times New Roman" panose="02020603050405020304" pitchFamily="18" charset="0"/>
            </a:endParaRPr>
          </a:p>
          <a:p>
            <a:pPr lvl="2" algn="just"/>
            <a:r>
              <a:rPr lang="en-US" sz="2600" dirty="0">
                <a:latin typeface="Times New Roman" panose="02020603050405020304" pitchFamily="18" charset="0"/>
                <a:cs typeface="Times New Roman" panose="02020603050405020304" pitchFamily="18" charset="0"/>
              </a:rPr>
              <a:t>Constraints that can not be directly expressed in schemas of the data model and hence must be expressed and enforced by the application programs-Ex: Writing assertions in application side</a:t>
            </a:r>
          </a:p>
          <a:p>
            <a:pPr algn="just"/>
            <a:endParaRPr lang="en-US" sz="1800" dirty="0"/>
          </a:p>
          <a:p>
            <a:pPr algn="just"/>
            <a:endParaRPr lang="en-US" dirty="0"/>
          </a:p>
        </p:txBody>
      </p:sp>
    </p:spTree>
  </p:cSld>
  <p:clrMapOvr>
    <a:masterClrMapping/>
  </p:clrMapOvr>
  <p:transition>
    <p:dissolv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24371" y="685800"/>
            <a:ext cx="7543800" cy="780196"/>
          </a:xfrm>
        </p:spPr>
        <p:txBody>
          <a:bodyPr>
            <a:normAutofit/>
          </a:bodyPr>
          <a:lstStyle/>
          <a:p>
            <a:r>
              <a:rPr lang="en-US" sz="3600" b="1" dirty="0"/>
              <a:t>Constraints in the Relational Model</a:t>
            </a:r>
          </a:p>
        </p:txBody>
      </p:sp>
      <p:sp>
        <p:nvSpPr>
          <p:cNvPr id="2" name="Content Placeholder 1"/>
          <p:cNvSpPr>
            <a:spLocks noGrp="1"/>
          </p:cNvSpPr>
          <p:nvPr>
            <p:ph idx="1"/>
          </p:nvPr>
        </p:nvSpPr>
        <p:spPr>
          <a:xfrm>
            <a:off x="762000" y="2133600"/>
            <a:ext cx="8153400" cy="4495800"/>
          </a:xfrm>
        </p:spPr>
        <p:txBody>
          <a:bodyPr>
            <a:normAutofit/>
          </a:bodyPr>
          <a:lstStyle/>
          <a:p>
            <a:r>
              <a:rPr lang="en-US" sz="2800" dirty="0"/>
              <a:t>Domain Constraints</a:t>
            </a:r>
          </a:p>
          <a:p>
            <a:endParaRPr lang="en-US" sz="1050" dirty="0"/>
          </a:p>
          <a:p>
            <a:r>
              <a:rPr lang="en-US" sz="2800" dirty="0"/>
              <a:t>Key Constraints and Constraint on NULL values</a:t>
            </a:r>
          </a:p>
          <a:p>
            <a:endParaRPr lang="en-US" sz="1200" dirty="0"/>
          </a:p>
          <a:p>
            <a:r>
              <a:rPr lang="en-US" sz="2800" dirty="0"/>
              <a:t>Entity integrity constraints</a:t>
            </a:r>
          </a:p>
          <a:p>
            <a:endParaRPr lang="en-US" sz="1000" dirty="0"/>
          </a:p>
          <a:p>
            <a:r>
              <a:rPr lang="en-US" sz="2800" dirty="0"/>
              <a:t>Referential integrity constraints</a:t>
            </a:r>
          </a:p>
        </p:txBody>
      </p:sp>
    </p:spTree>
  </p:cSld>
  <p:clrMapOvr>
    <a:masterClrMapping/>
  </p:clrMapOvr>
  <p:transition>
    <p:dissolv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Domain Constraints</a:t>
            </a:r>
          </a:p>
        </p:txBody>
      </p:sp>
      <p:sp>
        <p:nvSpPr>
          <p:cNvPr id="2" name="Content Placeholder 1"/>
          <p:cNvSpPr>
            <a:spLocks noGrp="1"/>
          </p:cNvSpPr>
          <p:nvPr>
            <p:ph idx="1"/>
          </p:nvPr>
        </p:nvSpPr>
        <p:spPr>
          <a:xfrm>
            <a:off x="685800" y="2133600"/>
            <a:ext cx="7543801" cy="2743200"/>
          </a:xfrm>
        </p:spPr>
        <p:txBody>
          <a:bodyPr>
            <a:normAutofit/>
          </a:bodyPr>
          <a:lstStyle/>
          <a:p>
            <a:pPr algn="just"/>
            <a:r>
              <a:rPr lang="en-US" sz="2400" dirty="0"/>
              <a:t>These constraints specify that within each tuple, the value of each attribute A must be an atomic value from the domain </a:t>
            </a:r>
            <a:r>
              <a:rPr lang="en-US" sz="2400" dirty="0" err="1"/>
              <a:t>dom</a:t>
            </a:r>
            <a:r>
              <a:rPr lang="en-US" sz="2400" dirty="0"/>
              <a:t>(A</a:t>
            </a:r>
            <a:r>
              <a:rPr lang="en-US" sz="2400" dirty="0" smtClean="0"/>
              <a:t>).</a:t>
            </a:r>
          </a:p>
          <a:p>
            <a:pPr algn="just"/>
            <a:endParaRPr lang="en-US" sz="2400" dirty="0" smtClean="0"/>
          </a:p>
          <a:p>
            <a:pPr algn="just"/>
            <a:r>
              <a:rPr lang="en-US" sz="2400" dirty="0" smtClean="0"/>
              <a:t>The </a:t>
            </a:r>
            <a:r>
              <a:rPr lang="en-US" sz="2400" dirty="0"/>
              <a:t>data types associated with domains typically include standard numeric data types for integers and real numbers.</a:t>
            </a:r>
          </a:p>
        </p:txBody>
      </p:sp>
    </p:spTree>
  </p:cSld>
  <p:clrMapOvr>
    <a:masterClrMapping/>
  </p:clrMapOvr>
  <p:transition>
    <p:dissolv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28600"/>
            <a:ext cx="7787640" cy="856396"/>
          </a:xfrm>
        </p:spPr>
        <p:txBody>
          <a:bodyPr>
            <a:normAutofit/>
          </a:bodyPr>
          <a:lstStyle/>
          <a:p>
            <a:r>
              <a:rPr lang="en-US" sz="3200" b="1" dirty="0"/>
              <a:t>Key </a:t>
            </a:r>
            <a:r>
              <a:rPr lang="en-US" sz="3200" b="1" dirty="0" smtClean="0"/>
              <a:t>Constraints and </a:t>
            </a:r>
            <a:r>
              <a:rPr lang="en-US" sz="3200" b="1" dirty="0"/>
              <a:t>Constraints on NULL values</a:t>
            </a:r>
          </a:p>
        </p:txBody>
      </p:sp>
      <p:sp>
        <p:nvSpPr>
          <p:cNvPr id="2" name="Content Placeholder 1"/>
          <p:cNvSpPr>
            <a:spLocks noGrp="1"/>
          </p:cNvSpPr>
          <p:nvPr>
            <p:ph idx="1"/>
          </p:nvPr>
        </p:nvSpPr>
        <p:spPr>
          <a:xfrm>
            <a:off x="228600" y="1295400"/>
            <a:ext cx="8534400" cy="4495800"/>
          </a:xfrm>
        </p:spPr>
        <p:txBody>
          <a:bodyPr>
            <a:noAutofit/>
          </a:bodyPr>
          <a:lstStyle/>
          <a:p>
            <a:pPr algn="just"/>
            <a:r>
              <a:rPr lang="en-US" sz="2400" dirty="0"/>
              <a:t>Super Key</a:t>
            </a:r>
          </a:p>
          <a:p>
            <a:pPr lvl="1" algn="just"/>
            <a:r>
              <a:rPr lang="en-US" sz="2000" dirty="0"/>
              <a:t>It is a subset of attributes SK where any two distinct tuples t1 and t2 in a relation state r of R, we have the constraint that t1[SK] ≠ t2[SK]</a:t>
            </a:r>
          </a:p>
          <a:p>
            <a:pPr algn="just"/>
            <a:r>
              <a:rPr lang="en-US" sz="2400" dirty="0" smtClean="0"/>
              <a:t>Key</a:t>
            </a:r>
            <a:endParaRPr lang="en-US" sz="2400" dirty="0"/>
          </a:p>
          <a:p>
            <a:pPr lvl="1" algn="just"/>
            <a:r>
              <a:rPr lang="en-US" sz="2000" dirty="0"/>
              <a:t>A key K of a relation schema R is a super key of R with the additional property that removing any attribute A from K leaves set of attributes K’ that is not a super key of R any more.</a:t>
            </a:r>
          </a:p>
          <a:p>
            <a:pPr algn="just"/>
            <a:r>
              <a:rPr lang="en-US" sz="2400" dirty="0" smtClean="0"/>
              <a:t>Candidate </a:t>
            </a:r>
            <a:r>
              <a:rPr lang="en-US" sz="2400" dirty="0"/>
              <a:t>Key</a:t>
            </a:r>
          </a:p>
          <a:p>
            <a:pPr lvl="1" algn="just"/>
            <a:r>
              <a:rPr lang="en-US" sz="2000" dirty="0"/>
              <a:t>A relation schema may have more than one key. In this case, each of the keys is called a candidate key.</a:t>
            </a:r>
          </a:p>
          <a:p>
            <a:pPr algn="just"/>
            <a:r>
              <a:rPr lang="en-US" sz="2400" dirty="0" smtClean="0"/>
              <a:t>Primary </a:t>
            </a:r>
            <a:r>
              <a:rPr lang="en-US" sz="2400" dirty="0"/>
              <a:t>Key</a:t>
            </a:r>
          </a:p>
          <a:p>
            <a:pPr lvl="1" algn="just"/>
            <a:r>
              <a:rPr lang="en-US" sz="2000" dirty="0"/>
              <a:t>This is the candidate key whose values are used to identify tuples in the relation.</a:t>
            </a:r>
          </a:p>
          <a:p>
            <a:pPr lvl="1" algn="just"/>
            <a:r>
              <a:rPr lang="en-US" sz="2000" dirty="0"/>
              <a:t>The primary key of the relation schema are underlined.</a:t>
            </a:r>
          </a:p>
        </p:txBody>
      </p:sp>
    </p:spTree>
  </p:cSld>
  <p:clrMapOvr>
    <a:masterClrMapping/>
  </p:clrMapOvr>
  <p:transition>
    <p:dissolv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pPr algn="just"/>
            <a:r>
              <a:rPr lang="en-US" sz="3200" dirty="0"/>
              <a:t>Relational Databases and Relational Database Schemas</a:t>
            </a:r>
          </a:p>
        </p:txBody>
      </p:sp>
      <p:sp>
        <p:nvSpPr>
          <p:cNvPr id="2" name="Content Placeholder 1"/>
          <p:cNvSpPr>
            <a:spLocks noGrp="1"/>
          </p:cNvSpPr>
          <p:nvPr>
            <p:ph idx="1"/>
          </p:nvPr>
        </p:nvSpPr>
        <p:spPr/>
        <p:txBody>
          <a:bodyPr>
            <a:normAutofit lnSpcReduction="10000"/>
          </a:bodyPr>
          <a:lstStyle/>
          <a:p>
            <a:pPr algn="just"/>
            <a:r>
              <a:rPr lang="en-US" dirty="0"/>
              <a:t>Relational Database Schema</a:t>
            </a:r>
          </a:p>
          <a:p>
            <a:pPr lvl="1" algn="just"/>
            <a:r>
              <a:rPr lang="en-US" dirty="0"/>
              <a:t>A relational database schema S is a set of relation schemas S = {R</a:t>
            </a:r>
            <a:r>
              <a:rPr lang="en-US" baseline="-25000" dirty="0"/>
              <a:t>1</a:t>
            </a:r>
            <a:r>
              <a:rPr lang="en-US" dirty="0"/>
              <a:t>, R</a:t>
            </a:r>
            <a:r>
              <a:rPr lang="en-US" baseline="-25000" dirty="0"/>
              <a:t>2</a:t>
            </a:r>
            <a:r>
              <a:rPr lang="en-US" dirty="0"/>
              <a:t>, …, </a:t>
            </a:r>
            <a:r>
              <a:rPr lang="en-US" dirty="0" err="1"/>
              <a:t>R</a:t>
            </a:r>
            <a:r>
              <a:rPr lang="en-US" baseline="-25000" dirty="0" err="1"/>
              <a:t>m</a:t>
            </a:r>
            <a:r>
              <a:rPr lang="en-US" dirty="0"/>
              <a:t>} and a set of integrity constraints IC.</a:t>
            </a:r>
          </a:p>
          <a:p>
            <a:pPr algn="just"/>
            <a:endParaRPr lang="en-US" dirty="0"/>
          </a:p>
          <a:p>
            <a:pPr algn="just"/>
            <a:r>
              <a:rPr lang="en-US" dirty="0"/>
              <a:t>Relational Database State</a:t>
            </a:r>
          </a:p>
          <a:p>
            <a:pPr lvl="1" algn="just"/>
            <a:r>
              <a:rPr lang="en-US" dirty="0"/>
              <a:t>A relational database state DB of S is a set of relation states DB = {r</a:t>
            </a:r>
            <a:r>
              <a:rPr lang="en-US" baseline="-25000" dirty="0"/>
              <a:t>1</a:t>
            </a:r>
            <a:r>
              <a:rPr lang="en-US" dirty="0"/>
              <a:t>, r</a:t>
            </a:r>
            <a:r>
              <a:rPr lang="en-US" baseline="-25000" dirty="0"/>
              <a:t>2</a:t>
            </a:r>
            <a:r>
              <a:rPr lang="en-US" dirty="0"/>
              <a:t>, …, </a:t>
            </a:r>
            <a:r>
              <a:rPr lang="en-US" dirty="0" err="1"/>
              <a:t>r</a:t>
            </a:r>
            <a:r>
              <a:rPr lang="en-US" baseline="-25000" dirty="0" err="1"/>
              <a:t>m</a:t>
            </a:r>
            <a:r>
              <a:rPr lang="en-US" dirty="0"/>
              <a:t>} such that each </a:t>
            </a:r>
            <a:r>
              <a:rPr lang="en-US" dirty="0" err="1"/>
              <a:t>r</a:t>
            </a:r>
            <a:r>
              <a:rPr lang="en-US" baseline="-25000" dirty="0" err="1"/>
              <a:t>i</a:t>
            </a:r>
            <a:r>
              <a:rPr lang="en-US" dirty="0"/>
              <a:t> is a state of </a:t>
            </a:r>
            <a:r>
              <a:rPr lang="en-US" dirty="0" err="1"/>
              <a:t>R</a:t>
            </a:r>
            <a:r>
              <a:rPr lang="en-US" baseline="-25000" dirty="0" err="1"/>
              <a:t>i</a:t>
            </a:r>
            <a:r>
              <a:rPr lang="en-US" dirty="0"/>
              <a:t> and such that the </a:t>
            </a:r>
            <a:r>
              <a:rPr lang="en-US" dirty="0" err="1"/>
              <a:t>r</a:t>
            </a:r>
            <a:r>
              <a:rPr lang="en-US" baseline="-25000" dirty="0" err="1"/>
              <a:t>i</a:t>
            </a:r>
            <a:r>
              <a:rPr lang="en-US" dirty="0"/>
              <a:t> relation states satisfy the integrity constraints specified in IC.</a:t>
            </a:r>
          </a:p>
          <a:p>
            <a:pPr algn="just"/>
            <a:endParaRPr lang="en-US" dirty="0"/>
          </a:p>
          <a:p>
            <a:pPr algn="just"/>
            <a:r>
              <a:rPr lang="en-US" dirty="0"/>
              <a:t>A database state that does not obey all the integrity constraints is called an </a:t>
            </a:r>
            <a:r>
              <a:rPr lang="en-US" b="1" dirty="0"/>
              <a:t>invalid</a:t>
            </a:r>
            <a:r>
              <a:rPr lang="en-US" dirty="0"/>
              <a:t> </a:t>
            </a:r>
            <a:r>
              <a:rPr lang="en-US" b="1" dirty="0"/>
              <a:t>state</a:t>
            </a:r>
            <a:r>
              <a:rPr lang="en-US" dirty="0"/>
              <a:t>, and a state that satisfies all the constraints in IC is called a </a:t>
            </a:r>
            <a:r>
              <a:rPr lang="en-US" b="1" dirty="0"/>
              <a:t>valid state</a:t>
            </a:r>
            <a:r>
              <a:rPr lang="en-US" dirty="0"/>
              <a:t>.</a:t>
            </a:r>
          </a:p>
          <a:p>
            <a:pPr algn="just"/>
            <a:endParaRPr lang="en-US" dirty="0"/>
          </a:p>
        </p:txBody>
      </p:sp>
    </p:spTree>
  </p:cSld>
  <p:clrMapOvr>
    <a:masterClrMapping/>
  </p:clrMapOvr>
  <p:transition>
    <p:dissolv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22960" y="286605"/>
            <a:ext cx="7543800" cy="1008796"/>
          </a:xfrm>
        </p:spPr>
        <p:txBody>
          <a:bodyPr/>
          <a:lstStyle/>
          <a:p>
            <a:r>
              <a:rPr lang="en-US" dirty="0"/>
              <a:t>Entity Integrity Constraints</a:t>
            </a:r>
          </a:p>
        </p:txBody>
      </p:sp>
      <p:sp>
        <p:nvSpPr>
          <p:cNvPr id="2" name="Content Placeholder 1"/>
          <p:cNvSpPr>
            <a:spLocks noGrp="1"/>
          </p:cNvSpPr>
          <p:nvPr>
            <p:ph idx="1"/>
          </p:nvPr>
        </p:nvSpPr>
        <p:spPr/>
        <p:txBody>
          <a:bodyPr>
            <a:noAutofit/>
          </a:bodyPr>
          <a:lstStyle/>
          <a:p>
            <a:pPr algn="just"/>
            <a:r>
              <a:rPr lang="en-US" sz="2400" dirty="0">
                <a:solidFill>
                  <a:schemeClr val="accent2">
                    <a:lumMod val="75000"/>
                  </a:schemeClr>
                </a:solidFill>
                <a:latin typeface="Times New Roman" panose="02020603050405020304" pitchFamily="18" charset="0"/>
                <a:cs typeface="Times New Roman" panose="02020603050405020304" pitchFamily="18" charset="0"/>
              </a:rPr>
              <a:t>The entity integrity constraint states that no primary key can be NULL.</a:t>
            </a:r>
          </a:p>
          <a:p>
            <a:pPr algn="just"/>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is because the primary key value is used to identify individual tuples in a relation.</a:t>
            </a:r>
          </a:p>
          <a:p>
            <a:pPr algn="just"/>
            <a:r>
              <a:rPr lang="en-US" sz="2400" dirty="0" smtClean="0">
                <a:latin typeface="Times New Roman" panose="02020603050405020304" pitchFamily="18" charset="0"/>
                <a:cs typeface="Times New Roman" panose="02020603050405020304" pitchFamily="18" charset="0"/>
              </a:rPr>
              <a:t>Having </a:t>
            </a:r>
            <a:r>
              <a:rPr lang="en-US" sz="2400" dirty="0">
                <a:latin typeface="Times New Roman" panose="02020603050405020304" pitchFamily="18" charset="0"/>
                <a:cs typeface="Times New Roman" panose="02020603050405020304" pitchFamily="18" charset="0"/>
              </a:rPr>
              <a:t>NULL values for the primary key implies that we can not identify some tuples.</a:t>
            </a:r>
          </a:p>
          <a:p>
            <a:pPr algn="just"/>
            <a:r>
              <a:rPr lang="en-US" sz="2400" dirty="0" smtClean="0">
                <a:latin typeface="Times New Roman" panose="02020603050405020304" pitchFamily="18" charset="0"/>
                <a:cs typeface="Times New Roman" panose="02020603050405020304" pitchFamily="18" charset="0"/>
              </a:rPr>
              <a:t>For </a:t>
            </a:r>
            <a:r>
              <a:rPr lang="en-US" sz="2400" dirty="0">
                <a:latin typeface="Times New Roman" panose="02020603050405020304" pitchFamily="18" charset="0"/>
                <a:cs typeface="Times New Roman" panose="02020603050405020304" pitchFamily="18" charset="0"/>
              </a:rPr>
              <a:t>example, if two or more tuples had NULL for their primary keys, we might not be able to distinguish them if we tried to reference them from other relations.</a:t>
            </a:r>
          </a:p>
        </p:txBody>
      </p:sp>
    </p:spTree>
  </p:cSld>
  <p:clrMapOvr>
    <a:masterClrMapping/>
  </p:clrMapOvr>
  <p:transition>
    <p:dissolv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C5A8A-9727-446E-B781-2DBA927FA189}"/>
              </a:ext>
            </a:extLst>
          </p:cNvPr>
          <p:cNvSpPr>
            <a:spLocks noGrp="1"/>
          </p:cNvSpPr>
          <p:nvPr>
            <p:ph type="title"/>
          </p:nvPr>
        </p:nvSpPr>
        <p:spPr>
          <a:xfrm>
            <a:off x="808543" y="454331"/>
            <a:ext cx="7543800" cy="246796"/>
          </a:xfrm>
        </p:spPr>
        <p:txBody>
          <a:bodyPr>
            <a:normAutofit fontScale="90000"/>
          </a:bodyPr>
          <a:lstStyle/>
          <a:p>
            <a:r>
              <a:rPr lang="en-IN" dirty="0"/>
              <a:t>Schema Diagram</a:t>
            </a:r>
          </a:p>
        </p:txBody>
      </p:sp>
      <p:pic>
        <p:nvPicPr>
          <p:cNvPr id="5" name="Picture 4">
            <a:extLst>
              <a:ext uri="{FF2B5EF4-FFF2-40B4-BE49-F238E27FC236}">
                <a16:creationId xmlns:a16="http://schemas.microsoft.com/office/drawing/2014/main" id="{3FB99065-5165-42F6-A8BC-F9501E071D04}"/>
              </a:ext>
            </a:extLst>
          </p:cNvPr>
          <p:cNvPicPr>
            <a:picLocks noChangeAspect="1"/>
          </p:cNvPicPr>
          <p:nvPr/>
        </p:nvPicPr>
        <p:blipFill>
          <a:blip r:embed="rId2"/>
          <a:stretch>
            <a:fillRect/>
          </a:stretch>
        </p:blipFill>
        <p:spPr>
          <a:xfrm>
            <a:off x="1289539" y="838200"/>
            <a:ext cx="6882580" cy="4952999"/>
          </a:xfrm>
          <a:prstGeom prst="rect">
            <a:avLst/>
          </a:prstGeom>
        </p:spPr>
      </p:pic>
    </p:spTree>
    <p:extLst>
      <p:ext uri="{BB962C8B-B14F-4D97-AF65-F5344CB8AC3E}">
        <p14:creationId xmlns:p14="http://schemas.microsoft.com/office/powerpoint/2010/main" val="3042973315"/>
      </p:ext>
    </p:extLst>
  </p:cSld>
  <p:clrMapOvr>
    <a:masterClrMapping/>
  </p:clrMapOvr>
  <p:transition>
    <p:dissolv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442F4-51DB-46A7-8371-FBD5A627905E}"/>
              </a:ext>
            </a:extLst>
          </p:cNvPr>
          <p:cNvSpPr>
            <a:spLocks noGrp="1"/>
          </p:cNvSpPr>
          <p:nvPr>
            <p:ph type="title"/>
          </p:nvPr>
        </p:nvSpPr>
        <p:spPr>
          <a:xfrm>
            <a:off x="822960" y="286605"/>
            <a:ext cx="7543800" cy="322996"/>
          </a:xfrm>
        </p:spPr>
        <p:txBody>
          <a:bodyPr>
            <a:normAutofit fontScale="90000"/>
          </a:bodyPr>
          <a:lstStyle/>
          <a:p>
            <a:r>
              <a:rPr lang="en-IN" dirty="0"/>
              <a:t>Example Database State</a:t>
            </a:r>
          </a:p>
        </p:txBody>
      </p:sp>
      <p:pic>
        <p:nvPicPr>
          <p:cNvPr id="5" name="Picture 4">
            <a:extLst>
              <a:ext uri="{FF2B5EF4-FFF2-40B4-BE49-F238E27FC236}">
                <a16:creationId xmlns:a16="http://schemas.microsoft.com/office/drawing/2014/main" id="{EA3C8A15-32CA-467C-BF29-4B3DEE5D906B}"/>
              </a:ext>
            </a:extLst>
          </p:cNvPr>
          <p:cNvPicPr>
            <a:picLocks noChangeAspect="1"/>
          </p:cNvPicPr>
          <p:nvPr/>
        </p:nvPicPr>
        <p:blipFill>
          <a:blip r:embed="rId2"/>
          <a:stretch>
            <a:fillRect/>
          </a:stretch>
        </p:blipFill>
        <p:spPr>
          <a:xfrm>
            <a:off x="1219200" y="424164"/>
            <a:ext cx="6705600" cy="5671836"/>
          </a:xfrm>
          <a:prstGeom prst="rect">
            <a:avLst/>
          </a:prstGeom>
        </p:spPr>
      </p:pic>
    </p:spTree>
    <p:extLst>
      <p:ext uri="{BB962C8B-B14F-4D97-AF65-F5344CB8AC3E}">
        <p14:creationId xmlns:p14="http://schemas.microsoft.com/office/powerpoint/2010/main" val="2690153815"/>
      </p:ext>
    </p:extLst>
  </p:cSld>
  <p:clrMapOvr>
    <a:masterClrMapping/>
  </p:clrMapOvr>
  <p:transition>
    <p:dissolv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a:t>Referential Integrity Constraints</a:t>
            </a:r>
          </a:p>
        </p:txBody>
      </p:sp>
      <p:sp>
        <p:nvSpPr>
          <p:cNvPr id="2" name="Content Placeholder 1"/>
          <p:cNvSpPr>
            <a:spLocks noGrp="1"/>
          </p:cNvSpPr>
          <p:nvPr>
            <p:ph idx="1"/>
          </p:nvPr>
        </p:nvSpPr>
        <p:spPr/>
        <p:txBody>
          <a:bodyPr>
            <a:noAutofit/>
          </a:bodyPr>
          <a:lstStyle/>
          <a:p>
            <a:pPr algn="just"/>
            <a:r>
              <a:rPr lang="en-US" sz="2400" dirty="0"/>
              <a:t>The referential integrity constraint is specified between two relations and is used to maintain the consistency among tuples in the two relations.</a:t>
            </a:r>
          </a:p>
          <a:p>
            <a:pPr algn="just"/>
            <a:r>
              <a:rPr lang="en-US" sz="2400" dirty="0" smtClean="0"/>
              <a:t>Informally</a:t>
            </a:r>
            <a:r>
              <a:rPr lang="en-US" sz="2400" dirty="0"/>
              <a:t>, the referential integrity constraint states that a tuple in one relation that refers to another relation must refer to an existing tuple in that relation.</a:t>
            </a:r>
          </a:p>
          <a:p>
            <a:pPr algn="just"/>
            <a:r>
              <a:rPr lang="en-US" sz="2400" dirty="0" smtClean="0"/>
              <a:t>For </a:t>
            </a:r>
            <a:r>
              <a:rPr lang="en-US" sz="2400" dirty="0"/>
              <a:t>example, the DNO of EMPLOYEE gives the department number for which each employee works; hence, its value in every EMPLOYEE tuple must match the DNUMBER value of some tuple in the DEPARTMENT relation.</a:t>
            </a:r>
          </a:p>
        </p:txBody>
      </p:sp>
    </p:spTree>
  </p:cSld>
  <p:clrMapOvr>
    <a:masterClrMapping/>
  </p:clrMapOvr>
  <p:transition>
    <p:dissolv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22960" y="286605"/>
            <a:ext cx="7543800" cy="856396"/>
          </a:xfrm>
        </p:spPr>
        <p:txBody>
          <a:bodyPr/>
          <a:lstStyle/>
          <a:p>
            <a:r>
              <a:rPr lang="en-US" dirty="0"/>
              <a:t>Foreign Key</a:t>
            </a:r>
          </a:p>
        </p:txBody>
      </p:sp>
      <p:sp>
        <p:nvSpPr>
          <p:cNvPr id="2" name="Content Placeholder 1"/>
          <p:cNvSpPr>
            <a:spLocks noGrp="1"/>
          </p:cNvSpPr>
          <p:nvPr>
            <p:ph idx="1"/>
          </p:nvPr>
        </p:nvSpPr>
        <p:spPr>
          <a:xfrm>
            <a:off x="609600" y="1905000"/>
            <a:ext cx="7543801" cy="4023360"/>
          </a:xfrm>
        </p:spPr>
        <p:txBody>
          <a:bodyPr>
            <a:noAutofit/>
          </a:bodyPr>
          <a:lstStyle/>
          <a:p>
            <a:pPr algn="just"/>
            <a:r>
              <a:rPr lang="en-US" dirty="0">
                <a:latin typeface="Times New Roman" panose="02020603050405020304" pitchFamily="18" charset="0"/>
                <a:cs typeface="Times New Roman" panose="02020603050405020304" pitchFamily="18" charset="0"/>
              </a:rPr>
              <a:t>The condition for a foreign key specify a referential integrity constraint between the two relation schemas R</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and R</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set of attributes FK in the relation schema R</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is a foreign key of R</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that references relation R</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if it satisfies the following rules:</a:t>
            </a:r>
          </a:p>
          <a:p>
            <a:pPr lvl="1" algn="just"/>
            <a:endParaRPr lang="en-US" dirty="0">
              <a:latin typeface="Times New Roman" panose="02020603050405020304" pitchFamily="18" charset="0"/>
              <a:cs typeface="Times New Roman" panose="02020603050405020304" pitchFamily="18" charset="0"/>
            </a:endParaRPr>
          </a:p>
          <a:p>
            <a:pPr lvl="1" algn="just"/>
            <a:r>
              <a:rPr lang="en-US" dirty="0">
                <a:solidFill>
                  <a:schemeClr val="accent2">
                    <a:lumMod val="75000"/>
                  </a:schemeClr>
                </a:solidFill>
                <a:latin typeface="Times New Roman" panose="02020603050405020304" pitchFamily="18" charset="0"/>
                <a:cs typeface="Times New Roman" panose="02020603050405020304" pitchFamily="18" charset="0"/>
              </a:rPr>
              <a:t>The attributes in FK have the same domain(s) as the primary key attributes PK of R</a:t>
            </a:r>
            <a:r>
              <a:rPr lang="en-US" baseline="-25000" dirty="0">
                <a:solidFill>
                  <a:schemeClr val="accent2">
                    <a:lumMod val="75000"/>
                  </a:schemeClr>
                </a:solidFill>
                <a:latin typeface="Times New Roman" panose="02020603050405020304" pitchFamily="18" charset="0"/>
                <a:cs typeface="Times New Roman" panose="02020603050405020304" pitchFamily="18" charset="0"/>
              </a:rPr>
              <a:t>2</a:t>
            </a:r>
            <a:r>
              <a:rPr lang="en-US" dirty="0">
                <a:solidFill>
                  <a:schemeClr val="accent2">
                    <a:lumMod val="75000"/>
                  </a:schemeClr>
                </a:solidFill>
                <a:latin typeface="Times New Roman" panose="02020603050405020304" pitchFamily="18" charset="0"/>
                <a:cs typeface="Times New Roman" panose="02020603050405020304" pitchFamily="18" charset="0"/>
              </a:rPr>
              <a:t>; the attributes FK are said to reference or refer to the relation R</a:t>
            </a:r>
            <a:r>
              <a:rPr lang="en-US" baseline="-25000" dirty="0">
                <a:solidFill>
                  <a:schemeClr val="accent2">
                    <a:lumMod val="75000"/>
                  </a:schemeClr>
                </a:solidFill>
                <a:latin typeface="Times New Roman" panose="02020603050405020304" pitchFamily="18" charset="0"/>
                <a:cs typeface="Times New Roman" panose="02020603050405020304" pitchFamily="18" charset="0"/>
              </a:rPr>
              <a:t>2</a:t>
            </a:r>
            <a:r>
              <a:rPr lang="en-US" dirty="0">
                <a:solidFill>
                  <a:schemeClr val="accent2">
                    <a:lumMod val="75000"/>
                  </a:schemeClr>
                </a:solidFill>
                <a:latin typeface="Times New Roman" panose="02020603050405020304" pitchFamily="18" charset="0"/>
                <a:cs typeface="Times New Roman" panose="02020603050405020304" pitchFamily="18" charset="0"/>
              </a:rPr>
              <a:t>.</a:t>
            </a:r>
          </a:p>
          <a:p>
            <a:pPr lvl="1" algn="just"/>
            <a:endParaRPr lang="en-US" dirty="0">
              <a:solidFill>
                <a:schemeClr val="accent2">
                  <a:lumMod val="75000"/>
                </a:schemeClr>
              </a:solidFill>
              <a:latin typeface="Times New Roman" panose="02020603050405020304" pitchFamily="18" charset="0"/>
              <a:cs typeface="Times New Roman" panose="02020603050405020304" pitchFamily="18" charset="0"/>
            </a:endParaRPr>
          </a:p>
          <a:p>
            <a:pPr lvl="1" algn="just"/>
            <a:r>
              <a:rPr lang="en-US" dirty="0">
                <a:solidFill>
                  <a:schemeClr val="accent2">
                    <a:lumMod val="75000"/>
                  </a:schemeClr>
                </a:solidFill>
                <a:latin typeface="Times New Roman" panose="02020603050405020304" pitchFamily="18" charset="0"/>
                <a:cs typeface="Times New Roman" panose="02020603050405020304" pitchFamily="18" charset="0"/>
              </a:rPr>
              <a:t>The value of FK in a tuple t</a:t>
            </a:r>
            <a:r>
              <a:rPr lang="en-US" baseline="-25000" dirty="0">
                <a:solidFill>
                  <a:schemeClr val="accent2">
                    <a:lumMod val="75000"/>
                  </a:schemeClr>
                </a:solidFill>
                <a:latin typeface="Times New Roman" panose="02020603050405020304" pitchFamily="18" charset="0"/>
                <a:cs typeface="Times New Roman" panose="02020603050405020304" pitchFamily="18" charset="0"/>
              </a:rPr>
              <a:t>1</a:t>
            </a:r>
            <a:r>
              <a:rPr lang="en-US" dirty="0">
                <a:solidFill>
                  <a:schemeClr val="accent2">
                    <a:lumMod val="75000"/>
                  </a:schemeClr>
                </a:solidFill>
                <a:latin typeface="Times New Roman" panose="02020603050405020304" pitchFamily="18" charset="0"/>
                <a:cs typeface="Times New Roman" panose="02020603050405020304" pitchFamily="18" charset="0"/>
              </a:rPr>
              <a:t> of the current state r</a:t>
            </a:r>
            <a:r>
              <a:rPr lang="en-US" baseline="-25000" dirty="0">
                <a:solidFill>
                  <a:schemeClr val="accent2">
                    <a:lumMod val="75000"/>
                  </a:schemeClr>
                </a:solidFill>
                <a:latin typeface="Times New Roman" panose="02020603050405020304" pitchFamily="18" charset="0"/>
                <a:cs typeface="Times New Roman" panose="02020603050405020304" pitchFamily="18" charset="0"/>
              </a:rPr>
              <a:t>1</a:t>
            </a:r>
            <a:r>
              <a:rPr lang="en-US" dirty="0">
                <a:solidFill>
                  <a:schemeClr val="accent2">
                    <a:lumMod val="75000"/>
                  </a:schemeClr>
                </a:solidFill>
                <a:latin typeface="Times New Roman" panose="02020603050405020304" pitchFamily="18" charset="0"/>
                <a:cs typeface="Times New Roman" panose="02020603050405020304" pitchFamily="18" charset="0"/>
              </a:rPr>
              <a:t>(R</a:t>
            </a:r>
            <a:r>
              <a:rPr lang="en-US" baseline="-25000" dirty="0">
                <a:solidFill>
                  <a:schemeClr val="accent2">
                    <a:lumMod val="75000"/>
                  </a:schemeClr>
                </a:solidFill>
                <a:latin typeface="Times New Roman" panose="02020603050405020304" pitchFamily="18" charset="0"/>
                <a:cs typeface="Times New Roman" panose="02020603050405020304" pitchFamily="18" charset="0"/>
              </a:rPr>
              <a:t>1</a:t>
            </a:r>
            <a:r>
              <a:rPr lang="en-US" dirty="0">
                <a:solidFill>
                  <a:schemeClr val="accent2">
                    <a:lumMod val="75000"/>
                  </a:schemeClr>
                </a:solidFill>
                <a:latin typeface="Times New Roman" panose="02020603050405020304" pitchFamily="18" charset="0"/>
                <a:cs typeface="Times New Roman" panose="02020603050405020304" pitchFamily="18" charset="0"/>
              </a:rPr>
              <a:t>) either occurs as a value of PK for some tuple t</a:t>
            </a:r>
            <a:r>
              <a:rPr lang="en-US" baseline="-25000" dirty="0">
                <a:solidFill>
                  <a:schemeClr val="accent2">
                    <a:lumMod val="75000"/>
                  </a:schemeClr>
                </a:solidFill>
                <a:latin typeface="Times New Roman" panose="02020603050405020304" pitchFamily="18" charset="0"/>
                <a:cs typeface="Times New Roman" panose="02020603050405020304" pitchFamily="18" charset="0"/>
              </a:rPr>
              <a:t>2</a:t>
            </a:r>
            <a:r>
              <a:rPr lang="en-US" dirty="0">
                <a:solidFill>
                  <a:schemeClr val="accent2">
                    <a:lumMod val="75000"/>
                  </a:schemeClr>
                </a:solidFill>
                <a:latin typeface="Times New Roman" panose="02020603050405020304" pitchFamily="18" charset="0"/>
                <a:cs typeface="Times New Roman" panose="02020603050405020304" pitchFamily="18" charset="0"/>
              </a:rPr>
              <a:t> in the current state r</a:t>
            </a:r>
            <a:r>
              <a:rPr lang="en-US" baseline="-25000" dirty="0">
                <a:solidFill>
                  <a:schemeClr val="accent2">
                    <a:lumMod val="75000"/>
                  </a:schemeClr>
                </a:solidFill>
                <a:latin typeface="Times New Roman" panose="02020603050405020304" pitchFamily="18" charset="0"/>
                <a:cs typeface="Times New Roman" panose="02020603050405020304" pitchFamily="18" charset="0"/>
              </a:rPr>
              <a:t>2</a:t>
            </a:r>
            <a:r>
              <a:rPr lang="en-US" dirty="0">
                <a:solidFill>
                  <a:schemeClr val="accent2">
                    <a:lumMod val="75000"/>
                  </a:schemeClr>
                </a:solidFill>
                <a:latin typeface="Times New Roman" panose="02020603050405020304" pitchFamily="18" charset="0"/>
                <a:cs typeface="Times New Roman" panose="02020603050405020304" pitchFamily="18" charset="0"/>
              </a:rPr>
              <a:t>(R</a:t>
            </a:r>
            <a:r>
              <a:rPr lang="en-US" baseline="-25000" dirty="0">
                <a:solidFill>
                  <a:schemeClr val="accent2">
                    <a:lumMod val="75000"/>
                  </a:schemeClr>
                </a:solidFill>
                <a:latin typeface="Times New Roman" panose="02020603050405020304" pitchFamily="18" charset="0"/>
                <a:cs typeface="Times New Roman" panose="02020603050405020304" pitchFamily="18" charset="0"/>
              </a:rPr>
              <a:t>2</a:t>
            </a:r>
            <a:r>
              <a:rPr lang="en-US" dirty="0">
                <a:solidFill>
                  <a:schemeClr val="accent2">
                    <a:lumMod val="75000"/>
                  </a:schemeClr>
                </a:solidFill>
                <a:latin typeface="Times New Roman" panose="02020603050405020304" pitchFamily="18" charset="0"/>
                <a:cs typeface="Times New Roman" panose="02020603050405020304" pitchFamily="18" charset="0"/>
              </a:rPr>
              <a:t>) or is NULL. In the former case, we have t</a:t>
            </a:r>
            <a:r>
              <a:rPr lang="en-US" baseline="-25000" dirty="0">
                <a:solidFill>
                  <a:schemeClr val="accent2">
                    <a:lumMod val="75000"/>
                  </a:schemeClr>
                </a:solidFill>
                <a:latin typeface="Times New Roman" panose="02020603050405020304" pitchFamily="18" charset="0"/>
                <a:cs typeface="Times New Roman" panose="02020603050405020304" pitchFamily="18" charset="0"/>
              </a:rPr>
              <a:t>1</a:t>
            </a:r>
            <a:r>
              <a:rPr lang="en-US" dirty="0">
                <a:solidFill>
                  <a:schemeClr val="accent2">
                    <a:lumMod val="75000"/>
                  </a:schemeClr>
                </a:solidFill>
                <a:latin typeface="Times New Roman" panose="02020603050405020304" pitchFamily="18" charset="0"/>
                <a:cs typeface="Times New Roman" panose="02020603050405020304" pitchFamily="18" charset="0"/>
              </a:rPr>
              <a:t>[FK] = t</a:t>
            </a:r>
            <a:r>
              <a:rPr lang="en-US" baseline="-25000" dirty="0">
                <a:solidFill>
                  <a:schemeClr val="accent2">
                    <a:lumMod val="75000"/>
                  </a:schemeClr>
                </a:solidFill>
                <a:latin typeface="Times New Roman" panose="02020603050405020304" pitchFamily="18" charset="0"/>
                <a:cs typeface="Times New Roman" panose="02020603050405020304" pitchFamily="18" charset="0"/>
              </a:rPr>
              <a:t>2</a:t>
            </a:r>
            <a:r>
              <a:rPr lang="en-US" dirty="0">
                <a:solidFill>
                  <a:schemeClr val="accent2">
                    <a:lumMod val="75000"/>
                  </a:schemeClr>
                </a:solidFill>
                <a:latin typeface="Times New Roman" panose="02020603050405020304" pitchFamily="18" charset="0"/>
                <a:cs typeface="Times New Roman" panose="02020603050405020304" pitchFamily="18" charset="0"/>
              </a:rPr>
              <a:t>[PK], and we say that the tuple t</a:t>
            </a:r>
            <a:r>
              <a:rPr lang="en-US" baseline="-25000" dirty="0">
                <a:solidFill>
                  <a:schemeClr val="accent2">
                    <a:lumMod val="75000"/>
                  </a:schemeClr>
                </a:solidFill>
                <a:latin typeface="Times New Roman" panose="02020603050405020304" pitchFamily="18" charset="0"/>
                <a:cs typeface="Times New Roman" panose="02020603050405020304" pitchFamily="18" charset="0"/>
              </a:rPr>
              <a:t>1</a:t>
            </a:r>
            <a:r>
              <a:rPr lang="en-US" dirty="0">
                <a:solidFill>
                  <a:schemeClr val="accent2">
                    <a:lumMod val="75000"/>
                  </a:schemeClr>
                </a:solidFill>
                <a:latin typeface="Times New Roman" panose="02020603050405020304" pitchFamily="18" charset="0"/>
                <a:cs typeface="Times New Roman" panose="02020603050405020304" pitchFamily="18" charset="0"/>
              </a:rPr>
              <a:t> references or refers to the tuple t</a:t>
            </a:r>
            <a:r>
              <a:rPr lang="en-US" baseline="-25000" dirty="0">
                <a:solidFill>
                  <a:schemeClr val="accent2">
                    <a:lumMod val="75000"/>
                  </a:schemeClr>
                </a:solidFill>
                <a:latin typeface="Times New Roman" panose="02020603050405020304" pitchFamily="18" charset="0"/>
                <a:cs typeface="Times New Roman" panose="02020603050405020304" pitchFamily="18" charset="0"/>
              </a:rPr>
              <a:t>2</a:t>
            </a:r>
            <a:r>
              <a:rPr lang="en-US" dirty="0">
                <a:solidFill>
                  <a:schemeClr val="accent2">
                    <a:lumMod val="75000"/>
                  </a:schemeClr>
                </a:solidFill>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this definition, R</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is called the referencing relation and R</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is the referenced relation.`</a:t>
            </a:r>
          </a:p>
        </p:txBody>
      </p:sp>
    </p:spTree>
  </p:cSld>
  <p:clrMapOvr>
    <a:masterClrMapping/>
  </p:clrMapOvr>
  <p:transition>
    <p:dissolv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pPr algn="just"/>
            <a:r>
              <a:rPr lang="en-US" sz="3200" dirty="0"/>
              <a:t>Update Operations and Dealing with Constraint Violations</a:t>
            </a:r>
          </a:p>
        </p:txBody>
      </p:sp>
      <p:sp>
        <p:nvSpPr>
          <p:cNvPr id="2" name="Content Placeholder 1"/>
          <p:cNvSpPr>
            <a:spLocks noGrp="1"/>
          </p:cNvSpPr>
          <p:nvPr>
            <p:ph idx="1"/>
          </p:nvPr>
        </p:nvSpPr>
        <p:spPr>
          <a:xfrm>
            <a:off x="822959" y="2362200"/>
            <a:ext cx="7543801" cy="3640666"/>
          </a:xfrm>
        </p:spPr>
        <p:txBody>
          <a:bodyPr>
            <a:normAutofit/>
          </a:bodyPr>
          <a:lstStyle/>
          <a:p>
            <a:pPr algn="just"/>
            <a:r>
              <a:rPr lang="en-US" sz="2600" dirty="0"/>
              <a:t>The operations of the relational model can be categorized into retrievals and update.</a:t>
            </a:r>
          </a:p>
          <a:p>
            <a:pPr algn="just"/>
            <a:r>
              <a:rPr lang="en-US" sz="2600" dirty="0" smtClean="0"/>
              <a:t>There </a:t>
            </a:r>
            <a:r>
              <a:rPr lang="en-US" sz="2600" dirty="0"/>
              <a:t>are three basic update operations:</a:t>
            </a:r>
          </a:p>
          <a:p>
            <a:pPr lvl="1" algn="just"/>
            <a:r>
              <a:rPr lang="en-US" sz="2200" dirty="0"/>
              <a:t>Insert</a:t>
            </a:r>
          </a:p>
          <a:p>
            <a:pPr lvl="1" algn="just"/>
            <a:r>
              <a:rPr lang="en-US" sz="2200" dirty="0"/>
              <a:t>Delete</a:t>
            </a:r>
          </a:p>
          <a:p>
            <a:pPr lvl="1" algn="just"/>
            <a:r>
              <a:rPr lang="en-US" sz="2200" dirty="0"/>
              <a:t>Modify </a:t>
            </a:r>
          </a:p>
          <a:p>
            <a:pPr algn="just"/>
            <a:endParaRPr lang="en-US" dirty="0"/>
          </a:p>
          <a:p>
            <a:pPr algn="just"/>
            <a:endParaRPr lang="en-US" dirty="0"/>
          </a:p>
        </p:txBody>
      </p:sp>
    </p:spTree>
  </p:cSld>
  <p:clrMapOvr>
    <a:masterClrMapping/>
  </p:clrMapOvr>
  <p:transition>
    <p:dissolv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22960" y="609600"/>
            <a:ext cx="7543800" cy="702302"/>
          </a:xfrm>
        </p:spPr>
        <p:txBody>
          <a:bodyPr>
            <a:normAutofit fontScale="90000"/>
          </a:bodyPr>
          <a:lstStyle/>
          <a:p>
            <a:r>
              <a:rPr lang="en-US" dirty="0"/>
              <a:t>The Insert Operation-All</a:t>
            </a:r>
          </a:p>
        </p:txBody>
      </p:sp>
      <p:sp>
        <p:nvSpPr>
          <p:cNvPr id="2" name="Content Placeholder 1"/>
          <p:cNvSpPr>
            <a:spLocks noGrp="1"/>
          </p:cNvSpPr>
          <p:nvPr>
            <p:ph idx="1"/>
          </p:nvPr>
        </p:nvSpPr>
        <p:spPr>
          <a:xfrm>
            <a:off x="822959" y="1752600"/>
            <a:ext cx="7543801" cy="5251255"/>
          </a:xfrm>
        </p:spPr>
        <p:txBody>
          <a:bodyPr>
            <a:normAutofit fontScale="77500" lnSpcReduction="20000"/>
          </a:bodyPr>
          <a:lstStyle/>
          <a:p>
            <a:pPr algn="just"/>
            <a:r>
              <a:rPr lang="en-US" sz="2600" dirty="0"/>
              <a:t>The insert operation provides a list of attribute values for a new tuple t that is to be inserted into a relation R.</a:t>
            </a:r>
          </a:p>
          <a:p>
            <a:pPr algn="just"/>
            <a:r>
              <a:rPr lang="en-US" sz="2600" dirty="0"/>
              <a:t>Insert can violate any of the four types of constraints.</a:t>
            </a:r>
          </a:p>
          <a:p>
            <a:pPr marL="624078" indent="-514350" algn="just">
              <a:buFont typeface="+mj-lt"/>
              <a:buAutoNum type="arabicPeriod"/>
            </a:pPr>
            <a:r>
              <a:rPr lang="en-US" sz="2600" dirty="0"/>
              <a:t>Insert &lt;‘Cecilia’, ‘F’, ‘</a:t>
            </a:r>
            <a:r>
              <a:rPr lang="en-US" sz="2600" dirty="0" err="1"/>
              <a:t>Kolonsky</a:t>
            </a:r>
            <a:r>
              <a:rPr lang="en-US" sz="2600" dirty="0"/>
              <a:t>’, null, ‘1960-04-05’, ‘6357 Windy Lane, Katy, TX’, F, 28000, null, 4&gt; into EMPLOYEE. </a:t>
            </a:r>
          </a:p>
          <a:p>
            <a:pPr marL="624078" indent="-514350" algn="just">
              <a:buFont typeface="+mj-lt"/>
              <a:buAutoNum type="arabicPeriod"/>
            </a:pPr>
            <a:endParaRPr lang="en-US" sz="2600" dirty="0"/>
          </a:p>
          <a:p>
            <a:pPr marL="624078" indent="-514350" algn="just">
              <a:buFont typeface="+mj-lt"/>
              <a:buAutoNum type="arabicPeriod"/>
            </a:pPr>
            <a:r>
              <a:rPr lang="en-US" sz="2600" dirty="0"/>
              <a:t>Insert &lt;‘Alicia’, ‘J’, ‘Zelaya’, ‘999887777’, ‘1960-04-05’, ‘6357 Windy Lane, Katy, TX’, F, 28000, ‘987654321’, 4&gt; into EMPLOYEE. </a:t>
            </a:r>
          </a:p>
          <a:p>
            <a:pPr marL="624078" indent="-514350" algn="just">
              <a:buFont typeface="+mj-lt"/>
              <a:buAutoNum type="arabicPeriod"/>
            </a:pPr>
            <a:endParaRPr lang="en-US" sz="2600" dirty="0"/>
          </a:p>
          <a:p>
            <a:pPr marL="624078" indent="-514350" algn="just">
              <a:buFont typeface="+mj-lt"/>
              <a:buAutoNum type="arabicPeriod"/>
            </a:pPr>
            <a:r>
              <a:rPr lang="en-US" sz="2600" dirty="0"/>
              <a:t>Insert &lt;‘Cecilia’, ‘F’, ‘</a:t>
            </a:r>
            <a:r>
              <a:rPr lang="en-US" sz="2600" dirty="0" err="1"/>
              <a:t>Kolonsky</a:t>
            </a:r>
            <a:r>
              <a:rPr lang="en-US" sz="2600" dirty="0"/>
              <a:t>’, ‘677678989’, ‘1960-04-05’, ‘6357 Windswept, Katy, TX’, F, 28000, ‘987654321’, 7&gt; into EMPLOYEE. </a:t>
            </a:r>
          </a:p>
          <a:p>
            <a:pPr marL="624078" indent="-514350" algn="just">
              <a:buFont typeface="+mj-lt"/>
              <a:buAutoNum type="arabicPeriod"/>
            </a:pPr>
            <a:endParaRPr lang="en-US" sz="2600" dirty="0"/>
          </a:p>
          <a:p>
            <a:pPr marL="624078" indent="-514350" algn="just">
              <a:buFont typeface="+mj-lt"/>
              <a:buAutoNum type="arabicPeriod"/>
            </a:pPr>
            <a:r>
              <a:rPr lang="en-US" sz="2600" dirty="0"/>
              <a:t>Insert &lt;‘Cecilia’, ‘F’, ‘</a:t>
            </a:r>
            <a:r>
              <a:rPr lang="en-US" sz="2600" dirty="0" err="1"/>
              <a:t>Kolonsky</a:t>
            </a:r>
            <a:r>
              <a:rPr lang="en-US" sz="2600" dirty="0"/>
              <a:t>’, ‘677678989’, ‘1960-04-05’, ‘6357 Windy Lane, Katy, TX’, F, 28000, null, 4&gt; into EMPLOYEE. </a:t>
            </a:r>
          </a:p>
          <a:p>
            <a:pPr algn="just"/>
            <a:endParaRPr lang="en-US" dirty="0"/>
          </a:p>
        </p:txBody>
      </p:sp>
    </p:spTree>
  </p:cSld>
  <p:clrMapOvr>
    <a:masterClrMapping/>
  </p:clrMapOvr>
  <p:transition>
    <p:dissolv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The Delete Operation-RI</a:t>
            </a:r>
          </a:p>
        </p:txBody>
      </p:sp>
      <p:sp>
        <p:nvSpPr>
          <p:cNvPr id="2" name="Content Placeholder 1"/>
          <p:cNvSpPr>
            <a:spLocks noGrp="1"/>
          </p:cNvSpPr>
          <p:nvPr>
            <p:ph idx="1"/>
          </p:nvPr>
        </p:nvSpPr>
        <p:spPr/>
        <p:txBody>
          <a:bodyPr>
            <a:normAutofit/>
          </a:bodyPr>
          <a:lstStyle/>
          <a:p>
            <a:pPr algn="just"/>
            <a:r>
              <a:rPr lang="en-US" dirty="0"/>
              <a:t>The delete operation is used to delete the tuples from the relation.</a:t>
            </a:r>
          </a:p>
          <a:p>
            <a:pPr algn="just"/>
            <a:r>
              <a:rPr lang="en-US" dirty="0" err="1" smtClean="0"/>
              <a:t>Eg</a:t>
            </a:r>
            <a:r>
              <a:rPr lang="en-US" dirty="0"/>
              <a:t>:</a:t>
            </a:r>
          </a:p>
          <a:p>
            <a:pPr algn="just"/>
            <a:r>
              <a:rPr lang="en-US" dirty="0" smtClean="0"/>
              <a:t>Delete </a:t>
            </a:r>
            <a:r>
              <a:rPr lang="en-US" dirty="0"/>
              <a:t>the WORKS_ON tuple with ESSN = ‘999887777’ and PNO = 10. </a:t>
            </a:r>
          </a:p>
          <a:p>
            <a:pPr algn="just"/>
            <a:endParaRPr lang="en-US" dirty="0"/>
          </a:p>
          <a:p>
            <a:pPr algn="just"/>
            <a:r>
              <a:rPr lang="en-US" dirty="0"/>
              <a:t>Delete the EMPLOYEE tuple with SSN = ‘999887777’. </a:t>
            </a:r>
          </a:p>
          <a:p>
            <a:pPr algn="just"/>
            <a:endParaRPr lang="en-US" dirty="0"/>
          </a:p>
          <a:p>
            <a:pPr algn="just"/>
            <a:r>
              <a:rPr lang="en-US" dirty="0"/>
              <a:t>Delete the EMPLOYEE tuple with SSN = ‘333445555’. </a:t>
            </a:r>
          </a:p>
          <a:p>
            <a:pPr algn="just"/>
            <a:endParaRPr lang="en-US" dirty="0"/>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blinds(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blinds(horizontal)">
                                      <p:cBhvr>
                                        <p:cTn id="12" dur="500"/>
                                        <p:tgtEl>
                                          <p:spTgt spid="2">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animEffect transition="in" filter="blinds(horizontal)">
                                      <p:cBhvr>
                                        <p:cTn id="1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The Update Operation</a:t>
            </a:r>
          </a:p>
        </p:txBody>
      </p:sp>
      <p:sp>
        <p:nvSpPr>
          <p:cNvPr id="2" name="Content Placeholder 1"/>
          <p:cNvSpPr>
            <a:spLocks noGrp="1"/>
          </p:cNvSpPr>
          <p:nvPr>
            <p:ph idx="1"/>
          </p:nvPr>
        </p:nvSpPr>
        <p:spPr/>
        <p:txBody>
          <a:bodyPr>
            <a:normAutofit fontScale="92500" lnSpcReduction="20000"/>
          </a:bodyPr>
          <a:lstStyle/>
          <a:p>
            <a:pPr algn="just"/>
            <a:r>
              <a:rPr lang="en-US" dirty="0"/>
              <a:t>The update(or Modify) operation is used to change the values of one or more attributes in a tuple(or tuples) of some relation R.</a:t>
            </a:r>
          </a:p>
          <a:p>
            <a:pPr algn="just"/>
            <a:r>
              <a:rPr lang="en-US" dirty="0" err="1" smtClean="0"/>
              <a:t>Eg</a:t>
            </a:r>
            <a:r>
              <a:rPr lang="en-US" dirty="0"/>
              <a:t>:</a:t>
            </a:r>
          </a:p>
          <a:p>
            <a:pPr algn="just"/>
            <a:r>
              <a:rPr lang="en-US" dirty="0" smtClean="0"/>
              <a:t>Update </a:t>
            </a:r>
            <a:r>
              <a:rPr lang="en-US" dirty="0"/>
              <a:t>the SALARY of the EMPLOYEE tuple with SSN = ‘999887777’ to 28000. </a:t>
            </a:r>
          </a:p>
          <a:p>
            <a:pPr algn="just"/>
            <a:endParaRPr lang="en-US" dirty="0"/>
          </a:p>
          <a:p>
            <a:pPr algn="just"/>
            <a:r>
              <a:rPr lang="en-US" dirty="0"/>
              <a:t>Update the DNO of the EMPLOYEE tuple with SSN = ‘999887777’ to 1. </a:t>
            </a:r>
          </a:p>
          <a:p>
            <a:pPr algn="just"/>
            <a:endParaRPr lang="en-US" dirty="0"/>
          </a:p>
          <a:p>
            <a:pPr algn="just"/>
            <a:r>
              <a:rPr lang="en-US" dirty="0"/>
              <a:t>Update the DNO of the EMPLOYEE tuple with SSN = ‘999887777’ to 7. </a:t>
            </a:r>
          </a:p>
          <a:p>
            <a:pPr algn="just"/>
            <a:endParaRPr lang="en-US" dirty="0"/>
          </a:p>
          <a:p>
            <a:pPr algn="just"/>
            <a:r>
              <a:rPr lang="en-US" dirty="0"/>
              <a:t>Update the SSN of the EMPLOYEE tuple with SSN = ‘999887777’ to ‘987654321’. </a:t>
            </a:r>
          </a:p>
          <a:p>
            <a:pPr algn="just"/>
            <a:endParaRPr lang="en-US" dirty="0"/>
          </a:p>
          <a:p>
            <a:pPr algn="just"/>
            <a:endParaRPr lang="en-US" dirty="0"/>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blinds(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blinds(horizontal)">
                                      <p:cBhvr>
                                        <p:cTn id="12" dur="500"/>
                                        <p:tgtEl>
                                          <p:spTgt spid="2">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animEffect transition="in" filter="blinds(horizontal)">
                                      <p:cBhvr>
                                        <p:cTn id="17" dur="500"/>
                                        <p:tgtEl>
                                          <p:spTgt spid="2">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8" end="8"/>
                                            </p:txEl>
                                          </p:spTgt>
                                        </p:tgtEl>
                                        <p:attrNameLst>
                                          <p:attrName>style.visibility</p:attrName>
                                        </p:attrNameLst>
                                      </p:cBhvr>
                                      <p:to>
                                        <p:strVal val="visible"/>
                                      </p:to>
                                    </p:set>
                                    <p:animEffect transition="in" filter="blinds(horizontal)">
                                      <p:cBhvr>
                                        <p:cTn id="2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22960" y="286605"/>
            <a:ext cx="7543800" cy="856396"/>
          </a:xfrm>
        </p:spPr>
        <p:txBody>
          <a:bodyPr/>
          <a:lstStyle/>
          <a:p>
            <a:r>
              <a:rPr lang="en-US" dirty="0"/>
              <a:t>The Transaction Concept</a:t>
            </a:r>
          </a:p>
        </p:txBody>
      </p:sp>
      <p:sp>
        <p:nvSpPr>
          <p:cNvPr id="2" name="Content Placeholder 1"/>
          <p:cNvSpPr>
            <a:spLocks noGrp="1"/>
          </p:cNvSpPr>
          <p:nvPr>
            <p:ph idx="1"/>
          </p:nvPr>
        </p:nvSpPr>
        <p:spPr>
          <a:xfrm>
            <a:off x="327660" y="1828800"/>
            <a:ext cx="8534400" cy="4419600"/>
          </a:xfrm>
        </p:spPr>
        <p:txBody>
          <a:bodyPr>
            <a:noAutofit/>
          </a:bodyPr>
          <a:lstStyle/>
          <a:p>
            <a:pPr algn="just"/>
            <a:r>
              <a:rPr lang="en-US" sz="2400" dirty="0"/>
              <a:t>A database application program running against a relational database typically runs a series of transactions.</a:t>
            </a:r>
          </a:p>
          <a:p>
            <a:pPr algn="just"/>
            <a:r>
              <a:rPr lang="en-US" sz="2400" dirty="0" smtClean="0"/>
              <a:t>A </a:t>
            </a:r>
            <a:r>
              <a:rPr lang="en-US" sz="2400" dirty="0"/>
              <a:t>transaction involves reading from the database as well as doing insertions, deletions and updates to existing values in the database.</a:t>
            </a:r>
          </a:p>
          <a:p>
            <a:pPr algn="just"/>
            <a:r>
              <a:rPr lang="en-US" sz="2400" dirty="0" smtClean="0"/>
              <a:t>These </a:t>
            </a:r>
            <a:r>
              <a:rPr lang="en-US" sz="2400" dirty="0"/>
              <a:t>transactions must leave the database in a consistent state.</a:t>
            </a:r>
          </a:p>
          <a:p>
            <a:pPr algn="just"/>
            <a:r>
              <a:rPr lang="en-US" sz="2400" dirty="0" smtClean="0"/>
              <a:t>A </a:t>
            </a:r>
            <a:r>
              <a:rPr lang="en-US" sz="2400" dirty="0"/>
              <a:t>single transaction may involve any number of retrieval operations that reads from the database and any number of update operations.</a:t>
            </a:r>
          </a:p>
          <a:p>
            <a:pPr algn="just"/>
            <a:r>
              <a:rPr lang="en-US" sz="2400" dirty="0" smtClean="0"/>
              <a:t>A </a:t>
            </a:r>
            <a:r>
              <a:rPr lang="en-US" sz="2400" dirty="0"/>
              <a:t>large number of commercial applications running against relational databases in the Online Transaction Processing(OLTP) systems are executing transactions at rates several hundreds per second.</a:t>
            </a:r>
          </a:p>
        </p:txBody>
      </p:sp>
    </p:spTree>
  </p:cSld>
  <p:clrMapOvr>
    <a:masterClrMapping/>
  </p:clrMapOvr>
  <p:transition>
    <p:dissolv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4"/>
          <p:cNvSpPr>
            <a:spLocks noGrp="1" noChangeArrowheads="1"/>
          </p:cNvSpPr>
          <p:nvPr>
            <p:ph type="title"/>
          </p:nvPr>
        </p:nvSpPr>
        <p:spPr>
          <a:xfrm>
            <a:off x="822960" y="286605"/>
            <a:ext cx="7543800" cy="627796"/>
          </a:xfrm>
          <a:noFill/>
        </p:spPr>
        <p:txBody>
          <a:bodyPr/>
          <a:lstStyle/>
          <a:p>
            <a:pPr eaLnBrk="1" hangingPunct="1"/>
            <a:r>
              <a:rPr lang="en-US" sz="3200" b="1" dirty="0"/>
              <a:t>Relational Algebra Overview</a:t>
            </a:r>
          </a:p>
        </p:txBody>
      </p:sp>
      <p:sp>
        <p:nvSpPr>
          <p:cNvPr id="6148" name="Rectangle 5"/>
          <p:cNvSpPr>
            <a:spLocks noGrp="1" noChangeArrowheads="1"/>
          </p:cNvSpPr>
          <p:nvPr>
            <p:ph idx="1"/>
          </p:nvPr>
        </p:nvSpPr>
        <p:spPr>
          <a:xfrm>
            <a:off x="152400" y="906162"/>
            <a:ext cx="8534399" cy="5266037"/>
          </a:xfrm>
        </p:spPr>
        <p:txBody>
          <a:bodyPr>
            <a:normAutofit/>
          </a:bodyPr>
          <a:lstStyle/>
          <a:p>
            <a:pPr eaLnBrk="1" hangingPunct="1"/>
            <a:endParaRPr lang="en-US" dirty="0"/>
          </a:p>
          <a:p>
            <a:pPr algn="just" eaLnBrk="1" hangingPunct="1">
              <a:buFont typeface="Arial" panose="020B0604020202020204" pitchFamily="34" charset="0"/>
              <a:buChar char="•"/>
            </a:pPr>
            <a:r>
              <a:rPr lang="en-US" dirty="0"/>
              <a:t> Relational algebra is the basic set of operations for the relational model</a:t>
            </a:r>
          </a:p>
          <a:p>
            <a:pPr algn="just" eaLnBrk="1" hangingPunct="1">
              <a:buFont typeface="Arial" panose="020B0604020202020204" pitchFamily="34" charset="0"/>
              <a:buChar char="•"/>
            </a:pPr>
            <a:r>
              <a:rPr lang="en-US" sz="2700" dirty="0"/>
              <a:t>These operations enable a user to specify </a:t>
            </a:r>
            <a:r>
              <a:rPr lang="en-US" sz="2700" b="1" dirty="0"/>
              <a:t>basic retrieval requests</a:t>
            </a:r>
            <a:r>
              <a:rPr lang="en-US" sz="2700" dirty="0"/>
              <a:t> (or </a:t>
            </a:r>
            <a:r>
              <a:rPr lang="en-US" sz="2700" b="1" dirty="0"/>
              <a:t>queries</a:t>
            </a:r>
            <a:r>
              <a:rPr lang="en-US" sz="2700" dirty="0"/>
              <a:t>)</a:t>
            </a:r>
          </a:p>
          <a:p>
            <a:pPr algn="just" eaLnBrk="1" hangingPunct="1">
              <a:buFont typeface="Arial" panose="020B0604020202020204" pitchFamily="34" charset="0"/>
              <a:buChar char="•"/>
            </a:pPr>
            <a:r>
              <a:rPr lang="en-US" dirty="0"/>
              <a:t>The result of an operation is a </a:t>
            </a:r>
            <a:r>
              <a:rPr lang="en-US" i="1" dirty="0"/>
              <a:t>new relation</a:t>
            </a:r>
            <a:r>
              <a:rPr lang="en-US" dirty="0"/>
              <a:t>, which may have been formed from one or more </a:t>
            </a:r>
            <a:r>
              <a:rPr lang="en-US" i="1" dirty="0"/>
              <a:t>input</a:t>
            </a:r>
            <a:r>
              <a:rPr lang="en-US" dirty="0"/>
              <a:t> relations</a:t>
            </a:r>
          </a:p>
          <a:p>
            <a:pPr lvl="1" algn="just" eaLnBrk="1" hangingPunct="1">
              <a:buFont typeface="Arial" panose="020B0604020202020204" pitchFamily="34" charset="0"/>
              <a:buChar char="•"/>
            </a:pPr>
            <a:r>
              <a:rPr lang="en-US" dirty="0"/>
              <a:t>This property makes the algebra “closed” (all objects in relational algebra are relations)</a:t>
            </a:r>
          </a:p>
          <a:p>
            <a:pPr algn="just" eaLnBrk="1" hangingPunct="1"/>
            <a:r>
              <a:rPr lang="en-US" dirty="0"/>
              <a:t>The </a:t>
            </a:r>
            <a:r>
              <a:rPr lang="en-US" b="1" dirty="0"/>
              <a:t>algebra operations</a:t>
            </a:r>
            <a:r>
              <a:rPr lang="en-US" dirty="0"/>
              <a:t> thus produce new relations</a:t>
            </a:r>
          </a:p>
          <a:p>
            <a:pPr lvl="1" algn="just" eaLnBrk="1" hangingPunct="1"/>
            <a:r>
              <a:rPr lang="en-US" dirty="0"/>
              <a:t>These can be further manipulated using operations of the same algebra</a:t>
            </a:r>
          </a:p>
          <a:p>
            <a:pPr algn="just" eaLnBrk="1" hangingPunct="1"/>
            <a:r>
              <a:rPr lang="en-US" dirty="0"/>
              <a:t>A sequence of relational algebra operations forms a </a:t>
            </a:r>
            <a:r>
              <a:rPr lang="en-US" b="1" dirty="0"/>
              <a:t>relational algebra expression</a:t>
            </a:r>
          </a:p>
          <a:p>
            <a:pPr lvl="1" algn="just" eaLnBrk="1" hangingPunct="1"/>
            <a:r>
              <a:rPr lang="en-US" sz="2500" dirty="0"/>
              <a:t>The result of a relational algebra expression is also a relation that represents the result of a database query (or retrieval request)</a:t>
            </a:r>
          </a:p>
          <a:p>
            <a:pPr marL="201168" lvl="1" indent="0" eaLnBrk="1" hangingPunct="1">
              <a:buNone/>
            </a:pPr>
            <a:endParaRPr lang="en-US" dirty="0"/>
          </a:p>
          <a:p>
            <a:pPr lvl="1" eaLnBrk="1" hangingPunct="1">
              <a:buFont typeface="Arial" panose="020B0604020202020204" pitchFamily="34" charset="0"/>
              <a:buChar char="•"/>
            </a:pPr>
            <a:endParaRPr lang="en-US" dirty="0"/>
          </a:p>
        </p:txBody>
      </p:sp>
    </p:spTree>
  </p:cSld>
  <p:clrMapOvr>
    <a:masterClrMapping/>
  </p:clrMapOvr>
  <p:transition>
    <p:dissolv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822960" y="286605"/>
            <a:ext cx="7543800" cy="932596"/>
          </a:xfrm>
          <a:noFill/>
        </p:spPr>
        <p:txBody>
          <a:bodyPr/>
          <a:lstStyle/>
          <a:p>
            <a:pPr eaLnBrk="1" hangingPunct="1"/>
            <a:r>
              <a:rPr lang="en-US" sz="3200" dirty="0"/>
              <a:t>Relational Algebra Overview</a:t>
            </a:r>
          </a:p>
        </p:txBody>
      </p:sp>
      <p:sp>
        <p:nvSpPr>
          <p:cNvPr id="8196" name="Rectangle 3"/>
          <p:cNvSpPr>
            <a:spLocks noGrp="1" noChangeArrowheads="1"/>
          </p:cNvSpPr>
          <p:nvPr>
            <p:ph idx="1"/>
          </p:nvPr>
        </p:nvSpPr>
        <p:spPr/>
        <p:txBody>
          <a:bodyPr>
            <a:noAutofit/>
          </a:bodyPr>
          <a:lstStyle/>
          <a:p>
            <a:pPr eaLnBrk="1" hangingPunct="1">
              <a:lnSpc>
                <a:spcPct val="80000"/>
              </a:lnSpc>
            </a:pPr>
            <a:r>
              <a:rPr lang="en-US" sz="2400" dirty="0"/>
              <a:t>Relational Algebra consists of several groups of </a:t>
            </a:r>
            <a:r>
              <a:rPr lang="en-US" sz="2400" dirty="0" smtClean="0"/>
              <a:t>operations</a:t>
            </a:r>
          </a:p>
          <a:p>
            <a:pPr eaLnBrk="1" hangingPunct="1">
              <a:lnSpc>
                <a:spcPct val="80000"/>
              </a:lnSpc>
            </a:pPr>
            <a:endParaRPr lang="en-US" sz="2400" dirty="0"/>
          </a:p>
          <a:p>
            <a:pPr lvl="1" eaLnBrk="1" hangingPunct="1">
              <a:lnSpc>
                <a:spcPct val="80000"/>
              </a:lnSpc>
            </a:pPr>
            <a:r>
              <a:rPr lang="en-US" sz="2400" b="1" dirty="0"/>
              <a:t>Unary Relational Operations</a:t>
            </a:r>
          </a:p>
          <a:p>
            <a:pPr lvl="2" eaLnBrk="1" hangingPunct="1">
              <a:lnSpc>
                <a:spcPct val="80000"/>
              </a:lnSpc>
            </a:pPr>
            <a:r>
              <a:rPr lang="en-US" sz="2000" dirty="0"/>
              <a:t>SELECT (symbol: </a:t>
            </a:r>
            <a:r>
              <a:rPr lang="en-US" sz="1600" b="1" dirty="0">
                <a:latin typeface="Symbol" pitchFamily="71" charset="2"/>
              </a:rPr>
              <a:t></a:t>
            </a:r>
            <a:r>
              <a:rPr lang="en-US" sz="2000" dirty="0"/>
              <a:t> (sigma))</a:t>
            </a:r>
          </a:p>
          <a:p>
            <a:pPr lvl="2" eaLnBrk="1" hangingPunct="1">
              <a:lnSpc>
                <a:spcPct val="80000"/>
              </a:lnSpc>
            </a:pPr>
            <a:r>
              <a:rPr lang="en-US" sz="2000" dirty="0"/>
              <a:t>PROJECT (symbol: </a:t>
            </a:r>
            <a:r>
              <a:rPr lang="en-US" sz="2000" b="1" dirty="0">
                <a:latin typeface="Symbol" pitchFamily="71" charset="2"/>
              </a:rPr>
              <a:t> </a:t>
            </a:r>
            <a:r>
              <a:rPr lang="en-US" sz="2000" dirty="0"/>
              <a:t>(pi))</a:t>
            </a:r>
          </a:p>
          <a:p>
            <a:pPr lvl="2" eaLnBrk="1" hangingPunct="1">
              <a:lnSpc>
                <a:spcPct val="80000"/>
              </a:lnSpc>
            </a:pPr>
            <a:r>
              <a:rPr lang="en-US" sz="2000" dirty="0"/>
              <a:t>RENAME (symbol: </a:t>
            </a:r>
            <a:r>
              <a:rPr lang="en-US" sz="2000" b="1" dirty="0">
                <a:sym typeface="Symbol" pitchFamily="71" charset="2"/>
              </a:rPr>
              <a:t></a:t>
            </a:r>
            <a:r>
              <a:rPr lang="en-US" sz="2000" dirty="0">
                <a:sym typeface="Symbol" pitchFamily="71" charset="2"/>
              </a:rPr>
              <a:t> </a:t>
            </a:r>
            <a:r>
              <a:rPr lang="en-US" sz="2000" dirty="0"/>
              <a:t>(rho</a:t>
            </a:r>
            <a:r>
              <a:rPr lang="en-US" sz="2000" dirty="0" smtClean="0"/>
              <a:t>))</a:t>
            </a:r>
          </a:p>
          <a:p>
            <a:pPr lvl="2" eaLnBrk="1" hangingPunct="1">
              <a:lnSpc>
                <a:spcPct val="80000"/>
              </a:lnSpc>
            </a:pPr>
            <a:endParaRPr lang="en-US" sz="2000" dirty="0"/>
          </a:p>
          <a:p>
            <a:pPr lvl="1" eaLnBrk="1" hangingPunct="1">
              <a:lnSpc>
                <a:spcPct val="80000"/>
              </a:lnSpc>
            </a:pPr>
            <a:r>
              <a:rPr lang="en-US" sz="2400" b="1" dirty="0"/>
              <a:t>Relational Algebra Operations From Set Theory</a:t>
            </a:r>
          </a:p>
          <a:p>
            <a:pPr lvl="2" eaLnBrk="1" hangingPunct="1">
              <a:lnSpc>
                <a:spcPct val="80000"/>
              </a:lnSpc>
            </a:pPr>
            <a:r>
              <a:rPr lang="en-US" sz="2000" dirty="0"/>
              <a:t>UNION ( </a:t>
            </a:r>
            <a:r>
              <a:rPr lang="en-US" sz="2000" b="1" dirty="0">
                <a:latin typeface="Symbol" pitchFamily="71" charset="2"/>
              </a:rPr>
              <a:t></a:t>
            </a:r>
            <a:r>
              <a:rPr lang="en-US" sz="2000" dirty="0"/>
              <a:t> </a:t>
            </a:r>
            <a:r>
              <a:rPr lang="en-US" sz="2000" dirty="0" smtClean="0"/>
              <a:t>),</a:t>
            </a:r>
          </a:p>
          <a:p>
            <a:pPr lvl="2" eaLnBrk="1" hangingPunct="1">
              <a:lnSpc>
                <a:spcPct val="80000"/>
              </a:lnSpc>
            </a:pPr>
            <a:r>
              <a:rPr lang="en-US" sz="2000" dirty="0" smtClean="0"/>
              <a:t> </a:t>
            </a:r>
            <a:r>
              <a:rPr lang="en-US" sz="2000" dirty="0"/>
              <a:t>INTERSECTION ( </a:t>
            </a:r>
            <a:r>
              <a:rPr lang="en-US" sz="2000" b="1" dirty="0">
                <a:latin typeface="Symbol" pitchFamily="71" charset="2"/>
              </a:rPr>
              <a:t></a:t>
            </a:r>
            <a:r>
              <a:rPr lang="en-US" sz="2000" dirty="0">
                <a:latin typeface="Symbol" pitchFamily="71" charset="2"/>
              </a:rPr>
              <a:t> </a:t>
            </a:r>
            <a:r>
              <a:rPr lang="en-US" sz="2000" dirty="0"/>
              <a:t>), </a:t>
            </a:r>
            <a:endParaRPr lang="en-US" sz="2000" dirty="0" smtClean="0"/>
          </a:p>
          <a:p>
            <a:pPr lvl="2" eaLnBrk="1" hangingPunct="1">
              <a:lnSpc>
                <a:spcPct val="80000"/>
              </a:lnSpc>
            </a:pPr>
            <a:r>
              <a:rPr lang="en-US" sz="2000" dirty="0" smtClean="0"/>
              <a:t>DIFFERENCE </a:t>
            </a:r>
            <a:r>
              <a:rPr lang="en-US" sz="2000" dirty="0"/>
              <a:t>(or MINUS, </a:t>
            </a:r>
            <a:r>
              <a:rPr lang="en-US" sz="2000" b="1" dirty="0"/>
              <a:t>–</a:t>
            </a:r>
            <a:r>
              <a:rPr lang="en-US" sz="2000" dirty="0"/>
              <a:t> )</a:t>
            </a:r>
          </a:p>
          <a:p>
            <a:pPr lvl="2" eaLnBrk="1" hangingPunct="1">
              <a:lnSpc>
                <a:spcPct val="80000"/>
              </a:lnSpc>
            </a:pPr>
            <a:r>
              <a:rPr lang="en-US" sz="2000" dirty="0"/>
              <a:t>CARTESIAN PRODUCT ( </a:t>
            </a:r>
            <a:r>
              <a:rPr lang="en-US" sz="2000" b="1" dirty="0"/>
              <a:t>x</a:t>
            </a:r>
            <a:r>
              <a:rPr lang="en-US" sz="2000" dirty="0"/>
              <a:t> </a:t>
            </a:r>
            <a:r>
              <a:rPr lang="en-US" sz="2000" dirty="0" smtClean="0"/>
              <a:t>)</a:t>
            </a:r>
            <a:endParaRPr lang="en-US" sz="2000" dirty="0"/>
          </a:p>
        </p:txBody>
      </p:sp>
    </p:spTree>
  </p:cSld>
  <p:clrMapOvr>
    <a:masterClrMapping/>
  </p:clrMapOvr>
  <p:transition>
    <p:dissolv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822960" y="286605"/>
            <a:ext cx="7543800" cy="932596"/>
          </a:xfrm>
          <a:noFill/>
        </p:spPr>
        <p:txBody>
          <a:bodyPr/>
          <a:lstStyle/>
          <a:p>
            <a:pPr eaLnBrk="1" hangingPunct="1"/>
            <a:r>
              <a:rPr lang="en-US" sz="3200" b="1" dirty="0"/>
              <a:t>Relational Algebra Overview</a:t>
            </a:r>
          </a:p>
        </p:txBody>
      </p:sp>
      <p:sp>
        <p:nvSpPr>
          <p:cNvPr id="8196" name="Rectangle 3"/>
          <p:cNvSpPr>
            <a:spLocks noGrp="1" noChangeArrowheads="1"/>
          </p:cNvSpPr>
          <p:nvPr>
            <p:ph idx="1"/>
          </p:nvPr>
        </p:nvSpPr>
        <p:spPr/>
        <p:txBody>
          <a:bodyPr>
            <a:normAutofit/>
          </a:bodyPr>
          <a:lstStyle/>
          <a:p>
            <a:pPr eaLnBrk="1" hangingPunct="1">
              <a:lnSpc>
                <a:spcPct val="80000"/>
              </a:lnSpc>
            </a:pPr>
            <a:endParaRPr lang="en-US" sz="2400" dirty="0" smtClean="0"/>
          </a:p>
          <a:p>
            <a:pPr lvl="1" eaLnBrk="1" hangingPunct="1">
              <a:lnSpc>
                <a:spcPct val="80000"/>
              </a:lnSpc>
            </a:pPr>
            <a:r>
              <a:rPr lang="en-US" sz="2400" b="1" dirty="0" smtClean="0"/>
              <a:t>Binary </a:t>
            </a:r>
            <a:r>
              <a:rPr lang="en-US" sz="2400" b="1" dirty="0"/>
              <a:t>Relational Operations</a:t>
            </a:r>
          </a:p>
          <a:p>
            <a:pPr lvl="2" eaLnBrk="1" hangingPunct="1">
              <a:lnSpc>
                <a:spcPct val="80000"/>
              </a:lnSpc>
            </a:pPr>
            <a:r>
              <a:rPr lang="en-US" sz="2000" dirty="0"/>
              <a:t>JOIN (several variations of JOIN exist)</a:t>
            </a:r>
          </a:p>
          <a:p>
            <a:pPr lvl="2" eaLnBrk="1" hangingPunct="1">
              <a:lnSpc>
                <a:spcPct val="80000"/>
              </a:lnSpc>
            </a:pPr>
            <a:r>
              <a:rPr lang="en-US" sz="2000" dirty="0" smtClean="0"/>
              <a:t>DIVISION</a:t>
            </a:r>
          </a:p>
          <a:p>
            <a:pPr lvl="2" eaLnBrk="1" hangingPunct="1">
              <a:lnSpc>
                <a:spcPct val="80000"/>
              </a:lnSpc>
            </a:pPr>
            <a:endParaRPr lang="en-US" sz="2000" dirty="0"/>
          </a:p>
          <a:p>
            <a:pPr lvl="1" eaLnBrk="1" hangingPunct="1">
              <a:lnSpc>
                <a:spcPct val="80000"/>
              </a:lnSpc>
            </a:pPr>
            <a:r>
              <a:rPr lang="en-US" sz="2400" b="1" dirty="0"/>
              <a:t>Additional Relational Operations</a:t>
            </a:r>
          </a:p>
          <a:p>
            <a:pPr lvl="2" eaLnBrk="1" hangingPunct="1">
              <a:lnSpc>
                <a:spcPct val="80000"/>
              </a:lnSpc>
            </a:pPr>
            <a:r>
              <a:rPr lang="en-US" sz="2000" dirty="0"/>
              <a:t>OUTER JOINS, OUTER UNION</a:t>
            </a:r>
          </a:p>
          <a:p>
            <a:pPr lvl="2" eaLnBrk="1" hangingPunct="1">
              <a:lnSpc>
                <a:spcPct val="80000"/>
              </a:lnSpc>
            </a:pPr>
            <a:r>
              <a:rPr lang="en-US" sz="2000" dirty="0"/>
              <a:t>AGGREGATE FUNCTIONS </a:t>
            </a:r>
            <a:endParaRPr lang="en-US" sz="2000" dirty="0" smtClean="0"/>
          </a:p>
          <a:p>
            <a:pPr lvl="2" eaLnBrk="1" hangingPunct="1">
              <a:lnSpc>
                <a:spcPct val="80000"/>
              </a:lnSpc>
            </a:pPr>
            <a:r>
              <a:rPr lang="en-US" sz="2000" dirty="0" smtClean="0"/>
              <a:t>(</a:t>
            </a:r>
            <a:r>
              <a:rPr lang="en-US" sz="2000" dirty="0"/>
              <a:t>These compute summary of information: for example, </a:t>
            </a:r>
            <a:endParaRPr lang="en-US" sz="2000" dirty="0" smtClean="0"/>
          </a:p>
          <a:p>
            <a:pPr marL="384048" lvl="2" indent="0" eaLnBrk="1" hangingPunct="1">
              <a:lnSpc>
                <a:spcPct val="80000"/>
              </a:lnSpc>
              <a:buNone/>
            </a:pPr>
            <a:r>
              <a:rPr lang="en-US" sz="2000" dirty="0" smtClean="0"/>
              <a:t>SUM</a:t>
            </a:r>
            <a:r>
              <a:rPr lang="en-US" sz="2000" dirty="0"/>
              <a:t>, COUNT, AVG, MIN, MAX)</a:t>
            </a:r>
          </a:p>
        </p:txBody>
      </p:sp>
    </p:spTree>
    <p:extLst>
      <p:ext uri="{BB962C8B-B14F-4D97-AF65-F5344CB8AC3E}">
        <p14:creationId xmlns:p14="http://schemas.microsoft.com/office/powerpoint/2010/main" val="3465089218"/>
      </p:ext>
    </p:extLst>
  </p:cSld>
  <p:clrMapOvr>
    <a:masterClrMapping/>
  </p:clrMapOvr>
  <p:transition>
    <p:dissolv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noFill/>
        </p:spPr>
        <p:txBody>
          <a:bodyPr/>
          <a:lstStyle/>
          <a:p>
            <a:pPr eaLnBrk="1" hangingPunct="1"/>
            <a:r>
              <a:rPr lang="en-US" sz="3200"/>
              <a:t>Database State for COMPANY</a:t>
            </a:r>
          </a:p>
        </p:txBody>
      </p:sp>
      <p:sp>
        <p:nvSpPr>
          <p:cNvPr id="9220" name="Rectangle 3"/>
          <p:cNvSpPr>
            <a:spLocks noGrp="1" noChangeArrowheads="1"/>
          </p:cNvSpPr>
          <p:nvPr>
            <p:ph idx="1"/>
          </p:nvPr>
        </p:nvSpPr>
        <p:spPr/>
        <p:txBody>
          <a:bodyPr/>
          <a:lstStyle/>
          <a:p>
            <a:pPr eaLnBrk="1" hangingPunct="1"/>
            <a:r>
              <a:rPr lang="en-US" sz="2000"/>
              <a:t>All examples discussed below refer to the COMPANY database shown here.</a:t>
            </a:r>
          </a:p>
          <a:p>
            <a:pPr eaLnBrk="1" hangingPunct="1"/>
            <a:endParaRPr lang="en-US" sz="2000"/>
          </a:p>
        </p:txBody>
      </p:sp>
      <p:pic>
        <p:nvPicPr>
          <p:cNvPr id="9221" name="Picture 6" descr="fig05_07"/>
          <p:cNvPicPr>
            <a:picLocks noChangeAspect="1" noChangeArrowheads="1"/>
          </p:cNvPicPr>
          <p:nvPr/>
        </p:nvPicPr>
        <p:blipFill>
          <a:blip r:embed="rId3"/>
          <a:srcRect/>
          <a:stretch>
            <a:fillRect/>
          </a:stretch>
        </p:blipFill>
        <p:spPr bwMode="auto">
          <a:xfrm>
            <a:off x="2514601" y="2250230"/>
            <a:ext cx="5715000" cy="3921970"/>
          </a:xfrm>
          <a:prstGeom prst="rect">
            <a:avLst/>
          </a:prstGeom>
          <a:noFill/>
          <a:ln w="9525">
            <a:noFill/>
            <a:miter lim="800000"/>
            <a:headEnd/>
            <a:tailEnd/>
          </a:ln>
        </p:spPr>
      </p:pic>
    </p:spTree>
  </p:cSld>
  <p:clrMapOvr>
    <a:masterClrMapping/>
  </p:clrMapOvr>
  <p:transition>
    <p:dissolv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4"/>
          <p:cNvSpPr>
            <a:spLocks noGrp="1" noChangeArrowheads="1"/>
          </p:cNvSpPr>
          <p:nvPr>
            <p:ph type="title"/>
          </p:nvPr>
        </p:nvSpPr>
        <p:spPr>
          <a:noFill/>
        </p:spPr>
        <p:txBody>
          <a:bodyPr/>
          <a:lstStyle/>
          <a:p>
            <a:pPr eaLnBrk="1" hangingPunct="1"/>
            <a:r>
              <a:rPr lang="en-US" sz="3200"/>
              <a:t>Unary Relational Operations: SELECT</a:t>
            </a:r>
          </a:p>
        </p:txBody>
      </p:sp>
      <p:sp>
        <p:nvSpPr>
          <p:cNvPr id="10244" name="Rectangle 5"/>
          <p:cNvSpPr>
            <a:spLocks noGrp="1" noChangeArrowheads="1"/>
          </p:cNvSpPr>
          <p:nvPr>
            <p:ph idx="1"/>
          </p:nvPr>
        </p:nvSpPr>
        <p:spPr>
          <a:xfrm>
            <a:off x="822959" y="1845734"/>
            <a:ext cx="7543801" cy="5240866"/>
          </a:xfrm>
        </p:spPr>
        <p:txBody>
          <a:bodyPr>
            <a:normAutofit/>
          </a:bodyPr>
          <a:lstStyle/>
          <a:p>
            <a:pPr eaLnBrk="1" hangingPunct="1">
              <a:lnSpc>
                <a:spcPct val="90000"/>
              </a:lnSpc>
            </a:pPr>
            <a:r>
              <a:rPr lang="en-US" sz="2000" dirty="0"/>
              <a:t>The SELECT operation (denoted by </a:t>
            </a:r>
            <a:r>
              <a:rPr lang="en-US" b="1" dirty="0">
                <a:latin typeface="Symbol" pitchFamily="71" charset="2"/>
              </a:rPr>
              <a:t></a:t>
            </a:r>
            <a:r>
              <a:rPr lang="en-US" sz="2000" dirty="0"/>
              <a:t> (sigma)) is used to select a </a:t>
            </a:r>
            <a:r>
              <a:rPr lang="en-US" sz="2000" i="1" dirty="0"/>
              <a:t>subset</a:t>
            </a:r>
            <a:r>
              <a:rPr lang="en-US" sz="2000" dirty="0"/>
              <a:t> of the tuples from a relation based on a </a:t>
            </a:r>
            <a:r>
              <a:rPr lang="en-US" sz="2000" b="1" dirty="0"/>
              <a:t>selection condition</a:t>
            </a:r>
            <a:r>
              <a:rPr lang="en-US" sz="2000" dirty="0" smtClean="0"/>
              <a:t>.</a:t>
            </a:r>
          </a:p>
          <a:p>
            <a:pPr lvl="1" eaLnBrk="1" hangingPunct="1">
              <a:lnSpc>
                <a:spcPct val="90000"/>
              </a:lnSpc>
            </a:pPr>
            <a:r>
              <a:rPr lang="en-US" sz="2200" dirty="0" smtClean="0"/>
              <a:t>The </a:t>
            </a:r>
            <a:r>
              <a:rPr lang="en-US" sz="2200" dirty="0"/>
              <a:t>selection condition acts as a </a:t>
            </a:r>
            <a:r>
              <a:rPr lang="en-US" sz="2200" b="1" dirty="0"/>
              <a:t>filter</a:t>
            </a:r>
          </a:p>
          <a:p>
            <a:pPr lvl="1" eaLnBrk="1" hangingPunct="1">
              <a:lnSpc>
                <a:spcPct val="90000"/>
              </a:lnSpc>
            </a:pPr>
            <a:r>
              <a:rPr lang="en-US" sz="2200" dirty="0"/>
              <a:t>Keeps only those tuples that satisfy the qualifying condition</a:t>
            </a:r>
          </a:p>
          <a:p>
            <a:pPr lvl="1" eaLnBrk="1" hangingPunct="1">
              <a:lnSpc>
                <a:spcPct val="90000"/>
              </a:lnSpc>
            </a:pPr>
            <a:r>
              <a:rPr lang="en-US" sz="2200" dirty="0"/>
              <a:t>Tuples satisfying the condition are </a:t>
            </a:r>
            <a:r>
              <a:rPr lang="en-US" sz="2200" i="1" dirty="0"/>
              <a:t>selected</a:t>
            </a:r>
            <a:r>
              <a:rPr lang="en-US" sz="2200" dirty="0"/>
              <a:t> whereas the other tuples are discarded (</a:t>
            </a:r>
            <a:r>
              <a:rPr lang="en-US" sz="2200" i="1" dirty="0"/>
              <a:t>filtered out</a:t>
            </a:r>
            <a:r>
              <a:rPr lang="en-US" sz="2200" dirty="0"/>
              <a:t>)</a:t>
            </a:r>
          </a:p>
          <a:p>
            <a:pPr eaLnBrk="1" hangingPunct="1">
              <a:lnSpc>
                <a:spcPct val="90000"/>
              </a:lnSpc>
            </a:pPr>
            <a:r>
              <a:rPr lang="en-US" sz="2000" dirty="0"/>
              <a:t>Examples: </a:t>
            </a:r>
          </a:p>
          <a:p>
            <a:pPr lvl="1" eaLnBrk="1" hangingPunct="1">
              <a:lnSpc>
                <a:spcPct val="90000"/>
              </a:lnSpc>
            </a:pPr>
            <a:r>
              <a:rPr lang="en-US" sz="2000" dirty="0"/>
              <a:t>Select the EMPLOYEE tuples whose department number is 4:</a:t>
            </a:r>
          </a:p>
          <a:p>
            <a:pPr algn="ctr" eaLnBrk="1" hangingPunct="1">
              <a:lnSpc>
                <a:spcPct val="90000"/>
              </a:lnSpc>
              <a:buFont typeface="Symbol" panose="05050102010706020507" pitchFamily="18" charset="2"/>
              <a:buChar char="s"/>
            </a:pPr>
            <a:r>
              <a:rPr lang="en-US" sz="2400" baseline="-25000" dirty="0" smtClean="0"/>
              <a:t>DNUM </a:t>
            </a:r>
            <a:r>
              <a:rPr lang="en-US" sz="2400" baseline="-25000" dirty="0"/>
              <a:t>= 4</a:t>
            </a:r>
            <a:r>
              <a:rPr lang="en-US" sz="2400" dirty="0" smtClean="0"/>
              <a:t> </a:t>
            </a:r>
            <a:r>
              <a:rPr lang="en-US" sz="2400" dirty="0"/>
              <a:t>(PROJECT)</a:t>
            </a:r>
          </a:p>
          <a:p>
            <a:pPr lvl="1" eaLnBrk="1" hangingPunct="1">
              <a:lnSpc>
                <a:spcPct val="90000"/>
              </a:lnSpc>
            </a:pPr>
            <a:r>
              <a:rPr lang="en-US" sz="2000" dirty="0" smtClean="0"/>
              <a:t>Select </a:t>
            </a:r>
            <a:r>
              <a:rPr lang="en-US" sz="2000" dirty="0"/>
              <a:t>the employee tuples whose salary is greater than $30,000:</a:t>
            </a:r>
          </a:p>
          <a:p>
            <a:pPr algn="ctr" eaLnBrk="1" hangingPunct="1">
              <a:lnSpc>
                <a:spcPct val="90000"/>
              </a:lnSpc>
              <a:buFont typeface="Wingdings" pitchFamily="2" charset="2"/>
              <a:buNone/>
            </a:pPr>
            <a:r>
              <a:rPr lang="en-US" sz="2400" b="1" dirty="0">
                <a:latin typeface="Symbol" pitchFamily="71" charset="2"/>
              </a:rPr>
              <a:t></a:t>
            </a:r>
            <a:r>
              <a:rPr lang="en-US" sz="2400" dirty="0"/>
              <a:t> </a:t>
            </a:r>
            <a:r>
              <a:rPr lang="en-US" sz="2400" baseline="-25000" dirty="0"/>
              <a:t>SALARY &gt; 30,000</a:t>
            </a:r>
            <a:r>
              <a:rPr lang="en-US" sz="2400" dirty="0"/>
              <a:t> (EMPLOYEE)</a:t>
            </a:r>
          </a:p>
        </p:txBody>
      </p:sp>
    </p:spTree>
  </p:cSld>
  <p:clrMapOvr>
    <a:masterClrMapping/>
  </p:clrMapOvr>
  <p:transition>
    <p:dissolv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noFill/>
        </p:spPr>
        <p:txBody>
          <a:bodyPr/>
          <a:lstStyle/>
          <a:p>
            <a:pPr eaLnBrk="1" hangingPunct="1"/>
            <a:r>
              <a:rPr lang="en-US" sz="3200"/>
              <a:t>Unary Relational Operations: SELECT</a:t>
            </a:r>
          </a:p>
        </p:txBody>
      </p:sp>
      <p:sp>
        <p:nvSpPr>
          <p:cNvPr id="11268" name="Rectangle 3"/>
          <p:cNvSpPr>
            <a:spLocks noGrp="1" noChangeArrowheads="1"/>
          </p:cNvSpPr>
          <p:nvPr>
            <p:ph idx="1"/>
          </p:nvPr>
        </p:nvSpPr>
        <p:spPr/>
        <p:txBody>
          <a:bodyPr>
            <a:normAutofit lnSpcReduction="10000"/>
          </a:bodyPr>
          <a:lstStyle/>
          <a:p>
            <a:pPr lvl="1" eaLnBrk="1" hangingPunct="1"/>
            <a:r>
              <a:rPr lang="en-US" sz="2800" dirty="0"/>
              <a:t>In general, the </a:t>
            </a:r>
            <a:r>
              <a:rPr lang="en-US" sz="2800" i="1" dirty="0"/>
              <a:t>select</a:t>
            </a:r>
            <a:r>
              <a:rPr lang="en-US" sz="2800" dirty="0"/>
              <a:t> operation is denoted by </a:t>
            </a:r>
            <a:r>
              <a:rPr lang="en-US" sz="3600" b="1" dirty="0">
                <a:latin typeface="Symbol" pitchFamily="71" charset="2"/>
              </a:rPr>
              <a:t></a:t>
            </a:r>
            <a:r>
              <a:rPr lang="en-US" sz="2800" dirty="0"/>
              <a:t> </a:t>
            </a:r>
            <a:r>
              <a:rPr lang="en-US" sz="2800" baseline="-25000" dirty="0"/>
              <a:t>&lt;selection condition&gt;</a:t>
            </a:r>
            <a:r>
              <a:rPr lang="en-US" sz="2800" dirty="0"/>
              <a:t>(R) where</a:t>
            </a:r>
          </a:p>
          <a:p>
            <a:pPr lvl="2" eaLnBrk="1" hangingPunct="1"/>
            <a:r>
              <a:rPr lang="en-US" sz="2400" dirty="0"/>
              <a:t>the symbol </a:t>
            </a:r>
            <a:r>
              <a:rPr lang="en-US" sz="4800" b="1" dirty="0">
                <a:latin typeface="Symbol" pitchFamily="71" charset="2"/>
              </a:rPr>
              <a:t></a:t>
            </a:r>
            <a:r>
              <a:rPr lang="en-US" sz="2400" dirty="0"/>
              <a:t> (sigma) is used to denote the </a:t>
            </a:r>
            <a:r>
              <a:rPr lang="en-US" sz="2400" i="1" dirty="0"/>
              <a:t>select</a:t>
            </a:r>
            <a:r>
              <a:rPr lang="en-US" sz="2400" dirty="0"/>
              <a:t> operator</a:t>
            </a:r>
          </a:p>
          <a:p>
            <a:pPr lvl="2" eaLnBrk="1" hangingPunct="1"/>
            <a:r>
              <a:rPr lang="en-US" sz="2400" dirty="0"/>
              <a:t>the selection condition is a Boolean (conditional) expression specified on the attributes of relation R</a:t>
            </a:r>
          </a:p>
          <a:p>
            <a:pPr lvl="2" eaLnBrk="1" hangingPunct="1"/>
            <a:r>
              <a:rPr lang="en-US" sz="2400" dirty="0"/>
              <a:t>tuples that make the condition </a:t>
            </a:r>
            <a:r>
              <a:rPr lang="en-US" sz="2400" b="1" dirty="0"/>
              <a:t>true </a:t>
            </a:r>
            <a:r>
              <a:rPr lang="en-US" sz="2400" dirty="0"/>
              <a:t>are selected</a:t>
            </a:r>
          </a:p>
          <a:p>
            <a:pPr lvl="3" eaLnBrk="1" hangingPunct="1"/>
            <a:r>
              <a:rPr lang="en-US" sz="2400" dirty="0"/>
              <a:t>appear in the result of the operation</a:t>
            </a:r>
          </a:p>
          <a:p>
            <a:pPr lvl="2" eaLnBrk="1" hangingPunct="1"/>
            <a:r>
              <a:rPr lang="en-US" sz="2400" dirty="0"/>
              <a:t>tuples that make the condition </a:t>
            </a:r>
            <a:r>
              <a:rPr lang="en-US" sz="2400" b="1" dirty="0"/>
              <a:t>false </a:t>
            </a:r>
            <a:r>
              <a:rPr lang="en-US" sz="2400" dirty="0"/>
              <a:t>are filtered out</a:t>
            </a:r>
          </a:p>
          <a:p>
            <a:pPr lvl="3" eaLnBrk="1" hangingPunct="1"/>
            <a:r>
              <a:rPr lang="en-US" sz="2400" dirty="0"/>
              <a:t>discarded from the result of the operation</a:t>
            </a:r>
          </a:p>
        </p:txBody>
      </p:sp>
    </p:spTree>
  </p:cSld>
  <p:clrMapOvr>
    <a:masterClrMapping/>
  </p:clrMapOvr>
  <p:transition>
    <p:dissolv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4"/>
          <p:cNvSpPr>
            <a:spLocks noGrp="1" noChangeArrowheads="1"/>
          </p:cNvSpPr>
          <p:nvPr>
            <p:ph type="title"/>
          </p:nvPr>
        </p:nvSpPr>
        <p:spPr>
          <a:xfrm>
            <a:off x="822960" y="286605"/>
            <a:ext cx="7543800" cy="703996"/>
          </a:xfrm>
          <a:noFill/>
        </p:spPr>
        <p:txBody>
          <a:bodyPr/>
          <a:lstStyle/>
          <a:p>
            <a:pPr eaLnBrk="1" hangingPunct="1"/>
            <a:r>
              <a:rPr lang="en-US" sz="3200" dirty="0"/>
              <a:t>Unary Relational Operations: SELECT (contd.)</a:t>
            </a:r>
          </a:p>
        </p:txBody>
      </p:sp>
      <p:sp>
        <p:nvSpPr>
          <p:cNvPr id="12292" name="Rectangle 5"/>
          <p:cNvSpPr>
            <a:spLocks noGrp="1" noChangeArrowheads="1"/>
          </p:cNvSpPr>
          <p:nvPr>
            <p:ph idx="1"/>
          </p:nvPr>
        </p:nvSpPr>
        <p:spPr>
          <a:xfrm>
            <a:off x="609600" y="1371600"/>
            <a:ext cx="7757160" cy="4724400"/>
          </a:xfrm>
        </p:spPr>
        <p:txBody>
          <a:bodyPr>
            <a:normAutofit fontScale="77500" lnSpcReduction="20000"/>
          </a:bodyPr>
          <a:lstStyle/>
          <a:p>
            <a:pPr eaLnBrk="1" hangingPunct="1">
              <a:lnSpc>
                <a:spcPct val="80000"/>
              </a:lnSpc>
            </a:pPr>
            <a:r>
              <a:rPr lang="en-US" sz="3100" b="1" dirty="0"/>
              <a:t>SELECT Operation </a:t>
            </a:r>
            <a:r>
              <a:rPr lang="en-US" sz="3100" b="1" dirty="0" smtClean="0"/>
              <a:t>Properties</a:t>
            </a:r>
          </a:p>
          <a:p>
            <a:pPr eaLnBrk="1" hangingPunct="1">
              <a:lnSpc>
                <a:spcPct val="80000"/>
              </a:lnSpc>
            </a:pPr>
            <a:endParaRPr lang="en-US" sz="2400" dirty="0"/>
          </a:p>
          <a:p>
            <a:pPr lvl="1" eaLnBrk="1" hangingPunct="1">
              <a:lnSpc>
                <a:spcPct val="80000"/>
              </a:lnSpc>
            </a:pPr>
            <a:r>
              <a:rPr lang="en-US" sz="2600" dirty="0"/>
              <a:t>The SELECT operation </a:t>
            </a:r>
            <a:r>
              <a:rPr lang="en-US" sz="2600" dirty="0">
                <a:latin typeface="Symbol" pitchFamily="71" charset="2"/>
              </a:rPr>
              <a:t></a:t>
            </a:r>
            <a:r>
              <a:rPr lang="en-US" sz="2600" dirty="0"/>
              <a:t> </a:t>
            </a:r>
            <a:r>
              <a:rPr lang="en-US" sz="2600" baseline="-25000" dirty="0"/>
              <a:t>&lt;selection condition&gt;</a:t>
            </a:r>
            <a:r>
              <a:rPr lang="en-US" sz="2600" dirty="0"/>
              <a:t>(R) produces a relation S that has the same schema (same attributes) as R</a:t>
            </a:r>
          </a:p>
          <a:p>
            <a:pPr lvl="1" eaLnBrk="1" hangingPunct="1">
              <a:lnSpc>
                <a:spcPct val="80000"/>
              </a:lnSpc>
            </a:pPr>
            <a:endParaRPr lang="en-US" sz="2600" dirty="0"/>
          </a:p>
          <a:p>
            <a:pPr lvl="1" eaLnBrk="1" hangingPunct="1">
              <a:lnSpc>
                <a:spcPct val="80000"/>
              </a:lnSpc>
            </a:pPr>
            <a:r>
              <a:rPr lang="en-US" sz="2600" dirty="0"/>
              <a:t>SELECT </a:t>
            </a:r>
            <a:r>
              <a:rPr lang="en-US" sz="2600" dirty="0">
                <a:latin typeface="Symbol" pitchFamily="71" charset="2"/>
              </a:rPr>
              <a:t></a:t>
            </a:r>
            <a:r>
              <a:rPr lang="en-US" sz="2600" dirty="0"/>
              <a:t> is commutative:</a:t>
            </a:r>
          </a:p>
          <a:p>
            <a:pPr lvl="2" eaLnBrk="1" hangingPunct="1">
              <a:lnSpc>
                <a:spcPct val="80000"/>
              </a:lnSpc>
            </a:pPr>
            <a:r>
              <a:rPr lang="en-US" sz="2300" dirty="0">
                <a:latin typeface="Symbol" pitchFamily="71" charset="2"/>
              </a:rPr>
              <a:t></a:t>
            </a:r>
            <a:r>
              <a:rPr lang="en-US" sz="2300" dirty="0"/>
              <a:t> </a:t>
            </a:r>
            <a:r>
              <a:rPr lang="en-US" sz="2600" baseline="-25000" dirty="0"/>
              <a:t>&lt;condition1&gt;</a:t>
            </a:r>
            <a:r>
              <a:rPr lang="en-US" sz="2300" dirty="0"/>
              <a:t>(</a:t>
            </a:r>
            <a:r>
              <a:rPr lang="en-US" sz="2300" dirty="0">
                <a:latin typeface="Symbol" pitchFamily="71" charset="2"/>
              </a:rPr>
              <a:t></a:t>
            </a:r>
            <a:r>
              <a:rPr lang="en-US" sz="2300" dirty="0"/>
              <a:t> </a:t>
            </a:r>
            <a:r>
              <a:rPr lang="en-US" sz="2600" baseline="-25000" dirty="0"/>
              <a:t>&lt; condition2&gt;</a:t>
            </a:r>
            <a:r>
              <a:rPr lang="en-US" sz="2300" dirty="0"/>
              <a:t> (R)) = </a:t>
            </a:r>
            <a:r>
              <a:rPr lang="en-US" sz="2300" dirty="0">
                <a:latin typeface="Symbol" pitchFamily="71" charset="2"/>
              </a:rPr>
              <a:t></a:t>
            </a:r>
            <a:r>
              <a:rPr lang="en-US" sz="2300" dirty="0"/>
              <a:t> </a:t>
            </a:r>
            <a:r>
              <a:rPr lang="en-US" sz="2600" baseline="-25000" dirty="0"/>
              <a:t>&lt;condition2&gt;</a:t>
            </a:r>
            <a:r>
              <a:rPr lang="en-US" sz="2300" dirty="0"/>
              <a:t> (</a:t>
            </a:r>
            <a:r>
              <a:rPr lang="en-US" sz="2300" dirty="0">
                <a:latin typeface="Symbol" pitchFamily="71" charset="2"/>
              </a:rPr>
              <a:t></a:t>
            </a:r>
            <a:r>
              <a:rPr lang="en-US" sz="2300" dirty="0"/>
              <a:t> </a:t>
            </a:r>
            <a:r>
              <a:rPr lang="en-US" sz="2600" baseline="-25000" dirty="0"/>
              <a:t>&lt; condition1&gt;</a:t>
            </a:r>
            <a:r>
              <a:rPr lang="en-US" sz="2300" dirty="0"/>
              <a:t> (R))</a:t>
            </a:r>
          </a:p>
          <a:p>
            <a:pPr lvl="1" eaLnBrk="1" hangingPunct="1">
              <a:lnSpc>
                <a:spcPct val="80000"/>
              </a:lnSpc>
            </a:pPr>
            <a:endParaRPr lang="en-US" sz="2600" dirty="0"/>
          </a:p>
          <a:p>
            <a:pPr lvl="1" eaLnBrk="1" hangingPunct="1">
              <a:lnSpc>
                <a:spcPct val="80000"/>
              </a:lnSpc>
            </a:pPr>
            <a:r>
              <a:rPr lang="en-US" sz="2600" dirty="0"/>
              <a:t>Because of </a:t>
            </a:r>
            <a:r>
              <a:rPr lang="en-US" sz="2600" dirty="0" smtClean="0"/>
              <a:t>commutate </a:t>
            </a:r>
            <a:r>
              <a:rPr lang="en-US" sz="2600" dirty="0"/>
              <a:t>property, a cascade (sequence) of SELECT operations may be applied in any order:</a:t>
            </a:r>
          </a:p>
          <a:p>
            <a:pPr lvl="2" eaLnBrk="1" hangingPunct="1">
              <a:lnSpc>
                <a:spcPct val="80000"/>
              </a:lnSpc>
            </a:pPr>
            <a:r>
              <a:rPr lang="en-US" sz="2300" dirty="0">
                <a:latin typeface="Symbol" pitchFamily="71" charset="2"/>
              </a:rPr>
              <a:t></a:t>
            </a:r>
            <a:r>
              <a:rPr lang="en-US" sz="2300" baseline="-25000" dirty="0"/>
              <a:t>&lt;cond1&gt;</a:t>
            </a:r>
            <a:r>
              <a:rPr lang="en-US" sz="2300" dirty="0"/>
              <a:t>(</a:t>
            </a:r>
            <a:r>
              <a:rPr lang="en-US" sz="2300" dirty="0">
                <a:latin typeface="Symbol" pitchFamily="71" charset="2"/>
              </a:rPr>
              <a:t></a:t>
            </a:r>
            <a:r>
              <a:rPr lang="en-US" sz="2300" baseline="-25000" dirty="0"/>
              <a:t>&lt;cond2&gt;</a:t>
            </a:r>
            <a:r>
              <a:rPr lang="en-US" sz="2300" dirty="0"/>
              <a:t> (</a:t>
            </a:r>
            <a:r>
              <a:rPr lang="en-US" sz="2300" dirty="0">
                <a:latin typeface="Symbol" pitchFamily="71" charset="2"/>
              </a:rPr>
              <a:t></a:t>
            </a:r>
            <a:r>
              <a:rPr lang="en-US" sz="2300" baseline="-25000" dirty="0"/>
              <a:t>&lt;cond3&gt;</a:t>
            </a:r>
            <a:r>
              <a:rPr lang="en-US" sz="2300" dirty="0"/>
              <a:t> (R)) = </a:t>
            </a:r>
            <a:r>
              <a:rPr lang="en-US" sz="2300" dirty="0">
                <a:latin typeface="Symbol" pitchFamily="71" charset="2"/>
              </a:rPr>
              <a:t></a:t>
            </a:r>
            <a:r>
              <a:rPr lang="en-US" sz="2300" baseline="-25000" dirty="0"/>
              <a:t>&lt;cond2&gt;</a:t>
            </a:r>
            <a:r>
              <a:rPr lang="en-US" sz="2300" dirty="0"/>
              <a:t> (</a:t>
            </a:r>
            <a:r>
              <a:rPr lang="en-US" sz="2300" dirty="0">
                <a:latin typeface="Symbol" pitchFamily="71" charset="2"/>
              </a:rPr>
              <a:t></a:t>
            </a:r>
            <a:r>
              <a:rPr lang="en-US" sz="2300" baseline="-25000" dirty="0"/>
              <a:t>&lt;cond3&gt;</a:t>
            </a:r>
            <a:r>
              <a:rPr lang="en-US" sz="2300" dirty="0"/>
              <a:t> (</a:t>
            </a:r>
            <a:r>
              <a:rPr lang="en-US" sz="2300" dirty="0">
                <a:latin typeface="Symbol" pitchFamily="71" charset="2"/>
              </a:rPr>
              <a:t></a:t>
            </a:r>
            <a:r>
              <a:rPr lang="en-US" sz="2300" baseline="-25000" dirty="0"/>
              <a:t>&lt;cond1&gt;</a:t>
            </a:r>
            <a:r>
              <a:rPr lang="en-US" sz="2300" dirty="0"/>
              <a:t> ( R)))</a:t>
            </a:r>
          </a:p>
          <a:p>
            <a:pPr lvl="1" eaLnBrk="1" hangingPunct="1">
              <a:lnSpc>
                <a:spcPct val="80000"/>
              </a:lnSpc>
            </a:pPr>
            <a:endParaRPr lang="en-US" sz="2600" dirty="0"/>
          </a:p>
          <a:p>
            <a:pPr lvl="1" eaLnBrk="1" hangingPunct="1">
              <a:lnSpc>
                <a:spcPct val="80000"/>
              </a:lnSpc>
            </a:pPr>
            <a:r>
              <a:rPr lang="en-US" sz="2600" dirty="0"/>
              <a:t>A cascade of SELECT operations may be replaced by a single selection with a conjunction of all the conditions:</a:t>
            </a:r>
          </a:p>
          <a:p>
            <a:pPr lvl="2" eaLnBrk="1" hangingPunct="1">
              <a:lnSpc>
                <a:spcPct val="80000"/>
              </a:lnSpc>
            </a:pPr>
            <a:r>
              <a:rPr lang="en-US" sz="2300" dirty="0">
                <a:latin typeface="Symbol" pitchFamily="71" charset="2"/>
              </a:rPr>
              <a:t></a:t>
            </a:r>
            <a:r>
              <a:rPr lang="en-US" sz="2300" baseline="-25000" dirty="0"/>
              <a:t>&lt;cond1&gt;</a:t>
            </a:r>
            <a:r>
              <a:rPr lang="en-US" sz="2300" dirty="0"/>
              <a:t>(</a:t>
            </a:r>
            <a:r>
              <a:rPr lang="en-US" sz="2300" dirty="0">
                <a:latin typeface="Symbol" pitchFamily="71" charset="2"/>
              </a:rPr>
              <a:t></a:t>
            </a:r>
            <a:r>
              <a:rPr lang="en-US" sz="2300" baseline="-25000" dirty="0"/>
              <a:t>&lt; cond2&gt;</a:t>
            </a:r>
            <a:r>
              <a:rPr lang="en-US" sz="2300" dirty="0"/>
              <a:t> (</a:t>
            </a:r>
            <a:r>
              <a:rPr lang="en-US" sz="2300" dirty="0">
                <a:latin typeface="Symbol" pitchFamily="71" charset="2"/>
              </a:rPr>
              <a:t></a:t>
            </a:r>
            <a:r>
              <a:rPr lang="en-US" sz="2300" baseline="-25000" dirty="0"/>
              <a:t>&lt;cond3&gt;</a:t>
            </a:r>
            <a:r>
              <a:rPr lang="en-US" sz="2300" dirty="0"/>
              <a:t>(R)) = </a:t>
            </a:r>
            <a:r>
              <a:rPr lang="en-US" sz="2300" dirty="0">
                <a:latin typeface="Symbol" pitchFamily="71" charset="2"/>
              </a:rPr>
              <a:t></a:t>
            </a:r>
            <a:r>
              <a:rPr lang="en-US" sz="2300" baseline="-25000" dirty="0"/>
              <a:t> &lt;cond1&gt; AND &lt; cond2&gt; AND &lt; cond3&gt;</a:t>
            </a:r>
            <a:r>
              <a:rPr lang="en-US" sz="2300" dirty="0"/>
              <a:t>(R)))</a:t>
            </a:r>
          </a:p>
          <a:p>
            <a:pPr lvl="1" eaLnBrk="1" hangingPunct="1">
              <a:lnSpc>
                <a:spcPct val="80000"/>
              </a:lnSpc>
            </a:pPr>
            <a:endParaRPr lang="en-US" sz="2600" dirty="0"/>
          </a:p>
          <a:p>
            <a:pPr lvl="1" eaLnBrk="1" hangingPunct="1">
              <a:lnSpc>
                <a:spcPct val="80000"/>
              </a:lnSpc>
            </a:pPr>
            <a:r>
              <a:rPr lang="en-US" sz="2600" dirty="0"/>
              <a:t>The number of tuples in the result of a SELECT is less than (or equal to) the number of tuples in the input relation R</a:t>
            </a:r>
          </a:p>
          <a:p>
            <a:pPr lvl="1" eaLnBrk="1" hangingPunct="1">
              <a:lnSpc>
                <a:spcPct val="80000"/>
              </a:lnSpc>
            </a:pPr>
            <a:endParaRPr lang="en-US" sz="2100" dirty="0"/>
          </a:p>
          <a:p>
            <a:pPr lvl="2" eaLnBrk="1" hangingPunct="1">
              <a:lnSpc>
                <a:spcPct val="80000"/>
              </a:lnSpc>
            </a:pPr>
            <a:endParaRPr lang="en-US" sz="2000" dirty="0"/>
          </a:p>
        </p:txBody>
      </p:sp>
    </p:spTree>
  </p:cSld>
  <p:clrMapOvr>
    <a:masterClrMapping/>
  </p:clrMapOvr>
  <p:transition>
    <p:dissolv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5"/>
          <p:cNvSpPr>
            <a:spLocks noGrp="1" noChangeArrowheads="1"/>
          </p:cNvSpPr>
          <p:nvPr>
            <p:ph type="title"/>
          </p:nvPr>
        </p:nvSpPr>
        <p:spPr>
          <a:noFill/>
        </p:spPr>
        <p:txBody>
          <a:bodyPr>
            <a:normAutofit/>
          </a:bodyPr>
          <a:lstStyle/>
          <a:p>
            <a:pPr eaLnBrk="1" hangingPunct="1"/>
            <a:r>
              <a:rPr lang="en-US" sz="3200"/>
              <a:t>The following query results refer to this database state</a:t>
            </a:r>
          </a:p>
        </p:txBody>
      </p:sp>
      <p:sp>
        <p:nvSpPr>
          <p:cNvPr id="13316" name="Rectangle 3"/>
          <p:cNvSpPr>
            <a:spLocks noChangeArrowheads="1"/>
          </p:cNvSpPr>
          <p:nvPr/>
        </p:nvSpPr>
        <p:spPr bwMode="auto">
          <a:xfrm>
            <a:off x="1833563" y="1309688"/>
            <a:ext cx="9144000" cy="0"/>
          </a:xfrm>
          <a:prstGeom prst="rect">
            <a:avLst/>
          </a:prstGeom>
          <a:noFill/>
          <a:ln w="9525">
            <a:noFill/>
            <a:miter lim="800000"/>
            <a:headEnd/>
            <a:tailEnd/>
          </a:ln>
        </p:spPr>
        <p:txBody>
          <a:bodyPr>
            <a:spAutoFit/>
          </a:bodyPr>
          <a:lstStyle/>
          <a:p>
            <a:endParaRPr lang="en-US"/>
          </a:p>
        </p:txBody>
      </p:sp>
      <p:sp>
        <p:nvSpPr>
          <p:cNvPr id="13317" name="Rectangle 8"/>
          <p:cNvSpPr>
            <a:spLocks noChangeArrowheads="1"/>
          </p:cNvSpPr>
          <p:nvPr/>
        </p:nvSpPr>
        <p:spPr bwMode="auto">
          <a:xfrm>
            <a:off x="1066800" y="2286000"/>
            <a:ext cx="7239000" cy="533400"/>
          </a:xfrm>
          <a:prstGeom prst="rect">
            <a:avLst/>
          </a:prstGeom>
          <a:solidFill>
            <a:schemeClr val="bg1"/>
          </a:solidFill>
          <a:ln w="9525">
            <a:noFill/>
            <a:miter lim="800000"/>
            <a:headEnd/>
            <a:tailEnd/>
          </a:ln>
        </p:spPr>
        <p:txBody>
          <a:bodyPr wrap="none" anchor="ctr"/>
          <a:lstStyle/>
          <a:p>
            <a:endParaRPr lang="en-US"/>
          </a:p>
        </p:txBody>
      </p:sp>
      <p:pic>
        <p:nvPicPr>
          <p:cNvPr id="13318" name="Picture 9" descr="fig05_06"/>
          <p:cNvPicPr>
            <a:picLocks noChangeAspect="1" noChangeArrowheads="1"/>
          </p:cNvPicPr>
          <p:nvPr/>
        </p:nvPicPr>
        <p:blipFill>
          <a:blip r:embed="rId3"/>
          <a:srcRect/>
          <a:stretch>
            <a:fillRect/>
          </a:stretch>
        </p:blipFill>
        <p:spPr bwMode="auto">
          <a:xfrm>
            <a:off x="1653540" y="1717432"/>
            <a:ext cx="5882640" cy="4593294"/>
          </a:xfrm>
          <a:prstGeom prst="rect">
            <a:avLst/>
          </a:prstGeom>
          <a:noFill/>
          <a:ln w="9525">
            <a:noFill/>
            <a:miter lim="800000"/>
            <a:headEnd/>
            <a:tailEnd/>
          </a:ln>
        </p:spPr>
      </p:pic>
    </p:spTree>
  </p:cSld>
  <p:clrMapOvr>
    <a:masterClrMapping/>
  </p:clrMapOvr>
  <p:transition>
    <p:dissolv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4"/>
          <p:cNvSpPr>
            <a:spLocks noGrp="1" noChangeArrowheads="1"/>
          </p:cNvSpPr>
          <p:nvPr>
            <p:ph type="title"/>
          </p:nvPr>
        </p:nvSpPr>
        <p:spPr>
          <a:noFill/>
        </p:spPr>
        <p:txBody>
          <a:bodyPr/>
          <a:lstStyle/>
          <a:p>
            <a:pPr eaLnBrk="1" hangingPunct="1"/>
            <a:r>
              <a:rPr lang="en-US" sz="3200"/>
              <a:t>Unary Relational Operations: PROJECT</a:t>
            </a:r>
          </a:p>
        </p:txBody>
      </p:sp>
      <p:sp>
        <p:nvSpPr>
          <p:cNvPr id="14340" name="Rectangle 5"/>
          <p:cNvSpPr>
            <a:spLocks noGrp="1" noChangeArrowheads="1"/>
          </p:cNvSpPr>
          <p:nvPr>
            <p:ph idx="1"/>
          </p:nvPr>
        </p:nvSpPr>
        <p:spPr/>
        <p:txBody>
          <a:bodyPr>
            <a:normAutofit/>
          </a:bodyPr>
          <a:lstStyle/>
          <a:p>
            <a:pPr eaLnBrk="1" hangingPunct="1">
              <a:lnSpc>
                <a:spcPct val="90000"/>
              </a:lnSpc>
            </a:pPr>
            <a:r>
              <a:rPr lang="en-US" dirty="0"/>
              <a:t>PROJECT Operation is denoted by </a:t>
            </a:r>
            <a:r>
              <a:rPr lang="en-US" b="1" dirty="0">
                <a:latin typeface="Symbol" pitchFamily="71" charset="2"/>
              </a:rPr>
              <a:t></a:t>
            </a:r>
            <a:r>
              <a:rPr lang="en-US" dirty="0">
                <a:latin typeface="Symbol" pitchFamily="71" charset="2"/>
              </a:rPr>
              <a:t> </a:t>
            </a:r>
            <a:r>
              <a:rPr lang="en-US" dirty="0"/>
              <a:t>(pi) </a:t>
            </a:r>
          </a:p>
          <a:p>
            <a:pPr eaLnBrk="1" hangingPunct="1">
              <a:lnSpc>
                <a:spcPct val="90000"/>
              </a:lnSpc>
            </a:pPr>
            <a:r>
              <a:rPr lang="en-US" sz="2800" dirty="0"/>
              <a:t>This operation keeps certain </a:t>
            </a:r>
            <a:r>
              <a:rPr lang="en-US" sz="2800" i="1" dirty="0"/>
              <a:t>columns</a:t>
            </a:r>
            <a:r>
              <a:rPr lang="en-US" sz="2800" dirty="0"/>
              <a:t> (attributes) from a relation and discards the other columns.</a:t>
            </a:r>
          </a:p>
          <a:p>
            <a:pPr lvl="1" eaLnBrk="1" hangingPunct="1">
              <a:lnSpc>
                <a:spcPct val="90000"/>
              </a:lnSpc>
            </a:pPr>
            <a:r>
              <a:rPr lang="en-US" sz="2400" dirty="0"/>
              <a:t>PROJECT creates a vertical partitioning</a:t>
            </a:r>
          </a:p>
          <a:p>
            <a:pPr lvl="2" eaLnBrk="1" hangingPunct="1">
              <a:lnSpc>
                <a:spcPct val="90000"/>
              </a:lnSpc>
            </a:pPr>
            <a:r>
              <a:rPr lang="en-US" sz="1800" dirty="0"/>
              <a:t>The list of specified columns (attributes) is kept in each tuple</a:t>
            </a:r>
          </a:p>
          <a:p>
            <a:pPr lvl="2" eaLnBrk="1" hangingPunct="1">
              <a:lnSpc>
                <a:spcPct val="90000"/>
              </a:lnSpc>
            </a:pPr>
            <a:r>
              <a:rPr lang="en-US" sz="1800" dirty="0"/>
              <a:t>The other attributes in each tuple are discarded</a:t>
            </a:r>
          </a:p>
          <a:p>
            <a:pPr eaLnBrk="1" hangingPunct="1">
              <a:lnSpc>
                <a:spcPct val="90000"/>
              </a:lnSpc>
            </a:pPr>
            <a:r>
              <a:rPr lang="en-US" sz="2800" dirty="0"/>
              <a:t>Example: To list each employee’s first and last name and salary, the following is used:</a:t>
            </a:r>
          </a:p>
          <a:p>
            <a:pPr lvl="1" algn="ctr" eaLnBrk="1" hangingPunct="1">
              <a:lnSpc>
                <a:spcPct val="90000"/>
              </a:lnSpc>
              <a:buFont typeface="Wingdings" pitchFamily="2" charset="2"/>
              <a:buNone/>
            </a:pPr>
            <a:r>
              <a:rPr lang="en-US" sz="2400" dirty="0">
                <a:latin typeface="Symbol" pitchFamily="71" charset="2"/>
              </a:rPr>
              <a:t></a:t>
            </a:r>
            <a:r>
              <a:rPr lang="en-US" sz="2400" baseline="-25000" dirty="0"/>
              <a:t>LNAME, FNAME,SALARY</a:t>
            </a:r>
            <a:r>
              <a:rPr lang="en-US" sz="2400" dirty="0"/>
              <a:t>(EMPLOYEE)</a:t>
            </a:r>
          </a:p>
        </p:txBody>
      </p:sp>
    </p:spTree>
  </p:cSld>
  <p:clrMapOvr>
    <a:masterClrMapping/>
  </p:clrMapOvr>
  <p:transition>
    <p:dissolv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noFill/>
        </p:spPr>
        <p:txBody>
          <a:bodyPr/>
          <a:lstStyle/>
          <a:p>
            <a:pPr eaLnBrk="1" hangingPunct="1"/>
            <a:r>
              <a:rPr lang="en-US" sz="3200"/>
              <a:t>Unary Relational Operations: PROJECT (cont.)</a:t>
            </a:r>
          </a:p>
        </p:txBody>
      </p:sp>
      <p:sp>
        <p:nvSpPr>
          <p:cNvPr id="15364" name="Rectangle 3"/>
          <p:cNvSpPr>
            <a:spLocks noGrp="1" noChangeArrowheads="1"/>
          </p:cNvSpPr>
          <p:nvPr>
            <p:ph idx="1"/>
          </p:nvPr>
        </p:nvSpPr>
        <p:spPr/>
        <p:txBody>
          <a:bodyPr>
            <a:normAutofit/>
          </a:bodyPr>
          <a:lstStyle/>
          <a:p>
            <a:pPr eaLnBrk="1" hangingPunct="1">
              <a:lnSpc>
                <a:spcPct val="80000"/>
              </a:lnSpc>
            </a:pPr>
            <a:endParaRPr lang="en-US" dirty="0"/>
          </a:p>
          <a:p>
            <a:pPr eaLnBrk="1" hangingPunct="1">
              <a:lnSpc>
                <a:spcPct val="80000"/>
              </a:lnSpc>
            </a:pPr>
            <a:r>
              <a:rPr lang="en-US" dirty="0"/>
              <a:t>The general form of the </a:t>
            </a:r>
            <a:r>
              <a:rPr lang="en-US" i="1" dirty="0"/>
              <a:t>project</a:t>
            </a:r>
            <a:r>
              <a:rPr lang="en-US" dirty="0"/>
              <a:t> operation is:</a:t>
            </a:r>
          </a:p>
          <a:p>
            <a:pPr algn="ctr" eaLnBrk="1" hangingPunct="1">
              <a:lnSpc>
                <a:spcPct val="80000"/>
              </a:lnSpc>
              <a:buFont typeface="Wingdings" pitchFamily="2" charset="2"/>
              <a:buNone/>
            </a:pPr>
            <a:r>
              <a:rPr lang="en-US" dirty="0">
                <a:latin typeface="Symbol" pitchFamily="71" charset="2"/>
              </a:rPr>
              <a:t></a:t>
            </a:r>
            <a:r>
              <a:rPr lang="en-US" baseline="-25000" dirty="0"/>
              <a:t>&lt;attribute list&gt;</a:t>
            </a:r>
            <a:r>
              <a:rPr lang="en-US" dirty="0"/>
              <a:t>(R</a:t>
            </a:r>
            <a:r>
              <a:rPr lang="en-US" dirty="0" smtClean="0"/>
              <a:t>)</a:t>
            </a:r>
          </a:p>
          <a:p>
            <a:pPr algn="ctr" eaLnBrk="1" hangingPunct="1">
              <a:lnSpc>
                <a:spcPct val="80000"/>
              </a:lnSpc>
              <a:buFont typeface="Wingdings" pitchFamily="2" charset="2"/>
              <a:buNone/>
            </a:pPr>
            <a:endParaRPr lang="en-US" dirty="0"/>
          </a:p>
          <a:p>
            <a:pPr lvl="1" eaLnBrk="1" hangingPunct="1">
              <a:lnSpc>
                <a:spcPct val="80000"/>
              </a:lnSpc>
            </a:pPr>
            <a:r>
              <a:rPr lang="en-US" sz="2000" dirty="0">
                <a:latin typeface="Symbol" pitchFamily="71" charset="2"/>
              </a:rPr>
              <a:t></a:t>
            </a:r>
            <a:r>
              <a:rPr lang="en-US" sz="2000" dirty="0"/>
              <a:t> (pi) is the symbol used to represent the </a:t>
            </a:r>
            <a:r>
              <a:rPr lang="en-US" sz="2000" i="1" dirty="0"/>
              <a:t>project</a:t>
            </a:r>
            <a:r>
              <a:rPr lang="en-US" sz="2000" dirty="0"/>
              <a:t> operation</a:t>
            </a:r>
          </a:p>
          <a:p>
            <a:pPr lvl="1" eaLnBrk="1" hangingPunct="1">
              <a:lnSpc>
                <a:spcPct val="80000"/>
              </a:lnSpc>
            </a:pPr>
            <a:r>
              <a:rPr lang="en-US" sz="2000" dirty="0"/>
              <a:t>&lt;attribute list&gt; is the desired list of attributes from relation R. </a:t>
            </a:r>
          </a:p>
          <a:p>
            <a:pPr eaLnBrk="1" hangingPunct="1">
              <a:lnSpc>
                <a:spcPct val="80000"/>
              </a:lnSpc>
            </a:pPr>
            <a:r>
              <a:rPr lang="en-US" sz="2400" dirty="0"/>
              <a:t>The project operation </a:t>
            </a:r>
            <a:r>
              <a:rPr lang="en-US" sz="2400" i="1" dirty="0"/>
              <a:t>removes any duplicate tuples</a:t>
            </a:r>
            <a:endParaRPr lang="en-US" sz="2400" dirty="0"/>
          </a:p>
          <a:p>
            <a:pPr lvl="1" eaLnBrk="1" hangingPunct="1">
              <a:lnSpc>
                <a:spcPct val="80000"/>
              </a:lnSpc>
            </a:pPr>
            <a:r>
              <a:rPr lang="en-US" sz="2000" dirty="0"/>
              <a:t>This is because the result of the </a:t>
            </a:r>
            <a:r>
              <a:rPr lang="en-US" sz="2000" i="1" dirty="0"/>
              <a:t>project</a:t>
            </a:r>
            <a:r>
              <a:rPr lang="en-US" sz="2000" dirty="0"/>
              <a:t> operation must be a </a:t>
            </a:r>
            <a:r>
              <a:rPr lang="en-US" sz="2000" i="1" dirty="0"/>
              <a:t>set of tuples</a:t>
            </a:r>
          </a:p>
          <a:p>
            <a:pPr lvl="2" eaLnBrk="1" hangingPunct="1">
              <a:lnSpc>
                <a:spcPct val="80000"/>
              </a:lnSpc>
            </a:pPr>
            <a:r>
              <a:rPr lang="en-US" sz="1600" dirty="0"/>
              <a:t>Mathematical sets </a:t>
            </a:r>
            <a:r>
              <a:rPr lang="en-US" sz="1600" i="1" dirty="0"/>
              <a:t>do not allow</a:t>
            </a:r>
            <a:r>
              <a:rPr lang="en-US" sz="1600" dirty="0"/>
              <a:t> duplicate elements.</a:t>
            </a:r>
          </a:p>
          <a:p>
            <a:pPr eaLnBrk="1" hangingPunct="1">
              <a:lnSpc>
                <a:spcPct val="80000"/>
              </a:lnSpc>
            </a:pPr>
            <a:endParaRPr lang="en-US" dirty="0"/>
          </a:p>
          <a:p>
            <a:pPr eaLnBrk="1" hangingPunct="1">
              <a:lnSpc>
                <a:spcPct val="80000"/>
              </a:lnSpc>
            </a:pPr>
            <a:endParaRPr lang="en-US" dirty="0"/>
          </a:p>
        </p:txBody>
      </p:sp>
    </p:spTree>
  </p:cSld>
  <p:clrMapOvr>
    <a:masterClrMapping/>
  </p:clrMapOvr>
  <p:transition>
    <p:dissolv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4"/>
          <p:cNvSpPr>
            <a:spLocks noGrp="1" noChangeArrowheads="1"/>
          </p:cNvSpPr>
          <p:nvPr>
            <p:ph type="title"/>
          </p:nvPr>
        </p:nvSpPr>
        <p:spPr>
          <a:noFill/>
        </p:spPr>
        <p:txBody>
          <a:bodyPr/>
          <a:lstStyle/>
          <a:p>
            <a:pPr eaLnBrk="1" hangingPunct="1"/>
            <a:r>
              <a:rPr lang="en-US" sz="3200"/>
              <a:t>Unary Relational Operations: PROJECT (contd.)</a:t>
            </a:r>
          </a:p>
        </p:txBody>
      </p:sp>
      <p:sp>
        <p:nvSpPr>
          <p:cNvPr id="16388" name="Rectangle 5"/>
          <p:cNvSpPr>
            <a:spLocks noGrp="1" noChangeArrowheads="1"/>
          </p:cNvSpPr>
          <p:nvPr>
            <p:ph idx="1"/>
          </p:nvPr>
        </p:nvSpPr>
        <p:spPr/>
        <p:txBody>
          <a:bodyPr/>
          <a:lstStyle/>
          <a:p>
            <a:pPr eaLnBrk="1" hangingPunct="1"/>
            <a:r>
              <a:rPr lang="en-US"/>
              <a:t>PROJECT Operation Properties</a:t>
            </a:r>
          </a:p>
          <a:p>
            <a:pPr lvl="1" eaLnBrk="1" hangingPunct="1"/>
            <a:r>
              <a:rPr lang="en-US"/>
              <a:t>The number of tuples in the result of projection </a:t>
            </a:r>
            <a:r>
              <a:rPr lang="en-US">
                <a:latin typeface="Symbol" pitchFamily="71" charset="2"/>
              </a:rPr>
              <a:t></a:t>
            </a:r>
            <a:r>
              <a:rPr lang="en-US" baseline="-25000"/>
              <a:t>&lt;list&gt;</a:t>
            </a:r>
            <a:r>
              <a:rPr lang="en-US"/>
              <a:t>(R) is always less or equal to the number of tuples in R</a:t>
            </a:r>
          </a:p>
          <a:p>
            <a:pPr lvl="2" eaLnBrk="1" hangingPunct="1"/>
            <a:r>
              <a:rPr lang="en-US"/>
              <a:t>If the list of attributes includes a </a:t>
            </a:r>
            <a:r>
              <a:rPr lang="en-US" i="1"/>
              <a:t>key</a:t>
            </a:r>
            <a:r>
              <a:rPr lang="en-US"/>
              <a:t> of R, then the number of tuples in the result of PROJECT is </a:t>
            </a:r>
            <a:r>
              <a:rPr lang="en-US" i="1"/>
              <a:t>equal</a:t>
            </a:r>
            <a:r>
              <a:rPr lang="en-US"/>
              <a:t> to the number of tuples in R</a:t>
            </a:r>
          </a:p>
          <a:p>
            <a:pPr lvl="1" eaLnBrk="1" hangingPunct="1"/>
            <a:r>
              <a:rPr lang="en-US"/>
              <a:t>PROJECT is </a:t>
            </a:r>
            <a:r>
              <a:rPr lang="en-US" i="1"/>
              <a:t>not</a:t>
            </a:r>
            <a:r>
              <a:rPr lang="en-US"/>
              <a:t> commutative</a:t>
            </a:r>
          </a:p>
          <a:p>
            <a:pPr lvl="2" eaLnBrk="1" hangingPunct="1"/>
            <a:r>
              <a:rPr lang="en-US">
                <a:latin typeface="Symbol" pitchFamily="71" charset="2"/>
              </a:rPr>
              <a:t></a:t>
            </a:r>
            <a:r>
              <a:rPr lang="en-US"/>
              <a:t> </a:t>
            </a:r>
            <a:r>
              <a:rPr lang="en-US" baseline="-25000"/>
              <a:t>&lt;list1&gt;</a:t>
            </a:r>
            <a:r>
              <a:rPr lang="en-US"/>
              <a:t> (</a:t>
            </a:r>
            <a:r>
              <a:rPr lang="en-US">
                <a:latin typeface="Symbol" pitchFamily="71" charset="2"/>
              </a:rPr>
              <a:t></a:t>
            </a:r>
            <a:r>
              <a:rPr lang="en-US"/>
              <a:t> </a:t>
            </a:r>
            <a:r>
              <a:rPr lang="en-US" baseline="-25000"/>
              <a:t>&lt;list2&gt;</a:t>
            </a:r>
            <a:r>
              <a:rPr lang="en-US"/>
              <a:t> (R) ) = </a:t>
            </a:r>
            <a:r>
              <a:rPr lang="en-US">
                <a:latin typeface="Symbol" pitchFamily="71" charset="2"/>
              </a:rPr>
              <a:t></a:t>
            </a:r>
            <a:r>
              <a:rPr lang="en-US"/>
              <a:t> </a:t>
            </a:r>
            <a:r>
              <a:rPr lang="en-US" baseline="-25000"/>
              <a:t>&lt;list1&gt;</a:t>
            </a:r>
            <a:r>
              <a:rPr lang="en-US"/>
              <a:t> (R) as long as &lt;list2&gt; contains the attributes in &lt;list1&gt; </a:t>
            </a:r>
          </a:p>
        </p:txBody>
      </p:sp>
    </p:spTree>
  </p:cSld>
  <p:clrMapOvr>
    <a:masterClrMapping/>
  </p:clrMapOvr>
  <p:transition>
    <p:dissolv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4"/>
          <p:cNvSpPr>
            <a:spLocks noGrp="1" noChangeArrowheads="1"/>
          </p:cNvSpPr>
          <p:nvPr>
            <p:ph type="title"/>
          </p:nvPr>
        </p:nvSpPr>
        <p:spPr>
          <a:noFill/>
        </p:spPr>
        <p:txBody>
          <a:bodyPr>
            <a:normAutofit/>
          </a:bodyPr>
          <a:lstStyle/>
          <a:p>
            <a:pPr eaLnBrk="1" hangingPunct="1"/>
            <a:r>
              <a:rPr lang="en-US" sz="3200"/>
              <a:t>Examples of applying SELECT and PROJECT operations</a:t>
            </a:r>
          </a:p>
        </p:txBody>
      </p:sp>
      <p:pic>
        <p:nvPicPr>
          <p:cNvPr id="17412" name="Picture 6" descr="fig06_01"/>
          <p:cNvPicPr>
            <a:picLocks noChangeAspect="1" noChangeArrowheads="1"/>
          </p:cNvPicPr>
          <p:nvPr/>
        </p:nvPicPr>
        <p:blipFill>
          <a:blip r:embed="rId3"/>
          <a:srcRect/>
          <a:stretch>
            <a:fillRect/>
          </a:stretch>
        </p:blipFill>
        <p:spPr bwMode="auto">
          <a:xfrm>
            <a:off x="533400" y="1676400"/>
            <a:ext cx="8077200" cy="4624388"/>
          </a:xfrm>
          <a:prstGeom prst="rect">
            <a:avLst/>
          </a:prstGeom>
          <a:noFill/>
          <a:ln w="9525">
            <a:noFill/>
            <a:miter lim="800000"/>
            <a:headEnd/>
            <a:tailEnd/>
          </a:ln>
        </p:spPr>
      </p:pic>
    </p:spTree>
  </p:cSld>
  <p:clrMapOvr>
    <a:masterClrMapping/>
  </p:clrMapOvr>
  <p:transition>
    <p:dissolv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noFill/>
        </p:spPr>
        <p:txBody>
          <a:bodyPr/>
          <a:lstStyle/>
          <a:p>
            <a:pPr eaLnBrk="1" hangingPunct="1"/>
            <a:r>
              <a:rPr lang="en-US"/>
              <a:t>Relational Algebra Expressions</a:t>
            </a:r>
          </a:p>
        </p:txBody>
      </p:sp>
      <p:sp>
        <p:nvSpPr>
          <p:cNvPr id="18436" name="Rectangle 3"/>
          <p:cNvSpPr>
            <a:spLocks noGrp="1" noChangeArrowheads="1"/>
          </p:cNvSpPr>
          <p:nvPr>
            <p:ph idx="1"/>
          </p:nvPr>
        </p:nvSpPr>
        <p:spPr/>
        <p:txBody>
          <a:bodyPr>
            <a:normAutofit/>
          </a:bodyPr>
          <a:lstStyle/>
          <a:p>
            <a:pPr eaLnBrk="1" hangingPunct="1"/>
            <a:r>
              <a:rPr lang="en-US"/>
              <a:t>We may want to apply several relational algebra operations one after the other</a:t>
            </a:r>
          </a:p>
          <a:p>
            <a:pPr lvl="1" eaLnBrk="1" hangingPunct="1"/>
            <a:r>
              <a:rPr lang="en-US"/>
              <a:t>Either we can write the operations as a single </a:t>
            </a:r>
            <a:r>
              <a:rPr lang="en-US" b="1"/>
              <a:t>relational algebra expression</a:t>
            </a:r>
            <a:r>
              <a:rPr lang="en-US"/>
              <a:t> by nesting the operations, or</a:t>
            </a:r>
          </a:p>
          <a:p>
            <a:pPr lvl="1" eaLnBrk="1" hangingPunct="1"/>
            <a:r>
              <a:rPr lang="en-US"/>
              <a:t>We can apply one operation at a time and create </a:t>
            </a:r>
            <a:r>
              <a:rPr lang="en-US" b="1"/>
              <a:t>intermediate result relations</a:t>
            </a:r>
            <a:r>
              <a:rPr lang="en-US"/>
              <a:t>.</a:t>
            </a:r>
          </a:p>
          <a:p>
            <a:pPr eaLnBrk="1" hangingPunct="1"/>
            <a:r>
              <a:rPr lang="en-US" sz="3000"/>
              <a:t>In the latter case, we must give names to the relations that hold the intermediate results. </a:t>
            </a:r>
            <a:r>
              <a:rPr lang="en-US" sz="3100"/>
              <a:t>	</a:t>
            </a:r>
          </a:p>
        </p:txBody>
      </p:sp>
    </p:spTree>
  </p:cSld>
  <p:clrMapOvr>
    <a:masterClrMapping/>
  </p:clrMapOvr>
  <p:transition>
    <p:dissolv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noFill/>
        </p:spPr>
        <p:txBody>
          <a:bodyPr>
            <a:normAutofit/>
          </a:bodyPr>
          <a:lstStyle/>
          <a:p>
            <a:pPr eaLnBrk="1" hangingPunct="1"/>
            <a:r>
              <a:rPr lang="en-US" sz="3200"/>
              <a:t>Single expression versus sequence of relational operations (Example)</a:t>
            </a:r>
          </a:p>
        </p:txBody>
      </p:sp>
      <p:sp>
        <p:nvSpPr>
          <p:cNvPr id="19460" name="Rectangle 3"/>
          <p:cNvSpPr>
            <a:spLocks noGrp="1" noChangeArrowheads="1"/>
          </p:cNvSpPr>
          <p:nvPr>
            <p:ph idx="1"/>
          </p:nvPr>
        </p:nvSpPr>
        <p:spPr/>
        <p:txBody>
          <a:bodyPr>
            <a:normAutofit/>
          </a:bodyPr>
          <a:lstStyle/>
          <a:p>
            <a:pPr eaLnBrk="1" hangingPunct="1"/>
            <a:r>
              <a:rPr lang="en-US" sz="2400" dirty="0"/>
              <a:t>To retrieve the first name, last name, and salary of all employees who work in department number 5, we must apply a select and a project operation</a:t>
            </a:r>
          </a:p>
          <a:p>
            <a:pPr eaLnBrk="1" hangingPunct="1"/>
            <a:r>
              <a:rPr lang="en-US" sz="2400" dirty="0"/>
              <a:t>We can write a </a:t>
            </a:r>
            <a:r>
              <a:rPr lang="en-US" sz="2400" i="1" dirty="0"/>
              <a:t>single relational algebra expression</a:t>
            </a:r>
            <a:r>
              <a:rPr lang="en-US" sz="2400" dirty="0"/>
              <a:t> as follows: </a:t>
            </a:r>
          </a:p>
          <a:p>
            <a:pPr lvl="1" eaLnBrk="1" hangingPunct="1"/>
            <a:r>
              <a:rPr lang="en-US" sz="2400" b="1" dirty="0">
                <a:latin typeface="Symbol" pitchFamily="71" charset="2"/>
              </a:rPr>
              <a:t></a:t>
            </a:r>
            <a:r>
              <a:rPr lang="en-US" sz="2400" baseline="-25000" dirty="0"/>
              <a:t>FNAME, LNAME, SALARY</a:t>
            </a:r>
            <a:r>
              <a:rPr lang="en-US" sz="2400" dirty="0"/>
              <a:t>(</a:t>
            </a:r>
            <a:r>
              <a:rPr lang="en-US" sz="2400" b="1" dirty="0">
                <a:latin typeface="Symbol" pitchFamily="71" charset="2"/>
              </a:rPr>
              <a:t></a:t>
            </a:r>
            <a:r>
              <a:rPr lang="en-US" sz="2400" dirty="0"/>
              <a:t> </a:t>
            </a:r>
            <a:r>
              <a:rPr lang="en-US" sz="2400" baseline="-25000" dirty="0"/>
              <a:t>DNO=5</a:t>
            </a:r>
            <a:r>
              <a:rPr lang="en-US" sz="2400" dirty="0"/>
              <a:t>(EMPLOYEE))</a:t>
            </a:r>
          </a:p>
          <a:p>
            <a:pPr eaLnBrk="1" hangingPunct="1"/>
            <a:r>
              <a:rPr lang="en-US" sz="2400" dirty="0"/>
              <a:t>OR We can explicitly show the </a:t>
            </a:r>
            <a:r>
              <a:rPr lang="en-US" sz="2400" i="1" dirty="0"/>
              <a:t>sequence of operations</a:t>
            </a:r>
            <a:r>
              <a:rPr lang="en-US" sz="2400" dirty="0"/>
              <a:t>, giving a name to each intermediate relation:</a:t>
            </a:r>
          </a:p>
          <a:p>
            <a:pPr lvl="1" eaLnBrk="1" hangingPunct="1"/>
            <a:r>
              <a:rPr lang="en-US" sz="2400" dirty="0"/>
              <a:t>DEP5_EMPS </a:t>
            </a:r>
            <a:r>
              <a:rPr lang="en-US" sz="2400" dirty="0">
                <a:sym typeface="Symbol" pitchFamily="71" charset="2"/>
              </a:rPr>
              <a:t> </a:t>
            </a:r>
            <a:r>
              <a:rPr lang="en-US" sz="2400" b="1" dirty="0">
                <a:latin typeface="Symbol" pitchFamily="71" charset="2"/>
              </a:rPr>
              <a:t></a:t>
            </a:r>
            <a:r>
              <a:rPr lang="en-US" sz="2400" dirty="0"/>
              <a:t> </a:t>
            </a:r>
            <a:r>
              <a:rPr lang="en-US" sz="2400" baseline="-25000" dirty="0"/>
              <a:t>DNO=5</a:t>
            </a:r>
            <a:r>
              <a:rPr lang="en-US" sz="2400" dirty="0"/>
              <a:t>(EMPLOYEE)</a:t>
            </a:r>
          </a:p>
          <a:p>
            <a:pPr lvl="1" eaLnBrk="1" hangingPunct="1"/>
            <a:r>
              <a:rPr lang="en-US" sz="2400" dirty="0"/>
              <a:t>RESULT </a:t>
            </a:r>
            <a:r>
              <a:rPr lang="en-US" sz="2400" dirty="0">
                <a:sym typeface="Symbol" pitchFamily="71" charset="2"/>
              </a:rPr>
              <a:t> </a:t>
            </a:r>
            <a:r>
              <a:rPr lang="en-US" sz="2400" b="1" dirty="0">
                <a:latin typeface="Symbol" pitchFamily="71" charset="2"/>
              </a:rPr>
              <a:t></a:t>
            </a:r>
            <a:r>
              <a:rPr lang="en-US" sz="2400" dirty="0"/>
              <a:t> </a:t>
            </a:r>
            <a:r>
              <a:rPr lang="en-US" sz="2400" baseline="-25000" dirty="0"/>
              <a:t>FNAME, LNAME, SALARY</a:t>
            </a:r>
            <a:r>
              <a:rPr lang="en-US" sz="2400" dirty="0"/>
              <a:t> (DEP5_EMPS)	</a:t>
            </a:r>
          </a:p>
        </p:txBody>
      </p:sp>
      <p:sp>
        <p:nvSpPr>
          <p:cNvPr id="19461" name="Rectangle 4"/>
          <p:cNvSpPr>
            <a:spLocks noChangeArrowheads="1"/>
          </p:cNvSpPr>
          <p:nvPr/>
        </p:nvSpPr>
        <p:spPr bwMode="auto">
          <a:xfrm>
            <a:off x="990600" y="4953000"/>
            <a:ext cx="2057400" cy="381000"/>
          </a:xfrm>
          <a:prstGeom prst="rect">
            <a:avLst/>
          </a:prstGeom>
          <a:solidFill>
            <a:srgbClr val="FFFF00">
              <a:alpha val="25098"/>
            </a:srgbClr>
          </a:solidFill>
          <a:ln w="9525">
            <a:solidFill>
              <a:srgbClr val="008000"/>
            </a:solidFill>
            <a:miter lim="800000"/>
            <a:headEnd/>
            <a:tailEnd/>
          </a:ln>
        </p:spPr>
        <p:txBody>
          <a:bodyPr wrap="none" anchor="ctr"/>
          <a:lstStyle/>
          <a:p>
            <a:endParaRPr lang="en-US"/>
          </a:p>
        </p:txBody>
      </p:sp>
      <p:sp>
        <p:nvSpPr>
          <p:cNvPr id="19462" name="Rectangle 5"/>
          <p:cNvSpPr>
            <a:spLocks noChangeArrowheads="1"/>
          </p:cNvSpPr>
          <p:nvPr/>
        </p:nvSpPr>
        <p:spPr bwMode="auto">
          <a:xfrm>
            <a:off x="3429000" y="4983480"/>
            <a:ext cx="2133600" cy="419100"/>
          </a:xfrm>
          <a:prstGeom prst="rect">
            <a:avLst/>
          </a:prstGeom>
          <a:solidFill>
            <a:srgbClr val="FFFF00">
              <a:alpha val="25098"/>
            </a:srgbClr>
          </a:solidFill>
          <a:ln w="9525">
            <a:solidFill>
              <a:srgbClr val="008000"/>
            </a:solidFill>
            <a:miter lim="800000"/>
            <a:headEnd/>
            <a:tailEnd/>
          </a:ln>
        </p:spPr>
        <p:txBody>
          <a:bodyPr wrap="none" anchor="ctr"/>
          <a:lstStyle/>
          <a:p>
            <a:endParaRPr lang="en-US"/>
          </a:p>
        </p:txBody>
      </p:sp>
    </p:spTree>
  </p:cSld>
  <p:clrMapOvr>
    <a:masterClrMapping/>
  </p:clrMapOvr>
  <p:transition>
    <p:dissolv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noFill/>
        </p:spPr>
        <p:txBody>
          <a:bodyPr/>
          <a:lstStyle/>
          <a:p>
            <a:pPr eaLnBrk="1" hangingPunct="1"/>
            <a:r>
              <a:rPr lang="en-US" sz="3200"/>
              <a:t>Unary Relational Operations: RENAME</a:t>
            </a:r>
          </a:p>
        </p:txBody>
      </p:sp>
      <p:sp>
        <p:nvSpPr>
          <p:cNvPr id="20484" name="Rectangle 3"/>
          <p:cNvSpPr>
            <a:spLocks noGrp="1" noChangeArrowheads="1"/>
          </p:cNvSpPr>
          <p:nvPr>
            <p:ph idx="1"/>
          </p:nvPr>
        </p:nvSpPr>
        <p:spPr/>
        <p:txBody>
          <a:bodyPr>
            <a:normAutofit/>
          </a:bodyPr>
          <a:lstStyle/>
          <a:p>
            <a:pPr eaLnBrk="1" hangingPunct="1"/>
            <a:r>
              <a:rPr lang="en-US"/>
              <a:t>The RENAME operator is denoted by </a:t>
            </a:r>
            <a:r>
              <a:rPr lang="en-US">
                <a:sym typeface="Symbol" pitchFamily="71" charset="2"/>
              </a:rPr>
              <a:t> (rho)</a:t>
            </a:r>
          </a:p>
          <a:p>
            <a:pPr eaLnBrk="1" hangingPunct="1"/>
            <a:r>
              <a:rPr lang="en-US"/>
              <a:t>In some cases, we may want to </a:t>
            </a:r>
            <a:r>
              <a:rPr lang="en-US" i="1"/>
              <a:t>rename </a:t>
            </a:r>
            <a:r>
              <a:rPr lang="en-US"/>
              <a:t>the attributes of a relation or the relation name or both</a:t>
            </a:r>
          </a:p>
          <a:p>
            <a:pPr lvl="1" eaLnBrk="1" hangingPunct="1"/>
            <a:r>
              <a:rPr lang="en-US" sz="2800"/>
              <a:t>Useful when a query requires multiple operations</a:t>
            </a:r>
          </a:p>
          <a:p>
            <a:pPr lvl="1" eaLnBrk="1" hangingPunct="1"/>
            <a:r>
              <a:rPr lang="en-US" sz="2800"/>
              <a:t>Necessary in some cases (see JOIN operation later)</a:t>
            </a:r>
            <a:endParaRPr lang="en-US" sz="2800" i="1"/>
          </a:p>
          <a:p>
            <a:pPr eaLnBrk="1" hangingPunct="1"/>
            <a:endParaRPr lang="en-US" sz="2900"/>
          </a:p>
        </p:txBody>
      </p:sp>
    </p:spTree>
  </p:cSld>
  <p:clrMapOvr>
    <a:masterClrMapping/>
  </p:clrMapOvr>
  <p:transition>
    <p:dissolv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4"/>
          <p:cNvSpPr>
            <a:spLocks noGrp="1" noChangeArrowheads="1"/>
          </p:cNvSpPr>
          <p:nvPr>
            <p:ph type="title"/>
          </p:nvPr>
        </p:nvSpPr>
        <p:spPr>
          <a:noFill/>
        </p:spPr>
        <p:txBody>
          <a:bodyPr/>
          <a:lstStyle/>
          <a:p>
            <a:pPr eaLnBrk="1" hangingPunct="1"/>
            <a:r>
              <a:rPr lang="en-US" sz="3200"/>
              <a:t>Unary Relational Operations: RENAME (contd.)</a:t>
            </a:r>
          </a:p>
        </p:txBody>
      </p:sp>
      <p:sp>
        <p:nvSpPr>
          <p:cNvPr id="21508" name="Rectangle 5"/>
          <p:cNvSpPr>
            <a:spLocks noGrp="1" noChangeArrowheads="1"/>
          </p:cNvSpPr>
          <p:nvPr>
            <p:ph idx="1"/>
          </p:nvPr>
        </p:nvSpPr>
        <p:spPr/>
        <p:txBody>
          <a:bodyPr/>
          <a:lstStyle/>
          <a:p>
            <a:pPr eaLnBrk="1" hangingPunct="1"/>
            <a:r>
              <a:rPr lang="en-US" dirty="0"/>
              <a:t>The general RENAME operation </a:t>
            </a:r>
            <a:r>
              <a:rPr lang="en-US" dirty="0">
                <a:sym typeface="Symbol" pitchFamily="71" charset="2"/>
              </a:rPr>
              <a:t> </a:t>
            </a:r>
            <a:r>
              <a:rPr lang="en-US" dirty="0"/>
              <a:t>can be expressed by any of the following forms:</a:t>
            </a:r>
          </a:p>
          <a:p>
            <a:pPr lvl="1" eaLnBrk="1" hangingPunct="1"/>
            <a:r>
              <a:rPr lang="en-US" sz="3200" dirty="0">
                <a:sym typeface="Symbol" pitchFamily="71" charset="2"/>
              </a:rPr>
              <a:t></a:t>
            </a:r>
            <a:r>
              <a:rPr lang="en-US" sz="3200" baseline="-25000" dirty="0">
                <a:sym typeface="Symbol" pitchFamily="71" charset="2"/>
              </a:rPr>
              <a:t>S (B1, B2, …, </a:t>
            </a:r>
            <a:r>
              <a:rPr lang="en-US" sz="3200" baseline="-25000" dirty="0" err="1">
                <a:sym typeface="Symbol" pitchFamily="71" charset="2"/>
              </a:rPr>
              <a:t>Bn</a:t>
            </a:r>
            <a:r>
              <a:rPr lang="en-US" sz="3200" baseline="-25000" dirty="0">
                <a:sym typeface="Symbol" pitchFamily="71" charset="2"/>
              </a:rPr>
              <a:t> )</a:t>
            </a:r>
            <a:r>
              <a:rPr lang="en-US" sz="3200" dirty="0">
                <a:sym typeface="Symbol" pitchFamily="71" charset="2"/>
              </a:rPr>
              <a:t>(R) changes both:</a:t>
            </a:r>
          </a:p>
          <a:p>
            <a:pPr lvl="2" eaLnBrk="1" hangingPunct="1"/>
            <a:r>
              <a:rPr lang="en-US" sz="2400" dirty="0">
                <a:sym typeface="Symbol" pitchFamily="71" charset="2"/>
              </a:rPr>
              <a:t>the relation name to S, </a:t>
            </a:r>
            <a:r>
              <a:rPr lang="en-US" sz="2400" i="1" dirty="0">
                <a:sym typeface="Symbol" pitchFamily="71" charset="2"/>
              </a:rPr>
              <a:t>and </a:t>
            </a:r>
          </a:p>
          <a:p>
            <a:pPr lvl="2" eaLnBrk="1" hangingPunct="1"/>
            <a:r>
              <a:rPr lang="en-US" sz="2400" dirty="0">
                <a:sym typeface="Symbol" pitchFamily="71" charset="2"/>
              </a:rPr>
              <a:t>the column (attribute) names to B1, B1, …..</a:t>
            </a:r>
            <a:r>
              <a:rPr lang="en-US" sz="2400" dirty="0" err="1">
                <a:sym typeface="Symbol" pitchFamily="71" charset="2"/>
              </a:rPr>
              <a:t>Bn</a:t>
            </a:r>
            <a:endParaRPr lang="en-US" sz="2400" dirty="0">
              <a:sym typeface="Symbol" pitchFamily="71" charset="2"/>
            </a:endParaRPr>
          </a:p>
          <a:p>
            <a:pPr lvl="1" eaLnBrk="1" hangingPunct="1"/>
            <a:r>
              <a:rPr lang="en-US" sz="3200" dirty="0">
                <a:sym typeface="Symbol" pitchFamily="71" charset="2"/>
              </a:rPr>
              <a:t></a:t>
            </a:r>
            <a:r>
              <a:rPr lang="en-US" sz="3200" baseline="-25000" dirty="0">
                <a:sym typeface="Symbol" pitchFamily="71" charset="2"/>
              </a:rPr>
              <a:t>S</a:t>
            </a:r>
            <a:r>
              <a:rPr lang="en-US" sz="3200" dirty="0">
                <a:sym typeface="Symbol" pitchFamily="71" charset="2"/>
              </a:rPr>
              <a:t>(R) changes:</a:t>
            </a:r>
          </a:p>
          <a:p>
            <a:pPr lvl="2" eaLnBrk="1" hangingPunct="1"/>
            <a:r>
              <a:rPr lang="en-US" sz="2400" dirty="0">
                <a:sym typeface="Symbol" pitchFamily="71" charset="2"/>
              </a:rPr>
              <a:t>the </a:t>
            </a:r>
            <a:r>
              <a:rPr lang="en-US" sz="2400" i="1" dirty="0">
                <a:sym typeface="Symbol" pitchFamily="71" charset="2"/>
              </a:rPr>
              <a:t>relation name</a:t>
            </a:r>
            <a:r>
              <a:rPr lang="en-US" sz="2400" dirty="0">
                <a:sym typeface="Symbol" pitchFamily="71" charset="2"/>
              </a:rPr>
              <a:t> only to S</a:t>
            </a:r>
            <a:endParaRPr lang="en-US" sz="2400" dirty="0"/>
          </a:p>
          <a:p>
            <a:pPr lvl="1" eaLnBrk="1" hangingPunct="1"/>
            <a:r>
              <a:rPr lang="en-US" sz="3200" dirty="0">
                <a:sym typeface="Symbol" pitchFamily="71" charset="2"/>
              </a:rPr>
              <a:t></a:t>
            </a:r>
            <a:r>
              <a:rPr lang="en-US" sz="3200" baseline="-25000" dirty="0">
                <a:sym typeface="Symbol" pitchFamily="71" charset="2"/>
              </a:rPr>
              <a:t>(B1, B2, …, </a:t>
            </a:r>
            <a:r>
              <a:rPr lang="en-US" sz="3200" baseline="-25000" dirty="0" err="1">
                <a:sym typeface="Symbol" pitchFamily="71" charset="2"/>
              </a:rPr>
              <a:t>Bn</a:t>
            </a:r>
            <a:r>
              <a:rPr lang="en-US" sz="3200" baseline="-25000" dirty="0">
                <a:sym typeface="Symbol" pitchFamily="71" charset="2"/>
              </a:rPr>
              <a:t> )</a:t>
            </a:r>
            <a:r>
              <a:rPr lang="en-US" sz="3200" dirty="0">
                <a:sym typeface="Symbol" pitchFamily="71" charset="2"/>
              </a:rPr>
              <a:t>(R) changes:</a:t>
            </a:r>
          </a:p>
          <a:p>
            <a:pPr lvl="2" eaLnBrk="1" hangingPunct="1"/>
            <a:r>
              <a:rPr lang="en-US" sz="2400" dirty="0">
                <a:sym typeface="Symbol" pitchFamily="71" charset="2"/>
              </a:rPr>
              <a:t>the </a:t>
            </a:r>
            <a:r>
              <a:rPr lang="en-US" sz="2400" i="1" dirty="0">
                <a:sym typeface="Symbol" pitchFamily="71" charset="2"/>
              </a:rPr>
              <a:t>column (attribute) names</a:t>
            </a:r>
            <a:r>
              <a:rPr lang="en-US" sz="2400" dirty="0">
                <a:sym typeface="Symbol" pitchFamily="71" charset="2"/>
              </a:rPr>
              <a:t> only to B1, B1, …..</a:t>
            </a:r>
            <a:r>
              <a:rPr lang="en-US" sz="2400" dirty="0" err="1">
                <a:sym typeface="Symbol" pitchFamily="71" charset="2"/>
              </a:rPr>
              <a:t>Bn</a:t>
            </a:r>
            <a:endParaRPr lang="en-US" sz="2400" dirty="0">
              <a:sym typeface="Symbol" pitchFamily="71" charset="2"/>
            </a:endParaRPr>
          </a:p>
        </p:txBody>
      </p:sp>
    </p:spTree>
  </p:cSld>
  <p:clrMapOvr>
    <a:masterClrMapping/>
  </p:clrMapOvr>
  <p:transition>
    <p:dissolv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noFill/>
        </p:spPr>
        <p:txBody>
          <a:bodyPr/>
          <a:lstStyle/>
          <a:p>
            <a:pPr eaLnBrk="1" hangingPunct="1"/>
            <a:r>
              <a:rPr lang="en-US" sz="3200"/>
              <a:t>Unary Relational Operations: RENAME (contd.)</a:t>
            </a:r>
          </a:p>
        </p:txBody>
      </p:sp>
      <p:sp>
        <p:nvSpPr>
          <p:cNvPr id="22532" name="Rectangle 3"/>
          <p:cNvSpPr>
            <a:spLocks noGrp="1" noChangeArrowheads="1"/>
          </p:cNvSpPr>
          <p:nvPr>
            <p:ph idx="1"/>
          </p:nvPr>
        </p:nvSpPr>
        <p:spPr/>
        <p:txBody>
          <a:bodyPr>
            <a:normAutofit/>
          </a:bodyPr>
          <a:lstStyle/>
          <a:p>
            <a:pPr eaLnBrk="1" hangingPunct="1"/>
            <a:r>
              <a:rPr lang="en-US"/>
              <a:t>For convenience, we also use a </a:t>
            </a:r>
            <a:r>
              <a:rPr lang="en-US" i="1"/>
              <a:t>shorthand</a:t>
            </a:r>
            <a:r>
              <a:rPr lang="en-US"/>
              <a:t> for renaming attributes in an intermediate relation:</a:t>
            </a:r>
          </a:p>
          <a:p>
            <a:pPr lvl="1" eaLnBrk="1" hangingPunct="1"/>
            <a:r>
              <a:rPr lang="en-US"/>
              <a:t>If we write:</a:t>
            </a:r>
          </a:p>
          <a:p>
            <a:pPr lvl="2" eaLnBrk="1" hangingPunct="1">
              <a:spcBef>
                <a:spcPct val="0"/>
              </a:spcBef>
              <a:buClrTx/>
              <a:buSzTx/>
              <a:buFontTx/>
              <a:buChar char="•"/>
            </a:pPr>
            <a:r>
              <a:rPr lang="en-US" sz="2500"/>
              <a:t>RESULT </a:t>
            </a:r>
            <a:r>
              <a:rPr lang="en-US" sz="2500">
                <a:sym typeface="Symbol" pitchFamily="71" charset="2"/>
              </a:rPr>
              <a:t> </a:t>
            </a:r>
            <a:r>
              <a:rPr lang="en-US" sz="2500" b="1">
                <a:latin typeface="Symbol" pitchFamily="71" charset="2"/>
              </a:rPr>
              <a:t></a:t>
            </a:r>
            <a:r>
              <a:rPr lang="en-US" sz="2500"/>
              <a:t> </a:t>
            </a:r>
            <a:r>
              <a:rPr lang="en-US" sz="2500" baseline="-25000"/>
              <a:t>FNAME, LNAME, SALARY</a:t>
            </a:r>
            <a:r>
              <a:rPr lang="en-US" sz="2500"/>
              <a:t> (DEP5_EMPS)</a:t>
            </a:r>
          </a:p>
          <a:p>
            <a:pPr lvl="2" eaLnBrk="1" hangingPunct="1">
              <a:spcBef>
                <a:spcPct val="0"/>
              </a:spcBef>
              <a:buClrTx/>
              <a:buSzTx/>
              <a:buFontTx/>
              <a:buChar char="•"/>
            </a:pPr>
            <a:r>
              <a:rPr lang="en-US" sz="2500"/>
              <a:t>RESULT will have the </a:t>
            </a:r>
            <a:r>
              <a:rPr lang="en-US" sz="2500" i="1"/>
              <a:t>same attribute names</a:t>
            </a:r>
            <a:r>
              <a:rPr lang="en-US" sz="2500"/>
              <a:t> as DEP5_EMPS (same attributes as EMPLOYEE)</a:t>
            </a:r>
          </a:p>
          <a:p>
            <a:pPr lvl="1" eaLnBrk="1" hangingPunct="1">
              <a:spcBef>
                <a:spcPct val="0"/>
              </a:spcBef>
              <a:buClrTx/>
              <a:buSzTx/>
              <a:buFontTx/>
              <a:buChar char="•"/>
            </a:pPr>
            <a:r>
              <a:rPr lang="en-US" sz="2800"/>
              <a:t>If we write:</a:t>
            </a:r>
          </a:p>
          <a:p>
            <a:pPr lvl="2" eaLnBrk="1" hangingPunct="1">
              <a:spcBef>
                <a:spcPct val="0"/>
              </a:spcBef>
              <a:buClrTx/>
              <a:buSzTx/>
              <a:buFontTx/>
              <a:buChar char="•"/>
            </a:pPr>
            <a:r>
              <a:rPr lang="en-US" sz="2500"/>
              <a:t>RESULT (F, M, L, S, B, A, SX, SAL, SU, DNO)</a:t>
            </a:r>
            <a:r>
              <a:rPr lang="en-US" sz="2500">
                <a:sym typeface="Symbol" pitchFamily="71" charset="2"/>
              </a:rPr>
              <a:t> 	</a:t>
            </a:r>
            <a:r>
              <a:rPr lang="en-US" sz="2500" b="1">
                <a:latin typeface="Symbol" pitchFamily="71" charset="2"/>
              </a:rPr>
              <a:t></a:t>
            </a:r>
            <a:r>
              <a:rPr lang="en-US" sz="2500"/>
              <a:t> </a:t>
            </a:r>
            <a:r>
              <a:rPr lang="en-US" sz="2500" baseline="-25000"/>
              <a:t>FNAME, LNAME, SALARY</a:t>
            </a:r>
            <a:r>
              <a:rPr lang="en-US" sz="2500"/>
              <a:t> (DEP5_EMPS)</a:t>
            </a:r>
          </a:p>
          <a:p>
            <a:pPr lvl="2" eaLnBrk="1" hangingPunct="1">
              <a:spcBef>
                <a:spcPct val="0"/>
              </a:spcBef>
              <a:buClrTx/>
              <a:buSzTx/>
              <a:buFontTx/>
              <a:buChar char="•"/>
            </a:pPr>
            <a:r>
              <a:rPr lang="en-US" sz="2500"/>
              <a:t>The 10 attributes of DEP5_EMPS are </a:t>
            </a:r>
            <a:r>
              <a:rPr lang="en-US" sz="2500" i="1"/>
              <a:t>renamed</a:t>
            </a:r>
            <a:r>
              <a:rPr lang="en-US" sz="2500"/>
              <a:t> to F, M, L, S, B, A, SX, SAL, SU, DNO, respectively</a:t>
            </a:r>
          </a:p>
        </p:txBody>
      </p:sp>
    </p:spTree>
  </p:cSld>
  <p:clrMapOvr>
    <a:masterClrMapping/>
  </p:clrMapOvr>
  <p:transition>
    <p:dissolv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5"/>
          <p:cNvSpPr>
            <a:spLocks noGrp="1" noChangeArrowheads="1"/>
          </p:cNvSpPr>
          <p:nvPr>
            <p:ph type="title"/>
          </p:nvPr>
        </p:nvSpPr>
        <p:spPr>
          <a:noFill/>
        </p:spPr>
        <p:txBody>
          <a:bodyPr>
            <a:normAutofit/>
          </a:bodyPr>
          <a:lstStyle/>
          <a:p>
            <a:pPr eaLnBrk="1" hangingPunct="1"/>
            <a:r>
              <a:rPr lang="en-US" sz="3200"/>
              <a:t>Example of applying multiple operations and RENAME</a:t>
            </a:r>
          </a:p>
        </p:txBody>
      </p:sp>
      <p:sp>
        <p:nvSpPr>
          <p:cNvPr id="23556" name="Rectangle 3"/>
          <p:cNvSpPr>
            <a:spLocks noChangeArrowheads="1"/>
          </p:cNvSpPr>
          <p:nvPr/>
        </p:nvSpPr>
        <p:spPr bwMode="auto">
          <a:xfrm>
            <a:off x="1833563" y="1309688"/>
            <a:ext cx="9144000" cy="0"/>
          </a:xfrm>
          <a:prstGeom prst="rect">
            <a:avLst/>
          </a:prstGeom>
          <a:noFill/>
          <a:ln w="9525">
            <a:noFill/>
            <a:miter lim="800000"/>
            <a:headEnd/>
            <a:tailEnd/>
          </a:ln>
        </p:spPr>
        <p:txBody>
          <a:bodyPr>
            <a:spAutoFit/>
          </a:bodyPr>
          <a:lstStyle/>
          <a:p>
            <a:endParaRPr lang="en-US"/>
          </a:p>
        </p:txBody>
      </p:sp>
      <p:pic>
        <p:nvPicPr>
          <p:cNvPr id="23557" name="Picture 7" descr="fig06_02"/>
          <p:cNvPicPr>
            <a:picLocks noChangeAspect="1" noChangeArrowheads="1"/>
          </p:cNvPicPr>
          <p:nvPr/>
        </p:nvPicPr>
        <p:blipFill>
          <a:blip r:embed="rId3"/>
          <a:srcRect/>
          <a:stretch>
            <a:fillRect/>
          </a:stretch>
        </p:blipFill>
        <p:spPr bwMode="auto">
          <a:xfrm>
            <a:off x="533400" y="1600200"/>
            <a:ext cx="8001000" cy="4643438"/>
          </a:xfrm>
          <a:prstGeom prst="rect">
            <a:avLst/>
          </a:prstGeom>
          <a:noFill/>
          <a:ln w="9525">
            <a:noFill/>
            <a:miter lim="800000"/>
            <a:headEnd/>
            <a:tailEnd/>
          </a:ln>
        </p:spPr>
      </p:pic>
    </p:spTree>
  </p:cSld>
  <p:clrMapOvr>
    <a:masterClrMapping/>
  </p:clrMapOvr>
  <p:transition>
    <p:dissolv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6"/>
          <p:cNvSpPr>
            <a:spLocks noGrp="1" noChangeArrowheads="1"/>
          </p:cNvSpPr>
          <p:nvPr>
            <p:ph type="title"/>
          </p:nvPr>
        </p:nvSpPr>
        <p:spPr>
          <a:noFill/>
        </p:spPr>
        <p:txBody>
          <a:bodyPr>
            <a:normAutofit/>
          </a:bodyPr>
          <a:lstStyle/>
          <a:p>
            <a:pPr eaLnBrk="1" hangingPunct="1"/>
            <a:r>
              <a:rPr lang="en-US" sz="3200"/>
              <a:t>Relational Algebra Operations from</a:t>
            </a:r>
            <a:br>
              <a:rPr lang="en-US" sz="3200"/>
            </a:br>
            <a:r>
              <a:rPr lang="en-US" sz="3200"/>
              <a:t>Set Theory: UNION </a:t>
            </a:r>
          </a:p>
        </p:txBody>
      </p:sp>
      <p:sp>
        <p:nvSpPr>
          <p:cNvPr id="24580" name="Rectangle 7"/>
          <p:cNvSpPr>
            <a:spLocks noGrp="1" noChangeArrowheads="1"/>
          </p:cNvSpPr>
          <p:nvPr>
            <p:ph idx="1"/>
          </p:nvPr>
        </p:nvSpPr>
        <p:spPr/>
        <p:txBody>
          <a:bodyPr>
            <a:normAutofit/>
          </a:bodyPr>
          <a:lstStyle/>
          <a:p>
            <a:pPr eaLnBrk="1" hangingPunct="1">
              <a:lnSpc>
                <a:spcPct val="90000"/>
              </a:lnSpc>
            </a:pPr>
            <a:r>
              <a:rPr lang="en-US"/>
              <a:t>UNION Operation</a:t>
            </a:r>
          </a:p>
          <a:p>
            <a:pPr lvl="1" eaLnBrk="1" hangingPunct="1">
              <a:lnSpc>
                <a:spcPct val="90000"/>
              </a:lnSpc>
            </a:pPr>
            <a:r>
              <a:rPr lang="en-US"/>
              <a:t>Binary operation, denoted by </a:t>
            </a:r>
            <a:r>
              <a:rPr lang="en-US">
                <a:latin typeface="Symbol" pitchFamily="71" charset="2"/>
              </a:rPr>
              <a:t></a:t>
            </a:r>
            <a:r>
              <a:rPr lang="en-US"/>
              <a:t> </a:t>
            </a:r>
          </a:p>
          <a:p>
            <a:pPr lvl="1" eaLnBrk="1" hangingPunct="1">
              <a:lnSpc>
                <a:spcPct val="90000"/>
              </a:lnSpc>
            </a:pPr>
            <a:r>
              <a:rPr lang="en-US"/>
              <a:t>The result of R </a:t>
            </a:r>
            <a:r>
              <a:rPr lang="en-US">
                <a:latin typeface="Symbol" pitchFamily="71" charset="2"/>
              </a:rPr>
              <a:t></a:t>
            </a:r>
            <a:r>
              <a:rPr lang="en-US"/>
              <a:t> S, is a relation that includes all tuples that are either in R or in S or in both R and S</a:t>
            </a:r>
          </a:p>
          <a:p>
            <a:pPr lvl="1" eaLnBrk="1" hangingPunct="1">
              <a:lnSpc>
                <a:spcPct val="90000"/>
              </a:lnSpc>
            </a:pPr>
            <a:r>
              <a:rPr lang="en-US"/>
              <a:t>Duplicate tuples are eliminated</a:t>
            </a:r>
          </a:p>
          <a:p>
            <a:pPr lvl="1" eaLnBrk="1" hangingPunct="1">
              <a:lnSpc>
                <a:spcPct val="90000"/>
              </a:lnSpc>
            </a:pPr>
            <a:r>
              <a:rPr lang="en-US" sz="2500"/>
              <a:t>The two operand relations R and S must be “type compatible” (or UNION compatible)</a:t>
            </a:r>
          </a:p>
          <a:p>
            <a:pPr lvl="2" eaLnBrk="1" hangingPunct="1">
              <a:lnSpc>
                <a:spcPct val="90000"/>
              </a:lnSpc>
            </a:pPr>
            <a:r>
              <a:rPr lang="en-US" sz="2300"/>
              <a:t>R and S must have same number of attributes</a:t>
            </a:r>
          </a:p>
          <a:p>
            <a:pPr lvl="2" eaLnBrk="1" hangingPunct="1">
              <a:lnSpc>
                <a:spcPct val="90000"/>
              </a:lnSpc>
            </a:pPr>
            <a:r>
              <a:rPr lang="en-US" sz="2300"/>
              <a:t>Each pair of corresponding attributes must be type compatible (have same or compatible domains)</a:t>
            </a:r>
          </a:p>
          <a:p>
            <a:pPr lvl="1" eaLnBrk="1" hangingPunct="1">
              <a:lnSpc>
                <a:spcPct val="90000"/>
              </a:lnSpc>
              <a:buFont typeface="Wingdings" pitchFamily="2" charset="2"/>
              <a:buNone/>
            </a:pPr>
            <a:endParaRPr lang="en-US"/>
          </a:p>
        </p:txBody>
      </p:sp>
    </p:spTree>
  </p:cSld>
  <p:clrMapOvr>
    <a:masterClrMapping/>
  </p:clrMapOvr>
  <p:transition>
    <p:dissolv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noFill/>
        </p:spPr>
        <p:txBody>
          <a:bodyPr>
            <a:normAutofit/>
          </a:bodyPr>
          <a:lstStyle/>
          <a:p>
            <a:pPr eaLnBrk="1" hangingPunct="1"/>
            <a:r>
              <a:rPr lang="en-US" sz="3200"/>
              <a:t>Relational Algebra Operations from</a:t>
            </a:r>
            <a:br>
              <a:rPr lang="en-US" sz="3200"/>
            </a:br>
            <a:r>
              <a:rPr lang="en-US" sz="3200"/>
              <a:t>Set Theory: UNION </a:t>
            </a:r>
          </a:p>
        </p:txBody>
      </p:sp>
      <p:sp>
        <p:nvSpPr>
          <p:cNvPr id="25604" name="Rectangle 3"/>
          <p:cNvSpPr>
            <a:spLocks noGrp="1" noChangeArrowheads="1"/>
          </p:cNvSpPr>
          <p:nvPr>
            <p:ph idx="1"/>
          </p:nvPr>
        </p:nvSpPr>
        <p:spPr/>
        <p:txBody>
          <a:bodyPr>
            <a:normAutofit/>
          </a:bodyPr>
          <a:lstStyle/>
          <a:p>
            <a:pPr eaLnBrk="1" hangingPunct="1">
              <a:lnSpc>
                <a:spcPct val="80000"/>
              </a:lnSpc>
            </a:pPr>
            <a:r>
              <a:rPr lang="en-US" sz="2400" dirty="0"/>
              <a:t>Example: </a:t>
            </a:r>
          </a:p>
          <a:p>
            <a:pPr lvl="1" eaLnBrk="1" hangingPunct="1">
              <a:lnSpc>
                <a:spcPct val="80000"/>
              </a:lnSpc>
            </a:pPr>
            <a:r>
              <a:rPr lang="en-US" sz="2100" dirty="0"/>
              <a:t>To retrieve the social security numbers of all employees who either </a:t>
            </a:r>
            <a:r>
              <a:rPr lang="en-US" sz="2100" i="1" dirty="0"/>
              <a:t>work in department 5</a:t>
            </a:r>
            <a:r>
              <a:rPr lang="en-US" sz="2100" dirty="0"/>
              <a:t> (RESULT1 below) or </a:t>
            </a:r>
            <a:r>
              <a:rPr lang="en-US" sz="2100" i="1" dirty="0"/>
              <a:t>directly supervise an employee who works in department 5</a:t>
            </a:r>
            <a:r>
              <a:rPr lang="en-US" sz="2100" dirty="0"/>
              <a:t> (RESULT2 below)</a:t>
            </a:r>
          </a:p>
          <a:p>
            <a:pPr lvl="1" eaLnBrk="1" hangingPunct="1">
              <a:lnSpc>
                <a:spcPct val="80000"/>
              </a:lnSpc>
            </a:pPr>
            <a:r>
              <a:rPr lang="en-US" sz="2100" dirty="0"/>
              <a:t>We can use the UNION operation as follows:</a:t>
            </a:r>
          </a:p>
          <a:p>
            <a:pPr algn="ctr" eaLnBrk="1" hangingPunct="1">
              <a:lnSpc>
                <a:spcPct val="80000"/>
              </a:lnSpc>
              <a:buFont typeface="Wingdings" pitchFamily="2" charset="2"/>
              <a:buNone/>
            </a:pPr>
            <a:r>
              <a:rPr lang="en-US" sz="2400" dirty="0"/>
              <a:t>DEP5_EMPS </a:t>
            </a:r>
            <a:r>
              <a:rPr lang="en-US" sz="2400" dirty="0">
                <a:sym typeface="Symbol" pitchFamily="71" charset="2"/>
              </a:rPr>
              <a:t> </a:t>
            </a:r>
            <a:r>
              <a:rPr lang="en-US" sz="2400" dirty="0">
                <a:latin typeface="Symbol" pitchFamily="71" charset="2"/>
              </a:rPr>
              <a:t></a:t>
            </a:r>
            <a:r>
              <a:rPr lang="en-US" sz="2400" baseline="-25000" dirty="0"/>
              <a:t>DNO=5</a:t>
            </a:r>
            <a:r>
              <a:rPr lang="en-US" sz="2400" dirty="0"/>
              <a:t> (EMPLOYEE)</a:t>
            </a:r>
          </a:p>
          <a:p>
            <a:pPr algn="ctr" eaLnBrk="1" hangingPunct="1">
              <a:lnSpc>
                <a:spcPct val="80000"/>
              </a:lnSpc>
              <a:buFont typeface="Wingdings" pitchFamily="2" charset="2"/>
              <a:buNone/>
            </a:pPr>
            <a:r>
              <a:rPr lang="en-US" sz="2400" dirty="0"/>
              <a:t>RESULT1 </a:t>
            </a:r>
            <a:r>
              <a:rPr lang="en-US" sz="2400" dirty="0">
                <a:sym typeface="Symbol" pitchFamily="71" charset="2"/>
              </a:rPr>
              <a:t> </a:t>
            </a:r>
            <a:r>
              <a:rPr lang="en-US" sz="2400" dirty="0">
                <a:latin typeface="Symbol" pitchFamily="71" charset="2"/>
              </a:rPr>
              <a:t></a:t>
            </a:r>
            <a:r>
              <a:rPr lang="en-US" sz="2400" dirty="0"/>
              <a:t> </a:t>
            </a:r>
            <a:r>
              <a:rPr lang="en-US" sz="2400" baseline="-25000" dirty="0"/>
              <a:t>SSN</a:t>
            </a:r>
            <a:r>
              <a:rPr lang="en-US" sz="2400" dirty="0"/>
              <a:t>(DEP5_EMPS)</a:t>
            </a:r>
          </a:p>
          <a:p>
            <a:pPr algn="ctr" eaLnBrk="1" hangingPunct="1">
              <a:lnSpc>
                <a:spcPct val="80000"/>
              </a:lnSpc>
              <a:buFont typeface="Wingdings" pitchFamily="2" charset="2"/>
              <a:buNone/>
            </a:pPr>
            <a:r>
              <a:rPr lang="en-US" sz="2400" dirty="0"/>
              <a:t>RESULT2(SSN) </a:t>
            </a:r>
            <a:r>
              <a:rPr lang="en-US" sz="2400" dirty="0">
                <a:sym typeface="Symbol" pitchFamily="71" charset="2"/>
              </a:rPr>
              <a:t> </a:t>
            </a:r>
            <a:r>
              <a:rPr lang="en-US" sz="2400" dirty="0">
                <a:latin typeface="Symbol" pitchFamily="71" charset="2"/>
              </a:rPr>
              <a:t></a:t>
            </a:r>
            <a:r>
              <a:rPr lang="en-US" sz="2400" baseline="-25000" dirty="0"/>
              <a:t>SUPERSSN</a:t>
            </a:r>
            <a:r>
              <a:rPr lang="en-US" sz="2400" dirty="0"/>
              <a:t>(DEP5_EMPS)</a:t>
            </a:r>
          </a:p>
          <a:p>
            <a:pPr algn="ctr" eaLnBrk="1" hangingPunct="1">
              <a:lnSpc>
                <a:spcPct val="80000"/>
              </a:lnSpc>
              <a:buFont typeface="Wingdings" pitchFamily="2" charset="2"/>
              <a:buNone/>
            </a:pPr>
            <a:r>
              <a:rPr lang="en-US" sz="2400" dirty="0"/>
              <a:t>RESULT </a:t>
            </a:r>
            <a:r>
              <a:rPr lang="en-US" sz="2400" dirty="0">
                <a:sym typeface="Symbol" pitchFamily="71" charset="2"/>
              </a:rPr>
              <a:t> RESULT</a:t>
            </a:r>
            <a:r>
              <a:rPr lang="en-US" sz="2400" dirty="0"/>
              <a:t>1 </a:t>
            </a:r>
            <a:r>
              <a:rPr lang="en-US" sz="2400" dirty="0">
                <a:latin typeface="Symbol" pitchFamily="71" charset="2"/>
              </a:rPr>
              <a:t></a:t>
            </a:r>
            <a:r>
              <a:rPr lang="en-US" sz="2400" dirty="0"/>
              <a:t> RESULT2</a:t>
            </a:r>
          </a:p>
          <a:p>
            <a:pPr lvl="1" eaLnBrk="1" hangingPunct="1">
              <a:lnSpc>
                <a:spcPct val="80000"/>
              </a:lnSpc>
            </a:pPr>
            <a:r>
              <a:rPr lang="en-US" sz="2100" dirty="0"/>
              <a:t>The union operation produces the tuples that are in either RESULT1 or RESULT2 or both</a:t>
            </a:r>
          </a:p>
        </p:txBody>
      </p:sp>
    </p:spTree>
  </p:cSld>
  <p:clrMapOvr>
    <a:masterClrMapping/>
  </p:clrMapOvr>
  <p:transition>
    <p:dissolv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noFill/>
        </p:spPr>
        <p:txBody>
          <a:bodyPr/>
          <a:lstStyle/>
          <a:p>
            <a:pPr eaLnBrk="1" hangingPunct="1"/>
            <a:r>
              <a:rPr lang="en-US" sz="3200"/>
              <a:t>Example of the result of a UNION operation</a:t>
            </a:r>
          </a:p>
        </p:txBody>
      </p:sp>
      <p:sp>
        <p:nvSpPr>
          <p:cNvPr id="26628" name="Rectangle 3"/>
          <p:cNvSpPr>
            <a:spLocks noGrp="1" noChangeArrowheads="1"/>
          </p:cNvSpPr>
          <p:nvPr>
            <p:ph idx="1"/>
          </p:nvPr>
        </p:nvSpPr>
        <p:spPr/>
        <p:txBody>
          <a:bodyPr/>
          <a:lstStyle/>
          <a:p>
            <a:pPr eaLnBrk="1" hangingPunct="1"/>
            <a:r>
              <a:rPr lang="en-US"/>
              <a:t>UNION Example</a:t>
            </a:r>
          </a:p>
          <a:p>
            <a:pPr lvl="1" eaLnBrk="1" hangingPunct="1"/>
            <a:endParaRPr lang="en-US"/>
          </a:p>
        </p:txBody>
      </p:sp>
      <p:sp>
        <p:nvSpPr>
          <p:cNvPr id="26629" name="Rectangle 7"/>
          <p:cNvSpPr>
            <a:spLocks noChangeArrowheads="1"/>
          </p:cNvSpPr>
          <p:nvPr/>
        </p:nvSpPr>
        <p:spPr bwMode="auto">
          <a:xfrm>
            <a:off x="6516688" y="2166938"/>
            <a:ext cx="460375" cy="576262"/>
          </a:xfrm>
          <a:prstGeom prst="rect">
            <a:avLst/>
          </a:prstGeom>
          <a:solidFill>
            <a:schemeClr val="bg1"/>
          </a:solidFill>
          <a:ln w="9525">
            <a:noFill/>
            <a:miter lim="800000"/>
            <a:headEnd/>
            <a:tailEnd/>
          </a:ln>
        </p:spPr>
        <p:txBody>
          <a:bodyPr wrap="none" anchor="ctr"/>
          <a:lstStyle/>
          <a:p>
            <a:endParaRPr lang="en-US"/>
          </a:p>
        </p:txBody>
      </p:sp>
      <p:pic>
        <p:nvPicPr>
          <p:cNvPr id="26630" name="Picture 8" descr="fig06_03"/>
          <p:cNvPicPr>
            <a:picLocks noChangeAspect="1" noChangeArrowheads="1"/>
          </p:cNvPicPr>
          <p:nvPr/>
        </p:nvPicPr>
        <p:blipFill>
          <a:blip r:embed="rId3"/>
          <a:srcRect/>
          <a:stretch>
            <a:fillRect/>
          </a:stretch>
        </p:blipFill>
        <p:spPr bwMode="auto">
          <a:xfrm>
            <a:off x="315913" y="2971800"/>
            <a:ext cx="8294687" cy="2195513"/>
          </a:xfrm>
          <a:prstGeom prst="rect">
            <a:avLst/>
          </a:prstGeom>
          <a:noFill/>
          <a:ln w="9525">
            <a:noFill/>
            <a:miter lim="800000"/>
            <a:headEnd/>
            <a:tailEnd/>
          </a:ln>
        </p:spPr>
      </p:pic>
    </p:spTree>
  </p:cSld>
  <p:clrMapOvr>
    <a:masterClrMapping/>
  </p:clrMapOvr>
  <p:transition>
    <p:dissolv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4"/>
          <p:cNvSpPr>
            <a:spLocks noGrp="1" noChangeArrowheads="1"/>
          </p:cNvSpPr>
          <p:nvPr>
            <p:ph type="title"/>
          </p:nvPr>
        </p:nvSpPr>
        <p:spPr>
          <a:noFill/>
        </p:spPr>
        <p:txBody>
          <a:bodyPr>
            <a:normAutofit/>
          </a:bodyPr>
          <a:lstStyle/>
          <a:p>
            <a:pPr eaLnBrk="1" hangingPunct="1"/>
            <a:r>
              <a:rPr lang="en-US" sz="3200"/>
              <a:t>Relational Algebra Operations from</a:t>
            </a:r>
            <a:br>
              <a:rPr lang="en-US" sz="3200"/>
            </a:br>
            <a:r>
              <a:rPr lang="en-US" sz="3200"/>
              <a:t>Set Theory </a:t>
            </a:r>
          </a:p>
        </p:txBody>
      </p:sp>
      <p:sp>
        <p:nvSpPr>
          <p:cNvPr id="27652" name="Rectangle 5"/>
          <p:cNvSpPr>
            <a:spLocks noGrp="1" noChangeArrowheads="1"/>
          </p:cNvSpPr>
          <p:nvPr>
            <p:ph idx="1"/>
          </p:nvPr>
        </p:nvSpPr>
        <p:spPr/>
        <p:txBody>
          <a:bodyPr>
            <a:normAutofit lnSpcReduction="10000"/>
          </a:bodyPr>
          <a:lstStyle/>
          <a:p>
            <a:pPr eaLnBrk="1" hangingPunct="1"/>
            <a:r>
              <a:rPr lang="en-US" sz="2400"/>
              <a:t>Type Compatibility of operands is required for the binary set operation UNION </a:t>
            </a:r>
            <a:r>
              <a:rPr lang="en-US" sz="2400">
                <a:latin typeface="Symbol" pitchFamily="71" charset="2"/>
              </a:rPr>
              <a:t></a:t>
            </a:r>
            <a:r>
              <a:rPr lang="en-US" sz="2400"/>
              <a:t>, (also for INTERSECTION </a:t>
            </a:r>
            <a:r>
              <a:rPr lang="en-US" sz="2400">
                <a:latin typeface="Symbol" pitchFamily="71" charset="2"/>
              </a:rPr>
              <a:t></a:t>
            </a:r>
            <a:r>
              <a:rPr lang="en-US" sz="2400"/>
              <a:t>, and SET DIFFERENCE –, see next slides)</a:t>
            </a:r>
          </a:p>
          <a:p>
            <a:pPr eaLnBrk="1" hangingPunct="1"/>
            <a:r>
              <a:rPr lang="en-US" sz="2400"/>
              <a:t>R1(A1, A2, ..., An) and R2(B1, B2, ..., Bn) are type compatible if:</a:t>
            </a:r>
          </a:p>
          <a:p>
            <a:pPr lvl="1" eaLnBrk="1" hangingPunct="1"/>
            <a:r>
              <a:rPr lang="en-US" sz="2200"/>
              <a:t>they have the same number of attributes, and</a:t>
            </a:r>
          </a:p>
          <a:p>
            <a:pPr lvl="1" eaLnBrk="1" hangingPunct="1"/>
            <a:r>
              <a:rPr lang="en-US" sz="2200"/>
              <a:t>the domains of corresponding attributes are type compatible (i.e. dom(Ai)=dom(Bi) for i=1, 2, ..., n). </a:t>
            </a:r>
          </a:p>
          <a:p>
            <a:pPr eaLnBrk="1" hangingPunct="1"/>
            <a:r>
              <a:rPr lang="en-US" sz="2400"/>
              <a:t>The resulting relation for R1</a:t>
            </a:r>
            <a:r>
              <a:rPr lang="en-US" sz="2400">
                <a:latin typeface="Symbol" pitchFamily="71" charset="2"/>
              </a:rPr>
              <a:t></a:t>
            </a:r>
            <a:r>
              <a:rPr lang="en-US" sz="2400"/>
              <a:t>R2 (also for R1</a:t>
            </a:r>
            <a:r>
              <a:rPr lang="en-US" sz="2400">
                <a:latin typeface="Symbol" pitchFamily="71" charset="2"/>
              </a:rPr>
              <a:t></a:t>
            </a:r>
            <a:r>
              <a:rPr lang="en-US" sz="2400"/>
              <a:t>R2, or R1–R2, see next slides) has the same attribute names as the </a:t>
            </a:r>
            <a:r>
              <a:rPr lang="en-US" sz="2400" i="1"/>
              <a:t>first</a:t>
            </a:r>
            <a:r>
              <a:rPr lang="en-US" sz="2400"/>
              <a:t> operand relation R1 (by convention)</a:t>
            </a:r>
          </a:p>
        </p:txBody>
      </p:sp>
    </p:spTree>
  </p:cSld>
  <p:clrMapOvr>
    <a:masterClrMapping/>
  </p:clrMapOvr>
  <p:transition>
    <p:dissolv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7"/>
          <p:cNvSpPr>
            <a:spLocks noGrp="1" noChangeArrowheads="1"/>
          </p:cNvSpPr>
          <p:nvPr>
            <p:ph type="title"/>
          </p:nvPr>
        </p:nvSpPr>
        <p:spPr>
          <a:noFill/>
        </p:spPr>
        <p:txBody>
          <a:bodyPr>
            <a:normAutofit/>
          </a:bodyPr>
          <a:lstStyle/>
          <a:p>
            <a:pPr eaLnBrk="1" hangingPunct="1"/>
            <a:r>
              <a:rPr lang="en-US" sz="3200"/>
              <a:t>Relational Algebra Operations from Set Theory: INTERSECTION</a:t>
            </a:r>
          </a:p>
        </p:txBody>
      </p:sp>
      <p:sp>
        <p:nvSpPr>
          <p:cNvPr id="28676" name="Rectangle 8"/>
          <p:cNvSpPr>
            <a:spLocks noGrp="1" noChangeArrowheads="1"/>
          </p:cNvSpPr>
          <p:nvPr>
            <p:ph idx="1"/>
          </p:nvPr>
        </p:nvSpPr>
        <p:spPr>
          <a:xfrm>
            <a:off x="228600" y="1905000"/>
            <a:ext cx="8294687" cy="4648200"/>
          </a:xfrm>
        </p:spPr>
        <p:txBody>
          <a:bodyPr/>
          <a:lstStyle/>
          <a:p>
            <a:pPr eaLnBrk="1" hangingPunct="1"/>
            <a:r>
              <a:rPr lang="en-US" sz="3200" dirty="0"/>
              <a:t>INTERSECTION is denoted by </a:t>
            </a:r>
            <a:r>
              <a:rPr lang="en-US" sz="3200" dirty="0">
                <a:latin typeface="Symbol" pitchFamily="71" charset="2"/>
              </a:rPr>
              <a:t></a:t>
            </a:r>
            <a:endParaRPr lang="en-US" sz="3200" dirty="0"/>
          </a:p>
          <a:p>
            <a:pPr eaLnBrk="1" hangingPunct="1"/>
            <a:r>
              <a:rPr lang="en-US" sz="3200" dirty="0"/>
              <a:t>The result of the operation R </a:t>
            </a:r>
            <a:r>
              <a:rPr lang="en-US" sz="3200" dirty="0">
                <a:latin typeface="Symbol" pitchFamily="71" charset="2"/>
              </a:rPr>
              <a:t></a:t>
            </a:r>
            <a:r>
              <a:rPr lang="en-US" sz="3200" dirty="0"/>
              <a:t> S, is a relation that includes all tuples that are in both R and S</a:t>
            </a:r>
          </a:p>
          <a:p>
            <a:pPr lvl="1" eaLnBrk="1" hangingPunct="1"/>
            <a:r>
              <a:rPr lang="en-US" sz="3000" dirty="0"/>
              <a:t>The attribute names in the result will be the same as the attribute names in R</a:t>
            </a:r>
          </a:p>
          <a:p>
            <a:pPr eaLnBrk="1" hangingPunct="1"/>
            <a:r>
              <a:rPr lang="en-US" sz="3200" dirty="0"/>
              <a:t>The two operand relations R and S must be “type compatible”</a:t>
            </a:r>
          </a:p>
          <a:p>
            <a:pPr eaLnBrk="1" hangingPunct="1"/>
            <a:endParaRPr lang="en-US" sz="3200" dirty="0"/>
          </a:p>
        </p:txBody>
      </p:sp>
    </p:spTree>
  </p:cSld>
  <p:clrMapOvr>
    <a:masterClrMapping/>
  </p:clrMapOvr>
  <p:transition>
    <p:dissolv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11"/>
          <p:cNvSpPr>
            <a:spLocks noGrp="1" noChangeArrowheads="1"/>
          </p:cNvSpPr>
          <p:nvPr>
            <p:ph type="title"/>
          </p:nvPr>
        </p:nvSpPr>
        <p:spPr/>
        <p:txBody>
          <a:bodyPr>
            <a:normAutofit/>
          </a:bodyPr>
          <a:lstStyle/>
          <a:p>
            <a:pPr eaLnBrk="1" hangingPunct="1"/>
            <a:r>
              <a:rPr lang="en-US" sz="3200"/>
              <a:t>Relational Algebra Operations from Set Theory: SET DIFFERENCE (cont.) </a:t>
            </a:r>
          </a:p>
        </p:txBody>
      </p:sp>
      <p:sp>
        <p:nvSpPr>
          <p:cNvPr id="29700" name="Rectangle 12"/>
          <p:cNvSpPr>
            <a:spLocks noGrp="1" noChangeArrowheads="1"/>
          </p:cNvSpPr>
          <p:nvPr>
            <p:ph idx="1"/>
          </p:nvPr>
        </p:nvSpPr>
        <p:spPr>
          <a:xfrm>
            <a:off x="304800" y="2057400"/>
            <a:ext cx="8294687" cy="4495800"/>
          </a:xfrm>
        </p:spPr>
        <p:txBody>
          <a:bodyPr/>
          <a:lstStyle/>
          <a:p>
            <a:pPr eaLnBrk="1" hangingPunct="1"/>
            <a:r>
              <a:rPr lang="en-US" dirty="0"/>
              <a:t>SET DIFFERENCE (also called MINUS or EXCEPT) is denoted by – </a:t>
            </a:r>
          </a:p>
          <a:p>
            <a:pPr eaLnBrk="1" hangingPunct="1"/>
            <a:r>
              <a:rPr lang="en-US" dirty="0"/>
              <a:t>The result of R – S, is a relation that includes all tuples that are in R but not in S</a:t>
            </a:r>
          </a:p>
          <a:p>
            <a:pPr lvl="1" eaLnBrk="1" hangingPunct="1"/>
            <a:r>
              <a:rPr lang="en-US" sz="3000" dirty="0"/>
              <a:t>The attribute names in the result will be the same as the attribute names in R</a:t>
            </a:r>
          </a:p>
          <a:p>
            <a:pPr eaLnBrk="1" hangingPunct="1"/>
            <a:r>
              <a:rPr lang="en-US" sz="3200" dirty="0"/>
              <a:t>The two operand relations R and S must be “type compatible”</a:t>
            </a:r>
            <a:endParaRPr lang="en-US" dirty="0"/>
          </a:p>
          <a:p>
            <a:pPr eaLnBrk="1" hangingPunct="1"/>
            <a:endParaRPr lang="en-US" dirty="0"/>
          </a:p>
        </p:txBody>
      </p:sp>
    </p:spTree>
  </p:cSld>
  <p:clrMapOvr>
    <a:masterClrMapping/>
  </p:clrMapOvr>
  <p:transition>
    <p:dissolv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822960" y="286605"/>
            <a:ext cx="7543800" cy="1084996"/>
          </a:xfrm>
          <a:noFill/>
        </p:spPr>
        <p:txBody>
          <a:bodyPr>
            <a:normAutofit/>
          </a:bodyPr>
          <a:lstStyle/>
          <a:p>
            <a:pPr eaLnBrk="1" hangingPunct="1"/>
            <a:r>
              <a:rPr lang="en-US" sz="3200" dirty="0"/>
              <a:t>Example to illustrate the result of UNION, INTERSECT, and DIFFERENCE</a:t>
            </a:r>
          </a:p>
        </p:txBody>
      </p:sp>
      <p:sp>
        <p:nvSpPr>
          <p:cNvPr id="30724" name="Rectangle 3"/>
          <p:cNvSpPr>
            <a:spLocks noChangeArrowheads="1"/>
          </p:cNvSpPr>
          <p:nvPr/>
        </p:nvSpPr>
        <p:spPr bwMode="auto">
          <a:xfrm>
            <a:off x="1833563" y="1309688"/>
            <a:ext cx="9144000" cy="0"/>
          </a:xfrm>
          <a:prstGeom prst="rect">
            <a:avLst/>
          </a:prstGeom>
          <a:noFill/>
          <a:ln w="9525">
            <a:noFill/>
            <a:miter lim="800000"/>
            <a:headEnd/>
            <a:tailEnd/>
          </a:ln>
        </p:spPr>
        <p:txBody>
          <a:bodyPr>
            <a:spAutoFit/>
          </a:bodyPr>
          <a:lstStyle/>
          <a:p>
            <a:endParaRPr lang="en-US"/>
          </a:p>
        </p:txBody>
      </p:sp>
      <p:pic>
        <p:nvPicPr>
          <p:cNvPr id="30725" name="Picture 5" descr="fig06_04"/>
          <p:cNvPicPr>
            <a:picLocks noChangeAspect="1" noChangeArrowheads="1"/>
          </p:cNvPicPr>
          <p:nvPr/>
        </p:nvPicPr>
        <p:blipFill>
          <a:blip r:embed="rId3"/>
          <a:srcRect/>
          <a:stretch>
            <a:fillRect/>
          </a:stretch>
        </p:blipFill>
        <p:spPr bwMode="auto">
          <a:xfrm>
            <a:off x="1833563" y="1576388"/>
            <a:ext cx="5486400" cy="4749800"/>
          </a:xfrm>
          <a:prstGeom prst="rect">
            <a:avLst/>
          </a:prstGeom>
          <a:noFill/>
          <a:ln w="9525">
            <a:noFill/>
            <a:miter lim="800000"/>
            <a:headEnd/>
            <a:tailEnd/>
          </a:ln>
        </p:spPr>
      </p:pic>
    </p:spTree>
  </p:cSld>
  <p:clrMapOvr>
    <a:masterClrMapping/>
  </p:clrMapOvr>
  <p:transition>
    <p:dissolv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6"/>
          <p:cNvSpPr>
            <a:spLocks noGrp="1" noChangeArrowheads="1"/>
          </p:cNvSpPr>
          <p:nvPr>
            <p:ph type="title"/>
          </p:nvPr>
        </p:nvSpPr>
        <p:spPr/>
        <p:txBody>
          <a:bodyPr>
            <a:normAutofit/>
          </a:bodyPr>
          <a:lstStyle/>
          <a:p>
            <a:pPr eaLnBrk="1" hangingPunct="1"/>
            <a:r>
              <a:rPr lang="en-US" sz="3200"/>
              <a:t>Some properties of UNION, INTERSECT, and DIFFERENCE</a:t>
            </a:r>
          </a:p>
        </p:txBody>
      </p:sp>
      <p:sp>
        <p:nvSpPr>
          <p:cNvPr id="31748" name="Rectangle 7"/>
          <p:cNvSpPr>
            <a:spLocks noGrp="1" noChangeArrowheads="1"/>
          </p:cNvSpPr>
          <p:nvPr>
            <p:ph idx="1"/>
          </p:nvPr>
        </p:nvSpPr>
        <p:spPr/>
        <p:txBody>
          <a:bodyPr>
            <a:normAutofit/>
          </a:bodyPr>
          <a:lstStyle/>
          <a:p>
            <a:pPr eaLnBrk="1" hangingPunct="1"/>
            <a:r>
              <a:rPr lang="en-US" sz="2400"/>
              <a:t>Notice that both union and intersection are </a:t>
            </a:r>
            <a:r>
              <a:rPr lang="en-US" sz="2400" i="1"/>
              <a:t>commutative</a:t>
            </a:r>
            <a:r>
              <a:rPr lang="en-US" sz="2400"/>
              <a:t> operations; that is</a:t>
            </a:r>
          </a:p>
          <a:p>
            <a:pPr lvl="1" eaLnBrk="1" hangingPunct="1"/>
            <a:r>
              <a:rPr lang="en-US" sz="2200"/>
              <a:t>R </a:t>
            </a:r>
            <a:r>
              <a:rPr lang="en-US" sz="2200">
                <a:latin typeface="Symbol" pitchFamily="71" charset="2"/>
              </a:rPr>
              <a:t></a:t>
            </a:r>
            <a:r>
              <a:rPr lang="en-US" sz="2200"/>
              <a:t> S = S </a:t>
            </a:r>
            <a:r>
              <a:rPr lang="en-US" sz="2200">
                <a:latin typeface="Symbol" pitchFamily="71" charset="2"/>
              </a:rPr>
              <a:t></a:t>
            </a:r>
            <a:r>
              <a:rPr lang="en-US" sz="2200"/>
              <a:t> R, and R </a:t>
            </a:r>
            <a:r>
              <a:rPr lang="en-US" sz="2200">
                <a:latin typeface="Symbol" pitchFamily="71" charset="2"/>
              </a:rPr>
              <a:t></a:t>
            </a:r>
            <a:r>
              <a:rPr lang="en-US" sz="2200"/>
              <a:t> S = S </a:t>
            </a:r>
            <a:r>
              <a:rPr lang="en-US" sz="2200">
                <a:latin typeface="Symbol" pitchFamily="71" charset="2"/>
              </a:rPr>
              <a:t></a:t>
            </a:r>
            <a:r>
              <a:rPr lang="en-US" sz="2200"/>
              <a:t> R</a:t>
            </a:r>
          </a:p>
          <a:p>
            <a:pPr eaLnBrk="1" hangingPunct="1"/>
            <a:r>
              <a:rPr lang="en-US" sz="2400"/>
              <a:t>Both union and intersection can be treated as n-ary operations applicable to any number of relations as both are </a:t>
            </a:r>
            <a:r>
              <a:rPr lang="en-US" sz="2400" i="1"/>
              <a:t>associative</a:t>
            </a:r>
            <a:r>
              <a:rPr lang="en-US" sz="2400"/>
              <a:t> operations; that is</a:t>
            </a:r>
          </a:p>
          <a:p>
            <a:pPr lvl="1" eaLnBrk="1" hangingPunct="1"/>
            <a:r>
              <a:rPr lang="en-US" sz="2200"/>
              <a:t>R </a:t>
            </a:r>
            <a:r>
              <a:rPr lang="en-US" sz="2200">
                <a:latin typeface="Symbol" pitchFamily="71" charset="2"/>
              </a:rPr>
              <a:t></a:t>
            </a:r>
            <a:r>
              <a:rPr lang="en-US" sz="2200"/>
              <a:t> (S </a:t>
            </a:r>
            <a:r>
              <a:rPr lang="en-US" sz="2200">
                <a:latin typeface="Symbol" pitchFamily="71" charset="2"/>
              </a:rPr>
              <a:t></a:t>
            </a:r>
            <a:r>
              <a:rPr lang="en-US" sz="2200"/>
              <a:t> T) = (R </a:t>
            </a:r>
            <a:r>
              <a:rPr lang="en-US" sz="2200">
                <a:latin typeface="Symbol" pitchFamily="71" charset="2"/>
              </a:rPr>
              <a:t></a:t>
            </a:r>
            <a:r>
              <a:rPr lang="en-US" sz="2200"/>
              <a:t> S) </a:t>
            </a:r>
            <a:r>
              <a:rPr lang="en-US" sz="2200">
                <a:latin typeface="Symbol" pitchFamily="71" charset="2"/>
              </a:rPr>
              <a:t></a:t>
            </a:r>
            <a:r>
              <a:rPr lang="en-US" sz="2200"/>
              <a:t> T</a:t>
            </a:r>
          </a:p>
          <a:p>
            <a:pPr lvl="1" eaLnBrk="1" hangingPunct="1"/>
            <a:r>
              <a:rPr lang="en-US" sz="2200"/>
              <a:t>(R </a:t>
            </a:r>
            <a:r>
              <a:rPr lang="en-US" sz="2200">
                <a:latin typeface="Symbol" pitchFamily="71" charset="2"/>
              </a:rPr>
              <a:t></a:t>
            </a:r>
            <a:r>
              <a:rPr lang="en-US" sz="2200"/>
              <a:t> S) </a:t>
            </a:r>
            <a:r>
              <a:rPr lang="en-US" sz="2200">
                <a:latin typeface="Symbol" pitchFamily="71" charset="2"/>
              </a:rPr>
              <a:t></a:t>
            </a:r>
            <a:r>
              <a:rPr lang="en-US" sz="2200"/>
              <a:t> T = R </a:t>
            </a:r>
            <a:r>
              <a:rPr lang="en-US" sz="2200">
                <a:latin typeface="Symbol" pitchFamily="71" charset="2"/>
              </a:rPr>
              <a:t></a:t>
            </a:r>
            <a:r>
              <a:rPr lang="en-US" sz="2200"/>
              <a:t> (S </a:t>
            </a:r>
            <a:r>
              <a:rPr lang="en-US" sz="2200">
                <a:latin typeface="Symbol" pitchFamily="71" charset="2"/>
              </a:rPr>
              <a:t></a:t>
            </a:r>
            <a:r>
              <a:rPr lang="en-US" sz="2200"/>
              <a:t> T)</a:t>
            </a:r>
          </a:p>
          <a:p>
            <a:pPr eaLnBrk="1" hangingPunct="1"/>
            <a:r>
              <a:rPr lang="en-US" sz="2400"/>
              <a:t>The minus operation is not commutative; that is, in general</a:t>
            </a:r>
          </a:p>
          <a:p>
            <a:pPr lvl="1" eaLnBrk="1" hangingPunct="1"/>
            <a:r>
              <a:rPr lang="en-US" sz="2200"/>
              <a:t>R – S ≠ S – R</a:t>
            </a:r>
          </a:p>
        </p:txBody>
      </p:sp>
    </p:spTree>
  </p:cSld>
  <p:clrMapOvr>
    <a:masterClrMapping/>
  </p:clrMapOvr>
  <p:transition>
    <p:dissolv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6"/>
          <p:cNvSpPr>
            <a:spLocks noGrp="1" noChangeArrowheads="1"/>
          </p:cNvSpPr>
          <p:nvPr>
            <p:ph type="title"/>
          </p:nvPr>
        </p:nvSpPr>
        <p:spPr/>
        <p:txBody>
          <a:bodyPr>
            <a:normAutofit/>
          </a:bodyPr>
          <a:lstStyle/>
          <a:p>
            <a:pPr eaLnBrk="1" hangingPunct="1"/>
            <a:r>
              <a:rPr lang="en-US" sz="3200"/>
              <a:t>Relational Algebra Operations from Set Theory: CARTESIAN PRODUCT</a:t>
            </a:r>
          </a:p>
        </p:txBody>
      </p:sp>
      <p:sp>
        <p:nvSpPr>
          <p:cNvPr id="32772" name="Rectangle 7"/>
          <p:cNvSpPr>
            <a:spLocks noGrp="1" noChangeArrowheads="1"/>
          </p:cNvSpPr>
          <p:nvPr>
            <p:ph idx="1"/>
          </p:nvPr>
        </p:nvSpPr>
        <p:spPr/>
        <p:txBody>
          <a:bodyPr>
            <a:normAutofit/>
          </a:bodyPr>
          <a:lstStyle/>
          <a:p>
            <a:pPr eaLnBrk="1" hangingPunct="1"/>
            <a:r>
              <a:rPr lang="en-US" sz="2400"/>
              <a:t>CARTESIAN (or CROSS) PRODUCT Operation</a:t>
            </a:r>
          </a:p>
          <a:p>
            <a:pPr lvl="1" eaLnBrk="1" hangingPunct="1"/>
            <a:r>
              <a:rPr lang="en-US" sz="2200"/>
              <a:t>This operation is used to combine tuples from two relations in a combinatorial fashion.</a:t>
            </a:r>
          </a:p>
          <a:p>
            <a:pPr lvl="1" eaLnBrk="1" hangingPunct="1"/>
            <a:r>
              <a:rPr lang="en-US" sz="2200"/>
              <a:t>Denoted by R(A1, A2, . . ., An) x S(B1, B2, . . ., Bm)</a:t>
            </a:r>
          </a:p>
          <a:p>
            <a:pPr lvl="1" eaLnBrk="1" hangingPunct="1"/>
            <a:r>
              <a:rPr lang="en-US" sz="2200"/>
              <a:t>Result is a relation Q with degree n + m attributes:</a:t>
            </a:r>
          </a:p>
          <a:p>
            <a:pPr lvl="2" eaLnBrk="1" hangingPunct="1"/>
            <a:r>
              <a:rPr lang="en-US" sz="2000"/>
              <a:t>Q(A1, A2, . . ., An, B1, B2, . . ., Bm), in that order.</a:t>
            </a:r>
          </a:p>
          <a:p>
            <a:pPr lvl="1" eaLnBrk="1" hangingPunct="1"/>
            <a:r>
              <a:rPr lang="en-US" sz="2200"/>
              <a:t>The resulting relation state has one tuple for each combination of tuples—one from R and one from S. </a:t>
            </a:r>
          </a:p>
          <a:p>
            <a:pPr lvl="1" eaLnBrk="1" hangingPunct="1"/>
            <a:r>
              <a:rPr lang="en-US" sz="2200"/>
              <a:t>Hence, if R has n</a:t>
            </a:r>
            <a:r>
              <a:rPr lang="en-US" sz="2200" baseline="-25000"/>
              <a:t>R</a:t>
            </a:r>
            <a:r>
              <a:rPr lang="en-US" sz="2200"/>
              <a:t> tuples (denoted as |R| = n</a:t>
            </a:r>
            <a:r>
              <a:rPr lang="en-US" sz="2200" baseline="-25000"/>
              <a:t>R</a:t>
            </a:r>
            <a:r>
              <a:rPr lang="en-US" sz="2200"/>
              <a:t> ), and S has n</a:t>
            </a:r>
            <a:r>
              <a:rPr lang="en-US" sz="2200" baseline="-25000"/>
              <a:t>S</a:t>
            </a:r>
            <a:r>
              <a:rPr lang="en-US" sz="2200"/>
              <a:t> tuples, then R x S will have n</a:t>
            </a:r>
            <a:r>
              <a:rPr lang="en-US" sz="2200" baseline="-25000"/>
              <a:t>R</a:t>
            </a:r>
            <a:r>
              <a:rPr lang="en-US" sz="2200"/>
              <a:t> * n</a:t>
            </a:r>
            <a:r>
              <a:rPr lang="en-US" sz="2200" baseline="-25000"/>
              <a:t>S</a:t>
            </a:r>
            <a:r>
              <a:rPr lang="en-US" sz="2200"/>
              <a:t> tuples.</a:t>
            </a:r>
          </a:p>
          <a:p>
            <a:pPr lvl="1" eaLnBrk="1" hangingPunct="1"/>
            <a:r>
              <a:rPr lang="en-US" sz="2200"/>
              <a:t>The two operands do NOT have to be "type compatible”</a:t>
            </a:r>
          </a:p>
        </p:txBody>
      </p:sp>
    </p:spTree>
  </p:cSld>
  <p:clrMapOvr>
    <a:masterClrMapping/>
  </p:clrMapOvr>
  <p:transition>
    <p:dissolv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normAutofit/>
          </a:bodyPr>
          <a:lstStyle/>
          <a:p>
            <a:pPr eaLnBrk="1" hangingPunct="1"/>
            <a:r>
              <a:rPr lang="en-US" sz="3200"/>
              <a:t>Relational Algebra Operations from Set Theory: CARTESIAN PRODUCT (cont.)</a:t>
            </a:r>
          </a:p>
        </p:txBody>
      </p:sp>
      <p:sp>
        <p:nvSpPr>
          <p:cNvPr id="33796" name="Rectangle 3"/>
          <p:cNvSpPr>
            <a:spLocks noGrp="1" noChangeArrowheads="1"/>
          </p:cNvSpPr>
          <p:nvPr>
            <p:ph idx="1"/>
          </p:nvPr>
        </p:nvSpPr>
        <p:spPr/>
        <p:txBody>
          <a:bodyPr>
            <a:normAutofit/>
          </a:bodyPr>
          <a:lstStyle/>
          <a:p>
            <a:pPr eaLnBrk="1" hangingPunct="1">
              <a:lnSpc>
                <a:spcPct val="90000"/>
              </a:lnSpc>
            </a:pPr>
            <a:r>
              <a:rPr lang="en-US" dirty="0"/>
              <a:t>Generally, CROSS PRODUCT is not a meaningful operation</a:t>
            </a:r>
          </a:p>
          <a:p>
            <a:pPr lvl="1" eaLnBrk="1" hangingPunct="1">
              <a:lnSpc>
                <a:spcPct val="90000"/>
              </a:lnSpc>
            </a:pPr>
            <a:r>
              <a:rPr lang="en-US" dirty="0"/>
              <a:t>Can become meaningful when followed by other operations</a:t>
            </a:r>
          </a:p>
          <a:p>
            <a:pPr eaLnBrk="1" hangingPunct="1">
              <a:lnSpc>
                <a:spcPct val="90000"/>
              </a:lnSpc>
            </a:pPr>
            <a:r>
              <a:rPr lang="en-US" dirty="0"/>
              <a:t>Example (not meaningful):</a:t>
            </a:r>
          </a:p>
          <a:p>
            <a:pPr lvl="1" eaLnBrk="1" hangingPunct="1">
              <a:lnSpc>
                <a:spcPct val="90000"/>
              </a:lnSpc>
            </a:pPr>
            <a:r>
              <a:rPr lang="en-US" sz="2200" dirty="0"/>
              <a:t>FEMALE_EMPS </a:t>
            </a:r>
            <a:r>
              <a:rPr lang="en-US" sz="2200" dirty="0">
                <a:sym typeface="Symbol" pitchFamily="71" charset="2"/>
              </a:rPr>
              <a:t> </a:t>
            </a:r>
            <a:r>
              <a:rPr lang="en-US" sz="2200" b="1" dirty="0">
                <a:latin typeface="Symbol" pitchFamily="71" charset="2"/>
              </a:rPr>
              <a:t></a:t>
            </a:r>
            <a:r>
              <a:rPr lang="en-US" sz="2200" dirty="0"/>
              <a:t> </a:t>
            </a:r>
            <a:r>
              <a:rPr lang="en-US" sz="2200" baseline="-25000" dirty="0"/>
              <a:t>SEX=’F’</a:t>
            </a:r>
            <a:r>
              <a:rPr lang="en-US" sz="2200" dirty="0"/>
              <a:t>(EMPLOYEE)</a:t>
            </a:r>
          </a:p>
          <a:p>
            <a:pPr lvl="1" eaLnBrk="1" hangingPunct="1">
              <a:lnSpc>
                <a:spcPct val="90000"/>
              </a:lnSpc>
            </a:pPr>
            <a:r>
              <a:rPr lang="en-US" sz="2200" dirty="0"/>
              <a:t>EMPNAMES </a:t>
            </a:r>
            <a:r>
              <a:rPr lang="en-US" sz="2200" dirty="0">
                <a:sym typeface="Symbol" pitchFamily="71" charset="2"/>
              </a:rPr>
              <a:t> </a:t>
            </a:r>
            <a:r>
              <a:rPr lang="en-US" sz="2200" b="1" dirty="0">
                <a:latin typeface="Symbol" pitchFamily="71" charset="2"/>
              </a:rPr>
              <a:t></a:t>
            </a:r>
            <a:r>
              <a:rPr lang="en-US" sz="2200" dirty="0"/>
              <a:t> </a:t>
            </a:r>
            <a:r>
              <a:rPr lang="en-US" sz="2200" baseline="-25000" dirty="0"/>
              <a:t>FNAME, LNAME, SSN </a:t>
            </a:r>
            <a:r>
              <a:rPr lang="en-US" sz="2200" dirty="0"/>
              <a:t>(FEMALE_EMPS)</a:t>
            </a:r>
          </a:p>
          <a:p>
            <a:pPr lvl="1" eaLnBrk="1" hangingPunct="1">
              <a:lnSpc>
                <a:spcPct val="90000"/>
              </a:lnSpc>
            </a:pPr>
            <a:r>
              <a:rPr lang="en-US" sz="2200" dirty="0"/>
              <a:t>EMP_DEPENDENTS </a:t>
            </a:r>
            <a:r>
              <a:rPr lang="en-US" sz="2200" dirty="0">
                <a:sym typeface="Symbol" pitchFamily="71" charset="2"/>
              </a:rPr>
              <a:t> </a:t>
            </a:r>
            <a:r>
              <a:rPr lang="en-US" sz="2200" dirty="0"/>
              <a:t>EMPNAMES x DEPENDENT</a:t>
            </a:r>
          </a:p>
          <a:p>
            <a:pPr eaLnBrk="1" hangingPunct="1">
              <a:lnSpc>
                <a:spcPct val="90000"/>
              </a:lnSpc>
            </a:pPr>
            <a:r>
              <a:rPr lang="en-US" sz="2400" dirty="0"/>
              <a:t>EMP_DEPENDENTS will contain every combination of EMPNAMES and DEPENDENT</a:t>
            </a:r>
          </a:p>
          <a:p>
            <a:pPr lvl="1" eaLnBrk="1" hangingPunct="1">
              <a:lnSpc>
                <a:spcPct val="90000"/>
              </a:lnSpc>
            </a:pPr>
            <a:r>
              <a:rPr lang="en-US" sz="2200" dirty="0"/>
              <a:t>whether or not they are actually related</a:t>
            </a:r>
          </a:p>
          <a:p>
            <a:pPr eaLnBrk="1" hangingPunct="1">
              <a:lnSpc>
                <a:spcPct val="90000"/>
              </a:lnSpc>
            </a:pPr>
            <a:endParaRPr lang="en-US" sz="2400" dirty="0"/>
          </a:p>
        </p:txBody>
      </p:sp>
    </p:spTree>
  </p:cSld>
  <p:clrMapOvr>
    <a:masterClrMapping/>
  </p:clrMapOvr>
  <p:transition>
    <p:dissolv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normAutofit/>
          </a:bodyPr>
          <a:lstStyle/>
          <a:p>
            <a:pPr eaLnBrk="1" hangingPunct="1"/>
            <a:r>
              <a:rPr lang="en-US" sz="3200"/>
              <a:t>Relational Algebra Operations from Set Theory: CARTESIAN PRODUCT (cont.)</a:t>
            </a:r>
          </a:p>
        </p:txBody>
      </p:sp>
      <p:sp>
        <p:nvSpPr>
          <p:cNvPr id="34820" name="Rectangle 3"/>
          <p:cNvSpPr>
            <a:spLocks noGrp="1" noChangeArrowheads="1"/>
          </p:cNvSpPr>
          <p:nvPr>
            <p:ph idx="1"/>
          </p:nvPr>
        </p:nvSpPr>
        <p:spPr/>
        <p:txBody>
          <a:bodyPr>
            <a:normAutofit/>
          </a:bodyPr>
          <a:lstStyle/>
          <a:p>
            <a:pPr eaLnBrk="1" hangingPunct="1">
              <a:lnSpc>
                <a:spcPct val="90000"/>
              </a:lnSpc>
            </a:pPr>
            <a:r>
              <a:rPr lang="en-US" dirty="0"/>
              <a:t>To keep only combinations where the DEPENDENT is related to the EMPLOYEE, we add a SELECT operation as follows</a:t>
            </a:r>
          </a:p>
          <a:p>
            <a:pPr eaLnBrk="1" hangingPunct="1">
              <a:lnSpc>
                <a:spcPct val="90000"/>
              </a:lnSpc>
            </a:pPr>
            <a:r>
              <a:rPr lang="en-US" dirty="0"/>
              <a:t>Example (meaningful):</a:t>
            </a:r>
          </a:p>
          <a:p>
            <a:pPr lvl="1" eaLnBrk="1" hangingPunct="1">
              <a:lnSpc>
                <a:spcPct val="90000"/>
              </a:lnSpc>
            </a:pPr>
            <a:r>
              <a:rPr lang="en-US" sz="2200" dirty="0"/>
              <a:t>FEMALE_EMPS </a:t>
            </a:r>
            <a:r>
              <a:rPr lang="en-US" sz="2200" dirty="0">
                <a:sym typeface="Symbol" pitchFamily="71" charset="2"/>
              </a:rPr>
              <a:t> </a:t>
            </a:r>
            <a:r>
              <a:rPr lang="en-US" sz="2200" b="1" dirty="0">
                <a:latin typeface="Symbol" pitchFamily="71" charset="2"/>
              </a:rPr>
              <a:t></a:t>
            </a:r>
            <a:r>
              <a:rPr lang="en-US" sz="2200" dirty="0"/>
              <a:t> </a:t>
            </a:r>
            <a:r>
              <a:rPr lang="en-US" sz="2200" baseline="-25000" dirty="0"/>
              <a:t>SEX=’F’</a:t>
            </a:r>
            <a:r>
              <a:rPr lang="en-US" sz="2200" dirty="0"/>
              <a:t>(EMPLOYEE)</a:t>
            </a:r>
          </a:p>
          <a:p>
            <a:pPr lvl="1" eaLnBrk="1" hangingPunct="1">
              <a:lnSpc>
                <a:spcPct val="90000"/>
              </a:lnSpc>
            </a:pPr>
            <a:r>
              <a:rPr lang="en-US" sz="2200" dirty="0"/>
              <a:t>EMPNAMES </a:t>
            </a:r>
            <a:r>
              <a:rPr lang="en-US" sz="2200" dirty="0">
                <a:sym typeface="Symbol" pitchFamily="71" charset="2"/>
              </a:rPr>
              <a:t> </a:t>
            </a:r>
            <a:r>
              <a:rPr lang="en-US" sz="2200" b="1" dirty="0">
                <a:latin typeface="Symbol" pitchFamily="71" charset="2"/>
              </a:rPr>
              <a:t></a:t>
            </a:r>
            <a:r>
              <a:rPr lang="en-US" sz="2200" dirty="0"/>
              <a:t> </a:t>
            </a:r>
            <a:r>
              <a:rPr lang="en-US" sz="2200" baseline="-25000" dirty="0"/>
              <a:t>FNAME, LNAME, SSN </a:t>
            </a:r>
            <a:r>
              <a:rPr lang="en-US" sz="2200" dirty="0"/>
              <a:t>(FEMALE_EMPS)</a:t>
            </a:r>
          </a:p>
          <a:p>
            <a:pPr lvl="1" eaLnBrk="1" hangingPunct="1">
              <a:lnSpc>
                <a:spcPct val="90000"/>
              </a:lnSpc>
            </a:pPr>
            <a:r>
              <a:rPr lang="en-US" sz="2200" dirty="0"/>
              <a:t>EMP_DEPENDENTS </a:t>
            </a:r>
            <a:r>
              <a:rPr lang="en-US" sz="2200" dirty="0">
                <a:sym typeface="Symbol" pitchFamily="71" charset="2"/>
              </a:rPr>
              <a:t> </a:t>
            </a:r>
            <a:r>
              <a:rPr lang="en-US" sz="2200" dirty="0"/>
              <a:t>EMPNAMES x DEPENDENT</a:t>
            </a:r>
          </a:p>
          <a:p>
            <a:pPr lvl="1" eaLnBrk="1" hangingPunct="1">
              <a:lnSpc>
                <a:spcPct val="90000"/>
              </a:lnSpc>
            </a:pPr>
            <a:r>
              <a:rPr lang="en-US" sz="2200" dirty="0"/>
              <a:t>ACTUAL_DEPS </a:t>
            </a:r>
            <a:r>
              <a:rPr lang="en-US" sz="2200" dirty="0">
                <a:sym typeface="Symbol" pitchFamily="71" charset="2"/>
              </a:rPr>
              <a:t> </a:t>
            </a:r>
            <a:r>
              <a:rPr lang="en-US" sz="2200" b="1" dirty="0">
                <a:latin typeface="Symbol" pitchFamily="71" charset="2"/>
              </a:rPr>
              <a:t></a:t>
            </a:r>
            <a:r>
              <a:rPr lang="en-US" sz="2200" dirty="0"/>
              <a:t> </a:t>
            </a:r>
            <a:r>
              <a:rPr lang="en-US" sz="2200" baseline="-25000" dirty="0"/>
              <a:t>SSN=ESSN</a:t>
            </a:r>
            <a:r>
              <a:rPr lang="en-US" sz="2200" dirty="0"/>
              <a:t>(EMP_DEPENDENTS)</a:t>
            </a:r>
          </a:p>
          <a:p>
            <a:pPr lvl="1" eaLnBrk="1" hangingPunct="1">
              <a:lnSpc>
                <a:spcPct val="90000"/>
              </a:lnSpc>
            </a:pPr>
            <a:r>
              <a:rPr lang="en-US" sz="2200" dirty="0"/>
              <a:t>RESULT </a:t>
            </a:r>
            <a:r>
              <a:rPr lang="en-US" sz="2200" dirty="0">
                <a:sym typeface="Symbol" pitchFamily="71" charset="2"/>
              </a:rPr>
              <a:t> </a:t>
            </a:r>
            <a:r>
              <a:rPr lang="en-US" sz="2200" b="1" dirty="0">
                <a:latin typeface="Symbol" pitchFamily="71" charset="2"/>
              </a:rPr>
              <a:t></a:t>
            </a:r>
            <a:r>
              <a:rPr lang="en-US" sz="2200" dirty="0"/>
              <a:t> </a:t>
            </a:r>
            <a:r>
              <a:rPr lang="en-US" sz="2200" baseline="-25000" dirty="0"/>
              <a:t>FNAME, LNAME, DEPENDENT_NAME </a:t>
            </a:r>
            <a:r>
              <a:rPr lang="en-US" sz="2200" dirty="0"/>
              <a:t>(ACTUAL_DEPS)</a:t>
            </a:r>
          </a:p>
          <a:p>
            <a:pPr eaLnBrk="1" hangingPunct="1">
              <a:lnSpc>
                <a:spcPct val="90000"/>
              </a:lnSpc>
            </a:pPr>
            <a:r>
              <a:rPr lang="en-US" sz="2400" dirty="0"/>
              <a:t>RESULT will now contain the name of female employees and their dependents</a:t>
            </a:r>
          </a:p>
          <a:p>
            <a:pPr lvl="1" eaLnBrk="1" hangingPunct="1">
              <a:lnSpc>
                <a:spcPct val="90000"/>
              </a:lnSpc>
            </a:pPr>
            <a:endParaRPr lang="en-US" sz="2200" dirty="0"/>
          </a:p>
          <a:p>
            <a:pPr eaLnBrk="1" hangingPunct="1">
              <a:lnSpc>
                <a:spcPct val="90000"/>
              </a:lnSpc>
            </a:pPr>
            <a:endParaRPr lang="en-US" sz="2400" dirty="0"/>
          </a:p>
          <a:p>
            <a:pPr eaLnBrk="1" hangingPunct="1">
              <a:lnSpc>
                <a:spcPct val="90000"/>
              </a:lnSpc>
            </a:pPr>
            <a:endParaRPr lang="en-US" sz="2400" dirty="0"/>
          </a:p>
        </p:txBody>
      </p:sp>
    </p:spTree>
  </p:cSld>
  <p:clrMapOvr>
    <a:masterClrMapping/>
  </p:clrMapOvr>
  <p:transition>
    <p:dissolv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5"/>
          <p:cNvSpPr>
            <a:spLocks noGrp="1" noChangeArrowheads="1"/>
          </p:cNvSpPr>
          <p:nvPr>
            <p:ph type="title"/>
          </p:nvPr>
        </p:nvSpPr>
        <p:spPr>
          <a:xfrm>
            <a:off x="822960" y="286605"/>
            <a:ext cx="7543800" cy="475396"/>
          </a:xfrm>
          <a:noFill/>
        </p:spPr>
        <p:txBody>
          <a:bodyPr>
            <a:normAutofit fontScale="90000"/>
          </a:bodyPr>
          <a:lstStyle/>
          <a:p>
            <a:pPr eaLnBrk="1" hangingPunct="1"/>
            <a:r>
              <a:rPr lang="en-US" sz="3200" dirty="0"/>
              <a:t>Example of applying CARTESIAN PRODUCT</a:t>
            </a:r>
          </a:p>
        </p:txBody>
      </p:sp>
      <p:sp>
        <p:nvSpPr>
          <p:cNvPr id="35844" name="Rectangle 3"/>
          <p:cNvSpPr>
            <a:spLocks noChangeArrowheads="1"/>
          </p:cNvSpPr>
          <p:nvPr/>
        </p:nvSpPr>
        <p:spPr bwMode="auto">
          <a:xfrm>
            <a:off x="1833563" y="1309688"/>
            <a:ext cx="9144000" cy="0"/>
          </a:xfrm>
          <a:prstGeom prst="rect">
            <a:avLst/>
          </a:prstGeom>
          <a:noFill/>
          <a:ln w="9525">
            <a:noFill/>
            <a:miter lim="800000"/>
            <a:headEnd/>
            <a:tailEnd/>
          </a:ln>
        </p:spPr>
        <p:txBody>
          <a:bodyPr>
            <a:spAutoFit/>
          </a:bodyPr>
          <a:lstStyle/>
          <a:p>
            <a:endParaRPr lang="en-US"/>
          </a:p>
        </p:txBody>
      </p:sp>
      <p:pic>
        <p:nvPicPr>
          <p:cNvPr id="35845" name="Picture 7" descr="fig06_05"/>
          <p:cNvPicPr>
            <a:picLocks noChangeAspect="1" noChangeArrowheads="1"/>
          </p:cNvPicPr>
          <p:nvPr/>
        </p:nvPicPr>
        <p:blipFill>
          <a:blip r:embed="rId3"/>
          <a:srcRect/>
          <a:stretch>
            <a:fillRect/>
          </a:stretch>
        </p:blipFill>
        <p:spPr bwMode="auto">
          <a:xfrm>
            <a:off x="822960" y="914400"/>
            <a:ext cx="7696200" cy="5486400"/>
          </a:xfrm>
          <a:prstGeom prst="rect">
            <a:avLst/>
          </a:prstGeom>
          <a:noFill/>
          <a:ln w="9525">
            <a:noFill/>
            <a:miter lim="800000"/>
            <a:headEnd/>
            <a:tailEnd/>
          </a:ln>
        </p:spPr>
      </p:pic>
    </p:spTree>
  </p:cSld>
  <p:clrMapOvr>
    <a:masterClrMapping/>
  </p:clrMapOvr>
  <p:transition>
    <p:dissolv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3"/>
          <p:cNvSpPr>
            <a:spLocks noGrp="1" noChangeArrowheads="1"/>
          </p:cNvSpPr>
          <p:nvPr>
            <p:ph type="title"/>
          </p:nvPr>
        </p:nvSpPr>
        <p:spPr>
          <a:xfrm>
            <a:off x="0" y="8238"/>
            <a:ext cx="8915382" cy="900211"/>
          </a:xfrm>
        </p:spPr>
        <p:txBody>
          <a:bodyPr>
            <a:normAutofit/>
          </a:bodyPr>
          <a:lstStyle/>
          <a:p>
            <a:pPr eaLnBrk="1" hangingPunct="1"/>
            <a:r>
              <a:rPr lang="en-US" dirty="0"/>
              <a:t>Binary Relational Operations: JOIN</a:t>
            </a:r>
          </a:p>
        </p:txBody>
      </p:sp>
      <p:sp>
        <p:nvSpPr>
          <p:cNvPr id="36868" name="Rectangle 24"/>
          <p:cNvSpPr>
            <a:spLocks noGrp="1" noChangeArrowheads="1"/>
          </p:cNvSpPr>
          <p:nvPr>
            <p:ph idx="1"/>
          </p:nvPr>
        </p:nvSpPr>
        <p:spPr>
          <a:xfrm>
            <a:off x="-16476" y="1130699"/>
            <a:ext cx="8762981" cy="4960645"/>
          </a:xfrm>
        </p:spPr>
        <p:txBody>
          <a:bodyPr>
            <a:normAutofit/>
          </a:bodyPr>
          <a:lstStyle/>
          <a:p>
            <a:pPr algn="just" eaLnBrk="1" hangingPunct="1">
              <a:lnSpc>
                <a:spcPct val="80000"/>
              </a:lnSpc>
            </a:pPr>
            <a:r>
              <a:rPr lang="en-US" sz="2400" dirty="0"/>
              <a:t>JOIN Operation (denoted by       )</a:t>
            </a:r>
          </a:p>
          <a:p>
            <a:pPr algn="just" eaLnBrk="1" hangingPunct="1">
              <a:lnSpc>
                <a:spcPct val="80000"/>
              </a:lnSpc>
            </a:pPr>
            <a:endParaRPr lang="en-US" sz="2400" dirty="0"/>
          </a:p>
          <a:p>
            <a:pPr lvl="1" algn="just" eaLnBrk="1" hangingPunct="1">
              <a:lnSpc>
                <a:spcPct val="80000"/>
              </a:lnSpc>
            </a:pPr>
            <a:r>
              <a:rPr lang="en-US" sz="2200" dirty="0"/>
              <a:t>The sequence of CARTESIAN PRODECT followed by SELECT is used quite commonly to identify and select related tuples from two relations</a:t>
            </a:r>
          </a:p>
          <a:p>
            <a:pPr lvl="1" algn="just" eaLnBrk="1" hangingPunct="1">
              <a:lnSpc>
                <a:spcPct val="80000"/>
              </a:lnSpc>
            </a:pPr>
            <a:r>
              <a:rPr lang="en-US" sz="2200" dirty="0"/>
              <a:t>A special operation, called JOIN combines this sequence into a single operation</a:t>
            </a:r>
          </a:p>
          <a:p>
            <a:pPr lvl="1" algn="just" eaLnBrk="1" hangingPunct="1">
              <a:lnSpc>
                <a:spcPct val="80000"/>
              </a:lnSpc>
            </a:pPr>
            <a:r>
              <a:rPr lang="en-US" sz="2200" dirty="0"/>
              <a:t>This operation is very important for any relational database with more than a single relation, because it allows us </a:t>
            </a:r>
            <a:r>
              <a:rPr lang="en-US" sz="2200" i="1" dirty="0"/>
              <a:t>combine related tuples</a:t>
            </a:r>
            <a:r>
              <a:rPr lang="en-US" sz="2200" dirty="0"/>
              <a:t> from various relations </a:t>
            </a:r>
          </a:p>
          <a:p>
            <a:pPr lvl="1" algn="just" eaLnBrk="1" hangingPunct="1">
              <a:lnSpc>
                <a:spcPct val="80000"/>
              </a:lnSpc>
            </a:pPr>
            <a:r>
              <a:rPr lang="en-US" sz="2200" dirty="0"/>
              <a:t>The general form of a join operation on two relations R(A1, A2, . . ., An) and S(B1, B2, . . ., Bm) is:</a:t>
            </a:r>
          </a:p>
          <a:p>
            <a:pPr lvl="1" algn="just" eaLnBrk="1" hangingPunct="1">
              <a:lnSpc>
                <a:spcPct val="80000"/>
              </a:lnSpc>
              <a:buFont typeface="Wingdings" pitchFamily="2" charset="2"/>
              <a:buNone/>
            </a:pPr>
            <a:r>
              <a:rPr lang="en-US" sz="2200" dirty="0"/>
              <a:t>R     </a:t>
            </a:r>
            <a:r>
              <a:rPr lang="en-US" sz="2200" baseline="-25000" dirty="0"/>
              <a:t>&lt;join condition&gt;</a:t>
            </a:r>
            <a:r>
              <a:rPr lang="en-US" sz="2200" dirty="0"/>
              <a:t>S</a:t>
            </a:r>
          </a:p>
          <a:p>
            <a:pPr lvl="1" algn="just" eaLnBrk="1" hangingPunct="1">
              <a:lnSpc>
                <a:spcPct val="80000"/>
              </a:lnSpc>
            </a:pPr>
            <a:r>
              <a:rPr lang="en-US" sz="2200" dirty="0"/>
              <a:t>where R and S can be any relations that result from general </a:t>
            </a:r>
            <a:r>
              <a:rPr lang="en-US" sz="2200" i="1" dirty="0"/>
              <a:t>relational algebra expressions</a:t>
            </a:r>
            <a:r>
              <a:rPr lang="en-US" sz="2200" dirty="0"/>
              <a:t>.</a:t>
            </a:r>
          </a:p>
          <a:p>
            <a:pPr eaLnBrk="1" hangingPunct="1">
              <a:lnSpc>
                <a:spcPct val="80000"/>
              </a:lnSpc>
            </a:pPr>
            <a:endParaRPr lang="en-US" sz="2400" dirty="0"/>
          </a:p>
        </p:txBody>
      </p:sp>
      <p:grpSp>
        <p:nvGrpSpPr>
          <p:cNvPr id="19" name="Group 35">
            <a:extLst>
              <a:ext uri="{FF2B5EF4-FFF2-40B4-BE49-F238E27FC236}">
                <a16:creationId xmlns:a16="http://schemas.microsoft.com/office/drawing/2014/main" id="{8D19E7E4-4036-4CF5-804C-E1B8C7143224}"/>
              </a:ext>
            </a:extLst>
          </p:cNvPr>
          <p:cNvGrpSpPr>
            <a:grpSpLocks/>
          </p:cNvGrpSpPr>
          <p:nvPr/>
        </p:nvGrpSpPr>
        <p:grpSpPr bwMode="auto">
          <a:xfrm>
            <a:off x="3657600" y="1219200"/>
            <a:ext cx="244475" cy="174625"/>
            <a:chOff x="377" y="2904"/>
            <a:chExt cx="154" cy="110"/>
          </a:xfrm>
        </p:grpSpPr>
        <p:sp>
          <p:nvSpPr>
            <p:cNvPr id="20" name="Line 36">
              <a:extLst>
                <a:ext uri="{FF2B5EF4-FFF2-40B4-BE49-F238E27FC236}">
                  <a16:creationId xmlns:a16="http://schemas.microsoft.com/office/drawing/2014/main" id="{0FC3311F-BB8D-419E-A72A-631ED6D3803B}"/>
                </a:ext>
              </a:extLst>
            </p:cNvPr>
            <p:cNvSpPr>
              <a:spLocks noChangeShapeType="1"/>
            </p:cNvSpPr>
            <p:nvPr/>
          </p:nvSpPr>
          <p:spPr bwMode="auto">
            <a:xfrm>
              <a:off x="381" y="2904"/>
              <a:ext cx="0" cy="110"/>
            </a:xfrm>
            <a:prstGeom prst="line">
              <a:avLst/>
            </a:prstGeom>
            <a:noFill/>
            <a:ln w="12700">
              <a:solidFill>
                <a:schemeClr val="tx1"/>
              </a:solidFill>
              <a:round/>
              <a:headEnd/>
              <a:tailEnd/>
            </a:ln>
          </p:spPr>
          <p:txBody>
            <a:bodyPr wrap="none" anchor="ctr"/>
            <a:lstStyle/>
            <a:p>
              <a:endParaRPr lang="en-US"/>
            </a:p>
          </p:txBody>
        </p:sp>
        <p:sp>
          <p:nvSpPr>
            <p:cNvPr id="21" name="Line 37">
              <a:extLst>
                <a:ext uri="{FF2B5EF4-FFF2-40B4-BE49-F238E27FC236}">
                  <a16:creationId xmlns:a16="http://schemas.microsoft.com/office/drawing/2014/main" id="{8E447CE9-4C52-4841-AFB1-9A684C567B88}"/>
                </a:ext>
              </a:extLst>
            </p:cNvPr>
            <p:cNvSpPr>
              <a:spLocks noChangeShapeType="1"/>
            </p:cNvSpPr>
            <p:nvPr/>
          </p:nvSpPr>
          <p:spPr bwMode="auto">
            <a:xfrm>
              <a:off x="527" y="2904"/>
              <a:ext cx="0" cy="110"/>
            </a:xfrm>
            <a:prstGeom prst="line">
              <a:avLst/>
            </a:prstGeom>
            <a:noFill/>
            <a:ln w="12700">
              <a:solidFill>
                <a:schemeClr val="tx1"/>
              </a:solidFill>
              <a:round/>
              <a:headEnd/>
              <a:tailEnd/>
            </a:ln>
          </p:spPr>
          <p:txBody>
            <a:bodyPr wrap="none" anchor="ctr"/>
            <a:lstStyle/>
            <a:p>
              <a:endParaRPr lang="en-US"/>
            </a:p>
          </p:txBody>
        </p:sp>
        <p:sp>
          <p:nvSpPr>
            <p:cNvPr id="22" name="Line 38">
              <a:extLst>
                <a:ext uri="{FF2B5EF4-FFF2-40B4-BE49-F238E27FC236}">
                  <a16:creationId xmlns:a16="http://schemas.microsoft.com/office/drawing/2014/main" id="{694A0F88-94D7-4049-A5C8-1A3EB519EE0B}"/>
                </a:ext>
              </a:extLst>
            </p:cNvPr>
            <p:cNvSpPr>
              <a:spLocks noChangeShapeType="1"/>
            </p:cNvSpPr>
            <p:nvPr/>
          </p:nvSpPr>
          <p:spPr bwMode="auto">
            <a:xfrm>
              <a:off x="385" y="2904"/>
              <a:ext cx="138" cy="110"/>
            </a:xfrm>
            <a:prstGeom prst="line">
              <a:avLst/>
            </a:prstGeom>
            <a:noFill/>
            <a:ln w="12700">
              <a:solidFill>
                <a:schemeClr val="tx1"/>
              </a:solidFill>
              <a:round/>
              <a:headEnd/>
              <a:tailEnd/>
            </a:ln>
          </p:spPr>
          <p:txBody>
            <a:bodyPr wrap="none" anchor="ctr"/>
            <a:lstStyle/>
            <a:p>
              <a:endParaRPr lang="en-US"/>
            </a:p>
          </p:txBody>
        </p:sp>
        <p:sp>
          <p:nvSpPr>
            <p:cNvPr id="23" name="Line 39">
              <a:extLst>
                <a:ext uri="{FF2B5EF4-FFF2-40B4-BE49-F238E27FC236}">
                  <a16:creationId xmlns:a16="http://schemas.microsoft.com/office/drawing/2014/main" id="{DFFEB55E-6F13-476B-BD68-EFAA60CD38E1}"/>
                </a:ext>
              </a:extLst>
            </p:cNvPr>
            <p:cNvSpPr>
              <a:spLocks noChangeShapeType="1"/>
            </p:cNvSpPr>
            <p:nvPr/>
          </p:nvSpPr>
          <p:spPr bwMode="auto">
            <a:xfrm flipH="1">
              <a:off x="377" y="2904"/>
              <a:ext cx="154" cy="110"/>
            </a:xfrm>
            <a:prstGeom prst="line">
              <a:avLst/>
            </a:prstGeom>
            <a:noFill/>
            <a:ln w="12700">
              <a:solidFill>
                <a:schemeClr val="tx1"/>
              </a:solidFill>
              <a:round/>
              <a:headEnd/>
              <a:tailEnd/>
            </a:ln>
          </p:spPr>
          <p:txBody>
            <a:bodyPr wrap="none" anchor="ctr"/>
            <a:lstStyle/>
            <a:p>
              <a:endParaRPr lang="en-US"/>
            </a:p>
          </p:txBody>
        </p:sp>
      </p:grpSp>
      <p:grpSp>
        <p:nvGrpSpPr>
          <p:cNvPr id="29" name="Group 35">
            <a:extLst>
              <a:ext uri="{FF2B5EF4-FFF2-40B4-BE49-F238E27FC236}">
                <a16:creationId xmlns:a16="http://schemas.microsoft.com/office/drawing/2014/main" id="{3996A0E6-E9AB-4911-8395-30D65EA4AAA8}"/>
              </a:ext>
            </a:extLst>
          </p:cNvPr>
          <p:cNvGrpSpPr>
            <a:grpSpLocks/>
          </p:cNvGrpSpPr>
          <p:nvPr/>
        </p:nvGrpSpPr>
        <p:grpSpPr bwMode="auto">
          <a:xfrm>
            <a:off x="384709" y="4724400"/>
            <a:ext cx="244475" cy="174625"/>
            <a:chOff x="377" y="2904"/>
            <a:chExt cx="154" cy="110"/>
          </a:xfrm>
        </p:grpSpPr>
        <p:sp>
          <p:nvSpPr>
            <p:cNvPr id="30" name="Line 36">
              <a:extLst>
                <a:ext uri="{FF2B5EF4-FFF2-40B4-BE49-F238E27FC236}">
                  <a16:creationId xmlns:a16="http://schemas.microsoft.com/office/drawing/2014/main" id="{B9E2BBC2-5C2D-443D-BC33-F6BEA3079D2D}"/>
                </a:ext>
              </a:extLst>
            </p:cNvPr>
            <p:cNvSpPr>
              <a:spLocks noChangeShapeType="1"/>
            </p:cNvSpPr>
            <p:nvPr/>
          </p:nvSpPr>
          <p:spPr bwMode="auto">
            <a:xfrm>
              <a:off x="381" y="2904"/>
              <a:ext cx="0" cy="110"/>
            </a:xfrm>
            <a:prstGeom prst="line">
              <a:avLst/>
            </a:prstGeom>
            <a:noFill/>
            <a:ln w="12700">
              <a:solidFill>
                <a:schemeClr val="tx1"/>
              </a:solidFill>
              <a:round/>
              <a:headEnd/>
              <a:tailEnd/>
            </a:ln>
          </p:spPr>
          <p:txBody>
            <a:bodyPr wrap="none" anchor="ctr"/>
            <a:lstStyle/>
            <a:p>
              <a:endParaRPr lang="en-US"/>
            </a:p>
          </p:txBody>
        </p:sp>
        <p:sp>
          <p:nvSpPr>
            <p:cNvPr id="31" name="Line 37">
              <a:extLst>
                <a:ext uri="{FF2B5EF4-FFF2-40B4-BE49-F238E27FC236}">
                  <a16:creationId xmlns:a16="http://schemas.microsoft.com/office/drawing/2014/main" id="{9DDC5152-B497-4424-A2D4-295135B264F0}"/>
                </a:ext>
              </a:extLst>
            </p:cNvPr>
            <p:cNvSpPr>
              <a:spLocks noChangeShapeType="1"/>
            </p:cNvSpPr>
            <p:nvPr/>
          </p:nvSpPr>
          <p:spPr bwMode="auto">
            <a:xfrm>
              <a:off x="527" y="2904"/>
              <a:ext cx="0" cy="110"/>
            </a:xfrm>
            <a:prstGeom prst="line">
              <a:avLst/>
            </a:prstGeom>
            <a:noFill/>
            <a:ln w="12700">
              <a:solidFill>
                <a:schemeClr val="tx1"/>
              </a:solidFill>
              <a:round/>
              <a:headEnd/>
              <a:tailEnd/>
            </a:ln>
          </p:spPr>
          <p:txBody>
            <a:bodyPr wrap="none" anchor="ctr"/>
            <a:lstStyle/>
            <a:p>
              <a:endParaRPr lang="en-US"/>
            </a:p>
          </p:txBody>
        </p:sp>
        <p:sp>
          <p:nvSpPr>
            <p:cNvPr id="32" name="Line 38">
              <a:extLst>
                <a:ext uri="{FF2B5EF4-FFF2-40B4-BE49-F238E27FC236}">
                  <a16:creationId xmlns:a16="http://schemas.microsoft.com/office/drawing/2014/main" id="{B42CB628-7859-472A-8F88-17C51D4839CC}"/>
                </a:ext>
              </a:extLst>
            </p:cNvPr>
            <p:cNvSpPr>
              <a:spLocks noChangeShapeType="1"/>
            </p:cNvSpPr>
            <p:nvPr/>
          </p:nvSpPr>
          <p:spPr bwMode="auto">
            <a:xfrm>
              <a:off x="385" y="2904"/>
              <a:ext cx="138" cy="110"/>
            </a:xfrm>
            <a:prstGeom prst="line">
              <a:avLst/>
            </a:prstGeom>
            <a:noFill/>
            <a:ln w="12700">
              <a:solidFill>
                <a:schemeClr val="tx1"/>
              </a:solidFill>
              <a:round/>
              <a:headEnd/>
              <a:tailEnd/>
            </a:ln>
          </p:spPr>
          <p:txBody>
            <a:bodyPr wrap="none" anchor="ctr"/>
            <a:lstStyle/>
            <a:p>
              <a:endParaRPr lang="en-US"/>
            </a:p>
          </p:txBody>
        </p:sp>
        <p:sp>
          <p:nvSpPr>
            <p:cNvPr id="33" name="Line 39">
              <a:extLst>
                <a:ext uri="{FF2B5EF4-FFF2-40B4-BE49-F238E27FC236}">
                  <a16:creationId xmlns:a16="http://schemas.microsoft.com/office/drawing/2014/main" id="{24A2F6E3-E26C-4EB1-8902-13A8C1E573DC}"/>
                </a:ext>
              </a:extLst>
            </p:cNvPr>
            <p:cNvSpPr>
              <a:spLocks noChangeShapeType="1"/>
            </p:cNvSpPr>
            <p:nvPr/>
          </p:nvSpPr>
          <p:spPr bwMode="auto">
            <a:xfrm flipH="1">
              <a:off x="377" y="2904"/>
              <a:ext cx="154" cy="110"/>
            </a:xfrm>
            <a:prstGeom prst="line">
              <a:avLst/>
            </a:prstGeom>
            <a:noFill/>
            <a:ln w="12700">
              <a:solidFill>
                <a:schemeClr val="tx1"/>
              </a:solidFill>
              <a:round/>
              <a:headEnd/>
              <a:tailEnd/>
            </a:ln>
          </p:spPr>
          <p:txBody>
            <a:bodyPr wrap="none" anchor="ctr"/>
            <a:lstStyle/>
            <a:p>
              <a:endParaRPr lang="en-US"/>
            </a:p>
          </p:txBody>
        </p:sp>
      </p:grpSp>
    </p:spTree>
  </p:cSld>
  <p:clrMapOvr>
    <a:masterClrMapping/>
  </p:clrMapOvr>
  <p:transition>
    <p:dissolv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19"/>
          <p:cNvSpPr>
            <a:spLocks noGrp="1" noChangeArrowheads="1"/>
          </p:cNvSpPr>
          <p:nvPr>
            <p:ph type="title"/>
          </p:nvPr>
        </p:nvSpPr>
        <p:spPr>
          <a:xfrm>
            <a:off x="239713" y="245416"/>
            <a:ext cx="8599487" cy="551596"/>
          </a:xfrm>
        </p:spPr>
        <p:txBody>
          <a:bodyPr/>
          <a:lstStyle/>
          <a:p>
            <a:pPr eaLnBrk="1" hangingPunct="1"/>
            <a:r>
              <a:rPr lang="en-US" sz="3200" dirty="0"/>
              <a:t>Binary Relational Operations: JOIN (cont.)</a:t>
            </a:r>
          </a:p>
        </p:txBody>
      </p:sp>
      <p:sp>
        <p:nvSpPr>
          <p:cNvPr id="37892" name="Rectangle 20"/>
          <p:cNvSpPr>
            <a:spLocks noGrp="1" noChangeArrowheads="1"/>
          </p:cNvSpPr>
          <p:nvPr>
            <p:ph idx="1"/>
          </p:nvPr>
        </p:nvSpPr>
        <p:spPr>
          <a:xfrm>
            <a:off x="239713" y="1154112"/>
            <a:ext cx="8751887" cy="4941888"/>
          </a:xfrm>
        </p:spPr>
        <p:txBody>
          <a:bodyPr>
            <a:normAutofit fontScale="77500" lnSpcReduction="20000"/>
          </a:bodyPr>
          <a:lstStyle/>
          <a:p>
            <a:pPr algn="just" eaLnBrk="1" hangingPunct="1">
              <a:lnSpc>
                <a:spcPct val="160000"/>
              </a:lnSpc>
            </a:pPr>
            <a:r>
              <a:rPr lang="en-US" sz="2400" dirty="0"/>
              <a:t>Example: Suppose that we want to retrieve the name of the manager of each department.</a:t>
            </a:r>
          </a:p>
          <a:p>
            <a:pPr lvl="1" algn="just" eaLnBrk="1" hangingPunct="1">
              <a:lnSpc>
                <a:spcPct val="160000"/>
              </a:lnSpc>
            </a:pPr>
            <a:r>
              <a:rPr lang="en-US" sz="2200" dirty="0"/>
              <a:t>To get the manager’s name, we need to combine each DEPARTMENT </a:t>
            </a:r>
            <a:r>
              <a:rPr lang="en-US" sz="2200" dirty="0" err="1"/>
              <a:t>tuple</a:t>
            </a:r>
            <a:r>
              <a:rPr lang="en-US" sz="2200" dirty="0"/>
              <a:t> with the EMPLOYEE </a:t>
            </a:r>
            <a:r>
              <a:rPr lang="en-US" sz="2200" dirty="0" err="1"/>
              <a:t>tuple</a:t>
            </a:r>
            <a:r>
              <a:rPr lang="en-US" sz="2200" dirty="0"/>
              <a:t> whose SSN value matches the MGRSSN value in the department </a:t>
            </a:r>
            <a:r>
              <a:rPr lang="en-US" sz="2200" dirty="0" err="1"/>
              <a:t>tuple</a:t>
            </a:r>
            <a:r>
              <a:rPr lang="en-US" sz="2200" dirty="0"/>
              <a:t>. </a:t>
            </a:r>
          </a:p>
          <a:p>
            <a:pPr lvl="1" algn="just" eaLnBrk="1" hangingPunct="1">
              <a:lnSpc>
                <a:spcPct val="160000"/>
              </a:lnSpc>
            </a:pPr>
            <a:r>
              <a:rPr lang="en-US" sz="2200" dirty="0"/>
              <a:t>We do this by using the join           operation.</a:t>
            </a:r>
          </a:p>
          <a:p>
            <a:pPr lvl="1" algn="just" eaLnBrk="1" hangingPunct="1">
              <a:lnSpc>
                <a:spcPct val="160000"/>
              </a:lnSpc>
            </a:pPr>
            <a:endParaRPr lang="en-US" sz="2200" dirty="0"/>
          </a:p>
          <a:p>
            <a:pPr lvl="1" algn="just" eaLnBrk="1" hangingPunct="1">
              <a:lnSpc>
                <a:spcPct val="160000"/>
              </a:lnSpc>
            </a:pPr>
            <a:r>
              <a:rPr lang="en-US" sz="2200" dirty="0"/>
              <a:t>DEPT_MGR </a:t>
            </a:r>
            <a:r>
              <a:rPr lang="en-US" sz="2200" dirty="0">
                <a:sym typeface="Symbol" pitchFamily="71" charset="2"/>
              </a:rPr>
              <a:t></a:t>
            </a:r>
            <a:r>
              <a:rPr lang="en-US" sz="2200" dirty="0"/>
              <a:t> DEPARTMENT       </a:t>
            </a:r>
            <a:r>
              <a:rPr lang="en-US" sz="2200" baseline="-25000" dirty="0"/>
              <a:t>MGRSSN=SSN </a:t>
            </a:r>
            <a:r>
              <a:rPr lang="en-US" sz="2200" dirty="0"/>
              <a:t>EMPLOYEE</a:t>
            </a:r>
          </a:p>
          <a:p>
            <a:pPr algn="just" eaLnBrk="1" hangingPunct="1">
              <a:lnSpc>
                <a:spcPct val="160000"/>
              </a:lnSpc>
            </a:pPr>
            <a:r>
              <a:rPr lang="en-US" sz="2400" dirty="0"/>
              <a:t>MGRSSN=SSN is the join condition</a:t>
            </a:r>
          </a:p>
          <a:p>
            <a:pPr lvl="1" algn="just" eaLnBrk="1" hangingPunct="1">
              <a:lnSpc>
                <a:spcPct val="160000"/>
              </a:lnSpc>
            </a:pPr>
            <a:r>
              <a:rPr lang="en-US" sz="2200" dirty="0"/>
              <a:t>Combines each department record with the employee who manages the department</a:t>
            </a:r>
          </a:p>
          <a:p>
            <a:pPr lvl="1" algn="just" eaLnBrk="1" hangingPunct="1">
              <a:lnSpc>
                <a:spcPct val="160000"/>
              </a:lnSpc>
            </a:pPr>
            <a:r>
              <a:rPr lang="en-US" sz="2200" dirty="0"/>
              <a:t>The join condition can also be specified as DEPARTMENT.MGRSSN= EMPLOYEE.SSN</a:t>
            </a:r>
          </a:p>
          <a:p>
            <a:pPr algn="just" eaLnBrk="1" hangingPunct="1">
              <a:lnSpc>
                <a:spcPct val="160000"/>
              </a:lnSpc>
              <a:buFont typeface="Wingdings" pitchFamily="2" charset="2"/>
              <a:buNone/>
            </a:pPr>
            <a:endParaRPr lang="en-US" sz="2400" dirty="0"/>
          </a:p>
          <a:p>
            <a:pPr algn="just" eaLnBrk="1" hangingPunct="1">
              <a:lnSpc>
                <a:spcPct val="160000"/>
              </a:lnSpc>
            </a:pPr>
            <a:endParaRPr lang="en-US" sz="2400" dirty="0"/>
          </a:p>
        </p:txBody>
      </p:sp>
      <p:grpSp>
        <p:nvGrpSpPr>
          <p:cNvPr id="19" name="Group 35">
            <a:extLst>
              <a:ext uri="{FF2B5EF4-FFF2-40B4-BE49-F238E27FC236}">
                <a16:creationId xmlns:a16="http://schemas.microsoft.com/office/drawing/2014/main" id="{D2898389-563B-4622-9320-7F03029BD844}"/>
              </a:ext>
            </a:extLst>
          </p:cNvPr>
          <p:cNvGrpSpPr>
            <a:grpSpLocks/>
          </p:cNvGrpSpPr>
          <p:nvPr/>
        </p:nvGrpSpPr>
        <p:grpSpPr bwMode="auto">
          <a:xfrm>
            <a:off x="3213100" y="3027362"/>
            <a:ext cx="244475" cy="174625"/>
            <a:chOff x="377" y="2904"/>
            <a:chExt cx="154" cy="110"/>
          </a:xfrm>
        </p:grpSpPr>
        <p:sp>
          <p:nvSpPr>
            <p:cNvPr id="20" name="Line 36">
              <a:extLst>
                <a:ext uri="{FF2B5EF4-FFF2-40B4-BE49-F238E27FC236}">
                  <a16:creationId xmlns:a16="http://schemas.microsoft.com/office/drawing/2014/main" id="{E501EFAD-A5ED-4133-8E36-CD3B7FCEAD00}"/>
                </a:ext>
              </a:extLst>
            </p:cNvPr>
            <p:cNvSpPr>
              <a:spLocks noChangeShapeType="1"/>
            </p:cNvSpPr>
            <p:nvPr/>
          </p:nvSpPr>
          <p:spPr bwMode="auto">
            <a:xfrm>
              <a:off x="381" y="2904"/>
              <a:ext cx="0" cy="110"/>
            </a:xfrm>
            <a:prstGeom prst="line">
              <a:avLst/>
            </a:prstGeom>
            <a:noFill/>
            <a:ln w="12700">
              <a:solidFill>
                <a:schemeClr val="tx1"/>
              </a:solidFill>
              <a:round/>
              <a:headEnd/>
              <a:tailEnd/>
            </a:ln>
          </p:spPr>
          <p:txBody>
            <a:bodyPr wrap="none" anchor="ctr"/>
            <a:lstStyle/>
            <a:p>
              <a:endParaRPr lang="en-US"/>
            </a:p>
          </p:txBody>
        </p:sp>
        <p:sp>
          <p:nvSpPr>
            <p:cNvPr id="21" name="Line 37">
              <a:extLst>
                <a:ext uri="{FF2B5EF4-FFF2-40B4-BE49-F238E27FC236}">
                  <a16:creationId xmlns:a16="http://schemas.microsoft.com/office/drawing/2014/main" id="{67C04EC4-3BEF-4A23-ADAD-0834176838BA}"/>
                </a:ext>
              </a:extLst>
            </p:cNvPr>
            <p:cNvSpPr>
              <a:spLocks noChangeShapeType="1"/>
            </p:cNvSpPr>
            <p:nvPr/>
          </p:nvSpPr>
          <p:spPr bwMode="auto">
            <a:xfrm>
              <a:off x="527" y="2904"/>
              <a:ext cx="0" cy="110"/>
            </a:xfrm>
            <a:prstGeom prst="line">
              <a:avLst/>
            </a:prstGeom>
            <a:noFill/>
            <a:ln w="12700">
              <a:solidFill>
                <a:schemeClr val="tx1"/>
              </a:solidFill>
              <a:round/>
              <a:headEnd/>
              <a:tailEnd/>
            </a:ln>
          </p:spPr>
          <p:txBody>
            <a:bodyPr wrap="none" anchor="ctr"/>
            <a:lstStyle/>
            <a:p>
              <a:endParaRPr lang="en-US"/>
            </a:p>
          </p:txBody>
        </p:sp>
        <p:sp>
          <p:nvSpPr>
            <p:cNvPr id="22" name="Line 38">
              <a:extLst>
                <a:ext uri="{FF2B5EF4-FFF2-40B4-BE49-F238E27FC236}">
                  <a16:creationId xmlns:a16="http://schemas.microsoft.com/office/drawing/2014/main" id="{C5073036-E872-4249-AE68-6FCC716B95F8}"/>
                </a:ext>
              </a:extLst>
            </p:cNvPr>
            <p:cNvSpPr>
              <a:spLocks noChangeShapeType="1"/>
            </p:cNvSpPr>
            <p:nvPr/>
          </p:nvSpPr>
          <p:spPr bwMode="auto">
            <a:xfrm>
              <a:off x="385" y="2904"/>
              <a:ext cx="138" cy="110"/>
            </a:xfrm>
            <a:prstGeom prst="line">
              <a:avLst/>
            </a:prstGeom>
            <a:noFill/>
            <a:ln w="12700">
              <a:solidFill>
                <a:schemeClr val="tx1"/>
              </a:solidFill>
              <a:round/>
              <a:headEnd/>
              <a:tailEnd/>
            </a:ln>
          </p:spPr>
          <p:txBody>
            <a:bodyPr wrap="none" anchor="ctr"/>
            <a:lstStyle/>
            <a:p>
              <a:endParaRPr lang="en-US"/>
            </a:p>
          </p:txBody>
        </p:sp>
        <p:sp>
          <p:nvSpPr>
            <p:cNvPr id="23" name="Line 39">
              <a:extLst>
                <a:ext uri="{FF2B5EF4-FFF2-40B4-BE49-F238E27FC236}">
                  <a16:creationId xmlns:a16="http://schemas.microsoft.com/office/drawing/2014/main" id="{E7BE016E-0536-4054-A079-313B293D6329}"/>
                </a:ext>
              </a:extLst>
            </p:cNvPr>
            <p:cNvSpPr>
              <a:spLocks noChangeShapeType="1"/>
            </p:cNvSpPr>
            <p:nvPr/>
          </p:nvSpPr>
          <p:spPr bwMode="auto">
            <a:xfrm flipH="1">
              <a:off x="377" y="2904"/>
              <a:ext cx="154" cy="110"/>
            </a:xfrm>
            <a:prstGeom prst="line">
              <a:avLst/>
            </a:prstGeom>
            <a:noFill/>
            <a:ln w="12700">
              <a:solidFill>
                <a:schemeClr val="tx1"/>
              </a:solidFill>
              <a:round/>
              <a:headEnd/>
              <a:tailEnd/>
            </a:ln>
          </p:spPr>
          <p:txBody>
            <a:bodyPr wrap="none" anchor="ctr"/>
            <a:lstStyle/>
            <a:p>
              <a:endParaRPr lang="en-US"/>
            </a:p>
          </p:txBody>
        </p:sp>
      </p:grpSp>
      <p:grpSp>
        <p:nvGrpSpPr>
          <p:cNvPr id="24" name="Group 35">
            <a:extLst>
              <a:ext uri="{FF2B5EF4-FFF2-40B4-BE49-F238E27FC236}">
                <a16:creationId xmlns:a16="http://schemas.microsoft.com/office/drawing/2014/main" id="{2961F034-184C-4599-90A6-7F258E216A5B}"/>
              </a:ext>
            </a:extLst>
          </p:cNvPr>
          <p:cNvGrpSpPr>
            <a:grpSpLocks/>
          </p:cNvGrpSpPr>
          <p:nvPr/>
        </p:nvGrpSpPr>
        <p:grpSpPr bwMode="auto">
          <a:xfrm>
            <a:off x="3200400" y="3830638"/>
            <a:ext cx="244475" cy="174625"/>
            <a:chOff x="377" y="2904"/>
            <a:chExt cx="154" cy="110"/>
          </a:xfrm>
        </p:grpSpPr>
        <p:sp>
          <p:nvSpPr>
            <p:cNvPr id="25" name="Line 36">
              <a:extLst>
                <a:ext uri="{FF2B5EF4-FFF2-40B4-BE49-F238E27FC236}">
                  <a16:creationId xmlns:a16="http://schemas.microsoft.com/office/drawing/2014/main" id="{8DCE6F75-B9C3-416A-94EF-89267885AFEF}"/>
                </a:ext>
              </a:extLst>
            </p:cNvPr>
            <p:cNvSpPr>
              <a:spLocks noChangeShapeType="1"/>
            </p:cNvSpPr>
            <p:nvPr/>
          </p:nvSpPr>
          <p:spPr bwMode="auto">
            <a:xfrm>
              <a:off x="381" y="2904"/>
              <a:ext cx="0" cy="110"/>
            </a:xfrm>
            <a:prstGeom prst="line">
              <a:avLst/>
            </a:prstGeom>
            <a:noFill/>
            <a:ln w="12700">
              <a:solidFill>
                <a:schemeClr val="tx1"/>
              </a:solidFill>
              <a:round/>
              <a:headEnd/>
              <a:tailEnd/>
            </a:ln>
          </p:spPr>
          <p:txBody>
            <a:bodyPr wrap="none" anchor="ctr"/>
            <a:lstStyle/>
            <a:p>
              <a:endParaRPr lang="en-US"/>
            </a:p>
          </p:txBody>
        </p:sp>
        <p:sp>
          <p:nvSpPr>
            <p:cNvPr id="26" name="Line 37">
              <a:extLst>
                <a:ext uri="{FF2B5EF4-FFF2-40B4-BE49-F238E27FC236}">
                  <a16:creationId xmlns:a16="http://schemas.microsoft.com/office/drawing/2014/main" id="{861C1154-E738-49DC-BB9B-36B4D8F6BE64}"/>
                </a:ext>
              </a:extLst>
            </p:cNvPr>
            <p:cNvSpPr>
              <a:spLocks noChangeShapeType="1"/>
            </p:cNvSpPr>
            <p:nvPr/>
          </p:nvSpPr>
          <p:spPr bwMode="auto">
            <a:xfrm>
              <a:off x="527" y="2904"/>
              <a:ext cx="0" cy="110"/>
            </a:xfrm>
            <a:prstGeom prst="line">
              <a:avLst/>
            </a:prstGeom>
            <a:noFill/>
            <a:ln w="12700">
              <a:solidFill>
                <a:schemeClr val="tx1"/>
              </a:solidFill>
              <a:round/>
              <a:headEnd/>
              <a:tailEnd/>
            </a:ln>
          </p:spPr>
          <p:txBody>
            <a:bodyPr wrap="none" anchor="ctr"/>
            <a:lstStyle/>
            <a:p>
              <a:endParaRPr lang="en-US"/>
            </a:p>
          </p:txBody>
        </p:sp>
        <p:sp>
          <p:nvSpPr>
            <p:cNvPr id="27" name="Line 38">
              <a:extLst>
                <a:ext uri="{FF2B5EF4-FFF2-40B4-BE49-F238E27FC236}">
                  <a16:creationId xmlns:a16="http://schemas.microsoft.com/office/drawing/2014/main" id="{9812CDEF-5748-4637-8D8F-A63672AB356F}"/>
                </a:ext>
              </a:extLst>
            </p:cNvPr>
            <p:cNvSpPr>
              <a:spLocks noChangeShapeType="1"/>
            </p:cNvSpPr>
            <p:nvPr/>
          </p:nvSpPr>
          <p:spPr bwMode="auto">
            <a:xfrm>
              <a:off x="385" y="2904"/>
              <a:ext cx="138" cy="110"/>
            </a:xfrm>
            <a:prstGeom prst="line">
              <a:avLst/>
            </a:prstGeom>
            <a:noFill/>
            <a:ln w="12700">
              <a:solidFill>
                <a:schemeClr val="tx1"/>
              </a:solidFill>
              <a:round/>
              <a:headEnd/>
              <a:tailEnd/>
            </a:ln>
          </p:spPr>
          <p:txBody>
            <a:bodyPr wrap="none" anchor="ctr"/>
            <a:lstStyle/>
            <a:p>
              <a:endParaRPr lang="en-US"/>
            </a:p>
          </p:txBody>
        </p:sp>
        <p:sp>
          <p:nvSpPr>
            <p:cNvPr id="28" name="Line 39">
              <a:extLst>
                <a:ext uri="{FF2B5EF4-FFF2-40B4-BE49-F238E27FC236}">
                  <a16:creationId xmlns:a16="http://schemas.microsoft.com/office/drawing/2014/main" id="{65412EA6-CC01-4563-8848-17FCA208C16D}"/>
                </a:ext>
              </a:extLst>
            </p:cNvPr>
            <p:cNvSpPr>
              <a:spLocks noChangeShapeType="1"/>
            </p:cNvSpPr>
            <p:nvPr/>
          </p:nvSpPr>
          <p:spPr bwMode="auto">
            <a:xfrm flipH="1">
              <a:off x="377" y="2904"/>
              <a:ext cx="154" cy="110"/>
            </a:xfrm>
            <a:prstGeom prst="line">
              <a:avLst/>
            </a:prstGeom>
            <a:noFill/>
            <a:ln w="12700">
              <a:solidFill>
                <a:schemeClr val="tx1"/>
              </a:solidFill>
              <a:round/>
              <a:headEnd/>
              <a:tailEnd/>
            </a:ln>
          </p:spPr>
          <p:txBody>
            <a:bodyPr wrap="none" anchor="ctr"/>
            <a:lstStyle/>
            <a:p>
              <a:endParaRPr lang="en-US"/>
            </a:p>
          </p:txBody>
        </p:sp>
      </p:grpSp>
    </p:spTree>
  </p:cSld>
  <p:clrMapOvr>
    <a:masterClrMapping/>
  </p:clrMapOvr>
  <p:transition>
    <p:dissolv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822960" y="286605"/>
            <a:ext cx="7543800" cy="780196"/>
          </a:xfrm>
          <a:noFill/>
        </p:spPr>
        <p:txBody>
          <a:bodyPr/>
          <a:lstStyle/>
          <a:p>
            <a:pPr eaLnBrk="1" hangingPunct="1"/>
            <a:r>
              <a:rPr lang="en-US" sz="3200" dirty="0"/>
              <a:t>Example of applying the JOIN operation</a:t>
            </a:r>
          </a:p>
        </p:txBody>
      </p:sp>
      <p:sp>
        <p:nvSpPr>
          <p:cNvPr id="38916" name="Rectangle 3"/>
          <p:cNvSpPr>
            <a:spLocks noChangeArrowheads="1"/>
          </p:cNvSpPr>
          <p:nvPr/>
        </p:nvSpPr>
        <p:spPr bwMode="auto">
          <a:xfrm>
            <a:off x="1833563" y="1309688"/>
            <a:ext cx="9144000" cy="0"/>
          </a:xfrm>
          <a:prstGeom prst="rect">
            <a:avLst/>
          </a:prstGeom>
          <a:noFill/>
          <a:ln w="9525">
            <a:noFill/>
            <a:miter lim="800000"/>
            <a:headEnd/>
            <a:tailEnd/>
          </a:ln>
        </p:spPr>
        <p:txBody>
          <a:bodyPr>
            <a:spAutoFit/>
          </a:bodyPr>
          <a:lstStyle/>
          <a:p>
            <a:endParaRPr lang="en-US"/>
          </a:p>
        </p:txBody>
      </p:sp>
      <p:pic>
        <p:nvPicPr>
          <p:cNvPr id="38917" name="Picture 5" descr="fig06_06"/>
          <p:cNvPicPr>
            <a:picLocks noChangeAspect="1" noChangeArrowheads="1"/>
          </p:cNvPicPr>
          <p:nvPr/>
        </p:nvPicPr>
        <p:blipFill>
          <a:blip r:embed="rId3"/>
          <a:srcRect/>
          <a:stretch>
            <a:fillRect/>
          </a:stretch>
        </p:blipFill>
        <p:spPr bwMode="auto">
          <a:xfrm>
            <a:off x="381000" y="1752612"/>
            <a:ext cx="8153400" cy="3428975"/>
          </a:xfrm>
          <a:prstGeom prst="rect">
            <a:avLst/>
          </a:prstGeom>
          <a:noFill/>
          <a:ln w="9525">
            <a:noFill/>
            <a:miter lim="800000"/>
            <a:headEnd/>
            <a:tailEnd/>
          </a:ln>
        </p:spPr>
      </p:pic>
    </p:spTree>
  </p:cSld>
  <p:clrMapOvr>
    <a:masterClrMapping/>
  </p:clrMapOvr>
  <p:transition>
    <p:dissolv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15"/>
          <p:cNvSpPr>
            <a:spLocks noGrp="1" noChangeArrowheads="1"/>
          </p:cNvSpPr>
          <p:nvPr>
            <p:ph type="title"/>
          </p:nvPr>
        </p:nvSpPr>
        <p:spPr>
          <a:xfrm>
            <a:off x="822960" y="286605"/>
            <a:ext cx="7543800" cy="780196"/>
          </a:xfrm>
        </p:spPr>
        <p:txBody>
          <a:bodyPr/>
          <a:lstStyle/>
          <a:p>
            <a:pPr eaLnBrk="1" hangingPunct="1"/>
            <a:r>
              <a:rPr lang="en-US" dirty="0"/>
              <a:t>Some properties of JOIN</a:t>
            </a:r>
          </a:p>
        </p:txBody>
      </p:sp>
      <p:sp>
        <p:nvSpPr>
          <p:cNvPr id="39940" name="Rectangle 16"/>
          <p:cNvSpPr>
            <a:spLocks noGrp="1" noChangeArrowheads="1"/>
          </p:cNvSpPr>
          <p:nvPr>
            <p:ph idx="1"/>
          </p:nvPr>
        </p:nvSpPr>
        <p:spPr>
          <a:xfrm>
            <a:off x="228600" y="1075039"/>
            <a:ext cx="8610600" cy="4023360"/>
          </a:xfrm>
        </p:spPr>
        <p:txBody>
          <a:bodyPr>
            <a:normAutofit fontScale="92500" lnSpcReduction="20000"/>
          </a:bodyPr>
          <a:lstStyle/>
          <a:p>
            <a:pPr eaLnBrk="1" hangingPunct="1">
              <a:lnSpc>
                <a:spcPct val="114000"/>
              </a:lnSpc>
            </a:pPr>
            <a:r>
              <a:rPr lang="en-US" sz="2400" dirty="0"/>
              <a:t>Consider the following JOIN operation:</a:t>
            </a:r>
          </a:p>
          <a:p>
            <a:pPr eaLnBrk="1" hangingPunct="1">
              <a:lnSpc>
                <a:spcPct val="114000"/>
              </a:lnSpc>
            </a:pPr>
            <a:endParaRPr lang="en-US" sz="2400" dirty="0"/>
          </a:p>
          <a:p>
            <a:pPr lvl="1" eaLnBrk="1" hangingPunct="1">
              <a:lnSpc>
                <a:spcPct val="114000"/>
              </a:lnSpc>
            </a:pPr>
            <a:r>
              <a:rPr lang="en-US" sz="2200" dirty="0"/>
              <a:t>R(A1, A2, . . ., An)                   S(B1, B2, . . ., Bm)</a:t>
            </a:r>
          </a:p>
          <a:p>
            <a:pPr lvl="2" eaLnBrk="1" hangingPunct="1">
              <a:lnSpc>
                <a:spcPct val="114000"/>
              </a:lnSpc>
              <a:buFont typeface="Wingdings" pitchFamily="2" charset="2"/>
              <a:buNone/>
            </a:pPr>
            <a:r>
              <a:rPr lang="en-US" sz="2000" dirty="0"/>
              <a:t>                                       </a:t>
            </a:r>
            <a:r>
              <a:rPr lang="en-US" sz="2000" dirty="0" err="1"/>
              <a:t>R.Ai</a:t>
            </a:r>
            <a:r>
              <a:rPr lang="en-US" sz="2000" dirty="0"/>
              <a:t>=</a:t>
            </a:r>
            <a:r>
              <a:rPr lang="en-US" sz="2000" dirty="0" err="1"/>
              <a:t>S.Bj</a:t>
            </a:r>
            <a:endParaRPr lang="en-US" sz="2000" dirty="0"/>
          </a:p>
          <a:p>
            <a:pPr lvl="1" eaLnBrk="1" hangingPunct="1">
              <a:lnSpc>
                <a:spcPct val="114000"/>
              </a:lnSpc>
            </a:pPr>
            <a:r>
              <a:rPr lang="en-US" sz="2200" dirty="0"/>
              <a:t>Result is a relation Q with degree n + m attributes:</a:t>
            </a:r>
          </a:p>
          <a:p>
            <a:pPr lvl="2" eaLnBrk="1" hangingPunct="1">
              <a:lnSpc>
                <a:spcPct val="114000"/>
              </a:lnSpc>
            </a:pPr>
            <a:r>
              <a:rPr lang="en-US" sz="2000" dirty="0"/>
              <a:t>Q(A1, A2, . . ., An, B1, B2, . . ., Bm), in that order.</a:t>
            </a:r>
          </a:p>
          <a:p>
            <a:pPr lvl="1" eaLnBrk="1" hangingPunct="1">
              <a:lnSpc>
                <a:spcPct val="114000"/>
              </a:lnSpc>
            </a:pPr>
            <a:r>
              <a:rPr lang="en-US" sz="2200" dirty="0"/>
              <a:t>The resulting relation state has one tuple for each combination of tuples—r from R and s from S, but </a:t>
            </a:r>
            <a:r>
              <a:rPr lang="en-US" sz="2200" i="1" dirty="0"/>
              <a:t>only if they satisfy the join condition</a:t>
            </a:r>
            <a:r>
              <a:rPr lang="en-US" sz="2200" dirty="0"/>
              <a:t> r[Ai]=s[</a:t>
            </a:r>
            <a:r>
              <a:rPr lang="en-US" sz="2200" dirty="0" err="1"/>
              <a:t>Bj</a:t>
            </a:r>
            <a:r>
              <a:rPr lang="en-US" sz="2200" dirty="0"/>
              <a:t>]</a:t>
            </a:r>
          </a:p>
          <a:p>
            <a:pPr lvl="1" algn="just" eaLnBrk="1" hangingPunct="1">
              <a:lnSpc>
                <a:spcPct val="114000"/>
              </a:lnSpc>
            </a:pPr>
            <a:r>
              <a:rPr lang="en-US" sz="2200" dirty="0"/>
              <a:t>Hence, if R has </a:t>
            </a:r>
            <a:r>
              <a:rPr lang="en-US" sz="2200" dirty="0" err="1"/>
              <a:t>n</a:t>
            </a:r>
            <a:r>
              <a:rPr lang="en-US" sz="2200" baseline="-25000" dirty="0" err="1"/>
              <a:t>R</a:t>
            </a:r>
            <a:r>
              <a:rPr lang="en-US" sz="2200" dirty="0"/>
              <a:t> tuples, and S has </a:t>
            </a:r>
            <a:r>
              <a:rPr lang="en-US" sz="2200" dirty="0" err="1"/>
              <a:t>n</a:t>
            </a:r>
            <a:r>
              <a:rPr lang="en-US" sz="2200" baseline="-25000" dirty="0" err="1"/>
              <a:t>S</a:t>
            </a:r>
            <a:r>
              <a:rPr lang="en-US" sz="2200" dirty="0"/>
              <a:t> tuples, then the join result will generally have </a:t>
            </a:r>
            <a:r>
              <a:rPr lang="en-US" sz="2200" i="1" dirty="0"/>
              <a:t>less than</a:t>
            </a:r>
            <a:r>
              <a:rPr lang="en-US" sz="2200" dirty="0"/>
              <a:t> </a:t>
            </a:r>
            <a:r>
              <a:rPr lang="en-US" sz="2200" dirty="0" err="1"/>
              <a:t>n</a:t>
            </a:r>
            <a:r>
              <a:rPr lang="en-US" sz="2200" baseline="-25000" dirty="0" err="1"/>
              <a:t>R</a:t>
            </a:r>
            <a:r>
              <a:rPr lang="en-US" sz="2200" dirty="0"/>
              <a:t> * </a:t>
            </a:r>
            <a:r>
              <a:rPr lang="en-US" sz="2200" dirty="0" err="1"/>
              <a:t>n</a:t>
            </a:r>
            <a:r>
              <a:rPr lang="en-US" sz="2200" baseline="-25000" dirty="0" err="1"/>
              <a:t>S</a:t>
            </a:r>
            <a:r>
              <a:rPr lang="en-US" sz="2200" dirty="0"/>
              <a:t> tuples.</a:t>
            </a:r>
          </a:p>
          <a:p>
            <a:pPr lvl="1" eaLnBrk="1" hangingPunct="1">
              <a:lnSpc>
                <a:spcPct val="114000"/>
              </a:lnSpc>
            </a:pPr>
            <a:r>
              <a:rPr lang="en-US" sz="2200" dirty="0"/>
              <a:t>Only related tuples (based on the join condition) will appear in the result</a:t>
            </a:r>
          </a:p>
        </p:txBody>
      </p:sp>
      <p:grpSp>
        <p:nvGrpSpPr>
          <p:cNvPr id="2" name="Group 17"/>
          <p:cNvGrpSpPr>
            <a:grpSpLocks/>
          </p:cNvGrpSpPr>
          <p:nvPr/>
        </p:nvGrpSpPr>
        <p:grpSpPr bwMode="auto">
          <a:xfrm>
            <a:off x="2514600" y="1981200"/>
            <a:ext cx="441325" cy="347663"/>
            <a:chOff x="377" y="2904"/>
            <a:chExt cx="154" cy="110"/>
          </a:xfrm>
        </p:grpSpPr>
        <p:sp>
          <p:nvSpPr>
            <p:cNvPr id="39942" name="Line 18"/>
            <p:cNvSpPr>
              <a:spLocks noChangeShapeType="1"/>
            </p:cNvSpPr>
            <p:nvPr/>
          </p:nvSpPr>
          <p:spPr bwMode="auto">
            <a:xfrm>
              <a:off x="381" y="2904"/>
              <a:ext cx="0" cy="110"/>
            </a:xfrm>
            <a:prstGeom prst="line">
              <a:avLst/>
            </a:prstGeom>
            <a:noFill/>
            <a:ln w="15875">
              <a:solidFill>
                <a:schemeClr val="bg2"/>
              </a:solidFill>
              <a:round/>
              <a:headEnd/>
              <a:tailEnd/>
            </a:ln>
          </p:spPr>
          <p:txBody>
            <a:bodyPr wrap="none" anchor="ctr"/>
            <a:lstStyle/>
            <a:p>
              <a:endParaRPr lang="en-US"/>
            </a:p>
          </p:txBody>
        </p:sp>
        <p:sp>
          <p:nvSpPr>
            <p:cNvPr id="39943" name="Line 19"/>
            <p:cNvSpPr>
              <a:spLocks noChangeShapeType="1"/>
            </p:cNvSpPr>
            <p:nvPr/>
          </p:nvSpPr>
          <p:spPr bwMode="auto">
            <a:xfrm>
              <a:off x="527" y="2904"/>
              <a:ext cx="0" cy="110"/>
            </a:xfrm>
            <a:prstGeom prst="line">
              <a:avLst/>
            </a:prstGeom>
            <a:noFill/>
            <a:ln w="15875">
              <a:solidFill>
                <a:schemeClr val="bg2"/>
              </a:solidFill>
              <a:round/>
              <a:headEnd/>
              <a:tailEnd/>
            </a:ln>
          </p:spPr>
          <p:txBody>
            <a:bodyPr wrap="none" anchor="ctr"/>
            <a:lstStyle/>
            <a:p>
              <a:endParaRPr lang="en-US"/>
            </a:p>
          </p:txBody>
        </p:sp>
        <p:sp>
          <p:nvSpPr>
            <p:cNvPr id="39944" name="Line 20"/>
            <p:cNvSpPr>
              <a:spLocks noChangeShapeType="1"/>
            </p:cNvSpPr>
            <p:nvPr/>
          </p:nvSpPr>
          <p:spPr bwMode="auto">
            <a:xfrm>
              <a:off x="385" y="2904"/>
              <a:ext cx="138" cy="110"/>
            </a:xfrm>
            <a:prstGeom prst="line">
              <a:avLst/>
            </a:prstGeom>
            <a:noFill/>
            <a:ln w="15875">
              <a:solidFill>
                <a:schemeClr val="bg2"/>
              </a:solidFill>
              <a:round/>
              <a:headEnd/>
              <a:tailEnd/>
            </a:ln>
          </p:spPr>
          <p:txBody>
            <a:bodyPr wrap="none" anchor="ctr"/>
            <a:lstStyle/>
            <a:p>
              <a:endParaRPr lang="en-US"/>
            </a:p>
          </p:txBody>
        </p:sp>
        <p:sp>
          <p:nvSpPr>
            <p:cNvPr id="39945" name="Line 21"/>
            <p:cNvSpPr>
              <a:spLocks noChangeShapeType="1"/>
            </p:cNvSpPr>
            <p:nvPr/>
          </p:nvSpPr>
          <p:spPr bwMode="auto">
            <a:xfrm flipH="1">
              <a:off x="377" y="2904"/>
              <a:ext cx="154" cy="110"/>
            </a:xfrm>
            <a:prstGeom prst="line">
              <a:avLst/>
            </a:prstGeom>
            <a:noFill/>
            <a:ln w="15875">
              <a:solidFill>
                <a:schemeClr val="bg2"/>
              </a:solidFill>
              <a:round/>
              <a:headEnd/>
              <a:tailEnd/>
            </a:ln>
          </p:spPr>
          <p:txBody>
            <a:bodyPr wrap="none" anchor="ctr"/>
            <a:lstStyle/>
            <a:p>
              <a:endParaRPr lang="en-US"/>
            </a:p>
          </p:txBody>
        </p:sp>
      </p:grpSp>
    </p:spTree>
  </p:cSld>
  <p:clrMapOvr>
    <a:masterClrMapping/>
  </p:clrMapOvr>
  <p:transition>
    <p:dissolv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pPr eaLnBrk="1" hangingPunct="1"/>
            <a:r>
              <a:rPr lang="en-US"/>
              <a:t>Some properties of JOIN</a:t>
            </a:r>
          </a:p>
        </p:txBody>
      </p:sp>
      <p:sp>
        <p:nvSpPr>
          <p:cNvPr id="40964" name="Rectangle 3"/>
          <p:cNvSpPr>
            <a:spLocks noGrp="1" noChangeArrowheads="1"/>
          </p:cNvSpPr>
          <p:nvPr>
            <p:ph idx="1"/>
          </p:nvPr>
        </p:nvSpPr>
        <p:spPr/>
        <p:txBody>
          <a:bodyPr>
            <a:normAutofit/>
          </a:bodyPr>
          <a:lstStyle/>
          <a:p>
            <a:pPr eaLnBrk="1" hangingPunct="1">
              <a:lnSpc>
                <a:spcPct val="90000"/>
              </a:lnSpc>
            </a:pPr>
            <a:r>
              <a:rPr lang="en-US"/>
              <a:t>The general case of JOIN operation is called a Theta-join: R              S</a:t>
            </a:r>
          </a:p>
          <a:p>
            <a:pPr lvl="2" eaLnBrk="1" hangingPunct="1">
              <a:lnSpc>
                <a:spcPct val="90000"/>
              </a:lnSpc>
              <a:buFont typeface="Wingdings" pitchFamily="2" charset="2"/>
              <a:buNone/>
            </a:pPr>
            <a:r>
              <a:rPr lang="en-US"/>
              <a:t>                        </a:t>
            </a:r>
            <a:r>
              <a:rPr lang="en-US" i="1"/>
              <a:t>theta</a:t>
            </a:r>
          </a:p>
          <a:p>
            <a:pPr eaLnBrk="1" hangingPunct="1">
              <a:lnSpc>
                <a:spcPct val="90000"/>
              </a:lnSpc>
            </a:pPr>
            <a:r>
              <a:rPr lang="en-US"/>
              <a:t>The join condition is called </a:t>
            </a:r>
            <a:r>
              <a:rPr lang="en-US" i="1"/>
              <a:t>theta</a:t>
            </a:r>
          </a:p>
          <a:p>
            <a:pPr eaLnBrk="1" hangingPunct="1">
              <a:lnSpc>
                <a:spcPct val="90000"/>
              </a:lnSpc>
            </a:pPr>
            <a:r>
              <a:rPr lang="en-US" i="1"/>
              <a:t>Theta</a:t>
            </a:r>
            <a:r>
              <a:rPr lang="en-US"/>
              <a:t> can be any general boolean expression on the attributes of R and S; for example:</a:t>
            </a:r>
          </a:p>
          <a:p>
            <a:pPr lvl="1" eaLnBrk="1" hangingPunct="1">
              <a:lnSpc>
                <a:spcPct val="90000"/>
              </a:lnSpc>
            </a:pPr>
            <a:r>
              <a:rPr lang="en-US"/>
              <a:t>R.Ai&lt;S.Bj AND (R.Ak=S.Bl OR R.Ap&lt;S.Bq)</a:t>
            </a:r>
          </a:p>
          <a:p>
            <a:pPr eaLnBrk="1" hangingPunct="1">
              <a:lnSpc>
                <a:spcPct val="90000"/>
              </a:lnSpc>
            </a:pPr>
            <a:r>
              <a:rPr lang="en-US"/>
              <a:t>Most join conditions involve one or more equality conditions “AND”ed together; for example:</a:t>
            </a:r>
          </a:p>
          <a:p>
            <a:pPr lvl="1" eaLnBrk="1" hangingPunct="1">
              <a:lnSpc>
                <a:spcPct val="90000"/>
              </a:lnSpc>
            </a:pPr>
            <a:r>
              <a:rPr lang="en-US"/>
              <a:t>R.Ai=S.Bj AND R.Ak=S.Bl AND R.Ap=S.Bq</a:t>
            </a:r>
          </a:p>
          <a:p>
            <a:pPr eaLnBrk="1" hangingPunct="1">
              <a:lnSpc>
                <a:spcPct val="90000"/>
              </a:lnSpc>
              <a:buFont typeface="Wingdings" pitchFamily="2" charset="2"/>
              <a:buNone/>
            </a:pPr>
            <a:endParaRPr lang="en-US"/>
          </a:p>
        </p:txBody>
      </p:sp>
      <p:grpSp>
        <p:nvGrpSpPr>
          <p:cNvPr id="2" name="Group 4"/>
          <p:cNvGrpSpPr>
            <a:grpSpLocks/>
          </p:cNvGrpSpPr>
          <p:nvPr/>
        </p:nvGrpSpPr>
        <p:grpSpPr bwMode="auto">
          <a:xfrm>
            <a:off x="7086600" y="1905000"/>
            <a:ext cx="441325" cy="347663"/>
            <a:chOff x="377" y="2904"/>
            <a:chExt cx="154" cy="110"/>
          </a:xfrm>
        </p:grpSpPr>
        <p:sp>
          <p:nvSpPr>
            <p:cNvPr id="40966" name="Line 5"/>
            <p:cNvSpPr>
              <a:spLocks noChangeShapeType="1"/>
            </p:cNvSpPr>
            <p:nvPr/>
          </p:nvSpPr>
          <p:spPr bwMode="auto">
            <a:xfrm>
              <a:off x="381" y="2904"/>
              <a:ext cx="0" cy="110"/>
            </a:xfrm>
            <a:prstGeom prst="line">
              <a:avLst/>
            </a:prstGeom>
            <a:noFill/>
            <a:ln w="15875">
              <a:solidFill>
                <a:schemeClr val="bg2"/>
              </a:solidFill>
              <a:round/>
              <a:headEnd/>
              <a:tailEnd/>
            </a:ln>
          </p:spPr>
          <p:txBody>
            <a:bodyPr wrap="none" anchor="ctr"/>
            <a:lstStyle/>
            <a:p>
              <a:endParaRPr lang="en-US"/>
            </a:p>
          </p:txBody>
        </p:sp>
        <p:sp>
          <p:nvSpPr>
            <p:cNvPr id="40967" name="Line 6"/>
            <p:cNvSpPr>
              <a:spLocks noChangeShapeType="1"/>
            </p:cNvSpPr>
            <p:nvPr/>
          </p:nvSpPr>
          <p:spPr bwMode="auto">
            <a:xfrm>
              <a:off x="527" y="2904"/>
              <a:ext cx="0" cy="110"/>
            </a:xfrm>
            <a:prstGeom prst="line">
              <a:avLst/>
            </a:prstGeom>
            <a:noFill/>
            <a:ln w="15875">
              <a:solidFill>
                <a:schemeClr val="bg2"/>
              </a:solidFill>
              <a:round/>
              <a:headEnd/>
              <a:tailEnd/>
            </a:ln>
          </p:spPr>
          <p:txBody>
            <a:bodyPr wrap="none" anchor="ctr"/>
            <a:lstStyle/>
            <a:p>
              <a:endParaRPr lang="en-US"/>
            </a:p>
          </p:txBody>
        </p:sp>
        <p:sp>
          <p:nvSpPr>
            <p:cNvPr id="40968" name="Line 7"/>
            <p:cNvSpPr>
              <a:spLocks noChangeShapeType="1"/>
            </p:cNvSpPr>
            <p:nvPr/>
          </p:nvSpPr>
          <p:spPr bwMode="auto">
            <a:xfrm>
              <a:off x="385" y="2904"/>
              <a:ext cx="138" cy="110"/>
            </a:xfrm>
            <a:prstGeom prst="line">
              <a:avLst/>
            </a:prstGeom>
            <a:noFill/>
            <a:ln w="15875">
              <a:solidFill>
                <a:schemeClr val="bg2"/>
              </a:solidFill>
              <a:round/>
              <a:headEnd/>
              <a:tailEnd/>
            </a:ln>
          </p:spPr>
          <p:txBody>
            <a:bodyPr wrap="none" anchor="ctr"/>
            <a:lstStyle/>
            <a:p>
              <a:endParaRPr lang="en-US"/>
            </a:p>
          </p:txBody>
        </p:sp>
        <p:sp>
          <p:nvSpPr>
            <p:cNvPr id="40969" name="Line 8"/>
            <p:cNvSpPr>
              <a:spLocks noChangeShapeType="1"/>
            </p:cNvSpPr>
            <p:nvPr/>
          </p:nvSpPr>
          <p:spPr bwMode="auto">
            <a:xfrm flipH="1">
              <a:off x="377" y="2904"/>
              <a:ext cx="154" cy="110"/>
            </a:xfrm>
            <a:prstGeom prst="line">
              <a:avLst/>
            </a:prstGeom>
            <a:noFill/>
            <a:ln w="15875">
              <a:solidFill>
                <a:schemeClr val="bg2"/>
              </a:solidFill>
              <a:round/>
              <a:headEnd/>
              <a:tailEnd/>
            </a:ln>
          </p:spPr>
          <p:txBody>
            <a:bodyPr wrap="none" anchor="ctr"/>
            <a:lstStyle/>
            <a:p>
              <a:endParaRPr lang="en-US"/>
            </a:p>
          </p:txBody>
        </p:sp>
      </p:grpSp>
    </p:spTree>
  </p:cSld>
  <p:clrMapOvr>
    <a:masterClrMapping/>
  </p:clrMapOvr>
  <p:transition>
    <p:dissolv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pPr eaLnBrk="1" hangingPunct="1"/>
            <a:r>
              <a:rPr lang="en-US" sz="3200"/>
              <a:t>Binary Relational Operations: EQUIJOIN</a:t>
            </a:r>
          </a:p>
        </p:txBody>
      </p:sp>
      <p:sp>
        <p:nvSpPr>
          <p:cNvPr id="41988" name="Rectangle 3"/>
          <p:cNvSpPr>
            <a:spLocks noGrp="1" noChangeArrowheads="1"/>
          </p:cNvSpPr>
          <p:nvPr>
            <p:ph idx="1"/>
          </p:nvPr>
        </p:nvSpPr>
        <p:spPr/>
        <p:txBody>
          <a:bodyPr/>
          <a:lstStyle/>
          <a:p>
            <a:pPr eaLnBrk="1" hangingPunct="1">
              <a:lnSpc>
                <a:spcPct val="90000"/>
              </a:lnSpc>
            </a:pPr>
            <a:r>
              <a:rPr lang="en-US"/>
              <a:t>EQUIJOIN Operation</a:t>
            </a:r>
          </a:p>
          <a:p>
            <a:pPr eaLnBrk="1" hangingPunct="1">
              <a:lnSpc>
                <a:spcPct val="90000"/>
              </a:lnSpc>
            </a:pPr>
            <a:r>
              <a:rPr lang="en-US"/>
              <a:t>The most common use of join involves join conditions with </a:t>
            </a:r>
            <a:r>
              <a:rPr lang="en-US" i="1"/>
              <a:t>equality comparisons</a:t>
            </a:r>
            <a:r>
              <a:rPr lang="en-US"/>
              <a:t> only</a:t>
            </a:r>
          </a:p>
          <a:p>
            <a:pPr eaLnBrk="1" hangingPunct="1">
              <a:lnSpc>
                <a:spcPct val="90000"/>
              </a:lnSpc>
            </a:pPr>
            <a:r>
              <a:rPr lang="en-US"/>
              <a:t>Such a join, where the only comparison operator used is =, is called an EQUIJOIN.</a:t>
            </a:r>
          </a:p>
          <a:p>
            <a:pPr lvl="1" eaLnBrk="1" hangingPunct="1">
              <a:lnSpc>
                <a:spcPct val="90000"/>
              </a:lnSpc>
            </a:pPr>
            <a:r>
              <a:rPr lang="en-US"/>
              <a:t>In the result of an EQUIJOIN we always have one or more pairs of attributes (whose names need not be  identical) that have identical values in every tuple. </a:t>
            </a:r>
          </a:p>
          <a:p>
            <a:pPr lvl="1" eaLnBrk="1" hangingPunct="1">
              <a:lnSpc>
                <a:spcPct val="90000"/>
              </a:lnSpc>
            </a:pPr>
            <a:r>
              <a:rPr lang="en-US"/>
              <a:t>The JOIN seen in the previous example was an EQUIJOIN.</a:t>
            </a:r>
          </a:p>
        </p:txBody>
      </p:sp>
    </p:spTree>
  </p:cSld>
  <p:clrMapOvr>
    <a:masterClrMapping/>
  </p:clrMapOvr>
  <p:transition>
    <p:dissolv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9"/>
          <p:cNvSpPr>
            <a:spLocks noGrp="1" noChangeArrowheads="1"/>
          </p:cNvSpPr>
          <p:nvPr>
            <p:ph type="title"/>
          </p:nvPr>
        </p:nvSpPr>
        <p:spPr>
          <a:xfrm>
            <a:off x="822960" y="286605"/>
            <a:ext cx="7543800" cy="932596"/>
          </a:xfrm>
        </p:spPr>
        <p:txBody>
          <a:bodyPr>
            <a:normAutofit/>
          </a:bodyPr>
          <a:lstStyle/>
          <a:p>
            <a:pPr eaLnBrk="1" hangingPunct="1"/>
            <a:r>
              <a:rPr lang="en-US" sz="3200" dirty="0"/>
              <a:t>Binary Relational Operations: </a:t>
            </a:r>
            <a:br>
              <a:rPr lang="en-US" sz="3200" dirty="0"/>
            </a:br>
            <a:r>
              <a:rPr lang="en-US" sz="3200" dirty="0"/>
              <a:t>NATURAL JOIN Operation</a:t>
            </a:r>
          </a:p>
        </p:txBody>
      </p:sp>
      <p:sp>
        <p:nvSpPr>
          <p:cNvPr id="43012" name="Rectangle 10"/>
          <p:cNvSpPr>
            <a:spLocks noGrp="1" noChangeArrowheads="1"/>
          </p:cNvSpPr>
          <p:nvPr>
            <p:ph idx="1"/>
          </p:nvPr>
        </p:nvSpPr>
        <p:spPr>
          <a:xfrm>
            <a:off x="800099" y="1417320"/>
            <a:ext cx="7543801" cy="4023360"/>
          </a:xfrm>
        </p:spPr>
        <p:txBody>
          <a:bodyPr>
            <a:normAutofit/>
          </a:bodyPr>
          <a:lstStyle/>
          <a:p>
            <a:pPr eaLnBrk="1" hangingPunct="1"/>
            <a:r>
              <a:rPr lang="en-US" sz="2400" dirty="0"/>
              <a:t>NATURAL JOIN Operation </a:t>
            </a:r>
          </a:p>
          <a:p>
            <a:pPr lvl="1" eaLnBrk="1" hangingPunct="1"/>
            <a:r>
              <a:rPr lang="en-US" sz="2200" dirty="0"/>
              <a:t>Another variation of JOIN called NATURAL JOIN — denoted by * — was created to get rid of the second (superfluous) attribute in an EQUIJOIN condition.</a:t>
            </a:r>
          </a:p>
          <a:p>
            <a:pPr lvl="2" eaLnBrk="1" hangingPunct="1"/>
            <a:r>
              <a:rPr lang="en-US" sz="2000" dirty="0"/>
              <a:t>because one of each pair of attributes with identical values is superfluous</a:t>
            </a:r>
          </a:p>
          <a:p>
            <a:pPr lvl="1" eaLnBrk="1" hangingPunct="1"/>
            <a:r>
              <a:rPr lang="en-US" sz="2200" dirty="0"/>
              <a:t>The standard definition of natural join requires that the two join attributes, or each pair of corresponding join attributes, </a:t>
            </a:r>
            <a:r>
              <a:rPr lang="en-US" sz="2200" i="1" dirty="0"/>
              <a:t>have the same name</a:t>
            </a:r>
            <a:r>
              <a:rPr lang="en-US" sz="2200" dirty="0"/>
              <a:t> in both relations</a:t>
            </a:r>
          </a:p>
          <a:p>
            <a:pPr lvl="1" eaLnBrk="1" hangingPunct="1"/>
            <a:r>
              <a:rPr lang="en-US" sz="2200" dirty="0"/>
              <a:t>If this is not the case, a renaming operation is applied first.	                    	</a:t>
            </a:r>
          </a:p>
        </p:txBody>
      </p:sp>
    </p:spTree>
  </p:cSld>
  <p:clrMapOvr>
    <a:masterClrMapping/>
  </p:clrMapOvr>
  <p:transition>
    <p:dissolv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5"/>
          <p:cNvSpPr>
            <a:spLocks noGrp="1" noChangeArrowheads="1"/>
          </p:cNvSpPr>
          <p:nvPr>
            <p:ph type="title"/>
          </p:nvPr>
        </p:nvSpPr>
        <p:spPr>
          <a:xfrm>
            <a:off x="822960" y="286605"/>
            <a:ext cx="7543800" cy="1161196"/>
          </a:xfrm>
        </p:spPr>
        <p:txBody>
          <a:bodyPr>
            <a:normAutofit fontScale="90000"/>
          </a:bodyPr>
          <a:lstStyle/>
          <a:p>
            <a:pPr eaLnBrk="1" hangingPunct="1"/>
            <a:r>
              <a:rPr lang="en-US" dirty="0"/>
              <a:t>Binary Relational Operations </a:t>
            </a:r>
            <a:r>
              <a:rPr lang="en-US" sz="3200" dirty="0"/>
              <a:t>NATURAL JOIN </a:t>
            </a:r>
            <a:r>
              <a:rPr lang="en-US" dirty="0"/>
              <a:t>(contd.)</a:t>
            </a:r>
          </a:p>
        </p:txBody>
      </p:sp>
      <p:sp>
        <p:nvSpPr>
          <p:cNvPr id="44036" name="Rectangle 6"/>
          <p:cNvSpPr>
            <a:spLocks noGrp="1" noChangeArrowheads="1"/>
          </p:cNvSpPr>
          <p:nvPr>
            <p:ph idx="1"/>
          </p:nvPr>
        </p:nvSpPr>
        <p:spPr>
          <a:xfrm>
            <a:off x="239713" y="1600200"/>
            <a:ext cx="8294687" cy="4495800"/>
          </a:xfrm>
        </p:spPr>
        <p:txBody>
          <a:bodyPr>
            <a:normAutofit fontScale="92500" lnSpcReduction="10000"/>
          </a:bodyPr>
          <a:lstStyle/>
          <a:p>
            <a:pPr eaLnBrk="1" hangingPunct="1">
              <a:lnSpc>
                <a:spcPct val="90000"/>
              </a:lnSpc>
            </a:pPr>
            <a:endParaRPr lang="en-US" sz="2000" dirty="0"/>
          </a:p>
          <a:p>
            <a:pPr eaLnBrk="1" hangingPunct="1">
              <a:lnSpc>
                <a:spcPct val="90000"/>
              </a:lnSpc>
            </a:pPr>
            <a:r>
              <a:rPr lang="en-US" sz="2000" dirty="0"/>
              <a:t>Example: To apply a natural join on the DNUMBER attributes of DEPARTMENT and DEPT_LOCATIONS, it is sufficient to write:  </a:t>
            </a:r>
          </a:p>
          <a:p>
            <a:pPr lvl="1" eaLnBrk="1" hangingPunct="1">
              <a:lnSpc>
                <a:spcPct val="90000"/>
              </a:lnSpc>
            </a:pPr>
            <a:r>
              <a:rPr lang="en-US" sz="1900" dirty="0"/>
              <a:t>DEPT_LOCS </a:t>
            </a:r>
            <a:r>
              <a:rPr lang="en-US" sz="1900" dirty="0">
                <a:sym typeface="Symbol" pitchFamily="71" charset="2"/>
              </a:rPr>
              <a:t></a:t>
            </a:r>
            <a:r>
              <a:rPr lang="en-US" sz="1900" dirty="0"/>
              <a:t> DEPARTMENT * DEPT_LOCATIONS</a:t>
            </a:r>
          </a:p>
          <a:p>
            <a:pPr eaLnBrk="1" hangingPunct="1">
              <a:lnSpc>
                <a:spcPct val="90000"/>
              </a:lnSpc>
            </a:pPr>
            <a:r>
              <a:rPr lang="en-US" sz="2000" dirty="0"/>
              <a:t>Only attribute with the same name is DNUMBER</a:t>
            </a:r>
          </a:p>
          <a:p>
            <a:pPr eaLnBrk="1" hangingPunct="1">
              <a:lnSpc>
                <a:spcPct val="90000"/>
              </a:lnSpc>
            </a:pPr>
            <a:r>
              <a:rPr lang="en-US" sz="2000" dirty="0"/>
              <a:t>An implicit join condition is created based on this attribute:</a:t>
            </a:r>
          </a:p>
          <a:p>
            <a:pPr lvl="1" eaLnBrk="1" hangingPunct="1">
              <a:lnSpc>
                <a:spcPct val="90000"/>
              </a:lnSpc>
              <a:buFont typeface="Wingdings" pitchFamily="2" charset="2"/>
              <a:buNone/>
            </a:pPr>
            <a:r>
              <a:rPr lang="en-US" sz="2000" dirty="0"/>
              <a:t>DEPARTMENT.DNUMBER=DEPT_LOCATIONS.DNUMBER</a:t>
            </a:r>
          </a:p>
          <a:p>
            <a:pPr lvl="1" eaLnBrk="1" hangingPunct="1">
              <a:lnSpc>
                <a:spcPct val="90000"/>
              </a:lnSpc>
            </a:pPr>
            <a:endParaRPr lang="en-US" sz="2000" dirty="0"/>
          </a:p>
          <a:p>
            <a:pPr eaLnBrk="1" hangingPunct="1">
              <a:lnSpc>
                <a:spcPct val="90000"/>
              </a:lnSpc>
            </a:pPr>
            <a:r>
              <a:rPr lang="en-US" sz="2000" dirty="0"/>
              <a:t>Another example: Q </a:t>
            </a:r>
            <a:r>
              <a:rPr lang="en-US" sz="2000" dirty="0">
                <a:sym typeface="Symbol" pitchFamily="71" charset="2"/>
              </a:rPr>
              <a:t></a:t>
            </a:r>
            <a:r>
              <a:rPr lang="en-US" sz="2000" dirty="0"/>
              <a:t> R(A,B,C,D) * S(C,D,E)</a:t>
            </a:r>
          </a:p>
          <a:p>
            <a:pPr lvl="1" eaLnBrk="1" hangingPunct="1">
              <a:lnSpc>
                <a:spcPct val="90000"/>
              </a:lnSpc>
            </a:pPr>
            <a:r>
              <a:rPr lang="en-US" sz="2000" dirty="0"/>
              <a:t>The implicit join condition includes </a:t>
            </a:r>
            <a:r>
              <a:rPr lang="en-US" sz="2000" i="1" dirty="0"/>
              <a:t>each pair</a:t>
            </a:r>
            <a:r>
              <a:rPr lang="en-US" sz="2000" dirty="0"/>
              <a:t> of attributes with the same name, “</a:t>
            </a:r>
            <a:r>
              <a:rPr lang="en-US" sz="2000" dirty="0" err="1"/>
              <a:t>AND”ed</a:t>
            </a:r>
            <a:r>
              <a:rPr lang="en-US" sz="2000" dirty="0"/>
              <a:t> together:</a:t>
            </a:r>
          </a:p>
          <a:p>
            <a:pPr lvl="2" eaLnBrk="1" hangingPunct="1">
              <a:lnSpc>
                <a:spcPct val="90000"/>
              </a:lnSpc>
            </a:pPr>
            <a:r>
              <a:rPr lang="en-US" sz="1800" dirty="0"/>
              <a:t>R.C=S.C AND R.D.S.D</a:t>
            </a:r>
          </a:p>
          <a:p>
            <a:pPr lvl="1" eaLnBrk="1" hangingPunct="1">
              <a:lnSpc>
                <a:spcPct val="90000"/>
              </a:lnSpc>
            </a:pPr>
            <a:r>
              <a:rPr lang="en-US" sz="2000" dirty="0"/>
              <a:t>Result keeps only one attribute of each such pair:</a:t>
            </a:r>
          </a:p>
          <a:p>
            <a:pPr lvl="2" eaLnBrk="1" hangingPunct="1">
              <a:lnSpc>
                <a:spcPct val="90000"/>
              </a:lnSpc>
            </a:pPr>
            <a:r>
              <a:rPr lang="en-US" sz="1800" dirty="0"/>
              <a:t>Q(A,B,C,D,E)</a:t>
            </a:r>
          </a:p>
        </p:txBody>
      </p:sp>
    </p:spTree>
  </p:cSld>
  <p:clrMapOvr>
    <a:masterClrMapping/>
  </p:clrMapOvr>
  <p:transition>
    <p:dissolv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5"/>
          <p:cNvSpPr>
            <a:spLocks noGrp="1" noChangeArrowheads="1"/>
          </p:cNvSpPr>
          <p:nvPr>
            <p:ph type="title"/>
          </p:nvPr>
        </p:nvSpPr>
        <p:spPr>
          <a:xfrm>
            <a:off x="822960" y="286605"/>
            <a:ext cx="7543800" cy="1161196"/>
          </a:xfrm>
        </p:spPr>
        <p:txBody>
          <a:bodyPr>
            <a:normAutofit fontScale="90000"/>
          </a:bodyPr>
          <a:lstStyle/>
          <a:p>
            <a:pPr eaLnBrk="1" hangingPunct="1"/>
            <a:r>
              <a:rPr lang="en-US" dirty="0"/>
              <a:t>Binary Relational Operations </a:t>
            </a:r>
            <a:r>
              <a:rPr lang="en-US" sz="3200" dirty="0"/>
              <a:t>NATURAL JOIN </a:t>
            </a:r>
            <a:r>
              <a:rPr lang="en-US" dirty="0"/>
              <a:t>(contd.)</a:t>
            </a:r>
          </a:p>
        </p:txBody>
      </p:sp>
      <p:sp>
        <p:nvSpPr>
          <p:cNvPr id="44036" name="Rectangle 6"/>
          <p:cNvSpPr>
            <a:spLocks noGrp="1" noChangeArrowheads="1"/>
          </p:cNvSpPr>
          <p:nvPr>
            <p:ph idx="1"/>
          </p:nvPr>
        </p:nvSpPr>
        <p:spPr>
          <a:xfrm>
            <a:off x="239713" y="1600200"/>
            <a:ext cx="8904287" cy="4495800"/>
          </a:xfrm>
        </p:spPr>
        <p:txBody>
          <a:bodyPr>
            <a:normAutofit/>
          </a:bodyPr>
          <a:lstStyle/>
          <a:p>
            <a:pPr eaLnBrk="1" hangingPunct="1">
              <a:lnSpc>
                <a:spcPct val="90000"/>
              </a:lnSpc>
            </a:pPr>
            <a:endParaRPr lang="en-US" sz="2000" dirty="0"/>
          </a:p>
          <a:p>
            <a:pPr algn="l"/>
            <a:r>
              <a:rPr lang="en-IN" sz="1800" b="0" i="0" u="none" strike="noStrike" baseline="0" dirty="0">
                <a:latin typeface="MinionPro-Regular"/>
              </a:rPr>
              <a:t>The </a:t>
            </a:r>
            <a:r>
              <a:rPr lang="en-IN" sz="1800" b="0" i="0" u="none" strike="noStrike" baseline="0" dirty="0">
                <a:latin typeface="AkzidenzGroteskBE-Regular"/>
              </a:rPr>
              <a:t>NATURAL JOIN </a:t>
            </a:r>
            <a:r>
              <a:rPr lang="en-IN" sz="1800" b="0" i="0" u="none" strike="noStrike" baseline="0" dirty="0">
                <a:latin typeface="MinionPro-Regular"/>
              </a:rPr>
              <a:t>or </a:t>
            </a:r>
            <a:r>
              <a:rPr lang="en-IN" sz="1800" b="0" i="0" u="none" strike="noStrike" baseline="0" dirty="0">
                <a:latin typeface="AkzidenzGroteskBE-Regular"/>
              </a:rPr>
              <a:t>EQUIJOIN </a:t>
            </a:r>
            <a:r>
              <a:rPr lang="en-IN" sz="1800" b="0" i="0" u="none" strike="noStrike" baseline="0" dirty="0">
                <a:latin typeface="MinionPro-Regular"/>
              </a:rPr>
              <a:t>operation can also be specified among multiple tables, leading to an </a:t>
            </a:r>
            <a:r>
              <a:rPr lang="en-IN" sz="1800" b="0" i="1" u="none" strike="noStrike" baseline="0" dirty="0">
                <a:latin typeface="MinionPro-It"/>
              </a:rPr>
              <a:t>n-way join </a:t>
            </a:r>
          </a:p>
          <a:p>
            <a:pPr algn="l">
              <a:buFont typeface="Arial" panose="020B0604020202020204" pitchFamily="34" charset="0"/>
              <a:buChar char="•"/>
            </a:pPr>
            <a:r>
              <a:rPr lang="en-IN" sz="1800" b="0" i="0" u="none" strike="noStrike" baseline="0" dirty="0">
                <a:latin typeface="MinionPro-Regular"/>
              </a:rPr>
              <a:t>Project-department-manager combined information</a:t>
            </a:r>
          </a:p>
          <a:p>
            <a:pPr algn="l">
              <a:buFont typeface="Arial" panose="020B0604020202020204" pitchFamily="34" charset="0"/>
              <a:buChar char="•"/>
            </a:pPr>
            <a:r>
              <a:rPr lang="en-IN" sz="1800" b="0" i="0" u="none" strike="noStrike" baseline="0" dirty="0">
                <a:latin typeface="MinionPro-Regular"/>
              </a:rPr>
              <a:t>This combines each project tuple with its controlling department tuple into a single  Tuple</a:t>
            </a:r>
          </a:p>
          <a:p>
            <a:pPr algn="l">
              <a:buFont typeface="Arial" panose="020B0604020202020204" pitchFamily="34" charset="0"/>
              <a:buChar char="•"/>
            </a:pPr>
            <a:r>
              <a:rPr lang="en-IN" sz="1800" dirty="0">
                <a:latin typeface="MinionPro-Regular"/>
              </a:rPr>
              <a:t>T</a:t>
            </a:r>
            <a:r>
              <a:rPr lang="en-IN" sz="1800" b="0" i="0" u="none" strike="noStrike" baseline="0" dirty="0">
                <a:latin typeface="MinionPro-Regular"/>
              </a:rPr>
              <a:t>hen combines that tuple with an employee tuple that is the department manager.</a:t>
            </a:r>
          </a:p>
          <a:p>
            <a:pPr algn="l">
              <a:buFont typeface="Arial" panose="020B0604020202020204" pitchFamily="34" charset="0"/>
              <a:buChar char="•"/>
            </a:pPr>
            <a:r>
              <a:rPr lang="en-IN" sz="1800" b="0" i="0" u="none" strike="noStrike" baseline="0" dirty="0" err="1">
                <a:latin typeface="MinionPro-Regular"/>
              </a:rPr>
              <a:t>Project_Dept</a:t>
            </a:r>
            <a:endParaRPr lang="en-IN" sz="1800" b="0" i="0" u="none" strike="noStrike" baseline="0" dirty="0">
              <a:latin typeface="MinionPro-Regular"/>
            </a:endParaRPr>
          </a:p>
          <a:p>
            <a:pPr algn="l">
              <a:buFont typeface="Arial" panose="020B0604020202020204" pitchFamily="34" charset="0"/>
              <a:buChar char="•"/>
            </a:pPr>
            <a:endParaRPr lang="en-IN" sz="1800" b="0" i="0" u="none" strike="noStrike" baseline="0" dirty="0">
              <a:latin typeface="MinionPro-Regular"/>
            </a:endParaRPr>
          </a:p>
          <a:p>
            <a:pPr algn="l"/>
            <a:endParaRPr lang="en-IN" sz="1800" dirty="0">
              <a:latin typeface="MinionPro-Regular"/>
            </a:endParaRPr>
          </a:p>
          <a:p>
            <a:pPr algn="l"/>
            <a:endParaRPr lang="en-IN" sz="1800" b="0" i="0" u="none" strike="noStrike" baseline="0" dirty="0">
              <a:latin typeface="MinionPro-Regular"/>
            </a:endParaRPr>
          </a:p>
        </p:txBody>
      </p:sp>
      <p:pic>
        <p:nvPicPr>
          <p:cNvPr id="3" name="Picture 2">
            <a:extLst>
              <a:ext uri="{FF2B5EF4-FFF2-40B4-BE49-F238E27FC236}">
                <a16:creationId xmlns:a16="http://schemas.microsoft.com/office/drawing/2014/main" id="{F0DB2843-2A78-48D5-B0DD-0881B0CBAFB1}"/>
              </a:ext>
            </a:extLst>
          </p:cNvPr>
          <p:cNvPicPr>
            <a:picLocks noChangeAspect="1"/>
          </p:cNvPicPr>
          <p:nvPr/>
        </p:nvPicPr>
        <p:blipFill>
          <a:blip r:embed="rId3"/>
          <a:stretch>
            <a:fillRect/>
          </a:stretch>
        </p:blipFill>
        <p:spPr>
          <a:xfrm>
            <a:off x="-24063" y="4618714"/>
            <a:ext cx="9255609" cy="631065"/>
          </a:xfrm>
          <a:prstGeom prst="rect">
            <a:avLst/>
          </a:prstGeom>
        </p:spPr>
      </p:pic>
    </p:spTree>
    <p:extLst>
      <p:ext uri="{BB962C8B-B14F-4D97-AF65-F5344CB8AC3E}">
        <p14:creationId xmlns:p14="http://schemas.microsoft.com/office/powerpoint/2010/main" val="2372547278"/>
      </p:ext>
    </p:extLst>
  </p:cSld>
  <p:clrMapOvr>
    <a:masterClrMapping/>
  </p:clrMapOvr>
  <p:transition>
    <p:dissolv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noFill/>
        </p:spPr>
        <p:txBody>
          <a:bodyPr/>
          <a:lstStyle/>
          <a:p>
            <a:pPr eaLnBrk="1" hangingPunct="1"/>
            <a:r>
              <a:rPr lang="en-US" sz="3200"/>
              <a:t>Example of NATURAL JOIN operation</a:t>
            </a:r>
          </a:p>
        </p:txBody>
      </p:sp>
      <p:sp>
        <p:nvSpPr>
          <p:cNvPr id="45060" name="Rectangle 3"/>
          <p:cNvSpPr>
            <a:spLocks noChangeArrowheads="1"/>
          </p:cNvSpPr>
          <p:nvPr/>
        </p:nvSpPr>
        <p:spPr bwMode="auto">
          <a:xfrm>
            <a:off x="1833563" y="1309688"/>
            <a:ext cx="9144000" cy="0"/>
          </a:xfrm>
          <a:prstGeom prst="rect">
            <a:avLst/>
          </a:prstGeom>
          <a:noFill/>
          <a:ln w="9525">
            <a:noFill/>
            <a:miter lim="800000"/>
            <a:headEnd/>
            <a:tailEnd/>
          </a:ln>
        </p:spPr>
        <p:txBody>
          <a:bodyPr>
            <a:spAutoFit/>
          </a:bodyPr>
          <a:lstStyle/>
          <a:p>
            <a:endParaRPr lang="en-US"/>
          </a:p>
        </p:txBody>
      </p:sp>
      <p:pic>
        <p:nvPicPr>
          <p:cNvPr id="45061" name="Picture 5" descr="fig06_07"/>
          <p:cNvPicPr>
            <a:picLocks noChangeAspect="1" noChangeArrowheads="1"/>
          </p:cNvPicPr>
          <p:nvPr/>
        </p:nvPicPr>
        <p:blipFill>
          <a:blip r:embed="rId3"/>
          <a:srcRect/>
          <a:stretch>
            <a:fillRect/>
          </a:stretch>
        </p:blipFill>
        <p:spPr bwMode="auto">
          <a:xfrm>
            <a:off x="1066800" y="1598613"/>
            <a:ext cx="7086600" cy="4802187"/>
          </a:xfrm>
          <a:prstGeom prst="rect">
            <a:avLst/>
          </a:prstGeom>
          <a:noFill/>
          <a:ln w="9525">
            <a:noFill/>
            <a:miter lim="800000"/>
            <a:headEnd/>
            <a:tailEnd/>
          </a:ln>
        </p:spPr>
      </p:pic>
    </p:spTree>
  </p:cSld>
  <p:clrMapOvr>
    <a:masterClrMapping/>
  </p:clrMapOvr>
  <p:transition>
    <p:dissolv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14"/>
          <p:cNvSpPr>
            <a:spLocks noGrp="1" noChangeArrowheads="1"/>
          </p:cNvSpPr>
          <p:nvPr>
            <p:ph type="title"/>
          </p:nvPr>
        </p:nvSpPr>
        <p:spPr/>
        <p:txBody>
          <a:bodyPr/>
          <a:lstStyle/>
          <a:p>
            <a:pPr eaLnBrk="1" hangingPunct="1"/>
            <a:r>
              <a:rPr lang="en-US" sz="3200"/>
              <a:t>Complete Set of Relational Operations</a:t>
            </a:r>
          </a:p>
        </p:txBody>
      </p:sp>
      <p:sp>
        <p:nvSpPr>
          <p:cNvPr id="46084" name="Rectangle 15"/>
          <p:cNvSpPr>
            <a:spLocks noGrp="1" noChangeArrowheads="1"/>
          </p:cNvSpPr>
          <p:nvPr>
            <p:ph idx="1"/>
          </p:nvPr>
        </p:nvSpPr>
        <p:spPr/>
        <p:txBody>
          <a:bodyPr/>
          <a:lstStyle/>
          <a:p>
            <a:pPr eaLnBrk="1" hangingPunct="1"/>
            <a:r>
              <a:rPr lang="en-US"/>
              <a:t>The set of operations including SELECT </a:t>
            </a:r>
            <a:r>
              <a:rPr lang="en-US">
                <a:latin typeface="Symbol" pitchFamily="71" charset="2"/>
              </a:rPr>
              <a:t></a:t>
            </a:r>
            <a:r>
              <a:rPr lang="en-US"/>
              <a:t>, PROJECT </a:t>
            </a:r>
            <a:r>
              <a:rPr lang="en-US">
                <a:latin typeface="Symbol" pitchFamily="71" charset="2"/>
              </a:rPr>
              <a:t></a:t>
            </a:r>
            <a:r>
              <a:rPr lang="en-US"/>
              <a:t> , UNION </a:t>
            </a:r>
            <a:r>
              <a:rPr lang="en-US">
                <a:latin typeface="Symbol" pitchFamily="71" charset="2"/>
              </a:rPr>
              <a:t></a:t>
            </a:r>
            <a:r>
              <a:rPr lang="en-US"/>
              <a:t>, DIFFERENCE </a:t>
            </a:r>
            <a:r>
              <a:rPr lang="en-US">
                <a:latin typeface="Symbol" pitchFamily="71" charset="2"/>
              </a:rPr>
              <a:t>-</a:t>
            </a:r>
            <a:r>
              <a:rPr lang="en-US"/>
              <a:t> , RENAME </a:t>
            </a:r>
            <a:r>
              <a:rPr lang="en-US">
                <a:sym typeface="Symbol" pitchFamily="71" charset="2"/>
              </a:rPr>
              <a:t></a:t>
            </a:r>
            <a:r>
              <a:rPr lang="en-US"/>
              <a:t>, and CARTESIAN PRODUCT X is called a </a:t>
            </a:r>
            <a:r>
              <a:rPr lang="en-US" i="1"/>
              <a:t>complete set</a:t>
            </a:r>
            <a:r>
              <a:rPr lang="en-US"/>
              <a:t> because any other relational algebra expression can be expressed by a combination of these five operations.</a:t>
            </a:r>
          </a:p>
          <a:p>
            <a:pPr eaLnBrk="1" hangingPunct="1"/>
            <a:r>
              <a:rPr lang="en-US"/>
              <a:t>For example: </a:t>
            </a:r>
          </a:p>
          <a:p>
            <a:pPr lvl="1" eaLnBrk="1" hangingPunct="1"/>
            <a:r>
              <a:rPr lang="en-US"/>
              <a:t>R </a:t>
            </a:r>
            <a:r>
              <a:rPr lang="en-US">
                <a:latin typeface="Symbol" pitchFamily="71" charset="2"/>
              </a:rPr>
              <a:t></a:t>
            </a:r>
            <a:r>
              <a:rPr lang="en-US"/>
              <a:t> S = (R </a:t>
            </a:r>
            <a:r>
              <a:rPr lang="en-US">
                <a:latin typeface="Symbol" pitchFamily="71" charset="2"/>
              </a:rPr>
              <a:t></a:t>
            </a:r>
            <a:r>
              <a:rPr lang="en-US"/>
              <a:t> S ) – ((R </a:t>
            </a:r>
            <a:r>
              <a:rPr lang="en-US">
                <a:latin typeface="Symbol" pitchFamily="71" charset="2"/>
              </a:rPr>
              <a:t>-</a:t>
            </a:r>
            <a:r>
              <a:rPr lang="en-US"/>
              <a:t> S) </a:t>
            </a:r>
            <a:r>
              <a:rPr lang="en-US">
                <a:latin typeface="Symbol" pitchFamily="71" charset="2"/>
              </a:rPr>
              <a:t></a:t>
            </a:r>
            <a:r>
              <a:rPr lang="en-US"/>
              <a:t> (S </a:t>
            </a:r>
            <a:r>
              <a:rPr lang="en-US">
                <a:latin typeface="Symbol" pitchFamily="71" charset="2"/>
              </a:rPr>
              <a:t>-</a:t>
            </a:r>
            <a:r>
              <a:rPr lang="en-US"/>
              <a:t> R))</a:t>
            </a:r>
          </a:p>
          <a:p>
            <a:pPr lvl="1" eaLnBrk="1" hangingPunct="1"/>
            <a:r>
              <a:rPr lang="en-US"/>
              <a:t>R       </a:t>
            </a:r>
            <a:r>
              <a:rPr lang="en-US" baseline="-25000"/>
              <a:t>&lt;join condition&gt;</a:t>
            </a:r>
            <a:r>
              <a:rPr lang="en-US"/>
              <a:t>S = </a:t>
            </a:r>
            <a:r>
              <a:rPr lang="en-US">
                <a:latin typeface="Symbol" pitchFamily="71" charset="2"/>
              </a:rPr>
              <a:t></a:t>
            </a:r>
            <a:r>
              <a:rPr lang="en-US"/>
              <a:t> </a:t>
            </a:r>
            <a:r>
              <a:rPr lang="en-US" baseline="-25000"/>
              <a:t>&lt;join condition&gt;</a:t>
            </a:r>
            <a:r>
              <a:rPr lang="en-US"/>
              <a:t> (R X S)</a:t>
            </a:r>
          </a:p>
        </p:txBody>
      </p:sp>
      <p:grpSp>
        <p:nvGrpSpPr>
          <p:cNvPr id="2" name="Group 9"/>
          <p:cNvGrpSpPr>
            <a:grpSpLocks/>
          </p:cNvGrpSpPr>
          <p:nvPr/>
        </p:nvGrpSpPr>
        <p:grpSpPr bwMode="auto">
          <a:xfrm>
            <a:off x="1295400" y="3914275"/>
            <a:ext cx="487362" cy="174625"/>
            <a:chOff x="377" y="2904"/>
            <a:chExt cx="154" cy="110"/>
          </a:xfrm>
        </p:grpSpPr>
        <p:sp>
          <p:nvSpPr>
            <p:cNvPr id="46086" name="Line 10"/>
            <p:cNvSpPr>
              <a:spLocks noChangeShapeType="1"/>
            </p:cNvSpPr>
            <p:nvPr/>
          </p:nvSpPr>
          <p:spPr bwMode="auto">
            <a:xfrm>
              <a:off x="381" y="2904"/>
              <a:ext cx="0" cy="110"/>
            </a:xfrm>
            <a:prstGeom prst="line">
              <a:avLst/>
            </a:prstGeom>
            <a:noFill/>
            <a:ln w="22225">
              <a:solidFill>
                <a:schemeClr val="bg2"/>
              </a:solidFill>
              <a:round/>
              <a:headEnd/>
              <a:tailEnd/>
            </a:ln>
          </p:spPr>
          <p:txBody>
            <a:bodyPr wrap="none" anchor="ctr"/>
            <a:lstStyle/>
            <a:p>
              <a:endParaRPr lang="en-US"/>
            </a:p>
          </p:txBody>
        </p:sp>
        <p:sp>
          <p:nvSpPr>
            <p:cNvPr id="46087" name="Line 11"/>
            <p:cNvSpPr>
              <a:spLocks noChangeShapeType="1"/>
            </p:cNvSpPr>
            <p:nvPr/>
          </p:nvSpPr>
          <p:spPr bwMode="auto">
            <a:xfrm>
              <a:off x="527" y="2904"/>
              <a:ext cx="0" cy="110"/>
            </a:xfrm>
            <a:prstGeom prst="line">
              <a:avLst/>
            </a:prstGeom>
            <a:noFill/>
            <a:ln w="22225">
              <a:solidFill>
                <a:schemeClr val="bg2"/>
              </a:solidFill>
              <a:round/>
              <a:headEnd/>
              <a:tailEnd/>
            </a:ln>
          </p:spPr>
          <p:txBody>
            <a:bodyPr wrap="none" anchor="ctr"/>
            <a:lstStyle/>
            <a:p>
              <a:endParaRPr lang="en-US"/>
            </a:p>
          </p:txBody>
        </p:sp>
        <p:sp>
          <p:nvSpPr>
            <p:cNvPr id="46088" name="Line 12"/>
            <p:cNvSpPr>
              <a:spLocks noChangeShapeType="1"/>
            </p:cNvSpPr>
            <p:nvPr/>
          </p:nvSpPr>
          <p:spPr bwMode="auto">
            <a:xfrm>
              <a:off x="385" y="2904"/>
              <a:ext cx="138" cy="110"/>
            </a:xfrm>
            <a:prstGeom prst="line">
              <a:avLst/>
            </a:prstGeom>
            <a:noFill/>
            <a:ln w="22225">
              <a:solidFill>
                <a:schemeClr val="bg2"/>
              </a:solidFill>
              <a:round/>
              <a:headEnd/>
              <a:tailEnd/>
            </a:ln>
          </p:spPr>
          <p:txBody>
            <a:bodyPr wrap="none" anchor="ctr"/>
            <a:lstStyle/>
            <a:p>
              <a:endParaRPr lang="en-US"/>
            </a:p>
          </p:txBody>
        </p:sp>
        <p:sp>
          <p:nvSpPr>
            <p:cNvPr id="46089" name="Line 13"/>
            <p:cNvSpPr>
              <a:spLocks noChangeShapeType="1"/>
            </p:cNvSpPr>
            <p:nvPr/>
          </p:nvSpPr>
          <p:spPr bwMode="auto">
            <a:xfrm flipH="1">
              <a:off x="377" y="2904"/>
              <a:ext cx="154" cy="110"/>
            </a:xfrm>
            <a:prstGeom prst="line">
              <a:avLst/>
            </a:prstGeom>
            <a:noFill/>
            <a:ln w="22225">
              <a:solidFill>
                <a:schemeClr val="bg2"/>
              </a:solidFill>
              <a:round/>
              <a:headEnd/>
              <a:tailEnd/>
            </a:ln>
          </p:spPr>
          <p:txBody>
            <a:bodyPr wrap="none" anchor="ctr"/>
            <a:lstStyle/>
            <a:p>
              <a:endParaRPr lang="en-US"/>
            </a:p>
          </p:txBody>
        </p:sp>
      </p:grpSp>
    </p:spTree>
  </p:cSld>
  <p:clrMapOvr>
    <a:masterClrMapping/>
  </p:clrMapOvr>
  <p:transition>
    <p:dissolv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9"/>
          <p:cNvSpPr>
            <a:spLocks noGrp="1" noChangeArrowheads="1"/>
          </p:cNvSpPr>
          <p:nvPr>
            <p:ph type="title"/>
          </p:nvPr>
        </p:nvSpPr>
        <p:spPr>
          <a:noFill/>
        </p:spPr>
        <p:txBody>
          <a:bodyPr/>
          <a:lstStyle/>
          <a:p>
            <a:pPr eaLnBrk="1" hangingPunct="1"/>
            <a:r>
              <a:rPr lang="en-US" sz="3200"/>
              <a:t>Binary Relational Operations: DIVISION</a:t>
            </a:r>
          </a:p>
        </p:txBody>
      </p:sp>
      <p:sp>
        <p:nvSpPr>
          <p:cNvPr id="47108" name="Rectangle 10"/>
          <p:cNvSpPr>
            <a:spLocks noGrp="1" noChangeArrowheads="1"/>
          </p:cNvSpPr>
          <p:nvPr>
            <p:ph idx="1"/>
          </p:nvPr>
        </p:nvSpPr>
        <p:spPr/>
        <p:txBody>
          <a:bodyPr>
            <a:normAutofit fontScale="92500" lnSpcReduction="10000"/>
          </a:bodyPr>
          <a:lstStyle/>
          <a:p>
            <a:pPr eaLnBrk="1" hangingPunct="1">
              <a:lnSpc>
                <a:spcPct val="90000"/>
              </a:lnSpc>
            </a:pPr>
            <a:r>
              <a:rPr lang="en-US" sz="2400"/>
              <a:t>DIVISION Operation</a:t>
            </a:r>
          </a:p>
          <a:p>
            <a:pPr lvl="1" eaLnBrk="1" hangingPunct="1">
              <a:lnSpc>
                <a:spcPct val="90000"/>
              </a:lnSpc>
            </a:pPr>
            <a:r>
              <a:rPr lang="en-US" sz="2200"/>
              <a:t>The division operation is applied to two relations </a:t>
            </a:r>
          </a:p>
          <a:p>
            <a:pPr lvl="1" eaLnBrk="1" hangingPunct="1">
              <a:lnSpc>
                <a:spcPct val="90000"/>
              </a:lnSpc>
            </a:pPr>
            <a:r>
              <a:rPr lang="en-US" sz="2200"/>
              <a:t>	R(Z) </a:t>
            </a:r>
            <a:r>
              <a:rPr lang="en-US" sz="2200">
                <a:latin typeface="Symbol" pitchFamily="71" charset="2"/>
              </a:rPr>
              <a:t></a:t>
            </a:r>
            <a:r>
              <a:rPr lang="en-US" sz="2200"/>
              <a:t> S(X), where X subset Z. Let Y = Z - X (and hence Z = X </a:t>
            </a:r>
            <a:r>
              <a:rPr lang="en-US" sz="2200">
                <a:latin typeface="Symbol" pitchFamily="71" charset="2"/>
              </a:rPr>
              <a:t></a:t>
            </a:r>
            <a:r>
              <a:rPr lang="en-US" sz="2200"/>
              <a:t> Y); that is, let Y be the set of attributes of R that are not attributes of S. </a:t>
            </a:r>
          </a:p>
          <a:p>
            <a:pPr eaLnBrk="1" hangingPunct="1">
              <a:lnSpc>
                <a:spcPct val="90000"/>
              </a:lnSpc>
            </a:pPr>
            <a:endParaRPr lang="en-US" sz="2400"/>
          </a:p>
          <a:p>
            <a:pPr lvl="1" eaLnBrk="1" hangingPunct="1">
              <a:lnSpc>
                <a:spcPct val="90000"/>
              </a:lnSpc>
            </a:pPr>
            <a:r>
              <a:rPr lang="en-US" sz="2200"/>
              <a:t>The result of DIVISION is a relation T(Y) that includes a tuple t if tuples t</a:t>
            </a:r>
            <a:r>
              <a:rPr lang="en-US" sz="2200" baseline="-25000"/>
              <a:t>R</a:t>
            </a:r>
            <a:r>
              <a:rPr lang="en-US" sz="2200"/>
              <a:t> appear in R with t</a:t>
            </a:r>
            <a:r>
              <a:rPr lang="en-US" sz="2200" baseline="-25000"/>
              <a:t>R</a:t>
            </a:r>
            <a:r>
              <a:rPr lang="en-US" sz="2200"/>
              <a:t> [Y] = t, and with</a:t>
            </a:r>
          </a:p>
          <a:p>
            <a:pPr lvl="2" eaLnBrk="1" hangingPunct="1">
              <a:lnSpc>
                <a:spcPct val="90000"/>
              </a:lnSpc>
            </a:pPr>
            <a:r>
              <a:rPr lang="en-US" sz="2000"/>
              <a:t>t</a:t>
            </a:r>
            <a:r>
              <a:rPr lang="en-US" sz="2000" baseline="-25000"/>
              <a:t>R</a:t>
            </a:r>
            <a:r>
              <a:rPr lang="en-US" sz="2000"/>
              <a:t> [X] = t</a:t>
            </a:r>
            <a:r>
              <a:rPr lang="en-US" sz="2000" baseline="-25000"/>
              <a:t>s</a:t>
            </a:r>
            <a:r>
              <a:rPr lang="en-US" sz="2000"/>
              <a:t> </a:t>
            </a:r>
            <a:r>
              <a:rPr lang="en-US" sz="2000" i="1"/>
              <a:t>for every tuple</a:t>
            </a:r>
            <a:r>
              <a:rPr lang="en-US" sz="2000"/>
              <a:t> t</a:t>
            </a:r>
            <a:r>
              <a:rPr lang="en-US" sz="2000" baseline="-25000"/>
              <a:t>s</a:t>
            </a:r>
            <a:r>
              <a:rPr lang="en-US" sz="2000"/>
              <a:t> in S. </a:t>
            </a:r>
          </a:p>
          <a:p>
            <a:pPr lvl="1" eaLnBrk="1" hangingPunct="1">
              <a:lnSpc>
                <a:spcPct val="90000"/>
              </a:lnSpc>
            </a:pPr>
            <a:endParaRPr lang="en-US" sz="2200"/>
          </a:p>
          <a:p>
            <a:pPr lvl="1" eaLnBrk="1" hangingPunct="1">
              <a:lnSpc>
                <a:spcPct val="90000"/>
              </a:lnSpc>
            </a:pPr>
            <a:r>
              <a:rPr lang="en-US" sz="2200"/>
              <a:t>For a tuple t to appear in the result T of the DIVISION, the values in t must appear in R in combination with </a:t>
            </a:r>
            <a:r>
              <a:rPr lang="en-US" sz="2200" i="1"/>
              <a:t>every</a:t>
            </a:r>
            <a:r>
              <a:rPr lang="en-US" sz="2200"/>
              <a:t> tuple in S. 			</a:t>
            </a:r>
          </a:p>
        </p:txBody>
      </p:sp>
      <p:grpSp>
        <p:nvGrpSpPr>
          <p:cNvPr id="2" name="Group 4"/>
          <p:cNvGrpSpPr>
            <a:grpSpLocks/>
          </p:cNvGrpSpPr>
          <p:nvPr/>
        </p:nvGrpSpPr>
        <p:grpSpPr bwMode="auto">
          <a:xfrm>
            <a:off x="598488" y="4610100"/>
            <a:ext cx="244475" cy="174625"/>
            <a:chOff x="377" y="2904"/>
            <a:chExt cx="154" cy="110"/>
          </a:xfrm>
        </p:grpSpPr>
        <p:sp>
          <p:nvSpPr>
            <p:cNvPr id="47110" name="Line 5"/>
            <p:cNvSpPr>
              <a:spLocks noChangeShapeType="1"/>
            </p:cNvSpPr>
            <p:nvPr/>
          </p:nvSpPr>
          <p:spPr bwMode="auto">
            <a:xfrm>
              <a:off x="381" y="2904"/>
              <a:ext cx="0" cy="110"/>
            </a:xfrm>
            <a:prstGeom prst="line">
              <a:avLst/>
            </a:prstGeom>
            <a:noFill/>
            <a:ln w="12700">
              <a:solidFill>
                <a:schemeClr val="tx1"/>
              </a:solidFill>
              <a:round/>
              <a:headEnd/>
              <a:tailEnd/>
            </a:ln>
          </p:spPr>
          <p:txBody>
            <a:bodyPr wrap="none" anchor="ctr"/>
            <a:lstStyle/>
            <a:p>
              <a:endParaRPr lang="en-US"/>
            </a:p>
          </p:txBody>
        </p:sp>
        <p:sp>
          <p:nvSpPr>
            <p:cNvPr id="47111" name="Line 6"/>
            <p:cNvSpPr>
              <a:spLocks noChangeShapeType="1"/>
            </p:cNvSpPr>
            <p:nvPr/>
          </p:nvSpPr>
          <p:spPr bwMode="auto">
            <a:xfrm>
              <a:off x="527" y="2904"/>
              <a:ext cx="0" cy="110"/>
            </a:xfrm>
            <a:prstGeom prst="line">
              <a:avLst/>
            </a:prstGeom>
            <a:noFill/>
            <a:ln w="12700">
              <a:solidFill>
                <a:schemeClr val="tx1"/>
              </a:solidFill>
              <a:round/>
              <a:headEnd/>
              <a:tailEnd/>
            </a:ln>
          </p:spPr>
          <p:txBody>
            <a:bodyPr wrap="none" anchor="ctr"/>
            <a:lstStyle/>
            <a:p>
              <a:endParaRPr lang="en-US"/>
            </a:p>
          </p:txBody>
        </p:sp>
        <p:sp>
          <p:nvSpPr>
            <p:cNvPr id="47112" name="Line 7"/>
            <p:cNvSpPr>
              <a:spLocks noChangeShapeType="1"/>
            </p:cNvSpPr>
            <p:nvPr/>
          </p:nvSpPr>
          <p:spPr bwMode="auto">
            <a:xfrm>
              <a:off x="385" y="2904"/>
              <a:ext cx="138" cy="110"/>
            </a:xfrm>
            <a:prstGeom prst="line">
              <a:avLst/>
            </a:prstGeom>
            <a:noFill/>
            <a:ln w="12700">
              <a:solidFill>
                <a:schemeClr val="tx1"/>
              </a:solidFill>
              <a:round/>
              <a:headEnd/>
              <a:tailEnd/>
            </a:ln>
          </p:spPr>
          <p:txBody>
            <a:bodyPr wrap="none" anchor="ctr"/>
            <a:lstStyle/>
            <a:p>
              <a:endParaRPr lang="en-US"/>
            </a:p>
          </p:txBody>
        </p:sp>
        <p:sp>
          <p:nvSpPr>
            <p:cNvPr id="47113" name="Line 8"/>
            <p:cNvSpPr>
              <a:spLocks noChangeShapeType="1"/>
            </p:cNvSpPr>
            <p:nvPr/>
          </p:nvSpPr>
          <p:spPr bwMode="auto">
            <a:xfrm flipH="1">
              <a:off x="377" y="2904"/>
              <a:ext cx="154" cy="110"/>
            </a:xfrm>
            <a:prstGeom prst="line">
              <a:avLst/>
            </a:prstGeom>
            <a:noFill/>
            <a:ln w="12700">
              <a:solidFill>
                <a:schemeClr val="tx1"/>
              </a:solidFill>
              <a:round/>
              <a:headEnd/>
              <a:tailEnd/>
            </a:ln>
          </p:spPr>
          <p:txBody>
            <a:bodyPr wrap="none" anchor="ctr"/>
            <a:lstStyle/>
            <a:p>
              <a:endParaRPr lang="en-US"/>
            </a:p>
          </p:txBody>
        </p:sp>
      </p:grpSp>
    </p:spTree>
  </p:cSld>
  <p:clrMapOvr>
    <a:masterClrMapping/>
  </p:clrMapOvr>
  <p:transition>
    <p:dissolv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6"/>
          <p:cNvSpPr>
            <a:spLocks noGrp="1" noChangeArrowheads="1"/>
          </p:cNvSpPr>
          <p:nvPr>
            <p:ph type="title"/>
          </p:nvPr>
        </p:nvSpPr>
        <p:spPr>
          <a:xfrm>
            <a:off x="822960" y="286605"/>
            <a:ext cx="7543800" cy="627796"/>
          </a:xfrm>
          <a:noFill/>
        </p:spPr>
        <p:txBody>
          <a:bodyPr/>
          <a:lstStyle/>
          <a:p>
            <a:pPr eaLnBrk="1" hangingPunct="1"/>
            <a:r>
              <a:rPr lang="en-US" sz="3200" dirty="0"/>
              <a:t>Example of DIVISION</a:t>
            </a:r>
          </a:p>
        </p:txBody>
      </p:sp>
      <p:pic>
        <p:nvPicPr>
          <p:cNvPr id="48132" name="Picture 8" descr="fig06_08"/>
          <p:cNvPicPr>
            <a:picLocks noChangeAspect="1" noChangeArrowheads="1"/>
          </p:cNvPicPr>
          <p:nvPr/>
        </p:nvPicPr>
        <p:blipFill>
          <a:blip r:embed="rId3"/>
          <a:srcRect/>
          <a:stretch>
            <a:fillRect/>
          </a:stretch>
        </p:blipFill>
        <p:spPr bwMode="auto">
          <a:xfrm>
            <a:off x="1295400" y="1524000"/>
            <a:ext cx="6400800" cy="4740275"/>
          </a:xfrm>
          <a:prstGeom prst="rect">
            <a:avLst/>
          </a:prstGeom>
          <a:noFill/>
          <a:ln w="9525">
            <a:noFill/>
            <a:miter lim="800000"/>
            <a:headEnd/>
            <a:tailEnd/>
          </a:ln>
        </p:spPr>
      </p:pic>
    </p:spTree>
  </p:cSld>
  <p:clrMapOvr>
    <a:masterClrMapping/>
  </p:clrMapOvr>
  <p:transition>
    <p:dissolv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9"/>
          <p:cNvSpPr>
            <a:spLocks noGrp="1" noChangeArrowheads="1"/>
          </p:cNvSpPr>
          <p:nvPr>
            <p:ph type="title"/>
          </p:nvPr>
        </p:nvSpPr>
        <p:spPr>
          <a:xfrm>
            <a:off x="822960" y="286605"/>
            <a:ext cx="7543800" cy="856396"/>
          </a:xfrm>
        </p:spPr>
        <p:txBody>
          <a:bodyPr/>
          <a:lstStyle/>
          <a:p>
            <a:pPr eaLnBrk="1" hangingPunct="1"/>
            <a:r>
              <a:rPr lang="en-US" sz="3200" dirty="0"/>
              <a:t>Recap of Relational Algebra Operations</a:t>
            </a:r>
          </a:p>
        </p:txBody>
      </p:sp>
      <p:pic>
        <p:nvPicPr>
          <p:cNvPr id="49156" name="Picture 11" descr="tbl06_01"/>
          <p:cNvPicPr>
            <a:picLocks noChangeAspect="1" noChangeArrowheads="1"/>
          </p:cNvPicPr>
          <p:nvPr/>
        </p:nvPicPr>
        <p:blipFill>
          <a:blip r:embed="rId3"/>
          <a:srcRect/>
          <a:stretch>
            <a:fillRect/>
          </a:stretch>
        </p:blipFill>
        <p:spPr bwMode="auto">
          <a:xfrm>
            <a:off x="2057400" y="1524000"/>
            <a:ext cx="4876800" cy="4876800"/>
          </a:xfrm>
          <a:prstGeom prst="rect">
            <a:avLst/>
          </a:prstGeom>
          <a:noFill/>
          <a:ln w="9525">
            <a:noFill/>
            <a:miter lim="800000"/>
            <a:headEnd/>
            <a:tailEnd/>
          </a:ln>
        </p:spPr>
      </p:pic>
    </p:spTree>
  </p:cSld>
  <p:clrMapOvr>
    <a:masterClrMapping/>
  </p:clrMapOvr>
  <p:transition>
    <p:dissolv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4"/>
          <p:cNvSpPr>
            <a:spLocks noGrp="1" noChangeArrowheads="1"/>
          </p:cNvSpPr>
          <p:nvPr>
            <p:ph type="title"/>
          </p:nvPr>
        </p:nvSpPr>
        <p:spPr>
          <a:noFill/>
        </p:spPr>
        <p:txBody>
          <a:bodyPr>
            <a:normAutofit/>
          </a:bodyPr>
          <a:lstStyle/>
          <a:p>
            <a:pPr eaLnBrk="1" hangingPunct="1"/>
            <a:r>
              <a:rPr lang="en-US" sz="3200"/>
              <a:t>Additional Relational Operations: Aggregate Functions and Grouping</a:t>
            </a:r>
          </a:p>
        </p:txBody>
      </p:sp>
      <p:sp>
        <p:nvSpPr>
          <p:cNvPr id="50180" name="Rectangle 5"/>
          <p:cNvSpPr>
            <a:spLocks noGrp="1" noChangeArrowheads="1"/>
          </p:cNvSpPr>
          <p:nvPr>
            <p:ph idx="1"/>
          </p:nvPr>
        </p:nvSpPr>
        <p:spPr/>
        <p:txBody>
          <a:bodyPr>
            <a:normAutofit lnSpcReduction="10000"/>
          </a:bodyPr>
          <a:lstStyle/>
          <a:p>
            <a:pPr algn="just" eaLnBrk="1" hangingPunct="1">
              <a:lnSpc>
                <a:spcPct val="80000"/>
              </a:lnSpc>
            </a:pPr>
            <a:r>
              <a:rPr lang="en-US" sz="2400" dirty="0"/>
              <a:t>A type of request that cannot be expressed in the basic relational algebra is to specify mathematical </a:t>
            </a:r>
            <a:r>
              <a:rPr lang="en-US" sz="2400" b="1" dirty="0"/>
              <a:t>aggregate functions</a:t>
            </a:r>
            <a:r>
              <a:rPr lang="en-US" sz="2400" dirty="0"/>
              <a:t> on collections of values from the database. </a:t>
            </a:r>
          </a:p>
          <a:p>
            <a:pPr algn="just" eaLnBrk="1" hangingPunct="1">
              <a:lnSpc>
                <a:spcPct val="80000"/>
              </a:lnSpc>
            </a:pPr>
            <a:r>
              <a:rPr lang="en-US" sz="2400" dirty="0"/>
              <a:t>Examples of such functions include retrieving the average or total salary of all employees or the total number of employee tuples.</a:t>
            </a:r>
          </a:p>
          <a:p>
            <a:pPr lvl="1" algn="just" eaLnBrk="1" hangingPunct="1">
              <a:lnSpc>
                <a:spcPct val="80000"/>
              </a:lnSpc>
            </a:pPr>
            <a:r>
              <a:rPr lang="en-US" sz="2200" dirty="0"/>
              <a:t>These functions are used in simple statistical queries that summarize information from the database tuples.</a:t>
            </a:r>
          </a:p>
          <a:p>
            <a:pPr algn="just" eaLnBrk="1" hangingPunct="1">
              <a:lnSpc>
                <a:spcPct val="80000"/>
              </a:lnSpc>
            </a:pPr>
            <a:r>
              <a:rPr lang="en-US" sz="2400" dirty="0"/>
              <a:t>Common functions applied to collections of numeric values include</a:t>
            </a:r>
          </a:p>
          <a:p>
            <a:pPr lvl="1" algn="just" eaLnBrk="1" hangingPunct="1">
              <a:lnSpc>
                <a:spcPct val="80000"/>
              </a:lnSpc>
            </a:pPr>
            <a:r>
              <a:rPr lang="en-US" sz="2200" dirty="0"/>
              <a:t>SUM, AVERAGE, MAXIMUM, and MINIMUM.</a:t>
            </a:r>
          </a:p>
          <a:p>
            <a:pPr algn="just" eaLnBrk="1" hangingPunct="1">
              <a:lnSpc>
                <a:spcPct val="80000"/>
              </a:lnSpc>
            </a:pPr>
            <a:r>
              <a:rPr lang="en-US" sz="2400" dirty="0"/>
              <a:t>The COUNT function is used for counting tuples or values.</a:t>
            </a:r>
          </a:p>
        </p:txBody>
      </p:sp>
    </p:spTree>
  </p:cSld>
  <p:clrMapOvr>
    <a:masterClrMapping/>
  </p:clrMapOvr>
  <p:transition>
    <p:dissolv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4"/>
          <p:cNvSpPr>
            <a:spLocks noGrp="1" noChangeArrowheads="1"/>
          </p:cNvSpPr>
          <p:nvPr>
            <p:ph type="title"/>
          </p:nvPr>
        </p:nvSpPr>
        <p:spPr/>
        <p:txBody>
          <a:bodyPr/>
          <a:lstStyle/>
          <a:p>
            <a:pPr eaLnBrk="1" hangingPunct="1"/>
            <a:r>
              <a:rPr lang="en-US"/>
              <a:t>Aggregate Function Operation</a:t>
            </a:r>
          </a:p>
        </p:txBody>
      </p:sp>
      <p:sp>
        <p:nvSpPr>
          <p:cNvPr id="51204" name="Rectangle 5"/>
          <p:cNvSpPr>
            <a:spLocks noGrp="1" noChangeArrowheads="1"/>
          </p:cNvSpPr>
          <p:nvPr>
            <p:ph idx="1"/>
          </p:nvPr>
        </p:nvSpPr>
        <p:spPr/>
        <p:txBody>
          <a:bodyPr>
            <a:normAutofit/>
          </a:bodyPr>
          <a:lstStyle/>
          <a:p>
            <a:pPr algn="just" eaLnBrk="1" hangingPunct="1"/>
            <a:r>
              <a:rPr lang="en-US" sz="2400" dirty="0"/>
              <a:t>Use of the Aggregate Functional operation </a:t>
            </a:r>
            <a:r>
              <a:rPr lang="en-US" sz="2400" dirty="0">
                <a:ea typeface="Symbol" pitchFamily="71" charset="2"/>
                <a:cs typeface="Symbol" pitchFamily="71" charset="2"/>
              </a:rPr>
              <a:t>ℱ</a:t>
            </a:r>
            <a:endParaRPr lang="en-US" sz="2400" dirty="0"/>
          </a:p>
          <a:p>
            <a:pPr lvl="1" algn="just" eaLnBrk="1" hangingPunct="1"/>
            <a:r>
              <a:rPr lang="en-US" sz="2200" dirty="0">
                <a:ea typeface="Symbol" pitchFamily="71" charset="2"/>
                <a:cs typeface="Symbol" pitchFamily="71" charset="2"/>
              </a:rPr>
              <a:t>ℱ</a:t>
            </a:r>
            <a:r>
              <a:rPr lang="en-US" sz="2200" baseline="-25000" dirty="0"/>
              <a:t>MAX Salary</a:t>
            </a:r>
            <a:r>
              <a:rPr lang="en-US" sz="2200" dirty="0"/>
              <a:t> (EMPLOYEE) retrieves the maximum salary value from the EMPLOYEE relation</a:t>
            </a:r>
          </a:p>
          <a:p>
            <a:pPr lvl="1" algn="just" eaLnBrk="1" hangingPunct="1"/>
            <a:r>
              <a:rPr lang="en-US" sz="2200" dirty="0">
                <a:ea typeface="Symbol" pitchFamily="71" charset="2"/>
                <a:cs typeface="Symbol" pitchFamily="71" charset="2"/>
              </a:rPr>
              <a:t>ℱ</a:t>
            </a:r>
            <a:r>
              <a:rPr lang="en-US" sz="2200" baseline="-25000" dirty="0"/>
              <a:t>MIN Salary</a:t>
            </a:r>
            <a:r>
              <a:rPr lang="en-US" sz="2200" dirty="0"/>
              <a:t> (EMPLOYEE) retrieves the minimum Salary value from the EMPLOYEE relation</a:t>
            </a:r>
          </a:p>
          <a:p>
            <a:pPr lvl="1" algn="just" eaLnBrk="1" hangingPunct="1"/>
            <a:r>
              <a:rPr lang="en-US" sz="2200" dirty="0">
                <a:ea typeface="Symbol" pitchFamily="71" charset="2"/>
                <a:cs typeface="Symbol" pitchFamily="71" charset="2"/>
              </a:rPr>
              <a:t>ℱ</a:t>
            </a:r>
            <a:r>
              <a:rPr lang="en-US" sz="2200" baseline="-25000" dirty="0"/>
              <a:t>SUM Salary</a:t>
            </a:r>
            <a:r>
              <a:rPr lang="en-US" sz="2200" dirty="0"/>
              <a:t> (EMPLOYEE) retrieves the sum of the Salary from the EMPLOYEE relation</a:t>
            </a:r>
          </a:p>
          <a:p>
            <a:pPr lvl="1" algn="just" eaLnBrk="1" hangingPunct="1"/>
            <a:r>
              <a:rPr lang="en-US" sz="2200" dirty="0"/>
              <a:t> </a:t>
            </a:r>
            <a:r>
              <a:rPr lang="en-US" sz="2200" dirty="0">
                <a:ea typeface="Symbol" pitchFamily="71" charset="2"/>
                <a:cs typeface="Symbol" pitchFamily="71" charset="2"/>
              </a:rPr>
              <a:t>ℱ</a:t>
            </a:r>
            <a:r>
              <a:rPr lang="en-US" sz="2200" baseline="-25000" dirty="0"/>
              <a:t>COUNT SSN, AVERAGE Salary</a:t>
            </a:r>
            <a:r>
              <a:rPr lang="en-US" sz="2200" dirty="0"/>
              <a:t> (EMPLOYEE) computes the count (number) of employees and their average salary</a:t>
            </a:r>
          </a:p>
          <a:p>
            <a:pPr lvl="2" algn="just" eaLnBrk="1" hangingPunct="1"/>
            <a:r>
              <a:rPr lang="en-US" sz="2000" dirty="0"/>
              <a:t>Note: count just counts the number of rows, without removing duplicates</a:t>
            </a:r>
          </a:p>
        </p:txBody>
      </p:sp>
    </p:spTree>
  </p:cSld>
  <p:clrMapOvr>
    <a:masterClrMapping/>
  </p:clrMapOvr>
  <p:transition>
    <p:dissolv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p:txBody>
          <a:bodyPr/>
          <a:lstStyle/>
          <a:p>
            <a:pPr eaLnBrk="1" hangingPunct="1"/>
            <a:r>
              <a:rPr lang="en-US"/>
              <a:t>Using Grouping with Aggregation</a:t>
            </a:r>
          </a:p>
        </p:txBody>
      </p:sp>
      <p:sp>
        <p:nvSpPr>
          <p:cNvPr id="52228" name="Rectangle 3"/>
          <p:cNvSpPr>
            <a:spLocks noGrp="1" noChangeArrowheads="1"/>
          </p:cNvSpPr>
          <p:nvPr>
            <p:ph idx="1"/>
          </p:nvPr>
        </p:nvSpPr>
        <p:spPr/>
        <p:txBody>
          <a:bodyPr>
            <a:normAutofit fontScale="92500" lnSpcReduction="20000"/>
          </a:bodyPr>
          <a:lstStyle/>
          <a:p>
            <a:pPr algn="just" eaLnBrk="1" hangingPunct="1">
              <a:lnSpc>
                <a:spcPct val="80000"/>
              </a:lnSpc>
            </a:pPr>
            <a:r>
              <a:rPr lang="en-US" sz="2400" dirty="0"/>
              <a:t>The previous examples all summarized one or more attributes for a set of tuples</a:t>
            </a:r>
          </a:p>
          <a:p>
            <a:pPr lvl="1" algn="just" eaLnBrk="1" hangingPunct="1">
              <a:lnSpc>
                <a:spcPct val="80000"/>
              </a:lnSpc>
            </a:pPr>
            <a:r>
              <a:rPr lang="en-US" sz="2200" dirty="0"/>
              <a:t>Maximum Salary or Count (number of) </a:t>
            </a:r>
            <a:r>
              <a:rPr lang="en-US" sz="2200" dirty="0" err="1"/>
              <a:t>Ssn</a:t>
            </a:r>
            <a:endParaRPr lang="en-US" sz="2200" dirty="0"/>
          </a:p>
          <a:p>
            <a:pPr algn="just" eaLnBrk="1" hangingPunct="1">
              <a:lnSpc>
                <a:spcPct val="80000"/>
              </a:lnSpc>
            </a:pPr>
            <a:r>
              <a:rPr lang="en-US" sz="2400" dirty="0"/>
              <a:t>Grouping can be combined with Aggregate Functions</a:t>
            </a:r>
          </a:p>
          <a:p>
            <a:pPr algn="just" eaLnBrk="1" hangingPunct="1">
              <a:lnSpc>
                <a:spcPct val="80000"/>
              </a:lnSpc>
            </a:pPr>
            <a:r>
              <a:rPr lang="en-US" sz="2400" dirty="0"/>
              <a:t>Example: For each department, retrieve the DNO, COUNT SSN, and AVERAGE SALARY</a:t>
            </a:r>
          </a:p>
          <a:p>
            <a:pPr algn="just" eaLnBrk="1" hangingPunct="1">
              <a:lnSpc>
                <a:spcPct val="80000"/>
              </a:lnSpc>
            </a:pPr>
            <a:r>
              <a:rPr lang="en-US" sz="2400" dirty="0"/>
              <a:t>A variation of aggregate operation </a:t>
            </a:r>
            <a:r>
              <a:rPr lang="en-US" sz="2400" dirty="0">
                <a:ea typeface="Symbol" pitchFamily="71" charset="2"/>
                <a:cs typeface="Symbol" pitchFamily="71" charset="2"/>
              </a:rPr>
              <a:t>ℱ</a:t>
            </a:r>
            <a:r>
              <a:rPr lang="en-US" sz="2400" dirty="0"/>
              <a:t> allows this:</a:t>
            </a:r>
          </a:p>
          <a:p>
            <a:pPr lvl="1" algn="just" eaLnBrk="1" hangingPunct="1">
              <a:lnSpc>
                <a:spcPct val="80000"/>
              </a:lnSpc>
            </a:pPr>
            <a:r>
              <a:rPr lang="en-US" sz="2200" dirty="0"/>
              <a:t>Grouping attribute placed to left of symbol</a:t>
            </a:r>
          </a:p>
          <a:p>
            <a:pPr lvl="1" algn="just" eaLnBrk="1" hangingPunct="1">
              <a:lnSpc>
                <a:spcPct val="80000"/>
              </a:lnSpc>
            </a:pPr>
            <a:r>
              <a:rPr lang="en-US" sz="2200" dirty="0"/>
              <a:t>Aggregate functions to right of symbol</a:t>
            </a:r>
          </a:p>
          <a:p>
            <a:pPr lvl="1" algn="just" eaLnBrk="1" hangingPunct="1">
              <a:lnSpc>
                <a:spcPct val="80000"/>
              </a:lnSpc>
            </a:pPr>
            <a:r>
              <a:rPr lang="en-US" sz="2200" baseline="-25000" dirty="0"/>
              <a:t>DNO</a:t>
            </a:r>
            <a:r>
              <a:rPr lang="en-US" sz="2200" dirty="0"/>
              <a:t> </a:t>
            </a:r>
            <a:r>
              <a:rPr lang="en-US" sz="2200" dirty="0">
                <a:ea typeface="Symbol" pitchFamily="71" charset="2"/>
                <a:cs typeface="Symbol" pitchFamily="71" charset="2"/>
              </a:rPr>
              <a:t>ℱ</a:t>
            </a:r>
            <a:r>
              <a:rPr lang="en-US" sz="2200" baseline="-25000" dirty="0"/>
              <a:t>COUNT SSN, AVERAGE Salary</a:t>
            </a:r>
            <a:r>
              <a:rPr lang="en-US" sz="2200" dirty="0"/>
              <a:t> (EMPLOYEE)</a:t>
            </a:r>
          </a:p>
          <a:p>
            <a:pPr algn="just" eaLnBrk="1" hangingPunct="1">
              <a:lnSpc>
                <a:spcPct val="80000"/>
              </a:lnSpc>
            </a:pPr>
            <a:r>
              <a:rPr lang="en-US" sz="2400" dirty="0"/>
              <a:t>Above operation groups employees by DNO (department number) and computes the count of employees and average salary per department</a:t>
            </a:r>
          </a:p>
        </p:txBody>
      </p:sp>
    </p:spTree>
  </p:cSld>
  <p:clrMapOvr>
    <a:masterClrMapping/>
  </p:clrMapOvr>
  <p:transition>
    <p:dissolv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normAutofit/>
          </a:bodyPr>
          <a:lstStyle/>
          <a:p>
            <a:pPr eaLnBrk="1" hangingPunct="1"/>
            <a:r>
              <a:rPr lang="en-US" sz="3200"/>
              <a:t>Examples of applying aggregate functions and grouping</a:t>
            </a:r>
          </a:p>
        </p:txBody>
      </p:sp>
      <p:sp>
        <p:nvSpPr>
          <p:cNvPr id="53252" name="Rectangle 3"/>
          <p:cNvSpPr>
            <a:spLocks noGrp="1" noChangeArrowheads="1"/>
          </p:cNvSpPr>
          <p:nvPr>
            <p:ph idx="1"/>
          </p:nvPr>
        </p:nvSpPr>
        <p:spPr/>
        <p:txBody>
          <a:bodyPr/>
          <a:lstStyle/>
          <a:p>
            <a:pPr lvl="2" eaLnBrk="1" hangingPunct="1"/>
            <a:endParaRPr lang="en-US"/>
          </a:p>
          <a:p>
            <a:pPr lvl="2" eaLnBrk="1" hangingPunct="1"/>
            <a:endParaRPr lang="en-US"/>
          </a:p>
        </p:txBody>
      </p:sp>
      <p:pic>
        <p:nvPicPr>
          <p:cNvPr id="53253" name="Picture 5" descr="fig06_10"/>
          <p:cNvPicPr>
            <a:picLocks noChangeAspect="1" noChangeArrowheads="1"/>
          </p:cNvPicPr>
          <p:nvPr/>
        </p:nvPicPr>
        <p:blipFill>
          <a:blip r:embed="rId3"/>
          <a:srcRect/>
          <a:stretch>
            <a:fillRect/>
          </a:stretch>
        </p:blipFill>
        <p:spPr bwMode="auto">
          <a:xfrm>
            <a:off x="304800" y="2133600"/>
            <a:ext cx="8294688" cy="3535363"/>
          </a:xfrm>
          <a:prstGeom prst="rect">
            <a:avLst/>
          </a:prstGeom>
          <a:noFill/>
          <a:ln w="9525">
            <a:noFill/>
            <a:miter lim="800000"/>
            <a:headEnd/>
            <a:tailEnd/>
          </a:ln>
        </p:spPr>
      </p:pic>
    </p:spTree>
  </p:cSld>
  <p:clrMapOvr>
    <a:masterClrMapping/>
  </p:clrMapOvr>
  <p:transition>
    <p:dissolv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pPr eaLnBrk="1" hangingPunct="1"/>
            <a:r>
              <a:rPr lang="en-US" sz="3200"/>
              <a:t>Illustrating aggregate functions and grouping</a:t>
            </a:r>
          </a:p>
        </p:txBody>
      </p:sp>
      <p:pic>
        <p:nvPicPr>
          <p:cNvPr id="54276" name="Picture 6" descr="fig08_06(a)"/>
          <p:cNvPicPr>
            <a:picLocks noChangeAspect="1" noChangeArrowheads="1"/>
          </p:cNvPicPr>
          <p:nvPr/>
        </p:nvPicPr>
        <p:blipFill>
          <a:blip r:embed="rId3"/>
          <a:srcRect/>
          <a:stretch>
            <a:fillRect/>
          </a:stretch>
        </p:blipFill>
        <p:spPr bwMode="auto">
          <a:xfrm>
            <a:off x="315913" y="2063750"/>
            <a:ext cx="8294687" cy="2965450"/>
          </a:xfrm>
          <a:prstGeom prst="rect">
            <a:avLst/>
          </a:prstGeom>
          <a:noFill/>
          <a:ln w="9525">
            <a:noFill/>
            <a:miter lim="800000"/>
            <a:headEnd/>
            <a:tailEnd/>
          </a:ln>
        </p:spPr>
      </p:pic>
    </p:spTree>
  </p:cSld>
  <p:clrMapOvr>
    <a:masterClrMapping/>
  </p:clrMapOvr>
  <p:transition>
    <p:dissolv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pPr eaLnBrk="1" hangingPunct="1"/>
            <a:r>
              <a:rPr lang="en-US" sz="3200"/>
              <a:t>Additional Relational Operations (cont.)</a:t>
            </a:r>
          </a:p>
        </p:txBody>
      </p:sp>
      <p:sp>
        <p:nvSpPr>
          <p:cNvPr id="55300" name="Rectangle 3"/>
          <p:cNvSpPr>
            <a:spLocks noGrp="1" noChangeArrowheads="1"/>
          </p:cNvSpPr>
          <p:nvPr>
            <p:ph idx="1"/>
          </p:nvPr>
        </p:nvSpPr>
        <p:spPr>
          <a:xfrm>
            <a:off x="239713" y="1600200"/>
            <a:ext cx="8294687" cy="4876800"/>
          </a:xfrm>
        </p:spPr>
        <p:txBody>
          <a:bodyPr/>
          <a:lstStyle/>
          <a:p>
            <a:pPr eaLnBrk="1" hangingPunct="1">
              <a:lnSpc>
                <a:spcPct val="80000"/>
              </a:lnSpc>
            </a:pPr>
            <a:r>
              <a:rPr lang="en-US"/>
              <a:t>Recursive Closure Operations</a:t>
            </a:r>
          </a:p>
          <a:p>
            <a:pPr lvl="1" eaLnBrk="1" hangingPunct="1">
              <a:lnSpc>
                <a:spcPct val="80000"/>
              </a:lnSpc>
            </a:pPr>
            <a:r>
              <a:rPr lang="en-US" sz="2800"/>
              <a:t>Another type of operation that, in general, cannot be specified in the basic original relational algebra is </a:t>
            </a:r>
            <a:r>
              <a:rPr lang="en-US" sz="2800" b="1"/>
              <a:t>recursive closure</a:t>
            </a:r>
            <a:r>
              <a:rPr lang="en-US" sz="2800"/>
              <a:t>.</a:t>
            </a:r>
          </a:p>
          <a:p>
            <a:pPr lvl="2" eaLnBrk="1" hangingPunct="1">
              <a:lnSpc>
                <a:spcPct val="80000"/>
              </a:lnSpc>
            </a:pPr>
            <a:r>
              <a:rPr lang="en-US"/>
              <a:t>This operation is applied to a </a:t>
            </a:r>
            <a:r>
              <a:rPr lang="en-US" b="1"/>
              <a:t>recursive relationship</a:t>
            </a:r>
            <a:r>
              <a:rPr lang="en-US"/>
              <a:t>.</a:t>
            </a:r>
          </a:p>
          <a:p>
            <a:pPr lvl="1" eaLnBrk="1" hangingPunct="1">
              <a:lnSpc>
                <a:spcPct val="80000"/>
              </a:lnSpc>
            </a:pPr>
            <a:r>
              <a:rPr lang="en-US" sz="2800"/>
              <a:t>An example of a recursive operation is to retrieve all SUPERVISEES of an EMPLOYEE </a:t>
            </a:r>
            <a:r>
              <a:rPr lang="en-US" sz="2800" b="1"/>
              <a:t>e</a:t>
            </a:r>
            <a:r>
              <a:rPr lang="en-US" sz="2800"/>
              <a:t> at all levels — that is, all EMPLOYEE </a:t>
            </a:r>
            <a:r>
              <a:rPr lang="en-US" sz="2800" b="1"/>
              <a:t>e’</a:t>
            </a:r>
            <a:r>
              <a:rPr lang="en-US" sz="2800"/>
              <a:t> directly supervised by </a:t>
            </a:r>
            <a:r>
              <a:rPr lang="en-US" sz="2800" b="1"/>
              <a:t>e</a:t>
            </a:r>
            <a:r>
              <a:rPr lang="en-US" sz="2800"/>
              <a:t>; all employees </a:t>
            </a:r>
            <a:r>
              <a:rPr lang="en-US" sz="2800" b="1"/>
              <a:t>e’’</a:t>
            </a:r>
            <a:r>
              <a:rPr lang="en-US" sz="2800"/>
              <a:t> directly supervised by each employee </a:t>
            </a:r>
            <a:r>
              <a:rPr lang="en-US" sz="2800" b="1"/>
              <a:t>e’</a:t>
            </a:r>
            <a:r>
              <a:rPr lang="en-US" sz="2800"/>
              <a:t>; all employees </a:t>
            </a:r>
            <a:r>
              <a:rPr lang="en-US" sz="2800" b="1"/>
              <a:t>e’’’</a:t>
            </a:r>
            <a:r>
              <a:rPr lang="en-US" sz="2800"/>
              <a:t> directly supervised by each employee </a:t>
            </a:r>
            <a:r>
              <a:rPr lang="en-US" sz="2800" b="1"/>
              <a:t>e’’</a:t>
            </a:r>
            <a:r>
              <a:rPr lang="en-US" sz="2800"/>
              <a:t>; and so on.</a:t>
            </a:r>
          </a:p>
        </p:txBody>
      </p:sp>
    </p:spTree>
  </p:cSld>
  <p:clrMapOvr>
    <a:masterClrMapping/>
  </p:clrMapOvr>
  <p:transition>
    <p:dissolv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lstStyle/>
          <a:p>
            <a:pPr eaLnBrk="1" hangingPunct="1"/>
            <a:r>
              <a:rPr lang="en-US" sz="3200"/>
              <a:t>Additional Relational Operations (cont.)</a:t>
            </a:r>
          </a:p>
        </p:txBody>
      </p:sp>
      <p:sp>
        <p:nvSpPr>
          <p:cNvPr id="56324" name="Rectangle 3"/>
          <p:cNvSpPr>
            <a:spLocks noGrp="1" noChangeArrowheads="1"/>
          </p:cNvSpPr>
          <p:nvPr>
            <p:ph idx="1"/>
          </p:nvPr>
        </p:nvSpPr>
        <p:spPr/>
        <p:txBody>
          <a:bodyPr/>
          <a:lstStyle/>
          <a:p>
            <a:pPr eaLnBrk="1" hangingPunct="1"/>
            <a:r>
              <a:rPr lang="en-US"/>
              <a:t>Although it is possible to retrieve employees at each level and then take their union, we cannot, in general, specify a query such as “retrieve the supervisees of ‘James Borg’ at all levels” without utilizing a looping mechanism.</a:t>
            </a:r>
          </a:p>
          <a:p>
            <a:pPr lvl="1" eaLnBrk="1" hangingPunct="1"/>
            <a:r>
              <a:rPr lang="en-US"/>
              <a:t>The SQL3 standard includes syntax for recursive closure.</a:t>
            </a:r>
          </a:p>
        </p:txBody>
      </p:sp>
    </p:spTree>
  </p:cSld>
  <p:clrMapOvr>
    <a:masterClrMapping/>
  </p:clrMapOvr>
  <p:transition>
    <p:dissolv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5"/>
          <p:cNvSpPr>
            <a:spLocks noGrp="1" noChangeArrowheads="1"/>
          </p:cNvSpPr>
          <p:nvPr>
            <p:ph type="title"/>
          </p:nvPr>
        </p:nvSpPr>
        <p:spPr/>
        <p:txBody>
          <a:bodyPr/>
          <a:lstStyle/>
          <a:p>
            <a:pPr eaLnBrk="1" hangingPunct="1"/>
            <a:r>
              <a:rPr lang="en-US" sz="3200"/>
              <a:t>Additional Relational Operations (cont.)</a:t>
            </a:r>
          </a:p>
        </p:txBody>
      </p:sp>
      <p:sp>
        <p:nvSpPr>
          <p:cNvPr id="57348" name="Rectangle 6"/>
          <p:cNvSpPr>
            <a:spLocks noGrp="1" noChangeArrowheads="1"/>
          </p:cNvSpPr>
          <p:nvPr>
            <p:ph type="body" idx="4294967295"/>
          </p:nvPr>
        </p:nvSpPr>
        <p:spPr>
          <a:xfrm>
            <a:off x="0" y="1600200"/>
            <a:ext cx="8294688" cy="4572000"/>
          </a:xfrm>
        </p:spPr>
        <p:txBody>
          <a:bodyPr/>
          <a:lstStyle/>
          <a:p>
            <a:pPr eaLnBrk="1" hangingPunct="1"/>
            <a:endParaRPr lang="en-US" dirty="0"/>
          </a:p>
          <a:p>
            <a:pPr eaLnBrk="1" hangingPunct="1"/>
            <a:endParaRPr lang="en-US" dirty="0"/>
          </a:p>
        </p:txBody>
      </p:sp>
      <p:pic>
        <p:nvPicPr>
          <p:cNvPr id="57349" name="Picture 4"/>
          <p:cNvPicPr>
            <a:picLocks noChangeAspect="1" noChangeArrowheads="1"/>
          </p:cNvPicPr>
          <p:nvPr/>
        </p:nvPicPr>
        <p:blipFill>
          <a:blip r:embed="rId3"/>
          <a:srcRect/>
          <a:stretch>
            <a:fillRect/>
          </a:stretch>
        </p:blipFill>
        <p:spPr bwMode="auto">
          <a:xfrm>
            <a:off x="952500" y="1654175"/>
            <a:ext cx="6972300" cy="4975225"/>
          </a:xfrm>
          <a:prstGeom prst="rect">
            <a:avLst/>
          </a:prstGeom>
          <a:noFill/>
          <a:ln w="9525">
            <a:noFill/>
            <a:miter lim="800000"/>
            <a:headEnd/>
            <a:tailEnd/>
          </a:ln>
        </p:spPr>
      </p:pic>
    </p:spTree>
  </p:cSld>
  <p:clrMapOvr>
    <a:masterClrMapping/>
  </p:clrMapOvr>
  <p:transition>
    <p:dissolv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9"/>
          <p:cNvSpPr>
            <a:spLocks noGrp="1" noChangeArrowheads="1"/>
          </p:cNvSpPr>
          <p:nvPr>
            <p:ph type="title"/>
          </p:nvPr>
        </p:nvSpPr>
        <p:spPr>
          <a:xfrm>
            <a:off x="822960" y="286605"/>
            <a:ext cx="7940040" cy="780196"/>
          </a:xfrm>
        </p:spPr>
        <p:txBody>
          <a:bodyPr>
            <a:normAutofit fontScale="90000"/>
          </a:bodyPr>
          <a:lstStyle/>
          <a:p>
            <a:pPr eaLnBrk="1" hangingPunct="1"/>
            <a:r>
              <a:rPr lang="en-US" sz="3200" dirty="0"/>
              <a:t>Additional Relational Operations (cont.) : OUTER  JOIN</a:t>
            </a:r>
          </a:p>
        </p:txBody>
      </p:sp>
      <p:sp>
        <p:nvSpPr>
          <p:cNvPr id="58373" name="Line 25"/>
          <p:cNvSpPr>
            <a:spLocks noChangeShapeType="1"/>
          </p:cNvSpPr>
          <p:nvPr/>
        </p:nvSpPr>
        <p:spPr bwMode="auto">
          <a:xfrm>
            <a:off x="6157913" y="5245100"/>
            <a:ext cx="203200" cy="0"/>
          </a:xfrm>
          <a:prstGeom prst="line">
            <a:avLst/>
          </a:prstGeom>
          <a:noFill/>
          <a:ln w="9525">
            <a:solidFill>
              <a:schemeClr val="bg2"/>
            </a:solidFill>
            <a:miter lim="800000"/>
            <a:headEnd/>
            <a:tailEnd/>
          </a:ln>
        </p:spPr>
        <p:txBody>
          <a:bodyPr wrap="none"/>
          <a:lstStyle/>
          <a:p>
            <a:endParaRPr lang="en-US"/>
          </a:p>
        </p:txBody>
      </p:sp>
      <p:sp>
        <p:nvSpPr>
          <p:cNvPr id="58374" name="Line 26"/>
          <p:cNvSpPr>
            <a:spLocks noChangeShapeType="1"/>
          </p:cNvSpPr>
          <p:nvPr/>
        </p:nvSpPr>
        <p:spPr bwMode="auto">
          <a:xfrm>
            <a:off x="6157913" y="5511800"/>
            <a:ext cx="203200" cy="0"/>
          </a:xfrm>
          <a:prstGeom prst="line">
            <a:avLst/>
          </a:prstGeom>
          <a:noFill/>
          <a:ln w="9525">
            <a:solidFill>
              <a:schemeClr val="bg2"/>
            </a:solidFill>
            <a:miter lim="800000"/>
            <a:headEnd/>
            <a:tailEnd/>
          </a:ln>
        </p:spPr>
        <p:txBody>
          <a:bodyPr wrap="none"/>
          <a:lstStyle/>
          <a:p>
            <a:endParaRPr lang="en-US"/>
          </a:p>
        </p:txBody>
      </p:sp>
      <p:sp>
        <p:nvSpPr>
          <p:cNvPr id="58375" name="Line 27"/>
          <p:cNvSpPr>
            <a:spLocks noChangeShapeType="1"/>
          </p:cNvSpPr>
          <p:nvPr/>
        </p:nvSpPr>
        <p:spPr bwMode="auto">
          <a:xfrm>
            <a:off x="5664200" y="5257800"/>
            <a:ext cx="203200" cy="0"/>
          </a:xfrm>
          <a:prstGeom prst="line">
            <a:avLst/>
          </a:prstGeom>
          <a:noFill/>
          <a:ln w="9525">
            <a:solidFill>
              <a:schemeClr val="bg2"/>
            </a:solidFill>
            <a:miter lim="800000"/>
            <a:headEnd/>
            <a:tailEnd/>
          </a:ln>
        </p:spPr>
        <p:txBody>
          <a:bodyPr wrap="none"/>
          <a:lstStyle/>
          <a:p>
            <a:endParaRPr lang="en-US"/>
          </a:p>
        </p:txBody>
      </p:sp>
      <p:sp>
        <p:nvSpPr>
          <p:cNvPr id="58376" name="Line 28"/>
          <p:cNvSpPr>
            <a:spLocks noChangeShapeType="1"/>
          </p:cNvSpPr>
          <p:nvPr/>
        </p:nvSpPr>
        <p:spPr bwMode="auto">
          <a:xfrm>
            <a:off x="5664200" y="5511800"/>
            <a:ext cx="203200" cy="0"/>
          </a:xfrm>
          <a:prstGeom prst="line">
            <a:avLst/>
          </a:prstGeom>
          <a:noFill/>
          <a:ln w="9525">
            <a:solidFill>
              <a:schemeClr val="bg2"/>
            </a:solidFill>
            <a:miter lim="800000"/>
            <a:headEnd/>
            <a:tailEnd/>
          </a:ln>
        </p:spPr>
        <p:txBody>
          <a:bodyPr wrap="none"/>
          <a:lstStyle/>
          <a:p>
            <a:endParaRPr lang="en-US"/>
          </a:p>
        </p:txBody>
      </p:sp>
      <p:sp>
        <p:nvSpPr>
          <p:cNvPr id="3" name="Content Placeholder 2">
            <a:extLst>
              <a:ext uri="{FF2B5EF4-FFF2-40B4-BE49-F238E27FC236}">
                <a16:creationId xmlns:a16="http://schemas.microsoft.com/office/drawing/2014/main" id="{6D1C31FD-D378-4742-8473-71096BEDE416}"/>
              </a:ext>
            </a:extLst>
          </p:cNvPr>
          <p:cNvSpPr>
            <a:spLocks noGrp="1"/>
          </p:cNvSpPr>
          <p:nvPr>
            <p:ph idx="1"/>
          </p:nvPr>
        </p:nvSpPr>
        <p:spPr>
          <a:xfrm>
            <a:off x="228600" y="1905000"/>
            <a:ext cx="8686800" cy="4023360"/>
          </a:xfrm>
        </p:spPr>
        <p:txBody>
          <a:bodyPr>
            <a:normAutofit lnSpcReduction="10000"/>
          </a:bodyPr>
          <a:lstStyle/>
          <a:p>
            <a:pPr algn="just">
              <a:buFont typeface="Arial" panose="020B0604020202020204" pitchFamily="34" charset="0"/>
              <a:buChar char="•"/>
            </a:pPr>
            <a:r>
              <a:rPr lang="en-IN" dirty="0"/>
              <a:t>The JOIN operations described earlier match tuples that satisfy the join condition. For example, for a NATURAL JOIN operation R * S, only tuples from R that have matching tuples in S—and vice versa—appear in the result</a:t>
            </a:r>
          </a:p>
          <a:p>
            <a:pPr algn="just">
              <a:buFont typeface="Arial" panose="020B0604020202020204" pitchFamily="34" charset="0"/>
              <a:buChar char="•"/>
            </a:pPr>
            <a:r>
              <a:rPr lang="en-IN" dirty="0"/>
              <a:t> Hence</a:t>
            </a:r>
          </a:p>
          <a:p>
            <a:pPr marL="0" indent="0" algn="just">
              <a:buNone/>
            </a:pPr>
            <a:r>
              <a:rPr lang="en-IN" dirty="0"/>
              <a:t>    (</a:t>
            </a:r>
            <a:r>
              <a:rPr lang="en-IN" dirty="0" err="1"/>
              <a:t>i</a:t>
            </a:r>
            <a:r>
              <a:rPr lang="en-IN" dirty="0"/>
              <a:t>)Tuples without a matching (or related) tuple  are eliminated from the JOIN   </a:t>
            </a:r>
          </a:p>
          <a:p>
            <a:pPr marL="0" indent="0" algn="just">
              <a:buNone/>
            </a:pPr>
            <a:r>
              <a:rPr lang="en-IN" dirty="0"/>
              <a:t>         result. </a:t>
            </a:r>
          </a:p>
          <a:p>
            <a:pPr marL="0" indent="0" algn="just">
              <a:buNone/>
            </a:pPr>
            <a:r>
              <a:rPr lang="en-IN" dirty="0"/>
              <a:t>    (ii)Tuples with NULL values in the join attributes are also eliminated.</a:t>
            </a:r>
          </a:p>
          <a:p>
            <a:pPr algn="just">
              <a:buFont typeface="Arial" panose="020B0604020202020204" pitchFamily="34" charset="0"/>
              <a:buChar char="•"/>
            </a:pPr>
            <a:r>
              <a:rPr lang="en-IN" dirty="0"/>
              <a:t>This type of join, where tuples with no match are eliminated,  is known as an inner join. </a:t>
            </a:r>
          </a:p>
          <a:p>
            <a:pPr algn="just">
              <a:buFont typeface="Arial" panose="020B0604020202020204" pitchFamily="34" charset="0"/>
              <a:buChar char="•"/>
            </a:pPr>
            <a:r>
              <a:rPr lang="en-IN" dirty="0"/>
              <a:t>This amounts to the loss of information if the user  wants the result of the JOIN to include all the tuples in one or more of the component relations.</a:t>
            </a:r>
          </a:p>
        </p:txBody>
      </p:sp>
    </p:spTree>
    <p:extLst>
      <p:ext uri="{BB962C8B-B14F-4D97-AF65-F5344CB8AC3E}">
        <p14:creationId xmlns:p14="http://schemas.microsoft.com/office/powerpoint/2010/main" val="3069447852"/>
      </p:ext>
    </p:extLst>
  </p:cSld>
  <p:clrMapOvr>
    <a:masterClrMapping/>
  </p:clrMapOvr>
  <p:transition>
    <p:dissolv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9"/>
          <p:cNvSpPr>
            <a:spLocks noGrp="1" noChangeArrowheads="1"/>
          </p:cNvSpPr>
          <p:nvPr>
            <p:ph type="title"/>
          </p:nvPr>
        </p:nvSpPr>
        <p:spPr/>
        <p:txBody>
          <a:bodyPr/>
          <a:lstStyle/>
          <a:p>
            <a:pPr eaLnBrk="1" hangingPunct="1"/>
            <a:r>
              <a:rPr lang="en-US" sz="3200"/>
              <a:t>Additional Relational Operations (cont.)</a:t>
            </a:r>
          </a:p>
        </p:txBody>
      </p:sp>
      <p:sp>
        <p:nvSpPr>
          <p:cNvPr id="59396" name="Rectangle 30"/>
          <p:cNvSpPr>
            <a:spLocks noGrp="1" noChangeArrowheads="1"/>
          </p:cNvSpPr>
          <p:nvPr>
            <p:ph idx="1"/>
          </p:nvPr>
        </p:nvSpPr>
        <p:spPr/>
        <p:txBody>
          <a:bodyPr>
            <a:normAutofit/>
          </a:bodyPr>
          <a:lstStyle/>
          <a:p>
            <a:pPr eaLnBrk="1" hangingPunct="1">
              <a:lnSpc>
                <a:spcPct val="90000"/>
              </a:lnSpc>
            </a:pPr>
            <a:r>
              <a:rPr lang="en-US" dirty="0"/>
              <a:t>The </a:t>
            </a:r>
            <a:r>
              <a:rPr lang="en-US" b="1" dirty="0">
                <a:solidFill>
                  <a:srgbClr val="FF0000"/>
                </a:solidFill>
              </a:rPr>
              <a:t>left outer join </a:t>
            </a:r>
            <a:r>
              <a:rPr lang="en-US" dirty="0"/>
              <a:t>operation keeps every tuple in the first or left relation R in              ; if no matching tuple is found in S, then the attributes of S in the join result are filled or “padded” with null values.</a:t>
            </a:r>
          </a:p>
          <a:p>
            <a:pPr eaLnBrk="1" hangingPunct="1">
              <a:lnSpc>
                <a:spcPct val="90000"/>
              </a:lnSpc>
            </a:pPr>
            <a:r>
              <a:rPr lang="en-US" dirty="0"/>
              <a:t>A similar operation, </a:t>
            </a:r>
            <a:r>
              <a:rPr lang="en-US" b="1" dirty="0">
                <a:solidFill>
                  <a:srgbClr val="FF0000"/>
                </a:solidFill>
              </a:rPr>
              <a:t>right outer join</a:t>
            </a:r>
            <a:r>
              <a:rPr lang="en-US" dirty="0"/>
              <a:t>, keeps every tuple in the second or right relation S in the result of </a:t>
            </a:r>
          </a:p>
          <a:p>
            <a:pPr eaLnBrk="1" hangingPunct="1">
              <a:lnSpc>
                <a:spcPct val="90000"/>
              </a:lnSpc>
            </a:pPr>
            <a:r>
              <a:rPr lang="en-US" dirty="0"/>
              <a:t>A third operation, </a:t>
            </a:r>
            <a:r>
              <a:rPr lang="en-US" b="1" dirty="0">
                <a:solidFill>
                  <a:srgbClr val="FF0000"/>
                </a:solidFill>
              </a:rPr>
              <a:t>full outer join</a:t>
            </a:r>
            <a:r>
              <a:rPr lang="en-US" dirty="0"/>
              <a:t>, denoted by                 keeps all tuples in both the left and the right relations when no matching tuples are found, padding them with null values as needed. </a:t>
            </a:r>
          </a:p>
        </p:txBody>
      </p:sp>
      <p:grpSp>
        <p:nvGrpSpPr>
          <p:cNvPr id="2" name="Group 4"/>
          <p:cNvGrpSpPr>
            <a:grpSpLocks/>
          </p:cNvGrpSpPr>
          <p:nvPr/>
        </p:nvGrpSpPr>
        <p:grpSpPr bwMode="auto">
          <a:xfrm>
            <a:off x="5321300" y="2010696"/>
            <a:ext cx="393700" cy="266700"/>
            <a:chOff x="2672" y="1534"/>
            <a:chExt cx="1670" cy="666"/>
          </a:xfrm>
        </p:grpSpPr>
        <p:grpSp>
          <p:nvGrpSpPr>
            <p:cNvPr id="3" name="Group 5"/>
            <p:cNvGrpSpPr>
              <a:grpSpLocks/>
            </p:cNvGrpSpPr>
            <p:nvPr/>
          </p:nvGrpSpPr>
          <p:grpSpPr bwMode="auto">
            <a:xfrm>
              <a:off x="3112" y="1534"/>
              <a:ext cx="1230" cy="666"/>
              <a:chOff x="377" y="2904"/>
              <a:chExt cx="154" cy="110"/>
            </a:xfrm>
          </p:grpSpPr>
          <p:sp>
            <p:nvSpPr>
              <p:cNvPr id="59418" name="Line 6"/>
              <p:cNvSpPr>
                <a:spLocks noChangeShapeType="1"/>
              </p:cNvSpPr>
              <p:nvPr/>
            </p:nvSpPr>
            <p:spPr bwMode="auto">
              <a:xfrm>
                <a:off x="381" y="2904"/>
                <a:ext cx="0" cy="110"/>
              </a:xfrm>
              <a:prstGeom prst="line">
                <a:avLst/>
              </a:prstGeom>
              <a:noFill/>
              <a:ln w="6350">
                <a:solidFill>
                  <a:schemeClr val="bg2"/>
                </a:solidFill>
                <a:round/>
                <a:headEnd/>
                <a:tailEnd/>
              </a:ln>
            </p:spPr>
            <p:txBody>
              <a:bodyPr wrap="none" anchor="ctr"/>
              <a:lstStyle/>
              <a:p>
                <a:endParaRPr lang="en-US"/>
              </a:p>
            </p:txBody>
          </p:sp>
          <p:sp>
            <p:nvSpPr>
              <p:cNvPr id="59419" name="Line 7"/>
              <p:cNvSpPr>
                <a:spLocks noChangeShapeType="1"/>
              </p:cNvSpPr>
              <p:nvPr/>
            </p:nvSpPr>
            <p:spPr bwMode="auto">
              <a:xfrm>
                <a:off x="527" y="2904"/>
                <a:ext cx="0" cy="110"/>
              </a:xfrm>
              <a:prstGeom prst="line">
                <a:avLst/>
              </a:prstGeom>
              <a:noFill/>
              <a:ln w="6350">
                <a:solidFill>
                  <a:schemeClr val="bg2"/>
                </a:solidFill>
                <a:round/>
                <a:headEnd/>
                <a:tailEnd/>
              </a:ln>
            </p:spPr>
            <p:txBody>
              <a:bodyPr wrap="none" anchor="ctr"/>
              <a:lstStyle/>
              <a:p>
                <a:endParaRPr lang="en-US"/>
              </a:p>
            </p:txBody>
          </p:sp>
          <p:sp>
            <p:nvSpPr>
              <p:cNvPr id="59420" name="Line 8"/>
              <p:cNvSpPr>
                <a:spLocks noChangeShapeType="1"/>
              </p:cNvSpPr>
              <p:nvPr/>
            </p:nvSpPr>
            <p:spPr bwMode="auto">
              <a:xfrm>
                <a:off x="385" y="2904"/>
                <a:ext cx="138" cy="110"/>
              </a:xfrm>
              <a:prstGeom prst="line">
                <a:avLst/>
              </a:prstGeom>
              <a:noFill/>
              <a:ln w="6350">
                <a:solidFill>
                  <a:schemeClr val="bg2"/>
                </a:solidFill>
                <a:round/>
                <a:headEnd/>
                <a:tailEnd/>
              </a:ln>
            </p:spPr>
            <p:txBody>
              <a:bodyPr wrap="none" anchor="ctr"/>
              <a:lstStyle/>
              <a:p>
                <a:endParaRPr lang="en-US"/>
              </a:p>
            </p:txBody>
          </p:sp>
          <p:sp>
            <p:nvSpPr>
              <p:cNvPr id="59421" name="Line 9"/>
              <p:cNvSpPr>
                <a:spLocks noChangeShapeType="1"/>
              </p:cNvSpPr>
              <p:nvPr/>
            </p:nvSpPr>
            <p:spPr bwMode="auto">
              <a:xfrm flipH="1">
                <a:off x="377" y="2904"/>
                <a:ext cx="154" cy="110"/>
              </a:xfrm>
              <a:prstGeom prst="line">
                <a:avLst/>
              </a:prstGeom>
              <a:noFill/>
              <a:ln w="6350">
                <a:solidFill>
                  <a:schemeClr val="bg2"/>
                </a:solidFill>
                <a:round/>
                <a:headEnd/>
                <a:tailEnd/>
              </a:ln>
            </p:spPr>
            <p:txBody>
              <a:bodyPr wrap="none" anchor="ctr"/>
              <a:lstStyle/>
              <a:p>
                <a:endParaRPr lang="en-US"/>
              </a:p>
            </p:txBody>
          </p:sp>
        </p:grpSp>
        <p:sp>
          <p:nvSpPr>
            <p:cNvPr id="59416" name="Line 10"/>
            <p:cNvSpPr>
              <a:spLocks noChangeShapeType="1"/>
            </p:cNvSpPr>
            <p:nvPr/>
          </p:nvSpPr>
          <p:spPr bwMode="auto">
            <a:xfrm flipH="1">
              <a:off x="2672" y="2200"/>
              <a:ext cx="440" cy="0"/>
            </a:xfrm>
            <a:prstGeom prst="line">
              <a:avLst/>
            </a:prstGeom>
            <a:noFill/>
            <a:ln w="6350">
              <a:solidFill>
                <a:schemeClr val="bg2"/>
              </a:solidFill>
              <a:miter lim="800000"/>
              <a:headEnd/>
              <a:tailEnd/>
            </a:ln>
          </p:spPr>
          <p:txBody>
            <a:bodyPr wrap="none"/>
            <a:lstStyle/>
            <a:p>
              <a:endParaRPr lang="en-US"/>
            </a:p>
          </p:txBody>
        </p:sp>
        <p:sp>
          <p:nvSpPr>
            <p:cNvPr id="59417" name="Line 11"/>
            <p:cNvSpPr>
              <a:spLocks noChangeShapeType="1"/>
            </p:cNvSpPr>
            <p:nvPr/>
          </p:nvSpPr>
          <p:spPr bwMode="auto">
            <a:xfrm flipH="1">
              <a:off x="2672" y="1534"/>
              <a:ext cx="440" cy="0"/>
            </a:xfrm>
            <a:prstGeom prst="line">
              <a:avLst/>
            </a:prstGeom>
            <a:noFill/>
            <a:ln w="6350">
              <a:solidFill>
                <a:schemeClr val="bg2"/>
              </a:solidFill>
              <a:miter lim="800000"/>
              <a:headEnd/>
              <a:tailEnd/>
            </a:ln>
          </p:spPr>
          <p:txBody>
            <a:bodyPr wrap="none"/>
            <a:lstStyle/>
            <a:p>
              <a:endParaRPr lang="en-US"/>
            </a:p>
          </p:txBody>
        </p:sp>
      </p:grpSp>
      <p:grpSp>
        <p:nvGrpSpPr>
          <p:cNvPr id="4" name="Group 12"/>
          <p:cNvGrpSpPr>
            <a:grpSpLocks/>
          </p:cNvGrpSpPr>
          <p:nvPr/>
        </p:nvGrpSpPr>
        <p:grpSpPr bwMode="auto">
          <a:xfrm>
            <a:off x="1295400" y="3886200"/>
            <a:ext cx="493713" cy="266700"/>
            <a:chOff x="2537" y="3040"/>
            <a:chExt cx="311" cy="168"/>
          </a:xfrm>
        </p:grpSpPr>
        <p:grpSp>
          <p:nvGrpSpPr>
            <p:cNvPr id="5" name="Group 13"/>
            <p:cNvGrpSpPr>
              <a:grpSpLocks/>
            </p:cNvGrpSpPr>
            <p:nvPr/>
          </p:nvGrpSpPr>
          <p:grpSpPr bwMode="auto">
            <a:xfrm>
              <a:off x="2537" y="3040"/>
              <a:ext cx="183" cy="168"/>
              <a:chOff x="377" y="2904"/>
              <a:chExt cx="154" cy="110"/>
            </a:xfrm>
          </p:grpSpPr>
          <p:sp>
            <p:nvSpPr>
              <p:cNvPr id="59411" name="Line 14"/>
              <p:cNvSpPr>
                <a:spLocks noChangeShapeType="1"/>
              </p:cNvSpPr>
              <p:nvPr/>
            </p:nvSpPr>
            <p:spPr bwMode="auto">
              <a:xfrm>
                <a:off x="381" y="2904"/>
                <a:ext cx="0" cy="110"/>
              </a:xfrm>
              <a:prstGeom prst="line">
                <a:avLst/>
              </a:prstGeom>
              <a:noFill/>
              <a:ln w="6350">
                <a:solidFill>
                  <a:schemeClr val="bg2"/>
                </a:solidFill>
                <a:round/>
                <a:headEnd/>
                <a:tailEnd/>
              </a:ln>
            </p:spPr>
            <p:txBody>
              <a:bodyPr wrap="none" anchor="ctr"/>
              <a:lstStyle/>
              <a:p>
                <a:endParaRPr lang="en-US"/>
              </a:p>
            </p:txBody>
          </p:sp>
          <p:sp>
            <p:nvSpPr>
              <p:cNvPr id="59412" name="Line 15"/>
              <p:cNvSpPr>
                <a:spLocks noChangeShapeType="1"/>
              </p:cNvSpPr>
              <p:nvPr/>
            </p:nvSpPr>
            <p:spPr bwMode="auto">
              <a:xfrm>
                <a:off x="527" y="2904"/>
                <a:ext cx="0" cy="110"/>
              </a:xfrm>
              <a:prstGeom prst="line">
                <a:avLst/>
              </a:prstGeom>
              <a:noFill/>
              <a:ln w="6350">
                <a:solidFill>
                  <a:schemeClr val="bg2"/>
                </a:solidFill>
                <a:round/>
                <a:headEnd/>
                <a:tailEnd/>
              </a:ln>
            </p:spPr>
            <p:txBody>
              <a:bodyPr wrap="none" anchor="ctr"/>
              <a:lstStyle/>
              <a:p>
                <a:endParaRPr lang="en-US"/>
              </a:p>
            </p:txBody>
          </p:sp>
          <p:sp>
            <p:nvSpPr>
              <p:cNvPr id="59413" name="Line 16"/>
              <p:cNvSpPr>
                <a:spLocks noChangeShapeType="1"/>
              </p:cNvSpPr>
              <p:nvPr/>
            </p:nvSpPr>
            <p:spPr bwMode="auto">
              <a:xfrm>
                <a:off x="385" y="2904"/>
                <a:ext cx="138" cy="110"/>
              </a:xfrm>
              <a:prstGeom prst="line">
                <a:avLst/>
              </a:prstGeom>
              <a:noFill/>
              <a:ln w="6350">
                <a:solidFill>
                  <a:schemeClr val="bg2"/>
                </a:solidFill>
                <a:round/>
                <a:headEnd/>
                <a:tailEnd/>
              </a:ln>
            </p:spPr>
            <p:txBody>
              <a:bodyPr wrap="none" anchor="ctr"/>
              <a:lstStyle/>
              <a:p>
                <a:endParaRPr lang="en-US"/>
              </a:p>
            </p:txBody>
          </p:sp>
          <p:sp>
            <p:nvSpPr>
              <p:cNvPr id="59414" name="Line 17"/>
              <p:cNvSpPr>
                <a:spLocks noChangeShapeType="1"/>
              </p:cNvSpPr>
              <p:nvPr/>
            </p:nvSpPr>
            <p:spPr bwMode="auto">
              <a:xfrm flipH="1">
                <a:off x="377" y="2904"/>
                <a:ext cx="154" cy="110"/>
              </a:xfrm>
              <a:prstGeom prst="line">
                <a:avLst/>
              </a:prstGeom>
              <a:noFill/>
              <a:ln w="6350">
                <a:solidFill>
                  <a:schemeClr val="bg2"/>
                </a:solidFill>
                <a:round/>
                <a:headEnd/>
                <a:tailEnd/>
              </a:ln>
            </p:spPr>
            <p:txBody>
              <a:bodyPr wrap="none" anchor="ctr"/>
              <a:lstStyle/>
              <a:p>
                <a:endParaRPr lang="en-US"/>
              </a:p>
            </p:txBody>
          </p:sp>
        </p:grpSp>
        <p:sp>
          <p:nvSpPr>
            <p:cNvPr id="59409" name="Line 18"/>
            <p:cNvSpPr>
              <a:spLocks noChangeShapeType="1"/>
            </p:cNvSpPr>
            <p:nvPr/>
          </p:nvSpPr>
          <p:spPr bwMode="auto">
            <a:xfrm>
              <a:off x="2720" y="3040"/>
              <a:ext cx="128" cy="0"/>
            </a:xfrm>
            <a:prstGeom prst="line">
              <a:avLst/>
            </a:prstGeom>
            <a:noFill/>
            <a:ln w="9525">
              <a:solidFill>
                <a:schemeClr val="bg2"/>
              </a:solidFill>
              <a:miter lim="800000"/>
              <a:headEnd/>
              <a:tailEnd/>
            </a:ln>
          </p:spPr>
          <p:txBody>
            <a:bodyPr wrap="none"/>
            <a:lstStyle/>
            <a:p>
              <a:endParaRPr lang="en-US"/>
            </a:p>
          </p:txBody>
        </p:sp>
        <p:sp>
          <p:nvSpPr>
            <p:cNvPr id="59410" name="Line 19"/>
            <p:cNvSpPr>
              <a:spLocks noChangeShapeType="1"/>
            </p:cNvSpPr>
            <p:nvPr/>
          </p:nvSpPr>
          <p:spPr bwMode="auto">
            <a:xfrm>
              <a:off x="2720" y="3208"/>
              <a:ext cx="128" cy="0"/>
            </a:xfrm>
            <a:prstGeom prst="line">
              <a:avLst/>
            </a:prstGeom>
            <a:noFill/>
            <a:ln w="9525">
              <a:solidFill>
                <a:schemeClr val="bg2"/>
              </a:solidFill>
              <a:miter lim="800000"/>
              <a:headEnd/>
              <a:tailEnd/>
            </a:ln>
          </p:spPr>
          <p:txBody>
            <a:bodyPr wrap="none"/>
            <a:lstStyle/>
            <a:p>
              <a:endParaRPr lang="en-US"/>
            </a:p>
          </p:txBody>
        </p:sp>
      </p:grpSp>
      <p:sp>
        <p:nvSpPr>
          <p:cNvPr id="59400" name="Line 25"/>
          <p:cNvSpPr>
            <a:spLocks noChangeShapeType="1"/>
          </p:cNvSpPr>
          <p:nvPr/>
        </p:nvSpPr>
        <p:spPr bwMode="auto">
          <a:xfrm>
            <a:off x="8189913" y="4299156"/>
            <a:ext cx="203200" cy="0"/>
          </a:xfrm>
          <a:prstGeom prst="line">
            <a:avLst/>
          </a:prstGeom>
          <a:noFill/>
          <a:ln w="9525">
            <a:solidFill>
              <a:schemeClr val="bg2"/>
            </a:solidFill>
            <a:miter lim="800000"/>
            <a:headEnd/>
            <a:tailEnd/>
          </a:ln>
        </p:spPr>
        <p:txBody>
          <a:bodyPr wrap="none"/>
          <a:lstStyle/>
          <a:p>
            <a:endParaRPr lang="en-US"/>
          </a:p>
        </p:txBody>
      </p:sp>
      <p:sp>
        <p:nvSpPr>
          <p:cNvPr id="59401" name="Line 26"/>
          <p:cNvSpPr>
            <a:spLocks noChangeShapeType="1"/>
          </p:cNvSpPr>
          <p:nvPr/>
        </p:nvSpPr>
        <p:spPr bwMode="auto">
          <a:xfrm>
            <a:off x="8189913" y="4563396"/>
            <a:ext cx="203200" cy="0"/>
          </a:xfrm>
          <a:prstGeom prst="line">
            <a:avLst/>
          </a:prstGeom>
          <a:noFill/>
          <a:ln w="9525">
            <a:solidFill>
              <a:schemeClr val="bg2"/>
            </a:solidFill>
            <a:miter lim="800000"/>
            <a:headEnd/>
            <a:tailEnd/>
          </a:ln>
        </p:spPr>
        <p:txBody>
          <a:bodyPr wrap="none"/>
          <a:lstStyle/>
          <a:p>
            <a:endParaRPr lang="en-US"/>
          </a:p>
        </p:txBody>
      </p:sp>
      <p:sp>
        <p:nvSpPr>
          <p:cNvPr id="59402" name="Line 27"/>
          <p:cNvSpPr>
            <a:spLocks noChangeShapeType="1"/>
          </p:cNvSpPr>
          <p:nvPr/>
        </p:nvSpPr>
        <p:spPr bwMode="auto">
          <a:xfrm>
            <a:off x="7696200" y="4313904"/>
            <a:ext cx="203200" cy="0"/>
          </a:xfrm>
          <a:prstGeom prst="line">
            <a:avLst/>
          </a:prstGeom>
          <a:noFill/>
          <a:ln w="9525">
            <a:solidFill>
              <a:schemeClr val="bg2"/>
            </a:solidFill>
            <a:miter lim="800000"/>
            <a:headEnd/>
            <a:tailEnd/>
          </a:ln>
        </p:spPr>
        <p:txBody>
          <a:bodyPr wrap="none"/>
          <a:lstStyle/>
          <a:p>
            <a:endParaRPr lang="en-US"/>
          </a:p>
        </p:txBody>
      </p:sp>
      <p:sp>
        <p:nvSpPr>
          <p:cNvPr id="59403" name="Line 28"/>
          <p:cNvSpPr>
            <a:spLocks noChangeShapeType="1"/>
          </p:cNvSpPr>
          <p:nvPr/>
        </p:nvSpPr>
        <p:spPr bwMode="auto">
          <a:xfrm>
            <a:off x="7696200" y="4563396"/>
            <a:ext cx="203200" cy="0"/>
          </a:xfrm>
          <a:prstGeom prst="line">
            <a:avLst/>
          </a:prstGeom>
          <a:noFill/>
          <a:ln w="9525">
            <a:solidFill>
              <a:schemeClr val="bg2"/>
            </a:solidFill>
            <a:miter lim="800000"/>
            <a:headEnd/>
            <a:tailEnd/>
          </a:ln>
        </p:spPr>
        <p:txBody>
          <a:bodyPr wrap="none"/>
          <a:lstStyle/>
          <a:p>
            <a:endParaRPr lang="en-US"/>
          </a:p>
        </p:txBody>
      </p:sp>
      <p:pic>
        <p:nvPicPr>
          <p:cNvPr id="10" name="Picture 9">
            <a:extLst>
              <a:ext uri="{FF2B5EF4-FFF2-40B4-BE49-F238E27FC236}">
                <a16:creationId xmlns:a16="http://schemas.microsoft.com/office/drawing/2014/main" id="{D2DE03C3-244E-4BEC-9426-55395FB427D2}"/>
              </a:ext>
            </a:extLst>
          </p:cNvPr>
          <p:cNvPicPr>
            <a:picLocks noChangeAspect="1"/>
          </p:cNvPicPr>
          <p:nvPr/>
        </p:nvPicPr>
        <p:blipFill>
          <a:blip r:embed="rId3"/>
          <a:stretch>
            <a:fillRect/>
          </a:stretch>
        </p:blipFill>
        <p:spPr>
          <a:xfrm>
            <a:off x="4114800" y="3152104"/>
            <a:ext cx="664548" cy="276896"/>
          </a:xfrm>
          <a:prstGeom prst="rect">
            <a:avLst/>
          </a:prstGeom>
        </p:spPr>
      </p:pic>
      <p:pic>
        <p:nvPicPr>
          <p:cNvPr id="12" name="Picture 11">
            <a:extLst>
              <a:ext uri="{FF2B5EF4-FFF2-40B4-BE49-F238E27FC236}">
                <a16:creationId xmlns:a16="http://schemas.microsoft.com/office/drawing/2014/main" id="{9C708993-6676-4537-B6F0-D50077A7BEBB}"/>
              </a:ext>
            </a:extLst>
          </p:cNvPr>
          <p:cNvPicPr>
            <a:picLocks noChangeAspect="1"/>
          </p:cNvPicPr>
          <p:nvPr/>
        </p:nvPicPr>
        <p:blipFill>
          <a:blip r:embed="rId4"/>
          <a:stretch>
            <a:fillRect/>
          </a:stretch>
        </p:blipFill>
        <p:spPr>
          <a:xfrm>
            <a:off x="5791200" y="3615564"/>
            <a:ext cx="382074" cy="270636"/>
          </a:xfrm>
          <a:prstGeom prst="rect">
            <a:avLst/>
          </a:prstGeom>
        </p:spPr>
      </p:pic>
      <p:pic>
        <p:nvPicPr>
          <p:cNvPr id="14" name="Picture 13">
            <a:extLst>
              <a:ext uri="{FF2B5EF4-FFF2-40B4-BE49-F238E27FC236}">
                <a16:creationId xmlns:a16="http://schemas.microsoft.com/office/drawing/2014/main" id="{356F5D47-CCF7-49D2-B211-16CB683CF23C}"/>
              </a:ext>
            </a:extLst>
          </p:cNvPr>
          <p:cNvPicPr>
            <a:picLocks noChangeAspect="1"/>
          </p:cNvPicPr>
          <p:nvPr/>
        </p:nvPicPr>
        <p:blipFill>
          <a:blip r:embed="rId5"/>
          <a:stretch>
            <a:fillRect/>
          </a:stretch>
        </p:blipFill>
        <p:spPr>
          <a:xfrm>
            <a:off x="2379569" y="2158356"/>
            <a:ext cx="595199" cy="238080"/>
          </a:xfrm>
          <a:prstGeom prst="rect">
            <a:avLst/>
          </a:prstGeom>
        </p:spPr>
      </p:pic>
    </p:spTree>
  </p:cSld>
  <p:clrMapOvr>
    <a:masterClrMapping/>
  </p:clrMapOvr>
  <p:transition>
    <p:dissolv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5"/>
          <p:cNvSpPr>
            <a:spLocks noGrp="1" noChangeArrowheads="1"/>
          </p:cNvSpPr>
          <p:nvPr>
            <p:ph type="title"/>
          </p:nvPr>
        </p:nvSpPr>
        <p:spPr>
          <a:xfrm>
            <a:off x="822960" y="286605"/>
            <a:ext cx="7543800" cy="627796"/>
          </a:xfrm>
        </p:spPr>
        <p:txBody>
          <a:bodyPr/>
          <a:lstStyle/>
          <a:p>
            <a:pPr eaLnBrk="1" hangingPunct="1"/>
            <a:r>
              <a:rPr lang="en-US" sz="3200" dirty="0"/>
              <a:t>Additional Relational Operations (cont.)</a:t>
            </a:r>
          </a:p>
        </p:txBody>
      </p:sp>
      <p:sp>
        <p:nvSpPr>
          <p:cNvPr id="60420" name="Rectangle 6"/>
          <p:cNvSpPr>
            <a:spLocks noGrp="1" noChangeArrowheads="1"/>
          </p:cNvSpPr>
          <p:nvPr>
            <p:ph idx="1"/>
          </p:nvPr>
        </p:nvSpPr>
        <p:spPr/>
        <p:txBody>
          <a:bodyPr/>
          <a:lstStyle/>
          <a:p>
            <a:pPr lvl="3" eaLnBrk="1" hangingPunct="1"/>
            <a:endParaRPr lang="en-US"/>
          </a:p>
          <a:p>
            <a:pPr lvl="3" eaLnBrk="1" hangingPunct="1"/>
            <a:endParaRPr lang="en-US"/>
          </a:p>
          <a:p>
            <a:pPr lvl="3" eaLnBrk="1" hangingPunct="1"/>
            <a:endParaRPr lang="en-US"/>
          </a:p>
        </p:txBody>
      </p:sp>
      <p:pic>
        <p:nvPicPr>
          <p:cNvPr id="60421" name="Picture 7" descr="fig06_12"/>
          <p:cNvPicPr>
            <a:picLocks noChangeAspect="1" noChangeArrowheads="1"/>
          </p:cNvPicPr>
          <p:nvPr/>
        </p:nvPicPr>
        <p:blipFill>
          <a:blip r:embed="rId3"/>
          <a:srcRect/>
          <a:stretch>
            <a:fillRect/>
          </a:stretch>
        </p:blipFill>
        <p:spPr bwMode="auto">
          <a:xfrm>
            <a:off x="533400" y="2133600"/>
            <a:ext cx="5486400" cy="2475411"/>
          </a:xfrm>
          <a:prstGeom prst="rect">
            <a:avLst/>
          </a:prstGeom>
          <a:noFill/>
          <a:ln w="9525">
            <a:noFill/>
            <a:miter lim="800000"/>
            <a:headEnd/>
            <a:tailEnd/>
          </a:ln>
        </p:spPr>
      </p:pic>
      <p:pic>
        <p:nvPicPr>
          <p:cNvPr id="1028" name="Picture 4" descr="SQL LEFT OUTER JOIN Image">
            <a:extLst>
              <a:ext uri="{FF2B5EF4-FFF2-40B4-BE49-F238E27FC236}">
                <a16:creationId xmlns:a16="http://schemas.microsoft.com/office/drawing/2014/main" id="{EC18FACF-4AB2-4929-B73E-3A5FCB41E2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0417" y="2018135"/>
            <a:ext cx="2238375" cy="12668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B7F4AEE-E2BE-49FE-B366-DC7B1B01F246}"/>
              </a:ext>
            </a:extLst>
          </p:cNvPr>
          <p:cNvPicPr>
            <a:picLocks noChangeAspect="1"/>
          </p:cNvPicPr>
          <p:nvPr/>
        </p:nvPicPr>
        <p:blipFill>
          <a:blip r:embed="rId5"/>
          <a:stretch>
            <a:fillRect/>
          </a:stretch>
        </p:blipFill>
        <p:spPr>
          <a:xfrm>
            <a:off x="1447800" y="1202267"/>
            <a:ext cx="6172200" cy="517948"/>
          </a:xfrm>
          <a:prstGeom prst="rect">
            <a:avLst/>
          </a:prstGeom>
        </p:spPr>
      </p:pic>
      <p:sp>
        <p:nvSpPr>
          <p:cNvPr id="11" name="TextBox 10">
            <a:extLst>
              <a:ext uri="{FF2B5EF4-FFF2-40B4-BE49-F238E27FC236}">
                <a16:creationId xmlns:a16="http://schemas.microsoft.com/office/drawing/2014/main" id="{86F56364-8319-4F27-A1F2-0CDCE972C79C}"/>
              </a:ext>
            </a:extLst>
          </p:cNvPr>
          <p:cNvSpPr txBox="1"/>
          <p:nvPr/>
        </p:nvSpPr>
        <p:spPr>
          <a:xfrm>
            <a:off x="533400" y="4698642"/>
            <a:ext cx="8458200" cy="1200329"/>
          </a:xfrm>
          <a:prstGeom prst="rect">
            <a:avLst/>
          </a:prstGeom>
          <a:noFill/>
        </p:spPr>
        <p:txBody>
          <a:bodyPr wrap="square">
            <a:spAutoFit/>
          </a:bodyPr>
          <a:lstStyle/>
          <a:p>
            <a:pPr marL="285750" indent="-285750" algn="l">
              <a:buFont typeface="Arial" panose="020B0604020202020204" pitchFamily="34" charset="0"/>
              <a:buChar char="•"/>
            </a:pPr>
            <a:r>
              <a:rPr lang="en-IN" sz="1800" b="0" i="0" u="none" strike="noStrike" baseline="0" dirty="0">
                <a:latin typeface="MinionPro-Regular"/>
              </a:rPr>
              <a:t>The </a:t>
            </a:r>
            <a:r>
              <a:rPr lang="en-IN" sz="1600" b="0" i="0" u="none" strike="noStrike" baseline="0" dirty="0">
                <a:latin typeface="AkzidenzGroteskBE-Regular"/>
              </a:rPr>
              <a:t>LEFT OUTER JOIN </a:t>
            </a:r>
            <a:r>
              <a:rPr lang="en-IN" sz="1800" b="0" i="0" u="none" strike="noStrike" baseline="0" dirty="0">
                <a:latin typeface="MinionPro-Regular"/>
              </a:rPr>
              <a:t>operation keeps every tuple in the </a:t>
            </a:r>
            <a:r>
              <a:rPr lang="en-IN" sz="1800" b="0" i="1" u="none" strike="noStrike" baseline="0" dirty="0">
                <a:latin typeface="MinionPro-It"/>
              </a:rPr>
              <a:t>first</a:t>
            </a:r>
            <a:r>
              <a:rPr lang="en-IN" sz="1800" b="0" i="0" u="none" strike="noStrike" baseline="0" dirty="0">
                <a:latin typeface="MinionPro-Regular"/>
              </a:rPr>
              <a:t>, or </a:t>
            </a:r>
            <a:r>
              <a:rPr lang="en-IN" sz="1800" b="0" i="1" u="none" strike="noStrike" baseline="0" dirty="0">
                <a:latin typeface="MinionPro-It"/>
              </a:rPr>
              <a:t>left</a:t>
            </a:r>
            <a:r>
              <a:rPr lang="en-IN" sz="1800" b="0" i="0" u="none" strike="noStrike" baseline="0" dirty="0">
                <a:latin typeface="MinionPro-Regular"/>
              </a:rPr>
              <a:t>, relation </a:t>
            </a:r>
            <a:r>
              <a:rPr lang="en-IN" sz="1800" b="0" i="1" u="none" strike="noStrike" baseline="0" dirty="0">
                <a:latin typeface="MinionPro-It"/>
              </a:rPr>
              <a:t>R </a:t>
            </a:r>
            <a:r>
              <a:rPr lang="en-IN" sz="1800" b="0" i="0" u="none" strike="noStrike" baseline="0" dirty="0">
                <a:latin typeface="MinionPro-Regular"/>
              </a:rPr>
              <a:t>in </a:t>
            </a:r>
            <a:r>
              <a:rPr lang="en-IN" sz="1800" b="0" i="1" u="none" strike="noStrike" baseline="0" dirty="0">
                <a:latin typeface="MinionPro-It"/>
              </a:rPr>
              <a:t>R S</a:t>
            </a:r>
            <a:r>
              <a:rPr lang="en-IN" sz="1800" b="0" i="0" u="none" strike="noStrike" baseline="0" dirty="0">
                <a:latin typeface="MinionPro-Regular"/>
              </a:rPr>
              <a:t>;</a:t>
            </a:r>
          </a:p>
          <a:p>
            <a:pPr marL="285750" indent="-285750" algn="l">
              <a:buFont typeface="Arial" panose="020B0604020202020204" pitchFamily="34" charset="0"/>
              <a:buChar char="•"/>
            </a:pPr>
            <a:endParaRPr lang="en-IN" sz="1800" b="0" i="0" u="none" strike="noStrike" baseline="0" dirty="0">
              <a:latin typeface="MinionPro-Regular"/>
            </a:endParaRPr>
          </a:p>
          <a:p>
            <a:pPr marL="285750" indent="-285750" algn="l">
              <a:buFont typeface="Arial" panose="020B0604020202020204" pitchFamily="34" charset="0"/>
              <a:buChar char="•"/>
            </a:pPr>
            <a:r>
              <a:rPr lang="en-IN" sz="1800" b="0" i="0" u="none" strike="noStrike" baseline="0" dirty="0">
                <a:latin typeface="MinionPro-Regular"/>
              </a:rPr>
              <a:t>if no matching tuple is found in </a:t>
            </a:r>
            <a:r>
              <a:rPr lang="en-IN" sz="1800" b="0" i="1" u="none" strike="noStrike" baseline="0" dirty="0">
                <a:latin typeface="MinionPro-It"/>
              </a:rPr>
              <a:t>S</a:t>
            </a:r>
            <a:r>
              <a:rPr lang="en-IN" sz="1800" b="0" i="0" u="none" strike="noStrike" baseline="0" dirty="0">
                <a:latin typeface="MinionPro-Regular"/>
              </a:rPr>
              <a:t>, then the attributes of </a:t>
            </a:r>
            <a:r>
              <a:rPr lang="en-IN" sz="1800" b="0" i="1" u="none" strike="noStrike" baseline="0" dirty="0">
                <a:latin typeface="MinionPro-It"/>
              </a:rPr>
              <a:t>S </a:t>
            </a:r>
            <a:r>
              <a:rPr lang="en-IN" sz="1800" b="0" i="0" u="none" strike="noStrike" baseline="0" dirty="0">
                <a:latin typeface="MinionPro-Regular"/>
              </a:rPr>
              <a:t>in the join result are filled or </a:t>
            </a:r>
            <a:r>
              <a:rPr lang="en-IN" sz="1800" b="0" i="1" u="none" strike="noStrike" baseline="0" dirty="0">
                <a:latin typeface="MinionPro-It"/>
              </a:rPr>
              <a:t>padded </a:t>
            </a:r>
            <a:r>
              <a:rPr lang="en-IN" sz="1800" b="0" i="0" u="none" strike="noStrike" baseline="0" dirty="0">
                <a:latin typeface="MinionPro-Regular"/>
              </a:rPr>
              <a:t>with </a:t>
            </a:r>
            <a:r>
              <a:rPr lang="en-IN" sz="1600" b="0" i="0" u="none" strike="noStrike" baseline="0" dirty="0">
                <a:latin typeface="AkzidenzGroteskBE-Regular"/>
              </a:rPr>
              <a:t>NULL </a:t>
            </a:r>
            <a:r>
              <a:rPr lang="en-IN" sz="1800" b="0" i="0" u="none" strike="noStrike" baseline="0" dirty="0">
                <a:latin typeface="MinionPro-Regular"/>
              </a:rPr>
              <a:t>values. The result of these operations is shown</a:t>
            </a:r>
            <a:endParaRPr lang="en-IN" dirty="0"/>
          </a:p>
        </p:txBody>
      </p:sp>
    </p:spTree>
    <p:extLst>
      <p:ext uri="{BB962C8B-B14F-4D97-AF65-F5344CB8AC3E}">
        <p14:creationId xmlns:p14="http://schemas.microsoft.com/office/powerpoint/2010/main" val="375901444"/>
      </p:ext>
    </p:extLst>
  </p:cSld>
  <p:clrMapOvr>
    <a:masterClrMapping/>
  </p:clrMapOvr>
  <p:transition>
    <p:dissolv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442F4-51DB-46A7-8371-FBD5A627905E}"/>
              </a:ext>
            </a:extLst>
          </p:cNvPr>
          <p:cNvSpPr>
            <a:spLocks noGrp="1"/>
          </p:cNvSpPr>
          <p:nvPr>
            <p:ph type="title"/>
          </p:nvPr>
        </p:nvSpPr>
        <p:spPr>
          <a:xfrm>
            <a:off x="822960" y="286605"/>
            <a:ext cx="7543800" cy="322996"/>
          </a:xfrm>
        </p:spPr>
        <p:txBody>
          <a:bodyPr>
            <a:normAutofit fontScale="90000"/>
          </a:bodyPr>
          <a:lstStyle/>
          <a:p>
            <a:r>
              <a:rPr lang="en-IN" dirty="0"/>
              <a:t>Example Database State</a:t>
            </a:r>
          </a:p>
        </p:txBody>
      </p:sp>
      <p:pic>
        <p:nvPicPr>
          <p:cNvPr id="5" name="Picture 4">
            <a:extLst>
              <a:ext uri="{FF2B5EF4-FFF2-40B4-BE49-F238E27FC236}">
                <a16:creationId xmlns:a16="http://schemas.microsoft.com/office/drawing/2014/main" id="{EA3C8A15-32CA-467C-BF29-4B3DEE5D906B}"/>
              </a:ext>
            </a:extLst>
          </p:cNvPr>
          <p:cNvPicPr>
            <a:picLocks noChangeAspect="1"/>
          </p:cNvPicPr>
          <p:nvPr/>
        </p:nvPicPr>
        <p:blipFill>
          <a:blip r:embed="rId2"/>
          <a:stretch>
            <a:fillRect/>
          </a:stretch>
        </p:blipFill>
        <p:spPr>
          <a:xfrm>
            <a:off x="1219200" y="424164"/>
            <a:ext cx="6705600" cy="5671836"/>
          </a:xfrm>
          <a:prstGeom prst="rect">
            <a:avLst/>
          </a:prstGeom>
        </p:spPr>
      </p:pic>
    </p:spTree>
    <p:extLst>
      <p:ext uri="{BB962C8B-B14F-4D97-AF65-F5344CB8AC3E}">
        <p14:creationId xmlns:p14="http://schemas.microsoft.com/office/powerpoint/2010/main" val="1293225772"/>
      </p:ext>
    </p:extLst>
  </p:cSld>
  <p:clrMapOvr>
    <a:masterClrMapping/>
  </p:clrMapOvr>
  <p:transition>
    <p:dissolv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pPr eaLnBrk="1" hangingPunct="1"/>
            <a:r>
              <a:rPr lang="en-US" sz="3200"/>
              <a:t>Additional Relational Operations (cont.)</a:t>
            </a:r>
          </a:p>
        </p:txBody>
      </p:sp>
      <p:sp>
        <p:nvSpPr>
          <p:cNvPr id="61444" name="Rectangle 3"/>
          <p:cNvSpPr>
            <a:spLocks noGrp="1" noChangeArrowheads="1"/>
          </p:cNvSpPr>
          <p:nvPr>
            <p:ph idx="1"/>
          </p:nvPr>
        </p:nvSpPr>
        <p:spPr/>
        <p:txBody>
          <a:bodyPr/>
          <a:lstStyle/>
          <a:p>
            <a:pPr eaLnBrk="1" hangingPunct="1">
              <a:lnSpc>
                <a:spcPct val="80000"/>
              </a:lnSpc>
            </a:pPr>
            <a:r>
              <a:rPr lang="en-US"/>
              <a:t>OUTER UNION Operations</a:t>
            </a:r>
          </a:p>
          <a:p>
            <a:pPr lvl="1" eaLnBrk="1" hangingPunct="1">
              <a:lnSpc>
                <a:spcPct val="80000"/>
              </a:lnSpc>
            </a:pPr>
            <a:r>
              <a:rPr lang="en-US"/>
              <a:t>The outer union operation was developed to take the union of tuples from two relations if the relations are </a:t>
            </a:r>
            <a:r>
              <a:rPr lang="en-US" i="1"/>
              <a:t>not type compatible</a:t>
            </a:r>
            <a:r>
              <a:rPr lang="en-US"/>
              <a:t>. </a:t>
            </a:r>
          </a:p>
          <a:p>
            <a:pPr lvl="1" eaLnBrk="1" hangingPunct="1">
              <a:lnSpc>
                <a:spcPct val="80000"/>
              </a:lnSpc>
            </a:pPr>
            <a:r>
              <a:rPr lang="en-US"/>
              <a:t>This operation will take the union of tuples in two relations R(X, Y) and S(X, Z) that are </a:t>
            </a:r>
            <a:r>
              <a:rPr lang="en-US" b="1"/>
              <a:t>partially compatible</a:t>
            </a:r>
            <a:r>
              <a:rPr lang="en-US"/>
              <a:t>, meaning that only some of their attributes, say X, are type compatible. </a:t>
            </a:r>
          </a:p>
          <a:p>
            <a:pPr lvl="1" eaLnBrk="1" hangingPunct="1">
              <a:lnSpc>
                <a:spcPct val="80000"/>
              </a:lnSpc>
            </a:pPr>
            <a:r>
              <a:rPr lang="en-US"/>
              <a:t>The attributes that are type compatible are represented only once in the result, and those attributes that are not type compatible from either relation are also kept in the result relation T(X, Y, Z).</a:t>
            </a:r>
          </a:p>
        </p:txBody>
      </p:sp>
    </p:spTree>
  </p:cSld>
  <p:clrMapOvr>
    <a:masterClrMapping/>
  </p:clrMapOvr>
  <p:transition>
    <p:dissolv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en-US" sz="3200"/>
              <a:t>Additional Relational Operations (cont.)</a:t>
            </a:r>
          </a:p>
        </p:txBody>
      </p:sp>
      <p:sp>
        <p:nvSpPr>
          <p:cNvPr id="62468" name="Rectangle 3"/>
          <p:cNvSpPr>
            <a:spLocks noGrp="1" noChangeArrowheads="1"/>
          </p:cNvSpPr>
          <p:nvPr>
            <p:ph idx="1"/>
          </p:nvPr>
        </p:nvSpPr>
        <p:spPr/>
        <p:txBody>
          <a:bodyPr>
            <a:normAutofit/>
          </a:bodyPr>
          <a:lstStyle/>
          <a:p>
            <a:pPr eaLnBrk="1" hangingPunct="1">
              <a:lnSpc>
                <a:spcPct val="80000"/>
              </a:lnSpc>
            </a:pPr>
            <a:r>
              <a:rPr lang="en-US" sz="2400"/>
              <a:t>Example: An outer union can be applied to two relations whose schemas are STUDENT(Name, SSN, Department, Advisor) and INSTRUCTOR(Name, SSN, Department, Rank).</a:t>
            </a:r>
          </a:p>
          <a:p>
            <a:pPr lvl="1" eaLnBrk="1" hangingPunct="1">
              <a:lnSpc>
                <a:spcPct val="80000"/>
              </a:lnSpc>
            </a:pPr>
            <a:r>
              <a:rPr lang="en-US" sz="2100"/>
              <a:t>Tuples from the two relations are matched based on having the same combination of values of the shared attributes— Name, SSN, Department.</a:t>
            </a:r>
          </a:p>
          <a:p>
            <a:pPr lvl="1" eaLnBrk="1" hangingPunct="1">
              <a:lnSpc>
                <a:spcPct val="80000"/>
              </a:lnSpc>
            </a:pPr>
            <a:r>
              <a:rPr lang="en-US" sz="2100"/>
              <a:t>If a student is also an instructor, both Advisor and Rank will have a value; otherwise, one of these two attributes will be null.</a:t>
            </a:r>
          </a:p>
          <a:p>
            <a:pPr lvl="1" eaLnBrk="1" hangingPunct="1">
              <a:lnSpc>
                <a:spcPct val="80000"/>
              </a:lnSpc>
            </a:pPr>
            <a:r>
              <a:rPr lang="en-US" sz="2100"/>
              <a:t>The result relation STUDENT_OR_INSTRUCTOR will have the following attributes:</a:t>
            </a:r>
          </a:p>
          <a:p>
            <a:pPr eaLnBrk="1" hangingPunct="1">
              <a:lnSpc>
                <a:spcPct val="80000"/>
              </a:lnSpc>
              <a:buFont typeface="Wingdings" pitchFamily="2" charset="2"/>
              <a:buNone/>
            </a:pPr>
            <a:r>
              <a:rPr lang="en-US" sz="2400" b="1"/>
              <a:t>STUDENT_OR_INSTRUCTOR (Name, SSN, Department, Advisor, Rank) </a:t>
            </a:r>
          </a:p>
        </p:txBody>
      </p:sp>
    </p:spTree>
  </p:cSld>
  <p:clrMapOvr>
    <a:masterClrMapping/>
  </p:clrMapOvr>
  <p:transition>
    <p:dissolv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3E7893-7F8E-4E69-9394-657AC611B92C}"/>
              </a:ext>
            </a:extLst>
          </p:cNvPr>
          <p:cNvSpPr>
            <a:spLocks noGrp="1"/>
          </p:cNvSpPr>
          <p:nvPr>
            <p:ph idx="1"/>
          </p:nvPr>
        </p:nvSpPr>
        <p:spPr/>
        <p:txBody>
          <a:bodyPr/>
          <a:lstStyle/>
          <a:p>
            <a:pPr algn="just">
              <a:lnSpc>
                <a:spcPct val="150000"/>
              </a:lnSpc>
            </a:pPr>
            <a:r>
              <a:rPr lang="en-IN" sz="2000" b="1" i="0" u="none" strike="noStrike" baseline="0" dirty="0">
                <a:latin typeface="AkzidenzGroteskBE-Md"/>
              </a:rPr>
              <a:t>Query 1. </a:t>
            </a:r>
            <a:r>
              <a:rPr lang="en-IN" sz="2000" b="0" i="0" u="none" strike="noStrike" baseline="0" dirty="0">
                <a:latin typeface="MinionPro-Regular"/>
              </a:rPr>
              <a:t>Retrieve the name and address of all employees who work for the ‘Research’ department.</a:t>
            </a:r>
          </a:p>
          <a:p>
            <a:pPr algn="just">
              <a:lnSpc>
                <a:spcPct val="150000"/>
              </a:lnSpc>
            </a:pPr>
            <a:r>
              <a:rPr lang="en-IN" sz="2000" b="0" i="0" u="none" strike="noStrike" baseline="0" dirty="0">
                <a:latin typeface="MinionPro-Regular"/>
              </a:rPr>
              <a:t/>
            </a:r>
            <a:br>
              <a:rPr lang="en-IN" sz="2000" b="0" i="0" u="none" strike="noStrike" baseline="0" dirty="0">
                <a:latin typeface="MinionPro-Regular"/>
              </a:rPr>
            </a:br>
            <a:r>
              <a:rPr lang="en-IN" sz="2000" b="1" i="0" u="none" strike="noStrike" baseline="0" dirty="0">
                <a:latin typeface="AkzidenzGroteskBE-Md"/>
              </a:rPr>
              <a:t>Query 2. </a:t>
            </a:r>
            <a:r>
              <a:rPr lang="en-IN" sz="2000" b="0" i="0" u="none" strike="noStrike" baseline="0" dirty="0">
                <a:latin typeface="MinionPro-Regular"/>
              </a:rPr>
              <a:t>For every project located in ‘Stafford’, list the project number, the controlling department number, and the department manager’s last name, address, and birth date.</a:t>
            </a:r>
            <a:br>
              <a:rPr lang="en-IN" sz="2000" b="0" i="0" u="none" strike="noStrike" baseline="0" dirty="0">
                <a:latin typeface="MinionPro-Regular"/>
              </a:rPr>
            </a:br>
            <a:endParaRPr lang="en-IN" dirty="0"/>
          </a:p>
        </p:txBody>
      </p:sp>
    </p:spTree>
    <p:extLst>
      <p:ext uri="{BB962C8B-B14F-4D97-AF65-F5344CB8AC3E}">
        <p14:creationId xmlns:p14="http://schemas.microsoft.com/office/powerpoint/2010/main" val="3123573203"/>
      </p:ext>
    </p:extLst>
  </p:cSld>
  <p:clrMapOvr>
    <a:masterClrMapping/>
  </p:clrMapOvr>
  <p:transition>
    <p:dissolv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19"/>
          <p:cNvSpPr>
            <a:spLocks noGrp="1" noChangeArrowheads="1"/>
          </p:cNvSpPr>
          <p:nvPr>
            <p:ph type="title"/>
          </p:nvPr>
        </p:nvSpPr>
        <p:spPr/>
        <p:txBody>
          <a:bodyPr/>
          <a:lstStyle/>
          <a:p>
            <a:pPr eaLnBrk="1" hangingPunct="1"/>
            <a:r>
              <a:rPr lang="en-US" sz="3200"/>
              <a:t>Examples of Queries in Relational Algebra</a:t>
            </a:r>
          </a:p>
        </p:txBody>
      </p:sp>
      <p:sp>
        <p:nvSpPr>
          <p:cNvPr id="63492" name="Rectangle 9"/>
          <p:cNvSpPr>
            <a:spLocks noChangeArrowheads="1"/>
          </p:cNvSpPr>
          <p:nvPr/>
        </p:nvSpPr>
        <p:spPr bwMode="auto">
          <a:xfrm>
            <a:off x="228600" y="1652588"/>
            <a:ext cx="8547100" cy="4443412"/>
          </a:xfrm>
          <a:prstGeom prst="rect">
            <a:avLst/>
          </a:prstGeom>
          <a:noFill/>
          <a:ln w="9525">
            <a:noFill/>
            <a:miter lim="800000"/>
            <a:headEnd/>
            <a:tailEnd/>
          </a:ln>
        </p:spPr>
        <p:txBody>
          <a:bodyPr/>
          <a:lstStyle/>
          <a:p>
            <a:pPr marL="342900" indent="-342900">
              <a:spcBef>
                <a:spcPct val="20000"/>
              </a:spcBef>
              <a:buClr>
                <a:srgbClr val="990033"/>
              </a:buClr>
              <a:buSzPct val="60000"/>
              <a:buFont typeface="Wingdings" pitchFamily="2" charset="2"/>
              <a:buChar char="n"/>
            </a:pPr>
            <a:r>
              <a:rPr lang="en-US" sz="2000" b="1">
                <a:solidFill>
                  <a:schemeClr val="tx2"/>
                </a:solidFill>
                <a:latin typeface="Times New Roman" pitchFamily="71" charset="0"/>
              </a:rPr>
              <a:t>Q1: Retrieve the name and address of all employees who work for the ‘Research’ department.</a:t>
            </a:r>
          </a:p>
          <a:p>
            <a:pPr marL="342900" indent="-342900">
              <a:spcBef>
                <a:spcPct val="20000"/>
              </a:spcBef>
              <a:buClr>
                <a:srgbClr val="990033"/>
              </a:buClr>
              <a:buSzPct val="60000"/>
              <a:buFont typeface="Wingdings" pitchFamily="2" charset="2"/>
              <a:buNone/>
            </a:pPr>
            <a:r>
              <a:rPr lang="en-US" sz="1800">
                <a:solidFill>
                  <a:schemeClr val="tx2"/>
                </a:solidFill>
                <a:latin typeface="Times New Roman" pitchFamily="71" charset="0"/>
              </a:rPr>
              <a:t>	RESEARCH_DEPT </a:t>
            </a:r>
            <a:r>
              <a:rPr lang="en-US" sz="1800">
                <a:solidFill>
                  <a:schemeClr val="tx2"/>
                </a:solidFill>
                <a:latin typeface="Times New Roman" pitchFamily="71" charset="0"/>
                <a:sym typeface="Symbol" pitchFamily="71" charset="2"/>
              </a:rPr>
              <a:t></a:t>
            </a:r>
            <a:r>
              <a:rPr lang="en-US" sz="1800">
                <a:solidFill>
                  <a:schemeClr val="tx2"/>
                </a:solidFill>
                <a:latin typeface="Times New Roman" pitchFamily="71" charset="0"/>
              </a:rPr>
              <a:t> </a:t>
            </a:r>
            <a:r>
              <a:rPr lang="en-US" sz="2000" b="1">
                <a:solidFill>
                  <a:schemeClr val="tx2"/>
                </a:solidFill>
                <a:latin typeface="Symbol" pitchFamily="71" charset="2"/>
              </a:rPr>
              <a:t></a:t>
            </a:r>
            <a:r>
              <a:rPr lang="en-US" sz="1800">
                <a:solidFill>
                  <a:schemeClr val="tx2"/>
                </a:solidFill>
                <a:latin typeface="Times New Roman" pitchFamily="71" charset="0"/>
              </a:rPr>
              <a:t> </a:t>
            </a:r>
            <a:r>
              <a:rPr lang="en-US" sz="1200">
                <a:solidFill>
                  <a:schemeClr val="tx2"/>
                </a:solidFill>
                <a:latin typeface="Times New Roman" pitchFamily="71" charset="0"/>
              </a:rPr>
              <a:t>DNAME=’Research’ </a:t>
            </a:r>
            <a:r>
              <a:rPr lang="en-US" sz="1800">
                <a:solidFill>
                  <a:schemeClr val="tx2"/>
                </a:solidFill>
                <a:latin typeface="Times New Roman" pitchFamily="71" charset="0"/>
              </a:rPr>
              <a:t>(DEPARTMENT)</a:t>
            </a:r>
          </a:p>
          <a:p>
            <a:pPr marL="342900" indent="-342900">
              <a:spcBef>
                <a:spcPct val="20000"/>
              </a:spcBef>
              <a:buClr>
                <a:srgbClr val="990033"/>
              </a:buClr>
              <a:buSzPct val="60000"/>
              <a:buFont typeface="Wingdings" pitchFamily="2" charset="2"/>
              <a:buNone/>
            </a:pPr>
            <a:r>
              <a:rPr lang="en-US" sz="1800">
                <a:solidFill>
                  <a:schemeClr val="tx2"/>
                </a:solidFill>
                <a:latin typeface="Times New Roman" pitchFamily="71" charset="0"/>
              </a:rPr>
              <a:t>	RESEARCH_EMPS </a:t>
            </a:r>
            <a:r>
              <a:rPr lang="en-US" sz="1800">
                <a:solidFill>
                  <a:schemeClr val="tx2"/>
                </a:solidFill>
                <a:latin typeface="Times New Roman" pitchFamily="71" charset="0"/>
                <a:sym typeface="Symbol" pitchFamily="71" charset="2"/>
              </a:rPr>
              <a:t> </a:t>
            </a:r>
            <a:r>
              <a:rPr lang="en-US" sz="1800">
                <a:solidFill>
                  <a:schemeClr val="tx2"/>
                </a:solidFill>
                <a:latin typeface="Times New Roman" pitchFamily="71" charset="0"/>
              </a:rPr>
              <a:t>(RESEARCH_DEPT        </a:t>
            </a:r>
            <a:r>
              <a:rPr lang="en-US" sz="1200" baseline="-25000">
                <a:solidFill>
                  <a:schemeClr val="tx2"/>
                </a:solidFill>
                <a:latin typeface="Times New Roman" pitchFamily="71" charset="0"/>
              </a:rPr>
              <a:t>DNUMBER= DNOEMPLOYEE</a:t>
            </a:r>
            <a:r>
              <a:rPr lang="en-US" sz="1800">
                <a:solidFill>
                  <a:schemeClr val="tx2"/>
                </a:solidFill>
                <a:latin typeface="Times New Roman" pitchFamily="71" charset="0"/>
              </a:rPr>
              <a:t>EMPLOYEE)</a:t>
            </a:r>
          </a:p>
          <a:p>
            <a:pPr marL="342900" indent="-342900">
              <a:spcBef>
                <a:spcPct val="20000"/>
              </a:spcBef>
              <a:buClr>
                <a:srgbClr val="990033"/>
              </a:buClr>
              <a:buSzPct val="60000"/>
              <a:buFont typeface="Wingdings" pitchFamily="2" charset="2"/>
              <a:buNone/>
            </a:pPr>
            <a:r>
              <a:rPr lang="en-US" sz="1800">
                <a:solidFill>
                  <a:schemeClr val="tx2"/>
                </a:solidFill>
                <a:latin typeface="Times New Roman" pitchFamily="71" charset="0"/>
              </a:rPr>
              <a:t>	RESULT </a:t>
            </a:r>
            <a:r>
              <a:rPr lang="en-US" sz="1800">
                <a:solidFill>
                  <a:schemeClr val="tx2"/>
                </a:solidFill>
                <a:latin typeface="Times New Roman" pitchFamily="71" charset="0"/>
                <a:sym typeface="Symbol" pitchFamily="71" charset="2"/>
              </a:rPr>
              <a:t></a:t>
            </a:r>
            <a:r>
              <a:rPr lang="en-US" sz="1800">
                <a:solidFill>
                  <a:schemeClr val="tx2"/>
                </a:solidFill>
                <a:latin typeface="Times New Roman" pitchFamily="71" charset="0"/>
              </a:rPr>
              <a:t> </a:t>
            </a:r>
            <a:r>
              <a:rPr lang="en-US">
                <a:solidFill>
                  <a:schemeClr val="tx2"/>
                </a:solidFill>
                <a:latin typeface="Symbol" pitchFamily="71" charset="2"/>
              </a:rPr>
              <a:t></a:t>
            </a:r>
            <a:r>
              <a:rPr lang="en-US" sz="1800">
                <a:solidFill>
                  <a:schemeClr val="tx2"/>
                </a:solidFill>
                <a:latin typeface="Times New Roman" pitchFamily="71" charset="0"/>
              </a:rPr>
              <a:t> </a:t>
            </a:r>
            <a:r>
              <a:rPr lang="en-US" sz="1200">
                <a:solidFill>
                  <a:schemeClr val="tx2"/>
                </a:solidFill>
                <a:latin typeface="Times New Roman" pitchFamily="71" charset="0"/>
              </a:rPr>
              <a:t>FNAME, LNAME, ADDRESS</a:t>
            </a:r>
            <a:r>
              <a:rPr lang="en-US" sz="1800">
                <a:solidFill>
                  <a:schemeClr val="tx2"/>
                </a:solidFill>
                <a:latin typeface="Times New Roman" pitchFamily="71" charset="0"/>
              </a:rPr>
              <a:t> (RESEARCH_EMPS)</a:t>
            </a:r>
          </a:p>
          <a:p>
            <a:pPr marL="342900" indent="-342900">
              <a:spcBef>
                <a:spcPct val="20000"/>
              </a:spcBef>
              <a:buClr>
                <a:srgbClr val="990033"/>
              </a:buClr>
              <a:buSzPct val="60000"/>
              <a:buFont typeface="Wingdings" pitchFamily="2" charset="2"/>
              <a:buNone/>
            </a:pPr>
            <a:endParaRPr lang="en-US" sz="900">
              <a:solidFill>
                <a:schemeClr val="tx2"/>
              </a:solidFill>
              <a:latin typeface="Times New Roman" pitchFamily="71" charset="0"/>
            </a:endParaRPr>
          </a:p>
          <a:p>
            <a:pPr marL="342900" indent="-342900">
              <a:spcBef>
                <a:spcPct val="20000"/>
              </a:spcBef>
              <a:buClr>
                <a:srgbClr val="990033"/>
              </a:buClr>
              <a:buSzPct val="60000"/>
              <a:buFont typeface="Wingdings" pitchFamily="2" charset="2"/>
              <a:buChar char="n"/>
            </a:pPr>
            <a:r>
              <a:rPr lang="en-US" sz="2000" b="1">
                <a:solidFill>
                  <a:schemeClr val="tx2"/>
                </a:solidFill>
                <a:latin typeface="Times New Roman" pitchFamily="71" charset="0"/>
              </a:rPr>
              <a:t>Q6: Retrieve the names of employees who have no dependents.</a:t>
            </a:r>
          </a:p>
          <a:p>
            <a:pPr marL="342900" indent="-342900">
              <a:spcBef>
                <a:spcPct val="20000"/>
              </a:spcBef>
              <a:buClr>
                <a:srgbClr val="990033"/>
              </a:buClr>
              <a:buSzPct val="60000"/>
              <a:buFont typeface="Wingdings" pitchFamily="2" charset="2"/>
              <a:buNone/>
            </a:pPr>
            <a:r>
              <a:rPr lang="en-US" sz="1600">
                <a:solidFill>
                  <a:schemeClr val="tx2"/>
                </a:solidFill>
                <a:latin typeface="Times New Roman" pitchFamily="71" charset="0"/>
              </a:rPr>
              <a:t>	</a:t>
            </a:r>
            <a:r>
              <a:rPr lang="en-US" sz="1800">
                <a:solidFill>
                  <a:schemeClr val="tx2"/>
                </a:solidFill>
                <a:latin typeface="Times New Roman" pitchFamily="71" charset="0"/>
              </a:rPr>
              <a:t>ALL_EMPS </a:t>
            </a:r>
            <a:r>
              <a:rPr lang="en-US" sz="1800">
                <a:solidFill>
                  <a:schemeClr val="tx2"/>
                </a:solidFill>
                <a:latin typeface="Times New Roman" pitchFamily="71" charset="0"/>
                <a:sym typeface="Symbol" pitchFamily="71" charset="2"/>
              </a:rPr>
              <a:t></a:t>
            </a:r>
            <a:r>
              <a:rPr lang="en-US" sz="1600">
                <a:solidFill>
                  <a:schemeClr val="tx2"/>
                </a:solidFill>
                <a:latin typeface="Times New Roman" pitchFamily="71" charset="0"/>
              </a:rPr>
              <a:t> </a:t>
            </a:r>
            <a:r>
              <a:rPr lang="en-US">
                <a:solidFill>
                  <a:schemeClr val="tx2"/>
                </a:solidFill>
                <a:latin typeface="Symbol" pitchFamily="71" charset="2"/>
              </a:rPr>
              <a:t></a:t>
            </a:r>
            <a:r>
              <a:rPr lang="en-US" sz="1600">
                <a:solidFill>
                  <a:schemeClr val="tx2"/>
                </a:solidFill>
                <a:latin typeface="Times New Roman" pitchFamily="71" charset="0"/>
              </a:rPr>
              <a:t> </a:t>
            </a:r>
            <a:r>
              <a:rPr lang="en-US" sz="1200">
                <a:solidFill>
                  <a:schemeClr val="tx2"/>
                </a:solidFill>
                <a:latin typeface="Times New Roman" pitchFamily="71" charset="0"/>
              </a:rPr>
              <a:t>SSN</a:t>
            </a:r>
            <a:r>
              <a:rPr lang="en-US" sz="1800">
                <a:solidFill>
                  <a:schemeClr val="tx2"/>
                </a:solidFill>
                <a:latin typeface="Times New Roman" pitchFamily="71" charset="0"/>
              </a:rPr>
              <a:t>(EMPLOYEE)</a:t>
            </a:r>
          </a:p>
          <a:p>
            <a:pPr marL="342900" indent="-342900">
              <a:spcBef>
                <a:spcPct val="20000"/>
              </a:spcBef>
              <a:buClr>
                <a:srgbClr val="990033"/>
              </a:buClr>
              <a:buSzPct val="60000"/>
              <a:buFont typeface="Wingdings" pitchFamily="2" charset="2"/>
              <a:buNone/>
            </a:pPr>
            <a:r>
              <a:rPr lang="en-US" sz="1800">
                <a:solidFill>
                  <a:schemeClr val="tx2"/>
                </a:solidFill>
                <a:latin typeface="Times New Roman" pitchFamily="71" charset="0"/>
              </a:rPr>
              <a:t>	EMPS_WITH_DEPS</a:t>
            </a:r>
            <a:r>
              <a:rPr lang="en-US" sz="2000">
                <a:solidFill>
                  <a:schemeClr val="tx2"/>
                </a:solidFill>
                <a:latin typeface="Times New Roman" pitchFamily="71" charset="0"/>
              </a:rPr>
              <a:t>(</a:t>
            </a:r>
            <a:r>
              <a:rPr lang="en-US" sz="1800">
                <a:solidFill>
                  <a:schemeClr val="tx2"/>
                </a:solidFill>
                <a:latin typeface="Times New Roman" pitchFamily="71" charset="0"/>
              </a:rPr>
              <a:t>SSN</a:t>
            </a:r>
            <a:r>
              <a:rPr lang="en-US" sz="2000">
                <a:solidFill>
                  <a:schemeClr val="tx2"/>
                </a:solidFill>
                <a:latin typeface="Times New Roman" pitchFamily="71" charset="0"/>
              </a:rPr>
              <a:t>) </a:t>
            </a:r>
            <a:r>
              <a:rPr lang="en-US" sz="2000">
                <a:solidFill>
                  <a:schemeClr val="tx2"/>
                </a:solidFill>
                <a:latin typeface="Times New Roman" pitchFamily="71" charset="0"/>
                <a:sym typeface="Symbol" pitchFamily="71" charset="2"/>
              </a:rPr>
              <a:t></a:t>
            </a:r>
            <a:r>
              <a:rPr lang="en-US" sz="1600">
                <a:solidFill>
                  <a:schemeClr val="tx2"/>
                </a:solidFill>
                <a:latin typeface="Times New Roman" pitchFamily="71" charset="0"/>
              </a:rPr>
              <a:t> </a:t>
            </a:r>
            <a:r>
              <a:rPr lang="en-US">
                <a:solidFill>
                  <a:schemeClr val="tx2"/>
                </a:solidFill>
                <a:latin typeface="Symbol" pitchFamily="71" charset="2"/>
              </a:rPr>
              <a:t></a:t>
            </a:r>
            <a:r>
              <a:rPr lang="en-US" sz="1600">
                <a:solidFill>
                  <a:schemeClr val="tx2"/>
                </a:solidFill>
                <a:latin typeface="Times New Roman" pitchFamily="71" charset="0"/>
              </a:rPr>
              <a:t> </a:t>
            </a:r>
            <a:r>
              <a:rPr lang="en-US" sz="1200">
                <a:solidFill>
                  <a:schemeClr val="tx2"/>
                </a:solidFill>
                <a:latin typeface="Times New Roman" pitchFamily="71" charset="0"/>
              </a:rPr>
              <a:t>ESSN</a:t>
            </a:r>
            <a:r>
              <a:rPr lang="en-US" sz="2000">
                <a:solidFill>
                  <a:schemeClr val="tx2"/>
                </a:solidFill>
                <a:latin typeface="Times New Roman" pitchFamily="71" charset="0"/>
              </a:rPr>
              <a:t>(</a:t>
            </a:r>
            <a:r>
              <a:rPr lang="en-US" sz="1800">
                <a:solidFill>
                  <a:schemeClr val="tx2"/>
                </a:solidFill>
                <a:latin typeface="Times New Roman" pitchFamily="71" charset="0"/>
              </a:rPr>
              <a:t>DEPENDENT</a:t>
            </a:r>
            <a:r>
              <a:rPr lang="en-US" sz="2000">
                <a:solidFill>
                  <a:schemeClr val="tx2"/>
                </a:solidFill>
                <a:latin typeface="Times New Roman" pitchFamily="71" charset="0"/>
              </a:rPr>
              <a:t>)</a:t>
            </a:r>
          </a:p>
          <a:p>
            <a:pPr marL="342900" indent="-342900">
              <a:spcBef>
                <a:spcPct val="20000"/>
              </a:spcBef>
              <a:buClr>
                <a:srgbClr val="990033"/>
              </a:buClr>
              <a:buSzPct val="60000"/>
              <a:buFont typeface="Wingdings" pitchFamily="2" charset="2"/>
              <a:buNone/>
            </a:pPr>
            <a:r>
              <a:rPr lang="en-US" sz="2000">
                <a:solidFill>
                  <a:schemeClr val="tx2"/>
                </a:solidFill>
                <a:latin typeface="Times New Roman" pitchFamily="71" charset="0"/>
              </a:rPr>
              <a:t>	</a:t>
            </a:r>
            <a:r>
              <a:rPr lang="en-US" sz="1800">
                <a:solidFill>
                  <a:schemeClr val="tx2"/>
                </a:solidFill>
                <a:latin typeface="Times New Roman" pitchFamily="71" charset="0"/>
              </a:rPr>
              <a:t>EMPS_WITHOUT_DEPS </a:t>
            </a:r>
            <a:r>
              <a:rPr lang="en-US" sz="1800">
                <a:solidFill>
                  <a:schemeClr val="tx2"/>
                </a:solidFill>
                <a:latin typeface="Times New Roman" pitchFamily="71" charset="0"/>
                <a:sym typeface="Symbol" pitchFamily="71" charset="2"/>
              </a:rPr>
              <a:t></a:t>
            </a:r>
            <a:r>
              <a:rPr lang="en-US" sz="1800">
                <a:solidFill>
                  <a:schemeClr val="tx2"/>
                </a:solidFill>
                <a:latin typeface="Times New Roman" pitchFamily="71" charset="0"/>
              </a:rPr>
              <a:t> (ALL_EMPS </a:t>
            </a:r>
            <a:r>
              <a:rPr lang="en-US" sz="1800">
                <a:solidFill>
                  <a:schemeClr val="tx2"/>
                </a:solidFill>
              </a:rPr>
              <a:t>-</a:t>
            </a:r>
            <a:r>
              <a:rPr lang="en-US" sz="1800">
                <a:solidFill>
                  <a:schemeClr val="tx2"/>
                </a:solidFill>
                <a:latin typeface="Times New Roman" pitchFamily="71" charset="0"/>
              </a:rPr>
              <a:t> EMPS_WITH_DEPS)</a:t>
            </a:r>
          </a:p>
          <a:p>
            <a:pPr marL="342900" indent="-342900">
              <a:spcBef>
                <a:spcPct val="20000"/>
              </a:spcBef>
              <a:buClr>
                <a:srgbClr val="990033"/>
              </a:buClr>
              <a:buSzPct val="60000"/>
              <a:buFont typeface="Wingdings" pitchFamily="2" charset="2"/>
              <a:buNone/>
            </a:pPr>
            <a:r>
              <a:rPr lang="en-US" sz="2000">
                <a:solidFill>
                  <a:schemeClr val="tx2"/>
                </a:solidFill>
                <a:latin typeface="Times New Roman" pitchFamily="71" charset="0"/>
              </a:rPr>
              <a:t>	</a:t>
            </a:r>
            <a:r>
              <a:rPr lang="en-US" sz="1800">
                <a:solidFill>
                  <a:schemeClr val="tx2"/>
                </a:solidFill>
                <a:latin typeface="Times New Roman" pitchFamily="71" charset="0"/>
              </a:rPr>
              <a:t>RESULT </a:t>
            </a:r>
            <a:r>
              <a:rPr lang="en-US" sz="1800">
                <a:solidFill>
                  <a:schemeClr val="tx2"/>
                </a:solidFill>
                <a:latin typeface="Times New Roman" pitchFamily="71" charset="0"/>
                <a:sym typeface="Symbol" pitchFamily="71" charset="2"/>
              </a:rPr>
              <a:t></a:t>
            </a:r>
            <a:r>
              <a:rPr lang="en-US" sz="1800">
                <a:solidFill>
                  <a:schemeClr val="tx2"/>
                </a:solidFill>
                <a:latin typeface="Times New Roman" pitchFamily="71" charset="0"/>
              </a:rPr>
              <a:t> </a:t>
            </a:r>
            <a:r>
              <a:rPr lang="en-US">
                <a:solidFill>
                  <a:schemeClr val="tx2"/>
                </a:solidFill>
                <a:latin typeface="Symbol" pitchFamily="71" charset="2"/>
              </a:rPr>
              <a:t></a:t>
            </a:r>
            <a:r>
              <a:rPr lang="en-US" sz="1800">
                <a:solidFill>
                  <a:schemeClr val="tx2"/>
                </a:solidFill>
                <a:latin typeface="Times New Roman" pitchFamily="71" charset="0"/>
              </a:rPr>
              <a:t> </a:t>
            </a:r>
            <a:r>
              <a:rPr lang="en-US" sz="1400">
                <a:solidFill>
                  <a:schemeClr val="tx2"/>
                </a:solidFill>
                <a:latin typeface="Times New Roman" pitchFamily="71" charset="0"/>
              </a:rPr>
              <a:t>LNAME, FNAME</a:t>
            </a:r>
            <a:r>
              <a:rPr lang="en-US" sz="1800">
                <a:solidFill>
                  <a:schemeClr val="tx2"/>
                </a:solidFill>
                <a:latin typeface="Times New Roman" pitchFamily="71" charset="0"/>
              </a:rPr>
              <a:t> (EMPS_WITHOUT_DEPS * EMPLOYEE)</a:t>
            </a:r>
          </a:p>
        </p:txBody>
      </p:sp>
      <p:grpSp>
        <p:nvGrpSpPr>
          <p:cNvPr id="2" name="Group 10"/>
          <p:cNvGrpSpPr>
            <a:grpSpLocks/>
          </p:cNvGrpSpPr>
          <p:nvPr/>
        </p:nvGrpSpPr>
        <p:grpSpPr bwMode="auto">
          <a:xfrm>
            <a:off x="4953000" y="2720975"/>
            <a:ext cx="374650" cy="174625"/>
            <a:chOff x="377" y="2904"/>
            <a:chExt cx="154" cy="110"/>
          </a:xfrm>
        </p:grpSpPr>
        <p:sp>
          <p:nvSpPr>
            <p:cNvPr id="63494" name="Line 11"/>
            <p:cNvSpPr>
              <a:spLocks noChangeShapeType="1"/>
            </p:cNvSpPr>
            <p:nvPr/>
          </p:nvSpPr>
          <p:spPr bwMode="auto">
            <a:xfrm>
              <a:off x="381" y="2904"/>
              <a:ext cx="0" cy="110"/>
            </a:xfrm>
            <a:prstGeom prst="line">
              <a:avLst/>
            </a:prstGeom>
            <a:noFill/>
            <a:ln w="15875">
              <a:solidFill>
                <a:schemeClr val="bg2"/>
              </a:solidFill>
              <a:round/>
              <a:headEnd/>
              <a:tailEnd/>
            </a:ln>
          </p:spPr>
          <p:txBody>
            <a:bodyPr wrap="none" anchor="ctr"/>
            <a:lstStyle/>
            <a:p>
              <a:endParaRPr lang="en-US"/>
            </a:p>
          </p:txBody>
        </p:sp>
        <p:sp>
          <p:nvSpPr>
            <p:cNvPr id="63495" name="Line 12"/>
            <p:cNvSpPr>
              <a:spLocks noChangeShapeType="1"/>
            </p:cNvSpPr>
            <p:nvPr/>
          </p:nvSpPr>
          <p:spPr bwMode="auto">
            <a:xfrm>
              <a:off x="527" y="2904"/>
              <a:ext cx="0" cy="110"/>
            </a:xfrm>
            <a:prstGeom prst="line">
              <a:avLst/>
            </a:prstGeom>
            <a:noFill/>
            <a:ln w="15875">
              <a:solidFill>
                <a:schemeClr val="bg2"/>
              </a:solidFill>
              <a:round/>
              <a:headEnd/>
              <a:tailEnd/>
            </a:ln>
          </p:spPr>
          <p:txBody>
            <a:bodyPr wrap="none" anchor="ctr"/>
            <a:lstStyle/>
            <a:p>
              <a:endParaRPr lang="en-US"/>
            </a:p>
          </p:txBody>
        </p:sp>
        <p:sp>
          <p:nvSpPr>
            <p:cNvPr id="63496" name="Line 13"/>
            <p:cNvSpPr>
              <a:spLocks noChangeShapeType="1"/>
            </p:cNvSpPr>
            <p:nvPr/>
          </p:nvSpPr>
          <p:spPr bwMode="auto">
            <a:xfrm>
              <a:off x="385" y="2904"/>
              <a:ext cx="138" cy="110"/>
            </a:xfrm>
            <a:prstGeom prst="line">
              <a:avLst/>
            </a:prstGeom>
            <a:noFill/>
            <a:ln w="15875">
              <a:solidFill>
                <a:schemeClr val="bg2"/>
              </a:solidFill>
              <a:round/>
              <a:headEnd/>
              <a:tailEnd/>
            </a:ln>
          </p:spPr>
          <p:txBody>
            <a:bodyPr wrap="none" anchor="ctr"/>
            <a:lstStyle/>
            <a:p>
              <a:endParaRPr lang="en-US"/>
            </a:p>
          </p:txBody>
        </p:sp>
        <p:sp>
          <p:nvSpPr>
            <p:cNvPr id="63497" name="Line 14"/>
            <p:cNvSpPr>
              <a:spLocks noChangeShapeType="1"/>
            </p:cNvSpPr>
            <p:nvPr/>
          </p:nvSpPr>
          <p:spPr bwMode="auto">
            <a:xfrm flipH="1">
              <a:off x="377" y="2904"/>
              <a:ext cx="154" cy="110"/>
            </a:xfrm>
            <a:prstGeom prst="line">
              <a:avLst/>
            </a:prstGeom>
            <a:noFill/>
            <a:ln w="15875">
              <a:solidFill>
                <a:schemeClr val="bg2"/>
              </a:solidFill>
              <a:round/>
              <a:headEnd/>
              <a:tailEnd/>
            </a:ln>
          </p:spPr>
          <p:txBody>
            <a:bodyPr wrap="none" anchor="ctr"/>
            <a:lstStyle/>
            <a:p>
              <a:endParaRPr lang="en-US"/>
            </a:p>
          </p:txBody>
        </p:sp>
      </p:grpSp>
    </p:spTree>
  </p:cSld>
  <p:clrMapOvr>
    <a:masterClrMapping/>
  </p:clrMapOvr>
  <p:transition>
    <p:dissolv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442F4-51DB-46A7-8371-FBD5A627905E}"/>
              </a:ext>
            </a:extLst>
          </p:cNvPr>
          <p:cNvSpPr>
            <a:spLocks noGrp="1"/>
          </p:cNvSpPr>
          <p:nvPr>
            <p:ph type="title"/>
          </p:nvPr>
        </p:nvSpPr>
        <p:spPr>
          <a:xfrm>
            <a:off x="822960" y="286605"/>
            <a:ext cx="7543800" cy="322996"/>
          </a:xfrm>
        </p:spPr>
        <p:txBody>
          <a:bodyPr>
            <a:normAutofit fontScale="90000"/>
          </a:bodyPr>
          <a:lstStyle/>
          <a:p>
            <a:r>
              <a:rPr lang="en-IN" dirty="0"/>
              <a:t>Example Database State</a:t>
            </a:r>
          </a:p>
        </p:txBody>
      </p:sp>
      <p:pic>
        <p:nvPicPr>
          <p:cNvPr id="5" name="Picture 4">
            <a:extLst>
              <a:ext uri="{FF2B5EF4-FFF2-40B4-BE49-F238E27FC236}">
                <a16:creationId xmlns:a16="http://schemas.microsoft.com/office/drawing/2014/main" id="{EA3C8A15-32CA-467C-BF29-4B3DEE5D906B}"/>
              </a:ext>
            </a:extLst>
          </p:cNvPr>
          <p:cNvPicPr>
            <a:picLocks noChangeAspect="1"/>
          </p:cNvPicPr>
          <p:nvPr/>
        </p:nvPicPr>
        <p:blipFill>
          <a:blip r:embed="rId2"/>
          <a:stretch>
            <a:fillRect/>
          </a:stretch>
        </p:blipFill>
        <p:spPr>
          <a:xfrm>
            <a:off x="1219200" y="424164"/>
            <a:ext cx="6705600" cy="5671836"/>
          </a:xfrm>
          <a:prstGeom prst="rect">
            <a:avLst/>
          </a:prstGeom>
        </p:spPr>
      </p:pic>
    </p:spTree>
    <p:extLst>
      <p:ext uri="{BB962C8B-B14F-4D97-AF65-F5344CB8AC3E}">
        <p14:creationId xmlns:p14="http://schemas.microsoft.com/office/powerpoint/2010/main" val="1798426261"/>
      </p:ext>
    </p:extLst>
  </p:cSld>
  <p:clrMapOvr>
    <a:masterClrMapping/>
  </p:clrMapOvr>
  <p:transition>
    <p:dissolv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just"/>
            <a:r>
              <a:rPr lang="en-US" dirty="0"/>
              <a:t>Relational Database Design Using ER – to – Relational Mapping</a:t>
            </a:r>
          </a:p>
        </p:txBody>
      </p:sp>
      <p:sp>
        <p:nvSpPr>
          <p:cNvPr id="2" name="Content Placeholder 1"/>
          <p:cNvSpPr>
            <a:spLocks noGrp="1"/>
          </p:cNvSpPr>
          <p:nvPr>
            <p:ph idx="1"/>
          </p:nvPr>
        </p:nvSpPr>
        <p:spPr>
          <a:xfrm>
            <a:off x="612648" y="1676400"/>
            <a:ext cx="8153400" cy="4495800"/>
          </a:xfrm>
        </p:spPr>
        <p:txBody>
          <a:bodyPr>
            <a:normAutofit/>
          </a:bodyPr>
          <a:lstStyle/>
          <a:p>
            <a:pPr marL="624078" indent="-514350">
              <a:buFont typeface="+mj-lt"/>
              <a:buAutoNum type="arabicPeriod"/>
            </a:pPr>
            <a:endParaRPr lang="en-US" dirty="0"/>
          </a:p>
          <a:p>
            <a:pPr marL="624078" indent="-514350" algn="just">
              <a:buFont typeface="+mj-lt"/>
              <a:buAutoNum type="arabicPeriod"/>
            </a:pPr>
            <a:r>
              <a:rPr lang="en-US" dirty="0"/>
              <a:t>Mapping of Regular Entity Types</a:t>
            </a:r>
          </a:p>
          <a:p>
            <a:pPr marL="624078" indent="-514350">
              <a:buFont typeface="+mj-lt"/>
              <a:buAutoNum type="arabicPeriod"/>
            </a:pPr>
            <a:r>
              <a:rPr lang="en-US" dirty="0"/>
              <a:t>Mapping of Weak Entity Types</a:t>
            </a:r>
          </a:p>
          <a:p>
            <a:pPr marL="624078" indent="-514350">
              <a:buFont typeface="+mj-lt"/>
              <a:buAutoNum type="arabicPeriod"/>
            </a:pPr>
            <a:r>
              <a:rPr lang="en-US" dirty="0"/>
              <a:t>Mapping of Binary 1:1 Relationship Types</a:t>
            </a:r>
          </a:p>
          <a:p>
            <a:pPr marL="624078" indent="-514350">
              <a:buFont typeface="+mj-lt"/>
              <a:buAutoNum type="arabicPeriod"/>
            </a:pPr>
            <a:r>
              <a:rPr lang="en-US" dirty="0"/>
              <a:t>Mapping of Binary 1:N Relationship Types</a:t>
            </a:r>
          </a:p>
          <a:p>
            <a:pPr marL="624078" indent="-514350">
              <a:buFont typeface="+mj-lt"/>
              <a:buAutoNum type="arabicPeriod"/>
            </a:pPr>
            <a:r>
              <a:rPr lang="en-US" dirty="0"/>
              <a:t>Mapping of Binary M:N Relationship Types</a:t>
            </a:r>
          </a:p>
          <a:p>
            <a:pPr marL="624078" indent="-514350">
              <a:buFont typeface="+mj-lt"/>
              <a:buAutoNum type="arabicPeriod"/>
            </a:pPr>
            <a:r>
              <a:rPr lang="en-US" dirty="0"/>
              <a:t>Mapping of Multivalued Attributes</a:t>
            </a:r>
          </a:p>
          <a:p>
            <a:pPr marL="624078" indent="-514350">
              <a:buFont typeface="+mj-lt"/>
              <a:buAutoNum type="arabicPeriod"/>
            </a:pPr>
            <a:r>
              <a:rPr lang="en-US" dirty="0"/>
              <a:t>Mapping of N – ary Relationship Types</a:t>
            </a:r>
          </a:p>
          <a:p>
            <a:pPr marL="624078" indent="-514350">
              <a:buFont typeface="+mj-lt"/>
              <a:buAutoNum type="arabicPeriod"/>
            </a:pPr>
            <a:endParaRPr lang="en-US" dirty="0"/>
          </a:p>
        </p:txBody>
      </p:sp>
    </p:spTree>
  </p:cSld>
  <p:clrMapOvr>
    <a:masterClrMapping/>
  </p:clrMapOvr>
  <p:transition>
    <p:dissolv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a:t>Mapping of Regular Entity Types</a:t>
            </a:r>
          </a:p>
        </p:txBody>
      </p:sp>
      <p:sp>
        <p:nvSpPr>
          <p:cNvPr id="2" name="Content Placeholder 1"/>
          <p:cNvSpPr>
            <a:spLocks noGrp="1"/>
          </p:cNvSpPr>
          <p:nvPr>
            <p:ph idx="1"/>
          </p:nvPr>
        </p:nvSpPr>
        <p:spPr/>
        <p:txBody>
          <a:bodyPr>
            <a:normAutofit/>
          </a:bodyPr>
          <a:lstStyle/>
          <a:p>
            <a:pPr algn="just"/>
            <a:r>
              <a:rPr lang="en-US" dirty="0"/>
              <a:t>For each regular(strong) entity type E in the ER schema, create a relation R that includes all simple attributes of E.</a:t>
            </a:r>
          </a:p>
          <a:p>
            <a:pPr algn="just"/>
            <a:r>
              <a:rPr lang="en-US" dirty="0" smtClean="0"/>
              <a:t>Include </a:t>
            </a:r>
            <a:r>
              <a:rPr lang="en-US" dirty="0"/>
              <a:t>only the simple component attributes of a composite attribute.</a:t>
            </a:r>
          </a:p>
          <a:p>
            <a:pPr algn="just"/>
            <a:r>
              <a:rPr lang="en-US" dirty="0" smtClean="0"/>
              <a:t>Choose </a:t>
            </a:r>
            <a:r>
              <a:rPr lang="en-US" dirty="0"/>
              <a:t>one of the key attributes of E as the primary key of R.</a:t>
            </a:r>
          </a:p>
          <a:p>
            <a:pPr algn="just"/>
            <a:r>
              <a:rPr lang="en-US" dirty="0" smtClean="0"/>
              <a:t>If </a:t>
            </a:r>
            <a:r>
              <a:rPr lang="en-US" dirty="0"/>
              <a:t>the chosen key of E is a composite, then the set of simple attributes that form it will together form the primary key of R.</a:t>
            </a:r>
          </a:p>
          <a:p>
            <a:pPr algn="just"/>
            <a:r>
              <a:rPr lang="en-US" dirty="0" smtClean="0"/>
              <a:t>If </a:t>
            </a:r>
            <a:r>
              <a:rPr lang="en-US" dirty="0"/>
              <a:t>multiple keys were identified for E during the conceptual design, the information describing the attributes that form each additional key is kept in order to specify secondary keys of relation R.</a:t>
            </a:r>
          </a:p>
        </p:txBody>
      </p:sp>
    </p:spTree>
  </p:cSld>
  <p:clrMapOvr>
    <a:masterClrMapping/>
  </p:clrMapOvr>
  <p:transition>
    <p:dissolv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22960" y="286605"/>
            <a:ext cx="7543800" cy="1008796"/>
          </a:xfrm>
        </p:spPr>
        <p:txBody>
          <a:bodyPr/>
          <a:lstStyle/>
          <a:p>
            <a:r>
              <a:rPr lang="en-US" dirty="0"/>
              <a:t>Mapping of Weak Entity Types</a:t>
            </a:r>
          </a:p>
        </p:txBody>
      </p:sp>
      <p:sp>
        <p:nvSpPr>
          <p:cNvPr id="2" name="Content Placeholder 1"/>
          <p:cNvSpPr>
            <a:spLocks noGrp="1"/>
          </p:cNvSpPr>
          <p:nvPr>
            <p:ph idx="1"/>
          </p:nvPr>
        </p:nvSpPr>
        <p:spPr/>
        <p:txBody>
          <a:bodyPr>
            <a:normAutofit/>
          </a:bodyPr>
          <a:lstStyle/>
          <a:p>
            <a:pPr algn="just"/>
            <a:r>
              <a:rPr lang="en-US" dirty="0"/>
              <a:t>For each weak entity type W in the ER schema with owner entity type E, create a relation R and include all simple attributes of W as attributes of R.</a:t>
            </a:r>
          </a:p>
          <a:p>
            <a:pPr algn="just"/>
            <a:r>
              <a:rPr lang="en-US" dirty="0" smtClean="0"/>
              <a:t>In </a:t>
            </a:r>
            <a:r>
              <a:rPr lang="en-US" dirty="0"/>
              <a:t>addition, include as foreign key attributes of R, the primary key attribute(s) of the relation(s) that correspond to the owner entity type(s).</a:t>
            </a:r>
          </a:p>
          <a:p>
            <a:pPr algn="just"/>
            <a:r>
              <a:rPr lang="en-US" dirty="0" smtClean="0"/>
              <a:t>The </a:t>
            </a:r>
            <a:r>
              <a:rPr lang="en-US" dirty="0"/>
              <a:t>primary key of R is the combination of the primary key(s) of the owner(s) and the partial key of the weak entity type W, if any.</a:t>
            </a:r>
          </a:p>
          <a:p>
            <a:pPr algn="just"/>
            <a:r>
              <a:rPr lang="en-US" dirty="0" smtClean="0"/>
              <a:t>If </a:t>
            </a:r>
            <a:r>
              <a:rPr lang="en-US" dirty="0"/>
              <a:t>there is a weak entity type E</a:t>
            </a:r>
            <a:r>
              <a:rPr lang="en-US" baseline="-25000" dirty="0"/>
              <a:t>2</a:t>
            </a:r>
            <a:r>
              <a:rPr lang="en-US" dirty="0"/>
              <a:t> whose owner is also a weak entity type E</a:t>
            </a:r>
            <a:r>
              <a:rPr lang="en-US" baseline="-25000" dirty="0"/>
              <a:t>1</a:t>
            </a:r>
            <a:r>
              <a:rPr lang="en-US" dirty="0"/>
              <a:t>, then E</a:t>
            </a:r>
            <a:r>
              <a:rPr lang="en-US" baseline="-25000" dirty="0"/>
              <a:t>1</a:t>
            </a:r>
            <a:r>
              <a:rPr lang="en-US" dirty="0"/>
              <a:t> should be mapped before E</a:t>
            </a:r>
            <a:r>
              <a:rPr lang="en-US" baseline="-25000" dirty="0"/>
              <a:t>2</a:t>
            </a:r>
            <a:r>
              <a:rPr lang="en-US" dirty="0"/>
              <a:t> to determine its primary key first.</a:t>
            </a:r>
          </a:p>
        </p:txBody>
      </p:sp>
    </p:spTree>
  </p:cSld>
  <p:clrMapOvr>
    <a:masterClrMapping/>
  </p:clrMapOvr>
  <p:transition>
    <p:dissolv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22960" y="286605"/>
            <a:ext cx="7543800" cy="932596"/>
          </a:xfrm>
        </p:spPr>
        <p:txBody>
          <a:bodyPr>
            <a:noAutofit/>
          </a:bodyPr>
          <a:lstStyle/>
          <a:p>
            <a:r>
              <a:rPr lang="en-US" sz="2800" b="1" dirty="0"/>
              <a:t>Mapping of Binary 1:1 Relationship Types</a:t>
            </a:r>
          </a:p>
        </p:txBody>
      </p:sp>
      <p:sp>
        <p:nvSpPr>
          <p:cNvPr id="2" name="Content Placeholder 1"/>
          <p:cNvSpPr>
            <a:spLocks noGrp="1"/>
          </p:cNvSpPr>
          <p:nvPr>
            <p:ph idx="1"/>
          </p:nvPr>
        </p:nvSpPr>
        <p:spPr>
          <a:xfrm>
            <a:off x="822959" y="1845734"/>
            <a:ext cx="7543801" cy="2802466"/>
          </a:xfrm>
        </p:spPr>
        <p:txBody>
          <a:bodyPr>
            <a:noAutofit/>
          </a:bodyPr>
          <a:lstStyle/>
          <a:p>
            <a:pPr algn="just"/>
            <a:r>
              <a:rPr lang="en-US" sz="2800" dirty="0"/>
              <a:t>For each binary 1:1 relationship type R in ER schema, identify the relations S and T that correspond to the entity types participating in R.</a:t>
            </a:r>
          </a:p>
          <a:p>
            <a:pPr algn="just"/>
            <a:endParaRPr lang="en-US" sz="1600" dirty="0" smtClean="0"/>
          </a:p>
          <a:p>
            <a:pPr algn="just"/>
            <a:r>
              <a:rPr lang="en-US" sz="2800" dirty="0" smtClean="0"/>
              <a:t>There </a:t>
            </a:r>
            <a:r>
              <a:rPr lang="en-US" sz="2800" dirty="0"/>
              <a:t>are three possible approaches:</a:t>
            </a:r>
          </a:p>
          <a:p>
            <a:pPr lvl="1" algn="just"/>
            <a:r>
              <a:rPr lang="en-US" sz="2400" dirty="0"/>
              <a:t>The foreign key approach</a:t>
            </a:r>
          </a:p>
          <a:p>
            <a:pPr lvl="1" algn="just"/>
            <a:r>
              <a:rPr lang="en-US" sz="2400" dirty="0"/>
              <a:t>The merged relationship approach</a:t>
            </a:r>
          </a:p>
          <a:p>
            <a:pPr lvl="1" algn="just"/>
            <a:r>
              <a:rPr lang="en-US" sz="2400" dirty="0"/>
              <a:t>The cross reference or relationship relation approach</a:t>
            </a:r>
          </a:p>
          <a:p>
            <a:pPr algn="just"/>
            <a:endParaRPr lang="en-US" sz="2800" dirty="0"/>
          </a:p>
          <a:p>
            <a:pPr algn="just"/>
            <a:endParaRPr lang="en-US" sz="2800" dirty="0"/>
          </a:p>
        </p:txBody>
      </p:sp>
    </p:spTree>
  </p:cSld>
  <p:clrMapOvr>
    <a:masterClrMapping/>
  </p:clrMapOvr>
  <p:transition>
    <p:dissolv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2800" dirty="0"/>
              <a:t>Mapping of Binary 1:N Relationship Types</a:t>
            </a:r>
          </a:p>
        </p:txBody>
      </p:sp>
      <p:sp>
        <p:nvSpPr>
          <p:cNvPr id="2" name="Content Placeholder 1"/>
          <p:cNvSpPr>
            <a:spLocks noGrp="1"/>
          </p:cNvSpPr>
          <p:nvPr>
            <p:ph idx="1"/>
          </p:nvPr>
        </p:nvSpPr>
        <p:spPr/>
        <p:txBody>
          <a:bodyPr>
            <a:normAutofit/>
          </a:bodyPr>
          <a:lstStyle/>
          <a:p>
            <a:pPr algn="just"/>
            <a:r>
              <a:rPr lang="en-US" dirty="0"/>
              <a:t>For each regular binary 1:N relationship type R, identify the relation S that represents the participating entity type at the N – side of the relationship type.</a:t>
            </a:r>
          </a:p>
          <a:p>
            <a:pPr algn="just"/>
            <a:endParaRPr lang="en-US" dirty="0"/>
          </a:p>
          <a:p>
            <a:pPr algn="just"/>
            <a:r>
              <a:rPr lang="en-US" dirty="0"/>
              <a:t>Include as foreign key in S the primary key of relation T that represents the other entity type participating in R.</a:t>
            </a:r>
          </a:p>
          <a:p>
            <a:pPr algn="just"/>
            <a:endParaRPr lang="en-US" dirty="0"/>
          </a:p>
          <a:p>
            <a:pPr algn="just"/>
            <a:r>
              <a:rPr lang="en-US" dirty="0"/>
              <a:t>Include any simple attributes of the 1:N relationship type as attributes of S.</a:t>
            </a:r>
          </a:p>
        </p:txBody>
      </p:sp>
    </p:spTree>
  </p:cSld>
  <p:clrMapOvr>
    <a:masterClrMapping/>
  </p:clrMapOvr>
  <p:transition>
    <p:dissolv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2800" dirty="0"/>
              <a:t>Mapping of Binary M:N Relationship Types</a:t>
            </a:r>
          </a:p>
        </p:txBody>
      </p:sp>
      <p:sp>
        <p:nvSpPr>
          <p:cNvPr id="2" name="Content Placeholder 1"/>
          <p:cNvSpPr>
            <a:spLocks noGrp="1"/>
          </p:cNvSpPr>
          <p:nvPr>
            <p:ph idx="1"/>
          </p:nvPr>
        </p:nvSpPr>
        <p:spPr/>
        <p:txBody>
          <a:bodyPr>
            <a:normAutofit/>
          </a:bodyPr>
          <a:lstStyle/>
          <a:p>
            <a:pPr algn="just"/>
            <a:r>
              <a:rPr lang="en-US" dirty="0"/>
              <a:t>For each binary M:N relationship type R, create a new relation S to represent R. </a:t>
            </a:r>
          </a:p>
          <a:p>
            <a:pPr algn="just"/>
            <a:endParaRPr lang="en-US" dirty="0"/>
          </a:p>
          <a:p>
            <a:pPr algn="just"/>
            <a:r>
              <a:rPr lang="en-US" dirty="0"/>
              <a:t>Include as foreign key attributes in S the primary keys of the relations that represent the participating entity types.</a:t>
            </a:r>
          </a:p>
          <a:p>
            <a:pPr algn="just"/>
            <a:endParaRPr lang="en-US" dirty="0"/>
          </a:p>
          <a:p>
            <a:pPr algn="just"/>
            <a:r>
              <a:rPr lang="en-US" dirty="0"/>
              <a:t>Their combination will form the primary key of S.</a:t>
            </a:r>
          </a:p>
          <a:p>
            <a:pPr algn="just"/>
            <a:endParaRPr lang="en-US" dirty="0"/>
          </a:p>
          <a:p>
            <a:pPr algn="just"/>
            <a:r>
              <a:rPr lang="en-US" dirty="0"/>
              <a:t>Also include any simple attributes of the M:N relationship type as attributes of S.</a:t>
            </a:r>
          </a:p>
        </p:txBody>
      </p:sp>
    </p:spTree>
  </p:cSld>
  <p:clrMapOvr>
    <a:masterClrMapping/>
  </p:clrMapOvr>
  <p:transition>
    <p:dissolv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a:t>Mapping of Multivalued Attributes</a:t>
            </a:r>
          </a:p>
        </p:txBody>
      </p:sp>
      <p:sp>
        <p:nvSpPr>
          <p:cNvPr id="2" name="Content Placeholder 1"/>
          <p:cNvSpPr>
            <a:spLocks noGrp="1"/>
          </p:cNvSpPr>
          <p:nvPr>
            <p:ph idx="1"/>
          </p:nvPr>
        </p:nvSpPr>
        <p:spPr/>
        <p:txBody>
          <a:bodyPr>
            <a:normAutofit/>
          </a:bodyPr>
          <a:lstStyle/>
          <a:p>
            <a:pPr algn="just"/>
            <a:r>
              <a:rPr lang="en-US" dirty="0"/>
              <a:t>For each Multivalued attribute A, create a new relation R.</a:t>
            </a:r>
          </a:p>
          <a:p>
            <a:pPr algn="just"/>
            <a:endParaRPr lang="en-US" dirty="0"/>
          </a:p>
          <a:p>
            <a:pPr algn="just"/>
            <a:r>
              <a:rPr lang="en-US" dirty="0"/>
              <a:t>This relation R will include an attribute corresponding to A, plus the primary key attribute K – as foreign key in R – of the relation that represents the entity type or the relationship type that has A as an attribute.</a:t>
            </a:r>
          </a:p>
          <a:p>
            <a:pPr algn="just"/>
            <a:endParaRPr lang="en-US" dirty="0"/>
          </a:p>
          <a:p>
            <a:pPr algn="just"/>
            <a:r>
              <a:rPr lang="en-US" dirty="0"/>
              <a:t>The primary key of R is the combination of A and K.</a:t>
            </a:r>
          </a:p>
        </p:txBody>
      </p:sp>
    </p:spTree>
  </p:cSld>
  <p:clrMapOvr>
    <a:masterClrMapping/>
  </p:clrMapOvr>
  <p:transition>
    <p:dissolv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22960" y="286605"/>
            <a:ext cx="7543800" cy="703996"/>
          </a:xfrm>
        </p:spPr>
        <p:txBody>
          <a:bodyPr>
            <a:noAutofit/>
          </a:bodyPr>
          <a:lstStyle/>
          <a:p>
            <a:r>
              <a:rPr lang="en-US" sz="3200" b="1" dirty="0"/>
              <a:t>Mapping of N – ary Relationship Types</a:t>
            </a:r>
          </a:p>
        </p:txBody>
      </p:sp>
      <p:sp>
        <p:nvSpPr>
          <p:cNvPr id="2" name="Content Placeholder 1"/>
          <p:cNvSpPr>
            <a:spLocks noGrp="1"/>
          </p:cNvSpPr>
          <p:nvPr>
            <p:ph idx="1"/>
          </p:nvPr>
        </p:nvSpPr>
        <p:spPr>
          <a:xfrm>
            <a:off x="381000" y="1371600"/>
            <a:ext cx="8153400" cy="3124200"/>
          </a:xfrm>
        </p:spPr>
        <p:txBody>
          <a:bodyPr>
            <a:noAutofit/>
          </a:bodyPr>
          <a:lstStyle/>
          <a:p>
            <a:pPr algn="just"/>
            <a:r>
              <a:rPr lang="en-US" sz="2800" dirty="0"/>
              <a:t>For each N – ary relationship type R, where n&gt;2, create a new relation S to represent R.</a:t>
            </a:r>
          </a:p>
          <a:p>
            <a:pPr algn="just"/>
            <a:r>
              <a:rPr lang="en-US" sz="2800" dirty="0" smtClean="0"/>
              <a:t>Include </a:t>
            </a:r>
            <a:r>
              <a:rPr lang="en-US" sz="2800" dirty="0"/>
              <a:t>as foreign key attributes in S the primary keys of the relations that represent the participating  entity types.</a:t>
            </a:r>
          </a:p>
          <a:p>
            <a:pPr algn="just"/>
            <a:r>
              <a:rPr lang="en-US" sz="2800" dirty="0" smtClean="0"/>
              <a:t>Also </a:t>
            </a:r>
            <a:r>
              <a:rPr lang="en-US" sz="2800" dirty="0"/>
              <a:t>include any simple attributes of the n – ary relationship type as attributes of S.</a:t>
            </a:r>
          </a:p>
          <a:p>
            <a:pPr algn="just"/>
            <a:r>
              <a:rPr lang="en-US" sz="2800" dirty="0" smtClean="0"/>
              <a:t>The </a:t>
            </a:r>
            <a:r>
              <a:rPr lang="en-US" sz="2800" dirty="0"/>
              <a:t>primary key of S is usually a combination of all the foreign keys that reference the relations representing the participating entity types.</a:t>
            </a:r>
          </a:p>
        </p:txBody>
      </p:sp>
    </p:spTree>
  </p:cSld>
  <p:clrMapOvr>
    <a:masterClrMapping/>
  </p:clrMapOvr>
  <p:transition>
    <p:dissolv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1000" y="152400"/>
            <a:ext cx="9982200" cy="6129569"/>
          </a:xfrm>
          <a:prstGeom prst="rect">
            <a:avLst/>
          </a:prstGeom>
        </p:spPr>
      </p:pic>
    </p:spTree>
    <p:extLst>
      <p:ext uri="{BB962C8B-B14F-4D97-AF65-F5344CB8AC3E}">
        <p14:creationId xmlns:p14="http://schemas.microsoft.com/office/powerpoint/2010/main" val="889274110"/>
      </p:ext>
    </p:extLst>
  </p:cSld>
  <p:clrMapOvr>
    <a:masterClrMapping/>
  </p:clrMapOvr>
  <p:transition>
    <p:dissolv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52400" y="286604"/>
            <a:ext cx="8629323" cy="5764528"/>
          </a:xfrm>
          <a:prstGeom prst="rect">
            <a:avLst/>
          </a:prstGeom>
        </p:spPr>
      </p:pic>
    </p:spTree>
    <p:extLst>
      <p:ext uri="{BB962C8B-B14F-4D97-AF65-F5344CB8AC3E}">
        <p14:creationId xmlns:p14="http://schemas.microsoft.com/office/powerpoint/2010/main" val="4178401547"/>
      </p:ext>
    </p:extLst>
  </p:cSld>
  <p:clrMapOvr>
    <a:masterClrMapping/>
  </p:clrMapOvr>
  <p:transition>
    <p:dissolv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57751" y="421182"/>
            <a:ext cx="8674215" cy="5447912"/>
          </a:xfrm>
          <a:prstGeom prst="rect">
            <a:avLst/>
          </a:prstGeom>
        </p:spPr>
      </p:pic>
    </p:spTree>
    <p:extLst>
      <p:ext uri="{BB962C8B-B14F-4D97-AF65-F5344CB8AC3E}">
        <p14:creationId xmlns:p14="http://schemas.microsoft.com/office/powerpoint/2010/main" val="1700498076"/>
      </p:ext>
    </p:extLst>
  </p:cSld>
  <p:clrMapOvr>
    <a:masterClrMapping/>
  </p:clrMapOvr>
  <p:transition>
    <p:dissolv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3"/>
          <p:cNvPicPr>
            <a:picLocks noChangeAspect="1"/>
          </p:cNvPicPr>
          <p:nvPr/>
        </p:nvPicPr>
        <p:blipFill>
          <a:blip r:embed="rId2"/>
          <a:stretch>
            <a:fillRect/>
          </a:stretch>
        </p:blipFill>
        <p:spPr>
          <a:xfrm>
            <a:off x="33997" y="286604"/>
            <a:ext cx="8763000" cy="4381500"/>
          </a:xfrm>
          <a:prstGeom prst="rect">
            <a:avLst/>
          </a:prstGeom>
        </p:spPr>
      </p:pic>
    </p:spTree>
    <p:extLst>
      <p:ext uri="{BB962C8B-B14F-4D97-AF65-F5344CB8AC3E}">
        <p14:creationId xmlns:p14="http://schemas.microsoft.com/office/powerpoint/2010/main" val="1424588248"/>
      </p:ext>
    </p:extLst>
  </p:cSld>
  <p:clrMapOvr>
    <a:masterClrMapping/>
  </p:clrMapOvr>
  <p:transition>
    <p:dissolv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33400" y="533400"/>
            <a:ext cx="8089071" cy="5029200"/>
          </a:xfrm>
          <a:prstGeom prst="rect">
            <a:avLst/>
          </a:prstGeom>
        </p:spPr>
      </p:pic>
    </p:spTree>
    <p:extLst>
      <p:ext uri="{BB962C8B-B14F-4D97-AF65-F5344CB8AC3E}">
        <p14:creationId xmlns:p14="http://schemas.microsoft.com/office/powerpoint/2010/main" val="276146565"/>
      </p:ext>
    </p:extLst>
  </p:cSld>
  <p:clrMapOvr>
    <a:masterClrMapping/>
  </p:clrMapOvr>
  <p:transition>
    <p:dissolv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85800" y="457200"/>
            <a:ext cx="7772400" cy="5557537"/>
          </a:xfrm>
          <a:prstGeom prst="rect">
            <a:avLst/>
          </a:prstGeom>
        </p:spPr>
      </p:pic>
    </p:spTree>
    <p:extLst>
      <p:ext uri="{BB962C8B-B14F-4D97-AF65-F5344CB8AC3E}">
        <p14:creationId xmlns:p14="http://schemas.microsoft.com/office/powerpoint/2010/main" val="1574821916"/>
      </p:ext>
    </p:extLst>
  </p:cSld>
  <p:clrMapOvr>
    <a:masterClrMapping/>
  </p:clrMapOvr>
  <p:transition>
    <p:dissolv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81000" y="609600"/>
            <a:ext cx="8366760" cy="4648200"/>
          </a:xfrm>
          <a:prstGeom prst="rect">
            <a:avLst/>
          </a:prstGeom>
        </p:spPr>
      </p:pic>
    </p:spTree>
    <p:extLst>
      <p:ext uri="{BB962C8B-B14F-4D97-AF65-F5344CB8AC3E}">
        <p14:creationId xmlns:p14="http://schemas.microsoft.com/office/powerpoint/2010/main" val="1081748306"/>
      </p:ext>
    </p:extLst>
  </p:cSld>
  <p:clrMapOvr>
    <a:masterClrMapping/>
  </p:clrMapOvr>
  <p:transition>
    <p:dissolv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609600" y="457200"/>
            <a:ext cx="8373735" cy="5582490"/>
          </a:xfrm>
          <a:prstGeom prst="rect">
            <a:avLst/>
          </a:prstGeom>
        </p:spPr>
      </p:pic>
    </p:spTree>
    <p:extLst>
      <p:ext uri="{BB962C8B-B14F-4D97-AF65-F5344CB8AC3E}">
        <p14:creationId xmlns:p14="http://schemas.microsoft.com/office/powerpoint/2010/main" val="55220867"/>
      </p:ext>
    </p:extLst>
  </p:cSld>
  <p:clrMapOvr>
    <a:masterClrMapping/>
  </p:clrMapOvr>
  <p:transition>
    <p:dissolv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3581400"/>
            <a:ext cx="8779412" cy="2895600"/>
          </a:xfrm>
          <a:prstGeom prst="rect">
            <a:avLst/>
          </a:prstGeom>
        </p:spPr>
      </p:pic>
      <p:pic>
        <p:nvPicPr>
          <p:cNvPr id="2" name="Picture 1"/>
          <p:cNvPicPr>
            <a:picLocks noChangeAspect="1"/>
          </p:cNvPicPr>
          <p:nvPr/>
        </p:nvPicPr>
        <p:blipFill>
          <a:blip r:embed="rId3"/>
          <a:stretch>
            <a:fillRect/>
          </a:stretch>
        </p:blipFill>
        <p:spPr>
          <a:xfrm>
            <a:off x="1066800" y="228600"/>
            <a:ext cx="7315200" cy="3541006"/>
          </a:xfrm>
          <a:prstGeom prst="rect">
            <a:avLst/>
          </a:prstGeom>
        </p:spPr>
      </p:pic>
    </p:spTree>
    <p:extLst>
      <p:ext uri="{BB962C8B-B14F-4D97-AF65-F5344CB8AC3E}">
        <p14:creationId xmlns:p14="http://schemas.microsoft.com/office/powerpoint/2010/main" val="1407845101"/>
      </p:ext>
    </p:extLst>
  </p:cSld>
  <p:clrMapOvr>
    <a:masterClrMapping/>
  </p:clrMapOvr>
  <p:transition>
    <p:dissolv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1000" y="457200"/>
            <a:ext cx="8431140" cy="5105400"/>
          </a:xfrm>
          <a:prstGeom prst="rect">
            <a:avLst/>
          </a:prstGeom>
        </p:spPr>
      </p:pic>
    </p:spTree>
    <p:extLst>
      <p:ext uri="{BB962C8B-B14F-4D97-AF65-F5344CB8AC3E}">
        <p14:creationId xmlns:p14="http://schemas.microsoft.com/office/powerpoint/2010/main" val="2564757536"/>
      </p:ext>
    </p:extLst>
  </p:cSld>
  <p:clrMapOvr>
    <a:masterClrMapping/>
  </p:clrMapOvr>
  <p:transition>
    <p:dissolv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8200" y="5863"/>
            <a:ext cx="7543800" cy="6242538"/>
          </a:xfrm>
          <a:prstGeom prst="rect">
            <a:avLst/>
          </a:prstGeom>
        </p:spPr>
      </p:pic>
    </p:spTree>
    <p:extLst>
      <p:ext uri="{BB962C8B-B14F-4D97-AF65-F5344CB8AC3E}">
        <p14:creationId xmlns:p14="http://schemas.microsoft.com/office/powerpoint/2010/main" val="2510935177"/>
      </p:ext>
    </p:extLst>
  </p:cSld>
  <p:clrMapOvr>
    <a:masterClrMapping/>
  </p:clrMapOvr>
  <p:transition>
    <p:dissolv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75669" y="533400"/>
            <a:ext cx="8868331" cy="4953000"/>
          </a:xfrm>
          <a:prstGeom prst="rect">
            <a:avLst/>
          </a:prstGeom>
        </p:spPr>
      </p:pic>
    </p:spTree>
    <p:extLst>
      <p:ext uri="{BB962C8B-B14F-4D97-AF65-F5344CB8AC3E}">
        <p14:creationId xmlns:p14="http://schemas.microsoft.com/office/powerpoint/2010/main" val="4122376180"/>
      </p:ext>
    </p:extLst>
  </p:cSld>
  <p:clrMapOvr>
    <a:masterClrMapping/>
  </p:clrMapOvr>
  <p:transition>
    <p:dissolv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90600" y="457200"/>
            <a:ext cx="7391400" cy="5496734"/>
          </a:xfrm>
          <a:prstGeom prst="rect">
            <a:avLst/>
          </a:prstGeom>
        </p:spPr>
      </p:pic>
    </p:spTree>
    <p:extLst>
      <p:ext uri="{BB962C8B-B14F-4D97-AF65-F5344CB8AC3E}">
        <p14:creationId xmlns:p14="http://schemas.microsoft.com/office/powerpoint/2010/main" val="878445215"/>
      </p:ext>
    </p:extLst>
  </p:cSld>
  <p:clrMapOvr>
    <a:masterClrMapping/>
  </p:clrMapOvr>
  <p:transition>
    <p:dissolv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33400" y="381000"/>
            <a:ext cx="8212138" cy="5334000"/>
          </a:xfrm>
          <a:prstGeom prst="rect">
            <a:avLst/>
          </a:prstGeom>
        </p:spPr>
      </p:pic>
    </p:spTree>
    <p:extLst>
      <p:ext uri="{BB962C8B-B14F-4D97-AF65-F5344CB8AC3E}">
        <p14:creationId xmlns:p14="http://schemas.microsoft.com/office/powerpoint/2010/main" val="1675053924"/>
      </p:ext>
    </p:extLst>
  </p:cSld>
  <p:clrMapOvr>
    <a:masterClrMapping/>
  </p:clrMapOvr>
  <p:transition>
    <p:dissolv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5295" y="0"/>
            <a:ext cx="8991600" cy="5867400"/>
          </a:xfrm>
          <a:prstGeom prst="rect">
            <a:avLst/>
          </a:prstGeom>
        </p:spPr>
      </p:pic>
    </p:spTree>
    <p:extLst>
      <p:ext uri="{BB962C8B-B14F-4D97-AF65-F5344CB8AC3E}">
        <p14:creationId xmlns:p14="http://schemas.microsoft.com/office/powerpoint/2010/main" val="3091353852"/>
      </p:ext>
    </p:extLst>
  </p:cSld>
  <p:clrMapOvr>
    <a:masterClrMapping/>
  </p:clrMapOvr>
  <p:transition>
    <p:dissolv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85800" y="381000"/>
            <a:ext cx="7620000" cy="5518319"/>
          </a:xfrm>
          <a:prstGeom prst="rect">
            <a:avLst/>
          </a:prstGeom>
        </p:spPr>
      </p:pic>
    </p:spTree>
    <p:extLst>
      <p:ext uri="{BB962C8B-B14F-4D97-AF65-F5344CB8AC3E}">
        <p14:creationId xmlns:p14="http://schemas.microsoft.com/office/powerpoint/2010/main" val="4272620089"/>
      </p:ext>
    </p:extLst>
  </p:cSld>
  <p:clrMapOvr>
    <a:masterClrMapping/>
  </p:clrMapOvr>
  <p:transition>
    <p:dissolv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33400" y="533400"/>
            <a:ext cx="7899991" cy="5029200"/>
          </a:xfrm>
          <a:prstGeom prst="rect">
            <a:avLst/>
          </a:prstGeom>
        </p:spPr>
      </p:pic>
    </p:spTree>
    <p:extLst>
      <p:ext uri="{BB962C8B-B14F-4D97-AF65-F5344CB8AC3E}">
        <p14:creationId xmlns:p14="http://schemas.microsoft.com/office/powerpoint/2010/main" val="3624745267"/>
      </p:ext>
    </p:extLst>
  </p:cSld>
  <p:clrMapOvr>
    <a:masterClrMapping/>
  </p:clrMapOvr>
  <p:transition>
    <p:dissolv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1000" y="609599"/>
            <a:ext cx="8534400" cy="3306521"/>
          </a:xfrm>
          <a:prstGeom prst="rect">
            <a:avLst/>
          </a:prstGeom>
        </p:spPr>
      </p:pic>
    </p:spTree>
    <p:extLst>
      <p:ext uri="{BB962C8B-B14F-4D97-AF65-F5344CB8AC3E}">
        <p14:creationId xmlns:p14="http://schemas.microsoft.com/office/powerpoint/2010/main" val="2856255798"/>
      </p:ext>
    </p:extLst>
  </p:cSld>
  <p:clrMapOvr>
    <a:masterClrMapping/>
  </p:clrMapOvr>
  <p:transition>
    <p:dissolv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62000" y="228600"/>
            <a:ext cx="7772400" cy="5928102"/>
          </a:xfrm>
          <a:prstGeom prst="rect">
            <a:avLst/>
          </a:prstGeom>
        </p:spPr>
      </p:pic>
    </p:spTree>
    <p:extLst>
      <p:ext uri="{BB962C8B-B14F-4D97-AF65-F5344CB8AC3E}">
        <p14:creationId xmlns:p14="http://schemas.microsoft.com/office/powerpoint/2010/main" val="1348455255"/>
      </p:ext>
    </p:extLst>
  </p:cSld>
  <p:clrMapOvr>
    <a:masterClrMapping/>
  </p:clrMapOvr>
  <p:transition>
    <p:dissolv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2400" y="457200"/>
            <a:ext cx="8839199" cy="5562600"/>
          </a:xfrm>
          <a:prstGeom prst="rect">
            <a:avLst/>
          </a:prstGeom>
        </p:spPr>
      </p:pic>
    </p:spTree>
    <p:extLst>
      <p:ext uri="{BB962C8B-B14F-4D97-AF65-F5344CB8AC3E}">
        <p14:creationId xmlns:p14="http://schemas.microsoft.com/office/powerpoint/2010/main" val="753780123"/>
      </p:ext>
    </p:extLst>
  </p:cSld>
  <p:clrMapOvr>
    <a:masterClrMapping/>
  </p:clrMapOvr>
  <p:transition>
    <p:dissolv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 y="609600"/>
            <a:ext cx="8759990" cy="4876800"/>
          </a:xfrm>
          <a:prstGeom prst="rect">
            <a:avLst/>
          </a:prstGeom>
        </p:spPr>
      </p:pic>
    </p:spTree>
    <p:extLst>
      <p:ext uri="{BB962C8B-B14F-4D97-AF65-F5344CB8AC3E}">
        <p14:creationId xmlns:p14="http://schemas.microsoft.com/office/powerpoint/2010/main" val="2457112297"/>
      </p:ext>
    </p:extLst>
  </p:cSld>
  <p:clrMapOvr>
    <a:masterClrMapping/>
  </p:clrMapOvr>
  <p:transition>
    <p:dissolv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03_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066800"/>
            <a:ext cx="7489825" cy="495961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p:cNvSpPr>
            <a:spLocks noGrp="1" noChangeArrowheads="1"/>
          </p:cNvSpPr>
          <p:nvPr>
            <p:ph type="title"/>
          </p:nvPr>
        </p:nvSpPr>
        <p:spPr>
          <a:xfrm>
            <a:off x="1904999" y="182814"/>
            <a:ext cx="5715001" cy="597984"/>
          </a:xfrm>
          <a:noFill/>
          <a:ln/>
          <a:extLs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anchor="ctr">
            <a:spAutoFit/>
          </a:bodyPr>
          <a:lstStyle/>
          <a:p>
            <a:pPr algn="ctr"/>
            <a:r>
              <a:rPr lang="en-US" altLang="en-US" sz="2100" b="1" dirty="0"/>
              <a:t>ER DIAGRAM FOR A BANK </a:t>
            </a:r>
            <a:br>
              <a:rPr lang="en-US" altLang="en-US" sz="2100" b="1" dirty="0"/>
            </a:br>
            <a:r>
              <a:rPr lang="en-US" altLang="en-US" sz="2100" b="1" dirty="0"/>
              <a:t>DATABASE</a:t>
            </a:r>
          </a:p>
        </p:txBody>
      </p:sp>
    </p:spTree>
    <p:extLst>
      <p:ext uri="{BB962C8B-B14F-4D97-AF65-F5344CB8AC3E}">
        <p14:creationId xmlns:p14="http://schemas.microsoft.com/office/powerpoint/2010/main" val="2195877167"/>
      </p:ext>
    </p:extLst>
  </p:cSld>
  <p:clrMapOvr>
    <a:masterClrMapping/>
  </p:clrMapOvr>
  <p:transition>
    <p:dissolv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4"/>
          <p:cNvSpPr>
            <a:spLocks noGrp="1" noChangeArrowheads="1"/>
          </p:cNvSpPr>
          <p:nvPr>
            <p:ph type="title"/>
          </p:nvPr>
        </p:nvSpPr>
        <p:spPr/>
        <p:txBody>
          <a:bodyPr>
            <a:normAutofit/>
          </a:bodyPr>
          <a:lstStyle/>
          <a:p>
            <a:pPr eaLnBrk="1" hangingPunct="1"/>
            <a:r>
              <a:rPr lang="en-US"/>
              <a:t>Data Definition, Constraints, and Schema Changes</a:t>
            </a:r>
          </a:p>
        </p:txBody>
      </p:sp>
      <p:sp>
        <p:nvSpPr>
          <p:cNvPr id="5124" name="Rectangle 5"/>
          <p:cNvSpPr>
            <a:spLocks noGrp="1" noChangeArrowheads="1"/>
          </p:cNvSpPr>
          <p:nvPr>
            <p:ph idx="1"/>
          </p:nvPr>
        </p:nvSpPr>
        <p:spPr/>
        <p:txBody>
          <a:bodyPr/>
          <a:lstStyle/>
          <a:p>
            <a:pPr eaLnBrk="1" hangingPunct="1"/>
            <a:r>
              <a:rPr lang="en-US"/>
              <a:t>Used to CREATE, DROP, and ALTER the descriptions of the tables (relations) of a database</a:t>
            </a:r>
          </a:p>
        </p:txBody>
      </p:sp>
    </p:spTree>
  </p:cSld>
  <p:clrMapOvr>
    <a:masterClrMapping/>
  </p:clrMapOvr>
  <p:transition>
    <p:dissolv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oundry">
      <a:fillStyleLst>
        <a:solidFill>
          <a:schemeClr val="phClr"/>
        </a:solidFill>
        <a:gradFill rotWithShape="1">
          <a:gsLst>
            <a:gs pos="0">
              <a:schemeClr val="phClr">
                <a:tint val="70000"/>
                <a:satMod val="180000"/>
              </a:schemeClr>
            </a:gs>
            <a:gs pos="62000">
              <a:schemeClr val="phClr">
                <a:tint val="30000"/>
                <a:satMod val="180000"/>
              </a:schemeClr>
            </a:gs>
            <a:gs pos="100000">
              <a:schemeClr val="phClr">
                <a:tint val="22000"/>
                <a:satMod val="180000"/>
              </a:schemeClr>
            </a:gs>
          </a:gsLst>
          <a:lin ang="16200000" scaled="0"/>
        </a:gradFill>
        <a:gradFill rotWithShape="1">
          <a:gsLst>
            <a:gs pos="0">
              <a:schemeClr val="phClr">
                <a:shade val="58000"/>
                <a:satMod val="150000"/>
              </a:schemeClr>
            </a:gs>
            <a:gs pos="72000">
              <a:schemeClr val="phClr">
                <a:tint val="90000"/>
                <a:satMod val="135000"/>
              </a:schemeClr>
            </a:gs>
            <a:gs pos="100000">
              <a:schemeClr val="phClr">
                <a:tint val="80000"/>
                <a:satMod val="155000"/>
              </a:schemeClr>
            </a:gs>
          </a:gsLst>
          <a:lin ang="16200000" scaled="0"/>
        </a:gradFill>
      </a:fillStyleLst>
      <a:lnStyleLst>
        <a:ln w="9525" cap="flat" cmpd="sng" algn="ctr">
          <a:solidFill>
            <a:schemeClr val="phClr">
              <a:shade val="80000"/>
            </a:schemeClr>
          </a:solidFill>
          <a:prstDash val="solid"/>
        </a:ln>
        <a:ln w="381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4.xml><?xml version="1.0" encoding="utf-8"?>
<a:theme xmlns:a="http://schemas.openxmlformats.org/drawingml/2006/main" name="1_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Manju PPT Format for DBMS</Template>
  <TotalTime>15508</TotalTime>
  <Words>7302</Words>
  <Application>Microsoft Office PowerPoint</Application>
  <PresentationFormat>On-screen Show (4:3)</PresentationFormat>
  <Paragraphs>692</Paragraphs>
  <Slides>122</Slides>
  <Notes>60</Notes>
  <HiddenSlides>0</HiddenSlides>
  <MMClips>0</MMClips>
  <ScaleCrop>false</ScaleCrop>
  <HeadingPairs>
    <vt:vector size="6" baseType="variant">
      <vt:variant>
        <vt:lpstr>Fonts Used</vt:lpstr>
      </vt:variant>
      <vt:variant>
        <vt:i4>14</vt:i4>
      </vt:variant>
      <vt:variant>
        <vt:lpstr>Theme</vt:lpstr>
      </vt:variant>
      <vt:variant>
        <vt:i4>4</vt:i4>
      </vt:variant>
      <vt:variant>
        <vt:lpstr>Slide Titles</vt:lpstr>
      </vt:variant>
      <vt:variant>
        <vt:i4>122</vt:i4>
      </vt:variant>
    </vt:vector>
  </HeadingPairs>
  <TitlesOfParts>
    <vt:vector size="140" baseType="lpstr">
      <vt:lpstr>AkzidenzGroteskBE-Md</vt:lpstr>
      <vt:lpstr>AkzidenzGroteskBE-Regular</vt:lpstr>
      <vt:lpstr>Arial</vt:lpstr>
      <vt:lpstr>Book Antiqua</vt:lpstr>
      <vt:lpstr>Calibri</vt:lpstr>
      <vt:lpstr>Calibri Light</vt:lpstr>
      <vt:lpstr>Lucida Sans</vt:lpstr>
      <vt:lpstr>MinionPro-Bold</vt:lpstr>
      <vt:lpstr>MinionPro-It</vt:lpstr>
      <vt:lpstr>MinionPro-Regular</vt:lpstr>
      <vt:lpstr>Symbol</vt:lpstr>
      <vt:lpstr>Times New Roman</vt:lpstr>
      <vt:lpstr>Wingdings</vt:lpstr>
      <vt:lpstr>Wingdings 2</vt:lpstr>
      <vt:lpstr>Concourse</vt:lpstr>
      <vt:lpstr>Custom Design</vt:lpstr>
      <vt:lpstr>Retrospect</vt:lpstr>
      <vt:lpstr>1_Retrospect</vt:lpstr>
      <vt:lpstr>MODULE – 2 </vt:lpstr>
      <vt:lpstr>Relational Model Concepts</vt:lpstr>
      <vt:lpstr>Informal Definitions</vt:lpstr>
      <vt:lpstr>Domains, Attributes, Tuples and Relations</vt:lpstr>
      <vt:lpstr>Domains, Attributes, Tuples and Relations</vt:lpstr>
      <vt:lpstr>Contd…</vt:lpstr>
      <vt:lpstr>Mathematical Definition</vt:lpstr>
      <vt:lpstr>Example…</vt:lpstr>
      <vt:lpstr>Characteristics of Relations</vt:lpstr>
      <vt:lpstr>Ordering of Tuples in a Relation</vt:lpstr>
      <vt:lpstr>Ordering of values within a tuple and an Alternative definition of a relation</vt:lpstr>
      <vt:lpstr>Values and NULLs in the Tuples</vt:lpstr>
      <vt:lpstr>Interpretation (Meaning) of a Relation</vt:lpstr>
      <vt:lpstr>Example…</vt:lpstr>
      <vt:lpstr>Relational Model Notations</vt:lpstr>
      <vt:lpstr>Relational Model Constraints and Relational Database Schemas</vt:lpstr>
      <vt:lpstr>Constraints in the Relational Model</vt:lpstr>
      <vt:lpstr>Domain Constraints</vt:lpstr>
      <vt:lpstr>Key Constraints and Constraints on NULL values</vt:lpstr>
      <vt:lpstr>Relational Databases and Relational Database Schemas</vt:lpstr>
      <vt:lpstr>Entity Integrity Constraints</vt:lpstr>
      <vt:lpstr>Schema Diagram</vt:lpstr>
      <vt:lpstr>Example Database State</vt:lpstr>
      <vt:lpstr>Referential Integrity Constraints</vt:lpstr>
      <vt:lpstr>Foreign Key</vt:lpstr>
      <vt:lpstr>Update Operations and Dealing with Constraint Violations</vt:lpstr>
      <vt:lpstr>The Insert Operation-All</vt:lpstr>
      <vt:lpstr>The Delete Operation-RI</vt:lpstr>
      <vt:lpstr>The Update Operation</vt:lpstr>
      <vt:lpstr>The Transaction Concept</vt:lpstr>
      <vt:lpstr>Relational Algebra Overview</vt:lpstr>
      <vt:lpstr>Relational Algebra Overview</vt:lpstr>
      <vt:lpstr>Relational Algebra Overview</vt:lpstr>
      <vt:lpstr>Database State for COMPANY</vt:lpstr>
      <vt:lpstr>Unary Relational Operations: SELECT</vt:lpstr>
      <vt:lpstr>Unary Relational Operations: SELECT</vt:lpstr>
      <vt:lpstr>Unary Relational Operations: SELECT (contd.)</vt:lpstr>
      <vt:lpstr>The following query results refer to this database state</vt:lpstr>
      <vt:lpstr>Unary Relational Operations: PROJECT</vt:lpstr>
      <vt:lpstr>Unary Relational Operations: PROJECT (cont.)</vt:lpstr>
      <vt:lpstr>Unary Relational Operations: PROJECT (contd.)</vt:lpstr>
      <vt:lpstr>Examples of applying SELECT and PROJECT operations</vt:lpstr>
      <vt:lpstr>Relational Algebra Expressions</vt:lpstr>
      <vt:lpstr>Single expression versus sequence of relational operations (Example)</vt:lpstr>
      <vt:lpstr>Unary Relational Operations: RENAME</vt:lpstr>
      <vt:lpstr>Unary Relational Operations: RENAME (contd.)</vt:lpstr>
      <vt:lpstr>Unary Relational Operations: RENAME (contd.)</vt:lpstr>
      <vt:lpstr>Example of applying multiple operations and RENAME</vt:lpstr>
      <vt:lpstr>Relational Algebra Operations from Set Theory: UNION </vt:lpstr>
      <vt:lpstr>Relational Algebra Operations from Set Theory: UNION </vt:lpstr>
      <vt:lpstr>Example of the result of a UNION operation</vt:lpstr>
      <vt:lpstr>Relational Algebra Operations from Set Theory </vt:lpstr>
      <vt:lpstr>Relational Algebra Operations from Set Theory: INTERSECTION</vt:lpstr>
      <vt:lpstr>Relational Algebra Operations from Set Theory: SET DIFFERENCE (cont.) </vt:lpstr>
      <vt:lpstr>Example to illustrate the result of UNION, INTERSECT, and DIFFERENCE</vt:lpstr>
      <vt:lpstr>Some properties of UNION, INTERSECT, and DIFFERENCE</vt:lpstr>
      <vt:lpstr>Relational Algebra Operations from Set Theory: CARTESIAN PRODUCT</vt:lpstr>
      <vt:lpstr>Relational Algebra Operations from Set Theory: CARTESIAN PRODUCT (cont.)</vt:lpstr>
      <vt:lpstr>Relational Algebra Operations from Set Theory: CARTESIAN PRODUCT (cont.)</vt:lpstr>
      <vt:lpstr>Example of applying CARTESIAN PRODUCT</vt:lpstr>
      <vt:lpstr>Binary Relational Operations: JOIN</vt:lpstr>
      <vt:lpstr>Binary Relational Operations: JOIN (cont.)</vt:lpstr>
      <vt:lpstr>Example of applying the JOIN operation</vt:lpstr>
      <vt:lpstr>Some properties of JOIN</vt:lpstr>
      <vt:lpstr>Some properties of JOIN</vt:lpstr>
      <vt:lpstr>Binary Relational Operations: EQUIJOIN</vt:lpstr>
      <vt:lpstr>Binary Relational Operations:  NATURAL JOIN Operation</vt:lpstr>
      <vt:lpstr>Binary Relational Operations NATURAL JOIN (contd.)</vt:lpstr>
      <vt:lpstr>Binary Relational Operations NATURAL JOIN (contd.)</vt:lpstr>
      <vt:lpstr>Example of NATURAL JOIN operation</vt:lpstr>
      <vt:lpstr>Complete Set of Relational Operations</vt:lpstr>
      <vt:lpstr>Binary Relational Operations: DIVISION</vt:lpstr>
      <vt:lpstr>Example of DIVISION</vt:lpstr>
      <vt:lpstr>Recap of Relational Algebra Operations</vt:lpstr>
      <vt:lpstr>Additional Relational Operations: Aggregate Functions and Grouping</vt:lpstr>
      <vt:lpstr>Aggregate Function Operation</vt:lpstr>
      <vt:lpstr>Using Grouping with Aggregation</vt:lpstr>
      <vt:lpstr>Examples of applying aggregate functions and grouping</vt:lpstr>
      <vt:lpstr>Illustrating aggregate functions and grouping</vt:lpstr>
      <vt:lpstr>Additional Relational Operations (cont.)</vt:lpstr>
      <vt:lpstr>Additional Relational Operations (cont.)</vt:lpstr>
      <vt:lpstr>Additional Relational Operations (cont.)</vt:lpstr>
      <vt:lpstr>Additional Relational Operations (cont.) : OUTER  JOIN</vt:lpstr>
      <vt:lpstr>Additional Relational Operations (cont.)</vt:lpstr>
      <vt:lpstr>Additional Relational Operations (cont.)</vt:lpstr>
      <vt:lpstr>Example Database State</vt:lpstr>
      <vt:lpstr>Additional Relational Operations (cont.)</vt:lpstr>
      <vt:lpstr>Additional Relational Operations (cont.)</vt:lpstr>
      <vt:lpstr>PowerPoint Presentation</vt:lpstr>
      <vt:lpstr>Examples of Queries in Relational Algebra</vt:lpstr>
      <vt:lpstr>Example Database State</vt:lpstr>
      <vt:lpstr>Relational Database Design Using ER – to – Relational Mapping</vt:lpstr>
      <vt:lpstr>Mapping of Regular Entity Types</vt:lpstr>
      <vt:lpstr>Mapping of Weak Entity Types</vt:lpstr>
      <vt:lpstr>Mapping of Binary 1:1 Relationship Types</vt:lpstr>
      <vt:lpstr>Mapping of Binary 1:N Relationship Types</vt:lpstr>
      <vt:lpstr>Mapping of Binary M:N Relationship Types</vt:lpstr>
      <vt:lpstr>Mapping of Multivalued Attributes</vt:lpstr>
      <vt:lpstr>Mapping of N – ary Relationship Types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ER DIAGRAM FOR A BANK  DATABASE</vt:lpstr>
      <vt:lpstr>Data Definition, Constraints, and Schema Changes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 RELATIONAL MODEL, RELATIONAL ALGEBRA, SQL</dc:title>
  <dc:creator>Manjunatha A S</dc:creator>
  <cp:lastModifiedBy>Mushtaq</cp:lastModifiedBy>
  <cp:revision>121</cp:revision>
  <dcterms:created xsi:type="dcterms:W3CDTF">2006-08-16T00:00:00Z</dcterms:created>
  <dcterms:modified xsi:type="dcterms:W3CDTF">2026-03-18T04:58:45Z</dcterms:modified>
</cp:coreProperties>
</file>