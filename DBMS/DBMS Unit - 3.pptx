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709" r:id="rId3"/>
  </p:sldMasterIdLst>
  <p:notesMasterIdLst>
    <p:notesMasterId r:id="rId84"/>
  </p:notesMasterIdLst>
  <p:sldIdLst>
    <p:sldId id="436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387" r:id="rId39"/>
    <p:sldId id="388" r:id="rId40"/>
    <p:sldId id="389" r:id="rId41"/>
    <p:sldId id="390" r:id="rId42"/>
    <p:sldId id="391" r:id="rId43"/>
    <p:sldId id="392" r:id="rId44"/>
    <p:sldId id="393" r:id="rId45"/>
    <p:sldId id="394" r:id="rId46"/>
    <p:sldId id="395" r:id="rId47"/>
    <p:sldId id="396" r:id="rId48"/>
    <p:sldId id="397" r:id="rId49"/>
    <p:sldId id="398" r:id="rId50"/>
    <p:sldId id="399" r:id="rId51"/>
    <p:sldId id="400" r:id="rId52"/>
    <p:sldId id="401" r:id="rId53"/>
    <p:sldId id="402" r:id="rId54"/>
    <p:sldId id="403" r:id="rId55"/>
    <p:sldId id="404" r:id="rId56"/>
    <p:sldId id="405" r:id="rId57"/>
    <p:sldId id="406" r:id="rId58"/>
    <p:sldId id="438" r:id="rId59"/>
    <p:sldId id="407" r:id="rId60"/>
    <p:sldId id="408" r:id="rId61"/>
    <p:sldId id="439" r:id="rId62"/>
    <p:sldId id="409" r:id="rId63"/>
    <p:sldId id="410" r:id="rId64"/>
    <p:sldId id="411" r:id="rId65"/>
    <p:sldId id="412" r:id="rId66"/>
    <p:sldId id="413" r:id="rId67"/>
    <p:sldId id="414" r:id="rId68"/>
    <p:sldId id="415" r:id="rId69"/>
    <p:sldId id="416" r:id="rId70"/>
    <p:sldId id="417" r:id="rId71"/>
    <p:sldId id="418" r:id="rId72"/>
    <p:sldId id="419" r:id="rId73"/>
    <p:sldId id="420" r:id="rId74"/>
    <p:sldId id="421" r:id="rId75"/>
    <p:sldId id="422" r:id="rId76"/>
    <p:sldId id="423" r:id="rId77"/>
    <p:sldId id="424" r:id="rId78"/>
    <p:sldId id="440" r:id="rId79"/>
    <p:sldId id="425" r:id="rId80"/>
    <p:sldId id="426" r:id="rId81"/>
    <p:sldId id="427" r:id="rId82"/>
    <p:sldId id="437" r:id="rId8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68C70-67D0-4074-940C-EF6473263E72}" type="datetimeFigureOut">
              <a:rPr lang="en-US" smtClean="0"/>
              <a:pPr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25AC-DB57-4545-9843-741B52998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C48E5C-5684-45ED-BB12-B02062AC900D}" type="slidenum">
              <a:rPr lang="en-CA"/>
              <a:pPr/>
              <a:t>2</a:t>
            </a:fld>
            <a:endParaRPr lang="en-CA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B832EF-C3EE-488D-9AE4-E84928ACC7E1}" type="slidenum">
              <a:rPr lang="en-CA"/>
              <a:pPr/>
              <a:t>3</a:t>
            </a:fld>
            <a:endParaRPr lang="en-CA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97DB13-D1A5-40D2-BF7F-134BD7A327F5}" type="slidenum">
              <a:rPr lang="en-CA"/>
              <a:pPr/>
              <a:t>4</a:t>
            </a:fld>
            <a:endParaRPr lang="en-CA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03B50C-F3A6-4DD5-8AF6-35DAE0CDBA2D}" type="slidenum">
              <a:rPr lang="en-CA"/>
              <a:pPr/>
              <a:t>6</a:t>
            </a:fld>
            <a:endParaRPr lang="en-CA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4942EF-8F2B-493A-83D1-2B74E1C36919}" type="slidenum">
              <a:rPr lang="en-CA"/>
              <a:pPr/>
              <a:t>7</a:t>
            </a:fld>
            <a:endParaRPr lang="en-CA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D14D41-9C53-4947-8D9A-36EBA8ECEA96}" type="slidenum">
              <a:rPr lang="en-CA"/>
              <a:pPr/>
              <a:t>9</a:t>
            </a:fld>
            <a:endParaRPr lang="en-CA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7E2729-350C-4B63-A809-23C311006ABC}" type="slidenum">
              <a:rPr lang="en-CA"/>
              <a:pPr/>
              <a:t>10</a:t>
            </a:fld>
            <a:endParaRPr lang="en-CA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890B4D-A0A1-4FCB-9D5F-F262206BD0AD}" type="slidenum">
              <a:rPr lang="en-CA"/>
              <a:pPr/>
              <a:t>11</a:t>
            </a:fld>
            <a:endParaRPr lang="en-CA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0283DB-CCEB-4FB6-A5B8-6A66431B13CF}" type="slidenum">
              <a:rPr lang="en-CA"/>
              <a:pPr/>
              <a:t>12</a:t>
            </a:fld>
            <a:endParaRPr lang="en-CA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DB7A28-9E1F-4139-95E8-C0EA3CFF11D7}" type="slidenum">
              <a:rPr lang="en-CA"/>
              <a:pPr/>
              <a:t>14</a:t>
            </a:fld>
            <a:endParaRPr lang="en-CA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421314-B6D7-4187-BDB3-62D7D662E964}" type="slidenum">
              <a:rPr lang="en-CA"/>
              <a:pPr/>
              <a:t>15</a:t>
            </a:fld>
            <a:endParaRPr lang="en-CA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AA6444-E54E-47C2-93E1-129D28E7FE45}" type="slidenum">
              <a:rPr lang="en-CA"/>
              <a:pPr/>
              <a:t>16</a:t>
            </a:fld>
            <a:endParaRPr lang="en-CA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65B5C5-FA3D-4859-95D5-ECD4367FCFBB}" type="slidenum">
              <a:rPr lang="en-CA"/>
              <a:pPr/>
              <a:t>17</a:t>
            </a:fld>
            <a:endParaRPr lang="en-CA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9E4559-B560-4C15-A1CA-66F93B344A2E}" type="slidenum">
              <a:rPr lang="en-CA"/>
              <a:pPr/>
              <a:t>18</a:t>
            </a:fld>
            <a:endParaRPr lang="en-CA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A8D408-C701-4213-9589-C8773BA4A125}" type="slidenum">
              <a:rPr lang="en-CA"/>
              <a:pPr/>
              <a:t>19</a:t>
            </a:fld>
            <a:endParaRPr lang="en-CA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350FE6-E51F-4F41-89F3-1A054462E123}" type="slidenum">
              <a:rPr lang="en-CA"/>
              <a:pPr/>
              <a:t>20</a:t>
            </a:fld>
            <a:endParaRPr lang="en-CA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3E8D21-C110-466E-B3B6-06D606BE39AF}" type="slidenum">
              <a:rPr lang="en-CA"/>
              <a:pPr/>
              <a:t>21</a:t>
            </a:fld>
            <a:endParaRPr lang="en-CA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F25743-4A4B-4443-9ED3-69481AFBA7F9}" type="slidenum">
              <a:rPr lang="en-CA"/>
              <a:pPr/>
              <a:t>22</a:t>
            </a:fld>
            <a:endParaRPr lang="en-CA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9EEB65-7758-49DB-BB4D-2E470B0806E5}" type="slidenum">
              <a:rPr lang="en-CA"/>
              <a:pPr/>
              <a:t>23</a:t>
            </a:fld>
            <a:endParaRPr lang="en-CA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F6D119-C4E2-4E0C-B4C7-2A3D55935EC9}" type="slidenum">
              <a:rPr lang="en-CA"/>
              <a:pPr/>
              <a:t>24</a:t>
            </a:fld>
            <a:endParaRPr lang="en-CA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F0F238-BDBF-4298-8296-C90EE49B8A5B}" type="slidenum">
              <a:rPr lang="en-CA"/>
              <a:pPr/>
              <a:t>25</a:t>
            </a:fld>
            <a:endParaRPr lang="en-CA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8944C9-5722-44C4-81DE-1E3DC0B4FCA5}" type="slidenum">
              <a:rPr lang="en-CA"/>
              <a:pPr/>
              <a:t>26</a:t>
            </a:fld>
            <a:endParaRPr lang="en-CA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B1F59-A280-4DAD-96B2-A287E1156C58}" type="slidenum">
              <a:rPr lang="en-CA"/>
              <a:pPr/>
              <a:t>27</a:t>
            </a:fld>
            <a:endParaRPr lang="en-CA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6BA3B-7374-471E-B860-DBD5CCDD7B42}" type="slidenum">
              <a:rPr lang="en-CA"/>
              <a:pPr/>
              <a:t>28</a:t>
            </a:fld>
            <a:endParaRPr lang="en-CA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F000A4-8136-4F89-AF54-A1E2074CDBBC}" type="slidenum">
              <a:rPr lang="en-CA"/>
              <a:pPr/>
              <a:t>29</a:t>
            </a:fld>
            <a:endParaRPr lang="en-CA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60543A-4244-4A8D-9BC7-8904A4DA7AD1}" type="slidenum">
              <a:rPr lang="en-CA"/>
              <a:pPr/>
              <a:t>30</a:t>
            </a:fld>
            <a:endParaRPr lang="en-CA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DEA43B-43A6-4BB6-AC02-8675D7F7356D}" type="slidenum">
              <a:rPr lang="en-CA"/>
              <a:pPr/>
              <a:t>31</a:t>
            </a:fld>
            <a:endParaRPr lang="en-CA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1E2F7B-963E-4670-AF85-D09501DD484E}" type="slidenum">
              <a:rPr lang="en-CA"/>
              <a:pPr/>
              <a:t>32</a:t>
            </a:fld>
            <a:endParaRPr lang="en-CA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ABAD9-DBB9-4E78-8D72-0FBA143FB7FA}" type="slidenum">
              <a:rPr lang="en-CA"/>
              <a:pPr/>
              <a:t>33</a:t>
            </a:fld>
            <a:endParaRPr lang="en-CA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EEFE16-ABB5-46BF-B262-8943A2050633}" type="slidenum">
              <a:rPr lang="en-CA"/>
              <a:pPr/>
              <a:t>34</a:t>
            </a:fld>
            <a:endParaRPr lang="en-CA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018A03-DFDC-45BD-AC76-248EBCC5ADDA}" type="slidenum">
              <a:rPr lang="en-CA"/>
              <a:pPr/>
              <a:t>35</a:t>
            </a:fld>
            <a:endParaRPr lang="en-CA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F78980-635D-49F2-BD50-8A170DC5887F}" type="slidenum">
              <a:rPr lang="en-CA"/>
              <a:pPr/>
              <a:t>36</a:t>
            </a:fld>
            <a:endParaRPr lang="en-CA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447D1E-1BCA-4EF1-974F-A6A1791C6E95}" type="slidenum">
              <a:rPr lang="en-CA"/>
              <a:pPr/>
              <a:t>37</a:t>
            </a:fld>
            <a:endParaRPr lang="en-CA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8E2A11-9906-4894-8F12-3338CADB7B90}" type="slidenum">
              <a:rPr lang="en-CA"/>
              <a:pPr/>
              <a:t>38</a:t>
            </a:fld>
            <a:endParaRPr lang="en-CA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7D78B7-A983-4F4E-B791-4F61A9E214AA}" type="slidenum">
              <a:rPr lang="en-CA"/>
              <a:pPr/>
              <a:t>39</a:t>
            </a:fld>
            <a:endParaRPr lang="en-CA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75E01A-0338-4544-BFF3-F2E75261E9C0}" type="slidenum">
              <a:rPr lang="en-CA"/>
              <a:pPr/>
              <a:t>40</a:t>
            </a:fld>
            <a:endParaRPr lang="en-CA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49615-918C-47C7-A4C3-48793CD496C6}" type="slidenum">
              <a:rPr lang="en-CA"/>
              <a:pPr/>
              <a:t>41</a:t>
            </a:fld>
            <a:endParaRPr lang="en-CA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DE751B-9575-495B-8E99-88496C6CC0E5}" type="slidenum">
              <a:rPr lang="en-CA"/>
              <a:pPr/>
              <a:t>42</a:t>
            </a:fld>
            <a:endParaRPr lang="en-CA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F3162A-A65E-4155-B85F-5F260CBF6989}" type="slidenum">
              <a:rPr lang="en-CA"/>
              <a:pPr/>
              <a:t>43</a:t>
            </a:fld>
            <a:endParaRPr lang="en-CA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7903CC-E233-49C0-9EEA-66279528F40A}" type="slidenum">
              <a:rPr lang="en-CA"/>
              <a:pPr/>
              <a:t>44</a:t>
            </a:fld>
            <a:endParaRPr lang="en-CA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B8E580-1685-4788-A560-DC08DA2F74FD}" type="slidenum">
              <a:rPr lang="en-CA"/>
              <a:pPr/>
              <a:t>45</a:t>
            </a:fld>
            <a:endParaRPr lang="en-CA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B10D6D-525D-4B7F-8A69-BD1B6476FA31}" type="slidenum">
              <a:rPr lang="en-CA"/>
              <a:pPr/>
              <a:t>46</a:t>
            </a:fld>
            <a:endParaRPr lang="en-CA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5A8084-660D-4F6E-A3A1-40AE76EDF039}" type="slidenum">
              <a:rPr lang="en-CA"/>
              <a:pPr/>
              <a:t>47</a:t>
            </a:fld>
            <a:endParaRPr lang="en-CA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02F727-C9E4-4B0D-A8CB-62D6B95E9829}" type="slidenum">
              <a:rPr lang="en-CA"/>
              <a:pPr/>
              <a:t>48</a:t>
            </a:fld>
            <a:endParaRPr lang="en-CA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F2F1A9-4DB9-40E2-A822-DD7C986283D5}" type="slidenum">
              <a:rPr lang="en-CA"/>
              <a:pPr/>
              <a:t>49</a:t>
            </a:fld>
            <a:endParaRPr lang="en-CA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9EB293-422E-4582-83DA-901B08268153}" type="slidenum">
              <a:rPr lang="en-CA"/>
              <a:pPr/>
              <a:t>50</a:t>
            </a:fld>
            <a:endParaRPr lang="en-CA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BC1EE6-AB9F-4DDC-8D69-0DB679515032}" type="slidenum">
              <a:rPr lang="en-CA"/>
              <a:pPr/>
              <a:t>51</a:t>
            </a:fld>
            <a:endParaRPr lang="en-CA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89C254-267F-49ED-A5D6-F859ADCA43D1}" type="slidenum">
              <a:rPr lang="en-CA"/>
              <a:pPr/>
              <a:t>52</a:t>
            </a:fld>
            <a:endParaRPr lang="en-CA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4588A6-8B24-4F33-8D1D-B6488E837695}" type="slidenum">
              <a:rPr lang="en-CA"/>
              <a:pPr/>
              <a:t>53</a:t>
            </a:fld>
            <a:endParaRPr lang="en-CA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635CD8-1637-4655-9FF4-A129DE74DF9B}" type="slidenum">
              <a:rPr lang="en-CA"/>
              <a:pPr/>
              <a:t>54</a:t>
            </a:fld>
            <a:endParaRPr lang="en-CA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DF4D4D-A96A-4122-A65D-9476BB29B51C}" type="slidenum">
              <a:rPr lang="en-CA"/>
              <a:pPr/>
              <a:t>55</a:t>
            </a:fld>
            <a:endParaRPr lang="en-CA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D7A655-9799-4990-8A59-BA06A8F4C724}" type="slidenum">
              <a:rPr lang="en-CA"/>
              <a:pPr/>
              <a:t>57</a:t>
            </a:fld>
            <a:endParaRPr lang="en-CA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FB4227-DACB-4920-A549-ABD950D02DC8}" type="slidenum">
              <a:rPr lang="en-CA"/>
              <a:pPr/>
              <a:t>58</a:t>
            </a:fld>
            <a:endParaRPr lang="en-CA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109A1D-DE18-41E8-B56C-589C59801688}" type="slidenum">
              <a:rPr lang="en-CA"/>
              <a:pPr/>
              <a:t>60</a:t>
            </a:fld>
            <a:endParaRPr lang="en-CA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A6039C-B7A8-4CFF-ABF4-364AF76EBB3D}" type="slidenum">
              <a:rPr lang="en-CA"/>
              <a:pPr/>
              <a:t>61</a:t>
            </a:fld>
            <a:endParaRPr lang="en-CA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E52A3C-32C4-4911-8EEB-327485C93B2F}" type="slidenum">
              <a:rPr lang="en-CA"/>
              <a:pPr/>
              <a:t>62</a:t>
            </a:fld>
            <a:endParaRPr lang="en-CA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1AE83B-7688-47F2-8785-DD65DD0C985A}" type="slidenum">
              <a:rPr lang="en-CA"/>
              <a:pPr/>
              <a:t>63</a:t>
            </a:fld>
            <a:endParaRPr lang="en-CA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C173D3-B8E4-486A-951B-27F8A1A2B563}" type="slidenum">
              <a:rPr lang="en-CA"/>
              <a:pPr/>
              <a:t>64</a:t>
            </a:fld>
            <a:endParaRPr lang="en-CA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F86ADF-9DA9-4A0F-A26D-27B02C7BE1FE}" type="slidenum">
              <a:rPr lang="en-CA"/>
              <a:pPr/>
              <a:t>65</a:t>
            </a:fld>
            <a:endParaRPr lang="en-CA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0F1D0A-9612-41EF-BE5A-695E00C51A4A}" type="slidenum">
              <a:rPr lang="en-CA"/>
              <a:pPr/>
              <a:t>66</a:t>
            </a:fld>
            <a:endParaRPr lang="en-CA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2055F8-944B-48BE-8FF2-A79786F17BE4}" type="slidenum">
              <a:rPr lang="en-CA"/>
              <a:pPr/>
              <a:t>67</a:t>
            </a:fld>
            <a:endParaRPr lang="en-CA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C119D9-C70C-4E03-BFF1-786919A69416}" type="slidenum">
              <a:rPr lang="en-CA"/>
              <a:pPr/>
              <a:t>68</a:t>
            </a:fld>
            <a:endParaRPr lang="en-CA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9D7454-059A-48F2-BF0C-BF9D8FA32C79}" type="slidenum">
              <a:rPr lang="en-CA"/>
              <a:pPr/>
              <a:t>69</a:t>
            </a:fld>
            <a:endParaRPr lang="en-CA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72BF02-BF02-41D8-B7A8-734ACAC90CDD}" type="slidenum">
              <a:rPr lang="en-CA"/>
              <a:pPr/>
              <a:t>70</a:t>
            </a:fld>
            <a:endParaRPr lang="en-CA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0758F7-AFCC-42FC-ACBB-1BAC93F8CDA1}" type="slidenum">
              <a:rPr lang="en-CA"/>
              <a:pPr/>
              <a:t>71</a:t>
            </a:fld>
            <a:endParaRPr lang="en-CA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3E2007-F723-4E78-86FB-39922CEFC6ED}" type="slidenum">
              <a:rPr lang="en-CA"/>
              <a:pPr/>
              <a:t>72</a:t>
            </a:fld>
            <a:endParaRPr lang="en-CA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BB999D-49C3-4C7F-B61C-CF80CB81C848}" type="slidenum">
              <a:rPr lang="en-CA"/>
              <a:pPr/>
              <a:t>73</a:t>
            </a:fld>
            <a:endParaRPr lang="en-CA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F5D379-FCAC-4D5D-B322-E6F01761B829}" type="slidenum">
              <a:rPr lang="en-CA"/>
              <a:pPr/>
              <a:t>74</a:t>
            </a:fld>
            <a:endParaRPr lang="en-CA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2C274-9E11-4B32-9D46-1FAEE3053624}" type="slidenum">
              <a:rPr lang="en-CA"/>
              <a:pPr/>
              <a:t>75</a:t>
            </a:fld>
            <a:endParaRPr lang="en-CA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8BFD93-211F-4A87-8727-5BA98BD3F0F2}" type="slidenum">
              <a:rPr lang="en-CA"/>
              <a:pPr/>
              <a:t>77</a:t>
            </a:fld>
            <a:endParaRPr lang="en-CA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1C58E9-38BF-41C2-B898-50604E433C4B}" type="slidenum">
              <a:rPr lang="en-CA"/>
              <a:pPr/>
              <a:t>78</a:t>
            </a:fld>
            <a:endParaRPr lang="en-CA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F78EC4-2EAD-4CC4-BCB1-DDDECD7602F2}" type="slidenum">
              <a:rPr lang="en-CA"/>
              <a:pPr/>
              <a:t>79</a:t>
            </a:fld>
            <a:endParaRPr lang="en-CA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4E41A2D-7D07-4474-A96C-7F87B6B81A42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 txBox="1">
            <a:spLocks/>
          </p:cNvSpPr>
          <p:nvPr/>
        </p:nvSpPr>
        <p:spPr>
          <a:xfrm>
            <a:off x="3429000" y="62484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Database Management Systems</a:t>
            </a:r>
            <a:endParaRPr kumimoji="0" lang="en-US" sz="10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Manjunatha A S, Dept. of CSE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920240" cy="365760"/>
          </a:xfrm>
        </p:spPr>
        <p:txBody>
          <a:bodyPr/>
          <a:lstStyle/>
          <a:p>
            <a:fld id="{8837D7E8-60A8-4C15-8157-8275E42D131B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F28F-BBE8-4DD9-9269-5FFC5AC20488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9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F326-6F21-4D6D-AE8D-64D0F83B84BA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8B78-F9C1-4E28-913F-1D1AA6A670C6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21"/>
          <p:cNvSpPr>
            <a:spLocks noGrp="1"/>
          </p:cNvSpPr>
          <p:nvPr>
            <p:ph type="ftr" sz="quarter" idx="1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15B-2CFD-4251-B90B-3DB8B72DCE2C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49D93-9799-4F74-B1EB-A0B79F98CBF2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604ADB6B-17D0-40D1-83D6-E5F94818336E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2B9853B-1FB2-422E-B8DD-BE4CEE0BF142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5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DC59B-E056-4B2D-8FD9-24CCFE050AAC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FA43-3B03-41A7-A495-7E8B3FE6265A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</p:spTree>
  </p:cSld>
  <p:clrMapOvr>
    <a:masterClrMapping/>
  </p:clrMapOvr>
  <p:transition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79C2-A67B-4049-BF53-B963412306AD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5F65-8BCB-45DF-B3FD-7BED996CC9FE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F7E9-9B17-4FC5-A487-76F80CF07DB8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4A6A7-D537-4484-86E2-41AABFCE57E9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4384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90F7-9674-4497-ACDB-60810FE81EF9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21"/>
          <p:cNvSpPr>
            <a:spLocks noGrp="1"/>
          </p:cNvSpPr>
          <p:nvPr>
            <p:ph type="ftr" sz="quarter" idx="1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E4C8-618E-439B-A80D-33B324FF24D0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1EBC-8661-4D28-915B-85B94024EE5C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5133-2A56-4AF1-ACF9-440D5DAAAF25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FB9C-EC15-45BC-8405-CB8BEC1A5C43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C5D4-10B1-45F6-B1F6-7A0829887F66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4384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F632-0335-4C4C-917D-B10F990DBA52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7873-A46B-48B2-9BFE-206A06041BB5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21"/>
          <p:cNvSpPr txBox="1">
            <a:spLocks/>
          </p:cNvSpPr>
          <p:nvPr userDrawn="1"/>
        </p:nvSpPr>
        <p:spPr>
          <a:xfrm>
            <a:off x="25908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Database Management Systems</a:t>
            </a:r>
            <a:endParaRPr kumimoji="0" lang="en-US" sz="10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Manjunatha A S, Dept. of CSE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61511B5-D4E4-4F97-B7A0-65E3EF97628D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8D814-47E2-42EF-9CF7-1768D186E7FF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B479-C941-4033-BD86-1186A3E06390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7592716-92A9-4EE2-8A72-21ABED028FAE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78A50E9-6136-4515-9444-F648A7FEA760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0CFD0-E213-4F3D-AA69-472A80D539A3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9F04-C0AD-4C58-B478-472B15985347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B8BBF-A432-43B9-A951-4A1DAC30D71B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D83107D-43B6-48C3-9380-EB98D5DCFB76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7294-59C1-43BD-A6F3-8EBA237B8681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F9F593E-A4CD-4081-9704-F319B4F89687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32-Point Star 18"/>
          <p:cNvSpPr/>
          <p:nvPr/>
        </p:nvSpPr>
        <p:spPr>
          <a:xfrm>
            <a:off x="8610600" y="6324600"/>
            <a:ext cx="457200" cy="457200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18479735">
            <a:off x="5011345" y="43691"/>
            <a:ext cx="1280679" cy="783836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>
              <a:gd name="connsiteX0" fmla="*/ 4960 w 14960"/>
              <a:gd name="connsiteY0" fmla="*/ 59 h 10000"/>
              <a:gd name="connsiteX1" fmla="*/ 14960 w 14960"/>
              <a:gd name="connsiteY1" fmla="*/ 10000 h 10000"/>
              <a:gd name="connsiteX2" fmla="*/ 12386 w 14960"/>
              <a:gd name="connsiteY2" fmla="*/ 10000 h 10000"/>
              <a:gd name="connsiteX3" fmla="*/ 0 w 14960"/>
              <a:gd name="connsiteY3" fmla="*/ 7042 h 10000"/>
              <a:gd name="connsiteX4" fmla="*/ 4961 w 14960"/>
              <a:gd name="connsiteY4" fmla="*/ 0 h 10000"/>
              <a:gd name="connsiteX0" fmla="*/ 4960 w 14960"/>
              <a:gd name="connsiteY0" fmla="*/ 59 h 10000"/>
              <a:gd name="connsiteX1" fmla="*/ 13880 w 14960"/>
              <a:gd name="connsiteY1" fmla="*/ 1127 h 10000"/>
              <a:gd name="connsiteX2" fmla="*/ 14960 w 14960"/>
              <a:gd name="connsiteY2" fmla="*/ 10000 h 10000"/>
              <a:gd name="connsiteX3" fmla="*/ 12386 w 14960"/>
              <a:gd name="connsiteY3" fmla="*/ 10000 h 10000"/>
              <a:gd name="connsiteX4" fmla="*/ 0 w 14960"/>
              <a:gd name="connsiteY4" fmla="*/ 7042 h 10000"/>
              <a:gd name="connsiteX5" fmla="*/ 4961 w 14960"/>
              <a:gd name="connsiteY5" fmla="*/ 0 h 10000"/>
              <a:gd name="connsiteX0" fmla="*/ 0 w 10000"/>
              <a:gd name="connsiteY0" fmla="*/ 59 h 10000"/>
              <a:gd name="connsiteX1" fmla="*/ 8920 w 10000"/>
              <a:gd name="connsiteY1" fmla="*/ 1127 h 10000"/>
              <a:gd name="connsiteX2" fmla="*/ 10000 w 10000"/>
              <a:gd name="connsiteY2" fmla="*/ 10000 h 10000"/>
              <a:gd name="connsiteX3" fmla="*/ 7426 w 10000"/>
              <a:gd name="connsiteY3" fmla="*/ 10000 h 10000"/>
              <a:gd name="connsiteX4" fmla="*/ 8920 w 10000"/>
              <a:gd name="connsiteY4" fmla="*/ 1127 h 10000"/>
              <a:gd name="connsiteX5" fmla="*/ 1 w 10000"/>
              <a:gd name="connsiteY5" fmla="*/ 0 h 10000"/>
              <a:gd name="connsiteX0" fmla="*/ 0 w 10000"/>
              <a:gd name="connsiteY0" fmla="*/ 0 h 9941"/>
              <a:gd name="connsiteX1" fmla="*/ 8920 w 10000"/>
              <a:gd name="connsiteY1" fmla="*/ 1068 h 9941"/>
              <a:gd name="connsiteX2" fmla="*/ 10000 w 10000"/>
              <a:gd name="connsiteY2" fmla="*/ 9941 h 9941"/>
              <a:gd name="connsiteX3" fmla="*/ 7426 w 10000"/>
              <a:gd name="connsiteY3" fmla="*/ 9941 h 9941"/>
              <a:gd name="connsiteX4" fmla="*/ 8920 w 10000"/>
              <a:gd name="connsiteY4" fmla="*/ 1068 h 9941"/>
              <a:gd name="connsiteX5" fmla="*/ 8920 w 10000"/>
              <a:gd name="connsiteY5" fmla="*/ 1068 h 9941"/>
              <a:gd name="connsiteX0" fmla="*/ 1494 w 2574"/>
              <a:gd name="connsiteY0" fmla="*/ 142 h 8926"/>
              <a:gd name="connsiteX1" fmla="*/ 1494 w 2574"/>
              <a:gd name="connsiteY1" fmla="*/ 0 h 8926"/>
              <a:gd name="connsiteX2" fmla="*/ 2574 w 2574"/>
              <a:gd name="connsiteY2" fmla="*/ 8926 h 8926"/>
              <a:gd name="connsiteX3" fmla="*/ 0 w 2574"/>
              <a:gd name="connsiteY3" fmla="*/ 8926 h 8926"/>
              <a:gd name="connsiteX4" fmla="*/ 1494 w 2574"/>
              <a:gd name="connsiteY4" fmla="*/ 0 h 8926"/>
              <a:gd name="connsiteX5" fmla="*/ 1494 w 2574"/>
              <a:gd name="connsiteY5" fmla="*/ 0 h 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4" h="8926">
                <a:moveTo>
                  <a:pt x="1494" y="142"/>
                </a:moveTo>
                <a:lnTo>
                  <a:pt x="1494" y="0"/>
                </a:lnTo>
                <a:lnTo>
                  <a:pt x="2574" y="8926"/>
                </a:lnTo>
                <a:lnTo>
                  <a:pt x="0" y="8926"/>
                </a:lnTo>
                <a:lnTo>
                  <a:pt x="1494" y="0"/>
                </a:lnTo>
                <a:lnTo>
                  <a:pt x="1494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6019799"/>
            <a:ext cx="3690451" cy="8526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5867400"/>
            <a:ext cx="3396272" cy="1004721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304800" y="1481328"/>
            <a:ext cx="8534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304800" y="6324600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91FC14E-A010-4EE9-AF39-904079310370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311030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just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" pitchFamily="2" charset="2"/>
        <a:buChar char="v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just" rtl="0" eaLnBrk="1" latinLnBrk="0" hangingPunct="1">
        <a:spcBef>
          <a:spcPts val="324"/>
        </a:spcBef>
        <a:buClr>
          <a:schemeClr val="accent1"/>
        </a:buClr>
        <a:buFont typeface="Wingdings" pitchFamily="2" charset="2"/>
        <a:buChar char="Ø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just" rtl="0" eaLnBrk="1" latinLnBrk="0" hangingPunct="1">
        <a:spcBef>
          <a:spcPts val="350"/>
        </a:spcBef>
        <a:buClr>
          <a:schemeClr val="accent2"/>
        </a:buClr>
        <a:buSzPct val="100000"/>
        <a:buFont typeface="Book Antiqua" pitchFamily="18" charset="0"/>
        <a:buChar char="►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just" rtl="0" eaLnBrk="1" latinLnBrk="0" hangingPunct="1">
        <a:spcBef>
          <a:spcPts val="350"/>
        </a:spcBef>
        <a:buClr>
          <a:schemeClr val="accent2"/>
        </a:buClr>
        <a:buFont typeface="Wingdings" pitchFamily="2" charset="2"/>
        <a:buChar char="§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just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62F46-22A5-48BD-A888-E97FD1B88314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7B898-8492-4198-9088-587B793738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362200" y="6172200"/>
            <a:ext cx="4343400" cy="5175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81CB963-CEF3-4A15-930A-D24FF14C870C}" type="datetime2">
              <a:rPr lang="en-US" smtClean="0"/>
              <a:t>Thursday, July 6,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>
    <p:dissolv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2860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MODULE – 3</a:t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b="1" dirty="0" smtClean="0"/>
              <a:t>Prepared by Mushtaq Ahmed D.M Assistant Professor, </a:t>
            </a:r>
          </a:p>
          <a:p>
            <a:pPr algn="ctr"/>
            <a:r>
              <a:rPr lang="en-US" sz="2000" b="1" dirty="0" smtClean="0"/>
              <a:t>Dept. of ISE</a:t>
            </a:r>
            <a:endParaRPr 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9812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5400" b="1" cap="all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SQL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Data Definition, Constraints, and Schema Changes</a:t>
            </a:r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Used to CREATE, DROP, and ALTER the descriptions of the tables (relations) of a database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CREATE TABLE</a:t>
            </a:r>
          </a:p>
        </p:txBody>
      </p:sp>
      <p:sp>
        <p:nvSpPr>
          <p:cNvPr id="614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Specifies a new base relation by giving it a name, and specifying each of its attributes and their data types (INTEGER, FLOAT, DECIMAL(</a:t>
            </a:r>
            <a:r>
              <a:rPr lang="en-US" sz="2400" dirty="0" err="1" smtClean="0"/>
              <a:t>i,j</a:t>
            </a:r>
            <a:r>
              <a:rPr lang="en-US" sz="2400" dirty="0" smtClean="0"/>
              <a:t>), CHAR(n), VARCHAR(n))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A constraint NOT NULL may be specified on an attribute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>
                <a:latin typeface="Courier New" pitchFamily="71" charset="0"/>
              </a:rPr>
              <a:t>CREATE TABLE DEPARTMENT (</a:t>
            </a:r>
            <a:br>
              <a:rPr lang="en-US" sz="2400" b="1" dirty="0" smtClean="0">
                <a:latin typeface="Courier New" pitchFamily="71" charset="0"/>
              </a:rPr>
            </a:br>
            <a:r>
              <a:rPr lang="en-US" sz="2400" b="1" dirty="0" smtClean="0">
                <a:latin typeface="Courier New" pitchFamily="71" charset="0"/>
              </a:rPr>
              <a:t>	DNAME			VARCHAR(10)	NOT NULL,</a:t>
            </a:r>
            <a:br>
              <a:rPr lang="en-US" sz="2400" b="1" dirty="0" smtClean="0">
                <a:latin typeface="Courier New" pitchFamily="71" charset="0"/>
              </a:rPr>
            </a:br>
            <a:r>
              <a:rPr lang="en-US" sz="2400" b="1" dirty="0" smtClean="0">
                <a:latin typeface="Courier New" pitchFamily="71" charset="0"/>
              </a:rPr>
              <a:t>	DNUMBER		INTEGER		NOT NULL,</a:t>
            </a:r>
            <a:br>
              <a:rPr lang="en-US" sz="2400" b="1" dirty="0" smtClean="0">
                <a:latin typeface="Courier New" pitchFamily="71" charset="0"/>
              </a:rPr>
            </a:br>
            <a:r>
              <a:rPr lang="en-US" sz="2400" b="1" dirty="0" smtClean="0">
                <a:latin typeface="Courier New" pitchFamily="71" charset="0"/>
              </a:rPr>
              <a:t>	MGRSSN		CHAR(9),</a:t>
            </a:r>
            <a:br>
              <a:rPr lang="en-US" sz="2400" b="1" dirty="0" smtClean="0">
                <a:latin typeface="Courier New" pitchFamily="71" charset="0"/>
              </a:rPr>
            </a:br>
            <a:r>
              <a:rPr lang="en-US" sz="2400" b="1" dirty="0" smtClean="0">
                <a:latin typeface="Courier New" pitchFamily="71" charset="0"/>
              </a:rPr>
              <a:t>	MGRSTARTDATE	CHAR(9)  );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CREATE TABLE</a:t>
            </a:r>
          </a:p>
        </p:txBody>
      </p:sp>
      <p:sp>
        <p:nvSpPr>
          <p:cNvPr id="717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1800" dirty="0" smtClean="0"/>
              <a:t>In SQL2, can use the CREATE TABLE command for specifying the primary key attributes, secondary keys, and referential integrity constraints (foreign keys). </a:t>
            </a:r>
          </a:p>
          <a:p>
            <a:pPr eaLnBrk="1" hangingPunct="1">
              <a:lnSpc>
                <a:spcPct val="80000"/>
              </a:lnSpc>
            </a:pPr>
            <a:r>
              <a:rPr lang="en-US" sz="1800" dirty="0" smtClean="0"/>
              <a:t>Key attributes can be specified via the PRIMARY KEY and UNIQUE phrases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CREATE TABLE DEPT (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	DNAME			VARCHAR(10)	NOT NULL,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	DNUMBER		INTEGER		NOT NULL,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	MGRSSN		CHAR(9),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	MGRSTARTDATE	CHAR(9),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	PRIMARY KEY (DNUMBER),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	UNIQUE (DNAME),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  <a:t>	FOREIGN KEY (MGRSSN) REFERENCES EMP(ENUM)  );</a:t>
            </a:r>
            <a:br>
              <a:rPr lang="en-US" sz="2500" b="1" dirty="0" smtClean="0">
                <a:solidFill>
                  <a:srgbClr val="990033"/>
                </a:solidFill>
                <a:latin typeface="Courier New" pitchFamily="71" charset="0"/>
              </a:rPr>
            </a:br>
            <a:endParaRPr lang="en-US" sz="2500" b="1" dirty="0" smtClean="0">
              <a:solidFill>
                <a:srgbClr val="990033"/>
              </a:solidFill>
              <a:latin typeface="Courier New" pitchFamily="71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TYPES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Numeric – INTEGER, INT, SMALLINT, </a:t>
            </a:r>
          </a:p>
          <a:p>
            <a:pPr eaLnBrk="1" hangingPunct="1"/>
            <a:r>
              <a:rPr lang="en-US" smtClean="0"/>
              <a:t>                  FLOAT, REAL, DOUBLE PRECISION</a:t>
            </a:r>
          </a:p>
          <a:p>
            <a:pPr eaLnBrk="1" hangingPunct="1"/>
            <a:r>
              <a:rPr lang="en-US" smtClean="0"/>
              <a:t>                  DECIMAL(i,j), NUMERIC(i,j)</a:t>
            </a:r>
          </a:p>
          <a:p>
            <a:pPr eaLnBrk="1" hangingPunct="1"/>
            <a:r>
              <a:rPr lang="en-US" smtClean="0"/>
              <a:t>Character – CHAR(n), VARCHAR(n)</a:t>
            </a:r>
          </a:p>
          <a:p>
            <a:pPr eaLnBrk="1" hangingPunct="1"/>
            <a:r>
              <a:rPr lang="en-US" smtClean="0"/>
              <a:t>Bit string – BIT(n), BIT VARYING(n)</a:t>
            </a:r>
          </a:p>
          <a:p>
            <a:pPr eaLnBrk="1" hangingPunct="1"/>
            <a:r>
              <a:rPr lang="en-US" smtClean="0"/>
              <a:t>Boolean – TRUE, FALSE</a:t>
            </a:r>
          </a:p>
          <a:p>
            <a:pPr eaLnBrk="1" hangingPunct="1"/>
            <a:r>
              <a:rPr lang="en-US" smtClean="0"/>
              <a:t>Other – DATE, TIME, TIMESTAMP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DROP TABLE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Used to remove a relation (base table) and its definition</a:t>
            </a:r>
          </a:p>
          <a:p>
            <a:pPr eaLnBrk="1" hangingPunct="1"/>
            <a:r>
              <a:rPr lang="en-US" smtClean="0"/>
              <a:t>The relation can no longer be used in queries, updates, or any other commands since its description no longer exists</a:t>
            </a:r>
          </a:p>
          <a:p>
            <a:pPr eaLnBrk="1" hangingPunct="1"/>
            <a:r>
              <a:rPr lang="en-US" smtClean="0"/>
              <a:t>Example:</a:t>
            </a:r>
            <a:br>
              <a:rPr lang="en-US" smtClean="0"/>
            </a:br>
            <a:r>
              <a:rPr lang="en-US" sz="3000" b="1" smtClean="0">
                <a:solidFill>
                  <a:srgbClr val="990033"/>
                </a:solidFill>
                <a:latin typeface="Courier New" pitchFamily="71" charset="0"/>
              </a:rPr>
              <a:t>DROP TABLE  DEPENDENT;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000" b="1" smtClean="0">
                <a:solidFill>
                  <a:srgbClr val="990033"/>
                </a:solidFill>
                <a:latin typeface="Courier New" pitchFamily="71" charset="0"/>
              </a:rPr>
              <a:t>  DROP TABLE  DEPENDENT CASCADE; </a:t>
            </a:r>
            <a:br>
              <a:rPr lang="en-US" sz="30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3000" b="1" smtClean="0">
                <a:solidFill>
                  <a:srgbClr val="990033"/>
                </a:solidFill>
                <a:latin typeface="Courier New" pitchFamily="71" charset="0"/>
              </a:rPr>
              <a:t> DROP TABLE  DEPT RESTRICT;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ALTER TABLE</a:t>
            </a:r>
          </a:p>
        </p:txBody>
      </p:sp>
      <p:sp>
        <p:nvSpPr>
          <p:cNvPr id="1024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Used to add an attribute to one of the base relations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500" smtClean="0"/>
              <a:t>The new attribute will have NULLs in all the tuples of the relation right after the command is executed; hence, the NOT NULL constraint is not allowed  for such an attribute</a:t>
            </a:r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Example:</a:t>
            </a:r>
            <a:br>
              <a:rPr lang="en-US" smtClean="0"/>
            </a:br>
            <a:r>
              <a:rPr lang="en-US" sz="2600" b="1" smtClean="0">
                <a:solidFill>
                  <a:srgbClr val="990033"/>
                </a:solidFill>
                <a:latin typeface="Courier New" pitchFamily="71" charset="0"/>
              </a:rPr>
              <a:t>ALTER TABLE EMPLOYEE ADD JOB VARCHAR(12);</a:t>
            </a:r>
            <a:br>
              <a:rPr lang="en-US" sz="2600" b="1" smtClean="0">
                <a:solidFill>
                  <a:srgbClr val="990033"/>
                </a:solidFill>
                <a:latin typeface="Courier New" pitchFamily="71" charset="0"/>
              </a:rPr>
            </a:br>
            <a:endParaRPr lang="en-US" sz="2600" b="1" smtClean="0">
              <a:solidFill>
                <a:srgbClr val="990033"/>
              </a:solidFill>
              <a:latin typeface="Courier New" pitchFamily="71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The database users must still enter a value for the new attribute JOB for each EMPLOYEE tuple.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500" smtClean="0"/>
              <a:t>This can be done using the UPDATE command.</a:t>
            </a:r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990033"/>
                </a:solidFill>
                <a:latin typeface="Courier New" pitchFamily="71" charset="0"/>
              </a:rPr>
              <a:t>ALTER TABLE EMPLOYEE DROP COLUMN JOB CASCADE;</a:t>
            </a:r>
          </a:p>
          <a:p>
            <a:pPr eaLnBrk="1" hangingPunct="1"/>
            <a:r>
              <a:rPr lang="en-US" b="1" dirty="0" smtClean="0">
                <a:solidFill>
                  <a:srgbClr val="990033"/>
                </a:solidFill>
                <a:latin typeface="Courier New" pitchFamily="71" charset="0"/>
              </a:rPr>
              <a:t>ALTER TABLE EMPLOYEE ALTER COLUMN EMP_ID SET DEFAULT ‘1111’;</a:t>
            </a:r>
          </a:p>
          <a:p>
            <a:pPr eaLnBrk="1" hangingPunct="1"/>
            <a:r>
              <a:rPr lang="en-US" b="1" dirty="0" smtClean="0">
                <a:solidFill>
                  <a:srgbClr val="990033"/>
                </a:solidFill>
                <a:latin typeface="Courier New" pitchFamily="71" charset="0"/>
              </a:rPr>
              <a:t>ALTER TABLE EMPLOYEE ALTER COLUMN EMP_ID DROP DEFAULT;</a:t>
            </a:r>
          </a:p>
          <a:p>
            <a:pPr eaLnBrk="1" hangingPunct="1"/>
            <a:r>
              <a:rPr lang="en-US" b="1" dirty="0" smtClean="0">
                <a:solidFill>
                  <a:srgbClr val="990033"/>
                </a:solidFill>
                <a:latin typeface="Courier New" pitchFamily="71" charset="0"/>
              </a:rPr>
              <a:t>ALTER TABLE EMPLOYEE DROP CONSTRAINT EMP_PK1 CASCADE;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Features Added in SQL2 and SQL-99</a:t>
            </a:r>
          </a:p>
        </p:txBody>
      </p:sp>
      <p:sp>
        <p:nvSpPr>
          <p:cNvPr id="1229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Create schema</a:t>
            </a:r>
          </a:p>
          <a:p>
            <a:pPr eaLnBrk="1" hangingPunct="1"/>
            <a:r>
              <a:rPr lang="en-US" smtClean="0"/>
              <a:t>Referential integrity options</a:t>
            </a:r>
          </a:p>
        </p:txBody>
      </p:sp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CREATE SCHEMA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Specifies a new database schema by giving it a name</a:t>
            </a:r>
          </a:p>
        </p:txBody>
      </p: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REFERENTIAL INTEGRITY OPTIONS</a:t>
            </a:r>
          </a:p>
        </p:txBody>
      </p:sp>
      <p:sp>
        <p:nvSpPr>
          <p:cNvPr id="1434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300" smtClean="0"/>
              <a:t>We can specify RESTRICT, CASCADE, SET NULL or SET DEFAULT on referential integrity constraints (foreign keys)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CREATE TABLE DEPT (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 DNAME		VARCHAR(10)	NOT NULL,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	DNUMBER		INTEGER		NOT NULL,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	MGRSSN		CHAR(9),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	MGRSTARTDATE	CHAR(9),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	PRIMARY KEY (DNUMBER),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	UNIQUE (DNAME),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	FOREIGN KEY (MGRSSN) REFERENCES EMP</a:t>
            </a:r>
            <a:br>
              <a:rPr lang="en-US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b="1" smtClean="0">
                <a:solidFill>
                  <a:srgbClr val="990033"/>
                </a:solidFill>
                <a:latin typeface="Courier New" pitchFamily="71" charset="0"/>
              </a:rPr>
              <a:t>ON DELETE SET DEFAULT ON UPDATE CASCADE);</a:t>
            </a:r>
          </a:p>
        </p:txBody>
      </p:sp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REFERENTIAL INTEGRITY OPTIONS (continued)</a:t>
            </a:r>
          </a:p>
        </p:txBody>
      </p:sp>
      <p:sp>
        <p:nvSpPr>
          <p:cNvPr id="1536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CREATE TABLE EMP(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ENAME		VARCHAR(30)	NOT NULL,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ESSN		CHAR(9),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BDATE		DATE,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DNO		INTEGER  DEFAULT 1,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SUPERSSN	CHAR(9),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PRIMARY KEY (ESSN),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FOREIGN KEY (DNO) REFERENCES DEPT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	ON DELETE SET DEFAULT ON UPDATE  CASCADE,</a:t>
            </a:r>
            <a:b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</a:br>
            <a:r>
              <a:rPr lang="en-US" sz="2500" b="1" smtClean="0">
                <a:solidFill>
                  <a:srgbClr val="990033"/>
                </a:solidFill>
                <a:latin typeface="Courier New" pitchFamily="71" charset="0"/>
              </a:rPr>
              <a:t>FOREIGN KEY (SUPERSSN) REFERENCES EMP ON DELETE SET NULL ON UPDATE CASCADE);</a:t>
            </a:r>
          </a:p>
        </p:txBody>
      </p:sp>
    </p:spTree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Constraints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CHECK</a:t>
            </a:r>
          </a:p>
          <a:p>
            <a:pPr eaLnBrk="1" hangingPunct="1"/>
            <a:r>
              <a:rPr lang="en-US" smtClean="0"/>
              <a:t>DNUM INT NOT NULL CHECK(DNUM&gt;0 AND DNUM&lt;5)</a:t>
            </a:r>
          </a:p>
          <a:p>
            <a:pPr eaLnBrk="1" hangingPunct="1"/>
            <a:r>
              <a:rPr lang="en-US" smtClean="0"/>
              <a:t>DOMAIN</a:t>
            </a:r>
          </a:p>
          <a:p>
            <a:pPr eaLnBrk="1" hangingPunct="1"/>
            <a:r>
              <a:rPr lang="en-US" smtClean="0"/>
              <a:t>CREATE DOMAIN DN AS INTERGER CHECK (DN &gt;0 AND DN&lt;10)</a:t>
            </a:r>
          </a:p>
        </p:txBody>
      </p:sp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Additional Data Types in SQL2 and SQL-99</a:t>
            </a:r>
          </a:p>
        </p:txBody>
      </p:sp>
      <p:sp>
        <p:nvSpPr>
          <p:cNvPr id="17412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Has DATE, TIME, and TIMESTAMP data types</a:t>
            </a:r>
          </a:p>
          <a:p>
            <a:pPr eaLnBrk="1" hangingPunct="1"/>
            <a:r>
              <a:rPr lang="en-US" sz="2400" b="1" smtClean="0"/>
              <a:t>DATE:</a:t>
            </a:r>
          </a:p>
          <a:p>
            <a:pPr lvl="1" eaLnBrk="1" hangingPunct="1"/>
            <a:r>
              <a:rPr lang="en-US" sz="2200" smtClean="0"/>
              <a:t>Made up of year-month-day in the format yyyy-mm-dd</a:t>
            </a:r>
          </a:p>
          <a:p>
            <a:pPr eaLnBrk="1" hangingPunct="1"/>
            <a:r>
              <a:rPr lang="en-US" sz="2400" b="1" smtClean="0"/>
              <a:t>TIME:</a:t>
            </a:r>
          </a:p>
          <a:p>
            <a:pPr lvl="1" eaLnBrk="1" hangingPunct="1"/>
            <a:r>
              <a:rPr lang="en-US" sz="2200" smtClean="0"/>
              <a:t>Made up of hour:minute:second in the format hh:mm:ss</a:t>
            </a:r>
          </a:p>
          <a:p>
            <a:pPr eaLnBrk="1" hangingPunct="1"/>
            <a:r>
              <a:rPr lang="en-US" sz="2400" b="1" smtClean="0"/>
              <a:t>TIME(i):</a:t>
            </a:r>
          </a:p>
          <a:p>
            <a:pPr lvl="1" eaLnBrk="1" hangingPunct="1"/>
            <a:r>
              <a:rPr lang="en-US" sz="2200" smtClean="0"/>
              <a:t>Made up of hour:minute:second plus i additional digits specifying fractions of a second</a:t>
            </a:r>
          </a:p>
          <a:p>
            <a:pPr lvl="1" eaLnBrk="1" hangingPunct="1"/>
            <a:r>
              <a:rPr lang="en-US" sz="2200" smtClean="0"/>
              <a:t>format is hh:mm:ss:ii...i</a:t>
            </a:r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Additional Data Types in SQL2 and SQL-99 (contd.)</a:t>
            </a:r>
          </a:p>
        </p:txBody>
      </p:sp>
      <p:sp>
        <p:nvSpPr>
          <p:cNvPr id="18436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TIMESTAMP:</a:t>
            </a:r>
          </a:p>
          <a:p>
            <a:pPr lvl="1" eaLnBrk="1" hangingPunct="1"/>
            <a:r>
              <a:rPr lang="en-US" smtClean="0"/>
              <a:t>Has both DATE and TIME components</a:t>
            </a:r>
          </a:p>
          <a:p>
            <a:pPr eaLnBrk="1" hangingPunct="1"/>
            <a:r>
              <a:rPr lang="en-US" b="1" smtClean="0"/>
              <a:t>INTERVAL:</a:t>
            </a:r>
          </a:p>
          <a:p>
            <a:pPr lvl="1" eaLnBrk="1" hangingPunct="1"/>
            <a:r>
              <a:rPr lang="en-US" smtClean="0"/>
              <a:t>Specifies a relative value rather than an absolute value</a:t>
            </a:r>
          </a:p>
          <a:p>
            <a:pPr lvl="1" eaLnBrk="1" hangingPunct="1"/>
            <a:r>
              <a:rPr lang="en-US" smtClean="0"/>
              <a:t>Can be DAY/TIME intervals or YEAR/MONTH intervals</a:t>
            </a:r>
          </a:p>
          <a:p>
            <a:pPr lvl="1" eaLnBrk="1" hangingPunct="1"/>
            <a:r>
              <a:rPr lang="en-US" smtClean="0"/>
              <a:t>Can be positive or negative when added to or subtracted from an absolute value, the result is an absolute value</a:t>
            </a:r>
          </a:p>
        </p:txBody>
      </p:sp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Retrieval Queries in SQL</a:t>
            </a:r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SQL has one basic statement for retrieving information from a database; the </a:t>
            </a:r>
            <a:r>
              <a:rPr lang="en-US" sz="2400" b="1" smtClean="0"/>
              <a:t>SELECT</a:t>
            </a:r>
            <a:r>
              <a:rPr lang="en-US" sz="2400" smtClean="0"/>
              <a:t>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This is </a:t>
            </a:r>
            <a:r>
              <a:rPr lang="en-US" sz="2200" i="1" smtClean="0"/>
              <a:t>not the same as</a:t>
            </a:r>
            <a:r>
              <a:rPr lang="en-US" sz="2200" smtClean="0"/>
              <a:t> the SELECT operation of the relational algebra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Important distinction between SQL and the formal relational model: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SQL allows a table (relation) to have two or more tuples that are identical in all their attribute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Hence, an SQL relation (table) is  a </a:t>
            </a:r>
            <a:r>
              <a:rPr lang="en-US" sz="2200" b="1" smtClean="0"/>
              <a:t>multi-set</a:t>
            </a:r>
            <a:r>
              <a:rPr lang="en-US" sz="2200" smtClean="0"/>
              <a:t>  (sometimes called a </a:t>
            </a:r>
            <a:r>
              <a:rPr lang="en-US" sz="2200" b="1" smtClean="0"/>
              <a:t>bag</a:t>
            </a:r>
            <a:r>
              <a:rPr lang="en-US" sz="2200" smtClean="0"/>
              <a:t>) of tuples; it is </a:t>
            </a:r>
            <a:r>
              <a:rPr lang="en-US" sz="2200" i="1" smtClean="0"/>
              <a:t>not</a:t>
            </a:r>
            <a:r>
              <a:rPr lang="en-US" sz="2200" smtClean="0"/>
              <a:t>  a set of tuples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SQL relations can be constrained to be sets by specifying PRIMARY KEY or UNIQUE attributes, or by using the DISTINCT option in a query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Retrieval Queries in SQL (contd.)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</a:t>
            </a:r>
            <a:r>
              <a:rPr lang="en-US" b="1" smtClean="0"/>
              <a:t>bag</a:t>
            </a:r>
            <a:r>
              <a:rPr lang="en-US" smtClean="0"/>
              <a:t> or </a:t>
            </a:r>
            <a:r>
              <a:rPr lang="en-US" b="1" smtClean="0"/>
              <a:t>multi-set</a:t>
            </a:r>
            <a:r>
              <a:rPr lang="en-US" smtClean="0"/>
              <a:t> is like a set, but an element may appear more than once.</a:t>
            </a:r>
          </a:p>
          <a:p>
            <a:pPr lvl="1" eaLnBrk="1" hangingPunct="1"/>
            <a:r>
              <a:rPr lang="en-US" smtClean="0"/>
              <a:t>Example: {A, B, C, A} is a bag.  {A, B, C} is also a bag that also is a set.</a:t>
            </a:r>
          </a:p>
          <a:p>
            <a:pPr lvl="1" eaLnBrk="1" hangingPunct="1"/>
            <a:r>
              <a:rPr lang="en-US" smtClean="0"/>
              <a:t>Bags also resemble lists, but the order is irrelevant in a bag.</a:t>
            </a:r>
          </a:p>
          <a:p>
            <a:pPr eaLnBrk="1" hangingPunct="1"/>
            <a:r>
              <a:rPr lang="en-US" smtClean="0"/>
              <a:t>Example:</a:t>
            </a:r>
          </a:p>
          <a:p>
            <a:pPr lvl="1" eaLnBrk="1" hangingPunct="1"/>
            <a:r>
              <a:rPr lang="en-US" smtClean="0"/>
              <a:t>{A, B, A} = {B, A, A} as bags</a:t>
            </a:r>
          </a:p>
          <a:p>
            <a:pPr lvl="1" eaLnBrk="1" hangingPunct="1"/>
            <a:r>
              <a:rPr lang="en-US" smtClean="0"/>
              <a:t>However, [A, B, A] is not equal to [B, A, A] as lists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Retrieval Queries in SQL (contd.)</a:t>
            </a: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Basic form of the SQL SELECT statement is called a </a:t>
            </a:r>
            <a:r>
              <a:rPr lang="en-US" sz="2400" i="1" smtClean="0"/>
              <a:t>mapping</a:t>
            </a:r>
            <a:r>
              <a:rPr lang="en-US" sz="2400" smtClean="0"/>
              <a:t> or a SELECT-FROM-WHERE </a:t>
            </a:r>
            <a:r>
              <a:rPr lang="en-US" sz="2400" i="1" smtClean="0"/>
              <a:t>block</a:t>
            </a:r>
            <a:r>
              <a:rPr lang="en-US" sz="2400" smtClean="0"/>
              <a:t/>
            </a:r>
            <a:br>
              <a:rPr lang="en-US" sz="2400" smtClean="0"/>
            </a:br>
            <a:r>
              <a:rPr lang="en-US" sz="2400" smtClean="0"/>
              <a:t>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smtClean="0"/>
              <a:t>SELECT</a:t>
            </a:r>
            <a:r>
              <a:rPr lang="en-US" sz="2400" smtClean="0"/>
              <a:t> 	&lt;attribute list&gt;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smtClean="0"/>
              <a:t>	</a:t>
            </a:r>
            <a:r>
              <a:rPr lang="en-US" sz="2400" b="1" smtClean="0"/>
              <a:t>FROM</a:t>
            </a:r>
            <a:r>
              <a:rPr lang="en-US" sz="2400" smtClean="0"/>
              <a:t> 	&lt;table list&gt;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smtClean="0"/>
              <a:t>	</a:t>
            </a:r>
            <a:r>
              <a:rPr lang="en-US" sz="2400" b="1" smtClean="0"/>
              <a:t>WHERE</a:t>
            </a:r>
            <a:r>
              <a:rPr lang="en-US" sz="2400" smtClean="0"/>
              <a:t>	&lt;condition&gt;</a:t>
            </a:r>
          </a:p>
          <a:p>
            <a:pPr lvl="1" eaLnBrk="1" hangingPunct="1">
              <a:lnSpc>
                <a:spcPct val="80000"/>
              </a:lnSpc>
            </a:pPr>
            <a:endParaRPr lang="en-US" sz="2200" smtClean="0"/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&lt;attribute list&gt; is a list of attribute names whose values are to be retrieved by the query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&lt;table list&gt; is a list of the relation names required to process the query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&lt;condition&gt; is a conditional (Boolean) expression that identifies the tuples to be retrieved by the query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Relational Database Schema--Figure 5.5  </a:t>
            </a:r>
          </a:p>
        </p:txBody>
      </p:sp>
      <p:pic>
        <p:nvPicPr>
          <p:cNvPr id="22532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730250" y="1598613"/>
            <a:ext cx="7575550" cy="4802187"/>
          </a:xfr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7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7696200" cy="763587"/>
          </a:xfrm>
        </p:spPr>
        <p:txBody>
          <a:bodyPr anchor="t"/>
          <a:lstStyle/>
          <a:p>
            <a:pPr eaLnBrk="1" hangingPunct="1"/>
            <a:r>
              <a:rPr lang="en-US" sz="3200" smtClean="0"/>
              <a:t>Populated Database--Fig.5.6</a:t>
            </a:r>
          </a:p>
        </p:txBody>
      </p:sp>
      <p:pic>
        <p:nvPicPr>
          <p:cNvPr id="23556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2362200" y="1600200"/>
            <a:ext cx="4832350" cy="4876800"/>
          </a:xfr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Simple SQL Queries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SQL queries correspond to using the following operations of the relational algebra:</a:t>
            </a:r>
          </a:p>
          <a:p>
            <a:pPr lvl="1" eaLnBrk="1" hangingPunct="1"/>
            <a:r>
              <a:rPr lang="en-US" smtClean="0"/>
              <a:t>SELECT</a:t>
            </a:r>
          </a:p>
          <a:p>
            <a:pPr lvl="1" eaLnBrk="1" hangingPunct="1"/>
            <a:r>
              <a:rPr lang="en-US" smtClean="0"/>
              <a:t>PROJECT</a:t>
            </a:r>
          </a:p>
          <a:p>
            <a:pPr lvl="1" eaLnBrk="1" hangingPunct="1"/>
            <a:r>
              <a:rPr lang="en-US" smtClean="0"/>
              <a:t>JOIN</a:t>
            </a:r>
          </a:p>
          <a:p>
            <a:pPr eaLnBrk="1" hangingPunct="1"/>
            <a:r>
              <a:rPr lang="en-US" smtClean="0"/>
              <a:t>All subsequent examples use the COMPANY database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Simple SQL Queries (contd.)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Example of a simple query on one  relation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Query 0: Retrieve the birthdate and address of the employee whose name is 'John B. Smith'.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smtClean="0"/>
              <a:t>Q0:	SELECT 	BDATE, ADDRESS</a:t>
            </a:r>
            <a:br>
              <a:rPr lang="en-US" sz="2200" smtClean="0"/>
            </a:br>
            <a:r>
              <a:rPr lang="en-US" sz="2200" smtClean="0"/>
              <a:t>	FROM 		EMPLOYEE</a:t>
            </a:r>
            <a:br>
              <a:rPr lang="en-US" sz="2200" smtClean="0"/>
            </a:br>
            <a:r>
              <a:rPr lang="en-US" sz="2200" smtClean="0"/>
              <a:t>	WHERE	FNAME='John' AND MINIT='B’</a:t>
            </a:r>
            <a:br>
              <a:rPr lang="en-US" sz="2200" smtClean="0"/>
            </a:br>
            <a:r>
              <a:rPr lang="en-US" sz="2200" smtClean="0"/>
              <a:t>  AND 		LNAME='Smith’</a:t>
            </a:r>
            <a:br>
              <a:rPr lang="en-US" sz="2200" smtClean="0"/>
            </a:br>
            <a:endParaRPr lang="en-US" sz="2200" smtClean="0"/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Similar to a SELECT-PROJECT pair of relational algebra operations: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smtClean="0"/>
              <a:t>The SELECT-clause specifies the projection attributes and the WHERE-clause specifies the selection condition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However, the result of the query may contain  duplicate tuples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Simple SQL Queries (contd.)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Query 1: Retrieve the name and address of all employees who work for the 'Research' department.</a:t>
            </a:r>
            <a:br>
              <a:rPr lang="en-US" sz="2400" smtClean="0"/>
            </a:br>
            <a:endParaRPr lang="en-US" sz="240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smtClean="0"/>
              <a:t>Q1:	SELECT	FNAME, LNAME, ADDRESS</a:t>
            </a:r>
            <a:br>
              <a:rPr lang="en-US" sz="2200" smtClean="0"/>
            </a:br>
            <a:r>
              <a:rPr lang="en-US" sz="2200" smtClean="0"/>
              <a:t>	FROM 		EMPLOYEE, DEPARTMENT</a:t>
            </a:r>
            <a:br>
              <a:rPr lang="en-US" sz="2200" smtClean="0"/>
            </a:br>
            <a:r>
              <a:rPr lang="en-US" sz="2200" smtClean="0"/>
              <a:t>	WHERE	DNAME='Research' AND DNUMBER=DNO</a:t>
            </a:r>
            <a:br>
              <a:rPr lang="en-US" sz="2200" smtClean="0"/>
            </a:br>
            <a:endParaRPr lang="en-US" sz="2200" smtClean="0"/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Similar to a SELECT-PROJECT-JOIN sequence of relational algebra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(DNAME='Research') is a selection condition  (corresponds to a SELECT operation in relational algebra)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(DNUMBER=DNO) is a join condition (corresponds to a JOIN operation in relational algebra)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Simple SQL Queries (contd.)</a:t>
            </a:r>
          </a:p>
        </p:txBody>
      </p:sp>
      <p:sp>
        <p:nvSpPr>
          <p:cNvPr id="2765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Query 2: For every project located in 'Stafford', list the project number, the controlling department number, and the department manager's last name, address, and birthdate.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solidFill>
                <a:srgbClr val="8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solidFill>
                  <a:srgbClr val="800000"/>
                </a:solidFill>
              </a:rPr>
              <a:t>Q2: SELECT   	PNUMBER, DNUM, LNAME, BDATE, ADDRESS </a:t>
            </a:r>
            <a:br>
              <a:rPr lang="en-US" sz="2000" smtClean="0">
                <a:solidFill>
                  <a:srgbClr val="800000"/>
                </a:solidFill>
              </a:rPr>
            </a:br>
            <a:r>
              <a:rPr lang="en-US" sz="2000" smtClean="0">
                <a:solidFill>
                  <a:srgbClr val="800000"/>
                </a:solidFill>
              </a:rPr>
              <a:t>	FROM		PROJECT, DEPARTMENT, EMPLOYEE</a:t>
            </a:r>
            <a:br>
              <a:rPr lang="en-US" sz="2000" smtClean="0">
                <a:solidFill>
                  <a:srgbClr val="800000"/>
                </a:solidFill>
              </a:rPr>
            </a:br>
            <a:r>
              <a:rPr lang="en-US" sz="2000" smtClean="0">
                <a:solidFill>
                  <a:srgbClr val="800000"/>
                </a:solidFill>
              </a:rPr>
              <a:t>	WHERE 	DNUM=DNUMBER AND MGRSSN=SSN</a:t>
            </a:r>
            <a:br>
              <a:rPr lang="en-US" sz="2000" smtClean="0">
                <a:solidFill>
                  <a:srgbClr val="800000"/>
                </a:solidFill>
              </a:rPr>
            </a:br>
            <a:r>
              <a:rPr lang="en-US" sz="2000" smtClean="0">
                <a:solidFill>
                  <a:srgbClr val="800000"/>
                </a:solidFill>
              </a:rPr>
              <a:t>				AND PLOCATION='Stafford'</a:t>
            </a:r>
            <a:br>
              <a:rPr lang="en-US" sz="2000" smtClean="0">
                <a:solidFill>
                  <a:srgbClr val="800000"/>
                </a:solidFill>
              </a:rPr>
            </a:br>
            <a:endParaRPr lang="en-US" sz="2000" smtClean="0">
              <a:solidFill>
                <a:srgbClr val="80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In Q2, there are two  join conditions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The join condition DNUM=DNUMBER relates a project to its controlling department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The join condition MGRSSN=SSN relates the controlling department to the employee who manages that department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6"/>
          <p:cNvSpPr>
            <a:spLocks noGrp="1" noChangeArrowheads="1"/>
          </p:cNvSpPr>
          <p:nvPr>
            <p:ph type="title"/>
          </p:nvPr>
        </p:nvSpPr>
        <p:spPr>
          <a:xfrm>
            <a:off x="266700" y="152400"/>
            <a:ext cx="81534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Aliases, * and DISTINCT, Empty WHERE-clause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In SQL, we can use the same name for two (or more) attributes as long as the attributes are in </a:t>
            </a:r>
            <a:r>
              <a:rPr lang="en-US" i="1" smtClean="0"/>
              <a:t>different relations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A query that refers to two or more attributes with the same name must </a:t>
            </a:r>
            <a:r>
              <a:rPr lang="en-US" i="1" smtClean="0"/>
              <a:t>qualify</a:t>
            </a:r>
            <a:r>
              <a:rPr lang="en-US" smtClean="0"/>
              <a:t> the attribute name with the relation name by </a:t>
            </a:r>
            <a:r>
              <a:rPr lang="en-US" i="1" smtClean="0"/>
              <a:t>prefixing</a:t>
            </a:r>
            <a:r>
              <a:rPr lang="en-US" smtClean="0"/>
              <a:t> the relation name to the attribute name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Example: </a:t>
            </a:r>
          </a:p>
          <a:p>
            <a:pPr eaLnBrk="1" hangingPunct="1">
              <a:lnSpc>
                <a:spcPct val="90000"/>
              </a:lnSpc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b="1" smtClean="0">
                <a:solidFill>
                  <a:srgbClr val="4F571F"/>
                </a:solidFill>
              </a:rPr>
              <a:t>EMPLOYEE.</a:t>
            </a:r>
            <a:r>
              <a:rPr lang="en-US" smtClean="0"/>
              <a:t>LNAME, </a:t>
            </a:r>
            <a:r>
              <a:rPr lang="en-US" b="1" smtClean="0">
                <a:solidFill>
                  <a:srgbClr val="4F571F"/>
                </a:solidFill>
              </a:rPr>
              <a:t>DEPARTMENT.</a:t>
            </a:r>
            <a:r>
              <a:rPr lang="en-US" smtClean="0"/>
              <a:t>DNAME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ALIASES</a:t>
            </a:r>
          </a:p>
        </p:txBody>
      </p:sp>
      <p:sp>
        <p:nvSpPr>
          <p:cNvPr id="2970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Some queries need to refer to the same relation twice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In this case, </a:t>
            </a:r>
            <a:r>
              <a:rPr lang="en-US" sz="2000" i="1" smtClean="0"/>
              <a:t>aliases</a:t>
            </a:r>
            <a:r>
              <a:rPr lang="en-US" sz="2000" smtClean="0"/>
              <a:t> are given to the relation name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Query 8: For each employee, retrieve the employee's name, and the name of his or her immediate supervisor.</a:t>
            </a:r>
            <a:br>
              <a:rPr lang="en-US" sz="2000" smtClean="0"/>
            </a:br>
            <a:r>
              <a:rPr lang="en-US" sz="2000" smtClean="0"/>
              <a:t/>
            </a:r>
            <a:br>
              <a:rPr lang="en-US" sz="2000" smtClean="0"/>
            </a:br>
            <a:r>
              <a:rPr lang="en-US" sz="2000" smtClean="0"/>
              <a:t>Q8:	SELECT	E.FNAME, E.LNAME, S.FNAME, S.LNAME</a:t>
            </a:r>
            <a:br>
              <a:rPr lang="en-US" sz="2000" smtClean="0"/>
            </a:br>
            <a:r>
              <a:rPr lang="en-US" sz="2000" smtClean="0"/>
              <a:t>	FROM 		EMPLOYEE </a:t>
            </a:r>
            <a:r>
              <a:rPr lang="en-US" sz="2000" smtClean="0">
                <a:solidFill>
                  <a:srgbClr val="4F571F"/>
                </a:solidFill>
              </a:rPr>
              <a:t>E</a:t>
            </a:r>
            <a:r>
              <a:rPr lang="en-US" sz="2000" smtClean="0"/>
              <a:t> </a:t>
            </a:r>
            <a:r>
              <a:rPr lang="en-US" sz="2000" smtClean="0">
                <a:solidFill>
                  <a:srgbClr val="4F571F"/>
                </a:solidFill>
              </a:rPr>
              <a:t>S</a:t>
            </a:r>
            <a:r>
              <a:rPr lang="en-US" sz="2000" smtClean="0"/>
              <a:t/>
            </a:r>
            <a:br>
              <a:rPr lang="en-US" sz="2000" smtClean="0"/>
            </a:br>
            <a:r>
              <a:rPr lang="en-US" sz="2000" smtClean="0"/>
              <a:t>	WHERE	E.SUPERSSN=S.SSN</a:t>
            </a:r>
            <a:br>
              <a:rPr lang="en-US" sz="2000" smtClean="0"/>
            </a:b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In Q8, the alternate relation names E and S are called </a:t>
            </a:r>
            <a:r>
              <a:rPr lang="en-US" sz="2000" i="1" smtClean="0"/>
              <a:t>aliases</a:t>
            </a:r>
            <a:r>
              <a:rPr lang="en-US" sz="2000" smtClean="0"/>
              <a:t> or </a:t>
            </a:r>
            <a:r>
              <a:rPr lang="en-US" sz="2000" i="1" smtClean="0"/>
              <a:t>tuple variables</a:t>
            </a:r>
            <a:r>
              <a:rPr lang="en-US" sz="2000" smtClean="0"/>
              <a:t> for the EMPLOYEE relation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We can think of E and S as two different </a:t>
            </a:r>
            <a:r>
              <a:rPr lang="en-US" sz="2000" i="1" smtClean="0"/>
              <a:t>copies</a:t>
            </a:r>
            <a:r>
              <a:rPr lang="en-US" sz="2000" smtClean="0"/>
              <a:t> of EMPLOYEE; E represents employees in role of </a:t>
            </a:r>
            <a:r>
              <a:rPr lang="en-US" sz="2000" i="1" smtClean="0"/>
              <a:t>supervisees</a:t>
            </a:r>
            <a:r>
              <a:rPr lang="en-US" sz="2000" smtClean="0"/>
              <a:t> and S represents employees in role of </a:t>
            </a:r>
            <a:r>
              <a:rPr lang="en-US" sz="2000" i="1" smtClean="0"/>
              <a:t>supervisors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ALIASES (contd.)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Aliasing can also be used in any SQL query for convenience</a:t>
            </a:r>
          </a:p>
          <a:p>
            <a:pPr eaLnBrk="1" hangingPunct="1"/>
            <a:r>
              <a:rPr lang="en-US" smtClean="0"/>
              <a:t>Can also use the AS keyword to specify aliases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Q8:	SELECT	E.FNAME, E.LNAME, 					S.FNAME, S.LNAME</a:t>
            </a:r>
            <a:br>
              <a:rPr lang="en-US" smtClean="0"/>
            </a:br>
            <a:r>
              <a:rPr lang="en-US" smtClean="0"/>
              <a:t>		FROM 	EMPLOYEE AS E, 					EMPLOYEE AS S</a:t>
            </a:r>
            <a:br>
              <a:rPr lang="en-US" smtClean="0"/>
            </a:br>
            <a:r>
              <a:rPr lang="en-US" smtClean="0"/>
              <a:t>		WHERE	E.SUPERSSN=S.SSN</a:t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UNSPECIFIED </a:t>
            </a:r>
            <a:br>
              <a:rPr lang="en-US" smtClean="0"/>
            </a:br>
            <a:r>
              <a:rPr lang="en-US" smtClean="0"/>
              <a:t>WHERE-clause</a:t>
            </a:r>
          </a:p>
        </p:txBody>
      </p:sp>
      <p:sp>
        <p:nvSpPr>
          <p:cNvPr id="3174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A </a:t>
            </a:r>
            <a:r>
              <a:rPr lang="en-US" sz="2400" i="1" smtClean="0"/>
              <a:t>missing WHERE-clause</a:t>
            </a:r>
            <a:r>
              <a:rPr lang="en-US" sz="2400" smtClean="0"/>
              <a:t> indicates no condition; hence, all tuples of the relations in the FROM-clause are selected</a:t>
            </a:r>
          </a:p>
          <a:p>
            <a:pPr lvl="1" eaLnBrk="1" hangingPunct="1"/>
            <a:r>
              <a:rPr lang="en-US" sz="2200" smtClean="0"/>
              <a:t>This is equivalent to the condition WHERE TRUE</a:t>
            </a:r>
          </a:p>
          <a:p>
            <a:pPr eaLnBrk="1" hangingPunct="1"/>
            <a:r>
              <a:rPr lang="en-US" sz="2400" smtClean="0"/>
              <a:t>Query 9: Retrieve the SSN values for all employees.</a:t>
            </a:r>
          </a:p>
          <a:p>
            <a:pPr lvl="1" eaLnBrk="1" hangingPunct="1"/>
            <a:endParaRPr lang="en-US" sz="2200" smtClean="0"/>
          </a:p>
          <a:p>
            <a:pPr lvl="1" eaLnBrk="1" hangingPunct="1"/>
            <a:r>
              <a:rPr lang="en-US" sz="2200" smtClean="0"/>
              <a:t>Q9:	SELECT 	SSN</a:t>
            </a:r>
            <a:br>
              <a:rPr lang="en-US" sz="2200" smtClean="0"/>
            </a:br>
            <a:r>
              <a:rPr lang="en-US" sz="2200" smtClean="0"/>
              <a:t>		FROM		EMPLOYEE</a:t>
            </a:r>
            <a:br>
              <a:rPr lang="en-US" sz="2200" smtClean="0"/>
            </a:br>
            <a:endParaRPr lang="en-US" sz="2200" smtClean="0"/>
          </a:p>
          <a:p>
            <a:pPr eaLnBrk="1" hangingPunct="1"/>
            <a:r>
              <a:rPr lang="en-US" sz="2400" smtClean="0"/>
              <a:t>If more than one relation is specified in the FROM-clause </a:t>
            </a:r>
            <a:r>
              <a:rPr lang="en-US" sz="2400" i="1" smtClean="0"/>
              <a:t>and</a:t>
            </a:r>
            <a:r>
              <a:rPr lang="en-US" sz="2400" smtClean="0"/>
              <a:t> there is no join condition, then the </a:t>
            </a:r>
            <a:r>
              <a:rPr lang="en-US" sz="2400" i="1" smtClean="0"/>
              <a:t>CARTESIAN PRODUCT</a:t>
            </a:r>
            <a:r>
              <a:rPr lang="en-US" sz="2400" smtClean="0"/>
              <a:t> of tuples is selected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UNSPECIFIED </a:t>
            </a:r>
            <a:br>
              <a:rPr lang="en-US" smtClean="0"/>
            </a:br>
            <a:r>
              <a:rPr lang="en-US" smtClean="0"/>
              <a:t>WHERE-clause (contd.)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</a:t>
            </a:r>
            <a:br>
              <a:rPr lang="en-US" smtClean="0"/>
            </a:br>
            <a:endParaRPr lang="en-US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mtClean="0"/>
              <a:t>Q10:	SELECT	SSN, DNAME</a:t>
            </a:r>
            <a:br>
              <a:rPr lang="en-US" smtClean="0"/>
            </a:br>
            <a:r>
              <a:rPr lang="en-US" smtClean="0"/>
              <a:t>		FROM	EMPLOYEE, DEPARTMENT</a:t>
            </a:r>
            <a:br>
              <a:rPr lang="en-US" smtClean="0"/>
            </a:br>
            <a:endParaRPr lang="en-US" smtClean="0"/>
          </a:p>
          <a:p>
            <a:pPr lvl="1" eaLnBrk="1" hangingPunct="1"/>
            <a:r>
              <a:rPr lang="en-US" smtClean="0"/>
              <a:t>It is extremely important not to overlook specifying any selection and join conditions in the WHERE-clause; otherwise, incorrect and very large relations may result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 OF *</a:t>
            </a:r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To retrieve all the attribute values of the selected tuples, a * is used, which stands for </a:t>
            </a:r>
            <a:r>
              <a:rPr lang="en-US" sz="2400" i="1" smtClean="0"/>
              <a:t>all the attributes</a:t>
            </a:r>
            <a:r>
              <a:rPr lang="en-US" sz="2400" smtClean="0"/>
              <a:t/>
            </a:r>
            <a:br>
              <a:rPr lang="en-US" sz="2400" smtClean="0"/>
            </a:br>
            <a:r>
              <a:rPr lang="en-US" sz="2400" smtClean="0"/>
              <a:t>Examples: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/>
            </a:r>
            <a:br>
              <a:rPr lang="en-US" sz="2200" smtClean="0"/>
            </a:br>
            <a:r>
              <a:rPr lang="en-US" sz="2200" smtClean="0"/>
              <a:t>Q1C:	SELECT 	*</a:t>
            </a:r>
            <a:br>
              <a:rPr lang="en-US" sz="2200" smtClean="0"/>
            </a:br>
            <a:r>
              <a:rPr lang="en-US" sz="2200" smtClean="0"/>
              <a:t>		FROM		EMPLOYEE</a:t>
            </a:r>
            <a:br>
              <a:rPr lang="en-US" sz="2200" smtClean="0"/>
            </a:br>
            <a:r>
              <a:rPr lang="en-US" sz="2200" smtClean="0"/>
              <a:t>		WHERE	DNO=5</a:t>
            </a:r>
            <a:br>
              <a:rPr lang="en-US" sz="2200" smtClean="0"/>
            </a:br>
            <a:r>
              <a:rPr lang="en-US" sz="2200" smtClean="0"/>
              <a:t/>
            </a:r>
            <a:br>
              <a:rPr lang="en-US" sz="2200" smtClean="0"/>
            </a:br>
            <a:r>
              <a:rPr lang="en-US" sz="2200" smtClean="0"/>
              <a:t>Q1D:	SELECT	*</a:t>
            </a:r>
            <a:br>
              <a:rPr lang="en-US" sz="2200" smtClean="0"/>
            </a:br>
            <a:r>
              <a:rPr lang="en-US" sz="2200" smtClean="0"/>
              <a:t>		FROM		EMPLOYEE, DEPARTMENT</a:t>
            </a:r>
            <a:br>
              <a:rPr lang="en-US" sz="2200" smtClean="0"/>
            </a:br>
            <a:r>
              <a:rPr lang="en-US" sz="2200" smtClean="0"/>
              <a:t>		WHERE	DNAME='Research' AND 					DNO=DNUMBER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 OF DISTINCT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SQL does not treat a relation as a set; duplicate tuples can appear</a:t>
            </a:r>
          </a:p>
          <a:p>
            <a:pPr eaLnBrk="1" hangingPunct="1"/>
            <a:r>
              <a:rPr lang="en-US" sz="2400" smtClean="0"/>
              <a:t>To eliminate duplicate tuples in a query result, the keyword </a:t>
            </a:r>
            <a:r>
              <a:rPr lang="en-US" sz="2400" b="1" smtClean="0"/>
              <a:t>DISTINCT</a:t>
            </a:r>
            <a:r>
              <a:rPr lang="en-US" sz="2400" smtClean="0"/>
              <a:t> is used</a:t>
            </a:r>
          </a:p>
          <a:p>
            <a:pPr eaLnBrk="1" hangingPunct="1"/>
            <a:r>
              <a:rPr lang="en-US" sz="2400" smtClean="0"/>
              <a:t>For example, the result of Q11 may have duplicate SALARY values whereas Q11A does not have any duplicate values</a:t>
            </a:r>
            <a:br>
              <a:rPr lang="en-US" sz="2400" smtClean="0"/>
            </a:br>
            <a:endParaRPr lang="en-US" sz="240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>	Q11:	SELECT 	SALARY</a:t>
            </a:r>
            <a:br>
              <a:rPr lang="en-US" sz="2200" smtClean="0"/>
            </a:br>
            <a:r>
              <a:rPr lang="en-US" sz="2200" smtClean="0"/>
              <a:t>		FROM		EMPLOYEE</a:t>
            </a:r>
            <a:br>
              <a:rPr lang="en-US" sz="2200" smtClean="0"/>
            </a:br>
            <a:r>
              <a:rPr lang="en-US" sz="2200" smtClean="0"/>
              <a:t>Q11A: 	SELECT 	</a:t>
            </a:r>
            <a:r>
              <a:rPr lang="en-US" sz="2200" b="1" smtClean="0"/>
              <a:t>DISTINCT</a:t>
            </a:r>
            <a:r>
              <a:rPr lang="en-US" sz="2200" smtClean="0"/>
              <a:t> SALARY</a:t>
            </a:r>
            <a:br>
              <a:rPr lang="en-US" sz="2200" smtClean="0"/>
            </a:br>
            <a:r>
              <a:rPr lang="en-US" sz="2200" smtClean="0"/>
              <a:t>		FROM		EMPLOYEE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 OPERATIONS</a:t>
            </a: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SQL has directly incorporated some set operations</a:t>
            </a:r>
          </a:p>
          <a:p>
            <a:pPr eaLnBrk="1" hangingPunct="1"/>
            <a:r>
              <a:rPr lang="en-US" sz="2400" smtClean="0"/>
              <a:t>There is a union operation (UNION), and in </a:t>
            </a:r>
            <a:r>
              <a:rPr lang="en-US" sz="2400" i="1" smtClean="0"/>
              <a:t>some versions</a:t>
            </a:r>
            <a:r>
              <a:rPr lang="en-US" sz="2400" smtClean="0"/>
              <a:t> of SQL there are set difference (MINUS) and intersection (INTERSECT) operations</a:t>
            </a:r>
          </a:p>
          <a:p>
            <a:pPr eaLnBrk="1" hangingPunct="1"/>
            <a:r>
              <a:rPr lang="en-US" sz="2400" smtClean="0"/>
              <a:t>The resulting relations of these set operations are sets of tuples; </a:t>
            </a:r>
            <a:r>
              <a:rPr lang="en-US" sz="2400" i="1" smtClean="0"/>
              <a:t>duplicate tuples are eliminated</a:t>
            </a:r>
            <a:r>
              <a:rPr lang="en-US" sz="2400" smtClean="0"/>
              <a:t> </a:t>
            </a:r>
            <a:r>
              <a:rPr lang="en-US" sz="2400" i="1" smtClean="0"/>
              <a:t>from the result</a:t>
            </a:r>
          </a:p>
          <a:p>
            <a:pPr eaLnBrk="1" hangingPunct="1"/>
            <a:r>
              <a:rPr lang="en-US" sz="2400" smtClean="0"/>
              <a:t>The set operations apply only to </a:t>
            </a:r>
            <a:r>
              <a:rPr lang="en-US" sz="2400" i="1" smtClean="0"/>
              <a:t>union compatible relations</a:t>
            </a:r>
            <a:r>
              <a:rPr lang="en-US" sz="2400" smtClean="0"/>
              <a:t>; the two relations must have the same attributes and the attributes must appear in the same order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 OPERATIONS (contd.) 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Query 4: Make a list of all project numbers for projects that involve an employee whose last name is 'Smith' as a worker or as a manager of the department that controls the project.</a:t>
            </a:r>
            <a:br>
              <a:rPr lang="en-US" sz="2000" smtClean="0"/>
            </a:br>
            <a:endParaRPr lang="en-US" sz="200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Q4:		(SELECT 	PNAME</a:t>
            </a:r>
            <a:br>
              <a:rPr lang="en-US" sz="2000" smtClean="0"/>
            </a:br>
            <a:r>
              <a:rPr lang="en-US" sz="2000" smtClean="0"/>
              <a:t>		FROM		PROJECT, DEPARTMENT, 						EMPLOYEE</a:t>
            </a:r>
            <a:br>
              <a:rPr lang="en-US" sz="2000" smtClean="0"/>
            </a:br>
            <a:r>
              <a:rPr lang="en-US" sz="2000" smtClean="0"/>
              <a:t>		WHERE	DNUM=DNUMBER AND 					MGRSSN=SSN AND LNAME='Smith')</a:t>
            </a:r>
            <a:br>
              <a:rPr lang="en-US" sz="2000" smtClean="0"/>
            </a:br>
            <a:r>
              <a:rPr lang="en-US" sz="2000" smtClean="0"/>
              <a:t>		UNION	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			(SELECT  	PNAME</a:t>
            </a:r>
            <a:br>
              <a:rPr lang="en-US" sz="2000" smtClean="0"/>
            </a:br>
            <a:r>
              <a:rPr lang="en-US" sz="2000" smtClean="0"/>
              <a:t>		FROM		PROJECT, WORKS_ON, EMPLOYEE</a:t>
            </a:r>
            <a:br>
              <a:rPr lang="en-US" sz="2000" smtClean="0"/>
            </a:br>
            <a:r>
              <a:rPr lang="en-US" sz="2000" smtClean="0"/>
              <a:t>		WHERE	PNUMBER=PNO AND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					ESSN=SSN AND NAME='Smith')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NESTING OF QUERIES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A complete SELECT query, called a </a:t>
            </a:r>
            <a:r>
              <a:rPr lang="en-US" sz="2400" i="1" smtClean="0"/>
              <a:t>nested query</a:t>
            </a:r>
            <a:r>
              <a:rPr lang="en-US" sz="2400" smtClean="0"/>
              <a:t>, can be specified within the WHERE-clause of another query, called the </a:t>
            </a:r>
            <a:r>
              <a:rPr lang="en-US" sz="2400" i="1" smtClean="0"/>
              <a:t>outer query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Many of the previous queries can be specified in an alternative form using nesting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Query 1: Retrieve the name and address of all employees who work for the 'Research' department.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20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smtClean="0"/>
              <a:t>Q1:	SELECT	FNAME, LNAME, ADDRESS</a:t>
            </a:r>
            <a:br>
              <a:rPr lang="en-US" sz="2200" smtClean="0"/>
            </a:br>
            <a:r>
              <a:rPr lang="en-US" sz="2200" smtClean="0"/>
              <a:t>	FROM 		EMPLOYEE</a:t>
            </a:r>
            <a:br>
              <a:rPr lang="en-US" sz="2200" smtClean="0"/>
            </a:br>
            <a:r>
              <a:rPr lang="en-US" sz="2200" smtClean="0"/>
              <a:t>	WHERE	DNO IN  (SELECT  DNUMBER</a:t>
            </a:r>
            <a:br>
              <a:rPr lang="en-US" sz="2200" smtClean="0"/>
            </a:br>
            <a:r>
              <a:rPr lang="en-US" sz="2200" smtClean="0"/>
              <a:t>	FROM		DEPARTMENT</a:t>
            </a:r>
            <a:br>
              <a:rPr lang="en-US" sz="2200" smtClean="0"/>
            </a:br>
            <a:r>
              <a:rPr lang="en-US" sz="2200" smtClean="0"/>
              <a:t>	WHERE	DNAME='Research' )</a:t>
            </a:r>
            <a:br>
              <a:rPr lang="en-US" sz="2200" smtClean="0"/>
            </a:br>
            <a:endParaRPr lang="en-US" sz="220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NESTING OF QUERIES (contd.)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The nested query selects the number of the 'Research' department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 outer query select an EMPLOYEE tuple if its DNO value is in the result of either nested query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 comparison operator IN compares a value v with a set (or multi-set) of values V, and evaluates to TRUE if v is one of the elements in V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In general, we can have several levels of nested queries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A reference to an </a:t>
            </a:r>
            <a:r>
              <a:rPr lang="en-US" sz="2400" i="1" smtClean="0"/>
              <a:t>unqualified attribute</a:t>
            </a:r>
            <a:r>
              <a:rPr lang="en-US" sz="2400" smtClean="0"/>
              <a:t> refers to the relation declared in the </a:t>
            </a:r>
            <a:r>
              <a:rPr lang="en-US" sz="2400" i="1" smtClean="0"/>
              <a:t>innermost nested query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In this example, the nested query is </a:t>
            </a:r>
            <a:r>
              <a:rPr lang="en-US" sz="2400" i="1" smtClean="0"/>
              <a:t>not correlated</a:t>
            </a:r>
            <a:r>
              <a:rPr lang="en-US" sz="2400" smtClean="0"/>
              <a:t> with the outer query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CORRELATED NESTED QUERIES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If a condition in the WHERE-clause of a </a:t>
            </a:r>
            <a:r>
              <a:rPr lang="en-US" sz="2000" i="1" smtClean="0"/>
              <a:t>nested query</a:t>
            </a:r>
            <a:r>
              <a:rPr lang="en-US" sz="2000" smtClean="0"/>
              <a:t> references an attribute of a relation declared in the </a:t>
            </a:r>
            <a:r>
              <a:rPr lang="en-US" sz="2000" i="1" smtClean="0"/>
              <a:t>outer query</a:t>
            </a:r>
            <a:r>
              <a:rPr lang="en-US" sz="2000" smtClean="0"/>
              <a:t>, the two queries are said to be </a:t>
            </a:r>
            <a:r>
              <a:rPr lang="en-US" sz="2000" i="1" smtClean="0"/>
              <a:t>correlated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The result of a correlated nested query is different for each tuple (or combination of tuples) of the relation(s) the outer query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Query 12: Retrieve the name of each employee who has a dependent with the same first name as the employee.</a:t>
            </a:r>
            <a:br>
              <a:rPr lang="en-US" sz="2000" smtClean="0"/>
            </a:br>
            <a:r>
              <a:rPr lang="en-US" sz="2000" smtClean="0"/>
              <a:t/>
            </a:r>
            <a:br>
              <a:rPr lang="en-US" sz="2000" smtClean="0"/>
            </a:br>
            <a:r>
              <a:rPr lang="en-US" sz="2000" smtClean="0"/>
              <a:t>Q12: SELECT  	E.FNAME, E.LNAME</a:t>
            </a:r>
            <a:br>
              <a:rPr lang="en-US" sz="2000" smtClean="0"/>
            </a:br>
            <a:r>
              <a:rPr lang="en-US" sz="2000" smtClean="0"/>
              <a:t>	FROM		EMPLOYEE AS E</a:t>
            </a:r>
            <a:br>
              <a:rPr lang="en-US" sz="2000" smtClean="0"/>
            </a:br>
            <a:r>
              <a:rPr lang="en-US" sz="2000" smtClean="0"/>
              <a:t>	WHERE	E.SSN IN </a:t>
            </a:r>
            <a:br>
              <a:rPr lang="en-US" sz="2000" smtClean="0"/>
            </a:br>
            <a:r>
              <a:rPr lang="en-US" sz="2000" smtClean="0"/>
              <a:t>				(SELECT 	ESSN</a:t>
            </a:r>
            <a:br>
              <a:rPr lang="en-US" sz="2000" smtClean="0"/>
            </a:br>
            <a:r>
              <a:rPr lang="en-US" sz="2000" smtClean="0"/>
              <a:t>				FROM		DEPENDENT</a:t>
            </a:r>
            <a:br>
              <a:rPr lang="en-US" sz="2000" smtClean="0"/>
            </a:br>
            <a:r>
              <a:rPr lang="en-US" sz="2000" smtClean="0"/>
              <a:t>				WHERE	ESSN=E.SSN AND</a:t>
            </a:r>
            <a:br>
              <a:rPr lang="en-US" sz="2000" smtClean="0"/>
            </a:br>
            <a:r>
              <a:rPr lang="en-US" sz="2000" smtClean="0"/>
              <a:t>			 	E.FNAME=DEPENDENT_NAME)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CORRELATED NESTED QUERIES (contd.)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In Q12, the nested query has a different result in the outer query</a:t>
            </a:r>
          </a:p>
          <a:p>
            <a:pPr eaLnBrk="1" hangingPunct="1"/>
            <a:r>
              <a:rPr lang="en-US" sz="2400" smtClean="0"/>
              <a:t>A query written with nested SELECT... FROM... WHERE... blocks and using the = or IN comparison operators can </a:t>
            </a:r>
            <a:r>
              <a:rPr lang="en-US" sz="2400" b="1" i="1" smtClean="0"/>
              <a:t>always</a:t>
            </a:r>
            <a:r>
              <a:rPr lang="en-US" sz="2400" smtClean="0"/>
              <a:t> be expressed as a single block query. For example, Q12 may be written as in Q12A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/>
            </a:r>
            <a:br>
              <a:rPr lang="en-US" sz="2200" smtClean="0"/>
            </a:br>
            <a:r>
              <a:rPr lang="en-US" sz="2200" smtClean="0"/>
              <a:t>Q12A:	SELECT 	E.FNAME, E.LNAME</a:t>
            </a:r>
            <a:br>
              <a:rPr lang="en-US" sz="2200" smtClean="0"/>
            </a:br>
            <a:r>
              <a:rPr lang="en-US" sz="2200" smtClean="0"/>
              <a:t>		FROM		EMPLOYEE E, DEPENDENT D</a:t>
            </a:r>
            <a:br>
              <a:rPr lang="en-US" sz="2200" smtClean="0"/>
            </a:br>
            <a:r>
              <a:rPr lang="en-US" sz="2200" smtClean="0"/>
              <a:t>		WHERE	E.SSN=D.ESSN AND						E.FNAME=D.DEPENDENT_NAME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CORRELATED NESTED QUERIES (contd.)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The original SQL as specified for SYSTEM R also had a </a:t>
            </a:r>
            <a:r>
              <a:rPr lang="en-US" sz="2400" b="1" smtClean="0"/>
              <a:t>CONTAINS</a:t>
            </a:r>
            <a:r>
              <a:rPr lang="en-US" sz="2400" smtClean="0"/>
              <a:t> comparison operator, which is used in conjunction with nested correlated queries</a:t>
            </a:r>
          </a:p>
          <a:p>
            <a:pPr lvl="1" eaLnBrk="1" hangingPunct="1"/>
            <a:r>
              <a:rPr lang="en-US" sz="2200" smtClean="0"/>
              <a:t>This operator was </a:t>
            </a:r>
            <a:r>
              <a:rPr lang="en-US" sz="2200" i="1" smtClean="0"/>
              <a:t>dropped from the language</a:t>
            </a:r>
            <a:r>
              <a:rPr lang="en-US" sz="2200" smtClean="0"/>
              <a:t>, possibly because of the difficulty in implementing it efficiently</a:t>
            </a:r>
          </a:p>
          <a:p>
            <a:pPr lvl="1" eaLnBrk="1" hangingPunct="1"/>
            <a:r>
              <a:rPr lang="en-US" sz="2200" smtClean="0"/>
              <a:t>Most implementations of SQL do not  have this operator</a:t>
            </a:r>
          </a:p>
          <a:p>
            <a:pPr lvl="1" eaLnBrk="1" hangingPunct="1"/>
            <a:r>
              <a:rPr lang="en-US" sz="2200" smtClean="0"/>
              <a:t>The CONTAINS operator compares </a:t>
            </a:r>
            <a:r>
              <a:rPr lang="en-US" sz="2200" i="1" smtClean="0"/>
              <a:t>two sets of values</a:t>
            </a:r>
            <a:r>
              <a:rPr lang="en-US" sz="2200" smtClean="0"/>
              <a:t>, and returns TRUE if one set contains all values in the other set</a:t>
            </a:r>
          </a:p>
          <a:p>
            <a:pPr lvl="2" eaLnBrk="1" hangingPunct="1"/>
            <a:r>
              <a:rPr lang="en-US" sz="2000" smtClean="0"/>
              <a:t>Reminiscent of the division operation of algebra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CORRELATED NESTED QUERIES (contd.)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Query 3: Retrieve the name of each employee who works on all  the projects controlled by department number 5.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/>
            </a:r>
            <a:br>
              <a:rPr lang="en-US" sz="2200" smtClean="0"/>
            </a:br>
            <a:r>
              <a:rPr lang="en-US" sz="2200" smtClean="0"/>
              <a:t>Q3:	SELECT 	FNAME, LNAME</a:t>
            </a:r>
            <a:br>
              <a:rPr lang="en-US" sz="2200" smtClean="0"/>
            </a:br>
            <a:r>
              <a:rPr lang="en-US" sz="2200" smtClean="0"/>
              <a:t>		FROM		EMPLOYEE</a:t>
            </a:r>
            <a:br>
              <a:rPr lang="en-US" sz="2200" smtClean="0"/>
            </a:br>
            <a:r>
              <a:rPr lang="en-US" sz="2200" smtClean="0"/>
              <a:t>		WHERE  ( 	(SELECT	PNO</a:t>
            </a:r>
            <a:br>
              <a:rPr lang="en-US" sz="2200" smtClean="0"/>
            </a:br>
            <a:r>
              <a:rPr lang="en-US" sz="2200" smtClean="0"/>
              <a:t>		   		FROM		WORKS_ON</a:t>
            </a:r>
            <a:br>
              <a:rPr lang="en-US" sz="2200" smtClean="0"/>
            </a:br>
            <a:r>
              <a:rPr lang="en-US" sz="2200" smtClean="0"/>
              <a:t>		   		WHERE	SSN=ESSN)</a:t>
            </a:r>
            <a:br>
              <a:rPr lang="en-US" sz="2200" smtClean="0"/>
            </a:br>
            <a:r>
              <a:rPr lang="en-US" sz="2200" smtClean="0"/>
              <a:t>		   			CONTAINS</a:t>
            </a:r>
            <a:br>
              <a:rPr lang="en-US" sz="2200" smtClean="0"/>
            </a:br>
            <a:r>
              <a:rPr lang="en-US" sz="2200" smtClean="0"/>
              <a:t>		  		(SELECT	PNUMBER</a:t>
            </a:r>
            <a:br>
              <a:rPr lang="en-US" sz="2200" smtClean="0"/>
            </a:br>
            <a:r>
              <a:rPr lang="en-US" sz="2200" smtClean="0"/>
              <a:t>		   		FROM		PROJECT</a:t>
            </a:r>
            <a:br>
              <a:rPr lang="en-US" sz="2200" smtClean="0"/>
            </a:br>
            <a:r>
              <a:rPr lang="en-US" sz="2200" smtClean="0"/>
              <a:t>		   		WHERE	DNUM=5) 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CORRELATED NESTED QUERIES (contd.)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 Q3, the second nested query, which is </a:t>
            </a:r>
            <a:r>
              <a:rPr lang="en-US" i="1" smtClean="0"/>
              <a:t>not correlated</a:t>
            </a:r>
            <a:r>
              <a:rPr lang="en-US" smtClean="0"/>
              <a:t> with the outer query, retrieves the project numbers of all projects controlled by department 5</a:t>
            </a:r>
          </a:p>
          <a:p>
            <a:pPr eaLnBrk="1" hangingPunct="1"/>
            <a:r>
              <a:rPr lang="en-US" smtClean="0"/>
              <a:t>The first nested query, which is correlated, retrieves the project numbers on which the employee works, which is </a:t>
            </a:r>
            <a:r>
              <a:rPr lang="en-US" i="1" smtClean="0"/>
              <a:t>different for each employee tuple</a:t>
            </a:r>
            <a:r>
              <a:rPr lang="en-US" smtClean="0"/>
              <a:t> because of the correlation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EXISTS FUNCTION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EXISTS is used to check whether the result of a correlated nested query is empty (contains no tuples) or not</a:t>
            </a:r>
          </a:p>
          <a:p>
            <a:pPr lvl="1" eaLnBrk="1" hangingPunct="1"/>
            <a:r>
              <a:rPr lang="en-US" smtClean="0"/>
              <a:t>We can formulate Query 12 in an alternative form that uses EXISTS as Q12B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EXISTS FUNCTION (contd.)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Query 12: Retrieve the name of each employee who has a dependent with the same first name as the employee.</a:t>
            </a:r>
            <a:br>
              <a:rPr lang="en-US" smtClean="0"/>
            </a:br>
            <a:endParaRPr lang="en-US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>Q12B: 	SELECT  	FNAME, LNAME</a:t>
            </a:r>
            <a:br>
              <a:rPr lang="en-US" sz="2200" smtClean="0"/>
            </a:br>
            <a:r>
              <a:rPr lang="en-US" sz="2200" smtClean="0"/>
              <a:t>		FROM		EMPLOYEE</a:t>
            </a:r>
            <a:br>
              <a:rPr lang="en-US" sz="2200" smtClean="0"/>
            </a:br>
            <a:r>
              <a:rPr lang="en-US" sz="2200" smtClean="0"/>
              <a:t>		WHERE	EXISTS  (SELECT	*</a:t>
            </a:r>
            <a:br>
              <a:rPr lang="en-US" sz="2200" smtClean="0"/>
            </a:br>
            <a:r>
              <a:rPr lang="en-US" sz="2200" smtClean="0"/>
              <a:t>					FROM		DEPENDENT</a:t>
            </a:r>
            <a:br>
              <a:rPr lang="en-US" sz="2200" smtClean="0"/>
            </a:br>
            <a:r>
              <a:rPr lang="en-US" sz="2200" smtClean="0"/>
              <a:t>					WHERE	SSN=ESSN 						AND 							FNAME=DEPENDENT_NAME)</a:t>
            </a:r>
          </a:p>
          <a:p>
            <a:pPr eaLnBrk="1" hangingPunct="1"/>
            <a:endParaRPr lang="en-US" sz="240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EXISTS FUNCTION (contd.)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 smtClean="0"/>
              <a:t>Query 6: Retrieve the names of employees who have no dependents.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/>
            </a:r>
            <a:br>
              <a:rPr lang="en-US" sz="2200" smtClean="0"/>
            </a:br>
            <a:r>
              <a:rPr lang="en-US" sz="2200" smtClean="0"/>
              <a:t>Q6:	SELECT  	FNAME, LNAME</a:t>
            </a:r>
            <a:br>
              <a:rPr lang="en-US" sz="2200" smtClean="0"/>
            </a:br>
            <a:r>
              <a:rPr lang="en-US" sz="2200" smtClean="0"/>
              <a:t>		FROM		EMPLOYEE</a:t>
            </a:r>
            <a:br>
              <a:rPr lang="en-US" sz="2200" smtClean="0"/>
            </a:br>
            <a:r>
              <a:rPr lang="en-US" sz="2200" smtClean="0"/>
              <a:t>		WHERE	NOT EXISTS   (SELECT	*</a:t>
            </a:r>
            <a:br>
              <a:rPr lang="en-US" sz="2200" smtClean="0"/>
            </a:br>
            <a:r>
              <a:rPr lang="en-US" sz="2200" smtClean="0"/>
              <a:t>					FROM  	DEPENDENT</a:t>
            </a:r>
            <a:br>
              <a:rPr lang="en-US" sz="2200" smtClean="0"/>
            </a:br>
            <a:r>
              <a:rPr lang="en-US" sz="2200" smtClean="0"/>
              <a:t>					WHERE 	SSN=ESSN)</a:t>
            </a:r>
          </a:p>
          <a:p>
            <a:pPr eaLnBrk="1" hangingPunct="1"/>
            <a:r>
              <a:rPr lang="en-US" sz="2400" smtClean="0"/>
              <a:t>In Q6, the correlated nested query retrieves all DEPENDENT tuples related to an EMPLOYEE tuple. If </a:t>
            </a:r>
            <a:r>
              <a:rPr lang="en-US" sz="2400" i="1" smtClean="0"/>
              <a:t>none exist</a:t>
            </a:r>
            <a:r>
              <a:rPr lang="en-US" sz="2400" smtClean="0"/>
              <a:t>, the EMPLOYEE tuple is selected</a:t>
            </a:r>
          </a:p>
          <a:p>
            <a:pPr lvl="1" eaLnBrk="1" hangingPunct="1"/>
            <a:r>
              <a:rPr lang="en-US" sz="2200" smtClean="0"/>
              <a:t>EXISTS is necessary for the expressive power of SQL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EXPLICIT SETS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 is also possible to use an </a:t>
            </a:r>
            <a:r>
              <a:rPr lang="en-US" b="1" smtClean="0"/>
              <a:t>explicit (enumerated) set of values</a:t>
            </a:r>
            <a:r>
              <a:rPr lang="en-US" smtClean="0"/>
              <a:t> in the WHERE-clause rather than a nested query</a:t>
            </a:r>
          </a:p>
          <a:p>
            <a:pPr eaLnBrk="1" hangingPunct="1"/>
            <a:r>
              <a:rPr lang="en-US" smtClean="0"/>
              <a:t>Query 13: Retrieve the social security numbers of all employees who work on project number 1, 2, or 3.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/>
              <a:t>Q13:	SELECT  	DISTINCT ESSN</a:t>
            </a:r>
            <a:br>
              <a:rPr lang="en-US" smtClean="0"/>
            </a:br>
            <a:r>
              <a:rPr lang="en-US" smtClean="0"/>
              <a:t>		FROM	WORKS_ON</a:t>
            </a:r>
            <a:br>
              <a:rPr lang="en-US" smtClean="0"/>
            </a:br>
            <a:r>
              <a:rPr lang="en-US" smtClean="0"/>
              <a:t>		WHERE	PNO IN  (1, 2, 3)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NULLS IN SQL QUERIES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SQL allows queries that check if a value is </a:t>
            </a:r>
            <a:r>
              <a:rPr lang="en-US" sz="2400" b="1" smtClean="0"/>
              <a:t>NULL</a:t>
            </a:r>
            <a:r>
              <a:rPr lang="en-US" sz="2400" smtClean="0"/>
              <a:t> (missing or undefined or not applicable)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SQL uses </a:t>
            </a:r>
            <a:r>
              <a:rPr lang="en-US" sz="2400" b="1" smtClean="0"/>
              <a:t>IS</a:t>
            </a:r>
            <a:r>
              <a:rPr lang="en-US" sz="2400" smtClean="0"/>
              <a:t> or </a:t>
            </a:r>
            <a:r>
              <a:rPr lang="en-US" sz="2400" b="1" smtClean="0"/>
              <a:t>IS NOT</a:t>
            </a:r>
            <a:r>
              <a:rPr lang="en-US" sz="2400" smtClean="0"/>
              <a:t> to compare NULLs because it considers each NULL value distinct from other NULL values, so </a:t>
            </a:r>
            <a:r>
              <a:rPr lang="en-US" sz="2400" i="1" smtClean="0"/>
              <a:t>equality comparison is not appropriate</a:t>
            </a:r>
            <a:r>
              <a:rPr lang="en-US" sz="240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Query 14: Retrieve the names of all employees who do not have supervisors.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smtClean="0"/>
              <a:t>Q14:	SELECT  	FNAME, LNAME</a:t>
            </a:r>
            <a:br>
              <a:rPr lang="en-US" sz="2200" smtClean="0"/>
            </a:br>
            <a:r>
              <a:rPr lang="en-US" sz="2200" smtClean="0"/>
              <a:t>		FROM		EMPLOYEE</a:t>
            </a:r>
            <a:br>
              <a:rPr lang="en-US" sz="2200" smtClean="0"/>
            </a:br>
            <a:r>
              <a:rPr lang="en-US" sz="2200" smtClean="0"/>
              <a:t>		WHERE	SUPERSSN  IS  NULL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Note: If a join condition is specified, tuples with NULL values for the join attributes are not included in the result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Joined Relations Feature </a:t>
            </a:r>
            <a:br>
              <a:rPr lang="en-US" smtClean="0"/>
            </a:br>
            <a:r>
              <a:rPr lang="en-US" smtClean="0"/>
              <a:t>in SQL2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Can specify a "joined relation" in the FROM-clause</a:t>
            </a:r>
          </a:p>
          <a:p>
            <a:pPr lvl="1" eaLnBrk="1" hangingPunct="1"/>
            <a:r>
              <a:rPr lang="en-US" smtClean="0"/>
              <a:t>Looks like any other relation but is the result of a join</a:t>
            </a:r>
          </a:p>
          <a:p>
            <a:pPr lvl="1" eaLnBrk="1" hangingPunct="1"/>
            <a:r>
              <a:rPr lang="en-US" smtClean="0"/>
              <a:t>Allows the user to specify different types of joins (regular "theta" JOIN, NATURAL JOIN, LEFT OUTER JOIN, RIGHT OUTER JOIN, CROSS JOIN, etc)</a:t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Joined Relations Feature </a:t>
            </a:r>
            <a:br>
              <a:rPr lang="en-US" smtClean="0"/>
            </a:br>
            <a:r>
              <a:rPr lang="en-US" smtClean="0"/>
              <a:t>in SQL2 (contd.)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Examples: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dirty="0" smtClean="0"/>
              <a:t>Q8:	SELECT	E.FNAME, E.LNAME, S.FNAME, S.LNAME</a:t>
            </a:r>
            <a:br>
              <a:rPr lang="en-US" sz="2200" dirty="0" smtClean="0"/>
            </a:br>
            <a:r>
              <a:rPr lang="en-US" sz="2200" dirty="0" smtClean="0"/>
              <a:t>	FROM 		EMPLOYEE E S</a:t>
            </a:r>
            <a:br>
              <a:rPr lang="en-US" sz="2200" dirty="0" smtClean="0"/>
            </a:br>
            <a:r>
              <a:rPr lang="en-US" sz="2200" dirty="0" smtClean="0"/>
              <a:t>	WHERE	E.SUPERSSN=S.SSN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can be written as: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dirty="0" smtClean="0"/>
              <a:t>Q8:	SELECT	E.FNAME, E.LNAME, S.FNAME, S.LNAME</a:t>
            </a:r>
            <a:br>
              <a:rPr lang="en-US" sz="2200" dirty="0" smtClean="0"/>
            </a:br>
            <a:r>
              <a:rPr lang="en-US" sz="2200" dirty="0" smtClean="0"/>
              <a:t>	FROM 		(EMPLOYEE E</a:t>
            </a:r>
            <a:r>
              <a:rPr lang="en-US" sz="2200" dirty="0" smtClean="0">
                <a:solidFill>
                  <a:srgbClr val="FF0000"/>
                </a:solidFill>
              </a:rPr>
              <a:t> LEFT OUTER JOIN </a:t>
            </a:r>
            <a:r>
              <a:rPr lang="en-US" sz="2200" dirty="0" smtClean="0"/>
              <a:t>				EMPLOYEE S </a:t>
            </a:r>
            <a:r>
              <a:rPr lang="en-US" sz="2200" dirty="0" smtClean="0">
                <a:solidFill>
                  <a:srgbClr val="FF0000"/>
                </a:solidFill>
              </a:rPr>
              <a:t>ON</a:t>
            </a:r>
            <a:r>
              <a:rPr lang="en-US" sz="2200" dirty="0" smtClean="0"/>
              <a:t>  E.SUPERSSN=S.SSN)</a:t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Joined Relations Feature </a:t>
            </a:r>
            <a:br>
              <a:rPr lang="en-US" smtClean="0"/>
            </a:br>
            <a:r>
              <a:rPr lang="en-US" smtClean="0"/>
              <a:t>in SQL2 (contd.)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Examples: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Q1:	SELECT	FNAME, LNAME, ADDRESS</a:t>
            </a:r>
            <a:br>
              <a:rPr lang="en-US" sz="2200" dirty="0" smtClean="0"/>
            </a:br>
            <a:r>
              <a:rPr lang="en-US" sz="2200" dirty="0" smtClean="0"/>
              <a:t>	FROM 	EMPLOYEE, DEPARTMENT</a:t>
            </a:r>
            <a:br>
              <a:rPr lang="en-US" sz="2200" dirty="0" smtClean="0"/>
            </a:br>
            <a:r>
              <a:rPr lang="en-US" sz="2200" dirty="0" smtClean="0"/>
              <a:t>	WHERE	DNAME='Research' AND DNUMBER=DNO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could be written as: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Q1:	SELECT	FNAME, LNAME, ADDRESS</a:t>
            </a:r>
            <a:br>
              <a:rPr lang="en-US" sz="2200" dirty="0" smtClean="0"/>
            </a:br>
            <a:r>
              <a:rPr lang="en-US" sz="2200" dirty="0" smtClean="0"/>
              <a:t>	FROM 		(EMPLOYEE </a:t>
            </a:r>
            <a:r>
              <a:rPr lang="en-US" sz="2200" dirty="0" smtClean="0">
                <a:solidFill>
                  <a:srgbClr val="FF0000"/>
                </a:solidFill>
              </a:rPr>
              <a:t>JOIN</a:t>
            </a:r>
            <a:r>
              <a:rPr lang="en-US" sz="2200" dirty="0" smtClean="0"/>
              <a:t> DEPARTMENT</a:t>
            </a:r>
            <a:br>
              <a:rPr lang="en-US" sz="2200" dirty="0" smtClean="0"/>
            </a:br>
            <a:r>
              <a:rPr lang="en-US" sz="2200" dirty="0" smtClean="0"/>
              <a:t>		 	</a:t>
            </a:r>
            <a:r>
              <a:rPr lang="en-US" sz="2200" dirty="0" smtClean="0">
                <a:solidFill>
                  <a:srgbClr val="FF0000"/>
                </a:solidFill>
              </a:rPr>
              <a:t>ON</a:t>
            </a:r>
            <a:r>
              <a:rPr lang="en-US" sz="2200" dirty="0" smtClean="0"/>
              <a:t> DNUMBER=DNO)</a:t>
            </a:r>
            <a:br>
              <a:rPr lang="en-US" sz="2200" dirty="0" smtClean="0"/>
            </a:br>
            <a:r>
              <a:rPr lang="en-US" sz="2200" dirty="0" smtClean="0"/>
              <a:t>	WHERE	DNAME='Research’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or as: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Q1:	SELECT	FNAME, LNAME, ADDRESS</a:t>
            </a:r>
            <a:br>
              <a:rPr lang="en-US" sz="2200" dirty="0" smtClean="0"/>
            </a:br>
            <a:r>
              <a:rPr lang="en-US" sz="2200" dirty="0" smtClean="0"/>
              <a:t>	FROM 		(EMPLOYEE </a:t>
            </a:r>
            <a:r>
              <a:rPr lang="en-US" sz="2200" dirty="0" smtClean="0">
                <a:solidFill>
                  <a:srgbClr val="FF0000"/>
                </a:solidFill>
              </a:rPr>
              <a:t>NATURAL</a:t>
            </a:r>
            <a:r>
              <a:rPr lang="en-US" sz="2200" dirty="0" smtClean="0"/>
              <a:t> </a:t>
            </a:r>
            <a:r>
              <a:rPr lang="en-US" sz="2200" dirty="0" smtClean="0">
                <a:solidFill>
                  <a:srgbClr val="FF0000"/>
                </a:solidFill>
              </a:rPr>
              <a:t>JOIN</a:t>
            </a:r>
            <a:r>
              <a:rPr lang="en-US" sz="2200" dirty="0" smtClean="0"/>
              <a:t> DEPARTMENT</a:t>
            </a:r>
            <a:br>
              <a:rPr lang="en-US" sz="2200" dirty="0" smtClean="0"/>
            </a:br>
            <a:r>
              <a:rPr lang="en-US" sz="2200" dirty="0" smtClean="0"/>
              <a:t>		 	AS DEPT(DNAME, DNO, MSSN, MSDATE)</a:t>
            </a:r>
            <a:br>
              <a:rPr lang="en-US" sz="2200" dirty="0" smtClean="0"/>
            </a:br>
            <a:r>
              <a:rPr lang="en-US" sz="2200" dirty="0" smtClean="0"/>
              <a:t>	WHERE	DNAME='Research’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Joined Relations Feature </a:t>
            </a:r>
            <a:br>
              <a:rPr lang="en-US" smtClean="0"/>
            </a:br>
            <a:r>
              <a:rPr lang="en-US" smtClean="0"/>
              <a:t>in SQL2 (contd.)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Another Example: Q2 could be written as follows; this illustrates multiple joins in the joined tables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smtClean="0"/>
              <a:t>Q2:	SELECT 	PNUMBER, DNUM, LNAME, 					BDATE, ADDRESS</a:t>
            </a:r>
            <a:br>
              <a:rPr lang="en-US" dirty="0" smtClean="0"/>
            </a:br>
            <a:r>
              <a:rPr lang="en-US" dirty="0" smtClean="0"/>
              <a:t>		FROM	(PROJECT </a:t>
            </a:r>
            <a:r>
              <a:rPr lang="en-US" dirty="0" smtClean="0">
                <a:solidFill>
                  <a:srgbClr val="FF0000"/>
                </a:solidFill>
              </a:rPr>
              <a:t>JOIN</a:t>
            </a:r>
            <a:r>
              <a:rPr lang="en-US" dirty="0" smtClean="0"/>
              <a:t> 						DEPARTMENT ON 					DNUM=DNUMBER) </a:t>
            </a:r>
            <a:r>
              <a:rPr lang="en-US" dirty="0" smtClean="0">
                <a:solidFill>
                  <a:srgbClr val="FF0000"/>
                </a:solidFill>
              </a:rPr>
              <a:t>JOIN</a:t>
            </a:r>
            <a:r>
              <a:rPr lang="en-US" dirty="0" smtClean="0"/>
              <a:t> 					EMPLOYEE ON 						MGRSSN=SSN) )</a:t>
            </a:r>
            <a:br>
              <a:rPr lang="en-US" dirty="0" smtClean="0"/>
            </a:br>
            <a:r>
              <a:rPr lang="en-US" dirty="0" smtClean="0"/>
              <a:t>		WHERE 	PLOCATION='Stafford’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AGGREGATE FUNCTIONS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mtClean="0"/>
              <a:t>Include </a:t>
            </a:r>
            <a:r>
              <a:rPr lang="en-US" b="1" smtClean="0"/>
              <a:t>COUNT, SUM, MAX, MIN, and AVG</a:t>
            </a:r>
          </a:p>
          <a:p>
            <a:pPr eaLnBrk="1" hangingPunct="1"/>
            <a:r>
              <a:rPr lang="en-US" smtClean="0"/>
              <a:t>Query 15: Find the maximum salary, the minimum salary, and the average salary among all employees.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/>
              <a:t>Q15:	SELECT  	MAX(SALARY), 						MIN(SALARY), AVG(SALARY)</a:t>
            </a:r>
            <a:br>
              <a:rPr lang="en-US" smtClean="0"/>
            </a:br>
            <a:r>
              <a:rPr lang="en-US" smtClean="0"/>
              <a:t>		FROM	EMPLOYEE</a:t>
            </a:r>
            <a:br>
              <a:rPr lang="en-US" smtClean="0"/>
            </a:br>
            <a:endParaRPr lang="en-US" smtClean="0"/>
          </a:p>
          <a:p>
            <a:pPr eaLnBrk="1" hangingPunct="1"/>
            <a:r>
              <a:rPr lang="en-US" smtClean="0"/>
              <a:t>Some SQL implementations </a:t>
            </a:r>
            <a:r>
              <a:rPr lang="en-US" i="1" smtClean="0"/>
              <a:t>may not allow more than one function</a:t>
            </a:r>
            <a:r>
              <a:rPr lang="en-US" smtClean="0"/>
              <a:t> in the SELECT-clause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AGGREGATE FUNCTIONS (contd.)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Query 16: Find the maximum salary, the minimum salary, and the average salary among employees who work for the 'Research' department.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/>
              <a:t>Q16: 	SELECT 	MAX(SALARY), 						MIN(SALARY), AVG(SALARY)</a:t>
            </a:r>
            <a:br>
              <a:rPr lang="en-US" smtClean="0"/>
            </a:br>
            <a:r>
              <a:rPr lang="en-US" smtClean="0"/>
              <a:t>		FROM	EMPLOYEE, DEPARTMENT</a:t>
            </a:r>
            <a:br>
              <a:rPr lang="en-US" smtClean="0"/>
            </a:br>
            <a:r>
              <a:rPr lang="en-US" smtClean="0"/>
              <a:t>		WHERE	DNO=DNUMBER AND 					DNAME='Research'</a:t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AGGREGATE FUNCTIONS (contd.)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Queries 17 and 18: Retrieve the total number of employees in the company (Q17), and the number of employees in the 'Research' department (Q18).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>Q17:	SELECT  	COUNT (*)</a:t>
            </a:r>
            <a:br>
              <a:rPr lang="en-US" sz="2200" smtClean="0"/>
            </a:br>
            <a:r>
              <a:rPr lang="en-US" sz="2200" smtClean="0"/>
              <a:t>		FROM		EMPLOYEE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20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z="2200" smtClean="0"/>
              <a:t>Q18:	SELECT  	COUNT (*)</a:t>
            </a:r>
            <a:br>
              <a:rPr lang="en-US" sz="2200" smtClean="0"/>
            </a:br>
            <a:r>
              <a:rPr lang="en-US" sz="2200" smtClean="0"/>
              <a:t>		FROM		EMPLOYEE, DEPARTMENT</a:t>
            </a:r>
            <a:br>
              <a:rPr lang="en-US" sz="2200" smtClean="0"/>
            </a:br>
            <a:r>
              <a:rPr lang="en-US" sz="2200" smtClean="0"/>
              <a:t>		WHERE	DNO=DNUMBER AND 					DNAME='Research’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GROUPING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In many cases, we want to apply the aggregate functions to </a:t>
            </a:r>
            <a:r>
              <a:rPr lang="en-US" i="1" dirty="0" smtClean="0"/>
              <a:t>subgroups of tuples</a:t>
            </a:r>
            <a:r>
              <a:rPr lang="en-US" dirty="0" smtClean="0"/>
              <a:t> in a relation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Each subgroup of tuples consists of the set of tuples that have the </a:t>
            </a:r>
            <a:r>
              <a:rPr lang="en-US" i="1" dirty="0" smtClean="0"/>
              <a:t>same value</a:t>
            </a:r>
            <a:r>
              <a:rPr lang="en-US" dirty="0" smtClean="0"/>
              <a:t> for the </a:t>
            </a:r>
            <a:r>
              <a:rPr lang="en-US" i="1" dirty="0" smtClean="0"/>
              <a:t>grouping attribute(s)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The function is applied to each subgroup independently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SQL has a </a:t>
            </a:r>
            <a:r>
              <a:rPr lang="en-US" b="1" dirty="0" smtClean="0"/>
              <a:t>GROUP BY</a:t>
            </a:r>
            <a:r>
              <a:rPr lang="en-US" dirty="0" smtClean="0"/>
              <a:t>-clause for specifying the grouping attributes, which </a:t>
            </a:r>
            <a:r>
              <a:rPr lang="en-US" i="1" dirty="0" smtClean="0"/>
              <a:t>must also appear in the SELECT-clause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GROUPING (contd.)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Query 20: For each department, retrieve the department number, the number of employees in the department, and their average salary.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Q20:	SELECT 	</a:t>
            </a:r>
            <a:r>
              <a:rPr lang="en-US" sz="2200" dirty="0" smtClean="0">
                <a:solidFill>
                  <a:srgbClr val="4F571F"/>
                </a:solidFill>
              </a:rPr>
              <a:t>DNO</a:t>
            </a:r>
            <a:r>
              <a:rPr lang="en-US" sz="2200" dirty="0" smtClean="0"/>
              <a:t>, COUNT (*), AVG (SALARY)</a:t>
            </a:r>
            <a:br>
              <a:rPr lang="en-US" sz="2200" dirty="0" smtClean="0"/>
            </a:br>
            <a:r>
              <a:rPr lang="en-US" sz="2200" dirty="0" smtClean="0"/>
              <a:t>		FROM		EMPLOYEE</a:t>
            </a:r>
            <a:br>
              <a:rPr lang="en-US" sz="2200" dirty="0" smtClean="0"/>
            </a:br>
            <a:r>
              <a:rPr lang="en-US" sz="2200" dirty="0" smtClean="0"/>
              <a:t>		</a:t>
            </a:r>
            <a:r>
              <a:rPr lang="en-US" sz="2200" dirty="0" smtClean="0">
                <a:solidFill>
                  <a:srgbClr val="FF0000"/>
                </a:solidFill>
              </a:rPr>
              <a:t>GROUP BY	DNO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In Q20, the EMPLOYEE tuples are divided into groups-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 smtClean="0"/>
              <a:t>Each group having the same value for the grouping attribute DNO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The COUNT and AVG functions are applied to each such group of tuples separately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The SELECT-clause includes only the grouping attribute and the functions to be applied on each group of tuples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A join condition can be used in conjunction with grouping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GROUPING (contd.)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Query 21: For each project, retrieve the project number, project name, and the number of employees who work on that project.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z="2200" dirty="0" smtClean="0"/>
              <a:t>Q21:	SELECT 	PNUMBER, PNAME, COUNT (*)</a:t>
            </a:r>
            <a:br>
              <a:rPr lang="en-US" sz="2200" dirty="0" smtClean="0"/>
            </a:br>
            <a:r>
              <a:rPr lang="en-US" sz="2200" dirty="0" smtClean="0"/>
              <a:t>		FROM		PROJECT, WORKS_ON</a:t>
            </a:r>
            <a:br>
              <a:rPr lang="en-US" sz="2200" dirty="0" smtClean="0"/>
            </a:br>
            <a:r>
              <a:rPr lang="en-US" sz="2200" dirty="0" smtClean="0"/>
              <a:t>		WHERE	PNUMBER=PNO</a:t>
            </a:r>
            <a:br>
              <a:rPr lang="en-US" sz="2200" dirty="0" smtClean="0"/>
            </a:br>
            <a:r>
              <a:rPr lang="en-US" sz="2200" dirty="0" smtClean="0"/>
              <a:t>		</a:t>
            </a:r>
            <a:r>
              <a:rPr lang="en-US" sz="2200" dirty="0" smtClean="0">
                <a:solidFill>
                  <a:srgbClr val="FF0000"/>
                </a:solidFill>
              </a:rPr>
              <a:t>GROUP BY	PNUMBER, PNAME</a:t>
            </a:r>
            <a:br>
              <a:rPr lang="en-US" sz="2200" dirty="0" smtClean="0">
                <a:solidFill>
                  <a:srgbClr val="FF0000"/>
                </a:solidFill>
              </a:rPr>
            </a:br>
            <a:endParaRPr lang="en-US" sz="2200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200" dirty="0" smtClean="0"/>
              <a:t>In this case, the grouping and functions are applied after  the joining of the two relations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293290"/>
            <a:ext cx="5360670" cy="556471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28654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HAVING-CLAUSE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Sometimes we want to retrieve the values of these functions for only those </a:t>
            </a:r>
            <a:r>
              <a:rPr lang="en-US" i="1" smtClean="0"/>
              <a:t>groups that satisfy certain conditions</a:t>
            </a:r>
          </a:p>
          <a:p>
            <a:pPr eaLnBrk="1" hangingPunct="1"/>
            <a:r>
              <a:rPr lang="en-US" smtClean="0"/>
              <a:t>The </a:t>
            </a:r>
            <a:r>
              <a:rPr lang="en-US" b="1" smtClean="0"/>
              <a:t>HAVING</a:t>
            </a:r>
            <a:r>
              <a:rPr lang="en-US" smtClean="0"/>
              <a:t>-clause is used for specifying a selection condition on groups (rather than on individual tuples)</a:t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HAVING-CLAUSE (contd.)</a:t>
            </a:r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Query 22: For each project </a:t>
            </a:r>
            <a:r>
              <a:rPr lang="en-US" i="1" dirty="0" smtClean="0"/>
              <a:t>on which more than two employees work</a:t>
            </a:r>
            <a:r>
              <a:rPr lang="en-US" dirty="0" smtClean="0"/>
              <a:t>, retrieve the project number, project name, and the number of employees who work on that project.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smtClean="0"/>
              <a:t>Q22:     	SELECT 	PNUMBER, PNAME, 					COUNT(*)</a:t>
            </a:r>
            <a:br>
              <a:rPr lang="en-US" dirty="0" smtClean="0"/>
            </a:br>
            <a:r>
              <a:rPr lang="en-US" dirty="0" smtClean="0"/>
              <a:t>		FROM	PROJECT, WORKS_ON</a:t>
            </a:r>
            <a:br>
              <a:rPr lang="en-US" dirty="0" smtClean="0"/>
            </a:br>
            <a:r>
              <a:rPr lang="en-US" dirty="0" smtClean="0"/>
              <a:t>		WHERE	PNUMBER=PNO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GROUP BY	PNUMBER, PNAME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		HAVING	COUNT (*) &gt; 2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55618"/>
            <a:ext cx="4267200" cy="31449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759" y="1655618"/>
            <a:ext cx="4713119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99123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SUBSTRING COMPARISON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b="1" smtClean="0"/>
              <a:t>LIKE</a:t>
            </a:r>
            <a:r>
              <a:rPr lang="en-US" smtClean="0"/>
              <a:t> comparison operator is used to compare partial strings</a:t>
            </a:r>
          </a:p>
          <a:p>
            <a:pPr eaLnBrk="1" hangingPunct="1"/>
            <a:r>
              <a:rPr lang="en-US" smtClean="0"/>
              <a:t>Two reserved characters are used: '</a:t>
            </a:r>
            <a:r>
              <a:rPr lang="en-US" b="1" smtClean="0"/>
              <a:t>%</a:t>
            </a:r>
            <a:r>
              <a:rPr lang="en-US" smtClean="0"/>
              <a:t>' (or '</a:t>
            </a:r>
            <a:r>
              <a:rPr lang="en-US" b="1" smtClean="0"/>
              <a:t>*</a:t>
            </a:r>
            <a:r>
              <a:rPr lang="en-US" smtClean="0"/>
              <a:t>' in some implementations) replaces an arbitrary number of characters, and '</a:t>
            </a:r>
            <a:r>
              <a:rPr lang="en-US" b="1" smtClean="0"/>
              <a:t>_</a:t>
            </a:r>
            <a:r>
              <a:rPr lang="en-US" smtClean="0"/>
              <a:t>' replaces a single arbitrary character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SUBSTRING COMPARISON (contd.)</a:t>
            </a:r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Query 25:  Retrieve all employees whose address is in Houston, Texas. Here, the value of the ADDRESS attribute must contain the substring '</a:t>
            </a:r>
            <a:r>
              <a:rPr lang="en-US" dirty="0" err="1" smtClean="0"/>
              <a:t>Houston,TX</a:t>
            </a:r>
            <a:r>
              <a:rPr lang="en-US" dirty="0" smtClean="0"/>
              <a:t>‘ in it.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smtClean="0"/>
              <a:t>Q25:	SELECT 	FNAME, LNAME</a:t>
            </a:r>
            <a:br>
              <a:rPr lang="en-US" dirty="0" smtClean="0"/>
            </a:br>
            <a:r>
              <a:rPr lang="en-US" dirty="0" smtClean="0"/>
              <a:t>		FROM	EMPLOYEE</a:t>
            </a:r>
            <a:br>
              <a:rPr lang="en-US" dirty="0" smtClean="0"/>
            </a:br>
            <a:r>
              <a:rPr lang="en-US" dirty="0" smtClean="0"/>
              <a:t>		WHERE	ADDRESS </a:t>
            </a:r>
            <a:r>
              <a:rPr lang="en-US" dirty="0" smtClean="0">
                <a:solidFill>
                  <a:srgbClr val="FF0000"/>
                </a:solidFill>
              </a:rPr>
              <a:t>LIKE</a:t>
            </a:r>
            <a:r>
              <a:rPr lang="en-US" dirty="0" smtClean="0"/>
              <a:t> 						'</a:t>
            </a:r>
            <a:r>
              <a:rPr lang="en-US" dirty="0" smtClean="0">
                <a:solidFill>
                  <a:srgbClr val="FF0000"/>
                </a:solidFill>
              </a:rPr>
              <a:t>%</a:t>
            </a:r>
            <a:r>
              <a:rPr lang="en-US" dirty="0" err="1" smtClean="0"/>
              <a:t>Houston,TX</a:t>
            </a:r>
            <a:r>
              <a:rPr lang="en-US" dirty="0" smtClean="0">
                <a:solidFill>
                  <a:srgbClr val="FF0000"/>
                </a:solidFill>
              </a:rPr>
              <a:t>%</a:t>
            </a:r>
            <a:r>
              <a:rPr lang="en-US" dirty="0" smtClean="0"/>
              <a:t>'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SUBSTRING COMPARISON (contd.)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Query 26: Retrieve all employees who were born during the 1950s.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Here, '5' must be the 8th character of the string (according to our format for date), so the BDATE value is '_______5_', with each underscore as a place holder for a single arbitrary character.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Q26:	SELECT 	FNAME, LNAME</a:t>
            </a:r>
            <a:br>
              <a:rPr lang="en-US" sz="2200" dirty="0" smtClean="0"/>
            </a:br>
            <a:r>
              <a:rPr lang="en-US" sz="2200" dirty="0" smtClean="0"/>
              <a:t>		FROM		EMPLOYEE</a:t>
            </a:r>
            <a:br>
              <a:rPr lang="en-US" sz="2200" dirty="0" smtClean="0"/>
            </a:br>
            <a:r>
              <a:rPr lang="en-US" sz="2200" dirty="0" smtClean="0"/>
              <a:t>		WHERE	BDATE LIKE	'_ _ _ _ _ _ _5_’</a:t>
            </a:r>
            <a:br>
              <a:rPr lang="en-US" sz="2200" dirty="0" smtClean="0"/>
            </a:br>
            <a:endParaRPr lang="en-US" sz="22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The LIKE operator allows us to get around the fact that each value is considered atomic and indivisible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Hence, in SQL, character string attribute values are not atomic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ARITHMETIC OPERATIONS</a:t>
            </a:r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The standard arithmetic operators </a:t>
            </a:r>
            <a:r>
              <a:rPr lang="en-US" sz="2400" b="1" dirty="0" smtClean="0"/>
              <a:t>'+', '-'. '*', and '/'</a:t>
            </a:r>
            <a:r>
              <a:rPr lang="en-US" sz="2400" dirty="0" smtClean="0"/>
              <a:t> (for addition, subtraction, multiplication, and division, respectively) can be applied to numeric values in an SQL query result</a:t>
            </a:r>
          </a:p>
          <a:p>
            <a:pPr eaLnBrk="1" hangingPunct="1"/>
            <a:r>
              <a:rPr lang="en-US" sz="2400" dirty="0" smtClean="0"/>
              <a:t>Query 27: Show the effect of giving all employees who work on the '</a:t>
            </a:r>
            <a:r>
              <a:rPr lang="en-US" sz="2400" dirty="0" err="1" smtClean="0"/>
              <a:t>ProductX</a:t>
            </a:r>
            <a:r>
              <a:rPr lang="en-US" sz="2400" dirty="0" smtClean="0"/>
              <a:t>' project a 10% raise.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dirty="0" smtClean="0"/>
              <a:t>Q27:	SELECT 	FNAME, LNAME, </a:t>
            </a:r>
            <a:r>
              <a:rPr lang="en-US" sz="2200" dirty="0" smtClean="0">
                <a:solidFill>
                  <a:srgbClr val="FF0000"/>
                </a:solidFill>
              </a:rPr>
              <a:t>1.1*</a:t>
            </a:r>
            <a:r>
              <a:rPr lang="en-US" sz="2200" dirty="0" smtClean="0"/>
              <a:t>SALARY</a:t>
            </a:r>
            <a:br>
              <a:rPr lang="en-US" sz="2200" dirty="0" smtClean="0"/>
            </a:br>
            <a:r>
              <a:rPr lang="en-US" sz="2200" dirty="0" smtClean="0"/>
              <a:t>		FROM		EMPLOYEE, WORKS_ON, 					PROJECT</a:t>
            </a:r>
            <a:br>
              <a:rPr lang="en-US" sz="2200" dirty="0" smtClean="0"/>
            </a:br>
            <a:r>
              <a:rPr lang="en-US" sz="2200" dirty="0" smtClean="0"/>
              <a:t>		WHERE	SSN=ESSN AND PNO=PNUMBER 					AND PNAME='</a:t>
            </a:r>
            <a:r>
              <a:rPr lang="en-US" sz="2200" dirty="0" err="1" smtClean="0"/>
              <a:t>ProductX</a:t>
            </a:r>
            <a:r>
              <a:rPr lang="en-US" sz="2200" dirty="0" smtClean="0"/>
              <a:t>’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ORDER BY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The </a:t>
            </a:r>
            <a:r>
              <a:rPr lang="en-US" sz="2400" b="1" dirty="0" smtClean="0"/>
              <a:t>ORDER BY</a:t>
            </a:r>
            <a:r>
              <a:rPr lang="en-US" sz="2400" dirty="0" smtClean="0"/>
              <a:t> clause is used to sort the tuples in a query result based on the values of some attribute(s)</a:t>
            </a:r>
          </a:p>
          <a:p>
            <a:pPr eaLnBrk="1" hangingPunct="1"/>
            <a:r>
              <a:rPr lang="en-US" sz="2400" dirty="0" smtClean="0"/>
              <a:t>Query 28: Retrieve a list of employees and the projects each works in, ordered by the employee's department, and within each department ordered alphabetically by employee last name.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200" dirty="0" smtClean="0"/>
              <a:t>Q28: 	SELECT 	DNAME, LNAME, FNAME, PNAME</a:t>
            </a:r>
            <a:br>
              <a:rPr lang="en-US" sz="2200" dirty="0" smtClean="0"/>
            </a:br>
            <a:r>
              <a:rPr lang="en-US" sz="2200" dirty="0" smtClean="0"/>
              <a:t>      	FROM 		DEPARTMENT, EMPLOYEE, 					WORKS_ON, PROJECT</a:t>
            </a:r>
            <a:br>
              <a:rPr lang="en-US" sz="2200" dirty="0" smtClean="0"/>
            </a:br>
            <a:r>
              <a:rPr lang="en-US" sz="2200" dirty="0" smtClean="0"/>
              <a:t>		WHERE	DNUMBER=DNO AND SSN=ESSN 					AND PNO=PNUMBER</a:t>
            </a:r>
            <a:br>
              <a:rPr lang="en-US" sz="2200" dirty="0" smtClean="0"/>
            </a:br>
            <a:r>
              <a:rPr lang="en-US" sz="2200" dirty="0" smtClean="0"/>
              <a:t>		</a:t>
            </a:r>
            <a:r>
              <a:rPr lang="en-US" sz="2200" dirty="0" smtClean="0">
                <a:solidFill>
                  <a:srgbClr val="FF0000"/>
                </a:solidFill>
              </a:rPr>
              <a:t>ORDER BY	DNAME, LNAME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ORDER BY (contd.)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default order is in ascending order of values</a:t>
            </a:r>
          </a:p>
          <a:p>
            <a:pPr eaLnBrk="1" hangingPunct="1"/>
            <a:r>
              <a:rPr lang="en-US" smtClean="0"/>
              <a:t>We can specify the keyword </a:t>
            </a:r>
            <a:r>
              <a:rPr lang="en-US" b="1" smtClean="0"/>
              <a:t>DESC</a:t>
            </a:r>
            <a:r>
              <a:rPr lang="en-US" smtClean="0"/>
              <a:t> if we want a descending order; the keyword </a:t>
            </a:r>
            <a:r>
              <a:rPr lang="en-US" b="1" smtClean="0"/>
              <a:t>ASC</a:t>
            </a:r>
            <a:r>
              <a:rPr lang="en-US" smtClean="0"/>
              <a:t> can be used to explicitly specify ascending order, even though it is the default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of SQL Queries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 query in SQL can consist of up to six clauses, but only the first two, SELECT and FROM, are mandatory. The clauses are specified in the following order: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b="1" smtClean="0"/>
              <a:t>SELECT		</a:t>
            </a:r>
            <a:r>
              <a:rPr lang="en-US" smtClean="0"/>
              <a:t>&lt;attribute list&gt;</a:t>
            </a:r>
            <a:br>
              <a:rPr lang="en-US" smtClean="0"/>
            </a:br>
            <a:r>
              <a:rPr lang="en-US" b="1" smtClean="0"/>
              <a:t>FROM</a:t>
            </a:r>
            <a:r>
              <a:rPr lang="en-US" smtClean="0"/>
              <a:t>		&lt;table list&gt;</a:t>
            </a:r>
            <a:br>
              <a:rPr lang="en-US" smtClean="0"/>
            </a:br>
            <a:r>
              <a:rPr lang="en-US" smtClean="0"/>
              <a:t>[</a:t>
            </a:r>
            <a:r>
              <a:rPr lang="en-US" b="1" smtClean="0"/>
              <a:t>WHERE</a:t>
            </a:r>
            <a:r>
              <a:rPr lang="en-US" smtClean="0"/>
              <a:t>		&lt;condition&gt;]</a:t>
            </a:r>
            <a:br>
              <a:rPr lang="en-US" smtClean="0"/>
            </a:br>
            <a:r>
              <a:rPr lang="en-US" smtClean="0"/>
              <a:t>[</a:t>
            </a:r>
            <a:r>
              <a:rPr lang="en-US" b="1" smtClean="0"/>
              <a:t>GROUP</a:t>
            </a:r>
            <a:r>
              <a:rPr lang="en-US" smtClean="0"/>
              <a:t> </a:t>
            </a:r>
            <a:r>
              <a:rPr lang="en-US" b="1" smtClean="0"/>
              <a:t>BY</a:t>
            </a:r>
            <a:r>
              <a:rPr lang="en-US" smtClean="0"/>
              <a:t> 	&lt;grouping attribute(s)&gt;]</a:t>
            </a:r>
            <a:br>
              <a:rPr lang="en-US" smtClean="0"/>
            </a:br>
            <a:r>
              <a:rPr lang="en-US" smtClean="0"/>
              <a:t>[</a:t>
            </a:r>
            <a:r>
              <a:rPr lang="en-US" b="1" smtClean="0"/>
              <a:t>HAVING</a:t>
            </a:r>
            <a:r>
              <a:rPr lang="en-US" smtClean="0"/>
              <a:t>		&lt;group condition&gt;]</a:t>
            </a:r>
            <a:br>
              <a:rPr lang="en-US" smtClean="0"/>
            </a:br>
            <a:r>
              <a:rPr lang="en-US" smtClean="0"/>
              <a:t>[</a:t>
            </a:r>
            <a:r>
              <a:rPr lang="en-US" b="1" smtClean="0"/>
              <a:t>ORDER BY</a:t>
            </a:r>
            <a:r>
              <a:rPr lang="en-US" smtClean="0"/>
              <a:t> 	&lt;attribute list&gt;]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of SQL Queries (contd.)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The SELECT-clause lists the attributes or functions to be retrieved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The FROM-clause specifies all relations (or aliases) needed in the query but not those needed in nested queries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The WHERE-clause specifies the conditions for selection and join of tuples from the relations specified in the FROM-clause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GROUP BY specifies grouping attributes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HAVING specifies a condition for selection of groups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ORDER BY specifies an order for displaying the result of a query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A query is evaluated by first applying the WHERE-clause, then GROUP BY and HAVING, and finally the SELECT-clause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Specifying Updates in SQL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There are three SQL commands to modify the database: </a:t>
            </a:r>
            <a:r>
              <a:rPr lang="en-US" b="1" smtClean="0"/>
              <a:t>INSERT</a:t>
            </a:r>
            <a:r>
              <a:rPr lang="en-US" smtClean="0"/>
              <a:t>, </a:t>
            </a:r>
            <a:r>
              <a:rPr lang="en-US" b="1" smtClean="0"/>
              <a:t>DELETE</a:t>
            </a:r>
            <a:r>
              <a:rPr lang="en-US" smtClean="0"/>
              <a:t>, and </a:t>
            </a:r>
            <a:r>
              <a:rPr lang="en-US" b="1" smtClean="0"/>
              <a:t>UPDATE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 its simplest form, it is used to add one or more tuples to a relation</a:t>
            </a:r>
          </a:p>
          <a:p>
            <a:pPr eaLnBrk="1" hangingPunct="1"/>
            <a:r>
              <a:rPr lang="en-US" smtClean="0"/>
              <a:t>Attribute values should be listed in the same order as the attributes were specified in the </a:t>
            </a:r>
            <a:r>
              <a:rPr lang="en-US" b="1" smtClean="0"/>
              <a:t>CREATE TABLE</a:t>
            </a:r>
            <a:r>
              <a:rPr lang="en-US" smtClean="0"/>
              <a:t> command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 (contd.)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Example: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smtClean="0"/>
              <a:t>U1:	INSERT INTO  	EMPLOYEE</a:t>
            </a:r>
            <a:br>
              <a:rPr lang="en-US" sz="2200" smtClean="0"/>
            </a:br>
            <a:r>
              <a:rPr lang="en-US" sz="2200" smtClean="0"/>
              <a:t>	VALUES ('Richard','K','Marini', '653298653', '30-DEC-52',</a:t>
            </a:r>
            <a:br>
              <a:rPr lang="en-US" sz="2200" smtClean="0"/>
            </a:br>
            <a:r>
              <a:rPr lang="en-US" sz="2200" smtClean="0"/>
              <a:t>	'98 Oak Forest,Katy,TX', 'M', 37000,'987654321', 4 )</a:t>
            </a:r>
            <a:br>
              <a:rPr lang="en-US" sz="2200" smtClean="0"/>
            </a:br>
            <a:endParaRPr lang="en-US" sz="2200" smtClean="0"/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An alternate form of INSERT specifies explicitly the attribute names that correspond to the values in the new tuple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Attributes with NULL values can be left out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Example: Insert a tuple for a new EMPLOYEE for whom we only know the FNAME, LNAME, and SSN attributes.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smtClean="0"/>
              <a:t>U1A:   INSERT INTO 	EMPLOYEE (FNAME, LNAME, 						SSN)</a:t>
            </a:r>
            <a:br>
              <a:rPr lang="en-US" sz="2200" smtClean="0"/>
            </a:br>
            <a:r>
              <a:rPr lang="en-US" sz="2200" smtClean="0"/>
              <a:t>	   VALUES ('Richard', 'Marini', '653298653')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 (contd.)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Important Note: Only the constraints specified in the DDL commands are automatically enforced by the DBMS when updates are applied to the database</a:t>
            </a:r>
          </a:p>
          <a:p>
            <a:pPr lvl="1" eaLnBrk="1" hangingPunct="1"/>
            <a:r>
              <a:rPr lang="en-US" smtClean="0"/>
              <a:t>Another variation of INSERT allows insertion of </a:t>
            </a:r>
            <a:r>
              <a:rPr lang="en-US" i="1" smtClean="0"/>
              <a:t>multiple tuples</a:t>
            </a:r>
            <a:r>
              <a:rPr lang="en-US" smtClean="0"/>
              <a:t> resulting from a query into a relation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 (contd.)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smtClean="0"/>
              <a:t>Example: Suppose we want to create a temporary table that has the name, number of employees, and total salaries for each department.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A table DEPTS_INFO is created by U3A, and is loaded with the summary information retrieved from the database by the query in U3B.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smtClean="0"/>
              <a:t>U3A:	CREATE TABLE  DEPTS_INFO</a:t>
            </a:r>
            <a:br>
              <a:rPr lang="en-US" sz="2000" smtClean="0"/>
            </a:br>
            <a:r>
              <a:rPr lang="en-US" sz="2000" smtClean="0"/>
              <a:t>			(DEPT_NAME		VARCHAR(10),</a:t>
            </a:r>
            <a:br>
              <a:rPr lang="en-US" sz="2000" smtClean="0"/>
            </a:br>
            <a:r>
              <a:rPr lang="en-US" sz="2000" smtClean="0"/>
              <a:t>			 NO_OF_EMPS		INTEGER,</a:t>
            </a:r>
            <a:br>
              <a:rPr lang="en-US" sz="2000" smtClean="0"/>
            </a:br>
            <a:r>
              <a:rPr lang="en-US" sz="2000" smtClean="0"/>
              <a:t>			 TOTAL_SAL		INTEGER);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smtClean="0"/>
              <a:t>U3B:	INSERT INTO	DEPTS_INFO (DEPT_NAME, 					NO_OF_EMPS, TOTAL_SAL)</a:t>
            </a:r>
            <a:br>
              <a:rPr lang="en-US" sz="2000" smtClean="0"/>
            </a:br>
            <a:r>
              <a:rPr lang="en-US" sz="2000" smtClean="0"/>
              <a:t>		SELECT	DNAME, COUNT (*), SUM (SALARY)</a:t>
            </a:r>
            <a:br>
              <a:rPr lang="en-US" sz="2000" smtClean="0"/>
            </a:br>
            <a:r>
              <a:rPr lang="en-US" sz="2000" smtClean="0"/>
              <a:t>		FROM		DEPARTMENT, EMPLOYEE</a:t>
            </a:r>
            <a:br>
              <a:rPr lang="en-US" sz="2000" smtClean="0"/>
            </a:br>
            <a:r>
              <a:rPr lang="en-US" sz="2000" smtClean="0"/>
              <a:t>		WHERE	DNUMBER=DNO</a:t>
            </a:r>
            <a:br>
              <a:rPr lang="en-US" sz="2000" smtClean="0"/>
            </a:br>
            <a:r>
              <a:rPr lang="en-US" sz="2000" smtClean="0"/>
              <a:t>		GROUP BY	DNAME ;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INSERT (contd.)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Note: The DEPTS_INFO table may not be up-to-date if we change the tuples in either the DEPARTMENT or the EMPLOYEE relations </a:t>
            </a:r>
            <a:r>
              <a:rPr lang="en-US" i="1" smtClean="0"/>
              <a:t>after</a:t>
            </a:r>
            <a:r>
              <a:rPr lang="en-US" smtClean="0"/>
              <a:t>  issuing U3B. We have to create a view (see later) to keep such a table up to date.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DELETE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Removes tuples from a relation</a:t>
            </a:r>
          </a:p>
          <a:p>
            <a:pPr lvl="1" eaLnBrk="1" hangingPunct="1"/>
            <a:r>
              <a:rPr lang="en-US" sz="2200" smtClean="0"/>
              <a:t>Includes a WHERE-clause to select the tuples to be deleted</a:t>
            </a:r>
          </a:p>
          <a:p>
            <a:pPr lvl="1" eaLnBrk="1" hangingPunct="1"/>
            <a:r>
              <a:rPr lang="en-US" sz="2200" smtClean="0"/>
              <a:t>Referential integrity should be enforced</a:t>
            </a:r>
          </a:p>
          <a:p>
            <a:pPr lvl="1" eaLnBrk="1" hangingPunct="1"/>
            <a:r>
              <a:rPr lang="en-US" sz="2200" smtClean="0"/>
              <a:t>Tuples are deleted from only </a:t>
            </a:r>
            <a:r>
              <a:rPr lang="en-US" sz="2200" i="1" smtClean="0"/>
              <a:t>one table</a:t>
            </a:r>
            <a:r>
              <a:rPr lang="en-US" sz="2200" smtClean="0"/>
              <a:t> at a time (unless CASCADE is specified on a referential integrity constraint)</a:t>
            </a:r>
          </a:p>
          <a:p>
            <a:pPr lvl="1" eaLnBrk="1" hangingPunct="1"/>
            <a:r>
              <a:rPr lang="en-US" sz="2200" smtClean="0"/>
              <a:t>A missing WHERE-clause specifies that </a:t>
            </a:r>
            <a:r>
              <a:rPr lang="en-US" sz="2200" i="1" smtClean="0"/>
              <a:t>all tuples</a:t>
            </a:r>
            <a:r>
              <a:rPr lang="en-US" sz="2200" smtClean="0"/>
              <a:t> in the relation are to be deleted; the table then becomes an empty table</a:t>
            </a:r>
          </a:p>
          <a:p>
            <a:pPr lvl="1" eaLnBrk="1" hangingPunct="1"/>
            <a:r>
              <a:rPr lang="en-US" sz="2200" smtClean="0"/>
              <a:t>The number of tuples deleted depends on the number of tuples in the relation that satisfy the WHERE-clause</a:t>
            </a:r>
          </a:p>
          <a:p>
            <a:pPr eaLnBrk="1" hangingPunct="1"/>
            <a:endParaRPr lang="en-US" sz="240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DELETE (contd.)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 smtClean="0"/>
              <a:t>Examples: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U4A:	DELETE FROM 	EMPLOYEE</a:t>
            </a:r>
            <a:br>
              <a:rPr lang="en-US" sz="2000" dirty="0" smtClean="0"/>
            </a:br>
            <a:r>
              <a:rPr lang="en-US" sz="2000" dirty="0" smtClean="0"/>
              <a:t>		WHERE		LNAME='Brown’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U4B:	DELETE FROM 	EMPLOYEE</a:t>
            </a:r>
            <a:br>
              <a:rPr lang="en-US" sz="2000" dirty="0" smtClean="0"/>
            </a:br>
            <a:r>
              <a:rPr lang="en-US" sz="2000" dirty="0" smtClean="0"/>
              <a:t>		WHERE	SSN='123456789’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U4C:	DELETE FROM 	EMPLOYEE</a:t>
            </a:r>
            <a:br>
              <a:rPr lang="en-US" sz="2000" dirty="0" smtClean="0"/>
            </a:br>
            <a:r>
              <a:rPr lang="en-US" sz="2000" dirty="0" smtClean="0"/>
              <a:t>		WHERE		DNO  IN				  			(SELECT	DNUMBER</a:t>
            </a:r>
            <a:br>
              <a:rPr lang="en-US" sz="2000" dirty="0" smtClean="0"/>
            </a:br>
            <a:r>
              <a:rPr lang="en-US" sz="2000" dirty="0" smtClean="0"/>
              <a:t>			</a:t>
            </a:r>
            <a:r>
              <a:rPr lang="en-US" sz="2000" dirty="0"/>
              <a:t> </a:t>
            </a:r>
            <a:r>
              <a:rPr lang="en-US" sz="2000" dirty="0" smtClean="0"/>
              <a:t>  FROM	DEPARTMENT</a:t>
            </a:r>
            <a:r>
              <a:rPr lang="en-US" sz="2000" dirty="0"/>
              <a:t> </a:t>
            </a:r>
            <a:r>
              <a:rPr lang="en-US" sz="2000" dirty="0" smtClean="0"/>
              <a:t>WHERE</a:t>
            </a:r>
            <a:r>
              <a:rPr lang="en-US" sz="2000" dirty="0"/>
              <a:t> </a:t>
            </a:r>
            <a:r>
              <a:rPr lang="en-US" sz="2000" dirty="0" smtClean="0"/>
              <a:t>DNAME='Research')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U4D:	 DELETE FROM EMPLOYEE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TRUNCATE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SQL </a:t>
            </a:r>
            <a:r>
              <a:rPr lang="en-US" b="1" dirty="0"/>
              <a:t>TRUNCATE TABLE</a:t>
            </a:r>
            <a:r>
              <a:rPr lang="en-US" dirty="0"/>
              <a:t> command is used to delete all the records from an existing table by reinitializing the table's structure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Syntax:</a:t>
            </a:r>
          </a:p>
          <a:p>
            <a:pPr lvl="0"/>
            <a:r>
              <a:rPr lang="en-US" altLang="en-US" sz="3200" dirty="0">
                <a:solidFill>
                  <a:srgbClr val="FF0000"/>
                </a:solidFill>
                <a:latin typeface="Tw Cen MT (Body)"/>
              </a:rPr>
              <a:t>TRUNCATE</a:t>
            </a:r>
            <a:r>
              <a:rPr lang="en-US" altLang="en-US" sz="3200" dirty="0">
                <a:solidFill>
                  <a:srgbClr val="000000"/>
                </a:solidFill>
                <a:latin typeface="Tw Cen MT (Body)"/>
              </a:rPr>
              <a:t> </a:t>
            </a:r>
            <a:r>
              <a:rPr lang="en-US" altLang="en-US" sz="3200" dirty="0" smtClean="0">
                <a:solidFill>
                  <a:srgbClr val="FF0000"/>
                </a:solidFill>
                <a:latin typeface="Tw Cen MT (Body)"/>
              </a:rPr>
              <a:t>TABLE </a:t>
            </a:r>
            <a:r>
              <a:rPr lang="en-US" altLang="en-US" sz="1800" dirty="0" smtClean="0">
                <a:solidFill>
                  <a:srgbClr val="FF0000"/>
                </a:solidFill>
                <a:latin typeface="Tw Cen MT (Body)"/>
              </a:rPr>
              <a:t> </a:t>
            </a:r>
            <a:r>
              <a:rPr lang="en-US" altLang="en-US" sz="3600" dirty="0" err="1" smtClean="0">
                <a:solidFill>
                  <a:srgbClr val="FF0000"/>
                </a:solidFill>
                <a:latin typeface="Tw Cen MT (Body)"/>
              </a:rPr>
              <a:t>table_name</a:t>
            </a:r>
            <a:r>
              <a:rPr lang="en-US" altLang="en-US" sz="1800" dirty="0" smtClean="0">
                <a:solidFill>
                  <a:srgbClr val="FF0000"/>
                </a:solidFill>
                <a:latin typeface="Tw Cen MT (Body)"/>
              </a:rPr>
              <a:t> </a:t>
            </a:r>
            <a:r>
              <a:rPr lang="en-US" altLang="en-US" sz="3600" dirty="0" smtClean="0">
                <a:solidFill>
                  <a:srgbClr val="FF0000"/>
                </a:solidFill>
                <a:latin typeface="Tw Cen MT (Body)"/>
              </a:rPr>
              <a:t>;</a:t>
            </a:r>
            <a:r>
              <a:rPr lang="en-US" altLang="en-US" sz="1800" dirty="0" smtClean="0">
                <a:solidFill>
                  <a:srgbClr val="FF0000"/>
                </a:solidFill>
                <a:latin typeface="Tw Cen MT (Body)"/>
              </a:rPr>
              <a:t> </a:t>
            </a:r>
            <a:endParaRPr lang="en-US" altLang="en-US" sz="4800" dirty="0">
              <a:solidFill>
                <a:srgbClr val="FF0000"/>
              </a:solidFill>
              <a:latin typeface="Tw Cen MT (Body)"/>
            </a:endParaRPr>
          </a:p>
          <a:p>
            <a:r>
              <a:rPr lang="en-US" dirty="0" smtClean="0"/>
              <a:t>Example:</a:t>
            </a:r>
          </a:p>
          <a:p>
            <a:endParaRPr lang="en-US" dirty="0"/>
          </a:p>
          <a:p>
            <a:r>
              <a:rPr lang="en-US" altLang="en-US" sz="2800" dirty="0">
                <a:latin typeface="Tw Cen MT (Body)"/>
              </a:rPr>
              <a:t>TRUNCATE </a:t>
            </a:r>
            <a:r>
              <a:rPr lang="en-US" altLang="en-US" sz="2800" dirty="0" smtClean="0">
                <a:latin typeface="Tw Cen MT (Body)"/>
              </a:rPr>
              <a:t>TABLE Employee;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0394391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UPDATE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Used to modify attribute values of one or more selected tuples</a:t>
            </a:r>
          </a:p>
          <a:p>
            <a:pPr eaLnBrk="1" hangingPunct="1"/>
            <a:r>
              <a:rPr lang="en-US" smtClean="0"/>
              <a:t>A WHERE-clause selects the tuples to be modified</a:t>
            </a:r>
          </a:p>
          <a:p>
            <a:pPr eaLnBrk="1" hangingPunct="1"/>
            <a:r>
              <a:rPr lang="en-US" smtClean="0"/>
              <a:t>An additional SET-clause specifies the attributes to be modified and their new values</a:t>
            </a:r>
          </a:p>
          <a:p>
            <a:pPr eaLnBrk="1" hangingPunct="1"/>
            <a:r>
              <a:rPr lang="en-US" smtClean="0"/>
              <a:t>Each command modifies tuples </a:t>
            </a:r>
            <a:r>
              <a:rPr lang="en-US" i="1" smtClean="0"/>
              <a:t>in the same relation</a:t>
            </a:r>
          </a:p>
          <a:p>
            <a:pPr eaLnBrk="1" hangingPunct="1"/>
            <a:r>
              <a:rPr lang="en-US" smtClean="0"/>
              <a:t>Referential integrity should be enforced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UPDATE (contd.)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Example: Change the location and controlling department number of project number 10 to 'Bellaire' and 5, respectively.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smtClean="0"/>
              <a:t>U5:	UPDATE 	PROJECT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SET		PLOCATION = 'Bellaire', </a:t>
            </a:r>
            <a:r>
              <a:rPr lang="en-US" dirty="0" smtClean="0"/>
              <a:t>					</a:t>
            </a:r>
            <a:r>
              <a:rPr lang="en-US" dirty="0" smtClean="0">
                <a:solidFill>
                  <a:srgbClr val="FF0000"/>
                </a:solidFill>
              </a:rPr>
              <a:t>DNUM = 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WHERE	PNUMBER=10</a:t>
            </a:r>
            <a:br>
              <a:rPr lang="en-US" dirty="0" smtClean="0"/>
            </a:br>
            <a:endParaRPr lang="en-US" dirty="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UPDATE (contd.)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Example: Give all employees in the 'Research' department a 10% raise in salary.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U6:	UPDATE 	EMPLOYEE</a:t>
            </a:r>
            <a:br>
              <a:rPr lang="en-US" sz="2200" dirty="0" smtClean="0"/>
            </a:br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SET		SALARY = SALARY *1.1</a:t>
            </a:r>
            <a:br>
              <a:rPr lang="en-US" sz="2200" dirty="0" smtClean="0">
                <a:solidFill>
                  <a:srgbClr val="FF0000"/>
                </a:solidFill>
              </a:rPr>
            </a:br>
            <a:r>
              <a:rPr lang="en-US" sz="2200" dirty="0" smtClean="0"/>
              <a:t>	WHERE	DNO  IN (SELECT	DNUMBER</a:t>
            </a:r>
            <a:br>
              <a:rPr lang="en-US" sz="2200" dirty="0" smtClean="0"/>
            </a:br>
            <a:r>
              <a:rPr lang="en-US" sz="2200" dirty="0" smtClean="0"/>
              <a:t>			    FROM	DEPARTMENT</a:t>
            </a:r>
            <a:br>
              <a:rPr lang="en-US" sz="2200" dirty="0" smtClean="0"/>
            </a:br>
            <a:r>
              <a:rPr lang="en-US" sz="2200" dirty="0" smtClean="0"/>
              <a:t>			    WHERE	DNAME='Research')</a:t>
            </a:r>
            <a:br>
              <a:rPr lang="en-US" sz="2200" dirty="0" smtClean="0"/>
            </a:br>
            <a:endParaRPr lang="en-US" sz="22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In this request, the modified SALARY value depends on the original SALARY value in each tuple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The reference to the SALARY attribute on the right of = refers to the old SALARY value before modification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The reference to the SALARY attribute on the left of = refers to the new SALARY value after modification</a:t>
            </a:r>
            <a:br>
              <a:rPr lang="en-US" sz="2200" dirty="0" smtClean="0"/>
            </a:br>
            <a:endParaRPr lang="en-US" sz="2200" dirty="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Define relation. Explain the various characteristics of relations.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Explain various types of relational model constraints.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Explain the DIVISION operation with example.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Explain the E-R to relational mapping algorithm with examples for each step.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Write a note on data types available in SQL.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How to we can add constraint to a relation? Explain.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oncours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Manju PPT Format for DBMS</Template>
  <TotalTime>1712</TotalTime>
  <Words>3339</Words>
  <Application>Microsoft Office PowerPoint</Application>
  <PresentationFormat>On-screen Show (4:3)</PresentationFormat>
  <Paragraphs>457</Paragraphs>
  <Slides>80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80</vt:i4>
      </vt:variant>
    </vt:vector>
  </HeadingPairs>
  <TitlesOfParts>
    <vt:vector size="92" baseType="lpstr">
      <vt:lpstr>Arial</vt:lpstr>
      <vt:lpstr>Book Antiqua</vt:lpstr>
      <vt:lpstr>Calibri</vt:lpstr>
      <vt:lpstr>Courier New</vt:lpstr>
      <vt:lpstr>Lucida Sans</vt:lpstr>
      <vt:lpstr>Tw Cen MT</vt:lpstr>
      <vt:lpstr>Tw Cen MT (Body)</vt:lpstr>
      <vt:lpstr>Wingdings</vt:lpstr>
      <vt:lpstr>Wingdings 2</vt:lpstr>
      <vt:lpstr>Concourse</vt:lpstr>
      <vt:lpstr>Custom Design</vt:lpstr>
      <vt:lpstr>Median</vt:lpstr>
      <vt:lpstr>MODULE – 3  </vt:lpstr>
      <vt:lpstr>Data Definition, Constraints, and Schema Changes</vt:lpstr>
      <vt:lpstr>CREATE TABLE</vt:lpstr>
      <vt:lpstr>CREATE TABLE</vt:lpstr>
      <vt:lpstr>DATA TYPES</vt:lpstr>
      <vt:lpstr>DROP TABLE</vt:lpstr>
      <vt:lpstr>ALTER TABLE</vt:lpstr>
      <vt:lpstr>PowerPoint Presentation</vt:lpstr>
      <vt:lpstr>Features Added in SQL2 and SQL-99</vt:lpstr>
      <vt:lpstr>CREATE SCHEMA</vt:lpstr>
      <vt:lpstr>REFERENTIAL INTEGRITY OPTIONS</vt:lpstr>
      <vt:lpstr>REFERENTIAL INTEGRITY OPTIONS (continued)</vt:lpstr>
      <vt:lpstr>Constraints</vt:lpstr>
      <vt:lpstr>Additional Data Types in SQL2 and SQL-99</vt:lpstr>
      <vt:lpstr>Additional Data Types in SQL2 and SQL-99 (contd.)</vt:lpstr>
      <vt:lpstr>Retrieval Queries in SQL</vt:lpstr>
      <vt:lpstr>Retrieval Queries in SQL (contd.)</vt:lpstr>
      <vt:lpstr>Retrieval Queries in SQL (contd.)</vt:lpstr>
      <vt:lpstr>Relational Database Schema--Figure 5.5  </vt:lpstr>
      <vt:lpstr>Populated Database--Fig.5.6</vt:lpstr>
      <vt:lpstr>Simple SQL Queries</vt:lpstr>
      <vt:lpstr>Simple SQL Queries (contd.)</vt:lpstr>
      <vt:lpstr>Simple SQL Queries (contd.)</vt:lpstr>
      <vt:lpstr>Simple SQL Queries (contd.)</vt:lpstr>
      <vt:lpstr>Aliases, * and DISTINCT, Empty WHERE-clause</vt:lpstr>
      <vt:lpstr>ALIASES</vt:lpstr>
      <vt:lpstr>ALIASES (contd.)</vt:lpstr>
      <vt:lpstr>UNSPECIFIED  WHERE-clause</vt:lpstr>
      <vt:lpstr>UNSPECIFIED  WHERE-clause (contd.)</vt:lpstr>
      <vt:lpstr>USE OF *</vt:lpstr>
      <vt:lpstr>USE OF DISTINCT</vt:lpstr>
      <vt:lpstr>SET OPERATIONS</vt:lpstr>
      <vt:lpstr>SET OPERATIONS (contd.) </vt:lpstr>
      <vt:lpstr>NESTING OF QUERIES</vt:lpstr>
      <vt:lpstr>NESTING OF QUERIES (contd.)</vt:lpstr>
      <vt:lpstr>CORRELATED NESTED QUERIES</vt:lpstr>
      <vt:lpstr>CORRELATED NESTED QUERIES (contd.)</vt:lpstr>
      <vt:lpstr>CORRELATED NESTED QUERIES (contd.)</vt:lpstr>
      <vt:lpstr>CORRELATED NESTED QUERIES (contd.)</vt:lpstr>
      <vt:lpstr>CORRELATED NESTED QUERIES (contd.)</vt:lpstr>
      <vt:lpstr>THE EXISTS FUNCTION</vt:lpstr>
      <vt:lpstr>THE EXISTS FUNCTION (contd.)</vt:lpstr>
      <vt:lpstr>THE EXISTS FUNCTION (contd.)</vt:lpstr>
      <vt:lpstr>EXPLICIT SETS</vt:lpstr>
      <vt:lpstr>NULLS IN SQL QUERIES</vt:lpstr>
      <vt:lpstr>Joined Relations Feature  in SQL2</vt:lpstr>
      <vt:lpstr>Joined Relations Feature  in SQL2 (contd.)</vt:lpstr>
      <vt:lpstr>Joined Relations Feature  in SQL2 (contd.)</vt:lpstr>
      <vt:lpstr>Joined Relations Feature  in SQL2 (contd.)</vt:lpstr>
      <vt:lpstr>AGGREGATE FUNCTIONS</vt:lpstr>
      <vt:lpstr>AGGREGATE FUNCTIONS (contd.)</vt:lpstr>
      <vt:lpstr>AGGREGATE FUNCTIONS (contd.)</vt:lpstr>
      <vt:lpstr>GROUPING</vt:lpstr>
      <vt:lpstr>GROUPING (contd.)</vt:lpstr>
      <vt:lpstr>GROUPING (contd.)</vt:lpstr>
      <vt:lpstr>Example</vt:lpstr>
      <vt:lpstr>THE HAVING-CLAUSE</vt:lpstr>
      <vt:lpstr>THE HAVING-CLAUSE (contd.)</vt:lpstr>
      <vt:lpstr>Example</vt:lpstr>
      <vt:lpstr>SUBSTRING COMPARISON</vt:lpstr>
      <vt:lpstr>SUBSTRING COMPARISON (contd.)</vt:lpstr>
      <vt:lpstr>SUBSTRING COMPARISON (contd.)</vt:lpstr>
      <vt:lpstr>ARITHMETIC OPERATIONS</vt:lpstr>
      <vt:lpstr>ORDER BY</vt:lpstr>
      <vt:lpstr>ORDER BY (contd.)</vt:lpstr>
      <vt:lpstr>Summary of SQL Queries</vt:lpstr>
      <vt:lpstr>Summary of SQL Queries (contd.)</vt:lpstr>
      <vt:lpstr>Specifying Updates in SQL</vt:lpstr>
      <vt:lpstr>INSERT</vt:lpstr>
      <vt:lpstr>INSERT (contd.)</vt:lpstr>
      <vt:lpstr>INSERT (contd.)</vt:lpstr>
      <vt:lpstr>INSERT (contd.)</vt:lpstr>
      <vt:lpstr>INSERT (contd.)</vt:lpstr>
      <vt:lpstr>DELETE</vt:lpstr>
      <vt:lpstr>DELETE (contd.)</vt:lpstr>
      <vt:lpstr>TRUNCATE </vt:lpstr>
      <vt:lpstr>UPDATE</vt:lpstr>
      <vt:lpstr>UPDATE (contd.)</vt:lpstr>
      <vt:lpstr>UPDATE (contd.)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: RELATIONAL MODEL, RELATIONAL ALGEBRA, SQL</dc:title>
  <dc:creator>Manjunatha A S</dc:creator>
  <cp:lastModifiedBy>Mustaq A</cp:lastModifiedBy>
  <cp:revision>74</cp:revision>
  <dcterms:created xsi:type="dcterms:W3CDTF">2006-08-16T00:00:00Z</dcterms:created>
  <dcterms:modified xsi:type="dcterms:W3CDTF">2023-07-06T10:53:30Z</dcterms:modified>
</cp:coreProperties>
</file>