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2"/>
  </p:notesMasterIdLst>
  <p:sldIdLst>
    <p:sldId id="257" r:id="rId2"/>
    <p:sldId id="31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310" r:id="rId44"/>
    <p:sldId id="312" r:id="rId45"/>
    <p:sldId id="313" r:id="rId46"/>
    <p:sldId id="314" r:id="rId47"/>
    <p:sldId id="315" r:id="rId48"/>
    <p:sldId id="316" r:id="rId49"/>
    <p:sldId id="317" r:id="rId50"/>
    <p:sldId id="357" r:id="rId51"/>
    <p:sldId id="318" r:id="rId52"/>
    <p:sldId id="319" r:id="rId53"/>
    <p:sldId id="320" r:id="rId54"/>
    <p:sldId id="321" r:id="rId55"/>
    <p:sldId id="322" r:id="rId56"/>
    <p:sldId id="323" r:id="rId57"/>
    <p:sldId id="324" r:id="rId58"/>
    <p:sldId id="325" r:id="rId59"/>
    <p:sldId id="348" r:id="rId60"/>
    <p:sldId id="356"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60"/>
  </p:normalViewPr>
  <p:slideViewPr>
    <p:cSldViewPr showGuides="1">
      <p:cViewPr varScale="1">
        <p:scale>
          <a:sx n="69" d="100"/>
          <a:sy n="69" d="100"/>
        </p:scale>
        <p:origin x="13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E49A63-DED7-43E2-BCE2-3D54AD0C1038}" type="datetimeFigureOut">
              <a:rPr lang="en-US" smtClean="0"/>
              <a:pPr/>
              <a:t>5/6/2026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F67B36-E1E9-412C-BD40-A9CA20A09C9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p:spPr>
        <p:txBody>
          <a:bodyPr/>
          <a:lstStyle/>
          <a:p>
            <a:pPr eaLnBrk="1" hangingPunct="1"/>
            <a:endParaRPr lang="en-US" sz="18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F7C5E0A6-6408-4988-A415-C67D280407D7}" type="datetime4">
              <a:rPr lang="en-US" smtClean="0"/>
              <a:t>May 6, 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041645D3-FCDD-4035-88CD-39CE2E66119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9D7B752-C6CF-40EF-BDA0-354864FCACCA}" type="datetime4">
              <a:rPr lang="en-US" smtClean="0"/>
              <a:t>May 6,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3DD63C7D-C0A2-4812-86D4-1EE63E2527C1}" type="datetime4">
              <a:rPr lang="en-US" smtClean="0"/>
              <a:t>May 6, 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41645D3-FCDD-4035-88CD-39CE2E661191}"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5D06FCF-21B3-4171-8EF0-C5799D6DFD0E}" type="datetime4">
              <a:rPr lang="en-US" smtClean="0"/>
              <a:t>May 6, 2026</a:t>
            </a:fld>
            <a:endParaRPr lang="en-US"/>
          </a:p>
        </p:txBody>
      </p:sp>
      <p:sp>
        <p:nvSpPr>
          <p:cNvPr id="10" name="Slide Number Placeholder 9"/>
          <p:cNvSpPr>
            <a:spLocks noGrp="1"/>
          </p:cNvSpPr>
          <p:nvPr>
            <p:ph type="sldNum" sz="quarter" idx="16"/>
          </p:nvPr>
        </p:nvSpPr>
        <p:spPr/>
        <p:txBody>
          <a:bodyPr rtlCol="0"/>
          <a:lstStyle/>
          <a:p>
            <a:fld id="{041645D3-FCDD-4035-88CD-39CE2E661191}"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753C3A57-6C87-4F71-A07B-7DC89589762E}" type="datetime4">
              <a:rPr lang="en-US" smtClean="0"/>
              <a:t>May 6, 2026</a:t>
            </a:fld>
            <a:endParaRPr lang="en-US"/>
          </a:p>
        </p:txBody>
      </p:sp>
      <p:sp>
        <p:nvSpPr>
          <p:cNvPr id="12" name="Slide Number Placeholder 11"/>
          <p:cNvSpPr>
            <a:spLocks noGrp="1"/>
          </p:cNvSpPr>
          <p:nvPr>
            <p:ph type="sldNum" sz="quarter" idx="16"/>
          </p:nvPr>
        </p:nvSpPr>
        <p:spPr/>
        <p:txBody>
          <a:bodyPr rtlCol="0"/>
          <a:lstStyle/>
          <a:p>
            <a:fld id="{041645D3-FCDD-4035-88CD-39CE2E661191}"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348C335-8F1C-46B6-B1A6-E0E19809DD11}" type="datetime4">
              <a:rPr lang="en-US" smtClean="0"/>
              <a:t>May 6,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C9CC96-A141-449A-954E-EFE25703B97C}" type="datetime4">
              <a:rPr lang="en-US" smtClean="0"/>
              <a:t>May 6,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041645D3-FCDD-4035-88CD-39CE2E66119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95D8954-D7A5-4F99-A2CC-8CE1F8D462BC}" type="datetime4">
              <a:rPr lang="en-US" smtClean="0"/>
              <a:t>May 6,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041645D3-FCDD-4035-88CD-39CE2E661191}"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1756E56-EFA9-4131-9B89-035B1E718190}" type="datetime4">
              <a:rPr lang="en-US" smtClean="0"/>
              <a:t>May 6, 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041645D3-FCDD-4035-88CD-39CE2E661191}"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AB3DE29-CF9E-4D94-8F59-7C3AC6BB1877}" type="datetime4">
              <a:rPr lang="en-US" smtClean="0"/>
              <a:t>May 6,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645D3-FCDD-4035-88CD-39CE2E66119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BBD3342-F898-4CB6-9900-A94579420192}" type="datetime4">
              <a:rPr lang="en-US" smtClean="0"/>
              <a:t>May 6, 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041645D3-FCDD-4035-88CD-39CE2E66119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284288" y="609600"/>
            <a:ext cx="7173912"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85800" y="1981200"/>
            <a:ext cx="7772400" cy="4114800"/>
          </a:xfrm>
        </p:spPr>
        <p:txBody>
          <a:bodyPr>
            <a:normAutofit/>
          </a:bodyPr>
          <a:lstStyle/>
          <a:p>
            <a:pPr lvl="0"/>
            <a:endParaRPr lang="en-US" noProof="0"/>
          </a:p>
        </p:txBody>
      </p:sp>
      <p:sp>
        <p:nvSpPr>
          <p:cNvPr id="4" name="Slide Number Placeholder 3"/>
          <p:cNvSpPr>
            <a:spLocks noGrp="1"/>
          </p:cNvSpPr>
          <p:nvPr>
            <p:ph type="sldNum" sz="quarter" idx="10"/>
          </p:nvPr>
        </p:nvSpPr>
        <p:spPr>
          <a:xfrm>
            <a:off x="7153275" y="6386513"/>
            <a:ext cx="1905000" cy="387350"/>
          </a:xfrm>
        </p:spPr>
        <p:txBody>
          <a:bodyPr/>
          <a:lstStyle>
            <a:lvl1pPr>
              <a:defRPr/>
            </a:lvl1pPr>
          </a:lstStyle>
          <a:p>
            <a:pPr>
              <a:defRPr/>
            </a:pPr>
            <a:r>
              <a:rPr lang="en-US"/>
              <a:t>Chapter 10-</a:t>
            </a:r>
            <a:fld id="{6D8B30A8-B23A-4153-8F61-56D8189227B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22D482E3-805C-4CC9-ACCB-D8B1D7B5ED5C}" type="datetime4">
              <a:rPr lang="en-US" smtClean="0"/>
              <a:t>May 6, 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41645D3-FCDD-4035-88CD-39CE2E66119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2286000"/>
          </a:xfrm>
        </p:spPr>
        <p:txBody>
          <a:bodyPr>
            <a:normAutofit/>
          </a:bodyPr>
          <a:lstStyle/>
          <a:p>
            <a:pPr algn="ctr"/>
            <a:r>
              <a:rPr lang="en-US" sz="3200" b="1" dirty="0" smtClean="0"/>
              <a:t>MODULE – 4</a:t>
            </a:r>
            <a:br>
              <a:rPr lang="en-US" sz="3200" b="1" dirty="0" smtClean="0"/>
            </a:br>
            <a:r>
              <a:rPr lang="en-US" sz="3200" b="1" dirty="0" smtClean="0"/>
              <a:t/>
            </a:r>
            <a:br>
              <a:rPr lang="en-US" sz="3200" b="1" dirty="0" smtClean="0"/>
            </a:br>
            <a:r>
              <a:rPr lang="en-US" sz="3200" b="1" dirty="0" smtClean="0"/>
              <a:t>NORMALIZATION: DATABASE DESIGN THEORY</a:t>
            </a:r>
            <a:br>
              <a:rPr lang="en-US" sz="3200" b="1" dirty="0" smtClean="0"/>
            </a:br>
            <a:endParaRPr lang="en-US" sz="3200" b="1" dirty="0"/>
          </a:p>
        </p:txBody>
      </p:sp>
      <p:sp>
        <p:nvSpPr>
          <p:cNvPr id="3" name="Subtitle 2"/>
          <p:cNvSpPr>
            <a:spLocks noGrp="1"/>
          </p:cNvSpPr>
          <p:nvPr>
            <p:ph type="subTitle" idx="1"/>
          </p:nvPr>
        </p:nvSpPr>
        <p:spPr/>
        <p:txBody>
          <a:bodyPr>
            <a:noAutofit/>
          </a:bodyPr>
          <a:lstStyle/>
          <a:p>
            <a:pPr algn="ctr"/>
            <a:r>
              <a:rPr lang="en-US" sz="2000" b="1" dirty="0" smtClean="0"/>
              <a:t>Prepared by Mushtaq Ahmed, Assistant Professor, Dept. of ISE</a:t>
            </a:r>
            <a:endParaRPr lang="en-US" sz="2000" b="1" dirty="0"/>
          </a:p>
        </p:txBody>
      </p:sp>
      <p:sp>
        <p:nvSpPr>
          <p:cNvPr id="4" name="TextBox 3"/>
          <p:cNvSpPr txBox="1"/>
          <p:nvPr/>
        </p:nvSpPr>
        <p:spPr>
          <a:xfrm>
            <a:off x="0" y="3429000"/>
            <a:ext cx="9144000" cy="2062103"/>
          </a:xfrm>
          <a:prstGeom prst="rect">
            <a:avLst/>
          </a:prstGeom>
          <a:noFill/>
        </p:spPr>
        <p:txBody>
          <a:bodyPr wrap="square" rtlCol="0">
            <a:spAutoFit/>
          </a:bodyPr>
          <a:lstStyle/>
          <a:p>
            <a:pPr algn="ctr"/>
            <a:r>
              <a:rPr lang="en-US" sz="3200" b="1" cap="all" dirty="0" smtClean="0">
                <a:solidFill>
                  <a:schemeClr val="tx2"/>
                </a:solidFill>
                <a:latin typeface="+mj-lt"/>
                <a:ea typeface="+mj-ea"/>
                <a:cs typeface="+mj-cs"/>
              </a:rPr>
              <a:t>INTRODUCTION TO NORMALIZATION USING FUNCTIONAL AND MULTIVALUED DEPENDENCIES</a:t>
            </a:r>
          </a:p>
          <a:p>
            <a:pPr algn="ctr"/>
            <a:endParaRPr lang="en-US" sz="3200" b="1" cap="all" dirty="0" smtClean="0">
              <a:solidFill>
                <a:schemeClr val="tx2"/>
              </a:solidFill>
              <a:latin typeface="+mj-lt"/>
              <a:ea typeface="+mj-ea"/>
              <a:cs typeface="+mj-cs"/>
            </a:endParaRPr>
          </a:p>
          <a:p>
            <a:pPr algn="ctr"/>
            <a:r>
              <a:rPr lang="en-US" sz="3200" b="1" cap="all" dirty="0" smtClean="0">
                <a:solidFill>
                  <a:schemeClr val="tx2"/>
                </a:solidFill>
                <a:latin typeface="+mj-lt"/>
                <a:ea typeface="+mj-ea"/>
                <a:cs typeface="+mj-cs"/>
              </a:rPr>
              <a:t>NORMALIZATION ALGORITHMS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800"/>
            <a:ext cx="8308848" cy="990600"/>
          </a:xfrm>
        </p:spPr>
        <p:txBody>
          <a:bodyPr>
            <a:normAutofit fontScale="90000"/>
          </a:bodyPr>
          <a:lstStyle/>
          <a:p>
            <a:pPr algn="ctr"/>
            <a:r>
              <a:rPr lang="en-US" sz="3600" b="1" dirty="0" smtClean="0"/>
              <a:t>INTRODUCTION TO NORMALIZATION USING FUNCTIONAL AND MULTIVALUED DEPENDENCIES</a:t>
            </a:r>
            <a:endParaRPr lang="en-US" sz="36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r>
              <a:rPr lang="en-US" sz="3200" dirty="0" smtClean="0">
                <a:cs typeface="Times New Roman" pitchFamily="18" charset="0"/>
              </a:rPr>
              <a:t>Informal Design Guidelines for Relational Databases</a:t>
            </a:r>
          </a:p>
          <a:p>
            <a:r>
              <a:rPr lang="en-US" sz="3200" dirty="0" smtClean="0">
                <a:cs typeface="Times New Roman" pitchFamily="18" charset="0"/>
              </a:rPr>
              <a:t>Functional Dependencies</a:t>
            </a:r>
          </a:p>
          <a:p>
            <a:r>
              <a:rPr lang="en-US" sz="3200" dirty="0" smtClean="0">
                <a:cs typeface="Times New Roman" pitchFamily="18" charset="0"/>
              </a:rPr>
              <a:t>Normal Forms:</a:t>
            </a:r>
          </a:p>
          <a:p>
            <a:pPr lvl="1"/>
            <a:r>
              <a:rPr lang="en-US" dirty="0" smtClean="0">
                <a:cs typeface="Times New Roman" pitchFamily="18" charset="0"/>
              </a:rPr>
              <a:t>1NF, 2NF, 3NF, BCNF, </a:t>
            </a:r>
          </a:p>
          <a:p>
            <a:pPr lvl="1"/>
            <a:r>
              <a:rPr lang="en-US" sz="3200" dirty="0" smtClean="0">
                <a:cs typeface="Times New Roman" pitchFamily="18" charset="0"/>
              </a:rPr>
              <a:t>Inference Rules</a:t>
            </a:r>
          </a:p>
          <a:p>
            <a:r>
              <a:rPr lang="en-US" sz="3200" dirty="0" smtClean="0">
                <a:cs typeface="Times New Roman" pitchFamily="18" charset="0"/>
              </a:rPr>
              <a:t>Algorithms for Relational Database Schema Design</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685800" y="258763"/>
            <a:ext cx="7772400" cy="766762"/>
          </a:xfrm>
        </p:spPr>
        <p:txBody>
          <a:bodyPr>
            <a:normAutofit fontScale="90000"/>
          </a:bodyPr>
          <a:lstStyle/>
          <a:p>
            <a:pPr fontAlgn="auto">
              <a:spcAft>
                <a:spcPts val="0"/>
              </a:spcAft>
              <a:defRPr/>
            </a:pPr>
            <a:r>
              <a:rPr lang="en-US" sz="3200" b="1" dirty="0" smtClean="0">
                <a:cs typeface="Times New Roman" pitchFamily="18" charset="0"/>
              </a:rPr>
              <a:t>Informal </a:t>
            </a:r>
            <a:r>
              <a:rPr lang="en-US" sz="3200" b="1" dirty="0">
                <a:cs typeface="Times New Roman" pitchFamily="18" charset="0"/>
              </a:rPr>
              <a:t>Design Guidelines for Relational Databases</a:t>
            </a:r>
            <a:r>
              <a:rPr lang="en-US" b="1" dirty="0"/>
              <a:t> </a:t>
            </a:r>
            <a:r>
              <a:rPr lang="en-US" sz="3200" b="1" dirty="0"/>
              <a:t>(1)</a:t>
            </a:r>
          </a:p>
        </p:txBody>
      </p:sp>
      <p:sp>
        <p:nvSpPr>
          <p:cNvPr id="17412" name="Rectangle 3"/>
          <p:cNvSpPr>
            <a:spLocks noGrp="1" noChangeArrowheads="1"/>
          </p:cNvSpPr>
          <p:nvPr>
            <p:ph sz="quarter" idx="1"/>
          </p:nvPr>
        </p:nvSpPr>
        <p:spPr>
          <a:xfrm>
            <a:off x="685800" y="1857375"/>
            <a:ext cx="8105775" cy="4114800"/>
          </a:xfrm>
        </p:spPr>
        <p:txBody>
          <a:bodyPr/>
          <a:lstStyle/>
          <a:p>
            <a:pPr algn="just"/>
            <a:r>
              <a:rPr lang="en-US" sz="2800" dirty="0" smtClean="0">
                <a:cs typeface="Times New Roman" pitchFamily="18" charset="0"/>
              </a:rPr>
              <a:t>What is relational database design?</a:t>
            </a:r>
          </a:p>
          <a:p>
            <a:pPr algn="just">
              <a:buFont typeface="Wingdings" pitchFamily="2" charset="2"/>
              <a:buNone/>
            </a:pPr>
            <a:r>
              <a:rPr lang="en-US" dirty="0" smtClean="0">
                <a:cs typeface="Times New Roman" pitchFamily="18" charset="0"/>
              </a:rPr>
              <a:t>	</a:t>
            </a:r>
            <a:r>
              <a:rPr lang="en-US" sz="2400" dirty="0" smtClean="0">
                <a:cs typeface="Times New Roman" pitchFamily="18" charset="0"/>
              </a:rPr>
              <a:t>The grouping of attributes to form "good" relation schemas</a:t>
            </a:r>
          </a:p>
          <a:p>
            <a:pPr algn="just"/>
            <a:r>
              <a:rPr lang="en-US" dirty="0" smtClean="0">
                <a:cs typeface="Times New Roman" pitchFamily="18" charset="0"/>
              </a:rPr>
              <a:t> </a:t>
            </a:r>
            <a:r>
              <a:rPr lang="en-US" sz="2800" dirty="0" smtClean="0">
                <a:cs typeface="Times New Roman" pitchFamily="18" charset="0"/>
              </a:rPr>
              <a:t>Two levels of relation schemas</a:t>
            </a:r>
          </a:p>
          <a:p>
            <a:pPr lvl="1" algn="just"/>
            <a:r>
              <a:rPr lang="en-US" sz="2400" dirty="0" smtClean="0">
                <a:cs typeface="Times New Roman" pitchFamily="18" charset="0"/>
              </a:rPr>
              <a:t>The logical "user view" level</a:t>
            </a:r>
          </a:p>
          <a:p>
            <a:pPr lvl="1" algn="just"/>
            <a:r>
              <a:rPr lang="en-US" sz="2400" dirty="0" smtClean="0">
                <a:cs typeface="Times New Roman" pitchFamily="18" charset="0"/>
              </a:rPr>
              <a:t>The storage "base relation" level</a:t>
            </a:r>
          </a:p>
          <a:p>
            <a:pPr algn="just"/>
            <a:r>
              <a:rPr lang="en-US" dirty="0" smtClean="0">
                <a:cs typeface="Times New Roman" pitchFamily="18" charset="0"/>
              </a:rPr>
              <a:t> </a:t>
            </a:r>
            <a:r>
              <a:rPr lang="en-US" sz="2800" dirty="0" smtClean="0">
                <a:cs typeface="Times New Roman" pitchFamily="18" charset="0"/>
              </a:rPr>
              <a:t>Design is concerned mainly with base relations</a:t>
            </a:r>
          </a:p>
          <a:p>
            <a:pPr algn="just"/>
            <a:r>
              <a:rPr lang="en-US" sz="2800" dirty="0" smtClean="0">
                <a:cs typeface="Times New Roman" pitchFamily="18" charset="0"/>
              </a:rPr>
              <a:t> What are the criteria for "good" base relations?</a:t>
            </a:r>
            <a:r>
              <a:rPr lang="en-US" dirty="0" smtClean="0">
                <a:cs typeface="Times New Roman" pitchFamily="18" charset="0"/>
              </a:rPr>
              <a:t> </a:t>
            </a:r>
          </a:p>
          <a:p>
            <a:pPr algn="just">
              <a:buFont typeface="Wingdings" pitchFamily="2" charset="2"/>
              <a:buNone/>
            </a:pPr>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b="1" dirty="0">
                <a:cs typeface="Times New Roman" pitchFamily="18" charset="0"/>
              </a:rPr>
              <a:t>Informal Design Guidelines for Relational </a:t>
            </a:r>
            <a:r>
              <a:rPr lang="en-US" sz="3200" b="1" dirty="0" smtClean="0">
                <a:cs typeface="Times New Roman" pitchFamily="18" charset="0"/>
              </a:rPr>
              <a:t>Databases</a:t>
            </a:r>
            <a:endParaRPr lang="en-US" sz="3200" b="1" dirty="0"/>
          </a:p>
        </p:txBody>
      </p:sp>
      <p:sp>
        <p:nvSpPr>
          <p:cNvPr id="18436" name="Rectangle 3"/>
          <p:cNvSpPr>
            <a:spLocks noGrp="1" noChangeArrowheads="1"/>
          </p:cNvSpPr>
          <p:nvPr>
            <p:ph sz="quarter" idx="1"/>
          </p:nvPr>
        </p:nvSpPr>
        <p:spPr>
          <a:xfrm>
            <a:off x="612775" y="1600200"/>
            <a:ext cx="8153400" cy="4495800"/>
          </a:xfrm>
        </p:spPr>
        <p:txBody>
          <a:bodyPr>
            <a:normAutofit/>
          </a:bodyPr>
          <a:lstStyle/>
          <a:p>
            <a:pPr>
              <a:lnSpc>
                <a:spcPct val="90000"/>
              </a:lnSpc>
            </a:pPr>
            <a:r>
              <a:rPr lang="en-US" sz="2800" dirty="0" smtClean="0">
                <a:cs typeface="Times New Roman" pitchFamily="18" charset="0"/>
              </a:rPr>
              <a:t>Making sure that the semantics of the attributes is clear in schema</a:t>
            </a:r>
          </a:p>
          <a:p>
            <a:pPr>
              <a:lnSpc>
                <a:spcPct val="90000"/>
              </a:lnSpc>
            </a:pPr>
            <a:endParaRPr lang="en-US" sz="1200" dirty="0" smtClean="0">
              <a:cs typeface="Times New Roman" pitchFamily="18" charset="0"/>
            </a:endParaRPr>
          </a:p>
          <a:p>
            <a:pPr>
              <a:lnSpc>
                <a:spcPct val="90000"/>
              </a:lnSpc>
            </a:pPr>
            <a:r>
              <a:rPr lang="en-US" sz="2800" dirty="0" smtClean="0">
                <a:cs typeface="Times New Roman" pitchFamily="18" charset="0"/>
              </a:rPr>
              <a:t>Reducing the redundant information in tuples</a:t>
            </a:r>
          </a:p>
          <a:p>
            <a:pPr>
              <a:lnSpc>
                <a:spcPct val="90000"/>
              </a:lnSpc>
            </a:pPr>
            <a:endParaRPr lang="en-US" sz="1600" dirty="0" smtClean="0">
              <a:cs typeface="Times New Roman" pitchFamily="18" charset="0"/>
            </a:endParaRPr>
          </a:p>
          <a:p>
            <a:pPr>
              <a:lnSpc>
                <a:spcPct val="90000"/>
              </a:lnSpc>
            </a:pPr>
            <a:r>
              <a:rPr lang="en-US" sz="2800" dirty="0" smtClean="0">
                <a:cs typeface="Times New Roman" pitchFamily="18" charset="0"/>
              </a:rPr>
              <a:t>Reducing NULL values in tuples</a:t>
            </a:r>
          </a:p>
          <a:p>
            <a:pPr>
              <a:lnSpc>
                <a:spcPct val="90000"/>
              </a:lnSpc>
            </a:pPr>
            <a:endParaRPr lang="en-US" sz="1400" dirty="0" smtClean="0">
              <a:cs typeface="Times New Roman" pitchFamily="18" charset="0"/>
            </a:endParaRPr>
          </a:p>
          <a:p>
            <a:pPr>
              <a:lnSpc>
                <a:spcPct val="90000"/>
              </a:lnSpc>
            </a:pPr>
            <a:r>
              <a:rPr lang="en-US" sz="2800" dirty="0" smtClean="0">
                <a:cs typeface="Times New Roman" pitchFamily="18" charset="0"/>
              </a:rPr>
              <a:t>Disallowing the possibility of generating spurious tuples.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Semantics of the Relation Attributes</a:t>
            </a:r>
            <a:r>
              <a:rPr lang="en-US" b="1" dirty="0" smtClean="0"/>
              <a:t> </a:t>
            </a:r>
          </a:p>
        </p:txBody>
      </p:sp>
      <p:sp>
        <p:nvSpPr>
          <p:cNvPr id="207875" name="Rectangle 3"/>
          <p:cNvSpPr>
            <a:spLocks noGrp="1" noChangeArrowheads="1"/>
          </p:cNvSpPr>
          <p:nvPr>
            <p:ph sz="quarter" idx="1"/>
          </p:nvPr>
        </p:nvSpPr>
        <p:spPr>
          <a:xfrm>
            <a:off x="685800" y="1752600"/>
            <a:ext cx="7772400" cy="4114800"/>
          </a:xfrm>
        </p:spPr>
        <p:txBody>
          <a:bodyPr>
            <a:normAutofit lnSpcReduction="10000"/>
          </a:bodyPr>
          <a:lstStyle/>
          <a:p>
            <a:pPr marL="320040" indent="-320040" fontAlgn="auto">
              <a:lnSpc>
                <a:spcPct val="90000"/>
              </a:lnSpc>
              <a:spcAft>
                <a:spcPts val="0"/>
              </a:spcAft>
              <a:buFont typeface="Wingdings" pitchFamily="2" charset="2"/>
              <a:buNone/>
              <a:defRPr/>
            </a:pPr>
            <a:r>
              <a:rPr lang="en-US" sz="2800" b="1" dirty="0">
                <a:cs typeface="Times New Roman" pitchFamily="18" charset="0"/>
              </a:rPr>
              <a:t>GUIDELINE 1:</a:t>
            </a:r>
            <a:r>
              <a:rPr lang="en-US" sz="2800" dirty="0">
                <a:cs typeface="Times New Roman" pitchFamily="18" charset="0"/>
              </a:rPr>
              <a:t> Informally, each tuple in a relation should represent one entity or relationship instance. (Applies to individual relations and their attributes).</a:t>
            </a:r>
          </a:p>
          <a:p>
            <a:pPr marL="320040" indent="-320040" fontAlgn="auto">
              <a:lnSpc>
                <a:spcPct val="90000"/>
              </a:lnSpc>
              <a:spcAft>
                <a:spcPts val="0"/>
              </a:spcAft>
              <a:buFont typeface="Wingdings 2"/>
              <a:buChar char=""/>
              <a:defRPr/>
            </a:pPr>
            <a:r>
              <a:rPr lang="en-US" sz="2000" dirty="0">
                <a:cs typeface="Times New Roman" pitchFamily="18" charset="0"/>
              </a:rPr>
              <a:t>Attributes of different entities (EMPLOYEEs, DEPARTMENTs, PROJECTs) should not be mixed in the same relation</a:t>
            </a:r>
          </a:p>
          <a:p>
            <a:pPr marL="320040" indent="-320040" fontAlgn="auto">
              <a:lnSpc>
                <a:spcPct val="90000"/>
              </a:lnSpc>
              <a:spcAft>
                <a:spcPts val="0"/>
              </a:spcAft>
              <a:buFont typeface="Wingdings 2"/>
              <a:buChar char=""/>
              <a:defRPr/>
            </a:pPr>
            <a:r>
              <a:rPr lang="en-US" sz="2000" dirty="0">
                <a:cs typeface="Times New Roman" pitchFamily="18" charset="0"/>
              </a:rPr>
              <a:t>Only foreign keys should be used to refer to other entities</a:t>
            </a:r>
          </a:p>
          <a:p>
            <a:pPr marL="320040" indent="-320040" fontAlgn="auto">
              <a:lnSpc>
                <a:spcPct val="90000"/>
              </a:lnSpc>
              <a:spcAft>
                <a:spcPts val="0"/>
              </a:spcAft>
              <a:buFont typeface="Wingdings 2"/>
              <a:buChar char=""/>
              <a:defRPr/>
            </a:pPr>
            <a:r>
              <a:rPr lang="en-US" sz="2000" dirty="0">
                <a:cs typeface="Times New Roman" pitchFamily="18" charset="0"/>
              </a:rPr>
              <a:t> Entity and relationship attributes should be kept apart as much as possible.</a:t>
            </a:r>
          </a:p>
          <a:p>
            <a:pPr marL="320040" indent="-320040" fontAlgn="auto">
              <a:lnSpc>
                <a:spcPct val="90000"/>
              </a:lnSpc>
              <a:spcAft>
                <a:spcPts val="0"/>
              </a:spcAft>
              <a:buFont typeface="Wingdings" pitchFamily="2" charset="2"/>
              <a:buNone/>
              <a:defRPr/>
            </a:pPr>
            <a:r>
              <a:rPr lang="en-US" sz="2800" dirty="0">
                <a:cs typeface="Times New Roman" pitchFamily="18" charset="0"/>
              </a:rPr>
              <a:t> </a:t>
            </a:r>
            <a:r>
              <a:rPr lang="en-US" sz="2800" i="1" u="sng" dirty="0">
                <a:cs typeface="Times New Roman" pitchFamily="18" charset="0"/>
              </a:rPr>
              <a:t>Bottom Line:</a:t>
            </a:r>
            <a:r>
              <a:rPr lang="en-US" sz="2800" dirty="0">
                <a:cs typeface="Times New Roman" pitchFamily="18" charset="0"/>
              </a:rPr>
              <a:t> Design a schema that can be explained easily relation by relation. The semantics of attributes should be easy to interpret.</a:t>
            </a:r>
            <a:r>
              <a:rPr lang="en-US" sz="2800" dirty="0"/>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152400"/>
            <a:ext cx="7173912" cy="1143000"/>
          </a:xfrm>
        </p:spPr>
        <p:txBody>
          <a:bodyPr/>
          <a:lstStyle/>
          <a:p>
            <a:r>
              <a:rPr lang="en-US" sz="3200" smtClean="0"/>
              <a:t>A simplified COMPANY relational database schema</a:t>
            </a:r>
          </a:p>
        </p:txBody>
      </p:sp>
      <p:sp>
        <p:nvSpPr>
          <p:cNvPr id="20485" name="Rectangle 6"/>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20486" name="Picture 5" descr="ch14_elmasri"/>
          <p:cNvPicPr>
            <a:picLocks noChangeAspect="1" noChangeArrowheads="1"/>
          </p:cNvPicPr>
          <p:nvPr/>
        </p:nvPicPr>
        <p:blipFill>
          <a:blip r:embed="rId2"/>
          <a:srcRect/>
          <a:stretch>
            <a:fillRect/>
          </a:stretch>
        </p:blipFill>
        <p:spPr bwMode="auto">
          <a:xfrm>
            <a:off x="346193" y="1219199"/>
            <a:ext cx="8569207" cy="5460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585066" y="304800"/>
            <a:ext cx="8153400" cy="990600"/>
          </a:xfrm>
        </p:spPr>
        <p:txBody>
          <a:bodyPr>
            <a:normAutofit fontScale="90000"/>
          </a:bodyPr>
          <a:lstStyle/>
          <a:p>
            <a:pPr fontAlgn="auto">
              <a:spcAft>
                <a:spcPts val="0"/>
              </a:spcAft>
              <a:defRPr/>
            </a:pPr>
            <a:r>
              <a:rPr lang="en-US" sz="3200" b="1" dirty="0" smtClean="0">
                <a:cs typeface="Times New Roman" pitchFamily="18" charset="0"/>
              </a:rPr>
              <a:t>Redundant </a:t>
            </a:r>
            <a:r>
              <a:rPr lang="en-US" sz="3200" b="1" dirty="0">
                <a:cs typeface="Times New Roman" pitchFamily="18" charset="0"/>
              </a:rPr>
              <a:t>Information in Tuples and Update Anomalies</a:t>
            </a:r>
            <a:r>
              <a:rPr lang="en-US" dirty="0"/>
              <a:t> </a:t>
            </a:r>
          </a:p>
        </p:txBody>
      </p:sp>
      <p:sp>
        <p:nvSpPr>
          <p:cNvPr id="21508" name="Rectangle 3"/>
          <p:cNvSpPr>
            <a:spLocks noGrp="1" noChangeArrowheads="1"/>
          </p:cNvSpPr>
          <p:nvPr>
            <p:ph sz="quarter" idx="1"/>
          </p:nvPr>
        </p:nvSpPr>
        <p:spPr>
          <a:xfrm>
            <a:off x="585066" y="2057400"/>
            <a:ext cx="8153400" cy="3810000"/>
          </a:xfrm>
        </p:spPr>
        <p:txBody>
          <a:bodyPr/>
          <a:lstStyle/>
          <a:p>
            <a:r>
              <a:rPr lang="en-US" sz="2800" dirty="0" smtClean="0">
                <a:cs typeface="Times New Roman" pitchFamily="18" charset="0"/>
              </a:rPr>
              <a:t>Mixing attributes of multiple entities may cause problems</a:t>
            </a:r>
          </a:p>
          <a:p>
            <a:r>
              <a:rPr lang="en-US" sz="2800" dirty="0" smtClean="0">
                <a:cs typeface="Times New Roman" pitchFamily="18" charset="0"/>
              </a:rPr>
              <a:t>Information is stored redundantly wasting storage</a:t>
            </a:r>
          </a:p>
          <a:p>
            <a:r>
              <a:rPr lang="en-US" sz="2800" dirty="0" smtClean="0">
                <a:cs typeface="Times New Roman" pitchFamily="18" charset="0"/>
              </a:rPr>
              <a:t>Problems with update anomalies</a:t>
            </a:r>
          </a:p>
          <a:p>
            <a:pPr lvl="1"/>
            <a:r>
              <a:rPr lang="en-US" dirty="0" smtClean="0">
                <a:cs typeface="Times New Roman" pitchFamily="18" charset="0"/>
              </a:rPr>
              <a:t>Insertion anomalies</a:t>
            </a:r>
          </a:p>
          <a:p>
            <a:pPr lvl="1"/>
            <a:r>
              <a:rPr lang="en-US" dirty="0" smtClean="0">
                <a:cs typeface="Times New Roman" pitchFamily="18" charset="0"/>
              </a:rPr>
              <a:t>Deletion anomalies</a:t>
            </a:r>
            <a:endParaRPr lang="en-US" sz="2400" dirty="0" smtClean="0">
              <a:cs typeface="Times New Roman" pitchFamily="18" charset="0"/>
            </a:endParaRPr>
          </a:p>
          <a:p>
            <a:pPr lvl="1"/>
            <a:r>
              <a:rPr lang="en-US" dirty="0" smtClean="0">
                <a:cs typeface="Times New Roman" pitchFamily="18" charset="0"/>
              </a:rPr>
              <a:t>Modification anomalies</a:t>
            </a:r>
            <a:r>
              <a:rPr lang="en-US" dirty="0" smtClean="0"/>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12775" y="228600"/>
            <a:ext cx="8153400" cy="990600"/>
          </a:xfrm>
        </p:spPr>
        <p:txBody>
          <a:bodyPr>
            <a:normAutofit fontScale="90000"/>
          </a:bodyPr>
          <a:lstStyle/>
          <a:p>
            <a:r>
              <a:rPr lang="en-US" b="1" smtClean="0">
                <a:cs typeface="Times New Roman" pitchFamily="18" charset="0"/>
              </a:rPr>
              <a:t>EXAMPLE OF AN UPDATE ANOMALY (1)</a:t>
            </a:r>
            <a:r>
              <a:rPr lang="en-US" smtClean="0"/>
              <a:t> </a:t>
            </a:r>
          </a:p>
        </p:txBody>
      </p:sp>
      <p:sp>
        <p:nvSpPr>
          <p:cNvPr id="22532" name="Rectangle 3"/>
          <p:cNvSpPr>
            <a:spLocks noGrp="1" noChangeArrowheads="1"/>
          </p:cNvSpPr>
          <p:nvPr>
            <p:ph sz="quarter" idx="1"/>
          </p:nvPr>
        </p:nvSpPr>
        <p:spPr>
          <a:xfrm>
            <a:off x="612775" y="1600200"/>
            <a:ext cx="8153400" cy="4495800"/>
          </a:xfrm>
        </p:spPr>
        <p:txBody>
          <a:bodyPr/>
          <a:lstStyle/>
          <a:p>
            <a:pPr algn="just">
              <a:buFont typeface="Wingdings" pitchFamily="2" charset="2"/>
              <a:buNone/>
            </a:pPr>
            <a:r>
              <a:rPr lang="en-US" sz="2800" smtClean="0">
                <a:cs typeface="Times New Roman" pitchFamily="18" charset="0"/>
              </a:rPr>
              <a:t>Consider the relation:</a:t>
            </a:r>
          </a:p>
          <a:p>
            <a:pPr algn="just">
              <a:buFont typeface="Wingdings" pitchFamily="2" charset="2"/>
              <a:buNone/>
            </a:pPr>
            <a:r>
              <a:rPr lang="en-US" sz="2400" smtClean="0">
                <a:cs typeface="Times New Roman" pitchFamily="18" charset="0"/>
              </a:rPr>
              <a:t>EMP_PROJ ( </a:t>
            </a:r>
            <a:r>
              <a:rPr lang="en-US" sz="2400" u="sng" smtClean="0">
                <a:cs typeface="Times New Roman" pitchFamily="18" charset="0"/>
              </a:rPr>
              <a:t>Emp#, Proj#,</a:t>
            </a:r>
            <a:r>
              <a:rPr lang="en-US" sz="2400" smtClean="0">
                <a:cs typeface="Times New Roman" pitchFamily="18" charset="0"/>
              </a:rPr>
              <a:t> Ename, Pname, No_hours)</a:t>
            </a:r>
          </a:p>
          <a:p>
            <a:pPr algn="just">
              <a:buFont typeface="Wingdings" pitchFamily="2" charset="2"/>
              <a:buNone/>
            </a:pPr>
            <a:r>
              <a:rPr lang="en-US" sz="2800" smtClean="0">
                <a:cs typeface="Times New Roman" pitchFamily="18" charset="0"/>
              </a:rPr>
              <a:t> </a:t>
            </a:r>
          </a:p>
          <a:p>
            <a:pPr algn="just"/>
            <a:r>
              <a:rPr lang="en-US" sz="2800" b="1" smtClean="0">
                <a:cs typeface="Times New Roman" pitchFamily="18" charset="0"/>
              </a:rPr>
              <a:t>Update Anomaly:</a:t>
            </a:r>
            <a:r>
              <a:rPr lang="en-US" sz="2800" smtClean="0">
                <a:cs typeface="Times New Roman" pitchFamily="18" charset="0"/>
              </a:rPr>
              <a:t> Changing the name of  project number P1 from “Billing” to “Customer-Accounting” may cause this update to be made for all 100 employees working on project P1.</a:t>
            </a:r>
            <a:r>
              <a:rPr lang="en-US" sz="2800" smtClean="0"/>
              <a:t> </a:t>
            </a:r>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12775" y="228600"/>
            <a:ext cx="8153400" cy="990600"/>
          </a:xfrm>
        </p:spPr>
        <p:txBody>
          <a:bodyPr>
            <a:normAutofit fontScale="90000"/>
          </a:bodyPr>
          <a:lstStyle/>
          <a:p>
            <a:r>
              <a:rPr lang="en-US" b="1" smtClean="0">
                <a:cs typeface="Times New Roman" pitchFamily="18" charset="0"/>
              </a:rPr>
              <a:t>EXAMPLE OF AN UPDATE ANOMALY (2)</a:t>
            </a:r>
          </a:p>
        </p:txBody>
      </p:sp>
      <p:sp>
        <p:nvSpPr>
          <p:cNvPr id="23556" name="Rectangle 3"/>
          <p:cNvSpPr>
            <a:spLocks noGrp="1" noChangeArrowheads="1"/>
          </p:cNvSpPr>
          <p:nvPr>
            <p:ph sz="quarter" idx="1"/>
          </p:nvPr>
        </p:nvSpPr>
        <p:spPr>
          <a:xfrm>
            <a:off x="612775" y="1600200"/>
            <a:ext cx="8153400" cy="4495800"/>
          </a:xfrm>
        </p:spPr>
        <p:txBody>
          <a:bodyPr/>
          <a:lstStyle/>
          <a:p>
            <a:pPr algn="just"/>
            <a:r>
              <a:rPr lang="en-US" sz="2800" b="1" smtClean="0">
                <a:cs typeface="Times New Roman" pitchFamily="18" charset="0"/>
              </a:rPr>
              <a:t>Insert  Anomaly:</a:t>
            </a:r>
            <a:r>
              <a:rPr lang="en-US" sz="2800" smtClean="0">
                <a:cs typeface="Times New Roman" pitchFamily="18" charset="0"/>
              </a:rPr>
              <a:t> Cannot insert a project unless an employee is assigned to .</a:t>
            </a:r>
          </a:p>
          <a:p>
            <a:pPr algn="just">
              <a:buFont typeface="Wingdings" pitchFamily="2" charset="2"/>
              <a:buNone/>
            </a:pPr>
            <a:r>
              <a:rPr lang="en-US" sz="2800" b="1" smtClean="0">
                <a:cs typeface="Times New Roman" pitchFamily="18" charset="0"/>
              </a:rPr>
              <a:t>      </a:t>
            </a:r>
            <a:r>
              <a:rPr lang="en-US" sz="2800" b="1" i="1" smtClean="0">
                <a:cs typeface="Times New Roman" pitchFamily="18" charset="0"/>
              </a:rPr>
              <a:t>Inversely </a:t>
            </a:r>
            <a:r>
              <a:rPr lang="en-US" sz="2800" smtClean="0">
                <a:cs typeface="Times New Roman" pitchFamily="18" charset="0"/>
              </a:rPr>
              <a:t>- Cannot insert an employee unless an he/she is assigned to a project. </a:t>
            </a:r>
          </a:p>
          <a:p>
            <a:pPr algn="just"/>
            <a:r>
              <a:rPr lang="en-US" sz="2800" smtClean="0">
                <a:cs typeface="Times New Roman" pitchFamily="18" charset="0"/>
              </a:rPr>
              <a:t> </a:t>
            </a:r>
            <a:r>
              <a:rPr lang="en-US" sz="2800" b="1" smtClean="0">
                <a:cs typeface="Times New Roman" pitchFamily="18" charset="0"/>
              </a:rPr>
              <a:t>Delete Anomaly:</a:t>
            </a:r>
            <a:r>
              <a:rPr lang="en-US" sz="2800" smtClean="0">
                <a:cs typeface="Times New Roman" pitchFamily="18" charset="0"/>
              </a:rPr>
              <a:t> When a project is deleted, it will result in deleting all the employees who work on that project. Alternately, if an employee is the sole employee on a project, deleting that employee would result in deleting the corresponding project.</a:t>
            </a:r>
          </a:p>
          <a:p>
            <a:pPr algn="just">
              <a:buFont typeface="Wingdings" pitchFamily="2" charset="2"/>
              <a:buNone/>
            </a:pPr>
            <a:endParaRPr lang="en-US" sz="2800" smtClean="0"/>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dirty="0" smtClean="0"/>
              <a:t>Two </a:t>
            </a:r>
            <a:r>
              <a:rPr lang="en-US" sz="3200" dirty="0"/>
              <a:t>relation schemas suffering from update anomalies</a:t>
            </a:r>
          </a:p>
        </p:txBody>
      </p:sp>
      <p:sp>
        <p:nvSpPr>
          <p:cNvPr id="24581" name="Rectangle 10"/>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24582" name="Picture 9" descr="ch14_elmasri"/>
          <p:cNvPicPr>
            <a:picLocks noChangeAspect="1" noChangeArrowheads="1"/>
          </p:cNvPicPr>
          <p:nvPr/>
        </p:nvPicPr>
        <p:blipFill>
          <a:blip r:embed="rId2"/>
          <a:srcRect/>
          <a:stretch>
            <a:fillRect/>
          </a:stretch>
        </p:blipFill>
        <p:spPr bwMode="auto">
          <a:xfrm>
            <a:off x="762000" y="1828800"/>
            <a:ext cx="7693025" cy="47281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444500"/>
            <a:ext cx="8178800" cy="1143000"/>
          </a:xfrm>
        </p:spPr>
        <p:txBody>
          <a:bodyPr/>
          <a:lstStyle/>
          <a:p>
            <a:r>
              <a:rPr lang="en-US" sz="3200" smtClean="0"/>
              <a:t>Example States for </a:t>
            </a:r>
            <a:r>
              <a:rPr lang="en-US" sz="2800" smtClean="0"/>
              <a:t>EMP_DEPT</a:t>
            </a:r>
            <a:r>
              <a:rPr lang="en-US" sz="3200" smtClean="0"/>
              <a:t> and </a:t>
            </a:r>
            <a:r>
              <a:rPr lang="en-US" sz="2800" smtClean="0"/>
              <a:t>EMP_PROJ</a:t>
            </a:r>
            <a:endParaRPr lang="en-US" smtClean="0"/>
          </a:p>
        </p:txBody>
      </p:sp>
      <p:pic>
        <p:nvPicPr>
          <p:cNvPr id="25604" name="Picture 4" descr="D:\BMP\ch14_elmasri04.bmp"/>
          <p:cNvPicPr>
            <a:picLocks noChangeAspect="1" noChangeArrowheads="1"/>
          </p:cNvPicPr>
          <p:nvPr/>
        </p:nvPicPr>
        <p:blipFill>
          <a:blip r:embed="rId2"/>
          <a:srcRect/>
          <a:stretch>
            <a:fillRect/>
          </a:stretch>
        </p:blipFill>
        <p:spPr bwMode="auto">
          <a:xfrm>
            <a:off x="0" y="451427"/>
            <a:ext cx="9144000" cy="57969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b="1">
                <a:cs typeface="Times New Roman" pitchFamily="18" charset="0"/>
              </a:rPr>
              <a:t>Guideline to Redundant Information in Tuples and Update Anomalies</a:t>
            </a:r>
          </a:p>
        </p:txBody>
      </p:sp>
      <p:sp>
        <p:nvSpPr>
          <p:cNvPr id="26628" name="Rectangle 3"/>
          <p:cNvSpPr>
            <a:spLocks noGrp="1" noChangeArrowheads="1"/>
          </p:cNvSpPr>
          <p:nvPr>
            <p:ph sz="quarter" idx="1"/>
          </p:nvPr>
        </p:nvSpPr>
        <p:spPr>
          <a:xfrm>
            <a:off x="612775" y="1600200"/>
            <a:ext cx="8153400" cy="4495800"/>
          </a:xfrm>
        </p:spPr>
        <p:txBody>
          <a:bodyPr/>
          <a:lstStyle/>
          <a:p>
            <a:pPr algn="just"/>
            <a:r>
              <a:rPr lang="en-US" sz="2800" b="1" smtClean="0">
                <a:cs typeface="Times New Roman" pitchFamily="18" charset="0"/>
              </a:rPr>
              <a:t>GUIDELINE 2: </a:t>
            </a:r>
            <a:r>
              <a:rPr lang="en-US" sz="2800" smtClean="0">
                <a:cs typeface="Times New Roman" pitchFamily="18" charset="0"/>
              </a:rPr>
              <a:t>Design a schema that does not suffer from the insertion, deletion and update anomalies. If there are any present, then note them so that applications can be made to take them into account</a:t>
            </a:r>
            <a:r>
              <a:rPr lang="en-US" smtClean="0"/>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Null Values in </a:t>
            </a:r>
            <a:r>
              <a:rPr lang="en-US" sz="3200" b="1" dirty="0" err="1" smtClean="0">
                <a:cs typeface="Times New Roman" pitchFamily="18" charset="0"/>
              </a:rPr>
              <a:t>Tuples</a:t>
            </a:r>
            <a:r>
              <a:rPr lang="en-US" dirty="0" smtClean="0"/>
              <a:t> </a:t>
            </a:r>
          </a:p>
        </p:txBody>
      </p:sp>
      <p:sp>
        <p:nvSpPr>
          <p:cNvPr id="27652" name="Rectangle 3"/>
          <p:cNvSpPr>
            <a:spLocks noGrp="1" noChangeArrowheads="1"/>
          </p:cNvSpPr>
          <p:nvPr>
            <p:ph sz="quarter" idx="1"/>
          </p:nvPr>
        </p:nvSpPr>
        <p:spPr>
          <a:xfrm>
            <a:off x="612775" y="1600200"/>
            <a:ext cx="8153400" cy="4495800"/>
          </a:xfrm>
        </p:spPr>
        <p:txBody>
          <a:bodyPr/>
          <a:lstStyle/>
          <a:p>
            <a:pPr algn="just">
              <a:lnSpc>
                <a:spcPct val="90000"/>
              </a:lnSpc>
              <a:buFont typeface="Wingdings" pitchFamily="2" charset="2"/>
              <a:buNone/>
            </a:pPr>
            <a:r>
              <a:rPr lang="en-US" sz="2800" b="1" smtClean="0">
                <a:cs typeface="Times New Roman" pitchFamily="18" charset="0"/>
              </a:rPr>
              <a:t>GUIDELINE 3: </a:t>
            </a:r>
            <a:r>
              <a:rPr lang="en-US" sz="2800" smtClean="0">
                <a:cs typeface="Times New Roman" pitchFamily="18" charset="0"/>
              </a:rPr>
              <a:t>Relations should be designed such that their tuples will have as few NULL values as possible</a:t>
            </a:r>
          </a:p>
          <a:p>
            <a:pPr algn="just">
              <a:lnSpc>
                <a:spcPct val="90000"/>
              </a:lnSpc>
            </a:pPr>
            <a:r>
              <a:rPr lang="en-US" sz="2800" smtClean="0">
                <a:cs typeface="Times New Roman" pitchFamily="18" charset="0"/>
              </a:rPr>
              <a:t> Attributes that are NULL frequently could be placed in separate relations (with the primary key)</a:t>
            </a:r>
          </a:p>
          <a:p>
            <a:pPr algn="just">
              <a:lnSpc>
                <a:spcPct val="90000"/>
              </a:lnSpc>
            </a:pPr>
            <a:r>
              <a:rPr lang="en-US" sz="2800" smtClean="0">
                <a:cs typeface="Times New Roman" pitchFamily="18" charset="0"/>
              </a:rPr>
              <a:t> Reasons for nulls:</a:t>
            </a:r>
          </a:p>
          <a:p>
            <a:pPr lvl="1" algn="just">
              <a:lnSpc>
                <a:spcPct val="90000"/>
              </a:lnSpc>
            </a:pPr>
            <a:r>
              <a:rPr lang="en-US" sz="2400" smtClean="0">
                <a:cs typeface="Times New Roman" pitchFamily="18" charset="0"/>
              </a:rPr>
              <a:t>attribute not applicable or invalid</a:t>
            </a:r>
          </a:p>
          <a:p>
            <a:pPr lvl="1" algn="just">
              <a:lnSpc>
                <a:spcPct val="90000"/>
              </a:lnSpc>
            </a:pPr>
            <a:r>
              <a:rPr lang="en-US" sz="2400" smtClean="0">
                <a:cs typeface="Times New Roman" pitchFamily="18" charset="0"/>
              </a:rPr>
              <a:t>attribute value unknown  (may exist)</a:t>
            </a:r>
          </a:p>
          <a:p>
            <a:pPr lvl="1" algn="just">
              <a:lnSpc>
                <a:spcPct val="90000"/>
              </a:lnSpc>
            </a:pPr>
            <a:r>
              <a:rPr lang="en-US" sz="2400" smtClean="0">
                <a:cs typeface="Times New Roman" pitchFamily="18" charset="0"/>
              </a:rPr>
              <a:t>value known to exist, but unavailable</a:t>
            </a:r>
            <a:r>
              <a:rPr lang="en-US" sz="2400" smtClean="0"/>
              <a:t> </a:t>
            </a:r>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Spurious </a:t>
            </a:r>
            <a:r>
              <a:rPr lang="en-US" sz="3200" b="1" dirty="0" err="1" smtClean="0">
                <a:cs typeface="Times New Roman" pitchFamily="18" charset="0"/>
              </a:rPr>
              <a:t>Tuples</a:t>
            </a:r>
            <a:r>
              <a:rPr lang="en-US" dirty="0" smtClean="0"/>
              <a:t> </a:t>
            </a:r>
          </a:p>
        </p:txBody>
      </p:sp>
      <p:sp>
        <p:nvSpPr>
          <p:cNvPr id="28676" name="Rectangle 3"/>
          <p:cNvSpPr>
            <a:spLocks noGrp="1" noChangeArrowheads="1"/>
          </p:cNvSpPr>
          <p:nvPr>
            <p:ph sz="quarter" idx="1"/>
          </p:nvPr>
        </p:nvSpPr>
        <p:spPr>
          <a:xfrm>
            <a:off x="612775" y="1600200"/>
            <a:ext cx="8153400" cy="4495800"/>
          </a:xfrm>
        </p:spPr>
        <p:txBody>
          <a:bodyPr/>
          <a:lstStyle/>
          <a:p>
            <a:pPr algn="just">
              <a:lnSpc>
                <a:spcPct val="90000"/>
              </a:lnSpc>
            </a:pPr>
            <a:r>
              <a:rPr lang="en-US" sz="2800" smtClean="0">
                <a:cs typeface="Times New Roman" pitchFamily="18" charset="0"/>
              </a:rPr>
              <a:t>Bad designs for a relational database may result in erroneous results for certain JOIN operations</a:t>
            </a:r>
          </a:p>
          <a:p>
            <a:pPr algn="just">
              <a:lnSpc>
                <a:spcPct val="90000"/>
              </a:lnSpc>
            </a:pPr>
            <a:r>
              <a:rPr lang="en-US" sz="2800" smtClean="0">
                <a:cs typeface="Times New Roman" pitchFamily="18" charset="0"/>
              </a:rPr>
              <a:t>The "lossless join" property is used to guarantee meaningful results for join operations</a:t>
            </a:r>
            <a:r>
              <a:rPr lang="en-US" sz="2800" smtClean="0"/>
              <a:t> </a:t>
            </a:r>
          </a:p>
          <a:p>
            <a:pPr algn="just">
              <a:lnSpc>
                <a:spcPct val="90000"/>
              </a:lnSpc>
              <a:buFont typeface="Wingdings" pitchFamily="2" charset="2"/>
              <a:buNone/>
            </a:pPr>
            <a:endParaRPr lang="en-US" sz="2800" smtClean="0"/>
          </a:p>
          <a:p>
            <a:pPr algn="just">
              <a:lnSpc>
                <a:spcPct val="90000"/>
              </a:lnSpc>
              <a:buFont typeface="Wingdings" pitchFamily="2" charset="2"/>
              <a:buNone/>
            </a:pPr>
            <a:r>
              <a:rPr lang="en-US" sz="2800" b="1" smtClean="0">
                <a:cs typeface="Times New Roman" pitchFamily="18" charset="0"/>
              </a:rPr>
              <a:t>GUIDELINE 4: </a:t>
            </a:r>
            <a:r>
              <a:rPr lang="en-US" sz="2800" smtClean="0">
                <a:cs typeface="Times New Roman" pitchFamily="18" charset="0"/>
              </a:rPr>
              <a:t>The relations should be designed to satisfy the lossless join condition. No spurious tuples should be generated by doing a natural-join of any relations.</a:t>
            </a:r>
          </a:p>
          <a:p>
            <a:pPr algn="just">
              <a:lnSpc>
                <a:spcPct val="90000"/>
              </a:lnSpc>
              <a:buFont typeface="Wingdings" pitchFamily="2" charset="2"/>
              <a:buNone/>
            </a:pPr>
            <a:endParaRPr lang="en-US" sz="28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Spurious Tuples (2)</a:t>
            </a:r>
          </a:p>
        </p:txBody>
      </p:sp>
      <p:sp>
        <p:nvSpPr>
          <p:cNvPr id="29700" name="Rectangle 3"/>
          <p:cNvSpPr>
            <a:spLocks noGrp="1" noChangeArrowheads="1"/>
          </p:cNvSpPr>
          <p:nvPr>
            <p:ph sz="quarter" idx="1"/>
          </p:nvPr>
        </p:nvSpPr>
        <p:spPr>
          <a:xfrm>
            <a:off x="685800" y="1981200"/>
            <a:ext cx="8153400" cy="4114800"/>
          </a:xfrm>
        </p:spPr>
        <p:txBody>
          <a:bodyPr/>
          <a:lstStyle/>
          <a:p>
            <a:pPr marL="609600" indent="-609600" algn="just">
              <a:buFont typeface="Wingdings" pitchFamily="2" charset="2"/>
              <a:buNone/>
            </a:pPr>
            <a:r>
              <a:rPr lang="en-US" dirty="0" smtClean="0">
                <a:cs typeface="Times New Roman" pitchFamily="18" charset="0"/>
              </a:rPr>
              <a:t> </a:t>
            </a:r>
            <a:r>
              <a:rPr lang="en-US" sz="2800" dirty="0" smtClean="0">
                <a:cs typeface="Times New Roman" pitchFamily="18" charset="0"/>
              </a:rPr>
              <a:t>There are two important properties of decompositions: </a:t>
            </a:r>
          </a:p>
          <a:p>
            <a:pPr marL="609600" indent="-609600" algn="just">
              <a:buFont typeface="Wingdings" pitchFamily="2" charset="2"/>
              <a:buAutoNum type="alphaLcParenBoth"/>
            </a:pPr>
            <a:r>
              <a:rPr lang="en-US" sz="2800" dirty="0" smtClean="0">
                <a:cs typeface="Times New Roman" pitchFamily="18" charset="0"/>
              </a:rPr>
              <a:t>non-additive or </a:t>
            </a:r>
            <a:r>
              <a:rPr lang="en-US" sz="2800" dirty="0" err="1" smtClean="0">
                <a:cs typeface="Times New Roman" pitchFamily="18" charset="0"/>
              </a:rPr>
              <a:t>losslessness</a:t>
            </a:r>
            <a:r>
              <a:rPr lang="en-US" sz="2800" dirty="0" smtClean="0">
                <a:cs typeface="Times New Roman" pitchFamily="18" charset="0"/>
              </a:rPr>
              <a:t> of the corresponding join</a:t>
            </a:r>
          </a:p>
          <a:p>
            <a:pPr marL="609600" indent="-609600" algn="just">
              <a:buFont typeface="Wingdings" pitchFamily="2" charset="2"/>
              <a:buAutoNum type="alphaLcParenBoth"/>
            </a:pPr>
            <a:r>
              <a:rPr lang="en-US" sz="2800" dirty="0" smtClean="0">
                <a:cs typeface="Times New Roman" pitchFamily="18" charset="0"/>
              </a:rPr>
              <a:t>preservation of the functional dependencies. </a:t>
            </a:r>
          </a:p>
          <a:p>
            <a:pPr marL="609600" indent="-609600" algn="just">
              <a:buFont typeface="Wingdings" pitchFamily="2" charset="2"/>
              <a:buNone/>
            </a:pPr>
            <a:endParaRPr lang="en-US" sz="2800" dirty="0" smtClean="0">
              <a:cs typeface="Times New Roman" pitchFamily="18" charset="0"/>
            </a:endParaRPr>
          </a:p>
          <a:p>
            <a:pPr marL="609600" indent="-609600" algn="just">
              <a:buFont typeface="Wingdings" pitchFamily="2" charset="2"/>
              <a:buNone/>
            </a:pPr>
            <a:r>
              <a:rPr lang="en-US" sz="2800" dirty="0" smtClean="0">
                <a:cs typeface="Times New Roman" pitchFamily="18" charset="0"/>
              </a:rPr>
              <a:t>Note that property (a) is extremely important and </a:t>
            </a:r>
            <a:r>
              <a:rPr lang="en-US" sz="2800" i="1" dirty="0" smtClean="0">
                <a:cs typeface="Times New Roman" pitchFamily="18" charset="0"/>
              </a:rPr>
              <a:t>cannot</a:t>
            </a:r>
            <a:r>
              <a:rPr lang="en-US" sz="2800" dirty="0" smtClean="0">
                <a:cs typeface="Times New Roman" pitchFamily="18" charset="0"/>
              </a:rPr>
              <a:t> be sacrificed. Property (b) is less stringent and may be sacrificed.</a:t>
            </a:r>
            <a:endParaRPr lang="en-US" sz="28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Functional Dependencies (1)</a:t>
            </a:r>
            <a:r>
              <a:rPr lang="en-US" dirty="0" smtClean="0"/>
              <a:t> </a:t>
            </a:r>
          </a:p>
        </p:txBody>
      </p:sp>
      <p:sp>
        <p:nvSpPr>
          <p:cNvPr id="30724" name="Rectangle 3"/>
          <p:cNvSpPr>
            <a:spLocks noGrp="1" noChangeArrowheads="1"/>
          </p:cNvSpPr>
          <p:nvPr>
            <p:ph sz="quarter" idx="1"/>
          </p:nvPr>
        </p:nvSpPr>
        <p:spPr>
          <a:xfrm>
            <a:off x="685800" y="1930400"/>
            <a:ext cx="7772400" cy="4114800"/>
          </a:xfrm>
        </p:spPr>
        <p:txBody>
          <a:bodyPr>
            <a:normAutofit lnSpcReduction="10000"/>
          </a:bodyPr>
          <a:lstStyle/>
          <a:p>
            <a:pPr algn="just">
              <a:lnSpc>
                <a:spcPct val="90000"/>
              </a:lnSpc>
            </a:pPr>
            <a:r>
              <a:rPr lang="en-US" sz="2800" smtClean="0">
                <a:cs typeface="Times New Roman" pitchFamily="18" charset="0"/>
              </a:rPr>
              <a:t>Functional dependencies (FDs) are used to specify </a:t>
            </a:r>
            <a:r>
              <a:rPr lang="en-US" sz="2800" i="1" smtClean="0">
                <a:cs typeface="Times New Roman" pitchFamily="18" charset="0"/>
              </a:rPr>
              <a:t>formal measures</a:t>
            </a:r>
            <a:r>
              <a:rPr lang="en-US" sz="2800" smtClean="0">
                <a:cs typeface="Times New Roman" pitchFamily="18" charset="0"/>
              </a:rPr>
              <a:t>  of the "goodness" of relational designs</a:t>
            </a:r>
          </a:p>
          <a:p>
            <a:pPr algn="just">
              <a:lnSpc>
                <a:spcPct val="90000"/>
              </a:lnSpc>
            </a:pPr>
            <a:r>
              <a:rPr lang="en-US" sz="2800" smtClean="0">
                <a:cs typeface="Times New Roman" pitchFamily="18" charset="0"/>
              </a:rPr>
              <a:t>FDs and keys are used to define </a:t>
            </a:r>
            <a:r>
              <a:rPr lang="en-US" sz="2800" b="1" smtClean="0">
                <a:cs typeface="Times New Roman" pitchFamily="18" charset="0"/>
              </a:rPr>
              <a:t>normal forms</a:t>
            </a:r>
            <a:r>
              <a:rPr lang="en-US" sz="2800" smtClean="0">
                <a:cs typeface="Times New Roman" pitchFamily="18" charset="0"/>
              </a:rPr>
              <a:t> for relations</a:t>
            </a:r>
          </a:p>
          <a:p>
            <a:pPr algn="just">
              <a:lnSpc>
                <a:spcPct val="90000"/>
              </a:lnSpc>
            </a:pPr>
            <a:r>
              <a:rPr lang="en-US" sz="2800" smtClean="0">
                <a:cs typeface="Times New Roman" pitchFamily="18" charset="0"/>
              </a:rPr>
              <a:t>FDs are </a:t>
            </a:r>
            <a:r>
              <a:rPr lang="en-US" sz="2800" b="1" smtClean="0">
                <a:cs typeface="Times New Roman" pitchFamily="18" charset="0"/>
              </a:rPr>
              <a:t>constraints</a:t>
            </a:r>
            <a:r>
              <a:rPr lang="en-US" sz="2800" smtClean="0">
                <a:cs typeface="Times New Roman" pitchFamily="18" charset="0"/>
              </a:rPr>
              <a:t> that are derived from the </a:t>
            </a:r>
            <a:r>
              <a:rPr lang="en-US" sz="2800" i="1" smtClean="0">
                <a:cs typeface="Times New Roman" pitchFamily="18" charset="0"/>
              </a:rPr>
              <a:t>meaning</a:t>
            </a:r>
            <a:r>
              <a:rPr lang="en-US" sz="2800" smtClean="0">
                <a:cs typeface="Times New Roman" pitchFamily="18" charset="0"/>
              </a:rPr>
              <a:t>  and </a:t>
            </a:r>
            <a:r>
              <a:rPr lang="en-US" sz="2800" i="1" smtClean="0">
                <a:cs typeface="Times New Roman" pitchFamily="18" charset="0"/>
              </a:rPr>
              <a:t>interrelationships</a:t>
            </a:r>
            <a:r>
              <a:rPr lang="en-US" sz="2800" smtClean="0">
                <a:cs typeface="Times New Roman" pitchFamily="18" charset="0"/>
              </a:rPr>
              <a:t>  of the data attributes</a:t>
            </a:r>
          </a:p>
          <a:p>
            <a:pPr algn="just">
              <a:lnSpc>
                <a:spcPct val="90000"/>
              </a:lnSpc>
            </a:pPr>
            <a:r>
              <a:rPr lang="en-US" sz="2800" smtClean="0">
                <a:cs typeface="Times New Roman" pitchFamily="18" charset="0"/>
              </a:rPr>
              <a:t>A set of attributes X </a:t>
            </a:r>
            <a:r>
              <a:rPr lang="en-US" sz="2800" i="1" smtClean="0">
                <a:cs typeface="Times New Roman" pitchFamily="18" charset="0"/>
              </a:rPr>
              <a:t>functionally determines</a:t>
            </a:r>
            <a:r>
              <a:rPr lang="en-US" sz="2800" smtClean="0">
                <a:cs typeface="Times New Roman" pitchFamily="18" charset="0"/>
              </a:rPr>
              <a:t>  a set of attributes Y if the value of X determines a unique value for Y</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Functional Dependencies (2)</a:t>
            </a:r>
          </a:p>
        </p:txBody>
      </p:sp>
      <p:sp>
        <p:nvSpPr>
          <p:cNvPr id="31748" name="Rectangle 3"/>
          <p:cNvSpPr>
            <a:spLocks noGrp="1" noChangeArrowheads="1"/>
          </p:cNvSpPr>
          <p:nvPr>
            <p:ph sz="quarter" idx="1"/>
          </p:nvPr>
        </p:nvSpPr>
        <p:spPr>
          <a:xfrm>
            <a:off x="612775" y="1600200"/>
            <a:ext cx="8153400" cy="4495800"/>
          </a:xfrm>
        </p:spPr>
        <p:txBody>
          <a:bodyPr/>
          <a:lstStyle/>
          <a:p>
            <a:r>
              <a:rPr lang="en-US" sz="2400" smtClean="0">
                <a:cs typeface="Times New Roman" pitchFamily="18" charset="0"/>
              </a:rPr>
              <a:t>X </a:t>
            </a:r>
            <a:r>
              <a:rPr lang="en-US" sz="2400" smtClean="0">
                <a:latin typeface="BostonII" charset="0"/>
                <a:cs typeface="Times New Roman" pitchFamily="18" charset="0"/>
              </a:rPr>
              <a:t>-&gt; </a:t>
            </a:r>
            <a:r>
              <a:rPr lang="en-US" sz="2400" smtClean="0">
                <a:cs typeface="Times New Roman" pitchFamily="18" charset="0"/>
              </a:rPr>
              <a:t>Y holds if whenever two tuples have the same value for X, they </a:t>
            </a:r>
            <a:r>
              <a:rPr lang="en-US" sz="2400" i="1" smtClean="0">
                <a:cs typeface="Times New Roman" pitchFamily="18" charset="0"/>
              </a:rPr>
              <a:t>must have</a:t>
            </a:r>
            <a:r>
              <a:rPr lang="en-US" sz="2400" smtClean="0">
                <a:cs typeface="Times New Roman" pitchFamily="18" charset="0"/>
              </a:rPr>
              <a:t>  the same value for Y</a:t>
            </a:r>
          </a:p>
          <a:p>
            <a:r>
              <a:rPr lang="en-US" sz="2400" smtClean="0">
                <a:cs typeface="Times New Roman" pitchFamily="18" charset="0"/>
              </a:rPr>
              <a:t>For any two tuples t1 and t2 in any relation instance r(R): </a:t>
            </a:r>
            <a:r>
              <a:rPr lang="en-US" sz="2400" i="1" smtClean="0">
                <a:cs typeface="Times New Roman" pitchFamily="18" charset="0"/>
              </a:rPr>
              <a:t>If</a:t>
            </a:r>
            <a:r>
              <a:rPr lang="en-US" sz="2400" smtClean="0">
                <a:cs typeface="Times New Roman" pitchFamily="18" charset="0"/>
              </a:rPr>
              <a:t>  t1[X]=t2[X], </a:t>
            </a:r>
            <a:r>
              <a:rPr lang="en-US" sz="2400" i="1" smtClean="0">
                <a:cs typeface="Times New Roman" pitchFamily="18" charset="0"/>
              </a:rPr>
              <a:t>then</a:t>
            </a:r>
            <a:r>
              <a:rPr lang="en-US" sz="2400" smtClean="0">
                <a:cs typeface="Times New Roman" pitchFamily="18" charset="0"/>
              </a:rPr>
              <a:t>  t1[Y]=t2[Y]</a:t>
            </a:r>
          </a:p>
          <a:p>
            <a:r>
              <a:rPr lang="en-US" sz="2400" smtClean="0">
                <a:cs typeface="Times New Roman" pitchFamily="18" charset="0"/>
              </a:rPr>
              <a:t>X </a:t>
            </a:r>
            <a:r>
              <a:rPr lang="en-US" sz="2400" smtClean="0">
                <a:latin typeface="BostonII" charset="0"/>
                <a:cs typeface="Times New Roman" pitchFamily="18" charset="0"/>
              </a:rPr>
              <a:t>-&gt; </a:t>
            </a:r>
            <a:r>
              <a:rPr lang="en-US" sz="2400" smtClean="0">
                <a:cs typeface="Times New Roman" pitchFamily="18" charset="0"/>
              </a:rPr>
              <a:t>Y in R specifies a </a:t>
            </a:r>
            <a:r>
              <a:rPr lang="en-US" sz="2400" i="1" smtClean="0">
                <a:cs typeface="Times New Roman" pitchFamily="18" charset="0"/>
              </a:rPr>
              <a:t>constraint</a:t>
            </a:r>
            <a:r>
              <a:rPr lang="en-US" sz="2400" smtClean="0">
                <a:cs typeface="Times New Roman" pitchFamily="18" charset="0"/>
              </a:rPr>
              <a:t>  on all relation instances r(R)</a:t>
            </a:r>
          </a:p>
          <a:p>
            <a:r>
              <a:rPr lang="en-US" sz="2400" smtClean="0">
                <a:cs typeface="Times New Roman" pitchFamily="18" charset="0"/>
              </a:rPr>
              <a:t>Written as X </a:t>
            </a:r>
            <a:r>
              <a:rPr lang="en-US" sz="2400" smtClean="0">
                <a:latin typeface="BostonII" charset="0"/>
                <a:cs typeface="Times New Roman" pitchFamily="18" charset="0"/>
              </a:rPr>
              <a:t>-&gt; </a:t>
            </a:r>
            <a:r>
              <a:rPr lang="en-US" sz="2400" smtClean="0">
                <a:cs typeface="Times New Roman" pitchFamily="18" charset="0"/>
              </a:rPr>
              <a:t>Y; can be displayed graphically on a relation schema as in Figures.  ( denoted by the arrow:  ).</a:t>
            </a:r>
          </a:p>
          <a:p>
            <a:r>
              <a:rPr lang="en-US" sz="2400" smtClean="0">
                <a:cs typeface="Times New Roman" pitchFamily="18" charset="0"/>
              </a:rPr>
              <a:t>FDs are derived from the real-world constraints on the attributes</a:t>
            </a:r>
            <a:r>
              <a:rPr lang="en-US" sz="2800" smtClean="0"/>
              <a:t> </a:t>
            </a:r>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Examples of FD constraints (1)</a:t>
            </a:r>
            <a:r>
              <a:rPr lang="en-US" smtClean="0"/>
              <a:t> </a:t>
            </a:r>
          </a:p>
        </p:txBody>
      </p:sp>
      <p:sp>
        <p:nvSpPr>
          <p:cNvPr id="32772" name="Rectangle 3"/>
          <p:cNvSpPr>
            <a:spLocks noGrp="1" noChangeArrowheads="1"/>
          </p:cNvSpPr>
          <p:nvPr>
            <p:ph sz="quarter" idx="1"/>
          </p:nvPr>
        </p:nvSpPr>
        <p:spPr>
          <a:xfrm>
            <a:off x="612775" y="1600200"/>
            <a:ext cx="8153400" cy="4495800"/>
          </a:xfrm>
        </p:spPr>
        <p:txBody>
          <a:bodyPr/>
          <a:lstStyle/>
          <a:p>
            <a:pPr>
              <a:lnSpc>
                <a:spcPct val="90000"/>
              </a:lnSpc>
            </a:pPr>
            <a:r>
              <a:rPr lang="en-US" sz="2800" smtClean="0">
                <a:cs typeface="Times New Roman" pitchFamily="18" charset="0"/>
              </a:rPr>
              <a:t>social security number determines employee name</a:t>
            </a:r>
          </a:p>
          <a:p>
            <a:pPr>
              <a:lnSpc>
                <a:spcPct val="90000"/>
              </a:lnSpc>
              <a:buFont typeface="Wingdings" pitchFamily="2" charset="2"/>
              <a:buNone/>
            </a:pPr>
            <a:r>
              <a:rPr lang="en-US" sz="2800" dirty="0" smtClean="0">
                <a:cs typeface="Times New Roman" pitchFamily="18" charset="0"/>
              </a:rPr>
              <a:t>	SSN </a:t>
            </a:r>
            <a:r>
              <a:rPr lang="en-US" sz="2800" dirty="0" smtClean="0">
                <a:latin typeface="BostonII" charset="0"/>
                <a:cs typeface="Times New Roman" pitchFamily="18" charset="0"/>
              </a:rPr>
              <a:t>-&gt; </a:t>
            </a:r>
            <a:r>
              <a:rPr lang="en-US" sz="2800" dirty="0" smtClean="0">
                <a:cs typeface="Times New Roman" pitchFamily="18" charset="0"/>
              </a:rPr>
              <a:t>ENAME</a:t>
            </a:r>
          </a:p>
          <a:p>
            <a:pPr>
              <a:lnSpc>
                <a:spcPct val="90000"/>
              </a:lnSpc>
            </a:pPr>
            <a:r>
              <a:rPr lang="en-US" sz="2800" dirty="0" smtClean="0">
                <a:cs typeface="Times New Roman" pitchFamily="18" charset="0"/>
              </a:rPr>
              <a:t>project number determines project name and location</a:t>
            </a:r>
          </a:p>
          <a:p>
            <a:pPr>
              <a:lnSpc>
                <a:spcPct val="90000"/>
              </a:lnSpc>
              <a:buFont typeface="Wingdings" pitchFamily="2" charset="2"/>
              <a:buNone/>
            </a:pPr>
            <a:r>
              <a:rPr lang="en-US" sz="2800" dirty="0" smtClean="0">
                <a:cs typeface="Times New Roman" pitchFamily="18" charset="0"/>
              </a:rPr>
              <a:t>	PNUMBER </a:t>
            </a:r>
            <a:r>
              <a:rPr lang="en-US" sz="2800" dirty="0" smtClean="0">
                <a:latin typeface="BostonII" charset="0"/>
                <a:cs typeface="Times New Roman" pitchFamily="18" charset="0"/>
              </a:rPr>
              <a:t>-&gt; </a:t>
            </a:r>
            <a:r>
              <a:rPr lang="en-US" sz="2800" dirty="0" smtClean="0">
                <a:cs typeface="Times New Roman" pitchFamily="18" charset="0"/>
              </a:rPr>
              <a:t>{PNAME, PLOCATION}</a:t>
            </a:r>
          </a:p>
          <a:p>
            <a:pPr>
              <a:lnSpc>
                <a:spcPct val="90000"/>
              </a:lnSpc>
            </a:pPr>
            <a:r>
              <a:rPr lang="en-US" sz="2800" dirty="0" smtClean="0">
                <a:cs typeface="Times New Roman" pitchFamily="18" charset="0"/>
              </a:rPr>
              <a:t>employee </a:t>
            </a:r>
            <a:r>
              <a:rPr lang="en-US" sz="2800" dirty="0" err="1" smtClean="0">
                <a:cs typeface="Times New Roman" pitchFamily="18" charset="0"/>
              </a:rPr>
              <a:t>ssn</a:t>
            </a:r>
            <a:r>
              <a:rPr lang="en-US" sz="2800" dirty="0" smtClean="0">
                <a:cs typeface="Times New Roman" pitchFamily="18" charset="0"/>
              </a:rPr>
              <a:t> and project number determines the hours per week that the employee works on the project</a:t>
            </a:r>
          </a:p>
          <a:p>
            <a:pPr>
              <a:lnSpc>
                <a:spcPct val="90000"/>
              </a:lnSpc>
              <a:buFont typeface="Wingdings" pitchFamily="2" charset="2"/>
              <a:buNone/>
            </a:pPr>
            <a:r>
              <a:rPr lang="en-US" sz="2800" dirty="0" smtClean="0">
                <a:cs typeface="Times New Roman" pitchFamily="18" charset="0"/>
              </a:rPr>
              <a:t>	{SSN, PNUMBER} </a:t>
            </a:r>
            <a:r>
              <a:rPr lang="en-US" sz="2800" dirty="0" smtClean="0">
                <a:latin typeface="BostonII" charset="0"/>
                <a:cs typeface="Times New Roman" pitchFamily="18" charset="0"/>
              </a:rPr>
              <a:t>-&gt; </a:t>
            </a:r>
            <a:r>
              <a:rPr lang="en-US" sz="2800" dirty="0" smtClean="0">
                <a:cs typeface="Times New Roman" pitchFamily="18" charset="0"/>
              </a:rPr>
              <a:t>HOURS</a:t>
            </a:r>
            <a:r>
              <a:rPr lang="en-US" sz="2800" dirty="0" smtClean="0"/>
              <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Examples of FD constraints (2)</a:t>
            </a:r>
          </a:p>
        </p:txBody>
      </p:sp>
      <p:sp>
        <p:nvSpPr>
          <p:cNvPr id="33796" name="Rectangle 3"/>
          <p:cNvSpPr>
            <a:spLocks noGrp="1" noChangeArrowheads="1"/>
          </p:cNvSpPr>
          <p:nvPr>
            <p:ph sz="quarter" idx="1"/>
          </p:nvPr>
        </p:nvSpPr>
        <p:spPr>
          <a:xfrm>
            <a:off x="612775" y="1600200"/>
            <a:ext cx="8153400" cy="4495800"/>
          </a:xfrm>
        </p:spPr>
        <p:txBody>
          <a:bodyPr/>
          <a:lstStyle/>
          <a:p>
            <a:r>
              <a:rPr lang="en-US" sz="2800" smtClean="0">
                <a:cs typeface="Times New Roman" pitchFamily="18" charset="0"/>
              </a:rPr>
              <a:t>An FD is a property of the attributes in the schema R</a:t>
            </a:r>
          </a:p>
          <a:p>
            <a:r>
              <a:rPr lang="en-US" sz="2800" smtClean="0">
                <a:cs typeface="Times New Roman" pitchFamily="18" charset="0"/>
              </a:rPr>
              <a:t>The constraint must hold on </a:t>
            </a:r>
            <a:r>
              <a:rPr lang="en-US" sz="2800" i="1" smtClean="0">
                <a:cs typeface="Times New Roman" pitchFamily="18" charset="0"/>
              </a:rPr>
              <a:t>every relation instance</a:t>
            </a:r>
            <a:r>
              <a:rPr lang="en-US" sz="2800" smtClean="0">
                <a:cs typeface="Times New Roman" pitchFamily="18" charset="0"/>
              </a:rPr>
              <a:t>  r(R)</a:t>
            </a:r>
          </a:p>
          <a:p>
            <a:r>
              <a:rPr lang="en-US" sz="2800" smtClean="0">
                <a:cs typeface="Times New Roman" pitchFamily="18" charset="0"/>
              </a:rPr>
              <a:t>If K is a key of R, then K functionally determines all attributes in R (since we never have two distinct tuples with t1[K]=t2[K])</a:t>
            </a:r>
            <a:r>
              <a:rPr lang="en-US" sz="2800" smtClean="0"/>
              <a:t> </a:t>
            </a:r>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Normal Forms Based on Primary Keys</a:t>
            </a:r>
            <a:r>
              <a:rPr lang="en-US" dirty="0" smtClean="0"/>
              <a:t> </a:t>
            </a:r>
          </a:p>
        </p:txBody>
      </p:sp>
      <p:sp>
        <p:nvSpPr>
          <p:cNvPr id="49156" name="Rectangle 3"/>
          <p:cNvSpPr>
            <a:spLocks noGrp="1" noChangeArrowheads="1"/>
          </p:cNvSpPr>
          <p:nvPr>
            <p:ph sz="quarter" idx="1"/>
          </p:nvPr>
        </p:nvSpPr>
        <p:spPr>
          <a:xfrm>
            <a:off x="612775" y="1600200"/>
            <a:ext cx="8153400" cy="4495800"/>
          </a:xfrm>
        </p:spPr>
        <p:txBody>
          <a:bodyPr/>
          <a:lstStyle/>
          <a:p>
            <a:pPr algn="just"/>
            <a:r>
              <a:rPr lang="en-US" sz="2800" dirty="0" smtClean="0">
                <a:cs typeface="Times New Roman" pitchFamily="18" charset="0"/>
              </a:rPr>
              <a:t>Normalization of Relations </a:t>
            </a:r>
          </a:p>
          <a:p>
            <a:pPr algn="just"/>
            <a:r>
              <a:rPr lang="en-US" sz="2800" dirty="0" smtClean="0">
                <a:cs typeface="Times New Roman" pitchFamily="18" charset="0"/>
              </a:rPr>
              <a:t>Practical Use of Normal Forms </a:t>
            </a:r>
          </a:p>
          <a:p>
            <a:pPr algn="just"/>
            <a:r>
              <a:rPr lang="en-US" sz="2800" dirty="0" smtClean="0">
                <a:cs typeface="Times New Roman" pitchFamily="18" charset="0"/>
              </a:rPr>
              <a:t>Definitions of Keys and Attributes Participating in Keys </a:t>
            </a:r>
          </a:p>
          <a:p>
            <a:pPr algn="just"/>
            <a:r>
              <a:rPr lang="en-US" sz="2800" dirty="0" smtClean="0">
                <a:cs typeface="Times New Roman" pitchFamily="18" charset="0"/>
              </a:rPr>
              <a:t>First Normal Form</a:t>
            </a:r>
          </a:p>
          <a:p>
            <a:pPr algn="just"/>
            <a:r>
              <a:rPr lang="en-US" sz="2800" dirty="0" smtClean="0">
                <a:cs typeface="Times New Roman" pitchFamily="18" charset="0"/>
              </a:rPr>
              <a:t>Second Normal Form</a:t>
            </a:r>
          </a:p>
          <a:p>
            <a:pPr algn="just"/>
            <a:r>
              <a:rPr lang="en-US" sz="2800" dirty="0" smtClean="0">
                <a:cs typeface="Times New Roman" pitchFamily="18" charset="0"/>
              </a:rPr>
              <a:t>Third Normal Form</a:t>
            </a:r>
          </a:p>
          <a:p>
            <a:pPr algn="just">
              <a:buFont typeface="Wingdings" pitchFamily="2" charset="2"/>
              <a:buNone/>
            </a:pPr>
            <a:endParaRPr lang="en-US" sz="2800" b="1" dirty="0" smtClean="0"/>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12775" y="228600"/>
            <a:ext cx="8153400" cy="990600"/>
          </a:xfrm>
        </p:spPr>
        <p:txBody>
          <a:bodyPr/>
          <a:lstStyle/>
          <a:p>
            <a:r>
              <a:rPr lang="en-US" sz="3200" dirty="0" smtClean="0">
                <a:cs typeface="Times New Roman" pitchFamily="18" charset="0"/>
              </a:rPr>
              <a:t>Normalization of Relations (1)</a:t>
            </a:r>
          </a:p>
        </p:txBody>
      </p:sp>
      <p:sp>
        <p:nvSpPr>
          <p:cNvPr id="50180" name="Rectangle 3"/>
          <p:cNvSpPr>
            <a:spLocks noGrp="1" noChangeArrowheads="1"/>
          </p:cNvSpPr>
          <p:nvPr>
            <p:ph sz="quarter" idx="1"/>
          </p:nvPr>
        </p:nvSpPr>
        <p:spPr>
          <a:xfrm>
            <a:off x="612775" y="1600200"/>
            <a:ext cx="8153400" cy="4495800"/>
          </a:xfrm>
        </p:spPr>
        <p:txBody>
          <a:bodyPr/>
          <a:lstStyle/>
          <a:p>
            <a:pPr algn="just"/>
            <a:r>
              <a:rPr lang="en-US" sz="2800" b="1" dirty="0" smtClean="0">
                <a:cs typeface="Times New Roman" pitchFamily="18" charset="0"/>
              </a:rPr>
              <a:t>Normalization</a:t>
            </a:r>
            <a:r>
              <a:rPr lang="en-US" sz="2800" dirty="0" smtClean="0">
                <a:cs typeface="Times New Roman" pitchFamily="18" charset="0"/>
              </a:rPr>
              <a:t>: The process of decomposing unsatisfactory "bad" relations by breaking up their attributes into smaller relations</a:t>
            </a:r>
          </a:p>
          <a:p>
            <a:pPr algn="just">
              <a:buFont typeface="Wingdings" pitchFamily="2" charset="2"/>
              <a:buNone/>
            </a:pPr>
            <a:endParaRPr lang="en-US" sz="2800" dirty="0" smtClean="0">
              <a:cs typeface="Times New Roman" pitchFamily="18" charset="0"/>
            </a:endParaRPr>
          </a:p>
          <a:p>
            <a:pPr algn="just"/>
            <a:r>
              <a:rPr lang="en-US" sz="2800" b="1" dirty="0" smtClean="0">
                <a:cs typeface="Times New Roman" pitchFamily="18" charset="0"/>
              </a:rPr>
              <a:t>Normal form</a:t>
            </a:r>
            <a:r>
              <a:rPr lang="en-US" sz="2800" dirty="0" smtClean="0">
                <a:cs typeface="Times New Roman" pitchFamily="18" charset="0"/>
              </a:rPr>
              <a:t>: Condition using keys and FDs of a relation to certify whether a relation schema is in a particular normal form</a:t>
            </a:r>
            <a:r>
              <a:rPr lang="en-US" sz="2800" dirty="0" smtClean="0"/>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12775" y="228600"/>
            <a:ext cx="8153400" cy="990600"/>
          </a:xfrm>
        </p:spPr>
        <p:txBody>
          <a:bodyPr/>
          <a:lstStyle/>
          <a:p>
            <a:r>
              <a:rPr lang="en-US" sz="3200" smtClean="0">
                <a:cs typeface="Times New Roman" pitchFamily="18" charset="0"/>
              </a:rPr>
              <a:t>Normalization of Relations (2)</a:t>
            </a:r>
          </a:p>
        </p:txBody>
      </p:sp>
      <p:sp>
        <p:nvSpPr>
          <p:cNvPr id="51204" name="Rectangle 3"/>
          <p:cNvSpPr>
            <a:spLocks noGrp="1" noChangeArrowheads="1"/>
          </p:cNvSpPr>
          <p:nvPr>
            <p:ph sz="quarter" idx="1"/>
          </p:nvPr>
        </p:nvSpPr>
        <p:spPr>
          <a:xfrm>
            <a:off x="612775" y="1600200"/>
            <a:ext cx="8153400" cy="4495800"/>
          </a:xfrm>
        </p:spPr>
        <p:txBody>
          <a:bodyPr/>
          <a:lstStyle/>
          <a:p>
            <a:pPr algn="just"/>
            <a:r>
              <a:rPr lang="en-US" sz="2800" dirty="0" smtClean="0">
                <a:cs typeface="Times New Roman" pitchFamily="18" charset="0"/>
              </a:rPr>
              <a:t>2NF, 3NF, BCNF based on keys and FDs of a relation schema</a:t>
            </a:r>
          </a:p>
          <a:p>
            <a:pPr algn="just"/>
            <a:r>
              <a:rPr lang="en-US" sz="2800" dirty="0" smtClean="0">
                <a:cs typeface="Times New Roman" pitchFamily="18" charset="0"/>
              </a:rPr>
              <a:t>4NF based on keys, multi-valued dependencies : MVDs; 5NF based on keys, join dependencies : JDs</a:t>
            </a:r>
          </a:p>
          <a:p>
            <a:pPr algn="just"/>
            <a:r>
              <a:rPr lang="en-US" sz="2800" dirty="0" smtClean="0">
                <a:cs typeface="Times New Roman" pitchFamily="18" charset="0"/>
              </a:rPr>
              <a:t>Additional properties may be needed to ensure a good relational design (lossless join, dependency preservation)</a:t>
            </a:r>
            <a:r>
              <a:rPr lang="en-US" dirty="0" smtClean="0"/>
              <a:t> </a:t>
            </a:r>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12775" y="228600"/>
            <a:ext cx="8153400" cy="990600"/>
          </a:xfrm>
        </p:spPr>
        <p:txBody>
          <a:bodyPr/>
          <a:lstStyle/>
          <a:p>
            <a:r>
              <a:rPr lang="en-US" sz="3200" dirty="0" smtClean="0">
                <a:cs typeface="Times New Roman" pitchFamily="18" charset="0"/>
              </a:rPr>
              <a:t>Practical Use of Normal Forms</a:t>
            </a:r>
          </a:p>
        </p:txBody>
      </p:sp>
      <p:sp>
        <p:nvSpPr>
          <p:cNvPr id="53252" name="Rectangle 3"/>
          <p:cNvSpPr>
            <a:spLocks noGrp="1" noChangeArrowheads="1"/>
          </p:cNvSpPr>
          <p:nvPr>
            <p:ph sz="quarter" idx="1"/>
          </p:nvPr>
        </p:nvSpPr>
        <p:spPr>
          <a:xfrm>
            <a:off x="612775" y="1600200"/>
            <a:ext cx="8153400" cy="4495800"/>
          </a:xfrm>
        </p:spPr>
        <p:txBody>
          <a:bodyPr>
            <a:normAutofit lnSpcReduction="10000"/>
          </a:bodyPr>
          <a:lstStyle/>
          <a:p>
            <a:pPr algn="just">
              <a:lnSpc>
                <a:spcPct val="90000"/>
              </a:lnSpc>
            </a:pPr>
            <a:r>
              <a:rPr lang="en-US" sz="2400" b="1" dirty="0" smtClean="0">
                <a:cs typeface="Times New Roman" pitchFamily="18" charset="0"/>
              </a:rPr>
              <a:t>Normalization</a:t>
            </a:r>
            <a:r>
              <a:rPr lang="en-US" sz="2400" dirty="0" smtClean="0">
                <a:cs typeface="Times New Roman" pitchFamily="18" charset="0"/>
              </a:rPr>
              <a:t> is carried out in practice so that the resulting designs are of high quality and meet the desirable properties </a:t>
            </a:r>
          </a:p>
          <a:p>
            <a:pPr algn="just">
              <a:lnSpc>
                <a:spcPct val="90000"/>
              </a:lnSpc>
            </a:pPr>
            <a:endParaRPr lang="en-US" sz="2400" dirty="0" smtClean="0">
              <a:cs typeface="Times New Roman" pitchFamily="18" charset="0"/>
            </a:endParaRPr>
          </a:p>
          <a:p>
            <a:pPr algn="just">
              <a:lnSpc>
                <a:spcPct val="90000"/>
              </a:lnSpc>
            </a:pPr>
            <a:r>
              <a:rPr lang="en-US" sz="2400" dirty="0" smtClean="0">
                <a:cs typeface="Times New Roman" pitchFamily="18" charset="0"/>
              </a:rPr>
              <a:t>The practical utility of these normal forms becomes questionable when the constraints on which they are based are </a:t>
            </a:r>
            <a:r>
              <a:rPr lang="en-US" sz="2400" b="1" dirty="0" smtClean="0">
                <a:cs typeface="Times New Roman" pitchFamily="18" charset="0"/>
              </a:rPr>
              <a:t>hard to understand</a:t>
            </a:r>
            <a:r>
              <a:rPr lang="en-US" sz="2400" dirty="0" smtClean="0">
                <a:cs typeface="Times New Roman" pitchFamily="18" charset="0"/>
              </a:rPr>
              <a:t> or to </a:t>
            </a:r>
            <a:r>
              <a:rPr lang="en-US" sz="2400" b="1" dirty="0" smtClean="0">
                <a:cs typeface="Times New Roman" pitchFamily="18" charset="0"/>
              </a:rPr>
              <a:t>detect</a:t>
            </a:r>
          </a:p>
          <a:p>
            <a:pPr algn="just">
              <a:lnSpc>
                <a:spcPct val="90000"/>
              </a:lnSpc>
            </a:pPr>
            <a:endParaRPr lang="en-US" sz="2400" dirty="0" smtClean="0">
              <a:cs typeface="Times New Roman" pitchFamily="18" charset="0"/>
            </a:endParaRPr>
          </a:p>
          <a:p>
            <a:pPr algn="just">
              <a:lnSpc>
                <a:spcPct val="90000"/>
              </a:lnSpc>
            </a:pPr>
            <a:r>
              <a:rPr lang="en-US" sz="2400" dirty="0" smtClean="0">
                <a:cs typeface="Times New Roman" pitchFamily="18" charset="0"/>
              </a:rPr>
              <a:t>The database designers </a:t>
            </a:r>
            <a:r>
              <a:rPr lang="en-US" sz="2400" b="1" i="1" dirty="0" smtClean="0">
                <a:cs typeface="Times New Roman" pitchFamily="18" charset="0"/>
              </a:rPr>
              <a:t>need not</a:t>
            </a:r>
            <a:r>
              <a:rPr lang="en-US" sz="2400" dirty="0" smtClean="0">
                <a:cs typeface="Times New Roman" pitchFamily="18" charset="0"/>
              </a:rPr>
              <a:t> normalize to the highest possible normal form. (usually up to 3NF, BCNF or 4NF)</a:t>
            </a:r>
          </a:p>
          <a:p>
            <a:pPr algn="just">
              <a:lnSpc>
                <a:spcPct val="90000"/>
              </a:lnSpc>
            </a:pPr>
            <a:endParaRPr lang="en-US" sz="2400" b="1" dirty="0" smtClean="0">
              <a:cs typeface="Times New Roman" pitchFamily="18" charset="0"/>
            </a:endParaRPr>
          </a:p>
          <a:p>
            <a:pPr algn="just">
              <a:lnSpc>
                <a:spcPct val="90000"/>
              </a:lnSpc>
            </a:pPr>
            <a:r>
              <a:rPr lang="en-US" sz="2400" b="1" dirty="0" err="1" smtClean="0">
                <a:cs typeface="Times New Roman" pitchFamily="18" charset="0"/>
              </a:rPr>
              <a:t>Denormalization</a:t>
            </a:r>
            <a:r>
              <a:rPr lang="en-US" sz="2400" b="1" dirty="0" smtClean="0">
                <a:cs typeface="Times New Roman" pitchFamily="18" charset="0"/>
              </a:rPr>
              <a:t>: </a:t>
            </a:r>
            <a:r>
              <a:rPr lang="en-US" sz="2400" dirty="0" smtClean="0">
                <a:cs typeface="Times New Roman" pitchFamily="18" charset="0"/>
              </a:rPr>
              <a:t>the process of storing the join of higher normal form relations as a base relation—which is in a lower normal form</a:t>
            </a:r>
            <a:r>
              <a:rPr lang="en-US" sz="2400" b="1" dirty="0" smtClean="0">
                <a:cs typeface="Times New Roman" pitchFamily="18" charset="0"/>
              </a:rPr>
              <a:t> </a:t>
            </a:r>
            <a:r>
              <a:rPr lang="en-US" sz="2800" dirty="0" smtClean="0">
                <a:cs typeface="Times New Roman" pitchFamily="18" charset="0"/>
              </a:rPr>
              <a:t>  </a:t>
            </a:r>
            <a:r>
              <a:rPr lang="en-US" sz="2800" dirty="0" smtClean="0"/>
              <a: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b="1" dirty="0" smtClean="0">
                <a:cs typeface="Times New Roman" pitchFamily="18" charset="0"/>
              </a:rPr>
              <a:t>Definitions </a:t>
            </a:r>
            <a:r>
              <a:rPr lang="en-US" sz="3200" b="1" dirty="0">
                <a:cs typeface="Times New Roman" pitchFamily="18" charset="0"/>
              </a:rPr>
              <a:t>of Keys and Attributes 	Participating in Keys (1)</a:t>
            </a:r>
          </a:p>
        </p:txBody>
      </p:sp>
      <p:sp>
        <p:nvSpPr>
          <p:cNvPr id="54276" name="Rectangle 3"/>
          <p:cNvSpPr>
            <a:spLocks noGrp="1" noChangeArrowheads="1"/>
          </p:cNvSpPr>
          <p:nvPr>
            <p:ph sz="quarter" idx="1"/>
          </p:nvPr>
        </p:nvSpPr>
        <p:spPr>
          <a:xfrm>
            <a:off x="612775" y="1600200"/>
            <a:ext cx="8153400" cy="4495800"/>
          </a:xfrm>
        </p:spPr>
        <p:txBody>
          <a:bodyPr/>
          <a:lstStyle/>
          <a:p>
            <a:pPr algn="just"/>
            <a:r>
              <a:rPr lang="en-US" sz="2800" smtClean="0">
                <a:cs typeface="Times New Roman" pitchFamily="18" charset="0"/>
              </a:rPr>
              <a:t>A </a:t>
            </a:r>
            <a:r>
              <a:rPr lang="en-US" sz="2800" b="1" dirty="0" err="1" smtClean="0">
                <a:cs typeface="Times New Roman" pitchFamily="18" charset="0"/>
              </a:rPr>
              <a:t>superkey</a:t>
            </a:r>
            <a:r>
              <a:rPr lang="en-US" sz="2800" dirty="0" smtClean="0">
                <a:cs typeface="Times New Roman" pitchFamily="18" charset="0"/>
              </a:rPr>
              <a:t> of a relation schema </a:t>
            </a:r>
            <a:r>
              <a:rPr lang="en-US" sz="2800" i="1" dirty="0" smtClean="0">
                <a:cs typeface="Times New Roman" pitchFamily="18" charset="0"/>
              </a:rPr>
              <a:t>R</a:t>
            </a:r>
            <a:r>
              <a:rPr lang="en-US" sz="2800" dirty="0" smtClean="0">
                <a:cs typeface="Times New Roman" pitchFamily="18" charset="0"/>
              </a:rPr>
              <a:t> = {</a:t>
            </a:r>
            <a:r>
              <a:rPr lang="en-US" sz="2800" i="1" dirty="0" smtClean="0">
                <a:cs typeface="Times New Roman" pitchFamily="18" charset="0"/>
              </a:rPr>
              <a:t>A</a:t>
            </a:r>
            <a:r>
              <a:rPr lang="en-US" sz="2800" baseline="-30000" dirty="0" smtClean="0">
                <a:cs typeface="Times New Roman" pitchFamily="18" charset="0"/>
              </a:rPr>
              <a:t>1</a:t>
            </a:r>
            <a:r>
              <a:rPr lang="en-US" sz="2800" dirty="0" smtClean="0">
                <a:cs typeface="Times New Roman" pitchFamily="18" charset="0"/>
              </a:rPr>
              <a:t>, </a:t>
            </a:r>
            <a:r>
              <a:rPr lang="en-US" sz="2800" i="1" dirty="0" smtClean="0">
                <a:cs typeface="Times New Roman" pitchFamily="18" charset="0"/>
              </a:rPr>
              <a:t>A</a:t>
            </a:r>
            <a:r>
              <a:rPr lang="en-US" sz="2800" baseline="-30000" dirty="0" smtClean="0">
                <a:cs typeface="Times New Roman" pitchFamily="18" charset="0"/>
              </a:rPr>
              <a:t>2</a:t>
            </a:r>
            <a:r>
              <a:rPr lang="en-US" sz="2800" dirty="0" smtClean="0">
                <a:cs typeface="Times New Roman" pitchFamily="18" charset="0"/>
              </a:rPr>
              <a:t>, ...., </a:t>
            </a:r>
            <a:r>
              <a:rPr lang="en-US" sz="2800" i="1" dirty="0" smtClean="0">
                <a:cs typeface="Times New Roman" pitchFamily="18" charset="0"/>
              </a:rPr>
              <a:t>A</a:t>
            </a:r>
            <a:r>
              <a:rPr lang="en-US" sz="2800" baseline="-30000" dirty="0" smtClean="0">
                <a:cs typeface="Times New Roman" pitchFamily="18" charset="0"/>
              </a:rPr>
              <a:t>n</a:t>
            </a:r>
            <a:r>
              <a:rPr lang="en-US" sz="2800" dirty="0" smtClean="0">
                <a:cs typeface="Times New Roman" pitchFamily="18" charset="0"/>
              </a:rPr>
              <a:t>} is a set of attributes </a:t>
            </a:r>
            <a:r>
              <a:rPr lang="en-US" sz="2800" i="1" dirty="0" smtClean="0">
                <a:cs typeface="Times New Roman" pitchFamily="18" charset="0"/>
              </a:rPr>
              <a:t>S</a:t>
            </a:r>
            <a:r>
              <a:rPr lang="en-US" sz="2800" dirty="0" smtClean="0">
                <a:cs typeface="Times New Roman" pitchFamily="18" charset="0"/>
              </a:rPr>
              <a:t> </a:t>
            </a:r>
            <a:r>
              <a:rPr lang="en-US" sz="2800" i="1" u="sng" dirty="0" smtClean="0">
                <a:cs typeface="Times New Roman" pitchFamily="18" charset="0"/>
              </a:rPr>
              <a:t>subset-of</a:t>
            </a:r>
            <a:r>
              <a:rPr lang="en-US" sz="2800" dirty="0" smtClean="0">
                <a:cs typeface="Times New Roman" pitchFamily="18" charset="0"/>
              </a:rPr>
              <a:t> </a:t>
            </a:r>
            <a:r>
              <a:rPr lang="en-US" sz="2800" i="1" dirty="0" smtClean="0">
                <a:cs typeface="Times New Roman" pitchFamily="18" charset="0"/>
              </a:rPr>
              <a:t>R</a:t>
            </a:r>
            <a:r>
              <a:rPr lang="en-US" sz="2800" dirty="0" smtClean="0">
                <a:cs typeface="Times New Roman" pitchFamily="18" charset="0"/>
              </a:rPr>
              <a:t> with the property that no two </a:t>
            </a:r>
            <a:r>
              <a:rPr lang="en-US" sz="2800" dirty="0" err="1" smtClean="0">
                <a:cs typeface="Times New Roman" pitchFamily="18" charset="0"/>
              </a:rPr>
              <a:t>tuples</a:t>
            </a:r>
            <a:r>
              <a:rPr lang="en-US" sz="2800" dirty="0" smtClean="0">
                <a:cs typeface="Times New Roman" pitchFamily="18" charset="0"/>
              </a:rPr>
              <a:t> </a:t>
            </a:r>
            <a:r>
              <a:rPr lang="en-US" sz="2800" i="1" dirty="0" smtClean="0">
                <a:cs typeface="Times New Roman" pitchFamily="18" charset="0"/>
              </a:rPr>
              <a:t>t</a:t>
            </a:r>
            <a:r>
              <a:rPr lang="en-US" sz="2800" baseline="-30000" dirty="0" smtClean="0">
                <a:cs typeface="Times New Roman" pitchFamily="18" charset="0"/>
              </a:rPr>
              <a:t>1</a:t>
            </a:r>
            <a:r>
              <a:rPr lang="en-US" sz="2800" dirty="0" smtClean="0">
                <a:cs typeface="Times New Roman" pitchFamily="18" charset="0"/>
              </a:rPr>
              <a:t> and </a:t>
            </a:r>
            <a:r>
              <a:rPr lang="en-US" sz="2800" i="1" dirty="0" smtClean="0">
                <a:cs typeface="Times New Roman" pitchFamily="18" charset="0"/>
              </a:rPr>
              <a:t>t</a:t>
            </a:r>
            <a:r>
              <a:rPr lang="en-US" sz="2800" baseline="-30000" dirty="0" smtClean="0">
                <a:cs typeface="Times New Roman" pitchFamily="18" charset="0"/>
              </a:rPr>
              <a:t>2</a:t>
            </a:r>
            <a:r>
              <a:rPr lang="en-US" sz="2800" dirty="0" smtClean="0">
                <a:cs typeface="Times New Roman" pitchFamily="18" charset="0"/>
              </a:rPr>
              <a:t> in any legal relation state </a:t>
            </a:r>
            <a:r>
              <a:rPr lang="en-US" sz="2800" i="1" dirty="0" smtClean="0">
                <a:cs typeface="Times New Roman" pitchFamily="18" charset="0"/>
              </a:rPr>
              <a:t>r</a:t>
            </a:r>
            <a:r>
              <a:rPr lang="en-US" sz="2800" dirty="0" smtClean="0">
                <a:cs typeface="Times New Roman" pitchFamily="18" charset="0"/>
              </a:rPr>
              <a:t> of </a:t>
            </a:r>
            <a:r>
              <a:rPr lang="en-US" sz="2800" i="1" dirty="0" smtClean="0">
                <a:cs typeface="Times New Roman" pitchFamily="18" charset="0"/>
              </a:rPr>
              <a:t>R</a:t>
            </a:r>
            <a:r>
              <a:rPr lang="en-US" sz="2800" dirty="0" smtClean="0">
                <a:cs typeface="Times New Roman" pitchFamily="18" charset="0"/>
              </a:rPr>
              <a:t> will have </a:t>
            </a:r>
            <a:r>
              <a:rPr lang="en-US" sz="2800" i="1" dirty="0" smtClean="0">
                <a:cs typeface="Times New Roman" pitchFamily="18" charset="0"/>
              </a:rPr>
              <a:t>t</a:t>
            </a:r>
            <a:r>
              <a:rPr lang="en-US" sz="2800" baseline="-30000" dirty="0" smtClean="0">
                <a:cs typeface="Times New Roman" pitchFamily="18" charset="0"/>
              </a:rPr>
              <a:t>1</a:t>
            </a:r>
            <a:r>
              <a:rPr lang="en-US" sz="2800" dirty="0" smtClean="0">
                <a:cs typeface="Times New Roman" pitchFamily="18" charset="0"/>
              </a:rPr>
              <a:t>[</a:t>
            </a:r>
            <a:r>
              <a:rPr lang="en-US" sz="2800" i="1" dirty="0" smtClean="0">
                <a:cs typeface="Times New Roman" pitchFamily="18" charset="0"/>
              </a:rPr>
              <a:t>S</a:t>
            </a:r>
            <a:r>
              <a:rPr lang="en-US" sz="2800" dirty="0" smtClean="0">
                <a:cs typeface="Times New Roman" pitchFamily="18" charset="0"/>
              </a:rPr>
              <a:t>] = </a:t>
            </a:r>
            <a:r>
              <a:rPr lang="en-US" sz="2800" i="1" dirty="0" smtClean="0">
                <a:cs typeface="Times New Roman" pitchFamily="18" charset="0"/>
              </a:rPr>
              <a:t>t</a:t>
            </a:r>
            <a:r>
              <a:rPr lang="en-US" sz="2800" baseline="-30000" dirty="0" smtClean="0">
                <a:cs typeface="Times New Roman" pitchFamily="18" charset="0"/>
              </a:rPr>
              <a:t>2</a:t>
            </a:r>
            <a:r>
              <a:rPr lang="en-US" sz="2800" dirty="0" smtClean="0">
                <a:cs typeface="Times New Roman" pitchFamily="18" charset="0"/>
              </a:rPr>
              <a:t>[</a:t>
            </a:r>
            <a:r>
              <a:rPr lang="en-US" sz="2800" i="1" dirty="0" smtClean="0">
                <a:cs typeface="Times New Roman" pitchFamily="18" charset="0"/>
              </a:rPr>
              <a:t>S</a:t>
            </a:r>
            <a:r>
              <a:rPr lang="en-US" sz="2800" dirty="0" smtClean="0">
                <a:cs typeface="Times New Roman" pitchFamily="18" charset="0"/>
              </a:rPr>
              <a:t>]</a:t>
            </a:r>
            <a:r>
              <a:rPr lang="en-US" sz="2800" dirty="0" smtClean="0"/>
              <a:t> </a:t>
            </a:r>
          </a:p>
          <a:p>
            <a:pPr algn="just">
              <a:buFont typeface="Wingdings" pitchFamily="2" charset="2"/>
              <a:buNone/>
            </a:pPr>
            <a:endParaRPr lang="en-US" sz="2800" dirty="0" smtClean="0"/>
          </a:p>
          <a:p>
            <a:pPr algn="just"/>
            <a:r>
              <a:rPr lang="en-US" sz="2800" dirty="0" smtClean="0">
                <a:cs typeface="Times New Roman" pitchFamily="18" charset="0"/>
              </a:rPr>
              <a:t>A </a:t>
            </a:r>
            <a:r>
              <a:rPr lang="en-US" sz="2800" b="1" dirty="0" smtClean="0">
                <a:cs typeface="Times New Roman" pitchFamily="18" charset="0"/>
              </a:rPr>
              <a:t>key</a:t>
            </a:r>
            <a:r>
              <a:rPr lang="en-US" sz="2800" dirty="0" smtClean="0">
                <a:cs typeface="Times New Roman" pitchFamily="18" charset="0"/>
              </a:rPr>
              <a:t> </a:t>
            </a:r>
            <a:r>
              <a:rPr lang="en-US" sz="2800" i="1" dirty="0" smtClean="0">
                <a:cs typeface="Times New Roman" pitchFamily="18" charset="0"/>
              </a:rPr>
              <a:t>K</a:t>
            </a:r>
            <a:r>
              <a:rPr lang="en-US" sz="2800" dirty="0" smtClean="0">
                <a:cs typeface="Times New Roman" pitchFamily="18" charset="0"/>
              </a:rPr>
              <a:t> is a </a:t>
            </a:r>
            <a:r>
              <a:rPr lang="en-US" sz="2800" dirty="0" err="1" smtClean="0">
                <a:cs typeface="Times New Roman" pitchFamily="18" charset="0"/>
              </a:rPr>
              <a:t>superkey</a:t>
            </a:r>
            <a:r>
              <a:rPr lang="en-US" sz="2800" dirty="0" smtClean="0">
                <a:cs typeface="Times New Roman" pitchFamily="18" charset="0"/>
              </a:rPr>
              <a:t> with the </a:t>
            </a:r>
            <a:r>
              <a:rPr lang="en-US" sz="2800" i="1" dirty="0" smtClean="0">
                <a:cs typeface="Times New Roman" pitchFamily="18" charset="0"/>
              </a:rPr>
              <a:t>additional property</a:t>
            </a:r>
            <a:r>
              <a:rPr lang="en-US" sz="2800" dirty="0" smtClean="0">
                <a:cs typeface="Times New Roman" pitchFamily="18" charset="0"/>
              </a:rPr>
              <a:t> that removal of any attribute from </a:t>
            </a:r>
            <a:r>
              <a:rPr lang="en-US" sz="2800" i="1" dirty="0" smtClean="0">
                <a:cs typeface="Times New Roman" pitchFamily="18" charset="0"/>
              </a:rPr>
              <a:t>K</a:t>
            </a:r>
            <a:r>
              <a:rPr lang="en-US" sz="2800" dirty="0" smtClean="0">
                <a:cs typeface="Times New Roman" pitchFamily="18" charset="0"/>
              </a:rPr>
              <a:t> will cause </a:t>
            </a:r>
            <a:r>
              <a:rPr lang="en-US" sz="2800" i="1" dirty="0" smtClean="0">
                <a:cs typeface="Times New Roman" pitchFamily="18" charset="0"/>
              </a:rPr>
              <a:t>K</a:t>
            </a:r>
            <a:r>
              <a:rPr lang="en-US" sz="2800" dirty="0" smtClean="0">
                <a:cs typeface="Times New Roman" pitchFamily="18" charset="0"/>
              </a:rPr>
              <a:t> not to be a </a:t>
            </a:r>
            <a:r>
              <a:rPr lang="en-US" sz="2800" dirty="0" err="1" smtClean="0">
                <a:cs typeface="Times New Roman" pitchFamily="18" charset="0"/>
              </a:rPr>
              <a:t>superkey</a:t>
            </a:r>
            <a:r>
              <a:rPr lang="en-US" sz="2800" dirty="0" smtClean="0">
                <a:cs typeface="Times New Roman" pitchFamily="18" charset="0"/>
              </a:rPr>
              <a:t> any more.</a:t>
            </a:r>
            <a:r>
              <a:rPr lang="en-US" sz="2800" dirty="0" smtClean="0"/>
              <a:t> </a:t>
            </a:r>
          </a:p>
          <a:p>
            <a:pPr algn="just">
              <a:buFont typeface="Wingdings" pitchFamily="2" charset="2"/>
              <a:buNone/>
            </a:pPr>
            <a:endParaRPr lang="en-US" sz="28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b="1">
                <a:cs typeface="Times New Roman" pitchFamily="18" charset="0"/>
              </a:rPr>
              <a:t>Definitions of Keys and Attributes 	Participating in Keys (2)</a:t>
            </a:r>
          </a:p>
        </p:txBody>
      </p:sp>
      <p:sp>
        <p:nvSpPr>
          <p:cNvPr id="55300" name="Rectangle 3"/>
          <p:cNvSpPr>
            <a:spLocks noGrp="1" noChangeArrowheads="1"/>
          </p:cNvSpPr>
          <p:nvPr>
            <p:ph sz="quarter" idx="1"/>
          </p:nvPr>
        </p:nvSpPr>
        <p:spPr>
          <a:xfrm>
            <a:off x="612775" y="1600200"/>
            <a:ext cx="8153400" cy="4495800"/>
          </a:xfrm>
        </p:spPr>
        <p:txBody>
          <a:bodyPr/>
          <a:lstStyle/>
          <a:p>
            <a:pPr algn="just"/>
            <a:r>
              <a:rPr lang="en-US" sz="2800" smtClean="0">
                <a:cs typeface="Times New Roman" pitchFamily="18" charset="0"/>
              </a:rPr>
              <a:t>If a relation schema has more than one key, each is called a </a:t>
            </a:r>
            <a:r>
              <a:rPr lang="en-US" sz="2800" b="1" smtClean="0">
                <a:cs typeface="Times New Roman" pitchFamily="18" charset="0"/>
              </a:rPr>
              <a:t>candidate key.</a:t>
            </a:r>
            <a:r>
              <a:rPr lang="en-US" sz="2800" smtClean="0">
                <a:cs typeface="Times New Roman" pitchFamily="18" charset="0"/>
              </a:rPr>
              <a:t> </a:t>
            </a:r>
            <a:r>
              <a:rPr lang="en-US" sz="2800" dirty="0" smtClean="0">
                <a:cs typeface="Times New Roman" pitchFamily="18" charset="0"/>
              </a:rPr>
              <a:t>One of the candidate keys is </a:t>
            </a:r>
            <a:r>
              <a:rPr lang="en-US" sz="2800" i="1" dirty="0" smtClean="0">
                <a:cs typeface="Times New Roman" pitchFamily="18" charset="0"/>
              </a:rPr>
              <a:t>arbitrarily</a:t>
            </a:r>
            <a:r>
              <a:rPr lang="en-US" sz="2800" dirty="0" smtClean="0">
                <a:cs typeface="Times New Roman" pitchFamily="18" charset="0"/>
              </a:rPr>
              <a:t> designated to be the </a:t>
            </a:r>
            <a:r>
              <a:rPr lang="en-US" sz="2800" b="1" dirty="0" smtClean="0">
                <a:cs typeface="Times New Roman" pitchFamily="18" charset="0"/>
              </a:rPr>
              <a:t>primary key,</a:t>
            </a:r>
            <a:r>
              <a:rPr lang="en-US" sz="2800" dirty="0" smtClean="0">
                <a:cs typeface="Times New Roman" pitchFamily="18" charset="0"/>
              </a:rPr>
              <a:t> and the others are called </a:t>
            </a:r>
            <a:r>
              <a:rPr lang="en-US" sz="2800" i="1" dirty="0" smtClean="0">
                <a:cs typeface="Times New Roman" pitchFamily="18" charset="0"/>
              </a:rPr>
              <a:t>secondary keys</a:t>
            </a:r>
            <a:r>
              <a:rPr lang="en-US" sz="2800" dirty="0" smtClean="0">
                <a:cs typeface="Times New Roman" pitchFamily="18" charset="0"/>
              </a:rPr>
              <a:t>.</a:t>
            </a:r>
          </a:p>
          <a:p>
            <a:pPr algn="just"/>
            <a:r>
              <a:rPr lang="en-US" sz="2800" dirty="0" smtClean="0">
                <a:cs typeface="Times New Roman" pitchFamily="18" charset="0"/>
              </a:rPr>
              <a:t>A</a:t>
            </a:r>
            <a:r>
              <a:rPr lang="en-US" sz="2800" b="1" dirty="0" smtClean="0">
                <a:cs typeface="Times New Roman" pitchFamily="18" charset="0"/>
              </a:rPr>
              <a:t> Prime attribute </a:t>
            </a:r>
            <a:r>
              <a:rPr lang="en-US" sz="2800" dirty="0" smtClean="0">
                <a:cs typeface="Times New Roman" pitchFamily="18" charset="0"/>
              </a:rPr>
              <a:t>must be</a:t>
            </a:r>
            <a:r>
              <a:rPr lang="en-US" sz="2800" b="1" dirty="0" smtClean="0">
                <a:cs typeface="Times New Roman" pitchFamily="18" charset="0"/>
              </a:rPr>
              <a:t> </a:t>
            </a:r>
            <a:r>
              <a:rPr lang="en-US" sz="2800" dirty="0" smtClean="0">
                <a:cs typeface="Times New Roman" pitchFamily="18" charset="0"/>
              </a:rPr>
              <a:t>a member of </a:t>
            </a:r>
            <a:r>
              <a:rPr lang="en-US" sz="2800" i="1" dirty="0" smtClean="0">
                <a:cs typeface="Times New Roman" pitchFamily="18" charset="0"/>
              </a:rPr>
              <a:t>some candidate key</a:t>
            </a:r>
          </a:p>
          <a:p>
            <a:pPr algn="just"/>
            <a:r>
              <a:rPr lang="en-US" sz="2800" dirty="0" smtClean="0">
                <a:cs typeface="Times New Roman" pitchFamily="18" charset="0"/>
              </a:rPr>
              <a:t>A</a:t>
            </a:r>
            <a:r>
              <a:rPr lang="en-US" sz="2800" b="1" dirty="0" smtClean="0">
                <a:cs typeface="Times New Roman" pitchFamily="18" charset="0"/>
              </a:rPr>
              <a:t> Nonprime attribute </a:t>
            </a:r>
            <a:r>
              <a:rPr lang="en-US" sz="2800" dirty="0" smtClean="0">
                <a:cs typeface="Times New Roman" pitchFamily="18" charset="0"/>
              </a:rPr>
              <a:t>is not a prime attribute—that is, it is not a member of any candidate key.</a:t>
            </a:r>
            <a:r>
              <a:rPr lang="en-US" sz="2800" b="1" dirty="0" smtClean="0">
                <a:cs typeface="Times New Roman" pitchFamily="18" charset="0"/>
              </a:rPr>
              <a: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First Normal Form</a:t>
            </a:r>
            <a:r>
              <a:rPr lang="en-US" dirty="0" smtClean="0"/>
              <a:t> </a:t>
            </a:r>
          </a:p>
        </p:txBody>
      </p:sp>
      <p:sp>
        <p:nvSpPr>
          <p:cNvPr id="56324" name="Rectangle 3"/>
          <p:cNvSpPr>
            <a:spLocks noGrp="1" noChangeArrowheads="1"/>
          </p:cNvSpPr>
          <p:nvPr>
            <p:ph sz="quarter" idx="1"/>
          </p:nvPr>
        </p:nvSpPr>
        <p:spPr>
          <a:xfrm>
            <a:off x="612775" y="1600200"/>
            <a:ext cx="8153400" cy="4495800"/>
          </a:xfrm>
        </p:spPr>
        <p:txBody>
          <a:bodyPr>
            <a:normAutofit fontScale="92500" lnSpcReduction="10000"/>
          </a:bodyPr>
          <a:lstStyle/>
          <a:p>
            <a:pPr algn="just"/>
            <a:r>
              <a:rPr lang="en-US" dirty="0" smtClean="0">
                <a:cs typeface="Times New Roman" pitchFamily="18" charset="0"/>
              </a:rPr>
              <a:t>Disallows composite attributes, multivalued attributes, and </a:t>
            </a:r>
            <a:r>
              <a:rPr lang="en-US" b="1" dirty="0" smtClean="0">
                <a:cs typeface="Times New Roman" pitchFamily="18" charset="0"/>
              </a:rPr>
              <a:t>nested relations</a:t>
            </a:r>
            <a:r>
              <a:rPr lang="en-US" dirty="0" smtClean="0">
                <a:cs typeface="Times New Roman" pitchFamily="18" charset="0"/>
              </a:rPr>
              <a:t>; attributes whose values </a:t>
            </a:r>
            <a:r>
              <a:rPr lang="en-US" i="1" dirty="0" smtClean="0">
                <a:cs typeface="Times New Roman" pitchFamily="18" charset="0"/>
              </a:rPr>
              <a:t>for an individual tuple</a:t>
            </a:r>
            <a:r>
              <a:rPr lang="en-US" dirty="0" smtClean="0">
                <a:cs typeface="Times New Roman" pitchFamily="18" charset="0"/>
              </a:rPr>
              <a:t> are non-atomic</a:t>
            </a:r>
          </a:p>
          <a:p>
            <a:pPr algn="just">
              <a:buFont typeface="Wingdings" pitchFamily="2" charset="2"/>
              <a:buNone/>
            </a:pPr>
            <a:endParaRPr lang="en-US" dirty="0" smtClean="0">
              <a:cs typeface="Times New Roman" pitchFamily="18" charset="0"/>
            </a:endParaRPr>
          </a:p>
          <a:p>
            <a:pPr algn="just"/>
            <a:r>
              <a:rPr lang="en-US" dirty="0" smtClean="0">
                <a:cs typeface="Times New Roman" pitchFamily="18" charset="0"/>
              </a:rPr>
              <a:t>Considered to be part of the definition of relation</a:t>
            </a:r>
          </a:p>
          <a:p>
            <a:pPr algn="just"/>
            <a:endParaRPr lang="en-US" sz="2800" dirty="0" smtClean="0">
              <a:cs typeface="Times New Roman" pitchFamily="18" charset="0"/>
            </a:endParaRPr>
          </a:p>
          <a:p>
            <a:pPr algn="just"/>
            <a:r>
              <a:rPr lang="en-US" sz="2800" dirty="0" smtClean="0">
                <a:cs typeface="Times New Roman" pitchFamily="18" charset="0"/>
              </a:rPr>
              <a:t>1NF Definition:</a:t>
            </a:r>
          </a:p>
          <a:p>
            <a:pPr lvl="1" algn="just"/>
            <a:r>
              <a:rPr lang="en-US" sz="2500" b="1" dirty="0" smtClean="0">
                <a:cs typeface="Times New Roman" pitchFamily="18" charset="0"/>
              </a:rPr>
              <a:t>It states that the domain of an attribute must include only atomic (simple) values and that the value of any attribute in a tuple must be a single value from the domain of that attribute</a:t>
            </a:r>
            <a:r>
              <a:rPr lang="en-US" sz="2500" b="1" dirty="0" smtClean="0"/>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12775" y="228600"/>
            <a:ext cx="8153400" cy="990600"/>
          </a:xfrm>
        </p:spPr>
        <p:txBody>
          <a:bodyPr/>
          <a:lstStyle/>
          <a:p>
            <a:r>
              <a:rPr lang="en-US" sz="3200" smtClean="0"/>
              <a:t>Normalization into 1NF</a:t>
            </a:r>
          </a:p>
        </p:txBody>
      </p:sp>
      <p:sp>
        <p:nvSpPr>
          <p:cNvPr id="57349" name="Rectangle 6"/>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57350" name="Picture 5" descr="ch14_elmasri"/>
          <p:cNvPicPr>
            <a:picLocks noChangeAspect="1" noChangeArrowheads="1"/>
          </p:cNvPicPr>
          <p:nvPr/>
        </p:nvPicPr>
        <p:blipFill>
          <a:blip r:embed="rId2"/>
          <a:srcRect/>
          <a:stretch>
            <a:fillRect/>
          </a:stretch>
        </p:blipFill>
        <p:spPr bwMode="auto">
          <a:xfrm>
            <a:off x="1447800" y="1587500"/>
            <a:ext cx="65151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4" name="Picture 7"/>
          <p:cNvPicPr>
            <a:picLocks noChangeAspect="1" noChangeArrowheads="1"/>
          </p:cNvPicPr>
          <p:nvPr/>
        </p:nvPicPr>
        <p:blipFill>
          <a:blip r:embed="rId2"/>
          <a:srcRect/>
          <a:stretch>
            <a:fillRect/>
          </a:stretch>
        </p:blipFill>
        <p:spPr bwMode="auto">
          <a:xfrm>
            <a:off x="609600" y="1600200"/>
            <a:ext cx="8229600" cy="4711588"/>
          </a:xfrm>
          <a:prstGeom prst="rect">
            <a:avLst/>
          </a:prstGeom>
          <a:noFill/>
          <a:ln w="9525">
            <a:noFill/>
            <a:miter lim="800000"/>
            <a:headEnd/>
            <a:tailEnd/>
          </a:ln>
        </p:spPr>
      </p:pic>
      <p:sp>
        <p:nvSpPr>
          <p:cNvPr id="58370" name="Rectangle 1026"/>
          <p:cNvSpPr>
            <a:spLocks noGrp="1" noChangeArrowheads="1"/>
          </p:cNvSpPr>
          <p:nvPr>
            <p:ph type="title"/>
          </p:nvPr>
        </p:nvSpPr>
        <p:spPr>
          <a:xfrm>
            <a:off x="612775" y="228600"/>
            <a:ext cx="8153400" cy="990600"/>
          </a:xfrm>
        </p:spPr>
        <p:txBody>
          <a:bodyPr/>
          <a:lstStyle/>
          <a:p>
            <a:r>
              <a:rPr lang="en-US" sz="3200" smtClean="0"/>
              <a:t>Normalization nested relations into 1NF</a:t>
            </a:r>
          </a:p>
        </p:txBody>
      </p:sp>
      <p:sp>
        <p:nvSpPr>
          <p:cNvPr id="58373" name="Rectangle 1030"/>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84288" y="406400"/>
            <a:ext cx="7173912" cy="1143000"/>
          </a:xfrm>
        </p:spPr>
        <p:txBody>
          <a:bodyPr/>
          <a:lstStyle/>
          <a:p>
            <a:r>
              <a:rPr lang="en-US" sz="3200" b="1" dirty="0" smtClean="0">
                <a:cs typeface="Times New Roman" pitchFamily="18" charset="0"/>
              </a:rPr>
              <a:t>Second Normal Form (1)</a:t>
            </a:r>
            <a:r>
              <a:rPr lang="en-US" dirty="0" smtClean="0"/>
              <a:t> </a:t>
            </a:r>
          </a:p>
        </p:txBody>
      </p:sp>
      <p:sp>
        <p:nvSpPr>
          <p:cNvPr id="59396" name="Rectangle 3"/>
          <p:cNvSpPr>
            <a:spLocks noGrp="1" noChangeArrowheads="1"/>
          </p:cNvSpPr>
          <p:nvPr>
            <p:ph sz="quarter" idx="1"/>
          </p:nvPr>
        </p:nvSpPr>
        <p:spPr>
          <a:xfrm>
            <a:off x="685800" y="1549400"/>
            <a:ext cx="7772400" cy="4533900"/>
          </a:xfrm>
        </p:spPr>
        <p:txBody>
          <a:bodyPr/>
          <a:lstStyle/>
          <a:p>
            <a:pPr algn="just">
              <a:lnSpc>
                <a:spcPct val="90000"/>
              </a:lnSpc>
            </a:pPr>
            <a:r>
              <a:rPr lang="en-US" sz="2400" dirty="0" smtClean="0">
                <a:cs typeface="Times New Roman" pitchFamily="18" charset="0"/>
              </a:rPr>
              <a:t>Uses the concepts of </a:t>
            </a:r>
            <a:r>
              <a:rPr lang="en-US" sz="2400" b="1" dirty="0" smtClean="0">
                <a:cs typeface="Times New Roman" pitchFamily="18" charset="0"/>
              </a:rPr>
              <a:t>FD</a:t>
            </a:r>
            <a:r>
              <a:rPr lang="en-US" sz="2400" dirty="0" smtClean="0">
                <a:cs typeface="Times New Roman" pitchFamily="18" charset="0"/>
              </a:rPr>
              <a:t>s, </a:t>
            </a:r>
            <a:r>
              <a:rPr lang="en-US" sz="2400" b="1" dirty="0" smtClean="0">
                <a:cs typeface="Times New Roman" pitchFamily="18" charset="0"/>
              </a:rPr>
              <a:t>primary key</a:t>
            </a:r>
          </a:p>
          <a:p>
            <a:pPr algn="just">
              <a:lnSpc>
                <a:spcPct val="90000"/>
              </a:lnSpc>
              <a:buFont typeface="Wingdings" pitchFamily="2" charset="2"/>
              <a:buNone/>
            </a:pPr>
            <a:r>
              <a:rPr lang="en-US" sz="2800" u="sng" dirty="0" smtClean="0">
                <a:cs typeface="Times New Roman" pitchFamily="18" charset="0"/>
              </a:rPr>
              <a:t>Definitions:</a:t>
            </a:r>
            <a:endParaRPr lang="en-US" sz="2800" dirty="0" smtClean="0">
              <a:cs typeface="Times New Roman" pitchFamily="18" charset="0"/>
            </a:endParaRPr>
          </a:p>
          <a:p>
            <a:pPr algn="just">
              <a:lnSpc>
                <a:spcPct val="90000"/>
              </a:lnSpc>
            </a:pPr>
            <a:r>
              <a:rPr lang="en-US" sz="2800" b="1" dirty="0" smtClean="0">
                <a:cs typeface="Times New Roman" pitchFamily="18" charset="0"/>
              </a:rPr>
              <a:t>Prime attribute</a:t>
            </a:r>
            <a:r>
              <a:rPr lang="en-US" sz="2800" dirty="0" smtClean="0">
                <a:cs typeface="Times New Roman" pitchFamily="18" charset="0"/>
              </a:rPr>
              <a:t> - attribute that is member of the primary key K</a:t>
            </a:r>
          </a:p>
          <a:p>
            <a:pPr algn="just">
              <a:lnSpc>
                <a:spcPct val="90000"/>
              </a:lnSpc>
            </a:pPr>
            <a:r>
              <a:rPr lang="en-US" sz="2800" b="1" dirty="0" smtClean="0">
                <a:cs typeface="Times New Roman" pitchFamily="18" charset="0"/>
              </a:rPr>
              <a:t>Full functional dependency</a:t>
            </a:r>
            <a:r>
              <a:rPr lang="en-US" sz="2800" dirty="0" smtClean="0">
                <a:cs typeface="Times New Roman" pitchFamily="18" charset="0"/>
              </a:rPr>
              <a:t> - a FD  Y </a:t>
            </a:r>
            <a:r>
              <a:rPr lang="en-US" sz="2800" dirty="0" smtClean="0">
                <a:latin typeface="BostonII" charset="0"/>
                <a:cs typeface="Times New Roman" pitchFamily="18" charset="0"/>
              </a:rPr>
              <a:t>-&gt; </a:t>
            </a:r>
            <a:r>
              <a:rPr lang="en-US" sz="2800" dirty="0" smtClean="0">
                <a:cs typeface="Times New Roman" pitchFamily="18" charset="0"/>
              </a:rPr>
              <a:t>Z where removal of any attribute from Y means the FD does not hold any more</a:t>
            </a:r>
          </a:p>
          <a:p>
            <a:pPr algn="just">
              <a:lnSpc>
                <a:spcPct val="90000"/>
              </a:lnSpc>
              <a:buFont typeface="Wingdings" pitchFamily="2" charset="2"/>
              <a:buNone/>
            </a:pPr>
            <a:r>
              <a:rPr lang="en-US" sz="2800" dirty="0" smtClean="0">
                <a:cs typeface="Times New Roman" pitchFamily="18" charset="0"/>
              </a:rPr>
              <a:t>	</a:t>
            </a:r>
            <a:r>
              <a:rPr lang="en-US" sz="2200" u="sng" dirty="0" smtClean="0">
                <a:cs typeface="Times New Roman" pitchFamily="18" charset="0"/>
              </a:rPr>
              <a:t>Examples:</a:t>
            </a:r>
            <a:r>
              <a:rPr lang="en-US" sz="2200" dirty="0" smtClean="0">
                <a:cs typeface="Times New Roman" pitchFamily="18" charset="0"/>
              </a:rPr>
              <a:t>	- {SSN, PNUMBER} </a:t>
            </a:r>
            <a:r>
              <a:rPr lang="en-US" sz="2200" dirty="0" smtClean="0">
                <a:latin typeface="BostonII" charset="0"/>
                <a:cs typeface="Times New Roman" pitchFamily="18" charset="0"/>
              </a:rPr>
              <a:t>-&gt; </a:t>
            </a:r>
            <a:r>
              <a:rPr lang="en-US" sz="2200" dirty="0" smtClean="0">
                <a:cs typeface="Times New Roman" pitchFamily="18" charset="0"/>
              </a:rPr>
              <a:t>HOURS is a full FD since neither SSN </a:t>
            </a:r>
            <a:r>
              <a:rPr lang="en-US" sz="2200" dirty="0" smtClean="0">
                <a:latin typeface="BostonII" charset="0"/>
                <a:cs typeface="Times New Roman" pitchFamily="18" charset="0"/>
              </a:rPr>
              <a:t>-&gt; </a:t>
            </a:r>
            <a:r>
              <a:rPr lang="en-US" sz="2200" dirty="0" smtClean="0">
                <a:cs typeface="Times New Roman" pitchFamily="18" charset="0"/>
              </a:rPr>
              <a:t>HOURS nor PNUMBER </a:t>
            </a:r>
            <a:r>
              <a:rPr lang="en-US" sz="2200" dirty="0" smtClean="0">
                <a:latin typeface="BostonII" charset="0"/>
                <a:cs typeface="Times New Roman" pitchFamily="18" charset="0"/>
              </a:rPr>
              <a:t>-&gt; </a:t>
            </a:r>
            <a:r>
              <a:rPr lang="en-US" sz="2200" dirty="0" smtClean="0">
                <a:cs typeface="Times New Roman" pitchFamily="18" charset="0"/>
              </a:rPr>
              <a:t>HOURS hold </a:t>
            </a:r>
          </a:p>
          <a:p>
            <a:pPr algn="just">
              <a:lnSpc>
                <a:spcPct val="90000"/>
              </a:lnSpc>
              <a:buFont typeface="Wingdings" pitchFamily="2" charset="2"/>
              <a:buNone/>
            </a:pPr>
            <a:r>
              <a:rPr lang="en-US" sz="2400" dirty="0" smtClean="0">
                <a:cs typeface="Times New Roman" pitchFamily="18" charset="0"/>
              </a:rPr>
              <a:t>	</a:t>
            </a:r>
            <a:r>
              <a:rPr lang="en-US" sz="2200" dirty="0" smtClean="0">
                <a:cs typeface="Times New Roman" pitchFamily="18" charset="0"/>
              </a:rPr>
              <a:t>- {SSN, PNUMBER} </a:t>
            </a:r>
            <a:r>
              <a:rPr lang="en-US" sz="2200" dirty="0" smtClean="0">
                <a:latin typeface="BostonII" charset="0"/>
                <a:cs typeface="Times New Roman" pitchFamily="18" charset="0"/>
              </a:rPr>
              <a:t>-&gt; </a:t>
            </a:r>
            <a:r>
              <a:rPr lang="en-US" sz="2200" dirty="0" smtClean="0">
                <a:cs typeface="Times New Roman" pitchFamily="18" charset="0"/>
              </a:rPr>
              <a:t>ENAME is </a:t>
            </a:r>
            <a:r>
              <a:rPr lang="en-US" sz="2200" i="1" dirty="0" smtClean="0">
                <a:cs typeface="Times New Roman" pitchFamily="18" charset="0"/>
              </a:rPr>
              <a:t>not</a:t>
            </a:r>
            <a:r>
              <a:rPr lang="en-US" sz="2200" dirty="0" smtClean="0">
                <a:cs typeface="Times New Roman" pitchFamily="18" charset="0"/>
              </a:rPr>
              <a:t> a full FD (it is called a </a:t>
            </a:r>
            <a:r>
              <a:rPr lang="en-US" sz="2200" i="1" dirty="0" smtClean="0">
                <a:cs typeface="Times New Roman" pitchFamily="18" charset="0"/>
              </a:rPr>
              <a:t>partial dependency</a:t>
            </a:r>
            <a:r>
              <a:rPr lang="en-US" sz="2200" dirty="0" smtClean="0">
                <a:cs typeface="Times New Roman" pitchFamily="18" charset="0"/>
              </a:rPr>
              <a:t> ) since SSN </a:t>
            </a:r>
            <a:r>
              <a:rPr lang="en-US" sz="2200" dirty="0" smtClean="0">
                <a:latin typeface="BostonII" charset="0"/>
                <a:cs typeface="Times New Roman" pitchFamily="18" charset="0"/>
              </a:rPr>
              <a:t>-&gt; </a:t>
            </a:r>
            <a:r>
              <a:rPr lang="en-US" sz="2200" dirty="0" smtClean="0">
                <a:cs typeface="Times New Roman" pitchFamily="18" charset="0"/>
              </a:rPr>
              <a:t>ENAME also holds</a:t>
            </a:r>
            <a:r>
              <a:rPr lang="en-US" sz="2200" dirty="0" smtClean="0"/>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Second Normal Form (2)</a:t>
            </a:r>
          </a:p>
        </p:txBody>
      </p:sp>
      <p:sp>
        <p:nvSpPr>
          <p:cNvPr id="60420" name="Rectangle 3"/>
          <p:cNvSpPr>
            <a:spLocks noGrp="1" noChangeArrowheads="1"/>
          </p:cNvSpPr>
          <p:nvPr>
            <p:ph sz="quarter" idx="1"/>
          </p:nvPr>
        </p:nvSpPr>
        <p:spPr>
          <a:xfrm>
            <a:off x="612775" y="1600200"/>
            <a:ext cx="8153400" cy="4495800"/>
          </a:xfrm>
        </p:spPr>
        <p:txBody>
          <a:bodyPr/>
          <a:lstStyle/>
          <a:p>
            <a:pPr algn="just"/>
            <a:r>
              <a:rPr lang="en-US" dirty="0" smtClean="0">
                <a:cs typeface="Times New Roman" pitchFamily="18" charset="0"/>
              </a:rPr>
              <a:t>2NF Definition</a:t>
            </a:r>
          </a:p>
          <a:p>
            <a:pPr lvl="1" algn="just"/>
            <a:r>
              <a:rPr lang="en-US" b="1" dirty="0" smtClean="0">
                <a:cs typeface="Times New Roman" pitchFamily="18" charset="0"/>
              </a:rPr>
              <a:t>A relation schema R is in second normal form (2NF) if every non-prime attribute A in R is fully functionally dependent on the primary key of R</a:t>
            </a:r>
          </a:p>
          <a:p>
            <a:pPr algn="just">
              <a:buFont typeface="Wingdings" pitchFamily="2" charset="2"/>
              <a:buNone/>
            </a:pPr>
            <a:endParaRPr lang="en-US" dirty="0" smtClean="0">
              <a:cs typeface="Times New Roman" pitchFamily="18" charset="0"/>
            </a:endParaRPr>
          </a:p>
          <a:p>
            <a:pPr algn="just"/>
            <a:r>
              <a:rPr lang="en-US" dirty="0" smtClean="0">
                <a:cs typeface="Times New Roman" pitchFamily="18" charset="0"/>
              </a:rPr>
              <a:t>R can be decomposed into 2NF relations via the process of 2NF normalization</a:t>
            </a:r>
            <a:r>
              <a:rPr lang="en-US" dirty="0" smtClean="0"/>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612775" y="228600"/>
            <a:ext cx="8153400" cy="990600"/>
          </a:xfrm>
        </p:spPr>
        <p:txBody>
          <a:bodyPr/>
          <a:lstStyle/>
          <a:p>
            <a:r>
              <a:rPr lang="en-US" sz="3200" smtClean="0"/>
              <a:t>Normalizing into 2NF and 3NF</a:t>
            </a:r>
          </a:p>
        </p:txBody>
      </p:sp>
      <p:sp>
        <p:nvSpPr>
          <p:cNvPr id="61444" name="Text Box 4"/>
          <p:cNvSpPr txBox="1">
            <a:spLocks noChangeArrowheads="1"/>
          </p:cNvSpPr>
          <p:nvPr/>
        </p:nvSpPr>
        <p:spPr bwMode="auto">
          <a:xfrm>
            <a:off x="685800" y="5854700"/>
            <a:ext cx="8229600" cy="457200"/>
          </a:xfrm>
          <a:prstGeom prst="rect">
            <a:avLst/>
          </a:prstGeom>
          <a:noFill/>
          <a:ln w="9525">
            <a:noFill/>
            <a:miter lim="800000"/>
            <a:headEnd/>
            <a:tailEnd/>
          </a:ln>
        </p:spPr>
        <p:txBody>
          <a:bodyPr>
            <a:spAutoFit/>
          </a:bodyPr>
          <a:lstStyle/>
          <a:p>
            <a:pPr>
              <a:spcBef>
                <a:spcPct val="50000"/>
              </a:spcBef>
            </a:pPr>
            <a:r>
              <a:rPr lang="en-US" b="1">
                <a:solidFill>
                  <a:schemeClr val="bg2"/>
                </a:solidFill>
              </a:rPr>
              <a:t>Note: The above figure is now called Figure 10.10 in Edition 4</a:t>
            </a:r>
          </a:p>
        </p:txBody>
      </p:sp>
      <p:sp>
        <p:nvSpPr>
          <p:cNvPr id="61445" name="Rectangle 6"/>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61446" name="Picture 7"/>
          <p:cNvPicPr>
            <a:picLocks noChangeAspect="1" noChangeArrowheads="1"/>
          </p:cNvPicPr>
          <p:nvPr/>
        </p:nvPicPr>
        <p:blipFill>
          <a:blip r:embed="rId2"/>
          <a:srcRect/>
          <a:stretch>
            <a:fillRect/>
          </a:stretch>
        </p:blipFill>
        <p:spPr bwMode="auto">
          <a:xfrm>
            <a:off x="685800" y="1524000"/>
            <a:ext cx="8229600" cy="4645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612775" y="228600"/>
            <a:ext cx="8153400" cy="990600"/>
          </a:xfrm>
        </p:spPr>
        <p:txBody>
          <a:bodyPr/>
          <a:lstStyle/>
          <a:p>
            <a:r>
              <a:rPr lang="en-US" sz="3200" smtClean="0"/>
              <a:t>Normalization into 2NF and 3NF</a:t>
            </a:r>
          </a:p>
        </p:txBody>
      </p:sp>
      <p:sp>
        <p:nvSpPr>
          <p:cNvPr id="62469" name="Rectangle 6"/>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62470" name="Picture 7"/>
          <p:cNvPicPr>
            <a:picLocks noChangeAspect="1" noChangeArrowheads="1"/>
          </p:cNvPicPr>
          <p:nvPr/>
        </p:nvPicPr>
        <p:blipFill>
          <a:blip r:embed="rId2"/>
          <a:srcRect/>
          <a:stretch>
            <a:fillRect/>
          </a:stretch>
        </p:blipFill>
        <p:spPr bwMode="auto">
          <a:xfrm>
            <a:off x="1143000" y="1734956"/>
            <a:ext cx="7531100" cy="45769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Third Normal Form</a:t>
            </a:r>
            <a:r>
              <a:rPr lang="en-US" sz="3200" dirty="0" smtClean="0"/>
              <a:t> (1)</a:t>
            </a:r>
          </a:p>
        </p:txBody>
      </p:sp>
      <p:sp>
        <p:nvSpPr>
          <p:cNvPr id="63492" name="Rectangle 3"/>
          <p:cNvSpPr>
            <a:spLocks noGrp="1" noChangeArrowheads="1"/>
          </p:cNvSpPr>
          <p:nvPr>
            <p:ph sz="quarter" idx="1"/>
          </p:nvPr>
        </p:nvSpPr>
        <p:spPr>
          <a:xfrm>
            <a:off x="612775" y="1600200"/>
            <a:ext cx="8153400" cy="4495800"/>
          </a:xfrm>
        </p:spPr>
        <p:txBody>
          <a:bodyPr/>
          <a:lstStyle/>
          <a:p>
            <a:pPr>
              <a:buFont typeface="Wingdings" pitchFamily="2" charset="2"/>
              <a:buNone/>
            </a:pPr>
            <a:r>
              <a:rPr lang="en-US" sz="2800" u="sng" smtClean="0">
                <a:cs typeface="Times New Roman" pitchFamily="18" charset="0"/>
              </a:rPr>
              <a:t>Definition:</a:t>
            </a:r>
            <a:endParaRPr lang="en-US" sz="2800" smtClean="0">
              <a:cs typeface="Times New Roman" pitchFamily="18" charset="0"/>
            </a:endParaRPr>
          </a:p>
          <a:p>
            <a:r>
              <a:rPr lang="en-US" sz="2800" b="1" smtClean="0">
                <a:cs typeface="Times New Roman" pitchFamily="18" charset="0"/>
              </a:rPr>
              <a:t>Transitive functional dependency</a:t>
            </a:r>
            <a:r>
              <a:rPr lang="en-US" sz="2800" smtClean="0">
                <a:cs typeface="Times New Roman" pitchFamily="18" charset="0"/>
              </a:rPr>
              <a:t> - </a:t>
            </a:r>
            <a:r>
              <a:rPr lang="en-US" sz="2400" smtClean="0">
                <a:cs typeface="Times New Roman" pitchFamily="18" charset="0"/>
              </a:rPr>
              <a:t>a FD  X </a:t>
            </a:r>
            <a:r>
              <a:rPr lang="en-US" sz="2400" smtClean="0">
                <a:latin typeface="BostonII" charset="0"/>
                <a:cs typeface="Times New Roman" pitchFamily="18" charset="0"/>
              </a:rPr>
              <a:t>-&gt; </a:t>
            </a:r>
            <a:r>
              <a:rPr lang="en-US" sz="2400" smtClean="0">
                <a:cs typeface="Times New Roman" pitchFamily="18" charset="0"/>
              </a:rPr>
              <a:t>Z that can be derived from two FDs   X </a:t>
            </a:r>
            <a:r>
              <a:rPr lang="en-US" sz="2400" smtClean="0">
                <a:latin typeface="BostonII" charset="0"/>
                <a:cs typeface="Times New Roman" pitchFamily="18" charset="0"/>
              </a:rPr>
              <a:t>-&gt; </a:t>
            </a:r>
            <a:r>
              <a:rPr lang="en-US" sz="2400" smtClean="0">
                <a:cs typeface="Times New Roman" pitchFamily="18" charset="0"/>
              </a:rPr>
              <a:t>Y and Y </a:t>
            </a:r>
            <a:r>
              <a:rPr lang="en-US" sz="2400" smtClean="0">
                <a:latin typeface="BostonII" charset="0"/>
                <a:cs typeface="Times New Roman" pitchFamily="18" charset="0"/>
              </a:rPr>
              <a:t>-&gt; </a:t>
            </a:r>
            <a:r>
              <a:rPr lang="en-US" sz="2400" smtClean="0">
                <a:cs typeface="Times New Roman" pitchFamily="18" charset="0"/>
              </a:rPr>
              <a:t>Z</a:t>
            </a:r>
            <a:r>
              <a:rPr lang="en-US" sz="2800" smtClean="0">
                <a:cs typeface="Times New Roman" pitchFamily="18" charset="0"/>
              </a:rPr>
              <a:t> </a:t>
            </a:r>
          </a:p>
          <a:p>
            <a:pPr>
              <a:buFont typeface="Wingdings" pitchFamily="2" charset="2"/>
              <a:buNone/>
            </a:pPr>
            <a:r>
              <a:rPr lang="en-US" sz="2800" smtClean="0">
                <a:cs typeface="Times New Roman" pitchFamily="18" charset="0"/>
              </a:rPr>
              <a:t>	</a:t>
            </a:r>
            <a:r>
              <a:rPr lang="en-US" sz="2400" u="sng" smtClean="0">
                <a:cs typeface="Times New Roman" pitchFamily="18" charset="0"/>
              </a:rPr>
              <a:t>Examples:</a:t>
            </a:r>
          </a:p>
          <a:p>
            <a:pPr>
              <a:buFont typeface="Wingdings" pitchFamily="2" charset="2"/>
              <a:buNone/>
            </a:pPr>
            <a:r>
              <a:rPr lang="en-US" sz="2800" smtClean="0">
                <a:cs typeface="Times New Roman" pitchFamily="18" charset="0"/>
              </a:rPr>
              <a:t>	- </a:t>
            </a:r>
            <a:r>
              <a:rPr lang="en-US" sz="2400" smtClean="0">
                <a:cs typeface="Times New Roman" pitchFamily="18" charset="0"/>
              </a:rPr>
              <a:t>SSN </a:t>
            </a:r>
            <a:r>
              <a:rPr lang="en-US" sz="2400" smtClean="0">
                <a:latin typeface="BostonII" charset="0"/>
                <a:cs typeface="Times New Roman" pitchFamily="18" charset="0"/>
              </a:rPr>
              <a:t>-&gt; </a:t>
            </a:r>
            <a:r>
              <a:rPr lang="en-US" sz="2400" smtClean="0">
                <a:cs typeface="Times New Roman" pitchFamily="18" charset="0"/>
              </a:rPr>
              <a:t>DMGRSSN is a </a:t>
            </a:r>
            <a:r>
              <a:rPr lang="en-US" sz="2400" i="1" smtClean="0">
                <a:cs typeface="Times New Roman" pitchFamily="18" charset="0"/>
              </a:rPr>
              <a:t>transitive</a:t>
            </a:r>
            <a:r>
              <a:rPr lang="en-US" sz="2400" smtClean="0">
                <a:cs typeface="Times New Roman" pitchFamily="18" charset="0"/>
              </a:rPr>
              <a:t> FD since</a:t>
            </a:r>
          </a:p>
          <a:p>
            <a:pPr>
              <a:buFont typeface="Wingdings" pitchFamily="2" charset="2"/>
              <a:buNone/>
            </a:pPr>
            <a:r>
              <a:rPr lang="en-US" sz="2400" smtClean="0">
                <a:cs typeface="Times New Roman" pitchFamily="18" charset="0"/>
              </a:rPr>
              <a:t>	SSN </a:t>
            </a:r>
            <a:r>
              <a:rPr lang="en-US" sz="2400" smtClean="0">
                <a:latin typeface="BostonII" charset="0"/>
                <a:cs typeface="Times New Roman" pitchFamily="18" charset="0"/>
              </a:rPr>
              <a:t>-&gt; </a:t>
            </a:r>
            <a:r>
              <a:rPr lang="en-US" sz="2400" smtClean="0">
                <a:cs typeface="Times New Roman" pitchFamily="18" charset="0"/>
              </a:rPr>
              <a:t>DNUMBER and DNUMBER </a:t>
            </a:r>
            <a:r>
              <a:rPr lang="en-US" sz="2400" smtClean="0">
                <a:latin typeface="BostonII" charset="0"/>
                <a:cs typeface="Times New Roman" pitchFamily="18" charset="0"/>
              </a:rPr>
              <a:t>-&gt; </a:t>
            </a:r>
            <a:r>
              <a:rPr lang="en-US" sz="2400" smtClean="0">
                <a:cs typeface="Times New Roman" pitchFamily="18" charset="0"/>
              </a:rPr>
              <a:t>DMGRSSN hold </a:t>
            </a:r>
          </a:p>
          <a:p>
            <a:pPr>
              <a:buFont typeface="Wingdings" pitchFamily="2" charset="2"/>
              <a:buNone/>
            </a:pPr>
            <a:r>
              <a:rPr lang="en-US" sz="2400" smtClean="0">
                <a:cs typeface="Times New Roman" pitchFamily="18" charset="0"/>
              </a:rPr>
              <a:t>	- SSN </a:t>
            </a:r>
            <a:r>
              <a:rPr lang="en-US" sz="2400" smtClean="0">
                <a:latin typeface="BostonII" charset="0"/>
                <a:cs typeface="Times New Roman" pitchFamily="18" charset="0"/>
              </a:rPr>
              <a:t>-&gt; </a:t>
            </a:r>
            <a:r>
              <a:rPr lang="en-US" sz="2400" smtClean="0">
                <a:cs typeface="Times New Roman" pitchFamily="18" charset="0"/>
              </a:rPr>
              <a:t>ENAME is </a:t>
            </a:r>
            <a:r>
              <a:rPr lang="en-US" sz="2400" i="1" smtClean="0">
                <a:cs typeface="Times New Roman" pitchFamily="18" charset="0"/>
              </a:rPr>
              <a:t>non-transitive </a:t>
            </a:r>
            <a:r>
              <a:rPr lang="en-US" sz="2400" smtClean="0">
                <a:cs typeface="Times New Roman" pitchFamily="18" charset="0"/>
              </a:rPr>
              <a:t> since there is no set of attributes X where SSN </a:t>
            </a:r>
            <a:r>
              <a:rPr lang="en-US" sz="2400" smtClean="0">
                <a:latin typeface="BostonII" charset="0"/>
                <a:cs typeface="Times New Roman" pitchFamily="18" charset="0"/>
              </a:rPr>
              <a:t>-&gt; </a:t>
            </a:r>
            <a:r>
              <a:rPr lang="en-US" sz="2400" smtClean="0">
                <a:cs typeface="Times New Roman" pitchFamily="18" charset="0"/>
              </a:rPr>
              <a:t>X and X </a:t>
            </a:r>
            <a:r>
              <a:rPr lang="en-US" sz="2400" smtClean="0">
                <a:latin typeface="BostonII" charset="0"/>
                <a:cs typeface="Times New Roman" pitchFamily="18" charset="0"/>
              </a:rPr>
              <a:t>-&gt; </a:t>
            </a:r>
            <a:r>
              <a:rPr lang="en-US" sz="2400" smtClean="0">
                <a:cs typeface="Times New Roman" pitchFamily="18" charset="0"/>
              </a:rPr>
              <a:t>ENAME</a:t>
            </a:r>
            <a:r>
              <a:rPr lang="en-US" sz="2400" smtClean="0"/>
              <a:t>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Third Normal Form</a:t>
            </a:r>
            <a:r>
              <a:rPr lang="en-US" sz="3200" smtClean="0"/>
              <a:t> (2)</a:t>
            </a:r>
          </a:p>
        </p:txBody>
      </p:sp>
      <p:sp>
        <p:nvSpPr>
          <p:cNvPr id="64516" name="Rectangle 3"/>
          <p:cNvSpPr>
            <a:spLocks noGrp="1" noChangeArrowheads="1"/>
          </p:cNvSpPr>
          <p:nvPr>
            <p:ph sz="quarter" idx="1"/>
          </p:nvPr>
        </p:nvSpPr>
        <p:spPr>
          <a:xfrm>
            <a:off x="612775" y="1600200"/>
            <a:ext cx="8153400" cy="4495800"/>
          </a:xfrm>
        </p:spPr>
        <p:txBody>
          <a:bodyPr>
            <a:normAutofit lnSpcReduction="10000"/>
          </a:bodyPr>
          <a:lstStyle/>
          <a:p>
            <a:pPr algn="just">
              <a:lnSpc>
                <a:spcPct val="90000"/>
              </a:lnSpc>
            </a:pPr>
            <a:r>
              <a:rPr lang="en-US" sz="2800" dirty="0" smtClean="0">
                <a:cs typeface="Times New Roman" pitchFamily="18" charset="0"/>
              </a:rPr>
              <a:t>3NF Definition</a:t>
            </a:r>
          </a:p>
          <a:p>
            <a:pPr lvl="1" algn="just">
              <a:lnSpc>
                <a:spcPct val="90000"/>
              </a:lnSpc>
            </a:pPr>
            <a:r>
              <a:rPr lang="en-US" sz="2500" b="1" dirty="0" smtClean="0">
                <a:cs typeface="Times New Roman" pitchFamily="18" charset="0"/>
              </a:rPr>
              <a:t>A relation schema R is in third normal form (3NF) if it satisfies 2NF </a:t>
            </a:r>
            <a:r>
              <a:rPr lang="en-US" sz="2500" b="1" i="1" dirty="0" smtClean="0">
                <a:cs typeface="Times New Roman" pitchFamily="18" charset="0"/>
              </a:rPr>
              <a:t>and</a:t>
            </a:r>
            <a:r>
              <a:rPr lang="en-US" sz="2500" b="1" dirty="0" smtClean="0">
                <a:cs typeface="Times New Roman" pitchFamily="18" charset="0"/>
              </a:rPr>
              <a:t>  no non-prime attribute of R is transitively dependent on the primary key</a:t>
            </a:r>
          </a:p>
          <a:p>
            <a:pPr algn="just">
              <a:lnSpc>
                <a:spcPct val="90000"/>
              </a:lnSpc>
            </a:pPr>
            <a:endParaRPr lang="en-US" sz="2800" dirty="0" smtClean="0">
              <a:cs typeface="Times New Roman" pitchFamily="18" charset="0"/>
            </a:endParaRPr>
          </a:p>
          <a:p>
            <a:pPr algn="just">
              <a:lnSpc>
                <a:spcPct val="90000"/>
              </a:lnSpc>
            </a:pPr>
            <a:r>
              <a:rPr lang="en-US" sz="2800" dirty="0" smtClean="0">
                <a:cs typeface="Times New Roman" pitchFamily="18" charset="0"/>
              </a:rPr>
              <a:t>R can be decomposed into 3NF relations via the process of 3NF normalization</a:t>
            </a:r>
            <a:r>
              <a:rPr lang="en-US" sz="2800" dirty="0" smtClean="0"/>
              <a:t> </a:t>
            </a:r>
          </a:p>
          <a:p>
            <a:pPr algn="just">
              <a:lnSpc>
                <a:spcPct val="90000"/>
              </a:lnSpc>
              <a:buFont typeface="Wingdings" pitchFamily="2" charset="2"/>
              <a:buNone/>
            </a:pPr>
            <a:r>
              <a:rPr lang="en-US" sz="2000" b="1" dirty="0" smtClean="0">
                <a:cs typeface="Times New Roman" pitchFamily="18" charset="0"/>
              </a:rPr>
              <a:t>NOTE:</a:t>
            </a:r>
            <a:endParaRPr lang="en-US" sz="2000" dirty="0" smtClean="0">
              <a:cs typeface="Times New Roman" pitchFamily="18" charset="0"/>
            </a:endParaRPr>
          </a:p>
          <a:p>
            <a:pPr algn="just">
              <a:lnSpc>
                <a:spcPct val="90000"/>
              </a:lnSpc>
              <a:buFont typeface="Wingdings" pitchFamily="2" charset="2"/>
              <a:buNone/>
            </a:pPr>
            <a:r>
              <a:rPr lang="en-US" sz="2000" dirty="0" smtClean="0">
                <a:cs typeface="Times New Roman" pitchFamily="18" charset="0"/>
              </a:rPr>
              <a:t>	In</a:t>
            </a:r>
            <a:r>
              <a:rPr lang="en-US" sz="2000" b="1" dirty="0" smtClean="0">
                <a:cs typeface="Times New Roman" pitchFamily="18" charset="0"/>
              </a:rPr>
              <a:t> </a:t>
            </a:r>
            <a:r>
              <a:rPr lang="en-US" sz="2000" dirty="0" smtClean="0">
                <a:cs typeface="Times New Roman" pitchFamily="18" charset="0"/>
              </a:rPr>
              <a:t>X </a:t>
            </a:r>
            <a:r>
              <a:rPr lang="en-US" sz="2000" dirty="0" smtClean="0">
                <a:latin typeface="BostonII" charset="0"/>
                <a:cs typeface="Times New Roman" pitchFamily="18" charset="0"/>
              </a:rPr>
              <a:t>-&gt; </a:t>
            </a:r>
            <a:r>
              <a:rPr lang="en-US" sz="2000" dirty="0" smtClean="0">
                <a:cs typeface="Times New Roman" pitchFamily="18" charset="0"/>
              </a:rPr>
              <a:t>Y and Y </a:t>
            </a:r>
            <a:r>
              <a:rPr lang="en-US" sz="2000" dirty="0" smtClean="0">
                <a:latin typeface="BostonII" charset="0"/>
                <a:cs typeface="Times New Roman" pitchFamily="18" charset="0"/>
              </a:rPr>
              <a:t>-&gt; </a:t>
            </a:r>
            <a:r>
              <a:rPr lang="en-US" sz="2000" dirty="0" smtClean="0">
                <a:cs typeface="Times New Roman" pitchFamily="18" charset="0"/>
              </a:rPr>
              <a:t>Z, with X as the primary key, we consider this a problem only if Y is </a:t>
            </a:r>
            <a:r>
              <a:rPr lang="en-US" sz="2000" u="sng" dirty="0" smtClean="0">
                <a:cs typeface="Times New Roman" pitchFamily="18" charset="0"/>
              </a:rPr>
              <a:t>not</a:t>
            </a:r>
            <a:r>
              <a:rPr lang="en-US" sz="2000" dirty="0" smtClean="0">
                <a:cs typeface="Times New Roman" pitchFamily="18" charset="0"/>
              </a:rPr>
              <a:t> a candidate key. When Y is a candidate key, there is no problem with the transitive dependency .</a:t>
            </a:r>
          </a:p>
          <a:p>
            <a:pPr algn="just">
              <a:lnSpc>
                <a:spcPct val="90000"/>
              </a:lnSpc>
              <a:buFont typeface="Wingdings" pitchFamily="2" charset="2"/>
              <a:buNone/>
            </a:pPr>
            <a:r>
              <a:rPr lang="en-US" sz="2000" dirty="0" smtClean="0">
                <a:cs typeface="Times New Roman" pitchFamily="18" charset="0"/>
              </a:rPr>
              <a:t>	E.g., Consider EMP (SSN, </a:t>
            </a:r>
            <a:r>
              <a:rPr lang="en-US" sz="2000" dirty="0" err="1" smtClean="0">
                <a:cs typeface="Times New Roman" pitchFamily="18" charset="0"/>
              </a:rPr>
              <a:t>Emp</a:t>
            </a:r>
            <a:r>
              <a:rPr lang="en-US" sz="2000" dirty="0" smtClean="0">
                <a:cs typeface="Times New Roman" pitchFamily="18" charset="0"/>
              </a:rPr>
              <a:t>#, Salary ). </a:t>
            </a:r>
          </a:p>
          <a:p>
            <a:pPr algn="just">
              <a:lnSpc>
                <a:spcPct val="90000"/>
              </a:lnSpc>
              <a:buFont typeface="Wingdings" pitchFamily="2" charset="2"/>
              <a:buNone/>
            </a:pPr>
            <a:r>
              <a:rPr lang="en-US" sz="2000" dirty="0" smtClean="0">
                <a:cs typeface="Times New Roman" pitchFamily="18" charset="0"/>
              </a:rPr>
              <a:t>	Here, SSN </a:t>
            </a:r>
            <a:r>
              <a:rPr lang="en-US" sz="2000" dirty="0" smtClean="0">
                <a:latin typeface="BostonII" charset="0"/>
                <a:cs typeface="Times New Roman" pitchFamily="18" charset="0"/>
              </a:rPr>
              <a:t>-&gt; </a:t>
            </a:r>
            <a:r>
              <a:rPr lang="en-US" sz="2000" dirty="0" err="1" smtClean="0">
                <a:cs typeface="Times New Roman" pitchFamily="18" charset="0"/>
              </a:rPr>
              <a:t>Emp</a:t>
            </a:r>
            <a:r>
              <a:rPr lang="en-US" sz="2000" dirty="0" smtClean="0">
                <a:cs typeface="Times New Roman" pitchFamily="18" charset="0"/>
              </a:rPr>
              <a:t> </a:t>
            </a:r>
            <a:r>
              <a:rPr lang="en-US" sz="2000" dirty="0" smtClean="0">
                <a:latin typeface="BostonII" charset="0"/>
                <a:cs typeface="Times New Roman" pitchFamily="18" charset="0"/>
              </a:rPr>
              <a:t>-&gt; </a:t>
            </a:r>
            <a:r>
              <a:rPr lang="en-US" sz="2000" dirty="0" smtClean="0">
                <a:cs typeface="Times New Roman" pitchFamily="18" charset="0"/>
              </a:rPr>
              <a:t>Salary and </a:t>
            </a:r>
            <a:r>
              <a:rPr lang="en-US" sz="2000" dirty="0" err="1" smtClean="0">
                <a:cs typeface="Times New Roman" pitchFamily="18" charset="0"/>
              </a:rPr>
              <a:t>Emp</a:t>
            </a:r>
            <a:r>
              <a:rPr lang="en-US" sz="2000" dirty="0" smtClean="0">
                <a:cs typeface="Times New Roman" pitchFamily="18" charset="0"/>
              </a:rPr>
              <a:t># is a candidate key.</a:t>
            </a:r>
            <a:r>
              <a:rPr lang="en-US" sz="2000" dirty="0" smtClean="0"/>
              <a:t>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612775" y="228600"/>
            <a:ext cx="8153400" cy="990600"/>
          </a:xfrm>
        </p:spPr>
        <p:txBody>
          <a:bodyPr>
            <a:normAutofit fontScale="90000"/>
          </a:bodyPr>
          <a:lstStyle/>
          <a:p>
            <a:pPr fontAlgn="auto">
              <a:spcAft>
                <a:spcPts val="0"/>
              </a:spcAft>
              <a:defRPr/>
            </a:pPr>
            <a:r>
              <a:rPr lang="en-US" sz="3200" b="1" dirty="0" smtClean="0">
                <a:cs typeface="Times New Roman" pitchFamily="18" charset="0"/>
              </a:rPr>
              <a:t>General </a:t>
            </a:r>
            <a:r>
              <a:rPr lang="en-US" sz="3200" b="1" dirty="0">
                <a:cs typeface="Times New Roman" pitchFamily="18" charset="0"/>
              </a:rPr>
              <a:t>Normal Form Definitions (For </a:t>
            </a:r>
            <a:r>
              <a:rPr lang="en-US" sz="3200" b="1" u="sng" dirty="0">
                <a:cs typeface="Times New Roman" pitchFamily="18" charset="0"/>
              </a:rPr>
              <a:t>Multiple</a:t>
            </a:r>
            <a:r>
              <a:rPr lang="en-US" sz="3200" b="1" dirty="0">
                <a:cs typeface="Times New Roman" pitchFamily="18" charset="0"/>
              </a:rPr>
              <a:t> Keys)</a:t>
            </a:r>
            <a:r>
              <a:rPr lang="en-US" dirty="0"/>
              <a:t> (1)</a:t>
            </a:r>
          </a:p>
        </p:txBody>
      </p:sp>
      <p:sp>
        <p:nvSpPr>
          <p:cNvPr id="65540" name="Rectangle 3"/>
          <p:cNvSpPr>
            <a:spLocks noGrp="1" noChangeArrowheads="1"/>
          </p:cNvSpPr>
          <p:nvPr>
            <p:ph sz="quarter" idx="1"/>
          </p:nvPr>
        </p:nvSpPr>
        <p:spPr>
          <a:xfrm>
            <a:off x="612775" y="1600200"/>
            <a:ext cx="8153400" cy="4495800"/>
          </a:xfrm>
        </p:spPr>
        <p:txBody>
          <a:bodyPr/>
          <a:lstStyle/>
          <a:p>
            <a:pPr algn="just"/>
            <a:r>
              <a:rPr lang="en-US" sz="2800" smtClean="0">
                <a:cs typeface="Times New Roman" pitchFamily="18" charset="0"/>
              </a:rPr>
              <a:t>The above definitions consider the primary key only</a:t>
            </a:r>
          </a:p>
          <a:p>
            <a:pPr algn="just"/>
            <a:r>
              <a:rPr lang="en-US" sz="2800" smtClean="0">
                <a:cs typeface="Times New Roman" pitchFamily="18" charset="0"/>
              </a:rPr>
              <a:t>The following more general definitions take into account relations with multiple candidate keys</a:t>
            </a:r>
          </a:p>
          <a:p>
            <a:pPr algn="just"/>
            <a:r>
              <a:rPr lang="en-US" sz="2800" smtClean="0">
                <a:cs typeface="Times New Roman" pitchFamily="18" charset="0"/>
              </a:rPr>
              <a:t>A relation schema R is in </a:t>
            </a:r>
            <a:r>
              <a:rPr lang="en-US" sz="2800" b="1" smtClean="0">
                <a:cs typeface="Times New Roman" pitchFamily="18" charset="0"/>
              </a:rPr>
              <a:t>second normal form </a:t>
            </a:r>
            <a:r>
              <a:rPr lang="en-US" sz="2800" smtClean="0">
                <a:cs typeface="Times New Roman" pitchFamily="18" charset="0"/>
              </a:rPr>
              <a:t>(</a:t>
            </a:r>
            <a:r>
              <a:rPr lang="en-US" sz="2800" b="1" smtClean="0">
                <a:cs typeface="Times New Roman" pitchFamily="18" charset="0"/>
              </a:rPr>
              <a:t>2NF</a:t>
            </a:r>
            <a:r>
              <a:rPr lang="en-US" sz="2800" smtClean="0">
                <a:cs typeface="Times New Roman" pitchFamily="18" charset="0"/>
              </a:rPr>
              <a:t>) if every non-prime attribute A in R is fully functionally dependent on </a:t>
            </a:r>
            <a:r>
              <a:rPr lang="en-US" sz="2800" i="1" smtClean="0">
                <a:cs typeface="Times New Roman" pitchFamily="18" charset="0"/>
              </a:rPr>
              <a:t>every key</a:t>
            </a:r>
            <a:r>
              <a:rPr lang="en-US" sz="2800" smtClean="0">
                <a:cs typeface="Times New Roman" pitchFamily="18" charset="0"/>
              </a:rPr>
              <a:t>  of R</a:t>
            </a:r>
            <a:r>
              <a:rPr lang="en-US" sz="2800" smtClean="0"/>
              <a:t>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General Normal Form Definitions (2)</a:t>
            </a:r>
          </a:p>
        </p:txBody>
      </p:sp>
      <p:sp>
        <p:nvSpPr>
          <p:cNvPr id="66564" name="Rectangle 3"/>
          <p:cNvSpPr>
            <a:spLocks noGrp="1" noChangeArrowheads="1"/>
          </p:cNvSpPr>
          <p:nvPr>
            <p:ph sz="quarter" idx="1"/>
          </p:nvPr>
        </p:nvSpPr>
        <p:spPr>
          <a:xfrm>
            <a:off x="612775" y="1600200"/>
            <a:ext cx="8153400" cy="4495800"/>
          </a:xfrm>
        </p:spPr>
        <p:txBody>
          <a:bodyPr/>
          <a:lstStyle/>
          <a:p>
            <a:pPr algn="just">
              <a:lnSpc>
                <a:spcPct val="90000"/>
              </a:lnSpc>
              <a:buFont typeface="Wingdings" pitchFamily="2" charset="2"/>
              <a:buNone/>
            </a:pPr>
            <a:r>
              <a:rPr lang="en-US" sz="2800" u="sng" dirty="0" smtClean="0">
                <a:cs typeface="Times New Roman" pitchFamily="18" charset="0"/>
              </a:rPr>
              <a:t>Definition:</a:t>
            </a:r>
            <a:endParaRPr lang="en-US" sz="2800" dirty="0" smtClean="0">
              <a:cs typeface="Times New Roman" pitchFamily="18" charset="0"/>
            </a:endParaRPr>
          </a:p>
          <a:p>
            <a:pPr algn="just">
              <a:lnSpc>
                <a:spcPct val="90000"/>
              </a:lnSpc>
            </a:pPr>
            <a:r>
              <a:rPr lang="en-US" sz="2800" b="1" dirty="0" err="1" smtClean="0">
                <a:cs typeface="Times New Roman" pitchFamily="18" charset="0"/>
              </a:rPr>
              <a:t>Superkey</a:t>
            </a:r>
            <a:r>
              <a:rPr lang="en-US" sz="2800" dirty="0" smtClean="0">
                <a:cs typeface="Times New Roman" pitchFamily="18" charset="0"/>
              </a:rPr>
              <a:t> of relation schema R - a set of attributes S of R that contains a key of R</a:t>
            </a:r>
          </a:p>
          <a:p>
            <a:pPr algn="just">
              <a:lnSpc>
                <a:spcPct val="90000"/>
              </a:lnSpc>
            </a:pPr>
            <a:r>
              <a:rPr lang="en-US" sz="2800" dirty="0" smtClean="0">
                <a:cs typeface="Times New Roman" pitchFamily="18" charset="0"/>
              </a:rPr>
              <a:t>A relation schema R is in </a:t>
            </a:r>
            <a:r>
              <a:rPr lang="en-US" sz="2800" b="1" dirty="0" smtClean="0">
                <a:cs typeface="Times New Roman" pitchFamily="18" charset="0"/>
              </a:rPr>
              <a:t>third normal form </a:t>
            </a:r>
            <a:r>
              <a:rPr lang="en-US" sz="2800" dirty="0" smtClean="0">
                <a:cs typeface="Times New Roman" pitchFamily="18" charset="0"/>
              </a:rPr>
              <a:t>(</a:t>
            </a:r>
            <a:r>
              <a:rPr lang="en-US" sz="2800" b="1" dirty="0" smtClean="0">
                <a:cs typeface="Times New Roman" pitchFamily="18" charset="0"/>
              </a:rPr>
              <a:t>3NF</a:t>
            </a:r>
            <a:r>
              <a:rPr lang="en-US" sz="2800" dirty="0" smtClean="0">
                <a:cs typeface="Times New Roman" pitchFamily="18" charset="0"/>
              </a:rPr>
              <a:t>) if whenever a FD X </a:t>
            </a:r>
            <a:r>
              <a:rPr lang="en-US" sz="2800" dirty="0" smtClean="0">
                <a:latin typeface="BostonII" charset="0"/>
                <a:cs typeface="Times New Roman" pitchFamily="18" charset="0"/>
              </a:rPr>
              <a:t>-&gt; </a:t>
            </a:r>
            <a:r>
              <a:rPr lang="en-US" sz="2800" dirty="0" smtClean="0">
                <a:cs typeface="Times New Roman" pitchFamily="18" charset="0"/>
              </a:rPr>
              <a:t>A holds in R, then either: </a:t>
            </a:r>
          </a:p>
          <a:p>
            <a:pPr algn="just">
              <a:lnSpc>
                <a:spcPct val="90000"/>
              </a:lnSpc>
              <a:buFont typeface="Wingdings" pitchFamily="2" charset="2"/>
              <a:buNone/>
            </a:pPr>
            <a:r>
              <a:rPr lang="en-US" sz="2800" dirty="0" smtClean="0">
                <a:cs typeface="Times New Roman" pitchFamily="18" charset="0"/>
              </a:rPr>
              <a:t>		</a:t>
            </a:r>
            <a:r>
              <a:rPr lang="en-US" sz="2800" dirty="0" smtClean="0">
                <a:solidFill>
                  <a:srgbClr val="FF0000"/>
                </a:solidFill>
                <a:cs typeface="Times New Roman" pitchFamily="18" charset="0"/>
              </a:rPr>
              <a:t>(a) X is a </a:t>
            </a:r>
            <a:r>
              <a:rPr lang="en-US" sz="2800" dirty="0" err="1" smtClean="0">
                <a:solidFill>
                  <a:srgbClr val="FF0000"/>
                </a:solidFill>
                <a:cs typeface="Times New Roman" pitchFamily="18" charset="0"/>
              </a:rPr>
              <a:t>superkey</a:t>
            </a:r>
            <a:r>
              <a:rPr lang="en-US" sz="2800" dirty="0" smtClean="0">
                <a:solidFill>
                  <a:srgbClr val="FF0000"/>
                </a:solidFill>
                <a:cs typeface="Times New Roman" pitchFamily="18" charset="0"/>
              </a:rPr>
              <a:t> of R, or </a:t>
            </a:r>
          </a:p>
          <a:p>
            <a:pPr algn="just">
              <a:lnSpc>
                <a:spcPct val="90000"/>
              </a:lnSpc>
              <a:buFont typeface="Wingdings" pitchFamily="2" charset="2"/>
              <a:buNone/>
            </a:pPr>
            <a:r>
              <a:rPr lang="en-US" sz="2800" dirty="0" smtClean="0">
                <a:solidFill>
                  <a:srgbClr val="FF0000"/>
                </a:solidFill>
                <a:cs typeface="Times New Roman" pitchFamily="18" charset="0"/>
              </a:rPr>
              <a:t>		(b) A is a prime attribute of R</a:t>
            </a:r>
          </a:p>
          <a:p>
            <a:pPr algn="just">
              <a:lnSpc>
                <a:spcPct val="90000"/>
              </a:lnSpc>
              <a:buFont typeface="Wingdings" pitchFamily="2" charset="2"/>
              <a:buNone/>
            </a:pPr>
            <a:r>
              <a:rPr lang="en-US" sz="2400" b="1" dirty="0" smtClean="0">
                <a:cs typeface="Times New Roman" pitchFamily="18" charset="0"/>
              </a:rPr>
              <a:t>NOTE: </a:t>
            </a:r>
            <a:r>
              <a:rPr lang="en-US" sz="2400" dirty="0" smtClean="0">
                <a:cs typeface="Times New Roman" pitchFamily="18" charset="0"/>
              </a:rPr>
              <a:t>Boyce-</a:t>
            </a:r>
            <a:r>
              <a:rPr lang="en-US" sz="2400" dirty="0" err="1" smtClean="0">
                <a:cs typeface="Times New Roman" pitchFamily="18" charset="0"/>
              </a:rPr>
              <a:t>Codd</a:t>
            </a:r>
            <a:r>
              <a:rPr lang="en-US" sz="2400" dirty="0" smtClean="0">
                <a:cs typeface="Times New Roman" pitchFamily="18" charset="0"/>
              </a:rPr>
              <a:t> normal form disallows condition (b) above</a:t>
            </a:r>
            <a:r>
              <a:rPr lang="en-US" sz="2400" dirty="0" smtClean="0"/>
              <a:t>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12775" y="228600"/>
            <a:ext cx="8153400" cy="990600"/>
          </a:xfrm>
        </p:spPr>
        <p:txBody>
          <a:bodyPr/>
          <a:lstStyle/>
          <a:p>
            <a:r>
              <a:rPr lang="en-US" sz="3200" b="1" dirty="0" smtClean="0">
                <a:cs typeface="Times New Roman" pitchFamily="18" charset="0"/>
              </a:rPr>
              <a:t>BCNF (Boyce-</a:t>
            </a:r>
            <a:r>
              <a:rPr lang="en-US" sz="3200" b="1" dirty="0" err="1" smtClean="0">
                <a:cs typeface="Times New Roman" pitchFamily="18" charset="0"/>
              </a:rPr>
              <a:t>Codd</a:t>
            </a:r>
            <a:r>
              <a:rPr lang="en-US" sz="3200" b="1" dirty="0" smtClean="0">
                <a:cs typeface="Times New Roman" pitchFamily="18" charset="0"/>
              </a:rPr>
              <a:t> Normal Form)</a:t>
            </a:r>
            <a:r>
              <a:rPr lang="en-US" dirty="0" smtClean="0"/>
              <a:t> </a:t>
            </a:r>
          </a:p>
        </p:txBody>
      </p:sp>
      <p:sp>
        <p:nvSpPr>
          <p:cNvPr id="67588" name="Rectangle 3"/>
          <p:cNvSpPr>
            <a:spLocks noGrp="1" noChangeArrowheads="1"/>
          </p:cNvSpPr>
          <p:nvPr>
            <p:ph sz="quarter" idx="1"/>
          </p:nvPr>
        </p:nvSpPr>
        <p:spPr>
          <a:xfrm>
            <a:off x="612775" y="1600200"/>
            <a:ext cx="8153400" cy="4495800"/>
          </a:xfrm>
        </p:spPr>
        <p:txBody>
          <a:bodyPr/>
          <a:lstStyle/>
          <a:p>
            <a:pPr algn="just"/>
            <a:r>
              <a:rPr lang="en-US" sz="2800" dirty="0" smtClean="0">
                <a:cs typeface="Times New Roman" pitchFamily="18" charset="0"/>
              </a:rPr>
              <a:t>A relation schema R is in </a:t>
            </a:r>
            <a:r>
              <a:rPr lang="en-US" sz="2800" b="1" dirty="0" smtClean="0">
                <a:cs typeface="Times New Roman" pitchFamily="18" charset="0"/>
              </a:rPr>
              <a:t>Boyce-</a:t>
            </a:r>
            <a:r>
              <a:rPr lang="en-US" sz="2800" b="1" dirty="0" err="1" smtClean="0">
                <a:cs typeface="Times New Roman" pitchFamily="18" charset="0"/>
              </a:rPr>
              <a:t>Codd</a:t>
            </a:r>
            <a:r>
              <a:rPr lang="en-US" sz="2800" b="1" dirty="0" smtClean="0">
                <a:cs typeface="Times New Roman" pitchFamily="18" charset="0"/>
              </a:rPr>
              <a:t> Normal Form </a:t>
            </a:r>
            <a:r>
              <a:rPr lang="en-US" sz="2800" dirty="0" smtClean="0">
                <a:cs typeface="Times New Roman" pitchFamily="18" charset="0"/>
              </a:rPr>
              <a:t>(</a:t>
            </a:r>
            <a:r>
              <a:rPr lang="en-US" sz="2800" b="1" dirty="0" smtClean="0">
                <a:cs typeface="Times New Roman" pitchFamily="18" charset="0"/>
              </a:rPr>
              <a:t>BCNF</a:t>
            </a:r>
            <a:r>
              <a:rPr lang="en-US" sz="2800" dirty="0" smtClean="0">
                <a:cs typeface="Times New Roman" pitchFamily="18" charset="0"/>
              </a:rPr>
              <a:t>) if whenever an FD X </a:t>
            </a:r>
            <a:r>
              <a:rPr lang="en-US" sz="2800" dirty="0" smtClean="0">
                <a:latin typeface="BostonII" charset="0"/>
                <a:cs typeface="Times New Roman" pitchFamily="18" charset="0"/>
              </a:rPr>
              <a:t>-&gt; </a:t>
            </a:r>
            <a:r>
              <a:rPr lang="en-US" sz="2800" dirty="0" smtClean="0">
                <a:cs typeface="Times New Roman" pitchFamily="18" charset="0"/>
              </a:rPr>
              <a:t>A holds in R, then X is a </a:t>
            </a:r>
            <a:r>
              <a:rPr lang="en-US" sz="2800" dirty="0" err="1" smtClean="0">
                <a:cs typeface="Times New Roman" pitchFamily="18" charset="0"/>
              </a:rPr>
              <a:t>superkey</a:t>
            </a:r>
            <a:r>
              <a:rPr lang="en-US" sz="2800" dirty="0" smtClean="0">
                <a:cs typeface="Times New Roman" pitchFamily="18" charset="0"/>
              </a:rPr>
              <a:t> of R</a:t>
            </a:r>
          </a:p>
          <a:p>
            <a:pPr algn="just"/>
            <a:r>
              <a:rPr lang="en-US" sz="2400" dirty="0" smtClean="0">
                <a:cs typeface="Times New Roman" pitchFamily="18" charset="0"/>
              </a:rPr>
              <a:t>Each normal form is strictly stronger than the previous one</a:t>
            </a:r>
          </a:p>
          <a:p>
            <a:pPr lvl="1" algn="just"/>
            <a:r>
              <a:rPr lang="en-US" sz="2000" dirty="0" smtClean="0">
                <a:cs typeface="Times New Roman" pitchFamily="18" charset="0"/>
              </a:rPr>
              <a:t>Every 2NF relation is in 1NF</a:t>
            </a:r>
          </a:p>
          <a:p>
            <a:pPr lvl="1" algn="just"/>
            <a:r>
              <a:rPr lang="en-US" sz="2000" dirty="0" smtClean="0">
                <a:cs typeface="Times New Roman" pitchFamily="18" charset="0"/>
              </a:rPr>
              <a:t>Every 3NF relation is in 2NF</a:t>
            </a:r>
          </a:p>
          <a:p>
            <a:pPr lvl="1" algn="just"/>
            <a:r>
              <a:rPr lang="en-US" sz="2000" dirty="0" smtClean="0">
                <a:cs typeface="Times New Roman" pitchFamily="18" charset="0"/>
              </a:rPr>
              <a:t>Every BCNF relation is in 3NF</a:t>
            </a:r>
          </a:p>
          <a:p>
            <a:pPr algn="just"/>
            <a:r>
              <a:rPr lang="en-US" sz="2400" dirty="0" smtClean="0">
                <a:cs typeface="Times New Roman" pitchFamily="18" charset="0"/>
              </a:rPr>
              <a:t>There exist relations that are in 3NF but not in BCNF</a:t>
            </a:r>
          </a:p>
          <a:p>
            <a:pPr algn="just"/>
            <a:r>
              <a:rPr lang="en-US" sz="2400" dirty="0" smtClean="0">
                <a:cs typeface="Times New Roman" pitchFamily="18" charset="0"/>
              </a:rPr>
              <a:t>The goal is to have each relation in BCNF (or 3NF)</a:t>
            </a:r>
            <a:r>
              <a:rPr lang="en-US" sz="2800" dirty="0" smtClean="0"/>
              <a:t>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12775" y="228600"/>
            <a:ext cx="8153400" cy="990600"/>
          </a:xfrm>
        </p:spPr>
        <p:txBody>
          <a:bodyPr/>
          <a:lstStyle/>
          <a:p>
            <a:r>
              <a:rPr lang="en-US" sz="3200" smtClean="0"/>
              <a:t>Boyce-Codd normal form</a:t>
            </a:r>
          </a:p>
        </p:txBody>
      </p:sp>
      <p:sp>
        <p:nvSpPr>
          <p:cNvPr id="68613" name="Rectangle 6"/>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68614" name="Picture 5" descr="ch14_elmasri"/>
          <p:cNvPicPr>
            <a:picLocks noChangeAspect="1" noChangeArrowheads="1"/>
          </p:cNvPicPr>
          <p:nvPr/>
        </p:nvPicPr>
        <p:blipFill>
          <a:blip r:embed="rId2"/>
          <a:srcRect/>
          <a:stretch>
            <a:fillRect/>
          </a:stretch>
        </p:blipFill>
        <p:spPr bwMode="auto">
          <a:xfrm>
            <a:off x="1828800" y="1616075"/>
            <a:ext cx="6083300" cy="4238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612775" y="228600"/>
            <a:ext cx="8153400" cy="990600"/>
          </a:xfrm>
        </p:spPr>
        <p:txBody>
          <a:bodyPr>
            <a:normAutofit/>
          </a:bodyPr>
          <a:lstStyle/>
          <a:p>
            <a:pPr fontAlgn="auto">
              <a:spcAft>
                <a:spcPts val="0"/>
              </a:spcAft>
              <a:defRPr/>
            </a:pPr>
            <a:r>
              <a:rPr lang="en-US" sz="3200" dirty="0" smtClean="0"/>
              <a:t>A relation </a:t>
            </a:r>
            <a:r>
              <a:rPr lang="en-US" sz="3200" dirty="0"/>
              <a:t>TEACH that is in 3NF but not in BCNF</a:t>
            </a:r>
          </a:p>
        </p:txBody>
      </p:sp>
      <p:sp>
        <p:nvSpPr>
          <p:cNvPr id="69636" name="Rectangle 5"/>
          <p:cNvSpPr>
            <a:spLocks noChangeArrowheads="1"/>
          </p:cNvSpPr>
          <p:nvPr/>
        </p:nvSpPr>
        <p:spPr bwMode="auto">
          <a:xfrm>
            <a:off x="1828800" y="1309688"/>
            <a:ext cx="9144000" cy="0"/>
          </a:xfrm>
          <a:prstGeom prst="rect">
            <a:avLst/>
          </a:prstGeom>
          <a:noFill/>
          <a:ln w="9525">
            <a:noFill/>
            <a:miter lim="800000"/>
            <a:headEnd/>
            <a:tailEnd/>
          </a:ln>
        </p:spPr>
        <p:txBody>
          <a:bodyPr>
            <a:spAutoFit/>
          </a:bodyPr>
          <a:lstStyle/>
          <a:p>
            <a:endParaRPr lang="en-US"/>
          </a:p>
        </p:txBody>
      </p:sp>
      <p:pic>
        <p:nvPicPr>
          <p:cNvPr id="69637" name="Picture 4" descr="ch14_elmasri"/>
          <p:cNvPicPr>
            <a:picLocks noChangeAspect="1" noChangeArrowheads="1"/>
          </p:cNvPicPr>
          <p:nvPr/>
        </p:nvPicPr>
        <p:blipFill>
          <a:blip r:embed="rId2"/>
          <a:srcRect/>
          <a:stretch>
            <a:fillRect/>
          </a:stretch>
        </p:blipFill>
        <p:spPr bwMode="auto">
          <a:xfrm>
            <a:off x="1612900" y="1844675"/>
            <a:ext cx="6667500" cy="4010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12775" y="228600"/>
            <a:ext cx="8153400" cy="990600"/>
          </a:xfrm>
        </p:spPr>
        <p:txBody>
          <a:bodyPr/>
          <a:lstStyle/>
          <a:p>
            <a:r>
              <a:rPr lang="en-US" sz="3200" smtClean="0"/>
              <a:t>Achieving the BCNF by Decomposition (1)</a:t>
            </a:r>
          </a:p>
        </p:txBody>
      </p:sp>
      <p:sp>
        <p:nvSpPr>
          <p:cNvPr id="70660" name="Rectangle 3"/>
          <p:cNvSpPr>
            <a:spLocks noGrp="1" noChangeArrowheads="1"/>
          </p:cNvSpPr>
          <p:nvPr>
            <p:ph sz="quarter" idx="1"/>
          </p:nvPr>
        </p:nvSpPr>
        <p:spPr>
          <a:xfrm>
            <a:off x="685800" y="1981200"/>
            <a:ext cx="8153400" cy="4114800"/>
          </a:xfrm>
        </p:spPr>
        <p:txBody>
          <a:bodyPr/>
          <a:lstStyle/>
          <a:p>
            <a:r>
              <a:rPr lang="en-US" sz="2400" smtClean="0">
                <a:solidFill>
                  <a:srgbClr val="000000"/>
                </a:solidFill>
                <a:cs typeface="Times New Roman" pitchFamily="18" charset="0"/>
              </a:rPr>
              <a:t>Two FDs exist in the relation TEACH:</a:t>
            </a:r>
          </a:p>
          <a:p>
            <a:pPr>
              <a:buFont typeface="Wingdings" pitchFamily="2" charset="2"/>
              <a:buNone/>
            </a:pPr>
            <a:r>
              <a:rPr lang="en-US" sz="2400" smtClean="0">
                <a:solidFill>
                  <a:srgbClr val="000000"/>
                </a:solidFill>
                <a:cs typeface="Times New Roman" pitchFamily="18" charset="0"/>
              </a:rPr>
              <a:t>	fd1: { student, course} </a:t>
            </a:r>
            <a:r>
              <a:rPr lang="en-US" sz="2400" smtClean="0">
                <a:solidFill>
                  <a:srgbClr val="000000"/>
                </a:solidFill>
                <a:cs typeface="Times New Roman" pitchFamily="18" charset="0"/>
                <a:sym typeface="Symbol" pitchFamily="18" charset="2"/>
              </a:rPr>
              <a:t>-&gt;</a:t>
            </a:r>
            <a:r>
              <a:rPr lang="en-US" sz="2400" smtClean="0">
                <a:solidFill>
                  <a:srgbClr val="000000"/>
                </a:solidFill>
                <a:cs typeface="Times New Roman" pitchFamily="18" charset="0"/>
              </a:rPr>
              <a:t> instructor</a:t>
            </a:r>
          </a:p>
          <a:p>
            <a:pPr>
              <a:buFont typeface="Wingdings" pitchFamily="2" charset="2"/>
              <a:buNone/>
            </a:pPr>
            <a:r>
              <a:rPr lang="en-US" sz="2400" smtClean="0">
                <a:cs typeface="Times New Roman" pitchFamily="18" charset="0"/>
              </a:rPr>
              <a:t>	fd2: instructor </a:t>
            </a:r>
            <a:r>
              <a:rPr lang="en-US" sz="2400" smtClean="0">
                <a:cs typeface="Times New Roman" pitchFamily="18" charset="0"/>
                <a:sym typeface="Symbol" pitchFamily="18" charset="2"/>
              </a:rPr>
              <a:t> -&gt;</a:t>
            </a:r>
            <a:r>
              <a:rPr lang="en-US" sz="2400" baseline="30000" smtClean="0">
                <a:cs typeface="Times New Roman" pitchFamily="18" charset="0"/>
              </a:rPr>
              <a:t> </a:t>
            </a:r>
            <a:r>
              <a:rPr lang="en-US" sz="2400" smtClean="0">
                <a:cs typeface="Times New Roman" pitchFamily="18" charset="0"/>
              </a:rPr>
              <a:t>course</a:t>
            </a:r>
            <a:r>
              <a:rPr lang="en-US" sz="2400" smtClean="0"/>
              <a:t> </a:t>
            </a:r>
            <a:endParaRPr lang="en-US" sz="2400" smtClean="0">
              <a:solidFill>
                <a:srgbClr val="000000"/>
              </a:solidFill>
              <a:cs typeface="Times New Roman" pitchFamily="18" charset="0"/>
            </a:endParaRPr>
          </a:p>
          <a:p>
            <a:r>
              <a:rPr lang="en-US" sz="2400" smtClean="0">
                <a:cs typeface="Times New Roman" pitchFamily="18" charset="0"/>
              </a:rPr>
              <a:t>{student, course} is a candidate key for this relation and that the dependencies shown follow the pattern in Figure 10.12 (b). So this relation is in 3NF </a:t>
            </a:r>
            <a:r>
              <a:rPr lang="en-US" sz="2400" u="sng" smtClean="0">
                <a:cs typeface="Times New Roman" pitchFamily="18" charset="0"/>
              </a:rPr>
              <a:t>but not in</a:t>
            </a:r>
            <a:r>
              <a:rPr lang="en-US" sz="2400" smtClean="0">
                <a:cs typeface="Times New Roman" pitchFamily="18" charset="0"/>
              </a:rPr>
              <a:t> BCNF </a:t>
            </a:r>
          </a:p>
          <a:p>
            <a:r>
              <a:rPr lang="en-US" sz="2400" smtClean="0">
                <a:cs typeface="Times New Roman" pitchFamily="18" charset="0"/>
              </a:rPr>
              <a:t>A relation </a:t>
            </a:r>
            <a:r>
              <a:rPr lang="en-US" sz="2400" b="1" smtClean="0">
                <a:cs typeface="Times New Roman" pitchFamily="18" charset="0"/>
              </a:rPr>
              <a:t>NOT</a:t>
            </a:r>
            <a:r>
              <a:rPr lang="en-US" sz="2400" smtClean="0">
                <a:cs typeface="Times New Roman" pitchFamily="18" charset="0"/>
              </a:rPr>
              <a:t> in BCNF should be decomposed so as to meet this property, while possibly forgoing the preservation of all functional dependencies in the decomposed relations. (See Algorithm 11.3) </a:t>
            </a:r>
            <a:r>
              <a:rPr lang="en-US" sz="2400" smtClean="0"/>
              <a:t>  </a:t>
            </a:r>
            <a:endParaRPr lang="en-US" sz="2400" smtClean="0">
              <a:cs typeface="Times New Roman" pitchFamily="18" charset="0"/>
            </a:endParaRPr>
          </a:p>
          <a:p>
            <a:pPr>
              <a:buFont typeface="Wingdings" pitchFamily="2" charset="2"/>
              <a:buNone/>
            </a:pPr>
            <a:endParaRPr lang="en-US" sz="2800" smtClean="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612775" y="228600"/>
            <a:ext cx="8153400" cy="990600"/>
          </a:xfrm>
        </p:spPr>
        <p:txBody>
          <a:bodyPr/>
          <a:lstStyle/>
          <a:p>
            <a:r>
              <a:rPr lang="en-US" sz="3200" smtClean="0"/>
              <a:t>Achieving the BCNF by Decomposition (2)</a:t>
            </a:r>
          </a:p>
        </p:txBody>
      </p:sp>
      <p:sp>
        <p:nvSpPr>
          <p:cNvPr id="71684" name="Rectangle 3"/>
          <p:cNvSpPr>
            <a:spLocks noGrp="1" noChangeArrowheads="1"/>
          </p:cNvSpPr>
          <p:nvPr>
            <p:ph sz="quarter" idx="1"/>
          </p:nvPr>
        </p:nvSpPr>
        <p:spPr>
          <a:xfrm>
            <a:off x="685800" y="1981200"/>
            <a:ext cx="8191500" cy="4114800"/>
          </a:xfrm>
        </p:spPr>
        <p:txBody>
          <a:bodyPr>
            <a:normAutofit lnSpcReduction="10000"/>
          </a:bodyPr>
          <a:lstStyle/>
          <a:p>
            <a:pPr marL="609600" indent="-609600"/>
            <a:r>
              <a:rPr lang="en-US" sz="1800" smtClean="0"/>
              <a:t>Three possible decompositions for relation TEACH</a:t>
            </a:r>
          </a:p>
          <a:p>
            <a:pPr marL="990600" lvl="1" indent="-533400">
              <a:buFont typeface="Wingdings" pitchFamily="2" charset="2"/>
              <a:buAutoNum type="arabicPeriod"/>
            </a:pPr>
            <a:r>
              <a:rPr lang="en-US" sz="1800" smtClean="0">
                <a:solidFill>
                  <a:srgbClr val="000000"/>
                </a:solidFill>
                <a:cs typeface="Times New Roman" pitchFamily="18" charset="0"/>
              </a:rPr>
              <a:t>{</a:t>
            </a:r>
            <a:r>
              <a:rPr lang="en-US" sz="1800" u="sng" smtClean="0">
                <a:solidFill>
                  <a:srgbClr val="000000"/>
                </a:solidFill>
                <a:cs typeface="Times New Roman" pitchFamily="18" charset="0"/>
              </a:rPr>
              <a:t>student, instructor</a:t>
            </a:r>
            <a:r>
              <a:rPr lang="en-US" sz="1800" smtClean="0">
                <a:solidFill>
                  <a:srgbClr val="000000"/>
                </a:solidFill>
                <a:cs typeface="Times New Roman" pitchFamily="18" charset="0"/>
              </a:rPr>
              <a:t>} and {</a:t>
            </a:r>
            <a:r>
              <a:rPr lang="en-US" sz="1800" u="sng" smtClean="0">
                <a:solidFill>
                  <a:srgbClr val="000000"/>
                </a:solidFill>
                <a:cs typeface="Times New Roman" pitchFamily="18" charset="0"/>
              </a:rPr>
              <a:t>student, course</a:t>
            </a:r>
            <a:r>
              <a:rPr lang="en-US" sz="1800" smtClean="0">
                <a:solidFill>
                  <a:srgbClr val="000000"/>
                </a:solidFill>
                <a:cs typeface="Times New Roman" pitchFamily="18" charset="0"/>
              </a:rPr>
              <a:t>}</a:t>
            </a:r>
          </a:p>
          <a:p>
            <a:pPr marL="990600" lvl="1" indent="-533400">
              <a:buFont typeface="Wingdings" pitchFamily="2" charset="2"/>
              <a:buAutoNum type="arabicPeriod"/>
            </a:pPr>
            <a:r>
              <a:rPr lang="en-US" sz="1800" smtClean="0">
                <a:solidFill>
                  <a:srgbClr val="000000"/>
                </a:solidFill>
                <a:cs typeface="Times New Roman" pitchFamily="18" charset="0"/>
              </a:rPr>
              <a:t>{course, </a:t>
            </a:r>
            <a:r>
              <a:rPr lang="en-US" sz="1800" u="sng" smtClean="0">
                <a:solidFill>
                  <a:srgbClr val="000000"/>
                </a:solidFill>
                <a:cs typeface="Times New Roman" pitchFamily="18" charset="0"/>
              </a:rPr>
              <a:t>instructor</a:t>
            </a:r>
            <a:r>
              <a:rPr lang="en-US" sz="1800" smtClean="0">
                <a:solidFill>
                  <a:srgbClr val="000000"/>
                </a:solidFill>
                <a:cs typeface="Times New Roman" pitchFamily="18" charset="0"/>
              </a:rPr>
              <a:t> } and {</a:t>
            </a:r>
            <a:r>
              <a:rPr lang="en-US" sz="1800" u="sng" smtClean="0">
                <a:solidFill>
                  <a:srgbClr val="000000"/>
                </a:solidFill>
                <a:cs typeface="Times New Roman" pitchFamily="18" charset="0"/>
              </a:rPr>
              <a:t>course, student</a:t>
            </a:r>
            <a:r>
              <a:rPr lang="en-US" sz="1800" smtClean="0">
                <a:solidFill>
                  <a:srgbClr val="000000"/>
                </a:solidFill>
                <a:cs typeface="Times New Roman" pitchFamily="18" charset="0"/>
              </a:rPr>
              <a:t>}</a:t>
            </a:r>
          </a:p>
          <a:p>
            <a:pPr marL="990600" lvl="1" indent="-533400">
              <a:buFont typeface="Wingdings" pitchFamily="2" charset="2"/>
              <a:buAutoNum type="arabicPeriod"/>
            </a:pPr>
            <a:r>
              <a:rPr lang="en-US" sz="1800" smtClean="0">
                <a:cs typeface="Times New Roman" pitchFamily="18" charset="0"/>
              </a:rPr>
              <a:t>{</a:t>
            </a:r>
            <a:r>
              <a:rPr lang="en-US" sz="1800" u="sng" smtClean="0">
                <a:cs typeface="Times New Roman" pitchFamily="18" charset="0"/>
              </a:rPr>
              <a:t>instructor</a:t>
            </a:r>
            <a:r>
              <a:rPr lang="en-US" sz="1800" smtClean="0">
                <a:cs typeface="Times New Roman" pitchFamily="18" charset="0"/>
              </a:rPr>
              <a:t>, course } and {</a:t>
            </a:r>
            <a:r>
              <a:rPr lang="en-US" sz="1800" u="sng" smtClean="0">
                <a:cs typeface="Times New Roman" pitchFamily="18" charset="0"/>
              </a:rPr>
              <a:t>instructor, student</a:t>
            </a:r>
            <a:r>
              <a:rPr lang="en-US" sz="1800" smtClean="0">
                <a:cs typeface="Times New Roman" pitchFamily="18" charset="0"/>
              </a:rPr>
              <a:t>}</a:t>
            </a:r>
          </a:p>
          <a:p>
            <a:pPr marL="609600" indent="-609600"/>
            <a:r>
              <a:rPr lang="en-US" sz="1800" smtClean="0"/>
              <a:t>All three decompositions will lose fd1. We have to settle for sacrificing the functional dependency preservation. But we </a:t>
            </a:r>
            <a:r>
              <a:rPr lang="en-US" sz="1800" u="sng" smtClean="0"/>
              <a:t>cannot</a:t>
            </a:r>
            <a:r>
              <a:rPr lang="en-US" sz="1800" smtClean="0"/>
              <a:t> sacrifice the non-additivity property after decomposition.</a:t>
            </a:r>
          </a:p>
          <a:p>
            <a:pPr marL="609600" indent="-609600"/>
            <a:r>
              <a:rPr lang="en-US" sz="1800" smtClean="0"/>
              <a:t>Out of the above three, only the 3</a:t>
            </a:r>
            <a:r>
              <a:rPr lang="en-US" sz="1800" baseline="30000" smtClean="0"/>
              <a:t>rd</a:t>
            </a:r>
            <a:r>
              <a:rPr lang="en-US" sz="1800" smtClean="0"/>
              <a:t> decomposition will not generate spurious tuples after join.(and hence has the non-additivity property).</a:t>
            </a:r>
          </a:p>
          <a:p>
            <a:pPr marL="609600" indent="-609600"/>
            <a:r>
              <a:rPr lang="en-US" sz="1800" smtClean="0">
                <a:cs typeface="Times New Roman" pitchFamily="18" charset="0"/>
              </a:rPr>
              <a:t>A test to determine whether a </a:t>
            </a:r>
            <a:r>
              <a:rPr lang="en-US" sz="1800" u="sng" smtClean="0">
                <a:cs typeface="Times New Roman" pitchFamily="18" charset="0"/>
              </a:rPr>
              <a:t>binary decomposition</a:t>
            </a:r>
            <a:r>
              <a:rPr lang="en-US" sz="1800" smtClean="0">
                <a:cs typeface="Times New Roman" pitchFamily="18" charset="0"/>
              </a:rPr>
              <a:t> (decomposition into two relations) is nonadditive (lossless) is discussed in section 11.1.4 under Property LJ1. Verify that the third decomposition above meets the property.</a:t>
            </a:r>
          </a:p>
          <a:p>
            <a:pPr marL="990600" lvl="1" indent="-533400">
              <a:buFont typeface="Wingdings" pitchFamily="2" charset="2"/>
              <a:buNone/>
            </a:pPr>
            <a:r>
              <a:rPr lang="en-US" sz="2000" smtClean="0"/>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800"/>
            <a:ext cx="8308848" cy="990600"/>
          </a:xfrm>
        </p:spPr>
        <p:txBody>
          <a:bodyPr>
            <a:normAutofit/>
          </a:bodyPr>
          <a:lstStyle/>
          <a:p>
            <a:pPr algn="ctr"/>
            <a:r>
              <a:rPr lang="en-US" sz="3600" b="1" dirty="0" smtClean="0"/>
              <a:t>NORMALIZATION ALGORITHMS</a:t>
            </a:r>
            <a:endParaRPr lang="en-US" sz="3600"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Closure of f</a:t>
            </a:r>
          </a:p>
        </p:txBody>
      </p:sp>
      <p:sp>
        <p:nvSpPr>
          <p:cNvPr id="34820" name="Rectangle 3"/>
          <p:cNvSpPr>
            <a:spLocks noGrp="1" noChangeArrowheads="1"/>
          </p:cNvSpPr>
          <p:nvPr>
            <p:ph sz="quarter" idx="1"/>
          </p:nvPr>
        </p:nvSpPr>
        <p:spPr>
          <a:xfrm>
            <a:off x="301625" y="1554163"/>
            <a:ext cx="8686800" cy="4525962"/>
          </a:xfrm>
        </p:spPr>
        <p:txBody>
          <a:bodyPr>
            <a:normAutofit fontScale="92500" lnSpcReduction="20000"/>
          </a:bodyPr>
          <a:lstStyle/>
          <a:p>
            <a:pPr algn="just"/>
            <a:r>
              <a:rPr lang="en-US" sz="2800" smtClean="0"/>
              <a:t>The set of all dependencies that include F as well as all dependencies that can be inferred from F is called the closure of F; it is denoted by F+.</a:t>
            </a:r>
          </a:p>
          <a:p>
            <a:endParaRPr lang="en-US" sz="2800" smtClean="0"/>
          </a:p>
          <a:p>
            <a:r>
              <a:rPr lang="en-US" sz="2800" smtClean="0"/>
              <a:t>Example…</a:t>
            </a:r>
          </a:p>
          <a:p>
            <a:pPr>
              <a:buFont typeface="Wingdings 2" pitchFamily="18" charset="2"/>
              <a:buNone/>
            </a:pPr>
            <a:endParaRPr lang="en-US" sz="1800" i="1" smtClean="0"/>
          </a:p>
          <a:p>
            <a:pPr>
              <a:buFont typeface="Wingdings 2" pitchFamily="18" charset="2"/>
              <a:buNone/>
            </a:pPr>
            <a:r>
              <a:rPr lang="en-US" sz="1800" i="1" smtClean="0"/>
              <a:t>F = {Ssn → {Ename, Bdate, Address, Dnumber}, Dnumber → {Dname, Dmgr_ssn} }</a:t>
            </a:r>
          </a:p>
          <a:p>
            <a:endParaRPr lang="en-US" sz="1800" smtClean="0"/>
          </a:p>
          <a:p>
            <a:r>
              <a:rPr lang="en-US" sz="1800" smtClean="0"/>
              <a:t>Some of the additional functional dependencies that we can infer from F are the following:</a:t>
            </a:r>
          </a:p>
          <a:p>
            <a:endParaRPr lang="en-US" sz="1800" i="1" smtClean="0"/>
          </a:p>
          <a:p>
            <a:pPr>
              <a:buFont typeface="Wingdings 2" pitchFamily="18" charset="2"/>
              <a:buNone/>
            </a:pPr>
            <a:r>
              <a:rPr lang="en-US" sz="1800" smtClean="0"/>
              <a:t>Ssn → {Dname, Dmgr_ssn}</a:t>
            </a:r>
          </a:p>
          <a:p>
            <a:pPr>
              <a:buFont typeface="Wingdings 2" pitchFamily="18" charset="2"/>
              <a:buNone/>
            </a:pPr>
            <a:r>
              <a:rPr lang="en-US" sz="1800" smtClean="0"/>
              <a:t>Ssn → Ssn</a:t>
            </a:r>
          </a:p>
          <a:p>
            <a:pPr>
              <a:buFont typeface="Wingdings 2" pitchFamily="18" charset="2"/>
              <a:buNone/>
            </a:pPr>
            <a:r>
              <a:rPr lang="en-US" sz="1800" smtClean="0"/>
              <a:t>Dnumber → Dname</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2.2 Inference Rules for FDs (1)</a:t>
            </a:r>
            <a:r>
              <a:rPr lang="en-US" smtClean="0"/>
              <a:t> </a:t>
            </a:r>
          </a:p>
        </p:txBody>
      </p:sp>
      <p:sp>
        <p:nvSpPr>
          <p:cNvPr id="35844" name="Rectangle 3"/>
          <p:cNvSpPr>
            <a:spLocks noGrp="1" noChangeArrowheads="1"/>
          </p:cNvSpPr>
          <p:nvPr>
            <p:ph sz="quarter" idx="1"/>
          </p:nvPr>
        </p:nvSpPr>
        <p:spPr>
          <a:xfrm>
            <a:off x="612775" y="1600200"/>
            <a:ext cx="8153400" cy="4495800"/>
          </a:xfrm>
        </p:spPr>
        <p:txBody>
          <a:bodyPr/>
          <a:lstStyle/>
          <a:p>
            <a:pPr>
              <a:lnSpc>
                <a:spcPct val="90000"/>
              </a:lnSpc>
            </a:pPr>
            <a:r>
              <a:rPr lang="en-US" sz="2800" smtClean="0">
                <a:cs typeface="Times New Roman" pitchFamily="18" charset="0"/>
              </a:rPr>
              <a:t>Given a set of FDs F, we can </a:t>
            </a:r>
            <a:r>
              <a:rPr lang="en-US" sz="2800" i="1" smtClean="0">
                <a:cs typeface="Times New Roman" pitchFamily="18" charset="0"/>
              </a:rPr>
              <a:t>infer</a:t>
            </a:r>
            <a:r>
              <a:rPr lang="en-US" sz="2800" smtClean="0">
                <a:cs typeface="Times New Roman" pitchFamily="18" charset="0"/>
              </a:rPr>
              <a:t>  additional FDs that hold whenever the FDs in F hold</a:t>
            </a:r>
          </a:p>
          <a:p>
            <a:pPr>
              <a:lnSpc>
                <a:spcPct val="90000"/>
              </a:lnSpc>
              <a:buFont typeface="Wingdings" pitchFamily="2" charset="2"/>
              <a:buNone/>
            </a:pPr>
            <a:r>
              <a:rPr lang="en-US" sz="2800" smtClean="0">
                <a:cs typeface="Times New Roman" pitchFamily="18" charset="0"/>
              </a:rPr>
              <a:t> </a:t>
            </a:r>
            <a:r>
              <a:rPr lang="en-US" sz="2800" b="1" u="sng" smtClean="0">
                <a:cs typeface="Times New Roman" pitchFamily="18" charset="0"/>
              </a:rPr>
              <a:t>Armstrong's inference rules:</a:t>
            </a:r>
            <a:endParaRPr lang="en-US" sz="2800" b="1" smtClean="0">
              <a:cs typeface="Times New Roman" pitchFamily="18" charset="0"/>
            </a:endParaRPr>
          </a:p>
          <a:p>
            <a:pPr>
              <a:lnSpc>
                <a:spcPct val="90000"/>
              </a:lnSpc>
              <a:buFont typeface="Wingdings" pitchFamily="2" charset="2"/>
              <a:buNone/>
            </a:pPr>
            <a:r>
              <a:rPr lang="en-US" sz="2400" smtClean="0">
                <a:cs typeface="Times New Roman" pitchFamily="18" charset="0"/>
              </a:rPr>
              <a:t>IR1. (</a:t>
            </a:r>
            <a:r>
              <a:rPr lang="en-US" sz="2400" b="1" smtClean="0">
                <a:cs typeface="Times New Roman" pitchFamily="18" charset="0"/>
              </a:rPr>
              <a:t>Reflexive</a:t>
            </a:r>
            <a:r>
              <a:rPr lang="en-US" sz="2400" smtClean="0">
                <a:cs typeface="Times New Roman" pitchFamily="18" charset="0"/>
              </a:rPr>
              <a:t>) If Y </a:t>
            </a:r>
            <a:r>
              <a:rPr lang="en-US" sz="2400" i="1" u="sng" smtClean="0">
                <a:latin typeface="BostonII" charset="0"/>
                <a:cs typeface="Times New Roman" pitchFamily="18" charset="0"/>
              </a:rPr>
              <a:t>subset-of</a:t>
            </a:r>
            <a:r>
              <a:rPr lang="en-US" sz="2400" smtClean="0">
                <a:cs typeface="Times New Roman" pitchFamily="18" charset="0"/>
              </a:rPr>
              <a:t> X, then X </a:t>
            </a:r>
            <a:r>
              <a:rPr lang="en-US" sz="2400" smtClean="0">
                <a:latin typeface="BostonII" charset="0"/>
                <a:cs typeface="Times New Roman" pitchFamily="18" charset="0"/>
              </a:rPr>
              <a:t>-&gt; </a:t>
            </a:r>
            <a:r>
              <a:rPr lang="en-US" sz="2400" smtClean="0">
                <a:cs typeface="Times New Roman" pitchFamily="18" charset="0"/>
              </a:rPr>
              <a:t>Y</a:t>
            </a:r>
          </a:p>
          <a:p>
            <a:pPr>
              <a:lnSpc>
                <a:spcPct val="90000"/>
              </a:lnSpc>
              <a:buFont typeface="Wingdings" pitchFamily="2" charset="2"/>
              <a:buNone/>
            </a:pPr>
            <a:r>
              <a:rPr lang="en-US" sz="2400" smtClean="0">
                <a:cs typeface="Times New Roman" pitchFamily="18" charset="0"/>
              </a:rPr>
              <a:t>IR2. (</a:t>
            </a:r>
            <a:r>
              <a:rPr lang="en-US" sz="2400" b="1" smtClean="0">
                <a:cs typeface="Times New Roman" pitchFamily="18" charset="0"/>
              </a:rPr>
              <a:t>Augmentation</a:t>
            </a:r>
            <a:r>
              <a:rPr lang="en-US" sz="2400" smtClean="0">
                <a:cs typeface="Times New Roman" pitchFamily="18" charset="0"/>
              </a:rPr>
              <a:t>) If X </a:t>
            </a:r>
            <a:r>
              <a:rPr lang="en-US" sz="2400" smtClean="0">
                <a:latin typeface="BostonII" charset="0"/>
                <a:cs typeface="Times New Roman" pitchFamily="18" charset="0"/>
              </a:rPr>
              <a:t>-&gt; </a:t>
            </a:r>
            <a:r>
              <a:rPr lang="en-US" sz="2400" smtClean="0">
                <a:cs typeface="Times New Roman" pitchFamily="18" charset="0"/>
              </a:rPr>
              <a:t>Y, then XZ </a:t>
            </a:r>
            <a:r>
              <a:rPr lang="en-US" sz="2400" smtClean="0">
                <a:latin typeface="BostonII" charset="0"/>
                <a:cs typeface="Times New Roman" pitchFamily="18" charset="0"/>
              </a:rPr>
              <a:t>-&gt; </a:t>
            </a:r>
            <a:r>
              <a:rPr lang="en-US" sz="2400" smtClean="0">
                <a:cs typeface="Times New Roman" pitchFamily="18" charset="0"/>
              </a:rPr>
              <a:t>YZ</a:t>
            </a:r>
          </a:p>
          <a:p>
            <a:pPr>
              <a:lnSpc>
                <a:spcPct val="90000"/>
              </a:lnSpc>
              <a:buFont typeface="Wingdings" pitchFamily="2" charset="2"/>
              <a:buNone/>
            </a:pPr>
            <a:r>
              <a:rPr lang="en-US" sz="2400" smtClean="0">
                <a:cs typeface="Times New Roman" pitchFamily="18" charset="0"/>
              </a:rPr>
              <a:t>		(Notation: XZ stands for X </a:t>
            </a:r>
            <a:r>
              <a:rPr lang="en-US" sz="2400" smtClean="0">
                <a:latin typeface="BostonII" charset="0"/>
                <a:cs typeface="Times New Roman" pitchFamily="18" charset="0"/>
              </a:rPr>
              <a:t>U</a:t>
            </a:r>
            <a:r>
              <a:rPr lang="en-US" sz="2400" smtClean="0">
                <a:cs typeface="Times New Roman" pitchFamily="18" charset="0"/>
              </a:rPr>
              <a:t> Z)</a:t>
            </a:r>
          </a:p>
          <a:p>
            <a:pPr>
              <a:lnSpc>
                <a:spcPct val="90000"/>
              </a:lnSpc>
              <a:buFont typeface="Wingdings" pitchFamily="2" charset="2"/>
              <a:buNone/>
            </a:pPr>
            <a:r>
              <a:rPr lang="en-US" sz="2400" smtClean="0">
                <a:cs typeface="Times New Roman" pitchFamily="18" charset="0"/>
              </a:rPr>
              <a:t>IR3. (</a:t>
            </a:r>
            <a:r>
              <a:rPr lang="en-US" sz="2400" b="1" smtClean="0">
                <a:cs typeface="Times New Roman" pitchFamily="18" charset="0"/>
              </a:rPr>
              <a:t>Transitive</a:t>
            </a:r>
            <a:r>
              <a:rPr lang="en-US" sz="2400" smtClean="0">
                <a:cs typeface="Times New Roman" pitchFamily="18" charset="0"/>
              </a:rPr>
              <a:t>) If X </a:t>
            </a:r>
            <a:r>
              <a:rPr lang="en-US" sz="2400" smtClean="0">
                <a:latin typeface="BostonII" charset="0"/>
                <a:cs typeface="Times New Roman" pitchFamily="18" charset="0"/>
              </a:rPr>
              <a:t>-&gt; </a:t>
            </a:r>
            <a:r>
              <a:rPr lang="en-US" sz="2400" smtClean="0">
                <a:cs typeface="Times New Roman" pitchFamily="18" charset="0"/>
              </a:rPr>
              <a:t>Y and Y </a:t>
            </a:r>
            <a:r>
              <a:rPr lang="en-US" sz="2400" smtClean="0">
                <a:latin typeface="BostonII" charset="0"/>
                <a:cs typeface="Times New Roman" pitchFamily="18" charset="0"/>
              </a:rPr>
              <a:t>-&gt; </a:t>
            </a:r>
            <a:r>
              <a:rPr lang="en-US" sz="2400" smtClean="0">
                <a:cs typeface="Times New Roman" pitchFamily="18" charset="0"/>
              </a:rPr>
              <a:t>Z, then X </a:t>
            </a:r>
            <a:r>
              <a:rPr lang="en-US" sz="2400" smtClean="0">
                <a:latin typeface="BostonII" charset="0"/>
                <a:cs typeface="Times New Roman" pitchFamily="18" charset="0"/>
              </a:rPr>
              <a:t>-&gt; </a:t>
            </a:r>
            <a:r>
              <a:rPr lang="en-US" sz="2400" smtClean="0">
                <a:cs typeface="Times New Roman" pitchFamily="18" charset="0"/>
              </a:rPr>
              <a:t>Z</a:t>
            </a:r>
          </a:p>
          <a:p>
            <a:pPr>
              <a:lnSpc>
                <a:spcPct val="90000"/>
              </a:lnSpc>
              <a:buFont typeface="Wingdings" pitchFamily="2" charset="2"/>
              <a:buNone/>
            </a:pPr>
            <a:endParaRPr lang="en-US" sz="2400" smtClean="0">
              <a:cs typeface="Times New Roman" pitchFamily="18" charset="0"/>
            </a:endParaRPr>
          </a:p>
          <a:p>
            <a:pPr>
              <a:lnSpc>
                <a:spcPct val="90000"/>
              </a:lnSpc>
            </a:pPr>
            <a:r>
              <a:rPr lang="en-US" sz="2800" smtClean="0">
                <a:cs typeface="Times New Roman" pitchFamily="18" charset="0"/>
              </a:rPr>
              <a:t> IR1, IR2, IR3 form a </a:t>
            </a:r>
            <a:r>
              <a:rPr lang="en-US" sz="2800" i="1" smtClean="0">
                <a:cs typeface="Times New Roman" pitchFamily="18" charset="0"/>
              </a:rPr>
              <a:t>sound</a:t>
            </a:r>
            <a:r>
              <a:rPr lang="en-US" sz="2800" smtClean="0">
                <a:cs typeface="Times New Roman" pitchFamily="18" charset="0"/>
              </a:rPr>
              <a:t>  and</a:t>
            </a:r>
            <a:r>
              <a:rPr lang="en-US" sz="2800" i="1" smtClean="0">
                <a:cs typeface="Times New Roman" pitchFamily="18" charset="0"/>
              </a:rPr>
              <a:t> complete</a:t>
            </a:r>
            <a:r>
              <a:rPr lang="en-US" sz="2800" smtClean="0">
                <a:cs typeface="Times New Roman" pitchFamily="18" charset="0"/>
              </a:rPr>
              <a:t>  set of inference rules</a:t>
            </a:r>
            <a:r>
              <a:rPr lang="en-US" sz="2800" smtClean="0"/>
              <a:t> </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Inference Rules for FDs (2)</a:t>
            </a:r>
          </a:p>
        </p:txBody>
      </p:sp>
      <p:sp>
        <p:nvSpPr>
          <p:cNvPr id="36868" name="Rectangle 3"/>
          <p:cNvSpPr>
            <a:spLocks noGrp="1" noChangeArrowheads="1"/>
          </p:cNvSpPr>
          <p:nvPr>
            <p:ph sz="quarter" idx="1"/>
          </p:nvPr>
        </p:nvSpPr>
        <p:spPr>
          <a:xfrm>
            <a:off x="612775" y="1600200"/>
            <a:ext cx="8153400" cy="4495800"/>
          </a:xfrm>
        </p:spPr>
        <p:txBody>
          <a:bodyPr/>
          <a:lstStyle/>
          <a:p>
            <a:pPr>
              <a:buFont typeface="Wingdings" pitchFamily="2" charset="2"/>
              <a:buNone/>
            </a:pPr>
            <a:r>
              <a:rPr lang="en-US" sz="2800" u="sng" smtClean="0">
                <a:cs typeface="Times New Roman" pitchFamily="18" charset="0"/>
              </a:rPr>
              <a:t>Some </a:t>
            </a:r>
            <a:r>
              <a:rPr lang="en-US" sz="2800" b="1" u="sng" smtClean="0">
                <a:cs typeface="Times New Roman" pitchFamily="18" charset="0"/>
              </a:rPr>
              <a:t>additional inference rules</a:t>
            </a:r>
            <a:r>
              <a:rPr lang="en-US" sz="2800" u="sng" smtClean="0">
                <a:cs typeface="Times New Roman" pitchFamily="18" charset="0"/>
              </a:rPr>
              <a:t> that are useful:</a:t>
            </a:r>
            <a:endParaRPr lang="en-US" sz="2800" smtClean="0">
              <a:cs typeface="Times New Roman" pitchFamily="18" charset="0"/>
            </a:endParaRPr>
          </a:p>
          <a:p>
            <a:pPr>
              <a:buFont typeface="Wingdings" pitchFamily="2" charset="2"/>
              <a:buNone/>
            </a:pPr>
            <a:r>
              <a:rPr lang="en-US" sz="2400" smtClean="0">
                <a:cs typeface="Times New Roman" pitchFamily="18" charset="0"/>
              </a:rPr>
              <a:t>(</a:t>
            </a:r>
            <a:r>
              <a:rPr lang="en-US" sz="2400" b="1" smtClean="0">
                <a:cs typeface="Times New Roman" pitchFamily="18" charset="0"/>
              </a:rPr>
              <a:t>Decomposition</a:t>
            </a:r>
            <a:r>
              <a:rPr lang="en-US" sz="2400" smtClean="0">
                <a:cs typeface="Times New Roman" pitchFamily="18" charset="0"/>
              </a:rPr>
              <a:t>) If X </a:t>
            </a:r>
            <a:r>
              <a:rPr lang="en-US" sz="2400" smtClean="0">
                <a:latin typeface="BostonII" charset="0"/>
                <a:cs typeface="Times New Roman" pitchFamily="18" charset="0"/>
              </a:rPr>
              <a:t>-&gt; </a:t>
            </a:r>
            <a:r>
              <a:rPr lang="en-US" sz="2400" smtClean="0">
                <a:cs typeface="Times New Roman" pitchFamily="18" charset="0"/>
              </a:rPr>
              <a:t>YZ, then X </a:t>
            </a:r>
            <a:r>
              <a:rPr lang="en-US" sz="2400" smtClean="0">
                <a:latin typeface="BostonII" charset="0"/>
                <a:cs typeface="Times New Roman" pitchFamily="18" charset="0"/>
              </a:rPr>
              <a:t>-&gt; </a:t>
            </a:r>
            <a:r>
              <a:rPr lang="en-US" sz="2400" smtClean="0">
                <a:cs typeface="Times New Roman" pitchFamily="18" charset="0"/>
              </a:rPr>
              <a:t>Y and X </a:t>
            </a:r>
            <a:r>
              <a:rPr lang="en-US" sz="2400" smtClean="0">
                <a:latin typeface="BostonII" charset="0"/>
                <a:cs typeface="Times New Roman" pitchFamily="18" charset="0"/>
              </a:rPr>
              <a:t>-&gt; </a:t>
            </a:r>
            <a:r>
              <a:rPr lang="en-US" sz="2400" smtClean="0">
                <a:cs typeface="Times New Roman" pitchFamily="18" charset="0"/>
              </a:rPr>
              <a:t>Z</a:t>
            </a:r>
          </a:p>
          <a:p>
            <a:pPr>
              <a:buFont typeface="Wingdings" pitchFamily="2" charset="2"/>
              <a:buNone/>
            </a:pPr>
            <a:r>
              <a:rPr lang="en-US" sz="2400" smtClean="0">
                <a:cs typeface="Times New Roman" pitchFamily="18" charset="0"/>
              </a:rPr>
              <a:t>(</a:t>
            </a:r>
            <a:r>
              <a:rPr lang="en-US" sz="2400" b="1" smtClean="0">
                <a:cs typeface="Times New Roman" pitchFamily="18" charset="0"/>
              </a:rPr>
              <a:t>Union</a:t>
            </a:r>
            <a:r>
              <a:rPr lang="en-US" sz="2400" smtClean="0">
                <a:cs typeface="Times New Roman" pitchFamily="18" charset="0"/>
              </a:rPr>
              <a:t>) If X </a:t>
            </a:r>
            <a:r>
              <a:rPr lang="en-US" sz="2400" smtClean="0">
                <a:latin typeface="BostonII" charset="0"/>
                <a:cs typeface="Times New Roman" pitchFamily="18" charset="0"/>
              </a:rPr>
              <a:t>-&gt; </a:t>
            </a:r>
            <a:r>
              <a:rPr lang="en-US" sz="2400" smtClean="0">
                <a:cs typeface="Times New Roman" pitchFamily="18" charset="0"/>
              </a:rPr>
              <a:t>Y and X </a:t>
            </a:r>
            <a:r>
              <a:rPr lang="en-US" sz="2400" smtClean="0">
                <a:latin typeface="BostonII" charset="0"/>
                <a:cs typeface="Times New Roman" pitchFamily="18" charset="0"/>
              </a:rPr>
              <a:t>-&gt; </a:t>
            </a:r>
            <a:r>
              <a:rPr lang="en-US" sz="2400" smtClean="0">
                <a:cs typeface="Times New Roman" pitchFamily="18" charset="0"/>
              </a:rPr>
              <a:t>Z, then X </a:t>
            </a:r>
            <a:r>
              <a:rPr lang="en-US" sz="2400" smtClean="0">
                <a:latin typeface="BostonII" charset="0"/>
                <a:cs typeface="Times New Roman" pitchFamily="18" charset="0"/>
              </a:rPr>
              <a:t>-&gt; </a:t>
            </a:r>
            <a:r>
              <a:rPr lang="en-US" sz="2400" smtClean="0">
                <a:cs typeface="Times New Roman" pitchFamily="18" charset="0"/>
              </a:rPr>
              <a:t>YZ</a:t>
            </a:r>
          </a:p>
          <a:p>
            <a:pPr>
              <a:buFont typeface="Wingdings" pitchFamily="2" charset="2"/>
              <a:buNone/>
            </a:pPr>
            <a:r>
              <a:rPr lang="en-US" sz="2400" smtClean="0">
                <a:cs typeface="Times New Roman" pitchFamily="18" charset="0"/>
              </a:rPr>
              <a:t>(</a:t>
            </a:r>
            <a:r>
              <a:rPr lang="en-US" sz="2400" b="1" smtClean="0">
                <a:cs typeface="Times New Roman" pitchFamily="18" charset="0"/>
              </a:rPr>
              <a:t>Psuedotransitivity</a:t>
            </a:r>
            <a:r>
              <a:rPr lang="en-US" sz="2400" smtClean="0">
                <a:cs typeface="Times New Roman" pitchFamily="18" charset="0"/>
              </a:rPr>
              <a:t>) If X </a:t>
            </a:r>
            <a:r>
              <a:rPr lang="en-US" sz="2400" smtClean="0">
                <a:latin typeface="BostonII" charset="0"/>
                <a:cs typeface="Times New Roman" pitchFamily="18" charset="0"/>
              </a:rPr>
              <a:t>-&gt; </a:t>
            </a:r>
            <a:r>
              <a:rPr lang="en-US" sz="2400" smtClean="0">
                <a:cs typeface="Times New Roman" pitchFamily="18" charset="0"/>
              </a:rPr>
              <a:t>Y and WY </a:t>
            </a:r>
            <a:r>
              <a:rPr lang="en-US" sz="2400" smtClean="0">
                <a:latin typeface="BostonII" charset="0"/>
                <a:cs typeface="Times New Roman" pitchFamily="18" charset="0"/>
              </a:rPr>
              <a:t>-&gt; </a:t>
            </a:r>
            <a:r>
              <a:rPr lang="en-US" sz="2400" smtClean="0">
                <a:cs typeface="Times New Roman" pitchFamily="18" charset="0"/>
              </a:rPr>
              <a:t>Z, then WX </a:t>
            </a:r>
            <a:r>
              <a:rPr lang="en-US" sz="2400" smtClean="0">
                <a:latin typeface="BostonII" charset="0"/>
                <a:cs typeface="Times New Roman" pitchFamily="18" charset="0"/>
              </a:rPr>
              <a:t>-&gt; </a:t>
            </a:r>
            <a:r>
              <a:rPr lang="en-US" sz="2400" smtClean="0">
                <a:cs typeface="Times New Roman" pitchFamily="18" charset="0"/>
              </a:rPr>
              <a:t>Z</a:t>
            </a:r>
          </a:p>
          <a:p>
            <a:pPr>
              <a:buFont typeface="Wingdings" pitchFamily="2" charset="2"/>
              <a:buNone/>
            </a:pPr>
            <a:endParaRPr lang="en-US" sz="2400" smtClean="0">
              <a:cs typeface="Times New Roman" pitchFamily="18" charset="0"/>
            </a:endParaRPr>
          </a:p>
          <a:p>
            <a:r>
              <a:rPr lang="en-US" sz="2800" smtClean="0">
                <a:cs typeface="Times New Roman" pitchFamily="18" charset="0"/>
              </a:rPr>
              <a:t> The last three inference rules, as well as any other inference rules, can be deduced from IR1, IR2, and IR3 (completeness property)</a:t>
            </a:r>
            <a:r>
              <a:rPr lang="en-US" sz="2800" smtClean="0"/>
              <a:t> </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12775" y="228600"/>
            <a:ext cx="8153400" cy="990600"/>
          </a:xfrm>
        </p:spPr>
        <p:txBody>
          <a:bodyPr/>
          <a:lstStyle/>
          <a:p>
            <a:r>
              <a:rPr lang="en-US" smtClean="0"/>
              <a:t>PROOF</a:t>
            </a:r>
          </a:p>
        </p:txBody>
      </p:sp>
      <p:sp>
        <p:nvSpPr>
          <p:cNvPr id="37892" name="Content Placeholder 2"/>
          <p:cNvSpPr>
            <a:spLocks noGrp="1"/>
          </p:cNvSpPr>
          <p:nvPr>
            <p:ph sz="quarter" idx="1"/>
          </p:nvPr>
        </p:nvSpPr>
        <p:spPr>
          <a:xfrm>
            <a:off x="612775" y="1600200"/>
            <a:ext cx="8153400" cy="4495800"/>
          </a:xfrm>
        </p:spPr>
        <p:txBody>
          <a:bodyPr>
            <a:normAutofit lnSpcReduction="10000"/>
          </a:bodyPr>
          <a:lstStyle/>
          <a:p>
            <a:pPr algn="just"/>
            <a:r>
              <a:rPr lang="en-US" sz="2400" smtClean="0"/>
              <a:t>Proof of IR1. </a:t>
            </a:r>
          </a:p>
          <a:p>
            <a:pPr lvl="1" algn="just"/>
            <a:r>
              <a:rPr lang="en-US" sz="1800" smtClean="0"/>
              <a:t>Suppose that X ⊇ Y and that two tuples t1 and t2 exist in some relation instance r of R such that t1 [X] = t2 [X]. Then t1[Y] = t2[Y] because X ⊇ Y; hence, X→Y must hold in r.</a:t>
            </a:r>
          </a:p>
          <a:p>
            <a:pPr algn="just"/>
            <a:r>
              <a:rPr lang="en-US" sz="2400" smtClean="0"/>
              <a:t>Proof of IR2 (by contradiction). </a:t>
            </a:r>
          </a:p>
          <a:p>
            <a:pPr lvl="1" algn="just"/>
            <a:r>
              <a:rPr lang="en-US" sz="1800" smtClean="0"/>
              <a:t>Assume that X→Y holds in a relation instance r of R but that XZ→YZ does not hold. Then there must exist two tuples t1 and t2 in r such that (1) t1 [X] = t2 [X], (2) t1 [Y] = t2 [Y], (3) t1 [XZ] = t2 [XZ], and (4) t1 [YZ] ≠ t2 [YZ]. This is not possible because from (1) and (3) we deduce (5) t1 [Z] = t2 [Z], and from (2) and (5) we deduce (6) t1 [YZ] = t2 [YZ], contradicting (4).</a:t>
            </a:r>
          </a:p>
          <a:p>
            <a:pPr algn="just"/>
            <a:r>
              <a:rPr lang="en-US" sz="2400" smtClean="0"/>
              <a:t>Proof of IR3. </a:t>
            </a:r>
          </a:p>
          <a:p>
            <a:pPr lvl="1" algn="just"/>
            <a:r>
              <a:rPr lang="en-US" sz="1800" smtClean="0"/>
              <a:t>Assume that (1) X → Y and (2) Y → Z both hold in a relation r. Then for any two tuples t1 and t2 in r such that t1 [X] = t2 [X], we must have (3) t1 [Y] = t2 [Y], from assumption (1); hence we must also have (4) t1 [Z] = t2 [Z] from (3) and assumption (2); thus X→Z must hold in r.</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612775" y="228600"/>
            <a:ext cx="8153400" cy="990600"/>
          </a:xfrm>
        </p:spPr>
        <p:txBody>
          <a:bodyPr/>
          <a:lstStyle/>
          <a:p>
            <a:r>
              <a:rPr lang="en-US" smtClean="0"/>
              <a:t>CONTD</a:t>
            </a:r>
          </a:p>
        </p:txBody>
      </p:sp>
      <p:sp>
        <p:nvSpPr>
          <p:cNvPr id="38916" name="Content Placeholder 2"/>
          <p:cNvSpPr>
            <a:spLocks noGrp="1"/>
          </p:cNvSpPr>
          <p:nvPr>
            <p:ph sz="quarter" idx="1"/>
          </p:nvPr>
        </p:nvSpPr>
        <p:spPr>
          <a:xfrm>
            <a:off x="304800" y="1465263"/>
            <a:ext cx="8686800" cy="4525962"/>
          </a:xfrm>
        </p:spPr>
        <p:txBody>
          <a:bodyPr>
            <a:normAutofit fontScale="92500" lnSpcReduction="20000"/>
          </a:bodyPr>
          <a:lstStyle/>
          <a:p>
            <a:r>
              <a:rPr lang="en-US" sz="2400" smtClean="0"/>
              <a:t>Proof of IR4 (Using IR1 through IR3).</a:t>
            </a:r>
          </a:p>
          <a:p>
            <a:pPr lvl="1"/>
            <a:r>
              <a:rPr lang="en-US" sz="1800" smtClean="0"/>
              <a:t>X→YZ (given).</a:t>
            </a:r>
          </a:p>
          <a:p>
            <a:pPr lvl="1"/>
            <a:r>
              <a:rPr lang="en-US" sz="1800" smtClean="0"/>
              <a:t>YZ→Y (using IR1 and knowing that YZ ⊇ Y).</a:t>
            </a:r>
          </a:p>
          <a:p>
            <a:pPr lvl="1"/>
            <a:r>
              <a:rPr lang="en-US" sz="1800" smtClean="0"/>
              <a:t>X→Y (using IR3 on 1 and 2).</a:t>
            </a:r>
          </a:p>
          <a:p>
            <a:r>
              <a:rPr lang="en-US" sz="2400" smtClean="0"/>
              <a:t>Proof of IR5 (using IR1 through IR3).</a:t>
            </a:r>
          </a:p>
          <a:p>
            <a:pPr lvl="1"/>
            <a:r>
              <a:rPr lang="en-US" sz="1800" smtClean="0"/>
              <a:t>X→Y (given).</a:t>
            </a:r>
          </a:p>
          <a:p>
            <a:pPr lvl="1"/>
            <a:r>
              <a:rPr lang="en-US" sz="1800" smtClean="0"/>
              <a:t>X→Z (given).</a:t>
            </a:r>
          </a:p>
          <a:p>
            <a:pPr lvl="1"/>
            <a:r>
              <a:rPr lang="en-US" sz="1800" smtClean="0"/>
              <a:t>X→XY (using IR2 on 1 by augmenting with X; notice that XX = X).</a:t>
            </a:r>
          </a:p>
          <a:p>
            <a:pPr lvl="1"/>
            <a:r>
              <a:rPr lang="en-US" sz="1800" smtClean="0"/>
              <a:t>XY→YZ (using IR2 on 2 by augmenting with Y).</a:t>
            </a:r>
          </a:p>
          <a:p>
            <a:pPr lvl="1"/>
            <a:r>
              <a:rPr lang="en-US" sz="1800" smtClean="0"/>
              <a:t>X→YZ (using IR3 on 3 and 4).</a:t>
            </a:r>
          </a:p>
          <a:p>
            <a:r>
              <a:rPr lang="en-US" sz="2400" smtClean="0"/>
              <a:t>Proof of IR6 (using IR1 through IR3).</a:t>
            </a:r>
          </a:p>
          <a:p>
            <a:pPr lvl="1"/>
            <a:r>
              <a:rPr lang="en-US" sz="1800" smtClean="0"/>
              <a:t>X→Y (given).</a:t>
            </a:r>
          </a:p>
          <a:p>
            <a:pPr lvl="1"/>
            <a:r>
              <a:rPr lang="en-US" sz="1800" smtClean="0"/>
              <a:t>WY→Z (given).</a:t>
            </a:r>
          </a:p>
          <a:p>
            <a:pPr lvl="1"/>
            <a:r>
              <a:rPr lang="en-US" sz="1800" smtClean="0"/>
              <a:t>WX→WY (using IR2 on 1 by augmenting with W).</a:t>
            </a:r>
          </a:p>
          <a:p>
            <a:pPr lvl="1"/>
            <a:r>
              <a:rPr lang="en-US" sz="1800" smtClean="0"/>
              <a:t>WX→Z (using IR3 on 3 and 2).</a:t>
            </a:r>
          </a:p>
        </p:txBody>
      </p:sp>
      <p:sp>
        <p:nvSpPr>
          <p:cNvPr id="8" name="Footer Placeholder 7"/>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612775" y="228600"/>
            <a:ext cx="8153400" cy="990600"/>
          </a:xfrm>
        </p:spPr>
        <p:txBody>
          <a:bodyPr/>
          <a:lstStyle/>
          <a:p>
            <a:endParaRPr lang="en-US" smtClean="0"/>
          </a:p>
        </p:txBody>
      </p:sp>
      <p:sp>
        <p:nvSpPr>
          <p:cNvPr id="39940" name="Content Placeholder 2"/>
          <p:cNvSpPr>
            <a:spLocks noGrp="1"/>
          </p:cNvSpPr>
          <p:nvPr>
            <p:ph sz="quarter" idx="1"/>
          </p:nvPr>
        </p:nvSpPr>
        <p:spPr>
          <a:xfrm>
            <a:off x="612775" y="1600200"/>
            <a:ext cx="8153400" cy="4495800"/>
          </a:xfrm>
        </p:spPr>
        <p:txBody>
          <a:bodyPr/>
          <a:lstStyle/>
          <a:p>
            <a:pPr algn="just"/>
            <a:r>
              <a:rPr lang="en-US" sz="2800" smtClean="0"/>
              <a:t>The inference rules IR1 through IR3 are </a:t>
            </a:r>
            <a:r>
              <a:rPr lang="en-US" sz="2800" b="1" smtClean="0"/>
              <a:t>sound</a:t>
            </a:r>
            <a:r>
              <a:rPr lang="en-US" sz="2800" smtClean="0"/>
              <a:t> and </a:t>
            </a:r>
            <a:r>
              <a:rPr lang="en-US" sz="2800" b="1" smtClean="0"/>
              <a:t>complete</a:t>
            </a:r>
          </a:p>
          <a:p>
            <a:pPr lvl="1" algn="just"/>
            <a:r>
              <a:rPr lang="en-US" sz="2400" b="1" smtClean="0"/>
              <a:t>sound </a:t>
            </a:r>
            <a:r>
              <a:rPr lang="en-US" sz="2400" smtClean="0"/>
              <a:t>because given a set of functional dependencies F specified on a relation schema R, any dependency that we can infer from F by using IR1 through IR3 holds in every relation state r or R that satisfies the dependencies in F.</a:t>
            </a:r>
          </a:p>
          <a:p>
            <a:pPr lvl="1" algn="just"/>
            <a:endParaRPr lang="en-US" sz="2400" smtClean="0"/>
          </a:p>
          <a:p>
            <a:pPr lvl="1" algn="just"/>
            <a:r>
              <a:rPr lang="en-US" sz="2400" b="1" smtClean="0"/>
              <a:t>complete </a:t>
            </a:r>
            <a:r>
              <a:rPr lang="en-US" sz="2400" smtClean="0"/>
              <a:t>because using IR1 through IR3 repeatedly to infer dependencies until no more dependencies can be inferred results in the complete set of all possible dependencies that can be inferred from F.</a:t>
            </a:r>
            <a:endParaRPr lang="en-US" sz="2400" b="1" smtClean="0"/>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CODD’s Rule</a:t>
            </a:r>
            <a:endParaRPr lang="en-IN" dirty="0"/>
          </a:p>
        </p:txBody>
      </p:sp>
      <p:sp>
        <p:nvSpPr>
          <p:cNvPr id="4" name="Content Placeholder 3"/>
          <p:cNvSpPr>
            <a:spLocks noGrp="1"/>
          </p:cNvSpPr>
          <p:nvPr>
            <p:ph sz="quarter" idx="1"/>
          </p:nvPr>
        </p:nvSpPr>
        <p:spPr/>
        <p:txBody>
          <a:bodyPr>
            <a:normAutofit fontScale="77500" lnSpcReduction="20000"/>
          </a:bodyPr>
          <a:lstStyle/>
          <a:p>
            <a:r>
              <a:rPr lang="en-IN" dirty="0"/>
              <a:t>Information Rule</a:t>
            </a:r>
          </a:p>
          <a:p>
            <a:r>
              <a:rPr lang="en-IN" dirty="0"/>
              <a:t>Guaranteed Access Rule</a:t>
            </a:r>
          </a:p>
          <a:p>
            <a:r>
              <a:rPr lang="en-US" dirty="0"/>
              <a:t>Systematic Treatment of NULL Values</a:t>
            </a:r>
          </a:p>
          <a:p>
            <a:r>
              <a:rPr lang="en-IN" dirty="0"/>
              <a:t>Active Online Catalog</a:t>
            </a:r>
          </a:p>
          <a:p>
            <a:r>
              <a:rPr lang="en-IN" dirty="0"/>
              <a:t>Comprehensive Data Sub-Language Rule</a:t>
            </a:r>
          </a:p>
          <a:p>
            <a:r>
              <a:rPr lang="en-IN" dirty="0"/>
              <a:t>View Updating Rule</a:t>
            </a:r>
          </a:p>
          <a:p>
            <a:r>
              <a:rPr lang="en-US" dirty="0"/>
              <a:t>High-Level Insert, Update, and Delete Rule</a:t>
            </a:r>
          </a:p>
          <a:p>
            <a:r>
              <a:rPr lang="en-IN" dirty="0"/>
              <a:t>Physical Data Independence</a:t>
            </a:r>
          </a:p>
          <a:p>
            <a:r>
              <a:rPr lang="en-IN" dirty="0"/>
              <a:t>Logical Data Independence</a:t>
            </a:r>
          </a:p>
          <a:p>
            <a:r>
              <a:rPr lang="en-IN" dirty="0"/>
              <a:t>Integrity Independence</a:t>
            </a:r>
          </a:p>
          <a:p>
            <a:r>
              <a:rPr lang="en-IN" dirty="0"/>
              <a:t>Distribution Independence</a:t>
            </a:r>
          </a:p>
          <a:p>
            <a:r>
              <a:rPr lang="en-IN" dirty="0"/>
              <a:t>Non-Subversion Rule</a:t>
            </a:r>
          </a:p>
          <a:p>
            <a:endParaRPr lang="en-IN" dirty="0"/>
          </a:p>
        </p:txBody>
      </p:sp>
    </p:spTree>
    <p:extLst>
      <p:ext uri="{BB962C8B-B14F-4D97-AF65-F5344CB8AC3E}">
        <p14:creationId xmlns:p14="http://schemas.microsoft.com/office/powerpoint/2010/main" val="21543953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12775" y="228600"/>
            <a:ext cx="8153400" cy="990600"/>
          </a:xfrm>
        </p:spPr>
        <p:txBody>
          <a:bodyPr/>
          <a:lstStyle/>
          <a:p>
            <a:r>
              <a:rPr lang="en-US" smtClean="0"/>
              <a:t>Closure of x under f</a:t>
            </a:r>
          </a:p>
        </p:txBody>
      </p:sp>
      <p:sp>
        <p:nvSpPr>
          <p:cNvPr id="40964" name="Content Placeholder 2"/>
          <p:cNvSpPr>
            <a:spLocks noGrp="1"/>
          </p:cNvSpPr>
          <p:nvPr>
            <p:ph sz="quarter" idx="1"/>
          </p:nvPr>
        </p:nvSpPr>
        <p:spPr>
          <a:xfrm>
            <a:off x="612775" y="1600200"/>
            <a:ext cx="8153400" cy="4495800"/>
          </a:xfrm>
        </p:spPr>
        <p:txBody>
          <a:bodyPr/>
          <a:lstStyle/>
          <a:p>
            <a:pPr algn="just"/>
            <a:r>
              <a:rPr lang="en-US" smtClean="0"/>
              <a:t>For each set of attributes </a:t>
            </a:r>
            <a:r>
              <a:rPr lang="en-US" i="1" smtClean="0"/>
              <a:t>X, we determine the set X</a:t>
            </a:r>
            <a:r>
              <a:rPr lang="en-US" baseline="30000" smtClean="0"/>
              <a:t>+</a:t>
            </a:r>
            <a:r>
              <a:rPr lang="en-US" i="1" smtClean="0"/>
              <a:t> of attributes </a:t>
            </a:r>
            <a:r>
              <a:rPr lang="en-US" smtClean="0"/>
              <a:t>that are functionally determined by </a:t>
            </a:r>
            <a:r>
              <a:rPr lang="en-US" i="1" smtClean="0"/>
              <a:t>X based on F; X</a:t>
            </a:r>
            <a:r>
              <a:rPr lang="en-US" baseline="30000" smtClean="0"/>
              <a:t>+</a:t>
            </a:r>
            <a:r>
              <a:rPr lang="en-US" i="1" smtClean="0"/>
              <a:t> is called the </a:t>
            </a:r>
            <a:r>
              <a:rPr lang="en-US" b="1" i="1" smtClean="0"/>
              <a:t>closure </a:t>
            </a:r>
            <a:r>
              <a:rPr lang="en-US" b="1" smtClean="0"/>
              <a:t>of X under F.</a:t>
            </a:r>
            <a:endParaRPr lang="en-US" smtClean="0"/>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28600"/>
            <a:ext cx="8153400" cy="990600"/>
          </a:xfrm>
        </p:spPr>
        <p:txBody>
          <a:bodyPr>
            <a:normAutofit fontScale="90000"/>
          </a:bodyPr>
          <a:lstStyle/>
          <a:p>
            <a:pPr algn="just" fontAlgn="auto">
              <a:spcAft>
                <a:spcPts val="0"/>
              </a:spcAft>
              <a:defRPr/>
            </a:pPr>
            <a:r>
              <a:rPr lang="en-US" b="1" dirty="0" smtClean="0"/>
              <a:t>Algorithm: Determining X+, the Closure of X under F</a:t>
            </a:r>
            <a:endParaRPr lang="en-US" dirty="0"/>
          </a:p>
        </p:txBody>
      </p:sp>
      <p:sp>
        <p:nvSpPr>
          <p:cNvPr id="41988" name="Content Placeholder 2"/>
          <p:cNvSpPr>
            <a:spLocks noGrp="1"/>
          </p:cNvSpPr>
          <p:nvPr>
            <p:ph sz="quarter" idx="1"/>
          </p:nvPr>
        </p:nvSpPr>
        <p:spPr>
          <a:xfrm>
            <a:off x="612775" y="1600200"/>
            <a:ext cx="8153400" cy="4495800"/>
          </a:xfrm>
        </p:spPr>
        <p:txBody>
          <a:bodyPr/>
          <a:lstStyle/>
          <a:p>
            <a:pPr>
              <a:buFont typeface="Wingdings 2" pitchFamily="18" charset="2"/>
              <a:buNone/>
            </a:pPr>
            <a:r>
              <a:rPr lang="en-US" smtClean="0"/>
              <a:t>Input: A set F of FDs on a relation schema R, and a set of attributes X, which is a subset of R.</a:t>
            </a:r>
          </a:p>
          <a:p>
            <a:pPr marL="914400" lvl="1" indent="-514350">
              <a:buFont typeface="Wingdings 2" pitchFamily="18" charset="2"/>
              <a:buNone/>
            </a:pPr>
            <a:r>
              <a:rPr lang="en-US" smtClean="0"/>
              <a:t>X</a:t>
            </a:r>
            <a:r>
              <a:rPr lang="en-US" baseline="30000" smtClean="0"/>
              <a:t>+</a:t>
            </a:r>
            <a:r>
              <a:rPr lang="en-US" smtClean="0"/>
              <a:t> := X;</a:t>
            </a:r>
          </a:p>
          <a:p>
            <a:pPr marL="914400" lvl="1" indent="-514350">
              <a:buFont typeface="Wingdings 2" pitchFamily="18" charset="2"/>
              <a:buNone/>
            </a:pPr>
            <a:r>
              <a:rPr lang="en-US" smtClean="0"/>
              <a:t>repeat</a:t>
            </a:r>
          </a:p>
          <a:p>
            <a:pPr marL="1314450" lvl="2" indent="-514350">
              <a:buFont typeface="Wingdings 2" pitchFamily="18" charset="2"/>
              <a:buNone/>
            </a:pPr>
            <a:r>
              <a:rPr lang="en-US" smtClean="0"/>
              <a:t>oldX</a:t>
            </a:r>
            <a:r>
              <a:rPr lang="en-US" baseline="30000" smtClean="0"/>
              <a:t> +</a:t>
            </a:r>
            <a:r>
              <a:rPr lang="en-US" smtClean="0"/>
              <a:t> := X</a:t>
            </a:r>
            <a:r>
              <a:rPr lang="en-US" baseline="30000" smtClean="0"/>
              <a:t> +</a:t>
            </a:r>
            <a:r>
              <a:rPr lang="en-US" smtClean="0"/>
              <a:t>;</a:t>
            </a:r>
          </a:p>
          <a:p>
            <a:pPr marL="1314450" lvl="2" indent="-514350">
              <a:buFont typeface="Wingdings 2" pitchFamily="18" charset="2"/>
              <a:buNone/>
            </a:pPr>
            <a:r>
              <a:rPr lang="en-US" smtClean="0"/>
              <a:t>for each functional dependency Y→Z in F do</a:t>
            </a:r>
          </a:p>
          <a:p>
            <a:pPr marL="1314450" lvl="2" indent="-514350">
              <a:buFont typeface="Wingdings 2" pitchFamily="18" charset="2"/>
              <a:buNone/>
            </a:pPr>
            <a:r>
              <a:rPr lang="en-US" smtClean="0"/>
              <a:t>	if X</a:t>
            </a:r>
            <a:r>
              <a:rPr lang="en-US" baseline="30000" smtClean="0"/>
              <a:t> +</a:t>
            </a:r>
            <a:r>
              <a:rPr lang="en-US" smtClean="0"/>
              <a:t> ⊇ Y then X</a:t>
            </a:r>
            <a:r>
              <a:rPr lang="en-US" baseline="30000" smtClean="0"/>
              <a:t> +</a:t>
            </a:r>
            <a:r>
              <a:rPr lang="en-US" smtClean="0"/>
              <a:t> := X</a:t>
            </a:r>
            <a:r>
              <a:rPr lang="en-US" baseline="30000" smtClean="0"/>
              <a:t> +</a:t>
            </a:r>
            <a:r>
              <a:rPr lang="en-US" smtClean="0"/>
              <a:t> ∪ Z;</a:t>
            </a:r>
          </a:p>
          <a:p>
            <a:pPr marL="914400" lvl="1" indent="-514350">
              <a:buFont typeface="Wingdings 2" pitchFamily="18" charset="2"/>
              <a:buNone/>
            </a:pPr>
            <a:r>
              <a:rPr lang="en-US" smtClean="0"/>
              <a:t>until (X</a:t>
            </a:r>
            <a:r>
              <a:rPr lang="en-US" baseline="30000" smtClean="0"/>
              <a:t> +</a:t>
            </a:r>
            <a:r>
              <a:rPr lang="en-US" smtClean="0"/>
              <a:t> = oldX</a:t>
            </a:r>
            <a:r>
              <a:rPr lang="en-US" baseline="30000" smtClean="0"/>
              <a:t> +</a:t>
            </a:r>
            <a:r>
              <a:rPr lang="en-US" smtClean="0"/>
              <a:t>);</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12775" y="228600"/>
            <a:ext cx="8153400" cy="990600"/>
          </a:xfrm>
        </p:spPr>
        <p:txBody>
          <a:bodyPr/>
          <a:lstStyle/>
          <a:p>
            <a:pPr algn="just"/>
            <a:r>
              <a:rPr lang="en-US" sz="2400" smtClean="0"/>
              <a:t>Equivalence of sets of functional dependencies</a:t>
            </a:r>
          </a:p>
        </p:txBody>
      </p:sp>
      <p:sp>
        <p:nvSpPr>
          <p:cNvPr id="43012" name="Content Placeholder 2"/>
          <p:cNvSpPr>
            <a:spLocks noGrp="1"/>
          </p:cNvSpPr>
          <p:nvPr>
            <p:ph sz="quarter" idx="1"/>
          </p:nvPr>
        </p:nvSpPr>
        <p:spPr>
          <a:xfrm>
            <a:off x="612775" y="1600200"/>
            <a:ext cx="8153400" cy="4495800"/>
          </a:xfrm>
        </p:spPr>
        <p:txBody>
          <a:bodyPr/>
          <a:lstStyle/>
          <a:p>
            <a:pPr algn="just"/>
            <a:r>
              <a:rPr lang="en-US" sz="2400" smtClean="0"/>
              <a:t>A set of functional dependencies F is said to </a:t>
            </a:r>
            <a:r>
              <a:rPr lang="en-US" sz="2400" b="1" smtClean="0"/>
              <a:t>cover </a:t>
            </a:r>
            <a:r>
              <a:rPr lang="en-US" sz="2400" smtClean="0"/>
              <a:t>another set of functional dependencies E if every FD in E is also in F+; that is, if every dependency in E can be inferred from F; alternatively, we can say that E is </a:t>
            </a:r>
            <a:r>
              <a:rPr lang="en-US" sz="2400" b="1" smtClean="0"/>
              <a:t>covered by F.</a:t>
            </a:r>
          </a:p>
          <a:p>
            <a:pPr algn="just"/>
            <a:endParaRPr lang="en-US" sz="2400" b="1" smtClean="0"/>
          </a:p>
          <a:p>
            <a:r>
              <a:rPr lang="en-US" sz="2400" smtClean="0"/>
              <a:t>Two sets of functional dependencies E and F are </a:t>
            </a:r>
            <a:r>
              <a:rPr lang="en-US" sz="2400" b="1" smtClean="0"/>
              <a:t>equivalent if </a:t>
            </a:r>
            <a:r>
              <a:rPr lang="en-US" sz="2400" smtClean="0"/>
              <a:t>E+ = F+. Therefore, equivalence means that every FD in E can be inferred from F, and every FD in F can be inferred from E; that is, E is equivalent to F if both the conditions—E covers F and F covers E—hold.</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2775" y="228600"/>
            <a:ext cx="8153400" cy="990600"/>
          </a:xfrm>
        </p:spPr>
        <p:txBody>
          <a:bodyPr/>
          <a:lstStyle/>
          <a:p>
            <a:r>
              <a:rPr lang="en-US" sz="3200" b="1" smtClean="0">
                <a:cs typeface="Times New Roman" pitchFamily="18" charset="0"/>
              </a:rPr>
              <a:t>Minimal Sets of FDs</a:t>
            </a:r>
            <a:endParaRPr lang="en-US" sz="3200" smtClean="0"/>
          </a:p>
        </p:txBody>
      </p:sp>
      <p:sp>
        <p:nvSpPr>
          <p:cNvPr id="44036" name="Rectangle 3"/>
          <p:cNvSpPr>
            <a:spLocks noGrp="1" noChangeArrowheads="1"/>
          </p:cNvSpPr>
          <p:nvPr>
            <p:ph sz="quarter" idx="1"/>
          </p:nvPr>
        </p:nvSpPr>
        <p:spPr>
          <a:xfrm>
            <a:off x="612775" y="1600200"/>
            <a:ext cx="8153400" cy="4495800"/>
          </a:xfrm>
        </p:spPr>
        <p:txBody>
          <a:bodyPr/>
          <a:lstStyle/>
          <a:p>
            <a:pPr algn="just"/>
            <a:r>
              <a:rPr lang="en-US" sz="2800" smtClean="0"/>
              <a:t>A set of functional dependencies F to be minimal if it satisfies the following conditions:</a:t>
            </a:r>
          </a:p>
          <a:p>
            <a:pPr marL="914400" lvl="1" indent="-514350" algn="just">
              <a:buFont typeface="Franklin Gothic Medium" pitchFamily="34" charset="0"/>
              <a:buAutoNum type="arabicPeriod"/>
            </a:pPr>
            <a:r>
              <a:rPr lang="en-US" sz="2400" smtClean="0"/>
              <a:t>Every dependency in F has a single attribute for its right-hand side.</a:t>
            </a:r>
          </a:p>
          <a:p>
            <a:pPr marL="914400" lvl="1" indent="-514350" algn="just">
              <a:buFont typeface="Franklin Gothic Medium" pitchFamily="34" charset="0"/>
              <a:buAutoNum type="arabicPeriod"/>
            </a:pPr>
            <a:r>
              <a:rPr lang="en-US" sz="2400" smtClean="0"/>
              <a:t>We cannot replace any dependency X → A in F with a dependency Y → A, where Y is a proper subset of X, and still have a set of dependencies that is equivalent to F.</a:t>
            </a:r>
          </a:p>
          <a:p>
            <a:pPr marL="914400" lvl="1" indent="-514350" algn="just">
              <a:buFont typeface="Franklin Gothic Medium" pitchFamily="34" charset="0"/>
              <a:buAutoNum type="arabicPeriod"/>
            </a:pPr>
            <a:r>
              <a:rPr lang="en-US" sz="2400" smtClean="0"/>
              <a:t>We cannot remove any dependency from F and still have a set of dependencies that is equivalent to F.</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612775" y="228600"/>
            <a:ext cx="8153400" cy="990600"/>
          </a:xfrm>
        </p:spPr>
        <p:txBody>
          <a:bodyPr/>
          <a:lstStyle/>
          <a:p>
            <a:r>
              <a:rPr lang="en-US" smtClean="0"/>
              <a:t>Minimal cover</a:t>
            </a:r>
          </a:p>
        </p:txBody>
      </p:sp>
      <p:sp>
        <p:nvSpPr>
          <p:cNvPr id="45060" name="Content Placeholder 2"/>
          <p:cNvSpPr>
            <a:spLocks noGrp="1"/>
          </p:cNvSpPr>
          <p:nvPr>
            <p:ph sz="quarter" idx="1"/>
          </p:nvPr>
        </p:nvSpPr>
        <p:spPr>
          <a:xfrm>
            <a:off x="612775" y="1600200"/>
            <a:ext cx="8153400" cy="4495800"/>
          </a:xfrm>
        </p:spPr>
        <p:txBody>
          <a:bodyPr/>
          <a:lstStyle/>
          <a:p>
            <a:pPr algn="just"/>
            <a:r>
              <a:rPr lang="en-US" smtClean="0"/>
              <a:t>A minimal cover of a set of functional dependencies E is a minimal set of dependencies (in the standard canonical form and without redundancy) that is equivalent to E</a:t>
            </a:r>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28600"/>
            <a:ext cx="8153400" cy="990600"/>
          </a:xfrm>
        </p:spPr>
        <p:txBody>
          <a:bodyPr>
            <a:noAutofit/>
          </a:bodyPr>
          <a:lstStyle/>
          <a:p>
            <a:pPr algn="just" fontAlgn="auto">
              <a:spcAft>
                <a:spcPts val="0"/>
              </a:spcAft>
              <a:defRPr/>
            </a:pPr>
            <a:r>
              <a:rPr lang="en-US" sz="3600" b="1" dirty="0" smtClean="0"/>
              <a:t>Algorithm: Finding a Minimal Cover F for a Set of Functional Dependencies E</a:t>
            </a:r>
            <a:endParaRPr lang="en-US" sz="3600" b="1" dirty="0"/>
          </a:p>
        </p:txBody>
      </p:sp>
      <p:sp>
        <p:nvSpPr>
          <p:cNvPr id="46084" name="Content Placeholder 2"/>
          <p:cNvSpPr>
            <a:spLocks noGrp="1"/>
          </p:cNvSpPr>
          <p:nvPr>
            <p:ph sz="quarter" idx="1"/>
          </p:nvPr>
        </p:nvSpPr>
        <p:spPr>
          <a:xfrm>
            <a:off x="612775" y="1600200"/>
            <a:ext cx="8153400" cy="4495800"/>
          </a:xfrm>
        </p:spPr>
        <p:txBody>
          <a:bodyPr/>
          <a:lstStyle/>
          <a:p>
            <a:pPr marL="457200" indent="-457200">
              <a:buFont typeface="Wingdings 2" pitchFamily="18" charset="2"/>
              <a:buNone/>
            </a:pPr>
            <a:r>
              <a:rPr lang="en-US" sz="2400" smtClean="0"/>
              <a:t>Input: A set of functional dependencies E.</a:t>
            </a:r>
          </a:p>
          <a:p>
            <a:pPr marL="457200" indent="-457200">
              <a:buFont typeface="Franklin Gothic Medium" pitchFamily="34" charset="0"/>
              <a:buAutoNum type="arabicPeriod"/>
            </a:pPr>
            <a:r>
              <a:rPr lang="en-US" sz="2400" smtClean="0"/>
              <a:t>Set </a:t>
            </a:r>
            <a:r>
              <a:rPr lang="en-US" sz="2400" i="1" smtClean="0"/>
              <a:t>F := E.</a:t>
            </a:r>
          </a:p>
          <a:p>
            <a:pPr marL="457200" indent="-457200">
              <a:buFont typeface="Franklin Gothic Medium" pitchFamily="34" charset="0"/>
              <a:buAutoNum type="arabicPeriod"/>
            </a:pPr>
            <a:r>
              <a:rPr lang="en-US" sz="2400" smtClean="0"/>
              <a:t>Replace each functional dependency </a:t>
            </a:r>
            <a:r>
              <a:rPr lang="en-US" sz="2400" i="1" smtClean="0"/>
              <a:t>X→{A1, A2, ..., An} in F by the n functional </a:t>
            </a:r>
            <a:r>
              <a:rPr lang="en-US" sz="2400" smtClean="0"/>
              <a:t>dependencies </a:t>
            </a:r>
            <a:r>
              <a:rPr lang="en-US" sz="2400" i="1" smtClean="0"/>
              <a:t>X→A1, X→A2, ..., X→An.</a:t>
            </a:r>
          </a:p>
          <a:p>
            <a:pPr marL="457200" indent="-457200">
              <a:buFont typeface="Franklin Gothic Medium" pitchFamily="34" charset="0"/>
              <a:buAutoNum type="arabicPeriod"/>
            </a:pPr>
            <a:r>
              <a:rPr lang="en-US" sz="2400" smtClean="0"/>
              <a:t>For each functional dependency </a:t>
            </a:r>
            <a:r>
              <a:rPr lang="en-US" sz="2400" i="1" smtClean="0"/>
              <a:t>X→A in F </a:t>
            </a:r>
            <a:r>
              <a:rPr lang="en-US" sz="2400" smtClean="0"/>
              <a:t>for each attribute </a:t>
            </a:r>
            <a:r>
              <a:rPr lang="en-US" sz="2400" i="1" smtClean="0"/>
              <a:t>B that is an element of X </a:t>
            </a:r>
            <a:r>
              <a:rPr lang="en-US" sz="2400" smtClean="0"/>
              <a:t>if { {</a:t>
            </a:r>
            <a:r>
              <a:rPr lang="en-US" sz="2400" i="1" smtClean="0"/>
              <a:t>F – {X→A} } ∪ { (X – {B} ) →A} } is equivalent to F </a:t>
            </a:r>
            <a:r>
              <a:rPr lang="en-US" sz="2400" smtClean="0"/>
              <a:t>then replace </a:t>
            </a:r>
            <a:r>
              <a:rPr lang="en-US" sz="2400" i="1" smtClean="0"/>
              <a:t>X→A with (X – {B} ) →A in F.</a:t>
            </a:r>
          </a:p>
          <a:p>
            <a:pPr marL="457200" indent="-457200">
              <a:buFont typeface="Franklin Gothic Medium" pitchFamily="34" charset="0"/>
              <a:buAutoNum type="arabicPeriod"/>
            </a:pPr>
            <a:r>
              <a:rPr lang="en-US" sz="2400" smtClean="0"/>
              <a:t>For each remaining functional dependency </a:t>
            </a:r>
            <a:r>
              <a:rPr lang="en-US" sz="2400" i="1" smtClean="0"/>
              <a:t>X→A in F </a:t>
            </a:r>
            <a:r>
              <a:rPr lang="en-US" sz="2400" smtClean="0"/>
              <a:t>if {</a:t>
            </a:r>
            <a:r>
              <a:rPr lang="en-US" sz="2400" i="1" smtClean="0"/>
              <a:t>F – {X→A} } is equivalent to F, </a:t>
            </a:r>
            <a:r>
              <a:rPr lang="en-US" sz="2400" smtClean="0"/>
              <a:t>then remove </a:t>
            </a:r>
            <a:r>
              <a:rPr lang="en-US" sz="2400" i="1" smtClean="0"/>
              <a:t>X→A from F.</a:t>
            </a:r>
            <a:endParaRPr lang="en-US" sz="2400" smtClean="0"/>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12775" y="228600"/>
            <a:ext cx="8153400" cy="990600"/>
          </a:xfrm>
        </p:spPr>
        <p:txBody>
          <a:bodyPr/>
          <a:lstStyle/>
          <a:p>
            <a:r>
              <a:rPr lang="en-US" smtClean="0"/>
              <a:t>Example</a:t>
            </a:r>
          </a:p>
        </p:txBody>
      </p:sp>
      <p:sp>
        <p:nvSpPr>
          <p:cNvPr id="47108" name="Content Placeholder 2"/>
          <p:cNvSpPr>
            <a:spLocks noGrp="1"/>
          </p:cNvSpPr>
          <p:nvPr>
            <p:ph sz="quarter" idx="1"/>
          </p:nvPr>
        </p:nvSpPr>
        <p:spPr>
          <a:xfrm>
            <a:off x="612775" y="1600200"/>
            <a:ext cx="8153400" cy="4495800"/>
          </a:xfrm>
        </p:spPr>
        <p:txBody>
          <a:bodyPr/>
          <a:lstStyle/>
          <a:p>
            <a:pPr>
              <a:buFont typeface="Wingdings 2" pitchFamily="18" charset="2"/>
              <a:buNone/>
            </a:pPr>
            <a:r>
              <a:rPr lang="en-US" i="1" smtClean="0"/>
              <a:t>Find the minimal cover for the following set of functional dependencies:</a:t>
            </a:r>
          </a:p>
          <a:p>
            <a:pPr>
              <a:buFont typeface="Wingdings 2" pitchFamily="18" charset="2"/>
              <a:buNone/>
            </a:pPr>
            <a:endParaRPr lang="en-US" i="1" smtClean="0"/>
          </a:p>
          <a:p>
            <a:pPr algn="ctr">
              <a:buFont typeface="Wingdings 2" pitchFamily="18" charset="2"/>
              <a:buNone/>
            </a:pPr>
            <a:r>
              <a:rPr lang="en-US" b="1" i="1" smtClean="0"/>
              <a:t>E : {B→A, D→A, AB→D}.</a:t>
            </a:r>
            <a:endParaRPr lang="en-US" b="1" smtClean="0"/>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12775" y="228600"/>
            <a:ext cx="8153400" cy="990600"/>
          </a:xfrm>
        </p:spPr>
        <p:txBody>
          <a:bodyPr/>
          <a:lstStyle/>
          <a:p>
            <a:r>
              <a:rPr lang="en-US" smtClean="0"/>
              <a:t>SOLUTION</a:t>
            </a:r>
          </a:p>
        </p:txBody>
      </p:sp>
      <p:sp>
        <p:nvSpPr>
          <p:cNvPr id="3" name="Content Placeholder 2"/>
          <p:cNvSpPr>
            <a:spLocks noGrp="1"/>
          </p:cNvSpPr>
          <p:nvPr>
            <p:ph sz="quarter" idx="1"/>
          </p:nvPr>
        </p:nvSpPr>
        <p:spPr>
          <a:xfrm>
            <a:off x="228600" y="1600200"/>
            <a:ext cx="8686800" cy="4449762"/>
          </a:xfrm>
        </p:spPr>
        <p:txBody>
          <a:bodyPr>
            <a:normAutofit fontScale="92500" lnSpcReduction="10000"/>
          </a:bodyPr>
          <a:lstStyle/>
          <a:p>
            <a:pPr algn="just"/>
            <a:r>
              <a:rPr lang="en-US" sz="2000" dirty="0" smtClean="0"/>
              <a:t>All above dependencies are in canonical form (that is, they have only one attribute on the right-hand side), so we have completed step 1 of Algorithm and can proceed to step 2. In step 2 we need to determine if </a:t>
            </a:r>
            <a:r>
              <a:rPr lang="en-US" sz="2000" i="1" dirty="0" smtClean="0"/>
              <a:t>AB→D has </a:t>
            </a:r>
            <a:r>
              <a:rPr lang="en-US" sz="2000" dirty="0" smtClean="0"/>
              <a:t>any redundant attribute on the left-hand side; that is, can it be replaced by </a:t>
            </a:r>
            <a:r>
              <a:rPr lang="en-US" sz="2000" i="1" dirty="0" smtClean="0"/>
              <a:t>B→D or A→D?</a:t>
            </a:r>
          </a:p>
          <a:p>
            <a:pPr algn="just"/>
            <a:r>
              <a:rPr lang="en-US" sz="2000" dirty="0" smtClean="0"/>
              <a:t>Since B →A, by augmenting with </a:t>
            </a:r>
            <a:r>
              <a:rPr lang="en-US" sz="2000" i="1" dirty="0" smtClean="0"/>
              <a:t>B on both sides (IR2), we have BB → AB, </a:t>
            </a:r>
            <a:r>
              <a:rPr lang="en-US" sz="2000" dirty="0" smtClean="0"/>
              <a:t>or </a:t>
            </a:r>
            <a:r>
              <a:rPr lang="en-US" sz="2000" i="1" dirty="0" smtClean="0"/>
              <a:t>B→AB (</a:t>
            </a:r>
            <a:r>
              <a:rPr lang="en-US" sz="2000" i="1" dirty="0" err="1" smtClean="0"/>
              <a:t>i</a:t>
            </a:r>
            <a:r>
              <a:rPr lang="en-US" sz="2000" i="1" dirty="0" smtClean="0"/>
              <a:t>). However, AB→D as given (ii).</a:t>
            </a:r>
          </a:p>
          <a:p>
            <a:pPr algn="just"/>
            <a:r>
              <a:rPr lang="en-US" sz="2000" dirty="0" smtClean="0"/>
              <a:t>Hence by the transitive rule (IR3), we get from (</a:t>
            </a:r>
            <a:r>
              <a:rPr lang="en-US" sz="2000" dirty="0" err="1" smtClean="0"/>
              <a:t>i</a:t>
            </a:r>
            <a:r>
              <a:rPr lang="en-US" sz="2000" dirty="0" smtClean="0"/>
              <a:t>) and (ii), </a:t>
            </a:r>
            <a:r>
              <a:rPr lang="en-US" sz="2000" i="1" dirty="0" smtClean="0"/>
              <a:t>B → D. Thus AB→D may be replaced by B→D.</a:t>
            </a:r>
          </a:p>
          <a:p>
            <a:pPr algn="just"/>
            <a:r>
              <a:rPr lang="en-US" sz="2000" dirty="0" smtClean="0"/>
              <a:t>We now have a set equivalent to original </a:t>
            </a:r>
            <a:r>
              <a:rPr lang="en-US" sz="2000" i="1" dirty="0" smtClean="0"/>
              <a:t>E, say E: {B→A, D→A, B→D}. </a:t>
            </a:r>
            <a:r>
              <a:rPr lang="en-US" sz="2000" dirty="0" smtClean="0"/>
              <a:t>No further reduction is possible in step 2 since all FDs have a single attribute on the left-hand side.</a:t>
            </a:r>
          </a:p>
          <a:p>
            <a:pPr algn="just"/>
            <a:r>
              <a:rPr lang="en-US" sz="2000" dirty="0" smtClean="0"/>
              <a:t>In step 3 we look for a redundant FD in </a:t>
            </a:r>
            <a:r>
              <a:rPr lang="en-US" sz="2000" i="1" dirty="0" smtClean="0"/>
              <a:t>E. By using the transitive rule on      B → D and D → A, we derive B → A. Hence B → A is redundant in E and </a:t>
            </a:r>
            <a:r>
              <a:rPr lang="en-US" sz="2000" dirty="0" smtClean="0"/>
              <a:t>can be eliminated.</a:t>
            </a:r>
          </a:p>
          <a:p>
            <a:pPr algn="just"/>
            <a:r>
              <a:rPr lang="en-US" sz="2000" dirty="0" smtClean="0"/>
              <a:t>Therefore, the minimal cover of </a:t>
            </a:r>
            <a:r>
              <a:rPr lang="en-US" sz="2000" i="1" dirty="0" smtClean="0"/>
              <a:t>E is {B→D, D→A}.</a:t>
            </a:r>
            <a:endParaRPr lang="en-US" sz="2000" dirty="0" smtClean="0"/>
          </a:p>
        </p:txBody>
      </p:sp>
      <p:sp>
        <p:nvSpPr>
          <p:cNvPr id="7" name="Footer Placeholder 6"/>
          <p:cNvSpPr>
            <a:spLocks noGrp="1"/>
          </p:cNvSpPr>
          <p:nvPr>
            <p:ph type="ftr" sz="quarter" idx="11"/>
          </p:nvPr>
        </p:nvSpPr>
        <p:spPr/>
        <p:txBody>
          <a:bodyPr/>
          <a:lstStyle/>
          <a:p>
            <a:endParaRPr lang="en-US"/>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22" name="Rectangle 6"/>
          <p:cNvSpPr>
            <a:spLocks noGrp="1" noChangeArrowheads="1"/>
          </p:cNvSpPr>
          <p:nvPr>
            <p:ph type="title"/>
          </p:nvPr>
        </p:nvSpPr>
        <p:spPr>
          <a:xfrm>
            <a:off x="612775" y="228600"/>
            <a:ext cx="8153400" cy="990600"/>
          </a:xfrm>
        </p:spPr>
        <p:txBody>
          <a:bodyPr>
            <a:normAutofit fontScale="90000"/>
          </a:bodyPr>
          <a:lstStyle/>
          <a:p>
            <a:pPr eaLnBrk="1" fontAlgn="auto" hangingPunct="1">
              <a:spcAft>
                <a:spcPts val="0"/>
              </a:spcAft>
              <a:defRPr/>
            </a:pPr>
            <a:r>
              <a:rPr lang="en-US" sz="3200"/>
              <a:t>Algorithms for Relational Database Schema Design (7)</a:t>
            </a:r>
          </a:p>
        </p:txBody>
      </p:sp>
      <p:sp>
        <p:nvSpPr>
          <p:cNvPr id="33795" name="Rectangle 7"/>
          <p:cNvSpPr>
            <a:spLocks noGrp="1" noChangeArrowheads="1"/>
          </p:cNvSpPr>
          <p:nvPr>
            <p:ph sz="quarter" idx="1"/>
          </p:nvPr>
        </p:nvSpPr>
        <p:spPr>
          <a:xfrm>
            <a:off x="612775" y="1600200"/>
            <a:ext cx="8153400" cy="4495800"/>
          </a:xfrm>
        </p:spPr>
        <p:txBody>
          <a:bodyPr/>
          <a:lstStyle/>
          <a:p>
            <a:pPr eaLnBrk="1" hangingPunct="1">
              <a:lnSpc>
                <a:spcPct val="90000"/>
              </a:lnSpc>
            </a:pPr>
            <a:r>
              <a:rPr lang="en-US" b="1" smtClean="0"/>
              <a:t>Discussion of Normalization Algorithms:</a:t>
            </a:r>
          </a:p>
          <a:p>
            <a:pPr eaLnBrk="1" hangingPunct="1">
              <a:lnSpc>
                <a:spcPct val="90000"/>
              </a:lnSpc>
            </a:pPr>
            <a:r>
              <a:rPr lang="en-US" smtClean="0"/>
              <a:t>Problems:</a:t>
            </a:r>
          </a:p>
          <a:p>
            <a:pPr lvl="1" eaLnBrk="1" hangingPunct="1">
              <a:lnSpc>
                <a:spcPct val="90000"/>
              </a:lnSpc>
            </a:pPr>
            <a:r>
              <a:rPr lang="en-US" smtClean="0"/>
              <a:t>The database designer must first specify </a:t>
            </a:r>
            <a:r>
              <a:rPr lang="en-US" i="1" smtClean="0"/>
              <a:t>all</a:t>
            </a:r>
            <a:r>
              <a:rPr lang="en-US" smtClean="0"/>
              <a:t> the relevant functional dependencies among the database attributes. </a:t>
            </a:r>
          </a:p>
          <a:p>
            <a:pPr lvl="1" eaLnBrk="1" hangingPunct="1">
              <a:lnSpc>
                <a:spcPct val="90000"/>
              </a:lnSpc>
            </a:pPr>
            <a:r>
              <a:rPr lang="en-US" smtClean="0"/>
              <a:t>These algorithms are </a:t>
            </a:r>
            <a:r>
              <a:rPr lang="en-US" i="1" smtClean="0"/>
              <a:t>not deterministic</a:t>
            </a:r>
            <a:r>
              <a:rPr lang="en-US" smtClean="0"/>
              <a:t> in general. </a:t>
            </a:r>
          </a:p>
          <a:p>
            <a:pPr lvl="1" eaLnBrk="1" hangingPunct="1">
              <a:lnSpc>
                <a:spcPct val="90000"/>
              </a:lnSpc>
            </a:pPr>
            <a:r>
              <a:rPr lang="en-US" smtClean="0"/>
              <a:t>It is not always possible to find a decomposition into relation schemas that preserves dependencies and allows each relation schema in the decomposition to be in BCNF (instead of 3NF as in Algorithm 11.4). </a:t>
            </a:r>
          </a:p>
        </p:txBody>
      </p:sp>
      <p:sp>
        <p:nvSpPr>
          <p:cNvPr id="6" name="Footer Placeholder 5"/>
          <p:cNvSpPr>
            <a:spLocks noGrp="1"/>
          </p:cNvSpPr>
          <p:nvPr>
            <p:ph type="ftr" sz="quarter" idx="11"/>
          </p:nvPr>
        </p:nvSpPr>
        <p:spPr/>
        <p:txBody>
          <a:bodyPr/>
          <a:lstStyle/>
          <a:p>
            <a:endParaRPr lang="en-US"/>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6" name="Content Placeholder 5"/>
          <p:cNvSpPr>
            <a:spLocks noGrp="1"/>
          </p:cNvSpPr>
          <p:nvPr>
            <p:ph sz="quarter" idx="1"/>
          </p:nvPr>
        </p:nvSpPr>
        <p:spPr/>
        <p:txBody>
          <a:bodyPr>
            <a:normAutofit lnSpcReduction="10000"/>
          </a:bodyPr>
          <a:lstStyle/>
          <a:p>
            <a:pPr marL="514350" indent="-514350" algn="just">
              <a:buFont typeface="+mj-lt"/>
              <a:buAutoNum type="arabicPeriod"/>
            </a:pPr>
            <a:r>
              <a:rPr lang="en-US" dirty="0" smtClean="0"/>
              <a:t>Explain the informal design guidelines for the database design.</a:t>
            </a:r>
          </a:p>
          <a:p>
            <a:pPr marL="514350" indent="-514350" algn="just">
              <a:buFont typeface="+mj-lt"/>
              <a:buAutoNum type="arabicPeriod"/>
            </a:pPr>
            <a:r>
              <a:rPr lang="en-US" dirty="0" smtClean="0"/>
              <a:t>Which normal form is based on full functional dependency? Explain the normal form which is based on this.</a:t>
            </a:r>
          </a:p>
          <a:p>
            <a:pPr marL="514350" indent="-514350" algn="just">
              <a:buFont typeface="+mj-lt"/>
              <a:buAutoNum type="arabicPeriod"/>
            </a:pPr>
            <a:r>
              <a:rPr lang="en-US" dirty="0" smtClean="0"/>
              <a:t>What is transitive dependency? Explain 3NF with example.</a:t>
            </a:r>
          </a:p>
          <a:p>
            <a:pPr marL="514350" indent="-514350" algn="just">
              <a:buFont typeface="+mj-lt"/>
              <a:buAutoNum type="arabicPeriod"/>
            </a:pPr>
            <a:r>
              <a:rPr lang="en-US" dirty="0" smtClean="0"/>
              <a:t>What is multivalued dependency? Explain 4NF with example.</a:t>
            </a:r>
          </a:p>
          <a:p>
            <a:pPr marL="514350" indent="-514350" algn="just">
              <a:buFont typeface="+mj-lt"/>
              <a:buAutoNum type="arabicPeriod"/>
            </a:pPr>
            <a:r>
              <a:rPr lang="en-US" dirty="0" smtClean="0"/>
              <a:t>Write an algorithm to find the minimal cover.</a:t>
            </a:r>
          </a:p>
          <a:p>
            <a:pPr marL="514350" indent="-514350" algn="just">
              <a:buFont typeface="+mj-lt"/>
              <a:buAutoNum type="arabicPeriod"/>
            </a:pP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2733</TotalTime>
  <Words>3399</Words>
  <Application>Microsoft Office PowerPoint</Application>
  <PresentationFormat>On-screen Show (4:3)</PresentationFormat>
  <Paragraphs>321</Paragraphs>
  <Slides>60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BostonII</vt:lpstr>
      <vt:lpstr>Calibri</vt:lpstr>
      <vt:lpstr>Franklin Gothic Medium</vt:lpstr>
      <vt:lpstr>Symbol</vt:lpstr>
      <vt:lpstr>Times New Roman</vt:lpstr>
      <vt:lpstr>Tw Cen MT</vt:lpstr>
      <vt:lpstr>Wingdings</vt:lpstr>
      <vt:lpstr>Wingdings 2</vt:lpstr>
      <vt:lpstr>Median</vt:lpstr>
      <vt:lpstr>MODULE – 4  NORMALIZATION: DATABASE DESIGN THEORY </vt:lpstr>
      <vt:lpstr>INTRODUCTION TO NORMALIZATION USING FUNCTIONAL AND MULTIVALUED DEPENDENCIES</vt:lpstr>
      <vt:lpstr>PowerPoint Presentation</vt:lpstr>
      <vt:lpstr>Informal Design Guidelines for Relational Databases (1)</vt:lpstr>
      <vt:lpstr>Informal Design Guidelines for Relational Databases</vt:lpstr>
      <vt:lpstr>Semantics of the Relation Attributes </vt:lpstr>
      <vt:lpstr>A simplified COMPANY relational database schema</vt:lpstr>
      <vt:lpstr>Redundant Information in Tuples and Update Anomalies </vt:lpstr>
      <vt:lpstr>EXAMPLE OF AN UPDATE ANOMALY (1) </vt:lpstr>
      <vt:lpstr>EXAMPLE OF AN UPDATE ANOMALY (2)</vt:lpstr>
      <vt:lpstr>Two relation schemas suffering from update anomalies</vt:lpstr>
      <vt:lpstr>Example States for EMP_DEPT and EMP_PROJ</vt:lpstr>
      <vt:lpstr>Guideline to Redundant Information in Tuples and Update Anomalies</vt:lpstr>
      <vt:lpstr>Null Values in Tuples </vt:lpstr>
      <vt:lpstr>Spurious Tuples </vt:lpstr>
      <vt:lpstr>Spurious Tuples (2)</vt:lpstr>
      <vt:lpstr>Functional Dependencies (1) </vt:lpstr>
      <vt:lpstr>Functional Dependencies (2)</vt:lpstr>
      <vt:lpstr>Examples of FD constraints (1) </vt:lpstr>
      <vt:lpstr>Examples of FD constraints (2)</vt:lpstr>
      <vt:lpstr>Normal Forms Based on Primary Keys </vt:lpstr>
      <vt:lpstr>Normalization of Relations (1)</vt:lpstr>
      <vt:lpstr>Normalization of Relations (2)</vt:lpstr>
      <vt:lpstr>Practical Use of Normal Forms</vt:lpstr>
      <vt:lpstr>Definitions of Keys and Attributes  Participating in Keys (1)</vt:lpstr>
      <vt:lpstr>Definitions of Keys and Attributes  Participating in Keys (2)</vt:lpstr>
      <vt:lpstr>First Normal Form </vt:lpstr>
      <vt:lpstr>Normalization into 1NF</vt:lpstr>
      <vt:lpstr>Normalization nested relations into 1NF</vt:lpstr>
      <vt:lpstr>Second Normal Form (1) </vt:lpstr>
      <vt:lpstr>Second Normal Form (2)</vt:lpstr>
      <vt:lpstr>Normalizing into 2NF and 3NF</vt:lpstr>
      <vt:lpstr>Normalization into 2NF and 3NF</vt:lpstr>
      <vt:lpstr>Third Normal Form (1)</vt:lpstr>
      <vt:lpstr>Third Normal Form (2)</vt:lpstr>
      <vt:lpstr>General Normal Form Definitions (For Multiple Keys) (1)</vt:lpstr>
      <vt:lpstr>General Normal Form Definitions (2)</vt:lpstr>
      <vt:lpstr>BCNF (Boyce-Codd Normal Form) </vt:lpstr>
      <vt:lpstr>Boyce-Codd normal form</vt:lpstr>
      <vt:lpstr>A relation TEACH that is in 3NF but not in BCNF</vt:lpstr>
      <vt:lpstr>Achieving the BCNF by Decomposition (1)</vt:lpstr>
      <vt:lpstr>Achieving the BCNF by Decomposition (2)</vt:lpstr>
      <vt:lpstr>NORMALIZATION ALGORITHMS</vt:lpstr>
      <vt:lpstr>Closure of f</vt:lpstr>
      <vt:lpstr>2.2 Inference Rules for FDs (1) </vt:lpstr>
      <vt:lpstr>Inference Rules for FDs (2)</vt:lpstr>
      <vt:lpstr>PROOF</vt:lpstr>
      <vt:lpstr>CONTD</vt:lpstr>
      <vt:lpstr>PowerPoint Presentation</vt:lpstr>
      <vt:lpstr>CODD’s Rule</vt:lpstr>
      <vt:lpstr>Closure of x under f</vt:lpstr>
      <vt:lpstr>Algorithm: Determining X+, the Closure of X under F</vt:lpstr>
      <vt:lpstr>Equivalence of sets of functional dependencies</vt:lpstr>
      <vt:lpstr>Minimal Sets of FDs</vt:lpstr>
      <vt:lpstr>Minimal cover</vt:lpstr>
      <vt:lpstr>Algorithm: Finding a Minimal Cover F for a Set of Functional Dependencies E</vt:lpstr>
      <vt:lpstr>Example</vt:lpstr>
      <vt:lpstr>SOLUTION</vt:lpstr>
      <vt:lpstr>Algorithms for Relational Database Schema Design (7)</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4  NORMALIZATION: DATABASE DESIGN THEORY NORMALIZATION ALGORITHMS</dc:title>
  <dc:creator>Manjunatha</dc:creator>
  <cp:lastModifiedBy>Mushtaq</cp:lastModifiedBy>
  <cp:revision>49</cp:revision>
  <dcterms:created xsi:type="dcterms:W3CDTF">2017-10-19T06:14:05Z</dcterms:created>
  <dcterms:modified xsi:type="dcterms:W3CDTF">2026-05-06T10:21:16Z</dcterms:modified>
</cp:coreProperties>
</file>