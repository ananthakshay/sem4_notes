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2" r:id="rId2"/>
  </p:sldMasterIdLst>
  <p:notesMasterIdLst>
    <p:notesMasterId r:id="rId67"/>
  </p:notesMasterIdLst>
  <p:sldIdLst>
    <p:sldId id="321"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1" roundtripDataSignature="AMtx7mjIxlaqhYiGR402PNNwR3vtZCAyU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3E7E886-25C2-4795-8E32-F7560DA791E3}">
  <a:tblStyle styleId="{13E7E886-25C2-4795-8E32-F7560DA791E3}"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F1FA"/>
          </a:solidFill>
        </a:fill>
      </a:tcStyle>
    </a:wholeTbl>
    <a:band1H>
      <a:tcTxStyle/>
      <a:tcStyle>
        <a:tcBdr/>
        <a:fill>
          <a:solidFill>
            <a:srgbClr val="CBE2F5"/>
          </a:solidFill>
        </a:fill>
      </a:tcStyle>
    </a:band1H>
    <a:band2H>
      <a:tcTxStyle/>
      <a:tcStyle>
        <a:tcBdr/>
      </a:tcStyle>
    </a:band2H>
    <a:band1V>
      <a:tcTxStyle/>
      <a:tcStyle>
        <a:tcBdr/>
        <a:fill>
          <a:solidFill>
            <a:srgbClr val="CBE2F5"/>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364" autoAdjust="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7" Type="http://schemas.openxmlformats.org/officeDocument/2006/relationships/slide" Target="slides/slide5.xml"/><Relationship Id="rId92"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95"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8" Type="http://schemas.openxmlformats.org/officeDocument/2006/relationships/slide" Target="slides/slide6.xml"/><Relationship Id="rId51" Type="http://schemas.openxmlformats.org/officeDocument/2006/relationships/slide" Target="slides/slide49.xml"/><Relationship Id="rId93"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9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9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
        <p:nvSpPr>
          <p:cNvPr id="223" name="Google Shape;2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4" name="Google Shape;22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
        <p:nvSpPr>
          <p:cNvPr id="252" name="Google Shape;25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3" name="Google Shape;2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
        <p:nvSpPr>
          <p:cNvPr id="260" name="Google Shape;26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1" name="Google Shape;26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
        <p:nvSpPr>
          <p:cNvPr id="268" name="Google Shape;26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 name="Google Shape;29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2: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Times New Roman"/>
                <a:ea typeface="Times New Roman"/>
                <a:cs typeface="Times New Roman"/>
                <a:sym typeface="Times New Roman"/>
              </a:rPr>
              <a:t>3/11/2021</a:t>
            </a:r>
            <a:endParaRPr>
              <a:latin typeface="Times New Roman"/>
              <a:ea typeface="Times New Roman"/>
              <a:cs typeface="Times New Roman"/>
              <a:sym typeface="Times New Roman"/>
            </a:endParaRPr>
          </a:p>
        </p:txBody>
      </p:sp>
      <p:sp>
        <p:nvSpPr>
          <p:cNvPr id="301" name="Google Shape;30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2" name="Google Shape;302;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303" name="Google Shape;303;p12: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3: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Times New Roman"/>
                <a:ea typeface="Times New Roman"/>
                <a:cs typeface="Times New Roman"/>
                <a:sym typeface="Times New Roman"/>
              </a:rPr>
              <a:t>3/11/2021</a:t>
            </a:r>
            <a:endParaRPr>
              <a:latin typeface="Times New Roman"/>
              <a:ea typeface="Times New Roman"/>
              <a:cs typeface="Times New Roman"/>
              <a:sym typeface="Times New Roman"/>
            </a:endParaRPr>
          </a:p>
        </p:txBody>
      </p:sp>
      <p:sp>
        <p:nvSpPr>
          <p:cNvPr id="310" name="Google Shape;31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1" name="Google Shape;311;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312" name="Google Shape;312;p13: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4: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Times New Roman"/>
                <a:ea typeface="Times New Roman"/>
                <a:cs typeface="Times New Roman"/>
                <a:sym typeface="Times New Roman"/>
              </a:rPr>
              <a:t>3/11/2021</a:t>
            </a:r>
            <a:endParaRPr>
              <a:latin typeface="Times New Roman"/>
              <a:ea typeface="Times New Roman"/>
              <a:cs typeface="Times New Roman"/>
              <a:sym typeface="Times New Roman"/>
            </a:endParaRPr>
          </a:p>
        </p:txBody>
      </p:sp>
      <p:sp>
        <p:nvSpPr>
          <p:cNvPr id="319" name="Google Shape;31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0" name="Google Shape;32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321" name="Google Shape;321;p14: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5: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Times New Roman"/>
                <a:ea typeface="Times New Roman"/>
                <a:cs typeface="Times New Roman"/>
                <a:sym typeface="Times New Roman"/>
              </a:rPr>
              <a:t>3/11/2021</a:t>
            </a:r>
            <a:endParaRPr>
              <a:latin typeface="Times New Roman"/>
              <a:ea typeface="Times New Roman"/>
              <a:cs typeface="Times New Roman"/>
              <a:sym typeface="Times New Roman"/>
            </a:endParaRPr>
          </a:p>
        </p:txBody>
      </p:sp>
      <p:sp>
        <p:nvSpPr>
          <p:cNvPr id="329" name="Google Shape;32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0" name="Google Shape;330;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331" name="Google Shape;331;p15: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16: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Times New Roman"/>
                <a:ea typeface="Times New Roman"/>
                <a:cs typeface="Times New Roman"/>
                <a:sym typeface="Times New Roman"/>
              </a:rPr>
              <a:t>3/11/2021</a:t>
            </a:r>
            <a:endParaRPr>
              <a:latin typeface="Times New Roman"/>
              <a:ea typeface="Times New Roman"/>
              <a:cs typeface="Times New Roman"/>
              <a:sym typeface="Times New Roman"/>
            </a:endParaRPr>
          </a:p>
        </p:txBody>
      </p:sp>
      <p:sp>
        <p:nvSpPr>
          <p:cNvPr id="357" name="Google Shape;35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8" name="Google Shape;35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359" name="Google Shape;359;p16: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17: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Times New Roman"/>
                <a:ea typeface="Times New Roman"/>
                <a:cs typeface="Times New Roman"/>
                <a:sym typeface="Times New Roman"/>
              </a:rPr>
              <a:t>3/11/2021</a:t>
            </a:r>
            <a:endParaRPr>
              <a:latin typeface="Times New Roman"/>
              <a:ea typeface="Times New Roman"/>
              <a:cs typeface="Times New Roman"/>
              <a:sym typeface="Times New Roman"/>
            </a:endParaRPr>
          </a:p>
        </p:txBody>
      </p:sp>
      <p:sp>
        <p:nvSpPr>
          <p:cNvPr id="366" name="Google Shape;36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7" name="Google Shape;36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368" name="Google Shape;368;p17: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8: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Times New Roman"/>
                <a:ea typeface="Times New Roman"/>
                <a:cs typeface="Times New Roman"/>
                <a:sym typeface="Times New Roman"/>
              </a:rPr>
              <a:t>3/11/2021</a:t>
            </a:r>
            <a:endParaRPr>
              <a:latin typeface="Times New Roman"/>
              <a:ea typeface="Times New Roman"/>
              <a:cs typeface="Times New Roman"/>
              <a:sym typeface="Times New Roman"/>
            </a:endParaRPr>
          </a:p>
        </p:txBody>
      </p:sp>
      <p:sp>
        <p:nvSpPr>
          <p:cNvPr id="375" name="Google Shape;37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6" name="Google Shape;376;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377" name="Google Shape;377;p18: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19: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Times New Roman"/>
                <a:ea typeface="Times New Roman"/>
                <a:cs typeface="Times New Roman"/>
                <a:sym typeface="Times New Roman"/>
              </a:rPr>
              <a:t>3/11/2021</a:t>
            </a:r>
            <a:endParaRPr>
              <a:latin typeface="Times New Roman"/>
              <a:ea typeface="Times New Roman"/>
              <a:cs typeface="Times New Roman"/>
              <a:sym typeface="Times New Roman"/>
            </a:endParaRPr>
          </a:p>
        </p:txBody>
      </p:sp>
      <p:sp>
        <p:nvSpPr>
          <p:cNvPr id="384" name="Google Shape;38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5" name="Google Shape;385;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386" name="Google Shape;386;p19: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20: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Times New Roman"/>
                <a:ea typeface="Times New Roman"/>
                <a:cs typeface="Times New Roman"/>
                <a:sym typeface="Times New Roman"/>
              </a:rPr>
              <a:t>3/11/2021</a:t>
            </a:r>
            <a:endParaRPr>
              <a:latin typeface="Times New Roman"/>
              <a:ea typeface="Times New Roman"/>
              <a:cs typeface="Times New Roman"/>
              <a:sym typeface="Times New Roman"/>
            </a:endParaRPr>
          </a:p>
        </p:txBody>
      </p:sp>
      <p:sp>
        <p:nvSpPr>
          <p:cNvPr id="393" name="Google Shape;39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4" name="Google Shape;394;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395" name="Google Shape;395;p20: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21: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Times New Roman"/>
                <a:ea typeface="Times New Roman"/>
                <a:cs typeface="Times New Roman"/>
                <a:sym typeface="Times New Roman"/>
              </a:rPr>
              <a:t>3/11/2021</a:t>
            </a:r>
            <a:endParaRPr>
              <a:latin typeface="Times New Roman"/>
              <a:ea typeface="Times New Roman"/>
              <a:cs typeface="Times New Roman"/>
              <a:sym typeface="Times New Roman"/>
            </a:endParaRPr>
          </a:p>
        </p:txBody>
      </p:sp>
      <p:sp>
        <p:nvSpPr>
          <p:cNvPr id="402" name="Google Shape;40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3" name="Google Shape;40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404" name="Google Shape;404;p21: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22: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Times New Roman"/>
                <a:ea typeface="Times New Roman"/>
                <a:cs typeface="Times New Roman"/>
                <a:sym typeface="Times New Roman"/>
              </a:rPr>
              <a:t>3/11/2021</a:t>
            </a:r>
            <a:endParaRPr>
              <a:latin typeface="Times New Roman"/>
              <a:ea typeface="Times New Roman"/>
              <a:cs typeface="Times New Roman"/>
              <a:sym typeface="Times New Roman"/>
            </a:endParaRPr>
          </a:p>
        </p:txBody>
      </p:sp>
      <p:sp>
        <p:nvSpPr>
          <p:cNvPr id="411" name="Google Shape;41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2" name="Google Shape;412;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413" name="Google Shape;413;p22: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0" name="Google Shape;420;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421" name="Google Shape;421;p23: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Times New Roman"/>
                <a:ea typeface="Times New Roman"/>
                <a:cs typeface="Times New Roman"/>
                <a:sym typeface="Times New Roman"/>
              </a:rPr>
              <a:t>3/11/2021</a:t>
            </a:r>
            <a:endParaRPr>
              <a:latin typeface="Times New Roman"/>
              <a:ea typeface="Times New Roman"/>
              <a:cs typeface="Times New Roman"/>
              <a:sym typeface="Times New Roman"/>
            </a:endParaRPr>
          </a:p>
        </p:txBody>
      </p:sp>
      <p:sp>
        <p:nvSpPr>
          <p:cNvPr id="422" name="Google Shape;422;p23: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8" name="Google Shape;428;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429" name="Google Shape;429;p24: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Times New Roman"/>
                <a:ea typeface="Times New Roman"/>
                <a:cs typeface="Times New Roman"/>
                <a:sym typeface="Times New Roman"/>
              </a:rPr>
              <a:t>3/11/2021</a:t>
            </a:r>
            <a:endParaRPr>
              <a:latin typeface="Times New Roman"/>
              <a:ea typeface="Times New Roman"/>
              <a:cs typeface="Times New Roman"/>
              <a:sym typeface="Times New Roman"/>
            </a:endParaRPr>
          </a:p>
        </p:txBody>
      </p:sp>
      <p:sp>
        <p:nvSpPr>
          <p:cNvPr id="430" name="Google Shape;430;p24: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6" name="Google Shape;43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437" name="Google Shape;437;p25: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Times New Roman"/>
                <a:ea typeface="Times New Roman"/>
                <a:cs typeface="Times New Roman"/>
                <a:sym typeface="Times New Roman"/>
              </a:rPr>
              <a:t>3/11/2021</a:t>
            </a:r>
            <a:endParaRPr>
              <a:latin typeface="Times New Roman"/>
              <a:ea typeface="Times New Roman"/>
              <a:cs typeface="Times New Roman"/>
              <a:sym typeface="Times New Roman"/>
            </a:endParaRPr>
          </a:p>
        </p:txBody>
      </p:sp>
      <p:sp>
        <p:nvSpPr>
          <p:cNvPr id="438" name="Google Shape;438;p25: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4" name="Google Shape;444;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445" name="Google Shape;445;p26: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Times New Roman"/>
                <a:ea typeface="Times New Roman"/>
                <a:cs typeface="Times New Roman"/>
                <a:sym typeface="Times New Roman"/>
              </a:rPr>
              <a:t>3/11/2021</a:t>
            </a:r>
            <a:endParaRPr>
              <a:latin typeface="Times New Roman"/>
              <a:ea typeface="Times New Roman"/>
              <a:cs typeface="Times New Roman"/>
              <a:sym typeface="Times New Roman"/>
            </a:endParaRPr>
          </a:p>
        </p:txBody>
      </p:sp>
      <p:sp>
        <p:nvSpPr>
          <p:cNvPr id="446" name="Google Shape;446;p26: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2" name="Google Shape;452;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453" name="Google Shape;453;p27: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Times New Roman"/>
                <a:ea typeface="Times New Roman"/>
                <a:cs typeface="Times New Roman"/>
                <a:sym typeface="Times New Roman"/>
              </a:rPr>
              <a:t>3/11/2021</a:t>
            </a:r>
            <a:endParaRPr>
              <a:latin typeface="Times New Roman"/>
              <a:ea typeface="Times New Roman"/>
              <a:cs typeface="Times New Roman"/>
              <a:sym typeface="Times New Roman"/>
            </a:endParaRPr>
          </a:p>
        </p:txBody>
      </p:sp>
      <p:sp>
        <p:nvSpPr>
          <p:cNvPr id="454" name="Google Shape;454;p27: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28: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Times New Roman"/>
                <a:ea typeface="Times New Roman"/>
                <a:cs typeface="Times New Roman"/>
                <a:sym typeface="Times New Roman"/>
              </a:rPr>
              <a:t>3/11/2021</a:t>
            </a:r>
            <a:endParaRPr>
              <a:latin typeface="Times New Roman"/>
              <a:ea typeface="Times New Roman"/>
              <a:cs typeface="Times New Roman"/>
              <a:sym typeface="Times New Roman"/>
            </a:endParaRPr>
          </a:p>
        </p:txBody>
      </p:sp>
      <p:sp>
        <p:nvSpPr>
          <p:cNvPr id="460" name="Google Shape;460;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1" name="Google Shape;461;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462" name="Google Shape;462;p28: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29: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Times New Roman"/>
                <a:ea typeface="Times New Roman"/>
                <a:cs typeface="Times New Roman"/>
                <a:sym typeface="Times New Roman"/>
              </a:rPr>
              <a:t>3/11/2021</a:t>
            </a:r>
            <a:endParaRPr>
              <a:latin typeface="Times New Roman"/>
              <a:ea typeface="Times New Roman"/>
              <a:cs typeface="Times New Roman"/>
              <a:sym typeface="Times New Roman"/>
            </a:endParaRPr>
          </a:p>
        </p:txBody>
      </p:sp>
      <p:sp>
        <p:nvSpPr>
          <p:cNvPr id="469" name="Google Shape;46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0" name="Google Shape;47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471" name="Google Shape;471;p29: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30: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Times New Roman"/>
                <a:ea typeface="Times New Roman"/>
                <a:cs typeface="Times New Roman"/>
                <a:sym typeface="Times New Roman"/>
              </a:rPr>
              <a:t>3/11/2021</a:t>
            </a:r>
            <a:endParaRPr>
              <a:latin typeface="Times New Roman"/>
              <a:ea typeface="Times New Roman"/>
              <a:cs typeface="Times New Roman"/>
              <a:sym typeface="Times New Roman"/>
            </a:endParaRPr>
          </a:p>
        </p:txBody>
      </p:sp>
      <p:sp>
        <p:nvSpPr>
          <p:cNvPr id="477" name="Google Shape;477;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8" name="Google Shape;478;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479" name="Google Shape;479;p30: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31: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Times New Roman"/>
                <a:ea typeface="Times New Roman"/>
                <a:cs typeface="Times New Roman"/>
                <a:sym typeface="Times New Roman"/>
              </a:rPr>
              <a:t>3/11/2021</a:t>
            </a:r>
            <a:endParaRPr>
              <a:latin typeface="Times New Roman"/>
              <a:ea typeface="Times New Roman"/>
              <a:cs typeface="Times New Roman"/>
              <a:sym typeface="Times New Roman"/>
            </a:endParaRPr>
          </a:p>
        </p:txBody>
      </p:sp>
      <p:sp>
        <p:nvSpPr>
          <p:cNvPr id="485" name="Google Shape;485;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6" name="Google Shape;486;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487" name="Google Shape;487;p31: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3" name="Google Shape;493;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494" name="Google Shape;494;p32: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Times New Roman"/>
                <a:ea typeface="Times New Roman"/>
                <a:cs typeface="Times New Roman"/>
                <a:sym typeface="Times New Roman"/>
              </a:rPr>
              <a:t>3/11/2021</a:t>
            </a:r>
            <a:endParaRPr>
              <a:latin typeface="Times New Roman"/>
              <a:ea typeface="Times New Roman"/>
              <a:cs typeface="Times New Roman"/>
              <a:sym typeface="Times New Roman"/>
            </a:endParaRPr>
          </a:p>
        </p:txBody>
      </p:sp>
      <p:sp>
        <p:nvSpPr>
          <p:cNvPr id="495" name="Google Shape;495;p32: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1" name="Google Shape;501;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502" name="Google Shape;502;p33: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Times New Roman"/>
                <a:ea typeface="Times New Roman"/>
                <a:cs typeface="Times New Roman"/>
                <a:sym typeface="Times New Roman"/>
              </a:rPr>
              <a:t>3/11/2021</a:t>
            </a:r>
            <a:endParaRPr>
              <a:latin typeface="Times New Roman"/>
              <a:ea typeface="Times New Roman"/>
              <a:cs typeface="Times New Roman"/>
              <a:sym typeface="Times New Roman"/>
            </a:endParaRPr>
          </a:p>
        </p:txBody>
      </p:sp>
      <p:sp>
        <p:nvSpPr>
          <p:cNvPr id="503" name="Google Shape;503;p33: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9" name="Google Shape;509;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510" name="Google Shape;510;p34: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Times New Roman"/>
                <a:ea typeface="Times New Roman"/>
                <a:cs typeface="Times New Roman"/>
                <a:sym typeface="Times New Roman"/>
              </a:rPr>
              <a:t>3/11/2021</a:t>
            </a:r>
            <a:endParaRPr>
              <a:latin typeface="Times New Roman"/>
              <a:ea typeface="Times New Roman"/>
              <a:cs typeface="Times New Roman"/>
              <a:sym typeface="Times New Roman"/>
            </a:endParaRPr>
          </a:p>
        </p:txBody>
      </p:sp>
      <p:sp>
        <p:nvSpPr>
          <p:cNvPr id="511" name="Google Shape;511;p34: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7" name="Google Shape;517;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4" name="Google Shape;524;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2" name="Google Shape;532;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7" name="Google Shape;537;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0" name="Google Shape;550;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6" name="Google Shape;556;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3" name="Google Shape;563;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4" name="Google Shape;564;p42: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3/11/2021</a:t>
            </a:r>
            <a:endParaRPr/>
          </a:p>
        </p:txBody>
      </p:sp>
      <p:sp>
        <p:nvSpPr>
          <p:cNvPr id="565" name="Google Shape;565;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7" name="Google Shape;577;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3" name="Google Shape;583;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3" name="Google Shape;603;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9" name="Google Shape;609;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1" name="Google Shape;641;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2" name="Google Shape;682;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0" name="Google Shape;690;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9" name="Google Shape;699;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1" name="Google Shape;751;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7" name="Google Shape;757;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7" name="Google Shape;777;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1" name="Google Shape;811;p5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54</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2" name="Google Shape;852;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
        <p:cNvGrpSpPr/>
        <p:nvPr/>
      </p:nvGrpSpPr>
      <p:grpSpPr>
        <a:xfrm>
          <a:off x="0" y="0"/>
          <a:ext cx="0" cy="0"/>
          <a:chOff x="0" y="0"/>
          <a:chExt cx="0" cy="0"/>
        </a:xfrm>
      </p:grpSpPr>
      <p:sp>
        <p:nvSpPr>
          <p:cNvPr id="857" name="Google Shape;857;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8" name="Google Shape;858;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0" name="Google Shape;890;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1" name="Google Shape;911;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7" name="Google Shape;917;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3" name="Google Shape;923;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9" name="Google Shape;929;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1" name="Google Shape;991;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7" name="Google Shape;997;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3" name="Google Shape;1003;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86"/>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86"/>
          <p:cNvSpPr/>
          <p:nvPr/>
        </p:nvSpPr>
        <p:spPr>
          <a:xfrm>
            <a:off x="1" y="6334316"/>
            <a:ext cx="12192000" cy="6648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86"/>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86"/>
          <p:cNvSpPr txBox="1">
            <a:spLocks noGrp="1"/>
          </p:cNvSpPr>
          <p:nvPr>
            <p:ph type="subTitle" idx="1"/>
          </p:nvPr>
        </p:nvSpPr>
        <p:spPr>
          <a:xfrm>
            <a:off x="1100051" y="4455621"/>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23" name="Google Shape;23;p8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8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26" name="Google Shape;26;p86"/>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8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89"/>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0" name="Google Shape;30;p89"/>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89"/>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8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9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9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9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9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51"/>
        <p:cNvGrpSpPr/>
        <p:nvPr/>
      </p:nvGrpSpPr>
      <p:grpSpPr>
        <a:xfrm>
          <a:off x="0" y="0"/>
          <a:ext cx="0" cy="0"/>
          <a:chOff x="0" y="0"/>
          <a:chExt cx="0" cy="0"/>
        </a:xfrm>
      </p:grpSpPr>
      <p:sp>
        <p:nvSpPr>
          <p:cNvPr id="52" name="Google Shape;52;p103"/>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03"/>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03"/>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103"/>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56" name="Google Shape;56;p10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0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0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59" name="Google Shape;59;p103"/>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0"/>
        <p:cNvGrpSpPr/>
        <p:nvPr/>
      </p:nvGrpSpPr>
      <p:grpSpPr>
        <a:xfrm>
          <a:off x="0" y="0"/>
          <a:ext cx="0" cy="0"/>
          <a:chOff x="0" y="0"/>
          <a:chExt cx="0" cy="0"/>
        </a:xfrm>
      </p:grpSpPr>
      <p:sp>
        <p:nvSpPr>
          <p:cNvPr id="61" name="Google Shape;61;p10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04"/>
          <p:cNvSpPr txBox="1">
            <a:spLocks noGrp="1"/>
          </p:cNvSpPr>
          <p:nvPr>
            <p:ph type="body" idx="1"/>
          </p:nvPr>
        </p:nvSpPr>
        <p:spPr>
          <a:xfrm>
            <a:off x="1097280" y="1845734"/>
            <a:ext cx="4937760" cy="4023359"/>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3" name="Google Shape;63;p104"/>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4" name="Google Shape;64;p10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0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7"/>
        <p:cNvGrpSpPr/>
        <p:nvPr/>
      </p:nvGrpSpPr>
      <p:grpSpPr>
        <a:xfrm>
          <a:off x="0" y="0"/>
          <a:ext cx="0" cy="0"/>
          <a:chOff x="0" y="0"/>
          <a:chExt cx="0" cy="0"/>
        </a:xfrm>
      </p:grpSpPr>
      <p:sp>
        <p:nvSpPr>
          <p:cNvPr id="68" name="Google Shape;68;p10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05"/>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70" name="Google Shape;70;p105"/>
          <p:cNvSpPr txBox="1">
            <a:spLocks noGrp="1"/>
          </p:cNvSpPr>
          <p:nvPr>
            <p:ph type="body" idx="2"/>
          </p:nvPr>
        </p:nvSpPr>
        <p:spPr>
          <a:xfrm>
            <a:off x="1097280" y="2582335"/>
            <a:ext cx="4937760" cy="32867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1" name="Google Shape;71;p105"/>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72" name="Google Shape;72;p105"/>
          <p:cNvSpPr txBox="1">
            <a:spLocks noGrp="1"/>
          </p:cNvSpPr>
          <p:nvPr>
            <p:ph type="body" idx="4"/>
          </p:nvPr>
        </p:nvSpPr>
        <p:spPr>
          <a:xfrm>
            <a:off x="6217920" y="2582334"/>
            <a:ext cx="4937760" cy="32867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3" name="Google Shape;73;p10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0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0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76"/>
        <p:cNvGrpSpPr/>
        <p:nvPr/>
      </p:nvGrpSpPr>
      <p:grpSpPr>
        <a:xfrm>
          <a:off x="0" y="0"/>
          <a:ext cx="0" cy="0"/>
          <a:chOff x="0" y="0"/>
          <a:chExt cx="0" cy="0"/>
        </a:xfrm>
      </p:grpSpPr>
      <p:sp>
        <p:nvSpPr>
          <p:cNvPr id="77" name="Google Shape;77;p106"/>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06"/>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0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0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0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82"/>
        <p:cNvGrpSpPr/>
        <p:nvPr/>
      </p:nvGrpSpPr>
      <p:grpSpPr>
        <a:xfrm>
          <a:off x="0" y="0"/>
          <a:ext cx="0" cy="0"/>
          <a:chOff x="0" y="0"/>
          <a:chExt cx="0" cy="0"/>
        </a:xfrm>
      </p:grpSpPr>
      <p:sp>
        <p:nvSpPr>
          <p:cNvPr id="83" name="Google Shape;83;p107"/>
          <p:cNvSpPr/>
          <p:nvPr/>
        </p:nvSpPr>
        <p:spPr>
          <a:xfrm>
            <a:off x="16"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07"/>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07"/>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107"/>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7" name="Google Shape;87;p107"/>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8" name="Google Shape;88;p107"/>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07"/>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0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50">
                <a:solidFill>
                  <a:schemeClr val="dk2"/>
                </a:solidFill>
                <a:latin typeface="Calibri"/>
                <a:ea typeface="Calibri"/>
                <a:cs typeface="Calibri"/>
                <a:sym typeface="Calibri"/>
              </a:defRPr>
            </a:lvl1pPr>
            <a:lvl2pPr marL="0" lvl="1" indent="0" algn="r">
              <a:spcBef>
                <a:spcPts val="0"/>
              </a:spcBef>
              <a:buNone/>
              <a:defRPr sz="1050">
                <a:solidFill>
                  <a:schemeClr val="dk2"/>
                </a:solidFill>
                <a:latin typeface="Calibri"/>
                <a:ea typeface="Calibri"/>
                <a:cs typeface="Calibri"/>
                <a:sym typeface="Calibri"/>
              </a:defRPr>
            </a:lvl2pPr>
            <a:lvl3pPr marL="0" lvl="2" indent="0" algn="r">
              <a:spcBef>
                <a:spcPts val="0"/>
              </a:spcBef>
              <a:buNone/>
              <a:defRPr sz="1050">
                <a:solidFill>
                  <a:schemeClr val="dk2"/>
                </a:solidFill>
                <a:latin typeface="Calibri"/>
                <a:ea typeface="Calibri"/>
                <a:cs typeface="Calibri"/>
                <a:sym typeface="Calibri"/>
              </a:defRPr>
            </a:lvl3pPr>
            <a:lvl4pPr marL="0" lvl="3" indent="0" algn="r">
              <a:spcBef>
                <a:spcPts val="0"/>
              </a:spcBef>
              <a:buNone/>
              <a:defRPr sz="1050">
                <a:solidFill>
                  <a:schemeClr val="dk2"/>
                </a:solidFill>
                <a:latin typeface="Calibri"/>
                <a:ea typeface="Calibri"/>
                <a:cs typeface="Calibri"/>
                <a:sym typeface="Calibri"/>
              </a:defRPr>
            </a:lvl4pPr>
            <a:lvl5pPr marL="0" lvl="4" indent="0" algn="r">
              <a:spcBef>
                <a:spcPts val="0"/>
              </a:spcBef>
              <a:buNone/>
              <a:defRPr sz="1050">
                <a:solidFill>
                  <a:schemeClr val="dk2"/>
                </a:solidFill>
                <a:latin typeface="Calibri"/>
                <a:ea typeface="Calibri"/>
                <a:cs typeface="Calibri"/>
                <a:sym typeface="Calibri"/>
              </a:defRPr>
            </a:lvl5pPr>
            <a:lvl6pPr marL="0" lvl="5" indent="0" algn="r">
              <a:spcBef>
                <a:spcPts val="0"/>
              </a:spcBef>
              <a:buNone/>
              <a:defRPr sz="1050">
                <a:solidFill>
                  <a:schemeClr val="dk2"/>
                </a:solidFill>
                <a:latin typeface="Calibri"/>
                <a:ea typeface="Calibri"/>
                <a:cs typeface="Calibri"/>
                <a:sym typeface="Calibri"/>
              </a:defRPr>
            </a:lvl6pPr>
            <a:lvl7pPr marL="0" lvl="6" indent="0" algn="r">
              <a:spcBef>
                <a:spcPts val="0"/>
              </a:spcBef>
              <a:buNone/>
              <a:defRPr sz="1050">
                <a:solidFill>
                  <a:schemeClr val="dk2"/>
                </a:solidFill>
                <a:latin typeface="Calibri"/>
                <a:ea typeface="Calibri"/>
                <a:cs typeface="Calibri"/>
                <a:sym typeface="Calibri"/>
              </a:defRPr>
            </a:lvl7pPr>
            <a:lvl8pPr marL="0" lvl="7" indent="0" algn="r">
              <a:spcBef>
                <a:spcPts val="0"/>
              </a:spcBef>
              <a:buNone/>
              <a:defRPr sz="1050">
                <a:solidFill>
                  <a:schemeClr val="dk2"/>
                </a:solidFill>
                <a:latin typeface="Calibri"/>
                <a:ea typeface="Calibri"/>
                <a:cs typeface="Calibri"/>
                <a:sym typeface="Calibri"/>
              </a:defRPr>
            </a:lvl8pPr>
            <a:lvl9pPr marL="0" lvl="8" indent="0" algn="r">
              <a:spcBef>
                <a:spcPts val="0"/>
              </a:spcBef>
              <a:buNone/>
              <a:defRPr sz="1050">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91"/>
        <p:cNvGrpSpPr/>
        <p:nvPr/>
      </p:nvGrpSpPr>
      <p:grpSpPr>
        <a:xfrm>
          <a:off x="0" y="0"/>
          <a:ext cx="0" cy="0"/>
          <a:chOff x="0" y="0"/>
          <a:chExt cx="0" cy="0"/>
        </a:xfrm>
      </p:grpSpPr>
      <p:sp>
        <p:nvSpPr>
          <p:cNvPr id="92" name="Google Shape;92;p108"/>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08"/>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08"/>
          <p:cNvSpPr txBox="1">
            <a:spLocks noGrp="1"/>
          </p:cNvSpPr>
          <p:nvPr>
            <p:ph type="title"/>
          </p:nvPr>
        </p:nvSpPr>
        <p:spPr>
          <a:xfrm>
            <a:off x="1097280" y="5074920"/>
            <a:ext cx="10113645"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5" name="Google Shape;95;p108"/>
          <p:cNvSpPr>
            <a:spLocks noGrp="1"/>
          </p:cNvSpPr>
          <p:nvPr>
            <p:ph type="pic" idx="2"/>
          </p:nvPr>
        </p:nvSpPr>
        <p:spPr>
          <a:xfrm>
            <a:off x="15" y="0"/>
            <a:ext cx="12191985" cy="4915076"/>
          </a:xfrm>
          <a:prstGeom prst="rect">
            <a:avLst/>
          </a:prstGeom>
          <a:solidFill>
            <a:srgbClr val="BECAD4"/>
          </a:solidFill>
          <a:ln>
            <a:noFill/>
          </a:ln>
        </p:spPr>
      </p:sp>
      <p:sp>
        <p:nvSpPr>
          <p:cNvPr id="96" name="Google Shape;96;p108"/>
          <p:cNvSpPr txBox="1">
            <a:spLocks noGrp="1"/>
          </p:cNvSpPr>
          <p:nvPr>
            <p:ph type="body" idx="1"/>
          </p:nvPr>
        </p:nvSpPr>
        <p:spPr>
          <a:xfrm>
            <a:off x="1097280" y="5907024"/>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97" name="Google Shape;97;p10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0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0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0"/>
        <p:cNvGrpSpPr/>
        <p:nvPr/>
      </p:nvGrpSpPr>
      <p:grpSpPr>
        <a:xfrm>
          <a:off x="0" y="0"/>
          <a:ext cx="0" cy="0"/>
          <a:chOff x="0" y="0"/>
          <a:chExt cx="0" cy="0"/>
        </a:xfrm>
      </p:grpSpPr>
      <p:sp>
        <p:nvSpPr>
          <p:cNvPr id="101" name="Google Shape;101;p10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09"/>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03" name="Google Shape;103;p109"/>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09"/>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10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06"/>
        <p:cNvGrpSpPr/>
        <p:nvPr/>
      </p:nvGrpSpPr>
      <p:grpSpPr>
        <a:xfrm>
          <a:off x="0" y="0"/>
          <a:ext cx="0" cy="0"/>
          <a:chOff x="0" y="0"/>
          <a:chExt cx="0" cy="0"/>
        </a:xfrm>
      </p:grpSpPr>
      <p:sp>
        <p:nvSpPr>
          <p:cNvPr id="107" name="Google Shape;107;p110"/>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10"/>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0"/>
          <p:cNvSpPr txBox="1">
            <a:spLocks noGrp="1"/>
          </p:cNvSpPr>
          <p:nvPr>
            <p:ph type="title"/>
          </p:nvPr>
        </p:nvSpPr>
        <p:spPr>
          <a:xfrm rot="5400000">
            <a:off x="7159401" y="1977801"/>
            <a:ext cx="5759898"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110"/>
          <p:cNvSpPr txBox="1">
            <a:spLocks noGrp="1"/>
          </p:cNvSpPr>
          <p:nvPr>
            <p:ph type="body" idx="1"/>
          </p:nvPr>
        </p:nvSpPr>
        <p:spPr>
          <a:xfrm rot="5400000">
            <a:off x="1825401" y="-574899"/>
            <a:ext cx="5759898"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11" name="Google Shape;111;p11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11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11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23"/>
        <p:cNvGrpSpPr/>
        <p:nvPr/>
      </p:nvGrpSpPr>
      <p:grpSpPr>
        <a:xfrm>
          <a:off x="0" y="0"/>
          <a:ext cx="0" cy="0"/>
          <a:chOff x="0" y="0"/>
          <a:chExt cx="0" cy="0"/>
        </a:xfrm>
      </p:grpSpPr>
      <p:sp>
        <p:nvSpPr>
          <p:cNvPr id="124" name="Google Shape;124;p88"/>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5" name="Google Shape;125;p88"/>
          <p:cNvSpPr txBox="1">
            <a:spLocks noGrp="1"/>
          </p:cNvSpPr>
          <p:nvPr>
            <p:ph type="body" idx="1"/>
          </p:nvPr>
        </p:nvSpPr>
        <p:spPr>
          <a:xfrm>
            <a:off x="1097279" y="1845734"/>
            <a:ext cx="10058401"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26" name="Google Shape;126;p88"/>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88"/>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88"/>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29"/>
        <p:cNvGrpSpPr/>
        <p:nvPr/>
      </p:nvGrpSpPr>
      <p:grpSpPr>
        <a:xfrm>
          <a:off x="0" y="0"/>
          <a:ext cx="0" cy="0"/>
          <a:chOff x="0" y="0"/>
          <a:chExt cx="0" cy="0"/>
        </a:xfrm>
      </p:grpSpPr>
      <p:sp>
        <p:nvSpPr>
          <p:cNvPr id="130" name="Google Shape;130;p93"/>
          <p:cNvSpPr/>
          <p:nvPr/>
        </p:nvSpPr>
        <p:spPr>
          <a:xfrm>
            <a:off x="3177"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93"/>
          <p:cNvSpPr/>
          <p:nvPr/>
        </p:nvSpPr>
        <p:spPr>
          <a:xfrm>
            <a:off x="17"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93"/>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3" name="Google Shape;133;p93"/>
          <p:cNvSpPr txBox="1">
            <a:spLocks noGrp="1"/>
          </p:cNvSpPr>
          <p:nvPr>
            <p:ph type="subTitle" idx="1"/>
          </p:nvPr>
        </p:nvSpPr>
        <p:spPr>
          <a:xfrm>
            <a:off x="1100051" y="4455621"/>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134" name="Google Shape;134;p93"/>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93"/>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93"/>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137" name="Google Shape;137;p93"/>
          <p:cNvCxnSpPr/>
          <p:nvPr/>
        </p:nvCxnSpPr>
        <p:spPr>
          <a:xfrm>
            <a:off x="1207659"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transition>
    <p:fade thruBlk="1"/>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138"/>
        <p:cNvGrpSpPr/>
        <p:nvPr/>
      </p:nvGrpSpPr>
      <p:grpSpPr>
        <a:xfrm>
          <a:off x="0" y="0"/>
          <a:ext cx="0" cy="0"/>
          <a:chOff x="0" y="0"/>
          <a:chExt cx="0" cy="0"/>
        </a:xfrm>
      </p:grpSpPr>
      <p:sp>
        <p:nvSpPr>
          <p:cNvPr id="139" name="Google Shape;139;p94"/>
          <p:cNvSpPr/>
          <p:nvPr/>
        </p:nvSpPr>
        <p:spPr>
          <a:xfrm>
            <a:off x="3177"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94"/>
          <p:cNvSpPr/>
          <p:nvPr/>
        </p:nvSpPr>
        <p:spPr>
          <a:xfrm>
            <a:off x="17"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94"/>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2" name="Google Shape;142;p94"/>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143" name="Google Shape;143;p94"/>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94"/>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94"/>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146" name="Google Shape;146;p94"/>
          <p:cNvCxnSpPr/>
          <p:nvPr/>
        </p:nvCxnSpPr>
        <p:spPr>
          <a:xfrm>
            <a:off x="1207659"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transition>
    <p:fade thruBlk="1"/>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47"/>
        <p:cNvGrpSpPr/>
        <p:nvPr/>
      </p:nvGrpSpPr>
      <p:grpSpPr>
        <a:xfrm>
          <a:off x="0" y="0"/>
          <a:ext cx="0" cy="0"/>
          <a:chOff x="0" y="0"/>
          <a:chExt cx="0" cy="0"/>
        </a:xfrm>
      </p:grpSpPr>
      <p:sp>
        <p:nvSpPr>
          <p:cNvPr id="148" name="Google Shape;148;p95"/>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95"/>
          <p:cNvSpPr txBox="1">
            <a:spLocks noGrp="1"/>
          </p:cNvSpPr>
          <p:nvPr>
            <p:ph type="body" idx="1"/>
          </p:nvPr>
        </p:nvSpPr>
        <p:spPr>
          <a:xfrm>
            <a:off x="1097280" y="1845736"/>
            <a:ext cx="4937760" cy="4023359"/>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50" name="Google Shape;150;p95"/>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51" name="Google Shape;151;p95"/>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95"/>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95"/>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54"/>
        <p:cNvGrpSpPr/>
        <p:nvPr/>
      </p:nvGrpSpPr>
      <p:grpSpPr>
        <a:xfrm>
          <a:off x="0" y="0"/>
          <a:ext cx="0" cy="0"/>
          <a:chOff x="0" y="0"/>
          <a:chExt cx="0" cy="0"/>
        </a:xfrm>
      </p:grpSpPr>
      <p:sp>
        <p:nvSpPr>
          <p:cNvPr id="155" name="Google Shape;155;p96"/>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6" name="Google Shape;156;p96"/>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157" name="Google Shape;157;p96"/>
          <p:cNvSpPr txBox="1">
            <a:spLocks noGrp="1"/>
          </p:cNvSpPr>
          <p:nvPr>
            <p:ph type="body" idx="2"/>
          </p:nvPr>
        </p:nvSpPr>
        <p:spPr>
          <a:xfrm>
            <a:off x="1097280" y="2582335"/>
            <a:ext cx="4937760" cy="32867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58" name="Google Shape;158;p96"/>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159" name="Google Shape;159;p96"/>
          <p:cNvSpPr txBox="1">
            <a:spLocks noGrp="1"/>
          </p:cNvSpPr>
          <p:nvPr>
            <p:ph type="body" idx="4"/>
          </p:nvPr>
        </p:nvSpPr>
        <p:spPr>
          <a:xfrm>
            <a:off x="6217920" y="2582334"/>
            <a:ext cx="4937760" cy="32867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60" name="Google Shape;160;p96"/>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96"/>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2" name="Google Shape;162;p96"/>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3"/>
        <p:cNvGrpSpPr/>
        <p:nvPr/>
      </p:nvGrpSpPr>
      <p:grpSpPr>
        <a:xfrm>
          <a:off x="0" y="0"/>
          <a:ext cx="0" cy="0"/>
          <a:chOff x="0" y="0"/>
          <a:chExt cx="0" cy="0"/>
        </a:xfrm>
      </p:grpSpPr>
      <p:sp>
        <p:nvSpPr>
          <p:cNvPr id="164" name="Google Shape;164;p97"/>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5" name="Google Shape;165;p97"/>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6" name="Google Shape;166;p97"/>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7" name="Google Shape;167;p97"/>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168"/>
        <p:cNvGrpSpPr/>
        <p:nvPr/>
      </p:nvGrpSpPr>
      <p:grpSpPr>
        <a:xfrm>
          <a:off x="0" y="0"/>
          <a:ext cx="0" cy="0"/>
          <a:chOff x="0" y="0"/>
          <a:chExt cx="0" cy="0"/>
        </a:xfrm>
      </p:grpSpPr>
      <p:sp>
        <p:nvSpPr>
          <p:cNvPr id="169" name="Google Shape;169;p98"/>
          <p:cNvSpPr/>
          <p:nvPr/>
        </p:nvSpPr>
        <p:spPr>
          <a:xfrm>
            <a:off x="3177"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98"/>
          <p:cNvSpPr/>
          <p:nvPr/>
        </p:nvSpPr>
        <p:spPr>
          <a:xfrm>
            <a:off x="17"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98"/>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2" name="Google Shape;172;p98"/>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3" name="Google Shape;173;p98"/>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174"/>
        <p:cNvGrpSpPr/>
        <p:nvPr/>
      </p:nvGrpSpPr>
      <p:grpSpPr>
        <a:xfrm>
          <a:off x="0" y="0"/>
          <a:ext cx="0" cy="0"/>
          <a:chOff x="0" y="0"/>
          <a:chExt cx="0" cy="0"/>
        </a:xfrm>
      </p:grpSpPr>
      <p:sp>
        <p:nvSpPr>
          <p:cNvPr id="175" name="Google Shape;175;p99"/>
          <p:cNvSpPr/>
          <p:nvPr/>
        </p:nvSpPr>
        <p:spPr>
          <a:xfrm>
            <a:off x="18"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99"/>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99"/>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8" name="Google Shape;178;p99"/>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79" name="Google Shape;179;p99"/>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180" name="Google Shape;180;p99"/>
          <p:cNvSpPr txBox="1">
            <a:spLocks noGrp="1"/>
          </p:cNvSpPr>
          <p:nvPr>
            <p:ph type="dt" idx="10"/>
          </p:nvPr>
        </p:nvSpPr>
        <p:spPr>
          <a:xfrm>
            <a:off x="465513" y="6459787"/>
            <a:ext cx="261851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1" name="Google Shape;181;p99"/>
          <p:cNvSpPr txBox="1">
            <a:spLocks noGrp="1"/>
          </p:cNvSpPr>
          <p:nvPr>
            <p:ph type="ftr" idx="11"/>
          </p:nvPr>
        </p:nvSpPr>
        <p:spPr>
          <a:xfrm>
            <a:off x="4800600" y="6459787"/>
            <a:ext cx="4648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2" name="Google Shape;182;p99"/>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50">
                <a:solidFill>
                  <a:schemeClr val="dk2"/>
                </a:solidFill>
                <a:latin typeface="Calibri"/>
                <a:ea typeface="Calibri"/>
                <a:cs typeface="Calibri"/>
                <a:sym typeface="Calibri"/>
              </a:defRPr>
            </a:lvl1pPr>
            <a:lvl2pPr marL="0" lvl="1" indent="0" algn="r">
              <a:spcBef>
                <a:spcPts val="0"/>
              </a:spcBef>
              <a:buNone/>
              <a:defRPr sz="1050">
                <a:solidFill>
                  <a:schemeClr val="dk2"/>
                </a:solidFill>
                <a:latin typeface="Calibri"/>
                <a:ea typeface="Calibri"/>
                <a:cs typeface="Calibri"/>
                <a:sym typeface="Calibri"/>
              </a:defRPr>
            </a:lvl2pPr>
            <a:lvl3pPr marL="0" lvl="2" indent="0" algn="r">
              <a:spcBef>
                <a:spcPts val="0"/>
              </a:spcBef>
              <a:buNone/>
              <a:defRPr sz="1050">
                <a:solidFill>
                  <a:schemeClr val="dk2"/>
                </a:solidFill>
                <a:latin typeface="Calibri"/>
                <a:ea typeface="Calibri"/>
                <a:cs typeface="Calibri"/>
                <a:sym typeface="Calibri"/>
              </a:defRPr>
            </a:lvl3pPr>
            <a:lvl4pPr marL="0" lvl="3" indent="0" algn="r">
              <a:spcBef>
                <a:spcPts val="0"/>
              </a:spcBef>
              <a:buNone/>
              <a:defRPr sz="1050">
                <a:solidFill>
                  <a:schemeClr val="dk2"/>
                </a:solidFill>
                <a:latin typeface="Calibri"/>
                <a:ea typeface="Calibri"/>
                <a:cs typeface="Calibri"/>
                <a:sym typeface="Calibri"/>
              </a:defRPr>
            </a:lvl4pPr>
            <a:lvl5pPr marL="0" lvl="4" indent="0" algn="r">
              <a:spcBef>
                <a:spcPts val="0"/>
              </a:spcBef>
              <a:buNone/>
              <a:defRPr sz="1050">
                <a:solidFill>
                  <a:schemeClr val="dk2"/>
                </a:solidFill>
                <a:latin typeface="Calibri"/>
                <a:ea typeface="Calibri"/>
                <a:cs typeface="Calibri"/>
                <a:sym typeface="Calibri"/>
              </a:defRPr>
            </a:lvl5pPr>
            <a:lvl6pPr marL="0" lvl="5" indent="0" algn="r">
              <a:spcBef>
                <a:spcPts val="0"/>
              </a:spcBef>
              <a:buNone/>
              <a:defRPr sz="1050">
                <a:solidFill>
                  <a:schemeClr val="dk2"/>
                </a:solidFill>
                <a:latin typeface="Calibri"/>
                <a:ea typeface="Calibri"/>
                <a:cs typeface="Calibri"/>
                <a:sym typeface="Calibri"/>
              </a:defRPr>
            </a:lvl6pPr>
            <a:lvl7pPr marL="0" lvl="6" indent="0" algn="r">
              <a:spcBef>
                <a:spcPts val="0"/>
              </a:spcBef>
              <a:buNone/>
              <a:defRPr sz="1050">
                <a:solidFill>
                  <a:schemeClr val="dk2"/>
                </a:solidFill>
                <a:latin typeface="Calibri"/>
                <a:ea typeface="Calibri"/>
                <a:cs typeface="Calibri"/>
                <a:sym typeface="Calibri"/>
              </a:defRPr>
            </a:lvl7pPr>
            <a:lvl8pPr marL="0" lvl="7" indent="0" algn="r">
              <a:spcBef>
                <a:spcPts val="0"/>
              </a:spcBef>
              <a:buNone/>
              <a:defRPr sz="1050">
                <a:solidFill>
                  <a:schemeClr val="dk2"/>
                </a:solidFill>
                <a:latin typeface="Calibri"/>
                <a:ea typeface="Calibri"/>
                <a:cs typeface="Calibri"/>
                <a:sym typeface="Calibri"/>
              </a:defRPr>
            </a:lvl8pPr>
            <a:lvl9pPr marL="0" lvl="8" indent="0" algn="r">
              <a:spcBef>
                <a:spcPts val="0"/>
              </a:spcBef>
              <a:buNone/>
              <a:defRPr sz="1050">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183"/>
        <p:cNvGrpSpPr/>
        <p:nvPr/>
      </p:nvGrpSpPr>
      <p:grpSpPr>
        <a:xfrm>
          <a:off x="0" y="0"/>
          <a:ext cx="0" cy="0"/>
          <a:chOff x="0" y="0"/>
          <a:chExt cx="0" cy="0"/>
        </a:xfrm>
      </p:grpSpPr>
      <p:sp>
        <p:nvSpPr>
          <p:cNvPr id="184" name="Google Shape;184;p100"/>
          <p:cNvSpPr/>
          <p:nvPr/>
        </p:nvSpPr>
        <p:spPr>
          <a:xfrm>
            <a:off x="1"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00"/>
          <p:cNvSpPr/>
          <p:nvPr/>
        </p:nvSpPr>
        <p:spPr>
          <a:xfrm>
            <a:off x="17"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00"/>
          <p:cNvSpPr txBox="1">
            <a:spLocks noGrp="1"/>
          </p:cNvSpPr>
          <p:nvPr>
            <p:ph type="title"/>
          </p:nvPr>
        </p:nvSpPr>
        <p:spPr>
          <a:xfrm>
            <a:off x="1097280" y="5074920"/>
            <a:ext cx="10119360"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7" name="Google Shape;187;p100"/>
          <p:cNvSpPr>
            <a:spLocks noGrp="1"/>
          </p:cNvSpPr>
          <p:nvPr>
            <p:ph type="pic" idx="2"/>
          </p:nvPr>
        </p:nvSpPr>
        <p:spPr>
          <a:xfrm>
            <a:off x="17" y="0"/>
            <a:ext cx="12191985" cy="4915076"/>
          </a:xfrm>
          <a:prstGeom prst="rect">
            <a:avLst/>
          </a:prstGeom>
          <a:solidFill>
            <a:srgbClr val="BECAD4"/>
          </a:solidFill>
          <a:ln>
            <a:noFill/>
          </a:ln>
        </p:spPr>
      </p:sp>
      <p:sp>
        <p:nvSpPr>
          <p:cNvPr id="188" name="Google Shape;188;p100"/>
          <p:cNvSpPr txBox="1">
            <a:spLocks noGrp="1"/>
          </p:cNvSpPr>
          <p:nvPr>
            <p:ph type="body" idx="1"/>
          </p:nvPr>
        </p:nvSpPr>
        <p:spPr>
          <a:xfrm>
            <a:off x="1097280" y="5907024"/>
            <a:ext cx="10119360"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189" name="Google Shape;189;p100"/>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0" name="Google Shape;190;p100"/>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1" name="Google Shape;191;p100"/>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92"/>
        <p:cNvGrpSpPr/>
        <p:nvPr/>
      </p:nvGrpSpPr>
      <p:grpSpPr>
        <a:xfrm>
          <a:off x="0" y="0"/>
          <a:ext cx="0" cy="0"/>
          <a:chOff x="0" y="0"/>
          <a:chExt cx="0" cy="0"/>
        </a:xfrm>
      </p:grpSpPr>
      <p:sp>
        <p:nvSpPr>
          <p:cNvPr id="193" name="Google Shape;193;p101"/>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4" name="Google Shape;194;p101"/>
          <p:cNvSpPr txBox="1">
            <a:spLocks noGrp="1"/>
          </p:cNvSpPr>
          <p:nvPr>
            <p:ph type="body" idx="1"/>
          </p:nvPr>
        </p:nvSpPr>
        <p:spPr>
          <a:xfrm rot="5400000">
            <a:off x="4114799" y="-1171787"/>
            <a:ext cx="4023360" cy="10058401"/>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95" name="Google Shape;195;p101"/>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6" name="Google Shape;196;p101"/>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7" name="Google Shape;197;p101"/>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98"/>
        <p:cNvGrpSpPr/>
        <p:nvPr/>
      </p:nvGrpSpPr>
      <p:grpSpPr>
        <a:xfrm>
          <a:off x="0" y="0"/>
          <a:ext cx="0" cy="0"/>
          <a:chOff x="0" y="0"/>
          <a:chExt cx="0" cy="0"/>
        </a:xfrm>
      </p:grpSpPr>
      <p:sp>
        <p:nvSpPr>
          <p:cNvPr id="199" name="Google Shape;199;p102"/>
          <p:cNvSpPr/>
          <p:nvPr/>
        </p:nvSpPr>
        <p:spPr>
          <a:xfrm>
            <a:off x="3177"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02"/>
          <p:cNvSpPr/>
          <p:nvPr/>
        </p:nvSpPr>
        <p:spPr>
          <a:xfrm>
            <a:off x="17"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02"/>
          <p:cNvSpPr txBox="1">
            <a:spLocks noGrp="1"/>
          </p:cNvSpPr>
          <p:nvPr>
            <p:ph type="title"/>
          </p:nvPr>
        </p:nvSpPr>
        <p:spPr>
          <a:xfrm rot="5400000">
            <a:off x="7159402" y="1977801"/>
            <a:ext cx="5759898"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2" name="Google Shape;202;p102"/>
          <p:cNvSpPr txBox="1">
            <a:spLocks noGrp="1"/>
          </p:cNvSpPr>
          <p:nvPr>
            <p:ph type="body" idx="1"/>
          </p:nvPr>
        </p:nvSpPr>
        <p:spPr>
          <a:xfrm rot="5400000">
            <a:off x="1825402" y="-574899"/>
            <a:ext cx="5759898"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203" name="Google Shape;203;p102"/>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4" name="Google Shape;204;p102"/>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5" name="Google Shape;205;p102"/>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85"/>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85"/>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8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85"/>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4" name="Google Shape;14;p8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8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8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rgbClr val="FFFFFF"/>
                </a:solidFill>
                <a:latin typeface="Calibri"/>
                <a:ea typeface="Calibri"/>
                <a:cs typeface="Calibri"/>
                <a:sym typeface="Calibri"/>
              </a:defRPr>
            </a:lvl1pPr>
            <a:lvl2pPr marL="0" marR="0" lvl="1" indent="0" algn="r" rtl="0">
              <a:spcBef>
                <a:spcPts val="0"/>
              </a:spcBef>
              <a:buNone/>
              <a:defRPr sz="1050" b="0" i="0" u="none" strike="noStrike" cap="none">
                <a:solidFill>
                  <a:srgbClr val="FFFFFF"/>
                </a:solidFill>
                <a:latin typeface="Calibri"/>
                <a:ea typeface="Calibri"/>
                <a:cs typeface="Calibri"/>
                <a:sym typeface="Calibri"/>
              </a:defRPr>
            </a:lvl2pPr>
            <a:lvl3pPr marL="0" marR="0" lvl="2" indent="0" algn="r" rtl="0">
              <a:spcBef>
                <a:spcPts val="0"/>
              </a:spcBef>
              <a:buNone/>
              <a:defRPr sz="1050" b="0" i="0" u="none" strike="noStrike" cap="none">
                <a:solidFill>
                  <a:srgbClr val="FFFFFF"/>
                </a:solidFill>
                <a:latin typeface="Calibri"/>
                <a:ea typeface="Calibri"/>
                <a:cs typeface="Calibri"/>
                <a:sym typeface="Calibri"/>
              </a:defRPr>
            </a:lvl3pPr>
            <a:lvl4pPr marL="0" marR="0" lvl="3" indent="0" algn="r" rtl="0">
              <a:spcBef>
                <a:spcPts val="0"/>
              </a:spcBef>
              <a:buNone/>
              <a:defRPr sz="1050" b="0" i="0" u="none" strike="noStrike" cap="none">
                <a:solidFill>
                  <a:srgbClr val="FFFFFF"/>
                </a:solidFill>
                <a:latin typeface="Calibri"/>
                <a:ea typeface="Calibri"/>
                <a:cs typeface="Calibri"/>
                <a:sym typeface="Calibri"/>
              </a:defRPr>
            </a:lvl4pPr>
            <a:lvl5pPr marL="0" marR="0" lvl="4" indent="0" algn="r" rtl="0">
              <a:spcBef>
                <a:spcPts val="0"/>
              </a:spcBef>
              <a:buNone/>
              <a:defRPr sz="1050" b="0" i="0" u="none" strike="noStrike" cap="none">
                <a:solidFill>
                  <a:srgbClr val="FFFFFF"/>
                </a:solidFill>
                <a:latin typeface="Calibri"/>
                <a:ea typeface="Calibri"/>
                <a:cs typeface="Calibri"/>
                <a:sym typeface="Calibri"/>
              </a:defRPr>
            </a:lvl5pPr>
            <a:lvl6pPr marL="0" marR="0" lvl="5" indent="0" algn="r" rtl="0">
              <a:spcBef>
                <a:spcPts val="0"/>
              </a:spcBef>
              <a:buNone/>
              <a:defRPr sz="1050" b="0" i="0" u="none" strike="noStrike" cap="none">
                <a:solidFill>
                  <a:srgbClr val="FFFFFF"/>
                </a:solidFill>
                <a:latin typeface="Calibri"/>
                <a:ea typeface="Calibri"/>
                <a:cs typeface="Calibri"/>
                <a:sym typeface="Calibri"/>
              </a:defRPr>
            </a:lvl6pPr>
            <a:lvl7pPr marL="0" marR="0" lvl="6" indent="0" algn="r" rtl="0">
              <a:spcBef>
                <a:spcPts val="0"/>
              </a:spcBef>
              <a:buNone/>
              <a:defRPr sz="1050" b="0" i="0" u="none" strike="noStrike" cap="none">
                <a:solidFill>
                  <a:srgbClr val="FFFFFF"/>
                </a:solidFill>
                <a:latin typeface="Calibri"/>
                <a:ea typeface="Calibri"/>
                <a:cs typeface="Calibri"/>
                <a:sym typeface="Calibri"/>
              </a:defRPr>
            </a:lvl7pPr>
            <a:lvl8pPr marL="0" marR="0" lvl="7" indent="0" algn="r" rtl="0">
              <a:spcBef>
                <a:spcPts val="0"/>
              </a:spcBef>
              <a:buNone/>
              <a:defRPr sz="1050" b="0" i="0" u="none" strike="noStrike" cap="none">
                <a:solidFill>
                  <a:srgbClr val="FFFFFF"/>
                </a:solidFill>
                <a:latin typeface="Calibri"/>
                <a:ea typeface="Calibri"/>
                <a:cs typeface="Calibri"/>
                <a:sym typeface="Calibri"/>
              </a:defRPr>
            </a:lvl8pPr>
            <a:lvl9pPr marL="0" marR="0" lvl="8" indent="0" algn="r" rtl="0">
              <a:spcBef>
                <a:spcPts val="0"/>
              </a:spcBef>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7" name="Google Shape;17;p85"/>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4"/>
        <p:cNvGrpSpPr/>
        <p:nvPr/>
      </p:nvGrpSpPr>
      <p:grpSpPr>
        <a:xfrm>
          <a:off x="0" y="0"/>
          <a:ext cx="0" cy="0"/>
          <a:chOff x="0" y="0"/>
          <a:chExt cx="0" cy="0"/>
        </a:xfrm>
      </p:grpSpPr>
      <p:sp>
        <p:nvSpPr>
          <p:cNvPr id="115" name="Google Shape;115;p87"/>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7"/>
          <p:cNvSpPr/>
          <p:nvPr/>
        </p:nvSpPr>
        <p:spPr>
          <a:xfrm>
            <a:off x="1" y="6334316"/>
            <a:ext cx="12192000" cy="6648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7"/>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8" name="Google Shape;118;p87"/>
          <p:cNvSpPr txBox="1">
            <a:spLocks noGrp="1"/>
          </p:cNvSpPr>
          <p:nvPr>
            <p:ph type="body" idx="1"/>
          </p:nvPr>
        </p:nvSpPr>
        <p:spPr>
          <a:xfrm>
            <a:off x="1097279" y="1845734"/>
            <a:ext cx="10058401"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19" name="Google Shape;119;p87"/>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0" name="Google Shape;120;p87"/>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1" name="Google Shape;121;p87"/>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a:solidFill>
                  <a:srgbClr val="FFFFFF"/>
                </a:solidFill>
                <a:latin typeface="Calibri"/>
                <a:ea typeface="Calibri"/>
                <a:cs typeface="Calibri"/>
                <a:sym typeface="Calibri"/>
              </a:defRPr>
            </a:lvl1pPr>
            <a:lvl2pPr marL="0" marR="0" lvl="1" indent="0" algn="r" rtl="0">
              <a:spcBef>
                <a:spcPts val="0"/>
              </a:spcBef>
              <a:buNone/>
              <a:defRPr sz="1050">
                <a:solidFill>
                  <a:srgbClr val="FFFFFF"/>
                </a:solidFill>
                <a:latin typeface="Calibri"/>
                <a:ea typeface="Calibri"/>
                <a:cs typeface="Calibri"/>
                <a:sym typeface="Calibri"/>
              </a:defRPr>
            </a:lvl2pPr>
            <a:lvl3pPr marL="0" marR="0" lvl="2" indent="0" algn="r" rtl="0">
              <a:spcBef>
                <a:spcPts val="0"/>
              </a:spcBef>
              <a:buNone/>
              <a:defRPr sz="1050">
                <a:solidFill>
                  <a:srgbClr val="FFFFFF"/>
                </a:solidFill>
                <a:latin typeface="Calibri"/>
                <a:ea typeface="Calibri"/>
                <a:cs typeface="Calibri"/>
                <a:sym typeface="Calibri"/>
              </a:defRPr>
            </a:lvl3pPr>
            <a:lvl4pPr marL="0" marR="0" lvl="3" indent="0" algn="r" rtl="0">
              <a:spcBef>
                <a:spcPts val="0"/>
              </a:spcBef>
              <a:buNone/>
              <a:defRPr sz="1050">
                <a:solidFill>
                  <a:srgbClr val="FFFFFF"/>
                </a:solidFill>
                <a:latin typeface="Calibri"/>
                <a:ea typeface="Calibri"/>
                <a:cs typeface="Calibri"/>
                <a:sym typeface="Calibri"/>
              </a:defRPr>
            </a:lvl4pPr>
            <a:lvl5pPr marL="0" marR="0" lvl="4" indent="0" algn="r" rtl="0">
              <a:spcBef>
                <a:spcPts val="0"/>
              </a:spcBef>
              <a:buNone/>
              <a:defRPr sz="1050">
                <a:solidFill>
                  <a:srgbClr val="FFFFFF"/>
                </a:solidFill>
                <a:latin typeface="Calibri"/>
                <a:ea typeface="Calibri"/>
                <a:cs typeface="Calibri"/>
                <a:sym typeface="Calibri"/>
              </a:defRPr>
            </a:lvl5pPr>
            <a:lvl6pPr marL="0" marR="0" lvl="5" indent="0" algn="r" rtl="0">
              <a:spcBef>
                <a:spcPts val="0"/>
              </a:spcBef>
              <a:buNone/>
              <a:defRPr sz="1050">
                <a:solidFill>
                  <a:srgbClr val="FFFFFF"/>
                </a:solidFill>
                <a:latin typeface="Calibri"/>
                <a:ea typeface="Calibri"/>
                <a:cs typeface="Calibri"/>
                <a:sym typeface="Calibri"/>
              </a:defRPr>
            </a:lvl6pPr>
            <a:lvl7pPr marL="0" marR="0" lvl="6" indent="0" algn="r" rtl="0">
              <a:spcBef>
                <a:spcPts val="0"/>
              </a:spcBef>
              <a:buNone/>
              <a:defRPr sz="1050">
                <a:solidFill>
                  <a:srgbClr val="FFFFFF"/>
                </a:solidFill>
                <a:latin typeface="Calibri"/>
                <a:ea typeface="Calibri"/>
                <a:cs typeface="Calibri"/>
                <a:sym typeface="Calibri"/>
              </a:defRPr>
            </a:lvl7pPr>
            <a:lvl8pPr marL="0" marR="0" lvl="7" indent="0" algn="r" rtl="0">
              <a:spcBef>
                <a:spcPts val="0"/>
              </a:spcBef>
              <a:buNone/>
              <a:defRPr sz="1050">
                <a:solidFill>
                  <a:srgbClr val="FFFFFF"/>
                </a:solidFill>
                <a:latin typeface="Calibri"/>
                <a:ea typeface="Calibri"/>
                <a:cs typeface="Calibri"/>
                <a:sym typeface="Calibri"/>
              </a:defRPr>
            </a:lvl8pPr>
            <a:lvl9pPr marL="0" marR="0" lvl="8" indent="0" algn="r" rtl="0">
              <a:spcBef>
                <a:spcPts val="0"/>
              </a:spcBef>
              <a:buNone/>
              <a:defRPr sz="1050">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22" name="Google Shape;122;p87"/>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ransition>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slide" Target="slide2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4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76400" y="1399310"/>
            <a:ext cx="9144000" cy="2286000"/>
          </a:xfrm>
        </p:spPr>
        <p:txBody>
          <a:bodyPr>
            <a:normAutofit fontScale="90000"/>
          </a:bodyPr>
          <a:lstStyle/>
          <a:p>
            <a:pPr algn="ctr"/>
            <a:r>
              <a:rPr lang="en-US" sz="3200" b="1" dirty="0" smtClean="0"/>
              <a:t/>
            </a:r>
            <a:br>
              <a:rPr lang="en-US" sz="3200" b="1" dirty="0" smtClean="0"/>
            </a:br>
            <a:r>
              <a:rPr lang="en-US" sz="7200" b="1" dirty="0" smtClean="0"/>
              <a:t>DBMS</a:t>
            </a:r>
            <a:br>
              <a:rPr lang="en-US" sz="7200" b="1" dirty="0" smtClean="0"/>
            </a:br>
            <a:r>
              <a:rPr lang="en-US" sz="3200" b="1" dirty="0" smtClean="0"/>
              <a:t/>
            </a:r>
            <a:br>
              <a:rPr lang="en-US" sz="3200" b="1" dirty="0" smtClean="0"/>
            </a:br>
            <a:r>
              <a:rPr lang="en-US" sz="3200" b="1" dirty="0" smtClean="0"/>
              <a:t>MODULE </a:t>
            </a:r>
            <a:r>
              <a:rPr lang="en-US" sz="3200" b="1" dirty="0"/>
              <a:t>– </a:t>
            </a:r>
            <a:r>
              <a:rPr lang="en-US" sz="3200" b="1" dirty="0" smtClean="0"/>
              <a:t>1</a:t>
            </a:r>
            <a:r>
              <a:rPr lang="en-US" sz="3200" b="1" dirty="0"/>
              <a:t/>
            </a:r>
            <a:br>
              <a:rPr lang="en-US" sz="3200" b="1" dirty="0"/>
            </a:br>
            <a:endParaRPr lang="en-US" sz="3200" b="1" dirty="0"/>
          </a:p>
        </p:txBody>
      </p:sp>
      <p:sp>
        <p:nvSpPr>
          <p:cNvPr id="3" name="Subtitle 2"/>
          <p:cNvSpPr>
            <a:spLocks noGrp="1"/>
          </p:cNvSpPr>
          <p:nvPr>
            <p:ph type="subTitle" idx="1"/>
          </p:nvPr>
        </p:nvSpPr>
        <p:spPr/>
        <p:txBody>
          <a:bodyPr>
            <a:noAutofit/>
          </a:bodyPr>
          <a:lstStyle/>
          <a:p>
            <a:pPr algn="ctr"/>
            <a:r>
              <a:rPr lang="en-US" sz="2000" b="1" dirty="0"/>
              <a:t>Prepared by Mushtaq Ahmed D.M Assistant Professor, </a:t>
            </a:r>
          </a:p>
          <a:p>
            <a:pPr algn="ctr"/>
            <a:r>
              <a:rPr lang="en-US" sz="2000" b="1" dirty="0"/>
              <a:t>Dept. of ISE</a:t>
            </a:r>
          </a:p>
        </p:txBody>
      </p:sp>
    </p:spTree>
    <p:extLst>
      <p:ext uri="{BB962C8B-B14F-4D97-AF65-F5344CB8AC3E}">
        <p14:creationId xmlns:p14="http://schemas.microsoft.com/office/powerpoint/2010/main" val="5298212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
          <p:cNvSpPr txBox="1">
            <a:spLocks noGrp="1"/>
          </p:cNvSpPr>
          <p:nvPr>
            <p:ph type="subTitle" idx="1"/>
          </p:nvPr>
        </p:nvSpPr>
        <p:spPr>
          <a:xfrm>
            <a:off x="0" y="695191"/>
            <a:ext cx="11692647" cy="482039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2400"/>
              <a:buNone/>
            </a:pPr>
            <a:r>
              <a:rPr lang="en-US" b="1" dirty="0">
                <a:latin typeface="Algerian"/>
                <a:ea typeface="Algerian"/>
                <a:cs typeface="Algerian"/>
                <a:sym typeface="Algerian"/>
              </a:rPr>
              <a:t>MODULE  1</a:t>
            </a:r>
            <a:endParaRPr dirty="0"/>
          </a:p>
          <a:p>
            <a:pPr marL="0" lvl="0" indent="0" algn="l" rtl="0">
              <a:lnSpc>
                <a:spcPct val="90000"/>
              </a:lnSpc>
              <a:spcBef>
                <a:spcPts val="1400"/>
              </a:spcBef>
              <a:spcAft>
                <a:spcPts val="0"/>
              </a:spcAft>
              <a:buSzPts val="2400"/>
              <a:buNone/>
            </a:pPr>
            <a:endParaRPr dirty="0"/>
          </a:p>
          <a:p>
            <a:pPr marL="457200" lvl="0" indent="-457200" algn="l" rtl="0">
              <a:lnSpc>
                <a:spcPct val="90000"/>
              </a:lnSpc>
              <a:spcBef>
                <a:spcPts val="1400"/>
              </a:spcBef>
              <a:spcAft>
                <a:spcPts val="0"/>
              </a:spcAft>
              <a:buSzPts val="2400"/>
              <a:buFont typeface="Noto Sans Symbols"/>
              <a:buChar char="❖"/>
            </a:pPr>
            <a:r>
              <a:rPr lang="en-US" dirty="0"/>
              <a:t>INTRODUCTION TO DATABASES</a:t>
            </a:r>
            <a:endParaRPr dirty="0"/>
          </a:p>
          <a:p>
            <a:pPr marL="0" lvl="0" indent="0" algn="l" rtl="0">
              <a:lnSpc>
                <a:spcPct val="90000"/>
              </a:lnSpc>
              <a:spcBef>
                <a:spcPts val="1400"/>
              </a:spcBef>
              <a:spcAft>
                <a:spcPts val="0"/>
              </a:spcAft>
              <a:buSzPts val="2400"/>
              <a:buNone/>
            </a:pPr>
            <a:endParaRPr dirty="0"/>
          </a:p>
          <a:p>
            <a:pPr marL="457200" lvl="0" indent="-457200" algn="l" rtl="0">
              <a:lnSpc>
                <a:spcPct val="90000"/>
              </a:lnSpc>
              <a:spcBef>
                <a:spcPts val="1400"/>
              </a:spcBef>
              <a:spcAft>
                <a:spcPts val="0"/>
              </a:spcAft>
              <a:buSzPts val="2400"/>
              <a:buFont typeface="Noto Sans Symbols"/>
              <a:buChar char="❖"/>
            </a:pPr>
            <a:r>
              <a:rPr lang="en-US" dirty="0"/>
              <a:t>OVERVIEW OF DATABASE LANGUAGES AND ARCHITECTURES</a:t>
            </a:r>
            <a:endParaRPr dirty="0"/>
          </a:p>
          <a:p>
            <a:pPr marL="0" lvl="0" indent="0" algn="l" rtl="0">
              <a:lnSpc>
                <a:spcPct val="90000"/>
              </a:lnSpc>
              <a:spcBef>
                <a:spcPts val="1400"/>
              </a:spcBef>
              <a:spcAft>
                <a:spcPts val="0"/>
              </a:spcAft>
              <a:buSzPts val="2400"/>
              <a:buNone/>
            </a:pPr>
            <a:endParaRPr dirty="0"/>
          </a:p>
          <a:p>
            <a:pPr marL="457200" lvl="0" indent="-457200" algn="l" rtl="0">
              <a:lnSpc>
                <a:spcPct val="90000"/>
              </a:lnSpc>
              <a:spcBef>
                <a:spcPts val="1400"/>
              </a:spcBef>
              <a:spcAft>
                <a:spcPts val="0"/>
              </a:spcAft>
              <a:buSzPts val="2400"/>
              <a:buFont typeface="Noto Sans Symbols"/>
              <a:buChar char="❖"/>
            </a:pPr>
            <a:r>
              <a:rPr lang="en-US" dirty="0"/>
              <a:t>CONCEPTUAL DATA MODELLING USING ENTITIES AND RELATIONSHIPS</a:t>
            </a:r>
            <a:endParaRPr dirty="0"/>
          </a:p>
        </p:txBody>
      </p:sp>
      <p:sp>
        <p:nvSpPr>
          <p:cNvPr id="220" name="Google Shape;220;p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5"/>
        <p:cNvGrpSpPr/>
        <p:nvPr/>
      </p:nvGrpSpPr>
      <p:grpSpPr>
        <a:xfrm>
          <a:off x="0" y="0"/>
          <a:ext cx="0" cy="0"/>
          <a:chOff x="0" y="0"/>
          <a:chExt cx="0" cy="0"/>
        </a:xfrm>
      </p:grpSpPr>
      <p:sp>
        <p:nvSpPr>
          <p:cNvPr id="226" name="Google Shape;226;p3"/>
          <p:cNvSpPr txBox="1">
            <a:spLocks noGrp="1"/>
          </p:cNvSpPr>
          <p:nvPr>
            <p:ph type="title"/>
          </p:nvPr>
        </p:nvSpPr>
        <p:spPr>
          <a:xfrm>
            <a:off x="709612" y="0"/>
            <a:ext cx="10772775" cy="996778"/>
          </a:xfrm>
          <a:prstGeom prst="rect">
            <a:avLst/>
          </a:prstGeom>
          <a:noFill/>
          <a:ln>
            <a:noFill/>
          </a:ln>
        </p:spPr>
        <p:txBody>
          <a:bodyPr spcFirstLastPara="1" wrap="square" lIns="91425" tIns="45700" rIns="91425" bIns="45700" anchor="b" anchorCtr="0">
            <a:normAutofit/>
          </a:bodyPr>
          <a:lstStyle/>
          <a:p>
            <a:pPr marL="0" lvl="0" indent="0" algn="just" rtl="0">
              <a:lnSpc>
                <a:spcPct val="85000"/>
              </a:lnSpc>
              <a:spcBef>
                <a:spcPts val="0"/>
              </a:spcBef>
              <a:spcAft>
                <a:spcPts val="0"/>
              </a:spcAft>
              <a:buClr>
                <a:srgbClr val="FF0000"/>
              </a:buClr>
              <a:buSzPts val="4800"/>
              <a:buFont typeface="Calibri"/>
              <a:buNone/>
            </a:pPr>
            <a:r>
              <a:rPr lang="en-US">
                <a:solidFill>
                  <a:srgbClr val="FF0000"/>
                </a:solidFill>
              </a:rPr>
              <a:t>Basic</a:t>
            </a:r>
            <a:r>
              <a:rPr lang="en-US"/>
              <a:t> </a:t>
            </a:r>
            <a:r>
              <a:rPr lang="en-US">
                <a:solidFill>
                  <a:srgbClr val="FF0000"/>
                </a:solidFill>
              </a:rPr>
              <a:t>Definitions</a:t>
            </a:r>
            <a:endParaRPr/>
          </a:p>
        </p:txBody>
      </p:sp>
      <p:sp>
        <p:nvSpPr>
          <p:cNvPr id="227" name="Google Shape;227;p3"/>
          <p:cNvSpPr txBox="1">
            <a:spLocks noGrp="1"/>
          </p:cNvSpPr>
          <p:nvPr>
            <p:ph type="body" idx="1"/>
          </p:nvPr>
        </p:nvSpPr>
        <p:spPr>
          <a:xfrm>
            <a:off x="628017" y="1369654"/>
            <a:ext cx="10753725" cy="3766185"/>
          </a:xfrm>
          <a:prstGeom prst="rect">
            <a:avLst/>
          </a:prstGeom>
          <a:noFill/>
          <a:ln>
            <a:noFill/>
          </a:ln>
        </p:spPr>
        <p:txBody>
          <a:bodyPr spcFirstLastPara="1" wrap="square" lIns="0" tIns="45700" rIns="0" bIns="45700" anchor="t" anchorCtr="0">
            <a:noAutofit/>
          </a:bodyPr>
          <a:lstStyle/>
          <a:p>
            <a:pPr marL="91440" lvl="0" indent="-127000" algn="just" rtl="0">
              <a:lnSpc>
                <a:spcPct val="90000"/>
              </a:lnSpc>
              <a:spcBef>
                <a:spcPts val="0"/>
              </a:spcBef>
              <a:spcAft>
                <a:spcPts val="0"/>
              </a:spcAft>
              <a:buSzPts val="2000"/>
              <a:buChar char=" "/>
            </a:pPr>
            <a:r>
              <a:rPr lang="en-US" b="1">
                <a:solidFill>
                  <a:srgbClr val="FF0000"/>
                </a:solidFill>
                <a:latin typeface="Times New Roman"/>
                <a:ea typeface="Times New Roman"/>
                <a:cs typeface="Times New Roman"/>
                <a:sym typeface="Times New Roman"/>
              </a:rPr>
              <a:t>Database:</a:t>
            </a:r>
            <a:endParaRPr/>
          </a:p>
          <a:p>
            <a:pPr marL="384048" lvl="1" indent="-182880" algn="just" rtl="0">
              <a:lnSpc>
                <a:spcPct val="90000"/>
              </a:lnSpc>
              <a:spcBef>
                <a:spcPts val="400"/>
              </a:spcBef>
              <a:spcAft>
                <a:spcPts val="0"/>
              </a:spcAft>
              <a:buSzPts val="1800"/>
              <a:buChar char="◦"/>
            </a:pPr>
            <a:r>
              <a:rPr lang="en-US">
                <a:solidFill>
                  <a:schemeClr val="accent6"/>
                </a:solidFill>
                <a:latin typeface="Times New Roman"/>
                <a:ea typeface="Times New Roman"/>
                <a:cs typeface="Times New Roman"/>
                <a:sym typeface="Times New Roman"/>
              </a:rPr>
              <a:t>A collection of related data.</a:t>
            </a:r>
            <a:endParaRPr/>
          </a:p>
          <a:p>
            <a:pPr marL="91440" lvl="0" indent="-127000" algn="just" rtl="0">
              <a:lnSpc>
                <a:spcPct val="90000"/>
              </a:lnSpc>
              <a:spcBef>
                <a:spcPts val="1600"/>
              </a:spcBef>
              <a:spcAft>
                <a:spcPts val="0"/>
              </a:spcAft>
              <a:buSzPts val="2000"/>
              <a:buChar char=" "/>
            </a:pPr>
            <a:r>
              <a:rPr lang="en-US" b="1">
                <a:solidFill>
                  <a:srgbClr val="FF0000"/>
                </a:solidFill>
                <a:latin typeface="Times New Roman"/>
                <a:ea typeface="Times New Roman"/>
                <a:cs typeface="Times New Roman"/>
                <a:sym typeface="Times New Roman"/>
              </a:rPr>
              <a:t>Data:</a:t>
            </a:r>
            <a:endParaRPr/>
          </a:p>
          <a:p>
            <a:pPr marL="384048" lvl="1" indent="-182880" algn="just" rtl="0">
              <a:lnSpc>
                <a:spcPct val="90000"/>
              </a:lnSpc>
              <a:spcBef>
                <a:spcPts val="400"/>
              </a:spcBef>
              <a:spcAft>
                <a:spcPts val="0"/>
              </a:spcAft>
              <a:buSzPts val="1800"/>
              <a:buChar char="◦"/>
            </a:pPr>
            <a:r>
              <a:rPr lang="en-US">
                <a:solidFill>
                  <a:schemeClr val="accent6"/>
                </a:solidFill>
                <a:latin typeface="Times New Roman"/>
                <a:ea typeface="Times New Roman"/>
                <a:cs typeface="Times New Roman"/>
                <a:sym typeface="Times New Roman"/>
              </a:rPr>
              <a:t>Known facts that can be recorded and have an implicit meaning.</a:t>
            </a:r>
            <a:endParaRPr/>
          </a:p>
          <a:p>
            <a:pPr marL="91440" lvl="0" indent="-127000" algn="just" rtl="0">
              <a:lnSpc>
                <a:spcPct val="90000"/>
              </a:lnSpc>
              <a:spcBef>
                <a:spcPts val="1600"/>
              </a:spcBef>
              <a:spcAft>
                <a:spcPts val="0"/>
              </a:spcAft>
              <a:buSzPts val="2000"/>
              <a:buChar char=" "/>
            </a:pPr>
            <a:r>
              <a:rPr lang="en-US" b="1">
                <a:solidFill>
                  <a:srgbClr val="FF0000"/>
                </a:solidFill>
                <a:latin typeface="Times New Roman"/>
                <a:ea typeface="Times New Roman"/>
                <a:cs typeface="Times New Roman"/>
                <a:sym typeface="Times New Roman"/>
              </a:rPr>
              <a:t>Mini-world:</a:t>
            </a:r>
            <a:endParaRPr/>
          </a:p>
          <a:p>
            <a:pPr marL="384048" lvl="1" indent="-182880" algn="just" rtl="0">
              <a:lnSpc>
                <a:spcPct val="90000"/>
              </a:lnSpc>
              <a:spcBef>
                <a:spcPts val="400"/>
              </a:spcBef>
              <a:spcAft>
                <a:spcPts val="0"/>
              </a:spcAft>
              <a:buSzPts val="1800"/>
              <a:buChar char="◦"/>
            </a:pPr>
            <a:r>
              <a:rPr lang="en-US">
                <a:solidFill>
                  <a:schemeClr val="accent6"/>
                </a:solidFill>
                <a:latin typeface="Times New Roman"/>
                <a:ea typeface="Times New Roman"/>
                <a:cs typeface="Times New Roman"/>
                <a:sym typeface="Times New Roman"/>
              </a:rPr>
              <a:t>Some part of the real world about which data is stored in a database. For example, student grades and transcripts at a university.</a:t>
            </a:r>
            <a:endParaRPr/>
          </a:p>
          <a:p>
            <a:pPr marL="91440" lvl="0" indent="-127000" algn="just" rtl="0">
              <a:lnSpc>
                <a:spcPct val="90000"/>
              </a:lnSpc>
              <a:spcBef>
                <a:spcPts val="1600"/>
              </a:spcBef>
              <a:spcAft>
                <a:spcPts val="0"/>
              </a:spcAft>
              <a:buSzPts val="2000"/>
              <a:buChar char=" "/>
            </a:pPr>
            <a:r>
              <a:rPr lang="en-US" b="1">
                <a:solidFill>
                  <a:srgbClr val="FF0000"/>
                </a:solidFill>
                <a:latin typeface="Times New Roman"/>
                <a:ea typeface="Times New Roman"/>
                <a:cs typeface="Times New Roman"/>
                <a:sym typeface="Times New Roman"/>
              </a:rPr>
              <a:t>Database Management System (DBMS):</a:t>
            </a:r>
            <a:endParaRPr/>
          </a:p>
          <a:p>
            <a:pPr marL="4572" lvl="1" indent="0" algn="just" rtl="0">
              <a:lnSpc>
                <a:spcPct val="90000"/>
              </a:lnSpc>
              <a:spcBef>
                <a:spcPts val="400"/>
              </a:spcBef>
              <a:spcAft>
                <a:spcPts val="0"/>
              </a:spcAft>
              <a:buSzPts val="1800"/>
              <a:buNone/>
            </a:pPr>
            <a:r>
              <a:rPr lang="en-US">
                <a:solidFill>
                  <a:schemeClr val="accent6"/>
                </a:solidFill>
                <a:latin typeface="Times New Roman"/>
                <a:ea typeface="Times New Roman"/>
                <a:cs typeface="Times New Roman"/>
                <a:sym typeface="Times New Roman"/>
              </a:rPr>
              <a:t>     A software package/ system to facilitate the creation and maintenance of a  computerized database.</a:t>
            </a:r>
            <a:endParaRPr/>
          </a:p>
          <a:p>
            <a:pPr marL="91440" lvl="0" indent="-127000" algn="just" rtl="0">
              <a:lnSpc>
                <a:spcPct val="90000"/>
              </a:lnSpc>
              <a:spcBef>
                <a:spcPts val="1600"/>
              </a:spcBef>
              <a:spcAft>
                <a:spcPts val="0"/>
              </a:spcAft>
              <a:buSzPts val="2000"/>
              <a:buChar char=" "/>
            </a:pPr>
            <a:r>
              <a:rPr lang="en-US" b="1">
                <a:solidFill>
                  <a:srgbClr val="FF0000"/>
                </a:solidFill>
                <a:latin typeface="Times New Roman"/>
                <a:ea typeface="Times New Roman"/>
                <a:cs typeface="Times New Roman"/>
                <a:sym typeface="Times New Roman"/>
              </a:rPr>
              <a:t>Database System:</a:t>
            </a:r>
            <a:endParaRPr/>
          </a:p>
          <a:p>
            <a:pPr marL="384048" lvl="1" indent="-182880" algn="just" rtl="0">
              <a:lnSpc>
                <a:spcPct val="90000"/>
              </a:lnSpc>
              <a:spcBef>
                <a:spcPts val="400"/>
              </a:spcBef>
              <a:spcAft>
                <a:spcPts val="0"/>
              </a:spcAft>
              <a:buSzPts val="1800"/>
              <a:buChar char="◦"/>
            </a:pPr>
            <a:r>
              <a:rPr lang="en-US">
                <a:solidFill>
                  <a:schemeClr val="accent6"/>
                </a:solidFill>
                <a:latin typeface="Times New Roman"/>
                <a:ea typeface="Times New Roman"/>
                <a:cs typeface="Times New Roman"/>
                <a:sym typeface="Times New Roman"/>
              </a:rPr>
              <a:t>The DBMS software together with the data itself.  Sometimes, the applications are also included.</a:t>
            </a:r>
            <a:endParaRPr/>
          </a:p>
        </p:txBody>
      </p:sp>
      <p:sp>
        <p:nvSpPr>
          <p:cNvPr id="228" name="Google Shape;228;p3"/>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2"/>
        <p:cNvGrpSpPr/>
        <p:nvPr/>
      </p:nvGrpSpPr>
      <p:grpSpPr>
        <a:xfrm>
          <a:off x="0" y="0"/>
          <a:ext cx="0" cy="0"/>
          <a:chOff x="0" y="0"/>
          <a:chExt cx="0" cy="0"/>
        </a:xfrm>
      </p:grpSpPr>
      <p:sp>
        <p:nvSpPr>
          <p:cNvPr id="233" name="Google Shape;233;p4"/>
          <p:cNvSpPr txBox="1">
            <a:spLocks noGrp="1"/>
          </p:cNvSpPr>
          <p:nvPr>
            <p:ph type="title"/>
          </p:nvPr>
        </p:nvSpPr>
        <p:spPr>
          <a:xfrm>
            <a:off x="612022" y="2730923"/>
            <a:ext cx="11077983" cy="132556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F0000"/>
              </a:buClr>
              <a:buSzPts val="2800"/>
              <a:buFont typeface="Times New Roman"/>
              <a:buNone/>
            </a:pPr>
            <a:r>
              <a:rPr lang="en-US" sz="2200" u="sng" dirty="0">
                <a:solidFill>
                  <a:srgbClr val="FF0000"/>
                </a:solidFill>
                <a:latin typeface="Times New Roman"/>
                <a:ea typeface="Times New Roman"/>
                <a:cs typeface="Times New Roman"/>
                <a:sym typeface="Times New Roman"/>
              </a:rPr>
              <a:t/>
            </a:r>
            <a:br>
              <a:rPr lang="en-US" sz="2200" u="sng" dirty="0">
                <a:solidFill>
                  <a:srgbClr val="FF0000"/>
                </a:solidFill>
                <a:latin typeface="Times New Roman"/>
                <a:ea typeface="Times New Roman"/>
                <a:cs typeface="Times New Roman"/>
                <a:sym typeface="Times New Roman"/>
              </a:rPr>
            </a:br>
            <a:r>
              <a:rPr lang="en-US" sz="2200" u="sng" dirty="0">
                <a:solidFill>
                  <a:srgbClr val="FF0000"/>
                </a:solidFill>
                <a:latin typeface="Times New Roman"/>
                <a:ea typeface="Times New Roman"/>
                <a:cs typeface="Times New Roman"/>
                <a:sym typeface="Times New Roman"/>
              </a:rPr>
              <a:t/>
            </a:r>
            <a:br>
              <a:rPr lang="en-US" sz="2200" u="sng" dirty="0">
                <a:solidFill>
                  <a:srgbClr val="FF0000"/>
                </a:solidFill>
                <a:latin typeface="Times New Roman"/>
                <a:ea typeface="Times New Roman"/>
                <a:cs typeface="Times New Roman"/>
                <a:sym typeface="Times New Roman"/>
              </a:rPr>
            </a:br>
            <a:r>
              <a:rPr lang="en-US" sz="2200" u="sng" dirty="0">
                <a:solidFill>
                  <a:srgbClr val="FF0000"/>
                </a:solidFill>
                <a:latin typeface="Times New Roman"/>
                <a:ea typeface="Times New Roman"/>
                <a:cs typeface="Times New Roman"/>
                <a:sym typeface="Times New Roman"/>
              </a:rPr>
              <a:t/>
            </a:r>
            <a:br>
              <a:rPr lang="en-US" sz="2200" u="sng" dirty="0">
                <a:solidFill>
                  <a:srgbClr val="FF0000"/>
                </a:solidFill>
                <a:latin typeface="Times New Roman"/>
                <a:ea typeface="Times New Roman"/>
                <a:cs typeface="Times New Roman"/>
                <a:sym typeface="Times New Roman"/>
              </a:rPr>
            </a:br>
            <a:r>
              <a:rPr lang="en-US" sz="2200" u="sng" dirty="0">
                <a:solidFill>
                  <a:srgbClr val="FF0000"/>
                </a:solidFill>
                <a:latin typeface="Times New Roman"/>
                <a:ea typeface="Times New Roman"/>
                <a:cs typeface="Times New Roman"/>
                <a:sym typeface="Times New Roman"/>
              </a:rPr>
              <a:t/>
            </a:r>
            <a:br>
              <a:rPr lang="en-US" sz="2200" u="sng" dirty="0">
                <a:solidFill>
                  <a:srgbClr val="FF0000"/>
                </a:solidFill>
                <a:latin typeface="Times New Roman"/>
                <a:ea typeface="Times New Roman"/>
                <a:cs typeface="Times New Roman"/>
                <a:sym typeface="Times New Roman"/>
              </a:rPr>
            </a:br>
            <a:r>
              <a:rPr lang="en-US" sz="2200" u="sng" dirty="0">
                <a:solidFill>
                  <a:srgbClr val="FF0000"/>
                </a:solidFill>
                <a:latin typeface="Times New Roman"/>
                <a:ea typeface="Times New Roman"/>
                <a:cs typeface="Times New Roman"/>
                <a:sym typeface="Times New Roman"/>
              </a:rPr>
              <a:t/>
            </a:r>
            <a:br>
              <a:rPr lang="en-US" sz="2200" u="sng" dirty="0">
                <a:solidFill>
                  <a:srgbClr val="FF0000"/>
                </a:solidFill>
                <a:latin typeface="Times New Roman"/>
                <a:ea typeface="Times New Roman"/>
                <a:cs typeface="Times New Roman"/>
                <a:sym typeface="Times New Roman"/>
              </a:rPr>
            </a:br>
            <a:r>
              <a:rPr lang="en-US" sz="2200" u="sng" dirty="0">
                <a:solidFill>
                  <a:srgbClr val="FF0000"/>
                </a:solidFill>
                <a:latin typeface="Times New Roman"/>
                <a:ea typeface="Times New Roman"/>
                <a:cs typeface="Times New Roman"/>
                <a:sym typeface="Times New Roman"/>
              </a:rPr>
              <a:t>Defining a Database</a:t>
            </a:r>
            <a:br>
              <a:rPr lang="en-US" sz="2200" u="sng" dirty="0">
                <a:solidFill>
                  <a:srgbClr val="FF0000"/>
                </a:solidFill>
                <a:latin typeface="Times New Roman"/>
                <a:ea typeface="Times New Roman"/>
                <a:cs typeface="Times New Roman"/>
                <a:sym typeface="Times New Roman"/>
              </a:rPr>
            </a:br>
            <a:r>
              <a:rPr lang="en-US" sz="2200" dirty="0">
                <a:solidFill>
                  <a:srgbClr val="FF0000"/>
                </a:solidFill>
                <a:latin typeface="Times New Roman"/>
                <a:ea typeface="Times New Roman"/>
                <a:cs typeface="Times New Roman"/>
                <a:sym typeface="Times New Roman"/>
              </a:rPr>
              <a:t>*</a:t>
            </a:r>
            <a:r>
              <a:rPr lang="en-US" sz="2200" dirty="0">
                <a:solidFill>
                  <a:schemeClr val="tx1"/>
                </a:solidFill>
                <a:latin typeface="Times New Roman"/>
                <a:ea typeface="Times New Roman"/>
                <a:cs typeface="Times New Roman"/>
                <a:sym typeface="Times New Roman"/>
              </a:rPr>
              <a:t>Involves specifying the data types, structures, and constraints of the data to be   stored in the database. </a:t>
            </a:r>
            <a:br>
              <a:rPr lang="en-US" sz="2200" dirty="0">
                <a:solidFill>
                  <a:schemeClr val="tx1"/>
                </a:solidFill>
                <a:latin typeface="Times New Roman"/>
                <a:ea typeface="Times New Roman"/>
                <a:cs typeface="Times New Roman"/>
                <a:sym typeface="Times New Roman"/>
              </a:rPr>
            </a:br>
            <a:r>
              <a:rPr lang="en-US" sz="2200" dirty="0">
                <a:solidFill>
                  <a:schemeClr val="tx1"/>
                </a:solidFill>
                <a:latin typeface="Times New Roman"/>
                <a:ea typeface="Times New Roman"/>
                <a:cs typeface="Times New Roman"/>
                <a:sym typeface="Times New Roman"/>
              </a:rPr>
              <a:t>* The database definition or descriptive information is also stored by the DBMS in the form of a database catalog or dictionary; it is called meta-data. </a:t>
            </a:r>
            <a:r>
              <a:rPr lang="en-US" sz="2200" dirty="0">
                <a:latin typeface="Times New Roman"/>
                <a:ea typeface="Times New Roman"/>
                <a:cs typeface="Times New Roman"/>
                <a:sym typeface="Times New Roman"/>
              </a:rPr>
              <a:t/>
            </a:r>
            <a:br>
              <a:rPr lang="en-US" sz="2200" dirty="0">
                <a:latin typeface="Times New Roman"/>
                <a:ea typeface="Times New Roman"/>
                <a:cs typeface="Times New Roman"/>
                <a:sym typeface="Times New Roman"/>
              </a:rPr>
            </a:br>
            <a:endParaRPr sz="2200" dirty="0">
              <a:latin typeface="Times New Roman"/>
              <a:ea typeface="Times New Roman"/>
              <a:cs typeface="Times New Roman"/>
              <a:sym typeface="Times New Roman"/>
            </a:endParaRPr>
          </a:p>
        </p:txBody>
      </p:sp>
      <p:sp>
        <p:nvSpPr>
          <p:cNvPr id="234" name="Google Shape;234;p4"/>
          <p:cNvSpPr txBox="1">
            <a:spLocks noGrp="1"/>
          </p:cNvSpPr>
          <p:nvPr>
            <p:ph type="sldNum" idx="12"/>
          </p:nvPr>
        </p:nvSpPr>
        <p:spPr>
          <a:xfrm>
            <a:off x="8882742" y="5924939"/>
            <a:ext cx="2807263" cy="134851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235" name="Google Shape;235;p4"/>
          <p:cNvSpPr txBox="1"/>
          <p:nvPr/>
        </p:nvSpPr>
        <p:spPr>
          <a:xfrm>
            <a:off x="557006" y="3771101"/>
            <a:ext cx="11308702" cy="246217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u="sng" dirty="0" smtClean="0">
                <a:solidFill>
                  <a:srgbClr val="FF0000"/>
                </a:solidFill>
                <a:latin typeface="Times New Roman"/>
                <a:ea typeface="Times New Roman"/>
                <a:cs typeface="Times New Roman"/>
                <a:sym typeface="Times New Roman"/>
              </a:rPr>
              <a:t>Constructing </a:t>
            </a:r>
            <a:r>
              <a:rPr lang="en-US" sz="2200" u="sng" dirty="0">
                <a:solidFill>
                  <a:srgbClr val="FF0000"/>
                </a:solidFill>
                <a:latin typeface="Times New Roman"/>
                <a:ea typeface="Times New Roman"/>
                <a:cs typeface="Times New Roman"/>
                <a:sym typeface="Times New Roman"/>
              </a:rPr>
              <a:t>the database </a:t>
            </a:r>
            <a:br>
              <a:rPr lang="en-US" sz="2200" u="sng" dirty="0">
                <a:solidFill>
                  <a:srgbClr val="FF0000"/>
                </a:solidFill>
                <a:latin typeface="Times New Roman"/>
                <a:ea typeface="Times New Roman"/>
                <a:cs typeface="Times New Roman"/>
                <a:sym typeface="Times New Roman"/>
              </a:rPr>
            </a:br>
            <a:r>
              <a:rPr lang="en-US" sz="2200" dirty="0">
                <a:solidFill>
                  <a:srgbClr val="FF0000"/>
                </a:solidFill>
                <a:latin typeface="Times New Roman"/>
                <a:ea typeface="Times New Roman"/>
                <a:cs typeface="Times New Roman"/>
                <a:sym typeface="Times New Roman"/>
              </a:rPr>
              <a:t>* </a:t>
            </a:r>
            <a:r>
              <a:rPr lang="en-US" sz="2200" dirty="0">
                <a:solidFill>
                  <a:schemeClr val="tx1"/>
                </a:solidFill>
                <a:latin typeface="Times New Roman"/>
                <a:ea typeface="Times New Roman"/>
                <a:cs typeface="Times New Roman"/>
                <a:sym typeface="Times New Roman"/>
              </a:rPr>
              <a:t>is the process of storing the data on some  storage medium that is controlled by the DBMS </a:t>
            </a:r>
            <a:endParaRPr sz="2200" dirty="0">
              <a:solidFill>
                <a:schemeClr val="tx1"/>
              </a:solidFill>
            </a:endParaRPr>
          </a:p>
          <a:p>
            <a:pPr marL="0" marR="0" lvl="0" indent="0" algn="l" rtl="0">
              <a:spcBef>
                <a:spcPts val="0"/>
              </a:spcBef>
              <a:spcAft>
                <a:spcPts val="0"/>
              </a:spcAft>
              <a:buNone/>
            </a:pPr>
            <a:r>
              <a:rPr lang="en-US" sz="2200" u="sng" dirty="0">
                <a:solidFill>
                  <a:srgbClr val="FF0000"/>
                </a:solidFill>
                <a:latin typeface="Times New Roman"/>
                <a:ea typeface="Times New Roman"/>
                <a:cs typeface="Times New Roman"/>
                <a:sym typeface="Times New Roman"/>
              </a:rPr>
              <a:t>Manipulating a database </a:t>
            </a:r>
            <a:endParaRPr sz="2200" dirty="0"/>
          </a:p>
          <a:p>
            <a:pPr marL="0" marR="0" lvl="0" indent="0" algn="l" rtl="0">
              <a:spcBef>
                <a:spcPts val="0"/>
              </a:spcBef>
              <a:spcAft>
                <a:spcPts val="0"/>
              </a:spcAft>
              <a:buNone/>
            </a:pPr>
            <a:r>
              <a:rPr lang="en-US" sz="2200" dirty="0">
                <a:solidFill>
                  <a:srgbClr val="FF0000"/>
                </a:solidFill>
                <a:latin typeface="Times New Roman"/>
                <a:ea typeface="Times New Roman"/>
                <a:cs typeface="Times New Roman"/>
                <a:sym typeface="Times New Roman"/>
              </a:rPr>
              <a:t>*</a:t>
            </a:r>
            <a:r>
              <a:rPr lang="en-US" sz="2200" dirty="0">
                <a:solidFill>
                  <a:schemeClr val="tx1"/>
                </a:solidFill>
                <a:latin typeface="Times New Roman"/>
                <a:ea typeface="Times New Roman"/>
                <a:cs typeface="Times New Roman"/>
                <a:sym typeface="Times New Roman"/>
              </a:rPr>
              <a:t>Includes functions such as querying the database to retrieve specific data</a:t>
            </a:r>
            <a:endParaRPr sz="2200" dirty="0">
              <a:solidFill>
                <a:schemeClr val="tx1"/>
              </a:solidFill>
            </a:endParaRPr>
          </a:p>
          <a:p>
            <a:pPr marL="0" marR="0" lvl="0" indent="0" algn="l" rtl="0">
              <a:spcBef>
                <a:spcPts val="0"/>
              </a:spcBef>
              <a:spcAft>
                <a:spcPts val="0"/>
              </a:spcAft>
              <a:buNone/>
            </a:pPr>
            <a:r>
              <a:rPr lang="en-US" sz="2200" dirty="0">
                <a:solidFill>
                  <a:schemeClr val="tx1"/>
                </a:solidFill>
                <a:latin typeface="Times New Roman"/>
                <a:ea typeface="Times New Roman"/>
                <a:cs typeface="Times New Roman"/>
                <a:sym typeface="Times New Roman"/>
              </a:rPr>
              <a:t>* Updating the database to reflect changes in the miniworld</a:t>
            </a:r>
            <a:endParaRPr sz="2200" dirty="0">
              <a:solidFill>
                <a:schemeClr val="tx1"/>
              </a:solidFill>
              <a:latin typeface="Times New Roman"/>
              <a:ea typeface="Times New Roman"/>
              <a:cs typeface="Times New Roman"/>
              <a:sym typeface="Times New Roman"/>
            </a:endParaRPr>
          </a:p>
          <a:p>
            <a:pPr marL="0" marR="0" lvl="0" indent="0" algn="l" rtl="0">
              <a:spcBef>
                <a:spcPts val="0"/>
              </a:spcBef>
              <a:spcAft>
                <a:spcPts val="0"/>
              </a:spcAft>
              <a:buNone/>
            </a:pPr>
            <a:r>
              <a:rPr lang="en-US" sz="2200" dirty="0">
                <a:solidFill>
                  <a:schemeClr val="tx1"/>
                </a:solidFill>
                <a:latin typeface="Times New Roman"/>
                <a:ea typeface="Times New Roman"/>
                <a:cs typeface="Times New Roman"/>
                <a:sym typeface="Times New Roman"/>
              </a:rPr>
              <a:t>* reports from the data.</a:t>
            </a:r>
            <a:endParaRPr sz="2200" dirty="0">
              <a:solidFill>
                <a:schemeClr val="tx1"/>
              </a:solidFill>
            </a:endParaRPr>
          </a:p>
          <a:p>
            <a:pPr marL="0" marR="0" lvl="0" indent="0" algn="l" rtl="0">
              <a:spcBef>
                <a:spcPts val="0"/>
              </a:spcBef>
              <a:spcAft>
                <a:spcPts val="0"/>
              </a:spcAft>
              <a:buNone/>
            </a:pPr>
            <a:r>
              <a:rPr lang="en-US" sz="2200" dirty="0">
                <a:solidFill>
                  <a:schemeClr val="tx1"/>
                </a:solidFill>
                <a:latin typeface="Times New Roman"/>
                <a:ea typeface="Times New Roman"/>
                <a:cs typeface="Times New Roman"/>
                <a:sym typeface="Times New Roman"/>
              </a:rPr>
              <a:t>* Sharing a database allows multiple users and programs to access the database</a:t>
            </a:r>
            <a:endParaRPr sz="2200" dirty="0">
              <a:solidFill>
                <a:schemeClr val="tx1"/>
              </a:solidFill>
            </a:endParaRPr>
          </a:p>
        </p:txBody>
      </p:sp>
      <p:sp>
        <p:nvSpPr>
          <p:cNvPr id="236" name="Google Shape;236;p4"/>
          <p:cNvSpPr txBox="1"/>
          <p:nvPr/>
        </p:nvSpPr>
        <p:spPr>
          <a:xfrm>
            <a:off x="381304" y="323806"/>
            <a:ext cx="11308701" cy="14772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FF0000"/>
                </a:solidFill>
                <a:latin typeface="Times New Roman"/>
                <a:ea typeface="Times New Roman"/>
                <a:cs typeface="Times New Roman"/>
                <a:sym typeface="Times New Roman"/>
              </a:rPr>
              <a:t>DATABASE  MANAGEMENT </a:t>
            </a:r>
            <a:r>
              <a:rPr lang="en-US" sz="2800" b="1" dirty="0" smtClean="0">
                <a:solidFill>
                  <a:srgbClr val="FF0000"/>
                </a:solidFill>
                <a:latin typeface="Times New Roman"/>
                <a:ea typeface="Times New Roman"/>
                <a:cs typeface="Times New Roman"/>
                <a:sym typeface="Times New Roman"/>
              </a:rPr>
              <a:t>SYSTEMS</a:t>
            </a:r>
          </a:p>
          <a:p>
            <a:pPr marL="0" marR="0" lvl="0" indent="0" algn="ctr" rtl="0">
              <a:spcBef>
                <a:spcPts val="0"/>
              </a:spcBef>
              <a:spcAft>
                <a:spcPts val="0"/>
              </a:spcAft>
              <a:buNone/>
            </a:pPr>
            <a:endParaRPr dirty="0"/>
          </a:p>
          <a:p>
            <a:pPr marL="0" marR="0" lvl="0" indent="0" algn="just" rtl="0">
              <a:spcBef>
                <a:spcPts val="0"/>
              </a:spcBef>
              <a:spcAft>
                <a:spcPts val="0"/>
              </a:spcAft>
              <a:buNone/>
            </a:pPr>
            <a:r>
              <a:rPr lang="en-US" sz="2400" dirty="0">
                <a:solidFill>
                  <a:schemeClr val="tx1"/>
                </a:solidFill>
                <a:latin typeface="Times New Roman"/>
                <a:ea typeface="Times New Roman"/>
                <a:cs typeface="Times New Roman"/>
                <a:sym typeface="Times New Roman"/>
              </a:rPr>
              <a:t>The DBMS is a general-purpose software system that facilitates the processes of defining, constructing, manipulating, and sharing databases among various users and </a:t>
            </a:r>
            <a:r>
              <a:rPr lang="en-US" sz="2400" dirty="0" smtClean="0">
                <a:solidFill>
                  <a:schemeClr val="tx1"/>
                </a:solidFill>
                <a:latin typeface="Times New Roman"/>
                <a:ea typeface="Times New Roman"/>
                <a:cs typeface="Times New Roman"/>
                <a:sym typeface="Times New Roman"/>
              </a:rPr>
              <a:t>applications</a:t>
            </a:r>
            <a:endParaRPr sz="1600" dirty="0">
              <a:solidFill>
                <a:schemeClr val="tx1"/>
              </a:solidFill>
            </a:endParaRPr>
          </a:p>
        </p:txBody>
      </p:sp>
    </p:spTree>
  </p:cSld>
  <p:clrMapOvr>
    <a:masterClrMapping/>
  </p:clrMapOvr>
  <p:transition>
    <p:fade thruBlk="1"/>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5"/>
          <p:cNvSpPr txBox="1"/>
          <p:nvPr/>
        </p:nvSpPr>
        <p:spPr>
          <a:xfrm>
            <a:off x="382554" y="681016"/>
            <a:ext cx="11378185" cy="5447645"/>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b="1" dirty="0">
                <a:solidFill>
                  <a:srgbClr val="FF0000"/>
                </a:solidFill>
                <a:latin typeface="Times New Roman"/>
                <a:ea typeface="Times New Roman"/>
                <a:cs typeface="Times New Roman"/>
                <a:sym typeface="Times New Roman"/>
              </a:rPr>
              <a:t>An application program </a:t>
            </a:r>
            <a:r>
              <a:rPr lang="en-US" sz="2400" dirty="0">
                <a:solidFill>
                  <a:schemeClr val="tx1"/>
                </a:solidFill>
                <a:latin typeface="Times New Roman"/>
                <a:ea typeface="Times New Roman"/>
                <a:cs typeface="Times New Roman"/>
                <a:sym typeface="Times New Roman"/>
              </a:rPr>
              <a:t>accesses the database by sending queries or requests for  data to the DBMS A query typically causes some data to be </a:t>
            </a:r>
            <a:r>
              <a:rPr lang="en-US" sz="2400" dirty="0" smtClean="0">
                <a:solidFill>
                  <a:schemeClr val="tx1"/>
                </a:solidFill>
                <a:latin typeface="Times New Roman"/>
                <a:ea typeface="Times New Roman"/>
                <a:cs typeface="Times New Roman"/>
                <a:sym typeface="Times New Roman"/>
              </a:rPr>
              <a:t>retrieved</a:t>
            </a:r>
            <a:endParaRPr dirty="0"/>
          </a:p>
          <a:p>
            <a:pPr marL="0" marR="0" lvl="0" indent="0" algn="just" rtl="0">
              <a:lnSpc>
                <a:spcPct val="150000"/>
              </a:lnSpc>
              <a:spcBef>
                <a:spcPts val="0"/>
              </a:spcBef>
              <a:spcAft>
                <a:spcPts val="0"/>
              </a:spcAft>
              <a:buNone/>
            </a:pPr>
            <a:r>
              <a:rPr lang="en-US" sz="2400" b="1" dirty="0">
                <a:solidFill>
                  <a:srgbClr val="FF0000"/>
                </a:solidFill>
                <a:latin typeface="Times New Roman"/>
                <a:ea typeface="Times New Roman"/>
                <a:cs typeface="Times New Roman"/>
                <a:sym typeface="Times New Roman"/>
              </a:rPr>
              <a:t>Transaction</a:t>
            </a:r>
            <a:r>
              <a:rPr lang="en-US" sz="2400" dirty="0">
                <a:solidFill>
                  <a:schemeClr val="accent6"/>
                </a:solidFill>
                <a:latin typeface="Times New Roman"/>
                <a:ea typeface="Times New Roman"/>
                <a:cs typeface="Times New Roman"/>
                <a:sym typeface="Times New Roman"/>
              </a:rPr>
              <a:t> </a:t>
            </a:r>
            <a:r>
              <a:rPr lang="en-US" sz="2400" dirty="0">
                <a:solidFill>
                  <a:schemeClr val="tx1"/>
                </a:solidFill>
                <a:latin typeface="Times New Roman"/>
                <a:ea typeface="Times New Roman"/>
                <a:cs typeface="Times New Roman"/>
                <a:sym typeface="Times New Roman"/>
              </a:rPr>
              <a:t>may cause some data to be read and some data to be written into the database</a:t>
            </a:r>
            <a:endParaRPr dirty="0">
              <a:solidFill>
                <a:schemeClr val="tx1"/>
              </a:solidFill>
            </a:endParaRPr>
          </a:p>
          <a:p>
            <a:pPr marL="0" marR="0" lvl="0" indent="0" algn="just" rtl="0">
              <a:lnSpc>
                <a:spcPct val="150000"/>
              </a:lnSpc>
              <a:spcBef>
                <a:spcPts val="0"/>
              </a:spcBef>
              <a:spcAft>
                <a:spcPts val="0"/>
              </a:spcAft>
              <a:buNone/>
            </a:pPr>
            <a:r>
              <a:rPr lang="en-US" sz="2400" b="1" dirty="0">
                <a:solidFill>
                  <a:srgbClr val="FF0000"/>
                </a:solidFill>
                <a:latin typeface="Times New Roman"/>
                <a:ea typeface="Times New Roman"/>
                <a:cs typeface="Times New Roman"/>
                <a:sym typeface="Times New Roman"/>
              </a:rPr>
              <a:t>Other important functions provided by the DBMS</a:t>
            </a:r>
            <a:r>
              <a:rPr lang="en-US" sz="2400" dirty="0">
                <a:solidFill>
                  <a:schemeClr val="accent6"/>
                </a:solidFill>
                <a:latin typeface="Times New Roman"/>
                <a:ea typeface="Times New Roman"/>
                <a:cs typeface="Times New Roman"/>
                <a:sym typeface="Times New Roman"/>
              </a:rPr>
              <a:t> </a:t>
            </a:r>
            <a:r>
              <a:rPr lang="en-US" sz="2400" dirty="0">
                <a:solidFill>
                  <a:schemeClr val="tx1"/>
                </a:solidFill>
                <a:latin typeface="Times New Roman"/>
                <a:ea typeface="Times New Roman"/>
                <a:cs typeface="Times New Roman"/>
                <a:sym typeface="Times New Roman"/>
              </a:rPr>
              <a:t>include</a:t>
            </a:r>
            <a:endParaRPr dirty="0">
              <a:solidFill>
                <a:schemeClr val="tx1"/>
              </a:solidFill>
            </a:endParaRPr>
          </a:p>
          <a:p>
            <a:pPr marL="0" marR="0" lvl="0" indent="0" algn="just" rtl="0">
              <a:lnSpc>
                <a:spcPct val="150000"/>
              </a:lnSpc>
              <a:spcBef>
                <a:spcPts val="0"/>
              </a:spcBef>
              <a:spcAft>
                <a:spcPts val="0"/>
              </a:spcAft>
              <a:buNone/>
            </a:pPr>
            <a:r>
              <a:rPr lang="en-US" sz="2400" dirty="0">
                <a:solidFill>
                  <a:schemeClr val="accent6"/>
                </a:solidFill>
                <a:latin typeface="Times New Roman"/>
                <a:ea typeface="Times New Roman"/>
                <a:cs typeface="Times New Roman"/>
                <a:sym typeface="Times New Roman"/>
              </a:rPr>
              <a:t> </a:t>
            </a:r>
            <a:r>
              <a:rPr lang="en-US" sz="2400" dirty="0">
                <a:solidFill>
                  <a:schemeClr val="tx1"/>
                </a:solidFill>
                <a:latin typeface="Times New Roman"/>
                <a:ea typeface="Times New Roman"/>
                <a:cs typeface="Times New Roman"/>
                <a:sym typeface="Times New Roman"/>
              </a:rPr>
              <a:t>*Protecting the database and maintaining it over a long period of time</a:t>
            </a:r>
            <a:endParaRPr dirty="0">
              <a:solidFill>
                <a:schemeClr val="tx1"/>
              </a:solidFill>
            </a:endParaRPr>
          </a:p>
          <a:p>
            <a:pPr marL="0" marR="0" lvl="0" indent="0" algn="just" rtl="0">
              <a:lnSpc>
                <a:spcPct val="150000"/>
              </a:lnSpc>
              <a:spcBef>
                <a:spcPts val="0"/>
              </a:spcBef>
              <a:spcAft>
                <a:spcPts val="0"/>
              </a:spcAft>
              <a:buNone/>
            </a:pPr>
            <a:r>
              <a:rPr lang="en-US" sz="2400" dirty="0">
                <a:solidFill>
                  <a:schemeClr val="tx1"/>
                </a:solidFill>
                <a:latin typeface="Times New Roman"/>
                <a:ea typeface="Times New Roman"/>
                <a:cs typeface="Times New Roman"/>
                <a:sym typeface="Times New Roman"/>
              </a:rPr>
              <a:t>    Protection includes system protection against hardware or software malfunction (or   </a:t>
            </a:r>
            <a:endParaRPr dirty="0">
              <a:solidFill>
                <a:schemeClr val="tx1"/>
              </a:solidFill>
            </a:endParaRPr>
          </a:p>
          <a:p>
            <a:pPr marL="0" marR="0" lvl="0" indent="0" algn="just" rtl="0">
              <a:lnSpc>
                <a:spcPct val="150000"/>
              </a:lnSpc>
              <a:spcBef>
                <a:spcPts val="0"/>
              </a:spcBef>
              <a:spcAft>
                <a:spcPts val="0"/>
              </a:spcAft>
              <a:buNone/>
            </a:pPr>
            <a:r>
              <a:rPr lang="en-US" sz="2400" dirty="0">
                <a:solidFill>
                  <a:schemeClr val="tx1"/>
                </a:solidFill>
                <a:latin typeface="Times New Roman"/>
                <a:ea typeface="Times New Roman"/>
                <a:cs typeface="Times New Roman"/>
                <a:sym typeface="Times New Roman"/>
              </a:rPr>
              <a:t>    crashes) and security protection against unauthorized or malicious access. </a:t>
            </a:r>
            <a:endParaRPr dirty="0">
              <a:solidFill>
                <a:schemeClr val="tx1"/>
              </a:solidFill>
            </a:endParaRPr>
          </a:p>
          <a:p>
            <a:pPr marL="0" marR="0" lvl="0" indent="0" algn="just" rtl="0">
              <a:lnSpc>
                <a:spcPct val="150000"/>
              </a:lnSpc>
              <a:spcBef>
                <a:spcPts val="0"/>
              </a:spcBef>
              <a:spcAft>
                <a:spcPts val="0"/>
              </a:spcAft>
              <a:buNone/>
            </a:pPr>
            <a:r>
              <a:rPr lang="en-US" sz="2400" dirty="0">
                <a:solidFill>
                  <a:schemeClr val="tx1"/>
                </a:solidFill>
                <a:latin typeface="Times New Roman"/>
                <a:ea typeface="Times New Roman"/>
                <a:cs typeface="Times New Roman"/>
                <a:sym typeface="Times New Roman"/>
              </a:rPr>
              <a:t> * DBMS must be able to maintain the database system by allowing the system to evolve as </a:t>
            </a:r>
            <a:endParaRPr dirty="0">
              <a:solidFill>
                <a:schemeClr val="tx1"/>
              </a:solidFill>
            </a:endParaRPr>
          </a:p>
          <a:p>
            <a:pPr marL="0" marR="0" lvl="0" indent="0" algn="just" rtl="0">
              <a:lnSpc>
                <a:spcPct val="150000"/>
              </a:lnSpc>
              <a:spcBef>
                <a:spcPts val="0"/>
              </a:spcBef>
              <a:spcAft>
                <a:spcPts val="0"/>
              </a:spcAft>
              <a:buNone/>
            </a:pPr>
            <a:r>
              <a:rPr lang="en-US" sz="2400" dirty="0">
                <a:solidFill>
                  <a:schemeClr val="tx1"/>
                </a:solidFill>
                <a:latin typeface="Times New Roman"/>
                <a:ea typeface="Times New Roman"/>
                <a:cs typeface="Times New Roman"/>
                <a:sym typeface="Times New Roman"/>
              </a:rPr>
              <a:t>    requirements change over time</a:t>
            </a:r>
            <a:endParaRPr dirty="0">
              <a:solidFill>
                <a:schemeClr val="tx1"/>
              </a:solidFill>
            </a:endParaRPr>
          </a:p>
          <a:p>
            <a:pPr marL="0" marR="0" lvl="0" indent="0" algn="l" rtl="0">
              <a:spcBef>
                <a:spcPts val="0"/>
              </a:spcBef>
              <a:spcAft>
                <a:spcPts val="0"/>
              </a:spcAft>
              <a:buNone/>
            </a:pPr>
            <a:endParaRPr sz="2400" dirty="0">
              <a:solidFill>
                <a:schemeClr val="dk1"/>
              </a:solidFill>
              <a:latin typeface="Calibri"/>
              <a:ea typeface="Calibri"/>
              <a:cs typeface="Calibri"/>
              <a:sym typeface="Calibri"/>
            </a:endParaRPr>
          </a:p>
        </p:txBody>
      </p:sp>
      <p:sp>
        <p:nvSpPr>
          <p:cNvPr id="242" name="Google Shape;242;p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6"/>
          <p:cNvSpPr txBox="1">
            <a:spLocks noGrp="1"/>
          </p:cNvSpPr>
          <p:nvPr>
            <p:ph type="title"/>
          </p:nvPr>
        </p:nvSpPr>
        <p:spPr>
          <a:xfrm>
            <a:off x="709612" y="0"/>
            <a:ext cx="10772775" cy="10252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0000"/>
              </a:buClr>
              <a:buSzPts val="3200"/>
              <a:buFont typeface="Times New Roman"/>
              <a:buNone/>
            </a:pPr>
            <a:r>
              <a:rPr lang="en-US" sz="3200" b="1" dirty="0">
                <a:solidFill>
                  <a:srgbClr val="FF0000"/>
                </a:solidFill>
                <a:latin typeface="Times New Roman"/>
                <a:ea typeface="Times New Roman"/>
                <a:cs typeface="Times New Roman"/>
                <a:sym typeface="Times New Roman"/>
              </a:rPr>
              <a:t>Simplified Database System Environment</a:t>
            </a:r>
            <a:endParaRPr dirty="0"/>
          </a:p>
        </p:txBody>
      </p:sp>
      <p:sp>
        <p:nvSpPr>
          <p:cNvPr id="248" name="Google Shape;248;p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pic>
        <p:nvPicPr>
          <p:cNvPr id="249" name="Google Shape;249;p6"/>
          <p:cNvPicPr preferRelativeResize="0"/>
          <p:nvPr/>
        </p:nvPicPr>
        <p:blipFill rotWithShape="1">
          <a:blip r:embed="rId3">
            <a:alphaModFix/>
          </a:blip>
          <a:srcRect/>
          <a:stretch/>
        </p:blipFill>
        <p:spPr>
          <a:xfrm>
            <a:off x="3632199" y="1260764"/>
            <a:ext cx="5484092" cy="4535092"/>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7"/>
          <p:cNvSpPr txBox="1">
            <a:spLocks noGrp="1"/>
          </p:cNvSpPr>
          <p:nvPr>
            <p:ph type="title"/>
          </p:nvPr>
        </p:nvSpPr>
        <p:spPr>
          <a:xfrm>
            <a:off x="948552" y="290946"/>
            <a:ext cx="10772775" cy="110567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0000"/>
              </a:buClr>
              <a:buSzPts val="4800"/>
              <a:buFont typeface="Times New Roman"/>
              <a:buNone/>
            </a:pPr>
            <a:r>
              <a:rPr lang="en-US" sz="3200" dirty="0">
                <a:solidFill>
                  <a:srgbClr val="FF0000"/>
                </a:solidFill>
                <a:latin typeface="Times New Roman"/>
                <a:ea typeface="Times New Roman"/>
                <a:cs typeface="Times New Roman"/>
                <a:sym typeface="Times New Roman"/>
              </a:rPr>
              <a:t>Typical DBMS Functionality</a:t>
            </a:r>
            <a:endParaRPr sz="3200" dirty="0"/>
          </a:p>
        </p:txBody>
      </p:sp>
      <p:sp>
        <p:nvSpPr>
          <p:cNvPr id="256" name="Google Shape;256;p7"/>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152400" algn="l" rtl="0">
              <a:lnSpc>
                <a:spcPct val="100000"/>
              </a:lnSpc>
              <a:spcBef>
                <a:spcPts val="0"/>
              </a:spcBef>
              <a:spcAft>
                <a:spcPts val="0"/>
              </a:spcAft>
              <a:buSzPts val="2400"/>
              <a:buChar char=" "/>
            </a:pPr>
            <a:r>
              <a:rPr lang="en-US" sz="2400" b="1" dirty="0">
                <a:solidFill>
                  <a:srgbClr val="FF0000"/>
                </a:solidFill>
                <a:latin typeface="Times New Roman"/>
                <a:ea typeface="Times New Roman"/>
                <a:cs typeface="Times New Roman"/>
                <a:sym typeface="Times New Roman"/>
              </a:rPr>
              <a:t>Define</a:t>
            </a:r>
            <a:r>
              <a:rPr lang="en-US" sz="2400" dirty="0">
                <a:latin typeface="Times New Roman"/>
                <a:ea typeface="Times New Roman"/>
                <a:cs typeface="Times New Roman"/>
                <a:sym typeface="Times New Roman"/>
              </a:rPr>
              <a:t> </a:t>
            </a:r>
            <a:r>
              <a:rPr lang="en-US" sz="2400" dirty="0">
                <a:solidFill>
                  <a:schemeClr val="tx1"/>
                </a:solidFill>
                <a:latin typeface="Times New Roman"/>
                <a:ea typeface="Times New Roman"/>
                <a:cs typeface="Times New Roman"/>
                <a:sym typeface="Times New Roman"/>
              </a:rPr>
              <a:t>a particular database in terms of its data types, structures, and constraints</a:t>
            </a:r>
            <a:endParaRPr dirty="0">
              <a:solidFill>
                <a:schemeClr val="tx1"/>
              </a:solidFill>
            </a:endParaRPr>
          </a:p>
          <a:p>
            <a:pPr marL="91440" lvl="0" indent="-152400" algn="l" rtl="0">
              <a:lnSpc>
                <a:spcPct val="100000"/>
              </a:lnSpc>
              <a:spcBef>
                <a:spcPts val="1400"/>
              </a:spcBef>
              <a:spcAft>
                <a:spcPts val="0"/>
              </a:spcAft>
              <a:buSzPts val="2400"/>
              <a:buChar char=" "/>
            </a:pPr>
            <a:r>
              <a:rPr lang="en-US" sz="2400" b="1" dirty="0">
                <a:solidFill>
                  <a:srgbClr val="FF0000"/>
                </a:solidFill>
                <a:latin typeface="Times New Roman"/>
                <a:ea typeface="Times New Roman"/>
                <a:cs typeface="Times New Roman"/>
                <a:sym typeface="Times New Roman"/>
              </a:rPr>
              <a:t>Construct</a:t>
            </a:r>
            <a:r>
              <a:rPr lang="en-US" sz="2400" dirty="0">
                <a:latin typeface="Times New Roman"/>
                <a:ea typeface="Times New Roman"/>
                <a:cs typeface="Times New Roman"/>
                <a:sym typeface="Times New Roman"/>
              </a:rPr>
              <a:t> </a:t>
            </a:r>
            <a:r>
              <a:rPr lang="en-US" sz="2400" dirty="0">
                <a:solidFill>
                  <a:schemeClr val="tx1"/>
                </a:solidFill>
                <a:latin typeface="Times New Roman"/>
                <a:ea typeface="Times New Roman"/>
                <a:cs typeface="Times New Roman"/>
                <a:sym typeface="Times New Roman"/>
              </a:rPr>
              <a:t>or Load the initial database contents on a secondary storage medium</a:t>
            </a:r>
            <a:endParaRPr sz="2400" dirty="0">
              <a:solidFill>
                <a:schemeClr val="tx1"/>
              </a:solidFill>
            </a:endParaRPr>
          </a:p>
          <a:p>
            <a:pPr marL="91440" lvl="0" indent="-152400" algn="l" rtl="0">
              <a:lnSpc>
                <a:spcPct val="100000"/>
              </a:lnSpc>
              <a:spcBef>
                <a:spcPts val="1400"/>
              </a:spcBef>
              <a:spcAft>
                <a:spcPts val="0"/>
              </a:spcAft>
              <a:buSzPts val="2400"/>
              <a:buChar char=" "/>
            </a:pPr>
            <a:r>
              <a:rPr lang="en-US" sz="2400" b="1" dirty="0">
                <a:solidFill>
                  <a:srgbClr val="FF0000"/>
                </a:solidFill>
                <a:latin typeface="Times New Roman"/>
                <a:ea typeface="Times New Roman"/>
                <a:cs typeface="Times New Roman"/>
                <a:sym typeface="Times New Roman"/>
              </a:rPr>
              <a:t>Manipulating</a:t>
            </a:r>
            <a:r>
              <a:rPr lang="en-US" sz="2400" dirty="0">
                <a:latin typeface="Times New Roman"/>
                <a:ea typeface="Times New Roman"/>
                <a:cs typeface="Times New Roman"/>
                <a:sym typeface="Times New Roman"/>
              </a:rPr>
              <a:t> </a:t>
            </a:r>
            <a:r>
              <a:rPr lang="en-US" sz="2400" dirty="0">
                <a:solidFill>
                  <a:schemeClr val="tx1"/>
                </a:solidFill>
                <a:latin typeface="Times New Roman"/>
                <a:ea typeface="Times New Roman"/>
                <a:cs typeface="Times New Roman"/>
                <a:sym typeface="Times New Roman"/>
              </a:rPr>
              <a:t>the database:</a:t>
            </a:r>
            <a:endParaRPr sz="2400" dirty="0">
              <a:solidFill>
                <a:schemeClr val="tx1"/>
              </a:solidFill>
            </a:endParaRPr>
          </a:p>
          <a:p>
            <a:pPr marL="384048" lvl="1" indent="-182880" algn="l" rtl="0">
              <a:lnSpc>
                <a:spcPct val="100000"/>
              </a:lnSpc>
              <a:spcBef>
                <a:spcPts val="400"/>
              </a:spcBef>
              <a:spcAft>
                <a:spcPts val="0"/>
              </a:spcAft>
              <a:buSzPts val="1800"/>
              <a:buChar char="◦"/>
            </a:pPr>
            <a:r>
              <a:rPr lang="en-US" sz="2400" dirty="0">
                <a:solidFill>
                  <a:schemeClr val="tx1"/>
                </a:solidFill>
                <a:latin typeface="Times New Roman"/>
                <a:ea typeface="Times New Roman"/>
                <a:cs typeface="Times New Roman"/>
                <a:sym typeface="Times New Roman"/>
              </a:rPr>
              <a:t>Retrieval: Querying, generating reports</a:t>
            </a:r>
            <a:endParaRPr sz="2400" dirty="0">
              <a:solidFill>
                <a:schemeClr val="tx1"/>
              </a:solidFill>
            </a:endParaRPr>
          </a:p>
          <a:p>
            <a:pPr marL="384048" lvl="1" indent="-182880" algn="l" rtl="0">
              <a:lnSpc>
                <a:spcPct val="100000"/>
              </a:lnSpc>
              <a:spcBef>
                <a:spcPts val="600"/>
              </a:spcBef>
              <a:spcAft>
                <a:spcPts val="0"/>
              </a:spcAft>
              <a:buSzPts val="1800"/>
              <a:buChar char="◦"/>
            </a:pPr>
            <a:r>
              <a:rPr lang="en-US" sz="2400" dirty="0">
                <a:solidFill>
                  <a:schemeClr val="tx1"/>
                </a:solidFill>
                <a:latin typeface="Times New Roman"/>
                <a:ea typeface="Times New Roman"/>
                <a:cs typeface="Times New Roman"/>
                <a:sym typeface="Times New Roman"/>
              </a:rPr>
              <a:t>Modification: Insertions, deletions and updates to its content</a:t>
            </a:r>
            <a:endParaRPr sz="2400" dirty="0">
              <a:solidFill>
                <a:schemeClr val="tx1"/>
              </a:solidFill>
            </a:endParaRPr>
          </a:p>
          <a:p>
            <a:pPr marL="384048" lvl="1" indent="-182880" algn="l" rtl="0">
              <a:lnSpc>
                <a:spcPct val="100000"/>
              </a:lnSpc>
              <a:spcBef>
                <a:spcPts val="600"/>
              </a:spcBef>
              <a:spcAft>
                <a:spcPts val="0"/>
              </a:spcAft>
              <a:buSzPts val="1800"/>
              <a:buChar char="◦"/>
            </a:pPr>
            <a:r>
              <a:rPr lang="en-US" sz="2400" dirty="0">
                <a:solidFill>
                  <a:schemeClr val="tx1"/>
                </a:solidFill>
                <a:latin typeface="Times New Roman"/>
                <a:ea typeface="Times New Roman"/>
                <a:cs typeface="Times New Roman"/>
                <a:sym typeface="Times New Roman"/>
              </a:rPr>
              <a:t>Accessing the database through Web applications</a:t>
            </a:r>
            <a:endParaRPr sz="2400" dirty="0">
              <a:solidFill>
                <a:schemeClr val="tx1"/>
              </a:solidFill>
            </a:endParaRPr>
          </a:p>
          <a:p>
            <a:pPr marL="91440" lvl="0" indent="-127000" algn="l" rtl="0">
              <a:lnSpc>
                <a:spcPct val="100000"/>
              </a:lnSpc>
              <a:spcBef>
                <a:spcPts val="1600"/>
              </a:spcBef>
              <a:spcAft>
                <a:spcPts val="0"/>
              </a:spcAft>
              <a:buSzPts val="2000"/>
              <a:buChar char=" "/>
            </a:pPr>
            <a:r>
              <a:rPr lang="en-US" sz="2400" b="1" dirty="0">
                <a:solidFill>
                  <a:srgbClr val="FF0000"/>
                </a:solidFill>
                <a:latin typeface="Times New Roman"/>
                <a:ea typeface="Times New Roman"/>
                <a:cs typeface="Times New Roman"/>
                <a:sym typeface="Times New Roman"/>
              </a:rPr>
              <a:t>Processing and Sharing </a:t>
            </a:r>
            <a:r>
              <a:rPr lang="en-US" sz="2400" dirty="0">
                <a:solidFill>
                  <a:schemeClr val="tx1"/>
                </a:solidFill>
                <a:latin typeface="Times New Roman"/>
                <a:ea typeface="Times New Roman"/>
                <a:cs typeface="Times New Roman"/>
                <a:sym typeface="Times New Roman"/>
              </a:rPr>
              <a:t>by a set of concurrent users and application programs – yet, keeping all data valid and consistent</a:t>
            </a:r>
            <a:endParaRPr sz="2400" dirty="0">
              <a:solidFill>
                <a:schemeClr val="tx1"/>
              </a:solidFill>
            </a:endParaRPr>
          </a:p>
        </p:txBody>
      </p:sp>
      <p:sp>
        <p:nvSpPr>
          <p:cNvPr id="257" name="Google Shape;257;p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0000"/>
              </a:buClr>
              <a:buSzPts val="4800"/>
              <a:buFont typeface="Times New Roman"/>
              <a:buNone/>
            </a:pPr>
            <a:r>
              <a:rPr lang="en-US">
                <a:solidFill>
                  <a:srgbClr val="FF0000"/>
                </a:solidFill>
                <a:latin typeface="Times New Roman"/>
                <a:ea typeface="Times New Roman"/>
                <a:cs typeface="Times New Roman"/>
                <a:sym typeface="Times New Roman"/>
              </a:rPr>
              <a:t>Example of a Database</a:t>
            </a:r>
            <a:br>
              <a:rPr lang="en-US">
                <a:solidFill>
                  <a:srgbClr val="FF0000"/>
                </a:solidFill>
                <a:latin typeface="Times New Roman"/>
                <a:ea typeface="Times New Roman"/>
                <a:cs typeface="Times New Roman"/>
                <a:sym typeface="Times New Roman"/>
              </a:rPr>
            </a:br>
            <a:r>
              <a:rPr lang="en-US">
                <a:solidFill>
                  <a:srgbClr val="FF0000"/>
                </a:solidFill>
                <a:latin typeface="Times New Roman"/>
                <a:ea typeface="Times New Roman"/>
                <a:cs typeface="Times New Roman"/>
                <a:sym typeface="Times New Roman"/>
              </a:rPr>
              <a:t>(with a Conceptual Data Model)</a:t>
            </a:r>
            <a:endParaRPr/>
          </a:p>
        </p:txBody>
      </p:sp>
      <p:sp>
        <p:nvSpPr>
          <p:cNvPr id="264" name="Google Shape;264;p8"/>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0" algn="l" rtl="0">
              <a:lnSpc>
                <a:spcPct val="90000"/>
              </a:lnSpc>
              <a:spcBef>
                <a:spcPts val="0"/>
              </a:spcBef>
              <a:spcAft>
                <a:spcPts val="0"/>
              </a:spcAft>
              <a:buSzPts val="2000"/>
              <a:buNone/>
            </a:pPr>
            <a:endParaRPr b="1">
              <a:solidFill>
                <a:srgbClr val="FF0000"/>
              </a:solidFill>
              <a:latin typeface="Times New Roman"/>
              <a:ea typeface="Times New Roman"/>
              <a:cs typeface="Times New Roman"/>
              <a:sym typeface="Times New Roman"/>
            </a:endParaRPr>
          </a:p>
          <a:p>
            <a:pPr marL="91440" lvl="0" indent="-127000" algn="l" rtl="0">
              <a:lnSpc>
                <a:spcPct val="90000"/>
              </a:lnSpc>
              <a:spcBef>
                <a:spcPts val="1400"/>
              </a:spcBef>
              <a:spcAft>
                <a:spcPts val="0"/>
              </a:spcAft>
              <a:buSzPts val="2000"/>
              <a:buChar char=" "/>
            </a:pPr>
            <a:r>
              <a:rPr lang="en-US" b="1">
                <a:solidFill>
                  <a:srgbClr val="FF0000"/>
                </a:solidFill>
                <a:latin typeface="Times New Roman"/>
                <a:ea typeface="Times New Roman"/>
                <a:cs typeface="Times New Roman"/>
                <a:sym typeface="Times New Roman"/>
              </a:rPr>
              <a:t>Mini-world for the example:</a:t>
            </a:r>
            <a:endParaRPr/>
          </a:p>
          <a:p>
            <a:pPr marL="384048" lvl="1" indent="-182880" algn="l" rtl="0">
              <a:lnSpc>
                <a:spcPct val="90000"/>
              </a:lnSpc>
              <a:spcBef>
                <a:spcPts val="400"/>
              </a:spcBef>
              <a:spcAft>
                <a:spcPts val="0"/>
              </a:spcAft>
              <a:buSzPts val="1800"/>
              <a:buChar char="◦"/>
            </a:pPr>
            <a:r>
              <a:rPr lang="en-US">
                <a:solidFill>
                  <a:schemeClr val="accent1"/>
                </a:solidFill>
                <a:latin typeface="Times New Roman"/>
                <a:ea typeface="Times New Roman"/>
                <a:cs typeface="Times New Roman"/>
                <a:sym typeface="Times New Roman"/>
              </a:rPr>
              <a:t>Part of a UNIVERSITY environment.</a:t>
            </a:r>
            <a:endParaRPr/>
          </a:p>
          <a:p>
            <a:pPr marL="91440" lvl="0" indent="-127000" algn="l" rtl="0">
              <a:lnSpc>
                <a:spcPct val="90000"/>
              </a:lnSpc>
              <a:spcBef>
                <a:spcPts val="1600"/>
              </a:spcBef>
              <a:spcAft>
                <a:spcPts val="0"/>
              </a:spcAft>
              <a:buSzPts val="2000"/>
              <a:buChar char=" "/>
            </a:pPr>
            <a:r>
              <a:rPr lang="en-US" b="1">
                <a:solidFill>
                  <a:srgbClr val="FF0000"/>
                </a:solidFill>
                <a:latin typeface="Times New Roman"/>
                <a:ea typeface="Times New Roman"/>
                <a:cs typeface="Times New Roman"/>
                <a:sym typeface="Times New Roman"/>
              </a:rPr>
              <a:t>Some mini-world </a:t>
            </a:r>
            <a:r>
              <a:rPr lang="en-US" b="1" i="1">
                <a:solidFill>
                  <a:srgbClr val="FF0000"/>
                </a:solidFill>
                <a:latin typeface="Times New Roman"/>
                <a:ea typeface="Times New Roman"/>
                <a:cs typeface="Times New Roman"/>
                <a:sym typeface="Times New Roman"/>
              </a:rPr>
              <a:t>entities</a:t>
            </a:r>
            <a:r>
              <a:rPr lang="en-US" b="1">
                <a:solidFill>
                  <a:srgbClr val="FF0000"/>
                </a:solidFill>
                <a:latin typeface="Times New Roman"/>
                <a:ea typeface="Times New Roman"/>
                <a:cs typeface="Times New Roman"/>
                <a:sym typeface="Times New Roman"/>
              </a:rPr>
              <a:t>:</a:t>
            </a:r>
            <a:endParaRPr/>
          </a:p>
          <a:p>
            <a:pPr marL="384048" lvl="1" indent="-182880" algn="l" rtl="0">
              <a:lnSpc>
                <a:spcPct val="90000"/>
              </a:lnSpc>
              <a:spcBef>
                <a:spcPts val="400"/>
              </a:spcBef>
              <a:spcAft>
                <a:spcPts val="0"/>
              </a:spcAft>
              <a:buSzPts val="1800"/>
              <a:buChar char="◦"/>
            </a:pPr>
            <a:r>
              <a:rPr lang="en-US">
                <a:solidFill>
                  <a:schemeClr val="accent1"/>
                </a:solidFill>
                <a:latin typeface="Times New Roman"/>
                <a:ea typeface="Times New Roman"/>
                <a:cs typeface="Times New Roman"/>
                <a:sym typeface="Times New Roman"/>
              </a:rPr>
              <a:t>STUDENTs</a:t>
            </a:r>
            <a:endParaRPr/>
          </a:p>
          <a:p>
            <a:pPr marL="384048" lvl="1" indent="-182880" algn="l" rtl="0">
              <a:lnSpc>
                <a:spcPct val="90000"/>
              </a:lnSpc>
              <a:spcBef>
                <a:spcPts val="600"/>
              </a:spcBef>
              <a:spcAft>
                <a:spcPts val="0"/>
              </a:spcAft>
              <a:buSzPts val="1800"/>
              <a:buChar char="◦"/>
            </a:pPr>
            <a:r>
              <a:rPr lang="en-US">
                <a:solidFill>
                  <a:schemeClr val="accent1"/>
                </a:solidFill>
                <a:latin typeface="Times New Roman"/>
                <a:ea typeface="Times New Roman"/>
                <a:cs typeface="Times New Roman"/>
                <a:sym typeface="Times New Roman"/>
              </a:rPr>
              <a:t>COURSEs</a:t>
            </a:r>
            <a:endParaRPr/>
          </a:p>
          <a:p>
            <a:pPr marL="384048" lvl="1" indent="-182880" algn="l" rtl="0">
              <a:lnSpc>
                <a:spcPct val="90000"/>
              </a:lnSpc>
              <a:spcBef>
                <a:spcPts val="600"/>
              </a:spcBef>
              <a:spcAft>
                <a:spcPts val="0"/>
              </a:spcAft>
              <a:buSzPts val="1800"/>
              <a:buChar char="◦"/>
            </a:pPr>
            <a:r>
              <a:rPr lang="en-US">
                <a:solidFill>
                  <a:schemeClr val="accent1"/>
                </a:solidFill>
                <a:latin typeface="Times New Roman"/>
                <a:ea typeface="Times New Roman"/>
                <a:cs typeface="Times New Roman"/>
                <a:sym typeface="Times New Roman"/>
              </a:rPr>
              <a:t>SECTIONs (of COURSEs)</a:t>
            </a:r>
            <a:endParaRPr/>
          </a:p>
          <a:p>
            <a:pPr marL="384048" lvl="1" indent="-182880" algn="l" rtl="0">
              <a:lnSpc>
                <a:spcPct val="90000"/>
              </a:lnSpc>
              <a:spcBef>
                <a:spcPts val="600"/>
              </a:spcBef>
              <a:spcAft>
                <a:spcPts val="0"/>
              </a:spcAft>
              <a:buSzPts val="1800"/>
              <a:buChar char="◦"/>
            </a:pPr>
            <a:r>
              <a:rPr lang="en-US">
                <a:solidFill>
                  <a:schemeClr val="accent1"/>
                </a:solidFill>
                <a:latin typeface="Times New Roman"/>
                <a:ea typeface="Times New Roman"/>
                <a:cs typeface="Times New Roman"/>
                <a:sym typeface="Times New Roman"/>
              </a:rPr>
              <a:t>(academic) DEPARTMENTs</a:t>
            </a:r>
            <a:endParaRPr/>
          </a:p>
          <a:p>
            <a:pPr marL="384048" lvl="1" indent="-182880" algn="l" rtl="0">
              <a:lnSpc>
                <a:spcPct val="90000"/>
              </a:lnSpc>
              <a:spcBef>
                <a:spcPts val="600"/>
              </a:spcBef>
              <a:spcAft>
                <a:spcPts val="0"/>
              </a:spcAft>
              <a:buSzPts val="1800"/>
              <a:buChar char="◦"/>
            </a:pPr>
            <a:r>
              <a:rPr lang="en-US">
                <a:solidFill>
                  <a:schemeClr val="accent1"/>
                </a:solidFill>
                <a:latin typeface="Times New Roman"/>
                <a:ea typeface="Times New Roman"/>
                <a:cs typeface="Times New Roman"/>
                <a:sym typeface="Times New Roman"/>
              </a:rPr>
              <a:t>INSTRUCTORs</a:t>
            </a:r>
            <a:endParaRPr/>
          </a:p>
          <a:p>
            <a:pPr marL="91440" lvl="0" indent="0" algn="l" rtl="0">
              <a:lnSpc>
                <a:spcPct val="90000"/>
              </a:lnSpc>
              <a:spcBef>
                <a:spcPts val="1600"/>
              </a:spcBef>
              <a:spcAft>
                <a:spcPts val="0"/>
              </a:spcAft>
              <a:buSzPts val="2000"/>
              <a:buNone/>
            </a:pPr>
            <a:endParaRPr/>
          </a:p>
          <a:p>
            <a:pPr marL="91440" lvl="0" indent="0" algn="l" rtl="0">
              <a:lnSpc>
                <a:spcPct val="90000"/>
              </a:lnSpc>
              <a:spcBef>
                <a:spcPts val="1400"/>
              </a:spcBef>
              <a:spcAft>
                <a:spcPts val="0"/>
              </a:spcAft>
              <a:buSzPts val="2000"/>
              <a:buNone/>
            </a:pPr>
            <a:endParaRPr/>
          </a:p>
        </p:txBody>
      </p:sp>
      <p:sp>
        <p:nvSpPr>
          <p:cNvPr id="265" name="Google Shape;265;p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9"/>
          <p:cNvSpPr txBox="1">
            <a:spLocks noGrp="1"/>
          </p:cNvSpPr>
          <p:nvPr>
            <p:ph type="title"/>
          </p:nvPr>
        </p:nvSpPr>
        <p:spPr>
          <a:xfrm>
            <a:off x="740092" y="458573"/>
            <a:ext cx="10772775" cy="109181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0000"/>
              </a:buClr>
              <a:buSzPts val="4400"/>
              <a:buFont typeface="Times New Roman"/>
              <a:buNone/>
            </a:pPr>
            <a:r>
              <a:rPr lang="en-US" sz="3600" dirty="0">
                <a:solidFill>
                  <a:srgbClr val="FF0000"/>
                </a:solidFill>
                <a:latin typeface="Times New Roman"/>
                <a:ea typeface="Times New Roman"/>
                <a:cs typeface="Times New Roman"/>
                <a:sym typeface="Times New Roman"/>
              </a:rPr>
              <a:t>Example of a Database</a:t>
            </a:r>
            <a:br>
              <a:rPr lang="en-US" sz="3600" dirty="0">
                <a:solidFill>
                  <a:srgbClr val="FF0000"/>
                </a:solidFill>
                <a:latin typeface="Times New Roman"/>
                <a:ea typeface="Times New Roman"/>
                <a:cs typeface="Times New Roman"/>
                <a:sym typeface="Times New Roman"/>
              </a:rPr>
            </a:br>
            <a:r>
              <a:rPr lang="en-US" sz="3600" dirty="0">
                <a:solidFill>
                  <a:srgbClr val="FF0000"/>
                </a:solidFill>
                <a:latin typeface="Times New Roman"/>
                <a:ea typeface="Times New Roman"/>
                <a:cs typeface="Times New Roman"/>
                <a:sym typeface="Times New Roman"/>
              </a:rPr>
              <a:t>(with a Conceptual Data Model)</a:t>
            </a:r>
            <a:endParaRPr sz="4000" dirty="0"/>
          </a:p>
        </p:txBody>
      </p:sp>
      <p:sp>
        <p:nvSpPr>
          <p:cNvPr id="272" name="Google Shape;272;p9"/>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lnSpcReduction="10000"/>
          </a:bodyPr>
          <a:lstStyle/>
          <a:p>
            <a:pPr marL="91440" lvl="0" indent="-152400" algn="l" rtl="0">
              <a:lnSpc>
                <a:spcPct val="90000"/>
              </a:lnSpc>
              <a:spcBef>
                <a:spcPts val="0"/>
              </a:spcBef>
              <a:spcAft>
                <a:spcPts val="0"/>
              </a:spcAft>
              <a:buSzPts val="2400"/>
              <a:buChar char=" "/>
            </a:pPr>
            <a:r>
              <a:rPr lang="en-US" sz="2400" b="1" dirty="0">
                <a:solidFill>
                  <a:srgbClr val="FF0000"/>
                </a:solidFill>
                <a:latin typeface="Times New Roman"/>
                <a:ea typeface="Times New Roman"/>
                <a:cs typeface="Times New Roman"/>
                <a:sym typeface="Times New Roman"/>
              </a:rPr>
              <a:t>Some mini-world </a:t>
            </a:r>
            <a:r>
              <a:rPr lang="en-US" sz="2400" b="1" i="1" dirty="0">
                <a:solidFill>
                  <a:srgbClr val="FF0000"/>
                </a:solidFill>
                <a:latin typeface="Times New Roman"/>
                <a:ea typeface="Times New Roman"/>
                <a:cs typeface="Times New Roman"/>
                <a:sym typeface="Times New Roman"/>
              </a:rPr>
              <a:t>relationships</a:t>
            </a:r>
            <a:r>
              <a:rPr lang="en-US" sz="2400" b="1" dirty="0">
                <a:solidFill>
                  <a:srgbClr val="FF0000"/>
                </a:solidFill>
                <a:latin typeface="Times New Roman"/>
                <a:ea typeface="Times New Roman"/>
                <a:cs typeface="Times New Roman"/>
                <a:sym typeface="Times New Roman"/>
              </a:rPr>
              <a:t>:</a:t>
            </a:r>
            <a:endParaRPr dirty="0"/>
          </a:p>
          <a:p>
            <a:pPr marL="384048" lvl="1" indent="-182880" algn="l" rtl="0">
              <a:lnSpc>
                <a:spcPct val="90000"/>
              </a:lnSpc>
              <a:spcBef>
                <a:spcPts val="400"/>
              </a:spcBef>
              <a:spcAft>
                <a:spcPts val="0"/>
              </a:spcAft>
              <a:buSzPts val="2200"/>
              <a:buChar char="◦"/>
            </a:pPr>
            <a:r>
              <a:rPr lang="en-US" sz="2200" dirty="0">
                <a:solidFill>
                  <a:schemeClr val="tx1"/>
                </a:solidFill>
                <a:latin typeface="Times New Roman"/>
                <a:ea typeface="Times New Roman"/>
                <a:cs typeface="Times New Roman"/>
                <a:sym typeface="Times New Roman"/>
              </a:rPr>
              <a:t>SECTIONs </a:t>
            </a:r>
            <a:r>
              <a:rPr lang="en-US" sz="2200" i="1" dirty="0">
                <a:solidFill>
                  <a:schemeClr val="tx1"/>
                </a:solidFill>
                <a:latin typeface="Times New Roman"/>
                <a:ea typeface="Times New Roman"/>
                <a:cs typeface="Times New Roman"/>
                <a:sym typeface="Times New Roman"/>
              </a:rPr>
              <a:t>are of specific</a:t>
            </a:r>
            <a:r>
              <a:rPr lang="en-US" sz="2200" dirty="0">
                <a:solidFill>
                  <a:schemeClr val="tx1"/>
                </a:solidFill>
                <a:latin typeface="Times New Roman"/>
                <a:ea typeface="Times New Roman"/>
                <a:cs typeface="Times New Roman"/>
                <a:sym typeface="Times New Roman"/>
              </a:rPr>
              <a:t> COURSEs</a:t>
            </a:r>
            <a:endParaRPr dirty="0">
              <a:solidFill>
                <a:schemeClr val="tx1"/>
              </a:solidFill>
            </a:endParaRPr>
          </a:p>
          <a:p>
            <a:pPr marL="384048" lvl="1" indent="-182880" algn="l" rtl="0">
              <a:lnSpc>
                <a:spcPct val="90000"/>
              </a:lnSpc>
              <a:spcBef>
                <a:spcPts val="600"/>
              </a:spcBef>
              <a:spcAft>
                <a:spcPts val="0"/>
              </a:spcAft>
              <a:buSzPts val="2200"/>
              <a:buChar char="◦"/>
            </a:pPr>
            <a:r>
              <a:rPr lang="en-US" sz="2200" dirty="0">
                <a:solidFill>
                  <a:schemeClr val="tx1"/>
                </a:solidFill>
                <a:latin typeface="Times New Roman"/>
                <a:ea typeface="Times New Roman"/>
                <a:cs typeface="Times New Roman"/>
                <a:sym typeface="Times New Roman"/>
              </a:rPr>
              <a:t>STUDENTs </a:t>
            </a:r>
            <a:r>
              <a:rPr lang="en-US" sz="2200" i="1" dirty="0">
                <a:solidFill>
                  <a:schemeClr val="tx1"/>
                </a:solidFill>
                <a:latin typeface="Times New Roman"/>
                <a:ea typeface="Times New Roman"/>
                <a:cs typeface="Times New Roman"/>
                <a:sym typeface="Times New Roman"/>
              </a:rPr>
              <a:t>take</a:t>
            </a:r>
            <a:r>
              <a:rPr lang="en-US" sz="2200" dirty="0">
                <a:solidFill>
                  <a:schemeClr val="tx1"/>
                </a:solidFill>
                <a:latin typeface="Times New Roman"/>
                <a:ea typeface="Times New Roman"/>
                <a:cs typeface="Times New Roman"/>
                <a:sym typeface="Times New Roman"/>
              </a:rPr>
              <a:t> SECTIONs</a:t>
            </a:r>
            <a:endParaRPr dirty="0">
              <a:solidFill>
                <a:schemeClr val="tx1"/>
              </a:solidFill>
            </a:endParaRPr>
          </a:p>
          <a:p>
            <a:pPr marL="384048" lvl="1" indent="-182880" algn="l" rtl="0">
              <a:lnSpc>
                <a:spcPct val="90000"/>
              </a:lnSpc>
              <a:spcBef>
                <a:spcPts val="600"/>
              </a:spcBef>
              <a:spcAft>
                <a:spcPts val="0"/>
              </a:spcAft>
              <a:buSzPts val="2200"/>
              <a:buChar char="◦"/>
            </a:pPr>
            <a:r>
              <a:rPr lang="en-US" sz="2200" dirty="0">
                <a:solidFill>
                  <a:schemeClr val="tx1"/>
                </a:solidFill>
                <a:latin typeface="Times New Roman"/>
                <a:ea typeface="Times New Roman"/>
                <a:cs typeface="Times New Roman"/>
                <a:sym typeface="Times New Roman"/>
              </a:rPr>
              <a:t>COURSEs </a:t>
            </a:r>
            <a:r>
              <a:rPr lang="en-US" sz="2200" i="1" dirty="0">
                <a:solidFill>
                  <a:schemeClr val="tx1"/>
                </a:solidFill>
                <a:latin typeface="Times New Roman"/>
                <a:ea typeface="Times New Roman"/>
                <a:cs typeface="Times New Roman"/>
                <a:sym typeface="Times New Roman"/>
              </a:rPr>
              <a:t>have  prerequisite</a:t>
            </a:r>
            <a:r>
              <a:rPr lang="en-US" sz="2200" dirty="0">
                <a:solidFill>
                  <a:schemeClr val="tx1"/>
                </a:solidFill>
                <a:latin typeface="Times New Roman"/>
                <a:ea typeface="Times New Roman"/>
                <a:cs typeface="Times New Roman"/>
                <a:sym typeface="Times New Roman"/>
              </a:rPr>
              <a:t> COURSEs</a:t>
            </a:r>
            <a:endParaRPr dirty="0">
              <a:solidFill>
                <a:schemeClr val="tx1"/>
              </a:solidFill>
            </a:endParaRPr>
          </a:p>
          <a:p>
            <a:pPr marL="384048" lvl="1" indent="-182880" algn="l" rtl="0">
              <a:lnSpc>
                <a:spcPct val="90000"/>
              </a:lnSpc>
              <a:spcBef>
                <a:spcPts val="600"/>
              </a:spcBef>
              <a:spcAft>
                <a:spcPts val="0"/>
              </a:spcAft>
              <a:buSzPts val="2200"/>
              <a:buChar char="◦"/>
            </a:pPr>
            <a:r>
              <a:rPr lang="en-US" sz="2200" dirty="0">
                <a:solidFill>
                  <a:schemeClr val="tx1"/>
                </a:solidFill>
                <a:latin typeface="Times New Roman"/>
                <a:ea typeface="Times New Roman"/>
                <a:cs typeface="Times New Roman"/>
                <a:sym typeface="Times New Roman"/>
              </a:rPr>
              <a:t>INSTRUCTORs </a:t>
            </a:r>
            <a:r>
              <a:rPr lang="en-US" sz="2200" i="1" dirty="0">
                <a:solidFill>
                  <a:schemeClr val="tx1"/>
                </a:solidFill>
                <a:latin typeface="Times New Roman"/>
                <a:ea typeface="Times New Roman"/>
                <a:cs typeface="Times New Roman"/>
                <a:sym typeface="Times New Roman"/>
              </a:rPr>
              <a:t>teach</a:t>
            </a:r>
            <a:r>
              <a:rPr lang="en-US" sz="2200" dirty="0">
                <a:solidFill>
                  <a:schemeClr val="tx1"/>
                </a:solidFill>
                <a:latin typeface="Times New Roman"/>
                <a:ea typeface="Times New Roman"/>
                <a:cs typeface="Times New Roman"/>
                <a:sym typeface="Times New Roman"/>
              </a:rPr>
              <a:t>  SECTIONs</a:t>
            </a:r>
            <a:endParaRPr dirty="0">
              <a:solidFill>
                <a:schemeClr val="tx1"/>
              </a:solidFill>
            </a:endParaRPr>
          </a:p>
          <a:p>
            <a:pPr marL="384048" lvl="1" indent="-182880" algn="l" rtl="0">
              <a:lnSpc>
                <a:spcPct val="90000"/>
              </a:lnSpc>
              <a:spcBef>
                <a:spcPts val="600"/>
              </a:spcBef>
              <a:spcAft>
                <a:spcPts val="0"/>
              </a:spcAft>
              <a:buSzPts val="2200"/>
              <a:buChar char="◦"/>
            </a:pPr>
            <a:r>
              <a:rPr lang="en-US" sz="2200" dirty="0">
                <a:solidFill>
                  <a:schemeClr val="tx1"/>
                </a:solidFill>
                <a:latin typeface="Times New Roman"/>
                <a:ea typeface="Times New Roman"/>
                <a:cs typeface="Times New Roman"/>
                <a:sym typeface="Times New Roman"/>
              </a:rPr>
              <a:t>COURSEs </a:t>
            </a:r>
            <a:r>
              <a:rPr lang="en-US" sz="2200" i="1" dirty="0">
                <a:solidFill>
                  <a:schemeClr val="tx1"/>
                </a:solidFill>
                <a:latin typeface="Times New Roman"/>
                <a:ea typeface="Times New Roman"/>
                <a:cs typeface="Times New Roman"/>
                <a:sym typeface="Times New Roman"/>
              </a:rPr>
              <a:t>are offered by</a:t>
            </a:r>
            <a:r>
              <a:rPr lang="en-US" sz="2200" dirty="0">
                <a:solidFill>
                  <a:schemeClr val="tx1"/>
                </a:solidFill>
                <a:latin typeface="Times New Roman"/>
                <a:ea typeface="Times New Roman"/>
                <a:cs typeface="Times New Roman"/>
                <a:sym typeface="Times New Roman"/>
              </a:rPr>
              <a:t>  DEPARTMENTs</a:t>
            </a:r>
            <a:endParaRPr dirty="0">
              <a:solidFill>
                <a:schemeClr val="tx1"/>
              </a:solidFill>
            </a:endParaRPr>
          </a:p>
          <a:p>
            <a:pPr marL="384048" lvl="1" indent="-182880" algn="l" rtl="0">
              <a:lnSpc>
                <a:spcPct val="90000"/>
              </a:lnSpc>
              <a:spcBef>
                <a:spcPts val="600"/>
              </a:spcBef>
              <a:spcAft>
                <a:spcPts val="0"/>
              </a:spcAft>
              <a:buSzPts val="2200"/>
              <a:buChar char="◦"/>
            </a:pPr>
            <a:r>
              <a:rPr lang="en-US" sz="2200" dirty="0">
                <a:solidFill>
                  <a:schemeClr val="tx1"/>
                </a:solidFill>
                <a:latin typeface="Times New Roman"/>
                <a:ea typeface="Times New Roman"/>
                <a:cs typeface="Times New Roman"/>
                <a:sym typeface="Times New Roman"/>
              </a:rPr>
              <a:t>STUDENTs </a:t>
            </a:r>
            <a:r>
              <a:rPr lang="en-US" sz="2200" i="1" dirty="0">
                <a:solidFill>
                  <a:schemeClr val="tx1"/>
                </a:solidFill>
                <a:latin typeface="Times New Roman"/>
                <a:ea typeface="Times New Roman"/>
                <a:cs typeface="Times New Roman"/>
                <a:sym typeface="Times New Roman"/>
              </a:rPr>
              <a:t>major in</a:t>
            </a:r>
            <a:r>
              <a:rPr lang="en-US" sz="2200" dirty="0">
                <a:solidFill>
                  <a:schemeClr val="tx1"/>
                </a:solidFill>
                <a:latin typeface="Times New Roman"/>
                <a:ea typeface="Times New Roman"/>
                <a:cs typeface="Times New Roman"/>
                <a:sym typeface="Times New Roman"/>
              </a:rPr>
              <a:t>  DEPARTMENTs</a:t>
            </a:r>
            <a:endParaRPr dirty="0">
              <a:solidFill>
                <a:schemeClr val="tx1"/>
              </a:solidFill>
            </a:endParaRPr>
          </a:p>
          <a:p>
            <a:pPr marL="91440" lvl="0" indent="0" algn="l" rtl="0">
              <a:lnSpc>
                <a:spcPct val="90000"/>
              </a:lnSpc>
              <a:spcBef>
                <a:spcPts val="1600"/>
              </a:spcBef>
              <a:spcAft>
                <a:spcPts val="0"/>
              </a:spcAft>
              <a:buSzPts val="2400"/>
              <a:buNone/>
            </a:pPr>
            <a:endParaRPr sz="2400" dirty="0">
              <a:latin typeface="Times New Roman"/>
              <a:ea typeface="Times New Roman"/>
              <a:cs typeface="Times New Roman"/>
              <a:sym typeface="Times New Roman"/>
            </a:endParaRPr>
          </a:p>
          <a:p>
            <a:pPr marL="91440" lvl="0" indent="-152400" algn="l" rtl="0">
              <a:lnSpc>
                <a:spcPct val="90000"/>
              </a:lnSpc>
              <a:spcBef>
                <a:spcPts val="1400"/>
              </a:spcBef>
              <a:spcAft>
                <a:spcPts val="0"/>
              </a:spcAft>
              <a:buSzPts val="2400"/>
              <a:buChar char=" "/>
            </a:pPr>
            <a:r>
              <a:rPr lang="en-US" sz="2400" dirty="0">
                <a:solidFill>
                  <a:srgbClr val="FF0000"/>
                </a:solidFill>
                <a:latin typeface="Times New Roman"/>
                <a:ea typeface="Times New Roman"/>
                <a:cs typeface="Times New Roman"/>
                <a:sym typeface="Times New Roman"/>
              </a:rPr>
              <a:t>Note: The above entities and relationships are typically expressed in a conceptual data model, such as the ENTITY-RELATIONSHIP data mode</a:t>
            </a:r>
            <a:endParaRPr dirty="0"/>
          </a:p>
        </p:txBody>
      </p:sp>
      <p:sp>
        <p:nvSpPr>
          <p:cNvPr id="273" name="Google Shape;273;p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10"/>
          <p:cNvSpPr txBox="1">
            <a:spLocks noGrp="1"/>
          </p:cNvSpPr>
          <p:nvPr>
            <p:ph type="title"/>
          </p:nvPr>
        </p:nvSpPr>
        <p:spPr>
          <a:xfrm>
            <a:off x="637769" y="0"/>
            <a:ext cx="10772775" cy="490452"/>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5000"/>
              </a:lnSpc>
              <a:spcBef>
                <a:spcPts val="0"/>
              </a:spcBef>
              <a:spcAft>
                <a:spcPts val="0"/>
              </a:spcAft>
              <a:buClr>
                <a:srgbClr val="FF0000"/>
              </a:buClr>
              <a:buSzPct val="100000"/>
              <a:buFont typeface="Times New Roman"/>
              <a:buNone/>
            </a:pPr>
            <a:r>
              <a:rPr lang="en-US">
                <a:solidFill>
                  <a:srgbClr val="FF0000"/>
                </a:solidFill>
                <a:latin typeface="Times New Roman"/>
                <a:ea typeface="Times New Roman"/>
                <a:cs typeface="Times New Roman"/>
                <a:sym typeface="Times New Roman"/>
              </a:rPr>
              <a:t>Example of a simple database</a:t>
            </a:r>
            <a:endParaRPr/>
          </a:p>
        </p:txBody>
      </p:sp>
      <p:sp>
        <p:nvSpPr>
          <p:cNvPr id="279" name="Google Shape;279;p1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endParaRPr>
              <a:solidFill>
                <a:srgbClr val="FF0000"/>
              </a:solidFill>
            </a:endParaRPr>
          </a:p>
          <a:p>
            <a:pPr marL="0" lvl="0" indent="0" algn="r" rtl="0">
              <a:spcBef>
                <a:spcPts val="0"/>
              </a:spcBef>
              <a:spcAft>
                <a:spcPts val="0"/>
              </a:spcAft>
              <a:buNone/>
            </a:pPr>
            <a:r>
              <a:rPr lang="en-US">
                <a:solidFill>
                  <a:srgbClr val="FF0000"/>
                </a:solidFill>
              </a:rPr>
              <a:t>  </a:t>
            </a:r>
            <a:fld id="{00000000-1234-1234-1234-123412341234}" type="slidenum">
              <a:rPr lang="en-US">
                <a:solidFill>
                  <a:srgbClr val="FF0000"/>
                </a:solidFill>
              </a:rPr>
              <a:t>10</a:t>
            </a:fld>
            <a:endParaRPr>
              <a:solidFill>
                <a:srgbClr val="FF0000"/>
              </a:solidFill>
            </a:endParaRPr>
          </a:p>
        </p:txBody>
      </p:sp>
      <p:pic>
        <p:nvPicPr>
          <p:cNvPr id="280" name="Google Shape;280;p10"/>
          <p:cNvPicPr preferRelativeResize="0"/>
          <p:nvPr/>
        </p:nvPicPr>
        <p:blipFill rotWithShape="1">
          <a:blip r:embed="rId3">
            <a:alphaModFix/>
          </a:blip>
          <a:srcRect/>
          <a:stretch/>
        </p:blipFill>
        <p:spPr>
          <a:xfrm>
            <a:off x="3413125" y="1430585"/>
            <a:ext cx="4370388" cy="5029200"/>
          </a:xfrm>
          <a:prstGeom prst="rect">
            <a:avLst/>
          </a:prstGeom>
          <a:noFill/>
          <a:ln>
            <a:noFill/>
          </a:ln>
        </p:spPr>
      </p:pic>
      <p:graphicFrame>
        <p:nvGraphicFramePr>
          <p:cNvPr id="281" name="Google Shape;281;p10"/>
          <p:cNvGraphicFramePr/>
          <p:nvPr/>
        </p:nvGraphicFramePr>
        <p:xfrm>
          <a:off x="7238482" y="4423919"/>
          <a:ext cx="4876800" cy="1483400"/>
        </p:xfrm>
        <a:graphic>
          <a:graphicData uri="http://schemas.openxmlformats.org/drawingml/2006/table">
            <a:tbl>
              <a:tblPr firstRow="1" bandRow="1">
                <a:noFill/>
                <a:tableStyleId>{13E7E886-25C2-4795-8E32-F7560DA791E3}</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US" sz="1800" u="none" strike="noStrike" cap="none"/>
                        <a:t>EID(KEY)</a:t>
                      </a:r>
                      <a:endParaRPr/>
                    </a:p>
                  </a:txBody>
                  <a:tcPr marL="91450" marR="91450" marT="45725" marB="45725"/>
                </a:tc>
                <a:tc>
                  <a:txBody>
                    <a:bodyPr/>
                    <a:lstStyle/>
                    <a:p>
                      <a:pPr marL="0" marR="0" lvl="0" indent="0" algn="l" rtl="0">
                        <a:spcBef>
                          <a:spcPts val="0"/>
                        </a:spcBef>
                        <a:spcAft>
                          <a:spcPts val="0"/>
                        </a:spcAft>
                        <a:buNone/>
                      </a:pPr>
                      <a:r>
                        <a:rPr lang="en-US" sz="1800"/>
                        <a:t>Name</a:t>
                      </a:r>
                      <a:endParaRPr/>
                    </a:p>
                  </a:txBody>
                  <a:tcPr marL="91450" marR="91450" marT="45725" marB="45725"/>
                </a:tc>
                <a:tc>
                  <a:txBody>
                    <a:bodyPr/>
                    <a:lstStyle/>
                    <a:p>
                      <a:pPr marL="0" marR="0" lvl="0" indent="0" algn="l" rtl="0">
                        <a:spcBef>
                          <a:spcPts val="0"/>
                        </a:spcBef>
                        <a:spcAft>
                          <a:spcPts val="0"/>
                        </a:spcAft>
                        <a:buNone/>
                      </a:pPr>
                      <a:r>
                        <a:rPr lang="en-US" sz="1800"/>
                        <a:t>Phone</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2a</a:t>
                      </a:r>
                      <a:endParaRPr/>
                    </a:p>
                  </a:txBody>
                  <a:tcPr marL="91450" marR="91450" marT="45725" marB="45725"/>
                </a:tc>
                <a:tc>
                  <a:txBody>
                    <a:bodyPr/>
                    <a:lstStyle/>
                    <a:p>
                      <a:pPr marL="0" marR="0" lvl="0" indent="0" algn="l" rtl="0">
                        <a:spcBef>
                          <a:spcPts val="0"/>
                        </a:spcBef>
                        <a:spcAft>
                          <a:spcPts val="0"/>
                        </a:spcAft>
                        <a:buNone/>
                      </a:pPr>
                      <a:r>
                        <a:rPr lang="en-US" sz="1800"/>
                        <a:t>abc</a:t>
                      </a:r>
                      <a:endParaRPr sz="1800"/>
                    </a:p>
                  </a:txBody>
                  <a:tcPr marL="91450" marR="91450" marT="45725" marB="45725"/>
                </a:tc>
                <a:tc>
                  <a:txBody>
                    <a:bodyPr/>
                    <a:lstStyle/>
                    <a:p>
                      <a:pPr marL="0" marR="0" lvl="0" indent="0" algn="l" rtl="0">
                        <a:spcBef>
                          <a:spcPts val="0"/>
                        </a:spcBef>
                        <a:spcAft>
                          <a:spcPts val="0"/>
                        </a:spcAft>
                        <a:buNone/>
                      </a:pPr>
                      <a:r>
                        <a:rPr lang="en-US" sz="1800"/>
                        <a:t>3575</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2b</a:t>
                      </a:r>
                      <a:endParaRPr/>
                    </a:p>
                  </a:txBody>
                  <a:tcPr marL="91450" marR="91450" marT="45725" marB="45725"/>
                </a:tc>
                <a:tc>
                  <a:txBody>
                    <a:bodyPr/>
                    <a:lstStyle/>
                    <a:p>
                      <a:pPr marL="0" marR="0" lvl="0" indent="0" algn="l" rtl="0">
                        <a:spcBef>
                          <a:spcPts val="0"/>
                        </a:spcBef>
                        <a:spcAft>
                          <a:spcPts val="0"/>
                        </a:spcAft>
                        <a:buNone/>
                      </a:pPr>
                      <a:r>
                        <a:rPr lang="en-US" sz="1800"/>
                        <a:t>abc</a:t>
                      </a:r>
                      <a:endParaRPr sz="1800"/>
                    </a:p>
                  </a:txBody>
                  <a:tcPr marL="91450" marR="91450" marT="45725" marB="45725"/>
                </a:tc>
                <a:tc>
                  <a:txBody>
                    <a:bodyPr/>
                    <a:lstStyle/>
                    <a:p>
                      <a:pPr marL="0" marR="0" lvl="0" indent="0" algn="l" rtl="0">
                        <a:spcBef>
                          <a:spcPts val="0"/>
                        </a:spcBef>
                        <a:spcAft>
                          <a:spcPts val="0"/>
                        </a:spcAft>
                        <a:buNone/>
                      </a:pPr>
                      <a:r>
                        <a:rPr lang="en-US" sz="1800"/>
                        <a:t>3575</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2c</a:t>
                      </a:r>
                      <a:endParaRPr/>
                    </a:p>
                  </a:txBody>
                  <a:tcPr marL="91450" marR="91450" marT="45725" marB="45725"/>
                </a:tc>
                <a:tc>
                  <a:txBody>
                    <a:bodyPr/>
                    <a:lstStyle/>
                    <a:p>
                      <a:pPr marL="0" marR="0" lvl="0" indent="0" algn="l" rtl="0">
                        <a:spcBef>
                          <a:spcPts val="0"/>
                        </a:spcBef>
                        <a:spcAft>
                          <a:spcPts val="0"/>
                        </a:spcAft>
                        <a:buNone/>
                      </a:pPr>
                      <a:r>
                        <a:rPr lang="en-US" sz="1800"/>
                        <a:t>def</a:t>
                      </a:r>
                      <a:endParaRPr/>
                    </a:p>
                  </a:txBody>
                  <a:tcPr marL="91450" marR="91450" marT="45725" marB="45725"/>
                </a:tc>
                <a:tc>
                  <a:txBody>
                    <a:bodyPr/>
                    <a:lstStyle/>
                    <a:p>
                      <a:pPr marL="0" marR="0" lvl="0" indent="0" algn="l" rtl="0">
                        <a:spcBef>
                          <a:spcPts val="0"/>
                        </a:spcBef>
                        <a:spcAft>
                          <a:spcPts val="0"/>
                        </a:spcAft>
                        <a:buNone/>
                      </a:pPr>
                      <a:r>
                        <a:rPr lang="en-US" sz="1800"/>
                        <a:t>4567</a:t>
                      </a:r>
                      <a:endParaRPr/>
                    </a:p>
                  </a:txBody>
                  <a:tcPr marL="91450" marR="91450" marT="45725" marB="45725"/>
                </a:tc>
                <a:extLst>
                  <a:ext uri="{0D108BD9-81ED-4DB2-BD59-A6C34878D82A}">
                    <a16:rowId xmlns:a16="http://schemas.microsoft.com/office/drawing/2014/main" val="10003"/>
                  </a:ext>
                </a:extLst>
              </a:tr>
            </a:tbl>
          </a:graphicData>
        </a:graphic>
      </p:graphicFrame>
      <p:sp>
        <p:nvSpPr>
          <p:cNvPr id="282" name="Google Shape;282;p10"/>
          <p:cNvSpPr txBox="1"/>
          <p:nvPr/>
        </p:nvSpPr>
        <p:spPr>
          <a:xfrm>
            <a:off x="8472196" y="3949400"/>
            <a:ext cx="262190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Staff   Entity Type</a:t>
            </a:r>
            <a:endParaRPr/>
          </a:p>
        </p:txBody>
      </p:sp>
      <p:graphicFrame>
        <p:nvGraphicFramePr>
          <p:cNvPr id="283" name="Google Shape;283;p10"/>
          <p:cNvGraphicFramePr/>
          <p:nvPr/>
        </p:nvGraphicFramePr>
        <p:xfrm>
          <a:off x="7921690" y="1478246"/>
          <a:ext cx="4193625" cy="1483400"/>
        </p:xfrm>
        <a:graphic>
          <a:graphicData uri="http://schemas.openxmlformats.org/drawingml/2006/table">
            <a:tbl>
              <a:tblPr firstRow="1" bandRow="1">
                <a:noFill/>
                <a:tableStyleId>{13E7E886-25C2-4795-8E32-F7560DA791E3}</a:tableStyleId>
              </a:tblPr>
              <a:tblGrid>
                <a:gridCol w="1397875">
                  <a:extLst>
                    <a:ext uri="{9D8B030D-6E8A-4147-A177-3AD203B41FA5}">
                      <a16:colId xmlns:a16="http://schemas.microsoft.com/office/drawing/2014/main" val="20000"/>
                    </a:ext>
                  </a:extLst>
                </a:gridCol>
                <a:gridCol w="1397875">
                  <a:extLst>
                    <a:ext uri="{9D8B030D-6E8A-4147-A177-3AD203B41FA5}">
                      <a16:colId xmlns:a16="http://schemas.microsoft.com/office/drawing/2014/main" val="20001"/>
                    </a:ext>
                  </a:extLst>
                </a:gridCol>
                <a:gridCol w="1397875">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US" sz="1800"/>
                        <a:t>USN(KEY)</a:t>
                      </a:r>
                      <a:endParaRPr/>
                    </a:p>
                  </a:txBody>
                  <a:tcPr marL="91450" marR="91450" marT="45725" marB="45725"/>
                </a:tc>
                <a:tc>
                  <a:txBody>
                    <a:bodyPr/>
                    <a:lstStyle/>
                    <a:p>
                      <a:pPr marL="0" marR="0" lvl="0" indent="0" algn="l" rtl="0">
                        <a:spcBef>
                          <a:spcPts val="0"/>
                        </a:spcBef>
                        <a:spcAft>
                          <a:spcPts val="0"/>
                        </a:spcAft>
                        <a:buNone/>
                      </a:pPr>
                      <a:r>
                        <a:rPr lang="en-US" sz="1800"/>
                        <a:t>Name</a:t>
                      </a:r>
                      <a:endParaRPr/>
                    </a:p>
                  </a:txBody>
                  <a:tcPr marL="91450" marR="91450" marT="45725" marB="45725"/>
                </a:tc>
                <a:tc>
                  <a:txBody>
                    <a:bodyPr/>
                    <a:lstStyle/>
                    <a:p>
                      <a:pPr marL="0" marR="0" lvl="0" indent="0" algn="l" rtl="0">
                        <a:spcBef>
                          <a:spcPts val="0"/>
                        </a:spcBef>
                        <a:spcAft>
                          <a:spcPts val="0"/>
                        </a:spcAft>
                        <a:buNone/>
                      </a:pPr>
                      <a:r>
                        <a:rPr lang="en-US" sz="1800"/>
                        <a:t>Phone</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1a</a:t>
                      </a:r>
                      <a:endParaRPr/>
                    </a:p>
                  </a:txBody>
                  <a:tcPr marL="91450" marR="91450" marT="45725" marB="45725"/>
                </a:tc>
                <a:tc>
                  <a:txBody>
                    <a:bodyPr/>
                    <a:lstStyle/>
                    <a:p>
                      <a:pPr marL="0" marR="0" lvl="0" indent="0" algn="l" rtl="0">
                        <a:spcBef>
                          <a:spcPts val="0"/>
                        </a:spcBef>
                        <a:spcAft>
                          <a:spcPts val="0"/>
                        </a:spcAft>
                        <a:buNone/>
                      </a:pPr>
                      <a:r>
                        <a:rPr lang="en-US" sz="1800"/>
                        <a:t>defg</a:t>
                      </a:r>
                      <a:endParaRPr sz="1800"/>
                    </a:p>
                  </a:txBody>
                  <a:tcPr marL="91450" marR="91450" marT="45725" marB="45725"/>
                </a:tc>
                <a:tc>
                  <a:txBody>
                    <a:bodyPr/>
                    <a:lstStyle/>
                    <a:p>
                      <a:pPr marL="0" marR="0" lvl="0" indent="0" algn="l" rtl="0">
                        <a:spcBef>
                          <a:spcPts val="0"/>
                        </a:spcBef>
                        <a:spcAft>
                          <a:spcPts val="0"/>
                        </a:spcAft>
                        <a:buNone/>
                      </a:pPr>
                      <a:r>
                        <a:rPr lang="en-US" sz="1800"/>
                        <a:t>34567</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1b</a:t>
                      </a:r>
                      <a:endParaRPr/>
                    </a:p>
                  </a:txBody>
                  <a:tcPr marL="91450" marR="91450" marT="45725" marB="45725"/>
                </a:tc>
                <a:tc>
                  <a:txBody>
                    <a:bodyPr/>
                    <a:lstStyle/>
                    <a:p>
                      <a:pPr marL="0" marR="0" lvl="0" indent="0" algn="l" rtl="0">
                        <a:spcBef>
                          <a:spcPts val="0"/>
                        </a:spcBef>
                        <a:spcAft>
                          <a:spcPts val="0"/>
                        </a:spcAft>
                        <a:buNone/>
                      </a:pPr>
                      <a:r>
                        <a:rPr lang="en-US" sz="1800"/>
                        <a:t>abc</a:t>
                      </a:r>
                      <a:endParaRPr sz="1800"/>
                    </a:p>
                  </a:txBody>
                  <a:tcPr marL="91450" marR="91450" marT="45725" marB="45725"/>
                </a:tc>
                <a:tc>
                  <a:txBody>
                    <a:bodyPr/>
                    <a:lstStyle/>
                    <a:p>
                      <a:pPr marL="0" marR="0" lvl="0" indent="0" algn="l" rtl="0">
                        <a:spcBef>
                          <a:spcPts val="0"/>
                        </a:spcBef>
                        <a:spcAft>
                          <a:spcPts val="0"/>
                        </a:spcAft>
                        <a:buNone/>
                      </a:pPr>
                      <a:r>
                        <a:rPr lang="en-US" sz="1800"/>
                        <a:t>34434</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1c</a:t>
                      </a:r>
                      <a:endParaRPr/>
                    </a:p>
                  </a:txBody>
                  <a:tcPr marL="91450" marR="91450" marT="45725" marB="45725"/>
                </a:tc>
                <a:tc>
                  <a:txBody>
                    <a:bodyPr/>
                    <a:lstStyle/>
                    <a:p>
                      <a:pPr marL="0" marR="0" lvl="0" indent="0" algn="l" rtl="0">
                        <a:spcBef>
                          <a:spcPts val="0"/>
                        </a:spcBef>
                        <a:spcAft>
                          <a:spcPts val="0"/>
                        </a:spcAft>
                        <a:buNone/>
                      </a:pPr>
                      <a:r>
                        <a:rPr lang="en-US" sz="1800"/>
                        <a:t>efg</a:t>
                      </a:r>
                      <a:endParaRPr sz="1800"/>
                    </a:p>
                  </a:txBody>
                  <a:tcPr marL="91450" marR="91450" marT="45725" marB="45725"/>
                </a:tc>
                <a:tc>
                  <a:txBody>
                    <a:bodyPr/>
                    <a:lstStyle/>
                    <a:p>
                      <a:pPr marL="0" marR="0" lvl="0" indent="0" algn="l" rtl="0">
                        <a:spcBef>
                          <a:spcPts val="0"/>
                        </a:spcBef>
                        <a:spcAft>
                          <a:spcPts val="0"/>
                        </a:spcAft>
                        <a:buNone/>
                      </a:pPr>
                      <a:r>
                        <a:rPr lang="en-US" sz="1800"/>
                        <a:t>53475</a:t>
                      </a:r>
                      <a:endParaRPr/>
                    </a:p>
                  </a:txBody>
                  <a:tcPr marL="91450" marR="91450" marT="45725" marB="45725"/>
                </a:tc>
                <a:extLst>
                  <a:ext uri="{0D108BD9-81ED-4DB2-BD59-A6C34878D82A}">
                    <a16:rowId xmlns:a16="http://schemas.microsoft.com/office/drawing/2014/main" val="10003"/>
                  </a:ext>
                </a:extLst>
              </a:tr>
            </a:tbl>
          </a:graphicData>
        </a:graphic>
      </p:graphicFrame>
      <p:sp>
        <p:nvSpPr>
          <p:cNvPr id="284" name="Google Shape;284;p10"/>
          <p:cNvSpPr txBox="1"/>
          <p:nvPr/>
        </p:nvSpPr>
        <p:spPr>
          <a:xfrm>
            <a:off x="8788642" y="1003727"/>
            <a:ext cx="262190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Student   Entity Type</a:t>
            </a:r>
            <a:endParaRPr dirty="0"/>
          </a:p>
        </p:txBody>
      </p:sp>
      <p:sp>
        <p:nvSpPr>
          <p:cNvPr id="285" name="Google Shape;285;p10"/>
          <p:cNvSpPr txBox="1"/>
          <p:nvPr/>
        </p:nvSpPr>
        <p:spPr>
          <a:xfrm>
            <a:off x="9125339" y="373224"/>
            <a:ext cx="209005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College Database</a:t>
            </a:r>
            <a:endParaRPr/>
          </a:p>
        </p:txBody>
      </p:sp>
      <p:graphicFrame>
        <p:nvGraphicFramePr>
          <p:cNvPr id="286" name="Google Shape;286;p10"/>
          <p:cNvGraphicFramePr/>
          <p:nvPr/>
        </p:nvGraphicFramePr>
        <p:xfrm>
          <a:off x="167951" y="1393378"/>
          <a:ext cx="3759950" cy="1005860"/>
        </p:xfrm>
        <a:graphic>
          <a:graphicData uri="http://schemas.openxmlformats.org/drawingml/2006/table">
            <a:tbl>
              <a:tblPr firstRow="1" bandRow="1">
                <a:noFill/>
                <a:tableStyleId>{13E7E886-25C2-4795-8E32-F7560DA791E3}</a:tableStyleId>
              </a:tblPr>
              <a:tblGrid>
                <a:gridCol w="1400125">
                  <a:extLst>
                    <a:ext uri="{9D8B030D-6E8A-4147-A177-3AD203B41FA5}">
                      <a16:colId xmlns:a16="http://schemas.microsoft.com/office/drawing/2014/main" val="20000"/>
                    </a:ext>
                  </a:extLst>
                </a:gridCol>
                <a:gridCol w="1106500">
                  <a:extLst>
                    <a:ext uri="{9D8B030D-6E8A-4147-A177-3AD203B41FA5}">
                      <a16:colId xmlns:a16="http://schemas.microsoft.com/office/drawing/2014/main" val="20001"/>
                    </a:ext>
                  </a:extLst>
                </a:gridCol>
                <a:gridCol w="1253325">
                  <a:extLst>
                    <a:ext uri="{9D8B030D-6E8A-4147-A177-3AD203B41FA5}">
                      <a16:colId xmlns:a16="http://schemas.microsoft.com/office/drawing/2014/main" val="20002"/>
                    </a:ext>
                  </a:extLst>
                </a:gridCol>
              </a:tblGrid>
              <a:tr h="299550">
                <a:tc>
                  <a:txBody>
                    <a:bodyPr/>
                    <a:lstStyle/>
                    <a:p>
                      <a:pPr marL="0" marR="0" lvl="0" indent="0" algn="l" rtl="0">
                        <a:spcBef>
                          <a:spcPts val="0"/>
                        </a:spcBef>
                        <a:spcAft>
                          <a:spcPts val="0"/>
                        </a:spcAft>
                        <a:buNone/>
                      </a:pPr>
                      <a:r>
                        <a:rPr lang="en-US" sz="1800"/>
                        <a:t>USN(KEY)</a:t>
                      </a:r>
                      <a:endParaRPr/>
                    </a:p>
                  </a:txBody>
                  <a:tcPr marL="91450" marR="91450" marT="45725" marB="45725"/>
                </a:tc>
                <a:tc>
                  <a:txBody>
                    <a:bodyPr/>
                    <a:lstStyle/>
                    <a:p>
                      <a:pPr marL="0" marR="0" lvl="0" indent="0" algn="l" rtl="0">
                        <a:spcBef>
                          <a:spcPts val="0"/>
                        </a:spcBef>
                        <a:spcAft>
                          <a:spcPts val="0"/>
                        </a:spcAft>
                        <a:buNone/>
                      </a:pPr>
                      <a:r>
                        <a:rPr lang="en-US" sz="1800"/>
                        <a:t>Name</a:t>
                      </a:r>
                      <a:endParaRPr/>
                    </a:p>
                  </a:txBody>
                  <a:tcPr marL="91450" marR="91450" marT="45725" marB="45725"/>
                </a:tc>
                <a:tc>
                  <a:txBody>
                    <a:bodyPr/>
                    <a:lstStyle/>
                    <a:p>
                      <a:pPr marL="0" marR="0" lvl="0" indent="0" algn="l" rtl="0">
                        <a:spcBef>
                          <a:spcPts val="0"/>
                        </a:spcBef>
                        <a:spcAft>
                          <a:spcPts val="0"/>
                        </a:spcAft>
                        <a:buNone/>
                      </a:pPr>
                      <a:r>
                        <a:rPr lang="en-US" sz="1800"/>
                        <a:t>Phone</a:t>
                      </a:r>
                      <a:endParaRPr/>
                    </a:p>
                  </a:txBody>
                  <a:tcPr marL="91450" marR="91450" marT="45725" marB="45725"/>
                </a:tc>
                <a:extLst>
                  <a:ext uri="{0D108BD9-81ED-4DB2-BD59-A6C34878D82A}">
                    <a16:rowId xmlns:a16="http://schemas.microsoft.com/office/drawing/2014/main" val="10000"/>
                  </a:ext>
                </a:extLst>
              </a:tr>
              <a:tr h="299550">
                <a:tc>
                  <a:txBody>
                    <a:bodyPr/>
                    <a:lstStyle/>
                    <a:p>
                      <a:pPr marL="0" marR="0" lvl="0" indent="0" algn="l" rtl="0">
                        <a:spcBef>
                          <a:spcPts val="0"/>
                        </a:spcBef>
                        <a:spcAft>
                          <a:spcPts val="0"/>
                        </a:spcAft>
                        <a:buNone/>
                      </a:pPr>
                      <a:r>
                        <a:rPr lang="en-US" sz="1800"/>
                        <a:t>Character(10)</a:t>
                      </a:r>
                      <a:endParaRPr/>
                    </a:p>
                  </a:txBody>
                  <a:tcPr marL="91450" marR="91450" marT="45725" marB="45725"/>
                </a:tc>
                <a:tc>
                  <a:txBody>
                    <a:bodyPr/>
                    <a:lstStyle/>
                    <a:p>
                      <a:pPr marL="0" marR="0" lvl="0" indent="0" algn="l" rtl="0">
                        <a:spcBef>
                          <a:spcPts val="0"/>
                        </a:spcBef>
                        <a:spcAft>
                          <a:spcPts val="0"/>
                        </a:spcAft>
                        <a:buNone/>
                      </a:pPr>
                      <a:r>
                        <a:rPr lang="en-US" sz="1800" dirty="0"/>
                        <a:t>Character(30)</a:t>
                      </a:r>
                      <a:endParaRPr dirty="0"/>
                    </a:p>
                  </a:txBody>
                  <a:tcPr marL="91450" marR="91450" marT="45725" marB="45725"/>
                </a:tc>
                <a:tc>
                  <a:txBody>
                    <a:bodyPr/>
                    <a:lstStyle/>
                    <a:p>
                      <a:pPr marL="0" marR="0" lvl="0" indent="0" algn="l" rtl="0">
                        <a:spcBef>
                          <a:spcPts val="0"/>
                        </a:spcBef>
                        <a:spcAft>
                          <a:spcPts val="0"/>
                        </a:spcAft>
                        <a:buNone/>
                      </a:pPr>
                      <a:r>
                        <a:rPr lang="en-US" sz="1800" dirty="0"/>
                        <a:t>integer</a:t>
                      </a:r>
                      <a:endParaRPr dirty="0"/>
                    </a:p>
                  </a:txBody>
                  <a:tcPr marL="91450" marR="91450" marT="45725" marB="45725"/>
                </a:tc>
                <a:extLst>
                  <a:ext uri="{0D108BD9-81ED-4DB2-BD59-A6C34878D82A}">
                    <a16:rowId xmlns:a16="http://schemas.microsoft.com/office/drawing/2014/main" val="10001"/>
                  </a:ext>
                </a:extLst>
              </a:tr>
            </a:tbl>
          </a:graphicData>
        </a:graphic>
      </p:graphicFrame>
      <p:sp>
        <p:nvSpPr>
          <p:cNvPr id="287" name="Google Shape;287;p10"/>
          <p:cNvSpPr txBox="1"/>
          <p:nvPr/>
        </p:nvSpPr>
        <p:spPr>
          <a:xfrm>
            <a:off x="791223" y="2671726"/>
            <a:ext cx="262190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Student   Entity Type</a:t>
            </a:r>
            <a:endParaRPr/>
          </a:p>
        </p:txBody>
      </p:sp>
      <p:graphicFrame>
        <p:nvGraphicFramePr>
          <p:cNvPr id="288" name="Google Shape;288;p10"/>
          <p:cNvGraphicFramePr/>
          <p:nvPr/>
        </p:nvGraphicFramePr>
        <p:xfrm>
          <a:off x="287611" y="3535680"/>
          <a:ext cx="3759950" cy="1005860"/>
        </p:xfrm>
        <a:graphic>
          <a:graphicData uri="http://schemas.openxmlformats.org/drawingml/2006/table">
            <a:tbl>
              <a:tblPr firstRow="1" bandRow="1">
                <a:noFill/>
                <a:tableStyleId>{13E7E886-25C2-4795-8E32-F7560DA791E3}</a:tableStyleId>
              </a:tblPr>
              <a:tblGrid>
                <a:gridCol w="1400125">
                  <a:extLst>
                    <a:ext uri="{9D8B030D-6E8A-4147-A177-3AD203B41FA5}">
                      <a16:colId xmlns:a16="http://schemas.microsoft.com/office/drawing/2014/main" val="20000"/>
                    </a:ext>
                  </a:extLst>
                </a:gridCol>
                <a:gridCol w="1106500">
                  <a:extLst>
                    <a:ext uri="{9D8B030D-6E8A-4147-A177-3AD203B41FA5}">
                      <a16:colId xmlns:a16="http://schemas.microsoft.com/office/drawing/2014/main" val="20001"/>
                    </a:ext>
                  </a:extLst>
                </a:gridCol>
                <a:gridCol w="1253325">
                  <a:extLst>
                    <a:ext uri="{9D8B030D-6E8A-4147-A177-3AD203B41FA5}">
                      <a16:colId xmlns:a16="http://schemas.microsoft.com/office/drawing/2014/main" val="20002"/>
                    </a:ext>
                  </a:extLst>
                </a:gridCol>
              </a:tblGrid>
              <a:tr h="299550">
                <a:tc>
                  <a:txBody>
                    <a:bodyPr/>
                    <a:lstStyle/>
                    <a:p>
                      <a:pPr marL="0" marR="0" lvl="0" indent="0" algn="l" rtl="0">
                        <a:spcBef>
                          <a:spcPts val="0"/>
                        </a:spcBef>
                        <a:spcAft>
                          <a:spcPts val="0"/>
                        </a:spcAft>
                        <a:buNone/>
                      </a:pPr>
                      <a:r>
                        <a:rPr lang="en-US" sz="1800"/>
                        <a:t>EID(KEY)</a:t>
                      </a:r>
                      <a:endParaRPr/>
                    </a:p>
                  </a:txBody>
                  <a:tcPr marL="91450" marR="91450" marT="45725" marB="45725"/>
                </a:tc>
                <a:tc>
                  <a:txBody>
                    <a:bodyPr/>
                    <a:lstStyle/>
                    <a:p>
                      <a:pPr marL="0" marR="0" lvl="0" indent="0" algn="l" rtl="0">
                        <a:spcBef>
                          <a:spcPts val="0"/>
                        </a:spcBef>
                        <a:spcAft>
                          <a:spcPts val="0"/>
                        </a:spcAft>
                        <a:buNone/>
                      </a:pPr>
                      <a:r>
                        <a:rPr lang="en-US" sz="1800"/>
                        <a:t>Name</a:t>
                      </a:r>
                      <a:endParaRPr/>
                    </a:p>
                  </a:txBody>
                  <a:tcPr marL="91450" marR="91450" marT="45725" marB="45725"/>
                </a:tc>
                <a:tc>
                  <a:txBody>
                    <a:bodyPr/>
                    <a:lstStyle/>
                    <a:p>
                      <a:pPr marL="0" marR="0" lvl="0" indent="0" algn="l" rtl="0">
                        <a:spcBef>
                          <a:spcPts val="0"/>
                        </a:spcBef>
                        <a:spcAft>
                          <a:spcPts val="0"/>
                        </a:spcAft>
                        <a:buNone/>
                      </a:pPr>
                      <a:r>
                        <a:rPr lang="en-US" sz="1800"/>
                        <a:t>Phone</a:t>
                      </a:r>
                      <a:endParaRPr/>
                    </a:p>
                  </a:txBody>
                  <a:tcPr marL="91450" marR="91450" marT="45725" marB="45725"/>
                </a:tc>
                <a:extLst>
                  <a:ext uri="{0D108BD9-81ED-4DB2-BD59-A6C34878D82A}">
                    <a16:rowId xmlns:a16="http://schemas.microsoft.com/office/drawing/2014/main" val="10000"/>
                  </a:ext>
                </a:extLst>
              </a:tr>
              <a:tr h="299550">
                <a:tc>
                  <a:txBody>
                    <a:bodyPr/>
                    <a:lstStyle/>
                    <a:p>
                      <a:pPr marL="0" marR="0" lvl="0" indent="0" algn="l" rtl="0">
                        <a:spcBef>
                          <a:spcPts val="0"/>
                        </a:spcBef>
                        <a:spcAft>
                          <a:spcPts val="0"/>
                        </a:spcAft>
                        <a:buNone/>
                      </a:pPr>
                      <a:r>
                        <a:rPr lang="en-US" sz="1800"/>
                        <a:t>Character(20)</a:t>
                      </a:r>
                      <a:endParaRPr/>
                    </a:p>
                  </a:txBody>
                  <a:tcPr marL="91450" marR="91450" marT="45725" marB="45725"/>
                </a:tc>
                <a:tc>
                  <a:txBody>
                    <a:bodyPr/>
                    <a:lstStyle/>
                    <a:p>
                      <a:pPr marL="0" marR="0" lvl="0" indent="0" algn="l" rtl="0">
                        <a:spcBef>
                          <a:spcPts val="0"/>
                        </a:spcBef>
                        <a:spcAft>
                          <a:spcPts val="0"/>
                        </a:spcAft>
                        <a:buNone/>
                      </a:pPr>
                      <a:r>
                        <a:rPr lang="en-US" sz="1800"/>
                        <a:t>Character(40)</a:t>
                      </a:r>
                      <a:endParaRPr/>
                    </a:p>
                  </a:txBody>
                  <a:tcPr marL="91450" marR="91450" marT="45725" marB="45725"/>
                </a:tc>
                <a:tc>
                  <a:txBody>
                    <a:bodyPr/>
                    <a:lstStyle/>
                    <a:p>
                      <a:pPr marL="0" marR="0" lvl="0" indent="0" algn="l" rtl="0">
                        <a:spcBef>
                          <a:spcPts val="0"/>
                        </a:spcBef>
                        <a:spcAft>
                          <a:spcPts val="0"/>
                        </a:spcAft>
                        <a:buNone/>
                      </a:pPr>
                      <a:r>
                        <a:rPr lang="en-US" sz="1800"/>
                        <a:t>integer</a:t>
                      </a:r>
                      <a:endParaRPr/>
                    </a:p>
                  </a:txBody>
                  <a:tcPr marL="91450" marR="91450" marT="45725" marB="45725"/>
                </a:tc>
                <a:extLst>
                  <a:ext uri="{0D108BD9-81ED-4DB2-BD59-A6C34878D82A}">
                    <a16:rowId xmlns:a16="http://schemas.microsoft.com/office/drawing/2014/main" val="10001"/>
                  </a:ext>
                </a:extLst>
              </a:tr>
            </a:tbl>
          </a:graphicData>
        </a:graphic>
      </p:graphicFrame>
      <p:sp>
        <p:nvSpPr>
          <p:cNvPr id="289" name="Google Shape;289;p10"/>
          <p:cNvSpPr txBox="1"/>
          <p:nvPr/>
        </p:nvSpPr>
        <p:spPr>
          <a:xfrm>
            <a:off x="791223" y="5027271"/>
            <a:ext cx="262190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Staff   Entity </a:t>
            </a:r>
            <a:r>
              <a:rPr lang="en-US" sz="1800" b="1" u="sng">
                <a:solidFill>
                  <a:srgbClr val="FF0000"/>
                </a:solidFill>
                <a:latin typeface="Calibri"/>
                <a:ea typeface="Calibri"/>
                <a:cs typeface="Calibri"/>
                <a:sym typeface="Calibri"/>
                <a:hlinkClick r:id="rId4" action="ppaction://hlinksldjump">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Type</a:t>
            </a:r>
            <a:endParaRPr sz="1800" b="1">
              <a:solidFill>
                <a:srgbClr val="FF0000"/>
              </a:solidFill>
              <a:latin typeface="Calibri"/>
              <a:ea typeface="Calibri"/>
              <a:cs typeface="Calibri"/>
              <a:sym typeface="Calibri"/>
            </a:endParaRPr>
          </a:p>
        </p:txBody>
      </p:sp>
      <p:pic>
        <p:nvPicPr>
          <p:cNvPr id="290" name="Google Shape;290;p10"/>
          <p:cNvPicPr preferRelativeResize="0"/>
          <p:nvPr/>
        </p:nvPicPr>
        <p:blipFill rotWithShape="1">
          <a:blip r:embed="rId5">
            <a:alphaModFix/>
          </a:blip>
          <a:srcRect/>
          <a:stretch/>
        </p:blipFill>
        <p:spPr>
          <a:xfrm>
            <a:off x="4243576" y="472637"/>
            <a:ext cx="3410330" cy="938557"/>
          </a:xfrm>
          <a:prstGeom prst="rect">
            <a:avLst/>
          </a:prstGeom>
          <a:noFill/>
          <a:ln>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1"/>
          <p:cNvSpPr txBox="1">
            <a:spLocks noGrp="1"/>
          </p:cNvSpPr>
          <p:nvPr>
            <p:ph type="title"/>
          </p:nvPr>
        </p:nvSpPr>
        <p:spPr>
          <a:xfrm>
            <a:off x="666953" y="235527"/>
            <a:ext cx="10772775" cy="1163152"/>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0000"/>
              </a:buClr>
              <a:buSzPts val="4000"/>
              <a:buFont typeface="Times New Roman"/>
              <a:buNone/>
            </a:pPr>
            <a:r>
              <a:rPr lang="en-US" sz="4000" dirty="0">
                <a:solidFill>
                  <a:srgbClr val="FF0000"/>
                </a:solidFill>
                <a:latin typeface="Times New Roman"/>
                <a:ea typeface="Times New Roman"/>
                <a:cs typeface="Times New Roman"/>
                <a:sym typeface="Times New Roman"/>
              </a:rPr>
              <a:t>Example of a simplified database catalog</a:t>
            </a:r>
            <a:endParaRPr dirty="0"/>
          </a:p>
        </p:txBody>
      </p:sp>
      <p:sp>
        <p:nvSpPr>
          <p:cNvPr id="296" name="Google Shape;296;p1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pic>
        <p:nvPicPr>
          <p:cNvPr id="297" name="Google Shape;297;p11"/>
          <p:cNvPicPr preferRelativeResize="0"/>
          <p:nvPr/>
        </p:nvPicPr>
        <p:blipFill rotWithShape="1">
          <a:blip r:embed="rId3">
            <a:alphaModFix/>
          </a:blip>
          <a:srcRect/>
          <a:stretch/>
        </p:blipFill>
        <p:spPr>
          <a:xfrm>
            <a:off x="2667000" y="1600201"/>
            <a:ext cx="6172200" cy="4951413"/>
          </a:xfrm>
          <a:prstGeom prst="rect">
            <a:avLst/>
          </a:prstGeom>
          <a:noFill/>
          <a:ln>
            <a:noFill/>
          </a:ln>
        </p:spPr>
      </p:pic>
      <p:sp>
        <p:nvSpPr>
          <p:cNvPr id="298" name="Google Shape;298;p11"/>
          <p:cNvSpPr txBox="1"/>
          <p:nvPr/>
        </p:nvSpPr>
        <p:spPr>
          <a:xfrm>
            <a:off x="10165404" y="6031149"/>
            <a:ext cx="127432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u="sng">
                <a:solidFill>
                  <a:schemeClr val="dk1"/>
                </a:solidFill>
                <a:latin typeface="Calibri"/>
                <a:ea typeface="Calibri"/>
                <a:cs typeface="Calibri"/>
                <a:sym typeface="Calibri"/>
                <a:hlinkClick r:id="rId4" action="ppaction://hlinksldjump">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BACK</a:t>
            </a: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2"/>
          <p:cNvSpPr txBox="1">
            <a:spLocks noGrp="1"/>
          </p:cNvSpPr>
          <p:nvPr>
            <p:ph type="title"/>
          </p:nvPr>
        </p:nvSpPr>
        <p:spPr>
          <a:xfrm>
            <a:off x="657224" y="154300"/>
            <a:ext cx="10772775" cy="1658198"/>
          </a:xfrm>
          <a:prstGeom prst="rect">
            <a:avLst/>
          </a:prstGeom>
          <a:noFill/>
          <a:ln>
            <a:noFill/>
          </a:ln>
        </p:spPr>
        <p:txBody>
          <a:bodyPr spcFirstLastPara="1" wrap="square" lIns="91425" tIns="45700" rIns="91425" bIns="45700" anchor="b" anchorCtr="0">
            <a:noAutofit/>
          </a:bodyPr>
          <a:lstStyle/>
          <a:p>
            <a:pPr marL="0" lvl="0" indent="0" algn="ctr" rtl="0">
              <a:lnSpc>
                <a:spcPct val="85000"/>
              </a:lnSpc>
              <a:spcBef>
                <a:spcPts val="0"/>
              </a:spcBef>
              <a:spcAft>
                <a:spcPts val="0"/>
              </a:spcAft>
              <a:buClr>
                <a:srgbClr val="FF0000"/>
              </a:buClr>
              <a:buSzPts val="4000"/>
              <a:buFont typeface="Times New Roman"/>
              <a:buNone/>
            </a:pPr>
            <a:r>
              <a:rPr lang="en-US" sz="4000">
                <a:solidFill>
                  <a:srgbClr val="FF0000"/>
                </a:solidFill>
                <a:latin typeface="Times New Roman"/>
                <a:ea typeface="Times New Roman"/>
                <a:cs typeface="Times New Roman"/>
                <a:sym typeface="Times New Roman"/>
              </a:rPr>
              <a:t>Main Characteristics of the Database Approach</a:t>
            </a:r>
            <a:br>
              <a:rPr lang="en-US" sz="4000">
                <a:solidFill>
                  <a:srgbClr val="FF0000"/>
                </a:solidFill>
                <a:latin typeface="Times New Roman"/>
                <a:ea typeface="Times New Roman"/>
                <a:cs typeface="Times New Roman"/>
                <a:sym typeface="Times New Roman"/>
              </a:rPr>
            </a:br>
            <a:r>
              <a:rPr lang="en-US" sz="2200" i="1">
                <a:solidFill>
                  <a:srgbClr val="262626"/>
                </a:solidFill>
                <a:latin typeface="Times New Roman"/>
                <a:ea typeface="Times New Roman"/>
                <a:cs typeface="Times New Roman"/>
                <a:sym typeface="Times New Roman"/>
              </a:rPr>
              <a:t>The main characteristics of the database approach versus the file-processing</a:t>
            </a:r>
            <a:endParaRPr sz="2200" i="1">
              <a:solidFill>
                <a:srgbClr val="262626"/>
              </a:solidFill>
              <a:latin typeface="Times New Roman"/>
              <a:ea typeface="Times New Roman"/>
              <a:cs typeface="Times New Roman"/>
              <a:sym typeface="Times New Roman"/>
            </a:endParaRPr>
          </a:p>
        </p:txBody>
      </p:sp>
      <p:sp>
        <p:nvSpPr>
          <p:cNvPr id="306" name="Google Shape;306;p12"/>
          <p:cNvSpPr txBox="1">
            <a:spLocks noGrp="1"/>
          </p:cNvSpPr>
          <p:nvPr>
            <p:ph type="body" idx="1"/>
          </p:nvPr>
        </p:nvSpPr>
        <p:spPr>
          <a:xfrm>
            <a:off x="657223" y="1421362"/>
            <a:ext cx="11062025" cy="5282338"/>
          </a:xfrm>
          <a:prstGeom prst="rect">
            <a:avLst/>
          </a:prstGeom>
          <a:noFill/>
          <a:ln>
            <a:noFill/>
          </a:ln>
        </p:spPr>
        <p:txBody>
          <a:bodyPr spcFirstLastPara="1" wrap="square" lIns="0" tIns="45700" rIns="0" bIns="45700" anchor="t" anchorCtr="0">
            <a:normAutofit/>
          </a:bodyPr>
          <a:lstStyle/>
          <a:p>
            <a:pPr marL="91440" lvl="0" indent="0" algn="just" rtl="0">
              <a:lnSpc>
                <a:spcPct val="150000"/>
              </a:lnSpc>
              <a:spcBef>
                <a:spcPts val="0"/>
              </a:spcBef>
              <a:spcAft>
                <a:spcPts val="0"/>
              </a:spcAft>
              <a:buSzPts val="2000"/>
              <a:buNone/>
            </a:pPr>
            <a:endParaRPr u="sng">
              <a:solidFill>
                <a:srgbClr val="0070C0"/>
              </a:solidFill>
              <a:latin typeface="Times New Roman"/>
              <a:ea typeface="Times New Roman"/>
              <a:cs typeface="Times New Roman"/>
              <a:sym typeface="Times New Roman"/>
            </a:endParaRPr>
          </a:p>
          <a:p>
            <a:pPr marL="91440" lvl="0" indent="-127000" algn="just" rtl="0">
              <a:lnSpc>
                <a:spcPct val="150000"/>
              </a:lnSpc>
              <a:spcBef>
                <a:spcPts val="1400"/>
              </a:spcBef>
              <a:spcAft>
                <a:spcPts val="0"/>
              </a:spcAft>
              <a:buSzPts val="2000"/>
              <a:buChar char=" "/>
            </a:pPr>
            <a:r>
              <a:rPr lang="en-US" u="sng">
                <a:solidFill>
                  <a:srgbClr val="0070C0"/>
                </a:solidFill>
                <a:latin typeface="Times New Roman"/>
                <a:ea typeface="Times New Roman"/>
                <a:cs typeface="Times New Roman"/>
                <a:sym typeface="Times New Roman"/>
              </a:rPr>
              <a:t>Self-describing nature of a database system:</a:t>
            </a:r>
            <a:r>
              <a:rPr lang="en-US">
                <a:solidFill>
                  <a:srgbClr val="0070C0"/>
                </a:solidFill>
                <a:latin typeface="Times New Roman"/>
                <a:ea typeface="Times New Roman"/>
                <a:cs typeface="Times New Roman"/>
                <a:sym typeface="Times New Roman"/>
              </a:rPr>
              <a:t> </a:t>
            </a:r>
            <a:endParaRPr/>
          </a:p>
          <a:p>
            <a:pPr marL="384048" lvl="1" indent="-182880" algn="just" rtl="0">
              <a:lnSpc>
                <a:spcPct val="150000"/>
              </a:lnSpc>
              <a:spcBef>
                <a:spcPts val="400"/>
              </a:spcBef>
              <a:spcAft>
                <a:spcPts val="0"/>
              </a:spcAft>
              <a:buSzPts val="1800"/>
              <a:buChar char="◦"/>
            </a:pPr>
            <a:r>
              <a:rPr lang="en-US" sz="1800">
                <a:solidFill>
                  <a:srgbClr val="0070C0"/>
                </a:solidFill>
                <a:latin typeface="Times New Roman"/>
                <a:ea typeface="Times New Roman"/>
                <a:cs typeface="Times New Roman"/>
                <a:sym typeface="Times New Roman"/>
              </a:rPr>
              <a:t>A DBMS </a:t>
            </a:r>
            <a:r>
              <a:rPr lang="en-US" sz="1800" b="1">
                <a:solidFill>
                  <a:srgbClr val="0070C0"/>
                </a:solidFill>
                <a:latin typeface="Times New Roman"/>
                <a:ea typeface="Times New Roman"/>
                <a:cs typeface="Times New Roman"/>
                <a:sym typeface="Times New Roman"/>
              </a:rPr>
              <a:t>catalog</a:t>
            </a:r>
            <a:r>
              <a:rPr lang="en-US" sz="1800">
                <a:solidFill>
                  <a:srgbClr val="0070C0"/>
                </a:solidFill>
                <a:latin typeface="Times New Roman"/>
                <a:ea typeface="Times New Roman"/>
                <a:cs typeface="Times New Roman"/>
                <a:sym typeface="Times New Roman"/>
              </a:rPr>
              <a:t> stores the </a:t>
            </a:r>
            <a:r>
              <a:rPr lang="en-US" sz="1800" i="1">
                <a:solidFill>
                  <a:srgbClr val="0070C0"/>
                </a:solidFill>
                <a:latin typeface="Times New Roman"/>
                <a:ea typeface="Times New Roman"/>
                <a:cs typeface="Times New Roman"/>
                <a:sym typeface="Times New Roman"/>
              </a:rPr>
              <a:t>description</a:t>
            </a:r>
            <a:r>
              <a:rPr lang="en-US" sz="1800">
                <a:solidFill>
                  <a:srgbClr val="0070C0"/>
                </a:solidFill>
                <a:latin typeface="Times New Roman"/>
                <a:ea typeface="Times New Roman"/>
                <a:cs typeface="Times New Roman"/>
                <a:sym typeface="Times New Roman"/>
              </a:rPr>
              <a:t>  of the database. The description is called </a:t>
            </a:r>
            <a:r>
              <a:rPr lang="en-US" sz="1800" b="1">
                <a:solidFill>
                  <a:srgbClr val="0070C0"/>
                </a:solidFill>
                <a:latin typeface="Times New Roman"/>
                <a:ea typeface="Times New Roman"/>
                <a:cs typeface="Times New Roman"/>
                <a:sym typeface="Times New Roman"/>
              </a:rPr>
              <a:t>meta-data</a:t>
            </a:r>
            <a:r>
              <a:rPr lang="en-US" sz="1800">
                <a:solidFill>
                  <a:srgbClr val="0070C0"/>
                </a:solidFill>
                <a:latin typeface="Times New Roman"/>
                <a:ea typeface="Times New Roman"/>
                <a:cs typeface="Times New Roman"/>
                <a:sym typeface="Times New Roman"/>
              </a:rPr>
              <a:t>. This allows the DBMS software to work with different databases.</a:t>
            </a:r>
            <a:endParaRPr sz="2800">
              <a:solidFill>
                <a:srgbClr val="0070C0"/>
              </a:solidFill>
              <a:latin typeface="Times New Roman"/>
              <a:ea typeface="Times New Roman"/>
              <a:cs typeface="Times New Roman"/>
              <a:sym typeface="Times New Roman"/>
            </a:endParaRPr>
          </a:p>
          <a:p>
            <a:pPr marL="91440" lvl="0" indent="-127000" algn="just" rtl="0">
              <a:lnSpc>
                <a:spcPct val="150000"/>
              </a:lnSpc>
              <a:spcBef>
                <a:spcPts val="1600"/>
              </a:spcBef>
              <a:spcAft>
                <a:spcPts val="0"/>
              </a:spcAft>
              <a:buSzPts val="2000"/>
              <a:buChar char=" "/>
            </a:pPr>
            <a:r>
              <a:rPr lang="en-US" u="sng">
                <a:solidFill>
                  <a:srgbClr val="0070C0"/>
                </a:solidFill>
                <a:latin typeface="Times New Roman"/>
                <a:ea typeface="Times New Roman"/>
                <a:cs typeface="Times New Roman"/>
                <a:sym typeface="Times New Roman"/>
              </a:rPr>
              <a:t>Insulation between programs and data:</a:t>
            </a:r>
            <a:endParaRPr>
              <a:solidFill>
                <a:srgbClr val="0070C0"/>
              </a:solidFill>
              <a:latin typeface="Times New Roman"/>
              <a:ea typeface="Times New Roman"/>
              <a:cs typeface="Times New Roman"/>
              <a:sym typeface="Times New Roman"/>
            </a:endParaRPr>
          </a:p>
          <a:p>
            <a:pPr marL="384048" lvl="1" indent="-182880" algn="just" rtl="0">
              <a:lnSpc>
                <a:spcPct val="150000"/>
              </a:lnSpc>
              <a:spcBef>
                <a:spcPts val="400"/>
              </a:spcBef>
              <a:spcAft>
                <a:spcPts val="0"/>
              </a:spcAft>
              <a:buSzPts val="1800"/>
              <a:buChar char="◦"/>
            </a:pPr>
            <a:r>
              <a:rPr lang="en-US" sz="1800" b="1">
                <a:solidFill>
                  <a:srgbClr val="0070C0"/>
                </a:solidFill>
                <a:latin typeface="Times New Roman"/>
                <a:ea typeface="Times New Roman"/>
                <a:cs typeface="Times New Roman"/>
                <a:sym typeface="Times New Roman"/>
              </a:rPr>
              <a:t>Program – data independence</a:t>
            </a:r>
            <a:endParaRPr/>
          </a:p>
          <a:p>
            <a:pPr marL="566928" lvl="2" indent="-182880" algn="just" rtl="0">
              <a:lnSpc>
                <a:spcPct val="150000"/>
              </a:lnSpc>
              <a:spcBef>
                <a:spcPts val="600"/>
              </a:spcBef>
              <a:spcAft>
                <a:spcPts val="0"/>
              </a:spcAft>
              <a:buSzPts val="1400"/>
              <a:buChar char="◦"/>
            </a:pPr>
            <a:r>
              <a:rPr lang="en-US" i="0">
                <a:solidFill>
                  <a:srgbClr val="0070C0"/>
                </a:solidFill>
                <a:latin typeface="Times New Roman"/>
                <a:ea typeface="Times New Roman"/>
                <a:cs typeface="Times New Roman"/>
                <a:sym typeface="Times New Roman"/>
              </a:rPr>
              <a:t>Allows changing data storage structures and operations without having to change the DBMS access programs.</a:t>
            </a:r>
            <a:endParaRPr/>
          </a:p>
          <a:p>
            <a:pPr marL="384048" lvl="1" indent="-182880" algn="just" rtl="0">
              <a:lnSpc>
                <a:spcPct val="160000"/>
              </a:lnSpc>
              <a:spcBef>
                <a:spcPts val="600"/>
              </a:spcBef>
              <a:spcAft>
                <a:spcPts val="0"/>
              </a:spcAft>
              <a:buSzPts val="1800"/>
              <a:buChar char="◦"/>
            </a:pPr>
            <a:r>
              <a:rPr lang="en-US" sz="1800" b="1">
                <a:solidFill>
                  <a:srgbClr val="0070C0"/>
                </a:solidFill>
                <a:latin typeface="Times New Roman"/>
                <a:ea typeface="Times New Roman"/>
                <a:cs typeface="Times New Roman"/>
                <a:sym typeface="Times New Roman"/>
              </a:rPr>
              <a:t>Program – operation independence</a:t>
            </a:r>
            <a:endParaRPr/>
          </a:p>
          <a:p>
            <a:pPr marL="566928" lvl="2" indent="-182880" algn="just" rtl="0">
              <a:lnSpc>
                <a:spcPct val="150000"/>
              </a:lnSpc>
              <a:spcBef>
                <a:spcPts val="600"/>
              </a:spcBef>
              <a:spcAft>
                <a:spcPts val="0"/>
              </a:spcAft>
              <a:buSzPts val="1400"/>
              <a:buChar char="◦"/>
            </a:pPr>
            <a:r>
              <a:rPr lang="en-US" i="0">
                <a:solidFill>
                  <a:srgbClr val="0070C0"/>
                </a:solidFill>
                <a:latin typeface="Times New Roman"/>
                <a:ea typeface="Times New Roman"/>
                <a:cs typeface="Times New Roman"/>
                <a:sym typeface="Times New Roman"/>
              </a:rPr>
              <a:t>User application programs can operate on the data by invoking operations through their names and parameters regardless how operations are implemented.</a:t>
            </a:r>
            <a:endParaRPr/>
          </a:p>
        </p:txBody>
      </p:sp>
      <p:sp>
        <p:nvSpPr>
          <p:cNvPr id="307" name="Google Shape;307;p1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13"/>
          <p:cNvSpPr txBox="1">
            <a:spLocks noGrp="1"/>
          </p:cNvSpPr>
          <p:nvPr>
            <p:ph type="title"/>
          </p:nvPr>
        </p:nvSpPr>
        <p:spPr>
          <a:xfrm>
            <a:off x="657224" y="116978"/>
            <a:ext cx="11972253" cy="984034"/>
          </a:xfrm>
          <a:prstGeom prst="rect">
            <a:avLst/>
          </a:prstGeom>
          <a:noFill/>
          <a:ln>
            <a:noFill/>
          </a:ln>
        </p:spPr>
        <p:txBody>
          <a:bodyPr spcFirstLastPara="1" wrap="square" lIns="91425" tIns="45700" rIns="91425" bIns="45700" anchor="b" anchorCtr="0">
            <a:noAutofit/>
          </a:bodyPr>
          <a:lstStyle/>
          <a:p>
            <a:pPr marL="0" lvl="0" indent="0" algn="ctr" rtl="0">
              <a:lnSpc>
                <a:spcPct val="85000"/>
              </a:lnSpc>
              <a:spcBef>
                <a:spcPts val="0"/>
              </a:spcBef>
              <a:spcAft>
                <a:spcPts val="0"/>
              </a:spcAft>
              <a:buClr>
                <a:srgbClr val="FF0000"/>
              </a:buClr>
              <a:buSzPts val="3200"/>
              <a:buFont typeface="Times New Roman"/>
              <a:buNone/>
            </a:pPr>
            <a:r>
              <a:rPr lang="en-US" sz="3200">
                <a:solidFill>
                  <a:srgbClr val="FF0000"/>
                </a:solidFill>
                <a:latin typeface="Times New Roman"/>
                <a:ea typeface="Times New Roman"/>
                <a:cs typeface="Times New Roman"/>
                <a:sym typeface="Times New Roman"/>
              </a:rPr>
              <a:t>Main Characteristics of the Database Approach</a:t>
            </a:r>
            <a:endParaRPr/>
          </a:p>
        </p:txBody>
      </p:sp>
      <p:sp>
        <p:nvSpPr>
          <p:cNvPr id="315" name="Google Shape;315;p13"/>
          <p:cNvSpPr txBox="1">
            <a:spLocks noGrp="1"/>
          </p:cNvSpPr>
          <p:nvPr>
            <p:ph type="body" idx="1"/>
          </p:nvPr>
        </p:nvSpPr>
        <p:spPr>
          <a:xfrm>
            <a:off x="867748" y="895738"/>
            <a:ext cx="10217020" cy="5845283"/>
          </a:xfrm>
          <a:prstGeom prst="rect">
            <a:avLst/>
          </a:prstGeom>
          <a:noFill/>
          <a:ln>
            <a:noFill/>
          </a:ln>
        </p:spPr>
        <p:txBody>
          <a:bodyPr spcFirstLastPara="1" wrap="square" lIns="0" tIns="45700" rIns="0" bIns="45700" anchor="t" anchorCtr="0">
            <a:normAutofit/>
          </a:bodyPr>
          <a:lstStyle/>
          <a:p>
            <a:pPr marL="91440" lvl="0" indent="-127000" algn="just" rtl="0">
              <a:lnSpc>
                <a:spcPct val="150000"/>
              </a:lnSpc>
              <a:spcBef>
                <a:spcPts val="0"/>
              </a:spcBef>
              <a:spcAft>
                <a:spcPts val="0"/>
              </a:spcAft>
              <a:buSzPts val="2000"/>
              <a:buChar char=" "/>
            </a:pPr>
            <a:r>
              <a:rPr lang="en-US" u="sng" dirty="0">
                <a:solidFill>
                  <a:srgbClr val="0070C0"/>
                </a:solidFill>
                <a:latin typeface="Times New Roman"/>
                <a:ea typeface="Times New Roman"/>
                <a:cs typeface="Times New Roman"/>
                <a:sym typeface="Times New Roman"/>
              </a:rPr>
              <a:t>Data Abstraction:</a:t>
            </a:r>
            <a:r>
              <a:rPr lang="en-US" dirty="0">
                <a:solidFill>
                  <a:srgbClr val="0070C0"/>
                </a:solidFill>
                <a:latin typeface="Times New Roman"/>
                <a:ea typeface="Times New Roman"/>
                <a:cs typeface="Times New Roman"/>
                <a:sym typeface="Times New Roman"/>
              </a:rPr>
              <a:t> </a:t>
            </a:r>
            <a:endParaRPr dirty="0"/>
          </a:p>
          <a:p>
            <a:pPr marL="384048" lvl="1" indent="-182880" algn="just" rtl="0">
              <a:lnSpc>
                <a:spcPct val="150000"/>
              </a:lnSpc>
              <a:spcBef>
                <a:spcPts val="400"/>
              </a:spcBef>
              <a:spcAft>
                <a:spcPts val="0"/>
              </a:spcAft>
              <a:buSzPts val="1800"/>
              <a:buChar char="◦"/>
            </a:pPr>
            <a:r>
              <a:rPr lang="en-US" sz="1800" dirty="0">
                <a:solidFill>
                  <a:srgbClr val="0070C0"/>
                </a:solidFill>
                <a:latin typeface="Times New Roman"/>
                <a:ea typeface="Times New Roman"/>
                <a:cs typeface="Times New Roman"/>
                <a:sym typeface="Times New Roman"/>
              </a:rPr>
              <a:t>The characteristics that allows program – data independence and program – operation independence is called data abstraction.</a:t>
            </a:r>
            <a:endParaRPr dirty="0"/>
          </a:p>
          <a:p>
            <a:pPr marL="384048" lvl="1" indent="-182880" algn="just" rtl="0">
              <a:lnSpc>
                <a:spcPct val="150000"/>
              </a:lnSpc>
              <a:spcBef>
                <a:spcPts val="600"/>
              </a:spcBef>
              <a:spcAft>
                <a:spcPts val="0"/>
              </a:spcAft>
              <a:buSzPts val="1800"/>
              <a:buChar char="◦"/>
            </a:pPr>
            <a:r>
              <a:rPr lang="en-US" sz="1800" dirty="0">
                <a:solidFill>
                  <a:srgbClr val="0070C0"/>
                </a:solidFill>
                <a:latin typeface="Times New Roman"/>
                <a:ea typeface="Times New Roman"/>
                <a:cs typeface="Times New Roman"/>
                <a:sym typeface="Times New Roman"/>
              </a:rPr>
              <a:t>A </a:t>
            </a:r>
            <a:r>
              <a:rPr lang="en-US" sz="1800" b="1" dirty="0">
                <a:solidFill>
                  <a:srgbClr val="0070C0"/>
                </a:solidFill>
                <a:latin typeface="Times New Roman"/>
                <a:ea typeface="Times New Roman"/>
                <a:cs typeface="Times New Roman"/>
                <a:sym typeface="Times New Roman"/>
              </a:rPr>
              <a:t>data model</a:t>
            </a:r>
            <a:r>
              <a:rPr lang="en-US" sz="1800" dirty="0">
                <a:solidFill>
                  <a:srgbClr val="0070C0"/>
                </a:solidFill>
                <a:latin typeface="Times New Roman"/>
                <a:ea typeface="Times New Roman"/>
                <a:cs typeface="Times New Roman"/>
                <a:sym typeface="Times New Roman"/>
              </a:rPr>
              <a:t> is used to hide storage details and present the users with a </a:t>
            </a:r>
            <a:r>
              <a:rPr lang="en-US" sz="1800" i="1" dirty="0">
                <a:solidFill>
                  <a:srgbClr val="0070C0"/>
                </a:solidFill>
                <a:latin typeface="Times New Roman"/>
                <a:ea typeface="Times New Roman"/>
                <a:cs typeface="Times New Roman"/>
                <a:sym typeface="Times New Roman"/>
              </a:rPr>
              <a:t>conceptual view</a:t>
            </a:r>
            <a:r>
              <a:rPr lang="en-US" sz="1800" dirty="0">
                <a:solidFill>
                  <a:srgbClr val="0070C0"/>
                </a:solidFill>
                <a:latin typeface="Times New Roman"/>
                <a:ea typeface="Times New Roman"/>
                <a:cs typeface="Times New Roman"/>
                <a:sym typeface="Times New Roman"/>
              </a:rPr>
              <a:t>  of the database.</a:t>
            </a:r>
            <a:endParaRPr dirty="0"/>
          </a:p>
          <a:p>
            <a:pPr marL="0" lvl="0" indent="0" algn="just" rtl="0">
              <a:lnSpc>
                <a:spcPct val="150000"/>
              </a:lnSpc>
              <a:spcBef>
                <a:spcPts val="1600"/>
              </a:spcBef>
              <a:spcAft>
                <a:spcPts val="0"/>
              </a:spcAft>
              <a:buSzPts val="2000"/>
              <a:buNone/>
            </a:pPr>
            <a:r>
              <a:rPr lang="en-US" u="sng" dirty="0">
                <a:solidFill>
                  <a:srgbClr val="0070C0"/>
                </a:solidFill>
                <a:latin typeface="Times New Roman"/>
                <a:ea typeface="Times New Roman"/>
                <a:cs typeface="Times New Roman"/>
                <a:sym typeface="Times New Roman"/>
              </a:rPr>
              <a:t>Support of multiple views of the data:</a:t>
            </a:r>
            <a:r>
              <a:rPr lang="en-US" dirty="0">
                <a:solidFill>
                  <a:srgbClr val="0070C0"/>
                </a:solidFill>
                <a:latin typeface="Times New Roman"/>
                <a:ea typeface="Times New Roman"/>
                <a:cs typeface="Times New Roman"/>
                <a:sym typeface="Times New Roman"/>
              </a:rPr>
              <a:t> </a:t>
            </a:r>
            <a:endParaRPr dirty="0"/>
          </a:p>
          <a:p>
            <a:pPr marL="384048" lvl="1" indent="-182880" algn="just" rtl="0">
              <a:lnSpc>
                <a:spcPct val="150000"/>
              </a:lnSpc>
              <a:spcBef>
                <a:spcPts val="400"/>
              </a:spcBef>
              <a:spcAft>
                <a:spcPts val="0"/>
              </a:spcAft>
              <a:buSzPts val="1800"/>
              <a:buChar char="◦"/>
            </a:pPr>
            <a:r>
              <a:rPr lang="en-US" sz="1800" dirty="0">
                <a:solidFill>
                  <a:srgbClr val="0070C0"/>
                </a:solidFill>
                <a:latin typeface="Times New Roman"/>
                <a:ea typeface="Times New Roman"/>
                <a:cs typeface="Times New Roman"/>
                <a:sym typeface="Times New Roman"/>
              </a:rPr>
              <a:t>Each user may see a different view of the database, which describes </a:t>
            </a:r>
            <a:r>
              <a:rPr lang="en-US" sz="1800" i="1" dirty="0">
                <a:solidFill>
                  <a:srgbClr val="0070C0"/>
                </a:solidFill>
                <a:latin typeface="Times New Roman"/>
                <a:ea typeface="Times New Roman"/>
                <a:cs typeface="Times New Roman"/>
                <a:sym typeface="Times New Roman"/>
              </a:rPr>
              <a:t>only</a:t>
            </a:r>
            <a:r>
              <a:rPr lang="en-US" sz="1800" dirty="0">
                <a:solidFill>
                  <a:srgbClr val="0070C0"/>
                </a:solidFill>
                <a:latin typeface="Times New Roman"/>
                <a:ea typeface="Times New Roman"/>
                <a:cs typeface="Times New Roman"/>
                <a:sym typeface="Times New Roman"/>
              </a:rPr>
              <a:t>  the data of interest to that user.</a:t>
            </a:r>
            <a:endParaRPr dirty="0"/>
          </a:p>
          <a:p>
            <a:pPr marL="91440" lvl="0" indent="-127000" algn="just" rtl="0">
              <a:lnSpc>
                <a:spcPct val="150000"/>
              </a:lnSpc>
              <a:spcBef>
                <a:spcPts val="1600"/>
              </a:spcBef>
              <a:spcAft>
                <a:spcPts val="0"/>
              </a:spcAft>
              <a:buSzPts val="2000"/>
              <a:buChar char=" "/>
            </a:pPr>
            <a:r>
              <a:rPr lang="en-US" u="sng" dirty="0">
                <a:solidFill>
                  <a:srgbClr val="0070C0"/>
                </a:solidFill>
                <a:latin typeface="Times New Roman"/>
                <a:ea typeface="Times New Roman"/>
                <a:cs typeface="Times New Roman"/>
                <a:sym typeface="Times New Roman"/>
              </a:rPr>
              <a:t>Sharing of data and multiuser transaction processing :</a:t>
            </a:r>
            <a:endParaRPr dirty="0"/>
          </a:p>
          <a:p>
            <a:pPr marL="384048" lvl="1" indent="-182880" algn="just" rtl="0">
              <a:lnSpc>
                <a:spcPct val="150000"/>
              </a:lnSpc>
              <a:spcBef>
                <a:spcPts val="400"/>
              </a:spcBef>
              <a:spcAft>
                <a:spcPts val="0"/>
              </a:spcAft>
              <a:buSzPts val="1800"/>
              <a:buChar char="◦"/>
            </a:pPr>
            <a:r>
              <a:rPr lang="en-US" sz="1800" dirty="0">
                <a:solidFill>
                  <a:srgbClr val="0070C0"/>
                </a:solidFill>
                <a:latin typeface="Times New Roman"/>
                <a:ea typeface="Times New Roman"/>
                <a:cs typeface="Times New Roman"/>
                <a:sym typeface="Times New Roman"/>
              </a:rPr>
              <a:t>Allowing a set of concurrent users to retrieve and to update the  database. Concurrency control within the DBMS guarantees that each </a:t>
            </a:r>
            <a:r>
              <a:rPr lang="en-US" sz="1800" b="1" dirty="0">
                <a:solidFill>
                  <a:srgbClr val="0070C0"/>
                </a:solidFill>
                <a:latin typeface="Times New Roman"/>
                <a:ea typeface="Times New Roman"/>
                <a:cs typeface="Times New Roman"/>
                <a:sym typeface="Times New Roman"/>
              </a:rPr>
              <a:t>transaction</a:t>
            </a:r>
            <a:r>
              <a:rPr lang="en-US" sz="1800" dirty="0">
                <a:solidFill>
                  <a:srgbClr val="0070C0"/>
                </a:solidFill>
                <a:latin typeface="Times New Roman"/>
                <a:ea typeface="Times New Roman"/>
                <a:cs typeface="Times New Roman"/>
                <a:sym typeface="Times New Roman"/>
              </a:rPr>
              <a:t> is correctly executed or completely aborted. </a:t>
            </a:r>
            <a:endParaRPr dirty="0">
              <a:solidFill>
                <a:srgbClr val="0070C0"/>
              </a:solidFill>
              <a:latin typeface="Times New Roman"/>
              <a:ea typeface="Times New Roman"/>
              <a:cs typeface="Times New Roman"/>
              <a:sym typeface="Times New Roman"/>
            </a:endParaRPr>
          </a:p>
          <a:p>
            <a:pPr marL="384048" lvl="1" indent="-182880" algn="just" rtl="0">
              <a:lnSpc>
                <a:spcPct val="150000"/>
              </a:lnSpc>
              <a:spcBef>
                <a:spcPts val="600"/>
              </a:spcBef>
              <a:spcAft>
                <a:spcPts val="0"/>
              </a:spcAft>
              <a:buSzPts val="1800"/>
              <a:buChar char="◦"/>
            </a:pPr>
            <a:r>
              <a:rPr lang="en-US" sz="1800" dirty="0">
                <a:solidFill>
                  <a:srgbClr val="0070C0"/>
                </a:solidFill>
                <a:latin typeface="Times New Roman"/>
                <a:ea typeface="Times New Roman"/>
                <a:cs typeface="Times New Roman"/>
                <a:sym typeface="Times New Roman"/>
              </a:rPr>
              <a:t>OLTP (Online Transaction Processing) is a major part of database applications</a:t>
            </a:r>
            <a:endParaRPr dirty="0"/>
          </a:p>
          <a:p>
            <a:pPr marL="384048" lvl="1" indent="-68579" algn="just" rtl="0">
              <a:lnSpc>
                <a:spcPct val="150000"/>
              </a:lnSpc>
              <a:spcBef>
                <a:spcPts val="600"/>
              </a:spcBef>
              <a:spcAft>
                <a:spcPts val="0"/>
              </a:spcAft>
              <a:buSzPts val="1800"/>
              <a:buNone/>
            </a:pPr>
            <a:endParaRPr sz="1800" dirty="0">
              <a:solidFill>
                <a:srgbClr val="0070C0"/>
              </a:solidFill>
              <a:latin typeface="Times New Roman"/>
              <a:ea typeface="Times New Roman"/>
              <a:cs typeface="Times New Roman"/>
              <a:sym typeface="Times New Roman"/>
            </a:endParaRPr>
          </a:p>
          <a:p>
            <a:pPr marL="91440" lvl="0" indent="0" algn="l" rtl="0">
              <a:lnSpc>
                <a:spcPct val="90000"/>
              </a:lnSpc>
              <a:spcBef>
                <a:spcPts val="1600"/>
              </a:spcBef>
              <a:spcAft>
                <a:spcPts val="0"/>
              </a:spcAft>
              <a:buSzPts val="2800"/>
              <a:buNone/>
            </a:pPr>
            <a:endParaRPr sz="2800" dirty="0">
              <a:latin typeface="Times New Roman"/>
              <a:ea typeface="Times New Roman"/>
              <a:cs typeface="Times New Roman"/>
              <a:sym typeface="Times New Roman"/>
            </a:endParaRPr>
          </a:p>
          <a:p>
            <a:pPr marL="91440" lvl="0" indent="0" algn="l" rtl="0">
              <a:lnSpc>
                <a:spcPct val="90000"/>
              </a:lnSpc>
              <a:spcBef>
                <a:spcPts val="1400"/>
              </a:spcBef>
              <a:spcAft>
                <a:spcPts val="0"/>
              </a:spcAft>
              <a:buSzPts val="2800"/>
              <a:buNone/>
            </a:pPr>
            <a:endParaRPr sz="2800" dirty="0">
              <a:latin typeface="Times New Roman"/>
              <a:ea typeface="Times New Roman"/>
              <a:cs typeface="Times New Roman"/>
              <a:sym typeface="Times New Roman"/>
            </a:endParaRPr>
          </a:p>
        </p:txBody>
      </p:sp>
      <p:sp>
        <p:nvSpPr>
          <p:cNvPr id="316" name="Google Shape;316;p1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14"/>
          <p:cNvSpPr txBox="1">
            <a:spLocks noGrp="1"/>
          </p:cNvSpPr>
          <p:nvPr>
            <p:ph type="body" idx="1"/>
          </p:nvPr>
        </p:nvSpPr>
        <p:spPr>
          <a:xfrm>
            <a:off x="657224" y="1981200"/>
            <a:ext cx="9514048" cy="3390900"/>
          </a:xfrm>
          <a:prstGeom prst="rect">
            <a:avLst/>
          </a:prstGeom>
          <a:noFill/>
          <a:ln>
            <a:noFill/>
          </a:ln>
        </p:spPr>
        <p:txBody>
          <a:bodyPr spcFirstLastPara="1" wrap="square" lIns="0" tIns="45700" rIns="0" bIns="45700" anchor="t" anchorCtr="0">
            <a:normAutofit/>
          </a:bodyPr>
          <a:lstStyle/>
          <a:p>
            <a:pPr marL="91440" lvl="0" indent="-114300" algn="just" rtl="0">
              <a:lnSpc>
                <a:spcPct val="150000"/>
              </a:lnSpc>
              <a:spcBef>
                <a:spcPts val="0"/>
              </a:spcBef>
              <a:spcAft>
                <a:spcPts val="0"/>
              </a:spcAft>
              <a:buSzPts val="1800"/>
              <a:buChar char=" "/>
            </a:pPr>
            <a:r>
              <a:rPr lang="en-US" sz="1800">
                <a:solidFill>
                  <a:srgbClr val="0070C0"/>
                </a:solidFill>
                <a:latin typeface="Times New Roman"/>
                <a:ea typeface="Times New Roman"/>
                <a:cs typeface="Times New Roman"/>
                <a:sym typeface="Times New Roman"/>
              </a:rPr>
              <a:t>.</a:t>
            </a:r>
            <a:endParaRPr/>
          </a:p>
        </p:txBody>
      </p:sp>
      <p:sp>
        <p:nvSpPr>
          <p:cNvPr id="324" name="Google Shape;324;p1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graphicFrame>
        <p:nvGraphicFramePr>
          <p:cNvPr id="325" name="Google Shape;325;p14"/>
          <p:cNvGraphicFramePr/>
          <p:nvPr>
            <p:extLst>
              <p:ext uri="{D42A27DB-BD31-4B8C-83A1-F6EECF244321}">
                <p14:modId xmlns:p14="http://schemas.microsoft.com/office/powerpoint/2010/main" val="138842611"/>
              </p:ext>
            </p:extLst>
          </p:nvPr>
        </p:nvGraphicFramePr>
        <p:xfrm>
          <a:off x="905069" y="877078"/>
          <a:ext cx="10375650" cy="4844905"/>
        </p:xfrm>
        <a:graphic>
          <a:graphicData uri="http://schemas.openxmlformats.org/drawingml/2006/table">
            <a:tbl>
              <a:tblPr firstRow="1" firstCol="1" bandRow="1">
                <a:noFill/>
                <a:tableStyleId>{13E7E886-25C2-4795-8E32-F7560DA791E3}</a:tableStyleId>
              </a:tblPr>
              <a:tblGrid>
                <a:gridCol w="5187825">
                  <a:extLst>
                    <a:ext uri="{9D8B030D-6E8A-4147-A177-3AD203B41FA5}">
                      <a16:colId xmlns:a16="http://schemas.microsoft.com/office/drawing/2014/main" val="20000"/>
                    </a:ext>
                  </a:extLst>
                </a:gridCol>
                <a:gridCol w="5187825">
                  <a:extLst>
                    <a:ext uri="{9D8B030D-6E8A-4147-A177-3AD203B41FA5}">
                      <a16:colId xmlns:a16="http://schemas.microsoft.com/office/drawing/2014/main" val="20001"/>
                    </a:ext>
                  </a:extLst>
                </a:gridCol>
              </a:tblGrid>
              <a:tr h="171475">
                <a:tc>
                  <a:txBody>
                    <a:bodyPr/>
                    <a:lstStyle/>
                    <a:p>
                      <a:pPr marL="457200" marR="0" lvl="0" indent="0" algn="ctr" rtl="0">
                        <a:lnSpc>
                          <a:spcPct val="115000"/>
                        </a:lnSpc>
                        <a:spcBef>
                          <a:spcPts val="0"/>
                        </a:spcBef>
                        <a:spcAft>
                          <a:spcPts val="0"/>
                        </a:spcAft>
                        <a:buNone/>
                      </a:pPr>
                      <a:r>
                        <a:rPr lang="en-US" sz="1600" b="0" dirty="0">
                          <a:solidFill>
                            <a:srgbClr val="C00000"/>
                          </a:solidFill>
                          <a:latin typeface="Times New Roman"/>
                          <a:ea typeface="Times New Roman"/>
                          <a:cs typeface="Times New Roman"/>
                          <a:sym typeface="Times New Roman"/>
                        </a:rPr>
                        <a:t>File System</a:t>
                      </a:r>
                      <a:endParaRPr sz="1600" b="0" dirty="0">
                        <a:solidFill>
                          <a:srgbClr val="C00000"/>
                        </a:solidFill>
                        <a:latin typeface="Times New Roman"/>
                        <a:ea typeface="Times New Roman"/>
                        <a:cs typeface="Times New Roman"/>
                        <a:sym typeface="Times New Roman"/>
                      </a:endParaRPr>
                    </a:p>
                  </a:txBody>
                  <a:tcPr marL="47825" marR="47825" marT="0" marB="0"/>
                </a:tc>
                <a:tc>
                  <a:txBody>
                    <a:bodyPr/>
                    <a:lstStyle/>
                    <a:p>
                      <a:pPr marL="457200" marR="0" lvl="0" indent="0" algn="ctr" rtl="0">
                        <a:lnSpc>
                          <a:spcPct val="115000"/>
                        </a:lnSpc>
                        <a:spcBef>
                          <a:spcPts val="0"/>
                        </a:spcBef>
                        <a:spcAft>
                          <a:spcPts val="0"/>
                        </a:spcAft>
                        <a:buNone/>
                      </a:pPr>
                      <a:r>
                        <a:rPr lang="en-US" sz="1600" b="0" dirty="0">
                          <a:solidFill>
                            <a:srgbClr val="C00000"/>
                          </a:solidFill>
                          <a:latin typeface="Times New Roman"/>
                          <a:ea typeface="Times New Roman"/>
                          <a:cs typeface="Times New Roman"/>
                          <a:sym typeface="Times New Roman"/>
                        </a:rPr>
                        <a:t>DBMS</a:t>
                      </a:r>
                      <a:endParaRPr sz="1600" b="0" dirty="0">
                        <a:solidFill>
                          <a:srgbClr val="C00000"/>
                        </a:solidFill>
                        <a:latin typeface="Times New Roman"/>
                        <a:ea typeface="Times New Roman"/>
                        <a:cs typeface="Times New Roman"/>
                        <a:sym typeface="Times New Roman"/>
                      </a:endParaRPr>
                    </a:p>
                  </a:txBody>
                  <a:tcPr marL="47825" marR="47825" marT="0" marB="0"/>
                </a:tc>
                <a:extLst>
                  <a:ext uri="{0D108BD9-81ED-4DB2-BD59-A6C34878D82A}">
                    <a16:rowId xmlns:a16="http://schemas.microsoft.com/office/drawing/2014/main" val="10000"/>
                  </a:ext>
                </a:extLst>
              </a:tr>
              <a:tr h="1452650">
                <a:tc>
                  <a:txBody>
                    <a:bodyPr/>
                    <a:lstStyle/>
                    <a:p>
                      <a:pPr marL="457200" marR="0" lvl="0" indent="0" algn="just" rtl="0">
                        <a:lnSpc>
                          <a:spcPct val="115000"/>
                        </a:lnSpc>
                        <a:spcBef>
                          <a:spcPts val="0"/>
                        </a:spcBef>
                        <a:spcAft>
                          <a:spcPts val="0"/>
                        </a:spcAft>
                        <a:buNone/>
                      </a:pPr>
                      <a:r>
                        <a:rPr lang="en-US" sz="1600" b="0" dirty="0">
                          <a:solidFill>
                            <a:srgbClr val="0070C0"/>
                          </a:solidFill>
                          <a:latin typeface="Times New Roman"/>
                          <a:ea typeface="Times New Roman"/>
                          <a:cs typeface="Times New Roman"/>
                          <a:sym typeface="Times New Roman"/>
                        </a:rPr>
                        <a:t>In traditional file processing, data definition is typically part of the application programs themselves.</a:t>
                      </a:r>
                      <a:endParaRPr sz="1600" b="0" dirty="0">
                        <a:solidFill>
                          <a:srgbClr val="0070C0"/>
                        </a:solidFill>
                        <a:latin typeface="Times New Roman"/>
                        <a:ea typeface="Times New Roman"/>
                        <a:cs typeface="Times New Roman"/>
                        <a:sym typeface="Times New Roman"/>
                      </a:endParaRPr>
                    </a:p>
                  </a:txBody>
                  <a:tcPr marL="47825" marR="47825" marT="0" marB="0">
                    <a:solidFill>
                      <a:schemeClr val="bg2">
                        <a:lumMod val="20000"/>
                        <a:lumOff val="80000"/>
                      </a:schemeClr>
                    </a:solidFill>
                  </a:tcPr>
                </a:tc>
                <a:tc>
                  <a:txBody>
                    <a:bodyPr/>
                    <a:lstStyle/>
                    <a:p>
                      <a:pPr marL="457200" marR="0" lvl="0" indent="0" algn="just" rtl="0">
                        <a:lnSpc>
                          <a:spcPct val="115000"/>
                        </a:lnSpc>
                        <a:spcBef>
                          <a:spcPts val="0"/>
                        </a:spcBef>
                        <a:spcAft>
                          <a:spcPts val="0"/>
                        </a:spcAft>
                        <a:buNone/>
                      </a:pPr>
                      <a:r>
                        <a:rPr lang="en-US" sz="1600" b="0" dirty="0">
                          <a:solidFill>
                            <a:srgbClr val="0070C0"/>
                          </a:solidFill>
                          <a:latin typeface="Times New Roman"/>
                          <a:ea typeface="Times New Roman"/>
                          <a:cs typeface="Times New Roman"/>
                          <a:sym typeface="Times New Roman"/>
                        </a:rPr>
                        <a:t>A fundamental characteristic of the database approach is that the database system contains not only the database itself but also a complete definition or description of the database structure and constraints.</a:t>
                      </a:r>
                      <a:endParaRPr sz="1600" b="0" dirty="0">
                        <a:solidFill>
                          <a:srgbClr val="0070C0"/>
                        </a:solidFill>
                        <a:latin typeface="Times New Roman"/>
                        <a:ea typeface="Times New Roman"/>
                        <a:cs typeface="Times New Roman"/>
                        <a:sym typeface="Times New Roman"/>
                      </a:endParaRPr>
                    </a:p>
                  </a:txBody>
                  <a:tcPr marL="47825" marR="47825" marT="0" marB="0">
                    <a:solidFill>
                      <a:schemeClr val="bg2">
                        <a:lumMod val="20000"/>
                        <a:lumOff val="80000"/>
                      </a:schemeClr>
                    </a:solidFill>
                  </a:tcPr>
                </a:tc>
                <a:extLst>
                  <a:ext uri="{0D108BD9-81ED-4DB2-BD59-A6C34878D82A}">
                    <a16:rowId xmlns:a16="http://schemas.microsoft.com/office/drawing/2014/main" val="10001"/>
                  </a:ext>
                </a:extLst>
              </a:tr>
              <a:tr h="1269625">
                <a:tc>
                  <a:txBody>
                    <a:bodyPr/>
                    <a:lstStyle/>
                    <a:p>
                      <a:pPr marL="457200" marR="0" lvl="0" indent="0" algn="just" rtl="0">
                        <a:lnSpc>
                          <a:spcPct val="115000"/>
                        </a:lnSpc>
                        <a:spcBef>
                          <a:spcPts val="0"/>
                        </a:spcBef>
                        <a:spcAft>
                          <a:spcPts val="0"/>
                        </a:spcAft>
                        <a:buNone/>
                      </a:pPr>
                      <a:r>
                        <a:rPr lang="en-US" sz="1600" b="0" dirty="0">
                          <a:solidFill>
                            <a:srgbClr val="0070C0"/>
                          </a:solidFill>
                          <a:latin typeface="Times New Roman"/>
                          <a:ea typeface="Times New Roman"/>
                          <a:cs typeface="Times New Roman"/>
                          <a:sym typeface="Times New Roman"/>
                        </a:rPr>
                        <a:t>In traditional file processing, the structure of data files is embedded in the application programs, so any changes to the structure of a file may require changing all programs that access that file.</a:t>
                      </a:r>
                      <a:endParaRPr sz="1600" b="0" dirty="0">
                        <a:solidFill>
                          <a:srgbClr val="0070C0"/>
                        </a:solidFill>
                        <a:latin typeface="Times New Roman"/>
                        <a:ea typeface="Times New Roman"/>
                        <a:cs typeface="Times New Roman"/>
                        <a:sym typeface="Times New Roman"/>
                      </a:endParaRPr>
                    </a:p>
                  </a:txBody>
                  <a:tcPr marL="47825" marR="47825" marT="0" marB="0">
                    <a:solidFill>
                      <a:schemeClr val="bg2">
                        <a:lumMod val="20000"/>
                        <a:lumOff val="80000"/>
                      </a:schemeClr>
                    </a:solidFill>
                  </a:tcPr>
                </a:tc>
                <a:tc>
                  <a:txBody>
                    <a:bodyPr/>
                    <a:lstStyle/>
                    <a:p>
                      <a:pPr marL="457200" marR="0" lvl="0" indent="0" algn="just" rtl="0">
                        <a:lnSpc>
                          <a:spcPct val="115000"/>
                        </a:lnSpc>
                        <a:spcBef>
                          <a:spcPts val="0"/>
                        </a:spcBef>
                        <a:spcAft>
                          <a:spcPts val="0"/>
                        </a:spcAft>
                        <a:buNone/>
                      </a:pPr>
                      <a:r>
                        <a:rPr lang="en-US" sz="1600" b="0" dirty="0">
                          <a:solidFill>
                            <a:srgbClr val="0070C0"/>
                          </a:solidFill>
                          <a:latin typeface="Times New Roman"/>
                          <a:ea typeface="Times New Roman"/>
                          <a:cs typeface="Times New Roman"/>
                          <a:sym typeface="Times New Roman"/>
                        </a:rPr>
                        <a:t>DBMS access programs do not require such changes in most cases. The structure of data files is stored in the DBMS catalog separately from the access programs.</a:t>
                      </a:r>
                      <a:endParaRPr sz="1600" b="0" dirty="0">
                        <a:solidFill>
                          <a:srgbClr val="0070C0"/>
                        </a:solidFill>
                        <a:latin typeface="Times New Roman"/>
                        <a:ea typeface="Times New Roman"/>
                        <a:cs typeface="Times New Roman"/>
                        <a:sym typeface="Times New Roman"/>
                      </a:endParaRPr>
                    </a:p>
                  </a:txBody>
                  <a:tcPr marL="47825" marR="47825" marT="0" marB="0">
                    <a:solidFill>
                      <a:schemeClr val="bg2">
                        <a:lumMod val="20000"/>
                        <a:lumOff val="80000"/>
                      </a:schemeClr>
                    </a:solidFill>
                  </a:tcPr>
                </a:tc>
                <a:extLst>
                  <a:ext uri="{0D108BD9-81ED-4DB2-BD59-A6C34878D82A}">
                    <a16:rowId xmlns:a16="http://schemas.microsoft.com/office/drawing/2014/main" val="10002"/>
                  </a:ext>
                </a:extLst>
              </a:tr>
              <a:tr h="720550">
                <a:tc>
                  <a:txBody>
                    <a:bodyPr/>
                    <a:lstStyle/>
                    <a:p>
                      <a:pPr marL="457200" marR="0" lvl="0" indent="0" algn="just" rtl="0">
                        <a:lnSpc>
                          <a:spcPct val="115000"/>
                        </a:lnSpc>
                        <a:spcBef>
                          <a:spcPts val="0"/>
                        </a:spcBef>
                        <a:spcAft>
                          <a:spcPts val="0"/>
                        </a:spcAft>
                        <a:buNone/>
                      </a:pPr>
                      <a:r>
                        <a:rPr lang="en-US" sz="1600" b="0" dirty="0">
                          <a:solidFill>
                            <a:srgbClr val="0070C0"/>
                          </a:solidFill>
                          <a:latin typeface="Times New Roman"/>
                          <a:ea typeface="Times New Roman"/>
                          <a:cs typeface="Times New Roman"/>
                          <a:sym typeface="Times New Roman"/>
                        </a:rPr>
                        <a:t>Does not support multiple view of data</a:t>
                      </a:r>
                      <a:endParaRPr sz="1600" b="0" dirty="0">
                        <a:solidFill>
                          <a:srgbClr val="0070C0"/>
                        </a:solidFill>
                        <a:latin typeface="Times New Roman"/>
                        <a:ea typeface="Times New Roman"/>
                        <a:cs typeface="Times New Roman"/>
                        <a:sym typeface="Times New Roman"/>
                      </a:endParaRPr>
                    </a:p>
                  </a:txBody>
                  <a:tcPr marL="47825" marR="47825" marT="0" marB="0">
                    <a:solidFill>
                      <a:schemeClr val="bg2">
                        <a:lumMod val="20000"/>
                        <a:lumOff val="80000"/>
                      </a:schemeClr>
                    </a:solidFill>
                  </a:tcPr>
                </a:tc>
                <a:tc>
                  <a:txBody>
                    <a:bodyPr/>
                    <a:lstStyle/>
                    <a:p>
                      <a:pPr marL="457200" marR="0" lvl="0" indent="0" algn="just" rtl="0">
                        <a:lnSpc>
                          <a:spcPct val="115000"/>
                        </a:lnSpc>
                        <a:spcBef>
                          <a:spcPts val="0"/>
                        </a:spcBef>
                        <a:spcAft>
                          <a:spcPts val="0"/>
                        </a:spcAft>
                        <a:buNone/>
                      </a:pPr>
                      <a:r>
                        <a:rPr lang="en-US" sz="1600" b="0" dirty="0">
                          <a:solidFill>
                            <a:srgbClr val="0070C0"/>
                          </a:solidFill>
                          <a:latin typeface="Times New Roman"/>
                          <a:ea typeface="Times New Roman"/>
                          <a:cs typeface="Times New Roman"/>
                          <a:sym typeface="Times New Roman"/>
                        </a:rPr>
                        <a:t>A database typically has many users, each of whom may require a different perspective or view of the database.</a:t>
                      </a:r>
                      <a:endParaRPr sz="1600" b="0" dirty="0">
                        <a:solidFill>
                          <a:srgbClr val="0070C0"/>
                        </a:solidFill>
                        <a:latin typeface="Times New Roman"/>
                        <a:ea typeface="Times New Roman"/>
                        <a:cs typeface="Times New Roman"/>
                        <a:sym typeface="Times New Roman"/>
                      </a:endParaRPr>
                    </a:p>
                  </a:txBody>
                  <a:tcPr marL="47825" marR="47825" marT="0" marB="0">
                    <a:solidFill>
                      <a:schemeClr val="bg2">
                        <a:lumMod val="20000"/>
                        <a:lumOff val="80000"/>
                      </a:schemeClr>
                    </a:solidFill>
                  </a:tcPr>
                </a:tc>
                <a:extLst>
                  <a:ext uri="{0D108BD9-81ED-4DB2-BD59-A6C34878D82A}">
                    <a16:rowId xmlns:a16="http://schemas.microsoft.com/office/drawing/2014/main" val="10003"/>
                  </a:ext>
                </a:extLst>
              </a:tr>
              <a:tr h="1086600">
                <a:tc>
                  <a:txBody>
                    <a:bodyPr/>
                    <a:lstStyle/>
                    <a:p>
                      <a:pPr marL="457200" marR="0" lvl="0" indent="0" algn="just" rtl="0">
                        <a:lnSpc>
                          <a:spcPct val="115000"/>
                        </a:lnSpc>
                        <a:spcBef>
                          <a:spcPts val="0"/>
                        </a:spcBef>
                        <a:spcAft>
                          <a:spcPts val="0"/>
                        </a:spcAft>
                        <a:buNone/>
                      </a:pPr>
                      <a:r>
                        <a:rPr lang="en-US" sz="1600" b="0" dirty="0">
                          <a:solidFill>
                            <a:srgbClr val="0070C0"/>
                          </a:solidFill>
                          <a:latin typeface="Times New Roman"/>
                          <a:ea typeface="Times New Roman"/>
                          <a:cs typeface="Times New Roman"/>
                          <a:sym typeface="Times New Roman"/>
                        </a:rPr>
                        <a:t>Concurrent access to the data in the file system has many problems like Reading the file while other deleting some information, updating some information etc.</a:t>
                      </a:r>
                      <a:endParaRPr sz="1600" b="0" dirty="0">
                        <a:solidFill>
                          <a:srgbClr val="0070C0"/>
                        </a:solidFill>
                        <a:latin typeface="Times New Roman"/>
                        <a:ea typeface="Times New Roman"/>
                        <a:cs typeface="Times New Roman"/>
                        <a:sym typeface="Times New Roman"/>
                      </a:endParaRPr>
                    </a:p>
                  </a:txBody>
                  <a:tcPr marL="47825" marR="47825" marT="0" marB="0">
                    <a:solidFill>
                      <a:schemeClr val="bg2">
                        <a:lumMod val="20000"/>
                        <a:lumOff val="80000"/>
                      </a:schemeClr>
                    </a:solidFill>
                  </a:tcPr>
                </a:tc>
                <a:tc>
                  <a:txBody>
                    <a:bodyPr/>
                    <a:lstStyle/>
                    <a:p>
                      <a:pPr marL="457200" marR="0" lvl="0" indent="0" algn="just" rtl="0">
                        <a:lnSpc>
                          <a:spcPct val="115000"/>
                        </a:lnSpc>
                        <a:spcBef>
                          <a:spcPts val="0"/>
                        </a:spcBef>
                        <a:spcAft>
                          <a:spcPts val="0"/>
                        </a:spcAft>
                        <a:buNone/>
                      </a:pPr>
                      <a:r>
                        <a:rPr lang="en-US" sz="1600" b="0" dirty="0">
                          <a:solidFill>
                            <a:srgbClr val="0070C0"/>
                          </a:solidFill>
                          <a:latin typeface="Times New Roman"/>
                          <a:ea typeface="Times New Roman"/>
                          <a:cs typeface="Times New Roman"/>
                          <a:sym typeface="Times New Roman"/>
                        </a:rPr>
                        <a:t>DBMS takes care of Concurrent access using some form of locking.</a:t>
                      </a:r>
                      <a:endParaRPr sz="1600" b="0" dirty="0">
                        <a:solidFill>
                          <a:srgbClr val="0070C0"/>
                        </a:solidFill>
                        <a:latin typeface="Times New Roman"/>
                        <a:ea typeface="Times New Roman"/>
                        <a:cs typeface="Times New Roman"/>
                        <a:sym typeface="Times New Roman"/>
                      </a:endParaRPr>
                    </a:p>
                  </a:txBody>
                  <a:tcPr marL="47825" marR="47825" marT="0" marB="0">
                    <a:solidFill>
                      <a:schemeClr val="bg2">
                        <a:lumMod val="20000"/>
                        <a:lumOff val="80000"/>
                      </a:schemeClr>
                    </a:solidFill>
                  </a:tcPr>
                </a:tc>
                <a:extLst>
                  <a:ext uri="{0D108BD9-81ED-4DB2-BD59-A6C34878D82A}">
                    <a16:rowId xmlns:a16="http://schemas.microsoft.com/office/drawing/2014/main" val="10004"/>
                  </a:ext>
                </a:extLst>
              </a:tr>
            </a:tbl>
          </a:graphicData>
        </a:graphic>
      </p:graphicFrame>
      <p:sp>
        <p:nvSpPr>
          <p:cNvPr id="326" name="Google Shape;326;p14"/>
          <p:cNvSpPr txBox="1"/>
          <p:nvPr/>
        </p:nvSpPr>
        <p:spPr>
          <a:xfrm>
            <a:off x="2305455" y="321013"/>
            <a:ext cx="7334656"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rgbClr val="FF0000"/>
                </a:solidFill>
                <a:latin typeface="Times New Roman"/>
                <a:ea typeface="Times New Roman"/>
                <a:cs typeface="Times New Roman"/>
                <a:sym typeface="Times New Roman"/>
              </a:rPr>
              <a:t>Differentiate between File System and DBMS</a:t>
            </a:r>
            <a:endParaRPr sz="1800" b="1">
              <a:solidFill>
                <a:srgbClr val="FF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15"/>
          <p:cNvSpPr txBox="1">
            <a:spLocks noGrp="1"/>
          </p:cNvSpPr>
          <p:nvPr>
            <p:ph type="title"/>
          </p:nvPr>
        </p:nvSpPr>
        <p:spPr>
          <a:xfrm>
            <a:off x="709612" y="251036"/>
            <a:ext cx="10772775" cy="829099"/>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FF0000"/>
              </a:buClr>
              <a:buSzPts val="4800"/>
              <a:buFont typeface="Calibri"/>
              <a:buNone/>
            </a:pPr>
            <a:r>
              <a:rPr lang="en-US">
                <a:solidFill>
                  <a:srgbClr val="FF0000"/>
                </a:solidFill>
              </a:rPr>
              <a:t>Database Users</a:t>
            </a:r>
            <a:endParaRPr/>
          </a:p>
        </p:txBody>
      </p:sp>
      <p:sp>
        <p:nvSpPr>
          <p:cNvPr id="334" name="Google Shape;334;p1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grpSp>
        <p:nvGrpSpPr>
          <p:cNvPr id="335" name="Google Shape;335;p15"/>
          <p:cNvGrpSpPr/>
          <p:nvPr/>
        </p:nvGrpSpPr>
        <p:grpSpPr>
          <a:xfrm>
            <a:off x="3560491" y="1081414"/>
            <a:ext cx="6019795" cy="5566157"/>
            <a:chOff x="2293603" y="1279"/>
            <a:chExt cx="6019795" cy="5566157"/>
          </a:xfrm>
        </p:grpSpPr>
        <p:sp>
          <p:nvSpPr>
            <p:cNvPr id="336" name="Google Shape;336;p15"/>
            <p:cNvSpPr/>
            <p:nvPr/>
          </p:nvSpPr>
          <p:spPr>
            <a:xfrm>
              <a:off x="6590699" y="2816601"/>
              <a:ext cx="91440" cy="733375"/>
            </a:xfrm>
            <a:custGeom>
              <a:avLst/>
              <a:gdLst/>
              <a:ahLst/>
              <a:cxnLst/>
              <a:rect l="l" t="t" r="r" b="b"/>
              <a:pathLst>
                <a:path w="120000" h="120000" extrusionOk="0">
                  <a:moveTo>
                    <a:pt x="60000" y="0"/>
                  </a:moveTo>
                  <a:lnTo>
                    <a:pt x="60000" y="120000"/>
                  </a:lnTo>
                </a:path>
              </a:pathLst>
            </a:custGeom>
            <a:noFill/>
            <a:ln w="15875" cap="flat" cmpd="sng">
              <a:solidFill>
                <a:srgbClr val="169BCE"/>
              </a:solidFill>
              <a:prstDash val="solid"/>
              <a:round/>
              <a:headEnd type="none" w="sm" len="sm"/>
              <a:tailEnd type="none" w="sm" len="sm"/>
            </a:ln>
          </p:spPr>
        </p:sp>
        <p:sp>
          <p:nvSpPr>
            <p:cNvPr id="337" name="Google Shape;337;p15"/>
            <p:cNvSpPr/>
            <p:nvPr/>
          </p:nvSpPr>
          <p:spPr>
            <a:xfrm>
              <a:off x="5095420" y="481987"/>
              <a:ext cx="1540999" cy="733375"/>
            </a:xfrm>
            <a:custGeom>
              <a:avLst/>
              <a:gdLst/>
              <a:ahLst/>
              <a:cxnLst/>
              <a:rect l="l" t="t" r="r" b="b"/>
              <a:pathLst>
                <a:path w="120000" h="120000" extrusionOk="0">
                  <a:moveTo>
                    <a:pt x="0" y="0"/>
                  </a:moveTo>
                  <a:lnTo>
                    <a:pt x="0" y="81777"/>
                  </a:lnTo>
                  <a:lnTo>
                    <a:pt x="120000" y="81777"/>
                  </a:lnTo>
                  <a:lnTo>
                    <a:pt x="120000" y="120000"/>
                  </a:lnTo>
                </a:path>
              </a:pathLst>
            </a:custGeom>
            <a:noFill/>
            <a:ln w="15875" cap="flat" cmpd="sng">
              <a:solidFill>
                <a:srgbClr val="1488B3"/>
              </a:solidFill>
              <a:prstDash val="solid"/>
              <a:round/>
              <a:headEnd type="none" w="sm" len="sm"/>
              <a:tailEnd type="none" w="sm" len="sm"/>
            </a:ln>
          </p:spPr>
        </p:sp>
        <p:sp>
          <p:nvSpPr>
            <p:cNvPr id="338" name="Google Shape;338;p15"/>
            <p:cNvSpPr/>
            <p:nvPr/>
          </p:nvSpPr>
          <p:spPr>
            <a:xfrm>
              <a:off x="3508701" y="2816601"/>
              <a:ext cx="91440" cy="733375"/>
            </a:xfrm>
            <a:custGeom>
              <a:avLst/>
              <a:gdLst/>
              <a:ahLst/>
              <a:cxnLst/>
              <a:rect l="l" t="t" r="r" b="b"/>
              <a:pathLst>
                <a:path w="120000" h="120000" extrusionOk="0">
                  <a:moveTo>
                    <a:pt x="60000" y="0"/>
                  </a:moveTo>
                  <a:lnTo>
                    <a:pt x="60000" y="120000"/>
                  </a:lnTo>
                </a:path>
              </a:pathLst>
            </a:custGeom>
            <a:noFill/>
            <a:ln w="15875" cap="flat" cmpd="sng">
              <a:solidFill>
                <a:srgbClr val="169BCE"/>
              </a:solidFill>
              <a:prstDash val="solid"/>
              <a:round/>
              <a:headEnd type="none" w="sm" len="sm"/>
              <a:tailEnd type="none" w="sm" len="sm"/>
            </a:ln>
          </p:spPr>
        </p:sp>
        <p:sp>
          <p:nvSpPr>
            <p:cNvPr id="339" name="Google Shape;339;p15"/>
            <p:cNvSpPr/>
            <p:nvPr/>
          </p:nvSpPr>
          <p:spPr>
            <a:xfrm>
              <a:off x="3554421" y="481987"/>
              <a:ext cx="1540999" cy="733375"/>
            </a:xfrm>
            <a:custGeom>
              <a:avLst/>
              <a:gdLst/>
              <a:ahLst/>
              <a:cxnLst/>
              <a:rect l="l" t="t" r="r" b="b"/>
              <a:pathLst>
                <a:path w="120000" h="120000" extrusionOk="0">
                  <a:moveTo>
                    <a:pt x="120000" y="0"/>
                  </a:moveTo>
                  <a:lnTo>
                    <a:pt x="120000" y="81777"/>
                  </a:lnTo>
                  <a:lnTo>
                    <a:pt x="0" y="81777"/>
                  </a:lnTo>
                  <a:lnTo>
                    <a:pt x="0" y="120000"/>
                  </a:lnTo>
                </a:path>
              </a:pathLst>
            </a:custGeom>
            <a:noFill/>
            <a:ln w="15875" cap="flat" cmpd="sng">
              <a:solidFill>
                <a:srgbClr val="1488B3"/>
              </a:solidFill>
              <a:prstDash val="solid"/>
              <a:round/>
              <a:headEnd type="none" w="sm" len="sm"/>
              <a:tailEnd type="none" w="sm" len="sm"/>
            </a:ln>
          </p:spPr>
        </p:sp>
        <p:sp>
          <p:nvSpPr>
            <p:cNvPr id="340" name="Google Shape;340;p15"/>
            <p:cNvSpPr/>
            <p:nvPr/>
          </p:nvSpPr>
          <p:spPr>
            <a:xfrm>
              <a:off x="3834602" y="1279"/>
              <a:ext cx="2521634" cy="480707"/>
            </a:xfrm>
            <a:prstGeom prst="roundRect">
              <a:avLst>
                <a:gd name="adj" fmla="val 10000"/>
              </a:avLst>
            </a:prstGeom>
            <a:solidFill>
              <a:srgbClr val="19ACE4"/>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5"/>
            <p:cNvSpPr/>
            <p:nvPr/>
          </p:nvSpPr>
          <p:spPr>
            <a:xfrm>
              <a:off x="4114784" y="267452"/>
              <a:ext cx="2521634" cy="480707"/>
            </a:xfrm>
            <a:prstGeom prst="roundRect">
              <a:avLst>
                <a:gd name="adj" fmla="val 10000"/>
              </a:avLst>
            </a:prstGeom>
            <a:solidFill>
              <a:schemeClr val="lt1">
                <a:alpha val="89803"/>
              </a:schemeClr>
            </a:solidFill>
            <a:ln w="15875" cap="flat" cmpd="sng">
              <a:solidFill>
                <a:srgbClr val="19ACE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5"/>
            <p:cNvSpPr txBox="1"/>
            <p:nvPr/>
          </p:nvSpPr>
          <p:spPr>
            <a:xfrm>
              <a:off x="4128863" y="281531"/>
              <a:ext cx="2493476" cy="452549"/>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a:solidFill>
                    <a:schemeClr val="dk1"/>
                  </a:solidFill>
                  <a:latin typeface="Calibri"/>
                  <a:ea typeface="Calibri"/>
                  <a:cs typeface="Calibri"/>
                  <a:sym typeface="Calibri"/>
                </a:rPr>
                <a:t>Database Users</a:t>
              </a:r>
              <a:endParaRPr/>
            </a:p>
          </p:txBody>
        </p:sp>
        <p:sp>
          <p:nvSpPr>
            <p:cNvPr id="343" name="Google Shape;343;p15"/>
            <p:cNvSpPr/>
            <p:nvPr/>
          </p:nvSpPr>
          <p:spPr>
            <a:xfrm>
              <a:off x="2293603" y="1215362"/>
              <a:ext cx="2521634" cy="1601238"/>
            </a:xfrm>
            <a:prstGeom prst="roundRect">
              <a:avLst>
                <a:gd name="adj" fmla="val 10000"/>
              </a:avLst>
            </a:prstGeom>
            <a:solidFill>
              <a:srgbClr val="19ACE4"/>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5"/>
            <p:cNvSpPr/>
            <p:nvPr/>
          </p:nvSpPr>
          <p:spPr>
            <a:xfrm>
              <a:off x="2573785" y="1481535"/>
              <a:ext cx="2521634" cy="1601238"/>
            </a:xfrm>
            <a:prstGeom prst="roundRect">
              <a:avLst>
                <a:gd name="adj" fmla="val 10000"/>
              </a:avLst>
            </a:prstGeom>
            <a:solidFill>
              <a:schemeClr val="lt1">
                <a:alpha val="89803"/>
              </a:schemeClr>
            </a:solidFill>
            <a:ln w="15875" cap="flat" cmpd="sng">
              <a:solidFill>
                <a:srgbClr val="19ACE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5"/>
            <p:cNvSpPr txBox="1"/>
            <p:nvPr/>
          </p:nvSpPr>
          <p:spPr>
            <a:xfrm>
              <a:off x="2620684" y="1528434"/>
              <a:ext cx="2427836" cy="1507440"/>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rgbClr val="000000"/>
                </a:buClr>
                <a:buSzPts val="1600"/>
                <a:buFont typeface="Times New Roman"/>
                <a:buNone/>
              </a:pPr>
              <a:r>
                <a:rPr lang="en-US" sz="1600">
                  <a:solidFill>
                    <a:srgbClr val="000000"/>
                  </a:solidFill>
                  <a:latin typeface="Times New Roman"/>
                  <a:ea typeface="Times New Roman"/>
                  <a:cs typeface="Times New Roman"/>
                  <a:sym typeface="Times New Roman"/>
                </a:rPr>
                <a:t>Actors on the Scene</a:t>
              </a:r>
              <a:endParaRPr/>
            </a:p>
            <a:p>
              <a:pPr marL="0" marR="0" lvl="0" indent="0" algn="ctr" rtl="0">
                <a:lnSpc>
                  <a:spcPct val="90000"/>
                </a:lnSpc>
                <a:spcBef>
                  <a:spcPts val="560"/>
                </a:spcBef>
                <a:spcAft>
                  <a:spcPts val="0"/>
                </a:spcAft>
                <a:buClr>
                  <a:srgbClr val="000000"/>
                </a:buClr>
                <a:buSzPts val="1600"/>
                <a:buFont typeface="Times New Roman"/>
                <a:buNone/>
              </a:pPr>
              <a:r>
                <a:rPr lang="en-US" sz="1600">
                  <a:solidFill>
                    <a:srgbClr val="000000"/>
                  </a:solidFill>
                  <a:latin typeface="Times New Roman"/>
                  <a:ea typeface="Times New Roman"/>
                  <a:cs typeface="Times New Roman"/>
                  <a:sym typeface="Times New Roman"/>
                </a:rPr>
                <a:t>(actually use and control the content) </a:t>
              </a:r>
              <a:endParaRPr/>
            </a:p>
            <a:p>
              <a:pPr marL="0" marR="0" lvl="0" indent="0" algn="ctr" rtl="0">
                <a:lnSpc>
                  <a:spcPct val="90000"/>
                </a:lnSpc>
                <a:spcBef>
                  <a:spcPts val="560"/>
                </a:spcBef>
                <a:spcAft>
                  <a:spcPts val="0"/>
                </a:spcAft>
                <a:buClr>
                  <a:schemeClr val="dk1"/>
                </a:buClr>
                <a:buSzPts val="1200"/>
                <a:buFont typeface="Calibri"/>
                <a:buNone/>
              </a:pPr>
              <a:endParaRPr sz="1200">
                <a:solidFill>
                  <a:schemeClr val="dk1"/>
                </a:solidFill>
                <a:latin typeface="Calibri"/>
                <a:ea typeface="Calibri"/>
                <a:cs typeface="Calibri"/>
                <a:sym typeface="Calibri"/>
              </a:endParaRPr>
            </a:p>
          </p:txBody>
        </p:sp>
        <p:sp>
          <p:nvSpPr>
            <p:cNvPr id="346" name="Google Shape;346;p15"/>
            <p:cNvSpPr/>
            <p:nvPr/>
          </p:nvSpPr>
          <p:spPr>
            <a:xfrm>
              <a:off x="2293603" y="3549976"/>
              <a:ext cx="2521634" cy="1601238"/>
            </a:xfrm>
            <a:prstGeom prst="roundRect">
              <a:avLst>
                <a:gd name="adj" fmla="val 10000"/>
              </a:avLst>
            </a:prstGeom>
            <a:solidFill>
              <a:srgbClr val="19ACE4"/>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5"/>
            <p:cNvSpPr/>
            <p:nvPr/>
          </p:nvSpPr>
          <p:spPr>
            <a:xfrm>
              <a:off x="2573785" y="3816149"/>
              <a:ext cx="2521634" cy="1601238"/>
            </a:xfrm>
            <a:prstGeom prst="roundRect">
              <a:avLst>
                <a:gd name="adj" fmla="val 10000"/>
              </a:avLst>
            </a:prstGeom>
            <a:solidFill>
              <a:schemeClr val="lt1">
                <a:alpha val="89803"/>
              </a:schemeClr>
            </a:solidFill>
            <a:ln w="15875" cap="flat" cmpd="sng">
              <a:solidFill>
                <a:srgbClr val="19ACE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5"/>
            <p:cNvSpPr txBox="1"/>
            <p:nvPr/>
          </p:nvSpPr>
          <p:spPr>
            <a:xfrm>
              <a:off x="2620684" y="3947456"/>
              <a:ext cx="2427836" cy="1507440"/>
            </a:xfrm>
            <a:prstGeom prst="rect">
              <a:avLst/>
            </a:prstGeom>
            <a:no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dirty="0">
                  <a:solidFill>
                    <a:schemeClr val="dk1"/>
                  </a:solidFill>
                  <a:latin typeface="Calibri"/>
                  <a:ea typeface="Calibri"/>
                  <a:cs typeface="Calibri"/>
                  <a:sym typeface="Calibri"/>
                </a:rPr>
                <a:t>Database administrators</a:t>
              </a:r>
              <a:endParaRPr dirty="0"/>
            </a:p>
            <a:p>
              <a:pPr marL="0" marR="0" lvl="0" indent="0" algn="l" rtl="0">
                <a:lnSpc>
                  <a:spcPct val="90000"/>
                </a:lnSpc>
                <a:spcBef>
                  <a:spcPts val="560"/>
                </a:spcBef>
                <a:spcAft>
                  <a:spcPts val="0"/>
                </a:spcAft>
                <a:buClr>
                  <a:schemeClr val="dk1"/>
                </a:buClr>
                <a:buSzPts val="1600"/>
                <a:buFont typeface="Arial"/>
                <a:buNone/>
              </a:pPr>
              <a:r>
                <a:rPr lang="en-US" sz="1600" dirty="0">
                  <a:solidFill>
                    <a:schemeClr val="dk1"/>
                  </a:solidFill>
                  <a:latin typeface="Calibri"/>
                  <a:ea typeface="Calibri"/>
                  <a:cs typeface="Calibri"/>
                  <a:sym typeface="Calibri"/>
                </a:rPr>
                <a:t>Database Designers</a:t>
              </a:r>
              <a:endParaRPr dirty="0"/>
            </a:p>
            <a:p>
              <a:pPr marL="0" marR="0" lvl="0" indent="0" algn="l" rtl="0">
                <a:lnSpc>
                  <a:spcPct val="90000"/>
                </a:lnSpc>
                <a:spcBef>
                  <a:spcPts val="560"/>
                </a:spcBef>
                <a:spcAft>
                  <a:spcPts val="0"/>
                </a:spcAft>
                <a:buClr>
                  <a:schemeClr val="dk1"/>
                </a:buClr>
                <a:buSzPts val="1600"/>
                <a:buFont typeface="Arial"/>
                <a:buNone/>
              </a:pPr>
              <a:r>
                <a:rPr lang="en-US" sz="1600" dirty="0" smtClean="0">
                  <a:solidFill>
                    <a:schemeClr val="dk1"/>
                  </a:solidFill>
                  <a:latin typeface="Calibri"/>
                  <a:ea typeface="Calibri"/>
                  <a:cs typeface="Calibri"/>
                  <a:sym typeface="Calibri"/>
                </a:rPr>
                <a:t>End-users, System </a:t>
              </a:r>
              <a:r>
                <a:rPr lang="en-US" sz="1600" dirty="0">
                  <a:solidFill>
                    <a:schemeClr val="dk1"/>
                  </a:solidFill>
                  <a:latin typeface="Calibri"/>
                  <a:ea typeface="Calibri"/>
                  <a:cs typeface="Calibri"/>
                  <a:sym typeface="Calibri"/>
                </a:rPr>
                <a:t>Analysts and Application Programmers(Software Engineers)</a:t>
              </a:r>
              <a:endParaRPr dirty="0"/>
            </a:p>
          </p:txBody>
        </p:sp>
        <p:sp>
          <p:nvSpPr>
            <p:cNvPr id="349" name="Google Shape;349;p15"/>
            <p:cNvSpPr/>
            <p:nvPr/>
          </p:nvSpPr>
          <p:spPr>
            <a:xfrm>
              <a:off x="5375601" y="1215362"/>
              <a:ext cx="2521634" cy="1601238"/>
            </a:xfrm>
            <a:prstGeom prst="roundRect">
              <a:avLst>
                <a:gd name="adj" fmla="val 10000"/>
              </a:avLst>
            </a:prstGeom>
            <a:solidFill>
              <a:srgbClr val="19ACE4"/>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5"/>
            <p:cNvSpPr/>
            <p:nvPr/>
          </p:nvSpPr>
          <p:spPr>
            <a:xfrm>
              <a:off x="5655783" y="1481535"/>
              <a:ext cx="2521634" cy="1601238"/>
            </a:xfrm>
            <a:prstGeom prst="roundRect">
              <a:avLst>
                <a:gd name="adj" fmla="val 10000"/>
              </a:avLst>
            </a:prstGeom>
            <a:solidFill>
              <a:schemeClr val="lt1">
                <a:alpha val="89803"/>
              </a:schemeClr>
            </a:solidFill>
            <a:ln w="15875" cap="flat" cmpd="sng">
              <a:solidFill>
                <a:srgbClr val="19ACE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5"/>
            <p:cNvSpPr txBox="1"/>
            <p:nvPr/>
          </p:nvSpPr>
          <p:spPr>
            <a:xfrm>
              <a:off x="5702682" y="1528434"/>
              <a:ext cx="2427836" cy="1507440"/>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rgbClr val="000000"/>
                </a:buClr>
                <a:buSzPts val="1600"/>
                <a:buFont typeface="Times New Roman"/>
                <a:buNone/>
              </a:pPr>
              <a:r>
                <a:rPr lang="en-US" sz="1600">
                  <a:solidFill>
                    <a:srgbClr val="000000"/>
                  </a:solidFill>
                  <a:latin typeface="Times New Roman"/>
                  <a:ea typeface="Times New Roman"/>
                  <a:cs typeface="Times New Roman"/>
                  <a:sym typeface="Times New Roman"/>
                </a:rPr>
                <a:t>Workers Behind the Scene</a:t>
              </a:r>
              <a:endParaRPr/>
            </a:p>
            <a:p>
              <a:pPr marL="0" marR="0" lvl="0" indent="0" algn="ctr" rtl="0">
                <a:lnSpc>
                  <a:spcPct val="90000"/>
                </a:lnSpc>
                <a:spcBef>
                  <a:spcPts val="560"/>
                </a:spcBef>
                <a:spcAft>
                  <a:spcPts val="0"/>
                </a:spcAft>
                <a:buClr>
                  <a:srgbClr val="000000"/>
                </a:buClr>
                <a:buSzPts val="1600"/>
                <a:buFont typeface="Times New Roman"/>
                <a:buNone/>
              </a:pPr>
              <a:r>
                <a:rPr lang="en-US" sz="1600">
                  <a:solidFill>
                    <a:srgbClr val="000000"/>
                  </a:solidFill>
                  <a:latin typeface="Times New Roman"/>
                  <a:ea typeface="Times New Roman"/>
                  <a:cs typeface="Times New Roman"/>
                  <a:sym typeface="Times New Roman"/>
                </a:rPr>
                <a:t>(enable the database to be developed and the DBMS software to be designed and implemented)</a:t>
              </a:r>
              <a:endParaRPr sz="1600">
                <a:solidFill>
                  <a:srgbClr val="000000"/>
                </a:solidFill>
                <a:latin typeface="Times New Roman"/>
                <a:ea typeface="Times New Roman"/>
                <a:cs typeface="Times New Roman"/>
                <a:sym typeface="Times New Roman"/>
              </a:endParaRPr>
            </a:p>
          </p:txBody>
        </p:sp>
        <p:sp>
          <p:nvSpPr>
            <p:cNvPr id="352" name="Google Shape;352;p15"/>
            <p:cNvSpPr/>
            <p:nvPr/>
          </p:nvSpPr>
          <p:spPr>
            <a:xfrm>
              <a:off x="5375601" y="3549976"/>
              <a:ext cx="2521634" cy="1601238"/>
            </a:xfrm>
            <a:prstGeom prst="roundRect">
              <a:avLst>
                <a:gd name="adj" fmla="val 10000"/>
              </a:avLst>
            </a:prstGeom>
            <a:solidFill>
              <a:srgbClr val="19ACE4"/>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5"/>
            <p:cNvSpPr/>
            <p:nvPr/>
          </p:nvSpPr>
          <p:spPr>
            <a:xfrm>
              <a:off x="5655783" y="3816149"/>
              <a:ext cx="2521634" cy="1601238"/>
            </a:xfrm>
            <a:prstGeom prst="roundRect">
              <a:avLst>
                <a:gd name="adj" fmla="val 10000"/>
              </a:avLst>
            </a:prstGeom>
            <a:solidFill>
              <a:schemeClr val="lt1">
                <a:alpha val="89803"/>
              </a:schemeClr>
            </a:solidFill>
            <a:ln w="15875" cap="flat" cmpd="sng">
              <a:solidFill>
                <a:srgbClr val="19ACE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5"/>
            <p:cNvSpPr txBox="1"/>
            <p:nvPr/>
          </p:nvSpPr>
          <p:spPr>
            <a:xfrm>
              <a:off x="5885562" y="4059996"/>
              <a:ext cx="2427836" cy="1507440"/>
            </a:xfrm>
            <a:prstGeom prst="rect">
              <a:avLst/>
            </a:prstGeom>
            <a:no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dirty="0">
                  <a:solidFill>
                    <a:schemeClr val="dk1"/>
                  </a:solidFill>
                  <a:latin typeface="Calibri"/>
                  <a:ea typeface="Calibri"/>
                  <a:cs typeface="Calibri"/>
                  <a:sym typeface="Calibri"/>
                </a:rPr>
                <a:t>DBMS System Designers and Implementers</a:t>
              </a:r>
              <a:endParaRPr dirty="0"/>
            </a:p>
            <a:p>
              <a:pPr marL="0" marR="0" lvl="0" indent="0" algn="l" rtl="0">
                <a:lnSpc>
                  <a:spcPct val="90000"/>
                </a:lnSpc>
                <a:spcBef>
                  <a:spcPts val="560"/>
                </a:spcBef>
                <a:spcAft>
                  <a:spcPts val="0"/>
                </a:spcAft>
                <a:buClr>
                  <a:schemeClr val="dk1"/>
                </a:buClr>
                <a:buSzPts val="1600"/>
                <a:buFont typeface="Arial"/>
                <a:buNone/>
              </a:pPr>
              <a:r>
                <a:rPr lang="en-US" sz="1600" dirty="0">
                  <a:solidFill>
                    <a:schemeClr val="dk1"/>
                  </a:solidFill>
                  <a:latin typeface="Calibri"/>
                  <a:ea typeface="Calibri"/>
                  <a:cs typeface="Calibri"/>
                  <a:sym typeface="Calibri"/>
                </a:rPr>
                <a:t>Tool Developers</a:t>
              </a:r>
              <a:endParaRPr dirty="0"/>
            </a:p>
            <a:p>
              <a:pPr marL="0" marR="0" lvl="0" indent="0" algn="l" rtl="0">
                <a:lnSpc>
                  <a:spcPct val="90000"/>
                </a:lnSpc>
                <a:spcBef>
                  <a:spcPts val="560"/>
                </a:spcBef>
                <a:spcAft>
                  <a:spcPts val="0"/>
                </a:spcAft>
                <a:buClr>
                  <a:schemeClr val="dk1"/>
                </a:buClr>
                <a:buSzPts val="1600"/>
                <a:buFont typeface="Arial"/>
                <a:buNone/>
              </a:pPr>
              <a:r>
                <a:rPr lang="en-US" sz="1600" dirty="0">
                  <a:solidFill>
                    <a:schemeClr val="dk1"/>
                  </a:solidFill>
                  <a:latin typeface="Calibri"/>
                  <a:ea typeface="Calibri"/>
                  <a:cs typeface="Calibri"/>
                  <a:sym typeface="Calibri"/>
                </a:rPr>
                <a:t>Operators and Maintenance Personnel</a:t>
              </a:r>
              <a:endParaRPr dirty="0"/>
            </a:p>
            <a:p>
              <a:pPr marL="0" marR="0" lvl="0" indent="0" algn="ctr" rtl="0">
                <a:lnSpc>
                  <a:spcPct val="90000"/>
                </a:lnSpc>
                <a:spcBef>
                  <a:spcPts val="560"/>
                </a:spcBef>
                <a:spcAft>
                  <a:spcPts val="0"/>
                </a:spcAft>
                <a:buClr>
                  <a:schemeClr val="dk1"/>
                </a:buClr>
                <a:buSzPts val="1200"/>
                <a:buFont typeface="Calibri"/>
                <a:buNone/>
              </a:pPr>
              <a:endParaRPr sz="1200" dirty="0">
                <a:solidFill>
                  <a:schemeClr val="dk1"/>
                </a:solidFill>
                <a:latin typeface="Calibri"/>
                <a:ea typeface="Calibri"/>
                <a:cs typeface="Calibri"/>
                <a:sym typeface="Calibri"/>
              </a:endParaRPr>
            </a:p>
            <a:p>
              <a:pPr marL="0" marR="0" lvl="0" indent="0" algn="ctr" rtl="0">
                <a:lnSpc>
                  <a:spcPct val="90000"/>
                </a:lnSpc>
                <a:spcBef>
                  <a:spcPts val="420"/>
                </a:spcBef>
                <a:spcAft>
                  <a:spcPts val="0"/>
                </a:spcAft>
                <a:buClr>
                  <a:schemeClr val="dk1"/>
                </a:buClr>
                <a:buSzPts val="1200"/>
                <a:buFont typeface="Calibri"/>
                <a:buNone/>
              </a:pPr>
              <a:endParaRPr sz="1200" dirty="0">
                <a:solidFill>
                  <a:schemeClr val="dk1"/>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16"/>
          <p:cNvSpPr txBox="1">
            <a:spLocks noGrp="1"/>
          </p:cNvSpPr>
          <p:nvPr>
            <p:ph type="title"/>
          </p:nvPr>
        </p:nvSpPr>
        <p:spPr>
          <a:xfrm>
            <a:off x="709612" y="136422"/>
            <a:ext cx="10772775" cy="880615"/>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0000"/>
              </a:buClr>
              <a:buSzPts val="4800"/>
              <a:buFont typeface="Calibri"/>
              <a:buNone/>
            </a:pPr>
            <a:r>
              <a:rPr lang="en-US">
                <a:solidFill>
                  <a:srgbClr val="FF0000"/>
                </a:solidFill>
              </a:rPr>
              <a:t>Database Users</a:t>
            </a:r>
            <a:endParaRPr/>
          </a:p>
        </p:txBody>
      </p:sp>
      <p:sp>
        <p:nvSpPr>
          <p:cNvPr id="362" name="Google Shape;362;p16"/>
          <p:cNvSpPr txBox="1">
            <a:spLocks noGrp="1"/>
          </p:cNvSpPr>
          <p:nvPr>
            <p:ph type="body" idx="1"/>
          </p:nvPr>
        </p:nvSpPr>
        <p:spPr>
          <a:xfrm>
            <a:off x="335902" y="1017037"/>
            <a:ext cx="11635274" cy="5141167"/>
          </a:xfrm>
          <a:prstGeom prst="rect">
            <a:avLst/>
          </a:prstGeom>
          <a:noFill/>
          <a:ln>
            <a:noFill/>
          </a:ln>
        </p:spPr>
        <p:txBody>
          <a:bodyPr spcFirstLastPara="1" wrap="square" lIns="0" tIns="45700" rIns="0" bIns="45700" anchor="t" anchorCtr="0">
            <a:noAutofit/>
          </a:bodyPr>
          <a:lstStyle/>
          <a:p>
            <a:pPr marL="91440" lvl="0" indent="-91440" algn="l" rtl="0">
              <a:lnSpc>
                <a:spcPct val="90000"/>
              </a:lnSpc>
              <a:spcBef>
                <a:spcPts val="0"/>
              </a:spcBef>
              <a:spcAft>
                <a:spcPts val="0"/>
              </a:spcAft>
              <a:buSzPts val="1800"/>
              <a:buNone/>
            </a:pPr>
            <a:r>
              <a:rPr lang="en-US" sz="1800" b="1" dirty="0"/>
              <a:t>Actors on the Scene</a:t>
            </a:r>
            <a:endParaRPr sz="1800" dirty="0"/>
          </a:p>
          <a:p>
            <a:pPr marL="384048" lvl="1" indent="-182880" algn="just" rtl="0">
              <a:lnSpc>
                <a:spcPct val="150000"/>
              </a:lnSpc>
              <a:spcBef>
                <a:spcPts val="400"/>
              </a:spcBef>
              <a:spcAft>
                <a:spcPts val="0"/>
              </a:spcAft>
              <a:buSzPts val="1800"/>
              <a:buFont typeface="Arial"/>
              <a:buChar char="•"/>
            </a:pPr>
            <a:r>
              <a:rPr lang="en-US" sz="1800" b="1" dirty="0"/>
              <a:t>Database administrators:</a:t>
            </a:r>
            <a:r>
              <a:rPr lang="en-US" sz="1800" dirty="0"/>
              <a:t> responsible for authorizing access to the database, for co – </a:t>
            </a:r>
            <a:r>
              <a:rPr lang="en-US" sz="1800" dirty="0" err="1"/>
              <a:t>ordinating</a:t>
            </a:r>
            <a:r>
              <a:rPr lang="en-US" sz="1800" dirty="0"/>
              <a:t> and monitoring its use, acquiring software, and hardware resources, controlling its use and monitoring efficiency of operations.</a:t>
            </a:r>
            <a:endParaRPr dirty="0"/>
          </a:p>
          <a:p>
            <a:pPr marL="384048" lvl="1" indent="-182880" algn="just" rtl="0">
              <a:lnSpc>
                <a:spcPct val="150000"/>
              </a:lnSpc>
              <a:spcBef>
                <a:spcPts val="600"/>
              </a:spcBef>
              <a:spcAft>
                <a:spcPts val="0"/>
              </a:spcAft>
              <a:buSzPts val="1800"/>
              <a:buFont typeface="Arial"/>
              <a:buChar char="•"/>
            </a:pPr>
            <a:r>
              <a:rPr lang="en-US" sz="1800" b="1" dirty="0"/>
              <a:t>Database Designers:</a:t>
            </a:r>
            <a:r>
              <a:rPr lang="en-US" sz="1800" dirty="0"/>
              <a:t> responsible to define the content, the structure, the constraints, and functions or transactions against the database. They must communicate with the end-users and understand their needs.</a:t>
            </a:r>
            <a:endParaRPr dirty="0"/>
          </a:p>
          <a:p>
            <a:pPr marL="384048" lvl="1" indent="-182880" algn="just" rtl="0">
              <a:lnSpc>
                <a:spcPct val="150000"/>
              </a:lnSpc>
              <a:spcBef>
                <a:spcPts val="600"/>
              </a:spcBef>
              <a:spcAft>
                <a:spcPts val="0"/>
              </a:spcAft>
              <a:buSzPts val="1800"/>
              <a:buFont typeface="Arial"/>
              <a:buChar char="•"/>
            </a:pPr>
            <a:r>
              <a:rPr lang="en-US" b="1" dirty="0">
                <a:hlinkClick r:id="rId3" action="ppaction://hlinksldjump"/>
              </a:rPr>
              <a:t>End-users</a:t>
            </a:r>
            <a:r>
              <a:rPr lang="en-US" sz="1800" b="1" dirty="0"/>
              <a:t>:</a:t>
            </a:r>
            <a:r>
              <a:rPr lang="en-US" sz="1800" dirty="0"/>
              <a:t> they use the data for queries, reports and some of them actually update the database content.</a:t>
            </a:r>
            <a:endParaRPr dirty="0"/>
          </a:p>
          <a:p>
            <a:pPr marL="384048" lvl="1" indent="-182880" algn="just" rtl="0">
              <a:lnSpc>
                <a:spcPct val="150000"/>
              </a:lnSpc>
              <a:spcBef>
                <a:spcPts val="600"/>
              </a:spcBef>
              <a:spcAft>
                <a:spcPts val="0"/>
              </a:spcAft>
              <a:buSzPts val="1800"/>
              <a:buFont typeface="Arial"/>
              <a:buChar char="•"/>
            </a:pPr>
            <a:r>
              <a:rPr lang="en-US" sz="1800" b="1" dirty="0"/>
              <a:t>System Analysts and Application Programmers(Software Engineers): </a:t>
            </a:r>
            <a:endParaRPr dirty="0"/>
          </a:p>
          <a:p>
            <a:pPr marL="0" lvl="2" indent="0" algn="just" rtl="0">
              <a:lnSpc>
                <a:spcPct val="150000"/>
              </a:lnSpc>
              <a:spcBef>
                <a:spcPts val="600"/>
              </a:spcBef>
              <a:spcAft>
                <a:spcPts val="0"/>
              </a:spcAft>
              <a:buSzPts val="1800"/>
              <a:buNone/>
            </a:pPr>
            <a:r>
              <a:rPr lang="en-US" sz="1800" i="0" dirty="0"/>
              <a:t>        System Analyst determine the requirements of end users, especially Naïve and parametric end users and develop </a:t>
            </a:r>
            <a:endParaRPr dirty="0"/>
          </a:p>
          <a:p>
            <a:pPr marL="0" lvl="2" indent="0" algn="just" rtl="0">
              <a:lnSpc>
                <a:spcPct val="150000"/>
              </a:lnSpc>
              <a:spcBef>
                <a:spcPts val="600"/>
              </a:spcBef>
              <a:spcAft>
                <a:spcPts val="0"/>
              </a:spcAft>
              <a:buSzPts val="1800"/>
              <a:buNone/>
            </a:pPr>
            <a:r>
              <a:rPr lang="en-US" sz="1800" i="0" dirty="0"/>
              <a:t>        specifications for  canned transactions that meet these requirements.</a:t>
            </a:r>
            <a:endParaRPr dirty="0"/>
          </a:p>
          <a:p>
            <a:pPr marL="0" lvl="2" indent="0" algn="just" rtl="0">
              <a:lnSpc>
                <a:spcPct val="150000"/>
              </a:lnSpc>
              <a:spcBef>
                <a:spcPts val="600"/>
              </a:spcBef>
              <a:spcAft>
                <a:spcPts val="0"/>
              </a:spcAft>
              <a:buSzPts val="1800"/>
              <a:buNone/>
            </a:pPr>
            <a:r>
              <a:rPr lang="en-US" sz="1800" i="0" dirty="0"/>
              <a:t>        Application Programmers implement these specifications as programs, then they test, debug, document and maintain </a:t>
            </a:r>
            <a:endParaRPr dirty="0"/>
          </a:p>
          <a:p>
            <a:pPr marL="0" lvl="2" indent="0" algn="just" rtl="0">
              <a:lnSpc>
                <a:spcPct val="150000"/>
              </a:lnSpc>
              <a:spcBef>
                <a:spcPts val="600"/>
              </a:spcBef>
              <a:spcAft>
                <a:spcPts val="0"/>
              </a:spcAft>
              <a:buSzPts val="1800"/>
              <a:buNone/>
            </a:pPr>
            <a:r>
              <a:rPr lang="en-US" sz="1800" i="0" dirty="0"/>
              <a:t>        these canned  transactions.</a:t>
            </a:r>
            <a:endParaRPr dirty="0"/>
          </a:p>
        </p:txBody>
      </p:sp>
      <p:sp>
        <p:nvSpPr>
          <p:cNvPr id="363" name="Google Shape;363;p1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17"/>
          <p:cNvSpPr txBox="1">
            <a:spLocks noGrp="1"/>
          </p:cNvSpPr>
          <p:nvPr>
            <p:ph type="title"/>
          </p:nvPr>
        </p:nvSpPr>
        <p:spPr>
          <a:xfrm>
            <a:off x="610571" y="107647"/>
            <a:ext cx="10772775" cy="1096002"/>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0000"/>
              </a:buClr>
              <a:buSzPts val="4800"/>
              <a:buFont typeface="Calibri"/>
              <a:buNone/>
            </a:pPr>
            <a:r>
              <a:rPr lang="en-US">
                <a:solidFill>
                  <a:srgbClr val="FF0000"/>
                </a:solidFill>
              </a:rPr>
              <a:t>Categories of End-users</a:t>
            </a:r>
            <a:endParaRPr/>
          </a:p>
        </p:txBody>
      </p:sp>
      <p:sp>
        <p:nvSpPr>
          <p:cNvPr id="371" name="Google Shape;371;p17"/>
          <p:cNvSpPr txBox="1">
            <a:spLocks noGrp="1"/>
          </p:cNvSpPr>
          <p:nvPr>
            <p:ph type="body" idx="1"/>
          </p:nvPr>
        </p:nvSpPr>
        <p:spPr>
          <a:xfrm>
            <a:off x="382555" y="1296340"/>
            <a:ext cx="9788717" cy="4678362"/>
          </a:xfrm>
          <a:prstGeom prst="rect">
            <a:avLst/>
          </a:prstGeom>
          <a:noFill/>
          <a:ln>
            <a:noFill/>
          </a:ln>
        </p:spPr>
        <p:txBody>
          <a:bodyPr spcFirstLastPara="1" wrap="square" lIns="0" tIns="45700" rIns="0" bIns="45700" anchor="t" anchorCtr="0">
            <a:normAutofit/>
          </a:bodyPr>
          <a:lstStyle/>
          <a:p>
            <a:pPr marL="91440" lvl="0" indent="-127000" algn="just" rtl="0">
              <a:lnSpc>
                <a:spcPct val="90000"/>
              </a:lnSpc>
              <a:spcBef>
                <a:spcPts val="0"/>
              </a:spcBef>
              <a:spcAft>
                <a:spcPts val="0"/>
              </a:spcAft>
              <a:buSzPts val="2000"/>
              <a:buChar char=" "/>
            </a:pPr>
            <a:r>
              <a:rPr lang="en-US" sz="2000" b="1"/>
              <a:t>Casual </a:t>
            </a:r>
            <a:r>
              <a:rPr lang="en-US" sz="2000"/>
              <a:t>: access database occasionally when needed, use query languages</a:t>
            </a:r>
            <a:endParaRPr/>
          </a:p>
          <a:p>
            <a:pPr marL="91440" lvl="0" indent="0" algn="just" rtl="0">
              <a:lnSpc>
                <a:spcPct val="90000"/>
              </a:lnSpc>
              <a:spcBef>
                <a:spcPts val="1400"/>
              </a:spcBef>
              <a:spcAft>
                <a:spcPts val="0"/>
              </a:spcAft>
              <a:buSzPts val="2000"/>
              <a:buNone/>
            </a:pPr>
            <a:endParaRPr sz="2000"/>
          </a:p>
          <a:p>
            <a:pPr marL="91440" lvl="0" indent="-127000" algn="just" rtl="0">
              <a:lnSpc>
                <a:spcPct val="90000"/>
              </a:lnSpc>
              <a:spcBef>
                <a:spcPts val="1400"/>
              </a:spcBef>
              <a:spcAft>
                <a:spcPts val="0"/>
              </a:spcAft>
              <a:buSzPts val="2000"/>
              <a:buChar char=" "/>
            </a:pPr>
            <a:r>
              <a:rPr lang="en-US" sz="2000" b="1"/>
              <a:t>Naive or Parametric</a:t>
            </a:r>
            <a:r>
              <a:rPr lang="en-US" sz="2000"/>
              <a:t> : They use previously well-defined functions in the form of  “canned transactions” against the database. Examples are bank-tellers or reservation clerks who do this activity for an entire shift of operations.</a:t>
            </a:r>
            <a:endParaRPr/>
          </a:p>
          <a:p>
            <a:pPr marL="91440" lvl="0" indent="0" algn="just" rtl="0">
              <a:lnSpc>
                <a:spcPct val="90000"/>
              </a:lnSpc>
              <a:spcBef>
                <a:spcPts val="1400"/>
              </a:spcBef>
              <a:spcAft>
                <a:spcPts val="0"/>
              </a:spcAft>
              <a:buSzPts val="2000"/>
              <a:buNone/>
            </a:pPr>
            <a:endParaRPr sz="2000"/>
          </a:p>
          <a:p>
            <a:pPr marL="91440" lvl="0" indent="-127000" algn="just" rtl="0">
              <a:lnSpc>
                <a:spcPct val="90000"/>
              </a:lnSpc>
              <a:spcBef>
                <a:spcPts val="1400"/>
              </a:spcBef>
              <a:spcAft>
                <a:spcPts val="0"/>
              </a:spcAft>
              <a:buSzPts val="2000"/>
              <a:buChar char=" "/>
            </a:pPr>
            <a:r>
              <a:rPr lang="en-US" sz="2000" b="1"/>
              <a:t>Sophisticated</a:t>
            </a:r>
            <a:r>
              <a:rPr lang="en-US" sz="2000"/>
              <a:t> : these include business analysts, scientists, engineers, others thoroughly familiar with the system capabilities. Many use tools in the form of software packages that work closely with the stored database.</a:t>
            </a:r>
            <a:endParaRPr/>
          </a:p>
          <a:p>
            <a:pPr marL="91440" lvl="0" indent="0" algn="just" rtl="0">
              <a:lnSpc>
                <a:spcPct val="90000"/>
              </a:lnSpc>
              <a:spcBef>
                <a:spcPts val="1400"/>
              </a:spcBef>
              <a:spcAft>
                <a:spcPts val="0"/>
              </a:spcAft>
              <a:buSzPts val="2000"/>
              <a:buNone/>
            </a:pPr>
            <a:endParaRPr sz="2000"/>
          </a:p>
          <a:p>
            <a:pPr marL="91440" lvl="0" indent="-127000" algn="just" rtl="0">
              <a:lnSpc>
                <a:spcPct val="90000"/>
              </a:lnSpc>
              <a:spcBef>
                <a:spcPts val="1400"/>
              </a:spcBef>
              <a:spcAft>
                <a:spcPts val="0"/>
              </a:spcAft>
              <a:buSzPts val="2000"/>
              <a:buChar char=" "/>
            </a:pPr>
            <a:r>
              <a:rPr lang="en-US" sz="2000" b="1"/>
              <a:t>Stand-alone </a:t>
            </a:r>
            <a:r>
              <a:rPr lang="en-US" sz="2000"/>
              <a:t>: mostly maintain personal databases using ready-to-use packaged applications. An example is a tax program user that creates his or her own internal database.</a:t>
            </a:r>
            <a:endParaRPr/>
          </a:p>
          <a:p>
            <a:pPr marL="91440" lvl="0" indent="0" algn="just" rtl="0">
              <a:lnSpc>
                <a:spcPct val="90000"/>
              </a:lnSpc>
              <a:spcBef>
                <a:spcPts val="1400"/>
              </a:spcBef>
              <a:spcAft>
                <a:spcPts val="0"/>
              </a:spcAft>
              <a:buSzPts val="2000"/>
              <a:buNone/>
            </a:pPr>
            <a:endParaRPr sz="2000"/>
          </a:p>
        </p:txBody>
      </p:sp>
      <p:sp>
        <p:nvSpPr>
          <p:cNvPr id="372" name="Google Shape;372;p1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18"/>
          <p:cNvSpPr txBox="1">
            <a:spLocks noGrp="1"/>
          </p:cNvSpPr>
          <p:nvPr>
            <p:ph type="title"/>
          </p:nvPr>
        </p:nvSpPr>
        <p:spPr>
          <a:xfrm>
            <a:off x="591909" y="163631"/>
            <a:ext cx="10772775" cy="87206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0000"/>
              </a:buClr>
              <a:buSzPts val="4800"/>
              <a:buFont typeface="Calibri"/>
              <a:buNone/>
            </a:pPr>
            <a:r>
              <a:rPr lang="en-US">
                <a:solidFill>
                  <a:srgbClr val="FF0000"/>
                </a:solidFill>
              </a:rPr>
              <a:t>Database Users</a:t>
            </a:r>
            <a:endParaRPr/>
          </a:p>
        </p:txBody>
      </p:sp>
      <p:sp>
        <p:nvSpPr>
          <p:cNvPr id="380" name="Google Shape;380;p18"/>
          <p:cNvSpPr txBox="1">
            <a:spLocks noGrp="1"/>
          </p:cNvSpPr>
          <p:nvPr>
            <p:ph type="body" idx="1"/>
          </p:nvPr>
        </p:nvSpPr>
        <p:spPr>
          <a:xfrm>
            <a:off x="326570" y="1141445"/>
            <a:ext cx="10944809" cy="4114800"/>
          </a:xfrm>
          <a:prstGeom prst="rect">
            <a:avLst/>
          </a:prstGeom>
          <a:noFill/>
          <a:ln>
            <a:noFill/>
          </a:ln>
        </p:spPr>
        <p:txBody>
          <a:bodyPr spcFirstLastPara="1" wrap="square" lIns="0" tIns="45700" rIns="0" bIns="45700" anchor="t" anchorCtr="0">
            <a:noAutofit/>
          </a:bodyPr>
          <a:lstStyle/>
          <a:p>
            <a:pPr marL="91440" lvl="0" indent="-228600" algn="just" rtl="0">
              <a:lnSpc>
                <a:spcPct val="90000"/>
              </a:lnSpc>
              <a:spcBef>
                <a:spcPts val="0"/>
              </a:spcBef>
              <a:spcAft>
                <a:spcPts val="0"/>
              </a:spcAft>
              <a:buSzPts val="3600"/>
              <a:buChar char=" "/>
            </a:pPr>
            <a:r>
              <a:rPr lang="en-US" sz="3600"/>
              <a:t>Workers behind the scene</a:t>
            </a:r>
            <a:endParaRPr/>
          </a:p>
          <a:p>
            <a:pPr marL="91440" lvl="0" indent="0" algn="just" rtl="0">
              <a:lnSpc>
                <a:spcPct val="90000"/>
              </a:lnSpc>
              <a:spcBef>
                <a:spcPts val="1400"/>
              </a:spcBef>
              <a:spcAft>
                <a:spcPts val="0"/>
              </a:spcAft>
              <a:buSzPts val="3600"/>
              <a:buNone/>
            </a:pPr>
            <a:endParaRPr sz="3600"/>
          </a:p>
          <a:p>
            <a:pPr marL="384048" lvl="1" indent="-182880" algn="just" rtl="0">
              <a:lnSpc>
                <a:spcPct val="90000"/>
              </a:lnSpc>
              <a:spcBef>
                <a:spcPts val="400"/>
              </a:spcBef>
              <a:spcAft>
                <a:spcPts val="0"/>
              </a:spcAft>
              <a:buSzPts val="2000"/>
              <a:buChar char="◦"/>
            </a:pPr>
            <a:r>
              <a:rPr lang="en-US" sz="2000" b="1"/>
              <a:t>DBMS System Designers and Implementers</a:t>
            </a:r>
            <a:endParaRPr/>
          </a:p>
          <a:p>
            <a:pPr marL="384048" lvl="1" indent="-182880" algn="just" rtl="0">
              <a:lnSpc>
                <a:spcPct val="90000"/>
              </a:lnSpc>
              <a:spcBef>
                <a:spcPts val="600"/>
              </a:spcBef>
              <a:spcAft>
                <a:spcPts val="0"/>
              </a:spcAft>
              <a:buSzPts val="2000"/>
              <a:buChar char="◦"/>
            </a:pPr>
            <a:r>
              <a:rPr lang="en-US" sz="2000"/>
              <a:t>         Design and implement the DBMS modules and interfaces as a software package</a:t>
            </a:r>
            <a:endParaRPr sz="2000"/>
          </a:p>
          <a:p>
            <a:pPr marL="384048" lvl="1" indent="-182880" algn="just" rtl="0">
              <a:lnSpc>
                <a:spcPct val="90000"/>
              </a:lnSpc>
              <a:spcBef>
                <a:spcPts val="600"/>
              </a:spcBef>
              <a:spcAft>
                <a:spcPts val="0"/>
              </a:spcAft>
              <a:buSzPts val="2000"/>
              <a:buChar char="◦"/>
            </a:pPr>
            <a:r>
              <a:rPr lang="en-US" sz="2000" b="1"/>
              <a:t>Tool Developers</a:t>
            </a:r>
            <a:endParaRPr/>
          </a:p>
          <a:p>
            <a:pPr marL="384048" lvl="1" indent="-182880" algn="just" rtl="0">
              <a:lnSpc>
                <a:spcPct val="90000"/>
              </a:lnSpc>
              <a:spcBef>
                <a:spcPts val="600"/>
              </a:spcBef>
              <a:spcAft>
                <a:spcPts val="0"/>
              </a:spcAft>
              <a:buSzPts val="2000"/>
              <a:buChar char="◦"/>
            </a:pPr>
            <a:r>
              <a:rPr lang="en-US" sz="2000" b="1"/>
              <a:t>         D</a:t>
            </a:r>
            <a:r>
              <a:rPr lang="en-US" sz="2000"/>
              <a:t>esign and implement tools—the software packages that facilitate database modeling and </a:t>
            </a:r>
            <a:endParaRPr/>
          </a:p>
          <a:p>
            <a:pPr marL="384048" lvl="1" indent="-182880" algn="just" rtl="0">
              <a:lnSpc>
                <a:spcPct val="90000"/>
              </a:lnSpc>
              <a:spcBef>
                <a:spcPts val="600"/>
              </a:spcBef>
              <a:spcAft>
                <a:spcPts val="0"/>
              </a:spcAft>
              <a:buSzPts val="2000"/>
              <a:buChar char="◦"/>
            </a:pPr>
            <a:r>
              <a:rPr lang="en-US" sz="2000"/>
              <a:t>         design, database system design, and improved performance ex: tools for performance </a:t>
            </a:r>
            <a:endParaRPr/>
          </a:p>
          <a:p>
            <a:pPr marL="384048" lvl="1" indent="-182880" algn="just" rtl="0">
              <a:lnSpc>
                <a:spcPct val="90000"/>
              </a:lnSpc>
              <a:spcBef>
                <a:spcPts val="600"/>
              </a:spcBef>
              <a:spcAft>
                <a:spcPts val="0"/>
              </a:spcAft>
              <a:buSzPts val="2000"/>
              <a:buChar char="◦"/>
            </a:pPr>
            <a:r>
              <a:rPr lang="en-US" sz="2000"/>
              <a:t>         monitoring</a:t>
            </a:r>
            <a:endParaRPr sz="2000"/>
          </a:p>
          <a:p>
            <a:pPr marL="384048" lvl="1" indent="-182880" algn="just" rtl="0">
              <a:lnSpc>
                <a:spcPct val="90000"/>
              </a:lnSpc>
              <a:spcBef>
                <a:spcPts val="600"/>
              </a:spcBef>
              <a:spcAft>
                <a:spcPts val="0"/>
              </a:spcAft>
              <a:buSzPts val="2000"/>
              <a:buChar char="◦"/>
            </a:pPr>
            <a:r>
              <a:rPr lang="en-US" sz="2000" b="1"/>
              <a:t>Operators and Maintenance Personnel</a:t>
            </a:r>
            <a:endParaRPr/>
          </a:p>
          <a:p>
            <a:pPr marL="384048" lvl="1" indent="-182880" algn="just" rtl="0">
              <a:lnSpc>
                <a:spcPct val="90000"/>
              </a:lnSpc>
              <a:spcBef>
                <a:spcPts val="600"/>
              </a:spcBef>
              <a:spcAft>
                <a:spcPts val="0"/>
              </a:spcAft>
              <a:buSzPts val="2000"/>
              <a:buChar char="◦"/>
            </a:pPr>
            <a:r>
              <a:rPr lang="en-US" sz="2000" b="1"/>
              <a:t>        </a:t>
            </a:r>
            <a:r>
              <a:rPr lang="en-US" sz="2000"/>
              <a:t>(system administration personnel) are responsible for the actual running and maintenance of the hardware and software environment for the database system</a:t>
            </a:r>
            <a:endParaRPr sz="2000"/>
          </a:p>
        </p:txBody>
      </p:sp>
      <p:sp>
        <p:nvSpPr>
          <p:cNvPr id="381" name="Google Shape;381;p1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19"/>
          <p:cNvSpPr txBox="1">
            <a:spLocks noGrp="1"/>
          </p:cNvSpPr>
          <p:nvPr>
            <p:ph type="title"/>
          </p:nvPr>
        </p:nvSpPr>
        <p:spPr>
          <a:xfrm>
            <a:off x="709612" y="105558"/>
            <a:ext cx="10772775" cy="886408"/>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FF0000"/>
              </a:buClr>
              <a:buSzPts val="2800"/>
              <a:buFont typeface="Calibri"/>
              <a:buNone/>
            </a:pPr>
            <a:r>
              <a:rPr lang="en-US" sz="2800">
                <a:solidFill>
                  <a:srgbClr val="FF0000"/>
                </a:solidFill>
              </a:rPr>
              <a:t>Advantages of Using the Database Approach</a:t>
            </a:r>
            <a:endParaRPr/>
          </a:p>
        </p:txBody>
      </p:sp>
      <p:sp>
        <p:nvSpPr>
          <p:cNvPr id="389" name="Google Shape;389;p19"/>
          <p:cNvSpPr txBox="1">
            <a:spLocks noGrp="1"/>
          </p:cNvSpPr>
          <p:nvPr>
            <p:ph type="body" idx="1"/>
          </p:nvPr>
        </p:nvSpPr>
        <p:spPr>
          <a:xfrm>
            <a:off x="634481" y="991966"/>
            <a:ext cx="11224727" cy="5707414"/>
          </a:xfrm>
          <a:prstGeom prst="rect">
            <a:avLst/>
          </a:prstGeom>
          <a:noFill/>
          <a:ln>
            <a:noFill/>
          </a:ln>
        </p:spPr>
        <p:txBody>
          <a:bodyPr spcFirstLastPara="1" wrap="square" lIns="0" tIns="45700" rIns="0" bIns="45700" anchor="t" anchorCtr="0">
            <a:normAutofit fontScale="92500" lnSpcReduction="10000"/>
          </a:bodyPr>
          <a:lstStyle/>
          <a:p>
            <a:pPr marL="91440" lvl="0" indent="-117475" algn="just" rtl="0">
              <a:lnSpc>
                <a:spcPct val="150000"/>
              </a:lnSpc>
              <a:spcBef>
                <a:spcPts val="0"/>
              </a:spcBef>
              <a:spcAft>
                <a:spcPts val="0"/>
              </a:spcAft>
              <a:buSzPct val="100000"/>
              <a:buFont typeface="Noto Sans Symbols"/>
              <a:buChar char="⮚"/>
            </a:pPr>
            <a:r>
              <a:rPr lang="en-US" b="1"/>
              <a:t>Controlling redundancy in data storage and in development and maintenance efforts.</a:t>
            </a:r>
            <a:endParaRPr/>
          </a:p>
          <a:p>
            <a:pPr marL="91440" lvl="0" indent="-117475" algn="just" rtl="0">
              <a:lnSpc>
                <a:spcPct val="150000"/>
              </a:lnSpc>
              <a:spcBef>
                <a:spcPts val="1400"/>
              </a:spcBef>
              <a:spcAft>
                <a:spcPts val="0"/>
              </a:spcAft>
              <a:buSzPct val="100000"/>
              <a:buFont typeface="Arial"/>
              <a:buChar char="•"/>
            </a:pPr>
            <a:r>
              <a:rPr lang="en-US"/>
              <a:t> In file processing, every user group maintains its own files for handling its data-processing applications, many of the data being repeated(redundant)</a:t>
            </a:r>
            <a:endParaRPr/>
          </a:p>
          <a:p>
            <a:pPr marL="91440" lvl="0" indent="-117475" algn="just" rtl="0">
              <a:lnSpc>
                <a:spcPct val="150000"/>
              </a:lnSpc>
              <a:spcBef>
                <a:spcPts val="1400"/>
              </a:spcBef>
              <a:spcAft>
                <a:spcPts val="0"/>
              </a:spcAft>
              <a:buSzPct val="100000"/>
              <a:buFont typeface="Arial"/>
              <a:buChar char="•"/>
            </a:pPr>
            <a:r>
              <a:rPr lang="en-US"/>
              <a:t>This redundancy(</a:t>
            </a:r>
            <a:r>
              <a:rPr lang="en-US" b="1" i="1">
                <a:solidFill>
                  <a:srgbClr val="FF0000"/>
                </a:solidFill>
              </a:rPr>
              <a:t>controlled redundancy</a:t>
            </a:r>
            <a:r>
              <a:rPr lang="en-US"/>
              <a:t>) in storing the same data multiple times leads to several problems</a:t>
            </a:r>
            <a:endParaRPr/>
          </a:p>
          <a:p>
            <a:pPr marL="0" lvl="0" indent="0" algn="just" rtl="0">
              <a:lnSpc>
                <a:spcPct val="150000"/>
              </a:lnSpc>
              <a:spcBef>
                <a:spcPts val="1400"/>
              </a:spcBef>
              <a:spcAft>
                <a:spcPts val="0"/>
              </a:spcAft>
              <a:buSzPct val="100000"/>
              <a:buNone/>
            </a:pPr>
            <a:r>
              <a:rPr lang="en-US"/>
              <a:t>  (i) Duplication of effort</a:t>
            </a:r>
            <a:endParaRPr/>
          </a:p>
          <a:p>
            <a:pPr marL="0" lvl="0" indent="0" algn="just" rtl="0">
              <a:lnSpc>
                <a:spcPct val="150000"/>
              </a:lnSpc>
              <a:spcBef>
                <a:spcPts val="1400"/>
              </a:spcBef>
              <a:spcAft>
                <a:spcPts val="0"/>
              </a:spcAft>
              <a:buSzPct val="100000"/>
              <a:buNone/>
            </a:pPr>
            <a:r>
              <a:rPr lang="en-US"/>
              <a:t>  (ii) Storage space is wasted</a:t>
            </a:r>
            <a:endParaRPr/>
          </a:p>
          <a:p>
            <a:pPr marL="0" lvl="0" indent="0" algn="just" rtl="0">
              <a:lnSpc>
                <a:spcPct val="150000"/>
              </a:lnSpc>
              <a:spcBef>
                <a:spcPts val="1400"/>
              </a:spcBef>
              <a:spcAft>
                <a:spcPts val="0"/>
              </a:spcAft>
              <a:buSzPct val="100000"/>
              <a:buNone/>
            </a:pPr>
            <a:r>
              <a:rPr lang="en-US"/>
              <a:t>  (iii) Inconsistent Data</a:t>
            </a:r>
            <a:endParaRPr/>
          </a:p>
          <a:p>
            <a:pPr marL="91440" lvl="0" indent="-117475" algn="just" rtl="0">
              <a:lnSpc>
                <a:spcPct val="150000"/>
              </a:lnSpc>
              <a:spcBef>
                <a:spcPts val="1400"/>
              </a:spcBef>
              <a:spcAft>
                <a:spcPts val="0"/>
              </a:spcAft>
              <a:buSzPct val="100000"/>
              <a:buFont typeface="Noto Sans Symbols"/>
              <a:buChar char="⮚"/>
            </a:pPr>
            <a:r>
              <a:rPr lang="en-US" b="1"/>
              <a:t>Restricting unauthorized access to data</a:t>
            </a:r>
            <a:endParaRPr/>
          </a:p>
          <a:p>
            <a:pPr marL="91440" lvl="0" indent="-117475" algn="just" rtl="0">
              <a:lnSpc>
                <a:spcPct val="150000"/>
              </a:lnSpc>
              <a:spcBef>
                <a:spcPts val="1400"/>
              </a:spcBef>
              <a:spcAft>
                <a:spcPts val="0"/>
              </a:spcAft>
              <a:buSzPct val="100000"/>
              <a:buFont typeface="Arial"/>
              <a:buChar char="•"/>
            </a:pPr>
            <a:r>
              <a:rPr lang="en-US"/>
              <a:t>Provide a security and authorization subsystem, which the DBA uses to create accounts </a:t>
            </a:r>
            <a:endParaRPr/>
          </a:p>
          <a:p>
            <a:pPr marL="0" lvl="0" indent="0" algn="just" rtl="0">
              <a:lnSpc>
                <a:spcPct val="150000"/>
              </a:lnSpc>
              <a:spcBef>
                <a:spcPts val="1400"/>
              </a:spcBef>
              <a:spcAft>
                <a:spcPts val="0"/>
              </a:spcAft>
              <a:buSzPct val="100000"/>
              <a:buNone/>
            </a:pPr>
            <a:r>
              <a:rPr lang="en-US"/>
              <a:t>  and to specify account restrictions(</a:t>
            </a:r>
            <a:r>
              <a:rPr lang="en-US" b="1" i="1">
                <a:solidFill>
                  <a:srgbClr val="FF0000"/>
                </a:solidFill>
              </a:rPr>
              <a:t>privileged software</a:t>
            </a:r>
            <a:r>
              <a:rPr lang="en-US"/>
              <a:t>)</a:t>
            </a:r>
            <a:endParaRPr/>
          </a:p>
          <a:p>
            <a:pPr marL="91440" lvl="0" indent="0" algn="just" rtl="0">
              <a:lnSpc>
                <a:spcPct val="90000"/>
              </a:lnSpc>
              <a:spcBef>
                <a:spcPts val="1400"/>
              </a:spcBef>
              <a:spcAft>
                <a:spcPts val="0"/>
              </a:spcAft>
              <a:buSzPct val="100000"/>
              <a:buFont typeface="Arial"/>
              <a:buNone/>
            </a:pPr>
            <a:endParaRPr/>
          </a:p>
          <a:p>
            <a:pPr marL="0" lvl="0" indent="0" algn="just" rtl="0">
              <a:lnSpc>
                <a:spcPct val="90000"/>
              </a:lnSpc>
              <a:spcBef>
                <a:spcPts val="1400"/>
              </a:spcBef>
              <a:spcAft>
                <a:spcPts val="0"/>
              </a:spcAft>
              <a:buSzPct val="100000"/>
              <a:buNone/>
            </a:pPr>
            <a:endParaRPr/>
          </a:p>
        </p:txBody>
      </p:sp>
      <p:sp>
        <p:nvSpPr>
          <p:cNvPr id="390" name="Google Shape;390;p1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20"/>
          <p:cNvSpPr txBox="1">
            <a:spLocks noGrp="1"/>
          </p:cNvSpPr>
          <p:nvPr>
            <p:ph type="title"/>
          </p:nvPr>
        </p:nvSpPr>
        <p:spPr>
          <a:xfrm>
            <a:off x="709612" y="105558"/>
            <a:ext cx="10772775" cy="886408"/>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FF0000"/>
              </a:buClr>
              <a:buSzPts val="2800"/>
              <a:buFont typeface="Calibri"/>
              <a:buNone/>
            </a:pPr>
            <a:r>
              <a:rPr lang="en-US" sz="2800">
                <a:solidFill>
                  <a:srgbClr val="FF0000"/>
                </a:solidFill>
              </a:rPr>
              <a:t>Advantages of Using the Database Approach</a:t>
            </a:r>
            <a:endParaRPr/>
          </a:p>
        </p:txBody>
      </p:sp>
      <p:sp>
        <p:nvSpPr>
          <p:cNvPr id="398" name="Google Shape;398;p20"/>
          <p:cNvSpPr txBox="1">
            <a:spLocks noGrp="1"/>
          </p:cNvSpPr>
          <p:nvPr>
            <p:ph type="body" idx="1"/>
          </p:nvPr>
        </p:nvSpPr>
        <p:spPr>
          <a:xfrm>
            <a:off x="597158" y="991966"/>
            <a:ext cx="11224727" cy="5707414"/>
          </a:xfrm>
          <a:prstGeom prst="rect">
            <a:avLst/>
          </a:prstGeom>
          <a:noFill/>
          <a:ln>
            <a:noFill/>
          </a:ln>
        </p:spPr>
        <p:txBody>
          <a:bodyPr spcFirstLastPara="1" wrap="square" lIns="0" tIns="45700" rIns="0" bIns="45700" anchor="t" anchorCtr="0">
            <a:normAutofit lnSpcReduction="10000"/>
          </a:bodyPr>
          <a:lstStyle/>
          <a:p>
            <a:pPr marL="91440" lvl="0" indent="-127000" algn="just" rtl="0">
              <a:lnSpc>
                <a:spcPct val="150000"/>
              </a:lnSpc>
              <a:spcBef>
                <a:spcPts val="0"/>
              </a:spcBef>
              <a:spcAft>
                <a:spcPts val="0"/>
              </a:spcAft>
              <a:buSzPts val="2000"/>
              <a:buFont typeface="Noto Sans Symbols"/>
              <a:buChar char="⮚"/>
            </a:pPr>
            <a:r>
              <a:rPr lang="en-US" b="1"/>
              <a:t>Providing persistent storage for program Objects</a:t>
            </a:r>
            <a:endParaRPr/>
          </a:p>
          <a:p>
            <a:pPr marL="91440" lvl="0" indent="-127000" algn="just" rtl="0">
              <a:lnSpc>
                <a:spcPct val="150000"/>
              </a:lnSpc>
              <a:spcBef>
                <a:spcPts val="1400"/>
              </a:spcBef>
              <a:spcAft>
                <a:spcPts val="0"/>
              </a:spcAft>
              <a:buSzPts val="2000"/>
              <a:buFont typeface="Arial"/>
              <a:buChar char="•"/>
            </a:pPr>
            <a:r>
              <a:rPr lang="en-US"/>
              <a:t>The values of program variables or objects are discarded once a program terminates, unless the programmer explicitly stores them in permanent files</a:t>
            </a:r>
            <a:endParaRPr/>
          </a:p>
          <a:p>
            <a:pPr marL="91440" lvl="0" indent="-127000" algn="just" rtl="0">
              <a:lnSpc>
                <a:spcPct val="150000"/>
              </a:lnSpc>
              <a:spcBef>
                <a:spcPts val="1400"/>
              </a:spcBef>
              <a:spcAft>
                <a:spcPts val="0"/>
              </a:spcAft>
              <a:buSzPts val="2000"/>
              <a:buFont typeface="Arial"/>
              <a:buChar char="•"/>
            </a:pPr>
            <a:r>
              <a:rPr lang="en-US"/>
              <a:t>In this it can be stored permanently in an object-oriented DBMS. </a:t>
            </a:r>
            <a:endParaRPr/>
          </a:p>
          <a:p>
            <a:pPr marL="91440" lvl="0" indent="-127000" algn="just" rtl="0">
              <a:lnSpc>
                <a:spcPct val="150000"/>
              </a:lnSpc>
              <a:spcBef>
                <a:spcPts val="1400"/>
              </a:spcBef>
              <a:spcAft>
                <a:spcPts val="0"/>
              </a:spcAft>
              <a:buSzPts val="2000"/>
              <a:buFont typeface="Arial"/>
              <a:buChar char="•"/>
            </a:pPr>
            <a:r>
              <a:rPr lang="en-US"/>
              <a:t>Such an object is said to be persistent, since it survives the termination of program execution</a:t>
            </a:r>
            <a:endParaRPr/>
          </a:p>
          <a:p>
            <a:pPr marL="91440" lvl="0" indent="-127000" algn="just" rtl="0">
              <a:lnSpc>
                <a:spcPct val="150000"/>
              </a:lnSpc>
              <a:spcBef>
                <a:spcPts val="1400"/>
              </a:spcBef>
              <a:spcAft>
                <a:spcPts val="0"/>
              </a:spcAft>
              <a:buSzPts val="2000"/>
              <a:buFont typeface="Noto Sans Symbols"/>
              <a:buChar char="⮚"/>
            </a:pPr>
            <a:r>
              <a:rPr lang="en-US" b="1"/>
              <a:t>Providing Storage Structures for efficient Query Processing</a:t>
            </a:r>
            <a:endParaRPr/>
          </a:p>
          <a:p>
            <a:pPr marL="91440" lvl="0" indent="-127000" algn="just" rtl="0">
              <a:lnSpc>
                <a:spcPct val="150000"/>
              </a:lnSpc>
              <a:spcBef>
                <a:spcPts val="1400"/>
              </a:spcBef>
              <a:spcAft>
                <a:spcPts val="0"/>
              </a:spcAft>
              <a:buSzPts val="2000"/>
              <a:buFont typeface="Arial"/>
              <a:buChar char="•"/>
            </a:pPr>
            <a:r>
              <a:rPr lang="en-US"/>
              <a:t>Provide capabilities for efficiently executing queries and updates</a:t>
            </a:r>
            <a:endParaRPr/>
          </a:p>
          <a:p>
            <a:pPr marL="91440" lvl="0" indent="-127000" algn="just" rtl="0">
              <a:lnSpc>
                <a:spcPct val="150000"/>
              </a:lnSpc>
              <a:spcBef>
                <a:spcPts val="1400"/>
              </a:spcBef>
              <a:spcAft>
                <a:spcPts val="0"/>
              </a:spcAft>
              <a:buSzPts val="2000"/>
              <a:buFont typeface="Arial"/>
              <a:buChar char="•"/>
            </a:pPr>
            <a:r>
              <a:rPr lang="en-US"/>
              <a:t>Provide specialized data structures and search techniques to speed up query execution</a:t>
            </a:r>
            <a:endParaRPr/>
          </a:p>
          <a:p>
            <a:pPr marL="91440" lvl="0" indent="-127000" algn="just" rtl="0">
              <a:lnSpc>
                <a:spcPct val="150000"/>
              </a:lnSpc>
              <a:spcBef>
                <a:spcPts val="1400"/>
              </a:spcBef>
              <a:spcAft>
                <a:spcPts val="0"/>
              </a:spcAft>
              <a:buSzPts val="2000"/>
              <a:buFont typeface="Arial"/>
              <a:buChar char="•"/>
            </a:pPr>
            <a:r>
              <a:rPr lang="en-US"/>
              <a:t>Query processing and optimization module of the DBMS is responsible for choosing an efficient query execution plan for each query based on the existing storage structures</a:t>
            </a:r>
            <a:endParaRPr/>
          </a:p>
          <a:p>
            <a:pPr marL="91440" lvl="0" indent="0" algn="just" rtl="0">
              <a:lnSpc>
                <a:spcPct val="150000"/>
              </a:lnSpc>
              <a:spcBef>
                <a:spcPts val="1400"/>
              </a:spcBef>
              <a:spcAft>
                <a:spcPts val="0"/>
              </a:spcAft>
              <a:buSzPts val="2000"/>
              <a:buFont typeface="Arial"/>
              <a:buNone/>
            </a:pPr>
            <a:endParaRPr/>
          </a:p>
          <a:p>
            <a:pPr marL="0" lvl="0" indent="0" algn="just" rtl="0">
              <a:lnSpc>
                <a:spcPct val="90000"/>
              </a:lnSpc>
              <a:spcBef>
                <a:spcPts val="1400"/>
              </a:spcBef>
              <a:spcAft>
                <a:spcPts val="0"/>
              </a:spcAft>
              <a:buSzPts val="2000"/>
              <a:buNone/>
            </a:pPr>
            <a:endParaRPr/>
          </a:p>
        </p:txBody>
      </p:sp>
      <p:sp>
        <p:nvSpPr>
          <p:cNvPr id="399" name="Google Shape;399;p2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21"/>
          <p:cNvSpPr txBox="1">
            <a:spLocks noGrp="1"/>
          </p:cNvSpPr>
          <p:nvPr>
            <p:ph type="title"/>
          </p:nvPr>
        </p:nvSpPr>
        <p:spPr>
          <a:xfrm>
            <a:off x="591910" y="0"/>
            <a:ext cx="10772775" cy="681135"/>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FF0000"/>
              </a:buClr>
              <a:buSzPts val="2800"/>
              <a:buFont typeface="Calibri"/>
              <a:buNone/>
            </a:pPr>
            <a:r>
              <a:rPr lang="en-US" sz="2800">
                <a:solidFill>
                  <a:srgbClr val="FF0000"/>
                </a:solidFill>
              </a:rPr>
              <a:t>Advantages of Using the Database Approach</a:t>
            </a:r>
            <a:endParaRPr/>
          </a:p>
        </p:txBody>
      </p:sp>
      <p:sp>
        <p:nvSpPr>
          <p:cNvPr id="407" name="Google Shape;407;p21"/>
          <p:cNvSpPr txBox="1">
            <a:spLocks noGrp="1"/>
          </p:cNvSpPr>
          <p:nvPr>
            <p:ph type="body" idx="1"/>
          </p:nvPr>
        </p:nvSpPr>
        <p:spPr>
          <a:xfrm>
            <a:off x="895740" y="681135"/>
            <a:ext cx="10375640" cy="5990253"/>
          </a:xfrm>
          <a:prstGeom prst="rect">
            <a:avLst/>
          </a:prstGeom>
          <a:noFill/>
          <a:ln>
            <a:noFill/>
          </a:ln>
        </p:spPr>
        <p:txBody>
          <a:bodyPr spcFirstLastPara="1" wrap="square" lIns="0" tIns="45700" rIns="0" bIns="45700" anchor="t" anchorCtr="0">
            <a:normAutofit fontScale="47500" lnSpcReduction="20000"/>
          </a:bodyPr>
          <a:lstStyle/>
          <a:p>
            <a:pPr marL="91440" lvl="0" indent="-120650" algn="just" rtl="0">
              <a:lnSpc>
                <a:spcPct val="170000"/>
              </a:lnSpc>
              <a:spcBef>
                <a:spcPts val="0"/>
              </a:spcBef>
              <a:spcAft>
                <a:spcPts val="0"/>
              </a:spcAft>
              <a:buSzPct val="100000"/>
              <a:buFont typeface="Noto Sans Symbols"/>
              <a:buChar char="⮚"/>
            </a:pPr>
            <a:r>
              <a:rPr lang="en-US" sz="4000" b="1"/>
              <a:t>Providing backup and recovery services</a:t>
            </a:r>
            <a:endParaRPr/>
          </a:p>
          <a:p>
            <a:pPr marL="91440" lvl="0" indent="-120650" algn="just" rtl="0">
              <a:lnSpc>
                <a:spcPct val="170000"/>
              </a:lnSpc>
              <a:spcBef>
                <a:spcPts val="1400"/>
              </a:spcBef>
              <a:spcAft>
                <a:spcPts val="0"/>
              </a:spcAft>
              <a:buSzPct val="100000"/>
              <a:buFont typeface="Arial"/>
              <a:buChar char="•"/>
            </a:pPr>
            <a:r>
              <a:rPr lang="en-US" sz="4000"/>
              <a:t>Backup and recovery subsystem provide facilities for recovering from hardware or software failures</a:t>
            </a:r>
            <a:endParaRPr/>
          </a:p>
          <a:p>
            <a:pPr marL="91440" lvl="0" indent="-120650" algn="just" rtl="0">
              <a:lnSpc>
                <a:spcPct val="170000"/>
              </a:lnSpc>
              <a:spcBef>
                <a:spcPts val="1400"/>
              </a:spcBef>
              <a:spcAft>
                <a:spcPts val="0"/>
              </a:spcAft>
              <a:buSzPct val="100000"/>
              <a:buFont typeface="Arial"/>
              <a:buChar char="•"/>
            </a:pPr>
            <a:r>
              <a:rPr lang="en-US" sz="4000"/>
              <a:t>Computer system fails in the middle of a complex update transaction, database to be restored to the state </a:t>
            </a:r>
            <a:endParaRPr/>
          </a:p>
          <a:p>
            <a:pPr marL="0" lvl="0" indent="0" algn="just" rtl="0">
              <a:lnSpc>
                <a:spcPct val="170000"/>
              </a:lnSpc>
              <a:spcBef>
                <a:spcPts val="1400"/>
              </a:spcBef>
              <a:spcAft>
                <a:spcPts val="0"/>
              </a:spcAft>
              <a:buSzPct val="100000"/>
              <a:buNone/>
            </a:pPr>
            <a:r>
              <a:rPr lang="en-US" sz="4000"/>
              <a:t> it was in before the transaction started executing</a:t>
            </a:r>
            <a:endParaRPr/>
          </a:p>
          <a:p>
            <a:pPr marL="91440" lvl="0" indent="-120650" algn="just" rtl="0">
              <a:lnSpc>
                <a:spcPct val="170000"/>
              </a:lnSpc>
              <a:spcBef>
                <a:spcPts val="1400"/>
              </a:spcBef>
              <a:spcAft>
                <a:spcPts val="0"/>
              </a:spcAft>
              <a:buSzPct val="100000"/>
              <a:buFont typeface="Arial"/>
              <a:buChar char="•"/>
            </a:pPr>
            <a:r>
              <a:rPr lang="en-US" sz="4000"/>
              <a:t>Disk backup</a:t>
            </a:r>
            <a:endParaRPr sz="4000"/>
          </a:p>
          <a:p>
            <a:pPr marL="91440" lvl="0" indent="-120650" algn="just" rtl="0">
              <a:lnSpc>
                <a:spcPct val="170000"/>
              </a:lnSpc>
              <a:spcBef>
                <a:spcPts val="1400"/>
              </a:spcBef>
              <a:spcAft>
                <a:spcPts val="0"/>
              </a:spcAft>
              <a:buSzPct val="100000"/>
              <a:buFont typeface="Noto Sans Symbols"/>
              <a:buChar char="⮚"/>
            </a:pPr>
            <a:r>
              <a:rPr lang="en-US" sz="4000" b="1"/>
              <a:t>Providing multiple interfaces to different classes of users</a:t>
            </a:r>
            <a:endParaRPr/>
          </a:p>
          <a:p>
            <a:pPr marL="91440" lvl="0" indent="-120650" algn="just" rtl="0">
              <a:lnSpc>
                <a:spcPct val="170000"/>
              </a:lnSpc>
              <a:spcBef>
                <a:spcPts val="1400"/>
              </a:spcBef>
              <a:spcAft>
                <a:spcPts val="0"/>
              </a:spcAft>
              <a:buSzPct val="100000"/>
              <a:buFont typeface="Arial"/>
              <a:buChar char="•"/>
            </a:pPr>
            <a:r>
              <a:rPr lang="en-US" sz="4000"/>
              <a:t>Provide a variety of user interfaces.</a:t>
            </a:r>
            <a:endParaRPr/>
          </a:p>
          <a:p>
            <a:pPr marL="91440" lvl="0" indent="-120650" algn="just" rtl="0">
              <a:lnSpc>
                <a:spcPct val="170000"/>
              </a:lnSpc>
              <a:spcBef>
                <a:spcPts val="1400"/>
              </a:spcBef>
              <a:spcAft>
                <a:spcPts val="0"/>
              </a:spcAft>
              <a:buSzPct val="100000"/>
              <a:buFont typeface="Arial"/>
              <a:buChar char="•"/>
            </a:pPr>
            <a:r>
              <a:rPr lang="en-US" sz="4000"/>
              <a:t>Ex: Query languages for casual users, Programming language interfaces for application programmers</a:t>
            </a:r>
            <a:endParaRPr sz="4000"/>
          </a:p>
          <a:p>
            <a:pPr marL="91440" lvl="0" indent="-6984" algn="just" rtl="0">
              <a:lnSpc>
                <a:spcPct val="90000"/>
              </a:lnSpc>
              <a:spcBef>
                <a:spcPts val="1400"/>
              </a:spcBef>
              <a:spcAft>
                <a:spcPts val="0"/>
              </a:spcAft>
              <a:buSzPct val="100000"/>
              <a:buNone/>
            </a:pPr>
            <a:endParaRPr sz="2800"/>
          </a:p>
        </p:txBody>
      </p:sp>
      <p:sp>
        <p:nvSpPr>
          <p:cNvPr id="408" name="Google Shape;408;p2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22"/>
          <p:cNvSpPr txBox="1">
            <a:spLocks noGrp="1"/>
          </p:cNvSpPr>
          <p:nvPr>
            <p:ph type="title"/>
          </p:nvPr>
        </p:nvSpPr>
        <p:spPr>
          <a:xfrm>
            <a:off x="591910" y="0"/>
            <a:ext cx="10772775" cy="681135"/>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FF0000"/>
              </a:buClr>
              <a:buSzPts val="2800"/>
              <a:buFont typeface="Calibri"/>
              <a:buNone/>
            </a:pPr>
            <a:r>
              <a:rPr lang="en-US" sz="2800">
                <a:solidFill>
                  <a:srgbClr val="FF0000"/>
                </a:solidFill>
              </a:rPr>
              <a:t>Advantages of Using the Database Approach</a:t>
            </a:r>
            <a:endParaRPr/>
          </a:p>
        </p:txBody>
      </p:sp>
      <p:sp>
        <p:nvSpPr>
          <p:cNvPr id="416" name="Google Shape;416;p22"/>
          <p:cNvSpPr txBox="1">
            <a:spLocks noGrp="1"/>
          </p:cNvSpPr>
          <p:nvPr>
            <p:ph type="body" idx="1"/>
          </p:nvPr>
        </p:nvSpPr>
        <p:spPr>
          <a:xfrm>
            <a:off x="895740" y="681135"/>
            <a:ext cx="10704350" cy="6078480"/>
          </a:xfrm>
          <a:prstGeom prst="rect">
            <a:avLst/>
          </a:prstGeom>
          <a:noFill/>
          <a:ln>
            <a:noFill/>
          </a:ln>
        </p:spPr>
        <p:txBody>
          <a:bodyPr spcFirstLastPara="1" wrap="square" lIns="0" tIns="45700" rIns="0" bIns="45700" anchor="t" anchorCtr="0">
            <a:normAutofit fontScale="47500" lnSpcReduction="20000"/>
          </a:bodyPr>
          <a:lstStyle/>
          <a:p>
            <a:pPr marL="91440" lvl="0" indent="-102552" algn="just" rtl="0">
              <a:lnSpc>
                <a:spcPct val="170000"/>
              </a:lnSpc>
              <a:spcBef>
                <a:spcPts val="0"/>
              </a:spcBef>
              <a:spcAft>
                <a:spcPts val="0"/>
              </a:spcAft>
              <a:buSzPct val="100000"/>
              <a:buFont typeface="Noto Sans Symbols"/>
              <a:buChar char="⮚"/>
            </a:pPr>
            <a:r>
              <a:rPr lang="en-US" sz="3400" b="1"/>
              <a:t>Representing complex relationships among data</a:t>
            </a:r>
            <a:endParaRPr/>
          </a:p>
          <a:p>
            <a:pPr marL="91440" lvl="0" indent="-102552" algn="just" rtl="0">
              <a:lnSpc>
                <a:spcPct val="170000"/>
              </a:lnSpc>
              <a:spcBef>
                <a:spcPts val="1400"/>
              </a:spcBef>
              <a:spcAft>
                <a:spcPts val="0"/>
              </a:spcAft>
              <a:buSzPct val="100000"/>
              <a:buFont typeface="Arial"/>
              <a:buChar char="•"/>
            </a:pPr>
            <a:r>
              <a:rPr lang="en-US" sz="3400"/>
              <a:t>Represent a variety of complex relationships among the data</a:t>
            </a:r>
            <a:endParaRPr/>
          </a:p>
          <a:p>
            <a:pPr marL="91440" lvl="0" indent="-102552" algn="just" rtl="0">
              <a:lnSpc>
                <a:spcPct val="170000"/>
              </a:lnSpc>
              <a:spcBef>
                <a:spcPts val="1400"/>
              </a:spcBef>
              <a:spcAft>
                <a:spcPts val="0"/>
              </a:spcAft>
              <a:buSzPct val="100000"/>
              <a:buFont typeface="Arial"/>
              <a:buChar char="•"/>
            </a:pPr>
            <a:r>
              <a:rPr lang="en-US" sz="3400"/>
              <a:t>Ex: </a:t>
            </a:r>
            <a:r>
              <a:rPr lang="en-US" sz="3400" u="sng">
                <a:solidFill>
                  <a:srgbClr val="FF0000"/>
                </a:solidFill>
                <a:hlinkClick r:id="rId3" action="ppaction://hlinksldjump">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Brown</a:t>
            </a:r>
            <a:endParaRPr sz="3400">
              <a:solidFill>
                <a:srgbClr val="FF0000"/>
              </a:solidFill>
            </a:endParaRPr>
          </a:p>
          <a:p>
            <a:pPr marL="91440" lvl="0" indent="-102552" algn="just" rtl="0">
              <a:lnSpc>
                <a:spcPct val="150000"/>
              </a:lnSpc>
              <a:spcBef>
                <a:spcPts val="1400"/>
              </a:spcBef>
              <a:spcAft>
                <a:spcPts val="0"/>
              </a:spcAft>
              <a:buSzPct val="100000"/>
              <a:buFont typeface="Noto Sans Symbols"/>
              <a:buChar char="⮚"/>
            </a:pPr>
            <a:r>
              <a:rPr lang="en-US" sz="3400" b="1"/>
              <a:t>Enforcing integrity constraints on the database</a:t>
            </a:r>
            <a:endParaRPr/>
          </a:p>
          <a:p>
            <a:pPr marL="91440" lvl="0" indent="-102552" algn="just" rtl="0">
              <a:lnSpc>
                <a:spcPct val="150000"/>
              </a:lnSpc>
              <a:spcBef>
                <a:spcPts val="1400"/>
              </a:spcBef>
              <a:spcAft>
                <a:spcPts val="0"/>
              </a:spcAft>
              <a:buSzPct val="100000"/>
              <a:buFont typeface="Arial"/>
              <a:buChar char="•"/>
            </a:pPr>
            <a:r>
              <a:rPr lang="en-US" sz="3400"/>
              <a:t>Integrity constraints that must hold for the data</a:t>
            </a:r>
            <a:endParaRPr/>
          </a:p>
          <a:p>
            <a:pPr marL="91440" lvl="0" indent="-102552" algn="just" rtl="0">
              <a:lnSpc>
                <a:spcPct val="150000"/>
              </a:lnSpc>
              <a:spcBef>
                <a:spcPts val="1400"/>
              </a:spcBef>
              <a:spcAft>
                <a:spcPts val="0"/>
              </a:spcAft>
              <a:buSzPct val="100000"/>
              <a:buFont typeface="Arial"/>
              <a:buChar char="•"/>
            </a:pPr>
            <a:r>
              <a:rPr lang="en-US" sz="3400"/>
              <a:t>Ex: (i) Specifying a data type for each data item, USN character(25)</a:t>
            </a:r>
            <a:endParaRPr/>
          </a:p>
          <a:p>
            <a:pPr marL="0" lvl="0" indent="0" algn="just" rtl="0">
              <a:lnSpc>
                <a:spcPct val="150000"/>
              </a:lnSpc>
              <a:spcBef>
                <a:spcPts val="1400"/>
              </a:spcBef>
              <a:spcAft>
                <a:spcPts val="0"/>
              </a:spcAft>
              <a:buSzPct val="100000"/>
              <a:buNone/>
            </a:pPr>
            <a:r>
              <a:rPr lang="en-US" sz="3400"/>
              <a:t>        (ii) Referential integrity, each USN to be associated with Fee details</a:t>
            </a:r>
            <a:endParaRPr/>
          </a:p>
          <a:p>
            <a:pPr marL="0" lvl="0" indent="0" algn="just" rtl="0">
              <a:lnSpc>
                <a:spcPct val="150000"/>
              </a:lnSpc>
              <a:spcBef>
                <a:spcPts val="1400"/>
              </a:spcBef>
              <a:spcAft>
                <a:spcPts val="0"/>
              </a:spcAft>
              <a:buSzPct val="100000"/>
              <a:buNone/>
            </a:pPr>
            <a:r>
              <a:rPr lang="en-US" sz="3400"/>
              <a:t>       (iii) Key or uniqueness , USN can not be repeated</a:t>
            </a:r>
            <a:endParaRPr sz="3400"/>
          </a:p>
          <a:p>
            <a:pPr marL="91440" lvl="0" indent="-102552" algn="just" rtl="0">
              <a:lnSpc>
                <a:spcPct val="150000"/>
              </a:lnSpc>
              <a:spcBef>
                <a:spcPts val="1400"/>
              </a:spcBef>
              <a:spcAft>
                <a:spcPts val="0"/>
              </a:spcAft>
              <a:buSzPct val="100000"/>
              <a:buFont typeface="Noto Sans Symbols"/>
              <a:buChar char="⮚"/>
            </a:pPr>
            <a:r>
              <a:rPr lang="en-US" sz="3400" b="1"/>
              <a:t>Permitting Inferencing and Actions using rules</a:t>
            </a:r>
            <a:endParaRPr/>
          </a:p>
          <a:p>
            <a:pPr marL="91440" lvl="0" indent="-102552" algn="just" rtl="0">
              <a:lnSpc>
                <a:spcPct val="150000"/>
              </a:lnSpc>
              <a:spcBef>
                <a:spcPts val="1400"/>
              </a:spcBef>
              <a:spcAft>
                <a:spcPts val="0"/>
              </a:spcAft>
              <a:buSzPct val="100000"/>
              <a:buFont typeface="Arial"/>
              <a:buChar char="•"/>
            </a:pPr>
            <a:r>
              <a:rPr lang="en-US" sz="3400"/>
              <a:t>Deductive database systems Ex: Determining Year Back students based on university rules</a:t>
            </a:r>
            <a:endParaRPr/>
          </a:p>
          <a:p>
            <a:pPr marL="91440" lvl="0" indent="-102552" algn="just" rtl="0">
              <a:lnSpc>
                <a:spcPct val="150000"/>
              </a:lnSpc>
              <a:spcBef>
                <a:spcPts val="1400"/>
              </a:spcBef>
              <a:spcAft>
                <a:spcPts val="0"/>
              </a:spcAft>
              <a:buSzPct val="100000"/>
              <a:buFont typeface="Arial"/>
              <a:buChar char="•"/>
            </a:pPr>
            <a:r>
              <a:rPr lang="en-US" sz="3400"/>
              <a:t>Active database/Triggers(a form of a rule activated by updates to the table) with tables Ex: Check if manager’s salary greater than person working under him, if so, send a message</a:t>
            </a:r>
            <a:endParaRPr/>
          </a:p>
          <a:p>
            <a:pPr marL="91440" lvl="0" indent="-25082" algn="just" rtl="0">
              <a:lnSpc>
                <a:spcPct val="150000"/>
              </a:lnSpc>
              <a:spcBef>
                <a:spcPts val="1400"/>
              </a:spcBef>
              <a:spcAft>
                <a:spcPts val="0"/>
              </a:spcAft>
              <a:buSzPct val="100000"/>
              <a:buFont typeface="Arial"/>
              <a:buNone/>
            </a:pPr>
            <a:endParaRPr sz="2200"/>
          </a:p>
          <a:p>
            <a:pPr marL="91440" lvl="0" indent="-6984" algn="just" rtl="0">
              <a:lnSpc>
                <a:spcPct val="90000"/>
              </a:lnSpc>
              <a:spcBef>
                <a:spcPts val="1400"/>
              </a:spcBef>
              <a:spcAft>
                <a:spcPts val="0"/>
              </a:spcAft>
              <a:buSzPct val="100000"/>
              <a:buFont typeface="Arial"/>
              <a:buNone/>
            </a:pPr>
            <a:endParaRPr sz="2800"/>
          </a:p>
        </p:txBody>
      </p:sp>
      <p:sp>
        <p:nvSpPr>
          <p:cNvPr id="417" name="Google Shape;417;p2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23"/>
          <p:cNvSpPr txBox="1">
            <a:spLocks noGrp="1"/>
          </p:cNvSpPr>
          <p:nvPr>
            <p:ph type="title"/>
          </p:nvPr>
        </p:nvSpPr>
        <p:spPr>
          <a:xfrm>
            <a:off x="657606" y="178257"/>
            <a:ext cx="10772775" cy="563148"/>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0000"/>
              </a:buClr>
              <a:buSzPts val="3600"/>
              <a:buFont typeface="Calibri"/>
              <a:buNone/>
            </a:pPr>
            <a:r>
              <a:rPr lang="en-US" sz="3600">
                <a:solidFill>
                  <a:srgbClr val="FF0000"/>
                </a:solidFill>
              </a:rPr>
              <a:t>Data Models</a:t>
            </a:r>
            <a:endParaRPr sz="3600" b="1">
              <a:solidFill>
                <a:srgbClr val="FF0000"/>
              </a:solidFill>
            </a:endParaRPr>
          </a:p>
        </p:txBody>
      </p:sp>
      <p:sp>
        <p:nvSpPr>
          <p:cNvPr id="425" name="Google Shape;425;p23"/>
          <p:cNvSpPr txBox="1">
            <a:spLocks noGrp="1"/>
          </p:cNvSpPr>
          <p:nvPr>
            <p:ph type="body" idx="1"/>
          </p:nvPr>
        </p:nvSpPr>
        <p:spPr>
          <a:xfrm>
            <a:off x="657606" y="741405"/>
            <a:ext cx="10753725" cy="5782963"/>
          </a:xfrm>
          <a:prstGeom prst="rect">
            <a:avLst/>
          </a:prstGeom>
          <a:noFill/>
          <a:ln>
            <a:noFill/>
          </a:ln>
        </p:spPr>
        <p:txBody>
          <a:bodyPr spcFirstLastPara="1" wrap="square" lIns="0" tIns="45700" rIns="0" bIns="45700" anchor="t" anchorCtr="0">
            <a:normAutofit/>
          </a:bodyPr>
          <a:lstStyle/>
          <a:p>
            <a:pPr marL="91440" lvl="0" indent="-127000" algn="just" rtl="0">
              <a:lnSpc>
                <a:spcPct val="90000"/>
              </a:lnSpc>
              <a:spcBef>
                <a:spcPts val="0"/>
              </a:spcBef>
              <a:spcAft>
                <a:spcPts val="0"/>
              </a:spcAft>
              <a:buSzPts val="2000"/>
              <a:buFont typeface="Arial"/>
              <a:buChar char="•"/>
            </a:pPr>
            <a:r>
              <a:rPr lang="en-US" sz="2000" b="1"/>
              <a:t>Data Model</a:t>
            </a:r>
            <a:r>
              <a:rPr lang="en-US" sz="2000"/>
              <a:t>: A set of concepts to describe the </a:t>
            </a:r>
            <a:r>
              <a:rPr lang="en-US" sz="2000" i="1"/>
              <a:t>structure</a:t>
            </a:r>
            <a:r>
              <a:rPr lang="en-US" sz="2000"/>
              <a:t> of a database,</a:t>
            </a:r>
            <a:r>
              <a:rPr lang="en-US" sz="2000" i="1"/>
              <a:t> </a:t>
            </a:r>
            <a:r>
              <a:rPr lang="en-US" sz="2000"/>
              <a:t>and certain</a:t>
            </a:r>
            <a:r>
              <a:rPr lang="en-US" sz="2000" i="1"/>
              <a:t> constraints</a:t>
            </a:r>
            <a:r>
              <a:rPr lang="en-US" sz="2000"/>
              <a:t> that the database should obey.</a:t>
            </a:r>
            <a:endParaRPr/>
          </a:p>
          <a:p>
            <a:pPr marL="91440" lvl="0" indent="-127000" algn="just" rtl="0">
              <a:lnSpc>
                <a:spcPct val="90000"/>
              </a:lnSpc>
              <a:spcBef>
                <a:spcPts val="1400"/>
              </a:spcBef>
              <a:spcAft>
                <a:spcPts val="0"/>
              </a:spcAft>
              <a:buSzPts val="2000"/>
              <a:buFont typeface="Arial"/>
              <a:buChar char="•"/>
            </a:pPr>
            <a:r>
              <a:rPr lang="en-US" sz="2000"/>
              <a:t> </a:t>
            </a:r>
            <a:r>
              <a:rPr lang="en-US" sz="2000" b="1"/>
              <a:t>Data Model Operations</a:t>
            </a:r>
            <a:r>
              <a:rPr lang="en-US" sz="2000"/>
              <a:t>: Operations for specifying database retrievals and updates by referring to the concepts of the data model. Operations on the data model may include </a:t>
            </a:r>
            <a:r>
              <a:rPr lang="en-US" sz="2000" i="1"/>
              <a:t>basic operations</a:t>
            </a:r>
            <a:r>
              <a:rPr lang="en-US" sz="2000"/>
              <a:t> and </a:t>
            </a:r>
            <a:r>
              <a:rPr lang="en-US" sz="2000" i="1"/>
              <a:t>user-defined operations</a:t>
            </a:r>
            <a:endParaRPr/>
          </a:p>
          <a:p>
            <a:pPr marL="91440" lvl="0" indent="-127000" algn="just" rtl="0">
              <a:lnSpc>
                <a:spcPct val="90000"/>
              </a:lnSpc>
              <a:spcBef>
                <a:spcPts val="1400"/>
              </a:spcBef>
              <a:spcAft>
                <a:spcPts val="0"/>
              </a:spcAft>
              <a:buSzPts val="2000"/>
              <a:buFont typeface="Arial"/>
              <a:buChar char="•"/>
            </a:pPr>
            <a:r>
              <a:rPr lang="en-US" sz="2000" b="1"/>
              <a:t>Categories of data models</a:t>
            </a:r>
            <a:endParaRPr/>
          </a:p>
          <a:p>
            <a:pPr marL="514350" lvl="0" indent="-514350" algn="l" rtl="0">
              <a:lnSpc>
                <a:spcPct val="90000"/>
              </a:lnSpc>
              <a:spcBef>
                <a:spcPts val="1400"/>
              </a:spcBef>
              <a:spcAft>
                <a:spcPts val="0"/>
              </a:spcAft>
              <a:buSzPts val="2000"/>
              <a:buFont typeface="Calibri"/>
              <a:buAutoNum type="romanLcPeriod"/>
            </a:pPr>
            <a:r>
              <a:rPr lang="en-US" sz="2000" b="1"/>
              <a:t>Conceptual</a:t>
            </a:r>
            <a:r>
              <a:rPr lang="en-US" sz="2000"/>
              <a:t> (</a:t>
            </a:r>
            <a:r>
              <a:rPr lang="en-US" sz="2000" b="1"/>
              <a:t>high-level</a:t>
            </a:r>
            <a:r>
              <a:rPr lang="en-US" sz="2000"/>
              <a:t>, </a:t>
            </a:r>
            <a:r>
              <a:rPr lang="en-US" sz="2000" b="1"/>
              <a:t>semantic</a:t>
            </a:r>
            <a:r>
              <a:rPr lang="en-US" sz="2000"/>
              <a:t>) data models</a:t>
            </a:r>
            <a:endParaRPr/>
          </a:p>
          <a:p>
            <a:pPr marL="4572" lvl="1" indent="0" algn="l" rtl="0">
              <a:lnSpc>
                <a:spcPct val="90000"/>
              </a:lnSpc>
              <a:spcBef>
                <a:spcPts val="400"/>
              </a:spcBef>
              <a:spcAft>
                <a:spcPts val="0"/>
              </a:spcAft>
              <a:buSzPts val="2000"/>
              <a:buNone/>
            </a:pPr>
            <a:r>
              <a:rPr lang="en-US" sz="2000"/>
              <a:t>          Provide concepts that are close to the way many users </a:t>
            </a:r>
            <a:r>
              <a:rPr lang="en-US" sz="2000" i="1"/>
              <a:t>perceive</a:t>
            </a:r>
            <a:r>
              <a:rPr lang="en-US" sz="2000"/>
              <a:t> data. (Also called </a:t>
            </a:r>
            <a:r>
              <a:rPr lang="en-US" sz="2000" b="1"/>
              <a:t>entity-based</a:t>
            </a:r>
            <a:r>
              <a:rPr lang="en-US" sz="2000"/>
              <a:t> or </a:t>
            </a:r>
            <a:r>
              <a:rPr lang="en-US" sz="2000" b="1"/>
              <a:t>object-based</a:t>
            </a:r>
            <a:r>
              <a:rPr lang="en-US" sz="2000"/>
              <a:t> data models.)</a:t>
            </a:r>
            <a:endParaRPr/>
          </a:p>
          <a:p>
            <a:pPr marL="514350" lvl="0" indent="-514350" algn="l" rtl="0">
              <a:lnSpc>
                <a:spcPct val="90000"/>
              </a:lnSpc>
              <a:spcBef>
                <a:spcPts val="1600"/>
              </a:spcBef>
              <a:spcAft>
                <a:spcPts val="0"/>
              </a:spcAft>
              <a:buSzPts val="2000"/>
              <a:buFont typeface="Calibri"/>
              <a:buAutoNum type="romanLcPeriod"/>
            </a:pPr>
            <a:r>
              <a:rPr lang="en-US" sz="2000" b="1"/>
              <a:t>Physical (low-level, internal) data models</a:t>
            </a:r>
            <a:endParaRPr/>
          </a:p>
          <a:p>
            <a:pPr marL="0" lvl="0" indent="0" algn="l" rtl="0">
              <a:lnSpc>
                <a:spcPct val="90000"/>
              </a:lnSpc>
              <a:spcBef>
                <a:spcPts val="1400"/>
              </a:spcBef>
              <a:spcAft>
                <a:spcPts val="0"/>
              </a:spcAft>
              <a:buSzPts val="2000"/>
              <a:buNone/>
            </a:pPr>
            <a:r>
              <a:rPr lang="en-US" sz="2000" b="1"/>
              <a:t>         </a:t>
            </a:r>
            <a:r>
              <a:rPr lang="en-US" sz="2000"/>
              <a:t>Provide concepts that describe details of how data is stored in the computer</a:t>
            </a:r>
            <a:endParaRPr/>
          </a:p>
          <a:p>
            <a:pPr marL="0" lvl="0" indent="0" algn="l" rtl="0">
              <a:lnSpc>
                <a:spcPct val="90000"/>
              </a:lnSpc>
              <a:spcBef>
                <a:spcPts val="1400"/>
              </a:spcBef>
              <a:spcAft>
                <a:spcPts val="0"/>
              </a:spcAft>
              <a:buSzPts val="2000"/>
              <a:buNone/>
            </a:pPr>
            <a:r>
              <a:rPr lang="en-US" sz="2000" b="1"/>
              <a:t>iii     Implementation (representational) data models</a:t>
            </a:r>
            <a:endParaRPr/>
          </a:p>
          <a:p>
            <a:pPr marL="0" lvl="0" indent="0" algn="l" rtl="0">
              <a:lnSpc>
                <a:spcPct val="90000"/>
              </a:lnSpc>
              <a:spcBef>
                <a:spcPts val="1400"/>
              </a:spcBef>
              <a:spcAft>
                <a:spcPts val="0"/>
              </a:spcAft>
              <a:buSzPts val="2000"/>
              <a:buNone/>
            </a:pPr>
            <a:r>
              <a:rPr lang="en-US" sz="2000"/>
              <a:t>          Provide concepts that fall between the above two, balancing user views with some computer storage details.</a:t>
            </a:r>
            <a:endParaRPr sz="2000" b="1"/>
          </a:p>
          <a:p>
            <a:pPr marL="0" lvl="0" indent="0" algn="just" rtl="0">
              <a:lnSpc>
                <a:spcPct val="90000"/>
              </a:lnSpc>
              <a:spcBef>
                <a:spcPts val="1400"/>
              </a:spcBef>
              <a:spcAft>
                <a:spcPts val="0"/>
              </a:spcAft>
              <a:buSzPts val="2000"/>
              <a:buNone/>
            </a:pPr>
            <a:endParaRPr sz="2000" b="1"/>
          </a:p>
          <a:p>
            <a:pPr marL="91440" lvl="0" indent="0" algn="just" rtl="0">
              <a:lnSpc>
                <a:spcPct val="90000"/>
              </a:lnSpc>
              <a:spcBef>
                <a:spcPts val="1400"/>
              </a:spcBef>
              <a:spcAft>
                <a:spcPts val="0"/>
              </a:spcAft>
              <a:buSzPts val="2000"/>
              <a:buFont typeface="Arial"/>
              <a:buNone/>
            </a:pPr>
            <a:endParaRPr sz="2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24"/>
          <p:cNvSpPr txBox="1">
            <a:spLocks noGrp="1"/>
          </p:cNvSpPr>
          <p:nvPr>
            <p:ph type="title"/>
          </p:nvPr>
        </p:nvSpPr>
        <p:spPr>
          <a:xfrm>
            <a:off x="2209800" y="198783"/>
            <a:ext cx="7772400" cy="435531"/>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FF0000"/>
              </a:buClr>
              <a:buSzPts val="2800"/>
              <a:buFont typeface="Calibri"/>
              <a:buNone/>
            </a:pPr>
            <a:r>
              <a:rPr lang="en-US" sz="2800">
                <a:solidFill>
                  <a:srgbClr val="FF0000"/>
                </a:solidFill>
              </a:rPr>
              <a:t>Schemas, Instances and Database State</a:t>
            </a:r>
            <a:endParaRPr sz="2800" b="1">
              <a:solidFill>
                <a:srgbClr val="FF0000"/>
              </a:solidFill>
            </a:endParaRPr>
          </a:p>
        </p:txBody>
      </p:sp>
      <p:sp>
        <p:nvSpPr>
          <p:cNvPr id="433" name="Google Shape;433;p24"/>
          <p:cNvSpPr txBox="1">
            <a:spLocks noGrp="1"/>
          </p:cNvSpPr>
          <p:nvPr>
            <p:ph type="body" idx="1"/>
          </p:nvPr>
        </p:nvSpPr>
        <p:spPr>
          <a:xfrm>
            <a:off x="255373" y="1012824"/>
            <a:ext cx="10939849" cy="5280883"/>
          </a:xfrm>
          <a:prstGeom prst="rect">
            <a:avLst/>
          </a:prstGeom>
          <a:noFill/>
          <a:ln>
            <a:noFill/>
          </a:ln>
        </p:spPr>
        <p:txBody>
          <a:bodyPr spcFirstLastPara="1" wrap="square" lIns="0" tIns="45700" rIns="0" bIns="45700" anchor="t" anchorCtr="0">
            <a:normAutofit/>
          </a:bodyPr>
          <a:lstStyle/>
          <a:p>
            <a:pPr marL="91440" lvl="0" indent="-127000" algn="just" rtl="0">
              <a:lnSpc>
                <a:spcPct val="90000"/>
              </a:lnSpc>
              <a:spcBef>
                <a:spcPts val="0"/>
              </a:spcBef>
              <a:spcAft>
                <a:spcPts val="0"/>
              </a:spcAft>
              <a:buSzPts val="2000"/>
              <a:buFont typeface="Arial"/>
              <a:buChar char="•"/>
            </a:pPr>
            <a:r>
              <a:rPr lang="en-US" b="1"/>
              <a:t>Database Schema</a:t>
            </a:r>
            <a:endParaRPr/>
          </a:p>
          <a:p>
            <a:pPr marL="4572" lvl="1" indent="0" algn="l" rtl="0">
              <a:lnSpc>
                <a:spcPct val="90000"/>
              </a:lnSpc>
              <a:spcBef>
                <a:spcPts val="400"/>
              </a:spcBef>
              <a:spcAft>
                <a:spcPts val="0"/>
              </a:spcAft>
              <a:buSzPts val="1800"/>
              <a:buNone/>
            </a:pPr>
            <a:r>
              <a:rPr lang="en-US" sz="1800"/>
              <a:t>	The </a:t>
            </a:r>
            <a:r>
              <a:rPr lang="en-US" sz="1800" i="1"/>
              <a:t>description</a:t>
            </a:r>
            <a:r>
              <a:rPr lang="en-US" sz="1800"/>
              <a:t> of a database. Includes descriptions of the database structure and the constraints that should hold on the database.</a:t>
            </a:r>
            <a:endParaRPr sz="2800"/>
          </a:p>
          <a:p>
            <a:pPr marL="91440" lvl="0" indent="-127000" algn="just" rtl="0">
              <a:lnSpc>
                <a:spcPct val="90000"/>
              </a:lnSpc>
              <a:spcBef>
                <a:spcPts val="1600"/>
              </a:spcBef>
              <a:spcAft>
                <a:spcPts val="0"/>
              </a:spcAft>
              <a:buSzPts val="2000"/>
              <a:buFont typeface="Arial"/>
              <a:buChar char="•"/>
            </a:pPr>
            <a:r>
              <a:rPr lang="en-US" b="1"/>
              <a:t>Schema Diagram</a:t>
            </a:r>
            <a:endParaRPr/>
          </a:p>
          <a:p>
            <a:pPr marL="0" lvl="0" indent="0" algn="just" rtl="0">
              <a:lnSpc>
                <a:spcPct val="90000"/>
              </a:lnSpc>
              <a:spcBef>
                <a:spcPts val="1400"/>
              </a:spcBef>
              <a:spcAft>
                <a:spcPts val="0"/>
              </a:spcAft>
              <a:buSzPts val="1800"/>
              <a:buNone/>
            </a:pPr>
            <a:r>
              <a:rPr lang="en-US" sz="1800"/>
              <a:t>	A diagrammatic display of (some aspects of) a database schema.</a:t>
            </a:r>
            <a:endParaRPr sz="2800"/>
          </a:p>
          <a:p>
            <a:pPr marL="91440" lvl="0" indent="-127000" algn="just" rtl="0">
              <a:lnSpc>
                <a:spcPct val="90000"/>
              </a:lnSpc>
              <a:spcBef>
                <a:spcPts val="1400"/>
              </a:spcBef>
              <a:spcAft>
                <a:spcPts val="0"/>
              </a:spcAft>
              <a:buSzPts val="2000"/>
              <a:buFont typeface="Arial"/>
              <a:buChar char="•"/>
            </a:pPr>
            <a:r>
              <a:rPr lang="en-US" b="1"/>
              <a:t>Schema Construct</a:t>
            </a:r>
            <a:endParaRPr/>
          </a:p>
          <a:p>
            <a:pPr marL="4572" lvl="1" indent="0" algn="l" rtl="0">
              <a:lnSpc>
                <a:spcPct val="90000"/>
              </a:lnSpc>
              <a:spcBef>
                <a:spcPts val="400"/>
              </a:spcBef>
              <a:spcAft>
                <a:spcPts val="0"/>
              </a:spcAft>
              <a:buSzPts val="1800"/>
              <a:buNone/>
            </a:pPr>
            <a:r>
              <a:rPr lang="en-US" sz="1800"/>
              <a:t>	A component of the schema or an object within the schema, e.g., STUDENT, COURSE.</a:t>
            </a:r>
            <a:endParaRPr sz="2800"/>
          </a:p>
          <a:p>
            <a:pPr marL="91440" lvl="0" indent="-127000" algn="just" rtl="0">
              <a:lnSpc>
                <a:spcPct val="90000"/>
              </a:lnSpc>
              <a:spcBef>
                <a:spcPts val="1600"/>
              </a:spcBef>
              <a:spcAft>
                <a:spcPts val="0"/>
              </a:spcAft>
              <a:buSzPts val="2000"/>
              <a:buFont typeface="Arial"/>
              <a:buChar char="•"/>
            </a:pPr>
            <a:r>
              <a:rPr lang="en-US" b="1"/>
              <a:t>Database State</a:t>
            </a:r>
            <a:endParaRPr/>
          </a:p>
          <a:p>
            <a:pPr marL="4572" lvl="1" indent="0" algn="l" rtl="0">
              <a:lnSpc>
                <a:spcPct val="90000"/>
              </a:lnSpc>
              <a:spcBef>
                <a:spcPts val="400"/>
              </a:spcBef>
              <a:spcAft>
                <a:spcPts val="0"/>
              </a:spcAft>
              <a:buSzPts val="1800"/>
              <a:buNone/>
            </a:pPr>
            <a:r>
              <a:rPr lang="en-US" sz="1800"/>
              <a:t>	The actual data stored in a database at a </a:t>
            </a:r>
            <a:r>
              <a:rPr lang="en-US" sz="1800" i="1"/>
              <a:t>particular moment in time</a:t>
            </a:r>
            <a:r>
              <a:rPr lang="en-US" sz="1800"/>
              <a:t>. Also called </a:t>
            </a:r>
            <a:r>
              <a:rPr lang="en-US" sz="1800" b="1"/>
              <a:t>snapshot or instance or </a:t>
            </a:r>
            <a:endParaRPr/>
          </a:p>
          <a:p>
            <a:pPr marL="4572" lvl="1" indent="0" algn="l" rtl="0">
              <a:lnSpc>
                <a:spcPct val="90000"/>
              </a:lnSpc>
              <a:spcBef>
                <a:spcPts val="600"/>
              </a:spcBef>
              <a:spcAft>
                <a:spcPts val="0"/>
              </a:spcAft>
              <a:buSzPts val="1800"/>
              <a:buNone/>
            </a:pPr>
            <a:r>
              <a:rPr lang="en-US" sz="1800" b="1"/>
              <a:t>                 occurrence</a:t>
            </a:r>
            <a:r>
              <a:rPr lang="en-US" sz="1800"/>
              <a:t>.</a:t>
            </a:r>
            <a:endParaRPr/>
          </a:p>
          <a:p>
            <a:pPr marL="0" lvl="0" indent="0" algn="just" rtl="0">
              <a:lnSpc>
                <a:spcPct val="90000"/>
              </a:lnSpc>
              <a:spcBef>
                <a:spcPts val="1600"/>
              </a:spcBef>
              <a:spcAft>
                <a:spcPts val="0"/>
              </a:spcAft>
              <a:buSzPts val="1900"/>
              <a:buNone/>
            </a:pPr>
            <a:r>
              <a:rPr lang="en-US" sz="1900" b="1"/>
              <a:t>	(i)Initial Database State:    </a:t>
            </a:r>
            <a:r>
              <a:rPr lang="en-US" sz="1800"/>
              <a:t>Refers to the database when it is loaded</a:t>
            </a:r>
            <a:endParaRPr/>
          </a:p>
          <a:p>
            <a:pPr marL="0" lvl="0" indent="0" algn="just" rtl="0">
              <a:lnSpc>
                <a:spcPct val="90000"/>
              </a:lnSpc>
              <a:spcBef>
                <a:spcPts val="1400"/>
              </a:spcBef>
              <a:spcAft>
                <a:spcPts val="0"/>
              </a:spcAft>
              <a:buSzPts val="1900"/>
              <a:buNone/>
            </a:pPr>
            <a:r>
              <a:rPr lang="en-US" sz="1900" b="1"/>
              <a:t>	(ii) Valid State: </a:t>
            </a:r>
            <a:r>
              <a:rPr lang="en-US" sz="1800"/>
              <a:t>A state that satisfies the structure and constraints of the database.</a:t>
            </a:r>
            <a:endParaRPr/>
          </a:p>
          <a:p>
            <a:pPr marL="0" lvl="0" indent="0" algn="just" rtl="0">
              <a:lnSpc>
                <a:spcPct val="90000"/>
              </a:lnSpc>
              <a:spcBef>
                <a:spcPts val="1400"/>
              </a:spcBef>
              <a:spcAft>
                <a:spcPts val="0"/>
              </a:spcAft>
              <a:buSzPts val="1900"/>
              <a:buNone/>
            </a:pPr>
            <a:r>
              <a:rPr lang="en-US" sz="1900" b="1"/>
              <a:t>               (iii) Distinction:</a:t>
            </a:r>
            <a:r>
              <a:rPr lang="en-US" sz="1400"/>
              <a:t>The </a:t>
            </a:r>
            <a:r>
              <a:rPr lang="en-US" sz="1400" b="1"/>
              <a:t>database schema</a:t>
            </a:r>
            <a:r>
              <a:rPr lang="en-US" sz="1400"/>
              <a:t> changes </a:t>
            </a:r>
            <a:r>
              <a:rPr lang="en-US" sz="1400" i="1"/>
              <a:t>very infrequently</a:t>
            </a:r>
            <a:r>
              <a:rPr lang="en-US" sz="1400"/>
              <a:t>. The </a:t>
            </a:r>
            <a:r>
              <a:rPr lang="en-US" sz="1400" b="1"/>
              <a:t>database state</a:t>
            </a:r>
            <a:r>
              <a:rPr lang="en-US" sz="1400"/>
              <a:t> changes </a:t>
            </a:r>
            <a:r>
              <a:rPr lang="en-US" sz="1400" i="1"/>
              <a:t>every time the database is updated.</a:t>
            </a:r>
            <a:endParaRPr/>
          </a:p>
          <a:p>
            <a:pPr marL="4572" lvl="1" indent="0" algn="l" rtl="0">
              <a:lnSpc>
                <a:spcPct val="90000"/>
              </a:lnSpc>
              <a:spcBef>
                <a:spcPts val="400"/>
              </a:spcBef>
              <a:spcAft>
                <a:spcPts val="0"/>
              </a:spcAft>
              <a:buSzPts val="1400"/>
              <a:buNone/>
            </a:pPr>
            <a:r>
              <a:rPr lang="en-US" sz="1400" b="1"/>
              <a:t>	Schema is also called intension, whereas state is called extension.</a:t>
            </a:r>
            <a:endParaRPr/>
          </a:p>
          <a:p>
            <a:pPr marL="384048" lvl="1" indent="-68579" algn="l" rtl="0">
              <a:lnSpc>
                <a:spcPct val="90000"/>
              </a:lnSpc>
              <a:spcBef>
                <a:spcPts val="600"/>
              </a:spcBef>
              <a:spcAft>
                <a:spcPts val="0"/>
              </a:spcAft>
              <a:buSzPts val="1800"/>
              <a:buNone/>
            </a:pPr>
            <a:endParaRPr sz="1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25"/>
          <p:cNvSpPr txBox="1">
            <a:spLocks noGrp="1"/>
          </p:cNvSpPr>
          <p:nvPr>
            <p:ph type="title"/>
          </p:nvPr>
        </p:nvSpPr>
        <p:spPr>
          <a:xfrm>
            <a:off x="667130" y="0"/>
            <a:ext cx="10772775" cy="807308"/>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0000"/>
              </a:buClr>
              <a:buSzPts val="3200"/>
              <a:buFont typeface="Times"/>
              <a:buNone/>
            </a:pPr>
            <a:r>
              <a:rPr lang="en-US" sz="3200">
                <a:solidFill>
                  <a:srgbClr val="FF0000"/>
                </a:solidFill>
              </a:rPr>
              <a:t>Three-Schema Architecture</a:t>
            </a:r>
            <a:endParaRPr sz="3200" b="1">
              <a:solidFill>
                <a:srgbClr val="FF0000"/>
              </a:solidFill>
            </a:endParaRPr>
          </a:p>
        </p:txBody>
      </p:sp>
      <p:sp>
        <p:nvSpPr>
          <p:cNvPr id="441" name="Google Shape;441;p25"/>
          <p:cNvSpPr txBox="1">
            <a:spLocks noGrp="1"/>
          </p:cNvSpPr>
          <p:nvPr>
            <p:ph type="body" idx="1"/>
          </p:nvPr>
        </p:nvSpPr>
        <p:spPr>
          <a:xfrm>
            <a:off x="533618" y="807308"/>
            <a:ext cx="10753725" cy="3766185"/>
          </a:xfrm>
          <a:prstGeom prst="rect">
            <a:avLst/>
          </a:prstGeom>
          <a:noFill/>
          <a:ln>
            <a:noFill/>
          </a:ln>
        </p:spPr>
        <p:txBody>
          <a:bodyPr spcFirstLastPara="1" wrap="square" lIns="0" tIns="45700" rIns="0" bIns="45700" anchor="t" anchorCtr="0">
            <a:noAutofit/>
          </a:bodyPr>
          <a:lstStyle/>
          <a:p>
            <a:pPr marL="91440" lvl="0" indent="-139700" algn="l" rtl="0">
              <a:lnSpc>
                <a:spcPct val="90000"/>
              </a:lnSpc>
              <a:spcBef>
                <a:spcPts val="0"/>
              </a:spcBef>
              <a:spcAft>
                <a:spcPts val="0"/>
              </a:spcAft>
              <a:buSzPts val="2200"/>
              <a:buFont typeface="Arial"/>
              <a:buChar char="•"/>
            </a:pPr>
            <a:r>
              <a:rPr lang="en-US" sz="2200" dirty="0"/>
              <a:t>Proposed to support DBMS characteristics of</a:t>
            </a:r>
            <a:endParaRPr sz="2200" b="1" dirty="0"/>
          </a:p>
          <a:p>
            <a:pPr marL="384048" lvl="1" indent="-182880" algn="l" rtl="0">
              <a:lnSpc>
                <a:spcPct val="100000"/>
              </a:lnSpc>
              <a:spcBef>
                <a:spcPts val="400"/>
              </a:spcBef>
              <a:spcAft>
                <a:spcPts val="0"/>
              </a:spcAft>
              <a:buSzPts val="2200"/>
              <a:buChar char="◦"/>
            </a:pPr>
            <a:r>
              <a:rPr lang="en-US" sz="2200" dirty="0"/>
              <a:t>(i)Program-data independence.</a:t>
            </a:r>
            <a:endParaRPr dirty="0"/>
          </a:p>
          <a:p>
            <a:pPr marL="384048" lvl="1" indent="-182880" algn="l" rtl="0">
              <a:lnSpc>
                <a:spcPct val="100000"/>
              </a:lnSpc>
              <a:spcBef>
                <a:spcPts val="600"/>
              </a:spcBef>
              <a:spcAft>
                <a:spcPts val="0"/>
              </a:spcAft>
              <a:buSzPts val="2200"/>
              <a:buChar char="◦"/>
            </a:pPr>
            <a:r>
              <a:rPr lang="en-US" sz="2200" dirty="0"/>
              <a:t>(ii)Support of multiple views of the data.</a:t>
            </a:r>
            <a:endParaRPr dirty="0"/>
          </a:p>
          <a:p>
            <a:pPr marL="91440" lvl="0" indent="-139700" algn="l" rtl="0">
              <a:lnSpc>
                <a:spcPct val="90000"/>
              </a:lnSpc>
              <a:spcBef>
                <a:spcPts val="1600"/>
              </a:spcBef>
              <a:spcAft>
                <a:spcPts val="0"/>
              </a:spcAft>
              <a:buSzPts val="2200"/>
              <a:buFont typeface="Arial"/>
              <a:buChar char="•"/>
            </a:pPr>
            <a:r>
              <a:rPr lang="en-US" sz="2200" dirty="0"/>
              <a:t>Defines DBMS schemas at </a:t>
            </a:r>
            <a:r>
              <a:rPr lang="en-US" sz="2200" i="1" dirty="0"/>
              <a:t>three levels</a:t>
            </a:r>
            <a:r>
              <a:rPr lang="en-US" sz="2200" dirty="0"/>
              <a:t>:	</a:t>
            </a:r>
            <a:endParaRPr dirty="0"/>
          </a:p>
          <a:p>
            <a:pPr marL="384048" lvl="1" indent="-43179" algn="just" rtl="0">
              <a:lnSpc>
                <a:spcPct val="90000"/>
              </a:lnSpc>
              <a:spcBef>
                <a:spcPts val="400"/>
              </a:spcBef>
              <a:spcAft>
                <a:spcPts val="0"/>
              </a:spcAft>
              <a:buSzPts val="2200"/>
              <a:buNone/>
            </a:pPr>
            <a:endParaRPr sz="2200" b="1" dirty="0"/>
          </a:p>
          <a:p>
            <a:pPr marL="384048" lvl="1" indent="-182880" algn="just" rtl="0">
              <a:lnSpc>
                <a:spcPct val="90000"/>
              </a:lnSpc>
              <a:spcBef>
                <a:spcPts val="600"/>
              </a:spcBef>
              <a:spcAft>
                <a:spcPts val="0"/>
              </a:spcAft>
              <a:buSzPts val="2200"/>
              <a:buChar char="◦"/>
            </a:pPr>
            <a:r>
              <a:rPr lang="en-US" sz="2200" b="1" dirty="0"/>
              <a:t>Internal schema</a:t>
            </a:r>
            <a:r>
              <a:rPr lang="en-US" sz="2200" dirty="0"/>
              <a:t> at the internal level to describe physical storage structures and access paths. Typically uses a </a:t>
            </a:r>
            <a:r>
              <a:rPr lang="en-US" sz="2200" i="1" dirty="0"/>
              <a:t>physical</a:t>
            </a:r>
            <a:r>
              <a:rPr lang="en-US" sz="2200" dirty="0"/>
              <a:t> data model.</a:t>
            </a:r>
            <a:endParaRPr dirty="0"/>
          </a:p>
          <a:p>
            <a:pPr marL="384048" lvl="1" indent="-43179" algn="just" rtl="0">
              <a:lnSpc>
                <a:spcPct val="90000"/>
              </a:lnSpc>
              <a:spcBef>
                <a:spcPts val="600"/>
              </a:spcBef>
              <a:spcAft>
                <a:spcPts val="0"/>
              </a:spcAft>
              <a:buSzPts val="2200"/>
              <a:buNone/>
            </a:pPr>
            <a:endParaRPr sz="2200" dirty="0"/>
          </a:p>
          <a:p>
            <a:pPr marL="384048" lvl="1" indent="-182880" algn="just" rtl="0">
              <a:lnSpc>
                <a:spcPct val="90000"/>
              </a:lnSpc>
              <a:spcBef>
                <a:spcPts val="600"/>
              </a:spcBef>
              <a:spcAft>
                <a:spcPts val="0"/>
              </a:spcAft>
              <a:buSzPts val="2200"/>
              <a:buChar char="◦"/>
            </a:pPr>
            <a:r>
              <a:rPr lang="en-US" sz="2200" b="1" dirty="0"/>
              <a:t>Conceptual schema</a:t>
            </a:r>
            <a:r>
              <a:rPr lang="en-US" sz="2200" dirty="0"/>
              <a:t> at the conceptual level to describe the structure and constraints for the </a:t>
            </a:r>
            <a:r>
              <a:rPr lang="en-US" sz="2200" i="1" dirty="0"/>
              <a:t>whole</a:t>
            </a:r>
            <a:r>
              <a:rPr lang="en-US" sz="2200" dirty="0"/>
              <a:t> database for a community of users. Uses a </a:t>
            </a:r>
            <a:r>
              <a:rPr lang="en-US" sz="2200" i="1" dirty="0"/>
              <a:t>conceptual</a:t>
            </a:r>
            <a:r>
              <a:rPr lang="en-US" sz="2200" dirty="0"/>
              <a:t> or an </a:t>
            </a:r>
            <a:r>
              <a:rPr lang="en-US" sz="2200" i="1" dirty="0"/>
              <a:t>implementation</a:t>
            </a:r>
            <a:r>
              <a:rPr lang="en-US" sz="2200" dirty="0"/>
              <a:t> data model.</a:t>
            </a:r>
            <a:endParaRPr dirty="0"/>
          </a:p>
          <a:p>
            <a:pPr marL="384048" lvl="1" indent="-43179" algn="just" rtl="0">
              <a:lnSpc>
                <a:spcPct val="90000"/>
              </a:lnSpc>
              <a:spcBef>
                <a:spcPts val="600"/>
              </a:spcBef>
              <a:spcAft>
                <a:spcPts val="0"/>
              </a:spcAft>
              <a:buSzPts val="2200"/>
              <a:buNone/>
            </a:pPr>
            <a:endParaRPr sz="2200" dirty="0"/>
          </a:p>
          <a:p>
            <a:pPr marL="384048" lvl="1" indent="-182880" algn="just" rtl="0">
              <a:lnSpc>
                <a:spcPct val="90000"/>
              </a:lnSpc>
              <a:spcBef>
                <a:spcPts val="600"/>
              </a:spcBef>
              <a:spcAft>
                <a:spcPts val="0"/>
              </a:spcAft>
              <a:buSzPts val="2200"/>
              <a:buChar char="◦"/>
            </a:pPr>
            <a:r>
              <a:rPr lang="en-US" sz="2200" b="1" dirty="0"/>
              <a:t>External schemas</a:t>
            </a:r>
            <a:r>
              <a:rPr lang="en-US" sz="2200" dirty="0"/>
              <a:t> at the external level to describe the various user views. Usually uses the same data model as the conceptual level.</a:t>
            </a:r>
            <a:endParaRPr dirty="0"/>
          </a:p>
          <a:p>
            <a:pPr marL="384048" lvl="1" indent="-182880" algn="just" rtl="0">
              <a:lnSpc>
                <a:spcPct val="90000"/>
              </a:lnSpc>
              <a:spcBef>
                <a:spcPts val="600"/>
              </a:spcBef>
              <a:spcAft>
                <a:spcPts val="0"/>
              </a:spcAft>
              <a:buSzPts val="2200"/>
              <a:buChar char="◦"/>
            </a:pPr>
            <a:r>
              <a:rPr lang="en-US" sz="2200" b="1" dirty="0"/>
              <a:t>	Mappings</a:t>
            </a:r>
            <a:r>
              <a:rPr lang="en-US" sz="2200" dirty="0"/>
              <a:t> among schema levels are needed to transform requests and data. Programs refer to an external schema, and are mapped by the DBMS to the internal schema for execution.</a:t>
            </a:r>
            <a:endParaRPr dirty="0"/>
          </a:p>
          <a:p>
            <a:pPr marL="384048" lvl="1" indent="-68579" algn="just" rtl="0">
              <a:lnSpc>
                <a:spcPct val="90000"/>
              </a:lnSpc>
              <a:spcBef>
                <a:spcPts val="600"/>
              </a:spcBef>
              <a:spcAft>
                <a:spcPts val="0"/>
              </a:spcAft>
              <a:buSzPts val="1800"/>
              <a:buNone/>
            </a:pPr>
            <a:endParaRPr dirty="0"/>
          </a:p>
          <a:p>
            <a:pPr marL="384048" lvl="1" indent="-68579" algn="l" rtl="0">
              <a:lnSpc>
                <a:spcPct val="100000"/>
              </a:lnSpc>
              <a:spcBef>
                <a:spcPts val="600"/>
              </a:spcBef>
              <a:spcAft>
                <a:spcPts val="0"/>
              </a:spcAft>
              <a:buSzPts val="1800"/>
              <a:buNone/>
            </a:pP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2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0000"/>
              </a:buClr>
              <a:buSzPts val="4800"/>
              <a:buFont typeface="Calibri"/>
              <a:buNone/>
            </a:pPr>
            <a:r>
              <a:rPr lang="en-US">
                <a:solidFill>
                  <a:srgbClr val="FF0000"/>
                </a:solidFill>
              </a:rPr>
              <a:t>Three-Schema Architecture</a:t>
            </a:r>
            <a:endParaRPr/>
          </a:p>
        </p:txBody>
      </p:sp>
      <p:pic>
        <p:nvPicPr>
          <p:cNvPr id="449" name="Google Shape;449;p26" descr="scan0019.jpg"/>
          <p:cNvPicPr preferRelativeResize="0">
            <a:picLocks noGrp="1"/>
          </p:cNvPicPr>
          <p:nvPr>
            <p:ph type="body" idx="1"/>
          </p:nvPr>
        </p:nvPicPr>
        <p:blipFill rotWithShape="1">
          <a:blip r:embed="rId3">
            <a:alphaModFix/>
          </a:blip>
          <a:srcRect/>
          <a:stretch/>
        </p:blipFill>
        <p:spPr>
          <a:xfrm>
            <a:off x="2039742" y="1600200"/>
            <a:ext cx="8131530" cy="435002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27"/>
          <p:cNvSpPr txBox="1">
            <a:spLocks noGrp="1"/>
          </p:cNvSpPr>
          <p:nvPr>
            <p:ph type="title"/>
          </p:nvPr>
        </p:nvSpPr>
        <p:spPr>
          <a:xfrm>
            <a:off x="2209800" y="76200"/>
            <a:ext cx="7772400" cy="11430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0000"/>
              </a:buClr>
              <a:buSzPts val="4800"/>
              <a:buFont typeface="Times"/>
              <a:buNone/>
            </a:pPr>
            <a:r>
              <a:rPr lang="en-US">
                <a:solidFill>
                  <a:srgbClr val="FF0000"/>
                </a:solidFill>
              </a:rPr>
              <a:t>Data Independence</a:t>
            </a:r>
            <a:endParaRPr b="1">
              <a:solidFill>
                <a:srgbClr val="FF0000"/>
              </a:solidFill>
            </a:endParaRPr>
          </a:p>
        </p:txBody>
      </p:sp>
      <p:sp>
        <p:nvSpPr>
          <p:cNvPr id="457" name="Google Shape;457;p27"/>
          <p:cNvSpPr txBox="1">
            <a:spLocks noGrp="1"/>
          </p:cNvSpPr>
          <p:nvPr>
            <p:ph type="body" idx="1"/>
          </p:nvPr>
        </p:nvSpPr>
        <p:spPr>
          <a:xfrm>
            <a:off x="1961322" y="1546224"/>
            <a:ext cx="8375374" cy="5311775"/>
          </a:xfrm>
          <a:prstGeom prst="rect">
            <a:avLst/>
          </a:prstGeom>
          <a:noFill/>
          <a:ln>
            <a:noFill/>
          </a:ln>
        </p:spPr>
        <p:txBody>
          <a:bodyPr spcFirstLastPara="1" wrap="square" lIns="0" tIns="45700" rIns="0" bIns="45700" anchor="t" anchorCtr="0">
            <a:normAutofit fontScale="92500" lnSpcReduction="10000"/>
          </a:bodyPr>
          <a:lstStyle/>
          <a:p>
            <a:pPr marL="91440" lvl="0" indent="-117475" algn="just" rtl="0">
              <a:lnSpc>
                <a:spcPct val="90000"/>
              </a:lnSpc>
              <a:spcBef>
                <a:spcPts val="0"/>
              </a:spcBef>
              <a:spcAft>
                <a:spcPts val="0"/>
              </a:spcAft>
              <a:buSzPct val="100000"/>
              <a:buChar char=" "/>
            </a:pPr>
            <a:r>
              <a:rPr lang="en-US"/>
              <a:t>The capacity to change the schema at one level of a database system without having to change the system at the next higher level.</a:t>
            </a:r>
            <a:endParaRPr/>
          </a:p>
          <a:p>
            <a:pPr marL="91440" lvl="0" indent="0" algn="just" rtl="0">
              <a:lnSpc>
                <a:spcPct val="90000"/>
              </a:lnSpc>
              <a:spcBef>
                <a:spcPts val="1400"/>
              </a:spcBef>
              <a:spcAft>
                <a:spcPts val="0"/>
              </a:spcAft>
              <a:buSzPct val="100000"/>
              <a:buNone/>
            </a:pPr>
            <a:endParaRPr b="1"/>
          </a:p>
          <a:p>
            <a:pPr marL="91440" lvl="0" indent="-117475" algn="just" rtl="0">
              <a:lnSpc>
                <a:spcPct val="90000"/>
              </a:lnSpc>
              <a:spcBef>
                <a:spcPts val="1400"/>
              </a:spcBef>
              <a:spcAft>
                <a:spcPts val="0"/>
              </a:spcAft>
              <a:buSzPct val="100000"/>
              <a:buChar char=" "/>
            </a:pPr>
            <a:r>
              <a:rPr lang="en-US"/>
              <a:t>Two types of data independences:</a:t>
            </a:r>
            <a:endParaRPr/>
          </a:p>
          <a:p>
            <a:pPr marL="384048" lvl="1" indent="-182879" algn="just" rtl="0">
              <a:lnSpc>
                <a:spcPct val="90000"/>
              </a:lnSpc>
              <a:spcBef>
                <a:spcPts val="400"/>
              </a:spcBef>
              <a:spcAft>
                <a:spcPts val="0"/>
              </a:spcAft>
              <a:buSzPct val="100000"/>
              <a:buChar char="◦"/>
            </a:pPr>
            <a:r>
              <a:rPr lang="en-US" b="1"/>
              <a:t>Logical Data Independence</a:t>
            </a:r>
            <a:r>
              <a:rPr lang="en-US"/>
              <a:t>: The capacity to change the conceptual schema without having to change the external schemas and their application programs.</a:t>
            </a:r>
            <a:endParaRPr/>
          </a:p>
          <a:p>
            <a:pPr marL="384048" lvl="1" indent="-77152" algn="just" rtl="0">
              <a:lnSpc>
                <a:spcPct val="90000"/>
              </a:lnSpc>
              <a:spcBef>
                <a:spcPts val="600"/>
              </a:spcBef>
              <a:spcAft>
                <a:spcPts val="0"/>
              </a:spcAft>
              <a:buSzPct val="100000"/>
              <a:buNone/>
            </a:pPr>
            <a:endParaRPr/>
          </a:p>
          <a:p>
            <a:pPr marL="384048" lvl="1" indent="-182879" algn="just" rtl="0">
              <a:lnSpc>
                <a:spcPct val="90000"/>
              </a:lnSpc>
              <a:spcBef>
                <a:spcPts val="600"/>
              </a:spcBef>
              <a:spcAft>
                <a:spcPts val="0"/>
              </a:spcAft>
              <a:buSzPct val="100000"/>
              <a:buChar char="◦"/>
            </a:pPr>
            <a:r>
              <a:rPr lang="en-US" b="1"/>
              <a:t>Physical Data Independence</a:t>
            </a:r>
            <a:r>
              <a:rPr lang="en-US"/>
              <a:t>: The capacity to change the internal schema without having to change the conceptual schema.</a:t>
            </a:r>
            <a:endParaRPr/>
          </a:p>
          <a:p>
            <a:pPr marL="384048" lvl="1" indent="-77152" algn="just" rtl="0">
              <a:lnSpc>
                <a:spcPct val="90000"/>
              </a:lnSpc>
              <a:spcBef>
                <a:spcPts val="600"/>
              </a:spcBef>
              <a:spcAft>
                <a:spcPts val="0"/>
              </a:spcAft>
              <a:buSzPct val="100000"/>
              <a:buNone/>
            </a:pPr>
            <a:endParaRPr/>
          </a:p>
          <a:p>
            <a:pPr marL="91440" lvl="0" indent="-117475" algn="just" rtl="0">
              <a:lnSpc>
                <a:spcPct val="90000"/>
              </a:lnSpc>
              <a:spcBef>
                <a:spcPts val="400"/>
              </a:spcBef>
              <a:spcAft>
                <a:spcPts val="0"/>
              </a:spcAft>
              <a:buSzPct val="100000"/>
              <a:buChar char=" "/>
            </a:pPr>
            <a:r>
              <a:rPr lang="en-US"/>
              <a:t>When a schema at a lower level is changed, only the </a:t>
            </a:r>
            <a:r>
              <a:rPr lang="en-US" b="1"/>
              <a:t>mappings</a:t>
            </a:r>
            <a:r>
              <a:rPr lang="en-US"/>
              <a:t> between this schema and higher-level schemas need to be changed in a DBMS that fully supports data independence. </a:t>
            </a:r>
            <a:endParaRPr/>
          </a:p>
          <a:p>
            <a:pPr marL="91440" lvl="0" indent="0" algn="just" rtl="0">
              <a:lnSpc>
                <a:spcPct val="90000"/>
              </a:lnSpc>
              <a:spcBef>
                <a:spcPts val="200"/>
              </a:spcBef>
              <a:spcAft>
                <a:spcPts val="0"/>
              </a:spcAft>
              <a:buSzPct val="100000"/>
              <a:buNone/>
            </a:pPr>
            <a:endParaRPr/>
          </a:p>
          <a:p>
            <a:pPr marL="91440" lvl="0" indent="-117475" algn="just" rtl="0">
              <a:lnSpc>
                <a:spcPct val="90000"/>
              </a:lnSpc>
              <a:spcBef>
                <a:spcPts val="200"/>
              </a:spcBef>
              <a:spcAft>
                <a:spcPts val="0"/>
              </a:spcAft>
              <a:buSzPct val="100000"/>
              <a:buChar char=" "/>
            </a:pPr>
            <a:r>
              <a:rPr lang="en-US"/>
              <a:t>The higher-level schemas themselves are </a:t>
            </a:r>
            <a:r>
              <a:rPr lang="en-US" i="1"/>
              <a:t>unchanged</a:t>
            </a:r>
            <a:r>
              <a:rPr lang="en-US"/>
              <a:t>.  </a:t>
            </a:r>
            <a:endParaRPr/>
          </a:p>
          <a:p>
            <a:pPr marL="91440" lvl="0" indent="0" algn="just" rtl="0">
              <a:lnSpc>
                <a:spcPct val="90000"/>
              </a:lnSpc>
              <a:spcBef>
                <a:spcPts val="200"/>
              </a:spcBef>
              <a:spcAft>
                <a:spcPts val="0"/>
              </a:spcAft>
              <a:buSzPct val="100000"/>
              <a:buNone/>
            </a:pPr>
            <a:endParaRPr/>
          </a:p>
          <a:p>
            <a:pPr marL="91440" lvl="0" indent="-117475" algn="just" rtl="0">
              <a:lnSpc>
                <a:spcPct val="90000"/>
              </a:lnSpc>
              <a:spcBef>
                <a:spcPts val="200"/>
              </a:spcBef>
              <a:spcAft>
                <a:spcPts val="0"/>
              </a:spcAft>
              <a:buSzPct val="100000"/>
              <a:buChar char=" "/>
            </a:pPr>
            <a:r>
              <a:rPr lang="en-US"/>
              <a:t>Hence, the application programs need not be changed since they refer to the external schemas.</a:t>
            </a:r>
            <a:endParaRPr/>
          </a:p>
          <a:p>
            <a:pPr marL="384048" lvl="1" indent="-77152" algn="just" rtl="0">
              <a:lnSpc>
                <a:spcPct val="90000"/>
              </a:lnSpc>
              <a:spcBef>
                <a:spcPts val="400"/>
              </a:spcBef>
              <a:spcAft>
                <a:spcPts val="0"/>
              </a:spcAft>
              <a:buSzPct val="100000"/>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28"/>
          <p:cNvSpPr txBox="1">
            <a:spLocks noGrp="1"/>
          </p:cNvSpPr>
          <p:nvPr>
            <p:ph type="title"/>
          </p:nvPr>
        </p:nvSpPr>
        <p:spPr>
          <a:xfrm>
            <a:off x="148282" y="499533"/>
            <a:ext cx="11878962" cy="316013"/>
          </a:xfrm>
          <a:prstGeom prst="rect">
            <a:avLst/>
          </a:prstGeom>
          <a:noFill/>
          <a:ln>
            <a:noFill/>
          </a:ln>
        </p:spPr>
        <p:txBody>
          <a:bodyPr spcFirstLastPara="1" wrap="square" lIns="91425" tIns="45700" rIns="91425" bIns="45700" anchor="b" anchorCtr="0">
            <a:noAutofit/>
          </a:bodyPr>
          <a:lstStyle/>
          <a:p>
            <a:pPr marL="0" lvl="0" indent="0" algn="just" rtl="0">
              <a:lnSpc>
                <a:spcPct val="85000"/>
              </a:lnSpc>
              <a:spcBef>
                <a:spcPts val="0"/>
              </a:spcBef>
              <a:spcAft>
                <a:spcPts val="0"/>
              </a:spcAft>
              <a:buClr>
                <a:srgbClr val="FF0000"/>
              </a:buClr>
              <a:buSzPts val="2800"/>
              <a:buFont typeface="Calibri"/>
              <a:buNone/>
            </a:pPr>
            <a:r>
              <a:rPr lang="en-US" sz="2800">
                <a:solidFill>
                  <a:srgbClr val="FF0000"/>
                </a:solidFill>
              </a:rPr>
              <a:t>Additional Implications of Using the Database Approach</a:t>
            </a:r>
            <a:endParaRPr/>
          </a:p>
        </p:txBody>
      </p:sp>
      <p:sp>
        <p:nvSpPr>
          <p:cNvPr id="465" name="Google Shape;465;p28"/>
          <p:cNvSpPr txBox="1">
            <a:spLocks noGrp="1"/>
          </p:cNvSpPr>
          <p:nvPr>
            <p:ph type="body" idx="1"/>
          </p:nvPr>
        </p:nvSpPr>
        <p:spPr>
          <a:xfrm>
            <a:off x="647458" y="940139"/>
            <a:ext cx="10565025" cy="4712515"/>
          </a:xfrm>
          <a:prstGeom prst="rect">
            <a:avLst/>
          </a:prstGeom>
          <a:noFill/>
          <a:ln>
            <a:noFill/>
          </a:ln>
        </p:spPr>
        <p:txBody>
          <a:bodyPr spcFirstLastPara="1" wrap="square" lIns="0" tIns="45700" rIns="0" bIns="45700" anchor="t" anchorCtr="0">
            <a:normAutofit fontScale="92500" lnSpcReduction="20000"/>
          </a:bodyPr>
          <a:lstStyle/>
          <a:p>
            <a:pPr marL="91440" lvl="0" indent="-164465" algn="just" rtl="0">
              <a:lnSpc>
                <a:spcPct val="90000"/>
              </a:lnSpc>
              <a:spcBef>
                <a:spcPts val="0"/>
              </a:spcBef>
              <a:spcAft>
                <a:spcPts val="0"/>
              </a:spcAft>
              <a:buSzPct val="100000"/>
              <a:buChar char=" "/>
            </a:pPr>
            <a:r>
              <a:rPr lang="en-US" sz="2800" b="1" dirty="0"/>
              <a:t>Potential for enforcing standards:</a:t>
            </a:r>
            <a:r>
              <a:rPr lang="en-US" sz="2800" dirty="0"/>
              <a:t> </a:t>
            </a:r>
            <a:endParaRPr lang="en-US" sz="2800" dirty="0" smtClean="0"/>
          </a:p>
          <a:p>
            <a:pPr marL="91440" lvl="0" indent="-164465" algn="just" rtl="0">
              <a:lnSpc>
                <a:spcPct val="90000"/>
              </a:lnSpc>
              <a:spcBef>
                <a:spcPts val="0"/>
              </a:spcBef>
              <a:spcAft>
                <a:spcPts val="0"/>
              </a:spcAft>
              <a:buSzPct val="100000"/>
              <a:buChar char=" "/>
            </a:pPr>
            <a:endParaRPr dirty="0"/>
          </a:p>
          <a:p>
            <a:pPr marL="384048" lvl="1" indent="-182879" algn="l" rtl="0">
              <a:lnSpc>
                <a:spcPct val="90000"/>
              </a:lnSpc>
              <a:spcBef>
                <a:spcPts val="400"/>
              </a:spcBef>
              <a:spcAft>
                <a:spcPts val="0"/>
              </a:spcAft>
              <a:buSzPct val="100000"/>
              <a:buChar char="◦"/>
            </a:pPr>
            <a:r>
              <a:rPr lang="en-US" sz="2200" dirty="0"/>
              <a:t>This is very crucial for the success of database applications in large organizations Standards refer to data item names, display formats, screens, report structures, meta-data (description of data) etc.</a:t>
            </a:r>
            <a:endParaRPr sz="3500" b="1" dirty="0"/>
          </a:p>
          <a:p>
            <a:pPr marL="91440" lvl="0" indent="-164465" algn="just" rtl="0">
              <a:lnSpc>
                <a:spcPct val="90000"/>
              </a:lnSpc>
              <a:spcBef>
                <a:spcPts val="1600"/>
              </a:spcBef>
              <a:spcAft>
                <a:spcPts val="0"/>
              </a:spcAft>
              <a:buSzPct val="100000"/>
              <a:buChar char=" "/>
            </a:pPr>
            <a:r>
              <a:rPr lang="en-US" sz="2800" b="1" dirty="0"/>
              <a:t>Reduced application development time: </a:t>
            </a:r>
            <a:endParaRPr dirty="0"/>
          </a:p>
          <a:p>
            <a:pPr marL="384048" lvl="1" indent="-182879" algn="l" rtl="0">
              <a:lnSpc>
                <a:spcPct val="90000"/>
              </a:lnSpc>
              <a:spcBef>
                <a:spcPts val="400"/>
              </a:spcBef>
              <a:spcAft>
                <a:spcPts val="0"/>
              </a:spcAft>
              <a:buSzPct val="100000"/>
              <a:buChar char="◦"/>
            </a:pPr>
            <a:r>
              <a:rPr lang="en-US" dirty="0"/>
              <a:t>I</a:t>
            </a:r>
            <a:r>
              <a:rPr lang="en-US" sz="1800" dirty="0"/>
              <a:t>ncremental time to add each new application is reduced.</a:t>
            </a:r>
            <a:endParaRPr dirty="0"/>
          </a:p>
          <a:p>
            <a:pPr marL="91440" lvl="0" indent="-164465" algn="just" rtl="0">
              <a:lnSpc>
                <a:spcPct val="90000"/>
              </a:lnSpc>
              <a:spcBef>
                <a:spcPts val="1600"/>
              </a:spcBef>
              <a:spcAft>
                <a:spcPts val="0"/>
              </a:spcAft>
              <a:buSzPct val="100000"/>
              <a:buChar char=" "/>
            </a:pPr>
            <a:r>
              <a:rPr lang="en-US" sz="2800" b="1" dirty="0"/>
              <a:t>Flexibility to change data structures: </a:t>
            </a:r>
            <a:endParaRPr dirty="0"/>
          </a:p>
          <a:p>
            <a:pPr marL="384048" lvl="1" indent="-182879" algn="l" rtl="0">
              <a:lnSpc>
                <a:spcPct val="90000"/>
              </a:lnSpc>
              <a:spcBef>
                <a:spcPts val="400"/>
              </a:spcBef>
              <a:spcAft>
                <a:spcPts val="0"/>
              </a:spcAft>
              <a:buSzPct val="100000"/>
              <a:buChar char="◦"/>
            </a:pPr>
            <a:r>
              <a:rPr lang="en-US" sz="1800" dirty="0"/>
              <a:t>Database structure may evolve as new requirements are defined. </a:t>
            </a:r>
            <a:endParaRPr sz="2800" dirty="0"/>
          </a:p>
          <a:p>
            <a:pPr marL="91440" lvl="0" indent="-164465" algn="just" rtl="0">
              <a:lnSpc>
                <a:spcPct val="90000"/>
              </a:lnSpc>
              <a:spcBef>
                <a:spcPts val="1600"/>
              </a:spcBef>
              <a:spcAft>
                <a:spcPts val="0"/>
              </a:spcAft>
              <a:buSzPct val="100000"/>
              <a:buChar char=" "/>
            </a:pPr>
            <a:r>
              <a:rPr lang="en-US" sz="2800" b="1" dirty="0"/>
              <a:t>Availability of up-to-date information:</a:t>
            </a:r>
            <a:endParaRPr dirty="0"/>
          </a:p>
          <a:p>
            <a:pPr marL="384048" lvl="1" indent="-182879" algn="l" rtl="0">
              <a:lnSpc>
                <a:spcPct val="90000"/>
              </a:lnSpc>
              <a:spcBef>
                <a:spcPts val="400"/>
              </a:spcBef>
              <a:spcAft>
                <a:spcPts val="0"/>
              </a:spcAft>
              <a:buSzPct val="100000"/>
              <a:buChar char="◦"/>
            </a:pPr>
            <a:r>
              <a:rPr lang="en-US" sz="1800" dirty="0"/>
              <a:t>Very important for on-line transaction systems such as airline, hotel, car reservations.</a:t>
            </a:r>
            <a:endParaRPr sz="2800" dirty="0"/>
          </a:p>
          <a:p>
            <a:pPr marL="91440" lvl="0" indent="-164465" algn="just" rtl="0">
              <a:lnSpc>
                <a:spcPct val="90000"/>
              </a:lnSpc>
              <a:spcBef>
                <a:spcPts val="1600"/>
              </a:spcBef>
              <a:spcAft>
                <a:spcPts val="0"/>
              </a:spcAft>
              <a:buSzPct val="100000"/>
              <a:buChar char=" "/>
            </a:pPr>
            <a:r>
              <a:rPr lang="en-US" sz="2800" b="1" dirty="0"/>
              <a:t>Economies of scale: </a:t>
            </a:r>
            <a:endParaRPr dirty="0"/>
          </a:p>
          <a:p>
            <a:pPr marL="384048" lvl="1" indent="-182879" algn="l" rtl="0">
              <a:lnSpc>
                <a:spcPct val="90000"/>
              </a:lnSpc>
              <a:spcBef>
                <a:spcPts val="400"/>
              </a:spcBef>
              <a:spcAft>
                <a:spcPts val="0"/>
              </a:spcAft>
              <a:buSzPct val="100000"/>
              <a:buChar char="◦"/>
            </a:pPr>
            <a:r>
              <a:rPr lang="en-US" dirty="0"/>
              <a:t>B</a:t>
            </a:r>
            <a:r>
              <a:rPr lang="en-US" sz="1800" dirty="0"/>
              <a:t>y consolidating data and applications across departments wasteful overlap of resources and personnel can be avoided.</a:t>
            </a:r>
            <a:endParaRPr dirty="0"/>
          </a:p>
          <a:p>
            <a:pPr marL="91440" lvl="0" indent="-91440" algn="l" rtl="0">
              <a:lnSpc>
                <a:spcPct val="90000"/>
              </a:lnSpc>
              <a:spcBef>
                <a:spcPts val="1600"/>
              </a:spcBef>
              <a:spcAft>
                <a:spcPts val="0"/>
              </a:spcAft>
              <a:buSzPct val="100000"/>
              <a:buFont typeface="Noto Sans Symbols"/>
              <a:buNone/>
            </a:pPr>
            <a:endParaRPr sz="2800" dirty="0"/>
          </a:p>
        </p:txBody>
      </p:sp>
      <p:sp>
        <p:nvSpPr>
          <p:cNvPr id="466" name="Google Shape;466;p2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29"/>
          <p:cNvSpPr txBox="1">
            <a:spLocks noGrp="1"/>
          </p:cNvSpPr>
          <p:nvPr>
            <p:ph type="title"/>
          </p:nvPr>
        </p:nvSpPr>
        <p:spPr>
          <a:xfrm>
            <a:off x="376131" y="1264963"/>
            <a:ext cx="7402048" cy="4251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FF0000"/>
              </a:buClr>
              <a:buSzPts val="2800"/>
              <a:buFont typeface="Calibri"/>
              <a:buNone/>
            </a:pPr>
            <a:r>
              <a:rPr lang="en-US" sz="3600" dirty="0">
                <a:solidFill>
                  <a:srgbClr val="FF0000"/>
                </a:solidFill>
              </a:rPr>
              <a:t>Brief History of Database Applications</a:t>
            </a:r>
            <a:endParaRPr sz="6000" dirty="0"/>
          </a:p>
        </p:txBody>
      </p:sp>
      <p:sp>
        <p:nvSpPr>
          <p:cNvPr id="474" name="Google Shape;474;p29"/>
          <p:cNvSpPr txBox="1">
            <a:spLocks noGrp="1"/>
          </p:cNvSpPr>
          <p:nvPr>
            <p:ph type="body" idx="1"/>
          </p:nvPr>
        </p:nvSpPr>
        <p:spPr>
          <a:xfrm>
            <a:off x="376131" y="1943325"/>
            <a:ext cx="11439736" cy="4077648"/>
          </a:xfrm>
          <a:prstGeom prst="rect">
            <a:avLst/>
          </a:prstGeom>
          <a:noFill/>
          <a:ln>
            <a:noFill/>
          </a:ln>
        </p:spPr>
        <p:txBody>
          <a:bodyPr spcFirstLastPara="1" wrap="square" lIns="0" tIns="45700" rIns="0" bIns="45700" anchor="t" anchorCtr="0">
            <a:noAutofit/>
          </a:bodyPr>
          <a:lstStyle/>
          <a:p>
            <a:pPr marL="91440" lvl="0" indent="-151130" algn="just" rtl="0">
              <a:lnSpc>
                <a:spcPct val="90000"/>
              </a:lnSpc>
              <a:spcBef>
                <a:spcPts val="0"/>
              </a:spcBef>
              <a:spcAft>
                <a:spcPts val="0"/>
              </a:spcAft>
              <a:buSzPct val="100000"/>
              <a:buChar char=" "/>
            </a:pPr>
            <a:r>
              <a:rPr lang="en-US" b="1" dirty="0"/>
              <a:t>Early Database Applications: </a:t>
            </a:r>
            <a:r>
              <a:rPr lang="en-US" dirty="0"/>
              <a:t>The Hierarchical and Network Models were introduced in mid 1960’s and dominated during the seventies. A bulk of the worldwide database processing still occurs using these models.</a:t>
            </a:r>
            <a:endParaRPr sz="1600" dirty="0"/>
          </a:p>
          <a:p>
            <a:pPr marL="91440" lvl="0" indent="-151130" algn="just" rtl="0">
              <a:lnSpc>
                <a:spcPct val="90000"/>
              </a:lnSpc>
              <a:spcBef>
                <a:spcPts val="1400"/>
              </a:spcBef>
              <a:spcAft>
                <a:spcPts val="0"/>
              </a:spcAft>
              <a:buSzPct val="100000"/>
              <a:buChar char=" "/>
            </a:pPr>
            <a:r>
              <a:rPr lang="en-US" b="1" dirty="0" smtClean="0"/>
              <a:t>Relational </a:t>
            </a:r>
            <a:r>
              <a:rPr lang="en-US" b="1" dirty="0"/>
              <a:t>Model based Systems: </a:t>
            </a:r>
            <a:r>
              <a:rPr lang="en-US" dirty="0"/>
              <a:t>The model that was originally introduced in 1970 was heavily researched and experimented with in IBM and the universities. Relational DBMS Products emerged in the 1980’s.</a:t>
            </a:r>
            <a:endParaRPr sz="1600" dirty="0"/>
          </a:p>
          <a:p>
            <a:pPr marL="91440" lvl="0" indent="-151130" algn="just" rtl="0">
              <a:lnSpc>
                <a:spcPct val="90000"/>
              </a:lnSpc>
              <a:spcBef>
                <a:spcPts val="1400"/>
              </a:spcBef>
              <a:spcAft>
                <a:spcPts val="0"/>
              </a:spcAft>
              <a:buSzPct val="100000"/>
              <a:buChar char=" "/>
            </a:pPr>
            <a:r>
              <a:rPr lang="en-US" b="1" dirty="0" smtClean="0"/>
              <a:t>Object-oriented </a:t>
            </a:r>
            <a:r>
              <a:rPr lang="en-US" b="1" dirty="0"/>
              <a:t>applications: </a:t>
            </a:r>
            <a:r>
              <a:rPr lang="en-US" dirty="0"/>
              <a:t>OODBMSs were introduced in late 1980’s and early 1990’s to cater to the need of complex data processing in CAD and other applications. Their use has not taken off much.</a:t>
            </a:r>
            <a:endParaRPr sz="1600" dirty="0"/>
          </a:p>
          <a:p>
            <a:pPr marL="91440" lvl="0" indent="-151130" algn="just" rtl="0">
              <a:lnSpc>
                <a:spcPct val="90000"/>
              </a:lnSpc>
              <a:spcBef>
                <a:spcPts val="1400"/>
              </a:spcBef>
              <a:spcAft>
                <a:spcPts val="0"/>
              </a:spcAft>
              <a:buSzPct val="100000"/>
              <a:buChar char=" "/>
            </a:pPr>
            <a:r>
              <a:rPr lang="en-US" b="1" dirty="0" smtClean="0"/>
              <a:t>Data </a:t>
            </a:r>
            <a:r>
              <a:rPr lang="en-US" b="1" dirty="0"/>
              <a:t>on the Web and E-commerce Applications: </a:t>
            </a:r>
            <a:r>
              <a:rPr lang="en-US" dirty="0"/>
              <a:t>Web contains data in HTML (Hypertext markup language) with links among pages. This has given rise to a new set of applications and E-commerce is using new standards like XML (</a:t>
            </a:r>
            <a:r>
              <a:rPr lang="en-US" dirty="0" err="1"/>
              <a:t>eXtended</a:t>
            </a:r>
            <a:r>
              <a:rPr lang="en-US" dirty="0"/>
              <a:t>  Markup Language).</a:t>
            </a:r>
            <a:endParaRPr sz="1600" dirty="0"/>
          </a:p>
          <a:p>
            <a:pPr marL="91440" lvl="0" indent="0" algn="just" rtl="0">
              <a:lnSpc>
                <a:spcPct val="90000"/>
              </a:lnSpc>
              <a:spcBef>
                <a:spcPts val="1400"/>
              </a:spcBef>
              <a:spcAft>
                <a:spcPts val="0"/>
              </a:spcAft>
              <a:buSzPct val="100000"/>
              <a:buNone/>
            </a:pPr>
            <a:endParaRPr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30"/>
          <p:cNvSpPr txBox="1">
            <a:spLocks noGrp="1"/>
          </p:cNvSpPr>
          <p:nvPr>
            <p:ph type="title"/>
          </p:nvPr>
        </p:nvSpPr>
        <p:spPr>
          <a:xfrm>
            <a:off x="647114" y="900333"/>
            <a:ext cx="7772400" cy="764192"/>
          </a:xfrm>
          <a:prstGeom prst="rect">
            <a:avLst/>
          </a:prstGeom>
          <a:noFill/>
          <a:ln>
            <a:noFill/>
          </a:ln>
        </p:spPr>
        <p:txBody>
          <a:bodyPr spcFirstLastPara="1" wrap="square" lIns="91425" tIns="45700" rIns="91425" bIns="45700" anchor="b" anchorCtr="0">
            <a:noAutofit/>
          </a:bodyPr>
          <a:lstStyle/>
          <a:p>
            <a:pPr marL="0" lvl="0" indent="0" algn="just" rtl="0">
              <a:lnSpc>
                <a:spcPct val="85000"/>
              </a:lnSpc>
              <a:spcBef>
                <a:spcPts val="0"/>
              </a:spcBef>
              <a:spcAft>
                <a:spcPts val="0"/>
              </a:spcAft>
              <a:buClr>
                <a:srgbClr val="FF0000"/>
              </a:buClr>
              <a:buSzPts val="3200"/>
              <a:buFont typeface="Calibri"/>
              <a:buNone/>
            </a:pPr>
            <a:r>
              <a:rPr lang="en-US" sz="3200" dirty="0">
                <a:solidFill>
                  <a:srgbClr val="FF0000"/>
                </a:solidFill>
              </a:rPr>
              <a:t>Extending Database Capabilities</a:t>
            </a:r>
            <a:endParaRPr sz="3200" b="1" dirty="0">
              <a:solidFill>
                <a:srgbClr val="FF0000"/>
              </a:solidFill>
            </a:endParaRPr>
          </a:p>
        </p:txBody>
      </p:sp>
      <p:sp>
        <p:nvSpPr>
          <p:cNvPr id="482" name="Google Shape;482;p30"/>
          <p:cNvSpPr txBox="1">
            <a:spLocks noGrp="1"/>
          </p:cNvSpPr>
          <p:nvPr>
            <p:ph type="body" idx="1"/>
          </p:nvPr>
        </p:nvSpPr>
        <p:spPr>
          <a:xfrm>
            <a:off x="647114" y="1867486"/>
            <a:ext cx="10283483" cy="4648200"/>
          </a:xfrm>
          <a:prstGeom prst="rect">
            <a:avLst/>
          </a:prstGeom>
          <a:noFill/>
          <a:ln>
            <a:noFill/>
          </a:ln>
        </p:spPr>
        <p:txBody>
          <a:bodyPr spcFirstLastPara="1" wrap="square" lIns="0" tIns="45700" rIns="0" bIns="45700" anchor="t" anchorCtr="0">
            <a:normAutofit/>
          </a:bodyPr>
          <a:lstStyle/>
          <a:p>
            <a:pPr marL="91440" lvl="0" indent="-177800" algn="l" rtl="0">
              <a:lnSpc>
                <a:spcPct val="90000"/>
              </a:lnSpc>
              <a:spcBef>
                <a:spcPts val="0"/>
              </a:spcBef>
              <a:spcAft>
                <a:spcPts val="0"/>
              </a:spcAft>
              <a:buSzPts val="2800"/>
              <a:buChar char=" "/>
            </a:pPr>
            <a:r>
              <a:rPr lang="en-US" sz="2800" b="1" dirty="0"/>
              <a:t>New functionality is being added to DBMSs in the following areas:</a:t>
            </a:r>
            <a:endParaRPr sz="2800" dirty="0"/>
          </a:p>
          <a:p>
            <a:pPr marL="384048" lvl="1" indent="-182880" algn="l" rtl="0">
              <a:lnSpc>
                <a:spcPct val="90000"/>
              </a:lnSpc>
              <a:spcBef>
                <a:spcPts val="400"/>
              </a:spcBef>
              <a:spcAft>
                <a:spcPts val="0"/>
              </a:spcAft>
              <a:buSzPts val="1800"/>
              <a:buChar char="◦"/>
            </a:pPr>
            <a:r>
              <a:rPr lang="en-US" dirty="0"/>
              <a:t>Scientific Applications</a:t>
            </a:r>
            <a:endParaRPr dirty="0"/>
          </a:p>
          <a:p>
            <a:pPr marL="384048" lvl="1" indent="-182880" algn="l" rtl="0">
              <a:lnSpc>
                <a:spcPct val="90000"/>
              </a:lnSpc>
              <a:spcBef>
                <a:spcPts val="600"/>
              </a:spcBef>
              <a:spcAft>
                <a:spcPts val="0"/>
              </a:spcAft>
              <a:buSzPts val="1800"/>
              <a:buChar char="◦"/>
            </a:pPr>
            <a:r>
              <a:rPr lang="en-US" dirty="0"/>
              <a:t>Image Storage and Management</a:t>
            </a:r>
            <a:endParaRPr dirty="0"/>
          </a:p>
          <a:p>
            <a:pPr marL="384048" lvl="1" indent="-182880" algn="l" rtl="0">
              <a:lnSpc>
                <a:spcPct val="90000"/>
              </a:lnSpc>
              <a:spcBef>
                <a:spcPts val="600"/>
              </a:spcBef>
              <a:spcAft>
                <a:spcPts val="0"/>
              </a:spcAft>
              <a:buSzPts val="1800"/>
              <a:buChar char="◦"/>
            </a:pPr>
            <a:r>
              <a:rPr lang="en-US" dirty="0"/>
              <a:t>Audio and Video data management</a:t>
            </a:r>
            <a:endParaRPr dirty="0"/>
          </a:p>
          <a:p>
            <a:pPr marL="384048" lvl="1" indent="-182880" algn="l" rtl="0">
              <a:lnSpc>
                <a:spcPct val="90000"/>
              </a:lnSpc>
              <a:spcBef>
                <a:spcPts val="600"/>
              </a:spcBef>
              <a:spcAft>
                <a:spcPts val="0"/>
              </a:spcAft>
              <a:buSzPts val="1800"/>
              <a:buChar char="◦"/>
            </a:pPr>
            <a:r>
              <a:rPr lang="en-US" dirty="0"/>
              <a:t>Data Mining</a:t>
            </a:r>
            <a:endParaRPr dirty="0"/>
          </a:p>
          <a:p>
            <a:pPr marL="384048" lvl="1" indent="-182880" algn="l" rtl="0">
              <a:lnSpc>
                <a:spcPct val="90000"/>
              </a:lnSpc>
              <a:spcBef>
                <a:spcPts val="600"/>
              </a:spcBef>
              <a:spcAft>
                <a:spcPts val="0"/>
              </a:spcAft>
              <a:buSzPts val="1800"/>
              <a:buChar char="◦"/>
            </a:pPr>
            <a:r>
              <a:rPr lang="en-US" dirty="0"/>
              <a:t>Spatial data management</a:t>
            </a:r>
            <a:endParaRPr dirty="0"/>
          </a:p>
          <a:p>
            <a:pPr marL="384048" lvl="1" indent="-182880" algn="l" rtl="0">
              <a:lnSpc>
                <a:spcPct val="90000"/>
              </a:lnSpc>
              <a:spcBef>
                <a:spcPts val="600"/>
              </a:spcBef>
              <a:spcAft>
                <a:spcPts val="0"/>
              </a:spcAft>
              <a:buSzPts val="1800"/>
              <a:buChar char="◦"/>
            </a:pPr>
            <a:r>
              <a:rPr lang="en-US" dirty="0"/>
              <a:t>Time Series and Historical Data Management</a:t>
            </a:r>
            <a:endParaRPr dirty="0"/>
          </a:p>
          <a:p>
            <a:pPr marL="384048" lvl="1" indent="-68579" algn="l" rtl="0">
              <a:lnSpc>
                <a:spcPct val="90000"/>
              </a:lnSpc>
              <a:spcBef>
                <a:spcPts val="600"/>
              </a:spcBef>
              <a:spcAft>
                <a:spcPts val="0"/>
              </a:spcAft>
              <a:buSzPts val="1800"/>
              <a:buNone/>
            </a:pPr>
            <a:endParaRPr dirty="0"/>
          </a:p>
          <a:p>
            <a:pPr marL="91440" lvl="0" indent="-91440" algn="l" rtl="0">
              <a:lnSpc>
                <a:spcPct val="90000"/>
              </a:lnSpc>
              <a:spcBef>
                <a:spcPts val="1600"/>
              </a:spcBef>
              <a:spcAft>
                <a:spcPts val="0"/>
              </a:spcAft>
              <a:buSzPts val="2000"/>
              <a:buNone/>
            </a:pPr>
            <a:r>
              <a:rPr lang="en-US" sz="2000" i="1" dirty="0"/>
              <a:t>The above gives rise to new research and development in incorporating new data types, complex data structures, new operations and storage and indexing schemes in database systems.</a:t>
            </a:r>
            <a:r>
              <a:rPr lang="en-US" sz="2000" b="1" i="1" dirty="0"/>
              <a:t> </a:t>
            </a:r>
            <a:endParaRPr sz="2000" b="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31"/>
          <p:cNvSpPr txBox="1">
            <a:spLocks noGrp="1"/>
          </p:cNvSpPr>
          <p:nvPr>
            <p:ph type="title"/>
          </p:nvPr>
        </p:nvSpPr>
        <p:spPr>
          <a:xfrm>
            <a:off x="386055" y="886265"/>
            <a:ext cx="8575065" cy="906162"/>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000000"/>
              </a:buClr>
              <a:buSzPts val="4800"/>
              <a:buFont typeface="Calibri"/>
              <a:buNone/>
            </a:pPr>
            <a:r>
              <a:rPr lang="en-US" sz="3600" b="1" dirty="0">
                <a:solidFill>
                  <a:srgbClr val="000000"/>
                </a:solidFill>
              </a:rPr>
              <a:t> </a:t>
            </a:r>
            <a:r>
              <a:rPr lang="en-US" sz="3600" dirty="0">
                <a:solidFill>
                  <a:srgbClr val="FF0000"/>
                </a:solidFill>
              </a:rPr>
              <a:t>When not to use a DBMS</a:t>
            </a:r>
            <a:endParaRPr sz="3600" b="1" dirty="0">
              <a:solidFill>
                <a:srgbClr val="FF0000"/>
              </a:solidFill>
            </a:endParaRPr>
          </a:p>
        </p:txBody>
      </p:sp>
      <p:sp>
        <p:nvSpPr>
          <p:cNvPr id="490" name="Google Shape;490;p31"/>
          <p:cNvSpPr txBox="1">
            <a:spLocks noGrp="1"/>
          </p:cNvSpPr>
          <p:nvPr>
            <p:ph type="body" idx="1"/>
          </p:nvPr>
        </p:nvSpPr>
        <p:spPr>
          <a:xfrm>
            <a:off x="386055" y="2179638"/>
            <a:ext cx="10990954" cy="4678362"/>
          </a:xfrm>
          <a:prstGeom prst="rect">
            <a:avLst/>
          </a:prstGeom>
          <a:noFill/>
          <a:ln>
            <a:noFill/>
          </a:ln>
        </p:spPr>
        <p:txBody>
          <a:bodyPr spcFirstLastPara="1" wrap="square" lIns="0" tIns="45700" rIns="0" bIns="45700" anchor="t" anchorCtr="0">
            <a:noAutofit/>
          </a:bodyPr>
          <a:lstStyle/>
          <a:p>
            <a:pPr marL="91440" lvl="0" indent="-117475" algn="just" rtl="0">
              <a:lnSpc>
                <a:spcPct val="90000"/>
              </a:lnSpc>
              <a:spcBef>
                <a:spcPts val="0"/>
              </a:spcBef>
              <a:spcAft>
                <a:spcPts val="0"/>
              </a:spcAft>
              <a:buSzPct val="100000"/>
              <a:buChar char=" "/>
            </a:pPr>
            <a:r>
              <a:rPr lang="en-US" b="1" dirty="0"/>
              <a:t>Main inhibitors (costs) of using a DBMS</a:t>
            </a:r>
            <a:r>
              <a:rPr lang="en-US" dirty="0"/>
              <a:t>:</a:t>
            </a:r>
            <a:endParaRPr dirty="0"/>
          </a:p>
          <a:p>
            <a:pPr marL="384048" lvl="1" indent="-182880" algn="just" rtl="0">
              <a:lnSpc>
                <a:spcPct val="90000"/>
              </a:lnSpc>
              <a:spcBef>
                <a:spcPts val="400"/>
              </a:spcBef>
              <a:spcAft>
                <a:spcPts val="0"/>
              </a:spcAft>
              <a:buSzPct val="100000"/>
              <a:buChar char="◦"/>
            </a:pPr>
            <a:r>
              <a:rPr lang="en-US" sz="2000" dirty="0"/>
              <a:t>High initial investment and possible need for additional hardware.</a:t>
            </a:r>
            <a:endParaRPr dirty="0"/>
          </a:p>
          <a:p>
            <a:pPr marL="384048" lvl="1" indent="-182880" algn="just" rtl="0">
              <a:lnSpc>
                <a:spcPct val="90000"/>
              </a:lnSpc>
              <a:spcBef>
                <a:spcPts val="600"/>
              </a:spcBef>
              <a:spcAft>
                <a:spcPts val="0"/>
              </a:spcAft>
              <a:buSzPct val="100000"/>
              <a:buChar char="◦"/>
            </a:pPr>
            <a:r>
              <a:rPr lang="en-US" sz="2000" dirty="0"/>
              <a:t>Overhead for providing generality, security, concurrency control, recovery, and  integrity functions. </a:t>
            </a:r>
            <a:endParaRPr dirty="0"/>
          </a:p>
          <a:p>
            <a:pPr marL="91440" lvl="0" indent="-117475" algn="just" rtl="0">
              <a:lnSpc>
                <a:spcPct val="90000"/>
              </a:lnSpc>
              <a:spcBef>
                <a:spcPts val="1400"/>
              </a:spcBef>
              <a:spcAft>
                <a:spcPts val="0"/>
              </a:spcAft>
              <a:buSzPct val="100000"/>
              <a:buChar char=" "/>
            </a:pPr>
            <a:r>
              <a:rPr lang="en-US" b="1" dirty="0" smtClean="0"/>
              <a:t>When </a:t>
            </a:r>
            <a:r>
              <a:rPr lang="en-US" b="1" dirty="0"/>
              <a:t>a DBMS may be unnecessary:</a:t>
            </a:r>
            <a:endParaRPr dirty="0"/>
          </a:p>
          <a:p>
            <a:pPr marL="384048" lvl="1" indent="-182880" algn="just" rtl="0">
              <a:lnSpc>
                <a:spcPct val="90000"/>
              </a:lnSpc>
              <a:spcBef>
                <a:spcPts val="400"/>
              </a:spcBef>
              <a:spcAft>
                <a:spcPts val="0"/>
              </a:spcAft>
              <a:buSzPct val="100000"/>
              <a:buChar char="◦"/>
            </a:pPr>
            <a:r>
              <a:rPr lang="en-US" sz="2000" dirty="0"/>
              <a:t>If the database and applications are simple, well defined, and not expected to change.</a:t>
            </a:r>
            <a:endParaRPr dirty="0"/>
          </a:p>
          <a:p>
            <a:pPr marL="384048" lvl="1" indent="-182880" algn="just" rtl="0">
              <a:lnSpc>
                <a:spcPct val="90000"/>
              </a:lnSpc>
              <a:spcBef>
                <a:spcPts val="600"/>
              </a:spcBef>
              <a:spcAft>
                <a:spcPts val="0"/>
              </a:spcAft>
              <a:buSzPct val="100000"/>
              <a:buChar char="◦"/>
            </a:pPr>
            <a:r>
              <a:rPr lang="en-US" sz="2000" dirty="0"/>
              <a:t>If there are stringent real-time requirements that may not be met because of DBMS overhead.</a:t>
            </a:r>
            <a:endParaRPr dirty="0"/>
          </a:p>
          <a:p>
            <a:pPr marL="91440" lvl="0" indent="-117475" algn="l" rtl="0">
              <a:lnSpc>
                <a:spcPct val="90000"/>
              </a:lnSpc>
              <a:spcBef>
                <a:spcPts val="1600"/>
              </a:spcBef>
              <a:spcAft>
                <a:spcPts val="0"/>
              </a:spcAft>
              <a:buSzPct val="100000"/>
              <a:buChar char=" "/>
            </a:pPr>
            <a:r>
              <a:rPr lang="en-US" dirty="0"/>
              <a:t>If access to data by multiple users is not required.</a:t>
            </a:r>
            <a:r>
              <a:rPr lang="en-US" b="1" dirty="0"/>
              <a:t> </a:t>
            </a:r>
            <a:endParaRPr dirty="0"/>
          </a:p>
          <a:p>
            <a:pPr marL="91440" lvl="0" indent="-117475" algn="l" rtl="0">
              <a:lnSpc>
                <a:spcPct val="90000"/>
              </a:lnSpc>
              <a:spcBef>
                <a:spcPts val="1400"/>
              </a:spcBef>
              <a:spcAft>
                <a:spcPts val="0"/>
              </a:spcAft>
              <a:buSzPct val="100000"/>
              <a:buChar char=" "/>
            </a:pPr>
            <a:r>
              <a:rPr lang="en-US" b="1" dirty="0"/>
              <a:t>When no DBMS may suffice:</a:t>
            </a:r>
            <a:endParaRPr dirty="0"/>
          </a:p>
          <a:p>
            <a:pPr marL="384048" lvl="1" indent="-182879" algn="l" rtl="0">
              <a:lnSpc>
                <a:spcPct val="90000"/>
              </a:lnSpc>
              <a:spcBef>
                <a:spcPts val="400"/>
              </a:spcBef>
              <a:spcAft>
                <a:spcPts val="0"/>
              </a:spcAft>
              <a:buSzPct val="100000"/>
              <a:buChar char="◦"/>
            </a:pPr>
            <a:r>
              <a:rPr lang="en-US" dirty="0"/>
              <a:t>If the database system is not able to handle the complexity of data because of modeling limitations</a:t>
            </a:r>
            <a:endParaRPr dirty="0"/>
          </a:p>
          <a:p>
            <a:pPr marL="384048" lvl="1" indent="-182879" algn="l" rtl="0">
              <a:lnSpc>
                <a:spcPct val="90000"/>
              </a:lnSpc>
              <a:spcBef>
                <a:spcPts val="600"/>
              </a:spcBef>
              <a:spcAft>
                <a:spcPts val="0"/>
              </a:spcAft>
              <a:buSzPct val="100000"/>
              <a:buChar char="◦"/>
            </a:pPr>
            <a:r>
              <a:rPr lang="en-US" dirty="0" smtClean="0"/>
              <a:t>If </a:t>
            </a:r>
            <a:r>
              <a:rPr lang="en-US" dirty="0"/>
              <a:t>the database users need special operations not supported by the DBMS.</a:t>
            </a:r>
            <a:endParaRPr dirty="0"/>
          </a:p>
          <a:p>
            <a:pPr marL="384048" lvl="1" indent="-65404" algn="just" rtl="0">
              <a:lnSpc>
                <a:spcPct val="90000"/>
              </a:lnSpc>
              <a:spcBef>
                <a:spcPts val="600"/>
              </a:spcBef>
              <a:spcAft>
                <a:spcPts val="0"/>
              </a:spcAft>
              <a:buSzPct val="100000"/>
              <a:buNone/>
            </a:pPr>
            <a:endParaRPr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32"/>
          <p:cNvSpPr txBox="1">
            <a:spLocks noGrp="1"/>
          </p:cNvSpPr>
          <p:nvPr>
            <p:ph type="title"/>
          </p:nvPr>
        </p:nvSpPr>
        <p:spPr>
          <a:xfrm>
            <a:off x="513005" y="1052649"/>
            <a:ext cx="5465766" cy="53019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FF0000"/>
              </a:buClr>
              <a:buSzPct val="100000"/>
              <a:buFont typeface="Times"/>
              <a:buNone/>
            </a:pPr>
            <a:r>
              <a:rPr lang="en-US" sz="3200" dirty="0">
                <a:solidFill>
                  <a:srgbClr val="FF0000"/>
                </a:solidFill>
              </a:rPr>
              <a:t>DBMS Languages</a:t>
            </a:r>
            <a:endParaRPr sz="3200" b="1" dirty="0">
              <a:solidFill>
                <a:srgbClr val="FF0000"/>
              </a:solidFill>
            </a:endParaRPr>
          </a:p>
        </p:txBody>
      </p:sp>
      <p:sp>
        <p:nvSpPr>
          <p:cNvPr id="498" name="Google Shape;498;p32"/>
          <p:cNvSpPr txBox="1">
            <a:spLocks noGrp="1"/>
          </p:cNvSpPr>
          <p:nvPr>
            <p:ph type="body" idx="1"/>
          </p:nvPr>
        </p:nvSpPr>
        <p:spPr>
          <a:xfrm>
            <a:off x="316056" y="1824262"/>
            <a:ext cx="11219452" cy="3766185"/>
          </a:xfrm>
          <a:prstGeom prst="rect">
            <a:avLst/>
          </a:prstGeom>
          <a:noFill/>
          <a:ln>
            <a:noFill/>
          </a:ln>
        </p:spPr>
        <p:txBody>
          <a:bodyPr spcFirstLastPara="1" wrap="square" lIns="0" tIns="45700" rIns="0" bIns="45700" anchor="t" anchorCtr="0">
            <a:noAutofit/>
          </a:bodyPr>
          <a:lstStyle/>
          <a:p>
            <a:pPr marL="91440" lvl="0" indent="-127000" algn="just" rtl="0">
              <a:lnSpc>
                <a:spcPct val="90000"/>
              </a:lnSpc>
              <a:spcBef>
                <a:spcPts val="0"/>
              </a:spcBef>
              <a:spcAft>
                <a:spcPts val="0"/>
              </a:spcAft>
              <a:buSzPts val="2000"/>
              <a:buFont typeface="Times"/>
              <a:buChar char="•"/>
            </a:pPr>
            <a:r>
              <a:rPr lang="en-US" sz="2000" b="1" dirty="0"/>
              <a:t>Data Definition Language</a:t>
            </a:r>
            <a:r>
              <a:rPr lang="en-US" sz="2000" dirty="0"/>
              <a:t> (</a:t>
            </a:r>
            <a:r>
              <a:rPr lang="en-US" sz="2000" b="1" dirty="0"/>
              <a:t>DDL</a:t>
            </a:r>
            <a:r>
              <a:rPr lang="en-US" sz="2000" dirty="0"/>
              <a:t>): Used by the DBA and database designers to specify the </a:t>
            </a:r>
            <a:r>
              <a:rPr lang="en-US" sz="2000" i="1" dirty="0"/>
              <a:t>conceptual schema</a:t>
            </a:r>
            <a:r>
              <a:rPr lang="en-US" sz="2000" dirty="0"/>
              <a:t> of a database. In many DBMSs, the DDL is also used to define internal and external schemas (views). In some DBMSs, separate </a:t>
            </a:r>
            <a:r>
              <a:rPr lang="en-US" sz="2000" b="1" dirty="0"/>
              <a:t>storage definition language</a:t>
            </a:r>
            <a:r>
              <a:rPr lang="en-US" sz="2000" dirty="0"/>
              <a:t> (</a:t>
            </a:r>
            <a:r>
              <a:rPr lang="en-US" sz="2000" b="1" dirty="0"/>
              <a:t>SDL</a:t>
            </a:r>
            <a:r>
              <a:rPr lang="en-US" sz="2000" dirty="0"/>
              <a:t>) and </a:t>
            </a:r>
            <a:r>
              <a:rPr lang="en-US" sz="2000" b="1" dirty="0"/>
              <a:t>view definition language</a:t>
            </a:r>
            <a:r>
              <a:rPr lang="en-US" sz="2000" dirty="0"/>
              <a:t> (</a:t>
            </a:r>
            <a:r>
              <a:rPr lang="en-US" sz="2000" b="1" dirty="0"/>
              <a:t>VDL</a:t>
            </a:r>
            <a:r>
              <a:rPr lang="en-US" sz="2000" dirty="0"/>
              <a:t>) are used to define internal and external schemas.</a:t>
            </a:r>
            <a:endParaRPr dirty="0"/>
          </a:p>
          <a:p>
            <a:pPr marL="91440" lvl="0" indent="-127000" algn="just" rtl="0">
              <a:lnSpc>
                <a:spcPct val="90000"/>
              </a:lnSpc>
              <a:spcBef>
                <a:spcPts val="1400"/>
              </a:spcBef>
              <a:spcAft>
                <a:spcPts val="0"/>
              </a:spcAft>
              <a:buSzPts val="2000"/>
              <a:buFont typeface="Arial"/>
              <a:buChar char="•"/>
            </a:pPr>
            <a:r>
              <a:rPr lang="en-US" sz="2000" b="1" dirty="0"/>
              <a:t>Data Manipulation Language</a:t>
            </a:r>
            <a:r>
              <a:rPr lang="en-US" sz="2000" dirty="0"/>
              <a:t> (</a:t>
            </a:r>
            <a:r>
              <a:rPr lang="en-US" sz="2000" b="1" dirty="0"/>
              <a:t>DML</a:t>
            </a:r>
            <a:r>
              <a:rPr lang="en-US" sz="2000" dirty="0"/>
              <a:t>): Used to specify database retrievals and updates.</a:t>
            </a:r>
            <a:endParaRPr dirty="0"/>
          </a:p>
          <a:p>
            <a:pPr marL="384048" lvl="1" indent="-182880" algn="just" rtl="0">
              <a:lnSpc>
                <a:spcPct val="90000"/>
              </a:lnSpc>
              <a:spcBef>
                <a:spcPts val="400"/>
              </a:spcBef>
              <a:spcAft>
                <a:spcPts val="0"/>
              </a:spcAft>
              <a:buSzPts val="2000"/>
              <a:buChar char="◦"/>
            </a:pPr>
            <a:r>
              <a:rPr lang="en-US" sz="2000" dirty="0" smtClean="0"/>
              <a:t>DML </a:t>
            </a:r>
            <a:r>
              <a:rPr lang="en-US" sz="2000" dirty="0"/>
              <a:t>commands (</a:t>
            </a:r>
            <a:r>
              <a:rPr lang="en-US" sz="2000" b="1" dirty="0"/>
              <a:t>data sublanguage</a:t>
            </a:r>
            <a:r>
              <a:rPr lang="en-US" sz="2000" dirty="0"/>
              <a:t>) can be </a:t>
            </a:r>
            <a:r>
              <a:rPr lang="en-US" sz="2000" i="1" dirty="0"/>
              <a:t>embedded</a:t>
            </a:r>
            <a:r>
              <a:rPr lang="en-US" sz="2000" dirty="0"/>
              <a:t> in a general-purpose programming language (</a:t>
            </a:r>
            <a:r>
              <a:rPr lang="en-US" sz="2000" b="1" dirty="0"/>
              <a:t>host language</a:t>
            </a:r>
            <a:r>
              <a:rPr lang="en-US" sz="2000" dirty="0"/>
              <a:t>), such as COBOL, C or an Assembly Language.</a:t>
            </a:r>
            <a:endParaRPr dirty="0"/>
          </a:p>
          <a:p>
            <a:pPr marL="384048" lvl="1" indent="-182880" algn="just" rtl="0">
              <a:lnSpc>
                <a:spcPct val="90000"/>
              </a:lnSpc>
              <a:spcBef>
                <a:spcPts val="600"/>
              </a:spcBef>
              <a:spcAft>
                <a:spcPts val="0"/>
              </a:spcAft>
              <a:buSzPts val="2000"/>
              <a:buChar char="◦"/>
            </a:pPr>
            <a:r>
              <a:rPr lang="en-US" sz="2000" dirty="0" smtClean="0"/>
              <a:t>Alternatively</a:t>
            </a:r>
            <a:r>
              <a:rPr lang="en-US" sz="2000" dirty="0"/>
              <a:t>, </a:t>
            </a:r>
            <a:r>
              <a:rPr lang="en-US" sz="2000" i="1" dirty="0"/>
              <a:t>stand-alone</a:t>
            </a:r>
            <a:r>
              <a:rPr lang="en-US" sz="2000" dirty="0"/>
              <a:t> DML commands can be applied directly (</a:t>
            </a:r>
            <a:r>
              <a:rPr lang="en-US" sz="2000" b="1" dirty="0"/>
              <a:t>query language</a:t>
            </a:r>
            <a:r>
              <a:rPr lang="en-US" sz="2000" dirty="0"/>
              <a:t>).</a:t>
            </a:r>
            <a:endParaRPr dirty="0"/>
          </a:p>
          <a:p>
            <a:pPr marL="4572" lvl="1" indent="0" algn="just" rtl="0">
              <a:lnSpc>
                <a:spcPct val="90000"/>
              </a:lnSpc>
              <a:spcBef>
                <a:spcPts val="600"/>
              </a:spcBef>
              <a:spcAft>
                <a:spcPts val="0"/>
              </a:spcAft>
              <a:buSzPts val="2000"/>
              <a:buNone/>
            </a:pPr>
            <a:r>
              <a:rPr lang="en-US" sz="2000" dirty="0"/>
              <a:t>Types of DML:</a:t>
            </a:r>
            <a:endParaRPr dirty="0"/>
          </a:p>
          <a:p>
            <a:pPr marL="91440" lvl="0" indent="-127000" algn="just" rtl="0">
              <a:lnSpc>
                <a:spcPct val="90000"/>
              </a:lnSpc>
              <a:spcBef>
                <a:spcPts val="1600"/>
              </a:spcBef>
              <a:spcAft>
                <a:spcPts val="0"/>
              </a:spcAft>
              <a:buSzPts val="2000"/>
              <a:buChar char=" "/>
            </a:pPr>
            <a:r>
              <a:rPr lang="en-US" sz="2000" b="1" dirty="0"/>
              <a:t>High Level </a:t>
            </a:r>
            <a:r>
              <a:rPr lang="en-US" sz="2000" dirty="0"/>
              <a:t>or</a:t>
            </a:r>
            <a:r>
              <a:rPr lang="en-US" sz="2000" b="1" dirty="0"/>
              <a:t> Non-procedural DML:</a:t>
            </a:r>
            <a:r>
              <a:rPr lang="en-US" sz="2000" dirty="0"/>
              <a:t> e.g., SQL, are </a:t>
            </a:r>
            <a:r>
              <a:rPr lang="en-US" sz="2000" i="1" dirty="0"/>
              <a:t>set-oriented </a:t>
            </a:r>
            <a:r>
              <a:rPr lang="en-US" sz="2000" dirty="0"/>
              <a:t>and specify what data to retrieve than how to retrieve. Also called </a:t>
            </a:r>
            <a:r>
              <a:rPr lang="en-US" sz="2000" i="1" dirty="0"/>
              <a:t>declarative</a:t>
            </a:r>
            <a:r>
              <a:rPr lang="en-US" sz="2000" dirty="0"/>
              <a:t> languages.</a:t>
            </a:r>
            <a:endParaRPr dirty="0"/>
          </a:p>
          <a:p>
            <a:pPr marL="91440" lvl="0" indent="-127000" algn="just" rtl="0">
              <a:lnSpc>
                <a:spcPct val="90000"/>
              </a:lnSpc>
              <a:spcBef>
                <a:spcPts val="1400"/>
              </a:spcBef>
              <a:spcAft>
                <a:spcPts val="0"/>
              </a:spcAft>
              <a:buSzPts val="2000"/>
              <a:buChar char=" "/>
            </a:pPr>
            <a:r>
              <a:rPr lang="en-US" sz="2000" b="1" dirty="0" smtClean="0"/>
              <a:t>Low </a:t>
            </a:r>
            <a:r>
              <a:rPr lang="en-US" sz="2000" b="1" dirty="0"/>
              <a:t>Level </a:t>
            </a:r>
            <a:r>
              <a:rPr lang="en-US" sz="2000" dirty="0"/>
              <a:t>or</a:t>
            </a:r>
            <a:r>
              <a:rPr lang="en-US" sz="2000" b="1" dirty="0"/>
              <a:t> Procedural DML: </a:t>
            </a:r>
            <a:r>
              <a:rPr lang="en-US" sz="2000" dirty="0"/>
              <a:t>record-at-a-time;</a:t>
            </a:r>
            <a:r>
              <a:rPr lang="en-US" sz="2000" b="1" dirty="0"/>
              <a:t> </a:t>
            </a:r>
            <a:r>
              <a:rPr lang="en-US" sz="2000" dirty="0"/>
              <a:t>they specify </a:t>
            </a:r>
            <a:r>
              <a:rPr lang="en-US" sz="2000" i="1" dirty="0"/>
              <a:t>how</a:t>
            </a:r>
            <a:r>
              <a:rPr lang="en-US" sz="2000" dirty="0"/>
              <a:t> to retrieve data and include constructs such as looping.</a:t>
            </a:r>
            <a:endParaRPr dirty="0"/>
          </a:p>
          <a:p>
            <a:pPr marL="384048" lvl="1" indent="-55879" algn="just" rtl="0">
              <a:lnSpc>
                <a:spcPct val="90000"/>
              </a:lnSpc>
              <a:spcBef>
                <a:spcPts val="400"/>
              </a:spcBef>
              <a:spcAft>
                <a:spcPts val="0"/>
              </a:spcAft>
              <a:buSzPts val="2000"/>
              <a:buNone/>
            </a:pPr>
            <a:endParaRPr sz="2000" dirty="0"/>
          </a:p>
          <a:p>
            <a:pPr marL="91440" lvl="0" indent="0" algn="l" rtl="0">
              <a:lnSpc>
                <a:spcPct val="90000"/>
              </a:lnSpc>
              <a:spcBef>
                <a:spcPts val="1600"/>
              </a:spcBef>
              <a:spcAft>
                <a:spcPts val="0"/>
              </a:spcAft>
              <a:buSzPts val="2000"/>
              <a:buFont typeface="Times"/>
              <a:buNone/>
            </a:pPr>
            <a:endParaRPr sz="2000"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33"/>
          <p:cNvSpPr txBox="1">
            <a:spLocks noGrp="1"/>
          </p:cNvSpPr>
          <p:nvPr>
            <p:ph type="title"/>
          </p:nvPr>
        </p:nvSpPr>
        <p:spPr>
          <a:xfrm>
            <a:off x="466107" y="849071"/>
            <a:ext cx="5386054" cy="727905"/>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0000"/>
              </a:buClr>
              <a:buSzPts val="4800"/>
              <a:buFont typeface="Times"/>
              <a:buNone/>
            </a:pPr>
            <a:r>
              <a:rPr lang="en-US" sz="3600" dirty="0">
                <a:solidFill>
                  <a:srgbClr val="FF0000"/>
                </a:solidFill>
              </a:rPr>
              <a:t>DBMS Interfaces</a:t>
            </a:r>
            <a:endParaRPr sz="3600" b="1" dirty="0">
              <a:solidFill>
                <a:srgbClr val="FF0000"/>
              </a:solidFill>
            </a:endParaRPr>
          </a:p>
        </p:txBody>
      </p:sp>
      <p:sp>
        <p:nvSpPr>
          <p:cNvPr id="506" name="Google Shape;506;p33"/>
          <p:cNvSpPr txBox="1">
            <a:spLocks noGrp="1"/>
          </p:cNvSpPr>
          <p:nvPr>
            <p:ph type="body" idx="1"/>
          </p:nvPr>
        </p:nvSpPr>
        <p:spPr>
          <a:xfrm>
            <a:off x="872197" y="1977683"/>
            <a:ext cx="10549564" cy="4343400"/>
          </a:xfrm>
          <a:prstGeom prst="rect">
            <a:avLst/>
          </a:prstGeom>
          <a:noFill/>
          <a:ln>
            <a:noFill/>
          </a:ln>
        </p:spPr>
        <p:txBody>
          <a:bodyPr spcFirstLastPara="1" wrap="square" lIns="0" tIns="45700" rIns="0" bIns="45700" anchor="t" anchorCtr="0">
            <a:normAutofit fontScale="92500" lnSpcReduction="20000"/>
          </a:bodyPr>
          <a:lstStyle/>
          <a:p>
            <a:pPr marL="0" lvl="0" indent="0" algn="l" rtl="0">
              <a:lnSpc>
                <a:spcPct val="90000"/>
              </a:lnSpc>
              <a:spcBef>
                <a:spcPts val="0"/>
              </a:spcBef>
              <a:spcAft>
                <a:spcPts val="0"/>
              </a:spcAft>
              <a:buSzPct val="100000"/>
              <a:buNone/>
            </a:pPr>
            <a:r>
              <a:rPr lang="en-US" sz="2800" dirty="0">
                <a:latin typeface="Calibri"/>
                <a:ea typeface="Calibri"/>
                <a:cs typeface="Calibri"/>
                <a:sym typeface="Calibri"/>
              </a:rPr>
              <a:t>*	Stand-alone query language interfaces.</a:t>
            </a:r>
            <a:endParaRPr dirty="0"/>
          </a:p>
          <a:p>
            <a:pPr marL="0" lvl="0" indent="0" algn="l" rtl="0">
              <a:lnSpc>
                <a:spcPct val="90000"/>
              </a:lnSpc>
              <a:spcBef>
                <a:spcPts val="1400"/>
              </a:spcBef>
              <a:spcAft>
                <a:spcPts val="0"/>
              </a:spcAft>
              <a:buSzPct val="100000"/>
              <a:buNone/>
            </a:pPr>
            <a:r>
              <a:rPr lang="en-US" sz="2800" dirty="0">
                <a:latin typeface="Calibri"/>
                <a:ea typeface="Calibri"/>
                <a:cs typeface="Calibri"/>
                <a:sym typeface="Calibri"/>
              </a:rPr>
              <a:t>*	Programmer interfaces for embedding DML in programming languages</a:t>
            </a:r>
            <a:endParaRPr dirty="0"/>
          </a:p>
          <a:p>
            <a:pPr marL="0" lvl="0" indent="0" algn="l" rtl="0">
              <a:lnSpc>
                <a:spcPct val="90000"/>
              </a:lnSpc>
              <a:spcBef>
                <a:spcPts val="1400"/>
              </a:spcBef>
              <a:spcAft>
                <a:spcPts val="0"/>
              </a:spcAft>
              <a:buSzPct val="100000"/>
              <a:buNone/>
            </a:pPr>
            <a:r>
              <a:rPr lang="en-US" sz="2800" dirty="0">
                <a:latin typeface="Calibri"/>
                <a:ea typeface="Calibri"/>
                <a:cs typeface="Calibri"/>
                <a:sym typeface="Calibri"/>
              </a:rPr>
              <a:t>*	User-friendly interfaces:</a:t>
            </a:r>
            <a:endParaRPr dirty="0"/>
          </a:p>
          <a:p>
            <a:pPr marL="384048" lvl="1" indent="-182880" algn="l" rtl="0">
              <a:lnSpc>
                <a:spcPct val="90000"/>
              </a:lnSpc>
              <a:spcBef>
                <a:spcPts val="400"/>
              </a:spcBef>
              <a:spcAft>
                <a:spcPts val="0"/>
              </a:spcAft>
              <a:buSzPct val="100000"/>
              <a:buChar char="◦"/>
            </a:pPr>
            <a:r>
              <a:rPr lang="en-US" sz="2000" dirty="0">
                <a:latin typeface="Calibri"/>
                <a:ea typeface="Calibri"/>
                <a:cs typeface="Calibri"/>
                <a:sym typeface="Calibri"/>
              </a:rPr>
              <a:t>Menu-based, popular for browsing on the web</a:t>
            </a:r>
            <a:endParaRPr dirty="0"/>
          </a:p>
          <a:p>
            <a:pPr marL="384048" lvl="1" indent="-182880" algn="l" rtl="0">
              <a:lnSpc>
                <a:spcPct val="90000"/>
              </a:lnSpc>
              <a:spcBef>
                <a:spcPts val="600"/>
              </a:spcBef>
              <a:spcAft>
                <a:spcPts val="0"/>
              </a:spcAft>
              <a:buSzPct val="100000"/>
              <a:buChar char="◦"/>
            </a:pPr>
            <a:r>
              <a:rPr lang="en-US" sz="2000" dirty="0">
                <a:latin typeface="Calibri"/>
                <a:ea typeface="Calibri"/>
                <a:cs typeface="Calibri"/>
                <a:sym typeface="Calibri"/>
              </a:rPr>
              <a:t>Forms-based, designed for naïve users</a:t>
            </a:r>
            <a:endParaRPr dirty="0"/>
          </a:p>
          <a:p>
            <a:pPr marL="384048" lvl="1" indent="-182880" algn="l" rtl="0">
              <a:lnSpc>
                <a:spcPct val="90000"/>
              </a:lnSpc>
              <a:spcBef>
                <a:spcPts val="600"/>
              </a:spcBef>
              <a:spcAft>
                <a:spcPts val="0"/>
              </a:spcAft>
              <a:buSzPct val="100000"/>
              <a:buChar char="◦"/>
            </a:pPr>
            <a:r>
              <a:rPr lang="en-US" sz="2000" dirty="0">
                <a:latin typeface="Calibri"/>
                <a:ea typeface="Calibri"/>
                <a:cs typeface="Calibri"/>
                <a:sym typeface="Calibri"/>
              </a:rPr>
              <a:t>Graphics-based (Point and Click, Drag and Drop etc.)</a:t>
            </a:r>
            <a:endParaRPr dirty="0"/>
          </a:p>
          <a:p>
            <a:pPr marL="384048" lvl="1" indent="-182880" algn="l" rtl="0">
              <a:lnSpc>
                <a:spcPct val="90000"/>
              </a:lnSpc>
              <a:spcBef>
                <a:spcPts val="600"/>
              </a:spcBef>
              <a:spcAft>
                <a:spcPts val="0"/>
              </a:spcAft>
              <a:buSzPct val="100000"/>
              <a:buChar char="◦"/>
            </a:pPr>
            <a:r>
              <a:rPr lang="en-US" sz="2000" dirty="0">
                <a:latin typeface="Calibri"/>
                <a:ea typeface="Calibri"/>
                <a:cs typeface="Calibri"/>
                <a:sym typeface="Calibri"/>
              </a:rPr>
              <a:t>Natural language: requests in written English</a:t>
            </a:r>
            <a:endParaRPr dirty="0"/>
          </a:p>
          <a:p>
            <a:pPr marL="384048" lvl="1" indent="-182880" algn="l" rtl="0">
              <a:lnSpc>
                <a:spcPct val="90000"/>
              </a:lnSpc>
              <a:spcBef>
                <a:spcPts val="600"/>
              </a:spcBef>
              <a:spcAft>
                <a:spcPts val="0"/>
              </a:spcAft>
              <a:buSzPct val="100000"/>
              <a:buChar char="◦"/>
            </a:pPr>
            <a:r>
              <a:rPr lang="en-US" sz="2000" dirty="0">
                <a:latin typeface="Calibri"/>
                <a:ea typeface="Calibri"/>
                <a:cs typeface="Calibri"/>
                <a:sym typeface="Calibri"/>
              </a:rPr>
              <a:t>Speech as Input and Output</a:t>
            </a:r>
            <a:endParaRPr dirty="0"/>
          </a:p>
          <a:p>
            <a:pPr marL="384048" lvl="1" indent="-182880" algn="l" rtl="0">
              <a:lnSpc>
                <a:spcPct val="90000"/>
              </a:lnSpc>
              <a:spcBef>
                <a:spcPts val="600"/>
              </a:spcBef>
              <a:spcAft>
                <a:spcPts val="0"/>
              </a:spcAft>
              <a:buSzPct val="100000"/>
              <a:buChar char="◦"/>
            </a:pPr>
            <a:r>
              <a:rPr lang="en-US" sz="2000" dirty="0">
                <a:latin typeface="Calibri"/>
                <a:ea typeface="Calibri"/>
                <a:cs typeface="Calibri"/>
                <a:sym typeface="Calibri"/>
              </a:rPr>
              <a:t>Web Browser as an interface</a:t>
            </a:r>
            <a:endParaRPr dirty="0"/>
          </a:p>
          <a:p>
            <a:pPr marL="384048" lvl="1" indent="-182880" algn="l" rtl="0">
              <a:lnSpc>
                <a:spcPct val="90000"/>
              </a:lnSpc>
              <a:spcBef>
                <a:spcPts val="600"/>
              </a:spcBef>
              <a:spcAft>
                <a:spcPts val="0"/>
              </a:spcAft>
              <a:buSzPct val="100000"/>
              <a:buChar char="◦"/>
            </a:pPr>
            <a:r>
              <a:rPr lang="en-US" sz="2000" dirty="0">
                <a:latin typeface="Calibri"/>
                <a:ea typeface="Calibri"/>
                <a:cs typeface="Calibri"/>
                <a:sym typeface="Calibri"/>
              </a:rPr>
              <a:t>Parametric interfaces (e.g., bank tellers) using function keys.</a:t>
            </a:r>
            <a:endParaRPr dirty="0"/>
          </a:p>
          <a:p>
            <a:pPr marL="384048" lvl="1" indent="-182880" algn="l" rtl="0">
              <a:lnSpc>
                <a:spcPct val="90000"/>
              </a:lnSpc>
              <a:spcBef>
                <a:spcPts val="600"/>
              </a:spcBef>
              <a:spcAft>
                <a:spcPts val="0"/>
              </a:spcAft>
              <a:buSzPct val="100000"/>
              <a:buChar char="◦"/>
            </a:pPr>
            <a:r>
              <a:rPr lang="en-US" sz="2000" dirty="0">
                <a:latin typeface="Calibri"/>
                <a:ea typeface="Calibri"/>
                <a:cs typeface="Calibri"/>
                <a:sym typeface="Calibri"/>
              </a:rPr>
              <a:t>Interfaces for the DBA:</a:t>
            </a:r>
            <a:endParaRPr dirty="0"/>
          </a:p>
          <a:p>
            <a:pPr marL="566928" lvl="2" indent="-182880" algn="l" rtl="0">
              <a:lnSpc>
                <a:spcPct val="90000"/>
              </a:lnSpc>
              <a:spcBef>
                <a:spcPts val="600"/>
              </a:spcBef>
              <a:spcAft>
                <a:spcPts val="0"/>
              </a:spcAft>
              <a:buSzPct val="100000"/>
              <a:buChar char="◦"/>
            </a:pPr>
            <a:r>
              <a:rPr lang="en-US" sz="1900" dirty="0">
                <a:sym typeface="Calibri"/>
              </a:rPr>
              <a:t>Creating accounts, granting authorizations</a:t>
            </a:r>
            <a:endParaRPr sz="1900" dirty="0"/>
          </a:p>
          <a:p>
            <a:pPr marL="566928" lvl="2" indent="-182880" algn="l" rtl="0">
              <a:lnSpc>
                <a:spcPct val="90000"/>
              </a:lnSpc>
              <a:spcBef>
                <a:spcPts val="600"/>
              </a:spcBef>
              <a:spcAft>
                <a:spcPts val="0"/>
              </a:spcAft>
              <a:buSzPct val="100000"/>
              <a:buChar char="◦"/>
            </a:pPr>
            <a:r>
              <a:rPr lang="en-US" sz="1900" dirty="0">
                <a:sym typeface="Calibri"/>
              </a:rPr>
              <a:t>Setting system parameters</a:t>
            </a:r>
            <a:endParaRPr sz="1900" dirty="0"/>
          </a:p>
          <a:p>
            <a:pPr marL="566928" lvl="2" indent="-182880" algn="l" rtl="0">
              <a:lnSpc>
                <a:spcPct val="90000"/>
              </a:lnSpc>
              <a:spcBef>
                <a:spcPts val="600"/>
              </a:spcBef>
              <a:spcAft>
                <a:spcPts val="0"/>
              </a:spcAft>
              <a:buSzPct val="50000"/>
              <a:buChar char="◦"/>
            </a:pPr>
            <a:r>
              <a:rPr lang="en-US" sz="1900" dirty="0">
                <a:sym typeface="Calibri"/>
              </a:rPr>
              <a:t>Changing schemas or access path</a:t>
            </a:r>
            <a:endParaRPr sz="3900" dirty="0">
              <a:latin typeface="Calibri"/>
              <a:ea typeface="Calibri"/>
              <a:cs typeface="Calibri"/>
              <a:sym typeface="Calibri"/>
            </a:endParaRPr>
          </a:p>
          <a:p>
            <a:pPr marL="384048" lvl="1" indent="-85725" algn="l" rtl="0">
              <a:lnSpc>
                <a:spcPct val="90000"/>
              </a:lnSpc>
              <a:spcBef>
                <a:spcPts val="600"/>
              </a:spcBef>
              <a:spcAft>
                <a:spcPts val="0"/>
              </a:spcAft>
              <a:buSzPct val="100000"/>
              <a:buNone/>
            </a:pPr>
            <a:endParaRPr dirty="0"/>
          </a:p>
          <a:p>
            <a:pPr marL="91440" lvl="0" indent="0" algn="l" rtl="0">
              <a:lnSpc>
                <a:spcPct val="90000"/>
              </a:lnSpc>
              <a:spcBef>
                <a:spcPts val="1600"/>
              </a:spcBef>
              <a:spcAft>
                <a:spcPts val="0"/>
              </a:spcAft>
              <a:buSzPct val="100000"/>
              <a:buFont typeface="Times"/>
              <a:buNone/>
            </a:pP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34"/>
          <p:cNvSpPr txBox="1">
            <a:spLocks noGrp="1"/>
          </p:cNvSpPr>
          <p:nvPr>
            <p:ph type="title"/>
          </p:nvPr>
        </p:nvSpPr>
        <p:spPr>
          <a:xfrm>
            <a:off x="630385" y="281354"/>
            <a:ext cx="7078710" cy="780806"/>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FF0000"/>
              </a:buClr>
              <a:buSzPts val="4800"/>
              <a:buFont typeface="Calibri"/>
              <a:buNone/>
            </a:pPr>
            <a:r>
              <a:rPr lang="en-US" sz="4000" dirty="0">
                <a:solidFill>
                  <a:srgbClr val="FF0000"/>
                </a:solidFill>
              </a:rPr>
              <a:t>DBMS Component Modules</a:t>
            </a:r>
            <a:endParaRPr sz="4000" dirty="0"/>
          </a:p>
        </p:txBody>
      </p:sp>
      <p:pic>
        <p:nvPicPr>
          <p:cNvPr id="514" name="Google Shape;514;p34"/>
          <p:cNvPicPr preferRelativeResize="0"/>
          <p:nvPr/>
        </p:nvPicPr>
        <p:blipFill rotWithShape="1">
          <a:blip r:embed="rId3">
            <a:alphaModFix/>
          </a:blip>
          <a:srcRect/>
          <a:stretch/>
        </p:blipFill>
        <p:spPr>
          <a:xfrm>
            <a:off x="844060" y="1301310"/>
            <a:ext cx="9200271" cy="484627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pic>
        <p:nvPicPr>
          <p:cNvPr id="519" name="Google Shape;519;p35"/>
          <p:cNvPicPr preferRelativeResize="0"/>
          <p:nvPr/>
        </p:nvPicPr>
        <p:blipFill rotWithShape="1">
          <a:blip r:embed="rId3">
            <a:alphaModFix/>
          </a:blip>
          <a:srcRect/>
          <a:stretch/>
        </p:blipFill>
        <p:spPr>
          <a:xfrm>
            <a:off x="2136647" y="990600"/>
            <a:ext cx="7894043" cy="4713953"/>
          </a:xfrm>
          <a:prstGeom prst="rect">
            <a:avLst/>
          </a:prstGeom>
          <a:noFill/>
          <a:ln>
            <a:noFill/>
          </a:ln>
        </p:spPr>
      </p:pic>
      <p:sp>
        <p:nvSpPr>
          <p:cNvPr id="520" name="Google Shape;520;p35"/>
          <p:cNvSpPr txBox="1">
            <a:spLocks noGrp="1"/>
          </p:cNvSpPr>
          <p:nvPr>
            <p:ph type="title"/>
          </p:nvPr>
        </p:nvSpPr>
        <p:spPr>
          <a:xfrm>
            <a:off x="675249" y="478302"/>
            <a:ext cx="9614799" cy="512298"/>
          </a:xfrm>
          <a:prstGeom prst="rect">
            <a:avLst/>
          </a:prstGeom>
          <a:noFill/>
          <a:ln>
            <a:noFill/>
          </a:ln>
        </p:spPr>
        <p:txBody>
          <a:bodyPr spcFirstLastPara="1" wrap="square" lIns="91425" tIns="45700" rIns="91425" bIns="45700" anchor="b" anchorCtr="0">
            <a:noAutofit/>
          </a:bodyPr>
          <a:lstStyle/>
          <a:p>
            <a:pPr marL="0" lvl="0" indent="0" algn="just" rtl="0">
              <a:lnSpc>
                <a:spcPct val="85000"/>
              </a:lnSpc>
              <a:spcBef>
                <a:spcPts val="0"/>
              </a:spcBef>
              <a:spcAft>
                <a:spcPts val="0"/>
              </a:spcAft>
              <a:buClr>
                <a:srgbClr val="FF0000"/>
              </a:buClr>
              <a:buSzPts val="2800"/>
              <a:buFont typeface="Calibri"/>
              <a:buNone/>
            </a:pPr>
            <a:r>
              <a:rPr lang="en-US" sz="2800" dirty="0">
                <a:solidFill>
                  <a:srgbClr val="FF0000"/>
                </a:solidFill>
              </a:rPr>
              <a:t>Using High – Level Conceptual Data Models for Database Design</a:t>
            </a:r>
            <a:endParaRPr dirty="0"/>
          </a:p>
        </p:txBody>
      </p:sp>
      <p:pic>
        <p:nvPicPr>
          <p:cNvPr id="521" name="Google Shape;521;p35"/>
          <p:cNvPicPr preferRelativeResize="0"/>
          <p:nvPr/>
        </p:nvPicPr>
        <p:blipFill rotWithShape="1">
          <a:blip r:embed="rId4">
            <a:alphaModFix/>
          </a:blip>
          <a:srcRect/>
          <a:stretch/>
        </p:blipFill>
        <p:spPr>
          <a:xfrm>
            <a:off x="3643533" y="5704554"/>
            <a:ext cx="2009775" cy="5905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36"/>
          <p:cNvSpPr txBox="1">
            <a:spLocks noGrp="1"/>
          </p:cNvSpPr>
          <p:nvPr>
            <p:ph type="title"/>
          </p:nvPr>
        </p:nvSpPr>
        <p:spPr>
          <a:xfrm>
            <a:off x="709612" y="326539"/>
            <a:ext cx="10772775" cy="456056"/>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5000"/>
              </a:lnSpc>
              <a:spcBef>
                <a:spcPts val="0"/>
              </a:spcBef>
              <a:spcAft>
                <a:spcPts val="0"/>
              </a:spcAft>
              <a:buClr>
                <a:srgbClr val="FF0000"/>
              </a:buClr>
              <a:buSzPct val="100000"/>
              <a:buFont typeface="Calibri"/>
              <a:buNone/>
            </a:pPr>
            <a:r>
              <a:rPr lang="en-US">
                <a:solidFill>
                  <a:srgbClr val="FF0000"/>
                </a:solidFill>
              </a:rPr>
              <a:t>An Example Database Application</a:t>
            </a:r>
            <a:endParaRPr/>
          </a:p>
        </p:txBody>
      </p:sp>
      <p:pic>
        <p:nvPicPr>
          <p:cNvPr id="527" name="Google Shape;527;p36"/>
          <p:cNvPicPr preferRelativeResize="0">
            <a:picLocks noGrp="1"/>
          </p:cNvPicPr>
          <p:nvPr>
            <p:ph type="body" idx="1"/>
          </p:nvPr>
        </p:nvPicPr>
        <p:blipFill rotWithShape="1">
          <a:blip r:embed="rId3">
            <a:alphaModFix/>
          </a:blip>
          <a:srcRect/>
          <a:stretch/>
        </p:blipFill>
        <p:spPr>
          <a:xfrm>
            <a:off x="486033" y="878823"/>
            <a:ext cx="7405942" cy="4466900"/>
          </a:xfrm>
          <a:prstGeom prst="rect">
            <a:avLst/>
          </a:prstGeom>
          <a:noFill/>
          <a:ln>
            <a:noFill/>
          </a:ln>
        </p:spPr>
      </p:pic>
      <p:pic>
        <p:nvPicPr>
          <p:cNvPr id="529" name="Google Shape;529;p36"/>
          <p:cNvPicPr preferRelativeResize="0"/>
          <p:nvPr/>
        </p:nvPicPr>
        <p:blipFill rotWithShape="1">
          <a:blip r:embed="rId4">
            <a:alphaModFix/>
          </a:blip>
          <a:srcRect/>
          <a:stretch/>
        </p:blipFill>
        <p:spPr>
          <a:xfrm>
            <a:off x="7734067" y="878823"/>
            <a:ext cx="4029693" cy="413818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pic>
        <p:nvPicPr>
          <p:cNvPr id="534" name="Google Shape;534;p37"/>
          <p:cNvPicPr preferRelativeResize="0"/>
          <p:nvPr/>
        </p:nvPicPr>
        <p:blipFill rotWithShape="1">
          <a:blip r:embed="rId3">
            <a:alphaModFix/>
          </a:blip>
          <a:srcRect/>
          <a:stretch/>
        </p:blipFill>
        <p:spPr>
          <a:xfrm>
            <a:off x="2142977" y="223909"/>
            <a:ext cx="7957626" cy="600807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38"/>
          <p:cNvSpPr txBox="1">
            <a:spLocks noGrp="1"/>
          </p:cNvSpPr>
          <p:nvPr>
            <p:ph type="title"/>
          </p:nvPr>
        </p:nvSpPr>
        <p:spPr>
          <a:xfrm>
            <a:off x="427688" y="236297"/>
            <a:ext cx="6042385" cy="525703"/>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5000"/>
              </a:lnSpc>
              <a:spcBef>
                <a:spcPts val="0"/>
              </a:spcBef>
              <a:spcAft>
                <a:spcPts val="0"/>
              </a:spcAft>
              <a:buClr>
                <a:srgbClr val="3F3F3F"/>
              </a:buClr>
              <a:buSzPts val="4800"/>
              <a:buFont typeface="Calibri"/>
              <a:buNone/>
            </a:pPr>
            <a:r>
              <a:rPr lang="en-US" sz="3600" dirty="0"/>
              <a:t>Hospital  Management System</a:t>
            </a:r>
            <a:endParaRPr sz="3600" dirty="0"/>
          </a:p>
        </p:txBody>
      </p:sp>
      <p:pic>
        <p:nvPicPr>
          <p:cNvPr id="540" name="Google Shape;540;p38" descr="enter image description here"/>
          <p:cNvPicPr preferRelativeResize="0">
            <a:picLocks noGrp="1"/>
          </p:cNvPicPr>
          <p:nvPr>
            <p:ph type="body" idx="1"/>
          </p:nvPr>
        </p:nvPicPr>
        <p:blipFill rotWithShape="1">
          <a:blip r:embed="rId3">
            <a:alphaModFix/>
          </a:blip>
          <a:srcRect/>
          <a:stretch/>
        </p:blipFill>
        <p:spPr>
          <a:xfrm>
            <a:off x="2078181" y="762001"/>
            <a:ext cx="8423563" cy="5472712"/>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39"/>
          <p:cNvSpPr txBox="1">
            <a:spLocks noGrp="1"/>
          </p:cNvSpPr>
          <p:nvPr>
            <p:ph type="title"/>
          </p:nvPr>
        </p:nvSpPr>
        <p:spPr>
          <a:xfrm>
            <a:off x="657606" y="153543"/>
            <a:ext cx="10772775" cy="580602"/>
          </a:xfrm>
          <a:prstGeom prst="rect">
            <a:avLst/>
          </a:prstGeom>
          <a:noFill/>
          <a:ln>
            <a:noFill/>
          </a:ln>
        </p:spPr>
        <p:txBody>
          <a:bodyPr spcFirstLastPara="1" wrap="square" lIns="91425" tIns="45700" rIns="91425" bIns="45700" anchor="b" anchorCtr="0">
            <a:noAutofit/>
          </a:bodyPr>
          <a:lstStyle/>
          <a:p>
            <a:pPr marL="0" lvl="0" indent="0" algn="just" rtl="0">
              <a:lnSpc>
                <a:spcPct val="85000"/>
              </a:lnSpc>
              <a:spcBef>
                <a:spcPts val="0"/>
              </a:spcBef>
              <a:spcAft>
                <a:spcPts val="0"/>
              </a:spcAft>
              <a:buClr>
                <a:srgbClr val="FF0000"/>
              </a:buClr>
              <a:buSzPts val="2800"/>
              <a:buFont typeface="Calibri"/>
              <a:buNone/>
            </a:pPr>
            <a:r>
              <a:rPr lang="en-US" sz="2800">
                <a:solidFill>
                  <a:srgbClr val="FF0000"/>
                </a:solidFill>
              </a:rPr>
              <a:t>Entity Types, Entity Sets, Attributes and Keys</a:t>
            </a:r>
            <a:endParaRPr/>
          </a:p>
        </p:txBody>
      </p:sp>
      <p:sp>
        <p:nvSpPr>
          <p:cNvPr id="546" name="Google Shape;546;p39"/>
          <p:cNvSpPr txBox="1">
            <a:spLocks noGrp="1"/>
          </p:cNvSpPr>
          <p:nvPr>
            <p:ph type="body" idx="1"/>
          </p:nvPr>
        </p:nvSpPr>
        <p:spPr>
          <a:xfrm>
            <a:off x="274702" y="891513"/>
            <a:ext cx="11155679" cy="5621829"/>
          </a:xfrm>
          <a:prstGeom prst="rect">
            <a:avLst/>
          </a:prstGeom>
          <a:noFill/>
          <a:ln>
            <a:noFill/>
          </a:ln>
        </p:spPr>
        <p:txBody>
          <a:bodyPr spcFirstLastPara="1" wrap="square" lIns="0" tIns="45700" rIns="0" bIns="45700" anchor="t" anchorCtr="0">
            <a:normAutofit fontScale="92500" lnSpcReduction="20000"/>
          </a:bodyPr>
          <a:lstStyle/>
          <a:p>
            <a:pPr marL="91440" lvl="0" indent="-140335" algn="just" rtl="0">
              <a:lnSpc>
                <a:spcPct val="90000"/>
              </a:lnSpc>
              <a:spcBef>
                <a:spcPts val="0"/>
              </a:spcBef>
              <a:spcAft>
                <a:spcPts val="0"/>
              </a:spcAft>
              <a:buSzPct val="100000"/>
              <a:buFont typeface="Arial"/>
              <a:buChar char="•"/>
            </a:pPr>
            <a:r>
              <a:rPr lang="en-US" sz="2600" b="1" dirty="0"/>
              <a:t>Entity</a:t>
            </a:r>
            <a:endParaRPr dirty="0"/>
          </a:p>
          <a:p>
            <a:pPr marL="384048" lvl="1" indent="-182880" algn="just" rtl="0">
              <a:lnSpc>
                <a:spcPct val="90000"/>
              </a:lnSpc>
              <a:spcBef>
                <a:spcPts val="400"/>
              </a:spcBef>
              <a:spcAft>
                <a:spcPts val="0"/>
              </a:spcAft>
              <a:buSzPct val="100000"/>
              <a:buChar char="◦"/>
            </a:pPr>
            <a:r>
              <a:rPr lang="en-US" sz="2600" dirty="0"/>
              <a:t>A thing in the real world with an independent existence.</a:t>
            </a:r>
            <a:endParaRPr dirty="0"/>
          </a:p>
          <a:p>
            <a:pPr marL="384048" lvl="1" indent="-182880" algn="just" rtl="0">
              <a:lnSpc>
                <a:spcPct val="90000"/>
              </a:lnSpc>
              <a:spcBef>
                <a:spcPts val="600"/>
              </a:spcBef>
              <a:spcAft>
                <a:spcPts val="0"/>
              </a:spcAft>
              <a:buSzPct val="100000"/>
              <a:buChar char="◦"/>
            </a:pPr>
            <a:r>
              <a:rPr lang="en-US" sz="2600" dirty="0" err="1"/>
              <a:t>Eg</a:t>
            </a:r>
            <a:r>
              <a:rPr lang="en-US" sz="2600" dirty="0"/>
              <a:t>: A particular person, Car, House or an Employee       </a:t>
            </a:r>
            <a:endParaRPr dirty="0"/>
          </a:p>
          <a:p>
            <a:pPr marL="91440" lvl="0" indent="-140335" algn="just" rtl="0">
              <a:lnSpc>
                <a:spcPct val="90000"/>
              </a:lnSpc>
              <a:spcBef>
                <a:spcPts val="1600"/>
              </a:spcBef>
              <a:spcAft>
                <a:spcPts val="0"/>
              </a:spcAft>
              <a:buSzPct val="100000"/>
              <a:buFont typeface="Arial"/>
              <a:buChar char="•"/>
            </a:pPr>
            <a:r>
              <a:rPr lang="en-US" sz="2600" b="1" dirty="0"/>
              <a:t>Attribute</a:t>
            </a:r>
            <a:endParaRPr dirty="0"/>
          </a:p>
          <a:p>
            <a:pPr marL="384048" lvl="1" indent="-182880" algn="just" rtl="0">
              <a:lnSpc>
                <a:spcPct val="90000"/>
              </a:lnSpc>
              <a:spcBef>
                <a:spcPts val="400"/>
              </a:spcBef>
              <a:spcAft>
                <a:spcPts val="0"/>
              </a:spcAft>
              <a:buSzPct val="100000"/>
              <a:buChar char="◦"/>
            </a:pPr>
            <a:r>
              <a:rPr lang="en-US" sz="2600" dirty="0"/>
              <a:t>The particular property that  describes the entity.</a:t>
            </a:r>
            <a:endParaRPr dirty="0"/>
          </a:p>
          <a:p>
            <a:pPr marL="384048" lvl="1" indent="-182880" algn="just" rtl="0">
              <a:lnSpc>
                <a:spcPct val="90000"/>
              </a:lnSpc>
              <a:spcBef>
                <a:spcPts val="600"/>
              </a:spcBef>
              <a:spcAft>
                <a:spcPts val="0"/>
              </a:spcAft>
              <a:buSzPct val="100000"/>
              <a:buChar char="◦"/>
            </a:pPr>
            <a:r>
              <a:rPr lang="en-US" sz="2600" dirty="0" err="1"/>
              <a:t>Eg</a:t>
            </a:r>
            <a:r>
              <a:rPr lang="en-US" sz="2600" dirty="0"/>
              <a:t>: An Employee’s name, age, address, salary and job</a:t>
            </a:r>
            <a:endParaRPr dirty="0"/>
          </a:p>
          <a:p>
            <a:pPr marL="201168" lvl="1" indent="0" algn="l" rtl="0">
              <a:lnSpc>
                <a:spcPct val="90000"/>
              </a:lnSpc>
              <a:spcBef>
                <a:spcPts val="600"/>
              </a:spcBef>
              <a:spcAft>
                <a:spcPts val="0"/>
              </a:spcAft>
              <a:buSzPct val="100000"/>
              <a:buNone/>
            </a:pPr>
            <a:endParaRPr lang="en-US" sz="1100" b="1" dirty="0"/>
          </a:p>
          <a:p>
            <a:pPr marL="201168" lvl="1" indent="0" algn="l" rtl="0">
              <a:lnSpc>
                <a:spcPct val="90000"/>
              </a:lnSpc>
              <a:spcBef>
                <a:spcPts val="600"/>
              </a:spcBef>
              <a:spcAft>
                <a:spcPts val="0"/>
              </a:spcAft>
              <a:buSzPct val="100000"/>
              <a:buNone/>
            </a:pPr>
            <a:r>
              <a:rPr lang="en-US" sz="2600" b="1" dirty="0" smtClean="0"/>
              <a:t>Types </a:t>
            </a:r>
            <a:r>
              <a:rPr lang="en-US" sz="2600" b="1" dirty="0"/>
              <a:t>of Attributes</a:t>
            </a:r>
            <a:endParaRPr dirty="0"/>
          </a:p>
          <a:p>
            <a:pPr marL="91440" lvl="0" indent="-140335" algn="l" rtl="0">
              <a:lnSpc>
                <a:spcPct val="90000"/>
              </a:lnSpc>
              <a:spcBef>
                <a:spcPts val="1600"/>
              </a:spcBef>
              <a:spcAft>
                <a:spcPts val="0"/>
              </a:spcAft>
              <a:buSzPct val="100000"/>
              <a:buChar char=" "/>
            </a:pPr>
            <a:r>
              <a:rPr lang="en-US" sz="2600" dirty="0"/>
              <a:t>         (i)Composite versus simple(Atomic) Attributes</a:t>
            </a:r>
            <a:endParaRPr dirty="0"/>
          </a:p>
          <a:p>
            <a:pPr marL="91440" lvl="0" indent="-140335" algn="l" rtl="0">
              <a:lnSpc>
                <a:spcPct val="90000"/>
              </a:lnSpc>
              <a:spcBef>
                <a:spcPts val="1400"/>
              </a:spcBef>
              <a:spcAft>
                <a:spcPts val="0"/>
              </a:spcAft>
              <a:buSzPct val="100000"/>
              <a:buChar char=" "/>
            </a:pPr>
            <a:r>
              <a:rPr lang="en-US" sz="2600" dirty="0"/>
              <a:t>         (ii)Single Valued versus Multivalued Attributes</a:t>
            </a:r>
            <a:endParaRPr dirty="0"/>
          </a:p>
          <a:p>
            <a:pPr marL="0" lvl="0" indent="0" algn="l" rtl="0">
              <a:lnSpc>
                <a:spcPct val="90000"/>
              </a:lnSpc>
              <a:spcBef>
                <a:spcPts val="1400"/>
              </a:spcBef>
              <a:spcAft>
                <a:spcPts val="0"/>
              </a:spcAft>
              <a:buSzPct val="100000"/>
              <a:buNone/>
            </a:pPr>
            <a:r>
              <a:rPr lang="en-US" sz="2600" dirty="0"/>
              <a:t>           (iii)Stored versus Derived Attributes</a:t>
            </a:r>
            <a:endParaRPr dirty="0"/>
          </a:p>
          <a:p>
            <a:pPr marL="0" lvl="0" indent="0" algn="l" rtl="0">
              <a:lnSpc>
                <a:spcPct val="90000"/>
              </a:lnSpc>
              <a:spcBef>
                <a:spcPts val="1400"/>
              </a:spcBef>
              <a:spcAft>
                <a:spcPts val="0"/>
              </a:spcAft>
              <a:buSzPct val="100000"/>
              <a:buNone/>
            </a:pPr>
            <a:r>
              <a:rPr lang="en-US" sz="2600" dirty="0"/>
              <a:t>           (iv) Complex Attributes</a:t>
            </a:r>
            <a:endParaRPr dirty="0"/>
          </a:p>
          <a:p>
            <a:pPr marL="384048" lvl="1" indent="-182880" algn="l" rtl="0">
              <a:lnSpc>
                <a:spcPct val="90000"/>
              </a:lnSpc>
              <a:spcBef>
                <a:spcPts val="400"/>
              </a:spcBef>
              <a:spcAft>
                <a:spcPts val="0"/>
              </a:spcAft>
              <a:buSzPct val="100000"/>
              <a:buChar char="◦"/>
            </a:pPr>
            <a:r>
              <a:rPr lang="en-US" sz="2600" dirty="0"/>
              <a:t>            </a:t>
            </a:r>
            <a:r>
              <a:rPr lang="en-US" sz="2200" dirty="0"/>
              <a:t>For example,  {</a:t>
            </a:r>
            <a:r>
              <a:rPr lang="en-US" sz="2200" dirty="0" err="1"/>
              <a:t>Address_phone</a:t>
            </a:r>
            <a:r>
              <a:rPr lang="en-US" sz="2200" dirty="0"/>
              <a:t>({Phone(</a:t>
            </a:r>
            <a:r>
              <a:rPr lang="en-US" sz="2200" dirty="0" err="1"/>
              <a:t>Area_Code</a:t>
            </a:r>
            <a:r>
              <a:rPr lang="en-US" sz="2200" dirty="0"/>
              <a:t>, </a:t>
            </a:r>
            <a:r>
              <a:rPr lang="en-US" sz="2200" dirty="0" err="1"/>
              <a:t>Phone_Number</a:t>
            </a:r>
            <a:r>
              <a:rPr lang="en-US" sz="2200" dirty="0"/>
              <a:t>)},    </a:t>
            </a:r>
            <a:endParaRPr sz="1700" dirty="0"/>
          </a:p>
          <a:p>
            <a:pPr marL="384048" lvl="1" indent="-182880" algn="l" rtl="0">
              <a:lnSpc>
                <a:spcPct val="90000"/>
              </a:lnSpc>
              <a:spcBef>
                <a:spcPts val="600"/>
              </a:spcBef>
              <a:spcAft>
                <a:spcPts val="0"/>
              </a:spcAft>
              <a:buSzPct val="100000"/>
              <a:buChar char="◦"/>
            </a:pPr>
            <a:r>
              <a:rPr lang="en-US" sz="2200" dirty="0"/>
              <a:t>            </a:t>
            </a:r>
            <a:r>
              <a:rPr lang="en-US" sz="2200" dirty="0" smtClean="0"/>
              <a:t>Address(</a:t>
            </a:r>
            <a:r>
              <a:rPr lang="en-US" sz="2200" dirty="0" err="1" smtClean="0"/>
              <a:t>Street_Address</a:t>
            </a:r>
            <a:r>
              <a:rPr lang="en-US" sz="2200" dirty="0" smtClean="0"/>
              <a:t> (</a:t>
            </a:r>
            <a:r>
              <a:rPr lang="en-US" sz="2200" dirty="0"/>
              <a:t>Number, Street, </a:t>
            </a:r>
            <a:r>
              <a:rPr lang="en-US" sz="2200" dirty="0" err="1"/>
              <a:t>Apartment_Number</a:t>
            </a:r>
            <a:r>
              <a:rPr lang="en-US" sz="2200" dirty="0"/>
              <a:t>), City, </a:t>
            </a:r>
            <a:r>
              <a:rPr lang="en-US" sz="2200" dirty="0" smtClean="0"/>
              <a:t> </a:t>
            </a:r>
            <a:r>
              <a:rPr lang="en-US" sz="2200" dirty="0" err="1"/>
              <a:t>Zip_Code</a:t>
            </a:r>
            <a:r>
              <a:rPr lang="en-US" sz="2200" dirty="0"/>
              <a:t>))</a:t>
            </a:r>
            <a:endParaRPr sz="1700" dirty="0"/>
          </a:p>
          <a:p>
            <a:pPr marL="384048" lvl="1" indent="-182880" algn="l" rtl="0">
              <a:lnSpc>
                <a:spcPct val="90000"/>
              </a:lnSpc>
              <a:spcBef>
                <a:spcPts val="600"/>
              </a:spcBef>
              <a:spcAft>
                <a:spcPts val="0"/>
              </a:spcAft>
              <a:buSzPct val="100000"/>
              <a:buChar char="◦"/>
            </a:pPr>
            <a:r>
              <a:rPr lang="en-US" sz="2600" dirty="0"/>
              <a:t>       (v)  Null Values</a:t>
            </a:r>
            <a:endParaRPr dirty="0"/>
          </a:p>
          <a:p>
            <a:pPr marL="384048" lvl="1" indent="-42545" algn="just" rtl="0">
              <a:lnSpc>
                <a:spcPct val="90000"/>
              </a:lnSpc>
              <a:spcBef>
                <a:spcPts val="600"/>
              </a:spcBef>
              <a:spcAft>
                <a:spcPts val="0"/>
              </a:spcAft>
              <a:buSzPct val="100000"/>
              <a:buNone/>
            </a:pPr>
            <a:endParaRPr sz="2600" dirty="0"/>
          </a:p>
          <a:p>
            <a:pPr marL="91440" lvl="0" indent="0" algn="just" rtl="0">
              <a:lnSpc>
                <a:spcPct val="90000"/>
              </a:lnSpc>
              <a:spcBef>
                <a:spcPts val="1600"/>
              </a:spcBef>
              <a:spcAft>
                <a:spcPts val="0"/>
              </a:spcAft>
              <a:buSzPct val="100000"/>
              <a:buNone/>
            </a:pPr>
            <a:endParaRPr dirty="0"/>
          </a:p>
        </p:txBody>
      </p:sp>
      <p:pic>
        <p:nvPicPr>
          <p:cNvPr id="547" name="Google Shape;547;p39"/>
          <p:cNvPicPr preferRelativeResize="0"/>
          <p:nvPr/>
        </p:nvPicPr>
        <p:blipFill rotWithShape="1">
          <a:blip r:embed="rId3">
            <a:alphaModFix/>
          </a:blip>
          <a:srcRect/>
          <a:stretch/>
        </p:blipFill>
        <p:spPr>
          <a:xfrm>
            <a:off x="8068530" y="734144"/>
            <a:ext cx="4008147" cy="1926677"/>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0"/>
          <p:cNvSpPr txBox="1">
            <a:spLocks noGrp="1"/>
          </p:cNvSpPr>
          <p:nvPr>
            <p:ph type="title"/>
          </p:nvPr>
        </p:nvSpPr>
        <p:spPr>
          <a:xfrm>
            <a:off x="662207" y="1123580"/>
            <a:ext cx="10772775" cy="381916"/>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FF0000"/>
              </a:buClr>
              <a:buSzPct val="100000"/>
              <a:buFont typeface="Calibri"/>
              <a:buNone/>
            </a:pPr>
            <a:r>
              <a:rPr lang="en-US" sz="3600" dirty="0">
                <a:solidFill>
                  <a:srgbClr val="FF0000"/>
                </a:solidFill>
              </a:rPr>
              <a:t>Entity Types</a:t>
            </a:r>
            <a:endParaRPr sz="3600" dirty="0"/>
          </a:p>
        </p:txBody>
      </p:sp>
      <p:sp>
        <p:nvSpPr>
          <p:cNvPr id="553" name="Google Shape;553;p40"/>
          <p:cNvSpPr txBox="1">
            <a:spLocks noGrp="1"/>
          </p:cNvSpPr>
          <p:nvPr>
            <p:ph type="body" idx="1"/>
          </p:nvPr>
        </p:nvSpPr>
        <p:spPr>
          <a:xfrm>
            <a:off x="662206" y="2014545"/>
            <a:ext cx="10606015" cy="3992359"/>
          </a:xfrm>
          <a:prstGeom prst="rect">
            <a:avLst/>
          </a:prstGeom>
          <a:noFill/>
          <a:ln>
            <a:noFill/>
          </a:ln>
        </p:spPr>
        <p:txBody>
          <a:bodyPr spcFirstLastPara="1" wrap="square" lIns="0" tIns="45700" rIns="0" bIns="45700" anchor="t" anchorCtr="0">
            <a:noAutofit/>
          </a:bodyPr>
          <a:lstStyle/>
          <a:p>
            <a:pPr marL="91440" lvl="0" indent="-117475" algn="just" rtl="0">
              <a:lnSpc>
                <a:spcPct val="90000"/>
              </a:lnSpc>
              <a:spcBef>
                <a:spcPts val="0"/>
              </a:spcBef>
              <a:spcAft>
                <a:spcPts val="0"/>
              </a:spcAft>
              <a:buSzPct val="100000"/>
              <a:buChar char=" "/>
            </a:pPr>
            <a:r>
              <a:rPr lang="en-US" sz="2400" dirty="0"/>
              <a:t>A collection of entities that have the same attributes.</a:t>
            </a:r>
            <a:endParaRPr sz="2400" dirty="0"/>
          </a:p>
          <a:p>
            <a:pPr marL="91440" lvl="0" indent="-117475" algn="just" rtl="0">
              <a:lnSpc>
                <a:spcPct val="90000"/>
              </a:lnSpc>
              <a:spcBef>
                <a:spcPts val="1400"/>
              </a:spcBef>
              <a:spcAft>
                <a:spcPts val="0"/>
              </a:spcAft>
              <a:buSzPct val="100000"/>
              <a:buChar char=" "/>
            </a:pPr>
            <a:r>
              <a:rPr lang="en-US" sz="2400" dirty="0" smtClean="0"/>
              <a:t>Each </a:t>
            </a:r>
            <a:r>
              <a:rPr lang="en-US" sz="2400" dirty="0"/>
              <a:t>entity type in the database is described by its name and attributes.</a:t>
            </a:r>
            <a:endParaRPr sz="2400" dirty="0"/>
          </a:p>
          <a:p>
            <a:pPr marL="91440" lvl="0" indent="-117475" algn="just" rtl="0">
              <a:lnSpc>
                <a:spcPct val="90000"/>
              </a:lnSpc>
              <a:spcBef>
                <a:spcPts val="1400"/>
              </a:spcBef>
              <a:spcAft>
                <a:spcPts val="0"/>
              </a:spcAft>
              <a:buSzPct val="100000"/>
              <a:buChar char=" "/>
            </a:pPr>
            <a:r>
              <a:rPr lang="en-US" sz="2400" dirty="0" smtClean="0"/>
              <a:t>An </a:t>
            </a:r>
            <a:r>
              <a:rPr lang="en-US" sz="2400" dirty="0"/>
              <a:t>entity type describes the </a:t>
            </a:r>
            <a:r>
              <a:rPr lang="en-US" sz="2400" b="1" dirty="0"/>
              <a:t>schema</a:t>
            </a:r>
            <a:r>
              <a:rPr lang="en-US" sz="2400" dirty="0"/>
              <a:t> or </a:t>
            </a:r>
            <a:r>
              <a:rPr lang="en-US" sz="2400" b="1" dirty="0"/>
              <a:t>intension</a:t>
            </a:r>
            <a:r>
              <a:rPr lang="en-US" sz="2400" dirty="0"/>
              <a:t> for a set of entities that share the same structure.</a:t>
            </a:r>
            <a:endParaRPr sz="2400" dirty="0"/>
          </a:p>
          <a:p>
            <a:pPr marL="91440" lvl="0" indent="-117475" algn="just" rtl="0">
              <a:lnSpc>
                <a:spcPct val="90000"/>
              </a:lnSpc>
              <a:spcBef>
                <a:spcPts val="1400"/>
              </a:spcBef>
              <a:spcAft>
                <a:spcPts val="0"/>
              </a:spcAft>
              <a:buSzPct val="100000"/>
              <a:buChar char=" "/>
            </a:pPr>
            <a:r>
              <a:rPr lang="en-US" sz="2400" dirty="0" err="1" smtClean="0"/>
              <a:t>Eg</a:t>
            </a:r>
            <a:r>
              <a:rPr lang="en-US" sz="2400" dirty="0"/>
              <a:t>: EMPLOYEE and COMPANY and a list of attributes for each.</a:t>
            </a:r>
            <a:endParaRPr sz="2400" dirty="0"/>
          </a:p>
          <a:p>
            <a:pPr marL="91440" lvl="0" indent="-117475" algn="just" rtl="0">
              <a:lnSpc>
                <a:spcPct val="90000"/>
              </a:lnSpc>
              <a:spcBef>
                <a:spcPts val="1400"/>
              </a:spcBef>
              <a:spcAft>
                <a:spcPts val="0"/>
              </a:spcAft>
              <a:buSzPct val="100000"/>
              <a:buChar char=" "/>
            </a:pPr>
            <a:r>
              <a:rPr lang="en-US" sz="2400" dirty="0" smtClean="0"/>
              <a:t>An </a:t>
            </a:r>
            <a:r>
              <a:rPr lang="en-US" sz="2400" dirty="0"/>
              <a:t>entity type is represented in ER diagrams as a rectangular box enclosing the entity type name.</a:t>
            </a:r>
            <a:endParaRPr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41"/>
          <p:cNvSpPr txBox="1">
            <a:spLocks noGrp="1"/>
          </p:cNvSpPr>
          <p:nvPr>
            <p:ph type="title"/>
          </p:nvPr>
        </p:nvSpPr>
        <p:spPr>
          <a:xfrm>
            <a:off x="638174" y="311041"/>
            <a:ext cx="10772775" cy="769094"/>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0000"/>
              </a:buClr>
              <a:buSzPts val="4800"/>
              <a:buFont typeface="Calibri"/>
              <a:buNone/>
            </a:pPr>
            <a:r>
              <a:rPr lang="en-US" sz="4000" dirty="0">
                <a:solidFill>
                  <a:srgbClr val="FF0000"/>
                </a:solidFill>
              </a:rPr>
              <a:t>Entity Set</a:t>
            </a:r>
            <a:endParaRPr sz="4000" dirty="0"/>
          </a:p>
        </p:txBody>
      </p:sp>
      <p:sp>
        <p:nvSpPr>
          <p:cNvPr id="559" name="Google Shape;559;p41"/>
          <p:cNvSpPr txBox="1">
            <a:spLocks noGrp="1"/>
          </p:cNvSpPr>
          <p:nvPr>
            <p:ph type="body" idx="1"/>
          </p:nvPr>
        </p:nvSpPr>
        <p:spPr>
          <a:xfrm>
            <a:off x="638174" y="1209287"/>
            <a:ext cx="10753725" cy="4779621"/>
          </a:xfrm>
          <a:prstGeom prst="rect">
            <a:avLst/>
          </a:prstGeom>
          <a:noFill/>
          <a:ln>
            <a:noFill/>
          </a:ln>
        </p:spPr>
        <p:txBody>
          <a:bodyPr spcFirstLastPara="1" wrap="square" lIns="0" tIns="45700" rIns="0" bIns="45700" anchor="t" anchorCtr="0">
            <a:normAutofit/>
          </a:bodyPr>
          <a:lstStyle/>
          <a:p>
            <a:pPr marL="91440" lvl="0" indent="-127000" algn="just" rtl="0">
              <a:lnSpc>
                <a:spcPct val="90000"/>
              </a:lnSpc>
              <a:spcBef>
                <a:spcPts val="0"/>
              </a:spcBef>
              <a:spcAft>
                <a:spcPts val="0"/>
              </a:spcAft>
              <a:buSzPts val="2000"/>
              <a:buChar char=" "/>
            </a:pPr>
            <a:r>
              <a:rPr lang="en-US" sz="2400" dirty="0"/>
              <a:t>The collection of entities of a particular entity type is grouped into an entity set.</a:t>
            </a:r>
            <a:endParaRPr sz="2400" dirty="0"/>
          </a:p>
          <a:p>
            <a:pPr marL="91440" lvl="0" indent="0" algn="just" rtl="0">
              <a:lnSpc>
                <a:spcPct val="90000"/>
              </a:lnSpc>
              <a:spcBef>
                <a:spcPts val="1400"/>
              </a:spcBef>
              <a:spcAft>
                <a:spcPts val="0"/>
              </a:spcAft>
              <a:buSzPts val="2000"/>
              <a:buNone/>
            </a:pPr>
            <a:endParaRPr sz="2400" dirty="0"/>
          </a:p>
          <a:p>
            <a:pPr marL="91440" lvl="0" indent="-127000" algn="just" rtl="0">
              <a:lnSpc>
                <a:spcPct val="90000"/>
              </a:lnSpc>
              <a:spcBef>
                <a:spcPts val="1400"/>
              </a:spcBef>
              <a:spcAft>
                <a:spcPts val="0"/>
              </a:spcAft>
              <a:buSzPts val="2000"/>
              <a:buChar char=" "/>
            </a:pPr>
            <a:r>
              <a:rPr lang="en-US" sz="2400" dirty="0"/>
              <a:t>This is also called as </a:t>
            </a:r>
            <a:r>
              <a:rPr lang="en-US" sz="2400" b="1" dirty="0"/>
              <a:t>Extension</a:t>
            </a:r>
            <a:r>
              <a:rPr lang="en-US" sz="2400" dirty="0"/>
              <a:t> of the entity type. </a:t>
            </a:r>
            <a:endParaRPr sz="2400" dirty="0"/>
          </a:p>
          <a:p>
            <a:pPr marL="91440" lvl="0" indent="0" algn="just" rtl="0">
              <a:lnSpc>
                <a:spcPct val="90000"/>
              </a:lnSpc>
              <a:spcBef>
                <a:spcPts val="1400"/>
              </a:spcBef>
              <a:spcAft>
                <a:spcPts val="0"/>
              </a:spcAft>
              <a:buSzPts val="2000"/>
              <a:buNone/>
            </a:pPr>
            <a:endParaRPr sz="2400" dirty="0"/>
          </a:p>
          <a:p>
            <a:pPr marL="91440" lvl="0" indent="0" algn="just" rtl="0">
              <a:lnSpc>
                <a:spcPct val="90000"/>
              </a:lnSpc>
              <a:spcBef>
                <a:spcPts val="1400"/>
              </a:spcBef>
              <a:spcAft>
                <a:spcPts val="0"/>
              </a:spcAft>
              <a:buSzPts val="2000"/>
              <a:buNone/>
            </a:pPr>
            <a:endParaRPr sz="2400" dirty="0"/>
          </a:p>
        </p:txBody>
      </p:sp>
      <p:pic>
        <p:nvPicPr>
          <p:cNvPr id="560" name="Google Shape;560;p41"/>
          <p:cNvPicPr preferRelativeResize="0"/>
          <p:nvPr/>
        </p:nvPicPr>
        <p:blipFill rotWithShape="1">
          <a:blip r:embed="rId3">
            <a:alphaModFix/>
          </a:blip>
          <a:srcRect/>
          <a:stretch/>
        </p:blipFill>
        <p:spPr>
          <a:xfrm>
            <a:off x="3123704" y="2883244"/>
            <a:ext cx="5063693" cy="3390947"/>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42"/>
          <p:cNvSpPr txBox="1">
            <a:spLocks noGrp="1"/>
          </p:cNvSpPr>
          <p:nvPr>
            <p:ph type="title"/>
          </p:nvPr>
        </p:nvSpPr>
        <p:spPr>
          <a:xfrm>
            <a:off x="1085850" y="680201"/>
            <a:ext cx="9144000" cy="360078"/>
          </a:xfrm>
          <a:prstGeom prst="rect">
            <a:avLst/>
          </a:prstGeom>
          <a:noFill/>
          <a:ln>
            <a:noFill/>
          </a:ln>
        </p:spPr>
        <p:txBody>
          <a:bodyPr spcFirstLastPara="1" wrap="square" lIns="91425" tIns="0" rIns="91425" bIns="45700" anchor="ctr" anchorCtr="0">
            <a:spAutoFit/>
          </a:bodyPr>
          <a:lstStyle/>
          <a:p>
            <a:pPr marL="0" lvl="0" indent="0" rtl="0">
              <a:lnSpc>
                <a:spcPct val="85000"/>
              </a:lnSpc>
              <a:spcBef>
                <a:spcPts val="0"/>
              </a:spcBef>
              <a:spcAft>
                <a:spcPts val="0"/>
              </a:spcAft>
              <a:buClr>
                <a:srgbClr val="FF0000"/>
              </a:buClr>
              <a:buSzPts val="4000"/>
              <a:buFont typeface="Calibri"/>
              <a:buNone/>
            </a:pPr>
            <a:r>
              <a:rPr lang="en-US" sz="2400" b="1" dirty="0">
                <a:solidFill>
                  <a:srgbClr val="FF0000"/>
                </a:solidFill>
              </a:rPr>
              <a:t>ENTITY SET corresponding to </a:t>
            </a:r>
            <a:r>
              <a:rPr lang="en-US" sz="2400" b="1" dirty="0" smtClean="0">
                <a:solidFill>
                  <a:srgbClr val="FF0000"/>
                </a:solidFill>
              </a:rPr>
              <a:t>the ENTITY </a:t>
            </a:r>
            <a:r>
              <a:rPr lang="en-US" sz="2400" b="1" dirty="0">
                <a:solidFill>
                  <a:srgbClr val="FF0000"/>
                </a:solidFill>
              </a:rPr>
              <a:t>TYPE CAR</a:t>
            </a:r>
            <a:endParaRPr sz="2400" b="1" u="sng" dirty="0">
              <a:solidFill>
                <a:srgbClr val="FF0000"/>
              </a:solidFill>
            </a:endParaRPr>
          </a:p>
        </p:txBody>
      </p:sp>
      <p:sp>
        <p:nvSpPr>
          <p:cNvPr id="568" name="Google Shape;568;p42"/>
          <p:cNvSpPr/>
          <p:nvPr/>
        </p:nvSpPr>
        <p:spPr>
          <a:xfrm>
            <a:off x="1962150" y="2889250"/>
            <a:ext cx="8267700" cy="33147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dirty="0">
                <a:solidFill>
                  <a:schemeClr val="dk1"/>
                </a:solidFill>
                <a:latin typeface="Calibri"/>
                <a:ea typeface="Calibri"/>
                <a:cs typeface="Calibri"/>
                <a:sym typeface="Calibri"/>
              </a:rPr>
              <a:t>car</a:t>
            </a:r>
            <a:r>
              <a:rPr lang="en-US" sz="2000" i="1" baseline="-25000" dirty="0">
                <a:solidFill>
                  <a:schemeClr val="dk1"/>
                </a:solidFill>
                <a:latin typeface="Calibri"/>
                <a:ea typeface="Calibri"/>
                <a:cs typeface="Calibri"/>
                <a:sym typeface="Calibri"/>
              </a:rPr>
              <a:t>1</a:t>
            </a:r>
            <a:endParaRPr dirty="0"/>
          </a:p>
          <a:p>
            <a:pPr marL="0" marR="0" lvl="0" indent="0" algn="ctr" rtl="0">
              <a:spcBef>
                <a:spcPts val="0"/>
              </a:spcBef>
              <a:spcAft>
                <a:spcPts val="0"/>
              </a:spcAft>
              <a:buNone/>
            </a:pPr>
            <a:r>
              <a:rPr lang="en-US" sz="2000" dirty="0">
                <a:solidFill>
                  <a:schemeClr val="dk1"/>
                </a:solidFill>
                <a:latin typeface="Calibri"/>
                <a:ea typeface="Calibri"/>
                <a:cs typeface="Calibri"/>
                <a:sym typeface="Calibri"/>
              </a:rPr>
              <a:t>((ABC 123, TEXAS), TK629, Ford Mustang, convertible, 1999, (red, black))</a:t>
            </a:r>
            <a:endParaRPr dirty="0"/>
          </a:p>
          <a:p>
            <a:pPr marL="0" marR="0" lvl="0" indent="0" algn="ctr" rtl="0">
              <a:spcBef>
                <a:spcPts val="0"/>
              </a:spcBef>
              <a:spcAft>
                <a:spcPts val="0"/>
              </a:spcAft>
              <a:buNone/>
            </a:pPr>
            <a:r>
              <a:rPr lang="en-US" sz="2000" dirty="0">
                <a:solidFill>
                  <a:schemeClr val="dk1"/>
                </a:solidFill>
                <a:latin typeface="Calibri"/>
                <a:ea typeface="Calibri"/>
                <a:cs typeface="Calibri"/>
                <a:sym typeface="Calibri"/>
              </a:rPr>
              <a:t>car</a:t>
            </a:r>
            <a:r>
              <a:rPr lang="en-US" sz="2000" baseline="-25000" dirty="0">
                <a:solidFill>
                  <a:schemeClr val="dk1"/>
                </a:solidFill>
                <a:latin typeface="Calibri"/>
                <a:ea typeface="Calibri"/>
                <a:cs typeface="Calibri"/>
                <a:sym typeface="Calibri"/>
              </a:rPr>
              <a:t>2</a:t>
            </a:r>
            <a:endParaRPr sz="2000" dirty="0">
              <a:solidFill>
                <a:schemeClr val="dk1"/>
              </a:solidFill>
              <a:latin typeface="Calibri"/>
              <a:ea typeface="Calibri"/>
              <a:cs typeface="Calibri"/>
              <a:sym typeface="Calibri"/>
            </a:endParaRPr>
          </a:p>
          <a:p>
            <a:pPr marL="0" marR="0" lvl="0" indent="0" algn="ctr" rtl="0">
              <a:spcBef>
                <a:spcPts val="0"/>
              </a:spcBef>
              <a:spcAft>
                <a:spcPts val="0"/>
              </a:spcAft>
              <a:buNone/>
            </a:pPr>
            <a:r>
              <a:rPr lang="en-US" sz="2000" dirty="0">
                <a:solidFill>
                  <a:schemeClr val="dk1"/>
                </a:solidFill>
                <a:latin typeface="Calibri"/>
                <a:ea typeface="Calibri"/>
                <a:cs typeface="Calibri"/>
                <a:sym typeface="Calibri"/>
              </a:rPr>
              <a:t>((ABC 123, NEW YORK), WP9872, Nissan 300ZX, 2-door, 2002, (blue))</a:t>
            </a:r>
            <a:endParaRPr dirty="0"/>
          </a:p>
          <a:p>
            <a:pPr marL="0" marR="0" lvl="0" indent="0" algn="ctr" rtl="0">
              <a:spcBef>
                <a:spcPts val="0"/>
              </a:spcBef>
              <a:spcAft>
                <a:spcPts val="0"/>
              </a:spcAft>
              <a:buNone/>
            </a:pPr>
            <a:r>
              <a:rPr lang="en-US" sz="2000" dirty="0">
                <a:solidFill>
                  <a:schemeClr val="dk1"/>
                </a:solidFill>
                <a:latin typeface="Calibri"/>
                <a:ea typeface="Calibri"/>
                <a:cs typeface="Calibri"/>
                <a:sym typeface="Calibri"/>
              </a:rPr>
              <a:t>car</a:t>
            </a:r>
            <a:r>
              <a:rPr lang="en-US" sz="2000" baseline="-25000" dirty="0">
                <a:solidFill>
                  <a:schemeClr val="dk1"/>
                </a:solidFill>
                <a:latin typeface="Calibri"/>
                <a:ea typeface="Calibri"/>
                <a:cs typeface="Calibri"/>
                <a:sym typeface="Calibri"/>
              </a:rPr>
              <a:t>3</a:t>
            </a:r>
            <a:endParaRPr sz="2000" dirty="0">
              <a:solidFill>
                <a:schemeClr val="dk1"/>
              </a:solidFill>
              <a:latin typeface="Calibri"/>
              <a:ea typeface="Calibri"/>
              <a:cs typeface="Calibri"/>
              <a:sym typeface="Calibri"/>
            </a:endParaRPr>
          </a:p>
          <a:p>
            <a:pPr marL="0" marR="0" lvl="0" indent="0" algn="ctr" rtl="0">
              <a:spcBef>
                <a:spcPts val="0"/>
              </a:spcBef>
              <a:spcAft>
                <a:spcPts val="0"/>
              </a:spcAft>
              <a:buNone/>
            </a:pPr>
            <a:r>
              <a:rPr lang="en-US" sz="2000" dirty="0">
                <a:solidFill>
                  <a:schemeClr val="dk1"/>
                </a:solidFill>
                <a:latin typeface="Calibri"/>
                <a:ea typeface="Calibri"/>
                <a:cs typeface="Calibri"/>
                <a:sym typeface="Calibri"/>
              </a:rPr>
              <a:t>((VSY 720, TEXAS), TD729, Buick </a:t>
            </a:r>
            <a:r>
              <a:rPr lang="en-US" sz="2000" dirty="0" err="1">
                <a:solidFill>
                  <a:schemeClr val="dk1"/>
                </a:solidFill>
                <a:latin typeface="Calibri"/>
                <a:ea typeface="Calibri"/>
                <a:cs typeface="Calibri"/>
                <a:sym typeface="Calibri"/>
              </a:rPr>
              <a:t>LeSabre</a:t>
            </a:r>
            <a:r>
              <a:rPr lang="en-US" sz="2000" dirty="0">
                <a:solidFill>
                  <a:schemeClr val="dk1"/>
                </a:solidFill>
                <a:latin typeface="Calibri"/>
                <a:ea typeface="Calibri"/>
                <a:cs typeface="Calibri"/>
                <a:sym typeface="Calibri"/>
              </a:rPr>
              <a:t>, 4-door, 2003, (white, blue))</a:t>
            </a:r>
            <a:endParaRPr dirty="0"/>
          </a:p>
          <a:p>
            <a:pPr marL="0" marR="0" lvl="0" indent="0" algn="ctr" rtl="0">
              <a:spcBef>
                <a:spcPts val="0"/>
              </a:spcBef>
              <a:spcAft>
                <a:spcPts val="0"/>
              </a:spcAft>
              <a:buNone/>
            </a:pPr>
            <a:r>
              <a:rPr lang="en-US" sz="2800" dirty="0">
                <a:solidFill>
                  <a:schemeClr val="dk1"/>
                </a:solidFill>
                <a:latin typeface="Calibri"/>
                <a:ea typeface="Calibri"/>
                <a:cs typeface="Calibri"/>
                <a:sym typeface="Calibri"/>
              </a:rPr>
              <a:t>.</a:t>
            </a:r>
            <a:endParaRPr dirty="0"/>
          </a:p>
          <a:p>
            <a:pPr marL="0" marR="0" lvl="0" indent="0" algn="ctr" rtl="0">
              <a:spcBef>
                <a:spcPts val="0"/>
              </a:spcBef>
              <a:spcAft>
                <a:spcPts val="0"/>
              </a:spcAft>
              <a:buNone/>
            </a:pPr>
            <a:r>
              <a:rPr lang="en-US" sz="2800" dirty="0">
                <a:solidFill>
                  <a:schemeClr val="dk1"/>
                </a:solidFill>
                <a:latin typeface="Calibri"/>
                <a:ea typeface="Calibri"/>
                <a:cs typeface="Calibri"/>
                <a:sym typeface="Calibri"/>
              </a:rPr>
              <a:t>.</a:t>
            </a:r>
            <a:endParaRPr dirty="0"/>
          </a:p>
          <a:p>
            <a:pPr marL="0" marR="0" lvl="0" indent="0" algn="ctr" rtl="0">
              <a:spcBef>
                <a:spcPts val="0"/>
              </a:spcBef>
              <a:spcAft>
                <a:spcPts val="0"/>
              </a:spcAft>
              <a:buNone/>
            </a:pPr>
            <a:r>
              <a:rPr lang="en-US" sz="2800" dirty="0">
                <a:solidFill>
                  <a:schemeClr val="dk1"/>
                </a:solidFill>
                <a:latin typeface="Calibri"/>
                <a:ea typeface="Calibri"/>
                <a:cs typeface="Calibri"/>
                <a:sym typeface="Calibri"/>
              </a:rPr>
              <a:t>.</a:t>
            </a:r>
            <a:endParaRPr dirty="0"/>
          </a:p>
          <a:p>
            <a:pPr marL="0" marR="0" lvl="0" indent="0" algn="ctr" rtl="0">
              <a:spcBef>
                <a:spcPts val="0"/>
              </a:spcBef>
              <a:spcAft>
                <a:spcPts val="0"/>
              </a:spcAft>
              <a:buNone/>
            </a:pPr>
            <a:endParaRPr sz="2000" dirty="0">
              <a:solidFill>
                <a:schemeClr val="dk1"/>
              </a:solidFill>
              <a:latin typeface="Calibri"/>
              <a:ea typeface="Calibri"/>
              <a:cs typeface="Calibri"/>
              <a:sym typeface="Calibri"/>
            </a:endParaRPr>
          </a:p>
        </p:txBody>
      </p:sp>
      <p:sp>
        <p:nvSpPr>
          <p:cNvPr id="569" name="Google Shape;569;p42"/>
          <p:cNvSpPr txBox="1"/>
          <p:nvPr/>
        </p:nvSpPr>
        <p:spPr>
          <a:xfrm>
            <a:off x="1636541" y="1632939"/>
            <a:ext cx="9144000" cy="646331"/>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dirty="0">
                <a:solidFill>
                  <a:schemeClr val="dk1"/>
                </a:solidFill>
                <a:latin typeface="Calibri"/>
                <a:ea typeface="Calibri"/>
                <a:cs typeface="Calibri"/>
                <a:sym typeface="Calibri"/>
              </a:rPr>
              <a:t>CAR</a:t>
            </a:r>
            <a:endParaRPr dirty="0"/>
          </a:p>
          <a:p>
            <a:pPr marL="0" marR="0" lvl="0" indent="0" algn="ctr" rtl="0">
              <a:spcBef>
                <a:spcPts val="0"/>
              </a:spcBef>
              <a:spcAft>
                <a:spcPts val="0"/>
              </a:spcAft>
              <a:buNone/>
            </a:pPr>
            <a:r>
              <a:rPr lang="en-US" sz="1800" dirty="0">
                <a:solidFill>
                  <a:schemeClr val="dk1"/>
                </a:solidFill>
                <a:latin typeface="Calibri"/>
                <a:ea typeface="Calibri"/>
                <a:cs typeface="Calibri"/>
                <a:sym typeface="Calibri"/>
              </a:rPr>
              <a:t>Registration(</a:t>
            </a:r>
            <a:r>
              <a:rPr lang="en-US" sz="1800" dirty="0" err="1">
                <a:solidFill>
                  <a:schemeClr val="dk1"/>
                </a:solidFill>
                <a:latin typeface="Calibri"/>
                <a:ea typeface="Calibri"/>
                <a:cs typeface="Calibri"/>
                <a:sym typeface="Calibri"/>
              </a:rPr>
              <a:t>RegistrationNumber</a:t>
            </a:r>
            <a:r>
              <a:rPr lang="en-US" sz="1800" dirty="0">
                <a:solidFill>
                  <a:schemeClr val="dk1"/>
                </a:solidFill>
                <a:latin typeface="Calibri"/>
                <a:ea typeface="Calibri"/>
                <a:cs typeface="Calibri"/>
                <a:sym typeface="Calibri"/>
              </a:rPr>
              <a:t>, State), </a:t>
            </a:r>
            <a:r>
              <a:rPr lang="en-US" sz="1800" dirty="0" err="1">
                <a:solidFill>
                  <a:schemeClr val="dk1"/>
                </a:solidFill>
                <a:latin typeface="Calibri"/>
                <a:ea typeface="Calibri"/>
                <a:cs typeface="Calibri"/>
                <a:sym typeface="Calibri"/>
              </a:rPr>
              <a:t>VehicleID</a:t>
            </a:r>
            <a:r>
              <a:rPr lang="en-US" sz="1800" dirty="0">
                <a:solidFill>
                  <a:schemeClr val="dk1"/>
                </a:solidFill>
                <a:latin typeface="Calibri"/>
                <a:ea typeface="Calibri"/>
                <a:cs typeface="Calibri"/>
                <a:sym typeface="Calibri"/>
              </a:rPr>
              <a:t>, Make, Model, Year, (Color)</a:t>
            </a:r>
            <a:endParaRPr dirty="0"/>
          </a:p>
        </p:txBody>
      </p:sp>
      <p:sp>
        <p:nvSpPr>
          <p:cNvPr id="570" name="Google Shape;570;p42"/>
          <p:cNvSpPr txBox="1"/>
          <p:nvPr/>
        </p:nvSpPr>
        <p:spPr>
          <a:xfrm>
            <a:off x="8343900" y="952500"/>
            <a:ext cx="1260858" cy="369332"/>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Entity Type</a:t>
            </a:r>
            <a:endParaRPr/>
          </a:p>
        </p:txBody>
      </p:sp>
      <p:cxnSp>
        <p:nvCxnSpPr>
          <p:cNvPr id="571" name="Google Shape;571;p42"/>
          <p:cNvCxnSpPr>
            <a:stCxn id="570" idx="1"/>
          </p:cNvCxnSpPr>
          <p:nvPr/>
        </p:nvCxnSpPr>
        <p:spPr>
          <a:xfrm flipH="1">
            <a:off x="6477000" y="1137166"/>
            <a:ext cx="1866900" cy="556800"/>
          </a:xfrm>
          <a:prstGeom prst="straightConnector1">
            <a:avLst/>
          </a:prstGeom>
          <a:noFill/>
          <a:ln w="25400" cap="flat" cmpd="sng">
            <a:solidFill>
              <a:srgbClr val="FF0000"/>
            </a:solidFill>
            <a:prstDash val="solid"/>
            <a:round/>
            <a:headEnd type="none" w="sm" len="sm"/>
            <a:tailEnd type="stealth" w="med" len="med"/>
          </a:ln>
        </p:spPr>
      </p:cxnSp>
      <p:sp>
        <p:nvSpPr>
          <p:cNvPr id="572" name="Google Shape;572;p42"/>
          <p:cNvSpPr txBox="1"/>
          <p:nvPr/>
        </p:nvSpPr>
        <p:spPr>
          <a:xfrm>
            <a:off x="860566" y="5251212"/>
            <a:ext cx="1101584" cy="369332"/>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Entity Set</a:t>
            </a:r>
            <a:endParaRPr/>
          </a:p>
        </p:txBody>
      </p:sp>
      <p:sp>
        <p:nvSpPr>
          <p:cNvPr id="573" name="Google Shape;573;p42"/>
          <p:cNvSpPr/>
          <p:nvPr/>
        </p:nvSpPr>
        <p:spPr>
          <a:xfrm>
            <a:off x="2109789" y="3236370"/>
            <a:ext cx="261937" cy="1841500"/>
          </a:xfrm>
          <a:prstGeom prst="leftBrace">
            <a:avLst>
              <a:gd name="adj1" fmla="val 8333"/>
              <a:gd name="adj2" fmla="val 50000"/>
            </a:avLst>
          </a:prstGeom>
          <a:noFill/>
          <a:ln w="25400" cap="flat" cmpd="sng">
            <a:solidFill>
              <a:srgbClr val="2704B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574" name="Google Shape;574;p42"/>
          <p:cNvCxnSpPr>
            <a:endCxn id="573" idx="1"/>
          </p:cNvCxnSpPr>
          <p:nvPr/>
        </p:nvCxnSpPr>
        <p:spPr>
          <a:xfrm flipV="1">
            <a:off x="1524000" y="4157120"/>
            <a:ext cx="585789" cy="1094092"/>
          </a:xfrm>
          <a:prstGeom prst="straightConnector1">
            <a:avLst/>
          </a:prstGeom>
          <a:noFill/>
          <a:ln w="25400" cap="flat" cmpd="sng">
            <a:solidFill>
              <a:srgbClr val="FF0000"/>
            </a:solidFill>
            <a:prstDash val="solid"/>
            <a:round/>
            <a:headEnd type="none" w="sm" len="sm"/>
            <a:tailEnd type="stealth" w="med" len="med"/>
          </a:ln>
        </p:spPr>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43"/>
          <p:cNvSpPr txBox="1">
            <a:spLocks noGrp="1"/>
          </p:cNvSpPr>
          <p:nvPr>
            <p:ph type="title"/>
          </p:nvPr>
        </p:nvSpPr>
        <p:spPr>
          <a:xfrm>
            <a:off x="657224" y="499533"/>
            <a:ext cx="10772775" cy="580602"/>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5000"/>
              </a:lnSpc>
              <a:spcBef>
                <a:spcPts val="0"/>
              </a:spcBef>
              <a:spcAft>
                <a:spcPts val="0"/>
              </a:spcAft>
              <a:buClr>
                <a:srgbClr val="FF0000"/>
              </a:buClr>
              <a:buSzPct val="100000"/>
              <a:buFont typeface="Calibri"/>
              <a:buNone/>
            </a:pPr>
            <a:r>
              <a:rPr lang="en-US">
                <a:solidFill>
                  <a:srgbClr val="FF0000"/>
                </a:solidFill>
              </a:rPr>
              <a:t>Key Attribute of an Entity Type</a:t>
            </a:r>
            <a:endParaRPr/>
          </a:p>
        </p:txBody>
      </p:sp>
      <p:sp>
        <p:nvSpPr>
          <p:cNvPr id="580" name="Google Shape;580;p43"/>
          <p:cNvSpPr txBox="1">
            <a:spLocks noGrp="1"/>
          </p:cNvSpPr>
          <p:nvPr>
            <p:ph type="body" idx="1"/>
          </p:nvPr>
        </p:nvSpPr>
        <p:spPr>
          <a:xfrm>
            <a:off x="657224" y="1944207"/>
            <a:ext cx="11047096" cy="3865749"/>
          </a:xfrm>
          <a:prstGeom prst="rect">
            <a:avLst/>
          </a:prstGeom>
          <a:noFill/>
          <a:ln>
            <a:noFill/>
          </a:ln>
        </p:spPr>
        <p:txBody>
          <a:bodyPr spcFirstLastPara="1" wrap="square" lIns="0" tIns="45700" rIns="0" bIns="45700" anchor="t" anchorCtr="0">
            <a:noAutofit/>
          </a:bodyPr>
          <a:lstStyle/>
          <a:p>
            <a:pPr marL="91440" lvl="0" indent="-127000" algn="just" rtl="0">
              <a:lnSpc>
                <a:spcPct val="90000"/>
              </a:lnSpc>
              <a:spcBef>
                <a:spcPts val="0"/>
              </a:spcBef>
              <a:spcAft>
                <a:spcPts val="0"/>
              </a:spcAft>
              <a:buSzPts val="2000"/>
              <a:buChar char=" "/>
            </a:pPr>
            <a:r>
              <a:rPr lang="en-US" sz="2400" dirty="0"/>
              <a:t>An entity type usually has an attribute whose values are distinct for each individual entity in the entity set.</a:t>
            </a:r>
            <a:endParaRPr sz="2400" dirty="0"/>
          </a:p>
          <a:p>
            <a:pPr marL="91440" lvl="0" indent="-127000" algn="just" rtl="0">
              <a:lnSpc>
                <a:spcPct val="90000"/>
              </a:lnSpc>
              <a:spcBef>
                <a:spcPts val="1400"/>
              </a:spcBef>
              <a:spcAft>
                <a:spcPts val="0"/>
              </a:spcAft>
              <a:buSzPts val="2000"/>
              <a:buChar char=" "/>
            </a:pPr>
            <a:r>
              <a:rPr lang="en-US" sz="2400" dirty="0" smtClean="0"/>
              <a:t>Such </a:t>
            </a:r>
            <a:r>
              <a:rPr lang="en-US" sz="2400" dirty="0"/>
              <a:t>an attribute is called as key attribute and its values can be used to identify each entity uniquely.</a:t>
            </a:r>
            <a:endParaRPr sz="2400" dirty="0"/>
          </a:p>
          <a:p>
            <a:pPr marL="91440" lvl="0" indent="-127000" algn="just" rtl="0">
              <a:lnSpc>
                <a:spcPct val="90000"/>
              </a:lnSpc>
              <a:spcBef>
                <a:spcPts val="1400"/>
              </a:spcBef>
              <a:spcAft>
                <a:spcPts val="0"/>
              </a:spcAft>
              <a:buSzPts val="2000"/>
              <a:buChar char=" "/>
            </a:pPr>
            <a:r>
              <a:rPr lang="en-US" sz="2400" dirty="0" err="1" smtClean="0"/>
              <a:t>Eg</a:t>
            </a:r>
            <a:r>
              <a:rPr lang="en-US" sz="2400" dirty="0"/>
              <a:t>: No two companies will have the same name, so name attribute is the key attribute in COMPANY.</a:t>
            </a:r>
            <a:endParaRPr sz="2400" dirty="0"/>
          </a:p>
          <a:p>
            <a:pPr marL="91440" lvl="0" indent="-127000" algn="just" rtl="0">
              <a:lnSpc>
                <a:spcPct val="90000"/>
              </a:lnSpc>
              <a:spcBef>
                <a:spcPts val="1400"/>
              </a:spcBef>
              <a:spcAft>
                <a:spcPts val="0"/>
              </a:spcAft>
              <a:buSzPts val="2000"/>
              <a:buChar char=" "/>
            </a:pPr>
            <a:r>
              <a:rPr lang="en-US" sz="2400" dirty="0" smtClean="0"/>
              <a:t>In </a:t>
            </a:r>
            <a:r>
              <a:rPr lang="en-US" sz="2400" dirty="0"/>
              <a:t>ER diagrammatic notation, each key attribute has its name </a:t>
            </a:r>
            <a:r>
              <a:rPr lang="en-US" sz="2400" b="1" dirty="0"/>
              <a:t>underlined</a:t>
            </a:r>
            <a:r>
              <a:rPr lang="en-US" sz="2400" dirty="0"/>
              <a:t> inside the oval.</a:t>
            </a:r>
            <a:endParaRPr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44"/>
          <p:cNvSpPr txBox="1">
            <a:spLocks noGrp="1"/>
          </p:cNvSpPr>
          <p:nvPr>
            <p:ph type="title"/>
          </p:nvPr>
        </p:nvSpPr>
        <p:spPr>
          <a:xfrm>
            <a:off x="474726" y="670246"/>
            <a:ext cx="10772775" cy="859711"/>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0000"/>
              </a:buClr>
              <a:buSzPts val="4800"/>
              <a:buFont typeface="Calibri"/>
              <a:buNone/>
            </a:pPr>
            <a:r>
              <a:rPr lang="en-US" sz="3600" dirty="0">
                <a:solidFill>
                  <a:srgbClr val="FF0000"/>
                </a:solidFill>
              </a:rPr>
              <a:t>Value Sets (Domains) of Attributes</a:t>
            </a:r>
            <a:endParaRPr sz="3600" dirty="0"/>
          </a:p>
        </p:txBody>
      </p:sp>
      <p:sp>
        <p:nvSpPr>
          <p:cNvPr id="586" name="Google Shape;586;p44"/>
          <p:cNvSpPr txBox="1">
            <a:spLocks noGrp="1"/>
          </p:cNvSpPr>
          <p:nvPr>
            <p:ph type="body" idx="1"/>
          </p:nvPr>
        </p:nvSpPr>
        <p:spPr>
          <a:xfrm>
            <a:off x="474726" y="1937920"/>
            <a:ext cx="10753725" cy="5511356"/>
          </a:xfrm>
          <a:prstGeom prst="rect">
            <a:avLst/>
          </a:prstGeom>
          <a:noFill/>
          <a:ln>
            <a:noFill/>
          </a:ln>
        </p:spPr>
        <p:txBody>
          <a:bodyPr spcFirstLastPara="1" wrap="square" lIns="0" tIns="45700" rIns="0" bIns="45700" anchor="t" anchorCtr="0">
            <a:normAutofit/>
          </a:bodyPr>
          <a:lstStyle/>
          <a:p>
            <a:pPr marL="91440" lvl="0" indent="-127000" algn="just" rtl="0">
              <a:lnSpc>
                <a:spcPct val="100000"/>
              </a:lnSpc>
              <a:spcBef>
                <a:spcPts val="0"/>
              </a:spcBef>
              <a:spcAft>
                <a:spcPts val="0"/>
              </a:spcAft>
              <a:buSzPts val="2000"/>
              <a:buFont typeface="Arial"/>
              <a:buChar char="•"/>
            </a:pPr>
            <a:r>
              <a:rPr lang="en-US" sz="2400" dirty="0"/>
              <a:t>Each simple attribute of an entity type is associated with a </a:t>
            </a:r>
            <a:r>
              <a:rPr lang="en-US" sz="2400" b="1" dirty="0"/>
              <a:t>value set</a:t>
            </a:r>
            <a:r>
              <a:rPr lang="en-US" sz="2400" dirty="0"/>
              <a:t> (or </a:t>
            </a:r>
            <a:r>
              <a:rPr lang="en-US" sz="2400" b="1" dirty="0"/>
              <a:t>domain</a:t>
            </a:r>
            <a:r>
              <a:rPr lang="en-US" sz="2400" dirty="0"/>
              <a:t> of values), which specifies the set of values that may be assigned to that attribute for each individual entity.</a:t>
            </a:r>
            <a:endParaRPr sz="2400" dirty="0"/>
          </a:p>
          <a:p>
            <a:pPr marL="91440" lvl="0" indent="-127000" algn="just" rtl="0">
              <a:lnSpc>
                <a:spcPct val="100000"/>
              </a:lnSpc>
              <a:spcBef>
                <a:spcPts val="1400"/>
              </a:spcBef>
              <a:spcAft>
                <a:spcPts val="0"/>
              </a:spcAft>
              <a:buSzPts val="2000"/>
              <a:buFont typeface="Arial"/>
              <a:buChar char="•"/>
            </a:pPr>
            <a:r>
              <a:rPr lang="en-US" sz="2400" dirty="0"/>
              <a:t>Value sets are typically specified using the basic data types.</a:t>
            </a:r>
            <a:endParaRPr sz="2400" dirty="0"/>
          </a:p>
          <a:p>
            <a:pPr marL="91440" lvl="0" indent="-127000" algn="just" rtl="0">
              <a:lnSpc>
                <a:spcPct val="100000"/>
              </a:lnSpc>
              <a:spcBef>
                <a:spcPts val="1400"/>
              </a:spcBef>
              <a:spcAft>
                <a:spcPts val="0"/>
              </a:spcAft>
              <a:buSzPts val="2000"/>
              <a:buFont typeface="Arial"/>
              <a:buChar char="•"/>
            </a:pPr>
            <a:r>
              <a:rPr lang="en-US" sz="2400" dirty="0"/>
              <a:t>Ex</a:t>
            </a:r>
            <a:r>
              <a:rPr lang="en-US" sz="2400" dirty="0" smtClean="0"/>
              <a:t>: If </a:t>
            </a:r>
            <a:r>
              <a:rPr lang="en-US" sz="2400" dirty="0"/>
              <a:t>the range of ages allowed for employees is between 16 and 70, we can specify the value set of the Age attribute of EMPLOYEE to be the set of integer numbers between 16 and 70.</a:t>
            </a:r>
            <a:endParaRPr sz="2400" dirty="0"/>
          </a:p>
          <a:p>
            <a:pPr marL="91440" lvl="0" indent="-127000" algn="just" rtl="0">
              <a:lnSpc>
                <a:spcPct val="100000"/>
              </a:lnSpc>
              <a:spcBef>
                <a:spcPts val="1400"/>
              </a:spcBef>
              <a:spcAft>
                <a:spcPts val="0"/>
              </a:spcAft>
              <a:buSzPts val="2000"/>
              <a:buFont typeface="Arial"/>
              <a:buChar char="•"/>
            </a:pPr>
            <a:r>
              <a:rPr lang="en-US" sz="2400" dirty="0"/>
              <a:t>We can specify the value set for the Name attribute to be the set of strings of alphabetic characters separated by blank characters, and so on.</a:t>
            </a:r>
            <a:endParaRPr sz="2400" dirty="0"/>
          </a:p>
          <a:p>
            <a:pPr marL="91440" lvl="0" indent="0" algn="just" rtl="0">
              <a:lnSpc>
                <a:spcPct val="90000"/>
              </a:lnSpc>
              <a:spcBef>
                <a:spcPts val="1400"/>
              </a:spcBef>
              <a:spcAft>
                <a:spcPts val="0"/>
              </a:spcAft>
              <a:buSzPts val="2000"/>
              <a:buNone/>
            </a:pP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Google Shape;605;p46"/>
          <p:cNvSpPr txBox="1">
            <a:spLocks noGrp="1"/>
          </p:cNvSpPr>
          <p:nvPr>
            <p:ph type="title"/>
          </p:nvPr>
        </p:nvSpPr>
        <p:spPr>
          <a:xfrm>
            <a:off x="638174" y="326538"/>
            <a:ext cx="10772775" cy="580602"/>
          </a:xfrm>
          <a:prstGeom prst="rect">
            <a:avLst/>
          </a:prstGeom>
          <a:noFill/>
          <a:ln>
            <a:noFill/>
          </a:ln>
        </p:spPr>
        <p:txBody>
          <a:bodyPr spcFirstLastPara="1" wrap="square" lIns="91425" tIns="45700" rIns="91425" bIns="45700" anchor="b" anchorCtr="0">
            <a:noAutofit/>
          </a:bodyPr>
          <a:lstStyle/>
          <a:p>
            <a:pPr marL="0" lvl="0" indent="0" algn="just" rtl="0">
              <a:lnSpc>
                <a:spcPct val="85000"/>
              </a:lnSpc>
              <a:spcBef>
                <a:spcPts val="0"/>
              </a:spcBef>
              <a:spcAft>
                <a:spcPts val="0"/>
              </a:spcAft>
              <a:buClr>
                <a:srgbClr val="FF0000"/>
              </a:buClr>
              <a:buSzPts val="3200"/>
              <a:buFont typeface="Calibri"/>
              <a:buNone/>
            </a:pPr>
            <a:r>
              <a:rPr lang="en-US" sz="3200">
                <a:solidFill>
                  <a:srgbClr val="FF0000"/>
                </a:solidFill>
              </a:rPr>
              <a:t>Relationship Types, Relationship Sets, and Instances</a:t>
            </a:r>
            <a:endParaRPr/>
          </a:p>
        </p:txBody>
      </p:sp>
      <p:sp>
        <p:nvSpPr>
          <p:cNvPr id="606" name="Google Shape;606;p46"/>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127000" algn="just" rtl="0">
              <a:lnSpc>
                <a:spcPct val="90000"/>
              </a:lnSpc>
              <a:spcBef>
                <a:spcPts val="0"/>
              </a:spcBef>
              <a:spcAft>
                <a:spcPts val="0"/>
              </a:spcAft>
              <a:buSzPts val="2000"/>
              <a:buChar char=" "/>
            </a:pPr>
            <a:r>
              <a:rPr lang="en-US"/>
              <a:t>A </a:t>
            </a:r>
            <a:r>
              <a:rPr lang="en-US" b="1"/>
              <a:t>relationship</a:t>
            </a:r>
            <a:r>
              <a:rPr lang="en-US"/>
              <a:t> </a:t>
            </a:r>
            <a:r>
              <a:rPr lang="en-US" b="1"/>
              <a:t>type</a:t>
            </a:r>
            <a:r>
              <a:rPr lang="en-US"/>
              <a:t> R among n entity types E</a:t>
            </a:r>
            <a:r>
              <a:rPr lang="en-US" baseline="-25000"/>
              <a:t>1</a:t>
            </a:r>
            <a:r>
              <a:rPr lang="en-US"/>
              <a:t>, E</a:t>
            </a:r>
            <a:r>
              <a:rPr lang="en-US" baseline="-25000"/>
              <a:t>2</a:t>
            </a:r>
            <a:r>
              <a:rPr lang="en-US"/>
              <a:t>, … E</a:t>
            </a:r>
            <a:r>
              <a:rPr lang="en-US" baseline="-25000"/>
              <a:t>n</a:t>
            </a:r>
            <a:r>
              <a:rPr lang="en-US"/>
              <a:t> defines a set of associations – or a </a:t>
            </a:r>
            <a:r>
              <a:rPr lang="en-US" b="1"/>
              <a:t>relationship set </a:t>
            </a:r>
            <a:r>
              <a:rPr lang="en-US"/>
              <a:t>– among entities from these entity types.</a:t>
            </a:r>
            <a:endParaRPr/>
          </a:p>
          <a:p>
            <a:pPr marL="91440" lvl="0" indent="0" algn="just" rtl="0">
              <a:lnSpc>
                <a:spcPct val="90000"/>
              </a:lnSpc>
              <a:spcBef>
                <a:spcPts val="1400"/>
              </a:spcBef>
              <a:spcAft>
                <a:spcPts val="0"/>
              </a:spcAft>
              <a:buSzPts val="2000"/>
              <a:buNone/>
            </a:pPr>
            <a:endParaRPr/>
          </a:p>
          <a:p>
            <a:pPr marL="91440" lvl="0" indent="-127000" algn="l" rtl="0">
              <a:lnSpc>
                <a:spcPct val="90000"/>
              </a:lnSpc>
              <a:spcBef>
                <a:spcPts val="1400"/>
              </a:spcBef>
              <a:spcAft>
                <a:spcPts val="0"/>
              </a:spcAft>
              <a:buSzPts val="2000"/>
              <a:buChar char=" "/>
            </a:pPr>
            <a:r>
              <a:rPr lang="en-US"/>
              <a:t>Mathematically, the relationship set R is a set of </a:t>
            </a:r>
            <a:r>
              <a:rPr lang="en-US" b="1"/>
              <a:t>relationship</a:t>
            </a:r>
            <a:r>
              <a:rPr lang="en-US"/>
              <a:t> </a:t>
            </a:r>
            <a:r>
              <a:rPr lang="en-US" b="1"/>
              <a:t>instances</a:t>
            </a:r>
            <a:r>
              <a:rPr lang="en-US"/>
              <a:t> r</a:t>
            </a:r>
            <a:r>
              <a:rPr lang="en-US" baseline="-25000"/>
              <a:t>i</a:t>
            </a:r>
            <a:r>
              <a:rPr lang="en-US"/>
              <a:t>, where each r</a:t>
            </a:r>
            <a:r>
              <a:rPr lang="en-US" baseline="-25000"/>
              <a:t>i</a:t>
            </a:r>
            <a:r>
              <a:rPr lang="en-US"/>
              <a:t> associates n individual entities(e</a:t>
            </a:r>
            <a:r>
              <a:rPr lang="en-US" baseline="-25000"/>
              <a:t>1</a:t>
            </a:r>
            <a:r>
              <a:rPr lang="en-US"/>
              <a:t>,e</a:t>
            </a:r>
            <a:r>
              <a:rPr lang="en-US" baseline="-25000"/>
              <a:t>2,…,</a:t>
            </a:r>
            <a:r>
              <a:rPr lang="en-US"/>
              <a:t>e</a:t>
            </a:r>
            <a:r>
              <a:rPr lang="en-US" baseline="-25000"/>
              <a:t>n) </a:t>
            </a:r>
            <a:r>
              <a:rPr lang="en-US"/>
              <a:t>and each entity e</a:t>
            </a:r>
            <a:r>
              <a:rPr lang="en-US" baseline="-25000"/>
              <a:t>j</a:t>
            </a:r>
            <a:r>
              <a:rPr lang="en-US"/>
              <a:t> in r</a:t>
            </a:r>
            <a:r>
              <a:rPr lang="en-US" baseline="-25000"/>
              <a:t>i </a:t>
            </a:r>
            <a:r>
              <a:rPr lang="en-US"/>
              <a:t>is a member of entity set E</a:t>
            </a:r>
            <a:r>
              <a:rPr lang="en-US" baseline="-25000"/>
              <a:t>j</a:t>
            </a:r>
            <a:r>
              <a:rPr lang="en-US"/>
              <a:t>, 1 ≤ j ≤ n.</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47"/>
          <p:cNvSpPr txBox="1">
            <a:spLocks noGrp="1"/>
          </p:cNvSpPr>
          <p:nvPr>
            <p:ph type="title"/>
          </p:nvPr>
        </p:nvSpPr>
        <p:spPr>
          <a:xfrm>
            <a:off x="690562" y="130201"/>
            <a:ext cx="10772775" cy="468843"/>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5000"/>
              </a:lnSpc>
              <a:spcBef>
                <a:spcPts val="0"/>
              </a:spcBef>
              <a:spcAft>
                <a:spcPts val="0"/>
              </a:spcAft>
              <a:buClr>
                <a:srgbClr val="3F3F3F"/>
              </a:buClr>
              <a:buSzPct val="100000"/>
              <a:buFont typeface="Calibri"/>
              <a:buNone/>
            </a:pPr>
            <a:r>
              <a:rPr lang="en-US"/>
              <a:t>Example 1…</a:t>
            </a:r>
            <a:endParaRPr/>
          </a:p>
        </p:txBody>
      </p:sp>
      <p:cxnSp>
        <p:nvCxnSpPr>
          <p:cNvPr id="612" name="Google Shape;612;p47"/>
          <p:cNvCxnSpPr/>
          <p:nvPr/>
        </p:nvCxnSpPr>
        <p:spPr>
          <a:xfrm rot="10800000" flipH="1">
            <a:off x="3048000" y="2378075"/>
            <a:ext cx="2971800" cy="247650"/>
          </a:xfrm>
          <a:prstGeom prst="straightConnector1">
            <a:avLst/>
          </a:prstGeom>
          <a:noFill/>
          <a:ln w="9525" cap="flat" cmpd="sng">
            <a:solidFill>
              <a:schemeClr val="dk1"/>
            </a:solidFill>
            <a:prstDash val="solid"/>
            <a:round/>
            <a:headEnd type="none" w="med" len="med"/>
            <a:tailEnd type="none" w="med" len="med"/>
          </a:ln>
        </p:spPr>
      </p:cxnSp>
      <p:cxnSp>
        <p:nvCxnSpPr>
          <p:cNvPr id="613" name="Google Shape;613;p47"/>
          <p:cNvCxnSpPr/>
          <p:nvPr/>
        </p:nvCxnSpPr>
        <p:spPr>
          <a:xfrm rot="10800000" flipH="1">
            <a:off x="3048000" y="3006725"/>
            <a:ext cx="2914650" cy="76200"/>
          </a:xfrm>
          <a:prstGeom prst="straightConnector1">
            <a:avLst/>
          </a:prstGeom>
          <a:noFill/>
          <a:ln w="9525" cap="flat" cmpd="sng">
            <a:solidFill>
              <a:schemeClr val="dk1"/>
            </a:solidFill>
            <a:prstDash val="solid"/>
            <a:round/>
            <a:headEnd type="none" w="med" len="med"/>
            <a:tailEnd type="none" w="med" len="med"/>
          </a:ln>
        </p:spPr>
      </p:cxnSp>
      <p:cxnSp>
        <p:nvCxnSpPr>
          <p:cNvPr id="614" name="Google Shape;614;p47"/>
          <p:cNvCxnSpPr/>
          <p:nvPr/>
        </p:nvCxnSpPr>
        <p:spPr>
          <a:xfrm rot="10800000" flipH="1">
            <a:off x="3067050" y="3559175"/>
            <a:ext cx="2857500" cy="38100"/>
          </a:xfrm>
          <a:prstGeom prst="straightConnector1">
            <a:avLst/>
          </a:prstGeom>
          <a:noFill/>
          <a:ln w="9525" cap="flat" cmpd="sng">
            <a:solidFill>
              <a:schemeClr val="dk1"/>
            </a:solidFill>
            <a:prstDash val="solid"/>
            <a:round/>
            <a:headEnd type="none" w="med" len="med"/>
            <a:tailEnd type="none" w="med" len="med"/>
          </a:ln>
        </p:spPr>
      </p:cxnSp>
      <p:cxnSp>
        <p:nvCxnSpPr>
          <p:cNvPr id="615" name="Google Shape;615;p47"/>
          <p:cNvCxnSpPr/>
          <p:nvPr/>
        </p:nvCxnSpPr>
        <p:spPr>
          <a:xfrm>
            <a:off x="3067050" y="4073525"/>
            <a:ext cx="2914650" cy="76200"/>
          </a:xfrm>
          <a:prstGeom prst="straightConnector1">
            <a:avLst/>
          </a:prstGeom>
          <a:noFill/>
          <a:ln w="9525" cap="flat" cmpd="sng">
            <a:solidFill>
              <a:schemeClr val="dk1"/>
            </a:solidFill>
            <a:prstDash val="solid"/>
            <a:round/>
            <a:headEnd type="none" w="med" len="med"/>
            <a:tailEnd type="none" w="med" len="med"/>
          </a:ln>
        </p:spPr>
      </p:cxnSp>
      <p:cxnSp>
        <p:nvCxnSpPr>
          <p:cNvPr id="616" name="Google Shape;616;p47"/>
          <p:cNvCxnSpPr/>
          <p:nvPr/>
        </p:nvCxnSpPr>
        <p:spPr>
          <a:xfrm>
            <a:off x="3067050" y="4549775"/>
            <a:ext cx="2876550" cy="152400"/>
          </a:xfrm>
          <a:prstGeom prst="straightConnector1">
            <a:avLst/>
          </a:prstGeom>
          <a:noFill/>
          <a:ln w="9525" cap="flat" cmpd="sng">
            <a:solidFill>
              <a:schemeClr val="dk1"/>
            </a:solidFill>
            <a:prstDash val="solid"/>
            <a:round/>
            <a:headEnd type="none" w="med" len="med"/>
            <a:tailEnd type="none" w="med" len="med"/>
          </a:ln>
        </p:spPr>
      </p:cxnSp>
      <p:cxnSp>
        <p:nvCxnSpPr>
          <p:cNvPr id="617" name="Google Shape;617;p47"/>
          <p:cNvCxnSpPr/>
          <p:nvPr/>
        </p:nvCxnSpPr>
        <p:spPr>
          <a:xfrm>
            <a:off x="3048000" y="5045075"/>
            <a:ext cx="2933700" cy="247650"/>
          </a:xfrm>
          <a:prstGeom prst="straightConnector1">
            <a:avLst/>
          </a:prstGeom>
          <a:noFill/>
          <a:ln w="9525" cap="flat" cmpd="sng">
            <a:solidFill>
              <a:schemeClr val="dk1"/>
            </a:solidFill>
            <a:prstDash val="solid"/>
            <a:round/>
            <a:headEnd type="none" w="med" len="med"/>
            <a:tailEnd type="none" w="med" len="med"/>
          </a:ln>
        </p:spPr>
      </p:cxnSp>
      <p:cxnSp>
        <p:nvCxnSpPr>
          <p:cNvPr id="618" name="Google Shape;618;p47"/>
          <p:cNvCxnSpPr/>
          <p:nvPr/>
        </p:nvCxnSpPr>
        <p:spPr>
          <a:xfrm>
            <a:off x="3067050" y="5559425"/>
            <a:ext cx="2895600" cy="323850"/>
          </a:xfrm>
          <a:prstGeom prst="straightConnector1">
            <a:avLst/>
          </a:prstGeom>
          <a:noFill/>
          <a:ln w="9525" cap="flat" cmpd="sng">
            <a:solidFill>
              <a:schemeClr val="dk1"/>
            </a:solidFill>
            <a:prstDash val="solid"/>
            <a:round/>
            <a:headEnd type="none" w="med" len="med"/>
            <a:tailEnd type="none" w="med" len="med"/>
          </a:ln>
        </p:spPr>
      </p:cxnSp>
      <p:cxnSp>
        <p:nvCxnSpPr>
          <p:cNvPr id="619" name="Google Shape;619;p47"/>
          <p:cNvCxnSpPr/>
          <p:nvPr/>
        </p:nvCxnSpPr>
        <p:spPr>
          <a:xfrm>
            <a:off x="6076950" y="2378075"/>
            <a:ext cx="2895600" cy="228600"/>
          </a:xfrm>
          <a:prstGeom prst="straightConnector1">
            <a:avLst/>
          </a:prstGeom>
          <a:noFill/>
          <a:ln w="9525" cap="flat" cmpd="sng">
            <a:solidFill>
              <a:schemeClr val="dk1"/>
            </a:solidFill>
            <a:prstDash val="solid"/>
            <a:round/>
            <a:headEnd type="none" w="med" len="med"/>
            <a:tailEnd type="none" w="med" len="med"/>
          </a:ln>
        </p:spPr>
      </p:cxnSp>
      <p:cxnSp>
        <p:nvCxnSpPr>
          <p:cNvPr id="620" name="Google Shape;620;p47"/>
          <p:cNvCxnSpPr/>
          <p:nvPr/>
        </p:nvCxnSpPr>
        <p:spPr>
          <a:xfrm>
            <a:off x="6096000" y="2987675"/>
            <a:ext cx="2838450" cy="533400"/>
          </a:xfrm>
          <a:prstGeom prst="straightConnector1">
            <a:avLst/>
          </a:prstGeom>
          <a:noFill/>
          <a:ln w="9525" cap="flat" cmpd="sng">
            <a:solidFill>
              <a:schemeClr val="dk1"/>
            </a:solidFill>
            <a:prstDash val="solid"/>
            <a:round/>
            <a:headEnd type="none" w="med" len="med"/>
            <a:tailEnd type="none" w="med" len="med"/>
          </a:ln>
        </p:spPr>
      </p:cxnSp>
      <p:cxnSp>
        <p:nvCxnSpPr>
          <p:cNvPr id="621" name="Google Shape;621;p47"/>
          <p:cNvCxnSpPr/>
          <p:nvPr/>
        </p:nvCxnSpPr>
        <p:spPr>
          <a:xfrm rot="10800000" flipH="1">
            <a:off x="6076950" y="2606675"/>
            <a:ext cx="2857500" cy="952500"/>
          </a:xfrm>
          <a:prstGeom prst="straightConnector1">
            <a:avLst/>
          </a:prstGeom>
          <a:noFill/>
          <a:ln w="9525" cap="flat" cmpd="sng">
            <a:solidFill>
              <a:schemeClr val="dk1"/>
            </a:solidFill>
            <a:prstDash val="solid"/>
            <a:round/>
            <a:headEnd type="none" w="med" len="med"/>
            <a:tailEnd type="none" w="med" len="med"/>
          </a:ln>
        </p:spPr>
      </p:cxnSp>
      <p:cxnSp>
        <p:nvCxnSpPr>
          <p:cNvPr id="622" name="Google Shape;622;p47"/>
          <p:cNvCxnSpPr/>
          <p:nvPr/>
        </p:nvCxnSpPr>
        <p:spPr>
          <a:xfrm rot="10800000" flipH="1">
            <a:off x="6115050" y="3540125"/>
            <a:ext cx="2800350" cy="590550"/>
          </a:xfrm>
          <a:prstGeom prst="straightConnector1">
            <a:avLst/>
          </a:prstGeom>
          <a:noFill/>
          <a:ln w="9525" cap="flat" cmpd="sng">
            <a:solidFill>
              <a:schemeClr val="dk1"/>
            </a:solidFill>
            <a:prstDash val="solid"/>
            <a:round/>
            <a:headEnd type="none" w="med" len="med"/>
            <a:tailEnd type="none" w="med" len="med"/>
          </a:ln>
        </p:spPr>
      </p:cxnSp>
      <p:cxnSp>
        <p:nvCxnSpPr>
          <p:cNvPr id="623" name="Google Shape;623;p47"/>
          <p:cNvCxnSpPr/>
          <p:nvPr/>
        </p:nvCxnSpPr>
        <p:spPr>
          <a:xfrm rot="10800000" flipH="1">
            <a:off x="6076950" y="4435475"/>
            <a:ext cx="2819400" cy="285750"/>
          </a:xfrm>
          <a:prstGeom prst="straightConnector1">
            <a:avLst/>
          </a:prstGeom>
          <a:noFill/>
          <a:ln w="9525" cap="flat" cmpd="sng">
            <a:solidFill>
              <a:schemeClr val="dk1"/>
            </a:solidFill>
            <a:prstDash val="solid"/>
            <a:round/>
            <a:headEnd type="none" w="med" len="med"/>
            <a:tailEnd type="none" w="med" len="med"/>
          </a:ln>
        </p:spPr>
      </p:cxnSp>
      <p:cxnSp>
        <p:nvCxnSpPr>
          <p:cNvPr id="624" name="Google Shape;624;p47"/>
          <p:cNvCxnSpPr/>
          <p:nvPr/>
        </p:nvCxnSpPr>
        <p:spPr>
          <a:xfrm rot="10800000" flipH="1">
            <a:off x="6076950" y="4435475"/>
            <a:ext cx="2838450" cy="1447800"/>
          </a:xfrm>
          <a:prstGeom prst="straightConnector1">
            <a:avLst/>
          </a:prstGeom>
          <a:noFill/>
          <a:ln w="9525" cap="flat" cmpd="sng">
            <a:solidFill>
              <a:schemeClr val="dk1"/>
            </a:solidFill>
            <a:prstDash val="solid"/>
            <a:round/>
            <a:headEnd type="none" w="med" len="med"/>
            <a:tailEnd type="none" w="med" len="med"/>
          </a:ln>
        </p:spPr>
      </p:cxnSp>
      <p:sp>
        <p:nvSpPr>
          <p:cNvPr id="625" name="Google Shape;625;p47"/>
          <p:cNvSpPr/>
          <p:nvPr/>
        </p:nvSpPr>
        <p:spPr>
          <a:xfrm>
            <a:off x="5905500" y="2289176"/>
            <a:ext cx="209550" cy="180975"/>
          </a:xfrm>
          <a:prstGeom prst="rect">
            <a:avLst/>
          </a:prstGeom>
          <a:solidFill>
            <a:schemeClr val="dk1"/>
          </a:solidFill>
          <a:ln w="9525"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6" name="Google Shape;626;p47"/>
          <p:cNvSpPr/>
          <p:nvPr/>
        </p:nvSpPr>
        <p:spPr>
          <a:xfrm>
            <a:off x="5905500" y="2879726"/>
            <a:ext cx="209550" cy="180975"/>
          </a:xfrm>
          <a:prstGeom prst="rect">
            <a:avLst/>
          </a:prstGeom>
          <a:solidFill>
            <a:schemeClr val="dk1"/>
          </a:solidFill>
          <a:ln w="9525"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7" name="Google Shape;627;p47"/>
          <p:cNvSpPr/>
          <p:nvPr/>
        </p:nvSpPr>
        <p:spPr>
          <a:xfrm>
            <a:off x="5905500" y="3451226"/>
            <a:ext cx="209550" cy="180975"/>
          </a:xfrm>
          <a:prstGeom prst="rect">
            <a:avLst/>
          </a:prstGeom>
          <a:solidFill>
            <a:schemeClr val="dk1"/>
          </a:solidFill>
          <a:ln w="9525"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8" name="Google Shape;628;p47"/>
          <p:cNvSpPr/>
          <p:nvPr/>
        </p:nvSpPr>
        <p:spPr>
          <a:xfrm>
            <a:off x="5905500" y="4041776"/>
            <a:ext cx="209550" cy="180975"/>
          </a:xfrm>
          <a:prstGeom prst="rect">
            <a:avLst/>
          </a:prstGeom>
          <a:solidFill>
            <a:schemeClr val="dk1"/>
          </a:solidFill>
          <a:ln w="9525"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9" name="Google Shape;629;p47"/>
          <p:cNvSpPr/>
          <p:nvPr/>
        </p:nvSpPr>
        <p:spPr>
          <a:xfrm>
            <a:off x="5905500" y="4613276"/>
            <a:ext cx="209550" cy="180975"/>
          </a:xfrm>
          <a:prstGeom prst="rect">
            <a:avLst/>
          </a:prstGeom>
          <a:solidFill>
            <a:schemeClr val="dk1"/>
          </a:solidFill>
          <a:ln w="9525"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0" name="Google Shape;630;p47"/>
          <p:cNvSpPr/>
          <p:nvPr/>
        </p:nvSpPr>
        <p:spPr>
          <a:xfrm>
            <a:off x="5905500" y="5203826"/>
            <a:ext cx="209550" cy="180975"/>
          </a:xfrm>
          <a:prstGeom prst="rect">
            <a:avLst/>
          </a:prstGeom>
          <a:solidFill>
            <a:schemeClr val="dk1"/>
          </a:solidFill>
          <a:ln w="9525"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1" name="Google Shape;631;p47"/>
          <p:cNvSpPr/>
          <p:nvPr/>
        </p:nvSpPr>
        <p:spPr>
          <a:xfrm>
            <a:off x="5905500" y="5775326"/>
            <a:ext cx="209550" cy="180975"/>
          </a:xfrm>
          <a:prstGeom prst="rect">
            <a:avLst/>
          </a:prstGeom>
          <a:solidFill>
            <a:schemeClr val="dk1"/>
          </a:solidFill>
          <a:ln w="9525"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2" name="Google Shape;632;p47"/>
          <p:cNvSpPr/>
          <p:nvPr/>
        </p:nvSpPr>
        <p:spPr>
          <a:xfrm>
            <a:off x="1990725" y="1787525"/>
            <a:ext cx="1943100" cy="3981450"/>
          </a:xfrm>
          <a:prstGeom prst="ellipse">
            <a:avLst/>
          </a:prstGeom>
          <a:noFill/>
          <a:ln w="9525" cap="flat" cmpd="sng">
            <a:solidFill>
              <a:schemeClr val="dk1"/>
            </a:solidFill>
            <a:prstDash val="solid"/>
            <a:round/>
            <a:headEnd type="none" w="sm" len="sm"/>
            <a:tailEnd type="none" w="sm" len="sm"/>
          </a:ln>
        </p:spPr>
        <p:txBody>
          <a:bodyPr spcFirstLastPara="1" wrap="square" lIns="91425" tIns="0" rIns="91425" bIns="0" anchor="t" anchorCtr="0">
            <a:noAutofit/>
          </a:bodyPr>
          <a:lstStyle/>
          <a:p>
            <a:pPr marL="0" marR="0" lvl="0" indent="0" algn="ctr" rtl="0">
              <a:spcBef>
                <a:spcPts val="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1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2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3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4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5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6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7  </a:t>
            </a:r>
            <a:endParaRPr/>
          </a:p>
        </p:txBody>
      </p:sp>
      <p:sp>
        <p:nvSpPr>
          <p:cNvPr id="633" name="Google Shape;633;p47"/>
          <p:cNvSpPr txBox="1"/>
          <p:nvPr/>
        </p:nvSpPr>
        <p:spPr>
          <a:xfrm>
            <a:off x="2187714" y="1295400"/>
            <a:ext cx="1415772"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EMPLOYEE</a:t>
            </a:r>
            <a:endParaRPr/>
          </a:p>
        </p:txBody>
      </p:sp>
      <p:sp>
        <p:nvSpPr>
          <p:cNvPr id="634" name="Google Shape;634;p47"/>
          <p:cNvSpPr/>
          <p:nvPr/>
        </p:nvSpPr>
        <p:spPr>
          <a:xfrm>
            <a:off x="5029200" y="1870365"/>
            <a:ext cx="1943100" cy="4724400"/>
          </a:xfrm>
          <a:prstGeom prst="ellipse">
            <a:avLst/>
          </a:prstGeom>
          <a:noFill/>
          <a:ln w="9525" cap="flat" cmpd="sng">
            <a:solidFill>
              <a:schemeClr val="dk1"/>
            </a:solidFill>
            <a:prstDash val="solid"/>
            <a:round/>
            <a:headEnd type="none" w="sm" len="sm"/>
            <a:tailEnd type="none" w="sm" len="sm"/>
          </a:ln>
        </p:spPr>
        <p:txBody>
          <a:bodyPr spcFirstLastPara="1" wrap="square" lIns="91425" tIns="0" rIns="91425" bIns="3657600" anchor="t" anchorCtr="0">
            <a:noAutofit/>
          </a:bodyPr>
          <a:lstStyle/>
          <a:p>
            <a:pPr marL="0" marR="0" lvl="0" indent="0" algn="ctr" rtl="0">
              <a:spcBef>
                <a:spcPts val="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1</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2</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3</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4</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5</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6</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7</a:t>
            </a:r>
            <a:endParaRPr/>
          </a:p>
          <a:p>
            <a:pPr marL="0" marR="0" lvl="0" indent="0" algn="ctr" rtl="0">
              <a:spcBef>
                <a:spcPts val="1800"/>
              </a:spcBef>
              <a:spcAft>
                <a:spcPts val="0"/>
              </a:spcAft>
              <a:buNone/>
            </a:pPr>
            <a:endParaRPr sz="2000">
              <a:solidFill>
                <a:schemeClr val="dk1"/>
              </a:solidFill>
              <a:latin typeface="Calibri"/>
              <a:ea typeface="Calibri"/>
              <a:cs typeface="Calibri"/>
              <a:sym typeface="Calibri"/>
            </a:endParaRPr>
          </a:p>
        </p:txBody>
      </p:sp>
      <p:sp>
        <p:nvSpPr>
          <p:cNvPr id="635" name="Google Shape;635;p47"/>
          <p:cNvSpPr txBox="1"/>
          <p:nvPr/>
        </p:nvSpPr>
        <p:spPr>
          <a:xfrm>
            <a:off x="5209508" y="1295400"/>
            <a:ext cx="1582484"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WORKS_FOR</a:t>
            </a:r>
            <a:endParaRPr/>
          </a:p>
        </p:txBody>
      </p:sp>
      <p:sp>
        <p:nvSpPr>
          <p:cNvPr id="636" name="Google Shape;636;p47"/>
          <p:cNvSpPr/>
          <p:nvPr/>
        </p:nvSpPr>
        <p:spPr>
          <a:xfrm>
            <a:off x="8077200" y="1787525"/>
            <a:ext cx="1943100" cy="3981450"/>
          </a:xfrm>
          <a:prstGeom prst="ellipse">
            <a:avLst/>
          </a:prstGeom>
          <a:noFill/>
          <a:ln w="9525" cap="flat" cmpd="sng">
            <a:solidFill>
              <a:schemeClr val="dk1"/>
            </a:solidFill>
            <a:prstDash val="solid"/>
            <a:round/>
            <a:headEnd type="none" w="sm" len="sm"/>
            <a:tailEnd type="none" w="sm" len="sm"/>
          </a:ln>
        </p:spPr>
        <p:txBody>
          <a:bodyPr spcFirstLastPara="1" wrap="square" lIns="91425" tIns="0" rIns="91425" bIns="0" anchor="t" anchorCtr="0">
            <a:noAutofit/>
          </a:bodyPr>
          <a:lstStyle/>
          <a:p>
            <a:pPr marL="0" marR="0" lvl="0" indent="0" algn="ctr" rtl="0">
              <a:spcBef>
                <a:spcPts val="0"/>
              </a:spcBef>
              <a:spcAft>
                <a:spcPts val="0"/>
              </a:spcAft>
              <a:buNone/>
            </a:pPr>
            <a:r>
              <a:rPr lang="en-US" sz="2000" baseline="-25000">
                <a:solidFill>
                  <a:schemeClr val="dk1"/>
                </a:solidFill>
                <a:latin typeface="Calibri"/>
                <a:ea typeface="Calibri"/>
                <a:cs typeface="Calibri"/>
                <a:sym typeface="Calibri"/>
              </a:rPr>
              <a:t></a:t>
            </a:r>
            <a:r>
              <a:rPr lang="en-US" sz="2000">
                <a:solidFill>
                  <a:schemeClr val="dk1"/>
                </a:solidFill>
                <a:latin typeface="Calibri"/>
                <a:ea typeface="Calibri"/>
                <a:cs typeface="Calibri"/>
                <a:sym typeface="Calibri"/>
              </a:rPr>
              <a:t> d</a:t>
            </a:r>
            <a:r>
              <a:rPr lang="en-US" sz="2000" baseline="-25000">
                <a:solidFill>
                  <a:schemeClr val="dk1"/>
                </a:solidFill>
                <a:latin typeface="Calibri"/>
                <a:ea typeface="Calibri"/>
                <a:cs typeface="Calibri"/>
                <a:sym typeface="Calibri"/>
              </a:rPr>
              <a:t>1</a:t>
            </a:r>
            <a:endParaRPr sz="2000">
              <a:solidFill>
                <a:schemeClr val="dk1"/>
              </a:solidFill>
              <a:latin typeface="Calibri"/>
              <a:ea typeface="Calibri"/>
              <a:cs typeface="Calibri"/>
              <a:sym typeface="Calibri"/>
            </a:endParaRPr>
          </a:p>
          <a:p>
            <a:pPr marL="0" marR="0" lvl="0" indent="0" algn="ctr" rtl="0">
              <a:spcBef>
                <a:spcPts val="4000"/>
              </a:spcBef>
              <a:spcAft>
                <a:spcPts val="0"/>
              </a:spcAft>
              <a:buNone/>
            </a:pPr>
            <a:r>
              <a:rPr lang="en-US" sz="2000" baseline="-25000">
                <a:solidFill>
                  <a:schemeClr val="dk1"/>
                </a:solidFill>
                <a:latin typeface="Calibri"/>
                <a:ea typeface="Calibri"/>
                <a:cs typeface="Calibri"/>
                <a:sym typeface="Calibri"/>
              </a:rPr>
              <a:t></a:t>
            </a:r>
            <a:r>
              <a:rPr lang="en-US" sz="2000">
                <a:solidFill>
                  <a:schemeClr val="dk1"/>
                </a:solidFill>
                <a:latin typeface="Calibri"/>
                <a:ea typeface="Calibri"/>
                <a:cs typeface="Calibri"/>
                <a:sym typeface="Calibri"/>
              </a:rPr>
              <a:t> d</a:t>
            </a:r>
            <a:r>
              <a:rPr lang="en-US" sz="2000" baseline="-25000">
                <a:solidFill>
                  <a:schemeClr val="dk1"/>
                </a:solidFill>
                <a:latin typeface="Calibri"/>
                <a:ea typeface="Calibri"/>
                <a:cs typeface="Calibri"/>
                <a:sym typeface="Calibri"/>
              </a:rPr>
              <a:t>2</a:t>
            </a:r>
            <a:endParaRPr sz="2000">
              <a:solidFill>
                <a:schemeClr val="dk1"/>
              </a:solidFill>
              <a:latin typeface="Calibri"/>
              <a:ea typeface="Calibri"/>
              <a:cs typeface="Calibri"/>
              <a:sym typeface="Calibri"/>
            </a:endParaRPr>
          </a:p>
          <a:p>
            <a:pPr marL="0" marR="0" lvl="0" indent="0" algn="ctr" rtl="0">
              <a:spcBef>
                <a:spcPts val="4000"/>
              </a:spcBef>
              <a:spcAft>
                <a:spcPts val="0"/>
              </a:spcAft>
              <a:buNone/>
            </a:pPr>
            <a:r>
              <a:rPr lang="en-US" sz="2000" baseline="-25000">
                <a:solidFill>
                  <a:schemeClr val="dk1"/>
                </a:solidFill>
                <a:latin typeface="Calibri"/>
                <a:ea typeface="Calibri"/>
                <a:cs typeface="Calibri"/>
                <a:sym typeface="Calibri"/>
              </a:rPr>
              <a:t></a:t>
            </a:r>
            <a:r>
              <a:rPr lang="en-US" sz="2000">
                <a:solidFill>
                  <a:schemeClr val="dk1"/>
                </a:solidFill>
                <a:latin typeface="Calibri"/>
                <a:ea typeface="Calibri"/>
                <a:cs typeface="Calibri"/>
                <a:sym typeface="Calibri"/>
              </a:rPr>
              <a:t> d</a:t>
            </a:r>
            <a:r>
              <a:rPr lang="en-US" sz="2000" baseline="-25000">
                <a:solidFill>
                  <a:schemeClr val="dk1"/>
                </a:solidFill>
                <a:latin typeface="Calibri"/>
                <a:ea typeface="Calibri"/>
                <a:cs typeface="Calibri"/>
                <a:sym typeface="Calibri"/>
              </a:rPr>
              <a:t>3</a:t>
            </a:r>
            <a:endParaRPr sz="2000">
              <a:solidFill>
                <a:schemeClr val="dk1"/>
              </a:solidFill>
              <a:latin typeface="Calibri"/>
              <a:ea typeface="Calibri"/>
              <a:cs typeface="Calibri"/>
              <a:sym typeface="Calibri"/>
            </a:endParaRPr>
          </a:p>
        </p:txBody>
      </p:sp>
      <p:sp>
        <p:nvSpPr>
          <p:cNvPr id="637" name="Google Shape;637;p47"/>
          <p:cNvSpPr txBox="1"/>
          <p:nvPr/>
        </p:nvSpPr>
        <p:spPr>
          <a:xfrm>
            <a:off x="8203626" y="1295400"/>
            <a:ext cx="170136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DEPARTMENT</a:t>
            </a:r>
            <a:endParaRPr/>
          </a:p>
        </p:txBody>
      </p:sp>
      <p:cxnSp>
        <p:nvCxnSpPr>
          <p:cNvPr id="638" name="Google Shape;638;p47"/>
          <p:cNvCxnSpPr/>
          <p:nvPr/>
        </p:nvCxnSpPr>
        <p:spPr>
          <a:xfrm rot="10800000" flipH="1">
            <a:off x="6096000" y="2589213"/>
            <a:ext cx="2838450" cy="268605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48"/>
          <p:cNvSpPr txBox="1">
            <a:spLocks noGrp="1"/>
          </p:cNvSpPr>
          <p:nvPr>
            <p:ph type="title"/>
          </p:nvPr>
        </p:nvSpPr>
        <p:spPr>
          <a:xfrm>
            <a:off x="1828800" y="76200"/>
            <a:ext cx="8534400" cy="11430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Example 2…</a:t>
            </a:r>
            <a:endParaRPr/>
          </a:p>
        </p:txBody>
      </p:sp>
      <p:sp>
        <p:nvSpPr>
          <p:cNvPr id="644" name="Google Shape;644;p48"/>
          <p:cNvSpPr txBox="1">
            <a:spLocks noGrp="1"/>
          </p:cNvSpPr>
          <p:nvPr>
            <p:ph type="body" idx="1"/>
          </p:nvPr>
        </p:nvSpPr>
        <p:spPr>
          <a:xfrm>
            <a:off x="1828800" y="990601"/>
            <a:ext cx="8534400" cy="5016691"/>
          </a:xfrm>
          <a:prstGeom prst="rect">
            <a:avLst/>
          </a:prstGeom>
          <a:noFill/>
          <a:ln>
            <a:noFill/>
          </a:ln>
        </p:spPr>
        <p:txBody>
          <a:bodyPr spcFirstLastPara="1" wrap="square" lIns="0" tIns="45700" rIns="0" bIns="45700" anchor="t" anchorCtr="0">
            <a:normAutofit/>
          </a:bodyPr>
          <a:lstStyle/>
          <a:p>
            <a:pPr marL="91440" lvl="0" indent="-91440" algn="l" rtl="0">
              <a:lnSpc>
                <a:spcPct val="90000"/>
              </a:lnSpc>
              <a:spcBef>
                <a:spcPts val="0"/>
              </a:spcBef>
              <a:spcAft>
                <a:spcPts val="0"/>
              </a:spcAft>
              <a:buSzPts val="2000"/>
              <a:buNone/>
            </a:pPr>
            <a:r>
              <a:rPr lang="en-US"/>
              <a:t>	EMPLOYEE 	   	WORKS_ON			PROJECT</a:t>
            </a:r>
            <a:endParaRPr/>
          </a:p>
        </p:txBody>
      </p:sp>
      <p:cxnSp>
        <p:nvCxnSpPr>
          <p:cNvPr id="645" name="Google Shape;645;p48"/>
          <p:cNvCxnSpPr/>
          <p:nvPr/>
        </p:nvCxnSpPr>
        <p:spPr>
          <a:xfrm rot="10800000" flipH="1">
            <a:off x="3048000" y="2076450"/>
            <a:ext cx="2971800" cy="247650"/>
          </a:xfrm>
          <a:prstGeom prst="straightConnector1">
            <a:avLst/>
          </a:prstGeom>
          <a:noFill/>
          <a:ln w="9525" cap="flat" cmpd="sng">
            <a:solidFill>
              <a:schemeClr val="dk1"/>
            </a:solidFill>
            <a:prstDash val="solid"/>
            <a:round/>
            <a:headEnd type="none" w="med" len="med"/>
            <a:tailEnd type="none" w="med" len="med"/>
          </a:ln>
        </p:spPr>
      </p:cxnSp>
      <p:cxnSp>
        <p:nvCxnSpPr>
          <p:cNvPr id="646" name="Google Shape;646;p48"/>
          <p:cNvCxnSpPr/>
          <p:nvPr/>
        </p:nvCxnSpPr>
        <p:spPr>
          <a:xfrm rot="10800000" flipH="1">
            <a:off x="3048000" y="2705100"/>
            <a:ext cx="2914650" cy="76200"/>
          </a:xfrm>
          <a:prstGeom prst="straightConnector1">
            <a:avLst/>
          </a:prstGeom>
          <a:noFill/>
          <a:ln w="9525" cap="flat" cmpd="sng">
            <a:solidFill>
              <a:schemeClr val="dk1"/>
            </a:solidFill>
            <a:prstDash val="solid"/>
            <a:round/>
            <a:headEnd type="none" w="med" len="med"/>
            <a:tailEnd type="none" w="med" len="med"/>
          </a:ln>
        </p:spPr>
      </p:cxnSp>
      <p:cxnSp>
        <p:nvCxnSpPr>
          <p:cNvPr id="647" name="Google Shape;647;p48"/>
          <p:cNvCxnSpPr/>
          <p:nvPr/>
        </p:nvCxnSpPr>
        <p:spPr>
          <a:xfrm rot="10800000" flipH="1">
            <a:off x="3067050" y="3257550"/>
            <a:ext cx="2857500" cy="38100"/>
          </a:xfrm>
          <a:prstGeom prst="straightConnector1">
            <a:avLst/>
          </a:prstGeom>
          <a:noFill/>
          <a:ln w="9525" cap="flat" cmpd="sng">
            <a:solidFill>
              <a:schemeClr val="dk1"/>
            </a:solidFill>
            <a:prstDash val="solid"/>
            <a:round/>
            <a:headEnd type="none" w="med" len="med"/>
            <a:tailEnd type="none" w="med" len="med"/>
          </a:ln>
        </p:spPr>
      </p:cxnSp>
      <p:cxnSp>
        <p:nvCxnSpPr>
          <p:cNvPr id="648" name="Google Shape;648;p48"/>
          <p:cNvCxnSpPr/>
          <p:nvPr/>
        </p:nvCxnSpPr>
        <p:spPr>
          <a:xfrm>
            <a:off x="3067050" y="3771900"/>
            <a:ext cx="2914650" cy="76200"/>
          </a:xfrm>
          <a:prstGeom prst="straightConnector1">
            <a:avLst/>
          </a:prstGeom>
          <a:noFill/>
          <a:ln w="9525" cap="flat" cmpd="sng">
            <a:solidFill>
              <a:schemeClr val="dk1"/>
            </a:solidFill>
            <a:prstDash val="solid"/>
            <a:round/>
            <a:headEnd type="none" w="med" len="med"/>
            <a:tailEnd type="none" w="med" len="med"/>
          </a:ln>
        </p:spPr>
      </p:cxnSp>
      <p:cxnSp>
        <p:nvCxnSpPr>
          <p:cNvPr id="649" name="Google Shape;649;p48"/>
          <p:cNvCxnSpPr/>
          <p:nvPr/>
        </p:nvCxnSpPr>
        <p:spPr>
          <a:xfrm>
            <a:off x="3067050" y="4248150"/>
            <a:ext cx="2876550" cy="152400"/>
          </a:xfrm>
          <a:prstGeom prst="straightConnector1">
            <a:avLst/>
          </a:prstGeom>
          <a:noFill/>
          <a:ln w="9525" cap="flat" cmpd="sng">
            <a:solidFill>
              <a:schemeClr val="dk1"/>
            </a:solidFill>
            <a:prstDash val="solid"/>
            <a:round/>
            <a:headEnd type="none" w="med" len="med"/>
            <a:tailEnd type="none" w="med" len="med"/>
          </a:ln>
        </p:spPr>
      </p:cxnSp>
      <p:cxnSp>
        <p:nvCxnSpPr>
          <p:cNvPr id="650" name="Google Shape;650;p48"/>
          <p:cNvCxnSpPr/>
          <p:nvPr/>
        </p:nvCxnSpPr>
        <p:spPr>
          <a:xfrm>
            <a:off x="3048000" y="4743450"/>
            <a:ext cx="2933700" cy="247650"/>
          </a:xfrm>
          <a:prstGeom prst="straightConnector1">
            <a:avLst/>
          </a:prstGeom>
          <a:noFill/>
          <a:ln w="9525" cap="flat" cmpd="sng">
            <a:solidFill>
              <a:schemeClr val="dk1"/>
            </a:solidFill>
            <a:prstDash val="solid"/>
            <a:round/>
            <a:headEnd type="none" w="med" len="med"/>
            <a:tailEnd type="none" w="med" len="med"/>
          </a:ln>
        </p:spPr>
      </p:cxnSp>
      <p:cxnSp>
        <p:nvCxnSpPr>
          <p:cNvPr id="651" name="Google Shape;651;p48"/>
          <p:cNvCxnSpPr/>
          <p:nvPr/>
        </p:nvCxnSpPr>
        <p:spPr>
          <a:xfrm>
            <a:off x="3067050" y="5257800"/>
            <a:ext cx="2895600" cy="323850"/>
          </a:xfrm>
          <a:prstGeom prst="straightConnector1">
            <a:avLst/>
          </a:prstGeom>
          <a:noFill/>
          <a:ln w="9525" cap="flat" cmpd="sng">
            <a:solidFill>
              <a:schemeClr val="dk1"/>
            </a:solidFill>
            <a:prstDash val="solid"/>
            <a:round/>
            <a:headEnd type="none" w="med" len="med"/>
            <a:tailEnd type="none" w="med" len="med"/>
          </a:ln>
        </p:spPr>
      </p:cxnSp>
      <p:cxnSp>
        <p:nvCxnSpPr>
          <p:cNvPr id="652" name="Google Shape;652;p48"/>
          <p:cNvCxnSpPr/>
          <p:nvPr/>
        </p:nvCxnSpPr>
        <p:spPr>
          <a:xfrm>
            <a:off x="6076950" y="2076450"/>
            <a:ext cx="2895600" cy="228600"/>
          </a:xfrm>
          <a:prstGeom prst="straightConnector1">
            <a:avLst/>
          </a:prstGeom>
          <a:noFill/>
          <a:ln w="9525" cap="flat" cmpd="sng">
            <a:solidFill>
              <a:schemeClr val="dk1"/>
            </a:solidFill>
            <a:prstDash val="solid"/>
            <a:round/>
            <a:headEnd type="none" w="med" len="med"/>
            <a:tailEnd type="none" w="med" len="med"/>
          </a:ln>
        </p:spPr>
      </p:cxnSp>
      <p:cxnSp>
        <p:nvCxnSpPr>
          <p:cNvPr id="653" name="Google Shape;653;p48"/>
          <p:cNvCxnSpPr/>
          <p:nvPr/>
        </p:nvCxnSpPr>
        <p:spPr>
          <a:xfrm>
            <a:off x="6096000" y="2686050"/>
            <a:ext cx="2838450" cy="533400"/>
          </a:xfrm>
          <a:prstGeom prst="straightConnector1">
            <a:avLst/>
          </a:prstGeom>
          <a:noFill/>
          <a:ln w="9525" cap="flat" cmpd="sng">
            <a:solidFill>
              <a:schemeClr val="dk1"/>
            </a:solidFill>
            <a:prstDash val="solid"/>
            <a:round/>
            <a:headEnd type="none" w="med" len="med"/>
            <a:tailEnd type="none" w="med" len="med"/>
          </a:ln>
        </p:spPr>
      </p:cxnSp>
      <p:cxnSp>
        <p:nvCxnSpPr>
          <p:cNvPr id="654" name="Google Shape;654;p48"/>
          <p:cNvCxnSpPr/>
          <p:nvPr/>
        </p:nvCxnSpPr>
        <p:spPr>
          <a:xfrm rot="10800000" flipH="1">
            <a:off x="6076950" y="2305050"/>
            <a:ext cx="2857500" cy="952500"/>
          </a:xfrm>
          <a:prstGeom prst="straightConnector1">
            <a:avLst/>
          </a:prstGeom>
          <a:noFill/>
          <a:ln w="9525" cap="flat" cmpd="sng">
            <a:solidFill>
              <a:schemeClr val="dk1"/>
            </a:solidFill>
            <a:prstDash val="solid"/>
            <a:round/>
            <a:headEnd type="none" w="med" len="med"/>
            <a:tailEnd type="none" w="med" len="med"/>
          </a:ln>
        </p:spPr>
      </p:cxnSp>
      <p:cxnSp>
        <p:nvCxnSpPr>
          <p:cNvPr id="655" name="Google Shape;655;p48"/>
          <p:cNvCxnSpPr/>
          <p:nvPr/>
        </p:nvCxnSpPr>
        <p:spPr>
          <a:xfrm rot="10800000" flipH="1">
            <a:off x="6115050" y="3238500"/>
            <a:ext cx="2800350" cy="590550"/>
          </a:xfrm>
          <a:prstGeom prst="straightConnector1">
            <a:avLst/>
          </a:prstGeom>
          <a:noFill/>
          <a:ln w="9525" cap="flat" cmpd="sng">
            <a:solidFill>
              <a:schemeClr val="dk1"/>
            </a:solidFill>
            <a:prstDash val="solid"/>
            <a:round/>
            <a:headEnd type="none" w="med" len="med"/>
            <a:tailEnd type="none" w="med" len="med"/>
          </a:ln>
        </p:spPr>
      </p:cxnSp>
      <p:cxnSp>
        <p:nvCxnSpPr>
          <p:cNvPr id="656" name="Google Shape;656;p48"/>
          <p:cNvCxnSpPr/>
          <p:nvPr/>
        </p:nvCxnSpPr>
        <p:spPr>
          <a:xfrm rot="10800000" flipH="1">
            <a:off x="6076950" y="4133850"/>
            <a:ext cx="2819400" cy="285750"/>
          </a:xfrm>
          <a:prstGeom prst="straightConnector1">
            <a:avLst/>
          </a:prstGeom>
          <a:noFill/>
          <a:ln w="9525" cap="flat" cmpd="sng">
            <a:solidFill>
              <a:schemeClr val="dk1"/>
            </a:solidFill>
            <a:prstDash val="solid"/>
            <a:round/>
            <a:headEnd type="none" w="med" len="med"/>
            <a:tailEnd type="none" w="med" len="med"/>
          </a:ln>
        </p:spPr>
      </p:cxnSp>
      <p:cxnSp>
        <p:nvCxnSpPr>
          <p:cNvPr id="657" name="Google Shape;657;p48"/>
          <p:cNvCxnSpPr/>
          <p:nvPr/>
        </p:nvCxnSpPr>
        <p:spPr>
          <a:xfrm rot="10800000" flipH="1">
            <a:off x="6076950" y="4133850"/>
            <a:ext cx="2838450" cy="1447800"/>
          </a:xfrm>
          <a:prstGeom prst="straightConnector1">
            <a:avLst/>
          </a:prstGeom>
          <a:noFill/>
          <a:ln w="9525" cap="flat" cmpd="sng">
            <a:solidFill>
              <a:schemeClr val="dk1"/>
            </a:solidFill>
            <a:prstDash val="solid"/>
            <a:round/>
            <a:headEnd type="none" w="med" len="med"/>
            <a:tailEnd type="none" w="med" len="med"/>
          </a:ln>
        </p:spPr>
      </p:cxnSp>
      <p:cxnSp>
        <p:nvCxnSpPr>
          <p:cNvPr id="658" name="Google Shape;658;p48"/>
          <p:cNvCxnSpPr/>
          <p:nvPr/>
        </p:nvCxnSpPr>
        <p:spPr>
          <a:xfrm rot="10800000" flipH="1">
            <a:off x="6096000" y="2305050"/>
            <a:ext cx="2838450" cy="2686050"/>
          </a:xfrm>
          <a:prstGeom prst="straightConnector1">
            <a:avLst/>
          </a:prstGeom>
          <a:noFill/>
          <a:ln w="9525" cap="flat" cmpd="sng">
            <a:solidFill>
              <a:schemeClr val="dk1"/>
            </a:solidFill>
            <a:prstDash val="solid"/>
            <a:round/>
            <a:headEnd type="none" w="med" len="med"/>
            <a:tailEnd type="none" w="med" len="med"/>
          </a:ln>
        </p:spPr>
      </p:cxnSp>
      <p:cxnSp>
        <p:nvCxnSpPr>
          <p:cNvPr id="659" name="Google Shape;659;p48"/>
          <p:cNvCxnSpPr/>
          <p:nvPr/>
        </p:nvCxnSpPr>
        <p:spPr>
          <a:xfrm>
            <a:off x="3048000" y="2781301"/>
            <a:ext cx="2857500" cy="3198813"/>
          </a:xfrm>
          <a:prstGeom prst="straightConnector1">
            <a:avLst/>
          </a:prstGeom>
          <a:noFill/>
          <a:ln w="9525" cap="flat" cmpd="sng">
            <a:solidFill>
              <a:schemeClr val="dk1"/>
            </a:solidFill>
            <a:prstDash val="solid"/>
            <a:round/>
            <a:headEnd type="none" w="med" len="med"/>
            <a:tailEnd type="none" w="med" len="med"/>
          </a:ln>
        </p:spPr>
      </p:cxnSp>
      <p:cxnSp>
        <p:nvCxnSpPr>
          <p:cNvPr id="660" name="Google Shape;660;p48"/>
          <p:cNvCxnSpPr/>
          <p:nvPr/>
        </p:nvCxnSpPr>
        <p:spPr>
          <a:xfrm rot="10800000" flipH="1">
            <a:off x="6076950" y="4133851"/>
            <a:ext cx="2857500" cy="1846263"/>
          </a:xfrm>
          <a:prstGeom prst="straightConnector1">
            <a:avLst/>
          </a:prstGeom>
          <a:noFill/>
          <a:ln w="9525" cap="flat" cmpd="sng">
            <a:solidFill>
              <a:schemeClr val="dk1"/>
            </a:solidFill>
            <a:prstDash val="solid"/>
            <a:round/>
            <a:headEnd type="none" w="med" len="med"/>
            <a:tailEnd type="none" w="med" len="med"/>
          </a:ln>
        </p:spPr>
      </p:cxnSp>
      <p:cxnSp>
        <p:nvCxnSpPr>
          <p:cNvPr id="661" name="Google Shape;661;p48"/>
          <p:cNvCxnSpPr/>
          <p:nvPr/>
        </p:nvCxnSpPr>
        <p:spPr>
          <a:xfrm rot="10800000" flipH="1">
            <a:off x="3028950" y="1724026"/>
            <a:ext cx="2876550" cy="3533775"/>
          </a:xfrm>
          <a:prstGeom prst="straightConnector1">
            <a:avLst/>
          </a:prstGeom>
          <a:noFill/>
          <a:ln w="9525" cap="flat" cmpd="sng">
            <a:solidFill>
              <a:schemeClr val="dk1"/>
            </a:solidFill>
            <a:prstDash val="solid"/>
            <a:round/>
            <a:headEnd type="none" w="med" len="med"/>
            <a:tailEnd type="none" w="med" len="med"/>
          </a:ln>
        </p:spPr>
      </p:cxnSp>
      <p:cxnSp>
        <p:nvCxnSpPr>
          <p:cNvPr id="662" name="Google Shape;662;p48"/>
          <p:cNvCxnSpPr/>
          <p:nvPr/>
        </p:nvCxnSpPr>
        <p:spPr>
          <a:xfrm>
            <a:off x="6096000" y="1543050"/>
            <a:ext cx="2800350" cy="762000"/>
          </a:xfrm>
          <a:prstGeom prst="straightConnector1">
            <a:avLst/>
          </a:prstGeom>
          <a:noFill/>
          <a:ln w="9525" cap="flat" cmpd="sng">
            <a:solidFill>
              <a:schemeClr val="dk1"/>
            </a:solidFill>
            <a:prstDash val="solid"/>
            <a:round/>
            <a:headEnd type="none" w="med" len="med"/>
            <a:tailEnd type="none" w="med" len="med"/>
          </a:ln>
        </p:spPr>
      </p:cxnSp>
      <p:sp>
        <p:nvSpPr>
          <p:cNvPr id="663" name="Google Shape;663;p48"/>
          <p:cNvSpPr txBox="1"/>
          <p:nvPr/>
        </p:nvSpPr>
        <p:spPr>
          <a:xfrm>
            <a:off x="2209801" y="1752600"/>
            <a:ext cx="809942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4" name="Google Shape;664;p48"/>
          <p:cNvSpPr/>
          <p:nvPr/>
        </p:nvSpPr>
        <p:spPr>
          <a:xfrm>
            <a:off x="1924050" y="1485900"/>
            <a:ext cx="1943100" cy="3981450"/>
          </a:xfrm>
          <a:prstGeom prst="ellipse">
            <a:avLst/>
          </a:prstGeom>
          <a:noFill/>
          <a:ln w="9525" cap="flat" cmpd="sng">
            <a:solidFill>
              <a:schemeClr val="dk1"/>
            </a:solidFill>
            <a:prstDash val="solid"/>
            <a:round/>
            <a:headEnd type="none" w="sm" len="sm"/>
            <a:tailEnd type="none" w="sm" len="sm"/>
          </a:ln>
        </p:spPr>
        <p:txBody>
          <a:bodyPr spcFirstLastPara="1" wrap="square" lIns="91425" tIns="0" rIns="91425" bIns="0" anchor="t" anchorCtr="0">
            <a:noAutofit/>
          </a:bodyPr>
          <a:lstStyle/>
          <a:p>
            <a:pPr marL="0" marR="0" lvl="0" indent="0" algn="ctr" rtl="0">
              <a:spcBef>
                <a:spcPts val="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1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2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3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4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5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6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7  </a:t>
            </a:r>
            <a:endParaRPr/>
          </a:p>
        </p:txBody>
      </p:sp>
      <p:sp>
        <p:nvSpPr>
          <p:cNvPr id="665" name="Google Shape;665;p48"/>
          <p:cNvSpPr/>
          <p:nvPr/>
        </p:nvSpPr>
        <p:spPr>
          <a:xfrm>
            <a:off x="5029200" y="1512275"/>
            <a:ext cx="1943100" cy="4953000"/>
          </a:xfrm>
          <a:prstGeom prst="ellipse">
            <a:avLst/>
          </a:prstGeom>
          <a:noFill/>
          <a:ln w="9525" cap="flat" cmpd="sng">
            <a:solidFill>
              <a:schemeClr val="dk1"/>
            </a:solidFill>
            <a:prstDash val="solid"/>
            <a:round/>
            <a:headEnd type="none" w="sm" len="sm"/>
            <a:tailEnd type="none" w="sm" len="sm"/>
          </a:ln>
        </p:spPr>
        <p:txBody>
          <a:bodyPr spcFirstLastPara="1" wrap="square" lIns="91425" tIns="0" rIns="91425" bIns="3657600" anchor="t" anchorCtr="0">
            <a:noAutofit/>
          </a:bodyPr>
          <a:lstStyle/>
          <a:p>
            <a:pPr marL="0" marR="0" lvl="0" indent="0" algn="ctr" rtl="0">
              <a:spcBef>
                <a:spcPts val="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1</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2</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3</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4</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5</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6</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7</a:t>
            </a:r>
            <a:endParaRPr sz="2000">
              <a:solidFill>
                <a:schemeClr val="dk1"/>
              </a:solidFill>
              <a:latin typeface="Calibri"/>
              <a:ea typeface="Calibri"/>
              <a:cs typeface="Calibri"/>
              <a:sym typeface="Calibri"/>
            </a:endParaRPr>
          </a:p>
        </p:txBody>
      </p:sp>
      <p:sp>
        <p:nvSpPr>
          <p:cNvPr id="666" name="Google Shape;666;p48"/>
          <p:cNvSpPr/>
          <p:nvPr/>
        </p:nvSpPr>
        <p:spPr>
          <a:xfrm>
            <a:off x="8077200" y="1485900"/>
            <a:ext cx="1943100" cy="3981450"/>
          </a:xfrm>
          <a:prstGeom prst="ellipse">
            <a:avLst/>
          </a:prstGeom>
          <a:noFill/>
          <a:ln w="9525" cap="flat" cmpd="sng">
            <a:solidFill>
              <a:schemeClr val="dk1"/>
            </a:solidFill>
            <a:prstDash val="solid"/>
            <a:round/>
            <a:headEnd type="none" w="sm" len="sm"/>
            <a:tailEnd type="none" w="sm" len="sm"/>
          </a:ln>
        </p:spPr>
        <p:txBody>
          <a:bodyPr spcFirstLastPara="1" wrap="square" lIns="91425" tIns="0" rIns="91425" bIns="0" anchor="t" anchorCtr="0">
            <a:noAutofit/>
          </a:bodyPr>
          <a:lstStyle/>
          <a:p>
            <a:pPr marL="0" marR="0" lvl="0" indent="0" algn="ctr" rtl="0">
              <a:spcBef>
                <a:spcPts val="0"/>
              </a:spcBef>
              <a:spcAft>
                <a:spcPts val="0"/>
              </a:spcAft>
              <a:buNone/>
            </a:pPr>
            <a:r>
              <a:rPr lang="en-US" sz="2000" baseline="-25000">
                <a:solidFill>
                  <a:schemeClr val="dk1"/>
                </a:solidFill>
                <a:latin typeface="Calibri"/>
                <a:ea typeface="Calibri"/>
                <a:cs typeface="Calibri"/>
                <a:sym typeface="Calibri"/>
              </a:rPr>
              <a:t></a:t>
            </a:r>
            <a:r>
              <a:rPr lang="en-US" sz="2000">
                <a:solidFill>
                  <a:schemeClr val="dk1"/>
                </a:solidFill>
                <a:latin typeface="Calibri"/>
                <a:ea typeface="Calibri"/>
                <a:cs typeface="Calibri"/>
                <a:sym typeface="Calibri"/>
              </a:rPr>
              <a:t> p</a:t>
            </a:r>
            <a:r>
              <a:rPr lang="en-US" sz="2000" baseline="-25000">
                <a:solidFill>
                  <a:schemeClr val="dk1"/>
                </a:solidFill>
                <a:latin typeface="Calibri"/>
                <a:ea typeface="Calibri"/>
                <a:cs typeface="Calibri"/>
                <a:sym typeface="Calibri"/>
              </a:rPr>
              <a:t>1</a:t>
            </a:r>
            <a:endParaRPr sz="2000">
              <a:solidFill>
                <a:schemeClr val="dk1"/>
              </a:solidFill>
              <a:latin typeface="Calibri"/>
              <a:ea typeface="Calibri"/>
              <a:cs typeface="Calibri"/>
              <a:sym typeface="Calibri"/>
            </a:endParaRPr>
          </a:p>
          <a:p>
            <a:pPr marL="0" marR="0" lvl="0" indent="0" algn="ctr" rtl="0">
              <a:spcBef>
                <a:spcPts val="4000"/>
              </a:spcBef>
              <a:spcAft>
                <a:spcPts val="0"/>
              </a:spcAft>
              <a:buNone/>
            </a:pPr>
            <a:r>
              <a:rPr lang="en-US" sz="2000" baseline="-25000">
                <a:solidFill>
                  <a:schemeClr val="dk1"/>
                </a:solidFill>
                <a:latin typeface="Calibri"/>
                <a:ea typeface="Calibri"/>
                <a:cs typeface="Calibri"/>
                <a:sym typeface="Calibri"/>
              </a:rPr>
              <a:t></a:t>
            </a:r>
            <a:r>
              <a:rPr lang="en-US" sz="2000">
                <a:solidFill>
                  <a:schemeClr val="dk1"/>
                </a:solidFill>
                <a:latin typeface="Calibri"/>
                <a:ea typeface="Calibri"/>
                <a:cs typeface="Calibri"/>
                <a:sym typeface="Calibri"/>
              </a:rPr>
              <a:t> p</a:t>
            </a:r>
            <a:r>
              <a:rPr lang="en-US" sz="2000" baseline="-25000">
                <a:solidFill>
                  <a:schemeClr val="dk1"/>
                </a:solidFill>
                <a:latin typeface="Calibri"/>
                <a:ea typeface="Calibri"/>
                <a:cs typeface="Calibri"/>
                <a:sym typeface="Calibri"/>
              </a:rPr>
              <a:t>2</a:t>
            </a:r>
            <a:endParaRPr sz="2000">
              <a:solidFill>
                <a:schemeClr val="dk1"/>
              </a:solidFill>
              <a:latin typeface="Calibri"/>
              <a:ea typeface="Calibri"/>
              <a:cs typeface="Calibri"/>
              <a:sym typeface="Calibri"/>
            </a:endParaRPr>
          </a:p>
          <a:p>
            <a:pPr marL="0" marR="0" lvl="0" indent="0" algn="ctr" rtl="0">
              <a:spcBef>
                <a:spcPts val="4000"/>
              </a:spcBef>
              <a:spcAft>
                <a:spcPts val="0"/>
              </a:spcAft>
              <a:buNone/>
            </a:pPr>
            <a:r>
              <a:rPr lang="en-US" sz="2000" baseline="-25000">
                <a:solidFill>
                  <a:schemeClr val="dk1"/>
                </a:solidFill>
                <a:latin typeface="Calibri"/>
                <a:ea typeface="Calibri"/>
                <a:cs typeface="Calibri"/>
                <a:sym typeface="Calibri"/>
              </a:rPr>
              <a:t></a:t>
            </a:r>
            <a:r>
              <a:rPr lang="en-US" sz="2000">
                <a:solidFill>
                  <a:schemeClr val="dk1"/>
                </a:solidFill>
                <a:latin typeface="Calibri"/>
                <a:ea typeface="Calibri"/>
                <a:cs typeface="Calibri"/>
                <a:sym typeface="Calibri"/>
              </a:rPr>
              <a:t> p</a:t>
            </a:r>
            <a:r>
              <a:rPr lang="en-US" sz="2000" baseline="-25000">
                <a:solidFill>
                  <a:schemeClr val="dk1"/>
                </a:solidFill>
                <a:latin typeface="Calibri"/>
                <a:ea typeface="Calibri"/>
                <a:cs typeface="Calibri"/>
                <a:sym typeface="Calibri"/>
              </a:rPr>
              <a:t>3</a:t>
            </a:r>
            <a:endParaRPr sz="2000">
              <a:solidFill>
                <a:schemeClr val="dk1"/>
              </a:solidFill>
              <a:latin typeface="Calibri"/>
              <a:ea typeface="Calibri"/>
              <a:cs typeface="Calibri"/>
              <a:sym typeface="Calibri"/>
            </a:endParaRPr>
          </a:p>
        </p:txBody>
      </p:sp>
      <p:sp>
        <p:nvSpPr>
          <p:cNvPr id="667" name="Google Shape;667;p48"/>
          <p:cNvSpPr/>
          <p:nvPr/>
        </p:nvSpPr>
        <p:spPr>
          <a:xfrm>
            <a:off x="5905500" y="2028826"/>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8" name="Google Shape;668;p48"/>
          <p:cNvSpPr/>
          <p:nvPr/>
        </p:nvSpPr>
        <p:spPr>
          <a:xfrm>
            <a:off x="5905500" y="2595564"/>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9" name="Google Shape;669;p48"/>
          <p:cNvSpPr/>
          <p:nvPr/>
        </p:nvSpPr>
        <p:spPr>
          <a:xfrm>
            <a:off x="5905500" y="3167064"/>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0" name="Google Shape;670;p48"/>
          <p:cNvSpPr/>
          <p:nvPr/>
        </p:nvSpPr>
        <p:spPr>
          <a:xfrm>
            <a:off x="5905500" y="3757614"/>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1" name="Google Shape;671;p48"/>
          <p:cNvSpPr/>
          <p:nvPr/>
        </p:nvSpPr>
        <p:spPr>
          <a:xfrm>
            <a:off x="5905500" y="4329114"/>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2" name="Google Shape;672;p48"/>
          <p:cNvSpPr/>
          <p:nvPr/>
        </p:nvSpPr>
        <p:spPr>
          <a:xfrm>
            <a:off x="5905500" y="499110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3" name="Google Shape;673;p48"/>
          <p:cNvSpPr/>
          <p:nvPr/>
        </p:nvSpPr>
        <p:spPr>
          <a:xfrm>
            <a:off x="5905500" y="5491164"/>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674" name="Google Shape;674;p48"/>
          <p:cNvCxnSpPr/>
          <p:nvPr/>
        </p:nvCxnSpPr>
        <p:spPr>
          <a:xfrm>
            <a:off x="6115050" y="4329113"/>
            <a:ext cx="0" cy="0"/>
          </a:xfrm>
          <a:prstGeom prst="straightConnector1">
            <a:avLst/>
          </a:prstGeom>
          <a:noFill/>
          <a:ln w="9525" cap="flat" cmpd="sng">
            <a:solidFill>
              <a:schemeClr val="dk1"/>
            </a:solidFill>
            <a:prstDash val="solid"/>
            <a:round/>
            <a:headEnd type="none" w="med" len="med"/>
            <a:tailEnd type="none" w="med" len="med"/>
          </a:ln>
        </p:spPr>
      </p:cxnSp>
      <p:sp>
        <p:nvSpPr>
          <p:cNvPr id="675" name="Google Shape;675;p48"/>
          <p:cNvSpPr/>
          <p:nvPr/>
        </p:nvSpPr>
        <p:spPr>
          <a:xfrm>
            <a:off x="5924550" y="5980114"/>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6" name="Google Shape;676;p48"/>
          <p:cNvSpPr txBox="1"/>
          <p:nvPr/>
        </p:nvSpPr>
        <p:spPr>
          <a:xfrm>
            <a:off x="5651500" y="5802313"/>
            <a:ext cx="368300" cy="4000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8</a:t>
            </a:r>
            <a:endParaRPr/>
          </a:p>
        </p:txBody>
      </p:sp>
      <p:sp>
        <p:nvSpPr>
          <p:cNvPr id="677" name="Google Shape;677;p48"/>
          <p:cNvSpPr txBox="1"/>
          <p:nvPr/>
        </p:nvSpPr>
        <p:spPr>
          <a:xfrm>
            <a:off x="5905500" y="1724025"/>
            <a:ext cx="44608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8" name="Google Shape;678;p48"/>
          <p:cNvSpPr txBox="1"/>
          <p:nvPr/>
        </p:nvSpPr>
        <p:spPr>
          <a:xfrm>
            <a:off x="5584825" y="1481139"/>
            <a:ext cx="520700" cy="396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9</a:t>
            </a:r>
            <a:endParaRPr/>
          </a:p>
        </p:txBody>
      </p:sp>
      <p:sp>
        <p:nvSpPr>
          <p:cNvPr id="679" name="Google Shape;679;p48"/>
          <p:cNvSpPr/>
          <p:nvPr/>
        </p:nvSpPr>
        <p:spPr>
          <a:xfrm>
            <a:off x="5867400" y="154305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p49"/>
          <p:cNvSpPr txBox="1">
            <a:spLocks noGrp="1"/>
          </p:cNvSpPr>
          <p:nvPr>
            <p:ph type="title"/>
          </p:nvPr>
        </p:nvSpPr>
        <p:spPr>
          <a:xfrm>
            <a:off x="657606" y="209232"/>
            <a:ext cx="10772775" cy="580602"/>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5000"/>
              </a:lnSpc>
              <a:spcBef>
                <a:spcPts val="0"/>
              </a:spcBef>
              <a:spcAft>
                <a:spcPts val="0"/>
              </a:spcAft>
              <a:buClr>
                <a:srgbClr val="FF0000"/>
              </a:buClr>
              <a:buSzPct val="100000"/>
              <a:buFont typeface="Calibri"/>
              <a:buNone/>
            </a:pPr>
            <a:r>
              <a:rPr lang="en-US">
                <a:solidFill>
                  <a:srgbClr val="FF0000"/>
                </a:solidFill>
              </a:rPr>
              <a:t>Relationship Degree</a:t>
            </a:r>
            <a:endParaRPr/>
          </a:p>
        </p:txBody>
      </p:sp>
      <p:sp>
        <p:nvSpPr>
          <p:cNvPr id="685" name="Google Shape;685;p49"/>
          <p:cNvSpPr txBox="1">
            <a:spLocks noGrp="1"/>
          </p:cNvSpPr>
          <p:nvPr>
            <p:ph type="body" idx="1"/>
          </p:nvPr>
        </p:nvSpPr>
        <p:spPr>
          <a:xfrm>
            <a:off x="719137" y="789834"/>
            <a:ext cx="10753725" cy="3766185"/>
          </a:xfrm>
          <a:prstGeom prst="rect">
            <a:avLst/>
          </a:prstGeom>
          <a:noFill/>
          <a:ln>
            <a:noFill/>
          </a:ln>
        </p:spPr>
        <p:txBody>
          <a:bodyPr spcFirstLastPara="1" wrap="square" lIns="0" tIns="45700" rIns="0" bIns="45700" anchor="t" anchorCtr="0">
            <a:normAutofit/>
          </a:bodyPr>
          <a:lstStyle/>
          <a:p>
            <a:pPr marL="91440" lvl="0" indent="-127000" algn="just" rtl="0">
              <a:lnSpc>
                <a:spcPct val="90000"/>
              </a:lnSpc>
              <a:spcBef>
                <a:spcPts val="0"/>
              </a:spcBef>
              <a:spcAft>
                <a:spcPts val="0"/>
              </a:spcAft>
              <a:buSzPts val="2000"/>
              <a:buChar char=" "/>
            </a:pPr>
            <a:r>
              <a:rPr lang="en-US"/>
              <a:t>The degree of a relationship type is the number of participating entity types.</a:t>
            </a:r>
            <a:endParaRPr/>
          </a:p>
          <a:p>
            <a:pPr marL="91440" lvl="0" indent="0" algn="just" rtl="0">
              <a:lnSpc>
                <a:spcPct val="90000"/>
              </a:lnSpc>
              <a:spcBef>
                <a:spcPts val="1400"/>
              </a:spcBef>
              <a:spcAft>
                <a:spcPts val="0"/>
              </a:spcAft>
              <a:buSzPts val="2000"/>
              <a:buNone/>
            </a:pPr>
            <a:endParaRPr/>
          </a:p>
          <a:p>
            <a:pPr marL="91440" lvl="0" indent="-127000" algn="just" rtl="0">
              <a:lnSpc>
                <a:spcPct val="90000"/>
              </a:lnSpc>
              <a:spcBef>
                <a:spcPts val="1400"/>
              </a:spcBef>
              <a:spcAft>
                <a:spcPts val="0"/>
              </a:spcAft>
              <a:buSzPts val="2000"/>
              <a:buChar char=" "/>
            </a:pPr>
            <a:r>
              <a:rPr lang="en-US"/>
              <a:t>A relationship type of degree two is called </a:t>
            </a:r>
            <a:r>
              <a:rPr lang="en-US" b="1"/>
              <a:t>binary</a:t>
            </a:r>
            <a:r>
              <a:rPr lang="en-US"/>
              <a:t>, and one of degree three is called </a:t>
            </a:r>
            <a:r>
              <a:rPr lang="en-US" b="1"/>
              <a:t>ternary</a:t>
            </a:r>
            <a:r>
              <a:rPr lang="en-US"/>
              <a:t>.</a:t>
            </a:r>
            <a:endParaRPr/>
          </a:p>
          <a:p>
            <a:pPr marL="91440" lvl="0" indent="0" algn="just" rtl="0">
              <a:lnSpc>
                <a:spcPct val="90000"/>
              </a:lnSpc>
              <a:spcBef>
                <a:spcPts val="1400"/>
              </a:spcBef>
              <a:spcAft>
                <a:spcPts val="0"/>
              </a:spcAft>
              <a:buSzPts val="2000"/>
              <a:buNone/>
            </a:pPr>
            <a:endParaRPr/>
          </a:p>
          <a:p>
            <a:pPr marL="91440" lvl="0" indent="0" algn="just" rtl="0">
              <a:lnSpc>
                <a:spcPct val="90000"/>
              </a:lnSpc>
              <a:spcBef>
                <a:spcPts val="1400"/>
              </a:spcBef>
              <a:spcAft>
                <a:spcPts val="0"/>
              </a:spcAft>
              <a:buSzPts val="2000"/>
              <a:buNone/>
            </a:pPr>
            <a:endParaRPr/>
          </a:p>
        </p:txBody>
      </p:sp>
      <p:pic>
        <p:nvPicPr>
          <p:cNvPr id="686" name="Google Shape;686;p49"/>
          <p:cNvPicPr preferRelativeResize="0"/>
          <p:nvPr/>
        </p:nvPicPr>
        <p:blipFill rotWithShape="1">
          <a:blip r:embed="rId3">
            <a:alphaModFix/>
          </a:blip>
          <a:srcRect/>
          <a:stretch/>
        </p:blipFill>
        <p:spPr>
          <a:xfrm>
            <a:off x="452144" y="2422420"/>
            <a:ext cx="4498798" cy="2421923"/>
          </a:xfrm>
          <a:prstGeom prst="rect">
            <a:avLst/>
          </a:prstGeom>
          <a:noFill/>
          <a:ln>
            <a:noFill/>
          </a:ln>
        </p:spPr>
      </p:pic>
      <p:pic>
        <p:nvPicPr>
          <p:cNvPr id="687" name="Google Shape;687;p49"/>
          <p:cNvPicPr preferRelativeResize="0"/>
          <p:nvPr/>
        </p:nvPicPr>
        <p:blipFill rotWithShape="1">
          <a:blip r:embed="rId4">
            <a:alphaModFix/>
          </a:blip>
          <a:srcRect/>
          <a:stretch/>
        </p:blipFill>
        <p:spPr>
          <a:xfrm>
            <a:off x="6163063" y="2554350"/>
            <a:ext cx="4979580" cy="3513816"/>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50"/>
          <p:cNvSpPr txBox="1">
            <a:spLocks noGrp="1"/>
          </p:cNvSpPr>
          <p:nvPr>
            <p:ph type="title"/>
          </p:nvPr>
        </p:nvSpPr>
        <p:spPr>
          <a:xfrm>
            <a:off x="657606" y="268873"/>
            <a:ext cx="10772775" cy="521959"/>
          </a:xfrm>
          <a:prstGeom prst="rect">
            <a:avLst/>
          </a:prstGeom>
          <a:noFill/>
          <a:ln>
            <a:noFill/>
          </a:ln>
        </p:spPr>
        <p:txBody>
          <a:bodyPr spcFirstLastPara="1" wrap="square" lIns="91425" tIns="45700" rIns="91425" bIns="45700" anchor="b" anchorCtr="0">
            <a:noAutofit/>
          </a:bodyPr>
          <a:lstStyle/>
          <a:p>
            <a:pPr marL="0" lvl="0" indent="0" algn="just" rtl="0">
              <a:lnSpc>
                <a:spcPct val="85000"/>
              </a:lnSpc>
              <a:spcBef>
                <a:spcPts val="0"/>
              </a:spcBef>
              <a:spcAft>
                <a:spcPts val="0"/>
              </a:spcAft>
              <a:buClr>
                <a:srgbClr val="FF0000"/>
              </a:buClr>
              <a:buSzPts val="2800"/>
              <a:buFont typeface="Calibri"/>
              <a:buNone/>
            </a:pPr>
            <a:r>
              <a:rPr lang="en-US" sz="2800">
                <a:solidFill>
                  <a:srgbClr val="FF0000"/>
                </a:solidFill>
              </a:rPr>
              <a:t>Role Names and Recursive Relationships</a:t>
            </a:r>
            <a:endParaRPr/>
          </a:p>
        </p:txBody>
      </p:sp>
      <p:sp>
        <p:nvSpPr>
          <p:cNvPr id="693" name="Google Shape;693;p50"/>
          <p:cNvSpPr txBox="1">
            <a:spLocks noGrp="1"/>
          </p:cNvSpPr>
          <p:nvPr>
            <p:ph type="body" idx="1"/>
          </p:nvPr>
        </p:nvSpPr>
        <p:spPr>
          <a:xfrm>
            <a:off x="657606" y="998426"/>
            <a:ext cx="10753725" cy="3766185"/>
          </a:xfrm>
          <a:prstGeom prst="rect">
            <a:avLst/>
          </a:prstGeom>
          <a:noFill/>
          <a:ln>
            <a:noFill/>
          </a:ln>
        </p:spPr>
        <p:txBody>
          <a:bodyPr spcFirstLastPara="1" wrap="square" lIns="0" tIns="45700" rIns="0" bIns="45700" anchor="t" anchorCtr="0">
            <a:normAutofit/>
          </a:bodyPr>
          <a:lstStyle/>
          <a:p>
            <a:pPr marL="91440" lvl="0" indent="-127000" algn="just" rtl="0">
              <a:lnSpc>
                <a:spcPct val="90000"/>
              </a:lnSpc>
              <a:spcBef>
                <a:spcPts val="0"/>
              </a:spcBef>
              <a:spcAft>
                <a:spcPts val="0"/>
              </a:spcAft>
              <a:buSzPts val="2000"/>
              <a:buFont typeface="Arial"/>
              <a:buChar char="•"/>
            </a:pPr>
            <a:r>
              <a:rPr lang="en-US" sz="2000"/>
              <a:t>Each entity type that participates in a relationship type plays a particular </a:t>
            </a:r>
            <a:r>
              <a:rPr lang="en-US" sz="2000" b="1"/>
              <a:t>role </a:t>
            </a:r>
            <a:r>
              <a:rPr lang="en-US" sz="2000"/>
              <a:t>in the relationship.</a:t>
            </a:r>
            <a:endParaRPr/>
          </a:p>
          <a:p>
            <a:pPr marL="91440" lvl="0" indent="-127000" algn="just" rtl="0">
              <a:lnSpc>
                <a:spcPct val="90000"/>
              </a:lnSpc>
              <a:spcBef>
                <a:spcPts val="1400"/>
              </a:spcBef>
              <a:spcAft>
                <a:spcPts val="0"/>
              </a:spcAft>
              <a:buSzPts val="2000"/>
              <a:buFont typeface="Arial"/>
              <a:buChar char="•"/>
            </a:pPr>
            <a:r>
              <a:rPr lang="en-US" sz="2000"/>
              <a:t>The role name signifies the role that a participating entity from the entity type plays in each relationship instance, and helps to explain what the relationship means.</a:t>
            </a:r>
            <a:endParaRPr/>
          </a:p>
          <a:p>
            <a:pPr marL="91440" lvl="0" indent="-127000" algn="just" rtl="0">
              <a:lnSpc>
                <a:spcPct val="90000"/>
              </a:lnSpc>
              <a:spcBef>
                <a:spcPts val="1400"/>
              </a:spcBef>
              <a:spcAft>
                <a:spcPts val="0"/>
              </a:spcAft>
              <a:buSzPts val="2000"/>
              <a:buFont typeface="Arial"/>
              <a:buChar char="•"/>
            </a:pPr>
            <a:r>
              <a:rPr lang="en-US" sz="2000"/>
              <a:t>Some entity types participates more than once in a relationship type in different roles. Such relationship types are called </a:t>
            </a:r>
            <a:r>
              <a:rPr lang="en-US" sz="2000" b="1"/>
              <a:t>recursive relationships</a:t>
            </a:r>
            <a:r>
              <a:rPr lang="en-US" sz="2000"/>
              <a:t>.</a:t>
            </a:r>
            <a:endParaRPr/>
          </a:p>
          <a:p>
            <a:pPr marL="91440" lvl="0" indent="0" algn="just" rtl="0">
              <a:lnSpc>
                <a:spcPct val="90000"/>
              </a:lnSpc>
              <a:spcBef>
                <a:spcPts val="1400"/>
              </a:spcBef>
              <a:spcAft>
                <a:spcPts val="0"/>
              </a:spcAft>
              <a:buSzPts val="2000"/>
              <a:buNone/>
            </a:pPr>
            <a:endParaRPr/>
          </a:p>
        </p:txBody>
      </p:sp>
      <p:sp>
        <p:nvSpPr>
          <p:cNvPr id="694" name="Google Shape;694;p5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pic>
        <p:nvPicPr>
          <p:cNvPr id="695" name="Google Shape;695;p50"/>
          <p:cNvPicPr preferRelativeResize="0"/>
          <p:nvPr/>
        </p:nvPicPr>
        <p:blipFill rotWithShape="1">
          <a:blip r:embed="rId3">
            <a:alphaModFix/>
          </a:blip>
          <a:srcRect/>
          <a:stretch/>
        </p:blipFill>
        <p:spPr>
          <a:xfrm>
            <a:off x="3903922" y="3029116"/>
            <a:ext cx="4224160" cy="3149262"/>
          </a:xfrm>
          <a:prstGeom prst="rect">
            <a:avLst/>
          </a:prstGeom>
          <a:noFill/>
          <a:ln>
            <a:noFill/>
          </a:ln>
        </p:spPr>
      </p:pic>
      <p:sp>
        <p:nvSpPr>
          <p:cNvPr id="696" name="Google Shape;696;p50"/>
          <p:cNvSpPr txBox="1"/>
          <p:nvPr/>
        </p:nvSpPr>
        <p:spPr>
          <a:xfrm>
            <a:off x="8954530" y="3319849"/>
            <a:ext cx="211712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1-Supervisor</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2-Supervisee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51"/>
          <p:cNvSpPr txBox="1">
            <a:spLocks noGrp="1"/>
          </p:cNvSpPr>
          <p:nvPr>
            <p:ph type="title"/>
          </p:nvPr>
        </p:nvSpPr>
        <p:spPr>
          <a:xfrm>
            <a:off x="1828800" y="76200"/>
            <a:ext cx="8534400" cy="11430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0000"/>
              </a:buClr>
              <a:buSzPts val="4800"/>
              <a:buFont typeface="Calibri"/>
              <a:buNone/>
            </a:pPr>
            <a:r>
              <a:rPr lang="en-US">
                <a:solidFill>
                  <a:srgbClr val="FF0000"/>
                </a:solidFill>
              </a:rPr>
              <a:t>Example…</a:t>
            </a:r>
            <a:endParaRPr/>
          </a:p>
        </p:txBody>
      </p:sp>
      <p:cxnSp>
        <p:nvCxnSpPr>
          <p:cNvPr id="702" name="Google Shape;702;p51"/>
          <p:cNvCxnSpPr/>
          <p:nvPr/>
        </p:nvCxnSpPr>
        <p:spPr>
          <a:xfrm>
            <a:off x="6962775" y="2490788"/>
            <a:ext cx="1892300" cy="412750"/>
          </a:xfrm>
          <a:prstGeom prst="straightConnector1">
            <a:avLst/>
          </a:prstGeom>
          <a:noFill/>
          <a:ln w="9525" cap="flat" cmpd="sng">
            <a:solidFill>
              <a:schemeClr val="dk1"/>
            </a:solidFill>
            <a:prstDash val="solid"/>
            <a:round/>
            <a:headEnd type="none" w="med" len="med"/>
            <a:tailEnd type="none" w="med" len="med"/>
          </a:ln>
        </p:spPr>
      </p:cxnSp>
      <p:cxnSp>
        <p:nvCxnSpPr>
          <p:cNvPr id="703" name="Google Shape;703;p51"/>
          <p:cNvCxnSpPr/>
          <p:nvPr/>
        </p:nvCxnSpPr>
        <p:spPr>
          <a:xfrm>
            <a:off x="7294563" y="3028950"/>
            <a:ext cx="1541462" cy="541338"/>
          </a:xfrm>
          <a:prstGeom prst="straightConnector1">
            <a:avLst/>
          </a:prstGeom>
          <a:noFill/>
          <a:ln w="9525" cap="flat" cmpd="sng">
            <a:solidFill>
              <a:schemeClr val="dk1"/>
            </a:solidFill>
            <a:prstDash val="solid"/>
            <a:round/>
            <a:headEnd type="none" w="med" len="med"/>
            <a:tailEnd type="none" w="med" len="med"/>
          </a:ln>
        </p:spPr>
      </p:cxnSp>
      <p:cxnSp>
        <p:nvCxnSpPr>
          <p:cNvPr id="704" name="Google Shape;704;p51"/>
          <p:cNvCxnSpPr/>
          <p:nvPr/>
        </p:nvCxnSpPr>
        <p:spPr>
          <a:xfrm>
            <a:off x="7540626" y="2816226"/>
            <a:ext cx="1331913" cy="92075"/>
          </a:xfrm>
          <a:prstGeom prst="straightConnector1">
            <a:avLst/>
          </a:prstGeom>
          <a:noFill/>
          <a:ln w="9525" cap="flat" cmpd="sng">
            <a:solidFill>
              <a:schemeClr val="dk1"/>
            </a:solidFill>
            <a:prstDash val="solid"/>
            <a:round/>
            <a:headEnd type="none" w="med" len="med"/>
            <a:tailEnd type="none" w="med" len="med"/>
          </a:ln>
        </p:spPr>
      </p:cxnSp>
      <p:cxnSp>
        <p:nvCxnSpPr>
          <p:cNvPr id="705" name="Google Shape;705;p51"/>
          <p:cNvCxnSpPr/>
          <p:nvPr/>
        </p:nvCxnSpPr>
        <p:spPr>
          <a:xfrm>
            <a:off x="6530975" y="3273425"/>
            <a:ext cx="2266950" cy="285750"/>
          </a:xfrm>
          <a:prstGeom prst="straightConnector1">
            <a:avLst/>
          </a:prstGeom>
          <a:noFill/>
          <a:ln w="9525" cap="flat" cmpd="sng">
            <a:solidFill>
              <a:schemeClr val="dk1"/>
            </a:solidFill>
            <a:prstDash val="solid"/>
            <a:round/>
            <a:headEnd type="none" w="med" len="med"/>
            <a:tailEnd type="none" w="med" len="med"/>
          </a:ln>
        </p:spPr>
      </p:cxnSp>
      <p:cxnSp>
        <p:nvCxnSpPr>
          <p:cNvPr id="706" name="Google Shape;706;p51"/>
          <p:cNvCxnSpPr/>
          <p:nvPr/>
        </p:nvCxnSpPr>
        <p:spPr>
          <a:xfrm>
            <a:off x="7159625" y="3973513"/>
            <a:ext cx="1809750" cy="290512"/>
          </a:xfrm>
          <a:prstGeom prst="straightConnector1">
            <a:avLst/>
          </a:prstGeom>
          <a:noFill/>
          <a:ln w="9525" cap="flat" cmpd="sng">
            <a:solidFill>
              <a:schemeClr val="dk1"/>
            </a:solidFill>
            <a:prstDash val="solid"/>
            <a:round/>
            <a:headEnd type="none" w="med" len="med"/>
            <a:tailEnd type="none" w="med" len="med"/>
          </a:ln>
        </p:spPr>
      </p:cxnSp>
      <p:cxnSp>
        <p:nvCxnSpPr>
          <p:cNvPr id="707" name="Google Shape;707;p51"/>
          <p:cNvCxnSpPr/>
          <p:nvPr/>
        </p:nvCxnSpPr>
        <p:spPr>
          <a:xfrm>
            <a:off x="7278689" y="4425951"/>
            <a:ext cx="1557337" cy="485775"/>
          </a:xfrm>
          <a:prstGeom prst="straightConnector1">
            <a:avLst/>
          </a:prstGeom>
          <a:noFill/>
          <a:ln w="9525" cap="flat" cmpd="sng">
            <a:solidFill>
              <a:schemeClr val="dk1"/>
            </a:solidFill>
            <a:prstDash val="solid"/>
            <a:round/>
            <a:headEnd type="none" w="med" len="med"/>
            <a:tailEnd type="none" w="med" len="med"/>
          </a:ln>
        </p:spPr>
      </p:cxnSp>
      <p:cxnSp>
        <p:nvCxnSpPr>
          <p:cNvPr id="708" name="Google Shape;708;p51"/>
          <p:cNvCxnSpPr/>
          <p:nvPr/>
        </p:nvCxnSpPr>
        <p:spPr>
          <a:xfrm>
            <a:off x="7507289" y="4930775"/>
            <a:ext cx="1347787" cy="649288"/>
          </a:xfrm>
          <a:prstGeom prst="straightConnector1">
            <a:avLst/>
          </a:prstGeom>
          <a:noFill/>
          <a:ln w="9525" cap="flat" cmpd="sng">
            <a:solidFill>
              <a:schemeClr val="dk1"/>
            </a:solidFill>
            <a:prstDash val="solid"/>
            <a:round/>
            <a:headEnd type="none" w="med" len="med"/>
            <a:tailEnd type="none" w="med" len="med"/>
          </a:ln>
        </p:spPr>
      </p:cxnSp>
      <p:cxnSp>
        <p:nvCxnSpPr>
          <p:cNvPr id="709" name="Google Shape;709;p51"/>
          <p:cNvCxnSpPr/>
          <p:nvPr/>
        </p:nvCxnSpPr>
        <p:spPr>
          <a:xfrm>
            <a:off x="7616825" y="4170363"/>
            <a:ext cx="1238250" cy="74612"/>
          </a:xfrm>
          <a:prstGeom prst="straightConnector1">
            <a:avLst/>
          </a:prstGeom>
          <a:noFill/>
          <a:ln w="9525" cap="flat" cmpd="sng">
            <a:solidFill>
              <a:schemeClr val="dk1"/>
            </a:solidFill>
            <a:prstDash val="solid"/>
            <a:round/>
            <a:headEnd type="none" w="med" len="med"/>
            <a:tailEnd type="none" w="med" len="med"/>
          </a:ln>
        </p:spPr>
      </p:cxnSp>
      <p:cxnSp>
        <p:nvCxnSpPr>
          <p:cNvPr id="710" name="Google Shape;710;p51"/>
          <p:cNvCxnSpPr/>
          <p:nvPr/>
        </p:nvCxnSpPr>
        <p:spPr>
          <a:xfrm>
            <a:off x="6519863" y="4787901"/>
            <a:ext cx="2335212" cy="117475"/>
          </a:xfrm>
          <a:prstGeom prst="straightConnector1">
            <a:avLst/>
          </a:prstGeom>
          <a:noFill/>
          <a:ln w="9525" cap="flat" cmpd="sng">
            <a:solidFill>
              <a:schemeClr val="dk1"/>
            </a:solidFill>
            <a:prstDash val="solid"/>
            <a:round/>
            <a:headEnd type="none" w="med" len="med"/>
            <a:tailEnd type="none" w="med" len="med"/>
          </a:ln>
        </p:spPr>
      </p:cxnSp>
      <p:cxnSp>
        <p:nvCxnSpPr>
          <p:cNvPr id="711" name="Google Shape;711;p51"/>
          <p:cNvCxnSpPr/>
          <p:nvPr/>
        </p:nvCxnSpPr>
        <p:spPr>
          <a:xfrm>
            <a:off x="7696201" y="5451475"/>
            <a:ext cx="1139825" cy="147638"/>
          </a:xfrm>
          <a:prstGeom prst="straightConnector1">
            <a:avLst/>
          </a:prstGeom>
          <a:noFill/>
          <a:ln w="9525" cap="flat" cmpd="sng">
            <a:solidFill>
              <a:schemeClr val="dk1"/>
            </a:solidFill>
            <a:prstDash val="solid"/>
            <a:round/>
            <a:headEnd type="none" w="med" len="med"/>
            <a:tailEnd type="none" w="med" len="med"/>
          </a:ln>
        </p:spPr>
      </p:cxnSp>
      <p:cxnSp>
        <p:nvCxnSpPr>
          <p:cNvPr id="712" name="Google Shape;712;p51"/>
          <p:cNvCxnSpPr/>
          <p:nvPr/>
        </p:nvCxnSpPr>
        <p:spPr>
          <a:xfrm rot="10800000" flipH="1">
            <a:off x="5973763" y="2320925"/>
            <a:ext cx="2843212" cy="1257300"/>
          </a:xfrm>
          <a:prstGeom prst="straightConnector1">
            <a:avLst/>
          </a:prstGeom>
          <a:noFill/>
          <a:ln w="9525" cap="flat" cmpd="sng">
            <a:solidFill>
              <a:schemeClr val="dk1"/>
            </a:solidFill>
            <a:prstDash val="solid"/>
            <a:round/>
            <a:headEnd type="none" w="med" len="med"/>
            <a:tailEnd type="none" w="med" len="med"/>
          </a:ln>
        </p:spPr>
      </p:cxnSp>
      <p:sp>
        <p:nvSpPr>
          <p:cNvPr id="713" name="Google Shape;713;p51"/>
          <p:cNvSpPr/>
          <p:nvPr/>
        </p:nvSpPr>
        <p:spPr>
          <a:xfrm>
            <a:off x="3540125" y="1558925"/>
            <a:ext cx="1943100" cy="3981450"/>
          </a:xfrm>
          <a:prstGeom prst="ellipse">
            <a:avLst/>
          </a:prstGeom>
          <a:noFill/>
          <a:ln w="9525" cap="flat" cmpd="sng">
            <a:solidFill>
              <a:schemeClr val="dk1"/>
            </a:solidFill>
            <a:prstDash val="solid"/>
            <a:round/>
            <a:headEnd type="none" w="sm" len="sm"/>
            <a:tailEnd type="none" w="sm" len="sm"/>
          </a:ln>
        </p:spPr>
        <p:txBody>
          <a:bodyPr spcFirstLastPara="1" wrap="square" lIns="91425" tIns="0" rIns="91425" bIns="1828800" anchor="t" anchorCtr="0">
            <a:noAutofit/>
          </a:bodyPr>
          <a:lstStyle/>
          <a:p>
            <a:pPr marL="0" marR="0" lvl="0" indent="0" algn="ctr" rtl="0">
              <a:spcBef>
                <a:spcPts val="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1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2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3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4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5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6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7  </a:t>
            </a:r>
            <a:endParaRPr/>
          </a:p>
        </p:txBody>
      </p:sp>
      <p:sp>
        <p:nvSpPr>
          <p:cNvPr id="714" name="Google Shape;714;p51"/>
          <p:cNvSpPr txBox="1"/>
          <p:nvPr/>
        </p:nvSpPr>
        <p:spPr>
          <a:xfrm>
            <a:off x="3803789" y="1066800"/>
            <a:ext cx="1415772"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EMPLOYEE</a:t>
            </a:r>
            <a:endParaRPr/>
          </a:p>
        </p:txBody>
      </p:sp>
      <p:sp>
        <p:nvSpPr>
          <p:cNvPr id="715" name="Google Shape;715;p51"/>
          <p:cNvSpPr/>
          <p:nvPr/>
        </p:nvSpPr>
        <p:spPr>
          <a:xfrm>
            <a:off x="7921625" y="1558925"/>
            <a:ext cx="1943100" cy="4724400"/>
          </a:xfrm>
          <a:prstGeom prst="ellipse">
            <a:avLst/>
          </a:prstGeom>
          <a:noFill/>
          <a:ln w="9525" cap="flat" cmpd="sng">
            <a:solidFill>
              <a:schemeClr val="dk1"/>
            </a:solidFill>
            <a:prstDash val="solid"/>
            <a:round/>
            <a:headEnd type="none" w="sm" len="sm"/>
            <a:tailEnd type="none" w="sm" len="sm"/>
          </a:ln>
        </p:spPr>
        <p:txBody>
          <a:bodyPr spcFirstLastPara="1" wrap="square" lIns="91425" tIns="0" rIns="91425" bIns="3200400" anchor="t" anchorCtr="0">
            <a:noAutofit/>
          </a:bodyPr>
          <a:lstStyle/>
          <a:p>
            <a:pPr marL="0" marR="0" lvl="0" indent="0" algn="ctr" rtl="0">
              <a:spcBef>
                <a:spcPts val="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1</a:t>
            </a:r>
            <a:endParaRPr sz="2000">
              <a:solidFill>
                <a:schemeClr val="dk1"/>
              </a:solidFill>
              <a:latin typeface="Calibri"/>
              <a:ea typeface="Calibri"/>
              <a:cs typeface="Calibri"/>
              <a:sym typeface="Calibri"/>
            </a:endParaRPr>
          </a:p>
          <a:p>
            <a:pPr marL="0" marR="0" lvl="0" indent="0" algn="ctr" rtl="0">
              <a:spcBef>
                <a:spcPts val="24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2</a:t>
            </a:r>
            <a:endParaRPr sz="2000">
              <a:solidFill>
                <a:schemeClr val="dk1"/>
              </a:solidFill>
              <a:latin typeface="Calibri"/>
              <a:ea typeface="Calibri"/>
              <a:cs typeface="Calibri"/>
              <a:sym typeface="Calibri"/>
            </a:endParaRPr>
          </a:p>
          <a:p>
            <a:pPr marL="0" marR="0" lvl="0" indent="0" algn="ctr" rtl="0">
              <a:spcBef>
                <a:spcPts val="24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3</a:t>
            </a:r>
            <a:endParaRPr sz="2000">
              <a:solidFill>
                <a:schemeClr val="dk1"/>
              </a:solidFill>
              <a:latin typeface="Calibri"/>
              <a:ea typeface="Calibri"/>
              <a:cs typeface="Calibri"/>
              <a:sym typeface="Calibri"/>
            </a:endParaRPr>
          </a:p>
          <a:p>
            <a:pPr marL="0" marR="0" lvl="0" indent="0" algn="ctr" rtl="0">
              <a:spcBef>
                <a:spcPts val="24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4</a:t>
            </a:r>
            <a:endParaRPr sz="2000">
              <a:solidFill>
                <a:schemeClr val="dk1"/>
              </a:solidFill>
              <a:latin typeface="Calibri"/>
              <a:ea typeface="Calibri"/>
              <a:cs typeface="Calibri"/>
              <a:sym typeface="Calibri"/>
            </a:endParaRPr>
          </a:p>
          <a:p>
            <a:pPr marL="0" marR="0" lvl="0" indent="0" algn="ctr" rtl="0">
              <a:spcBef>
                <a:spcPts val="24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5</a:t>
            </a:r>
            <a:endParaRPr sz="2000">
              <a:solidFill>
                <a:schemeClr val="dk1"/>
              </a:solidFill>
              <a:latin typeface="Calibri"/>
              <a:ea typeface="Calibri"/>
              <a:cs typeface="Calibri"/>
              <a:sym typeface="Calibri"/>
            </a:endParaRPr>
          </a:p>
          <a:p>
            <a:pPr marL="0" marR="0" lvl="0" indent="0" algn="ctr" rtl="0">
              <a:spcBef>
                <a:spcPts val="24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6</a:t>
            </a:r>
            <a:endParaRPr sz="2000">
              <a:solidFill>
                <a:schemeClr val="dk1"/>
              </a:solidFill>
              <a:latin typeface="Calibri"/>
              <a:ea typeface="Calibri"/>
              <a:cs typeface="Calibri"/>
              <a:sym typeface="Calibri"/>
            </a:endParaRPr>
          </a:p>
        </p:txBody>
      </p:sp>
      <p:sp>
        <p:nvSpPr>
          <p:cNvPr id="716" name="Google Shape;716;p51"/>
          <p:cNvSpPr txBox="1"/>
          <p:nvPr/>
        </p:nvSpPr>
        <p:spPr>
          <a:xfrm>
            <a:off x="8064632" y="1066800"/>
            <a:ext cx="166661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SUPERVISION</a:t>
            </a:r>
            <a:endParaRPr/>
          </a:p>
        </p:txBody>
      </p:sp>
      <p:sp>
        <p:nvSpPr>
          <p:cNvPr id="717" name="Google Shape;717;p51"/>
          <p:cNvSpPr/>
          <p:nvPr/>
        </p:nvSpPr>
        <p:spPr>
          <a:xfrm>
            <a:off x="8797925" y="2135189"/>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8" name="Google Shape;718;p51"/>
          <p:cNvSpPr/>
          <p:nvPr/>
        </p:nvSpPr>
        <p:spPr>
          <a:xfrm>
            <a:off x="8797925" y="2820989"/>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9" name="Google Shape;719;p51"/>
          <p:cNvSpPr/>
          <p:nvPr/>
        </p:nvSpPr>
        <p:spPr>
          <a:xfrm>
            <a:off x="8797925" y="3463926"/>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0" name="Google Shape;720;p51"/>
          <p:cNvSpPr/>
          <p:nvPr/>
        </p:nvSpPr>
        <p:spPr>
          <a:xfrm>
            <a:off x="8797925" y="4135439"/>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1" name="Google Shape;721;p51"/>
          <p:cNvSpPr/>
          <p:nvPr/>
        </p:nvSpPr>
        <p:spPr>
          <a:xfrm>
            <a:off x="8797925" y="478790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2" name="Google Shape;722;p51"/>
          <p:cNvSpPr/>
          <p:nvPr/>
        </p:nvSpPr>
        <p:spPr>
          <a:xfrm>
            <a:off x="8797925" y="549275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723" name="Google Shape;723;p51"/>
          <p:cNvCxnSpPr/>
          <p:nvPr/>
        </p:nvCxnSpPr>
        <p:spPr>
          <a:xfrm rot="10800000" flipH="1">
            <a:off x="4708526" y="2832100"/>
            <a:ext cx="2620963" cy="46038"/>
          </a:xfrm>
          <a:prstGeom prst="straightConnector1">
            <a:avLst/>
          </a:prstGeom>
          <a:noFill/>
          <a:ln w="9525" cap="flat" cmpd="sng">
            <a:solidFill>
              <a:schemeClr val="dk1"/>
            </a:solidFill>
            <a:prstDash val="solid"/>
            <a:round/>
            <a:headEnd type="none" w="med" len="med"/>
            <a:tailEnd type="none" w="med" len="med"/>
          </a:ln>
        </p:spPr>
      </p:cxnSp>
      <p:cxnSp>
        <p:nvCxnSpPr>
          <p:cNvPr id="724" name="Google Shape;724;p51"/>
          <p:cNvCxnSpPr/>
          <p:nvPr/>
        </p:nvCxnSpPr>
        <p:spPr>
          <a:xfrm>
            <a:off x="6981825" y="2166938"/>
            <a:ext cx="1835150" cy="50800"/>
          </a:xfrm>
          <a:prstGeom prst="straightConnector1">
            <a:avLst/>
          </a:prstGeom>
          <a:noFill/>
          <a:ln w="9525" cap="flat" cmpd="sng">
            <a:solidFill>
              <a:schemeClr val="dk1"/>
            </a:solidFill>
            <a:prstDash val="solid"/>
            <a:round/>
            <a:headEnd type="none" w="med" len="med"/>
            <a:tailEnd type="none" w="med" len="med"/>
          </a:ln>
        </p:spPr>
      </p:cxnSp>
      <p:sp>
        <p:nvSpPr>
          <p:cNvPr id="725" name="Google Shape;725;p51"/>
          <p:cNvSpPr txBox="1"/>
          <p:nvPr/>
        </p:nvSpPr>
        <p:spPr>
          <a:xfrm>
            <a:off x="6667500" y="1973264"/>
            <a:ext cx="311150" cy="396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2</a:t>
            </a:r>
            <a:endParaRPr/>
          </a:p>
        </p:txBody>
      </p:sp>
      <p:cxnSp>
        <p:nvCxnSpPr>
          <p:cNvPr id="726" name="Google Shape;726;p51"/>
          <p:cNvCxnSpPr/>
          <p:nvPr/>
        </p:nvCxnSpPr>
        <p:spPr>
          <a:xfrm>
            <a:off x="4695826" y="2320926"/>
            <a:ext cx="2005013" cy="130175"/>
          </a:xfrm>
          <a:prstGeom prst="straightConnector1">
            <a:avLst/>
          </a:prstGeom>
          <a:noFill/>
          <a:ln w="9525" cap="flat" cmpd="sng">
            <a:solidFill>
              <a:schemeClr val="dk1"/>
            </a:solidFill>
            <a:prstDash val="solid"/>
            <a:round/>
            <a:headEnd type="none" w="med" len="med"/>
            <a:tailEnd type="none" w="med" len="med"/>
          </a:ln>
        </p:spPr>
      </p:cxnSp>
      <p:sp>
        <p:nvSpPr>
          <p:cNvPr id="727" name="Google Shape;727;p51"/>
          <p:cNvSpPr txBox="1"/>
          <p:nvPr/>
        </p:nvSpPr>
        <p:spPr>
          <a:xfrm>
            <a:off x="6705600" y="2259014"/>
            <a:ext cx="311150" cy="396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1</a:t>
            </a:r>
            <a:endParaRPr/>
          </a:p>
        </p:txBody>
      </p:sp>
      <p:cxnSp>
        <p:nvCxnSpPr>
          <p:cNvPr id="728" name="Google Shape;728;p51"/>
          <p:cNvCxnSpPr/>
          <p:nvPr/>
        </p:nvCxnSpPr>
        <p:spPr>
          <a:xfrm>
            <a:off x="4645026" y="2320925"/>
            <a:ext cx="2359025" cy="585788"/>
          </a:xfrm>
          <a:prstGeom prst="straightConnector1">
            <a:avLst/>
          </a:prstGeom>
          <a:noFill/>
          <a:ln w="9525" cap="flat" cmpd="sng">
            <a:solidFill>
              <a:schemeClr val="dk1"/>
            </a:solidFill>
            <a:prstDash val="solid"/>
            <a:round/>
            <a:headEnd type="none" w="med" len="med"/>
            <a:tailEnd type="none" w="med" len="med"/>
          </a:ln>
        </p:spPr>
      </p:cxnSp>
      <p:sp>
        <p:nvSpPr>
          <p:cNvPr id="729" name="Google Shape;729;p51"/>
          <p:cNvSpPr txBox="1"/>
          <p:nvPr/>
        </p:nvSpPr>
        <p:spPr>
          <a:xfrm>
            <a:off x="6989763" y="2757489"/>
            <a:ext cx="311150" cy="396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1</a:t>
            </a:r>
            <a:endParaRPr/>
          </a:p>
        </p:txBody>
      </p:sp>
      <p:sp>
        <p:nvSpPr>
          <p:cNvPr id="730" name="Google Shape;730;p51"/>
          <p:cNvSpPr txBox="1"/>
          <p:nvPr/>
        </p:nvSpPr>
        <p:spPr>
          <a:xfrm>
            <a:off x="7296150" y="2620964"/>
            <a:ext cx="311150" cy="396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2</a:t>
            </a:r>
            <a:endParaRPr/>
          </a:p>
        </p:txBody>
      </p:sp>
      <p:cxnSp>
        <p:nvCxnSpPr>
          <p:cNvPr id="731" name="Google Shape;731;p51"/>
          <p:cNvCxnSpPr/>
          <p:nvPr/>
        </p:nvCxnSpPr>
        <p:spPr>
          <a:xfrm rot="10800000" flipH="1">
            <a:off x="4664075" y="2160589"/>
            <a:ext cx="2019300" cy="160337"/>
          </a:xfrm>
          <a:prstGeom prst="straightConnector1">
            <a:avLst/>
          </a:prstGeom>
          <a:noFill/>
          <a:ln w="9525" cap="flat" cmpd="sng">
            <a:solidFill>
              <a:schemeClr val="dk1"/>
            </a:solidFill>
            <a:prstDash val="solid"/>
            <a:round/>
            <a:headEnd type="none" w="med" len="med"/>
            <a:tailEnd type="none" w="med" len="med"/>
          </a:ln>
        </p:spPr>
      </p:cxnSp>
      <p:cxnSp>
        <p:nvCxnSpPr>
          <p:cNvPr id="732" name="Google Shape;732;p51"/>
          <p:cNvCxnSpPr/>
          <p:nvPr/>
        </p:nvCxnSpPr>
        <p:spPr>
          <a:xfrm rot="10800000" flipH="1">
            <a:off x="4664075" y="3254375"/>
            <a:ext cx="1619250" cy="46038"/>
          </a:xfrm>
          <a:prstGeom prst="straightConnector1">
            <a:avLst/>
          </a:prstGeom>
          <a:noFill/>
          <a:ln w="9525" cap="flat" cmpd="sng">
            <a:solidFill>
              <a:schemeClr val="dk1"/>
            </a:solidFill>
            <a:prstDash val="solid"/>
            <a:round/>
            <a:headEnd type="none" w="med" len="med"/>
            <a:tailEnd type="none" w="med" len="med"/>
          </a:ln>
        </p:spPr>
      </p:cxnSp>
      <p:cxnSp>
        <p:nvCxnSpPr>
          <p:cNvPr id="733" name="Google Shape;733;p51"/>
          <p:cNvCxnSpPr/>
          <p:nvPr/>
        </p:nvCxnSpPr>
        <p:spPr>
          <a:xfrm>
            <a:off x="4708525" y="3821113"/>
            <a:ext cx="2146300" cy="100012"/>
          </a:xfrm>
          <a:prstGeom prst="straightConnector1">
            <a:avLst/>
          </a:prstGeom>
          <a:noFill/>
          <a:ln w="9525" cap="flat" cmpd="sng">
            <a:solidFill>
              <a:schemeClr val="dk1"/>
            </a:solidFill>
            <a:prstDash val="solid"/>
            <a:round/>
            <a:headEnd type="none" w="med" len="med"/>
            <a:tailEnd type="none" w="med" len="med"/>
          </a:ln>
        </p:spPr>
      </p:cxnSp>
      <p:sp>
        <p:nvSpPr>
          <p:cNvPr id="734" name="Google Shape;734;p51"/>
          <p:cNvSpPr txBox="1"/>
          <p:nvPr/>
        </p:nvSpPr>
        <p:spPr>
          <a:xfrm>
            <a:off x="6856413" y="3748089"/>
            <a:ext cx="311150" cy="396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2</a:t>
            </a:r>
            <a:endParaRPr/>
          </a:p>
        </p:txBody>
      </p:sp>
      <p:cxnSp>
        <p:nvCxnSpPr>
          <p:cNvPr id="735" name="Google Shape;735;p51"/>
          <p:cNvCxnSpPr/>
          <p:nvPr/>
        </p:nvCxnSpPr>
        <p:spPr>
          <a:xfrm>
            <a:off x="4683125" y="3821113"/>
            <a:ext cx="2362200" cy="519112"/>
          </a:xfrm>
          <a:prstGeom prst="straightConnector1">
            <a:avLst/>
          </a:prstGeom>
          <a:noFill/>
          <a:ln w="9525" cap="flat" cmpd="sng">
            <a:solidFill>
              <a:schemeClr val="dk1"/>
            </a:solidFill>
            <a:prstDash val="solid"/>
            <a:round/>
            <a:headEnd type="none" w="med" len="med"/>
            <a:tailEnd type="none" w="med" len="med"/>
          </a:ln>
        </p:spPr>
      </p:cxnSp>
      <p:sp>
        <p:nvSpPr>
          <p:cNvPr id="736" name="Google Shape;736;p51"/>
          <p:cNvSpPr txBox="1"/>
          <p:nvPr/>
        </p:nvSpPr>
        <p:spPr>
          <a:xfrm>
            <a:off x="7008813" y="4167189"/>
            <a:ext cx="311150" cy="396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1</a:t>
            </a:r>
            <a:endParaRPr/>
          </a:p>
        </p:txBody>
      </p:sp>
      <p:cxnSp>
        <p:nvCxnSpPr>
          <p:cNvPr id="737" name="Google Shape;737;p51"/>
          <p:cNvCxnSpPr/>
          <p:nvPr/>
        </p:nvCxnSpPr>
        <p:spPr>
          <a:xfrm>
            <a:off x="4695825" y="3821113"/>
            <a:ext cx="2520950" cy="996950"/>
          </a:xfrm>
          <a:prstGeom prst="straightConnector1">
            <a:avLst/>
          </a:prstGeom>
          <a:noFill/>
          <a:ln w="9525" cap="flat" cmpd="sng">
            <a:solidFill>
              <a:schemeClr val="dk1"/>
            </a:solidFill>
            <a:prstDash val="solid"/>
            <a:round/>
            <a:headEnd type="none" w="med" len="med"/>
            <a:tailEnd type="none" w="med" len="med"/>
          </a:ln>
        </p:spPr>
      </p:cxnSp>
      <p:sp>
        <p:nvSpPr>
          <p:cNvPr id="738" name="Google Shape;738;p51"/>
          <p:cNvSpPr txBox="1"/>
          <p:nvPr/>
        </p:nvSpPr>
        <p:spPr>
          <a:xfrm>
            <a:off x="7199313" y="4700589"/>
            <a:ext cx="311150" cy="396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1</a:t>
            </a:r>
            <a:endParaRPr/>
          </a:p>
        </p:txBody>
      </p:sp>
      <p:cxnSp>
        <p:nvCxnSpPr>
          <p:cNvPr id="739" name="Google Shape;739;p51"/>
          <p:cNvCxnSpPr/>
          <p:nvPr/>
        </p:nvCxnSpPr>
        <p:spPr>
          <a:xfrm rot="10800000" flipH="1">
            <a:off x="4721225" y="3692526"/>
            <a:ext cx="971550" cy="485775"/>
          </a:xfrm>
          <a:prstGeom prst="straightConnector1">
            <a:avLst/>
          </a:prstGeom>
          <a:noFill/>
          <a:ln w="9525" cap="flat" cmpd="sng">
            <a:solidFill>
              <a:schemeClr val="dk1"/>
            </a:solidFill>
            <a:prstDash val="solid"/>
            <a:round/>
            <a:headEnd type="none" w="med" len="med"/>
            <a:tailEnd type="none" w="med" len="med"/>
          </a:ln>
        </p:spPr>
      </p:cxnSp>
      <p:sp>
        <p:nvSpPr>
          <p:cNvPr id="740" name="Google Shape;740;p51"/>
          <p:cNvSpPr txBox="1"/>
          <p:nvPr/>
        </p:nvSpPr>
        <p:spPr>
          <a:xfrm>
            <a:off x="5694363" y="3424239"/>
            <a:ext cx="311150" cy="396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1</a:t>
            </a:r>
            <a:endParaRPr/>
          </a:p>
        </p:txBody>
      </p:sp>
      <p:sp>
        <p:nvSpPr>
          <p:cNvPr id="741" name="Google Shape;741;p51"/>
          <p:cNvSpPr txBox="1"/>
          <p:nvPr/>
        </p:nvSpPr>
        <p:spPr>
          <a:xfrm>
            <a:off x="6265863" y="3062289"/>
            <a:ext cx="311150" cy="396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2</a:t>
            </a:r>
            <a:endParaRPr/>
          </a:p>
        </p:txBody>
      </p:sp>
      <p:cxnSp>
        <p:nvCxnSpPr>
          <p:cNvPr id="742" name="Google Shape;742;p51"/>
          <p:cNvCxnSpPr/>
          <p:nvPr/>
        </p:nvCxnSpPr>
        <p:spPr>
          <a:xfrm rot="10800000" flipH="1">
            <a:off x="4721225" y="4178301"/>
            <a:ext cx="2705100" cy="85725"/>
          </a:xfrm>
          <a:prstGeom prst="straightConnector1">
            <a:avLst/>
          </a:prstGeom>
          <a:noFill/>
          <a:ln w="9525" cap="flat" cmpd="sng">
            <a:solidFill>
              <a:schemeClr val="dk1"/>
            </a:solidFill>
            <a:prstDash val="solid"/>
            <a:round/>
            <a:headEnd type="none" w="med" len="med"/>
            <a:tailEnd type="none" w="med" len="med"/>
          </a:ln>
        </p:spPr>
      </p:cxnSp>
      <p:sp>
        <p:nvSpPr>
          <p:cNvPr id="743" name="Google Shape;743;p51"/>
          <p:cNvSpPr txBox="1"/>
          <p:nvPr/>
        </p:nvSpPr>
        <p:spPr>
          <a:xfrm>
            <a:off x="7369175" y="3976689"/>
            <a:ext cx="311150" cy="396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1</a:t>
            </a:r>
            <a:endParaRPr/>
          </a:p>
        </p:txBody>
      </p:sp>
      <p:cxnSp>
        <p:nvCxnSpPr>
          <p:cNvPr id="744" name="Google Shape;744;p51"/>
          <p:cNvCxnSpPr/>
          <p:nvPr/>
        </p:nvCxnSpPr>
        <p:spPr>
          <a:xfrm>
            <a:off x="4664075" y="4722814"/>
            <a:ext cx="1619250" cy="65087"/>
          </a:xfrm>
          <a:prstGeom prst="straightConnector1">
            <a:avLst/>
          </a:prstGeom>
          <a:noFill/>
          <a:ln w="9525" cap="flat" cmpd="sng">
            <a:solidFill>
              <a:schemeClr val="dk1"/>
            </a:solidFill>
            <a:prstDash val="solid"/>
            <a:round/>
            <a:headEnd type="none" w="med" len="med"/>
            <a:tailEnd type="none" w="med" len="med"/>
          </a:ln>
        </p:spPr>
      </p:cxnSp>
      <p:sp>
        <p:nvSpPr>
          <p:cNvPr id="745" name="Google Shape;745;p51"/>
          <p:cNvSpPr txBox="1"/>
          <p:nvPr/>
        </p:nvSpPr>
        <p:spPr>
          <a:xfrm>
            <a:off x="6208713" y="4491039"/>
            <a:ext cx="311150" cy="396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2</a:t>
            </a:r>
            <a:endParaRPr/>
          </a:p>
        </p:txBody>
      </p:sp>
      <p:cxnSp>
        <p:nvCxnSpPr>
          <p:cNvPr id="746" name="Google Shape;746;p51"/>
          <p:cNvCxnSpPr/>
          <p:nvPr/>
        </p:nvCxnSpPr>
        <p:spPr>
          <a:xfrm>
            <a:off x="4683125" y="5214939"/>
            <a:ext cx="2800350" cy="212725"/>
          </a:xfrm>
          <a:prstGeom prst="straightConnector1">
            <a:avLst/>
          </a:prstGeom>
          <a:noFill/>
          <a:ln w="9525" cap="flat" cmpd="sng">
            <a:solidFill>
              <a:schemeClr val="dk1"/>
            </a:solidFill>
            <a:prstDash val="solid"/>
            <a:round/>
            <a:headEnd type="none" w="med" len="med"/>
            <a:tailEnd type="none" w="med" len="med"/>
          </a:ln>
        </p:spPr>
      </p:cxnSp>
      <p:sp>
        <p:nvSpPr>
          <p:cNvPr id="747" name="Google Shape;747;p51"/>
          <p:cNvSpPr txBox="1"/>
          <p:nvPr/>
        </p:nvSpPr>
        <p:spPr>
          <a:xfrm>
            <a:off x="7446963" y="5214939"/>
            <a:ext cx="311150" cy="396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2</a:t>
            </a:r>
            <a:endParaRPr/>
          </a:p>
        </p:txBody>
      </p:sp>
      <p:sp>
        <p:nvSpPr>
          <p:cNvPr id="748" name="Google Shape;748;p51"/>
          <p:cNvSpPr txBox="1"/>
          <p:nvPr/>
        </p:nvSpPr>
        <p:spPr>
          <a:xfrm>
            <a:off x="3997325" y="5902325"/>
            <a:ext cx="1782860" cy="523220"/>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400"/>
              <a:buFont typeface="Calibri"/>
              <a:buAutoNum type="arabicParenBoth"/>
            </a:pPr>
            <a:r>
              <a:rPr lang="en-US" sz="1400">
                <a:solidFill>
                  <a:schemeClr val="dk1"/>
                </a:solidFill>
                <a:latin typeface="Calibri"/>
                <a:ea typeface="Calibri"/>
                <a:cs typeface="Calibri"/>
                <a:sym typeface="Calibri"/>
              </a:rPr>
              <a:t>Supervisor Role</a:t>
            </a:r>
            <a:endParaRPr/>
          </a:p>
          <a:p>
            <a:pPr marL="342900" marR="0" lvl="0" indent="-342900" algn="l" rtl="0">
              <a:spcBef>
                <a:spcPts val="0"/>
              </a:spcBef>
              <a:spcAft>
                <a:spcPts val="0"/>
              </a:spcAft>
              <a:buClr>
                <a:schemeClr val="dk1"/>
              </a:buClr>
              <a:buSzPts val="1400"/>
              <a:buFont typeface="Calibri"/>
              <a:buAutoNum type="arabicParenBoth"/>
            </a:pPr>
            <a:r>
              <a:rPr lang="en-US" sz="1400">
                <a:solidFill>
                  <a:schemeClr val="dk1"/>
                </a:solidFill>
                <a:latin typeface="Calibri"/>
                <a:ea typeface="Calibri"/>
                <a:cs typeface="Calibri"/>
                <a:sym typeface="Calibri"/>
              </a:rPr>
              <a:t>Subordinate Role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p52"/>
          <p:cNvSpPr txBox="1">
            <a:spLocks noGrp="1"/>
          </p:cNvSpPr>
          <p:nvPr>
            <p:ph type="title"/>
          </p:nvPr>
        </p:nvSpPr>
        <p:spPr>
          <a:xfrm>
            <a:off x="1135020" y="211209"/>
            <a:ext cx="10142580" cy="711429"/>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5000"/>
              </a:lnSpc>
              <a:spcBef>
                <a:spcPts val="0"/>
              </a:spcBef>
              <a:spcAft>
                <a:spcPts val="0"/>
              </a:spcAft>
              <a:buClr>
                <a:srgbClr val="FF0000"/>
              </a:buClr>
              <a:buSzPct val="100000"/>
              <a:buFont typeface="Calibri"/>
              <a:buNone/>
            </a:pPr>
            <a:r>
              <a:rPr lang="en-US">
                <a:solidFill>
                  <a:srgbClr val="FF0000"/>
                </a:solidFill>
              </a:rPr>
              <a:t>Constraints on Binary Relationship Types</a:t>
            </a:r>
            <a:endParaRPr/>
          </a:p>
        </p:txBody>
      </p:sp>
      <p:sp>
        <p:nvSpPr>
          <p:cNvPr id="754" name="Google Shape;754;p52"/>
          <p:cNvSpPr txBox="1">
            <a:spLocks noGrp="1"/>
          </p:cNvSpPr>
          <p:nvPr>
            <p:ph type="body" idx="1"/>
          </p:nvPr>
        </p:nvSpPr>
        <p:spPr>
          <a:xfrm>
            <a:off x="719138" y="990188"/>
            <a:ext cx="10844506" cy="5237617"/>
          </a:xfrm>
          <a:prstGeom prst="rect">
            <a:avLst/>
          </a:prstGeom>
          <a:noFill/>
          <a:ln>
            <a:noFill/>
          </a:ln>
        </p:spPr>
        <p:txBody>
          <a:bodyPr spcFirstLastPara="1" wrap="square" lIns="0" tIns="45700" rIns="0" bIns="45700" anchor="t" anchorCtr="0">
            <a:normAutofit fontScale="55000" lnSpcReduction="20000"/>
          </a:bodyPr>
          <a:lstStyle/>
          <a:p>
            <a:pPr marL="91440" lvl="0" indent="-101282" algn="just" rtl="0">
              <a:lnSpc>
                <a:spcPct val="90000"/>
              </a:lnSpc>
              <a:spcBef>
                <a:spcPts val="0"/>
              </a:spcBef>
              <a:spcAft>
                <a:spcPts val="0"/>
              </a:spcAft>
              <a:buSzPct val="100000"/>
              <a:buChar char=" "/>
            </a:pPr>
            <a:r>
              <a:rPr lang="en-US" sz="2900" dirty="0"/>
              <a:t>There are two types of relationship constraints:</a:t>
            </a:r>
            <a:endParaRPr dirty="0"/>
          </a:p>
          <a:p>
            <a:pPr marL="384048" lvl="1" indent="-81597" algn="just" rtl="0">
              <a:lnSpc>
                <a:spcPct val="90000"/>
              </a:lnSpc>
              <a:spcBef>
                <a:spcPts val="400"/>
              </a:spcBef>
              <a:spcAft>
                <a:spcPts val="0"/>
              </a:spcAft>
              <a:buSzPct val="100000"/>
              <a:buNone/>
            </a:pPr>
            <a:endParaRPr sz="2900" dirty="0"/>
          </a:p>
          <a:p>
            <a:pPr marL="384048" lvl="1" indent="-182880" algn="just" rtl="0">
              <a:lnSpc>
                <a:spcPct val="90000"/>
              </a:lnSpc>
              <a:spcBef>
                <a:spcPts val="600"/>
              </a:spcBef>
              <a:spcAft>
                <a:spcPts val="0"/>
              </a:spcAft>
              <a:buSzPct val="100000"/>
              <a:buFont typeface="Arial"/>
              <a:buChar char="•"/>
            </a:pPr>
            <a:r>
              <a:rPr lang="en-US" sz="2900" dirty="0"/>
              <a:t>Cardinality ratio:</a:t>
            </a:r>
            <a:endParaRPr dirty="0"/>
          </a:p>
          <a:p>
            <a:pPr marL="384048" lvl="1" indent="-81597" algn="just" rtl="0">
              <a:lnSpc>
                <a:spcPct val="90000"/>
              </a:lnSpc>
              <a:spcBef>
                <a:spcPts val="600"/>
              </a:spcBef>
              <a:spcAft>
                <a:spcPts val="0"/>
              </a:spcAft>
              <a:buSzPct val="100000"/>
              <a:buNone/>
            </a:pPr>
            <a:endParaRPr sz="2900" dirty="0"/>
          </a:p>
          <a:p>
            <a:pPr marL="566928" lvl="2" indent="-182880" algn="just" rtl="0">
              <a:lnSpc>
                <a:spcPct val="170000"/>
              </a:lnSpc>
              <a:spcBef>
                <a:spcPts val="600"/>
              </a:spcBef>
              <a:spcAft>
                <a:spcPts val="0"/>
              </a:spcAft>
              <a:buSzPct val="100000"/>
              <a:buChar char="◦"/>
            </a:pPr>
            <a:r>
              <a:rPr lang="en-US" sz="2900" dirty="0"/>
              <a:t>* 	</a:t>
            </a:r>
            <a:r>
              <a:rPr lang="en-US" sz="2900" i="0" dirty="0"/>
              <a:t>The cardinality ratio for binary relationship specifies the maximum number of relationship instances that an entity can participate in.</a:t>
            </a:r>
            <a:endParaRPr dirty="0"/>
          </a:p>
          <a:p>
            <a:pPr marL="566928" lvl="2" indent="-182880" algn="just" rtl="0">
              <a:lnSpc>
                <a:spcPct val="170000"/>
              </a:lnSpc>
              <a:spcBef>
                <a:spcPts val="600"/>
              </a:spcBef>
              <a:spcAft>
                <a:spcPts val="0"/>
              </a:spcAft>
              <a:buSzPct val="100000"/>
              <a:buChar char="◦"/>
            </a:pPr>
            <a:r>
              <a:rPr lang="en-US" sz="2900" i="0" dirty="0"/>
              <a:t>*	The possible cardinality ratio for binary relationship types are 1:1, 1:N, N:1 and M:N</a:t>
            </a:r>
            <a:endParaRPr dirty="0"/>
          </a:p>
          <a:p>
            <a:pPr marL="566928" lvl="2" indent="-81597" algn="just" rtl="0">
              <a:lnSpc>
                <a:spcPct val="90000"/>
              </a:lnSpc>
              <a:spcBef>
                <a:spcPts val="600"/>
              </a:spcBef>
              <a:spcAft>
                <a:spcPts val="0"/>
              </a:spcAft>
              <a:buSzPct val="100000"/>
              <a:buNone/>
            </a:pPr>
            <a:endParaRPr sz="2900" dirty="0"/>
          </a:p>
          <a:p>
            <a:pPr marL="566928" lvl="2" indent="-81597" algn="just" rtl="0">
              <a:lnSpc>
                <a:spcPct val="90000"/>
              </a:lnSpc>
              <a:spcBef>
                <a:spcPts val="600"/>
              </a:spcBef>
              <a:spcAft>
                <a:spcPts val="0"/>
              </a:spcAft>
              <a:buSzPct val="100000"/>
              <a:buNone/>
            </a:pPr>
            <a:endParaRPr sz="2900" dirty="0"/>
          </a:p>
          <a:p>
            <a:pPr marL="384048" lvl="1" indent="-182880" algn="just" rtl="0">
              <a:lnSpc>
                <a:spcPct val="90000"/>
              </a:lnSpc>
              <a:spcBef>
                <a:spcPts val="600"/>
              </a:spcBef>
              <a:spcAft>
                <a:spcPts val="0"/>
              </a:spcAft>
              <a:buSzPct val="100000"/>
              <a:buFont typeface="Arial"/>
              <a:buChar char="•"/>
            </a:pPr>
            <a:r>
              <a:rPr lang="en-US" sz="2900" dirty="0"/>
              <a:t>Participation:</a:t>
            </a:r>
            <a:endParaRPr dirty="0"/>
          </a:p>
          <a:p>
            <a:pPr marL="384048" lvl="1" indent="-81597" algn="just" rtl="0">
              <a:lnSpc>
                <a:spcPct val="90000"/>
              </a:lnSpc>
              <a:spcBef>
                <a:spcPts val="600"/>
              </a:spcBef>
              <a:spcAft>
                <a:spcPts val="0"/>
              </a:spcAft>
              <a:buSzPct val="100000"/>
              <a:buNone/>
            </a:pPr>
            <a:endParaRPr sz="2900" dirty="0"/>
          </a:p>
          <a:p>
            <a:pPr marL="566928" lvl="2" indent="-182880" algn="just" rtl="0">
              <a:lnSpc>
                <a:spcPct val="170000"/>
              </a:lnSpc>
              <a:spcBef>
                <a:spcPts val="600"/>
              </a:spcBef>
              <a:spcAft>
                <a:spcPts val="0"/>
              </a:spcAft>
              <a:buSzPct val="100000"/>
              <a:buChar char="◦"/>
            </a:pPr>
            <a:r>
              <a:rPr lang="en-US" sz="2900" i="0" dirty="0"/>
              <a:t>*	The participation constraint specifies whether the existence of an entity depends on its being related to another entity via the relationship type.</a:t>
            </a:r>
            <a:endParaRPr dirty="0"/>
          </a:p>
          <a:p>
            <a:pPr marL="566928" lvl="2" indent="-182880" algn="just" rtl="0">
              <a:lnSpc>
                <a:spcPct val="170000"/>
              </a:lnSpc>
              <a:spcBef>
                <a:spcPts val="600"/>
              </a:spcBef>
              <a:spcAft>
                <a:spcPts val="0"/>
              </a:spcAft>
              <a:buSzPct val="100000"/>
              <a:buChar char="◦"/>
            </a:pPr>
            <a:r>
              <a:rPr lang="en-US" sz="2900" i="0" dirty="0"/>
              <a:t>*	This constraint specifies the minimum number of relationship instances that each entity can participate in.</a:t>
            </a:r>
            <a:endParaRPr dirty="0"/>
          </a:p>
          <a:p>
            <a:pPr marL="91440" lvl="0" indent="0" algn="just" rtl="0">
              <a:lnSpc>
                <a:spcPct val="90000"/>
              </a:lnSpc>
              <a:spcBef>
                <a:spcPts val="1600"/>
              </a:spcBef>
              <a:spcAft>
                <a:spcPts val="0"/>
              </a:spcAft>
              <a:buSzPct val="100000"/>
              <a:buNone/>
            </a:pPr>
            <a:endParaRPr sz="2900" dirty="0"/>
          </a:p>
          <a:p>
            <a:pPr marL="91440" lvl="0" indent="-101282" algn="just" rtl="0">
              <a:lnSpc>
                <a:spcPct val="90000"/>
              </a:lnSpc>
              <a:spcBef>
                <a:spcPts val="1400"/>
              </a:spcBef>
              <a:spcAft>
                <a:spcPts val="0"/>
              </a:spcAft>
              <a:buSzPct val="100000"/>
              <a:buChar char=" "/>
            </a:pPr>
            <a:r>
              <a:rPr lang="en-US" sz="2900" dirty="0"/>
              <a:t>The cardinality ratio and participation constraint together called as </a:t>
            </a:r>
            <a:r>
              <a:rPr lang="en-US" sz="2900" b="1" dirty="0"/>
              <a:t>structural constraint</a:t>
            </a:r>
            <a:r>
              <a:rPr lang="en-US" sz="2900" dirty="0"/>
              <a:t>.</a:t>
            </a:r>
            <a:endParaRPr dirty="0"/>
          </a:p>
          <a:p>
            <a:pPr marL="91440" lvl="0" indent="0" algn="just" rtl="0">
              <a:lnSpc>
                <a:spcPct val="90000"/>
              </a:lnSpc>
              <a:spcBef>
                <a:spcPts val="1400"/>
              </a:spcBef>
              <a:spcAft>
                <a:spcPts val="0"/>
              </a:spcAft>
              <a:buSzPct val="100000"/>
              <a:buNone/>
            </a:pPr>
            <a:endParaRPr sz="2900" dirty="0"/>
          </a:p>
          <a:p>
            <a:pPr marL="91440" lvl="0" indent="-21589" algn="just" rtl="0">
              <a:lnSpc>
                <a:spcPct val="90000"/>
              </a:lnSpc>
              <a:spcBef>
                <a:spcPts val="1400"/>
              </a:spcBef>
              <a:spcAft>
                <a:spcPts val="0"/>
              </a:spcAft>
              <a:buSzPct val="100000"/>
              <a:buNone/>
            </a:pPr>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p53"/>
          <p:cNvSpPr txBox="1">
            <a:spLocks noGrp="1"/>
          </p:cNvSpPr>
          <p:nvPr>
            <p:ph type="title"/>
          </p:nvPr>
        </p:nvSpPr>
        <p:spPr>
          <a:xfrm>
            <a:off x="623887" y="178144"/>
            <a:ext cx="10772775" cy="78824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0000"/>
              </a:buClr>
              <a:buSzPts val="4800"/>
              <a:buFont typeface="Calibri"/>
              <a:buNone/>
            </a:pPr>
            <a:r>
              <a:rPr lang="en-US">
                <a:solidFill>
                  <a:srgbClr val="FF0000"/>
                </a:solidFill>
              </a:rPr>
              <a:t>1:1 Relationship</a:t>
            </a:r>
            <a:endParaRPr/>
          </a:p>
        </p:txBody>
      </p:sp>
      <p:cxnSp>
        <p:nvCxnSpPr>
          <p:cNvPr id="760" name="Google Shape;760;p53"/>
          <p:cNvCxnSpPr/>
          <p:nvPr/>
        </p:nvCxnSpPr>
        <p:spPr>
          <a:xfrm rot="10800000" flipH="1">
            <a:off x="3067050" y="2343150"/>
            <a:ext cx="2838450" cy="1219200"/>
          </a:xfrm>
          <a:prstGeom prst="straightConnector1">
            <a:avLst/>
          </a:prstGeom>
          <a:noFill/>
          <a:ln w="9525" cap="flat" cmpd="sng">
            <a:solidFill>
              <a:schemeClr val="dk1"/>
            </a:solidFill>
            <a:prstDash val="solid"/>
            <a:round/>
            <a:headEnd type="none" w="med" len="med"/>
            <a:tailEnd type="none" w="med" len="med"/>
          </a:ln>
        </p:spPr>
      </p:cxnSp>
      <p:cxnSp>
        <p:nvCxnSpPr>
          <p:cNvPr id="761" name="Google Shape;761;p53"/>
          <p:cNvCxnSpPr/>
          <p:nvPr/>
        </p:nvCxnSpPr>
        <p:spPr>
          <a:xfrm rot="10800000" flipH="1">
            <a:off x="3067050" y="3505200"/>
            <a:ext cx="2838450" cy="1009650"/>
          </a:xfrm>
          <a:prstGeom prst="straightConnector1">
            <a:avLst/>
          </a:prstGeom>
          <a:noFill/>
          <a:ln w="9525" cap="flat" cmpd="sng">
            <a:solidFill>
              <a:schemeClr val="dk1"/>
            </a:solidFill>
            <a:prstDash val="solid"/>
            <a:round/>
            <a:headEnd type="none" w="med" len="med"/>
            <a:tailEnd type="none" w="med" len="med"/>
          </a:ln>
        </p:spPr>
      </p:cxnSp>
      <p:cxnSp>
        <p:nvCxnSpPr>
          <p:cNvPr id="762" name="Google Shape;762;p53"/>
          <p:cNvCxnSpPr/>
          <p:nvPr/>
        </p:nvCxnSpPr>
        <p:spPr>
          <a:xfrm rot="10800000" flipH="1">
            <a:off x="3048000" y="2952750"/>
            <a:ext cx="2895600" cy="2057400"/>
          </a:xfrm>
          <a:prstGeom prst="straightConnector1">
            <a:avLst/>
          </a:prstGeom>
          <a:noFill/>
          <a:ln w="9525" cap="flat" cmpd="sng">
            <a:solidFill>
              <a:schemeClr val="dk1"/>
            </a:solidFill>
            <a:prstDash val="solid"/>
            <a:round/>
            <a:headEnd type="none" w="med" len="med"/>
            <a:tailEnd type="none" w="med" len="med"/>
          </a:ln>
        </p:spPr>
      </p:cxnSp>
      <p:cxnSp>
        <p:nvCxnSpPr>
          <p:cNvPr id="763" name="Google Shape;763;p53"/>
          <p:cNvCxnSpPr/>
          <p:nvPr/>
        </p:nvCxnSpPr>
        <p:spPr>
          <a:xfrm>
            <a:off x="6076950" y="2343150"/>
            <a:ext cx="2895600" cy="228600"/>
          </a:xfrm>
          <a:prstGeom prst="straightConnector1">
            <a:avLst/>
          </a:prstGeom>
          <a:noFill/>
          <a:ln w="9525" cap="flat" cmpd="sng">
            <a:solidFill>
              <a:schemeClr val="dk1"/>
            </a:solidFill>
            <a:prstDash val="solid"/>
            <a:round/>
            <a:headEnd type="none" w="med" len="med"/>
            <a:tailEnd type="none" w="med" len="med"/>
          </a:ln>
        </p:spPr>
      </p:cxnSp>
      <p:cxnSp>
        <p:nvCxnSpPr>
          <p:cNvPr id="764" name="Google Shape;764;p53"/>
          <p:cNvCxnSpPr/>
          <p:nvPr/>
        </p:nvCxnSpPr>
        <p:spPr>
          <a:xfrm>
            <a:off x="6096000" y="2952750"/>
            <a:ext cx="2838450" cy="533400"/>
          </a:xfrm>
          <a:prstGeom prst="straightConnector1">
            <a:avLst/>
          </a:prstGeom>
          <a:noFill/>
          <a:ln w="9525" cap="flat" cmpd="sng">
            <a:solidFill>
              <a:schemeClr val="dk1"/>
            </a:solidFill>
            <a:prstDash val="solid"/>
            <a:round/>
            <a:headEnd type="none" w="med" len="med"/>
            <a:tailEnd type="none" w="med" len="med"/>
          </a:ln>
        </p:spPr>
      </p:cxnSp>
      <p:cxnSp>
        <p:nvCxnSpPr>
          <p:cNvPr id="765" name="Google Shape;765;p53"/>
          <p:cNvCxnSpPr/>
          <p:nvPr/>
        </p:nvCxnSpPr>
        <p:spPr>
          <a:xfrm>
            <a:off x="6076950" y="3495676"/>
            <a:ext cx="2819400" cy="904875"/>
          </a:xfrm>
          <a:prstGeom prst="straightConnector1">
            <a:avLst/>
          </a:prstGeom>
          <a:noFill/>
          <a:ln w="9525" cap="flat" cmpd="sng">
            <a:solidFill>
              <a:schemeClr val="dk1"/>
            </a:solidFill>
            <a:prstDash val="solid"/>
            <a:round/>
            <a:headEnd type="none" w="med" len="med"/>
            <a:tailEnd type="none" w="med" len="med"/>
          </a:ln>
        </p:spPr>
      </p:cxnSp>
      <p:sp>
        <p:nvSpPr>
          <p:cNvPr id="766" name="Google Shape;766;p53"/>
          <p:cNvSpPr/>
          <p:nvPr/>
        </p:nvSpPr>
        <p:spPr>
          <a:xfrm>
            <a:off x="5905500" y="225425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7" name="Google Shape;767;p53"/>
          <p:cNvSpPr/>
          <p:nvPr/>
        </p:nvSpPr>
        <p:spPr>
          <a:xfrm>
            <a:off x="5905500" y="284480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8" name="Google Shape;768;p53"/>
          <p:cNvSpPr/>
          <p:nvPr/>
        </p:nvSpPr>
        <p:spPr>
          <a:xfrm>
            <a:off x="5905500" y="341630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9" name="Google Shape;769;p53"/>
          <p:cNvSpPr/>
          <p:nvPr/>
        </p:nvSpPr>
        <p:spPr>
          <a:xfrm>
            <a:off x="1990725" y="1752600"/>
            <a:ext cx="1943100" cy="3981450"/>
          </a:xfrm>
          <a:prstGeom prst="ellipse">
            <a:avLst/>
          </a:prstGeom>
          <a:noFill/>
          <a:ln w="9525" cap="flat" cmpd="sng">
            <a:solidFill>
              <a:schemeClr val="dk1"/>
            </a:solidFill>
            <a:prstDash val="solid"/>
            <a:round/>
            <a:headEnd type="none" w="sm" len="sm"/>
            <a:tailEnd type="none" w="sm" len="sm"/>
          </a:ln>
        </p:spPr>
        <p:txBody>
          <a:bodyPr spcFirstLastPara="1" wrap="square" lIns="91425" tIns="0" rIns="91425" bIns="0" anchor="t" anchorCtr="0">
            <a:noAutofit/>
          </a:bodyPr>
          <a:lstStyle/>
          <a:p>
            <a:pPr marL="0" marR="0" lvl="0" indent="0" algn="ctr" rtl="0">
              <a:spcBef>
                <a:spcPts val="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1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2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3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4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5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6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7  </a:t>
            </a:r>
            <a:endParaRPr/>
          </a:p>
        </p:txBody>
      </p:sp>
      <p:sp>
        <p:nvSpPr>
          <p:cNvPr id="770" name="Google Shape;770;p53"/>
          <p:cNvSpPr txBox="1"/>
          <p:nvPr/>
        </p:nvSpPr>
        <p:spPr>
          <a:xfrm>
            <a:off x="2187714" y="1260475"/>
            <a:ext cx="1415772"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EMPLOYEE</a:t>
            </a:r>
            <a:endParaRPr/>
          </a:p>
        </p:txBody>
      </p:sp>
      <p:sp>
        <p:nvSpPr>
          <p:cNvPr id="771" name="Google Shape;771;p53"/>
          <p:cNvSpPr/>
          <p:nvPr/>
        </p:nvSpPr>
        <p:spPr>
          <a:xfrm>
            <a:off x="5029200" y="1828800"/>
            <a:ext cx="1943100" cy="4724400"/>
          </a:xfrm>
          <a:prstGeom prst="ellipse">
            <a:avLst/>
          </a:prstGeom>
          <a:noFill/>
          <a:ln w="9525" cap="flat" cmpd="sng">
            <a:solidFill>
              <a:schemeClr val="dk1"/>
            </a:solidFill>
            <a:prstDash val="solid"/>
            <a:round/>
            <a:headEnd type="none" w="sm" len="sm"/>
            <a:tailEnd type="none" w="sm" len="sm"/>
          </a:ln>
        </p:spPr>
        <p:txBody>
          <a:bodyPr spcFirstLastPara="1" wrap="square" lIns="91425" tIns="0" rIns="91425" bIns="3657600" anchor="t" anchorCtr="0">
            <a:noAutofit/>
          </a:bodyPr>
          <a:lstStyle/>
          <a:p>
            <a:pPr marL="0" marR="0" lvl="0" indent="0" algn="ctr" rtl="0">
              <a:spcBef>
                <a:spcPts val="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1</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2</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3</a:t>
            </a:r>
            <a:endParaRPr sz="2000">
              <a:solidFill>
                <a:schemeClr val="dk1"/>
              </a:solidFill>
              <a:latin typeface="Calibri"/>
              <a:ea typeface="Calibri"/>
              <a:cs typeface="Calibri"/>
              <a:sym typeface="Calibri"/>
            </a:endParaRPr>
          </a:p>
          <a:p>
            <a:pPr marL="0" marR="0" lvl="0" indent="0" algn="ctr" rtl="0">
              <a:spcBef>
                <a:spcPts val="2120"/>
              </a:spcBef>
              <a:spcAft>
                <a:spcPts val="0"/>
              </a:spcAft>
              <a:buNone/>
            </a:pPr>
            <a:r>
              <a:rPr lang="en-US" sz="2800" b="1">
                <a:solidFill>
                  <a:schemeClr val="dk1"/>
                </a:solidFill>
                <a:latin typeface="Calibri"/>
                <a:ea typeface="Calibri"/>
                <a:cs typeface="Calibri"/>
                <a:sym typeface="Calibri"/>
              </a:rPr>
              <a:t>.</a:t>
            </a:r>
            <a:endParaRPr sz="2000" b="1">
              <a:solidFill>
                <a:schemeClr val="dk1"/>
              </a:solidFill>
              <a:latin typeface="Calibri"/>
              <a:ea typeface="Calibri"/>
              <a:cs typeface="Calibri"/>
              <a:sym typeface="Calibri"/>
            </a:endParaRPr>
          </a:p>
          <a:p>
            <a:pPr marL="0" marR="0" lvl="0" indent="0" algn="ctr" rtl="0">
              <a:spcBef>
                <a:spcPts val="2520"/>
              </a:spcBef>
              <a:spcAft>
                <a:spcPts val="0"/>
              </a:spcAft>
              <a:buNone/>
            </a:pPr>
            <a:r>
              <a:rPr lang="en-US" sz="2800" b="1">
                <a:solidFill>
                  <a:schemeClr val="dk1"/>
                </a:solidFill>
                <a:latin typeface="Calibri"/>
                <a:ea typeface="Calibri"/>
                <a:cs typeface="Calibri"/>
                <a:sym typeface="Calibri"/>
              </a:rPr>
              <a:t>.</a:t>
            </a:r>
            <a:endParaRPr sz="2000" b="1">
              <a:solidFill>
                <a:schemeClr val="dk1"/>
              </a:solidFill>
              <a:latin typeface="Calibri"/>
              <a:ea typeface="Calibri"/>
              <a:cs typeface="Calibri"/>
              <a:sym typeface="Calibri"/>
            </a:endParaRPr>
          </a:p>
          <a:p>
            <a:pPr marL="0" marR="0" lvl="0" indent="0" algn="ctr" rtl="0">
              <a:spcBef>
                <a:spcPts val="2520"/>
              </a:spcBef>
              <a:spcAft>
                <a:spcPts val="0"/>
              </a:spcAft>
              <a:buNone/>
            </a:pPr>
            <a:r>
              <a:rPr lang="en-US" sz="2800" b="1">
                <a:solidFill>
                  <a:schemeClr val="dk1"/>
                </a:solidFill>
                <a:latin typeface="Calibri"/>
                <a:ea typeface="Calibri"/>
                <a:cs typeface="Calibri"/>
                <a:sym typeface="Calibri"/>
              </a:rPr>
              <a:t>.</a:t>
            </a:r>
            <a:endParaRPr sz="2000" b="1">
              <a:solidFill>
                <a:schemeClr val="dk1"/>
              </a:solidFill>
              <a:latin typeface="Calibri"/>
              <a:ea typeface="Calibri"/>
              <a:cs typeface="Calibri"/>
              <a:sym typeface="Calibri"/>
            </a:endParaRPr>
          </a:p>
          <a:p>
            <a:pPr marL="0" marR="0" lvl="0" indent="0" algn="ctr" rtl="0">
              <a:spcBef>
                <a:spcPts val="2200"/>
              </a:spcBef>
              <a:spcAft>
                <a:spcPts val="0"/>
              </a:spcAft>
              <a:buNone/>
            </a:pPr>
            <a:endParaRPr sz="2000">
              <a:solidFill>
                <a:schemeClr val="dk1"/>
              </a:solidFill>
              <a:latin typeface="Calibri"/>
              <a:ea typeface="Calibri"/>
              <a:cs typeface="Calibri"/>
              <a:sym typeface="Calibri"/>
            </a:endParaRPr>
          </a:p>
        </p:txBody>
      </p:sp>
      <p:sp>
        <p:nvSpPr>
          <p:cNvPr id="772" name="Google Shape;772;p53"/>
          <p:cNvSpPr txBox="1"/>
          <p:nvPr/>
        </p:nvSpPr>
        <p:spPr>
          <a:xfrm>
            <a:off x="5176617" y="1260475"/>
            <a:ext cx="1326004"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MANAGES</a:t>
            </a:r>
            <a:endParaRPr/>
          </a:p>
        </p:txBody>
      </p:sp>
      <p:sp>
        <p:nvSpPr>
          <p:cNvPr id="773" name="Google Shape;773;p53"/>
          <p:cNvSpPr/>
          <p:nvPr/>
        </p:nvSpPr>
        <p:spPr>
          <a:xfrm>
            <a:off x="8077200" y="1752600"/>
            <a:ext cx="1943100" cy="3981450"/>
          </a:xfrm>
          <a:prstGeom prst="ellipse">
            <a:avLst/>
          </a:prstGeom>
          <a:noFill/>
          <a:ln w="9525" cap="flat" cmpd="sng">
            <a:solidFill>
              <a:schemeClr val="dk1"/>
            </a:solidFill>
            <a:prstDash val="solid"/>
            <a:round/>
            <a:headEnd type="none" w="sm" len="sm"/>
            <a:tailEnd type="none" w="sm" len="sm"/>
          </a:ln>
        </p:spPr>
        <p:txBody>
          <a:bodyPr spcFirstLastPara="1" wrap="square" lIns="91425" tIns="0" rIns="91425" bIns="0" anchor="t" anchorCtr="0">
            <a:noAutofit/>
          </a:bodyPr>
          <a:lstStyle/>
          <a:p>
            <a:pPr marL="0" marR="0" lvl="0" indent="0" algn="ctr" rtl="0">
              <a:spcBef>
                <a:spcPts val="0"/>
              </a:spcBef>
              <a:spcAft>
                <a:spcPts val="0"/>
              </a:spcAft>
              <a:buNone/>
            </a:pPr>
            <a:r>
              <a:rPr lang="en-US" sz="2000" baseline="-25000">
                <a:solidFill>
                  <a:schemeClr val="dk1"/>
                </a:solidFill>
                <a:latin typeface="Calibri"/>
                <a:ea typeface="Calibri"/>
                <a:cs typeface="Calibri"/>
                <a:sym typeface="Calibri"/>
              </a:rPr>
              <a:t></a:t>
            </a:r>
            <a:r>
              <a:rPr lang="en-US" sz="2000">
                <a:solidFill>
                  <a:schemeClr val="dk1"/>
                </a:solidFill>
                <a:latin typeface="Calibri"/>
                <a:ea typeface="Calibri"/>
                <a:cs typeface="Calibri"/>
                <a:sym typeface="Calibri"/>
              </a:rPr>
              <a:t> d</a:t>
            </a:r>
            <a:r>
              <a:rPr lang="en-US" sz="2000" baseline="-25000">
                <a:solidFill>
                  <a:schemeClr val="dk1"/>
                </a:solidFill>
                <a:latin typeface="Calibri"/>
                <a:ea typeface="Calibri"/>
                <a:cs typeface="Calibri"/>
                <a:sym typeface="Calibri"/>
              </a:rPr>
              <a:t>1</a:t>
            </a:r>
            <a:endParaRPr sz="2000">
              <a:solidFill>
                <a:schemeClr val="dk1"/>
              </a:solidFill>
              <a:latin typeface="Calibri"/>
              <a:ea typeface="Calibri"/>
              <a:cs typeface="Calibri"/>
              <a:sym typeface="Calibri"/>
            </a:endParaRPr>
          </a:p>
          <a:p>
            <a:pPr marL="0" marR="0" lvl="0" indent="0" algn="ctr" rtl="0">
              <a:spcBef>
                <a:spcPts val="4000"/>
              </a:spcBef>
              <a:spcAft>
                <a:spcPts val="0"/>
              </a:spcAft>
              <a:buNone/>
            </a:pPr>
            <a:r>
              <a:rPr lang="en-US" sz="2000" baseline="-25000">
                <a:solidFill>
                  <a:schemeClr val="dk1"/>
                </a:solidFill>
                <a:latin typeface="Calibri"/>
                <a:ea typeface="Calibri"/>
                <a:cs typeface="Calibri"/>
                <a:sym typeface="Calibri"/>
              </a:rPr>
              <a:t></a:t>
            </a:r>
            <a:r>
              <a:rPr lang="en-US" sz="2000">
                <a:solidFill>
                  <a:schemeClr val="dk1"/>
                </a:solidFill>
                <a:latin typeface="Calibri"/>
                <a:ea typeface="Calibri"/>
                <a:cs typeface="Calibri"/>
                <a:sym typeface="Calibri"/>
              </a:rPr>
              <a:t> d</a:t>
            </a:r>
            <a:r>
              <a:rPr lang="en-US" sz="2000" baseline="-25000">
                <a:solidFill>
                  <a:schemeClr val="dk1"/>
                </a:solidFill>
                <a:latin typeface="Calibri"/>
                <a:ea typeface="Calibri"/>
                <a:cs typeface="Calibri"/>
                <a:sym typeface="Calibri"/>
              </a:rPr>
              <a:t>2</a:t>
            </a:r>
            <a:endParaRPr sz="2000">
              <a:solidFill>
                <a:schemeClr val="dk1"/>
              </a:solidFill>
              <a:latin typeface="Calibri"/>
              <a:ea typeface="Calibri"/>
              <a:cs typeface="Calibri"/>
              <a:sym typeface="Calibri"/>
            </a:endParaRPr>
          </a:p>
          <a:p>
            <a:pPr marL="0" marR="0" lvl="0" indent="0" algn="ctr" rtl="0">
              <a:spcBef>
                <a:spcPts val="4000"/>
              </a:spcBef>
              <a:spcAft>
                <a:spcPts val="0"/>
              </a:spcAft>
              <a:buNone/>
            </a:pPr>
            <a:r>
              <a:rPr lang="en-US" sz="2000" baseline="-25000">
                <a:solidFill>
                  <a:schemeClr val="dk1"/>
                </a:solidFill>
                <a:latin typeface="Calibri"/>
                <a:ea typeface="Calibri"/>
                <a:cs typeface="Calibri"/>
                <a:sym typeface="Calibri"/>
              </a:rPr>
              <a:t></a:t>
            </a:r>
            <a:r>
              <a:rPr lang="en-US" sz="2000">
                <a:solidFill>
                  <a:schemeClr val="dk1"/>
                </a:solidFill>
                <a:latin typeface="Calibri"/>
                <a:ea typeface="Calibri"/>
                <a:cs typeface="Calibri"/>
                <a:sym typeface="Calibri"/>
              </a:rPr>
              <a:t> d</a:t>
            </a:r>
            <a:r>
              <a:rPr lang="en-US" sz="2000" baseline="-25000">
                <a:solidFill>
                  <a:schemeClr val="dk1"/>
                </a:solidFill>
                <a:latin typeface="Calibri"/>
                <a:ea typeface="Calibri"/>
                <a:cs typeface="Calibri"/>
                <a:sym typeface="Calibri"/>
              </a:rPr>
              <a:t>3</a:t>
            </a:r>
            <a:endParaRPr sz="2000">
              <a:solidFill>
                <a:schemeClr val="dk1"/>
              </a:solidFill>
              <a:latin typeface="Calibri"/>
              <a:ea typeface="Calibri"/>
              <a:cs typeface="Calibri"/>
              <a:sym typeface="Calibri"/>
            </a:endParaRPr>
          </a:p>
        </p:txBody>
      </p:sp>
      <p:sp>
        <p:nvSpPr>
          <p:cNvPr id="774" name="Google Shape;774;p53"/>
          <p:cNvSpPr txBox="1"/>
          <p:nvPr/>
        </p:nvSpPr>
        <p:spPr>
          <a:xfrm>
            <a:off x="8203626" y="1260475"/>
            <a:ext cx="170136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DEPARTMENT</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p54"/>
          <p:cNvSpPr txBox="1">
            <a:spLocks noGrp="1"/>
          </p:cNvSpPr>
          <p:nvPr>
            <p:ph type="title"/>
          </p:nvPr>
        </p:nvSpPr>
        <p:spPr>
          <a:xfrm>
            <a:off x="676656" y="47201"/>
            <a:ext cx="10772775" cy="959273"/>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0000"/>
              </a:buClr>
              <a:buSzPts val="4800"/>
              <a:buFont typeface="Calibri"/>
              <a:buNone/>
            </a:pPr>
            <a:r>
              <a:rPr lang="en-US">
                <a:solidFill>
                  <a:srgbClr val="FF0000"/>
                </a:solidFill>
              </a:rPr>
              <a:t>1:N Relationship</a:t>
            </a:r>
            <a:endParaRPr/>
          </a:p>
        </p:txBody>
      </p:sp>
      <p:sp>
        <p:nvSpPr>
          <p:cNvPr id="780" name="Google Shape;780;p54"/>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0" algn="l" rtl="0">
              <a:lnSpc>
                <a:spcPct val="90000"/>
              </a:lnSpc>
              <a:spcBef>
                <a:spcPts val="0"/>
              </a:spcBef>
              <a:spcAft>
                <a:spcPts val="0"/>
              </a:spcAft>
              <a:buSzPts val="2000"/>
              <a:buNone/>
            </a:pPr>
            <a:endParaRPr/>
          </a:p>
        </p:txBody>
      </p:sp>
      <p:cxnSp>
        <p:nvCxnSpPr>
          <p:cNvPr id="781" name="Google Shape;781;p54"/>
          <p:cNvCxnSpPr/>
          <p:nvPr/>
        </p:nvCxnSpPr>
        <p:spPr>
          <a:xfrm rot="10800000" flipH="1">
            <a:off x="3048000" y="2343150"/>
            <a:ext cx="2971800" cy="247650"/>
          </a:xfrm>
          <a:prstGeom prst="straightConnector1">
            <a:avLst/>
          </a:prstGeom>
          <a:noFill/>
          <a:ln w="9525" cap="flat" cmpd="sng">
            <a:solidFill>
              <a:schemeClr val="dk1"/>
            </a:solidFill>
            <a:prstDash val="solid"/>
            <a:round/>
            <a:headEnd type="none" w="med" len="med"/>
            <a:tailEnd type="none" w="med" len="med"/>
          </a:ln>
        </p:spPr>
      </p:cxnSp>
      <p:cxnSp>
        <p:nvCxnSpPr>
          <p:cNvPr id="782" name="Google Shape;782;p54"/>
          <p:cNvCxnSpPr/>
          <p:nvPr/>
        </p:nvCxnSpPr>
        <p:spPr>
          <a:xfrm rot="10800000" flipH="1">
            <a:off x="3048000" y="2971800"/>
            <a:ext cx="2914650" cy="76200"/>
          </a:xfrm>
          <a:prstGeom prst="straightConnector1">
            <a:avLst/>
          </a:prstGeom>
          <a:noFill/>
          <a:ln w="9525" cap="flat" cmpd="sng">
            <a:solidFill>
              <a:schemeClr val="dk1"/>
            </a:solidFill>
            <a:prstDash val="solid"/>
            <a:round/>
            <a:headEnd type="none" w="med" len="med"/>
            <a:tailEnd type="none" w="med" len="med"/>
          </a:ln>
        </p:spPr>
      </p:cxnSp>
      <p:cxnSp>
        <p:nvCxnSpPr>
          <p:cNvPr id="783" name="Google Shape;783;p54"/>
          <p:cNvCxnSpPr/>
          <p:nvPr/>
        </p:nvCxnSpPr>
        <p:spPr>
          <a:xfrm rot="10800000" flipH="1">
            <a:off x="3067050" y="3524250"/>
            <a:ext cx="2857500" cy="38100"/>
          </a:xfrm>
          <a:prstGeom prst="straightConnector1">
            <a:avLst/>
          </a:prstGeom>
          <a:noFill/>
          <a:ln w="9525" cap="flat" cmpd="sng">
            <a:solidFill>
              <a:schemeClr val="dk1"/>
            </a:solidFill>
            <a:prstDash val="solid"/>
            <a:round/>
            <a:headEnd type="none" w="med" len="med"/>
            <a:tailEnd type="none" w="med" len="med"/>
          </a:ln>
        </p:spPr>
      </p:cxnSp>
      <p:cxnSp>
        <p:nvCxnSpPr>
          <p:cNvPr id="784" name="Google Shape;784;p54"/>
          <p:cNvCxnSpPr/>
          <p:nvPr/>
        </p:nvCxnSpPr>
        <p:spPr>
          <a:xfrm>
            <a:off x="3067050" y="4038600"/>
            <a:ext cx="2914650" cy="76200"/>
          </a:xfrm>
          <a:prstGeom prst="straightConnector1">
            <a:avLst/>
          </a:prstGeom>
          <a:noFill/>
          <a:ln w="9525" cap="flat" cmpd="sng">
            <a:solidFill>
              <a:schemeClr val="dk1"/>
            </a:solidFill>
            <a:prstDash val="solid"/>
            <a:round/>
            <a:headEnd type="none" w="med" len="med"/>
            <a:tailEnd type="none" w="med" len="med"/>
          </a:ln>
        </p:spPr>
      </p:cxnSp>
      <p:cxnSp>
        <p:nvCxnSpPr>
          <p:cNvPr id="785" name="Google Shape;785;p54"/>
          <p:cNvCxnSpPr/>
          <p:nvPr/>
        </p:nvCxnSpPr>
        <p:spPr>
          <a:xfrm>
            <a:off x="3067050" y="4514850"/>
            <a:ext cx="2876550" cy="152400"/>
          </a:xfrm>
          <a:prstGeom prst="straightConnector1">
            <a:avLst/>
          </a:prstGeom>
          <a:noFill/>
          <a:ln w="9525" cap="flat" cmpd="sng">
            <a:solidFill>
              <a:schemeClr val="dk1"/>
            </a:solidFill>
            <a:prstDash val="solid"/>
            <a:round/>
            <a:headEnd type="none" w="med" len="med"/>
            <a:tailEnd type="none" w="med" len="med"/>
          </a:ln>
        </p:spPr>
      </p:cxnSp>
      <p:cxnSp>
        <p:nvCxnSpPr>
          <p:cNvPr id="786" name="Google Shape;786;p54"/>
          <p:cNvCxnSpPr/>
          <p:nvPr/>
        </p:nvCxnSpPr>
        <p:spPr>
          <a:xfrm>
            <a:off x="3048000" y="5010150"/>
            <a:ext cx="2933700" cy="247650"/>
          </a:xfrm>
          <a:prstGeom prst="straightConnector1">
            <a:avLst/>
          </a:prstGeom>
          <a:noFill/>
          <a:ln w="9525" cap="flat" cmpd="sng">
            <a:solidFill>
              <a:schemeClr val="dk1"/>
            </a:solidFill>
            <a:prstDash val="solid"/>
            <a:round/>
            <a:headEnd type="none" w="med" len="med"/>
            <a:tailEnd type="none" w="med" len="med"/>
          </a:ln>
        </p:spPr>
      </p:cxnSp>
      <p:cxnSp>
        <p:nvCxnSpPr>
          <p:cNvPr id="787" name="Google Shape;787;p54"/>
          <p:cNvCxnSpPr/>
          <p:nvPr/>
        </p:nvCxnSpPr>
        <p:spPr>
          <a:xfrm>
            <a:off x="3067050" y="5524500"/>
            <a:ext cx="2895600" cy="323850"/>
          </a:xfrm>
          <a:prstGeom prst="straightConnector1">
            <a:avLst/>
          </a:prstGeom>
          <a:noFill/>
          <a:ln w="9525" cap="flat" cmpd="sng">
            <a:solidFill>
              <a:schemeClr val="dk1"/>
            </a:solidFill>
            <a:prstDash val="solid"/>
            <a:round/>
            <a:headEnd type="none" w="med" len="med"/>
            <a:tailEnd type="none" w="med" len="med"/>
          </a:ln>
        </p:spPr>
      </p:cxnSp>
      <p:cxnSp>
        <p:nvCxnSpPr>
          <p:cNvPr id="788" name="Google Shape;788;p54"/>
          <p:cNvCxnSpPr/>
          <p:nvPr/>
        </p:nvCxnSpPr>
        <p:spPr>
          <a:xfrm>
            <a:off x="6076950" y="2343150"/>
            <a:ext cx="2895600" cy="228600"/>
          </a:xfrm>
          <a:prstGeom prst="straightConnector1">
            <a:avLst/>
          </a:prstGeom>
          <a:noFill/>
          <a:ln w="9525" cap="flat" cmpd="sng">
            <a:solidFill>
              <a:schemeClr val="dk1"/>
            </a:solidFill>
            <a:prstDash val="solid"/>
            <a:round/>
            <a:headEnd type="none" w="med" len="med"/>
            <a:tailEnd type="none" w="med" len="med"/>
          </a:ln>
        </p:spPr>
      </p:cxnSp>
      <p:cxnSp>
        <p:nvCxnSpPr>
          <p:cNvPr id="789" name="Google Shape;789;p54"/>
          <p:cNvCxnSpPr/>
          <p:nvPr/>
        </p:nvCxnSpPr>
        <p:spPr>
          <a:xfrm>
            <a:off x="6096000" y="2952750"/>
            <a:ext cx="2838450" cy="533400"/>
          </a:xfrm>
          <a:prstGeom prst="straightConnector1">
            <a:avLst/>
          </a:prstGeom>
          <a:noFill/>
          <a:ln w="9525" cap="flat" cmpd="sng">
            <a:solidFill>
              <a:schemeClr val="dk1"/>
            </a:solidFill>
            <a:prstDash val="solid"/>
            <a:round/>
            <a:headEnd type="none" w="med" len="med"/>
            <a:tailEnd type="none" w="med" len="med"/>
          </a:ln>
        </p:spPr>
      </p:cxnSp>
      <p:cxnSp>
        <p:nvCxnSpPr>
          <p:cNvPr id="790" name="Google Shape;790;p54"/>
          <p:cNvCxnSpPr/>
          <p:nvPr/>
        </p:nvCxnSpPr>
        <p:spPr>
          <a:xfrm rot="10800000" flipH="1">
            <a:off x="6076950" y="2571750"/>
            <a:ext cx="2857500" cy="952500"/>
          </a:xfrm>
          <a:prstGeom prst="straightConnector1">
            <a:avLst/>
          </a:prstGeom>
          <a:noFill/>
          <a:ln w="9525" cap="flat" cmpd="sng">
            <a:solidFill>
              <a:schemeClr val="dk1"/>
            </a:solidFill>
            <a:prstDash val="solid"/>
            <a:round/>
            <a:headEnd type="none" w="med" len="med"/>
            <a:tailEnd type="none" w="med" len="med"/>
          </a:ln>
        </p:spPr>
      </p:cxnSp>
      <p:cxnSp>
        <p:nvCxnSpPr>
          <p:cNvPr id="791" name="Google Shape;791;p54"/>
          <p:cNvCxnSpPr/>
          <p:nvPr/>
        </p:nvCxnSpPr>
        <p:spPr>
          <a:xfrm rot="10800000" flipH="1">
            <a:off x="6115050" y="3505200"/>
            <a:ext cx="2800350" cy="590550"/>
          </a:xfrm>
          <a:prstGeom prst="straightConnector1">
            <a:avLst/>
          </a:prstGeom>
          <a:noFill/>
          <a:ln w="9525" cap="flat" cmpd="sng">
            <a:solidFill>
              <a:schemeClr val="dk1"/>
            </a:solidFill>
            <a:prstDash val="solid"/>
            <a:round/>
            <a:headEnd type="none" w="med" len="med"/>
            <a:tailEnd type="none" w="med" len="med"/>
          </a:ln>
        </p:spPr>
      </p:cxnSp>
      <p:cxnSp>
        <p:nvCxnSpPr>
          <p:cNvPr id="792" name="Google Shape;792;p54"/>
          <p:cNvCxnSpPr/>
          <p:nvPr/>
        </p:nvCxnSpPr>
        <p:spPr>
          <a:xfrm rot="10800000" flipH="1">
            <a:off x="6076950" y="4400550"/>
            <a:ext cx="2819400" cy="285750"/>
          </a:xfrm>
          <a:prstGeom prst="straightConnector1">
            <a:avLst/>
          </a:prstGeom>
          <a:noFill/>
          <a:ln w="9525" cap="flat" cmpd="sng">
            <a:solidFill>
              <a:schemeClr val="dk1"/>
            </a:solidFill>
            <a:prstDash val="solid"/>
            <a:round/>
            <a:headEnd type="none" w="med" len="med"/>
            <a:tailEnd type="none" w="med" len="med"/>
          </a:ln>
        </p:spPr>
      </p:cxnSp>
      <p:cxnSp>
        <p:nvCxnSpPr>
          <p:cNvPr id="793" name="Google Shape;793;p54"/>
          <p:cNvCxnSpPr/>
          <p:nvPr/>
        </p:nvCxnSpPr>
        <p:spPr>
          <a:xfrm rot="10800000" flipH="1">
            <a:off x="6076950" y="4400550"/>
            <a:ext cx="2838450" cy="1447800"/>
          </a:xfrm>
          <a:prstGeom prst="straightConnector1">
            <a:avLst/>
          </a:prstGeom>
          <a:noFill/>
          <a:ln w="9525" cap="flat" cmpd="sng">
            <a:solidFill>
              <a:schemeClr val="dk1"/>
            </a:solidFill>
            <a:prstDash val="solid"/>
            <a:round/>
            <a:headEnd type="none" w="med" len="med"/>
            <a:tailEnd type="none" w="med" len="med"/>
          </a:ln>
        </p:spPr>
      </p:cxnSp>
      <p:sp>
        <p:nvSpPr>
          <p:cNvPr id="794" name="Google Shape;794;p54"/>
          <p:cNvSpPr/>
          <p:nvPr/>
        </p:nvSpPr>
        <p:spPr>
          <a:xfrm>
            <a:off x="5905500" y="225425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5" name="Google Shape;795;p54"/>
          <p:cNvSpPr/>
          <p:nvPr/>
        </p:nvSpPr>
        <p:spPr>
          <a:xfrm>
            <a:off x="5905500" y="284480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6" name="Google Shape;796;p54"/>
          <p:cNvSpPr/>
          <p:nvPr/>
        </p:nvSpPr>
        <p:spPr>
          <a:xfrm>
            <a:off x="5905500" y="341630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7" name="Google Shape;797;p54"/>
          <p:cNvSpPr/>
          <p:nvPr/>
        </p:nvSpPr>
        <p:spPr>
          <a:xfrm>
            <a:off x="5905500" y="400685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8" name="Google Shape;798;p54"/>
          <p:cNvSpPr/>
          <p:nvPr/>
        </p:nvSpPr>
        <p:spPr>
          <a:xfrm>
            <a:off x="5905500" y="457835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9" name="Google Shape;799;p54"/>
          <p:cNvSpPr/>
          <p:nvPr/>
        </p:nvSpPr>
        <p:spPr>
          <a:xfrm>
            <a:off x="5905500" y="516890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0" name="Google Shape;800;p54"/>
          <p:cNvSpPr/>
          <p:nvPr/>
        </p:nvSpPr>
        <p:spPr>
          <a:xfrm>
            <a:off x="5905500" y="574040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1" name="Google Shape;801;p54"/>
          <p:cNvSpPr/>
          <p:nvPr/>
        </p:nvSpPr>
        <p:spPr>
          <a:xfrm>
            <a:off x="1990725" y="1752600"/>
            <a:ext cx="1943100" cy="3981450"/>
          </a:xfrm>
          <a:prstGeom prst="ellipse">
            <a:avLst/>
          </a:prstGeom>
          <a:noFill/>
          <a:ln w="9525" cap="flat" cmpd="sng">
            <a:solidFill>
              <a:schemeClr val="dk1"/>
            </a:solidFill>
            <a:prstDash val="solid"/>
            <a:round/>
            <a:headEnd type="none" w="sm" len="sm"/>
            <a:tailEnd type="none" w="sm" len="sm"/>
          </a:ln>
        </p:spPr>
        <p:txBody>
          <a:bodyPr spcFirstLastPara="1" wrap="square" lIns="91425" tIns="0" rIns="91425" bIns="0" anchor="t" anchorCtr="0">
            <a:noAutofit/>
          </a:bodyPr>
          <a:lstStyle/>
          <a:p>
            <a:pPr marL="0" marR="0" lvl="0" indent="0" algn="ctr" rtl="0">
              <a:spcBef>
                <a:spcPts val="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1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2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3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4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5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6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7  </a:t>
            </a:r>
            <a:endParaRPr/>
          </a:p>
        </p:txBody>
      </p:sp>
      <p:sp>
        <p:nvSpPr>
          <p:cNvPr id="802" name="Google Shape;802;p54"/>
          <p:cNvSpPr txBox="1"/>
          <p:nvPr/>
        </p:nvSpPr>
        <p:spPr>
          <a:xfrm>
            <a:off x="2187714" y="1260475"/>
            <a:ext cx="1415772"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EMPLOYEE</a:t>
            </a:r>
            <a:endParaRPr/>
          </a:p>
        </p:txBody>
      </p:sp>
      <p:sp>
        <p:nvSpPr>
          <p:cNvPr id="803" name="Google Shape;803;p54"/>
          <p:cNvSpPr/>
          <p:nvPr/>
        </p:nvSpPr>
        <p:spPr>
          <a:xfrm>
            <a:off x="5029200" y="1752601"/>
            <a:ext cx="1943100" cy="4814455"/>
          </a:xfrm>
          <a:prstGeom prst="ellipse">
            <a:avLst/>
          </a:prstGeom>
          <a:noFill/>
          <a:ln w="9525" cap="flat" cmpd="sng">
            <a:solidFill>
              <a:schemeClr val="dk1"/>
            </a:solidFill>
            <a:prstDash val="solid"/>
            <a:round/>
            <a:headEnd type="none" w="sm" len="sm"/>
            <a:tailEnd type="none" w="sm" len="sm"/>
          </a:ln>
        </p:spPr>
        <p:txBody>
          <a:bodyPr spcFirstLastPara="1" wrap="square" lIns="91425" tIns="0" rIns="91425" bIns="3657600" anchor="t" anchorCtr="0">
            <a:noAutofit/>
          </a:bodyPr>
          <a:lstStyle/>
          <a:p>
            <a:pPr marL="0" marR="0" lvl="0" indent="0" algn="ctr" rtl="0">
              <a:spcBef>
                <a:spcPts val="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1</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2</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3</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4</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5</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6</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7</a:t>
            </a:r>
            <a:endParaRPr sz="2000">
              <a:solidFill>
                <a:schemeClr val="dk1"/>
              </a:solidFill>
              <a:latin typeface="Calibri"/>
              <a:ea typeface="Calibri"/>
              <a:cs typeface="Calibri"/>
              <a:sym typeface="Calibri"/>
            </a:endParaRPr>
          </a:p>
        </p:txBody>
      </p:sp>
      <p:sp>
        <p:nvSpPr>
          <p:cNvPr id="804" name="Google Shape;804;p54"/>
          <p:cNvSpPr txBox="1"/>
          <p:nvPr/>
        </p:nvSpPr>
        <p:spPr>
          <a:xfrm>
            <a:off x="5209508" y="1260475"/>
            <a:ext cx="1582484"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WORKS_FOR</a:t>
            </a:r>
            <a:endParaRPr/>
          </a:p>
        </p:txBody>
      </p:sp>
      <p:sp>
        <p:nvSpPr>
          <p:cNvPr id="805" name="Google Shape;805;p54"/>
          <p:cNvSpPr/>
          <p:nvPr/>
        </p:nvSpPr>
        <p:spPr>
          <a:xfrm>
            <a:off x="8077200" y="1752600"/>
            <a:ext cx="1943100" cy="3981450"/>
          </a:xfrm>
          <a:prstGeom prst="ellipse">
            <a:avLst/>
          </a:prstGeom>
          <a:noFill/>
          <a:ln w="9525" cap="flat" cmpd="sng">
            <a:solidFill>
              <a:schemeClr val="dk1"/>
            </a:solidFill>
            <a:prstDash val="solid"/>
            <a:round/>
            <a:headEnd type="none" w="sm" len="sm"/>
            <a:tailEnd type="none" w="sm" len="sm"/>
          </a:ln>
        </p:spPr>
        <p:txBody>
          <a:bodyPr spcFirstLastPara="1" wrap="square" lIns="91425" tIns="0" rIns="91425" bIns="0" anchor="t" anchorCtr="0">
            <a:noAutofit/>
          </a:bodyPr>
          <a:lstStyle/>
          <a:p>
            <a:pPr marL="0" marR="0" lvl="0" indent="0" algn="ctr" rtl="0">
              <a:spcBef>
                <a:spcPts val="0"/>
              </a:spcBef>
              <a:spcAft>
                <a:spcPts val="0"/>
              </a:spcAft>
              <a:buNone/>
            </a:pPr>
            <a:r>
              <a:rPr lang="en-US" sz="2000" baseline="-25000">
                <a:solidFill>
                  <a:schemeClr val="dk1"/>
                </a:solidFill>
                <a:latin typeface="Calibri"/>
                <a:ea typeface="Calibri"/>
                <a:cs typeface="Calibri"/>
                <a:sym typeface="Calibri"/>
              </a:rPr>
              <a:t></a:t>
            </a:r>
            <a:r>
              <a:rPr lang="en-US" sz="2000">
                <a:solidFill>
                  <a:schemeClr val="dk1"/>
                </a:solidFill>
                <a:latin typeface="Calibri"/>
                <a:ea typeface="Calibri"/>
                <a:cs typeface="Calibri"/>
                <a:sym typeface="Calibri"/>
              </a:rPr>
              <a:t> d</a:t>
            </a:r>
            <a:r>
              <a:rPr lang="en-US" sz="2000" baseline="-25000">
                <a:solidFill>
                  <a:schemeClr val="dk1"/>
                </a:solidFill>
                <a:latin typeface="Calibri"/>
                <a:ea typeface="Calibri"/>
                <a:cs typeface="Calibri"/>
                <a:sym typeface="Calibri"/>
              </a:rPr>
              <a:t>1</a:t>
            </a:r>
            <a:endParaRPr sz="2000">
              <a:solidFill>
                <a:schemeClr val="dk1"/>
              </a:solidFill>
              <a:latin typeface="Calibri"/>
              <a:ea typeface="Calibri"/>
              <a:cs typeface="Calibri"/>
              <a:sym typeface="Calibri"/>
            </a:endParaRPr>
          </a:p>
          <a:p>
            <a:pPr marL="0" marR="0" lvl="0" indent="0" algn="ctr" rtl="0">
              <a:spcBef>
                <a:spcPts val="4000"/>
              </a:spcBef>
              <a:spcAft>
                <a:spcPts val="0"/>
              </a:spcAft>
              <a:buNone/>
            </a:pPr>
            <a:r>
              <a:rPr lang="en-US" sz="2000" baseline="-25000">
                <a:solidFill>
                  <a:schemeClr val="dk1"/>
                </a:solidFill>
                <a:latin typeface="Calibri"/>
                <a:ea typeface="Calibri"/>
                <a:cs typeface="Calibri"/>
                <a:sym typeface="Calibri"/>
              </a:rPr>
              <a:t></a:t>
            </a:r>
            <a:r>
              <a:rPr lang="en-US" sz="2000">
                <a:solidFill>
                  <a:schemeClr val="dk1"/>
                </a:solidFill>
                <a:latin typeface="Calibri"/>
                <a:ea typeface="Calibri"/>
                <a:cs typeface="Calibri"/>
                <a:sym typeface="Calibri"/>
              </a:rPr>
              <a:t> d</a:t>
            </a:r>
            <a:r>
              <a:rPr lang="en-US" sz="2000" baseline="-25000">
                <a:solidFill>
                  <a:schemeClr val="dk1"/>
                </a:solidFill>
                <a:latin typeface="Calibri"/>
                <a:ea typeface="Calibri"/>
                <a:cs typeface="Calibri"/>
                <a:sym typeface="Calibri"/>
              </a:rPr>
              <a:t>2</a:t>
            </a:r>
            <a:endParaRPr sz="2000">
              <a:solidFill>
                <a:schemeClr val="dk1"/>
              </a:solidFill>
              <a:latin typeface="Calibri"/>
              <a:ea typeface="Calibri"/>
              <a:cs typeface="Calibri"/>
              <a:sym typeface="Calibri"/>
            </a:endParaRPr>
          </a:p>
          <a:p>
            <a:pPr marL="0" marR="0" lvl="0" indent="0" algn="ctr" rtl="0">
              <a:spcBef>
                <a:spcPts val="4000"/>
              </a:spcBef>
              <a:spcAft>
                <a:spcPts val="0"/>
              </a:spcAft>
              <a:buNone/>
            </a:pPr>
            <a:r>
              <a:rPr lang="en-US" sz="2000" baseline="-25000">
                <a:solidFill>
                  <a:schemeClr val="dk1"/>
                </a:solidFill>
                <a:latin typeface="Calibri"/>
                <a:ea typeface="Calibri"/>
                <a:cs typeface="Calibri"/>
                <a:sym typeface="Calibri"/>
              </a:rPr>
              <a:t></a:t>
            </a:r>
            <a:r>
              <a:rPr lang="en-US" sz="2000">
                <a:solidFill>
                  <a:schemeClr val="dk1"/>
                </a:solidFill>
                <a:latin typeface="Calibri"/>
                <a:ea typeface="Calibri"/>
                <a:cs typeface="Calibri"/>
                <a:sym typeface="Calibri"/>
              </a:rPr>
              <a:t> d</a:t>
            </a:r>
            <a:r>
              <a:rPr lang="en-US" sz="2000" baseline="-25000">
                <a:solidFill>
                  <a:schemeClr val="dk1"/>
                </a:solidFill>
                <a:latin typeface="Calibri"/>
                <a:ea typeface="Calibri"/>
                <a:cs typeface="Calibri"/>
                <a:sym typeface="Calibri"/>
              </a:rPr>
              <a:t>3</a:t>
            </a:r>
            <a:endParaRPr sz="2000">
              <a:solidFill>
                <a:schemeClr val="dk1"/>
              </a:solidFill>
              <a:latin typeface="Calibri"/>
              <a:ea typeface="Calibri"/>
              <a:cs typeface="Calibri"/>
              <a:sym typeface="Calibri"/>
            </a:endParaRPr>
          </a:p>
        </p:txBody>
      </p:sp>
      <p:sp>
        <p:nvSpPr>
          <p:cNvPr id="806" name="Google Shape;806;p54"/>
          <p:cNvSpPr txBox="1"/>
          <p:nvPr/>
        </p:nvSpPr>
        <p:spPr>
          <a:xfrm>
            <a:off x="8203626" y="1260475"/>
            <a:ext cx="170136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DEPARTMENT</a:t>
            </a:r>
            <a:endParaRPr/>
          </a:p>
        </p:txBody>
      </p:sp>
      <p:cxnSp>
        <p:nvCxnSpPr>
          <p:cNvPr id="807" name="Google Shape;807;p54"/>
          <p:cNvCxnSpPr/>
          <p:nvPr/>
        </p:nvCxnSpPr>
        <p:spPr>
          <a:xfrm rot="10800000" flipH="1">
            <a:off x="6096000" y="2554288"/>
            <a:ext cx="2838450" cy="268605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p55"/>
          <p:cNvSpPr txBox="1">
            <a:spLocks noGrp="1"/>
          </p:cNvSpPr>
          <p:nvPr>
            <p:ph type="title"/>
          </p:nvPr>
        </p:nvSpPr>
        <p:spPr>
          <a:xfrm>
            <a:off x="642937" y="-103240"/>
            <a:ext cx="10772775" cy="1168261"/>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0000"/>
              </a:buClr>
              <a:buSzPts val="4800"/>
              <a:buFont typeface="Calibri"/>
              <a:buNone/>
            </a:pPr>
            <a:r>
              <a:rPr lang="en-US">
                <a:solidFill>
                  <a:srgbClr val="FF0000"/>
                </a:solidFill>
              </a:rPr>
              <a:t>M:N Relationship</a:t>
            </a:r>
            <a:endParaRPr/>
          </a:p>
        </p:txBody>
      </p:sp>
      <p:sp>
        <p:nvSpPr>
          <p:cNvPr id="814" name="Google Shape;814;p55"/>
          <p:cNvSpPr txBox="1">
            <a:spLocks noGrp="1"/>
          </p:cNvSpPr>
          <p:nvPr>
            <p:ph type="body" idx="1"/>
          </p:nvPr>
        </p:nvSpPr>
        <p:spPr>
          <a:xfrm>
            <a:off x="1828800" y="1155510"/>
            <a:ext cx="8534400" cy="5016691"/>
          </a:xfrm>
          <a:prstGeom prst="rect">
            <a:avLst/>
          </a:prstGeom>
          <a:noFill/>
          <a:ln>
            <a:noFill/>
          </a:ln>
        </p:spPr>
        <p:txBody>
          <a:bodyPr spcFirstLastPara="1" wrap="square" lIns="0" tIns="45700" rIns="0" bIns="45700" anchor="t" anchorCtr="0">
            <a:normAutofit/>
          </a:bodyPr>
          <a:lstStyle/>
          <a:p>
            <a:pPr marL="91440" lvl="0" indent="-91440" algn="l" rtl="0">
              <a:lnSpc>
                <a:spcPct val="90000"/>
              </a:lnSpc>
              <a:spcBef>
                <a:spcPts val="0"/>
              </a:spcBef>
              <a:spcAft>
                <a:spcPts val="0"/>
              </a:spcAft>
              <a:buSzPts val="2000"/>
              <a:buNone/>
            </a:pPr>
            <a:r>
              <a:rPr lang="en-US"/>
              <a:t>EMPLOYEE 	   WORKS_ON		PROJECT</a:t>
            </a:r>
            <a:endParaRPr/>
          </a:p>
          <a:p>
            <a:pPr marL="91440" lvl="0" indent="-91440" algn="l" rtl="0">
              <a:lnSpc>
                <a:spcPct val="90000"/>
              </a:lnSpc>
              <a:spcBef>
                <a:spcPts val="1400"/>
              </a:spcBef>
              <a:spcAft>
                <a:spcPts val="0"/>
              </a:spcAft>
              <a:buSzPts val="2000"/>
              <a:buNone/>
            </a:pPr>
            <a:endParaRPr/>
          </a:p>
        </p:txBody>
      </p:sp>
      <p:cxnSp>
        <p:nvCxnSpPr>
          <p:cNvPr id="815" name="Google Shape;815;p55"/>
          <p:cNvCxnSpPr/>
          <p:nvPr/>
        </p:nvCxnSpPr>
        <p:spPr>
          <a:xfrm rot="10800000" flipH="1">
            <a:off x="3048000" y="2195512"/>
            <a:ext cx="2971800" cy="247650"/>
          </a:xfrm>
          <a:prstGeom prst="straightConnector1">
            <a:avLst/>
          </a:prstGeom>
          <a:noFill/>
          <a:ln w="9525" cap="flat" cmpd="sng">
            <a:solidFill>
              <a:schemeClr val="dk1"/>
            </a:solidFill>
            <a:prstDash val="solid"/>
            <a:round/>
            <a:headEnd type="none" w="med" len="med"/>
            <a:tailEnd type="none" w="med" len="med"/>
          </a:ln>
        </p:spPr>
      </p:cxnSp>
      <p:cxnSp>
        <p:nvCxnSpPr>
          <p:cNvPr id="816" name="Google Shape;816;p55"/>
          <p:cNvCxnSpPr/>
          <p:nvPr/>
        </p:nvCxnSpPr>
        <p:spPr>
          <a:xfrm rot="10800000" flipH="1">
            <a:off x="3048000" y="2824162"/>
            <a:ext cx="2914650" cy="76200"/>
          </a:xfrm>
          <a:prstGeom prst="straightConnector1">
            <a:avLst/>
          </a:prstGeom>
          <a:noFill/>
          <a:ln w="9525" cap="flat" cmpd="sng">
            <a:solidFill>
              <a:schemeClr val="dk1"/>
            </a:solidFill>
            <a:prstDash val="solid"/>
            <a:round/>
            <a:headEnd type="none" w="med" len="med"/>
            <a:tailEnd type="none" w="med" len="med"/>
          </a:ln>
        </p:spPr>
      </p:cxnSp>
      <p:cxnSp>
        <p:nvCxnSpPr>
          <p:cNvPr id="817" name="Google Shape;817;p55"/>
          <p:cNvCxnSpPr/>
          <p:nvPr/>
        </p:nvCxnSpPr>
        <p:spPr>
          <a:xfrm rot="10800000" flipH="1">
            <a:off x="3067050" y="3376612"/>
            <a:ext cx="2857500" cy="38100"/>
          </a:xfrm>
          <a:prstGeom prst="straightConnector1">
            <a:avLst/>
          </a:prstGeom>
          <a:noFill/>
          <a:ln w="9525" cap="flat" cmpd="sng">
            <a:solidFill>
              <a:schemeClr val="dk1"/>
            </a:solidFill>
            <a:prstDash val="solid"/>
            <a:round/>
            <a:headEnd type="none" w="med" len="med"/>
            <a:tailEnd type="none" w="med" len="med"/>
          </a:ln>
        </p:spPr>
      </p:cxnSp>
      <p:cxnSp>
        <p:nvCxnSpPr>
          <p:cNvPr id="818" name="Google Shape;818;p55"/>
          <p:cNvCxnSpPr/>
          <p:nvPr/>
        </p:nvCxnSpPr>
        <p:spPr>
          <a:xfrm>
            <a:off x="3067050" y="3890962"/>
            <a:ext cx="2914650" cy="76200"/>
          </a:xfrm>
          <a:prstGeom prst="straightConnector1">
            <a:avLst/>
          </a:prstGeom>
          <a:noFill/>
          <a:ln w="9525" cap="flat" cmpd="sng">
            <a:solidFill>
              <a:schemeClr val="dk1"/>
            </a:solidFill>
            <a:prstDash val="solid"/>
            <a:round/>
            <a:headEnd type="none" w="med" len="med"/>
            <a:tailEnd type="none" w="med" len="med"/>
          </a:ln>
        </p:spPr>
      </p:cxnSp>
      <p:cxnSp>
        <p:nvCxnSpPr>
          <p:cNvPr id="819" name="Google Shape;819;p55"/>
          <p:cNvCxnSpPr/>
          <p:nvPr/>
        </p:nvCxnSpPr>
        <p:spPr>
          <a:xfrm>
            <a:off x="3067050" y="4367212"/>
            <a:ext cx="2876550" cy="152400"/>
          </a:xfrm>
          <a:prstGeom prst="straightConnector1">
            <a:avLst/>
          </a:prstGeom>
          <a:noFill/>
          <a:ln w="9525" cap="flat" cmpd="sng">
            <a:solidFill>
              <a:schemeClr val="dk1"/>
            </a:solidFill>
            <a:prstDash val="solid"/>
            <a:round/>
            <a:headEnd type="none" w="med" len="med"/>
            <a:tailEnd type="none" w="med" len="med"/>
          </a:ln>
        </p:spPr>
      </p:cxnSp>
      <p:cxnSp>
        <p:nvCxnSpPr>
          <p:cNvPr id="820" name="Google Shape;820;p55"/>
          <p:cNvCxnSpPr/>
          <p:nvPr/>
        </p:nvCxnSpPr>
        <p:spPr>
          <a:xfrm>
            <a:off x="3048000" y="4862512"/>
            <a:ext cx="2933700" cy="247650"/>
          </a:xfrm>
          <a:prstGeom prst="straightConnector1">
            <a:avLst/>
          </a:prstGeom>
          <a:noFill/>
          <a:ln w="9525" cap="flat" cmpd="sng">
            <a:solidFill>
              <a:schemeClr val="dk1"/>
            </a:solidFill>
            <a:prstDash val="solid"/>
            <a:round/>
            <a:headEnd type="none" w="med" len="med"/>
            <a:tailEnd type="none" w="med" len="med"/>
          </a:ln>
        </p:spPr>
      </p:cxnSp>
      <p:cxnSp>
        <p:nvCxnSpPr>
          <p:cNvPr id="821" name="Google Shape;821;p55"/>
          <p:cNvCxnSpPr/>
          <p:nvPr/>
        </p:nvCxnSpPr>
        <p:spPr>
          <a:xfrm>
            <a:off x="3067050" y="5376862"/>
            <a:ext cx="2895600" cy="323850"/>
          </a:xfrm>
          <a:prstGeom prst="straightConnector1">
            <a:avLst/>
          </a:prstGeom>
          <a:noFill/>
          <a:ln w="9525" cap="flat" cmpd="sng">
            <a:solidFill>
              <a:schemeClr val="dk1"/>
            </a:solidFill>
            <a:prstDash val="solid"/>
            <a:round/>
            <a:headEnd type="none" w="med" len="med"/>
            <a:tailEnd type="none" w="med" len="med"/>
          </a:ln>
        </p:spPr>
      </p:cxnSp>
      <p:cxnSp>
        <p:nvCxnSpPr>
          <p:cNvPr id="822" name="Google Shape;822;p55"/>
          <p:cNvCxnSpPr/>
          <p:nvPr/>
        </p:nvCxnSpPr>
        <p:spPr>
          <a:xfrm>
            <a:off x="6076950" y="2195512"/>
            <a:ext cx="2895600" cy="228600"/>
          </a:xfrm>
          <a:prstGeom prst="straightConnector1">
            <a:avLst/>
          </a:prstGeom>
          <a:noFill/>
          <a:ln w="9525" cap="flat" cmpd="sng">
            <a:solidFill>
              <a:schemeClr val="dk1"/>
            </a:solidFill>
            <a:prstDash val="solid"/>
            <a:round/>
            <a:headEnd type="none" w="med" len="med"/>
            <a:tailEnd type="none" w="med" len="med"/>
          </a:ln>
        </p:spPr>
      </p:cxnSp>
      <p:cxnSp>
        <p:nvCxnSpPr>
          <p:cNvPr id="823" name="Google Shape;823;p55"/>
          <p:cNvCxnSpPr/>
          <p:nvPr/>
        </p:nvCxnSpPr>
        <p:spPr>
          <a:xfrm>
            <a:off x="6096000" y="2805112"/>
            <a:ext cx="2838450" cy="533400"/>
          </a:xfrm>
          <a:prstGeom prst="straightConnector1">
            <a:avLst/>
          </a:prstGeom>
          <a:noFill/>
          <a:ln w="9525" cap="flat" cmpd="sng">
            <a:solidFill>
              <a:schemeClr val="dk1"/>
            </a:solidFill>
            <a:prstDash val="solid"/>
            <a:round/>
            <a:headEnd type="none" w="med" len="med"/>
            <a:tailEnd type="none" w="med" len="med"/>
          </a:ln>
        </p:spPr>
      </p:cxnSp>
      <p:cxnSp>
        <p:nvCxnSpPr>
          <p:cNvPr id="824" name="Google Shape;824;p55"/>
          <p:cNvCxnSpPr/>
          <p:nvPr/>
        </p:nvCxnSpPr>
        <p:spPr>
          <a:xfrm rot="10800000" flipH="1">
            <a:off x="6076950" y="2424112"/>
            <a:ext cx="2857500" cy="952500"/>
          </a:xfrm>
          <a:prstGeom prst="straightConnector1">
            <a:avLst/>
          </a:prstGeom>
          <a:noFill/>
          <a:ln w="9525" cap="flat" cmpd="sng">
            <a:solidFill>
              <a:schemeClr val="dk1"/>
            </a:solidFill>
            <a:prstDash val="solid"/>
            <a:round/>
            <a:headEnd type="none" w="med" len="med"/>
            <a:tailEnd type="none" w="med" len="med"/>
          </a:ln>
        </p:spPr>
      </p:cxnSp>
      <p:cxnSp>
        <p:nvCxnSpPr>
          <p:cNvPr id="825" name="Google Shape;825;p55"/>
          <p:cNvCxnSpPr/>
          <p:nvPr/>
        </p:nvCxnSpPr>
        <p:spPr>
          <a:xfrm rot="10800000" flipH="1">
            <a:off x="6115050" y="3357562"/>
            <a:ext cx="2800350" cy="590550"/>
          </a:xfrm>
          <a:prstGeom prst="straightConnector1">
            <a:avLst/>
          </a:prstGeom>
          <a:noFill/>
          <a:ln w="9525" cap="flat" cmpd="sng">
            <a:solidFill>
              <a:schemeClr val="dk1"/>
            </a:solidFill>
            <a:prstDash val="solid"/>
            <a:round/>
            <a:headEnd type="none" w="med" len="med"/>
            <a:tailEnd type="none" w="med" len="med"/>
          </a:ln>
        </p:spPr>
      </p:cxnSp>
      <p:cxnSp>
        <p:nvCxnSpPr>
          <p:cNvPr id="826" name="Google Shape;826;p55"/>
          <p:cNvCxnSpPr/>
          <p:nvPr/>
        </p:nvCxnSpPr>
        <p:spPr>
          <a:xfrm rot="10800000" flipH="1">
            <a:off x="6076950" y="4252912"/>
            <a:ext cx="2819400" cy="285750"/>
          </a:xfrm>
          <a:prstGeom prst="straightConnector1">
            <a:avLst/>
          </a:prstGeom>
          <a:noFill/>
          <a:ln w="9525" cap="flat" cmpd="sng">
            <a:solidFill>
              <a:schemeClr val="dk1"/>
            </a:solidFill>
            <a:prstDash val="solid"/>
            <a:round/>
            <a:headEnd type="none" w="med" len="med"/>
            <a:tailEnd type="none" w="med" len="med"/>
          </a:ln>
        </p:spPr>
      </p:cxnSp>
      <p:cxnSp>
        <p:nvCxnSpPr>
          <p:cNvPr id="827" name="Google Shape;827;p55"/>
          <p:cNvCxnSpPr/>
          <p:nvPr/>
        </p:nvCxnSpPr>
        <p:spPr>
          <a:xfrm rot="10800000" flipH="1">
            <a:off x="6076950" y="4252912"/>
            <a:ext cx="2838450" cy="1447800"/>
          </a:xfrm>
          <a:prstGeom prst="straightConnector1">
            <a:avLst/>
          </a:prstGeom>
          <a:noFill/>
          <a:ln w="9525" cap="flat" cmpd="sng">
            <a:solidFill>
              <a:schemeClr val="dk1"/>
            </a:solidFill>
            <a:prstDash val="solid"/>
            <a:round/>
            <a:headEnd type="none" w="med" len="med"/>
            <a:tailEnd type="none" w="med" len="med"/>
          </a:ln>
        </p:spPr>
      </p:cxnSp>
      <p:cxnSp>
        <p:nvCxnSpPr>
          <p:cNvPr id="828" name="Google Shape;828;p55"/>
          <p:cNvCxnSpPr/>
          <p:nvPr/>
        </p:nvCxnSpPr>
        <p:spPr>
          <a:xfrm rot="10800000" flipH="1">
            <a:off x="6096000" y="2424112"/>
            <a:ext cx="2838450" cy="2686050"/>
          </a:xfrm>
          <a:prstGeom prst="straightConnector1">
            <a:avLst/>
          </a:prstGeom>
          <a:noFill/>
          <a:ln w="9525" cap="flat" cmpd="sng">
            <a:solidFill>
              <a:schemeClr val="dk1"/>
            </a:solidFill>
            <a:prstDash val="solid"/>
            <a:round/>
            <a:headEnd type="none" w="med" len="med"/>
            <a:tailEnd type="none" w="med" len="med"/>
          </a:ln>
        </p:spPr>
      </p:cxnSp>
      <p:cxnSp>
        <p:nvCxnSpPr>
          <p:cNvPr id="829" name="Google Shape;829;p55"/>
          <p:cNvCxnSpPr/>
          <p:nvPr/>
        </p:nvCxnSpPr>
        <p:spPr>
          <a:xfrm>
            <a:off x="3048000" y="2900363"/>
            <a:ext cx="2876550" cy="3198813"/>
          </a:xfrm>
          <a:prstGeom prst="straightConnector1">
            <a:avLst/>
          </a:prstGeom>
          <a:noFill/>
          <a:ln w="9525" cap="flat" cmpd="sng">
            <a:solidFill>
              <a:schemeClr val="dk1"/>
            </a:solidFill>
            <a:prstDash val="solid"/>
            <a:round/>
            <a:headEnd type="none" w="med" len="med"/>
            <a:tailEnd type="none" w="med" len="med"/>
          </a:ln>
        </p:spPr>
      </p:cxnSp>
      <p:cxnSp>
        <p:nvCxnSpPr>
          <p:cNvPr id="830" name="Google Shape;830;p55"/>
          <p:cNvCxnSpPr/>
          <p:nvPr/>
        </p:nvCxnSpPr>
        <p:spPr>
          <a:xfrm rot="10800000" flipH="1">
            <a:off x="6134100" y="4252913"/>
            <a:ext cx="2800350" cy="1846263"/>
          </a:xfrm>
          <a:prstGeom prst="straightConnector1">
            <a:avLst/>
          </a:prstGeom>
          <a:noFill/>
          <a:ln w="9525" cap="flat" cmpd="sng">
            <a:solidFill>
              <a:schemeClr val="dk1"/>
            </a:solidFill>
            <a:prstDash val="solid"/>
            <a:round/>
            <a:headEnd type="none" w="med" len="med"/>
            <a:tailEnd type="none" w="med" len="med"/>
          </a:ln>
        </p:spPr>
      </p:cxnSp>
      <p:cxnSp>
        <p:nvCxnSpPr>
          <p:cNvPr id="831" name="Google Shape;831;p55"/>
          <p:cNvCxnSpPr/>
          <p:nvPr/>
        </p:nvCxnSpPr>
        <p:spPr>
          <a:xfrm rot="10800000" flipH="1">
            <a:off x="3028950" y="1843088"/>
            <a:ext cx="2876550" cy="3533775"/>
          </a:xfrm>
          <a:prstGeom prst="straightConnector1">
            <a:avLst/>
          </a:prstGeom>
          <a:noFill/>
          <a:ln w="9525" cap="flat" cmpd="sng">
            <a:solidFill>
              <a:schemeClr val="dk1"/>
            </a:solidFill>
            <a:prstDash val="solid"/>
            <a:round/>
            <a:headEnd type="none" w="med" len="med"/>
            <a:tailEnd type="none" w="med" len="med"/>
          </a:ln>
        </p:spPr>
      </p:cxnSp>
      <p:cxnSp>
        <p:nvCxnSpPr>
          <p:cNvPr id="832" name="Google Shape;832;p55"/>
          <p:cNvCxnSpPr/>
          <p:nvPr/>
        </p:nvCxnSpPr>
        <p:spPr>
          <a:xfrm>
            <a:off x="6096000" y="1662112"/>
            <a:ext cx="2800350" cy="762000"/>
          </a:xfrm>
          <a:prstGeom prst="straightConnector1">
            <a:avLst/>
          </a:prstGeom>
          <a:noFill/>
          <a:ln w="9525" cap="flat" cmpd="sng">
            <a:solidFill>
              <a:schemeClr val="dk1"/>
            </a:solidFill>
            <a:prstDash val="solid"/>
            <a:round/>
            <a:headEnd type="none" w="med" len="med"/>
            <a:tailEnd type="none" w="med" len="med"/>
          </a:ln>
        </p:spPr>
      </p:cxnSp>
      <p:sp>
        <p:nvSpPr>
          <p:cNvPr id="833" name="Google Shape;833;p55"/>
          <p:cNvSpPr txBox="1"/>
          <p:nvPr/>
        </p:nvSpPr>
        <p:spPr>
          <a:xfrm>
            <a:off x="2209801" y="1941512"/>
            <a:ext cx="809942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lt2"/>
              </a:solidFill>
              <a:latin typeface="Calibri"/>
              <a:ea typeface="Calibri"/>
              <a:cs typeface="Calibri"/>
              <a:sym typeface="Calibri"/>
            </a:endParaRPr>
          </a:p>
        </p:txBody>
      </p:sp>
      <p:sp>
        <p:nvSpPr>
          <p:cNvPr id="834" name="Google Shape;834;p55"/>
          <p:cNvSpPr/>
          <p:nvPr/>
        </p:nvSpPr>
        <p:spPr>
          <a:xfrm>
            <a:off x="1924050" y="1604962"/>
            <a:ext cx="1943100" cy="3981450"/>
          </a:xfrm>
          <a:prstGeom prst="ellipse">
            <a:avLst/>
          </a:prstGeom>
          <a:noFill/>
          <a:ln w="9525" cap="flat" cmpd="sng">
            <a:solidFill>
              <a:schemeClr val="dk1"/>
            </a:solidFill>
            <a:prstDash val="solid"/>
            <a:round/>
            <a:headEnd type="none" w="sm" len="sm"/>
            <a:tailEnd type="none" w="sm" len="sm"/>
          </a:ln>
        </p:spPr>
        <p:txBody>
          <a:bodyPr spcFirstLastPara="1" wrap="square" lIns="91425" tIns="0" rIns="91425" bIns="0" anchor="t" anchorCtr="0">
            <a:noAutofit/>
          </a:bodyPr>
          <a:lstStyle/>
          <a:p>
            <a:pPr marL="0" marR="0" lvl="0" indent="0" algn="ctr" rtl="0">
              <a:spcBef>
                <a:spcPts val="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1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2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3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4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5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6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7  </a:t>
            </a:r>
            <a:endParaRPr/>
          </a:p>
        </p:txBody>
      </p:sp>
      <p:sp>
        <p:nvSpPr>
          <p:cNvPr id="835" name="Google Shape;835;p55"/>
          <p:cNvSpPr/>
          <p:nvPr/>
        </p:nvSpPr>
        <p:spPr>
          <a:xfrm>
            <a:off x="5029200" y="1600201"/>
            <a:ext cx="1943100" cy="4814455"/>
          </a:xfrm>
          <a:prstGeom prst="ellipse">
            <a:avLst/>
          </a:prstGeom>
          <a:noFill/>
          <a:ln w="9525" cap="flat" cmpd="sng">
            <a:solidFill>
              <a:schemeClr val="dk1"/>
            </a:solidFill>
            <a:prstDash val="solid"/>
            <a:round/>
            <a:headEnd type="none" w="sm" len="sm"/>
            <a:tailEnd type="none" w="sm" len="sm"/>
          </a:ln>
        </p:spPr>
        <p:txBody>
          <a:bodyPr spcFirstLastPara="1" wrap="square" lIns="91425" tIns="0" rIns="91425" bIns="3657600" anchor="t" anchorCtr="0">
            <a:noAutofit/>
          </a:bodyPr>
          <a:lstStyle/>
          <a:p>
            <a:pPr marL="0" marR="0" lvl="0" indent="0" algn="ctr" rtl="0">
              <a:spcBef>
                <a:spcPts val="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1</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2</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3</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4</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5</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6</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7</a:t>
            </a:r>
            <a:endParaRPr sz="2000">
              <a:solidFill>
                <a:schemeClr val="dk1"/>
              </a:solidFill>
              <a:latin typeface="Calibri"/>
              <a:ea typeface="Calibri"/>
              <a:cs typeface="Calibri"/>
              <a:sym typeface="Calibri"/>
            </a:endParaRPr>
          </a:p>
        </p:txBody>
      </p:sp>
      <p:sp>
        <p:nvSpPr>
          <p:cNvPr id="836" name="Google Shape;836;p55"/>
          <p:cNvSpPr/>
          <p:nvPr/>
        </p:nvSpPr>
        <p:spPr>
          <a:xfrm>
            <a:off x="8077200" y="1604962"/>
            <a:ext cx="1943100" cy="3981450"/>
          </a:xfrm>
          <a:prstGeom prst="ellipse">
            <a:avLst/>
          </a:prstGeom>
          <a:noFill/>
          <a:ln w="9525" cap="flat" cmpd="sng">
            <a:solidFill>
              <a:schemeClr val="dk1"/>
            </a:solidFill>
            <a:prstDash val="solid"/>
            <a:round/>
            <a:headEnd type="none" w="sm" len="sm"/>
            <a:tailEnd type="none" w="sm" len="sm"/>
          </a:ln>
        </p:spPr>
        <p:txBody>
          <a:bodyPr spcFirstLastPara="1" wrap="square" lIns="91425" tIns="0" rIns="91425" bIns="0" anchor="t" anchorCtr="0">
            <a:noAutofit/>
          </a:bodyPr>
          <a:lstStyle/>
          <a:p>
            <a:pPr marL="0" marR="0" lvl="0" indent="0" algn="ctr" rtl="0">
              <a:spcBef>
                <a:spcPts val="0"/>
              </a:spcBef>
              <a:spcAft>
                <a:spcPts val="0"/>
              </a:spcAft>
              <a:buNone/>
            </a:pPr>
            <a:r>
              <a:rPr lang="en-US" sz="2000" baseline="-25000">
                <a:solidFill>
                  <a:schemeClr val="dk1"/>
                </a:solidFill>
                <a:latin typeface="Calibri"/>
                <a:ea typeface="Calibri"/>
                <a:cs typeface="Calibri"/>
                <a:sym typeface="Calibri"/>
              </a:rPr>
              <a:t></a:t>
            </a:r>
            <a:r>
              <a:rPr lang="en-US" sz="2000">
                <a:solidFill>
                  <a:schemeClr val="dk1"/>
                </a:solidFill>
                <a:latin typeface="Calibri"/>
                <a:ea typeface="Calibri"/>
                <a:cs typeface="Calibri"/>
                <a:sym typeface="Calibri"/>
              </a:rPr>
              <a:t> p</a:t>
            </a:r>
            <a:r>
              <a:rPr lang="en-US" sz="2000" baseline="-25000">
                <a:solidFill>
                  <a:schemeClr val="dk1"/>
                </a:solidFill>
                <a:latin typeface="Calibri"/>
                <a:ea typeface="Calibri"/>
                <a:cs typeface="Calibri"/>
                <a:sym typeface="Calibri"/>
              </a:rPr>
              <a:t>1</a:t>
            </a:r>
            <a:endParaRPr sz="2000">
              <a:solidFill>
                <a:schemeClr val="dk1"/>
              </a:solidFill>
              <a:latin typeface="Calibri"/>
              <a:ea typeface="Calibri"/>
              <a:cs typeface="Calibri"/>
              <a:sym typeface="Calibri"/>
            </a:endParaRPr>
          </a:p>
          <a:p>
            <a:pPr marL="0" marR="0" lvl="0" indent="0" algn="ctr" rtl="0">
              <a:spcBef>
                <a:spcPts val="4000"/>
              </a:spcBef>
              <a:spcAft>
                <a:spcPts val="0"/>
              </a:spcAft>
              <a:buNone/>
            </a:pPr>
            <a:r>
              <a:rPr lang="en-US" sz="2000" baseline="-25000">
                <a:solidFill>
                  <a:schemeClr val="dk1"/>
                </a:solidFill>
                <a:latin typeface="Calibri"/>
                <a:ea typeface="Calibri"/>
                <a:cs typeface="Calibri"/>
                <a:sym typeface="Calibri"/>
              </a:rPr>
              <a:t></a:t>
            </a:r>
            <a:r>
              <a:rPr lang="en-US" sz="2000">
                <a:solidFill>
                  <a:schemeClr val="dk1"/>
                </a:solidFill>
                <a:latin typeface="Calibri"/>
                <a:ea typeface="Calibri"/>
                <a:cs typeface="Calibri"/>
                <a:sym typeface="Calibri"/>
              </a:rPr>
              <a:t> p</a:t>
            </a:r>
            <a:r>
              <a:rPr lang="en-US" sz="2000" baseline="-25000">
                <a:solidFill>
                  <a:schemeClr val="dk1"/>
                </a:solidFill>
                <a:latin typeface="Calibri"/>
                <a:ea typeface="Calibri"/>
                <a:cs typeface="Calibri"/>
                <a:sym typeface="Calibri"/>
              </a:rPr>
              <a:t>2</a:t>
            </a:r>
            <a:endParaRPr sz="2000">
              <a:solidFill>
                <a:schemeClr val="dk1"/>
              </a:solidFill>
              <a:latin typeface="Calibri"/>
              <a:ea typeface="Calibri"/>
              <a:cs typeface="Calibri"/>
              <a:sym typeface="Calibri"/>
            </a:endParaRPr>
          </a:p>
          <a:p>
            <a:pPr marL="0" marR="0" lvl="0" indent="0" algn="ctr" rtl="0">
              <a:spcBef>
                <a:spcPts val="4000"/>
              </a:spcBef>
              <a:spcAft>
                <a:spcPts val="0"/>
              </a:spcAft>
              <a:buNone/>
            </a:pPr>
            <a:r>
              <a:rPr lang="en-US" sz="2000" baseline="-25000">
                <a:solidFill>
                  <a:schemeClr val="dk1"/>
                </a:solidFill>
                <a:latin typeface="Calibri"/>
                <a:ea typeface="Calibri"/>
                <a:cs typeface="Calibri"/>
                <a:sym typeface="Calibri"/>
              </a:rPr>
              <a:t></a:t>
            </a:r>
            <a:r>
              <a:rPr lang="en-US" sz="2000">
                <a:solidFill>
                  <a:schemeClr val="dk1"/>
                </a:solidFill>
                <a:latin typeface="Calibri"/>
                <a:ea typeface="Calibri"/>
                <a:cs typeface="Calibri"/>
                <a:sym typeface="Calibri"/>
              </a:rPr>
              <a:t> p</a:t>
            </a:r>
            <a:r>
              <a:rPr lang="en-US" sz="2000" baseline="-25000">
                <a:solidFill>
                  <a:schemeClr val="dk1"/>
                </a:solidFill>
                <a:latin typeface="Calibri"/>
                <a:ea typeface="Calibri"/>
                <a:cs typeface="Calibri"/>
                <a:sym typeface="Calibri"/>
              </a:rPr>
              <a:t>3</a:t>
            </a:r>
            <a:endParaRPr sz="2000">
              <a:solidFill>
                <a:schemeClr val="dk1"/>
              </a:solidFill>
              <a:latin typeface="Calibri"/>
              <a:ea typeface="Calibri"/>
              <a:cs typeface="Calibri"/>
              <a:sym typeface="Calibri"/>
            </a:endParaRPr>
          </a:p>
        </p:txBody>
      </p:sp>
      <p:sp>
        <p:nvSpPr>
          <p:cNvPr id="837" name="Google Shape;837;p55"/>
          <p:cNvSpPr/>
          <p:nvPr/>
        </p:nvSpPr>
        <p:spPr>
          <a:xfrm>
            <a:off x="5905500" y="2124076"/>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8" name="Google Shape;838;p55"/>
          <p:cNvSpPr/>
          <p:nvPr/>
        </p:nvSpPr>
        <p:spPr>
          <a:xfrm>
            <a:off x="5905500" y="2714626"/>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9" name="Google Shape;839;p55"/>
          <p:cNvSpPr/>
          <p:nvPr/>
        </p:nvSpPr>
        <p:spPr>
          <a:xfrm>
            <a:off x="5905500" y="3286126"/>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0" name="Google Shape;840;p55"/>
          <p:cNvSpPr/>
          <p:nvPr/>
        </p:nvSpPr>
        <p:spPr>
          <a:xfrm>
            <a:off x="5905500" y="3876676"/>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1" name="Google Shape;841;p55"/>
          <p:cNvSpPr/>
          <p:nvPr/>
        </p:nvSpPr>
        <p:spPr>
          <a:xfrm>
            <a:off x="5905500" y="4448176"/>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2" name="Google Shape;842;p55"/>
          <p:cNvSpPr/>
          <p:nvPr/>
        </p:nvSpPr>
        <p:spPr>
          <a:xfrm>
            <a:off x="5905500" y="5110163"/>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3" name="Google Shape;843;p55"/>
          <p:cNvSpPr/>
          <p:nvPr/>
        </p:nvSpPr>
        <p:spPr>
          <a:xfrm>
            <a:off x="5905500" y="5610226"/>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844" name="Google Shape;844;p55"/>
          <p:cNvCxnSpPr/>
          <p:nvPr/>
        </p:nvCxnSpPr>
        <p:spPr>
          <a:xfrm>
            <a:off x="6115050" y="4448175"/>
            <a:ext cx="0" cy="0"/>
          </a:xfrm>
          <a:prstGeom prst="straightConnector1">
            <a:avLst/>
          </a:prstGeom>
          <a:noFill/>
          <a:ln w="9525" cap="flat" cmpd="sng">
            <a:solidFill>
              <a:schemeClr val="dk1"/>
            </a:solidFill>
            <a:prstDash val="solid"/>
            <a:round/>
            <a:headEnd type="none" w="med" len="med"/>
            <a:tailEnd type="none" w="med" len="med"/>
          </a:ln>
        </p:spPr>
      </p:cxnSp>
      <p:sp>
        <p:nvSpPr>
          <p:cNvPr id="845" name="Google Shape;845;p55"/>
          <p:cNvSpPr/>
          <p:nvPr/>
        </p:nvSpPr>
        <p:spPr>
          <a:xfrm>
            <a:off x="5924550" y="6099176"/>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6" name="Google Shape;846;p55"/>
          <p:cNvSpPr txBox="1"/>
          <p:nvPr/>
        </p:nvSpPr>
        <p:spPr>
          <a:xfrm>
            <a:off x="5534026" y="5853112"/>
            <a:ext cx="485775"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8</a:t>
            </a:r>
            <a:endParaRPr/>
          </a:p>
        </p:txBody>
      </p:sp>
      <p:sp>
        <p:nvSpPr>
          <p:cNvPr id="847" name="Google Shape;847;p55"/>
          <p:cNvSpPr txBox="1"/>
          <p:nvPr/>
        </p:nvSpPr>
        <p:spPr>
          <a:xfrm>
            <a:off x="5905500" y="1843087"/>
            <a:ext cx="44608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8" name="Google Shape;848;p55"/>
          <p:cNvSpPr txBox="1"/>
          <p:nvPr/>
        </p:nvSpPr>
        <p:spPr>
          <a:xfrm>
            <a:off x="5584825" y="1600201"/>
            <a:ext cx="520700" cy="396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9</a:t>
            </a:r>
            <a:endParaRPr/>
          </a:p>
        </p:txBody>
      </p:sp>
      <p:sp>
        <p:nvSpPr>
          <p:cNvPr id="849" name="Google Shape;849;p55"/>
          <p:cNvSpPr/>
          <p:nvPr/>
        </p:nvSpPr>
        <p:spPr>
          <a:xfrm>
            <a:off x="5867400" y="1662113"/>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p56"/>
          <p:cNvSpPr txBox="1">
            <a:spLocks noGrp="1"/>
          </p:cNvSpPr>
          <p:nvPr>
            <p:ph type="title"/>
          </p:nvPr>
        </p:nvSpPr>
        <p:spPr>
          <a:xfrm>
            <a:off x="657606" y="0"/>
            <a:ext cx="10772775" cy="914400"/>
          </a:xfrm>
          <a:prstGeom prst="rect">
            <a:avLst/>
          </a:prstGeom>
          <a:noFill/>
          <a:ln>
            <a:noFill/>
          </a:ln>
        </p:spPr>
        <p:txBody>
          <a:bodyPr spcFirstLastPara="1" wrap="square" lIns="91425" tIns="45700" rIns="91425" bIns="45700" anchor="b" anchorCtr="0">
            <a:noAutofit/>
          </a:bodyPr>
          <a:lstStyle/>
          <a:p>
            <a:pPr marL="0" lvl="0" indent="0" algn="just" rtl="0">
              <a:lnSpc>
                <a:spcPct val="85000"/>
              </a:lnSpc>
              <a:spcBef>
                <a:spcPts val="0"/>
              </a:spcBef>
              <a:spcAft>
                <a:spcPts val="0"/>
              </a:spcAft>
              <a:buClr>
                <a:srgbClr val="FF0000"/>
              </a:buClr>
              <a:buSzPts val="3200"/>
              <a:buFont typeface="Calibri"/>
              <a:buNone/>
            </a:pPr>
            <a:r>
              <a:rPr lang="en-US" sz="3200">
                <a:solidFill>
                  <a:srgbClr val="FF0000"/>
                </a:solidFill>
              </a:rPr>
              <a:t>Participation Constraint and Existence Dependence</a:t>
            </a:r>
            <a:endParaRPr/>
          </a:p>
        </p:txBody>
      </p:sp>
      <p:sp>
        <p:nvSpPr>
          <p:cNvPr id="855" name="Google Shape;855;p56"/>
          <p:cNvSpPr txBox="1">
            <a:spLocks noGrp="1"/>
          </p:cNvSpPr>
          <p:nvPr>
            <p:ph type="body" idx="1"/>
          </p:nvPr>
        </p:nvSpPr>
        <p:spPr>
          <a:xfrm>
            <a:off x="657606" y="876094"/>
            <a:ext cx="10949508" cy="5425852"/>
          </a:xfrm>
          <a:prstGeom prst="rect">
            <a:avLst/>
          </a:prstGeom>
          <a:noFill/>
          <a:ln>
            <a:noFill/>
          </a:ln>
        </p:spPr>
        <p:txBody>
          <a:bodyPr spcFirstLastPara="1" wrap="square" lIns="0" tIns="45700" rIns="0" bIns="45700" anchor="t" anchorCtr="0">
            <a:normAutofit/>
          </a:bodyPr>
          <a:lstStyle/>
          <a:p>
            <a:pPr marL="91440" lvl="0" indent="-127000" algn="just" rtl="0">
              <a:lnSpc>
                <a:spcPct val="90000"/>
              </a:lnSpc>
              <a:spcBef>
                <a:spcPts val="0"/>
              </a:spcBef>
              <a:spcAft>
                <a:spcPts val="0"/>
              </a:spcAft>
              <a:buSzPts val="2000"/>
              <a:buChar char=" "/>
            </a:pPr>
            <a:r>
              <a:rPr lang="en-US"/>
              <a:t>The participation constraint specifies whether the existence of an entity depends on its being related to another entity via the relationship type.</a:t>
            </a:r>
            <a:endParaRPr/>
          </a:p>
          <a:p>
            <a:pPr marL="91440" lvl="0" indent="0" algn="just" rtl="0">
              <a:lnSpc>
                <a:spcPct val="90000"/>
              </a:lnSpc>
              <a:spcBef>
                <a:spcPts val="1400"/>
              </a:spcBef>
              <a:spcAft>
                <a:spcPts val="0"/>
              </a:spcAft>
              <a:buSzPts val="2000"/>
              <a:buNone/>
            </a:pPr>
            <a:endParaRPr/>
          </a:p>
          <a:p>
            <a:pPr marL="0" lvl="0" indent="0" algn="just" rtl="0">
              <a:lnSpc>
                <a:spcPct val="90000"/>
              </a:lnSpc>
              <a:spcBef>
                <a:spcPts val="1400"/>
              </a:spcBef>
              <a:spcAft>
                <a:spcPts val="0"/>
              </a:spcAft>
              <a:buSzPts val="2000"/>
              <a:buNone/>
            </a:pPr>
            <a:r>
              <a:rPr lang="en-US"/>
              <a:t>This constraint specifies the minimum number of relationship instances that each entity can participate in and is sometimes called the minimum cardinality constraint.</a:t>
            </a:r>
            <a:endParaRPr/>
          </a:p>
          <a:p>
            <a:pPr marL="0" lvl="0" indent="0" algn="just" rtl="0">
              <a:lnSpc>
                <a:spcPct val="90000"/>
              </a:lnSpc>
              <a:spcBef>
                <a:spcPts val="1400"/>
              </a:spcBef>
              <a:spcAft>
                <a:spcPts val="0"/>
              </a:spcAft>
              <a:buSzPts val="2000"/>
              <a:buNone/>
            </a:pPr>
            <a:endParaRPr/>
          </a:p>
          <a:p>
            <a:pPr marL="91440" lvl="0" indent="-127000" algn="just" rtl="0">
              <a:lnSpc>
                <a:spcPct val="90000"/>
              </a:lnSpc>
              <a:spcBef>
                <a:spcPts val="1400"/>
              </a:spcBef>
              <a:spcAft>
                <a:spcPts val="0"/>
              </a:spcAft>
              <a:buSzPts val="2000"/>
              <a:buChar char=" "/>
            </a:pPr>
            <a:r>
              <a:rPr lang="en-US"/>
              <a:t>Two types of participation constraint:</a:t>
            </a:r>
            <a:endParaRPr/>
          </a:p>
          <a:p>
            <a:pPr marL="91440" lvl="0" indent="0" algn="just" rtl="0">
              <a:lnSpc>
                <a:spcPct val="90000"/>
              </a:lnSpc>
              <a:spcBef>
                <a:spcPts val="1400"/>
              </a:spcBef>
              <a:spcAft>
                <a:spcPts val="0"/>
              </a:spcAft>
              <a:buSzPts val="2000"/>
              <a:buNone/>
            </a:pPr>
            <a:endParaRPr/>
          </a:p>
          <a:p>
            <a:pPr marL="384048" lvl="1" indent="-182880" algn="just" rtl="0">
              <a:lnSpc>
                <a:spcPct val="90000"/>
              </a:lnSpc>
              <a:spcBef>
                <a:spcPts val="400"/>
              </a:spcBef>
              <a:spcAft>
                <a:spcPts val="0"/>
              </a:spcAft>
              <a:buSzPts val="1800"/>
              <a:buChar char="◦"/>
            </a:pPr>
            <a:r>
              <a:rPr lang="en-US"/>
              <a:t>Total Participation, also called as Existence Dependency-If a company policy states that every employee must work for a department, then an employee entity can exist only if it participates in at least one WORKS_FOR relationship instance</a:t>
            </a:r>
            <a:endParaRPr/>
          </a:p>
          <a:p>
            <a:pPr marL="384048" lvl="1" indent="-68579" algn="just" rtl="0">
              <a:lnSpc>
                <a:spcPct val="90000"/>
              </a:lnSpc>
              <a:spcBef>
                <a:spcPts val="600"/>
              </a:spcBef>
              <a:spcAft>
                <a:spcPts val="0"/>
              </a:spcAft>
              <a:buSzPts val="1800"/>
              <a:buNone/>
            </a:pPr>
            <a:endParaRPr/>
          </a:p>
          <a:p>
            <a:pPr marL="384048" lvl="1" indent="-182880" algn="just" rtl="0">
              <a:lnSpc>
                <a:spcPct val="90000"/>
              </a:lnSpc>
              <a:spcBef>
                <a:spcPts val="600"/>
              </a:spcBef>
              <a:spcAft>
                <a:spcPts val="0"/>
              </a:spcAft>
              <a:buSzPts val="1800"/>
              <a:buChar char="◦"/>
            </a:pPr>
            <a:r>
              <a:rPr lang="en-US"/>
              <a:t>Partial Participation-we do not expect every employee to manage a department, so the participation of EMPLOYEE in the MANAGES relationship type is partial, meaning that some or part of the set of  employee entities are related to some department entity via MANAGES, but not necessarily all.</a:t>
            </a:r>
            <a:endParaRPr/>
          </a:p>
          <a:p>
            <a:pPr marL="91440" lvl="0" indent="0" algn="just" rtl="0">
              <a:lnSpc>
                <a:spcPct val="90000"/>
              </a:lnSpc>
              <a:spcBef>
                <a:spcPts val="1600"/>
              </a:spcBef>
              <a:spcAft>
                <a:spcPts val="0"/>
              </a:spcAft>
              <a:buSzPts val="2000"/>
              <a:buNone/>
            </a:pP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sp>
        <p:nvSpPr>
          <p:cNvPr id="860" name="Google Shape;860;p57"/>
          <p:cNvSpPr txBox="1">
            <a:spLocks noGrp="1"/>
          </p:cNvSpPr>
          <p:nvPr>
            <p:ph type="title"/>
          </p:nvPr>
        </p:nvSpPr>
        <p:spPr>
          <a:xfrm>
            <a:off x="676656" y="242895"/>
            <a:ext cx="10772775" cy="790999"/>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FF0000"/>
              </a:buClr>
              <a:buSzPts val="4000"/>
              <a:buFont typeface="Calibri"/>
              <a:buNone/>
            </a:pPr>
            <a:r>
              <a:rPr lang="en-US" sz="4000">
                <a:solidFill>
                  <a:srgbClr val="FF0000"/>
                </a:solidFill>
              </a:rPr>
              <a:t>Total Participation, also called as Existence Dependency</a:t>
            </a:r>
            <a:endParaRPr/>
          </a:p>
        </p:txBody>
      </p:sp>
      <p:cxnSp>
        <p:nvCxnSpPr>
          <p:cNvPr id="861" name="Google Shape;861;p57"/>
          <p:cNvCxnSpPr/>
          <p:nvPr/>
        </p:nvCxnSpPr>
        <p:spPr>
          <a:xfrm rot="10800000" flipH="1">
            <a:off x="3048000" y="2343150"/>
            <a:ext cx="2971800" cy="247650"/>
          </a:xfrm>
          <a:prstGeom prst="straightConnector1">
            <a:avLst/>
          </a:prstGeom>
          <a:noFill/>
          <a:ln w="9525" cap="flat" cmpd="sng">
            <a:solidFill>
              <a:schemeClr val="dk1"/>
            </a:solidFill>
            <a:prstDash val="solid"/>
            <a:round/>
            <a:headEnd type="none" w="med" len="med"/>
            <a:tailEnd type="none" w="med" len="med"/>
          </a:ln>
        </p:spPr>
      </p:cxnSp>
      <p:cxnSp>
        <p:nvCxnSpPr>
          <p:cNvPr id="862" name="Google Shape;862;p57"/>
          <p:cNvCxnSpPr/>
          <p:nvPr/>
        </p:nvCxnSpPr>
        <p:spPr>
          <a:xfrm rot="10800000" flipH="1">
            <a:off x="3048000" y="2971800"/>
            <a:ext cx="2914650" cy="76200"/>
          </a:xfrm>
          <a:prstGeom prst="straightConnector1">
            <a:avLst/>
          </a:prstGeom>
          <a:noFill/>
          <a:ln w="9525" cap="flat" cmpd="sng">
            <a:solidFill>
              <a:schemeClr val="dk1"/>
            </a:solidFill>
            <a:prstDash val="solid"/>
            <a:round/>
            <a:headEnd type="none" w="med" len="med"/>
            <a:tailEnd type="none" w="med" len="med"/>
          </a:ln>
        </p:spPr>
      </p:cxnSp>
      <p:cxnSp>
        <p:nvCxnSpPr>
          <p:cNvPr id="863" name="Google Shape;863;p57"/>
          <p:cNvCxnSpPr/>
          <p:nvPr/>
        </p:nvCxnSpPr>
        <p:spPr>
          <a:xfrm rot="10800000" flipH="1">
            <a:off x="3067050" y="3524250"/>
            <a:ext cx="2857500" cy="38100"/>
          </a:xfrm>
          <a:prstGeom prst="straightConnector1">
            <a:avLst/>
          </a:prstGeom>
          <a:noFill/>
          <a:ln w="9525" cap="flat" cmpd="sng">
            <a:solidFill>
              <a:schemeClr val="dk1"/>
            </a:solidFill>
            <a:prstDash val="solid"/>
            <a:round/>
            <a:headEnd type="none" w="med" len="med"/>
            <a:tailEnd type="none" w="med" len="med"/>
          </a:ln>
        </p:spPr>
      </p:cxnSp>
      <p:cxnSp>
        <p:nvCxnSpPr>
          <p:cNvPr id="864" name="Google Shape;864;p57"/>
          <p:cNvCxnSpPr/>
          <p:nvPr/>
        </p:nvCxnSpPr>
        <p:spPr>
          <a:xfrm>
            <a:off x="3067050" y="4038600"/>
            <a:ext cx="2914650" cy="76200"/>
          </a:xfrm>
          <a:prstGeom prst="straightConnector1">
            <a:avLst/>
          </a:prstGeom>
          <a:noFill/>
          <a:ln w="9525" cap="flat" cmpd="sng">
            <a:solidFill>
              <a:schemeClr val="dk1"/>
            </a:solidFill>
            <a:prstDash val="solid"/>
            <a:round/>
            <a:headEnd type="none" w="med" len="med"/>
            <a:tailEnd type="none" w="med" len="med"/>
          </a:ln>
        </p:spPr>
      </p:cxnSp>
      <p:cxnSp>
        <p:nvCxnSpPr>
          <p:cNvPr id="865" name="Google Shape;865;p57"/>
          <p:cNvCxnSpPr/>
          <p:nvPr/>
        </p:nvCxnSpPr>
        <p:spPr>
          <a:xfrm>
            <a:off x="3067050" y="4514850"/>
            <a:ext cx="2876550" cy="152400"/>
          </a:xfrm>
          <a:prstGeom prst="straightConnector1">
            <a:avLst/>
          </a:prstGeom>
          <a:noFill/>
          <a:ln w="9525" cap="flat" cmpd="sng">
            <a:solidFill>
              <a:schemeClr val="dk1"/>
            </a:solidFill>
            <a:prstDash val="solid"/>
            <a:round/>
            <a:headEnd type="none" w="med" len="med"/>
            <a:tailEnd type="none" w="med" len="med"/>
          </a:ln>
        </p:spPr>
      </p:cxnSp>
      <p:cxnSp>
        <p:nvCxnSpPr>
          <p:cNvPr id="866" name="Google Shape;866;p57"/>
          <p:cNvCxnSpPr/>
          <p:nvPr/>
        </p:nvCxnSpPr>
        <p:spPr>
          <a:xfrm>
            <a:off x="3048000" y="5010150"/>
            <a:ext cx="2933700" cy="247650"/>
          </a:xfrm>
          <a:prstGeom prst="straightConnector1">
            <a:avLst/>
          </a:prstGeom>
          <a:noFill/>
          <a:ln w="9525" cap="flat" cmpd="sng">
            <a:solidFill>
              <a:schemeClr val="dk1"/>
            </a:solidFill>
            <a:prstDash val="solid"/>
            <a:round/>
            <a:headEnd type="none" w="med" len="med"/>
            <a:tailEnd type="none" w="med" len="med"/>
          </a:ln>
        </p:spPr>
      </p:cxnSp>
      <p:cxnSp>
        <p:nvCxnSpPr>
          <p:cNvPr id="867" name="Google Shape;867;p57"/>
          <p:cNvCxnSpPr/>
          <p:nvPr/>
        </p:nvCxnSpPr>
        <p:spPr>
          <a:xfrm>
            <a:off x="3067050" y="5524500"/>
            <a:ext cx="2895600" cy="323850"/>
          </a:xfrm>
          <a:prstGeom prst="straightConnector1">
            <a:avLst/>
          </a:prstGeom>
          <a:noFill/>
          <a:ln w="9525" cap="flat" cmpd="sng">
            <a:solidFill>
              <a:schemeClr val="dk1"/>
            </a:solidFill>
            <a:prstDash val="solid"/>
            <a:round/>
            <a:headEnd type="none" w="med" len="med"/>
            <a:tailEnd type="none" w="med" len="med"/>
          </a:ln>
        </p:spPr>
      </p:cxnSp>
      <p:cxnSp>
        <p:nvCxnSpPr>
          <p:cNvPr id="868" name="Google Shape;868;p57"/>
          <p:cNvCxnSpPr/>
          <p:nvPr/>
        </p:nvCxnSpPr>
        <p:spPr>
          <a:xfrm>
            <a:off x="6076950" y="2343150"/>
            <a:ext cx="2895600" cy="228600"/>
          </a:xfrm>
          <a:prstGeom prst="straightConnector1">
            <a:avLst/>
          </a:prstGeom>
          <a:noFill/>
          <a:ln w="9525" cap="flat" cmpd="sng">
            <a:solidFill>
              <a:schemeClr val="dk1"/>
            </a:solidFill>
            <a:prstDash val="solid"/>
            <a:round/>
            <a:headEnd type="none" w="med" len="med"/>
            <a:tailEnd type="none" w="med" len="med"/>
          </a:ln>
        </p:spPr>
      </p:cxnSp>
      <p:cxnSp>
        <p:nvCxnSpPr>
          <p:cNvPr id="869" name="Google Shape;869;p57"/>
          <p:cNvCxnSpPr/>
          <p:nvPr/>
        </p:nvCxnSpPr>
        <p:spPr>
          <a:xfrm>
            <a:off x="6096000" y="2952750"/>
            <a:ext cx="2838450" cy="533400"/>
          </a:xfrm>
          <a:prstGeom prst="straightConnector1">
            <a:avLst/>
          </a:prstGeom>
          <a:noFill/>
          <a:ln w="9525" cap="flat" cmpd="sng">
            <a:solidFill>
              <a:schemeClr val="dk1"/>
            </a:solidFill>
            <a:prstDash val="solid"/>
            <a:round/>
            <a:headEnd type="none" w="med" len="med"/>
            <a:tailEnd type="none" w="med" len="med"/>
          </a:ln>
        </p:spPr>
      </p:cxnSp>
      <p:cxnSp>
        <p:nvCxnSpPr>
          <p:cNvPr id="870" name="Google Shape;870;p57"/>
          <p:cNvCxnSpPr/>
          <p:nvPr/>
        </p:nvCxnSpPr>
        <p:spPr>
          <a:xfrm rot="10800000" flipH="1">
            <a:off x="6076950" y="2571750"/>
            <a:ext cx="2857500" cy="952500"/>
          </a:xfrm>
          <a:prstGeom prst="straightConnector1">
            <a:avLst/>
          </a:prstGeom>
          <a:noFill/>
          <a:ln w="9525" cap="flat" cmpd="sng">
            <a:solidFill>
              <a:schemeClr val="dk1"/>
            </a:solidFill>
            <a:prstDash val="solid"/>
            <a:round/>
            <a:headEnd type="none" w="med" len="med"/>
            <a:tailEnd type="none" w="med" len="med"/>
          </a:ln>
        </p:spPr>
      </p:cxnSp>
      <p:cxnSp>
        <p:nvCxnSpPr>
          <p:cNvPr id="871" name="Google Shape;871;p57"/>
          <p:cNvCxnSpPr/>
          <p:nvPr/>
        </p:nvCxnSpPr>
        <p:spPr>
          <a:xfrm rot="10800000" flipH="1">
            <a:off x="6115050" y="3505200"/>
            <a:ext cx="2800350" cy="590550"/>
          </a:xfrm>
          <a:prstGeom prst="straightConnector1">
            <a:avLst/>
          </a:prstGeom>
          <a:noFill/>
          <a:ln w="9525" cap="flat" cmpd="sng">
            <a:solidFill>
              <a:schemeClr val="dk1"/>
            </a:solidFill>
            <a:prstDash val="solid"/>
            <a:round/>
            <a:headEnd type="none" w="med" len="med"/>
            <a:tailEnd type="none" w="med" len="med"/>
          </a:ln>
        </p:spPr>
      </p:cxnSp>
      <p:cxnSp>
        <p:nvCxnSpPr>
          <p:cNvPr id="872" name="Google Shape;872;p57"/>
          <p:cNvCxnSpPr/>
          <p:nvPr/>
        </p:nvCxnSpPr>
        <p:spPr>
          <a:xfrm rot="10800000" flipH="1">
            <a:off x="6076950" y="4400550"/>
            <a:ext cx="2819400" cy="285750"/>
          </a:xfrm>
          <a:prstGeom prst="straightConnector1">
            <a:avLst/>
          </a:prstGeom>
          <a:noFill/>
          <a:ln w="9525" cap="flat" cmpd="sng">
            <a:solidFill>
              <a:schemeClr val="dk1"/>
            </a:solidFill>
            <a:prstDash val="solid"/>
            <a:round/>
            <a:headEnd type="none" w="med" len="med"/>
            <a:tailEnd type="none" w="med" len="med"/>
          </a:ln>
        </p:spPr>
      </p:cxnSp>
      <p:cxnSp>
        <p:nvCxnSpPr>
          <p:cNvPr id="873" name="Google Shape;873;p57"/>
          <p:cNvCxnSpPr/>
          <p:nvPr/>
        </p:nvCxnSpPr>
        <p:spPr>
          <a:xfrm rot="10800000" flipH="1">
            <a:off x="6076950" y="4400550"/>
            <a:ext cx="2838450" cy="1447800"/>
          </a:xfrm>
          <a:prstGeom prst="straightConnector1">
            <a:avLst/>
          </a:prstGeom>
          <a:noFill/>
          <a:ln w="9525" cap="flat" cmpd="sng">
            <a:solidFill>
              <a:schemeClr val="dk1"/>
            </a:solidFill>
            <a:prstDash val="solid"/>
            <a:round/>
            <a:headEnd type="none" w="med" len="med"/>
            <a:tailEnd type="none" w="med" len="med"/>
          </a:ln>
        </p:spPr>
      </p:cxnSp>
      <p:sp>
        <p:nvSpPr>
          <p:cNvPr id="874" name="Google Shape;874;p57"/>
          <p:cNvSpPr/>
          <p:nvPr/>
        </p:nvSpPr>
        <p:spPr>
          <a:xfrm>
            <a:off x="5905500" y="225425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5" name="Google Shape;875;p57"/>
          <p:cNvSpPr/>
          <p:nvPr/>
        </p:nvSpPr>
        <p:spPr>
          <a:xfrm>
            <a:off x="5905500" y="284480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6" name="Google Shape;876;p57"/>
          <p:cNvSpPr/>
          <p:nvPr/>
        </p:nvSpPr>
        <p:spPr>
          <a:xfrm>
            <a:off x="5905500" y="341630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7" name="Google Shape;877;p57"/>
          <p:cNvSpPr/>
          <p:nvPr/>
        </p:nvSpPr>
        <p:spPr>
          <a:xfrm>
            <a:off x="5905500" y="400685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8" name="Google Shape;878;p57"/>
          <p:cNvSpPr/>
          <p:nvPr/>
        </p:nvSpPr>
        <p:spPr>
          <a:xfrm>
            <a:off x="5905500" y="457835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9" name="Google Shape;879;p57"/>
          <p:cNvSpPr/>
          <p:nvPr/>
        </p:nvSpPr>
        <p:spPr>
          <a:xfrm>
            <a:off x="5905500" y="516890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0" name="Google Shape;880;p57"/>
          <p:cNvSpPr/>
          <p:nvPr/>
        </p:nvSpPr>
        <p:spPr>
          <a:xfrm>
            <a:off x="5905500" y="574040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1" name="Google Shape;881;p57"/>
          <p:cNvSpPr/>
          <p:nvPr/>
        </p:nvSpPr>
        <p:spPr>
          <a:xfrm>
            <a:off x="1990725" y="1752600"/>
            <a:ext cx="1943100" cy="3981450"/>
          </a:xfrm>
          <a:prstGeom prst="ellipse">
            <a:avLst/>
          </a:prstGeom>
          <a:noFill/>
          <a:ln w="9525" cap="flat" cmpd="sng">
            <a:solidFill>
              <a:schemeClr val="dk1"/>
            </a:solidFill>
            <a:prstDash val="solid"/>
            <a:round/>
            <a:headEnd type="none" w="sm" len="sm"/>
            <a:tailEnd type="none" w="sm" len="sm"/>
          </a:ln>
        </p:spPr>
        <p:txBody>
          <a:bodyPr spcFirstLastPara="1" wrap="square" lIns="91425" tIns="0" rIns="91425" bIns="0" anchor="t" anchorCtr="0">
            <a:noAutofit/>
          </a:bodyPr>
          <a:lstStyle/>
          <a:p>
            <a:pPr marL="0" marR="0" lvl="0" indent="0" algn="ctr" rtl="0">
              <a:spcBef>
                <a:spcPts val="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1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2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3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4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5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6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7  </a:t>
            </a:r>
            <a:endParaRPr/>
          </a:p>
        </p:txBody>
      </p:sp>
      <p:sp>
        <p:nvSpPr>
          <p:cNvPr id="882" name="Google Shape;882;p57"/>
          <p:cNvSpPr txBox="1"/>
          <p:nvPr/>
        </p:nvSpPr>
        <p:spPr>
          <a:xfrm>
            <a:off x="2187714" y="1260475"/>
            <a:ext cx="1415772"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EMPLOYEE</a:t>
            </a:r>
            <a:endParaRPr/>
          </a:p>
        </p:txBody>
      </p:sp>
      <p:sp>
        <p:nvSpPr>
          <p:cNvPr id="883" name="Google Shape;883;p57"/>
          <p:cNvSpPr/>
          <p:nvPr/>
        </p:nvSpPr>
        <p:spPr>
          <a:xfrm>
            <a:off x="5029200" y="1752601"/>
            <a:ext cx="1943100" cy="4814455"/>
          </a:xfrm>
          <a:prstGeom prst="ellipse">
            <a:avLst/>
          </a:prstGeom>
          <a:noFill/>
          <a:ln w="9525" cap="flat" cmpd="sng">
            <a:solidFill>
              <a:schemeClr val="dk1"/>
            </a:solidFill>
            <a:prstDash val="solid"/>
            <a:round/>
            <a:headEnd type="none" w="sm" len="sm"/>
            <a:tailEnd type="none" w="sm" len="sm"/>
          </a:ln>
        </p:spPr>
        <p:txBody>
          <a:bodyPr spcFirstLastPara="1" wrap="square" lIns="91425" tIns="0" rIns="91425" bIns="3657600" anchor="t" anchorCtr="0">
            <a:noAutofit/>
          </a:bodyPr>
          <a:lstStyle/>
          <a:p>
            <a:pPr marL="0" marR="0" lvl="0" indent="0" algn="ctr" rtl="0">
              <a:spcBef>
                <a:spcPts val="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1</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2</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3</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4</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5</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6</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7</a:t>
            </a:r>
            <a:endParaRPr sz="2000">
              <a:solidFill>
                <a:schemeClr val="dk1"/>
              </a:solidFill>
              <a:latin typeface="Calibri"/>
              <a:ea typeface="Calibri"/>
              <a:cs typeface="Calibri"/>
              <a:sym typeface="Calibri"/>
            </a:endParaRPr>
          </a:p>
        </p:txBody>
      </p:sp>
      <p:sp>
        <p:nvSpPr>
          <p:cNvPr id="884" name="Google Shape;884;p57"/>
          <p:cNvSpPr txBox="1"/>
          <p:nvPr/>
        </p:nvSpPr>
        <p:spPr>
          <a:xfrm>
            <a:off x="5209508" y="1260475"/>
            <a:ext cx="1582484"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WORKS_FOR</a:t>
            </a:r>
            <a:endParaRPr/>
          </a:p>
        </p:txBody>
      </p:sp>
      <p:sp>
        <p:nvSpPr>
          <p:cNvPr id="885" name="Google Shape;885;p57"/>
          <p:cNvSpPr/>
          <p:nvPr/>
        </p:nvSpPr>
        <p:spPr>
          <a:xfrm>
            <a:off x="8077200" y="1752600"/>
            <a:ext cx="1943100" cy="3981450"/>
          </a:xfrm>
          <a:prstGeom prst="ellipse">
            <a:avLst/>
          </a:prstGeom>
          <a:noFill/>
          <a:ln w="9525" cap="flat" cmpd="sng">
            <a:solidFill>
              <a:schemeClr val="dk1"/>
            </a:solidFill>
            <a:prstDash val="solid"/>
            <a:round/>
            <a:headEnd type="none" w="sm" len="sm"/>
            <a:tailEnd type="none" w="sm" len="sm"/>
          </a:ln>
        </p:spPr>
        <p:txBody>
          <a:bodyPr spcFirstLastPara="1" wrap="square" lIns="91425" tIns="0" rIns="91425" bIns="0" anchor="t" anchorCtr="0">
            <a:noAutofit/>
          </a:bodyPr>
          <a:lstStyle/>
          <a:p>
            <a:pPr marL="0" marR="0" lvl="0" indent="0" algn="ctr" rtl="0">
              <a:spcBef>
                <a:spcPts val="0"/>
              </a:spcBef>
              <a:spcAft>
                <a:spcPts val="0"/>
              </a:spcAft>
              <a:buNone/>
            </a:pPr>
            <a:r>
              <a:rPr lang="en-US" sz="2000" baseline="-25000">
                <a:solidFill>
                  <a:schemeClr val="dk1"/>
                </a:solidFill>
                <a:latin typeface="Calibri"/>
                <a:ea typeface="Calibri"/>
                <a:cs typeface="Calibri"/>
                <a:sym typeface="Calibri"/>
              </a:rPr>
              <a:t></a:t>
            </a:r>
            <a:r>
              <a:rPr lang="en-US" sz="2000">
                <a:solidFill>
                  <a:schemeClr val="dk1"/>
                </a:solidFill>
                <a:latin typeface="Calibri"/>
                <a:ea typeface="Calibri"/>
                <a:cs typeface="Calibri"/>
                <a:sym typeface="Calibri"/>
              </a:rPr>
              <a:t> d</a:t>
            </a:r>
            <a:r>
              <a:rPr lang="en-US" sz="2000" baseline="-25000">
                <a:solidFill>
                  <a:schemeClr val="dk1"/>
                </a:solidFill>
                <a:latin typeface="Calibri"/>
                <a:ea typeface="Calibri"/>
                <a:cs typeface="Calibri"/>
                <a:sym typeface="Calibri"/>
              </a:rPr>
              <a:t>1</a:t>
            </a:r>
            <a:endParaRPr sz="2000">
              <a:solidFill>
                <a:schemeClr val="dk1"/>
              </a:solidFill>
              <a:latin typeface="Calibri"/>
              <a:ea typeface="Calibri"/>
              <a:cs typeface="Calibri"/>
              <a:sym typeface="Calibri"/>
            </a:endParaRPr>
          </a:p>
          <a:p>
            <a:pPr marL="0" marR="0" lvl="0" indent="0" algn="ctr" rtl="0">
              <a:spcBef>
                <a:spcPts val="4000"/>
              </a:spcBef>
              <a:spcAft>
                <a:spcPts val="0"/>
              </a:spcAft>
              <a:buNone/>
            </a:pPr>
            <a:r>
              <a:rPr lang="en-US" sz="2000" baseline="-25000">
                <a:solidFill>
                  <a:schemeClr val="dk1"/>
                </a:solidFill>
                <a:latin typeface="Calibri"/>
                <a:ea typeface="Calibri"/>
                <a:cs typeface="Calibri"/>
                <a:sym typeface="Calibri"/>
              </a:rPr>
              <a:t></a:t>
            </a:r>
            <a:r>
              <a:rPr lang="en-US" sz="2000">
                <a:solidFill>
                  <a:schemeClr val="dk1"/>
                </a:solidFill>
                <a:latin typeface="Calibri"/>
                <a:ea typeface="Calibri"/>
                <a:cs typeface="Calibri"/>
                <a:sym typeface="Calibri"/>
              </a:rPr>
              <a:t> d</a:t>
            </a:r>
            <a:r>
              <a:rPr lang="en-US" sz="2000" baseline="-25000">
                <a:solidFill>
                  <a:schemeClr val="dk1"/>
                </a:solidFill>
                <a:latin typeface="Calibri"/>
                <a:ea typeface="Calibri"/>
                <a:cs typeface="Calibri"/>
                <a:sym typeface="Calibri"/>
              </a:rPr>
              <a:t>2</a:t>
            </a:r>
            <a:endParaRPr sz="2000">
              <a:solidFill>
                <a:schemeClr val="dk1"/>
              </a:solidFill>
              <a:latin typeface="Calibri"/>
              <a:ea typeface="Calibri"/>
              <a:cs typeface="Calibri"/>
              <a:sym typeface="Calibri"/>
            </a:endParaRPr>
          </a:p>
          <a:p>
            <a:pPr marL="0" marR="0" lvl="0" indent="0" algn="ctr" rtl="0">
              <a:spcBef>
                <a:spcPts val="4000"/>
              </a:spcBef>
              <a:spcAft>
                <a:spcPts val="0"/>
              </a:spcAft>
              <a:buNone/>
            </a:pPr>
            <a:r>
              <a:rPr lang="en-US" sz="2000" baseline="-25000">
                <a:solidFill>
                  <a:schemeClr val="dk1"/>
                </a:solidFill>
                <a:latin typeface="Calibri"/>
                <a:ea typeface="Calibri"/>
                <a:cs typeface="Calibri"/>
                <a:sym typeface="Calibri"/>
              </a:rPr>
              <a:t></a:t>
            </a:r>
            <a:r>
              <a:rPr lang="en-US" sz="2000">
                <a:solidFill>
                  <a:schemeClr val="dk1"/>
                </a:solidFill>
                <a:latin typeface="Calibri"/>
                <a:ea typeface="Calibri"/>
                <a:cs typeface="Calibri"/>
                <a:sym typeface="Calibri"/>
              </a:rPr>
              <a:t> d</a:t>
            </a:r>
            <a:r>
              <a:rPr lang="en-US" sz="2000" baseline="-25000">
                <a:solidFill>
                  <a:schemeClr val="dk1"/>
                </a:solidFill>
                <a:latin typeface="Calibri"/>
                <a:ea typeface="Calibri"/>
                <a:cs typeface="Calibri"/>
                <a:sym typeface="Calibri"/>
              </a:rPr>
              <a:t>3</a:t>
            </a:r>
            <a:endParaRPr sz="2000">
              <a:solidFill>
                <a:schemeClr val="dk1"/>
              </a:solidFill>
              <a:latin typeface="Calibri"/>
              <a:ea typeface="Calibri"/>
              <a:cs typeface="Calibri"/>
              <a:sym typeface="Calibri"/>
            </a:endParaRPr>
          </a:p>
        </p:txBody>
      </p:sp>
      <p:sp>
        <p:nvSpPr>
          <p:cNvPr id="886" name="Google Shape;886;p57"/>
          <p:cNvSpPr txBox="1"/>
          <p:nvPr/>
        </p:nvSpPr>
        <p:spPr>
          <a:xfrm>
            <a:off x="8203626" y="1260475"/>
            <a:ext cx="170136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DEPARTMENT</a:t>
            </a:r>
            <a:endParaRPr/>
          </a:p>
        </p:txBody>
      </p:sp>
      <p:cxnSp>
        <p:nvCxnSpPr>
          <p:cNvPr id="887" name="Google Shape;887;p57"/>
          <p:cNvCxnSpPr/>
          <p:nvPr/>
        </p:nvCxnSpPr>
        <p:spPr>
          <a:xfrm rot="10800000" flipH="1">
            <a:off x="6096000" y="2554288"/>
            <a:ext cx="2838450" cy="268605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p58"/>
          <p:cNvSpPr txBox="1">
            <a:spLocks noGrp="1"/>
          </p:cNvSpPr>
          <p:nvPr>
            <p:ph type="title"/>
          </p:nvPr>
        </p:nvSpPr>
        <p:spPr>
          <a:xfrm>
            <a:off x="657224" y="499533"/>
            <a:ext cx="10772775" cy="708872"/>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5000"/>
              </a:lnSpc>
              <a:spcBef>
                <a:spcPts val="0"/>
              </a:spcBef>
              <a:spcAft>
                <a:spcPts val="0"/>
              </a:spcAft>
              <a:buClr>
                <a:srgbClr val="FF0000"/>
              </a:buClr>
              <a:buSzPct val="100000"/>
              <a:buFont typeface="Calibri"/>
              <a:buNone/>
            </a:pPr>
            <a:r>
              <a:rPr lang="en-US">
                <a:solidFill>
                  <a:srgbClr val="FF0000"/>
                </a:solidFill>
              </a:rPr>
              <a:t>1:1 Relationship</a:t>
            </a:r>
            <a:endParaRPr/>
          </a:p>
        </p:txBody>
      </p:sp>
      <p:sp>
        <p:nvSpPr>
          <p:cNvPr id="893" name="Google Shape;893;p58"/>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0" algn="l" rtl="0">
              <a:lnSpc>
                <a:spcPct val="90000"/>
              </a:lnSpc>
              <a:spcBef>
                <a:spcPts val="0"/>
              </a:spcBef>
              <a:spcAft>
                <a:spcPts val="0"/>
              </a:spcAft>
              <a:buSzPts val="2000"/>
              <a:buNone/>
            </a:pPr>
            <a:endParaRPr/>
          </a:p>
        </p:txBody>
      </p:sp>
      <p:cxnSp>
        <p:nvCxnSpPr>
          <p:cNvPr id="894" name="Google Shape;894;p58"/>
          <p:cNvCxnSpPr/>
          <p:nvPr/>
        </p:nvCxnSpPr>
        <p:spPr>
          <a:xfrm rot="10800000" flipH="1">
            <a:off x="3067050" y="2343150"/>
            <a:ext cx="2838450" cy="1219200"/>
          </a:xfrm>
          <a:prstGeom prst="straightConnector1">
            <a:avLst/>
          </a:prstGeom>
          <a:noFill/>
          <a:ln w="9525" cap="flat" cmpd="sng">
            <a:solidFill>
              <a:schemeClr val="dk1"/>
            </a:solidFill>
            <a:prstDash val="solid"/>
            <a:round/>
            <a:headEnd type="none" w="med" len="med"/>
            <a:tailEnd type="none" w="med" len="med"/>
          </a:ln>
        </p:spPr>
      </p:cxnSp>
      <p:cxnSp>
        <p:nvCxnSpPr>
          <p:cNvPr id="895" name="Google Shape;895;p58"/>
          <p:cNvCxnSpPr/>
          <p:nvPr/>
        </p:nvCxnSpPr>
        <p:spPr>
          <a:xfrm rot="10800000" flipH="1">
            <a:off x="3067050" y="3505200"/>
            <a:ext cx="2838450" cy="1009650"/>
          </a:xfrm>
          <a:prstGeom prst="straightConnector1">
            <a:avLst/>
          </a:prstGeom>
          <a:noFill/>
          <a:ln w="9525" cap="flat" cmpd="sng">
            <a:solidFill>
              <a:schemeClr val="dk1"/>
            </a:solidFill>
            <a:prstDash val="solid"/>
            <a:round/>
            <a:headEnd type="none" w="med" len="med"/>
            <a:tailEnd type="none" w="med" len="med"/>
          </a:ln>
        </p:spPr>
      </p:cxnSp>
      <p:cxnSp>
        <p:nvCxnSpPr>
          <p:cNvPr id="896" name="Google Shape;896;p58"/>
          <p:cNvCxnSpPr/>
          <p:nvPr/>
        </p:nvCxnSpPr>
        <p:spPr>
          <a:xfrm rot="10800000" flipH="1">
            <a:off x="3048000" y="2952750"/>
            <a:ext cx="2895600" cy="2057400"/>
          </a:xfrm>
          <a:prstGeom prst="straightConnector1">
            <a:avLst/>
          </a:prstGeom>
          <a:noFill/>
          <a:ln w="9525" cap="flat" cmpd="sng">
            <a:solidFill>
              <a:schemeClr val="dk1"/>
            </a:solidFill>
            <a:prstDash val="solid"/>
            <a:round/>
            <a:headEnd type="none" w="med" len="med"/>
            <a:tailEnd type="none" w="med" len="med"/>
          </a:ln>
        </p:spPr>
      </p:cxnSp>
      <p:cxnSp>
        <p:nvCxnSpPr>
          <p:cNvPr id="897" name="Google Shape;897;p58"/>
          <p:cNvCxnSpPr/>
          <p:nvPr/>
        </p:nvCxnSpPr>
        <p:spPr>
          <a:xfrm>
            <a:off x="6076950" y="2343150"/>
            <a:ext cx="2895600" cy="228600"/>
          </a:xfrm>
          <a:prstGeom prst="straightConnector1">
            <a:avLst/>
          </a:prstGeom>
          <a:noFill/>
          <a:ln w="9525" cap="flat" cmpd="sng">
            <a:solidFill>
              <a:schemeClr val="dk1"/>
            </a:solidFill>
            <a:prstDash val="solid"/>
            <a:round/>
            <a:headEnd type="none" w="med" len="med"/>
            <a:tailEnd type="none" w="med" len="med"/>
          </a:ln>
        </p:spPr>
      </p:cxnSp>
      <p:cxnSp>
        <p:nvCxnSpPr>
          <p:cNvPr id="898" name="Google Shape;898;p58"/>
          <p:cNvCxnSpPr/>
          <p:nvPr/>
        </p:nvCxnSpPr>
        <p:spPr>
          <a:xfrm>
            <a:off x="6096000" y="2952750"/>
            <a:ext cx="2838450" cy="533400"/>
          </a:xfrm>
          <a:prstGeom prst="straightConnector1">
            <a:avLst/>
          </a:prstGeom>
          <a:noFill/>
          <a:ln w="9525" cap="flat" cmpd="sng">
            <a:solidFill>
              <a:schemeClr val="dk1"/>
            </a:solidFill>
            <a:prstDash val="solid"/>
            <a:round/>
            <a:headEnd type="none" w="med" len="med"/>
            <a:tailEnd type="none" w="med" len="med"/>
          </a:ln>
        </p:spPr>
      </p:cxnSp>
      <p:cxnSp>
        <p:nvCxnSpPr>
          <p:cNvPr id="899" name="Google Shape;899;p58"/>
          <p:cNvCxnSpPr/>
          <p:nvPr/>
        </p:nvCxnSpPr>
        <p:spPr>
          <a:xfrm>
            <a:off x="6076950" y="3495676"/>
            <a:ext cx="2819400" cy="904875"/>
          </a:xfrm>
          <a:prstGeom prst="straightConnector1">
            <a:avLst/>
          </a:prstGeom>
          <a:noFill/>
          <a:ln w="9525" cap="flat" cmpd="sng">
            <a:solidFill>
              <a:schemeClr val="dk1"/>
            </a:solidFill>
            <a:prstDash val="solid"/>
            <a:round/>
            <a:headEnd type="none" w="med" len="med"/>
            <a:tailEnd type="none" w="med" len="med"/>
          </a:ln>
        </p:spPr>
      </p:cxnSp>
      <p:sp>
        <p:nvSpPr>
          <p:cNvPr id="900" name="Google Shape;900;p58"/>
          <p:cNvSpPr/>
          <p:nvPr/>
        </p:nvSpPr>
        <p:spPr>
          <a:xfrm>
            <a:off x="5905500" y="225425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01" name="Google Shape;901;p58"/>
          <p:cNvSpPr/>
          <p:nvPr/>
        </p:nvSpPr>
        <p:spPr>
          <a:xfrm>
            <a:off x="5905500" y="284480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02" name="Google Shape;902;p58"/>
          <p:cNvSpPr/>
          <p:nvPr/>
        </p:nvSpPr>
        <p:spPr>
          <a:xfrm>
            <a:off x="5905500" y="3416301"/>
            <a:ext cx="209550" cy="18097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03" name="Google Shape;903;p58"/>
          <p:cNvSpPr/>
          <p:nvPr/>
        </p:nvSpPr>
        <p:spPr>
          <a:xfrm>
            <a:off x="1990725" y="1752600"/>
            <a:ext cx="1943100" cy="3981450"/>
          </a:xfrm>
          <a:prstGeom prst="ellipse">
            <a:avLst/>
          </a:prstGeom>
          <a:noFill/>
          <a:ln w="9525" cap="flat" cmpd="sng">
            <a:solidFill>
              <a:schemeClr val="dk1"/>
            </a:solidFill>
            <a:prstDash val="solid"/>
            <a:round/>
            <a:headEnd type="none" w="sm" len="sm"/>
            <a:tailEnd type="none" w="sm" len="sm"/>
          </a:ln>
        </p:spPr>
        <p:txBody>
          <a:bodyPr spcFirstLastPara="1" wrap="square" lIns="91425" tIns="0" rIns="91425" bIns="0" anchor="t" anchorCtr="0">
            <a:noAutofit/>
          </a:bodyPr>
          <a:lstStyle/>
          <a:p>
            <a:pPr marL="0" marR="0" lvl="0" indent="0" algn="ctr" rtl="0">
              <a:spcBef>
                <a:spcPts val="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1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2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3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4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5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6  </a:t>
            </a:r>
            <a:endParaRPr sz="200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2000">
                <a:solidFill>
                  <a:schemeClr val="dk1"/>
                </a:solidFill>
                <a:latin typeface="Calibri"/>
                <a:ea typeface="Calibri"/>
                <a:cs typeface="Calibri"/>
                <a:sym typeface="Calibri"/>
              </a:rPr>
              <a:t>e</a:t>
            </a:r>
            <a:r>
              <a:rPr lang="en-US" sz="2000" baseline="-25000">
                <a:solidFill>
                  <a:schemeClr val="dk1"/>
                </a:solidFill>
                <a:latin typeface="Calibri"/>
                <a:ea typeface="Calibri"/>
                <a:cs typeface="Calibri"/>
                <a:sym typeface="Calibri"/>
              </a:rPr>
              <a:t>7  </a:t>
            </a:r>
            <a:endParaRPr/>
          </a:p>
        </p:txBody>
      </p:sp>
      <p:sp>
        <p:nvSpPr>
          <p:cNvPr id="904" name="Google Shape;904;p58"/>
          <p:cNvSpPr txBox="1"/>
          <p:nvPr/>
        </p:nvSpPr>
        <p:spPr>
          <a:xfrm>
            <a:off x="2187714" y="1260475"/>
            <a:ext cx="1415772"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EMPLOYEE</a:t>
            </a:r>
            <a:endParaRPr/>
          </a:p>
        </p:txBody>
      </p:sp>
      <p:sp>
        <p:nvSpPr>
          <p:cNvPr id="905" name="Google Shape;905;p58"/>
          <p:cNvSpPr/>
          <p:nvPr/>
        </p:nvSpPr>
        <p:spPr>
          <a:xfrm>
            <a:off x="5029200" y="1828800"/>
            <a:ext cx="1943100" cy="4724400"/>
          </a:xfrm>
          <a:prstGeom prst="ellipse">
            <a:avLst/>
          </a:prstGeom>
          <a:noFill/>
          <a:ln w="9525" cap="flat" cmpd="sng">
            <a:solidFill>
              <a:schemeClr val="dk1"/>
            </a:solidFill>
            <a:prstDash val="solid"/>
            <a:round/>
            <a:headEnd type="none" w="sm" len="sm"/>
            <a:tailEnd type="none" w="sm" len="sm"/>
          </a:ln>
        </p:spPr>
        <p:txBody>
          <a:bodyPr spcFirstLastPara="1" wrap="square" lIns="91425" tIns="0" rIns="91425" bIns="3657600" anchor="t" anchorCtr="0">
            <a:noAutofit/>
          </a:bodyPr>
          <a:lstStyle/>
          <a:p>
            <a:pPr marL="0" marR="0" lvl="0" indent="0" algn="ctr" rtl="0">
              <a:spcBef>
                <a:spcPts val="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1</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2</a:t>
            </a:r>
            <a:endParaRPr sz="2000">
              <a:solidFill>
                <a:schemeClr val="dk1"/>
              </a:solidFill>
              <a:latin typeface="Calibri"/>
              <a:ea typeface="Calibri"/>
              <a:cs typeface="Calibri"/>
              <a:sym typeface="Calibri"/>
            </a:endParaRPr>
          </a:p>
          <a:p>
            <a:pPr marL="0" marR="0" lvl="0" indent="0" algn="ctr" rtl="0">
              <a:spcBef>
                <a:spcPts val="1800"/>
              </a:spcBef>
              <a:spcAft>
                <a:spcPts val="0"/>
              </a:spcAft>
              <a:buNone/>
            </a:pPr>
            <a:r>
              <a:rPr lang="en-US" sz="2000">
                <a:solidFill>
                  <a:schemeClr val="dk1"/>
                </a:solidFill>
                <a:latin typeface="Calibri"/>
                <a:ea typeface="Calibri"/>
                <a:cs typeface="Calibri"/>
                <a:sym typeface="Calibri"/>
              </a:rPr>
              <a:t>r</a:t>
            </a:r>
            <a:r>
              <a:rPr lang="en-US" sz="2000" baseline="-25000">
                <a:solidFill>
                  <a:schemeClr val="dk1"/>
                </a:solidFill>
                <a:latin typeface="Calibri"/>
                <a:ea typeface="Calibri"/>
                <a:cs typeface="Calibri"/>
                <a:sym typeface="Calibri"/>
              </a:rPr>
              <a:t>3</a:t>
            </a:r>
            <a:endParaRPr sz="2000">
              <a:solidFill>
                <a:schemeClr val="dk1"/>
              </a:solidFill>
              <a:latin typeface="Calibri"/>
              <a:ea typeface="Calibri"/>
              <a:cs typeface="Calibri"/>
              <a:sym typeface="Calibri"/>
            </a:endParaRPr>
          </a:p>
          <a:p>
            <a:pPr marL="0" marR="0" lvl="0" indent="0" algn="ctr" rtl="0">
              <a:spcBef>
                <a:spcPts val="2120"/>
              </a:spcBef>
              <a:spcAft>
                <a:spcPts val="0"/>
              </a:spcAft>
              <a:buNone/>
            </a:pPr>
            <a:r>
              <a:rPr lang="en-US" sz="2800" b="1">
                <a:solidFill>
                  <a:schemeClr val="dk1"/>
                </a:solidFill>
                <a:latin typeface="Calibri"/>
                <a:ea typeface="Calibri"/>
                <a:cs typeface="Calibri"/>
                <a:sym typeface="Calibri"/>
              </a:rPr>
              <a:t>.</a:t>
            </a:r>
            <a:endParaRPr sz="2000" b="1">
              <a:solidFill>
                <a:schemeClr val="dk1"/>
              </a:solidFill>
              <a:latin typeface="Calibri"/>
              <a:ea typeface="Calibri"/>
              <a:cs typeface="Calibri"/>
              <a:sym typeface="Calibri"/>
            </a:endParaRPr>
          </a:p>
          <a:p>
            <a:pPr marL="0" marR="0" lvl="0" indent="0" algn="ctr" rtl="0">
              <a:spcBef>
                <a:spcPts val="2520"/>
              </a:spcBef>
              <a:spcAft>
                <a:spcPts val="0"/>
              </a:spcAft>
              <a:buNone/>
            </a:pPr>
            <a:r>
              <a:rPr lang="en-US" sz="2800" b="1">
                <a:solidFill>
                  <a:schemeClr val="dk1"/>
                </a:solidFill>
                <a:latin typeface="Calibri"/>
                <a:ea typeface="Calibri"/>
                <a:cs typeface="Calibri"/>
                <a:sym typeface="Calibri"/>
              </a:rPr>
              <a:t>.</a:t>
            </a:r>
            <a:endParaRPr sz="2000" b="1">
              <a:solidFill>
                <a:schemeClr val="dk1"/>
              </a:solidFill>
              <a:latin typeface="Calibri"/>
              <a:ea typeface="Calibri"/>
              <a:cs typeface="Calibri"/>
              <a:sym typeface="Calibri"/>
            </a:endParaRPr>
          </a:p>
          <a:p>
            <a:pPr marL="0" marR="0" lvl="0" indent="0" algn="ctr" rtl="0">
              <a:spcBef>
                <a:spcPts val="2520"/>
              </a:spcBef>
              <a:spcAft>
                <a:spcPts val="0"/>
              </a:spcAft>
              <a:buNone/>
            </a:pPr>
            <a:r>
              <a:rPr lang="en-US" sz="2800" b="1">
                <a:solidFill>
                  <a:schemeClr val="dk1"/>
                </a:solidFill>
                <a:latin typeface="Calibri"/>
                <a:ea typeface="Calibri"/>
                <a:cs typeface="Calibri"/>
                <a:sym typeface="Calibri"/>
              </a:rPr>
              <a:t>.</a:t>
            </a:r>
            <a:endParaRPr sz="2000" b="1">
              <a:solidFill>
                <a:schemeClr val="dk1"/>
              </a:solidFill>
              <a:latin typeface="Calibri"/>
              <a:ea typeface="Calibri"/>
              <a:cs typeface="Calibri"/>
              <a:sym typeface="Calibri"/>
            </a:endParaRPr>
          </a:p>
          <a:p>
            <a:pPr marL="0" marR="0" lvl="0" indent="0" algn="ctr" rtl="0">
              <a:spcBef>
                <a:spcPts val="2200"/>
              </a:spcBef>
              <a:spcAft>
                <a:spcPts val="0"/>
              </a:spcAft>
              <a:buNone/>
            </a:pPr>
            <a:endParaRPr sz="2000">
              <a:solidFill>
                <a:schemeClr val="dk1"/>
              </a:solidFill>
              <a:latin typeface="Calibri"/>
              <a:ea typeface="Calibri"/>
              <a:cs typeface="Calibri"/>
              <a:sym typeface="Calibri"/>
            </a:endParaRPr>
          </a:p>
        </p:txBody>
      </p:sp>
      <p:sp>
        <p:nvSpPr>
          <p:cNvPr id="906" name="Google Shape;906;p58"/>
          <p:cNvSpPr txBox="1"/>
          <p:nvPr/>
        </p:nvSpPr>
        <p:spPr>
          <a:xfrm>
            <a:off x="5176617" y="1260475"/>
            <a:ext cx="1326004"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MANAGES</a:t>
            </a:r>
            <a:endParaRPr/>
          </a:p>
        </p:txBody>
      </p:sp>
      <p:sp>
        <p:nvSpPr>
          <p:cNvPr id="907" name="Google Shape;907;p58"/>
          <p:cNvSpPr/>
          <p:nvPr/>
        </p:nvSpPr>
        <p:spPr>
          <a:xfrm>
            <a:off x="8077200" y="1752600"/>
            <a:ext cx="1943100" cy="3981450"/>
          </a:xfrm>
          <a:prstGeom prst="ellipse">
            <a:avLst/>
          </a:prstGeom>
          <a:noFill/>
          <a:ln w="9525" cap="flat" cmpd="sng">
            <a:solidFill>
              <a:schemeClr val="dk1"/>
            </a:solidFill>
            <a:prstDash val="solid"/>
            <a:round/>
            <a:headEnd type="none" w="sm" len="sm"/>
            <a:tailEnd type="none" w="sm" len="sm"/>
          </a:ln>
        </p:spPr>
        <p:txBody>
          <a:bodyPr spcFirstLastPara="1" wrap="square" lIns="91425" tIns="0" rIns="91425" bIns="0" anchor="t" anchorCtr="0">
            <a:noAutofit/>
          </a:bodyPr>
          <a:lstStyle/>
          <a:p>
            <a:pPr marL="0" marR="0" lvl="0" indent="0" algn="ctr" rtl="0">
              <a:spcBef>
                <a:spcPts val="0"/>
              </a:spcBef>
              <a:spcAft>
                <a:spcPts val="0"/>
              </a:spcAft>
              <a:buNone/>
            </a:pPr>
            <a:r>
              <a:rPr lang="en-US" sz="2000" baseline="-25000">
                <a:solidFill>
                  <a:schemeClr val="dk1"/>
                </a:solidFill>
                <a:latin typeface="Calibri"/>
                <a:ea typeface="Calibri"/>
                <a:cs typeface="Calibri"/>
                <a:sym typeface="Calibri"/>
              </a:rPr>
              <a:t></a:t>
            </a:r>
            <a:r>
              <a:rPr lang="en-US" sz="2000">
                <a:solidFill>
                  <a:schemeClr val="dk1"/>
                </a:solidFill>
                <a:latin typeface="Calibri"/>
                <a:ea typeface="Calibri"/>
                <a:cs typeface="Calibri"/>
                <a:sym typeface="Calibri"/>
              </a:rPr>
              <a:t> d</a:t>
            </a:r>
            <a:r>
              <a:rPr lang="en-US" sz="2000" baseline="-25000">
                <a:solidFill>
                  <a:schemeClr val="dk1"/>
                </a:solidFill>
                <a:latin typeface="Calibri"/>
                <a:ea typeface="Calibri"/>
                <a:cs typeface="Calibri"/>
                <a:sym typeface="Calibri"/>
              </a:rPr>
              <a:t>1</a:t>
            </a:r>
            <a:endParaRPr sz="2000">
              <a:solidFill>
                <a:schemeClr val="dk1"/>
              </a:solidFill>
              <a:latin typeface="Calibri"/>
              <a:ea typeface="Calibri"/>
              <a:cs typeface="Calibri"/>
              <a:sym typeface="Calibri"/>
            </a:endParaRPr>
          </a:p>
          <a:p>
            <a:pPr marL="0" marR="0" lvl="0" indent="0" algn="ctr" rtl="0">
              <a:spcBef>
                <a:spcPts val="4000"/>
              </a:spcBef>
              <a:spcAft>
                <a:spcPts val="0"/>
              </a:spcAft>
              <a:buNone/>
            </a:pPr>
            <a:r>
              <a:rPr lang="en-US" sz="2000" baseline="-25000">
                <a:solidFill>
                  <a:schemeClr val="dk1"/>
                </a:solidFill>
                <a:latin typeface="Calibri"/>
                <a:ea typeface="Calibri"/>
                <a:cs typeface="Calibri"/>
                <a:sym typeface="Calibri"/>
              </a:rPr>
              <a:t></a:t>
            </a:r>
            <a:r>
              <a:rPr lang="en-US" sz="2000">
                <a:solidFill>
                  <a:schemeClr val="dk1"/>
                </a:solidFill>
                <a:latin typeface="Calibri"/>
                <a:ea typeface="Calibri"/>
                <a:cs typeface="Calibri"/>
                <a:sym typeface="Calibri"/>
              </a:rPr>
              <a:t> d</a:t>
            </a:r>
            <a:r>
              <a:rPr lang="en-US" sz="2000" baseline="-25000">
                <a:solidFill>
                  <a:schemeClr val="dk1"/>
                </a:solidFill>
                <a:latin typeface="Calibri"/>
                <a:ea typeface="Calibri"/>
                <a:cs typeface="Calibri"/>
                <a:sym typeface="Calibri"/>
              </a:rPr>
              <a:t>2</a:t>
            </a:r>
            <a:endParaRPr sz="2000">
              <a:solidFill>
                <a:schemeClr val="dk1"/>
              </a:solidFill>
              <a:latin typeface="Calibri"/>
              <a:ea typeface="Calibri"/>
              <a:cs typeface="Calibri"/>
              <a:sym typeface="Calibri"/>
            </a:endParaRPr>
          </a:p>
          <a:p>
            <a:pPr marL="0" marR="0" lvl="0" indent="0" algn="ctr" rtl="0">
              <a:spcBef>
                <a:spcPts val="4000"/>
              </a:spcBef>
              <a:spcAft>
                <a:spcPts val="0"/>
              </a:spcAft>
              <a:buNone/>
            </a:pPr>
            <a:r>
              <a:rPr lang="en-US" sz="2000" baseline="-25000">
                <a:solidFill>
                  <a:schemeClr val="dk1"/>
                </a:solidFill>
                <a:latin typeface="Calibri"/>
                <a:ea typeface="Calibri"/>
                <a:cs typeface="Calibri"/>
                <a:sym typeface="Calibri"/>
              </a:rPr>
              <a:t></a:t>
            </a:r>
            <a:r>
              <a:rPr lang="en-US" sz="2000">
                <a:solidFill>
                  <a:schemeClr val="dk1"/>
                </a:solidFill>
                <a:latin typeface="Calibri"/>
                <a:ea typeface="Calibri"/>
                <a:cs typeface="Calibri"/>
                <a:sym typeface="Calibri"/>
              </a:rPr>
              <a:t> d</a:t>
            </a:r>
            <a:r>
              <a:rPr lang="en-US" sz="2000" baseline="-25000">
                <a:solidFill>
                  <a:schemeClr val="dk1"/>
                </a:solidFill>
                <a:latin typeface="Calibri"/>
                <a:ea typeface="Calibri"/>
                <a:cs typeface="Calibri"/>
                <a:sym typeface="Calibri"/>
              </a:rPr>
              <a:t>3</a:t>
            </a:r>
            <a:endParaRPr sz="2000">
              <a:solidFill>
                <a:schemeClr val="dk1"/>
              </a:solidFill>
              <a:latin typeface="Calibri"/>
              <a:ea typeface="Calibri"/>
              <a:cs typeface="Calibri"/>
              <a:sym typeface="Calibri"/>
            </a:endParaRPr>
          </a:p>
        </p:txBody>
      </p:sp>
      <p:sp>
        <p:nvSpPr>
          <p:cNvPr id="908" name="Google Shape;908;p58"/>
          <p:cNvSpPr txBox="1"/>
          <p:nvPr/>
        </p:nvSpPr>
        <p:spPr>
          <a:xfrm>
            <a:off x="8203626" y="1260475"/>
            <a:ext cx="170136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DEPARTMENT</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p5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0000"/>
              </a:buClr>
              <a:buSzPts val="4800"/>
              <a:buFont typeface="Calibri"/>
              <a:buNone/>
            </a:pPr>
            <a:r>
              <a:rPr lang="en-US">
                <a:solidFill>
                  <a:srgbClr val="FF0000"/>
                </a:solidFill>
              </a:rPr>
              <a:t>Attributes as Relationship Types</a:t>
            </a:r>
            <a:endParaRPr/>
          </a:p>
        </p:txBody>
      </p:sp>
      <p:sp>
        <p:nvSpPr>
          <p:cNvPr id="914" name="Google Shape;914;p59"/>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127000" algn="just" rtl="0">
              <a:lnSpc>
                <a:spcPct val="90000"/>
              </a:lnSpc>
              <a:spcBef>
                <a:spcPts val="0"/>
              </a:spcBef>
              <a:spcAft>
                <a:spcPts val="0"/>
              </a:spcAft>
              <a:buSzPts val="2000"/>
              <a:buChar char=" "/>
            </a:pPr>
            <a:r>
              <a:rPr lang="en-US"/>
              <a:t>A relationship type can have attributes; for example, HoursPerWeek of WORKS_ON; its value for each relationship instance describes the number of hours per week that an EMPLOYEE works on a PROJECT.</a:t>
            </a:r>
            <a:endParaRPr/>
          </a:p>
          <a:p>
            <a:pPr marL="91440" lvl="0" indent="0" algn="just" rtl="0">
              <a:lnSpc>
                <a:spcPct val="90000"/>
              </a:lnSpc>
              <a:spcBef>
                <a:spcPts val="1400"/>
              </a:spcBef>
              <a:spcAft>
                <a:spcPts val="0"/>
              </a:spcAft>
              <a:buSzPts val="2000"/>
              <a:buNone/>
            </a:pP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p60"/>
          <p:cNvSpPr txBox="1">
            <a:spLocks noGrp="1"/>
          </p:cNvSpPr>
          <p:nvPr>
            <p:ph type="title"/>
          </p:nvPr>
        </p:nvSpPr>
        <p:spPr>
          <a:xfrm>
            <a:off x="959680" y="1202918"/>
            <a:ext cx="10772775" cy="208921"/>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5000"/>
              </a:lnSpc>
              <a:spcBef>
                <a:spcPts val="0"/>
              </a:spcBef>
              <a:spcAft>
                <a:spcPts val="0"/>
              </a:spcAft>
              <a:buClr>
                <a:srgbClr val="FF0000"/>
              </a:buClr>
              <a:buSzPct val="100000"/>
              <a:buFont typeface="Calibri"/>
              <a:buNone/>
            </a:pPr>
            <a:r>
              <a:rPr lang="en-US" dirty="0">
                <a:solidFill>
                  <a:srgbClr val="FF0000"/>
                </a:solidFill>
              </a:rPr>
              <a:t>Weak Entity Types</a:t>
            </a:r>
            <a:endParaRPr dirty="0"/>
          </a:p>
        </p:txBody>
      </p:sp>
      <p:sp>
        <p:nvSpPr>
          <p:cNvPr id="920" name="Google Shape;920;p60"/>
          <p:cNvSpPr txBox="1">
            <a:spLocks noGrp="1"/>
          </p:cNvSpPr>
          <p:nvPr>
            <p:ph type="body" idx="1"/>
          </p:nvPr>
        </p:nvSpPr>
        <p:spPr>
          <a:xfrm>
            <a:off x="576776" y="1938528"/>
            <a:ext cx="10733648" cy="4919472"/>
          </a:xfrm>
          <a:prstGeom prst="rect">
            <a:avLst/>
          </a:prstGeom>
          <a:noFill/>
          <a:ln>
            <a:noFill/>
          </a:ln>
        </p:spPr>
        <p:txBody>
          <a:bodyPr spcFirstLastPara="1" wrap="square" lIns="0" tIns="45700" rIns="0" bIns="45700" anchor="t" anchorCtr="0">
            <a:normAutofit/>
          </a:bodyPr>
          <a:lstStyle/>
          <a:p>
            <a:pPr marL="91440" lvl="0" indent="-117475" algn="just" rtl="0">
              <a:lnSpc>
                <a:spcPct val="90000"/>
              </a:lnSpc>
              <a:spcBef>
                <a:spcPts val="0"/>
              </a:spcBef>
              <a:spcAft>
                <a:spcPts val="0"/>
              </a:spcAft>
              <a:buSzPct val="100000"/>
              <a:buChar char=" "/>
            </a:pPr>
            <a:r>
              <a:rPr lang="en-US" dirty="0"/>
              <a:t>Entity types that do not have key attributes of their own are called </a:t>
            </a:r>
            <a:r>
              <a:rPr lang="en-US" b="1" dirty="0"/>
              <a:t>weak entity types</a:t>
            </a:r>
            <a:r>
              <a:rPr lang="en-US" dirty="0"/>
              <a:t>.</a:t>
            </a:r>
            <a:endParaRPr dirty="0"/>
          </a:p>
          <a:p>
            <a:pPr marL="91440" lvl="0" indent="-117475" algn="just" rtl="0">
              <a:lnSpc>
                <a:spcPct val="90000"/>
              </a:lnSpc>
              <a:spcBef>
                <a:spcPts val="1400"/>
              </a:spcBef>
              <a:spcAft>
                <a:spcPts val="0"/>
              </a:spcAft>
              <a:buSzPct val="100000"/>
              <a:buChar char=" "/>
            </a:pPr>
            <a:r>
              <a:rPr lang="en-US" dirty="0" smtClean="0"/>
              <a:t>The </a:t>
            </a:r>
            <a:r>
              <a:rPr lang="en-US" dirty="0"/>
              <a:t>entity types which contain key attributes of their own are called </a:t>
            </a:r>
            <a:r>
              <a:rPr lang="en-US" b="1" dirty="0"/>
              <a:t>regular entity types </a:t>
            </a:r>
            <a:r>
              <a:rPr lang="en-US" dirty="0"/>
              <a:t>or </a:t>
            </a:r>
            <a:r>
              <a:rPr lang="en-US" b="1" dirty="0"/>
              <a:t>strong entity types</a:t>
            </a:r>
            <a:r>
              <a:rPr lang="en-US" dirty="0"/>
              <a:t>.</a:t>
            </a:r>
            <a:endParaRPr dirty="0"/>
          </a:p>
          <a:p>
            <a:pPr marL="91440" lvl="0" indent="-117475" algn="just" rtl="0">
              <a:lnSpc>
                <a:spcPct val="90000"/>
              </a:lnSpc>
              <a:spcBef>
                <a:spcPts val="1400"/>
              </a:spcBef>
              <a:spcAft>
                <a:spcPts val="0"/>
              </a:spcAft>
              <a:buSzPct val="100000"/>
              <a:buChar char=" "/>
            </a:pPr>
            <a:r>
              <a:rPr lang="en-US" dirty="0" smtClean="0"/>
              <a:t>Entities </a:t>
            </a:r>
            <a:r>
              <a:rPr lang="en-US" dirty="0"/>
              <a:t>belonging to weak entity type are identified by being related to specific entities from another entity type in combination with one of their attribute values. This other entity type is called as </a:t>
            </a:r>
            <a:r>
              <a:rPr lang="en-US" b="1" dirty="0"/>
              <a:t>identifying entity type </a:t>
            </a:r>
            <a:r>
              <a:rPr lang="en-US" dirty="0"/>
              <a:t>or </a:t>
            </a:r>
            <a:r>
              <a:rPr lang="en-US" b="1" dirty="0"/>
              <a:t>owner entity type</a:t>
            </a:r>
            <a:r>
              <a:rPr lang="en-US" dirty="0"/>
              <a:t>.</a:t>
            </a:r>
            <a:endParaRPr dirty="0"/>
          </a:p>
          <a:p>
            <a:pPr marL="91440" lvl="0" indent="-117475" algn="just" rtl="0">
              <a:lnSpc>
                <a:spcPct val="90000"/>
              </a:lnSpc>
              <a:spcBef>
                <a:spcPts val="1400"/>
              </a:spcBef>
              <a:spcAft>
                <a:spcPts val="0"/>
              </a:spcAft>
              <a:buSzPct val="100000"/>
              <a:buChar char=" "/>
            </a:pPr>
            <a:r>
              <a:rPr lang="en-US" dirty="0" smtClean="0"/>
              <a:t>The </a:t>
            </a:r>
            <a:r>
              <a:rPr lang="en-US" dirty="0"/>
              <a:t>relationship type that relates a weak entity type to its owner is called as </a:t>
            </a:r>
            <a:r>
              <a:rPr lang="en-US" b="1" dirty="0"/>
              <a:t>identifying relationship </a:t>
            </a:r>
            <a:r>
              <a:rPr lang="en-US" dirty="0"/>
              <a:t>of the weak entity type.</a:t>
            </a:r>
            <a:endParaRPr dirty="0"/>
          </a:p>
          <a:p>
            <a:pPr marL="91440" lvl="0" indent="-117475" algn="just" rtl="0">
              <a:lnSpc>
                <a:spcPct val="90000"/>
              </a:lnSpc>
              <a:spcBef>
                <a:spcPts val="1400"/>
              </a:spcBef>
              <a:spcAft>
                <a:spcPts val="0"/>
              </a:spcAft>
              <a:buSzPct val="100000"/>
              <a:buChar char=" "/>
            </a:pPr>
            <a:r>
              <a:rPr lang="en-US" dirty="0" smtClean="0"/>
              <a:t>The </a:t>
            </a:r>
            <a:r>
              <a:rPr lang="en-US" dirty="0"/>
              <a:t>weak entity type normally has a partial key, which is the set of attributes that can uniquely identify weak entities that are related to the same owner entity.</a:t>
            </a:r>
            <a:endParaRPr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p6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0000"/>
              </a:buClr>
              <a:buSzPts val="4800"/>
              <a:buFont typeface="Calibri"/>
              <a:buNone/>
            </a:pPr>
            <a:r>
              <a:rPr lang="en-US">
                <a:solidFill>
                  <a:srgbClr val="FF0000"/>
                </a:solidFill>
              </a:rPr>
              <a:t>Example</a:t>
            </a:r>
            <a:r>
              <a:rPr lang="en-US"/>
              <a:t>…</a:t>
            </a:r>
            <a:endParaRPr/>
          </a:p>
        </p:txBody>
      </p:sp>
      <p:sp>
        <p:nvSpPr>
          <p:cNvPr id="926" name="Google Shape;926;p61"/>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91440" algn="just" rtl="0">
              <a:lnSpc>
                <a:spcPct val="90000"/>
              </a:lnSpc>
              <a:spcBef>
                <a:spcPts val="0"/>
              </a:spcBef>
              <a:spcAft>
                <a:spcPts val="0"/>
              </a:spcAft>
              <a:buSzPts val="3000"/>
              <a:buNone/>
            </a:pPr>
            <a:r>
              <a:rPr lang="en-US" b="1"/>
              <a:t>Example:</a:t>
            </a:r>
            <a:r>
              <a:rPr lang="en-US"/>
              <a:t> </a:t>
            </a:r>
            <a:endParaRPr/>
          </a:p>
          <a:p>
            <a:pPr marL="91440" lvl="0" indent="-91440" algn="just" rtl="0">
              <a:lnSpc>
                <a:spcPct val="90000"/>
              </a:lnSpc>
              <a:spcBef>
                <a:spcPts val="1400"/>
              </a:spcBef>
              <a:spcAft>
                <a:spcPts val="0"/>
              </a:spcAft>
              <a:buSzPts val="3000"/>
              <a:buNone/>
            </a:pPr>
            <a:r>
              <a:rPr lang="en-US"/>
              <a:t>	Suppose that a DEPENDENT entity is identified by the dependent’s first name and birth date, </a:t>
            </a:r>
            <a:r>
              <a:rPr lang="en-US" i="1"/>
              <a:t>and</a:t>
            </a:r>
            <a:r>
              <a:rPr lang="en-US"/>
              <a:t> the specific EMPLOYEE that the dependent is related to.  </a:t>
            </a:r>
            <a:endParaRPr/>
          </a:p>
          <a:p>
            <a:pPr marL="91440" lvl="0" indent="-91440" algn="just" rtl="0">
              <a:lnSpc>
                <a:spcPct val="90000"/>
              </a:lnSpc>
              <a:spcBef>
                <a:spcPts val="1400"/>
              </a:spcBef>
              <a:spcAft>
                <a:spcPts val="0"/>
              </a:spcAft>
              <a:buSzPts val="3000"/>
              <a:buNone/>
            </a:pPr>
            <a:endParaRPr/>
          </a:p>
          <a:p>
            <a:pPr marL="91440" lvl="0" indent="-91440" algn="just" rtl="0">
              <a:lnSpc>
                <a:spcPct val="90000"/>
              </a:lnSpc>
              <a:spcBef>
                <a:spcPts val="1400"/>
              </a:spcBef>
              <a:spcAft>
                <a:spcPts val="0"/>
              </a:spcAft>
              <a:buSzPts val="3000"/>
              <a:buNone/>
            </a:pPr>
            <a:r>
              <a:rPr lang="en-US"/>
              <a:t>	DEPENDENT is a weak entity type with EMPLOYEE as its identifying entity type via the identifying relationship type DEPENDENT_OF.</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1" name="Google Shape;931;p62"/>
          <p:cNvSpPr txBox="1">
            <a:spLocks noGrp="1"/>
          </p:cNvSpPr>
          <p:nvPr>
            <p:ph type="title"/>
          </p:nvPr>
        </p:nvSpPr>
        <p:spPr>
          <a:xfrm>
            <a:off x="1828800" y="-152400"/>
            <a:ext cx="8534400" cy="11430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0000"/>
              </a:buClr>
              <a:buSzPts val="4800"/>
              <a:buFont typeface="Calibri"/>
              <a:buNone/>
            </a:pPr>
            <a:r>
              <a:rPr lang="en-US">
                <a:solidFill>
                  <a:srgbClr val="FF0000"/>
                </a:solidFill>
              </a:rPr>
              <a:t>Notations Used in ER Diagrams</a:t>
            </a:r>
            <a:endParaRPr/>
          </a:p>
        </p:txBody>
      </p:sp>
      <p:sp>
        <p:nvSpPr>
          <p:cNvPr id="932" name="Google Shape;932;p62"/>
          <p:cNvSpPr txBox="1"/>
          <p:nvPr/>
        </p:nvSpPr>
        <p:spPr>
          <a:xfrm>
            <a:off x="6096000" y="889219"/>
            <a:ext cx="4419600" cy="553993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200" u="sng" dirty="0">
                <a:solidFill>
                  <a:schemeClr val="dk1"/>
                </a:solidFill>
                <a:latin typeface="Calibri"/>
                <a:ea typeface="Calibri"/>
                <a:cs typeface="Calibri"/>
                <a:sym typeface="Calibri"/>
              </a:rPr>
              <a:t>Meaning</a:t>
            </a:r>
            <a:endParaRPr dirty="0"/>
          </a:p>
          <a:p>
            <a:pPr marL="0" marR="0" lvl="0" indent="0" algn="just" rtl="0">
              <a:spcBef>
                <a:spcPts val="1560"/>
              </a:spcBef>
              <a:spcAft>
                <a:spcPts val="0"/>
              </a:spcAft>
              <a:buNone/>
            </a:pPr>
            <a:r>
              <a:rPr lang="en-US" dirty="0">
                <a:solidFill>
                  <a:schemeClr val="dk1"/>
                </a:solidFill>
                <a:latin typeface="Calibri"/>
                <a:ea typeface="Calibri"/>
                <a:cs typeface="Calibri"/>
                <a:sym typeface="Calibri"/>
              </a:rPr>
              <a:t>ENTITY TYPE</a:t>
            </a:r>
            <a:endParaRPr sz="1600" dirty="0"/>
          </a:p>
          <a:p>
            <a:pPr marL="0" marR="0" lvl="0" indent="0" algn="just" rtl="0">
              <a:spcBef>
                <a:spcPts val="1560"/>
              </a:spcBef>
              <a:spcAft>
                <a:spcPts val="0"/>
              </a:spcAft>
              <a:buNone/>
            </a:pPr>
            <a:r>
              <a:rPr lang="en-US" dirty="0">
                <a:solidFill>
                  <a:schemeClr val="dk1"/>
                </a:solidFill>
                <a:latin typeface="Calibri"/>
                <a:ea typeface="Calibri"/>
                <a:cs typeface="Calibri"/>
                <a:sym typeface="Calibri"/>
              </a:rPr>
              <a:t>WEAK ENTITY TYPE</a:t>
            </a:r>
            <a:endParaRPr sz="1600" dirty="0"/>
          </a:p>
          <a:p>
            <a:pPr marL="0" marR="0" lvl="0" indent="0" algn="just" rtl="0">
              <a:spcBef>
                <a:spcPts val="1560"/>
              </a:spcBef>
              <a:spcAft>
                <a:spcPts val="0"/>
              </a:spcAft>
              <a:buNone/>
            </a:pPr>
            <a:r>
              <a:rPr lang="en-US" dirty="0">
                <a:solidFill>
                  <a:schemeClr val="dk1"/>
                </a:solidFill>
                <a:latin typeface="Calibri"/>
                <a:ea typeface="Calibri"/>
                <a:cs typeface="Calibri"/>
                <a:sym typeface="Calibri"/>
              </a:rPr>
              <a:t>RELATIONSHIP TYPE</a:t>
            </a:r>
            <a:endParaRPr sz="1600" dirty="0"/>
          </a:p>
          <a:p>
            <a:pPr marL="0" marR="0" lvl="0" indent="0" algn="just" rtl="0">
              <a:spcBef>
                <a:spcPts val="1560"/>
              </a:spcBef>
              <a:spcAft>
                <a:spcPts val="0"/>
              </a:spcAft>
              <a:buNone/>
            </a:pPr>
            <a:r>
              <a:rPr lang="en-US" dirty="0">
                <a:solidFill>
                  <a:schemeClr val="dk1"/>
                </a:solidFill>
                <a:latin typeface="Calibri"/>
                <a:ea typeface="Calibri"/>
                <a:cs typeface="Calibri"/>
                <a:sym typeface="Calibri"/>
              </a:rPr>
              <a:t>IDENTIFYING RELATIONSHIP TYPE</a:t>
            </a:r>
            <a:endParaRPr sz="1600" dirty="0"/>
          </a:p>
          <a:p>
            <a:pPr marL="0" marR="0" lvl="0" indent="0" algn="just" rtl="0">
              <a:spcBef>
                <a:spcPts val="1560"/>
              </a:spcBef>
              <a:spcAft>
                <a:spcPts val="0"/>
              </a:spcAft>
              <a:buNone/>
            </a:pPr>
            <a:r>
              <a:rPr lang="en-US" dirty="0">
                <a:solidFill>
                  <a:schemeClr val="dk1"/>
                </a:solidFill>
                <a:latin typeface="Calibri"/>
                <a:ea typeface="Calibri"/>
                <a:cs typeface="Calibri"/>
                <a:sym typeface="Calibri"/>
              </a:rPr>
              <a:t>ATTRIBUTE</a:t>
            </a:r>
            <a:endParaRPr sz="1600" dirty="0"/>
          </a:p>
          <a:p>
            <a:pPr marL="0" marR="0" lvl="0" indent="0" algn="just" rtl="0">
              <a:spcBef>
                <a:spcPts val="1560"/>
              </a:spcBef>
              <a:spcAft>
                <a:spcPts val="0"/>
              </a:spcAft>
              <a:buNone/>
            </a:pPr>
            <a:r>
              <a:rPr lang="en-US" dirty="0">
                <a:solidFill>
                  <a:schemeClr val="dk1"/>
                </a:solidFill>
                <a:latin typeface="Calibri"/>
                <a:ea typeface="Calibri"/>
                <a:cs typeface="Calibri"/>
                <a:sym typeface="Calibri"/>
              </a:rPr>
              <a:t>KEY ATTRIBUTE</a:t>
            </a:r>
            <a:endParaRPr sz="1600" dirty="0"/>
          </a:p>
          <a:p>
            <a:pPr marL="0" marR="0" lvl="0" indent="0" algn="just" rtl="0">
              <a:spcBef>
                <a:spcPts val="1560"/>
              </a:spcBef>
              <a:spcAft>
                <a:spcPts val="0"/>
              </a:spcAft>
              <a:buNone/>
            </a:pPr>
            <a:r>
              <a:rPr lang="en-US" dirty="0">
                <a:solidFill>
                  <a:schemeClr val="dk1"/>
                </a:solidFill>
                <a:latin typeface="Calibri"/>
                <a:ea typeface="Calibri"/>
                <a:cs typeface="Calibri"/>
                <a:sym typeface="Calibri"/>
              </a:rPr>
              <a:t>MULTIVALUED ATTRIBUTE</a:t>
            </a:r>
            <a:endParaRPr sz="1600" dirty="0"/>
          </a:p>
          <a:p>
            <a:pPr marL="0" marR="0" lvl="0" indent="0" algn="just" rtl="0">
              <a:spcBef>
                <a:spcPts val="1560"/>
              </a:spcBef>
              <a:spcAft>
                <a:spcPts val="0"/>
              </a:spcAft>
              <a:buNone/>
            </a:pPr>
            <a:r>
              <a:rPr lang="en-US" dirty="0">
                <a:solidFill>
                  <a:schemeClr val="dk1"/>
                </a:solidFill>
                <a:latin typeface="Calibri"/>
                <a:ea typeface="Calibri"/>
                <a:cs typeface="Calibri"/>
                <a:sym typeface="Calibri"/>
              </a:rPr>
              <a:t>COMPOSITE </a:t>
            </a:r>
            <a:r>
              <a:rPr lang="en-US" dirty="0" smtClean="0">
                <a:solidFill>
                  <a:schemeClr val="dk1"/>
                </a:solidFill>
                <a:latin typeface="Calibri"/>
                <a:ea typeface="Calibri"/>
                <a:cs typeface="Calibri"/>
                <a:sym typeface="Calibri"/>
              </a:rPr>
              <a:t>ATTRIBUTE</a:t>
            </a:r>
            <a:endParaRPr lang="en-US" sz="200" dirty="0" smtClean="0">
              <a:solidFill>
                <a:schemeClr val="dk1"/>
              </a:solidFill>
              <a:latin typeface="Calibri"/>
              <a:ea typeface="Calibri"/>
              <a:cs typeface="Calibri"/>
              <a:sym typeface="Calibri"/>
            </a:endParaRPr>
          </a:p>
          <a:p>
            <a:pPr marL="0" marR="0" lvl="0" indent="0" algn="just" rtl="0">
              <a:spcBef>
                <a:spcPts val="1560"/>
              </a:spcBef>
              <a:spcAft>
                <a:spcPts val="0"/>
              </a:spcAft>
              <a:buNone/>
            </a:pPr>
            <a:r>
              <a:rPr lang="en-US" dirty="0" smtClean="0">
                <a:solidFill>
                  <a:schemeClr val="dk1"/>
                </a:solidFill>
                <a:latin typeface="Calibri"/>
                <a:ea typeface="Calibri"/>
                <a:cs typeface="Calibri"/>
                <a:sym typeface="Calibri"/>
              </a:rPr>
              <a:t>DERIVED ATTRIBUTE</a:t>
            </a:r>
            <a:endParaRPr sz="1600" dirty="0"/>
          </a:p>
          <a:p>
            <a:pPr marL="0" marR="0" lvl="0" indent="0" algn="just" rtl="0">
              <a:spcBef>
                <a:spcPts val="1560"/>
              </a:spcBef>
              <a:spcAft>
                <a:spcPts val="0"/>
              </a:spcAft>
              <a:buNone/>
            </a:pPr>
            <a:r>
              <a:rPr lang="en-US" dirty="0">
                <a:solidFill>
                  <a:schemeClr val="dk1"/>
                </a:solidFill>
                <a:latin typeface="Calibri"/>
                <a:ea typeface="Calibri"/>
                <a:cs typeface="Calibri"/>
                <a:sym typeface="Calibri"/>
              </a:rPr>
              <a:t>TOTAL PARTICIPATION OF E</a:t>
            </a:r>
            <a:r>
              <a:rPr lang="en-US" baseline="-25000" dirty="0">
                <a:solidFill>
                  <a:schemeClr val="dk1"/>
                </a:solidFill>
                <a:latin typeface="Calibri"/>
                <a:ea typeface="Calibri"/>
                <a:cs typeface="Calibri"/>
                <a:sym typeface="Calibri"/>
              </a:rPr>
              <a:t>2</a:t>
            </a:r>
            <a:r>
              <a:rPr lang="en-US" dirty="0">
                <a:solidFill>
                  <a:schemeClr val="dk1"/>
                </a:solidFill>
                <a:latin typeface="Calibri"/>
                <a:ea typeface="Calibri"/>
                <a:cs typeface="Calibri"/>
                <a:sym typeface="Calibri"/>
              </a:rPr>
              <a:t> IN R</a:t>
            </a:r>
            <a:endParaRPr sz="1600" dirty="0"/>
          </a:p>
          <a:p>
            <a:pPr marL="0" marR="0" lvl="0" indent="0" algn="just" rtl="0">
              <a:spcBef>
                <a:spcPts val="1560"/>
              </a:spcBef>
              <a:spcAft>
                <a:spcPts val="0"/>
              </a:spcAft>
              <a:buNone/>
            </a:pPr>
            <a:r>
              <a:rPr lang="en-US" dirty="0">
                <a:solidFill>
                  <a:schemeClr val="dk1"/>
                </a:solidFill>
                <a:latin typeface="Calibri"/>
                <a:ea typeface="Calibri"/>
                <a:cs typeface="Calibri"/>
                <a:sym typeface="Calibri"/>
              </a:rPr>
              <a:t>CARDINALITY RATIO 1:N FOR E</a:t>
            </a:r>
            <a:r>
              <a:rPr lang="en-US" baseline="-25000" dirty="0">
                <a:solidFill>
                  <a:schemeClr val="dk1"/>
                </a:solidFill>
                <a:latin typeface="Calibri"/>
                <a:ea typeface="Calibri"/>
                <a:cs typeface="Calibri"/>
                <a:sym typeface="Calibri"/>
              </a:rPr>
              <a:t>1</a:t>
            </a:r>
            <a:r>
              <a:rPr lang="en-US" dirty="0">
                <a:solidFill>
                  <a:schemeClr val="dk1"/>
                </a:solidFill>
                <a:latin typeface="Calibri"/>
                <a:ea typeface="Calibri"/>
                <a:cs typeface="Calibri"/>
                <a:sym typeface="Calibri"/>
              </a:rPr>
              <a:t>:E</a:t>
            </a:r>
            <a:r>
              <a:rPr lang="en-US" baseline="-25000" dirty="0">
                <a:solidFill>
                  <a:schemeClr val="dk1"/>
                </a:solidFill>
                <a:latin typeface="Calibri"/>
                <a:ea typeface="Calibri"/>
                <a:cs typeface="Calibri"/>
                <a:sym typeface="Calibri"/>
              </a:rPr>
              <a:t>2 </a:t>
            </a:r>
            <a:r>
              <a:rPr lang="en-US" dirty="0">
                <a:solidFill>
                  <a:schemeClr val="dk1"/>
                </a:solidFill>
                <a:latin typeface="Calibri"/>
                <a:ea typeface="Calibri"/>
                <a:cs typeface="Calibri"/>
                <a:sym typeface="Calibri"/>
              </a:rPr>
              <a:t>IN R</a:t>
            </a:r>
            <a:endParaRPr sz="1600" dirty="0"/>
          </a:p>
          <a:p>
            <a:pPr marL="0" marR="0" lvl="0" indent="0" algn="just" rtl="0">
              <a:spcBef>
                <a:spcPts val="1560"/>
              </a:spcBef>
              <a:spcAft>
                <a:spcPts val="0"/>
              </a:spcAft>
              <a:buNone/>
            </a:pPr>
            <a:r>
              <a:rPr lang="en-US" dirty="0">
                <a:solidFill>
                  <a:schemeClr val="dk1"/>
                </a:solidFill>
                <a:latin typeface="Calibri"/>
                <a:ea typeface="Calibri"/>
                <a:cs typeface="Calibri"/>
                <a:sym typeface="Calibri"/>
              </a:rPr>
              <a:t>STRUCTURAL CONSTRAINT (min, max) ON PARTICIPATION OF E IN R</a:t>
            </a:r>
            <a:endParaRPr sz="1600" dirty="0"/>
          </a:p>
        </p:txBody>
      </p:sp>
      <p:sp>
        <p:nvSpPr>
          <p:cNvPr id="933" name="Google Shape;933;p62"/>
          <p:cNvSpPr txBox="1"/>
          <p:nvPr/>
        </p:nvSpPr>
        <p:spPr>
          <a:xfrm>
            <a:off x="4252913" y="955675"/>
            <a:ext cx="663964" cy="184666"/>
          </a:xfrm>
          <a:prstGeom prst="rect">
            <a:avLst/>
          </a:prstGeom>
          <a:noFill/>
          <a:ln>
            <a:noFill/>
          </a:ln>
        </p:spPr>
        <p:txBody>
          <a:bodyPr spcFirstLastPara="1" wrap="square" lIns="91425" tIns="0" rIns="91425" bIns="0" anchor="t" anchorCtr="0">
            <a:spAutoFit/>
          </a:bodyPr>
          <a:lstStyle/>
          <a:p>
            <a:pPr marL="0" marR="0" lvl="0" indent="0" algn="l" rtl="0">
              <a:spcBef>
                <a:spcPts val="0"/>
              </a:spcBef>
              <a:spcAft>
                <a:spcPts val="0"/>
              </a:spcAft>
              <a:buNone/>
            </a:pPr>
            <a:r>
              <a:rPr lang="en-US" sz="1200" u="sng">
                <a:solidFill>
                  <a:schemeClr val="dk1"/>
                </a:solidFill>
                <a:latin typeface="Calibri"/>
                <a:ea typeface="Calibri"/>
                <a:cs typeface="Calibri"/>
                <a:sym typeface="Calibri"/>
              </a:rPr>
              <a:t>Symbol</a:t>
            </a:r>
            <a:endParaRPr/>
          </a:p>
        </p:txBody>
      </p:sp>
      <p:sp>
        <p:nvSpPr>
          <p:cNvPr id="934" name="Google Shape;934;p62"/>
          <p:cNvSpPr/>
          <p:nvPr/>
        </p:nvSpPr>
        <p:spPr>
          <a:xfrm>
            <a:off x="4144963" y="1293814"/>
            <a:ext cx="901700" cy="314325"/>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935" name="Google Shape;935;p62"/>
          <p:cNvGrpSpPr/>
          <p:nvPr/>
        </p:nvGrpSpPr>
        <p:grpSpPr>
          <a:xfrm>
            <a:off x="4100513" y="1725613"/>
            <a:ext cx="990600" cy="400050"/>
            <a:chOff x="1085" y="1108"/>
            <a:chExt cx="624" cy="252"/>
          </a:xfrm>
        </p:grpSpPr>
        <p:sp>
          <p:nvSpPr>
            <p:cNvPr id="936" name="Google Shape;936;p62"/>
            <p:cNvSpPr/>
            <p:nvPr/>
          </p:nvSpPr>
          <p:spPr>
            <a:xfrm>
              <a:off x="1109" y="1130"/>
              <a:ext cx="576" cy="202"/>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37" name="Google Shape;937;p62"/>
            <p:cNvSpPr/>
            <p:nvPr/>
          </p:nvSpPr>
          <p:spPr>
            <a:xfrm>
              <a:off x="1085" y="1108"/>
              <a:ext cx="624" cy="252"/>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938" name="Google Shape;938;p62"/>
          <p:cNvSpPr/>
          <p:nvPr/>
        </p:nvSpPr>
        <p:spPr>
          <a:xfrm rot="2723072">
            <a:off x="4416425" y="2246313"/>
            <a:ext cx="254000" cy="2540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939" name="Google Shape;939;p62"/>
          <p:cNvGrpSpPr/>
          <p:nvPr/>
        </p:nvGrpSpPr>
        <p:grpSpPr>
          <a:xfrm>
            <a:off x="4316680" y="2584717"/>
            <a:ext cx="453493" cy="453493"/>
            <a:chOff x="1221" y="1649"/>
            <a:chExt cx="286" cy="286"/>
          </a:xfrm>
        </p:grpSpPr>
        <p:sp>
          <p:nvSpPr>
            <p:cNvPr id="940" name="Google Shape;940;p62"/>
            <p:cNvSpPr/>
            <p:nvPr/>
          </p:nvSpPr>
          <p:spPr>
            <a:xfrm rot="2723072">
              <a:off x="1284" y="1717"/>
              <a:ext cx="160" cy="16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41" name="Google Shape;941;p62"/>
            <p:cNvSpPr/>
            <p:nvPr/>
          </p:nvSpPr>
          <p:spPr>
            <a:xfrm rot="2723072">
              <a:off x="1263" y="1691"/>
              <a:ext cx="202" cy="202"/>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942" name="Google Shape;942;p62"/>
          <p:cNvGrpSpPr/>
          <p:nvPr/>
        </p:nvGrpSpPr>
        <p:grpSpPr>
          <a:xfrm>
            <a:off x="3856038" y="3135314"/>
            <a:ext cx="1143000" cy="211137"/>
            <a:chOff x="931" y="2046"/>
            <a:chExt cx="720" cy="133"/>
          </a:xfrm>
        </p:grpSpPr>
        <p:sp>
          <p:nvSpPr>
            <p:cNvPr id="943" name="Google Shape;943;p62"/>
            <p:cNvSpPr/>
            <p:nvPr/>
          </p:nvSpPr>
          <p:spPr>
            <a:xfrm>
              <a:off x="1181" y="2046"/>
              <a:ext cx="470" cy="133"/>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944" name="Google Shape;944;p62"/>
            <p:cNvCxnSpPr/>
            <p:nvPr/>
          </p:nvCxnSpPr>
          <p:spPr>
            <a:xfrm rot="10800000">
              <a:off x="931" y="2113"/>
              <a:ext cx="250" cy="0"/>
            </a:xfrm>
            <a:prstGeom prst="straightConnector1">
              <a:avLst/>
            </a:prstGeom>
            <a:noFill/>
            <a:ln w="9525" cap="flat" cmpd="sng">
              <a:solidFill>
                <a:schemeClr val="dk1"/>
              </a:solidFill>
              <a:prstDash val="solid"/>
              <a:round/>
              <a:headEnd type="none" w="med" len="med"/>
              <a:tailEnd type="none" w="med" len="med"/>
            </a:ln>
          </p:spPr>
        </p:cxnSp>
      </p:grpSp>
      <p:grpSp>
        <p:nvGrpSpPr>
          <p:cNvPr id="945" name="Google Shape;945;p62"/>
          <p:cNvGrpSpPr/>
          <p:nvPr/>
        </p:nvGrpSpPr>
        <p:grpSpPr>
          <a:xfrm>
            <a:off x="3856038" y="3511550"/>
            <a:ext cx="1143000" cy="211138"/>
            <a:chOff x="931" y="2213"/>
            <a:chExt cx="720" cy="133"/>
          </a:xfrm>
        </p:grpSpPr>
        <p:grpSp>
          <p:nvGrpSpPr>
            <p:cNvPr id="946" name="Google Shape;946;p62"/>
            <p:cNvGrpSpPr/>
            <p:nvPr/>
          </p:nvGrpSpPr>
          <p:grpSpPr>
            <a:xfrm>
              <a:off x="931" y="2213"/>
              <a:ext cx="720" cy="133"/>
              <a:chOff x="931" y="2046"/>
              <a:chExt cx="720" cy="133"/>
            </a:xfrm>
          </p:grpSpPr>
          <p:sp>
            <p:nvSpPr>
              <p:cNvPr id="947" name="Google Shape;947;p62"/>
              <p:cNvSpPr/>
              <p:nvPr/>
            </p:nvSpPr>
            <p:spPr>
              <a:xfrm>
                <a:off x="1181" y="2046"/>
                <a:ext cx="470" cy="133"/>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948" name="Google Shape;948;p62"/>
              <p:cNvCxnSpPr/>
              <p:nvPr/>
            </p:nvCxnSpPr>
            <p:spPr>
              <a:xfrm rot="10800000">
                <a:off x="931" y="2113"/>
                <a:ext cx="250" cy="0"/>
              </a:xfrm>
              <a:prstGeom prst="straightConnector1">
                <a:avLst/>
              </a:prstGeom>
              <a:noFill/>
              <a:ln w="9525" cap="flat" cmpd="sng">
                <a:solidFill>
                  <a:schemeClr val="dk1"/>
                </a:solidFill>
                <a:prstDash val="solid"/>
                <a:round/>
                <a:headEnd type="none" w="med" len="med"/>
                <a:tailEnd type="none" w="med" len="med"/>
              </a:ln>
            </p:spPr>
          </p:cxnSp>
        </p:grpSp>
        <p:cxnSp>
          <p:nvCxnSpPr>
            <p:cNvPr id="949" name="Google Shape;949;p62"/>
            <p:cNvCxnSpPr/>
            <p:nvPr/>
          </p:nvCxnSpPr>
          <p:spPr>
            <a:xfrm>
              <a:off x="1277" y="2306"/>
              <a:ext cx="269" cy="0"/>
            </a:xfrm>
            <a:prstGeom prst="straightConnector1">
              <a:avLst/>
            </a:prstGeom>
            <a:noFill/>
            <a:ln w="9525" cap="flat" cmpd="sng">
              <a:solidFill>
                <a:schemeClr val="dk1"/>
              </a:solidFill>
              <a:prstDash val="solid"/>
              <a:round/>
              <a:headEnd type="none" w="med" len="med"/>
              <a:tailEnd type="none" w="med" len="med"/>
            </a:ln>
          </p:spPr>
        </p:cxnSp>
      </p:grpSp>
      <p:grpSp>
        <p:nvGrpSpPr>
          <p:cNvPr id="950" name="Google Shape;950;p62"/>
          <p:cNvGrpSpPr/>
          <p:nvPr/>
        </p:nvGrpSpPr>
        <p:grpSpPr>
          <a:xfrm>
            <a:off x="3754438" y="3895725"/>
            <a:ext cx="1350962" cy="273050"/>
            <a:chOff x="867" y="2475"/>
            <a:chExt cx="851" cy="172"/>
          </a:xfrm>
        </p:grpSpPr>
        <p:sp>
          <p:nvSpPr>
            <p:cNvPr id="951" name="Google Shape;951;p62"/>
            <p:cNvSpPr/>
            <p:nvPr/>
          </p:nvSpPr>
          <p:spPr>
            <a:xfrm>
              <a:off x="1181" y="2492"/>
              <a:ext cx="470" cy="133"/>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952" name="Google Shape;952;p62"/>
            <p:cNvCxnSpPr/>
            <p:nvPr/>
          </p:nvCxnSpPr>
          <p:spPr>
            <a:xfrm rot="10800000">
              <a:off x="867" y="2559"/>
              <a:ext cx="250" cy="0"/>
            </a:xfrm>
            <a:prstGeom prst="straightConnector1">
              <a:avLst/>
            </a:prstGeom>
            <a:noFill/>
            <a:ln w="9525" cap="flat" cmpd="sng">
              <a:solidFill>
                <a:schemeClr val="dk1"/>
              </a:solidFill>
              <a:prstDash val="solid"/>
              <a:round/>
              <a:headEnd type="none" w="med" len="med"/>
              <a:tailEnd type="none" w="med" len="med"/>
            </a:ln>
          </p:spPr>
        </p:cxnSp>
        <p:sp>
          <p:nvSpPr>
            <p:cNvPr id="953" name="Google Shape;953;p62"/>
            <p:cNvSpPr/>
            <p:nvPr/>
          </p:nvSpPr>
          <p:spPr>
            <a:xfrm>
              <a:off x="1114" y="2475"/>
              <a:ext cx="604" cy="172"/>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954" name="Google Shape;954;p62"/>
          <p:cNvGrpSpPr/>
          <p:nvPr/>
        </p:nvGrpSpPr>
        <p:grpSpPr>
          <a:xfrm>
            <a:off x="3856038" y="4765675"/>
            <a:ext cx="1143000" cy="211138"/>
            <a:chOff x="931" y="2046"/>
            <a:chExt cx="720" cy="133"/>
          </a:xfrm>
        </p:grpSpPr>
        <p:sp>
          <p:nvSpPr>
            <p:cNvPr id="955" name="Google Shape;955;p62"/>
            <p:cNvSpPr/>
            <p:nvPr/>
          </p:nvSpPr>
          <p:spPr>
            <a:xfrm>
              <a:off x="1181" y="2046"/>
              <a:ext cx="470" cy="133"/>
            </a:xfrm>
            <a:prstGeom prst="ellipse">
              <a:avLst/>
            </a:prstGeom>
            <a:noFill/>
            <a:ln w="9525" cap="rnd" cmpd="sng">
              <a:solidFill>
                <a:schemeClr val="dk1"/>
              </a:solidFill>
              <a:prstDash val="lgDash"/>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956" name="Google Shape;956;p62"/>
            <p:cNvCxnSpPr/>
            <p:nvPr/>
          </p:nvCxnSpPr>
          <p:spPr>
            <a:xfrm rot="10800000">
              <a:off x="931" y="2113"/>
              <a:ext cx="250" cy="0"/>
            </a:xfrm>
            <a:prstGeom prst="straightConnector1">
              <a:avLst/>
            </a:prstGeom>
            <a:noFill/>
            <a:ln w="9525" cap="rnd" cmpd="sng">
              <a:solidFill>
                <a:schemeClr val="dk1"/>
              </a:solidFill>
              <a:prstDash val="lgDash"/>
              <a:round/>
              <a:headEnd type="none" w="med" len="med"/>
              <a:tailEnd type="none" w="med" len="med"/>
            </a:ln>
          </p:spPr>
        </p:cxnSp>
      </p:grpSp>
      <p:grpSp>
        <p:nvGrpSpPr>
          <p:cNvPr id="957" name="Google Shape;957;p62"/>
          <p:cNvGrpSpPr/>
          <p:nvPr/>
        </p:nvGrpSpPr>
        <p:grpSpPr>
          <a:xfrm>
            <a:off x="2362200" y="5191125"/>
            <a:ext cx="1143000" cy="241300"/>
            <a:chOff x="528" y="3291"/>
            <a:chExt cx="720" cy="152"/>
          </a:xfrm>
        </p:grpSpPr>
        <p:sp>
          <p:nvSpPr>
            <p:cNvPr id="958" name="Google Shape;958;p62"/>
            <p:cNvSpPr/>
            <p:nvPr/>
          </p:nvSpPr>
          <p:spPr>
            <a:xfrm>
              <a:off x="528" y="3291"/>
              <a:ext cx="403" cy="152"/>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E</a:t>
              </a:r>
              <a:r>
                <a:rPr lang="en-US" sz="1400" baseline="-25000">
                  <a:solidFill>
                    <a:schemeClr val="dk1"/>
                  </a:solidFill>
                  <a:latin typeface="Calibri"/>
                  <a:ea typeface="Calibri"/>
                  <a:cs typeface="Calibri"/>
                  <a:sym typeface="Calibri"/>
                </a:rPr>
                <a:t>1</a:t>
              </a:r>
              <a:endParaRPr sz="1400">
                <a:solidFill>
                  <a:schemeClr val="dk1"/>
                </a:solidFill>
                <a:latin typeface="Calibri"/>
                <a:ea typeface="Calibri"/>
                <a:cs typeface="Calibri"/>
                <a:sym typeface="Calibri"/>
              </a:endParaRPr>
            </a:p>
          </p:txBody>
        </p:sp>
        <p:cxnSp>
          <p:nvCxnSpPr>
            <p:cNvPr id="959" name="Google Shape;959;p62"/>
            <p:cNvCxnSpPr/>
            <p:nvPr/>
          </p:nvCxnSpPr>
          <p:spPr>
            <a:xfrm>
              <a:off x="941" y="3371"/>
              <a:ext cx="307" cy="0"/>
            </a:xfrm>
            <a:prstGeom prst="straightConnector1">
              <a:avLst/>
            </a:prstGeom>
            <a:noFill/>
            <a:ln w="9525" cap="flat" cmpd="sng">
              <a:solidFill>
                <a:schemeClr val="dk1"/>
              </a:solidFill>
              <a:prstDash val="solid"/>
              <a:round/>
              <a:headEnd type="none" w="med" len="med"/>
              <a:tailEnd type="none" w="med" len="med"/>
            </a:ln>
          </p:spPr>
        </p:cxnSp>
      </p:grpSp>
      <p:sp>
        <p:nvSpPr>
          <p:cNvPr id="960" name="Google Shape;960;p62"/>
          <p:cNvSpPr txBox="1"/>
          <p:nvPr/>
        </p:nvSpPr>
        <p:spPr>
          <a:xfrm>
            <a:off x="3494167" y="5184776"/>
            <a:ext cx="287258" cy="276999"/>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00">
                <a:solidFill>
                  <a:schemeClr val="dk1"/>
                </a:solidFill>
                <a:latin typeface="Calibri"/>
                <a:ea typeface="Calibri"/>
                <a:cs typeface="Calibri"/>
                <a:sym typeface="Calibri"/>
              </a:rPr>
              <a:t>R</a:t>
            </a:r>
            <a:endParaRPr/>
          </a:p>
        </p:txBody>
      </p:sp>
      <p:cxnSp>
        <p:nvCxnSpPr>
          <p:cNvPr id="961" name="Google Shape;961;p62"/>
          <p:cNvCxnSpPr/>
          <p:nvPr/>
        </p:nvCxnSpPr>
        <p:spPr>
          <a:xfrm>
            <a:off x="3775366" y="5257800"/>
            <a:ext cx="1176337" cy="0"/>
          </a:xfrm>
          <a:prstGeom prst="straightConnector1">
            <a:avLst/>
          </a:prstGeom>
          <a:noFill/>
          <a:ln w="9525" cap="flat" cmpd="sng">
            <a:solidFill>
              <a:schemeClr val="dk1"/>
            </a:solidFill>
            <a:prstDash val="solid"/>
            <a:round/>
            <a:headEnd type="none" w="med" len="med"/>
            <a:tailEnd type="none" w="med" len="med"/>
          </a:ln>
        </p:spPr>
      </p:cxnSp>
      <p:cxnSp>
        <p:nvCxnSpPr>
          <p:cNvPr id="962" name="Google Shape;962;p62"/>
          <p:cNvCxnSpPr/>
          <p:nvPr/>
        </p:nvCxnSpPr>
        <p:spPr>
          <a:xfrm>
            <a:off x="3816350" y="5330825"/>
            <a:ext cx="1136650" cy="0"/>
          </a:xfrm>
          <a:prstGeom prst="straightConnector1">
            <a:avLst/>
          </a:prstGeom>
          <a:noFill/>
          <a:ln w="9525" cap="flat" cmpd="sng">
            <a:solidFill>
              <a:schemeClr val="dk1"/>
            </a:solidFill>
            <a:prstDash val="solid"/>
            <a:round/>
            <a:headEnd type="none" w="med" len="med"/>
            <a:tailEnd type="none" w="med" len="med"/>
          </a:ln>
        </p:spPr>
      </p:cxnSp>
      <p:sp>
        <p:nvSpPr>
          <p:cNvPr id="963" name="Google Shape;963;p62"/>
          <p:cNvSpPr/>
          <p:nvPr/>
        </p:nvSpPr>
        <p:spPr>
          <a:xfrm>
            <a:off x="4953001" y="5191125"/>
            <a:ext cx="639763" cy="2413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E</a:t>
            </a:r>
            <a:r>
              <a:rPr lang="en-US" sz="1400" baseline="-25000">
                <a:solidFill>
                  <a:schemeClr val="dk1"/>
                </a:solidFill>
                <a:latin typeface="Calibri"/>
                <a:ea typeface="Calibri"/>
                <a:cs typeface="Calibri"/>
                <a:sym typeface="Calibri"/>
              </a:rPr>
              <a:t>2</a:t>
            </a:r>
            <a:endParaRPr sz="1400">
              <a:solidFill>
                <a:schemeClr val="dk1"/>
              </a:solidFill>
              <a:latin typeface="Calibri"/>
              <a:ea typeface="Calibri"/>
              <a:cs typeface="Calibri"/>
              <a:sym typeface="Calibri"/>
            </a:endParaRPr>
          </a:p>
        </p:txBody>
      </p:sp>
      <p:sp>
        <p:nvSpPr>
          <p:cNvPr id="964" name="Google Shape;964;p62"/>
          <p:cNvSpPr/>
          <p:nvPr/>
        </p:nvSpPr>
        <p:spPr>
          <a:xfrm>
            <a:off x="2362201" y="5616575"/>
            <a:ext cx="639763" cy="2413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E</a:t>
            </a:r>
            <a:r>
              <a:rPr lang="en-US" sz="1400" baseline="-25000">
                <a:solidFill>
                  <a:schemeClr val="dk1"/>
                </a:solidFill>
                <a:latin typeface="Calibri"/>
                <a:ea typeface="Calibri"/>
                <a:cs typeface="Calibri"/>
                <a:sym typeface="Calibri"/>
              </a:rPr>
              <a:t>1</a:t>
            </a:r>
            <a:endParaRPr sz="1400">
              <a:solidFill>
                <a:schemeClr val="dk1"/>
              </a:solidFill>
              <a:latin typeface="Calibri"/>
              <a:ea typeface="Calibri"/>
              <a:cs typeface="Calibri"/>
              <a:sym typeface="Calibri"/>
            </a:endParaRPr>
          </a:p>
        </p:txBody>
      </p:sp>
      <p:cxnSp>
        <p:nvCxnSpPr>
          <p:cNvPr id="965" name="Google Shape;965;p62"/>
          <p:cNvCxnSpPr/>
          <p:nvPr/>
        </p:nvCxnSpPr>
        <p:spPr>
          <a:xfrm>
            <a:off x="3017838" y="5743575"/>
            <a:ext cx="487362" cy="0"/>
          </a:xfrm>
          <a:prstGeom prst="straightConnector1">
            <a:avLst/>
          </a:prstGeom>
          <a:noFill/>
          <a:ln w="9525" cap="flat" cmpd="sng">
            <a:solidFill>
              <a:schemeClr val="dk1"/>
            </a:solidFill>
            <a:prstDash val="solid"/>
            <a:round/>
            <a:headEnd type="none" w="med" len="med"/>
            <a:tailEnd type="none" w="med" len="med"/>
          </a:ln>
        </p:spPr>
      </p:cxnSp>
      <p:sp>
        <p:nvSpPr>
          <p:cNvPr id="966" name="Google Shape;966;p62"/>
          <p:cNvSpPr/>
          <p:nvPr/>
        </p:nvSpPr>
        <p:spPr>
          <a:xfrm rot="-2676928">
            <a:off x="3562350" y="5614988"/>
            <a:ext cx="254000" cy="2540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dk1"/>
              </a:solidFill>
              <a:latin typeface="Calibri"/>
              <a:ea typeface="Calibri"/>
              <a:cs typeface="Calibri"/>
              <a:sym typeface="Calibri"/>
            </a:endParaRPr>
          </a:p>
        </p:txBody>
      </p:sp>
      <p:sp>
        <p:nvSpPr>
          <p:cNvPr id="967" name="Google Shape;967;p62"/>
          <p:cNvSpPr txBox="1"/>
          <p:nvPr/>
        </p:nvSpPr>
        <p:spPr>
          <a:xfrm>
            <a:off x="3554492" y="5611814"/>
            <a:ext cx="287258" cy="276999"/>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00">
                <a:solidFill>
                  <a:schemeClr val="dk1"/>
                </a:solidFill>
                <a:latin typeface="Calibri"/>
                <a:ea typeface="Calibri"/>
                <a:cs typeface="Calibri"/>
                <a:sym typeface="Calibri"/>
              </a:rPr>
              <a:t>R</a:t>
            </a:r>
            <a:endParaRPr/>
          </a:p>
        </p:txBody>
      </p:sp>
      <p:cxnSp>
        <p:nvCxnSpPr>
          <p:cNvPr id="968" name="Google Shape;968;p62"/>
          <p:cNvCxnSpPr/>
          <p:nvPr/>
        </p:nvCxnSpPr>
        <p:spPr>
          <a:xfrm>
            <a:off x="3886200" y="5746750"/>
            <a:ext cx="731838" cy="0"/>
          </a:xfrm>
          <a:prstGeom prst="straightConnector1">
            <a:avLst/>
          </a:prstGeom>
          <a:noFill/>
          <a:ln w="9525" cap="flat" cmpd="sng">
            <a:solidFill>
              <a:schemeClr val="dk1"/>
            </a:solidFill>
            <a:prstDash val="solid"/>
            <a:round/>
            <a:headEnd type="none" w="med" len="med"/>
            <a:tailEnd type="none" w="med" len="med"/>
          </a:ln>
        </p:spPr>
      </p:cxnSp>
      <p:sp>
        <p:nvSpPr>
          <p:cNvPr id="969" name="Google Shape;969;p62"/>
          <p:cNvSpPr/>
          <p:nvPr/>
        </p:nvSpPr>
        <p:spPr>
          <a:xfrm>
            <a:off x="4618038" y="5627688"/>
            <a:ext cx="639762" cy="2413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E</a:t>
            </a:r>
            <a:r>
              <a:rPr lang="en-US" sz="1400" baseline="-25000">
                <a:solidFill>
                  <a:schemeClr val="dk1"/>
                </a:solidFill>
                <a:latin typeface="Calibri"/>
                <a:ea typeface="Calibri"/>
                <a:cs typeface="Calibri"/>
                <a:sym typeface="Calibri"/>
              </a:rPr>
              <a:t>2</a:t>
            </a:r>
            <a:endParaRPr sz="1400">
              <a:solidFill>
                <a:schemeClr val="dk1"/>
              </a:solidFill>
              <a:latin typeface="Calibri"/>
              <a:ea typeface="Calibri"/>
              <a:cs typeface="Calibri"/>
              <a:sym typeface="Calibri"/>
            </a:endParaRPr>
          </a:p>
        </p:txBody>
      </p:sp>
      <p:cxnSp>
        <p:nvCxnSpPr>
          <p:cNvPr id="970" name="Google Shape;970;p62"/>
          <p:cNvCxnSpPr/>
          <p:nvPr/>
        </p:nvCxnSpPr>
        <p:spPr>
          <a:xfrm>
            <a:off x="3017838" y="6219825"/>
            <a:ext cx="487362" cy="0"/>
          </a:xfrm>
          <a:prstGeom prst="straightConnector1">
            <a:avLst/>
          </a:prstGeom>
          <a:noFill/>
          <a:ln w="9525" cap="flat" cmpd="sng">
            <a:solidFill>
              <a:schemeClr val="dk1"/>
            </a:solidFill>
            <a:prstDash val="solid"/>
            <a:round/>
            <a:headEnd type="none" w="med" len="med"/>
            <a:tailEnd type="none" w="med" len="med"/>
          </a:ln>
        </p:spPr>
      </p:cxnSp>
      <p:sp>
        <p:nvSpPr>
          <p:cNvPr id="971" name="Google Shape;971;p62"/>
          <p:cNvSpPr/>
          <p:nvPr/>
        </p:nvSpPr>
        <p:spPr>
          <a:xfrm rot="-2676928">
            <a:off x="3562350" y="6091238"/>
            <a:ext cx="254000" cy="2540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dk1"/>
              </a:solidFill>
              <a:latin typeface="Calibri"/>
              <a:ea typeface="Calibri"/>
              <a:cs typeface="Calibri"/>
              <a:sym typeface="Calibri"/>
            </a:endParaRPr>
          </a:p>
        </p:txBody>
      </p:sp>
      <p:sp>
        <p:nvSpPr>
          <p:cNvPr id="972" name="Google Shape;972;p62"/>
          <p:cNvSpPr txBox="1"/>
          <p:nvPr/>
        </p:nvSpPr>
        <p:spPr>
          <a:xfrm>
            <a:off x="3554492" y="6088064"/>
            <a:ext cx="287258" cy="276999"/>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00">
                <a:solidFill>
                  <a:schemeClr val="dk1"/>
                </a:solidFill>
                <a:latin typeface="Calibri"/>
                <a:ea typeface="Calibri"/>
                <a:cs typeface="Calibri"/>
                <a:sym typeface="Calibri"/>
              </a:rPr>
              <a:t>R</a:t>
            </a:r>
            <a:endParaRPr/>
          </a:p>
        </p:txBody>
      </p:sp>
      <p:cxnSp>
        <p:nvCxnSpPr>
          <p:cNvPr id="973" name="Google Shape;973;p62"/>
          <p:cNvCxnSpPr/>
          <p:nvPr/>
        </p:nvCxnSpPr>
        <p:spPr>
          <a:xfrm>
            <a:off x="3886200" y="6223000"/>
            <a:ext cx="731838" cy="0"/>
          </a:xfrm>
          <a:prstGeom prst="straightConnector1">
            <a:avLst/>
          </a:prstGeom>
          <a:noFill/>
          <a:ln w="9525" cap="flat" cmpd="sng">
            <a:solidFill>
              <a:schemeClr val="dk1"/>
            </a:solidFill>
            <a:prstDash val="solid"/>
            <a:round/>
            <a:headEnd type="none" w="med" len="med"/>
            <a:tailEnd type="none" w="med" len="med"/>
          </a:ln>
        </p:spPr>
      </p:cxnSp>
      <p:sp>
        <p:nvSpPr>
          <p:cNvPr id="974" name="Google Shape;974;p62"/>
          <p:cNvSpPr txBox="1"/>
          <p:nvPr/>
        </p:nvSpPr>
        <p:spPr>
          <a:xfrm>
            <a:off x="3810001" y="5997576"/>
            <a:ext cx="83227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(min,max)</a:t>
            </a:r>
            <a:endParaRPr/>
          </a:p>
        </p:txBody>
      </p:sp>
      <p:sp>
        <p:nvSpPr>
          <p:cNvPr id="975" name="Google Shape;975;p62"/>
          <p:cNvSpPr/>
          <p:nvPr/>
        </p:nvSpPr>
        <p:spPr>
          <a:xfrm>
            <a:off x="4618038" y="6103938"/>
            <a:ext cx="639762" cy="2413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E</a:t>
            </a:r>
            <a:endParaRPr/>
          </a:p>
        </p:txBody>
      </p:sp>
      <p:grpSp>
        <p:nvGrpSpPr>
          <p:cNvPr id="976" name="Google Shape;976;p62"/>
          <p:cNvGrpSpPr/>
          <p:nvPr/>
        </p:nvGrpSpPr>
        <p:grpSpPr>
          <a:xfrm>
            <a:off x="4076700" y="4279901"/>
            <a:ext cx="990600" cy="346075"/>
            <a:chOff x="0" y="1560"/>
            <a:chExt cx="1200" cy="420"/>
          </a:xfrm>
        </p:grpSpPr>
        <p:sp>
          <p:nvSpPr>
            <p:cNvPr id="977" name="Google Shape;977;p62"/>
            <p:cNvSpPr/>
            <p:nvPr/>
          </p:nvSpPr>
          <p:spPr>
            <a:xfrm>
              <a:off x="0" y="1560"/>
              <a:ext cx="288" cy="168"/>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78" name="Google Shape;978;p62"/>
            <p:cNvSpPr/>
            <p:nvPr/>
          </p:nvSpPr>
          <p:spPr>
            <a:xfrm>
              <a:off x="396" y="1560"/>
              <a:ext cx="288" cy="168"/>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79" name="Google Shape;979;p62"/>
            <p:cNvSpPr/>
            <p:nvPr/>
          </p:nvSpPr>
          <p:spPr>
            <a:xfrm>
              <a:off x="912" y="1560"/>
              <a:ext cx="288" cy="168"/>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80" name="Google Shape;980;p62"/>
            <p:cNvSpPr/>
            <p:nvPr/>
          </p:nvSpPr>
          <p:spPr>
            <a:xfrm>
              <a:off x="516" y="1812"/>
              <a:ext cx="288" cy="168"/>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981" name="Google Shape;981;p62"/>
            <p:cNvCxnSpPr/>
            <p:nvPr/>
          </p:nvCxnSpPr>
          <p:spPr>
            <a:xfrm rot="10800000">
              <a:off x="264" y="1896"/>
              <a:ext cx="264" cy="0"/>
            </a:xfrm>
            <a:prstGeom prst="straightConnector1">
              <a:avLst/>
            </a:prstGeom>
            <a:noFill/>
            <a:ln w="9525" cap="flat" cmpd="sng">
              <a:solidFill>
                <a:schemeClr val="dk1"/>
              </a:solidFill>
              <a:prstDash val="solid"/>
              <a:round/>
              <a:headEnd type="none" w="med" len="med"/>
              <a:tailEnd type="none" w="med" len="med"/>
            </a:ln>
          </p:spPr>
        </p:cxnSp>
        <p:cxnSp>
          <p:nvCxnSpPr>
            <p:cNvPr id="982" name="Google Shape;982;p62"/>
            <p:cNvCxnSpPr/>
            <p:nvPr/>
          </p:nvCxnSpPr>
          <p:spPr>
            <a:xfrm>
              <a:off x="288" y="1668"/>
              <a:ext cx="264" cy="173"/>
            </a:xfrm>
            <a:prstGeom prst="straightConnector1">
              <a:avLst/>
            </a:prstGeom>
            <a:noFill/>
            <a:ln w="9525" cap="flat" cmpd="sng">
              <a:solidFill>
                <a:schemeClr val="dk1"/>
              </a:solidFill>
              <a:prstDash val="solid"/>
              <a:round/>
              <a:headEnd type="none" w="med" len="med"/>
              <a:tailEnd type="none" w="med" len="med"/>
            </a:ln>
          </p:spPr>
        </p:cxnSp>
        <p:cxnSp>
          <p:nvCxnSpPr>
            <p:cNvPr id="983" name="Google Shape;983;p62"/>
            <p:cNvCxnSpPr/>
            <p:nvPr/>
          </p:nvCxnSpPr>
          <p:spPr>
            <a:xfrm>
              <a:off x="528" y="1717"/>
              <a:ext cx="84" cy="107"/>
            </a:xfrm>
            <a:prstGeom prst="straightConnector1">
              <a:avLst/>
            </a:prstGeom>
            <a:noFill/>
            <a:ln w="9525" cap="flat" cmpd="sng">
              <a:solidFill>
                <a:schemeClr val="dk1"/>
              </a:solidFill>
              <a:prstDash val="solid"/>
              <a:round/>
              <a:headEnd type="none" w="med" len="med"/>
              <a:tailEnd type="none" w="med" len="med"/>
            </a:ln>
          </p:spPr>
        </p:cxnSp>
        <p:cxnSp>
          <p:nvCxnSpPr>
            <p:cNvPr id="984" name="Google Shape;984;p62"/>
            <p:cNvCxnSpPr/>
            <p:nvPr/>
          </p:nvCxnSpPr>
          <p:spPr>
            <a:xfrm rot="10800000" flipH="1">
              <a:off x="792" y="1728"/>
              <a:ext cx="228" cy="132"/>
            </a:xfrm>
            <a:prstGeom prst="straightConnector1">
              <a:avLst/>
            </a:prstGeom>
            <a:noFill/>
            <a:ln w="9525" cap="flat" cmpd="sng">
              <a:solidFill>
                <a:schemeClr val="dk1"/>
              </a:solidFill>
              <a:prstDash val="solid"/>
              <a:round/>
              <a:headEnd type="none" w="med" len="med"/>
              <a:tailEnd type="none" w="med" len="med"/>
            </a:ln>
          </p:spPr>
        </p:cxnSp>
        <p:cxnSp>
          <p:nvCxnSpPr>
            <p:cNvPr id="985" name="Google Shape;985;p62"/>
            <p:cNvCxnSpPr/>
            <p:nvPr/>
          </p:nvCxnSpPr>
          <p:spPr>
            <a:xfrm>
              <a:off x="720" y="1644"/>
              <a:ext cx="180" cy="0"/>
            </a:xfrm>
            <a:prstGeom prst="straightConnector1">
              <a:avLst/>
            </a:prstGeom>
            <a:noFill/>
            <a:ln w="9525" cap="rnd" cmpd="sng">
              <a:solidFill>
                <a:schemeClr val="dk1"/>
              </a:solidFill>
              <a:prstDash val="dot"/>
              <a:round/>
              <a:headEnd type="none" w="med" len="med"/>
              <a:tailEnd type="none" w="med" len="med"/>
            </a:ln>
          </p:spPr>
        </p:cxnSp>
      </p:grpSp>
      <p:sp>
        <p:nvSpPr>
          <p:cNvPr id="986" name="Google Shape;986;p62"/>
          <p:cNvSpPr txBox="1"/>
          <p:nvPr/>
        </p:nvSpPr>
        <p:spPr>
          <a:xfrm>
            <a:off x="3790951" y="5521326"/>
            <a:ext cx="295274" cy="276999"/>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00">
                <a:solidFill>
                  <a:schemeClr val="dk1"/>
                </a:solidFill>
                <a:latin typeface="Calibri"/>
                <a:ea typeface="Calibri"/>
                <a:cs typeface="Calibri"/>
                <a:sym typeface="Calibri"/>
              </a:rPr>
              <a:t>N</a:t>
            </a:r>
            <a:endParaRPr/>
          </a:p>
        </p:txBody>
      </p:sp>
      <p:sp>
        <p:nvSpPr>
          <p:cNvPr id="987" name="Google Shape;987;p62"/>
          <p:cNvSpPr/>
          <p:nvPr/>
        </p:nvSpPr>
        <p:spPr>
          <a:xfrm rot="-2676928">
            <a:off x="3522663" y="5189538"/>
            <a:ext cx="254000" cy="2540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dk1"/>
              </a:solidFill>
              <a:latin typeface="Calibri"/>
              <a:ea typeface="Calibri"/>
              <a:cs typeface="Calibri"/>
              <a:sym typeface="Calibri"/>
            </a:endParaRPr>
          </a:p>
        </p:txBody>
      </p:sp>
      <p:sp>
        <p:nvSpPr>
          <p:cNvPr id="988" name="Google Shape;988;p62"/>
          <p:cNvSpPr txBox="1"/>
          <p:nvPr/>
        </p:nvSpPr>
        <p:spPr>
          <a:xfrm>
            <a:off x="3279775" y="5522914"/>
            <a:ext cx="26161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1</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p63"/>
          <p:cNvSpPr txBox="1">
            <a:spLocks noGrp="1"/>
          </p:cNvSpPr>
          <p:nvPr>
            <p:ph type="title"/>
          </p:nvPr>
        </p:nvSpPr>
        <p:spPr>
          <a:xfrm>
            <a:off x="1316633" y="0"/>
            <a:ext cx="10772775" cy="1072916"/>
          </a:xfrm>
          <a:prstGeom prst="rect">
            <a:avLst/>
          </a:prstGeom>
          <a:noFill/>
          <a:ln>
            <a:noFill/>
          </a:ln>
        </p:spPr>
        <p:txBody>
          <a:bodyPr spcFirstLastPara="1" wrap="square" lIns="91425" tIns="45700" rIns="91425" bIns="45700" anchor="b" anchorCtr="0">
            <a:noAutofit/>
          </a:bodyPr>
          <a:lstStyle/>
          <a:p>
            <a:pPr marL="0" lvl="0" indent="0" algn="just" rtl="0">
              <a:lnSpc>
                <a:spcPct val="85000"/>
              </a:lnSpc>
              <a:spcBef>
                <a:spcPts val="0"/>
              </a:spcBef>
              <a:spcAft>
                <a:spcPts val="0"/>
              </a:spcAft>
              <a:buClr>
                <a:srgbClr val="FF0000"/>
              </a:buClr>
              <a:buSzPts val="3200"/>
              <a:buFont typeface="Calibri"/>
              <a:buNone/>
            </a:pPr>
            <a:r>
              <a:rPr lang="en-US" sz="3200">
                <a:solidFill>
                  <a:srgbClr val="FF0000"/>
                </a:solidFill>
              </a:rPr>
              <a:t>Proper Naming of Schema Constructs</a:t>
            </a:r>
            <a:endParaRPr/>
          </a:p>
        </p:txBody>
      </p:sp>
      <p:sp>
        <p:nvSpPr>
          <p:cNvPr id="994" name="Google Shape;994;p63"/>
          <p:cNvSpPr txBox="1">
            <a:spLocks noGrp="1"/>
          </p:cNvSpPr>
          <p:nvPr>
            <p:ph type="body" idx="1"/>
          </p:nvPr>
        </p:nvSpPr>
        <p:spPr>
          <a:xfrm>
            <a:off x="719137" y="1201503"/>
            <a:ext cx="10753725" cy="3766185"/>
          </a:xfrm>
          <a:prstGeom prst="rect">
            <a:avLst/>
          </a:prstGeom>
          <a:noFill/>
          <a:ln>
            <a:noFill/>
          </a:ln>
        </p:spPr>
        <p:txBody>
          <a:bodyPr spcFirstLastPara="1" wrap="square" lIns="0" tIns="45700" rIns="0" bIns="45700" anchor="t" anchorCtr="0">
            <a:normAutofit/>
          </a:bodyPr>
          <a:lstStyle/>
          <a:p>
            <a:pPr marL="91440" lvl="0" indent="-127000" algn="just" rtl="0">
              <a:lnSpc>
                <a:spcPct val="90000"/>
              </a:lnSpc>
              <a:spcBef>
                <a:spcPts val="0"/>
              </a:spcBef>
              <a:spcAft>
                <a:spcPts val="0"/>
              </a:spcAft>
              <a:buSzPts val="2000"/>
              <a:buChar char=" "/>
            </a:pPr>
            <a:r>
              <a:rPr lang="en-US"/>
              <a:t>Use singular names for entity types, rather than plural one.</a:t>
            </a:r>
            <a:endParaRPr/>
          </a:p>
          <a:p>
            <a:pPr marL="91440" lvl="0" indent="0" algn="just" rtl="0">
              <a:lnSpc>
                <a:spcPct val="90000"/>
              </a:lnSpc>
              <a:spcBef>
                <a:spcPts val="1400"/>
              </a:spcBef>
              <a:spcAft>
                <a:spcPts val="0"/>
              </a:spcAft>
              <a:buSzPts val="2000"/>
              <a:buNone/>
            </a:pPr>
            <a:endParaRPr/>
          </a:p>
          <a:p>
            <a:pPr marL="91440" lvl="0" indent="-127000" algn="just" rtl="0">
              <a:lnSpc>
                <a:spcPct val="90000"/>
              </a:lnSpc>
              <a:spcBef>
                <a:spcPts val="1400"/>
              </a:spcBef>
              <a:spcAft>
                <a:spcPts val="0"/>
              </a:spcAft>
              <a:buSzPts val="2000"/>
              <a:buChar char=" "/>
            </a:pPr>
            <a:r>
              <a:rPr lang="en-US"/>
              <a:t>Verbs tend to indicate the relationship types.</a:t>
            </a:r>
            <a:endParaRPr/>
          </a:p>
          <a:p>
            <a:pPr marL="91440" lvl="0" indent="0" algn="just" rtl="0">
              <a:lnSpc>
                <a:spcPct val="90000"/>
              </a:lnSpc>
              <a:spcBef>
                <a:spcPts val="1400"/>
              </a:spcBef>
              <a:spcAft>
                <a:spcPts val="0"/>
              </a:spcAft>
              <a:buSzPts val="2000"/>
              <a:buNone/>
            </a:pPr>
            <a:endParaRPr/>
          </a:p>
          <a:p>
            <a:pPr marL="91440" lvl="0" indent="-127000" algn="just" rtl="0">
              <a:lnSpc>
                <a:spcPct val="90000"/>
              </a:lnSpc>
              <a:spcBef>
                <a:spcPts val="1400"/>
              </a:spcBef>
              <a:spcAft>
                <a:spcPts val="0"/>
              </a:spcAft>
              <a:buSzPts val="2000"/>
              <a:buChar char=" "/>
            </a:pPr>
            <a:r>
              <a:rPr lang="en-US"/>
              <a:t>Another naming consideration involves choosing the binary relationship names to make the ER diagram of the schema readable from left to right and top to bottom.</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64"/>
          <p:cNvSpPr txBox="1">
            <a:spLocks noGrp="1"/>
          </p:cNvSpPr>
          <p:nvPr>
            <p:ph type="title"/>
          </p:nvPr>
        </p:nvSpPr>
        <p:spPr>
          <a:xfrm>
            <a:off x="836221" y="-159368"/>
            <a:ext cx="10772775" cy="736143"/>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0000"/>
              </a:buClr>
              <a:buSzPts val="4800"/>
              <a:buFont typeface="Calibri"/>
              <a:buNone/>
            </a:pPr>
            <a:r>
              <a:rPr lang="en-US" sz="3600" dirty="0">
                <a:solidFill>
                  <a:srgbClr val="FF0000"/>
                </a:solidFill>
              </a:rPr>
              <a:t>E – R Diagram for COMPANY</a:t>
            </a:r>
            <a:endParaRPr dirty="0"/>
          </a:p>
        </p:txBody>
      </p:sp>
      <p:pic>
        <p:nvPicPr>
          <p:cNvPr id="1000" name="Google Shape;1000;p64"/>
          <p:cNvPicPr preferRelativeResize="0"/>
          <p:nvPr/>
        </p:nvPicPr>
        <p:blipFill rotWithShape="1">
          <a:blip r:embed="rId3">
            <a:alphaModFix/>
          </a:blip>
          <a:srcRect/>
          <a:stretch/>
        </p:blipFill>
        <p:spPr>
          <a:xfrm>
            <a:off x="2323070" y="576775"/>
            <a:ext cx="8410579" cy="592986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p6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3200"/>
              <a:buFont typeface="Calibri"/>
              <a:buNone/>
            </a:pPr>
            <a:r>
              <a:rPr lang="en-US" sz="3200"/>
              <a:t>Alternative Notations for ER Diagrams</a:t>
            </a:r>
            <a:endParaRPr/>
          </a:p>
        </p:txBody>
      </p:sp>
      <p:pic>
        <p:nvPicPr>
          <p:cNvPr id="1006" name="Google Shape;1006;p65" descr="C:\Documents and Settings\yvo\Desktop\relationships_higher_degree.gif"/>
          <p:cNvPicPr preferRelativeResize="0">
            <a:picLocks noGrp="1"/>
          </p:cNvPicPr>
          <p:nvPr>
            <p:ph type="body" idx="1"/>
          </p:nvPr>
        </p:nvPicPr>
        <p:blipFill rotWithShape="1">
          <a:blip r:embed="rId3">
            <a:alphaModFix/>
          </a:blip>
          <a:srcRect/>
          <a:stretch/>
        </p:blipFill>
        <p:spPr>
          <a:xfrm>
            <a:off x="1828800" y="1676400"/>
            <a:ext cx="8534400" cy="4191000"/>
          </a:xfrm>
          <a:prstGeom prst="rect">
            <a:avLst/>
          </a:prstGeom>
          <a:noFill/>
          <a:ln>
            <a:noFill/>
          </a:ln>
        </p:spPr>
      </p:pic>
    </p:spTree>
  </p:cSld>
  <p:clrMapOvr>
    <a:masterClrMapping/>
  </p:clrMapOvr>
</p:sld>
</file>

<file path=ppt/theme/theme1.xml><?xml version="1.0" encoding="utf-8"?>
<a:theme xmlns:a="http://schemas.openxmlformats.org/drawingml/2006/main" name="1_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4918</TotalTime>
  <Words>4256</Words>
  <Application>Microsoft Office PowerPoint</Application>
  <PresentationFormat>Widescreen</PresentationFormat>
  <Paragraphs>704</Paragraphs>
  <Slides>64</Slides>
  <Notes>63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64</vt:i4>
      </vt:variant>
    </vt:vector>
  </HeadingPairs>
  <TitlesOfParts>
    <vt:vector size="72" baseType="lpstr">
      <vt:lpstr>Algerian</vt:lpstr>
      <vt:lpstr>Arial</vt:lpstr>
      <vt:lpstr>Calibri</vt:lpstr>
      <vt:lpstr>Noto Sans Symbols</vt:lpstr>
      <vt:lpstr>Times</vt:lpstr>
      <vt:lpstr>Times New Roman</vt:lpstr>
      <vt:lpstr>1_Retrospect</vt:lpstr>
      <vt:lpstr>Retrospect</vt:lpstr>
      <vt:lpstr> DBMS  MODULE – 1 </vt:lpstr>
      <vt:lpstr>PowerPoint Presentation</vt:lpstr>
      <vt:lpstr>Basic Definitions</vt:lpstr>
      <vt:lpstr>     Defining a Database *Involves specifying the data types, structures, and constraints of the data to be   stored in the database.  * The database definition or descriptive information is also stored by the DBMS in the form of a database catalog or dictionary; it is called meta-data.  </vt:lpstr>
      <vt:lpstr>PowerPoint Presentation</vt:lpstr>
      <vt:lpstr>Simplified Database System Environment</vt:lpstr>
      <vt:lpstr>Typical DBMS Functionality</vt:lpstr>
      <vt:lpstr>Example of a Database (with a Conceptual Data Model)</vt:lpstr>
      <vt:lpstr>Example of a Database (with a Conceptual Data Model)</vt:lpstr>
      <vt:lpstr>Example of a simple database</vt:lpstr>
      <vt:lpstr>Example of a simplified database catalog</vt:lpstr>
      <vt:lpstr>Main Characteristics of the Database Approach The main characteristics of the database approach versus the file-processing</vt:lpstr>
      <vt:lpstr>Main Characteristics of the Database Approach</vt:lpstr>
      <vt:lpstr>PowerPoint Presentation</vt:lpstr>
      <vt:lpstr>Database Users</vt:lpstr>
      <vt:lpstr>Database Users</vt:lpstr>
      <vt:lpstr>Categories of End-users</vt:lpstr>
      <vt:lpstr>Database Users</vt:lpstr>
      <vt:lpstr>Advantages of Using the Database Approach</vt:lpstr>
      <vt:lpstr>Advantages of Using the Database Approach</vt:lpstr>
      <vt:lpstr>Advantages of Using the Database Approach</vt:lpstr>
      <vt:lpstr>Advantages of Using the Database Approach</vt:lpstr>
      <vt:lpstr>Data Models</vt:lpstr>
      <vt:lpstr>Schemas, Instances and Database State</vt:lpstr>
      <vt:lpstr>Three-Schema Architecture</vt:lpstr>
      <vt:lpstr>Three-Schema Architecture</vt:lpstr>
      <vt:lpstr>Data Independence</vt:lpstr>
      <vt:lpstr>Additional Implications of Using the Database Approach</vt:lpstr>
      <vt:lpstr>Brief History of Database Applications</vt:lpstr>
      <vt:lpstr>Extending Database Capabilities</vt:lpstr>
      <vt:lpstr> When not to use a DBMS</vt:lpstr>
      <vt:lpstr>DBMS Languages</vt:lpstr>
      <vt:lpstr>DBMS Interfaces</vt:lpstr>
      <vt:lpstr>DBMS Component Modules</vt:lpstr>
      <vt:lpstr>Using High – Level Conceptual Data Models for Database Design</vt:lpstr>
      <vt:lpstr>An Example Database Application</vt:lpstr>
      <vt:lpstr>PowerPoint Presentation</vt:lpstr>
      <vt:lpstr>Hospital  Management System</vt:lpstr>
      <vt:lpstr>Entity Types, Entity Sets, Attributes and Keys</vt:lpstr>
      <vt:lpstr>Entity Types</vt:lpstr>
      <vt:lpstr>Entity Set</vt:lpstr>
      <vt:lpstr>ENTITY SET corresponding to the ENTITY TYPE CAR</vt:lpstr>
      <vt:lpstr>Key Attribute of an Entity Type</vt:lpstr>
      <vt:lpstr>Value Sets (Domains) of Attributes</vt:lpstr>
      <vt:lpstr>Relationship Types, Relationship Sets, and Instances</vt:lpstr>
      <vt:lpstr>Example 1…</vt:lpstr>
      <vt:lpstr>Example 2…</vt:lpstr>
      <vt:lpstr>Relationship Degree</vt:lpstr>
      <vt:lpstr>Role Names and Recursive Relationships</vt:lpstr>
      <vt:lpstr>Example…</vt:lpstr>
      <vt:lpstr>Constraints on Binary Relationship Types</vt:lpstr>
      <vt:lpstr>1:1 Relationship</vt:lpstr>
      <vt:lpstr>1:N Relationship</vt:lpstr>
      <vt:lpstr>M:N Relationship</vt:lpstr>
      <vt:lpstr>Participation Constraint and Existence Dependence</vt:lpstr>
      <vt:lpstr>Total Participation, also called as Existence Dependency</vt:lpstr>
      <vt:lpstr>1:1 Relationship</vt:lpstr>
      <vt:lpstr>Attributes as Relationship Types</vt:lpstr>
      <vt:lpstr>Weak Entity Types</vt:lpstr>
      <vt:lpstr>Example…</vt:lpstr>
      <vt:lpstr>Notations Used in ER Diagrams</vt:lpstr>
      <vt:lpstr>Proper Naming of Schema Constructs</vt:lpstr>
      <vt:lpstr>E – R Diagram for COMPANY</vt:lpstr>
      <vt:lpstr>Alternative Notations for ER Diagrams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padmasri sridhar</dc:creator>
  <cp:lastModifiedBy>Mushtaq</cp:lastModifiedBy>
  <cp:revision>16</cp:revision>
  <dcterms:created xsi:type="dcterms:W3CDTF">2020-09-02T18:30:41Z</dcterms:created>
  <dcterms:modified xsi:type="dcterms:W3CDTF">2026-02-24T10:18:28Z</dcterms:modified>
</cp:coreProperties>
</file>