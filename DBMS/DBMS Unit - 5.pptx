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257" r:id="rId2"/>
    <p:sldId id="359" r:id="rId3"/>
    <p:sldId id="360" r:id="rId4"/>
    <p:sldId id="361" r:id="rId5"/>
    <p:sldId id="362" r:id="rId6"/>
    <p:sldId id="363" r:id="rId7"/>
    <p:sldId id="364" r:id="rId8"/>
    <p:sldId id="365" r:id="rId9"/>
    <p:sldId id="366" r:id="rId10"/>
    <p:sldId id="367" r:id="rId11"/>
    <p:sldId id="368" r:id="rId12"/>
    <p:sldId id="369" r:id="rId13"/>
    <p:sldId id="370" r:id="rId14"/>
    <p:sldId id="371" r:id="rId15"/>
    <p:sldId id="372" r:id="rId16"/>
    <p:sldId id="373" r:id="rId17"/>
    <p:sldId id="374" r:id="rId18"/>
    <p:sldId id="375" r:id="rId19"/>
    <p:sldId id="376" r:id="rId20"/>
    <p:sldId id="377" r:id="rId21"/>
    <p:sldId id="378" r:id="rId22"/>
    <p:sldId id="379" r:id="rId23"/>
    <p:sldId id="380" r:id="rId24"/>
    <p:sldId id="381" r:id="rId25"/>
    <p:sldId id="382" r:id="rId26"/>
    <p:sldId id="383" r:id="rId27"/>
    <p:sldId id="384" r:id="rId28"/>
    <p:sldId id="385" r:id="rId29"/>
    <p:sldId id="386" r:id="rId30"/>
    <p:sldId id="387" r:id="rId31"/>
    <p:sldId id="388" r:id="rId32"/>
    <p:sldId id="432" r:id="rId33"/>
    <p:sldId id="433" r:id="rId34"/>
    <p:sldId id="434" r:id="rId35"/>
    <p:sldId id="435" r:id="rId36"/>
    <p:sldId id="436" r:id="rId37"/>
    <p:sldId id="437" r:id="rId38"/>
    <p:sldId id="438" r:id="rId39"/>
    <p:sldId id="439" r:id="rId40"/>
    <p:sldId id="440" r:id="rId41"/>
    <p:sldId id="441" r:id="rId42"/>
    <p:sldId id="442" r:id="rId43"/>
    <p:sldId id="443" r:id="rId44"/>
    <p:sldId id="444" r:id="rId45"/>
    <p:sldId id="445" r:id="rId46"/>
    <p:sldId id="446" r:id="rId47"/>
    <p:sldId id="447" r:id="rId48"/>
    <p:sldId id="448" r:id="rId49"/>
    <p:sldId id="449" r:id="rId50"/>
    <p:sldId id="450" r:id="rId51"/>
    <p:sldId id="451" r:id="rId52"/>
    <p:sldId id="452" r:id="rId53"/>
    <p:sldId id="453" r:id="rId54"/>
    <p:sldId id="454" r:id="rId55"/>
    <p:sldId id="455" r:id="rId56"/>
    <p:sldId id="456" r:id="rId57"/>
    <p:sldId id="457" r:id="rId58"/>
    <p:sldId id="483" r:id="rId59"/>
    <p:sldId id="484" r:id="rId60"/>
    <p:sldId id="485" r:id="rId61"/>
    <p:sldId id="486" r:id="rId62"/>
    <p:sldId id="487" r:id="rId63"/>
    <p:sldId id="488" r:id="rId64"/>
    <p:sldId id="489" r:id="rId65"/>
    <p:sldId id="490" r:id="rId66"/>
    <p:sldId id="491" r:id="rId67"/>
    <p:sldId id="492" r:id="rId68"/>
    <p:sldId id="496" r:id="rId69"/>
    <p:sldId id="497" r:id="rId70"/>
    <p:sldId id="498" r:id="rId71"/>
    <p:sldId id="499" r:id="rId72"/>
    <p:sldId id="500" r:id="rId73"/>
    <p:sldId id="501" r:id="rId74"/>
    <p:sldId id="502" r:id="rId75"/>
    <p:sldId id="503" r:id="rId76"/>
    <p:sldId id="504" r:id="rId77"/>
    <p:sldId id="505" r:id="rId78"/>
    <p:sldId id="506"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E49A63-DED7-43E2-BCE2-3D54AD0C1038}" type="datetimeFigureOut">
              <a:rPr lang="en-US" smtClean="0"/>
              <a:pPr/>
              <a:t>6/12/2025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F67B36-E1E9-412C-BD40-A9CA20A09C9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86018"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1"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87042"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5"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88066"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8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89090"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0114"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1138"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2162"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3186"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0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94210"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5234"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96258"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7282"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5"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98306"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29"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9330"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0354"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1378"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2402"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3426"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4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104450"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5474"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6498"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7522"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8546"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69"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9570"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0594"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1618"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642"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3666"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89"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4690"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5714" name="Rectangle 2"/>
          <p:cNvSpPr txBox="1">
            <a:spLocks noGrp="1" noChangeArrowheads="1"/>
          </p:cNvSpPr>
          <p:nvPr>
            <p:ph type="body" idx="1"/>
          </p:nvPr>
        </p:nvSpPr>
        <p:spPr bwMode="auto">
          <a:xfrm>
            <a:off x="685800" y="4343400"/>
            <a:ext cx="5476875" cy="4106863"/>
          </a:xfrm>
          <a:prstGeom prst="rect">
            <a:avLst/>
          </a:prstGeom>
          <a:noFill/>
          <a:ln>
            <a:round/>
            <a:headEnd/>
            <a:tailEnd/>
          </a:ln>
        </p:spPr>
        <p:txBody>
          <a:bodyPr wrap="none" anchor="ct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7"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65538"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1"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66562"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5"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67586"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68610"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69634"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70658"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1"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71682"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5"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72706"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2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73730"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3"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74754"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75778"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1"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76802"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5"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77826"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49"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78850"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3"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79874"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80898"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1"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81922"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5"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82946"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69"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83970"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3"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84994"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7"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86018"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1"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87042"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5"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88066"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89"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89090"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3"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90114"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7" name="Rectangle 1"/>
          <p:cNvSpPr txBox="1">
            <a:spLocks noGrp="1" noRot="1" noChangeAspect="1" noChangeArrowheads="1"/>
          </p:cNvSpPr>
          <p:nvPr>
            <p:ph type="sldImg"/>
          </p:nvPr>
        </p:nvSpPr>
        <p:spPr bwMode="auto">
          <a:xfrm>
            <a:off x="1104900" y="696913"/>
            <a:ext cx="4648200" cy="3486150"/>
          </a:xfrm>
          <a:prstGeom prst="rect">
            <a:avLst/>
          </a:prstGeom>
          <a:solidFill>
            <a:srgbClr val="FFFFFF"/>
          </a:solidFill>
          <a:ln>
            <a:solidFill>
              <a:srgbClr val="000000"/>
            </a:solidFill>
            <a:miter lim="800000"/>
            <a:headEnd/>
            <a:tailEnd/>
          </a:ln>
        </p:spPr>
      </p:sp>
      <p:sp>
        <p:nvSpPr>
          <p:cNvPr id="91138" name="Rectangle 2"/>
          <p:cNvSpPr txBox="1">
            <a:spLocks noGrp="1" noChangeArrowheads="1"/>
          </p:cNvSpPr>
          <p:nvPr>
            <p:ph type="body" idx="1"/>
          </p:nvPr>
        </p:nvSpPr>
        <p:spPr bwMode="auto">
          <a:xfrm>
            <a:off x="685800" y="4343400"/>
            <a:ext cx="5473700" cy="4103688"/>
          </a:xfrm>
          <a:prstGeom prst="rect">
            <a:avLst/>
          </a:prstGeom>
          <a:noFill/>
          <a:ln>
            <a:round/>
            <a:headEnd/>
            <a:tailEnd/>
          </a:ln>
        </p:spPr>
        <p:txBody>
          <a:bodyPr wrap="none" anchor="ct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1"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0962"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5"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1986"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0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3010"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4034"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5058"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1"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6082"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5"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7106"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2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8130"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3"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49154"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50178"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3"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54274"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7"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55298"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1"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56322"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5"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57346" name="Rectangle 2"/>
          <p:cNvSpPr txBox="1">
            <a:spLocks noGrp="1" noChangeArrowheads="1"/>
          </p:cNvSpPr>
          <p:nvPr>
            <p:ph type="body" idx="1"/>
          </p:nvPr>
        </p:nvSpPr>
        <p:spPr bwMode="auto">
          <a:xfrm>
            <a:off x="685800" y="4343400"/>
            <a:ext cx="5483225" cy="4111625"/>
          </a:xfrm>
          <a:prstGeom prst="rect">
            <a:avLst/>
          </a:prstGeom>
          <a:noFill/>
          <a:ln>
            <a:round/>
            <a:headEnd/>
            <a:tailEnd/>
          </a:ln>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D0511F72-6E66-4D59-A513-F8A3E7BF7887}" type="datetime4">
              <a:rPr lang="en-US" smtClean="0"/>
              <a:t>June 12, 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041645D3-FCDD-4035-88CD-39CE2E66119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471848B2-F93B-48CC-89D9-EF49A14DF256}" type="datetime4">
              <a:rPr lang="en-US" smtClean="0"/>
              <a:t>June 12,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041645D3-FCDD-4035-88CD-39CE2E661191}"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CD58FCD5-0D6C-40A3-B785-4FE9CED14091}" type="datetime4">
              <a:rPr lang="en-US" smtClean="0"/>
              <a:t>June 12, 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41645D3-FCDD-4035-88CD-39CE2E661191}"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A247D9D5-EE26-485E-8E40-691E8A4DA379}" type="datetime4">
              <a:rPr lang="en-US" smtClean="0"/>
              <a:t>June 12, 2025</a:t>
            </a:fld>
            <a:endParaRPr lang="en-US"/>
          </a:p>
        </p:txBody>
      </p:sp>
      <p:sp>
        <p:nvSpPr>
          <p:cNvPr id="10" name="Slide Number Placeholder 9"/>
          <p:cNvSpPr>
            <a:spLocks noGrp="1"/>
          </p:cNvSpPr>
          <p:nvPr>
            <p:ph type="sldNum" sz="quarter" idx="16"/>
          </p:nvPr>
        </p:nvSpPr>
        <p:spPr/>
        <p:txBody>
          <a:bodyPr rtlCol="0"/>
          <a:lstStyle/>
          <a:p>
            <a:fld id="{041645D3-FCDD-4035-88CD-39CE2E661191}"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6E194B62-B2FF-4A77-9470-AFF85C87BD30}" type="datetime4">
              <a:rPr lang="en-US" smtClean="0"/>
              <a:t>June 12, 2025</a:t>
            </a:fld>
            <a:endParaRPr lang="en-US"/>
          </a:p>
        </p:txBody>
      </p:sp>
      <p:sp>
        <p:nvSpPr>
          <p:cNvPr id="12" name="Slide Number Placeholder 11"/>
          <p:cNvSpPr>
            <a:spLocks noGrp="1"/>
          </p:cNvSpPr>
          <p:nvPr>
            <p:ph type="sldNum" sz="quarter" idx="16"/>
          </p:nvPr>
        </p:nvSpPr>
        <p:spPr/>
        <p:txBody>
          <a:bodyPr rtlCol="0"/>
          <a:lstStyle/>
          <a:p>
            <a:fld id="{041645D3-FCDD-4035-88CD-39CE2E661191}"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8790317-756D-4647-8891-11AF331DCF56}" type="datetime4">
              <a:rPr lang="en-US" smtClean="0"/>
              <a:t>June 12,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041645D3-FCDD-4035-88CD-39CE2E66119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92A500-383B-46F7-8A1E-1E15675A37B2}" type="datetime4">
              <a:rPr lang="en-US" smtClean="0"/>
              <a:t>June 12,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041645D3-FCDD-4035-88CD-39CE2E66119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4A2206-8F92-4ED7-95B8-D58A6E0E6CFF}" type="datetime4">
              <a:rPr lang="en-US" smtClean="0"/>
              <a:t>June 12,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041645D3-FCDD-4035-88CD-39CE2E661191}"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F0DE2AEC-6B9A-4AB0-AE4B-D4DEF5025BB3}" type="datetime4">
              <a:rPr lang="en-US" smtClean="0"/>
              <a:t>June 12, 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041645D3-FCDD-4035-88CD-39CE2E661191}"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26E9E95-0CE1-46B3-810A-0960836B87DB}" type="datetime4">
              <a:rPr lang="en-US" smtClean="0"/>
              <a:t>June 12,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1645D3-FCDD-4035-88CD-39CE2E66119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C977A36-8DB7-47E6-84C6-869FD9C1F2CF}" type="datetime4">
              <a:rPr lang="en-US" smtClean="0"/>
              <a:t>June 12, 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041645D3-FCDD-4035-88CD-39CE2E66119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18488" cy="1133475"/>
          </a:xfrm>
        </p:spPr>
        <p:txBody>
          <a:bodyPr/>
          <a:lstStyle/>
          <a:p>
            <a:r>
              <a:rPr lang="en-US" smtClean="0"/>
              <a:t>Click to edit Master 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15313" cy="11303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4963"/>
            <a:ext cx="4030663" cy="45116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0263" y="1604963"/>
            <a:ext cx="4032250" cy="45116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92A9178E-C30B-4239-95A6-2AE013FA8734}" type="datetime4">
              <a:rPr lang="en-US" smtClean="0"/>
              <a:t>June 12, 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041645D3-FCDD-4035-88CD-39CE2E66119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11.wmf"/><Relationship Id="rId4" Type="http://schemas.openxmlformats.org/officeDocument/2006/relationships/oleObject" Target="../embeddings/oleObject2.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15.wmf"/><Relationship Id="rId4" Type="http://schemas.openxmlformats.org/officeDocument/2006/relationships/oleObject" Target="../embeddings/oleObject3.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2286000"/>
          </a:xfrm>
        </p:spPr>
        <p:txBody>
          <a:bodyPr>
            <a:normAutofit/>
          </a:bodyPr>
          <a:lstStyle/>
          <a:p>
            <a:pPr algn="ctr"/>
            <a:r>
              <a:rPr lang="en-US" sz="3200" b="1" dirty="0" smtClean="0"/>
              <a:t>MODULE – 5</a:t>
            </a:r>
            <a:br>
              <a:rPr lang="en-US" sz="3200" b="1" dirty="0" smtClean="0"/>
            </a:br>
            <a:r>
              <a:rPr lang="en-US" sz="3200" b="1" dirty="0" smtClean="0"/>
              <a:t/>
            </a:r>
            <a:br>
              <a:rPr lang="en-US" sz="3200" b="1" dirty="0" smtClean="0"/>
            </a:br>
            <a:r>
              <a:rPr lang="en-US" sz="4000" b="1" dirty="0" smtClean="0"/>
              <a:t>TRANSACTION PROCESSING</a:t>
            </a:r>
            <a:r>
              <a:rPr lang="en-US" sz="3200" b="1" dirty="0" smtClean="0"/>
              <a:t/>
            </a:r>
            <a:br>
              <a:rPr lang="en-US" sz="3200" b="1" dirty="0" smtClean="0"/>
            </a:br>
            <a:endParaRPr lang="en-US" sz="3200" b="1" dirty="0"/>
          </a:p>
        </p:txBody>
      </p:sp>
      <p:sp>
        <p:nvSpPr>
          <p:cNvPr id="3" name="Subtitle 2"/>
          <p:cNvSpPr>
            <a:spLocks noGrp="1"/>
          </p:cNvSpPr>
          <p:nvPr>
            <p:ph type="subTitle" idx="1"/>
          </p:nvPr>
        </p:nvSpPr>
        <p:spPr/>
        <p:txBody>
          <a:bodyPr>
            <a:noAutofit/>
          </a:bodyPr>
          <a:lstStyle/>
          <a:p>
            <a:pPr algn="ctr"/>
            <a:r>
              <a:rPr lang="en-US" sz="2000" b="1" dirty="0" smtClean="0"/>
              <a:t>Prepared by Mushtaq Ahmed D Assistant Professor, Dept. of ISE</a:t>
            </a:r>
            <a:endParaRPr lang="en-US" sz="2000" b="1" dirty="0"/>
          </a:p>
        </p:txBody>
      </p:sp>
      <p:sp>
        <p:nvSpPr>
          <p:cNvPr id="4" name="TextBox 3"/>
          <p:cNvSpPr txBox="1"/>
          <p:nvPr/>
        </p:nvSpPr>
        <p:spPr>
          <a:xfrm>
            <a:off x="0" y="2895600"/>
            <a:ext cx="9144000" cy="3046988"/>
          </a:xfrm>
          <a:prstGeom prst="rect">
            <a:avLst/>
          </a:prstGeom>
          <a:noFill/>
        </p:spPr>
        <p:txBody>
          <a:bodyPr wrap="square" rtlCol="0">
            <a:spAutoFit/>
          </a:bodyPr>
          <a:lstStyle/>
          <a:p>
            <a:pPr algn="ctr"/>
            <a:r>
              <a:rPr lang="en-US" sz="3200" b="1" cap="all" dirty="0" smtClean="0">
                <a:solidFill>
                  <a:schemeClr val="tx2"/>
                </a:solidFill>
                <a:latin typeface="+mj-lt"/>
                <a:ea typeface="+mj-ea"/>
                <a:cs typeface="+mj-cs"/>
              </a:rPr>
              <a:t>INTRODUCTION TO TRANSACTION PROCESSING</a:t>
            </a:r>
          </a:p>
          <a:p>
            <a:pPr algn="ctr"/>
            <a:endParaRPr lang="en-US" sz="3200" b="1" cap="all" dirty="0" smtClean="0">
              <a:solidFill>
                <a:schemeClr val="tx2"/>
              </a:solidFill>
              <a:latin typeface="+mj-lt"/>
              <a:ea typeface="+mj-ea"/>
              <a:cs typeface="+mj-cs"/>
            </a:endParaRPr>
          </a:p>
          <a:p>
            <a:pPr algn="ctr"/>
            <a:r>
              <a:rPr lang="en-US" sz="3200" b="1" cap="all" dirty="0" smtClean="0">
                <a:solidFill>
                  <a:schemeClr val="tx2"/>
                </a:solidFill>
                <a:latin typeface="+mj-lt"/>
                <a:ea typeface="+mj-ea"/>
                <a:cs typeface="+mj-cs"/>
              </a:rPr>
              <a:t>CONCURRENCY CONTROL IN DATABASES</a:t>
            </a:r>
          </a:p>
          <a:p>
            <a:pPr algn="ctr"/>
            <a:endParaRPr lang="en-US" sz="3200" b="1" cap="all" dirty="0" smtClean="0">
              <a:solidFill>
                <a:schemeClr val="tx2"/>
              </a:solidFill>
              <a:latin typeface="+mj-lt"/>
              <a:ea typeface="+mj-ea"/>
              <a:cs typeface="+mj-cs"/>
            </a:endParaRPr>
          </a:p>
          <a:p>
            <a:pPr algn="ctr"/>
            <a:r>
              <a:rPr lang="en-US" sz="3200" b="1" cap="all" dirty="0" smtClean="0">
                <a:solidFill>
                  <a:schemeClr val="tx2"/>
                </a:solidFill>
                <a:latin typeface="+mj-lt"/>
                <a:ea typeface="+mj-ea"/>
                <a:cs typeface="+mj-cs"/>
              </a:rPr>
              <a:t>INTRODUCTION TO DATABASE RECOVERY PROTOCOLS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574964" y="279497"/>
            <a:ext cx="77597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Introduction to Transaction Processing</a:t>
            </a:r>
          </a:p>
        </p:txBody>
      </p:sp>
      <p:sp>
        <p:nvSpPr>
          <p:cNvPr id="7170" name="Rectangle 2"/>
          <p:cNvSpPr>
            <a:spLocks noGrp="1" noChangeArrowheads="1"/>
          </p:cNvSpPr>
          <p:nvPr>
            <p:ph type="body" idx="1"/>
          </p:nvPr>
        </p:nvSpPr>
        <p:spPr>
          <a:xfrm>
            <a:off x="152400" y="1590866"/>
            <a:ext cx="8686800" cy="4962333"/>
          </a:xfrm>
          <a:ln/>
        </p:spPr>
        <p:txBody>
          <a:bodyPr lIns="90000" tIns="46800" rIns="90000" bIns="46800">
            <a:normAutofit lnSpcReduction="10000"/>
          </a:bodyPr>
          <a:lstStyle/>
          <a:p>
            <a:pPr marL="137160" indent="0">
              <a:lnSpc>
                <a:spcPct val="90000"/>
              </a:lnSpc>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3100" b="1" dirty="0">
                <a:solidFill>
                  <a:srgbClr val="00B050"/>
                </a:solidFill>
                <a:cs typeface="Times New Roman" pitchFamily="16" charset="0"/>
              </a:rPr>
              <a:t>Transaction: </a:t>
            </a:r>
            <a:r>
              <a:rPr lang="en-US" sz="2400" dirty="0">
                <a:cs typeface="Times New Roman" pitchFamily="16" charset="0"/>
              </a:rPr>
              <a:t>An executing program (process) that includes one or more database access operations</a:t>
            </a:r>
          </a:p>
          <a:p>
            <a:pPr marL="137160" indent="0">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cs typeface="Times New Roman" pitchFamily="16" charset="0"/>
              </a:rPr>
              <a:t>Read operations (database retrieval, such as SQL SELECT)</a:t>
            </a:r>
          </a:p>
          <a:p>
            <a:pPr marL="137160" indent="0">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cs typeface="Times New Roman" pitchFamily="16" charset="0"/>
              </a:rPr>
              <a:t>Write operations (modify database, such as SQL INSERT, UPDATE, DELETE)</a:t>
            </a:r>
          </a:p>
          <a:p>
            <a:pPr marL="137160" indent="0">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cs typeface="Times New Roman" pitchFamily="16" charset="0"/>
              </a:rPr>
              <a:t>Transaction: A logical unit of database processing</a:t>
            </a:r>
          </a:p>
          <a:p>
            <a:pPr marL="137160" indent="0">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b="1" dirty="0">
                <a:solidFill>
                  <a:srgbClr val="FF0000"/>
                </a:solidFill>
                <a:cs typeface="Times New Roman" pitchFamily="16" charset="0"/>
              </a:rPr>
              <a:t>Example</a:t>
            </a:r>
            <a:r>
              <a:rPr lang="en-US" sz="2400" dirty="0">
                <a:solidFill>
                  <a:srgbClr val="FF0000"/>
                </a:solidFill>
                <a:cs typeface="Times New Roman" pitchFamily="16" charset="0"/>
              </a:rPr>
              <a:t>:</a:t>
            </a:r>
            <a:r>
              <a:rPr lang="en-US" sz="2400" dirty="0">
                <a:cs typeface="Times New Roman" pitchFamily="16" charset="0"/>
              </a:rPr>
              <a:t> Bank balance transfer of $100 dollars from a checking account to a saving account in a BANK database</a:t>
            </a:r>
          </a:p>
          <a:p>
            <a:pPr marL="137160" indent="0">
              <a:lnSpc>
                <a:spcPct val="90000"/>
              </a:lnSpc>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cs typeface="Times New Roman" pitchFamily="16" charset="0"/>
              </a:rPr>
              <a:t> </a:t>
            </a:r>
            <a:r>
              <a:rPr lang="en-US" sz="2400" b="1" dirty="0">
                <a:solidFill>
                  <a:srgbClr val="FF0000"/>
                </a:solidFill>
                <a:cs typeface="Times New Roman" pitchFamily="16" charset="0"/>
              </a:rPr>
              <a:t>Note: </a:t>
            </a:r>
            <a:r>
              <a:rPr lang="en-US" sz="2400" dirty="0">
                <a:cs typeface="Times New Roman" pitchFamily="16" charset="0"/>
              </a:rPr>
              <a:t>Each execution of a program is a distinct transaction with different parameters</a:t>
            </a:r>
          </a:p>
          <a:p>
            <a:pPr marL="137160" indent="0">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cs typeface="Times New Roman" pitchFamily="16" charset="0"/>
              </a:rPr>
              <a:t>Bank transfer program parameters: savings account number, checking account number, transfer amount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a:xfrm>
            <a:off x="152400" y="203394"/>
            <a:ext cx="86868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Introduction to Transaction Processing (cont.)</a:t>
            </a:r>
          </a:p>
        </p:txBody>
      </p:sp>
      <p:sp>
        <p:nvSpPr>
          <p:cNvPr id="8194" name="Rectangle 2"/>
          <p:cNvSpPr>
            <a:spLocks noGrp="1" noChangeArrowheads="1"/>
          </p:cNvSpPr>
          <p:nvPr>
            <p:ph type="body" idx="1"/>
          </p:nvPr>
        </p:nvSpPr>
        <p:spPr>
          <a:xfrm>
            <a:off x="457200" y="1498600"/>
            <a:ext cx="7772400" cy="4597400"/>
          </a:xfrm>
          <a:ln/>
        </p:spPr>
        <p:txBody>
          <a:bodyPr lIns="90000" tIns="46800" rIns="90000" bIns="46800"/>
          <a:lstStyle/>
          <a:p>
            <a:pPr marL="331788" indent="-331788">
              <a:lnSpc>
                <a:spcPct val="90000"/>
              </a:lnSpc>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b="1" dirty="0">
                <a:solidFill>
                  <a:srgbClr val="00B050"/>
                </a:solidFill>
                <a:cs typeface="Times New Roman" pitchFamily="16" charset="0"/>
              </a:rPr>
              <a:t>A transaction (set of operations) </a:t>
            </a:r>
            <a:r>
              <a:rPr lang="en-US" sz="2400" dirty="0">
                <a:cs typeface="Times New Roman" pitchFamily="16" charset="0"/>
              </a:rPr>
              <a:t>may be:</a:t>
            </a:r>
          </a:p>
          <a:p>
            <a:pPr marL="731838" lvl="1" indent="-274638">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cs typeface="Times New Roman" pitchFamily="16" charset="0"/>
              </a:rPr>
              <a:t>stand-alone, specified in a high level language like SQL submitted interactively, or </a:t>
            </a:r>
          </a:p>
          <a:p>
            <a:pPr marL="731838" lvl="1" indent="-274638">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cs typeface="Times New Roman" pitchFamily="16" charset="0"/>
              </a:rPr>
              <a:t>consist of database operations embedded within a program (most transactions)</a:t>
            </a:r>
          </a:p>
          <a:p>
            <a:pPr marL="331788" indent="-331788">
              <a:lnSpc>
                <a:spcPct val="90000"/>
              </a:lnSpc>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b="1" dirty="0">
                <a:solidFill>
                  <a:srgbClr val="00B050"/>
                </a:solidFill>
                <a:cs typeface="Times New Roman" pitchFamily="16" charset="0"/>
              </a:rPr>
              <a:t>Transaction boundaries</a:t>
            </a:r>
            <a:r>
              <a:rPr lang="en-US" sz="2400" dirty="0">
                <a:solidFill>
                  <a:srgbClr val="FF0000"/>
                </a:solidFill>
                <a:cs typeface="Times New Roman" pitchFamily="16" charset="0"/>
              </a:rPr>
              <a:t>: </a:t>
            </a:r>
            <a:r>
              <a:rPr lang="en-US" sz="2400" dirty="0">
                <a:cs typeface="Times New Roman" pitchFamily="16" charset="0"/>
              </a:rPr>
              <a:t>Begin and End transaction.</a:t>
            </a:r>
          </a:p>
          <a:p>
            <a:pPr marL="731838" lvl="1" indent="-274638">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200" dirty="0">
                <a:cs typeface="Times New Roman" pitchFamily="16" charset="0"/>
              </a:rPr>
              <a:t>Note: An </a:t>
            </a:r>
            <a:r>
              <a:rPr lang="en-US" sz="2200" b="1" dirty="0">
                <a:cs typeface="Times New Roman" pitchFamily="16" charset="0"/>
              </a:rPr>
              <a:t>application program</a:t>
            </a:r>
            <a:r>
              <a:rPr lang="en-US" sz="2200" dirty="0">
                <a:cs typeface="Times New Roman" pitchFamily="16" charset="0"/>
              </a:rPr>
              <a:t> may contain several transactions separated by Begin and End transaction boundaries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a:xfrm>
            <a:off x="304800" y="152400"/>
            <a:ext cx="86868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Introduction to Transaction Processing (cont.)</a:t>
            </a:r>
          </a:p>
        </p:txBody>
      </p:sp>
      <p:sp>
        <p:nvSpPr>
          <p:cNvPr id="9218" name="Rectangle 2"/>
          <p:cNvSpPr>
            <a:spLocks noGrp="1" noChangeArrowheads="1"/>
          </p:cNvSpPr>
          <p:nvPr>
            <p:ph type="body" idx="1"/>
          </p:nvPr>
        </p:nvSpPr>
        <p:spPr>
          <a:xfrm>
            <a:off x="444500" y="1509712"/>
            <a:ext cx="7772400" cy="4738688"/>
          </a:xfrm>
          <a:ln/>
        </p:spPr>
        <p:txBody>
          <a:bodyPr lIns="90000" tIns="46800" rIns="90000" bIns="46800"/>
          <a:lstStyle/>
          <a:p>
            <a:pPr marL="331788" indent="-331788">
              <a:spcBef>
                <a:spcPts val="7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b="1" dirty="0">
                <a:solidFill>
                  <a:srgbClr val="00B050"/>
                </a:solidFill>
              </a:rPr>
              <a:t>Transaction Processing Systems:</a:t>
            </a:r>
            <a:r>
              <a:rPr lang="en-US" sz="2400" dirty="0">
                <a:solidFill>
                  <a:srgbClr val="00B050"/>
                </a:solidFill>
              </a:rPr>
              <a:t> </a:t>
            </a:r>
            <a:r>
              <a:rPr lang="en-US" sz="2400" dirty="0"/>
              <a:t>Large multi-user database systems supporting thousands of </a:t>
            </a:r>
            <a:r>
              <a:rPr lang="en-US" sz="2400" i="1" dirty="0"/>
              <a:t>concurrent transactions</a:t>
            </a:r>
            <a:r>
              <a:rPr lang="en-US" sz="2400" dirty="0"/>
              <a:t> (user processes) per </a:t>
            </a:r>
            <a:r>
              <a:rPr lang="en-US" sz="2400" dirty="0" smtClean="0"/>
              <a:t>minute</a:t>
            </a:r>
          </a:p>
          <a:p>
            <a:pPr marL="0" indent="0">
              <a:spcBef>
                <a:spcPts val="700"/>
              </a:spcBef>
              <a:buNone/>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endParaRPr lang="en-US" sz="2400" dirty="0"/>
          </a:p>
          <a:p>
            <a:pPr marL="331788" indent="-331788">
              <a:spcBef>
                <a:spcPts val="7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b="1" dirty="0">
                <a:solidFill>
                  <a:srgbClr val="FF0000"/>
                </a:solidFill>
              </a:rPr>
              <a:t>Two Modes of Concurrency</a:t>
            </a:r>
          </a:p>
          <a:p>
            <a:pPr marL="731838" lvl="1" indent="-274638">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b="1" dirty="0">
                <a:solidFill>
                  <a:srgbClr val="00B050"/>
                </a:solidFill>
              </a:rPr>
              <a:t>Interleaved processing</a:t>
            </a:r>
            <a:r>
              <a:rPr lang="en-US" sz="2400" dirty="0">
                <a:solidFill>
                  <a:srgbClr val="00B050"/>
                </a:solidFill>
              </a:rPr>
              <a:t>: </a:t>
            </a:r>
            <a:r>
              <a:rPr lang="en-US" sz="2400" dirty="0"/>
              <a:t>concurrent execution of processes is interleaved in a single CPU</a:t>
            </a:r>
          </a:p>
          <a:p>
            <a:pPr marL="731838" lvl="1" indent="-274638">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b="1" dirty="0">
                <a:solidFill>
                  <a:srgbClr val="00B050"/>
                </a:solidFill>
              </a:rPr>
              <a:t>Parallel processing</a:t>
            </a:r>
            <a:r>
              <a:rPr lang="en-US" sz="2400" dirty="0">
                <a:solidFill>
                  <a:srgbClr val="00B050"/>
                </a:solidFill>
              </a:rPr>
              <a:t>: </a:t>
            </a:r>
            <a:r>
              <a:rPr lang="en-US" sz="2400" dirty="0"/>
              <a:t>processes are concurrently executed in multiple CPUs (</a:t>
            </a:r>
            <a:r>
              <a:rPr lang="en-US" sz="2400" dirty="0" smtClean="0"/>
              <a:t>Figure)</a:t>
            </a:r>
            <a:endParaRPr lang="en-US" sz="2400" dirty="0"/>
          </a:p>
          <a:p>
            <a:pPr marL="731838" lvl="1" indent="-274638">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400" dirty="0"/>
              <a:t>Basic transaction processing theory assumes interleaved concurrency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
          <p:cNvPicPr>
            <a:picLocks noChangeAspect="1" noChangeArrowheads="1"/>
          </p:cNvPicPr>
          <p:nvPr/>
        </p:nvPicPr>
        <p:blipFill>
          <a:blip r:embed="rId3"/>
          <a:srcRect/>
          <a:stretch>
            <a:fillRect/>
          </a:stretch>
        </p:blipFill>
        <p:spPr bwMode="auto">
          <a:xfrm>
            <a:off x="76200" y="1981200"/>
            <a:ext cx="8683625" cy="2727325"/>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xfrm>
            <a:off x="436418" y="228600"/>
            <a:ext cx="8686800" cy="909637"/>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Introduction to Transaction Processing (cont.)</a:t>
            </a:r>
          </a:p>
        </p:txBody>
      </p:sp>
      <p:sp>
        <p:nvSpPr>
          <p:cNvPr id="11266" name="Rectangle 2"/>
          <p:cNvSpPr>
            <a:spLocks noGrp="1" noChangeArrowheads="1"/>
          </p:cNvSpPr>
          <p:nvPr>
            <p:ph type="body" idx="1"/>
          </p:nvPr>
        </p:nvSpPr>
        <p:spPr>
          <a:xfrm>
            <a:off x="457200" y="1524000"/>
            <a:ext cx="7772400" cy="5162550"/>
          </a:xfrm>
          <a:ln/>
        </p:spPr>
        <p:txBody>
          <a:bodyPr lIns="90000" tIns="46800" rIns="90000" bIns="46800">
            <a:normAutofit/>
          </a:bodyPr>
          <a:lstStyle/>
          <a:p>
            <a:pPr indent="-331788" algn="just">
              <a:lnSpc>
                <a:spcPct val="90000"/>
              </a:lnSpc>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800" dirty="0">
                <a:cs typeface="Times New Roman" pitchFamily="16" charset="0"/>
              </a:rPr>
              <a:t>For transaction processing purposes, a simple database model is used:</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A database </a:t>
            </a:r>
            <a:r>
              <a:rPr lang="en-US" sz="2800" b="1" dirty="0">
                <a:cs typeface="Times New Roman" pitchFamily="16" charset="0"/>
              </a:rPr>
              <a:t>- </a:t>
            </a:r>
            <a:r>
              <a:rPr lang="en-US" sz="2400" dirty="0">
                <a:cs typeface="Times New Roman" pitchFamily="16" charset="0"/>
              </a:rPr>
              <a:t>collection of named data items</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Granularity (size) of a data item</a:t>
            </a:r>
            <a:r>
              <a:rPr lang="en-US" sz="2000" dirty="0">
                <a:solidFill>
                  <a:srgbClr val="00B050"/>
                </a:solidFill>
                <a:cs typeface="Times New Roman" pitchFamily="16" charset="0"/>
              </a:rPr>
              <a:t> </a:t>
            </a:r>
            <a:r>
              <a:rPr lang="en-US" sz="2400" dirty="0">
                <a:cs typeface="Times New Roman" pitchFamily="16" charset="0"/>
              </a:rPr>
              <a:t>- a field (data item value), a record, or a whole disk </a:t>
            </a:r>
            <a:r>
              <a:rPr lang="en-US" sz="2400" dirty="0" smtClean="0">
                <a:cs typeface="Times New Roman" pitchFamily="16" charset="0"/>
              </a:rPr>
              <a:t>block</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smtClean="0">
                <a:cs typeface="Times New Roman" pitchFamily="16" charset="0"/>
              </a:rPr>
              <a:t>TP</a:t>
            </a:r>
            <a:r>
              <a:rPr lang="en-US" sz="2400" b="1" dirty="0" smtClean="0">
                <a:cs typeface="Times New Roman" pitchFamily="16" charset="0"/>
              </a:rPr>
              <a:t> </a:t>
            </a:r>
            <a:r>
              <a:rPr lang="en-US" sz="2400" dirty="0">
                <a:cs typeface="Times New Roman" pitchFamily="16" charset="0"/>
              </a:rPr>
              <a:t>concepts are independent of granularity</a:t>
            </a:r>
          </a:p>
          <a:p>
            <a:pPr indent="-331788" algn="just">
              <a:lnSpc>
                <a:spcPct val="90000"/>
              </a:lnSpc>
              <a:spcBef>
                <a:spcPts val="7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Basic operations on an item X:</a:t>
            </a:r>
          </a:p>
          <a:p>
            <a:pPr marL="594360" indent="0" algn="just">
              <a:lnSpc>
                <a:spcPct val="90000"/>
              </a:lnSpc>
              <a:spcBef>
                <a:spcPts val="600"/>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a:solidFill>
                  <a:srgbClr val="00B050"/>
                </a:solidFill>
                <a:cs typeface="Times New Roman" pitchFamily="16" charset="0"/>
              </a:rPr>
              <a:t>read_item</a:t>
            </a:r>
            <a:r>
              <a:rPr lang="en-US" sz="2400" b="1" dirty="0">
                <a:solidFill>
                  <a:srgbClr val="00B050"/>
                </a:solidFill>
                <a:cs typeface="Times New Roman" pitchFamily="16" charset="0"/>
              </a:rPr>
              <a:t>(X)</a:t>
            </a:r>
            <a:r>
              <a:rPr lang="en-US" sz="2400" dirty="0">
                <a:solidFill>
                  <a:srgbClr val="00B050"/>
                </a:solidFill>
                <a:cs typeface="Times New Roman" pitchFamily="16" charset="0"/>
              </a:rPr>
              <a:t>: </a:t>
            </a:r>
            <a:r>
              <a:rPr lang="en-US" sz="2400" dirty="0">
                <a:cs typeface="Times New Roman" pitchFamily="16" charset="0"/>
              </a:rPr>
              <a:t>Reads a database item named X into a program variable. To simplify our notation, we assume that </a:t>
            </a:r>
            <a:r>
              <a:rPr lang="en-US" sz="2400" i="1" dirty="0">
                <a:cs typeface="Times New Roman" pitchFamily="16" charset="0"/>
              </a:rPr>
              <a:t>the program variable is also named X.</a:t>
            </a:r>
          </a:p>
          <a:p>
            <a:pPr marL="594360" indent="0" algn="just">
              <a:lnSpc>
                <a:spcPct val="90000"/>
              </a:lnSpc>
              <a:spcBef>
                <a:spcPts val="600"/>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a:solidFill>
                  <a:srgbClr val="00B050"/>
                </a:solidFill>
                <a:cs typeface="Times New Roman" pitchFamily="16" charset="0"/>
              </a:rPr>
              <a:t>write_item</a:t>
            </a:r>
            <a:r>
              <a:rPr lang="en-US" sz="2400" b="1" dirty="0">
                <a:solidFill>
                  <a:srgbClr val="00B050"/>
                </a:solidFill>
                <a:cs typeface="Times New Roman" pitchFamily="16" charset="0"/>
              </a:rPr>
              <a:t>(X)</a:t>
            </a:r>
            <a:r>
              <a:rPr lang="en-US" sz="2400" dirty="0">
                <a:solidFill>
                  <a:srgbClr val="00B050"/>
                </a:solidFill>
                <a:cs typeface="Times New Roman" pitchFamily="16" charset="0"/>
              </a:rPr>
              <a:t>: </a:t>
            </a:r>
            <a:r>
              <a:rPr lang="en-US" sz="2400" dirty="0">
                <a:cs typeface="Times New Roman" pitchFamily="16" charset="0"/>
              </a:rPr>
              <a:t>Writes the value of program variable X into the database item named X.</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422564" y="0"/>
            <a:ext cx="86868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Introduction to Transaction Processing (cont.)</a:t>
            </a:r>
          </a:p>
        </p:txBody>
      </p:sp>
      <p:sp>
        <p:nvSpPr>
          <p:cNvPr id="12290" name="Rectangle 2"/>
          <p:cNvSpPr>
            <a:spLocks noGrp="1" noChangeArrowheads="1"/>
          </p:cNvSpPr>
          <p:nvPr>
            <p:ph type="body" idx="1"/>
          </p:nvPr>
        </p:nvSpPr>
        <p:spPr>
          <a:xfrm>
            <a:off x="457200" y="1497012"/>
            <a:ext cx="7772400" cy="4903788"/>
          </a:xfrm>
          <a:ln/>
        </p:spPr>
        <p:txBody>
          <a:bodyPr lIns="90000" tIns="46800" rIns="90000" bIns="46800">
            <a:noAutofit/>
          </a:bodyPr>
          <a:lstStyle/>
          <a:p>
            <a:pPr marL="533400" indent="-522288" algn="just">
              <a:lnSpc>
                <a:spcPct val="90000"/>
              </a:lnSpc>
              <a:spcBef>
                <a:spcPts val="6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a:solidFill>
                  <a:srgbClr val="FF0000"/>
                </a:solidFill>
                <a:cs typeface="Times New Roman" pitchFamily="16" charset="0"/>
              </a:rPr>
              <a:t>READ AND WRITE </a:t>
            </a:r>
            <a:r>
              <a:rPr lang="en-US" sz="2400" b="1" dirty="0" smtClean="0">
                <a:solidFill>
                  <a:srgbClr val="FF0000"/>
                </a:solidFill>
                <a:cs typeface="Times New Roman" pitchFamily="16" charset="0"/>
              </a:rPr>
              <a:t>OPERATIONS:</a:t>
            </a:r>
          </a:p>
          <a:p>
            <a:pPr marL="533400" indent="-522288" algn="just">
              <a:lnSpc>
                <a:spcPct val="90000"/>
              </a:lnSpc>
              <a:spcBef>
                <a:spcPts val="6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smtClean="0">
                <a:cs typeface="Times New Roman" pitchFamily="16" charset="0"/>
              </a:rPr>
              <a:t>      Basic </a:t>
            </a:r>
            <a:r>
              <a:rPr lang="en-US" sz="2400" dirty="0">
                <a:cs typeface="Times New Roman" pitchFamily="16" charset="0"/>
              </a:rPr>
              <a:t>unit of data transfer from the disk to the computer </a:t>
            </a:r>
            <a:r>
              <a:rPr lang="en-US" sz="2400" dirty="0" smtClean="0">
                <a:cs typeface="Times New Roman" pitchFamily="16" charset="0"/>
              </a:rPr>
              <a:t>main memory </a:t>
            </a:r>
            <a:r>
              <a:rPr lang="en-US" sz="2400" dirty="0">
                <a:cs typeface="Times New Roman" pitchFamily="16" charset="0"/>
              </a:rPr>
              <a:t>is one disk block (or page). A data item X (what is read or written) will usually be the field of some record in the database, although it may be a larger unit such as a whole record or even a whole </a:t>
            </a:r>
            <a:r>
              <a:rPr lang="en-US" sz="2400" dirty="0" smtClean="0">
                <a:cs typeface="Times New Roman" pitchFamily="16" charset="0"/>
              </a:rPr>
              <a:t>block.</a:t>
            </a:r>
          </a:p>
          <a:p>
            <a:pPr marL="533400" indent="-522288" algn="just">
              <a:lnSpc>
                <a:spcPct val="90000"/>
              </a:lnSpc>
              <a:spcBef>
                <a:spcPts val="6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err="1" smtClean="0">
                <a:solidFill>
                  <a:srgbClr val="00B050"/>
                </a:solidFill>
                <a:cs typeface="Times New Roman" pitchFamily="16" charset="0"/>
              </a:rPr>
              <a:t>read_item</a:t>
            </a:r>
            <a:r>
              <a:rPr lang="en-US" sz="2400" b="1" dirty="0" smtClean="0">
                <a:solidFill>
                  <a:srgbClr val="00B050"/>
                </a:solidFill>
                <a:cs typeface="Times New Roman" pitchFamily="16" charset="0"/>
              </a:rPr>
              <a:t>(X</a:t>
            </a:r>
            <a:r>
              <a:rPr lang="en-US" sz="2400" b="1" dirty="0">
                <a:solidFill>
                  <a:srgbClr val="00B050"/>
                </a:solidFill>
                <a:cs typeface="Times New Roman" pitchFamily="16" charset="0"/>
              </a:rPr>
              <a:t>) command includes the following steps:</a:t>
            </a:r>
          </a:p>
          <a:p>
            <a:pPr marL="937260" indent="-342900" algn="just">
              <a:lnSpc>
                <a:spcPct val="90000"/>
              </a:lnSpc>
              <a:buFont typeface="Wingdings" panose="05000000000000000000" pitchFamily="2" charset="2"/>
              <a:buChar char="Ø"/>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Find the address of the disk block that contains item X.</a:t>
            </a:r>
          </a:p>
          <a:p>
            <a:pPr marL="937260" indent="-342900" algn="just">
              <a:lnSpc>
                <a:spcPct val="90000"/>
              </a:lnSpc>
              <a:buFont typeface="Wingdings" panose="05000000000000000000" pitchFamily="2" charset="2"/>
              <a:buChar char="Ø"/>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Copy that disk block into a buffer in main memory (if that disk block is not already in some main memory buffer).</a:t>
            </a:r>
          </a:p>
          <a:p>
            <a:pPr marL="937260" indent="-342900" algn="just">
              <a:lnSpc>
                <a:spcPct val="90000"/>
              </a:lnSpc>
              <a:buFont typeface="Wingdings" panose="05000000000000000000" pitchFamily="2" charset="2"/>
              <a:buChar char="Ø"/>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Copy item X from the buffer to the program variable named X.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body"/>
          </p:nvPr>
        </p:nvSpPr>
        <p:spPr>
          <a:xfrm>
            <a:off x="228600" y="1625406"/>
            <a:ext cx="8686800" cy="4805362"/>
          </a:xfrm>
          <a:ln/>
        </p:spPr>
        <p:txBody>
          <a:bodyPr lIns="90000" tIns="46800" rIns="90000" bIns="46800" anchor="t">
            <a:normAutofit/>
          </a:bodyPr>
          <a:lstStyle/>
          <a:p>
            <a:pPr marL="609600" indent="-598488" algn="l">
              <a:lnSpc>
                <a:spcPct val="90000"/>
              </a:lnSpc>
              <a:spcBef>
                <a:spcPts val="700"/>
              </a:spcBef>
              <a:buClrTx/>
              <a:buFontTx/>
              <a:buNone/>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b="1" dirty="0">
                <a:solidFill>
                  <a:srgbClr val="FF0000"/>
                </a:solidFill>
                <a:latin typeface="+mn-lt"/>
                <a:ea typeface="+mn-ea"/>
                <a:cs typeface="Times New Roman" pitchFamily="16" charset="0"/>
              </a:rPr>
              <a:t>READ AND WRITE OPERATIONS (cont</a:t>
            </a:r>
            <a:r>
              <a:rPr lang="en-US" sz="2400" b="1" dirty="0" smtClean="0">
                <a:solidFill>
                  <a:srgbClr val="FF0000"/>
                </a:solidFill>
                <a:latin typeface="+mn-lt"/>
                <a:ea typeface="+mn-ea"/>
                <a:cs typeface="Times New Roman" pitchFamily="16" charset="0"/>
              </a:rPr>
              <a:t>.):</a:t>
            </a:r>
          </a:p>
          <a:p>
            <a:pPr marL="609600" indent="-598488" algn="l">
              <a:lnSpc>
                <a:spcPct val="90000"/>
              </a:lnSpc>
              <a:spcBef>
                <a:spcPts val="700"/>
              </a:spcBef>
              <a:buClrTx/>
              <a:buFontTx/>
              <a:buNone/>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endParaRPr lang="en-US" sz="1100" b="1" dirty="0">
              <a:solidFill>
                <a:schemeClr val="tx1"/>
              </a:solidFill>
              <a:latin typeface="+mn-lt"/>
              <a:ea typeface="+mn-ea"/>
              <a:cs typeface="Times New Roman" pitchFamily="16" charset="0"/>
            </a:endParaRPr>
          </a:p>
          <a:p>
            <a:pPr marL="11112" algn="just">
              <a:lnSpc>
                <a:spcPct val="90000"/>
              </a:lnSpc>
              <a:spcBef>
                <a:spcPts val="600"/>
              </a:spcBef>
              <a:buClr>
                <a:srgbClr val="FF0000"/>
              </a:buClr>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b="1" dirty="0">
                <a:solidFill>
                  <a:srgbClr val="00B050"/>
                </a:solidFill>
                <a:latin typeface="+mn-lt"/>
                <a:ea typeface="+mn-ea"/>
                <a:cs typeface="Times New Roman" pitchFamily="16" charset="0"/>
              </a:rPr>
              <a:t>write_item(X) command includes the following steps</a:t>
            </a:r>
            <a:r>
              <a:rPr lang="en-US" sz="2400" b="1" dirty="0" smtClean="0">
                <a:solidFill>
                  <a:srgbClr val="00B050"/>
                </a:solidFill>
                <a:latin typeface="+mn-lt"/>
                <a:ea typeface="+mn-ea"/>
                <a:cs typeface="Times New Roman" pitchFamily="16" charset="0"/>
              </a:rPr>
              <a:t>:</a:t>
            </a:r>
          </a:p>
          <a:p>
            <a:pPr marL="11112" algn="just">
              <a:lnSpc>
                <a:spcPct val="90000"/>
              </a:lnSpc>
              <a:spcBef>
                <a:spcPts val="600"/>
              </a:spcBef>
              <a:buClr>
                <a:srgbClr val="FF0000"/>
              </a:buClr>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endParaRPr lang="en-US" sz="1050" b="1" dirty="0">
              <a:solidFill>
                <a:schemeClr val="tx1"/>
              </a:solidFill>
              <a:latin typeface="+mn-lt"/>
              <a:ea typeface="+mn-ea"/>
              <a:cs typeface="Times New Roman" pitchFamily="16" charset="0"/>
            </a:endParaRP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Find the address of the disk block that contains item X.</a:t>
            </a: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Copy that disk block into a buffer in main memory (if it is not already in some main memory buffer).</a:t>
            </a: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Copy item X from the program variable named X into its correct location in the buffer.</a:t>
            </a: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Store the updated block from the buffer back to disk (either immediately or at some later point in time). </a:t>
            </a:r>
          </a:p>
        </p:txBody>
      </p:sp>
      <p:sp>
        <p:nvSpPr>
          <p:cNvPr id="13314" name="Rectangle 2"/>
          <p:cNvSpPr>
            <a:spLocks noGrp="1" noChangeArrowheads="1"/>
          </p:cNvSpPr>
          <p:nvPr>
            <p:ph type="title" idx="1"/>
          </p:nvPr>
        </p:nvSpPr>
        <p:spPr>
          <a:xfrm>
            <a:off x="14288" y="161925"/>
            <a:ext cx="8672512" cy="1143000"/>
          </a:xfrm>
          <a:ln/>
        </p:spPr>
        <p:txBody>
          <a:bodyPr lIns="92160" tIns="46080" rIns="92160" bIns="46080" anchor="ctr"/>
          <a:lstStyle/>
          <a:p>
            <a:pPr marL="0" indent="0" algn="ctr">
              <a:spcBef>
                <a:spcPct val="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b="1" dirty="0">
                <a:solidFill>
                  <a:srgbClr val="FF0000"/>
                </a:solidFill>
                <a:cs typeface="Times New Roman" pitchFamily="16" charset="0"/>
              </a:rPr>
              <a:t>Introduction to Transaction Processing (cont.)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body"/>
          </p:nvPr>
        </p:nvSpPr>
        <p:spPr>
          <a:xfrm>
            <a:off x="457200" y="1366838"/>
            <a:ext cx="7772400" cy="4805362"/>
          </a:xfrm>
          <a:ln/>
        </p:spPr>
        <p:txBody>
          <a:bodyPr lIns="90000" tIns="46800" rIns="90000" bIns="46800" anchor="t">
            <a:normAutofit/>
          </a:bodyPr>
          <a:lstStyle/>
          <a:p>
            <a:pPr marL="609600" indent="-598488" algn="l">
              <a:lnSpc>
                <a:spcPct val="90000"/>
              </a:lnSpc>
              <a:spcBef>
                <a:spcPts val="700"/>
              </a:spcBef>
              <a:buClrTx/>
              <a:buFontTx/>
              <a:buNone/>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endParaRPr lang="en-US" sz="2400" b="1" dirty="0">
              <a:latin typeface="Palatino" charset="0"/>
              <a:cs typeface="Times New Roman" pitchFamily="16" charset="0"/>
            </a:endParaRP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Figure </a:t>
            </a:r>
            <a:r>
              <a:rPr lang="en-US" sz="2400" dirty="0" smtClean="0">
                <a:solidFill>
                  <a:schemeClr val="tx1"/>
                </a:solidFill>
                <a:latin typeface="+mn-lt"/>
                <a:ea typeface="+mn-ea"/>
                <a:cs typeface="Times New Roman" pitchFamily="16" charset="0"/>
              </a:rPr>
              <a:t>(</a:t>
            </a:r>
            <a:r>
              <a:rPr lang="en-US" sz="2400" dirty="0">
                <a:solidFill>
                  <a:schemeClr val="tx1"/>
                </a:solidFill>
                <a:latin typeface="+mn-lt"/>
                <a:ea typeface="+mn-ea"/>
                <a:cs typeface="Times New Roman" pitchFamily="16" charset="0"/>
              </a:rPr>
              <a:t>next slide) shows two examples of transactions</a:t>
            </a: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Notation focuses on the read and write operations</a:t>
            </a: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Can also write in shorthand notation:</a:t>
            </a:r>
          </a:p>
          <a:p>
            <a:pPr marL="1476375" lvl="1" indent="-561975" algn="l">
              <a:spcBef>
                <a:spcPts val="700"/>
              </a:spcBef>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kern="1200" dirty="0">
                <a:solidFill>
                  <a:srgbClr val="00B0F0"/>
                </a:solidFill>
                <a:latin typeface="+mn-lt"/>
                <a:ea typeface="+mn-ea"/>
                <a:cs typeface="Times New Roman" pitchFamily="16" charset="0"/>
              </a:rPr>
              <a:t>T1: b1; r1(X); w1(X); r1(Y); w1(Y); e1;</a:t>
            </a:r>
          </a:p>
          <a:p>
            <a:pPr marL="1476375" lvl="1" indent="-561975" algn="l">
              <a:spcBef>
                <a:spcPts val="700"/>
              </a:spcBef>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kern="1200" dirty="0">
                <a:solidFill>
                  <a:srgbClr val="00B0F0"/>
                </a:solidFill>
                <a:latin typeface="+mn-lt"/>
                <a:ea typeface="+mn-ea"/>
                <a:cs typeface="Times New Roman" pitchFamily="16" charset="0"/>
              </a:rPr>
              <a:t>T2: b2; r2(Y); w2(Y); e2;</a:t>
            </a: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bi and </a:t>
            </a:r>
            <a:r>
              <a:rPr lang="en-US" sz="2400" dirty="0" err="1">
                <a:solidFill>
                  <a:schemeClr val="tx1"/>
                </a:solidFill>
                <a:latin typeface="+mn-lt"/>
                <a:ea typeface="+mn-ea"/>
                <a:cs typeface="Times New Roman" pitchFamily="16" charset="0"/>
              </a:rPr>
              <a:t>ei</a:t>
            </a:r>
            <a:r>
              <a:rPr lang="en-US" sz="2400" dirty="0">
                <a:solidFill>
                  <a:schemeClr val="tx1"/>
                </a:solidFill>
                <a:latin typeface="+mn-lt"/>
                <a:ea typeface="+mn-ea"/>
                <a:cs typeface="Times New Roman" pitchFamily="16" charset="0"/>
              </a:rPr>
              <a:t> specify transaction boundaries (begin and end)</a:t>
            </a:r>
          </a:p>
          <a:p>
            <a:pPr marL="609600" indent="-598488" algn="just">
              <a:lnSpc>
                <a:spcPct val="90000"/>
              </a:lnSpc>
              <a:spcBef>
                <a:spcPts val="600"/>
              </a:spcBef>
              <a:buClr>
                <a:srgbClr val="FF0000"/>
              </a:buClr>
              <a:buFont typeface="Wingdings" panose="05000000000000000000" pitchFamily="2" charset="2"/>
              <a:buChar char="Ø"/>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err="1">
                <a:solidFill>
                  <a:schemeClr val="tx1"/>
                </a:solidFill>
                <a:latin typeface="+mn-lt"/>
                <a:ea typeface="+mn-ea"/>
                <a:cs typeface="Times New Roman" pitchFamily="16" charset="0"/>
              </a:rPr>
              <a:t>i</a:t>
            </a:r>
            <a:r>
              <a:rPr lang="en-US" sz="2400" dirty="0">
                <a:solidFill>
                  <a:schemeClr val="tx1"/>
                </a:solidFill>
                <a:latin typeface="+mn-lt"/>
                <a:ea typeface="+mn-ea"/>
                <a:cs typeface="Times New Roman" pitchFamily="16" charset="0"/>
              </a:rPr>
              <a:t> specifies a unique transaction identifier (</a:t>
            </a:r>
            <a:r>
              <a:rPr lang="en-US" sz="2400" dirty="0" err="1">
                <a:solidFill>
                  <a:schemeClr val="tx1"/>
                </a:solidFill>
                <a:latin typeface="+mn-lt"/>
                <a:ea typeface="+mn-ea"/>
                <a:cs typeface="Times New Roman" pitchFamily="16" charset="0"/>
              </a:rPr>
              <a:t>TId</a:t>
            </a:r>
            <a:r>
              <a:rPr lang="en-US" sz="2400" dirty="0">
                <a:solidFill>
                  <a:schemeClr val="tx1"/>
                </a:solidFill>
                <a:latin typeface="+mn-lt"/>
                <a:ea typeface="+mn-ea"/>
                <a:cs typeface="Times New Roman" pitchFamily="16" charset="0"/>
              </a:rPr>
              <a:t>)</a:t>
            </a:r>
          </a:p>
        </p:txBody>
      </p:sp>
      <p:sp>
        <p:nvSpPr>
          <p:cNvPr id="14338" name="Rectangle 2"/>
          <p:cNvSpPr>
            <a:spLocks noGrp="1" noChangeArrowheads="1"/>
          </p:cNvSpPr>
          <p:nvPr>
            <p:ph type="title" idx="1"/>
          </p:nvPr>
        </p:nvSpPr>
        <p:spPr>
          <a:xfrm>
            <a:off x="609600" y="223838"/>
            <a:ext cx="5181600" cy="919162"/>
          </a:xfrm>
          <a:ln/>
        </p:spPr>
        <p:txBody>
          <a:bodyPr lIns="92160" tIns="46080" rIns="92160" bIns="46080" anchor="ctr">
            <a:normAutofit/>
          </a:bodyPr>
          <a:lstStyle/>
          <a:p>
            <a:pPr marL="0" indent="0" algn="ctr">
              <a:spcBef>
                <a:spcPct val="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Notation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1" name="Picture 1"/>
          <p:cNvPicPr>
            <a:picLocks noChangeAspect="1" noChangeArrowheads="1"/>
          </p:cNvPicPr>
          <p:nvPr/>
        </p:nvPicPr>
        <p:blipFill>
          <a:blip r:embed="rId3"/>
          <a:srcRect/>
          <a:stretch>
            <a:fillRect/>
          </a:stretch>
        </p:blipFill>
        <p:spPr bwMode="auto">
          <a:xfrm>
            <a:off x="-1" y="1631950"/>
            <a:ext cx="8763001" cy="3397250"/>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body"/>
          </p:nvPr>
        </p:nvSpPr>
        <p:spPr>
          <a:xfrm>
            <a:off x="457200" y="1568450"/>
            <a:ext cx="7772400" cy="4908550"/>
          </a:xfrm>
          <a:ln/>
        </p:spPr>
        <p:txBody>
          <a:bodyPr lIns="90000" tIns="46800" rIns="90000" bIns="46800" anchor="t">
            <a:noAutofit/>
          </a:bodyPr>
          <a:lstStyle/>
          <a:p>
            <a:pPr marL="11112" algn="just">
              <a:spcBef>
                <a:spcPts val="600"/>
              </a:spcBef>
              <a:buClr>
                <a:srgbClr val="FF0000"/>
              </a:buClr>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a:solidFill>
                  <a:schemeClr val="tx1"/>
                </a:solidFill>
                <a:latin typeface="+mn-lt"/>
                <a:ea typeface="+mn-ea"/>
                <a:cs typeface="Times New Roman" pitchFamily="16" charset="0"/>
              </a:rPr>
              <a:t>Without Concurrency Control, problems may occur with concurrent transactions:</a:t>
            </a:r>
          </a:p>
          <a:p>
            <a:pPr marL="11112" algn="just">
              <a:spcBef>
                <a:spcPts val="600"/>
              </a:spcBef>
              <a:buClr>
                <a:srgbClr val="FF0000"/>
              </a:buClr>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b="1" dirty="0">
                <a:solidFill>
                  <a:srgbClr val="00B050"/>
                </a:solidFill>
                <a:latin typeface="+mn-lt"/>
                <a:ea typeface="+mn-ea"/>
                <a:cs typeface="Times New Roman" pitchFamily="16" charset="0"/>
              </a:rPr>
              <a:t>Lost Update Problem. </a:t>
            </a:r>
          </a:p>
          <a:p>
            <a:pPr marL="11112" algn="just">
              <a:spcBef>
                <a:spcPts val="600"/>
              </a:spcBef>
              <a:buClr>
                <a:srgbClr val="FF0000"/>
              </a:buClr>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smtClean="0">
                <a:solidFill>
                  <a:schemeClr val="tx1"/>
                </a:solidFill>
                <a:latin typeface="+mn-lt"/>
                <a:ea typeface="+mn-ea"/>
                <a:cs typeface="Times New Roman" pitchFamily="16" charset="0"/>
              </a:rPr>
              <a:t>Occurs </a:t>
            </a:r>
            <a:r>
              <a:rPr lang="en-US" sz="2400" dirty="0">
                <a:solidFill>
                  <a:schemeClr val="tx1"/>
                </a:solidFill>
                <a:latin typeface="+mn-lt"/>
                <a:ea typeface="+mn-ea"/>
                <a:cs typeface="Times New Roman" pitchFamily="16" charset="0"/>
              </a:rPr>
              <a:t>when two transactions update the same data item, but both read the same original value before update (Figure </a:t>
            </a:r>
            <a:r>
              <a:rPr lang="en-US" sz="2400" dirty="0" smtClean="0">
                <a:solidFill>
                  <a:schemeClr val="tx1"/>
                </a:solidFill>
                <a:latin typeface="+mn-lt"/>
                <a:ea typeface="+mn-ea"/>
                <a:cs typeface="Times New Roman" pitchFamily="16" charset="0"/>
              </a:rPr>
              <a:t>(</a:t>
            </a:r>
            <a:r>
              <a:rPr lang="en-US" sz="2400" dirty="0">
                <a:solidFill>
                  <a:schemeClr val="tx1"/>
                </a:solidFill>
                <a:latin typeface="+mn-lt"/>
                <a:ea typeface="+mn-ea"/>
                <a:cs typeface="Times New Roman" pitchFamily="16" charset="0"/>
              </a:rPr>
              <a:t>a), next slide)</a:t>
            </a:r>
          </a:p>
          <a:p>
            <a:pPr marL="11112" algn="just">
              <a:spcBef>
                <a:spcPts val="600"/>
              </a:spcBef>
              <a:buClr>
                <a:srgbClr val="FF0000"/>
              </a:buClr>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b="1" dirty="0">
                <a:solidFill>
                  <a:srgbClr val="00B050"/>
                </a:solidFill>
                <a:latin typeface="+mn-lt"/>
                <a:ea typeface="+mn-ea"/>
                <a:cs typeface="Times New Roman" pitchFamily="16" charset="0"/>
              </a:rPr>
              <a:t>The Temporary Update (or Dirty Read) Problem. </a:t>
            </a:r>
          </a:p>
          <a:p>
            <a:pPr marL="11112" algn="just">
              <a:spcBef>
                <a:spcPts val="600"/>
              </a:spcBef>
              <a:buClr>
                <a:srgbClr val="FF0000"/>
              </a:buClr>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400" dirty="0" smtClean="0">
                <a:solidFill>
                  <a:schemeClr val="tx1"/>
                </a:solidFill>
                <a:latin typeface="+mn-lt"/>
                <a:ea typeface="+mn-ea"/>
                <a:cs typeface="Times New Roman" pitchFamily="16" charset="0"/>
              </a:rPr>
              <a:t>This </a:t>
            </a:r>
            <a:r>
              <a:rPr lang="en-US" sz="2400" dirty="0">
                <a:solidFill>
                  <a:schemeClr val="tx1"/>
                </a:solidFill>
                <a:latin typeface="+mn-lt"/>
                <a:ea typeface="+mn-ea"/>
                <a:cs typeface="Times New Roman" pitchFamily="16" charset="0"/>
              </a:rPr>
              <a:t>occurs when one transaction T1 updates a database item X, which is accessed (read) by another transaction T2;  then T1 fails for some reason (Figure </a:t>
            </a:r>
            <a:r>
              <a:rPr lang="en-US" sz="2400" dirty="0" smtClean="0">
                <a:solidFill>
                  <a:schemeClr val="tx1"/>
                </a:solidFill>
                <a:latin typeface="+mn-lt"/>
                <a:ea typeface="+mn-ea"/>
                <a:cs typeface="Times New Roman" pitchFamily="16" charset="0"/>
              </a:rPr>
              <a:t>(</a:t>
            </a:r>
            <a:r>
              <a:rPr lang="en-US" sz="2400" dirty="0">
                <a:solidFill>
                  <a:schemeClr val="tx1"/>
                </a:solidFill>
                <a:latin typeface="+mn-lt"/>
                <a:ea typeface="+mn-ea"/>
                <a:cs typeface="Times New Roman" pitchFamily="16" charset="0"/>
              </a:rPr>
              <a:t>b)); X was (read) by T2 before its value is changed back (rolled back or UNDONE) after T1 fails</a:t>
            </a:r>
          </a:p>
        </p:txBody>
      </p:sp>
      <p:sp>
        <p:nvSpPr>
          <p:cNvPr id="16386" name="Rectangle 2"/>
          <p:cNvSpPr>
            <a:spLocks noGrp="1" noChangeArrowheads="1"/>
          </p:cNvSpPr>
          <p:nvPr>
            <p:ph type="title" idx="1"/>
          </p:nvPr>
        </p:nvSpPr>
        <p:spPr>
          <a:xfrm>
            <a:off x="-30163" y="304800"/>
            <a:ext cx="8747125" cy="868362"/>
          </a:xfrm>
          <a:ln/>
        </p:spPr>
        <p:txBody>
          <a:bodyPr lIns="92160" tIns="46080" rIns="92160" bIns="46080" anchor="ctr">
            <a:normAutofit/>
          </a:bodyPr>
          <a:lstStyle/>
          <a:p>
            <a:pPr marL="0" indent="0" algn="ctr">
              <a:spcBef>
                <a:spcPct val="0"/>
              </a:spcBef>
              <a:buClr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Why we need concurrency control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1"/>
          <p:cNvPicPr>
            <a:picLocks noChangeAspect="1" noChangeArrowheads="1"/>
          </p:cNvPicPr>
          <p:nvPr/>
        </p:nvPicPr>
        <p:blipFill>
          <a:blip r:embed="rId3"/>
          <a:srcRect/>
          <a:stretch>
            <a:fillRect/>
          </a:stretch>
        </p:blipFill>
        <p:spPr bwMode="auto">
          <a:xfrm>
            <a:off x="266700" y="1981200"/>
            <a:ext cx="8610600" cy="4386263"/>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Grp="1" noChangeArrowheads="1"/>
          </p:cNvSpPr>
          <p:nvPr>
            <p:ph type="body"/>
          </p:nvPr>
        </p:nvSpPr>
        <p:spPr>
          <a:xfrm>
            <a:off x="457200" y="1143000"/>
            <a:ext cx="7772400" cy="4800600"/>
          </a:xfrm>
          <a:ln/>
        </p:spPr>
        <p:txBody>
          <a:bodyPr lIns="90000" tIns="46800" rIns="90000" bIns="46800" anchor="t"/>
          <a:lstStyle/>
          <a:p>
            <a:pPr marL="342900" indent="-331788" algn="l">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800" b="1" dirty="0"/>
          </a:p>
          <a:p>
            <a:pPr marL="11112" algn="l">
              <a:spcBef>
                <a:spcPts val="6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800" b="1" dirty="0">
                <a:solidFill>
                  <a:srgbClr val="00B050"/>
                </a:solidFill>
                <a:latin typeface="+mn-lt"/>
                <a:ea typeface="+mn-ea"/>
                <a:cs typeface="Times New Roman" pitchFamily="16" charset="0"/>
              </a:rPr>
              <a:t>The Incorrect Summary Problem </a:t>
            </a:r>
          </a:p>
          <a:p>
            <a:pPr marL="342900" indent="-331788" algn="just">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latin typeface="Palatino" charset="0"/>
                <a:cs typeface="Times New Roman" pitchFamily="16" charset="0"/>
              </a:rPr>
              <a:t>	</a:t>
            </a:r>
            <a:r>
              <a:rPr lang="en-US" sz="2400" dirty="0">
                <a:solidFill>
                  <a:schemeClr val="tx1"/>
                </a:solidFill>
                <a:latin typeface="+mn-lt"/>
                <a:ea typeface="+mn-ea"/>
                <a:cs typeface="Times New Roman" pitchFamily="16" charset="0"/>
              </a:rPr>
              <a:t>One transaction is calculating an aggregate summary function on a number of records (for example, sum (total) of all bank account balances) while other transactions are updating some of these records (for example, transferring a large amount between two </a:t>
            </a:r>
            <a:r>
              <a:rPr lang="en-US" sz="2400" dirty="0" smtClean="0">
                <a:solidFill>
                  <a:schemeClr val="tx1"/>
                </a:solidFill>
                <a:latin typeface="+mn-lt"/>
                <a:ea typeface="+mn-ea"/>
                <a:cs typeface="Times New Roman" pitchFamily="16" charset="0"/>
              </a:rPr>
              <a:t>accounts); </a:t>
            </a:r>
            <a:r>
              <a:rPr lang="en-US" sz="2400" dirty="0">
                <a:solidFill>
                  <a:schemeClr val="tx1"/>
                </a:solidFill>
                <a:latin typeface="+mn-lt"/>
                <a:ea typeface="+mn-ea"/>
                <a:cs typeface="Times New Roman" pitchFamily="16" charset="0"/>
              </a:rPr>
              <a:t>the aggregate function may read some values before they are updated and others after they are updated. </a:t>
            </a:r>
          </a:p>
        </p:txBody>
      </p:sp>
      <p:sp>
        <p:nvSpPr>
          <p:cNvPr id="18434" name="Rectangle 2"/>
          <p:cNvSpPr>
            <a:spLocks noGrp="1" noChangeArrowheads="1"/>
          </p:cNvSpPr>
          <p:nvPr>
            <p:ph type="title" idx="1"/>
          </p:nvPr>
        </p:nvSpPr>
        <p:spPr>
          <a:xfrm>
            <a:off x="449263" y="46038"/>
            <a:ext cx="7937500" cy="1143000"/>
          </a:xfrm>
          <a:ln/>
        </p:spPr>
        <p:txBody>
          <a:bodyPr lIns="92160" tIns="46080" rIns="92160" bIns="46080" anchor="ctr">
            <a:normAutofit/>
          </a:bodyPr>
          <a:lstStyle/>
          <a:p>
            <a:pPr marL="0" indent="0" algn="ctr">
              <a:spcBef>
                <a:spcPct val="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Why we need concurrency control (cont.)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1"/>
          <p:cNvPicPr>
            <a:picLocks noChangeAspect="1" noChangeArrowheads="1"/>
          </p:cNvPicPr>
          <p:nvPr/>
        </p:nvPicPr>
        <p:blipFill>
          <a:blip r:embed="rId3"/>
          <a:srcRect/>
          <a:stretch>
            <a:fillRect/>
          </a:stretch>
        </p:blipFill>
        <p:spPr bwMode="auto">
          <a:xfrm>
            <a:off x="0" y="1905000"/>
            <a:ext cx="8610600" cy="3062288"/>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body"/>
          </p:nvPr>
        </p:nvSpPr>
        <p:spPr>
          <a:xfrm>
            <a:off x="457200" y="1143000"/>
            <a:ext cx="7772400" cy="4800600"/>
          </a:xfrm>
          <a:ln/>
        </p:spPr>
        <p:txBody>
          <a:bodyPr lIns="90000" tIns="46800" rIns="90000" bIns="46800" anchor="t"/>
          <a:lstStyle/>
          <a:p>
            <a:pPr marL="342900" indent="-331788" algn="l">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800" b="1" dirty="0"/>
          </a:p>
          <a:p>
            <a:pPr marL="342900" indent="-331788" algn="l">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800" b="1" dirty="0">
                <a:solidFill>
                  <a:srgbClr val="00B050"/>
                </a:solidFill>
                <a:latin typeface="+mn-lt"/>
                <a:ea typeface="+mn-ea"/>
                <a:cs typeface="Times New Roman" pitchFamily="16" charset="0"/>
              </a:rPr>
              <a:t>The Unrepeatable Read </a:t>
            </a:r>
            <a:r>
              <a:rPr lang="en-US" sz="2800" b="1" dirty="0" smtClean="0">
                <a:solidFill>
                  <a:srgbClr val="00B050"/>
                </a:solidFill>
                <a:latin typeface="+mn-lt"/>
                <a:ea typeface="+mn-ea"/>
                <a:cs typeface="Times New Roman" pitchFamily="16" charset="0"/>
              </a:rPr>
              <a:t>Problem</a:t>
            </a:r>
            <a:endParaRPr lang="en-US" sz="2800" b="1" dirty="0">
              <a:solidFill>
                <a:srgbClr val="00B050"/>
              </a:solidFill>
              <a:latin typeface="+mn-lt"/>
              <a:ea typeface="+mn-ea"/>
              <a:cs typeface="Times New Roman" pitchFamily="16" charset="0"/>
            </a:endParaRPr>
          </a:p>
          <a:p>
            <a:pPr marL="342900" indent="-331788" algn="just">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800" b="1" dirty="0">
                <a:solidFill>
                  <a:srgbClr val="FF0000"/>
                </a:solidFill>
                <a:latin typeface="+mn-lt"/>
                <a:ea typeface="+mn-ea"/>
                <a:cs typeface="Times New Roman" pitchFamily="16" charset="0"/>
              </a:rPr>
              <a:t>	</a:t>
            </a:r>
            <a:r>
              <a:rPr lang="en-US" sz="2400" dirty="0">
                <a:solidFill>
                  <a:schemeClr val="tx1"/>
                </a:solidFill>
                <a:latin typeface="+mn-lt"/>
                <a:ea typeface="+mn-ea"/>
                <a:cs typeface="Times New Roman" pitchFamily="16" charset="0"/>
              </a:rPr>
              <a:t>A transaction T1 may read an item (say, available seats on a flight); later, T1 may read the same item again and get a different value because another transaction T2 has updated the item (reserved seats on the flight) between the two reads by T1</a:t>
            </a:r>
          </a:p>
        </p:txBody>
      </p:sp>
      <p:sp>
        <p:nvSpPr>
          <p:cNvPr id="20482" name="Rectangle 2"/>
          <p:cNvSpPr>
            <a:spLocks noGrp="1" noChangeArrowheads="1"/>
          </p:cNvSpPr>
          <p:nvPr>
            <p:ph type="title" idx="1"/>
          </p:nvPr>
        </p:nvSpPr>
        <p:spPr>
          <a:xfrm>
            <a:off x="449263" y="46038"/>
            <a:ext cx="7937500" cy="1143000"/>
          </a:xfrm>
          <a:ln/>
        </p:spPr>
        <p:txBody>
          <a:bodyPr lIns="92160" tIns="46080" rIns="92160" bIns="46080" anchor="ctr">
            <a:normAutofit/>
          </a:bodyPr>
          <a:lstStyle/>
          <a:p>
            <a:pPr marL="0" indent="0" algn="ctr">
              <a:spcBef>
                <a:spcPct val="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Why we need concurrency control (cont.)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body"/>
          </p:nvPr>
        </p:nvSpPr>
        <p:spPr>
          <a:xfrm>
            <a:off x="457200" y="1600200"/>
            <a:ext cx="8089900" cy="5059363"/>
          </a:xfrm>
          <a:ln/>
        </p:spPr>
        <p:txBody>
          <a:bodyPr lIns="90000" tIns="46800" rIns="90000" bIns="46800" anchor="t">
            <a:normAutofit/>
          </a:bodyPr>
          <a:lstStyle/>
          <a:p>
            <a:pPr marL="342900" indent="-331788" algn="l">
              <a:lnSpc>
                <a:spcPct val="90000"/>
              </a:lnSpc>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rPr>
              <a:t>Causes of transaction failure</a:t>
            </a:r>
            <a:r>
              <a:rPr lang="en-US" sz="2400" b="1" dirty="0" smtClean="0">
                <a:solidFill>
                  <a:srgbClr val="FF0000"/>
                </a:solidFill>
              </a:rPr>
              <a:t>:</a:t>
            </a:r>
          </a:p>
          <a:p>
            <a:pPr marL="342900" indent="-331788" algn="l">
              <a:lnSpc>
                <a:spcPct val="90000"/>
              </a:lnSpc>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050" b="1" dirty="0">
              <a:solidFill>
                <a:srgbClr val="FF0000"/>
              </a:solidFill>
            </a:endParaRPr>
          </a:p>
          <a:p>
            <a:pPr marL="468312" indent="-457200" algn="just">
              <a:lnSpc>
                <a:spcPct val="90000"/>
              </a:lnSpc>
              <a:spcBef>
                <a:spcPts val="600"/>
              </a:spcBef>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smtClean="0">
                <a:solidFill>
                  <a:srgbClr val="00B050"/>
                </a:solidFill>
                <a:latin typeface="+mn-lt"/>
                <a:ea typeface="+mn-ea"/>
                <a:cs typeface="Times New Roman" pitchFamily="16" charset="0"/>
              </a:rPr>
              <a:t>A </a:t>
            </a:r>
            <a:r>
              <a:rPr lang="en-US" sz="2400" b="1" dirty="0">
                <a:solidFill>
                  <a:srgbClr val="00B050"/>
                </a:solidFill>
                <a:latin typeface="+mn-lt"/>
                <a:ea typeface="+mn-ea"/>
                <a:cs typeface="Times New Roman" pitchFamily="16" charset="0"/>
              </a:rPr>
              <a:t>computer failure (system crash): </a:t>
            </a:r>
            <a:r>
              <a:rPr lang="en-US" sz="2400" dirty="0">
                <a:solidFill>
                  <a:schemeClr val="tx1"/>
                </a:solidFill>
                <a:latin typeface="+mn-lt"/>
                <a:ea typeface="+mn-ea"/>
                <a:cs typeface="Times New Roman" pitchFamily="16" charset="0"/>
              </a:rPr>
              <a:t>A hardware or software error occurs during transaction execution. If the hardware crashes, the contents of the computer’s internal main memory may be </a:t>
            </a:r>
            <a:r>
              <a:rPr lang="en-US" sz="2400" dirty="0" smtClean="0">
                <a:solidFill>
                  <a:schemeClr val="tx1"/>
                </a:solidFill>
                <a:latin typeface="+mn-lt"/>
                <a:ea typeface="+mn-ea"/>
                <a:cs typeface="Times New Roman" pitchFamily="16" charset="0"/>
              </a:rPr>
              <a:t>lost.</a:t>
            </a:r>
          </a:p>
          <a:p>
            <a:pPr marL="11112" algn="just">
              <a:lnSpc>
                <a:spcPct val="90000"/>
              </a:lnSpc>
              <a:spcBef>
                <a:spcPts val="6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000" dirty="0">
              <a:solidFill>
                <a:schemeClr val="tx1"/>
              </a:solidFill>
              <a:latin typeface="+mn-lt"/>
              <a:ea typeface="+mn-ea"/>
              <a:cs typeface="Times New Roman" pitchFamily="16" charset="0"/>
            </a:endParaRPr>
          </a:p>
          <a:p>
            <a:pPr marL="342900" indent="-331788" algn="just">
              <a:lnSpc>
                <a:spcPct val="90000"/>
              </a:lnSpc>
              <a:spcBef>
                <a:spcPts val="6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solidFill>
                  <a:srgbClr val="00B050"/>
                </a:solidFill>
                <a:latin typeface="+mn-lt"/>
                <a:ea typeface="+mn-ea"/>
                <a:cs typeface="Times New Roman" pitchFamily="16" charset="0"/>
              </a:rPr>
              <a:t>2.	</a:t>
            </a:r>
            <a:r>
              <a:rPr lang="en-US" sz="2400" b="1" dirty="0">
                <a:solidFill>
                  <a:srgbClr val="00B050"/>
                </a:solidFill>
                <a:latin typeface="+mn-lt"/>
                <a:ea typeface="+mn-ea"/>
                <a:cs typeface="Times New Roman" pitchFamily="16" charset="0"/>
              </a:rPr>
              <a:t>A transaction or system error : </a:t>
            </a:r>
            <a:r>
              <a:rPr lang="en-US" sz="2400" dirty="0">
                <a:solidFill>
                  <a:schemeClr val="tx1"/>
                </a:solidFill>
                <a:latin typeface="+mn-lt"/>
                <a:ea typeface="+mn-ea"/>
                <a:cs typeface="Times New Roman" pitchFamily="16" charset="0"/>
              </a:rPr>
              <a:t>Some operation in the transaction may cause it to fail, such as integer overflow or division by zero. Transaction failure may also occur because of erroneous parameter values or because of a logical programming error. In addition, the user may interrupt the transaction during its execution.</a:t>
            </a:r>
          </a:p>
          <a:p>
            <a:pPr marL="342900" indent="-331788" algn="l">
              <a:lnSpc>
                <a:spcPct val="90000"/>
              </a:lnSpc>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latin typeface="Palatino" charset="0"/>
                <a:cs typeface="Times New Roman" pitchFamily="16" charset="0"/>
              </a:rPr>
              <a:t> </a:t>
            </a:r>
          </a:p>
        </p:txBody>
      </p:sp>
      <p:sp>
        <p:nvSpPr>
          <p:cNvPr id="21506" name="Rectangle 2"/>
          <p:cNvSpPr>
            <a:spLocks noGrp="1" noChangeArrowheads="1"/>
          </p:cNvSpPr>
          <p:nvPr>
            <p:ph type="title" idx="1"/>
          </p:nvPr>
        </p:nvSpPr>
        <p:spPr>
          <a:xfrm>
            <a:off x="685800" y="152400"/>
            <a:ext cx="6337300" cy="1143000"/>
          </a:xfrm>
          <a:ln/>
        </p:spPr>
        <p:txBody>
          <a:bodyPr lIns="92160" tIns="46080" rIns="92160" bIns="46080" anchor="ctr">
            <a:normAutofit/>
          </a:bodyPr>
          <a:lstStyle/>
          <a:p>
            <a:pPr marL="0" indent="0" algn="ctr">
              <a:spcBef>
                <a:spcPct val="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Why recovery is needed</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body"/>
          </p:nvPr>
        </p:nvSpPr>
        <p:spPr>
          <a:xfrm>
            <a:off x="228600" y="1141413"/>
            <a:ext cx="8089900" cy="5716587"/>
          </a:xfrm>
          <a:ln/>
        </p:spPr>
        <p:txBody>
          <a:bodyPr lIns="90000" tIns="46800" rIns="90000" bIns="46800" anchor="t"/>
          <a:lstStyle/>
          <a:p>
            <a:pPr marL="533400" indent="-522288" algn="l">
              <a:lnSpc>
                <a:spcPct val="90000"/>
              </a:lnSpc>
              <a:spcBef>
                <a:spcPts val="6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a:t> </a:t>
            </a:r>
          </a:p>
          <a:p>
            <a:pPr marL="342900" indent="-331788" algn="just">
              <a:lnSpc>
                <a:spcPct val="90000"/>
              </a:lnSpc>
              <a:spcBef>
                <a:spcPts val="600"/>
              </a:spcBef>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latin typeface="Palatino" charset="0"/>
                <a:cs typeface="Times New Roman" pitchFamily="16" charset="0"/>
              </a:rPr>
              <a:t>   </a:t>
            </a:r>
            <a:r>
              <a:rPr lang="en-US" sz="2400" b="1" dirty="0">
                <a:solidFill>
                  <a:srgbClr val="FF0000"/>
                </a:solidFill>
                <a:latin typeface="Palatino" charset="0"/>
                <a:cs typeface="Times New Roman" pitchFamily="16" charset="0"/>
              </a:rPr>
              <a:t> </a:t>
            </a:r>
            <a:r>
              <a:rPr lang="en-US" sz="2400" b="1" dirty="0">
                <a:solidFill>
                  <a:srgbClr val="00B050"/>
                </a:solidFill>
                <a:latin typeface="+mn-lt"/>
                <a:ea typeface="+mn-ea"/>
                <a:cs typeface="Times New Roman" pitchFamily="16" charset="0"/>
              </a:rPr>
              <a:t>3. Local errors or exception conditions detected by the transaction</a:t>
            </a:r>
            <a:r>
              <a:rPr lang="en-US" sz="2400" dirty="0">
                <a:solidFill>
                  <a:srgbClr val="00B050"/>
                </a:solidFill>
                <a:latin typeface="+mn-lt"/>
                <a:ea typeface="+mn-ea"/>
                <a:cs typeface="Times New Roman" pitchFamily="16" charset="0"/>
              </a:rPr>
              <a:t>: </a:t>
            </a:r>
          </a:p>
          <a:p>
            <a:pPr marL="342900" indent="-331788" algn="just">
              <a:lnSpc>
                <a:spcPct val="90000"/>
              </a:lnSpc>
              <a:spcBef>
                <a:spcPts val="600"/>
              </a:spcBef>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solidFill>
                  <a:schemeClr val="tx1"/>
                </a:solidFill>
                <a:latin typeface="+mn-lt"/>
                <a:ea typeface="+mn-ea"/>
                <a:cs typeface="Times New Roman" pitchFamily="16" charset="0"/>
              </a:rPr>
              <a:t>	</a:t>
            </a:r>
            <a:r>
              <a:rPr lang="en-US" sz="2400" dirty="0" smtClean="0">
                <a:solidFill>
                  <a:schemeClr val="tx1"/>
                </a:solidFill>
                <a:latin typeface="+mn-lt"/>
                <a:ea typeface="+mn-ea"/>
                <a:cs typeface="Times New Roman" pitchFamily="16" charset="0"/>
              </a:rPr>
              <a:t>certain </a:t>
            </a:r>
            <a:r>
              <a:rPr lang="en-US" sz="2400" dirty="0">
                <a:solidFill>
                  <a:schemeClr val="tx1"/>
                </a:solidFill>
                <a:latin typeface="+mn-lt"/>
                <a:ea typeface="+mn-ea"/>
                <a:cs typeface="Times New Roman" pitchFamily="16" charset="0"/>
              </a:rPr>
              <a:t>conditions necessitate cancellation of the transaction. For example, data for the transaction may not be found. A condition, such as insufficient account balance in a banking database, may cause a transaction, such as a fund withdrawal, to be canceled - a programmed abort causes the transaction to fail.</a:t>
            </a:r>
          </a:p>
          <a:p>
            <a:pPr marL="342900" indent="-331788" algn="just">
              <a:lnSpc>
                <a:spcPct val="90000"/>
              </a:lnSpc>
              <a:spcBef>
                <a:spcPts val="600"/>
              </a:spcBef>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latin typeface="+mn-lt"/>
                <a:ea typeface="+mn-ea"/>
                <a:cs typeface="Times New Roman" pitchFamily="16" charset="0"/>
              </a:rPr>
              <a:t>4.	Concurrency control enforcement: </a:t>
            </a:r>
            <a:r>
              <a:rPr lang="en-US" sz="2400" dirty="0">
                <a:solidFill>
                  <a:schemeClr val="tx1"/>
                </a:solidFill>
                <a:latin typeface="+mn-lt"/>
                <a:ea typeface="+mn-ea"/>
                <a:cs typeface="Times New Roman" pitchFamily="16" charset="0"/>
              </a:rPr>
              <a:t>The concurrency control method may decide to abort the transaction, to be restarted later, because it violates serializability or because several transactions are in a state of deadlock (see Chapter 22). </a:t>
            </a:r>
          </a:p>
        </p:txBody>
      </p:sp>
      <p:sp>
        <p:nvSpPr>
          <p:cNvPr id="22530" name="Rectangle 2"/>
          <p:cNvSpPr>
            <a:spLocks noGrp="1" noChangeArrowheads="1"/>
          </p:cNvSpPr>
          <p:nvPr>
            <p:ph type="title" idx="1"/>
          </p:nvPr>
        </p:nvSpPr>
        <p:spPr>
          <a:xfrm>
            <a:off x="457200" y="27709"/>
            <a:ext cx="7175500" cy="1143000"/>
          </a:xfrm>
          <a:ln/>
        </p:spPr>
        <p:txBody>
          <a:bodyPr lIns="92160" tIns="46080" rIns="92160" bIns="46080" anchor="ctr">
            <a:normAutofit/>
          </a:bodyPr>
          <a:lstStyle/>
          <a:p>
            <a:pPr marL="0" indent="0" algn="ctr">
              <a:spcBef>
                <a:spcPct val="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Why recovery is needed (cont.)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body"/>
          </p:nvPr>
        </p:nvSpPr>
        <p:spPr>
          <a:xfrm>
            <a:off x="381000" y="1676400"/>
            <a:ext cx="8089900" cy="3962400"/>
          </a:xfrm>
          <a:ln/>
        </p:spPr>
        <p:txBody>
          <a:bodyPr lIns="90000" tIns="46800" rIns="90000" bIns="46800" anchor="t"/>
          <a:lstStyle/>
          <a:p>
            <a:pPr marL="609600" indent="-598488" algn="l">
              <a:spcBef>
                <a:spcPts val="700"/>
              </a:spcBef>
              <a:buClrTx/>
              <a:buFontTx/>
              <a:buNone/>
              <a:tabLst>
                <a:tab pos="609600" algn="l"/>
                <a:tab pos="722313" algn="l"/>
                <a:tab pos="1179513" algn="l"/>
                <a:tab pos="1636713" algn="l"/>
                <a:tab pos="2093913" algn="l"/>
                <a:tab pos="2551113" algn="l"/>
                <a:tab pos="3008313" algn="l"/>
                <a:tab pos="3465513" algn="l"/>
                <a:tab pos="3922713" algn="l"/>
                <a:tab pos="4379913" algn="l"/>
                <a:tab pos="4837113" algn="l"/>
                <a:tab pos="5294313" algn="l"/>
                <a:tab pos="5751513" algn="l"/>
                <a:tab pos="6208713" algn="l"/>
                <a:tab pos="6665913" algn="l"/>
                <a:tab pos="7123113" algn="l"/>
                <a:tab pos="7580313" algn="l"/>
                <a:tab pos="8037513" algn="l"/>
                <a:tab pos="8494713" algn="l"/>
                <a:tab pos="8951913" algn="l"/>
                <a:tab pos="9409113" algn="l"/>
              </a:tabLst>
            </a:pPr>
            <a:r>
              <a:rPr lang="en-US" sz="2800" b="1" dirty="0"/>
              <a:t> </a:t>
            </a:r>
            <a:r>
              <a:rPr lang="en-US" sz="2400" b="1" dirty="0" smtClean="0">
                <a:solidFill>
                  <a:srgbClr val="00B050"/>
                </a:solidFill>
              </a:rPr>
              <a:t>5.</a:t>
            </a:r>
            <a:r>
              <a:rPr lang="en-US" sz="2800" b="1" dirty="0" smtClean="0"/>
              <a:t> </a:t>
            </a:r>
            <a:r>
              <a:rPr lang="en-US" sz="2400" b="1" dirty="0" smtClean="0">
                <a:solidFill>
                  <a:srgbClr val="00B050"/>
                </a:solidFill>
                <a:latin typeface="+mn-lt"/>
                <a:ea typeface="+mn-ea"/>
                <a:cs typeface="Times New Roman" pitchFamily="16" charset="0"/>
              </a:rPr>
              <a:t>Disk </a:t>
            </a:r>
            <a:r>
              <a:rPr lang="en-US" sz="2400" b="1" dirty="0">
                <a:solidFill>
                  <a:srgbClr val="00B050"/>
                </a:solidFill>
                <a:latin typeface="+mn-lt"/>
                <a:ea typeface="+mn-ea"/>
                <a:cs typeface="Times New Roman" pitchFamily="16" charset="0"/>
              </a:rPr>
              <a:t>failure: </a:t>
            </a:r>
            <a:r>
              <a:rPr lang="en-US" sz="2400" dirty="0">
                <a:solidFill>
                  <a:schemeClr val="tx1"/>
                </a:solidFill>
                <a:latin typeface="+mn-lt"/>
                <a:ea typeface="+mn-ea"/>
                <a:cs typeface="Times New Roman" pitchFamily="16" charset="0"/>
              </a:rPr>
              <a:t>Some disk blocks may lose their data because of a read or write malfunction or because of a disk read/write head crash. This kind of failure and item 6 are more severe than items 1 through 4. </a:t>
            </a:r>
            <a:endParaRPr lang="en-US" sz="2400" dirty="0" smtClean="0">
              <a:solidFill>
                <a:schemeClr val="tx1"/>
              </a:solidFill>
              <a:latin typeface="+mn-lt"/>
              <a:ea typeface="+mn-ea"/>
              <a:cs typeface="Times New Roman" pitchFamily="16" charset="0"/>
            </a:endParaRPr>
          </a:p>
          <a:p>
            <a:pPr marL="11112" algn="just">
              <a:lnSpc>
                <a:spcPct val="90000"/>
              </a:lnSpc>
              <a:spcBef>
                <a:spcPts val="6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000" dirty="0">
              <a:solidFill>
                <a:schemeClr val="tx1"/>
              </a:solidFill>
              <a:latin typeface="+mn-lt"/>
              <a:ea typeface="+mn-ea"/>
              <a:cs typeface="Times New Roman" pitchFamily="16" charset="0"/>
            </a:endParaRPr>
          </a:p>
          <a:p>
            <a:pPr marL="342900" indent="-331788" algn="just">
              <a:lnSpc>
                <a:spcPct val="90000"/>
              </a:lnSpc>
              <a:spcBef>
                <a:spcPts val="6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latin typeface="+mn-lt"/>
                <a:ea typeface="+mn-ea"/>
                <a:cs typeface="Times New Roman" pitchFamily="16" charset="0"/>
              </a:rPr>
              <a:t>6. </a:t>
            </a:r>
            <a:r>
              <a:rPr lang="en-US" sz="2400" b="1" dirty="0" smtClean="0">
                <a:solidFill>
                  <a:srgbClr val="00B050"/>
                </a:solidFill>
                <a:latin typeface="+mn-lt"/>
                <a:ea typeface="+mn-ea"/>
                <a:cs typeface="Times New Roman" pitchFamily="16" charset="0"/>
              </a:rPr>
              <a:t>Physical </a:t>
            </a:r>
            <a:r>
              <a:rPr lang="en-US" sz="2400" b="1" dirty="0">
                <a:solidFill>
                  <a:srgbClr val="00B050"/>
                </a:solidFill>
                <a:latin typeface="+mn-lt"/>
                <a:ea typeface="+mn-ea"/>
                <a:cs typeface="Times New Roman" pitchFamily="16" charset="0"/>
              </a:rPr>
              <a:t>problems and catastrophes: </a:t>
            </a:r>
            <a:r>
              <a:rPr lang="en-US" sz="2400" dirty="0">
                <a:solidFill>
                  <a:schemeClr val="tx1"/>
                </a:solidFill>
                <a:latin typeface="+mn-lt"/>
                <a:ea typeface="+mn-ea"/>
                <a:cs typeface="Times New Roman" pitchFamily="16" charset="0"/>
              </a:rPr>
              <a:t>This refers to an endless list of problems that includes power or air-conditioning failure, fire, theft, sabotage, overwriting disks or tapes by mistake, and mounting of a wrong tape by the operator. </a:t>
            </a:r>
          </a:p>
        </p:txBody>
      </p:sp>
      <p:sp>
        <p:nvSpPr>
          <p:cNvPr id="23554" name="Rectangle 2"/>
          <p:cNvSpPr>
            <a:spLocks noGrp="1" noChangeArrowheads="1"/>
          </p:cNvSpPr>
          <p:nvPr>
            <p:ph type="title" idx="1"/>
          </p:nvPr>
        </p:nvSpPr>
        <p:spPr>
          <a:xfrm>
            <a:off x="588818" y="228600"/>
            <a:ext cx="6946900" cy="1143000"/>
          </a:xfrm>
          <a:ln/>
        </p:spPr>
        <p:txBody>
          <a:bodyPr lIns="92160" tIns="46080" rIns="92160" bIns="46080" anchor="ctr">
            <a:normAutofit/>
          </a:bodyPr>
          <a:lstStyle/>
          <a:p>
            <a:pPr marL="0" indent="0" algn="ctr">
              <a:spcBef>
                <a:spcPct val="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Why recovery is needed (cont.)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Grp="1" noChangeArrowheads="1"/>
          </p:cNvSpPr>
          <p:nvPr>
            <p:ph type="title"/>
          </p:nvPr>
        </p:nvSpPr>
        <p:spPr>
          <a:xfrm>
            <a:off x="685800" y="152400"/>
            <a:ext cx="74422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a:t>
            </a:r>
          </a:p>
        </p:txBody>
      </p:sp>
      <p:sp>
        <p:nvSpPr>
          <p:cNvPr id="24578" name="Rectangle 2"/>
          <p:cNvSpPr>
            <a:spLocks noGrp="1" noChangeArrowheads="1"/>
          </p:cNvSpPr>
          <p:nvPr>
            <p:ph type="body" idx="1"/>
          </p:nvPr>
        </p:nvSpPr>
        <p:spPr>
          <a:xfrm>
            <a:off x="685800" y="1600200"/>
            <a:ext cx="7772400" cy="4168775"/>
          </a:xfrm>
          <a:ln/>
        </p:spPr>
        <p:txBody>
          <a:bodyPr lIns="90000" tIns="46800" rIns="90000" bIns="46800">
            <a:noAutofit/>
          </a:bodyPr>
          <a:lstStyle/>
          <a:p>
            <a:pPr marL="11112" indent="0" algn="just">
              <a:spcBef>
                <a:spcPts val="600"/>
              </a:spcBef>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A transaction </a:t>
            </a:r>
            <a:r>
              <a:rPr lang="en-US" sz="2400" dirty="0">
                <a:cs typeface="Times New Roman" pitchFamily="16" charset="0"/>
              </a:rPr>
              <a:t>is an atomic unit of work that is either completed in its entirety or not done at all. A transaction passes through several states (Figure 21.4, similar to process states in operating systems).</a:t>
            </a:r>
          </a:p>
          <a:p>
            <a:pPr marL="11112" indent="0" algn="just">
              <a:spcBef>
                <a:spcPts val="600"/>
              </a:spcBef>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Transaction states:</a:t>
            </a:r>
          </a:p>
          <a:p>
            <a:pPr marL="11112" indent="0" algn="just">
              <a:spcBef>
                <a:spcPts val="600"/>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solidFill>
                  <a:srgbClr val="00B050"/>
                </a:solidFill>
                <a:cs typeface="Times New Roman" pitchFamily="16" charset="0"/>
              </a:rPr>
              <a:t>Active state </a:t>
            </a:r>
            <a:r>
              <a:rPr lang="en-US" sz="2400" dirty="0">
                <a:cs typeface="Times New Roman" pitchFamily="16" charset="0"/>
              </a:rPr>
              <a:t>(executing read, write operations)</a:t>
            </a:r>
          </a:p>
          <a:p>
            <a:pPr marL="11112" indent="0" algn="just">
              <a:spcBef>
                <a:spcPts val="600"/>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solidFill>
                  <a:srgbClr val="00B050"/>
                </a:solidFill>
                <a:cs typeface="Times New Roman" pitchFamily="16" charset="0"/>
              </a:rPr>
              <a:t>Partially committed state </a:t>
            </a:r>
            <a:r>
              <a:rPr lang="en-US" sz="2400" dirty="0">
                <a:cs typeface="Times New Roman" pitchFamily="16" charset="0"/>
              </a:rPr>
              <a:t>(ended but waiting for system checks to determine success or failure)</a:t>
            </a:r>
          </a:p>
          <a:p>
            <a:pPr marL="11112" indent="0" algn="just">
              <a:spcBef>
                <a:spcPts val="600"/>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solidFill>
                  <a:srgbClr val="00B050"/>
                </a:solidFill>
                <a:cs typeface="Times New Roman" pitchFamily="16" charset="0"/>
              </a:rPr>
              <a:t>Committed state </a:t>
            </a:r>
            <a:r>
              <a:rPr lang="en-US" sz="2400" dirty="0">
                <a:cs typeface="Times New Roman" pitchFamily="16" charset="0"/>
              </a:rPr>
              <a:t>(transaction succeeded)</a:t>
            </a:r>
          </a:p>
          <a:p>
            <a:pPr marL="11112" indent="0" algn="just">
              <a:spcBef>
                <a:spcPts val="600"/>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solidFill>
                  <a:srgbClr val="00B050"/>
                </a:solidFill>
                <a:cs typeface="Times New Roman" pitchFamily="16" charset="0"/>
              </a:rPr>
              <a:t>Failed state </a:t>
            </a:r>
            <a:r>
              <a:rPr lang="en-US" sz="2400" dirty="0">
                <a:cs typeface="Times New Roman" pitchFamily="16" charset="0"/>
              </a:rPr>
              <a:t>(transaction failed, must be rolled back)</a:t>
            </a:r>
          </a:p>
          <a:p>
            <a:pPr marL="11112" indent="0" algn="just">
              <a:spcBef>
                <a:spcPts val="600"/>
              </a:spcBef>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solidFill>
                  <a:srgbClr val="00B050"/>
                </a:solidFill>
                <a:cs typeface="Times New Roman" pitchFamily="16" charset="0"/>
              </a:rPr>
              <a:t>Terminated State </a:t>
            </a:r>
            <a:r>
              <a:rPr lang="en-US" sz="2400" dirty="0">
                <a:cs typeface="Times New Roman" pitchFamily="16" charset="0"/>
              </a:rPr>
              <a:t>(transaction leaves system)</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1"/>
          <p:cNvPicPr>
            <a:picLocks noChangeAspect="1" noChangeArrowheads="1"/>
          </p:cNvPicPr>
          <p:nvPr/>
        </p:nvPicPr>
        <p:blipFill>
          <a:blip r:embed="rId3"/>
          <a:srcRect/>
          <a:stretch>
            <a:fillRect/>
          </a:stretch>
        </p:blipFill>
        <p:spPr bwMode="auto">
          <a:xfrm>
            <a:off x="0" y="1644650"/>
            <a:ext cx="8683625" cy="3003550"/>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p:nvPr>
        </p:nvSpPr>
        <p:spPr>
          <a:xfrm>
            <a:off x="381000" y="27709"/>
            <a:ext cx="7670800" cy="1143000"/>
          </a:xfrm>
          <a:ln/>
        </p:spPr>
        <p:txBody>
          <a:bodyPr vert="horz" lIns="92160" tIns="46080" rIns="92160" bIns="46080" anchor="ct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 (cont.)</a:t>
            </a:r>
          </a:p>
        </p:txBody>
      </p:sp>
      <p:sp>
        <p:nvSpPr>
          <p:cNvPr id="26626" name="Rectangle 2"/>
          <p:cNvSpPr>
            <a:spLocks noGrp="1" noChangeArrowheads="1"/>
          </p:cNvSpPr>
          <p:nvPr>
            <p:ph type="body" idx="1"/>
          </p:nvPr>
        </p:nvSpPr>
        <p:spPr>
          <a:xfrm>
            <a:off x="304800" y="1627909"/>
            <a:ext cx="8229600" cy="5257800"/>
          </a:xfrm>
          <a:ln/>
        </p:spPr>
        <p:txBody>
          <a:bodyPr lIns="90000" tIns="46800" rIns="90000" bIns="46800">
            <a:normAutofit/>
          </a:bodyPr>
          <a:lstStyle/>
          <a:p>
            <a:pPr indent="-331788" algn="just">
              <a:lnSpc>
                <a:spcPct val="90000"/>
              </a:lnSpc>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DBMS Recovery Manager needs system to keep track of the following operations (in the system log file</a:t>
            </a:r>
            <a:r>
              <a:rPr lang="en-US" sz="2400" dirty="0" smtClean="0">
                <a:cs typeface="Times New Roman" pitchFamily="16" charset="0"/>
              </a:rPr>
              <a:t>):</a:t>
            </a:r>
          </a:p>
          <a:p>
            <a:pPr indent="-331788" algn="just">
              <a:lnSpc>
                <a:spcPct val="90000"/>
              </a:lnSpc>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100" dirty="0">
              <a:cs typeface="Times New Roman" pitchFamily="16" charset="0"/>
            </a:endParaRP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a:solidFill>
                  <a:srgbClr val="00B050"/>
                </a:solidFill>
                <a:cs typeface="Times New Roman" pitchFamily="16" charset="0"/>
              </a:rPr>
              <a:t>begin_transaction</a:t>
            </a:r>
            <a:r>
              <a:rPr lang="en-US" sz="2400" b="1" dirty="0">
                <a:solidFill>
                  <a:srgbClr val="00B050"/>
                </a:solidFill>
                <a:cs typeface="Times New Roman" pitchFamily="16" charset="0"/>
              </a:rPr>
              <a:t>: </a:t>
            </a:r>
            <a:r>
              <a:rPr lang="en-US" sz="2400" dirty="0">
                <a:cs typeface="Times New Roman" pitchFamily="16" charset="0"/>
              </a:rPr>
              <a:t>Start of transaction execution</a:t>
            </a:r>
            <a:r>
              <a:rPr lang="en-US" sz="2400" dirty="0" smtClean="0">
                <a:cs typeface="Times New Roman" pitchFamily="16" charset="0"/>
              </a:rPr>
              <a:t>.</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400" dirty="0">
              <a:cs typeface="Times New Roman" pitchFamily="16" charset="0"/>
            </a:endParaRP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read or write: </a:t>
            </a:r>
            <a:r>
              <a:rPr lang="en-US" sz="2400" dirty="0">
                <a:cs typeface="Times New Roman" pitchFamily="16" charset="0"/>
              </a:rPr>
              <a:t>Read or write operations on the database items that are executed as part of a transaction</a:t>
            </a:r>
            <a:r>
              <a:rPr lang="en-US" sz="2400" dirty="0" smtClean="0">
                <a:cs typeface="Times New Roman" pitchFamily="16" charset="0"/>
              </a:rPr>
              <a:t>.</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200" dirty="0">
              <a:cs typeface="Times New Roman" pitchFamily="16" charset="0"/>
            </a:endParaRP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a:solidFill>
                  <a:srgbClr val="00B050"/>
                </a:solidFill>
                <a:cs typeface="Times New Roman" pitchFamily="16" charset="0"/>
              </a:rPr>
              <a:t>end_transaction</a:t>
            </a:r>
            <a:r>
              <a:rPr lang="en-US" sz="2400" b="1" dirty="0">
                <a:solidFill>
                  <a:srgbClr val="00B050"/>
                </a:solidFill>
                <a:cs typeface="Times New Roman" pitchFamily="16" charset="0"/>
              </a:rPr>
              <a:t>: </a:t>
            </a:r>
            <a:r>
              <a:rPr lang="en-US" sz="2400" dirty="0">
                <a:cs typeface="Times New Roman" pitchFamily="16" charset="0"/>
              </a:rPr>
              <a:t>Specifies end of read and write transaction operations have ended. System may still have to check whether the changes (writes) introduced by transaction can be permanently applied to the database (commit transaction); or whether the transaction has to be rolled back (abort transaction) because it violates concurrency control or for some other reason.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xfrm>
            <a:off x="609600" y="190597"/>
            <a:ext cx="8001000" cy="1143000"/>
          </a:xfrm>
          <a:ln/>
        </p:spPr>
        <p:txBody>
          <a:bodyPr vert="horz" lIns="92160" tIns="46080" rIns="92160" bIns="46080" anchor="ct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 (cont.)</a:t>
            </a:r>
          </a:p>
        </p:txBody>
      </p:sp>
      <p:sp>
        <p:nvSpPr>
          <p:cNvPr id="27650" name="Rectangle 2"/>
          <p:cNvSpPr>
            <a:spLocks noGrp="1" noChangeArrowheads="1"/>
          </p:cNvSpPr>
          <p:nvPr>
            <p:ph type="body" idx="1"/>
          </p:nvPr>
        </p:nvSpPr>
        <p:spPr>
          <a:xfrm>
            <a:off x="228600" y="1600200"/>
            <a:ext cx="8166100" cy="4114800"/>
          </a:xfrm>
          <a:ln/>
        </p:spPr>
        <p:txBody>
          <a:bodyPr lIns="90000" tIns="46800" rIns="90000" bIns="46800">
            <a:normAutofit/>
          </a:bodyPr>
          <a:lstStyle/>
          <a:p>
            <a:pPr marL="11112" indent="0" algn="just">
              <a:spcBef>
                <a:spcPts val="600"/>
              </a:spcBef>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Recovery manager keeps track of the following operations (cont.):</a:t>
            </a:r>
          </a:p>
          <a:p>
            <a:pPr marL="11112" indent="0" algn="just">
              <a:spcBef>
                <a:spcPts val="600"/>
              </a:spcBef>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a:solidFill>
                  <a:srgbClr val="00B050"/>
                </a:solidFill>
                <a:cs typeface="Times New Roman" pitchFamily="16" charset="0"/>
              </a:rPr>
              <a:t>commit_transaction</a:t>
            </a:r>
            <a:r>
              <a:rPr lang="en-US" sz="2400" b="1" dirty="0">
                <a:solidFill>
                  <a:srgbClr val="00B050"/>
                </a:solidFill>
                <a:cs typeface="Times New Roman" pitchFamily="16" charset="0"/>
              </a:rPr>
              <a:t>: </a:t>
            </a:r>
            <a:r>
              <a:rPr lang="en-US" sz="2400" dirty="0">
                <a:cs typeface="Times New Roman" pitchFamily="16" charset="0"/>
              </a:rPr>
              <a:t>Signals successful end of transaction; any changes (writes) executed by transaction can be safely committed to the database and will not be undone.</a:t>
            </a:r>
          </a:p>
          <a:p>
            <a:pPr marL="11112" indent="0" algn="just">
              <a:spcBef>
                <a:spcPts val="600"/>
              </a:spcBef>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a:solidFill>
                  <a:srgbClr val="00B050"/>
                </a:solidFill>
                <a:cs typeface="Times New Roman" pitchFamily="16" charset="0"/>
              </a:rPr>
              <a:t>abort_transaction</a:t>
            </a:r>
            <a:r>
              <a:rPr lang="en-US" sz="2400" b="1" dirty="0">
                <a:solidFill>
                  <a:srgbClr val="00B050"/>
                </a:solidFill>
                <a:cs typeface="Times New Roman" pitchFamily="16" charset="0"/>
              </a:rPr>
              <a:t> (or rollback): </a:t>
            </a:r>
            <a:r>
              <a:rPr lang="en-US" sz="2400" dirty="0">
                <a:cs typeface="Times New Roman" pitchFamily="16" charset="0"/>
              </a:rPr>
              <a:t>Signals transaction has ended unsuccessfully; any changes or effects that the transaction may have applied to the database must be undone.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p:nvPr>
        </p:nvSpPr>
        <p:spPr>
          <a:xfrm>
            <a:off x="609600" y="228600"/>
            <a:ext cx="80010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a:t>
            </a:r>
            <a:r>
              <a:rPr lang="en-US" sz="3200" dirty="0">
                <a:cs typeface="Times New Roman" pitchFamily="16" charset="0"/>
              </a:rPr>
              <a:t> </a:t>
            </a:r>
            <a:r>
              <a:rPr lang="en-US" sz="3200" b="1" dirty="0">
                <a:solidFill>
                  <a:srgbClr val="FF0000"/>
                </a:solidFill>
                <a:cs typeface="Times New Roman" pitchFamily="16" charset="0"/>
              </a:rPr>
              <a:t>and System Concepts (cont.)</a:t>
            </a:r>
          </a:p>
        </p:txBody>
      </p:sp>
      <p:sp>
        <p:nvSpPr>
          <p:cNvPr id="28674" name="Rectangle 2"/>
          <p:cNvSpPr>
            <a:spLocks noGrp="1" noChangeArrowheads="1"/>
          </p:cNvSpPr>
          <p:nvPr>
            <p:ph type="body" idx="1"/>
          </p:nvPr>
        </p:nvSpPr>
        <p:spPr>
          <a:xfrm>
            <a:off x="292100" y="1828800"/>
            <a:ext cx="8166100" cy="3505200"/>
          </a:xfrm>
          <a:ln/>
        </p:spPr>
        <p:txBody>
          <a:bodyPr lIns="90000" tIns="46800" rIns="90000" bIns="46800">
            <a:normAutofit/>
          </a:bodyPr>
          <a:lstStyle/>
          <a:p>
            <a:pPr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System operations used during </a:t>
            </a:r>
            <a:r>
              <a:rPr lang="en-US" sz="2400" b="1" dirty="0" smtClean="0">
                <a:solidFill>
                  <a:srgbClr val="FF0000"/>
                </a:solidFill>
                <a:cs typeface="Times New Roman" pitchFamily="16" charset="0"/>
              </a:rPr>
              <a:t>recovery</a:t>
            </a:r>
          </a:p>
          <a:p>
            <a:pPr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200" dirty="0">
              <a:cs typeface="Times New Roman" pitchFamily="16" charset="0"/>
            </a:endParaRPr>
          </a:p>
          <a:p>
            <a:pPr indent="-331788">
              <a:spcBef>
                <a:spcPts val="7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undo(X): </a:t>
            </a:r>
            <a:r>
              <a:rPr lang="en-US" sz="2400" dirty="0">
                <a:cs typeface="Times New Roman" pitchFamily="16" charset="0"/>
              </a:rPr>
              <a:t>Similar to rollback except that it applies to a single write operation rather than to a whole transaction</a:t>
            </a:r>
            <a:r>
              <a:rPr lang="en-US" sz="2400" dirty="0" smtClean="0">
                <a:cs typeface="Times New Roman" pitchFamily="16" charset="0"/>
              </a:rPr>
              <a:t>.</a:t>
            </a:r>
          </a:p>
          <a:p>
            <a:pPr indent="-331788">
              <a:spcBef>
                <a:spcPts val="7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200" dirty="0">
              <a:cs typeface="Times New Roman" pitchFamily="16" charset="0"/>
            </a:endParaRPr>
          </a:p>
          <a:p>
            <a:pPr indent="-331788">
              <a:spcBef>
                <a:spcPts val="7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redo(X): </a:t>
            </a:r>
            <a:r>
              <a:rPr lang="en-US" sz="2400" dirty="0">
                <a:cs typeface="Times New Roman" pitchFamily="16" charset="0"/>
              </a:rPr>
              <a:t>This specifies that a write operation of a committed transaction must be redone to ensure that it has been applied permanently to the database on disk.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p:nvPr>
        </p:nvSpPr>
        <p:spPr>
          <a:xfrm>
            <a:off x="609600" y="169959"/>
            <a:ext cx="8001000" cy="1143000"/>
          </a:xfrm>
          <a:ln/>
        </p:spPr>
        <p:txBody>
          <a:bodyPr lIns="92160" tIns="46080" rIns="92160" bIns="46080">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 (cont.)</a:t>
            </a:r>
          </a:p>
        </p:txBody>
      </p:sp>
      <p:sp>
        <p:nvSpPr>
          <p:cNvPr id="29698" name="Rectangle 2"/>
          <p:cNvSpPr>
            <a:spLocks noGrp="1" noChangeArrowheads="1"/>
          </p:cNvSpPr>
          <p:nvPr>
            <p:ph type="body" idx="1"/>
          </p:nvPr>
        </p:nvSpPr>
        <p:spPr>
          <a:xfrm>
            <a:off x="416791" y="1828800"/>
            <a:ext cx="8166100" cy="4249738"/>
          </a:xfrm>
          <a:ln/>
        </p:spPr>
        <p:txBody>
          <a:bodyPr lIns="90000" tIns="46800" rIns="90000" bIns="46800">
            <a:normAutofit/>
          </a:bodyPr>
          <a:lstStyle/>
          <a:p>
            <a:pPr indent="-331788" algn="just">
              <a:lnSpc>
                <a:spcPct val="90000"/>
              </a:lnSpc>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latin typeface="Palatino" charset="0"/>
                <a:cs typeface="Times New Roman" pitchFamily="16" charset="0"/>
              </a:rPr>
              <a:t>The System Log </a:t>
            </a:r>
            <a:r>
              <a:rPr lang="en-US" sz="2400" b="1" dirty="0" smtClean="0">
                <a:solidFill>
                  <a:srgbClr val="00B050"/>
                </a:solidFill>
                <a:latin typeface="Palatino" charset="0"/>
                <a:cs typeface="Times New Roman" pitchFamily="16" charset="0"/>
              </a:rPr>
              <a:t>File</a:t>
            </a:r>
          </a:p>
          <a:p>
            <a:pPr indent="-331788" algn="just">
              <a:lnSpc>
                <a:spcPct val="90000"/>
              </a:lnSpc>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000" b="1" dirty="0">
              <a:solidFill>
                <a:srgbClr val="00B050"/>
              </a:solidFill>
              <a:latin typeface="Palatino" charset="0"/>
              <a:cs typeface="Times New Roman" pitchFamily="16" charset="0"/>
            </a:endParaRP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Is an append-only file to keep track of all operations of all transactions in the order in which they occurred. This information is needed during recovery from failures</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Log is kept on disk - not affected except for disk or catastrophic failure</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As with other disk files, a log main memory buffer is kept for holding the records being appended until the whole buffer is appended to the end of the log file on disk</a:t>
            </a:r>
          </a:p>
          <a:p>
            <a:pPr indent="-331788" algn="just">
              <a:lnSpc>
                <a:spcPct val="90000"/>
              </a:lnSpc>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cs typeface="Times New Roman" pitchFamily="16" charset="0"/>
              </a:rPr>
              <a:t>Log is periodically backed up to archival storage (tape) to guard against catastrophic failures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Grp="1" noChangeArrowheads="1"/>
          </p:cNvSpPr>
          <p:nvPr>
            <p:ph type="title"/>
          </p:nvPr>
        </p:nvSpPr>
        <p:spPr>
          <a:xfrm>
            <a:off x="609600" y="152400"/>
            <a:ext cx="7947025" cy="1143000"/>
          </a:xfrm>
          <a:ln/>
        </p:spPr>
        <p:txBody>
          <a:bodyPr lIns="92160" tIns="46080" rIns="92160" bIns="46080">
            <a:norm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 (cont.)</a:t>
            </a:r>
          </a:p>
        </p:txBody>
      </p:sp>
      <p:sp>
        <p:nvSpPr>
          <p:cNvPr id="30722" name="Rectangle 2"/>
          <p:cNvSpPr>
            <a:spLocks noGrp="1" noChangeArrowheads="1"/>
          </p:cNvSpPr>
          <p:nvPr>
            <p:ph type="body" idx="1"/>
          </p:nvPr>
        </p:nvSpPr>
        <p:spPr>
          <a:xfrm>
            <a:off x="304800" y="1752600"/>
            <a:ext cx="8166100" cy="4881562"/>
          </a:xfrm>
          <a:ln/>
        </p:spPr>
        <p:txBody>
          <a:bodyPr lIns="90000" tIns="46800" rIns="90000" bIns="46800"/>
          <a:lstStyle/>
          <a:p>
            <a:pPr marL="533400" indent="-522288">
              <a:lnSpc>
                <a:spcPct val="90000"/>
              </a:lnSpc>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a:solidFill>
                  <a:srgbClr val="00B050"/>
                </a:solidFill>
                <a:latin typeface="Palatino" charset="0"/>
                <a:cs typeface="Times New Roman" pitchFamily="16" charset="0"/>
              </a:rPr>
              <a:t>Types of records (entries) in log file: </a:t>
            </a:r>
            <a:endParaRPr lang="en-US" sz="2400" b="1" dirty="0" smtClean="0">
              <a:solidFill>
                <a:srgbClr val="00B050"/>
              </a:solidFill>
              <a:latin typeface="Palatino" charset="0"/>
              <a:cs typeface="Times New Roman" pitchFamily="16" charset="0"/>
            </a:endParaRPr>
          </a:p>
          <a:p>
            <a:pPr marL="533400" indent="-522288">
              <a:lnSpc>
                <a:spcPct val="90000"/>
              </a:lnSpc>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endParaRPr lang="en-US" sz="1200" b="1" dirty="0">
              <a:solidFill>
                <a:srgbClr val="00B050"/>
              </a:solidFill>
              <a:latin typeface="Palatino" charset="0"/>
              <a:cs typeface="Times New Roman" pitchFamily="16" charset="0"/>
            </a:endParaRPr>
          </a:p>
          <a:p>
            <a:pPr marL="533400" indent="-522288">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latin typeface="Palatino" charset="0"/>
                <a:cs typeface="Times New Roman" pitchFamily="16" charset="0"/>
              </a:rPr>
              <a:t>[</a:t>
            </a:r>
            <a:r>
              <a:rPr lang="en-US" sz="2400" dirty="0" err="1">
                <a:cs typeface="Times New Roman" pitchFamily="16" charset="0"/>
              </a:rPr>
              <a:t>start_transaction,T</a:t>
            </a:r>
            <a:r>
              <a:rPr lang="en-US" sz="2400" dirty="0">
                <a:cs typeface="Times New Roman" pitchFamily="16" charset="0"/>
              </a:rPr>
              <a:t>]: Records that transaction T has started execution.</a:t>
            </a:r>
          </a:p>
          <a:p>
            <a:pPr marL="533400" indent="-522288">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a:t>
            </a:r>
            <a:r>
              <a:rPr lang="en-US" sz="2400" dirty="0" err="1">
                <a:cs typeface="Times New Roman" pitchFamily="16" charset="0"/>
              </a:rPr>
              <a:t>write_item,T,X,old_value,new_value</a:t>
            </a:r>
            <a:r>
              <a:rPr lang="en-US" sz="2400" dirty="0">
                <a:cs typeface="Times New Roman" pitchFamily="16" charset="0"/>
              </a:rPr>
              <a:t>]: T has changed the value of item X from </a:t>
            </a:r>
            <a:r>
              <a:rPr lang="en-US" sz="2400" dirty="0" err="1">
                <a:cs typeface="Times New Roman" pitchFamily="16" charset="0"/>
              </a:rPr>
              <a:t>old_value</a:t>
            </a:r>
            <a:r>
              <a:rPr lang="en-US" sz="2400" dirty="0">
                <a:cs typeface="Times New Roman" pitchFamily="16" charset="0"/>
              </a:rPr>
              <a:t> to </a:t>
            </a:r>
            <a:r>
              <a:rPr lang="en-US" sz="2400" dirty="0" err="1">
                <a:cs typeface="Times New Roman" pitchFamily="16" charset="0"/>
              </a:rPr>
              <a:t>new_value</a:t>
            </a:r>
            <a:r>
              <a:rPr lang="en-US" sz="2400" dirty="0">
                <a:cs typeface="Times New Roman" pitchFamily="16" charset="0"/>
              </a:rPr>
              <a:t>.</a:t>
            </a:r>
          </a:p>
          <a:p>
            <a:pPr marL="533400" indent="-522288">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a:t>
            </a:r>
            <a:r>
              <a:rPr lang="en-US" sz="2400" dirty="0" err="1">
                <a:cs typeface="Times New Roman" pitchFamily="16" charset="0"/>
              </a:rPr>
              <a:t>read_item,T,X</a:t>
            </a:r>
            <a:r>
              <a:rPr lang="en-US" sz="2400" dirty="0">
                <a:cs typeface="Times New Roman" pitchFamily="16" charset="0"/>
              </a:rPr>
              <a:t>]: T  has read the value of item X (not needed in many cases).</a:t>
            </a:r>
          </a:p>
          <a:p>
            <a:pPr marL="533400" indent="-522288">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a:t>
            </a:r>
            <a:r>
              <a:rPr lang="en-US" sz="2400" dirty="0" err="1">
                <a:cs typeface="Times New Roman" pitchFamily="16" charset="0"/>
              </a:rPr>
              <a:t>end_transaction,T</a:t>
            </a:r>
            <a:r>
              <a:rPr lang="en-US" sz="2400" dirty="0">
                <a:cs typeface="Times New Roman" pitchFamily="16" charset="0"/>
              </a:rPr>
              <a:t>]: T has ended execution</a:t>
            </a:r>
          </a:p>
          <a:p>
            <a:pPr marL="533400" indent="-522288">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a:t>
            </a:r>
            <a:r>
              <a:rPr lang="en-US" sz="2400" dirty="0" err="1">
                <a:cs typeface="Times New Roman" pitchFamily="16" charset="0"/>
              </a:rPr>
              <a:t>commit,T</a:t>
            </a:r>
            <a:r>
              <a:rPr lang="en-US" sz="2400" dirty="0">
                <a:cs typeface="Times New Roman" pitchFamily="16" charset="0"/>
              </a:rPr>
              <a:t>]: T has completed successfully, and committed.</a:t>
            </a:r>
          </a:p>
          <a:p>
            <a:pPr marL="533400" indent="-522288">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a:t>
            </a:r>
            <a:r>
              <a:rPr lang="en-US" sz="2400" dirty="0" err="1">
                <a:cs typeface="Times New Roman" pitchFamily="16" charset="0"/>
              </a:rPr>
              <a:t>abort,T</a:t>
            </a:r>
            <a:r>
              <a:rPr lang="en-US" sz="2400" dirty="0">
                <a:cs typeface="Times New Roman" pitchFamily="16" charset="0"/>
              </a:rPr>
              <a:t>]: T has been aborted.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ChangeArrowheads="1"/>
          </p:cNvSpPr>
          <p:nvPr>
            <p:ph type="title"/>
          </p:nvPr>
        </p:nvSpPr>
        <p:spPr>
          <a:xfrm>
            <a:off x="615373" y="228600"/>
            <a:ext cx="8229600" cy="1143000"/>
          </a:xfrm>
          <a:ln/>
        </p:spPr>
        <p:txBody>
          <a:bodyPr lIns="92160" tIns="46080" rIns="92160" bIns="46080">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 (cont.)</a:t>
            </a:r>
          </a:p>
        </p:txBody>
      </p:sp>
      <p:sp>
        <p:nvSpPr>
          <p:cNvPr id="31746" name="Rectangle 2"/>
          <p:cNvSpPr>
            <a:spLocks noGrp="1" noChangeArrowheads="1"/>
          </p:cNvSpPr>
          <p:nvPr>
            <p:ph type="body" idx="1"/>
          </p:nvPr>
        </p:nvSpPr>
        <p:spPr>
          <a:xfrm>
            <a:off x="608446" y="1828800"/>
            <a:ext cx="8166100" cy="4343400"/>
          </a:xfrm>
          <a:ln/>
        </p:spPr>
        <p:txBody>
          <a:bodyPr lIns="90000" tIns="46800" rIns="90000" bIns="46800"/>
          <a:lstStyle/>
          <a:p>
            <a:pPr marL="533400" indent="-522288">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a:solidFill>
                  <a:srgbClr val="00B050"/>
                </a:solidFill>
                <a:latin typeface="Palatino" charset="0"/>
                <a:cs typeface="Times New Roman" pitchFamily="16" charset="0"/>
              </a:rPr>
              <a:t>The System Log (cont</a:t>
            </a:r>
            <a:r>
              <a:rPr lang="en-US" sz="2400" b="1" dirty="0" smtClean="0">
                <a:solidFill>
                  <a:srgbClr val="00B050"/>
                </a:solidFill>
                <a:latin typeface="Palatino" charset="0"/>
                <a:cs typeface="Times New Roman" pitchFamily="16" charset="0"/>
              </a:rPr>
              <a:t>.):</a:t>
            </a:r>
          </a:p>
          <a:p>
            <a:pPr marL="533400" indent="-522288">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endParaRPr lang="en-US" sz="1050" b="1" dirty="0">
              <a:latin typeface="Palatino" charset="0"/>
              <a:cs typeface="Times New Roman" pitchFamily="16" charset="0"/>
            </a:endParaRPr>
          </a:p>
          <a:p>
            <a:pPr marL="533400" indent="-522288">
              <a:spcBef>
                <a:spcPts val="700"/>
              </a:spcBef>
              <a:buClr>
                <a:srgbClr val="FF0000"/>
              </a:buClr>
              <a:buFont typeface="Wingdings" charset="2"/>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protocols for recovery that avoid cascading rollbacks do not require that read operations be written to the system log; most recovery protocols fall in this </a:t>
            </a:r>
            <a:r>
              <a:rPr lang="en-US" sz="2400" dirty="0" smtClean="0">
                <a:cs typeface="Times New Roman" pitchFamily="16" charset="0"/>
              </a:rPr>
              <a:t>category. </a:t>
            </a:r>
          </a:p>
          <a:p>
            <a:pPr marL="533400" indent="-522288">
              <a:spcBef>
                <a:spcPts val="700"/>
              </a:spcBef>
              <a:buClr>
                <a:srgbClr val="FF0000"/>
              </a:buClr>
              <a:buFont typeface="Wingdings" charset="2"/>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smtClean="0">
                <a:cs typeface="Times New Roman" pitchFamily="16" charset="0"/>
              </a:rPr>
              <a:t>strict </a:t>
            </a:r>
            <a:r>
              <a:rPr lang="en-US" sz="2400" dirty="0">
                <a:cs typeface="Times New Roman" pitchFamily="16" charset="0"/>
              </a:rPr>
              <a:t>protocols require simpler write entries that do not include </a:t>
            </a:r>
            <a:r>
              <a:rPr lang="en-US" sz="2400" dirty="0" smtClean="0">
                <a:cs typeface="Times New Roman" pitchFamily="16" charset="0"/>
              </a:rPr>
              <a:t>new value. </a:t>
            </a:r>
            <a:endParaRPr lang="en-US" sz="2400" dirty="0">
              <a:cs typeface="Times New Roman" pitchFamily="1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Grp="1" noChangeArrowheads="1"/>
          </p:cNvSpPr>
          <p:nvPr>
            <p:ph type="title"/>
          </p:nvPr>
        </p:nvSpPr>
        <p:spPr>
          <a:xfrm>
            <a:off x="558800" y="228600"/>
            <a:ext cx="7899400" cy="1143000"/>
          </a:xfrm>
          <a:ln/>
        </p:spPr>
        <p:txBody>
          <a:bodyPr lIns="92160" tIns="46080" rIns="92160" bIns="46080">
            <a:norm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 (cont.)</a:t>
            </a:r>
          </a:p>
        </p:txBody>
      </p:sp>
      <p:sp>
        <p:nvSpPr>
          <p:cNvPr id="32770" name="Rectangle 2"/>
          <p:cNvSpPr>
            <a:spLocks noGrp="1" noChangeArrowheads="1"/>
          </p:cNvSpPr>
          <p:nvPr>
            <p:ph type="body" idx="1"/>
          </p:nvPr>
        </p:nvSpPr>
        <p:spPr>
          <a:xfrm>
            <a:off x="425450" y="1828800"/>
            <a:ext cx="8166100" cy="4645025"/>
          </a:xfrm>
          <a:ln/>
        </p:spPr>
        <p:txBody>
          <a:bodyPr lIns="90000" tIns="46800" rIns="90000" bIns="46800"/>
          <a:lstStyle/>
          <a:p>
            <a:pPr marL="533400" indent="-522288">
              <a:lnSpc>
                <a:spcPct val="90000"/>
              </a:lnSpc>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a:solidFill>
                  <a:srgbClr val="00B050"/>
                </a:solidFill>
                <a:latin typeface="Palatino" charset="0"/>
                <a:cs typeface="Times New Roman" pitchFamily="16" charset="0"/>
              </a:rPr>
              <a:t>Commit Point of a Transaction</a:t>
            </a:r>
            <a:r>
              <a:rPr lang="en-US" sz="2400" b="1" dirty="0" smtClean="0">
                <a:solidFill>
                  <a:srgbClr val="00B050"/>
                </a:solidFill>
                <a:latin typeface="Palatino" charset="0"/>
                <a:cs typeface="Times New Roman" pitchFamily="16" charset="0"/>
              </a:rPr>
              <a:t>:</a:t>
            </a:r>
          </a:p>
          <a:p>
            <a:pPr marL="533400" indent="-522288">
              <a:lnSpc>
                <a:spcPct val="90000"/>
              </a:lnSpc>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endParaRPr lang="en-US" sz="1100" b="1" dirty="0">
              <a:latin typeface="Palatino" charset="0"/>
              <a:cs typeface="Times New Roman" pitchFamily="16" charset="0"/>
            </a:endParaRPr>
          </a:p>
          <a:p>
            <a:pPr marL="11112" indent="0">
              <a:lnSpc>
                <a:spcPct val="90000"/>
              </a:lnSpc>
              <a:spcBef>
                <a:spcPts val="700"/>
              </a:spcBef>
              <a:buClr>
                <a:srgbClr val="FF0000"/>
              </a:buClr>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smtClean="0">
                <a:cs typeface="Times New Roman" pitchFamily="16" charset="0"/>
              </a:rPr>
              <a:t>A </a:t>
            </a:r>
            <a:r>
              <a:rPr lang="en-US" sz="2400" dirty="0">
                <a:cs typeface="Times New Roman" pitchFamily="16" charset="0"/>
              </a:rPr>
              <a:t>transaction T reaches its commit point when all its operations that access the database have been executed successfully and the effect of all the transaction operations on the database has been recorded in the log file (on disk). The transaction is then said to be committed.</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381000" y="152400"/>
            <a:ext cx="8458200" cy="1143000"/>
          </a:xfrm>
          <a:ln/>
        </p:spPr>
        <p:txBody>
          <a:bodyPr lIns="92160" tIns="46080" rIns="92160" bIns="46080">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Transaction and System Concepts (cont.)</a:t>
            </a:r>
          </a:p>
        </p:txBody>
      </p:sp>
      <p:sp>
        <p:nvSpPr>
          <p:cNvPr id="33794" name="Rectangle 2"/>
          <p:cNvSpPr>
            <a:spLocks noGrp="1" noChangeArrowheads="1"/>
          </p:cNvSpPr>
          <p:nvPr>
            <p:ph type="body" idx="1"/>
          </p:nvPr>
        </p:nvSpPr>
        <p:spPr>
          <a:xfrm>
            <a:off x="228600" y="1676400"/>
            <a:ext cx="8458200" cy="4343400"/>
          </a:xfrm>
          <a:ln/>
        </p:spPr>
        <p:txBody>
          <a:bodyPr lIns="90000" tIns="46800" rIns="90000" bIns="46800">
            <a:normAutofit fontScale="92500"/>
          </a:bodyPr>
          <a:lstStyle/>
          <a:p>
            <a:pPr marL="533400" indent="-522288">
              <a:lnSpc>
                <a:spcPct val="90000"/>
              </a:lnSpc>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a:solidFill>
                  <a:srgbClr val="00B050"/>
                </a:solidFill>
                <a:latin typeface="Palatino" charset="0"/>
                <a:cs typeface="Times New Roman" pitchFamily="16" charset="0"/>
              </a:rPr>
              <a:t>Commit Point of a Transaction (cont</a:t>
            </a:r>
            <a:r>
              <a:rPr lang="en-US" sz="2400" b="1" dirty="0" smtClean="0">
                <a:solidFill>
                  <a:srgbClr val="00B050"/>
                </a:solidFill>
                <a:latin typeface="Palatino" charset="0"/>
                <a:cs typeface="Times New Roman" pitchFamily="16" charset="0"/>
              </a:rPr>
              <a:t>.):</a:t>
            </a:r>
          </a:p>
          <a:p>
            <a:pPr marL="533400" indent="-522288">
              <a:lnSpc>
                <a:spcPct val="90000"/>
              </a:lnSpc>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endParaRPr lang="en-US" sz="900" b="1" dirty="0">
              <a:solidFill>
                <a:srgbClr val="00B050"/>
              </a:solidFill>
              <a:latin typeface="Palatino" charset="0"/>
              <a:cs typeface="Times New Roman" pitchFamily="16" charset="0"/>
            </a:endParaRPr>
          </a:p>
          <a:p>
            <a:pPr marL="533400" indent="-522288">
              <a:lnSpc>
                <a:spcPct val="90000"/>
              </a:lnSpc>
              <a:spcBef>
                <a:spcPts val="500"/>
              </a:spcBef>
              <a:buClr>
                <a:srgbClr val="FF0000"/>
              </a:buClr>
              <a:buFont typeface="Wingdings" charset="2"/>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solidFill>
                  <a:srgbClr val="FF0000"/>
                </a:solidFill>
                <a:cs typeface="Times New Roman" pitchFamily="16" charset="0"/>
              </a:rPr>
              <a:t>Log file buffers: </a:t>
            </a:r>
            <a:r>
              <a:rPr lang="en-US" sz="2400" dirty="0">
                <a:cs typeface="Times New Roman" pitchFamily="16" charset="0"/>
              </a:rPr>
              <a:t>Like database files on disk, whole disk blocks must be read or written to main memory buffers.</a:t>
            </a:r>
          </a:p>
          <a:p>
            <a:pPr marL="533400" indent="-522288">
              <a:lnSpc>
                <a:spcPct val="90000"/>
              </a:lnSpc>
              <a:spcBef>
                <a:spcPts val="500"/>
              </a:spcBef>
              <a:buClr>
                <a:srgbClr val="FF0000"/>
              </a:buClr>
              <a:buFont typeface="Wingdings" charset="2"/>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For </a:t>
            </a:r>
            <a:r>
              <a:rPr lang="en-US" sz="2400" dirty="0">
                <a:solidFill>
                  <a:srgbClr val="FF0000"/>
                </a:solidFill>
                <a:cs typeface="Times New Roman" pitchFamily="16" charset="0"/>
              </a:rPr>
              <a:t>log file</a:t>
            </a:r>
            <a:r>
              <a:rPr lang="en-US" sz="2400" dirty="0">
                <a:cs typeface="Times New Roman" pitchFamily="16" charset="0"/>
              </a:rPr>
              <a:t>, the last disk block (or blocks) of the file will be in main memory buffers to easily append log entries at end of file.</a:t>
            </a:r>
          </a:p>
          <a:p>
            <a:pPr marL="533400" indent="-522288">
              <a:lnSpc>
                <a:spcPct val="90000"/>
              </a:lnSpc>
              <a:spcBef>
                <a:spcPts val="500"/>
              </a:spcBef>
              <a:buClr>
                <a:srgbClr val="FF0000"/>
              </a:buClr>
              <a:buFont typeface="Wingdings" charset="2"/>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solidFill>
                  <a:srgbClr val="FF0000"/>
                </a:solidFill>
                <a:cs typeface="Times New Roman" pitchFamily="16" charset="0"/>
              </a:rPr>
              <a:t>Force writing the log buffer:  </a:t>
            </a:r>
            <a:r>
              <a:rPr lang="en-US" sz="2400" dirty="0">
                <a:cs typeface="Times New Roman" pitchFamily="16" charset="0"/>
              </a:rPr>
              <a:t>before a transaction reaches its commit point, any main memory buffers of the log that have not been written to disk yet must be copied to disk.</a:t>
            </a:r>
          </a:p>
          <a:p>
            <a:pPr marL="533400" indent="-522288">
              <a:lnSpc>
                <a:spcPct val="90000"/>
              </a:lnSpc>
              <a:spcBef>
                <a:spcPts val="500"/>
              </a:spcBef>
              <a:buClr>
                <a:srgbClr val="FF0000"/>
              </a:buClr>
              <a:buFont typeface="Wingdings" charset="2"/>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Called force-writing the log buffers before committing a transaction.</a:t>
            </a:r>
          </a:p>
          <a:p>
            <a:pPr marL="533400" indent="-522288">
              <a:lnSpc>
                <a:spcPct val="90000"/>
              </a:lnSpc>
              <a:spcBef>
                <a:spcPts val="500"/>
              </a:spcBef>
              <a:buClr>
                <a:srgbClr val="FF0000"/>
              </a:buClr>
              <a:buFont typeface="Wingdings" charset="2"/>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cs typeface="Times New Roman" pitchFamily="16" charset="0"/>
              </a:rPr>
              <a:t>Needed to ensure that any write operations by the transaction are recorded in the log file on disk before the transaction commits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630382" y="228600"/>
            <a:ext cx="6805612" cy="1143000"/>
          </a:xfrm>
          <a:ln/>
        </p:spPr>
        <p:txBody>
          <a:bodyPr lIns="92160" tIns="46080" rIns="92160" bIns="46080">
            <a:norm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Desirable Properties of Transactions</a:t>
            </a:r>
          </a:p>
        </p:txBody>
      </p:sp>
      <p:sp>
        <p:nvSpPr>
          <p:cNvPr id="34818" name="Rectangle 2"/>
          <p:cNvSpPr>
            <a:spLocks noGrp="1" noChangeArrowheads="1"/>
          </p:cNvSpPr>
          <p:nvPr>
            <p:ph type="body" idx="1"/>
          </p:nvPr>
        </p:nvSpPr>
        <p:spPr>
          <a:xfrm>
            <a:off x="304800" y="1524000"/>
            <a:ext cx="8166100" cy="4800600"/>
          </a:xfrm>
          <a:ln/>
        </p:spPr>
        <p:txBody>
          <a:bodyPr lIns="90000" tIns="46800" rIns="90000" bIns="46800">
            <a:normAutofit/>
          </a:bodyPr>
          <a:lstStyle/>
          <a:p>
            <a:pPr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200" b="1" dirty="0" smtClean="0">
                <a:solidFill>
                  <a:srgbClr val="00B050"/>
                </a:solidFill>
                <a:latin typeface="Palatino" charset="0"/>
                <a:cs typeface="Times New Roman" pitchFamily="16" charset="0"/>
              </a:rPr>
              <a:t>ACID properties:</a:t>
            </a:r>
          </a:p>
          <a:p>
            <a:pPr lvl="8"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dirty="0" smtClean="0">
                <a:solidFill>
                  <a:srgbClr val="FF0000"/>
                </a:solidFill>
                <a:latin typeface="Palatino" charset="0"/>
                <a:cs typeface="Times New Roman" pitchFamily="16" charset="0"/>
              </a:rPr>
              <a:t>Atomicity</a:t>
            </a:r>
          </a:p>
          <a:p>
            <a:pPr lvl="8"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dirty="0" smtClean="0">
                <a:solidFill>
                  <a:srgbClr val="FF0000"/>
                </a:solidFill>
                <a:latin typeface="Palatino" charset="0"/>
                <a:cs typeface="Times New Roman" pitchFamily="16" charset="0"/>
              </a:rPr>
              <a:t>Consistency</a:t>
            </a:r>
          </a:p>
          <a:p>
            <a:pPr lvl="8"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dirty="0" smtClean="0">
                <a:solidFill>
                  <a:srgbClr val="FF0000"/>
                </a:solidFill>
                <a:latin typeface="Palatino" charset="0"/>
                <a:cs typeface="Times New Roman" pitchFamily="16" charset="0"/>
              </a:rPr>
              <a:t>Isolation </a:t>
            </a:r>
          </a:p>
          <a:p>
            <a:pPr lvl="8"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dirty="0" smtClean="0">
                <a:solidFill>
                  <a:srgbClr val="FF0000"/>
                </a:solidFill>
                <a:latin typeface="Palatino" charset="0"/>
                <a:cs typeface="Times New Roman" pitchFamily="16" charset="0"/>
              </a:rPr>
              <a:t>Durability</a:t>
            </a:r>
          </a:p>
          <a:p>
            <a:pPr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100" b="1" dirty="0">
              <a:solidFill>
                <a:srgbClr val="00B050"/>
              </a:solidFill>
              <a:latin typeface="Palatino" charset="0"/>
              <a:cs typeface="Times New Roman" pitchFamily="16" charset="0"/>
            </a:endParaRPr>
          </a:p>
          <a:p>
            <a:pPr indent="-331788" algn="just">
              <a:spcBef>
                <a:spcPts val="7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Atomicity: </a:t>
            </a:r>
            <a:r>
              <a:rPr lang="en-US" sz="2400" dirty="0">
                <a:cs typeface="Times New Roman" pitchFamily="16" charset="0"/>
              </a:rPr>
              <a:t>A transaction is an atomic unit of processing; it is either performed in its entirety or not performed at all</a:t>
            </a:r>
            <a:r>
              <a:rPr lang="en-US" sz="2400" dirty="0" smtClean="0">
                <a:cs typeface="Times New Roman" pitchFamily="16" charset="0"/>
              </a:rPr>
              <a:t>.</a:t>
            </a:r>
          </a:p>
          <a:p>
            <a:pPr indent="-331788">
              <a:spcBef>
                <a:spcPts val="7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800" dirty="0">
              <a:cs typeface="Times New Roman" pitchFamily="16" charset="0"/>
            </a:endParaRPr>
          </a:p>
          <a:p>
            <a:pPr indent="-331788" algn="just">
              <a:spcBef>
                <a:spcPts val="7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Consistency preservation: </a:t>
            </a:r>
            <a:r>
              <a:rPr lang="en-US" sz="2400" dirty="0">
                <a:cs typeface="Times New Roman" pitchFamily="16" charset="0"/>
              </a:rPr>
              <a:t>A correct execution of the transaction must take the database from one consistent state to another.</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Grp="1" noChangeArrowheads="1"/>
          </p:cNvSpPr>
          <p:nvPr>
            <p:ph type="title"/>
          </p:nvPr>
        </p:nvSpPr>
        <p:spPr>
          <a:xfrm>
            <a:off x="609600" y="228600"/>
            <a:ext cx="7543800" cy="1143000"/>
          </a:xfrm>
          <a:ln/>
        </p:spPr>
        <p:txBody>
          <a:bodyPr lIns="92160" tIns="46080" rIns="92160" bIns="46080">
            <a:norm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Desirable Properties of Transactions (cont.)</a:t>
            </a:r>
          </a:p>
        </p:txBody>
      </p:sp>
      <p:sp>
        <p:nvSpPr>
          <p:cNvPr id="35842" name="Rectangle 2"/>
          <p:cNvSpPr>
            <a:spLocks noGrp="1" noChangeArrowheads="1"/>
          </p:cNvSpPr>
          <p:nvPr>
            <p:ph type="body" idx="1"/>
          </p:nvPr>
        </p:nvSpPr>
        <p:spPr>
          <a:xfrm>
            <a:off x="152400" y="1676400"/>
            <a:ext cx="8166100" cy="4114800"/>
          </a:xfrm>
          <a:ln/>
        </p:spPr>
        <p:txBody>
          <a:bodyPr lIns="90000" tIns="46800" rIns="90000" bIns="46800"/>
          <a:lstStyle/>
          <a:p>
            <a:pPr indent="-331788">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200" b="1" dirty="0">
                <a:solidFill>
                  <a:srgbClr val="00B050"/>
                </a:solidFill>
                <a:latin typeface="Palatino" charset="0"/>
                <a:cs typeface="Times New Roman" pitchFamily="16" charset="0"/>
              </a:rPr>
              <a:t>ACID properties (cont</a:t>
            </a:r>
            <a:r>
              <a:rPr lang="en-US" sz="2200" b="1" dirty="0" smtClean="0">
                <a:solidFill>
                  <a:srgbClr val="00B050"/>
                </a:solidFill>
                <a:latin typeface="Palatino" charset="0"/>
                <a:cs typeface="Times New Roman" pitchFamily="16" charset="0"/>
              </a:rPr>
              <a:t>.):</a:t>
            </a:r>
          </a:p>
          <a:p>
            <a:pPr indent="-331788">
              <a:buClr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500" b="1" dirty="0">
              <a:solidFill>
                <a:srgbClr val="00B050"/>
              </a:solidFill>
              <a:latin typeface="Palatino" charset="0"/>
              <a:cs typeface="Times New Roman" pitchFamily="16" charset="0"/>
            </a:endParaRPr>
          </a:p>
          <a:p>
            <a:pPr indent="-331788" algn="just">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Isolation: </a:t>
            </a:r>
            <a:r>
              <a:rPr lang="en-US" sz="2400" dirty="0">
                <a:cs typeface="Times New Roman" pitchFamily="16" charset="0"/>
              </a:rPr>
              <a:t>Even though transactions are executing concurrently, they should appear to be executed in isolation – that is, their final effect should be as if each transaction was executed in isolation from start to finish.</a:t>
            </a:r>
          </a:p>
          <a:p>
            <a:pPr indent="-331788" algn="just">
              <a:spcBef>
                <a:spcPts val="6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400" dirty="0">
              <a:cs typeface="Times New Roman" pitchFamily="16" charset="0"/>
            </a:endParaRPr>
          </a:p>
          <a:p>
            <a:pPr indent="-331788" algn="just">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FF0000"/>
                </a:solidFill>
                <a:cs typeface="Times New Roman" pitchFamily="16" charset="0"/>
              </a:rPr>
              <a:t>Durability or permanency: </a:t>
            </a:r>
            <a:r>
              <a:rPr lang="en-US" sz="2400" dirty="0">
                <a:cs typeface="Times New Roman" pitchFamily="16" charset="0"/>
              </a:rPr>
              <a:t>Once a transaction is committed, its changes (writes) applied to the database must never be lost because of subsequent failure. </a:t>
            </a:r>
            <a:r>
              <a:rPr lang="en-US" sz="2400" dirty="0">
                <a:latin typeface="Palatino" charset="0"/>
                <a:cs typeface="Times New Roman" pitchFamily="16"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Grp="1" noChangeArrowheads="1"/>
          </p:cNvSpPr>
          <p:nvPr>
            <p:ph type="title"/>
          </p:nvPr>
        </p:nvSpPr>
        <p:spPr>
          <a:xfrm>
            <a:off x="609600" y="228600"/>
            <a:ext cx="8229600" cy="1143000"/>
          </a:xfrm>
          <a:ln/>
        </p:spPr>
        <p:txBody>
          <a:bodyPr vert="horz" lIns="92160" tIns="46080" rIns="92160" bIns="46080" anchor="ct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dirty="0">
                <a:solidFill>
                  <a:srgbClr val="FF0000"/>
                </a:solidFill>
                <a:cs typeface="Times New Roman" pitchFamily="16" charset="0"/>
              </a:rPr>
              <a:t>Desirable Properties of Transactions (cont.)</a:t>
            </a:r>
          </a:p>
        </p:txBody>
      </p:sp>
      <p:sp>
        <p:nvSpPr>
          <p:cNvPr id="36866" name="Rectangle 2"/>
          <p:cNvSpPr>
            <a:spLocks noGrp="1" noChangeArrowheads="1"/>
          </p:cNvSpPr>
          <p:nvPr>
            <p:ph type="body" idx="1"/>
          </p:nvPr>
        </p:nvSpPr>
        <p:spPr>
          <a:xfrm>
            <a:off x="304800" y="1600200"/>
            <a:ext cx="8166100" cy="4116388"/>
          </a:xfrm>
          <a:ln/>
        </p:spPr>
        <p:txBody>
          <a:bodyPr lIns="90000" tIns="46800" rIns="90000" bIns="46800">
            <a:normAutofit/>
          </a:bodyPr>
          <a:lstStyle/>
          <a:p>
            <a:pPr indent="-331788">
              <a:spcBef>
                <a:spcPts val="700"/>
              </a:spcBef>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800" b="1" dirty="0">
              <a:latin typeface="Palatino" charset="0"/>
              <a:cs typeface="Times New Roman" pitchFamily="16" charset="0"/>
            </a:endParaRPr>
          </a:p>
          <a:p>
            <a:pPr indent="-331788" algn="just">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Atomicity: </a:t>
            </a:r>
            <a:r>
              <a:rPr lang="en-US" sz="2400" dirty="0">
                <a:cs typeface="Times New Roman" pitchFamily="16" charset="0"/>
              </a:rPr>
              <a:t>Enforced by the recovery protocol.</a:t>
            </a:r>
          </a:p>
          <a:p>
            <a:pPr indent="-331788" algn="just">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Consistency preservation: </a:t>
            </a:r>
            <a:r>
              <a:rPr lang="en-US" sz="2400" dirty="0">
                <a:cs typeface="Times New Roman" pitchFamily="16" charset="0"/>
              </a:rPr>
              <a:t>Specifies that each transaction does a correct action on the database on its own. Application programmers and DBMS constraint enforcement are responsible for this.</a:t>
            </a:r>
          </a:p>
          <a:p>
            <a:pPr indent="-331788" algn="just">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Isolation: </a:t>
            </a:r>
            <a:r>
              <a:rPr lang="en-US" sz="2400" dirty="0">
                <a:cs typeface="Times New Roman" pitchFamily="16" charset="0"/>
              </a:rPr>
              <a:t>Responsibility of the concurrency control protocol.</a:t>
            </a:r>
          </a:p>
          <a:p>
            <a:pPr indent="-331788" algn="just">
              <a:spcBef>
                <a:spcPts val="600"/>
              </a:spcBef>
              <a:buFont typeface="Arial"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a:solidFill>
                  <a:srgbClr val="00B050"/>
                </a:solidFill>
                <a:cs typeface="Times New Roman" pitchFamily="16" charset="0"/>
              </a:rPr>
              <a:t>Durability or permanency:</a:t>
            </a:r>
            <a:r>
              <a:rPr lang="en-US" sz="2400" dirty="0">
                <a:cs typeface="Times New Roman" pitchFamily="16" charset="0"/>
              </a:rPr>
              <a:t> Enforced by the recovery protocol</a:t>
            </a:r>
            <a:r>
              <a:rPr lang="en-US" sz="2400" dirty="0">
                <a:latin typeface="Palatino" charset="0"/>
                <a:cs typeface="Times New Roman" pitchFamily="16"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457200" y="204788"/>
            <a:ext cx="77724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Purpose of Concurrency Control</a:t>
            </a:r>
          </a:p>
        </p:txBody>
      </p:sp>
      <p:sp>
        <p:nvSpPr>
          <p:cNvPr id="7170" name="Rectangle 2"/>
          <p:cNvSpPr>
            <a:spLocks noGrp="1" noChangeArrowheads="1"/>
          </p:cNvSpPr>
          <p:nvPr>
            <p:ph type="body" idx="1"/>
          </p:nvPr>
        </p:nvSpPr>
        <p:spPr>
          <a:xfrm>
            <a:off x="0" y="1117600"/>
            <a:ext cx="8377238" cy="4368800"/>
          </a:xfrm>
          <a:ln/>
        </p:spPr>
        <p:txBody>
          <a:bodyPr lIns="90000" tIns="46800" rIns="90000" bIns="46800"/>
          <a:lstStyle/>
          <a:p>
            <a:pPr marL="0" indent="0">
              <a:lnSpc>
                <a:spcPct val="90000"/>
              </a:lnSpc>
              <a:spcBef>
                <a:spcPts val="1800"/>
              </a:spcBef>
              <a:spcAft>
                <a:spcPts val="1800"/>
              </a:spcAft>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914400" lvl="2" indent="-342900">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To ensure that the Isolation Property is maintained while allowing transactions to execute concurrently (outcome of concurrent transactions </a:t>
            </a:r>
            <a:r>
              <a:rPr lang="en-US" i="1">
                <a:cs typeface="Times New Roman" pitchFamily="16" charset="0"/>
              </a:rPr>
              <a:t>should appear as though they were executed in isolation</a:t>
            </a:r>
            <a:r>
              <a:rPr lang="en-US">
                <a:cs typeface="Times New Roman" pitchFamily="16" charset="0"/>
              </a:rPr>
              <a:t>). </a:t>
            </a:r>
          </a:p>
          <a:p>
            <a:pPr marL="914400" lvl="2" indent="-342900">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To preserve database consistency by ensuring that the schedules of executing transactions are serializable.</a:t>
            </a:r>
          </a:p>
          <a:p>
            <a:pPr marL="914400" lvl="2" indent="-342900">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To resolve read-write and write-write conflicts among transactions.</a:t>
            </a:r>
          </a:p>
          <a:p>
            <a:pPr marL="457200" lvl="1" indent="0" algn="just">
              <a:lnSpc>
                <a:spcPct val="90000"/>
              </a:lnSpc>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  </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a:xfrm>
            <a:off x="0" y="204788"/>
            <a:ext cx="8686800"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Concurrency Control Protocols (CCPs)</a:t>
            </a:r>
          </a:p>
        </p:txBody>
      </p:sp>
      <p:sp>
        <p:nvSpPr>
          <p:cNvPr id="8194" name="Rectangle 2"/>
          <p:cNvSpPr>
            <a:spLocks noGrp="1" noChangeArrowheads="1"/>
          </p:cNvSpPr>
          <p:nvPr>
            <p:ph type="body" idx="1"/>
          </p:nvPr>
        </p:nvSpPr>
        <p:spPr>
          <a:xfrm>
            <a:off x="1588" y="1108075"/>
            <a:ext cx="8377237" cy="4368800"/>
          </a:xfrm>
          <a:ln/>
        </p:spPr>
        <p:txBody>
          <a:bodyPr lIns="90000" tIns="46800" rIns="90000" bIns="46800"/>
          <a:lstStyle/>
          <a:p>
            <a:pPr marL="0" indent="0">
              <a:lnSpc>
                <a:spcPct val="90000"/>
              </a:lnSpc>
              <a:spcBef>
                <a:spcPts val="1800"/>
              </a:spcBef>
              <a:spcAft>
                <a:spcPts val="1800"/>
              </a:spcAft>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914400" lvl="2" indent="-342900" algn="just">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A CCP is a set of rules enforced by the DBMS to ensure serializable schedules </a:t>
            </a:r>
          </a:p>
          <a:p>
            <a:pPr marL="914400" lvl="2" indent="-342900" algn="just">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Also known as CCMs (Concurrency Control Methods)</a:t>
            </a:r>
          </a:p>
          <a:p>
            <a:pPr marL="914400" lvl="2" indent="-342900" algn="just">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Main protocol known as 2PL (2-phase locking), which is based on </a:t>
            </a:r>
            <a:r>
              <a:rPr lang="en-US" i="1">
                <a:cs typeface="Times New Roman" pitchFamily="16" charset="0"/>
              </a:rPr>
              <a:t>locking the data items</a:t>
            </a:r>
          </a:p>
          <a:p>
            <a:pPr marL="914400" lvl="2" indent="-342900" algn="just">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Other protocols use different techniques</a:t>
            </a:r>
          </a:p>
          <a:p>
            <a:pPr marL="914400" lvl="2" indent="-342900" algn="just">
              <a:lnSpc>
                <a:spcPct val="9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We first cover 2PL in some detail, then give an overview of other techniques</a:t>
            </a:r>
          </a:p>
          <a:p>
            <a:pPr marL="457200" lvl="1" indent="0" algn="just">
              <a:lnSpc>
                <a:spcPct val="90000"/>
              </a:lnSpc>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  </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a:xfrm>
            <a:off x="404813" y="84138"/>
            <a:ext cx="7772400" cy="766762"/>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Protocol</a:t>
            </a:r>
          </a:p>
        </p:txBody>
      </p:sp>
      <p:sp>
        <p:nvSpPr>
          <p:cNvPr id="9218" name="Rectangle 2"/>
          <p:cNvSpPr>
            <a:spLocks noGrp="1" noChangeArrowheads="1"/>
          </p:cNvSpPr>
          <p:nvPr>
            <p:ph type="body" idx="1"/>
          </p:nvPr>
        </p:nvSpPr>
        <p:spPr>
          <a:xfrm>
            <a:off x="228600" y="1524000"/>
            <a:ext cx="8105775" cy="4983162"/>
          </a:xfrm>
          <a:ln/>
        </p:spPr>
        <p:txBody>
          <a:bodyPr lIns="90000" tIns="46800" rIns="90000" bIns="46800">
            <a:normAutofit lnSpcReduction="10000"/>
          </a:bodyPr>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Based on each transaction securing a </a:t>
            </a:r>
            <a:r>
              <a:rPr lang="en-US" sz="2400" b="1">
                <a:cs typeface="Times New Roman" pitchFamily="16" charset="0"/>
              </a:rPr>
              <a:t>lock</a:t>
            </a:r>
            <a:r>
              <a:rPr lang="en-US" sz="2400">
                <a:cs typeface="Times New Roman" pitchFamily="16" charset="0"/>
              </a:rPr>
              <a:t> on a data item before using it:</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Locking enforces </a:t>
            </a:r>
            <a:r>
              <a:rPr lang="en-US" sz="2200" b="1">
                <a:cs typeface="Times New Roman" pitchFamily="16" charset="0"/>
              </a:rPr>
              <a:t>mutual exclusion </a:t>
            </a:r>
            <a:r>
              <a:rPr lang="en-US" sz="2200">
                <a:cs typeface="Times New Roman" pitchFamily="16" charset="0"/>
              </a:rPr>
              <a:t>when accessing a data item – simplest kind of lock is a </a:t>
            </a:r>
            <a:r>
              <a:rPr lang="en-US" sz="2200" b="1">
                <a:cs typeface="Times New Roman" pitchFamily="16" charset="0"/>
              </a:rPr>
              <a:t>binary lock, </a:t>
            </a:r>
            <a:r>
              <a:rPr lang="en-US" sz="2200">
                <a:cs typeface="Times New Roman" pitchFamily="16" charset="0"/>
              </a:rPr>
              <a:t> which secures permission to Read or Write a data item for a transaction.</a:t>
            </a:r>
            <a:r>
              <a:rPr lang="en-US" sz="2600">
                <a:cs typeface="Times New Roman" pitchFamily="16" charset="0"/>
              </a:rPr>
              <a:t>  </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Example: If T1 requests Lock(X) operation, the system grants the lock </a:t>
            </a:r>
            <a:r>
              <a:rPr lang="en-US" sz="2200" i="1">
                <a:cs typeface="Times New Roman" pitchFamily="16" charset="0"/>
              </a:rPr>
              <a:t>unless item X is already locked by another transaction</a:t>
            </a:r>
            <a:r>
              <a:rPr lang="en-US" sz="2200">
                <a:cs typeface="Times New Roman" pitchFamily="16" charset="0"/>
              </a:rPr>
              <a:t>. If request is granted, data item X is locked on behalf of the requesting transaction T1.  </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Unlocking operation removes the lock.</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Example: If T1 issues Unlock (X), data item X is made available to all other transactions.</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p:nvPr>
        </p:nvSpPr>
        <p:spPr>
          <a:xfrm>
            <a:off x="404813" y="84138"/>
            <a:ext cx="7772400" cy="766762"/>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Protocol</a:t>
            </a:r>
          </a:p>
        </p:txBody>
      </p:sp>
      <p:sp>
        <p:nvSpPr>
          <p:cNvPr id="10242" name="Rectangle 2"/>
          <p:cNvSpPr>
            <a:spLocks noGrp="1" noChangeArrowheads="1"/>
          </p:cNvSpPr>
          <p:nvPr>
            <p:ph type="body" idx="1"/>
          </p:nvPr>
        </p:nvSpPr>
        <p:spPr>
          <a:xfrm>
            <a:off x="0" y="1447800"/>
            <a:ext cx="8105775" cy="5195887"/>
          </a:xfrm>
          <a:ln/>
        </p:spPr>
        <p:txBody>
          <a:bodyPr lIns="90000" tIns="46800" rIns="90000" bIns="46800">
            <a:normAutofit lnSpcReduction="10000"/>
          </a:bodyPr>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System maintains </a:t>
            </a:r>
            <a:r>
              <a:rPr lang="en-US" sz="2200" b="1">
                <a:cs typeface="Times New Roman" pitchFamily="16" charset="0"/>
              </a:rPr>
              <a:t>lock table </a:t>
            </a:r>
            <a:r>
              <a:rPr lang="en-US" sz="2200">
                <a:cs typeface="Times New Roman" pitchFamily="16" charset="0"/>
              </a:rPr>
              <a:t>to keep track of which items are locked by which transactions  </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Lock(X) and Unlock (X) are hence </a:t>
            </a:r>
            <a:r>
              <a:rPr lang="en-US" sz="2200" b="1">
                <a:cs typeface="Times New Roman" pitchFamily="16" charset="0"/>
              </a:rPr>
              <a:t>system calls </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200" b="1">
              <a:cs typeface="Times New Roman" pitchFamily="16" charset="0"/>
            </a:endParaRP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Transactions that request a lock but do not have it granted can be placed on a </a:t>
            </a:r>
            <a:r>
              <a:rPr lang="en-US" sz="2200" b="1">
                <a:cs typeface="Times New Roman" pitchFamily="16" charset="0"/>
              </a:rPr>
              <a:t>waiting queue </a:t>
            </a:r>
            <a:r>
              <a:rPr lang="en-US" sz="2200">
                <a:cs typeface="Times New Roman" pitchFamily="16" charset="0"/>
              </a:rPr>
              <a:t>for the item</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200">
              <a:cs typeface="Times New Roman" pitchFamily="16" charset="0"/>
            </a:endParaRP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Transaction T must unlock any items it had locked before T terminates</a:t>
            </a: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200">
              <a:cs typeface="Times New Roman" pitchFamily="16" charset="0"/>
            </a:endParaRPr>
          </a:p>
          <a:p>
            <a:pPr marL="4572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200">
                <a:cs typeface="Times New Roman" pitchFamily="16" charset="0"/>
              </a:rPr>
              <a:t>Next slides gives overview of lock and unlock operations</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p:cNvPicPr>
            <a:picLocks noChangeAspect="1" noChangeArrowheads="1"/>
          </p:cNvPicPr>
          <p:nvPr/>
        </p:nvPicPr>
        <p:blipFill>
          <a:blip r:embed="rId3" cstate="print"/>
          <a:srcRect/>
          <a:stretch>
            <a:fillRect/>
          </a:stretch>
        </p:blipFill>
        <p:spPr bwMode="auto">
          <a:xfrm>
            <a:off x="304800" y="1600200"/>
            <a:ext cx="8226425" cy="3286125"/>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0" y="0"/>
            <a:ext cx="86868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12290" name="Rectangle 2"/>
          <p:cNvSpPr>
            <a:spLocks noGrp="1" noChangeArrowheads="1"/>
          </p:cNvSpPr>
          <p:nvPr>
            <p:ph type="body" idx="1"/>
          </p:nvPr>
        </p:nvSpPr>
        <p:spPr>
          <a:xfrm>
            <a:off x="457200" y="1512887"/>
            <a:ext cx="7772400" cy="3832225"/>
          </a:xfrm>
          <a:ln/>
        </p:spPr>
        <p:txBody>
          <a:bodyPr lIns="90000" tIns="46800" rIns="90000" bIns="46800"/>
          <a:lstStyle/>
          <a:p>
            <a:pPr marL="228600" indent="-214313">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b="1" dirty="0"/>
              <a:t>Locking for database items:</a:t>
            </a:r>
            <a:r>
              <a:rPr lang="en-US" sz="2000" dirty="0"/>
              <a:t> </a:t>
            </a:r>
          </a:p>
          <a:p>
            <a:pPr marL="228600" indent="-214313">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dirty="0"/>
              <a:t>	For database purposes, </a:t>
            </a:r>
            <a:r>
              <a:rPr lang="en-US" sz="2000" i="1" dirty="0"/>
              <a:t>binary locks are not sufficient</a:t>
            </a:r>
            <a:r>
              <a:rPr lang="en-US" sz="2000" dirty="0"/>
              <a:t>:</a:t>
            </a:r>
          </a:p>
          <a:p>
            <a:pPr marL="728663" lvl="1" indent="-271463">
              <a:buClr>
                <a:srgbClr val="FF0000"/>
              </a:buClr>
              <a:buFont typeface="Times New Roman" pitchFamily="16" charset="0"/>
              <a:buChar char="–"/>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dirty="0"/>
              <a:t>Two locks modes are needed (a) </a:t>
            </a:r>
            <a:r>
              <a:rPr lang="en-US" sz="2000" b="1" dirty="0"/>
              <a:t>shared lock</a:t>
            </a:r>
            <a:r>
              <a:rPr lang="en-US" sz="2000" dirty="0"/>
              <a:t> (read lock) and (b) </a:t>
            </a:r>
            <a:r>
              <a:rPr lang="en-US" sz="2000" b="1" dirty="0"/>
              <a:t>exclusive lock</a:t>
            </a:r>
            <a:r>
              <a:rPr lang="en-US" sz="2000" dirty="0"/>
              <a:t> (write lock).</a:t>
            </a:r>
          </a:p>
          <a:p>
            <a:pPr marL="728663" lvl="1" indent="-271463" algn="just">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dirty="0"/>
              <a:t>Shared mode:  Read lock (X).  Several transactions can hold shared lock on X (because read operations are not conflicting).</a:t>
            </a:r>
          </a:p>
          <a:p>
            <a:pPr marL="728663" lvl="1" indent="-271463" algn="just">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dirty="0"/>
              <a:t>Exclusive mode: Write lock (X).  Only one write lock on X can exist at any time on an item X. (No read or write locks on X by other transactions can exist).</a:t>
            </a:r>
          </a:p>
          <a:p>
            <a:pPr marL="728663" lvl="1" indent="-271463" algn="ctr">
              <a:lnSpc>
                <a:spcPct val="90000"/>
              </a:lnSpc>
              <a:spcBef>
                <a:spcPts val="7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dirty="0"/>
              <a:t>Conflict matrix</a:t>
            </a:r>
          </a:p>
        </p:txBody>
      </p:sp>
      <p:graphicFrame>
        <p:nvGraphicFramePr>
          <p:cNvPr id="12291" name="Object 3"/>
          <p:cNvGraphicFramePr>
            <a:graphicFrameLocks noChangeAspect="1"/>
          </p:cNvGraphicFramePr>
          <p:nvPr/>
        </p:nvGraphicFramePr>
        <p:xfrm>
          <a:off x="5638800" y="4800600"/>
          <a:ext cx="1717675" cy="1755775"/>
        </p:xfrm>
        <a:graphic>
          <a:graphicData uri="http://schemas.openxmlformats.org/presentationml/2006/ole">
            <mc:AlternateContent xmlns:mc="http://schemas.openxmlformats.org/markup-compatibility/2006">
              <mc:Choice xmlns:v="urn:schemas-microsoft-com:vml" Requires="v">
                <p:oleObj spid="_x0000_s1058" r:id="rId4" imgW="1717560" imgH="1755720" progId="">
                  <p:embed/>
                </p:oleObj>
              </mc:Choice>
              <mc:Fallback>
                <p:oleObj r:id="rId4" imgW="1717560" imgH="175572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4800600"/>
                        <a:ext cx="1717675" cy="175577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0" y="0"/>
            <a:ext cx="86868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13314" name="Rectangle 2"/>
          <p:cNvSpPr>
            <a:spLocks noGrp="1" noChangeArrowheads="1"/>
          </p:cNvSpPr>
          <p:nvPr>
            <p:ph type="body" idx="1"/>
          </p:nvPr>
        </p:nvSpPr>
        <p:spPr>
          <a:xfrm>
            <a:off x="457200" y="1593850"/>
            <a:ext cx="7772400" cy="5111750"/>
          </a:xfrm>
          <a:ln/>
        </p:spPr>
        <p:txBody>
          <a:bodyPr lIns="90000" tIns="46800" rIns="90000" bIns="46800"/>
          <a:lstStyle/>
          <a:p>
            <a:pPr marL="228600" indent="-214313">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 </a:t>
            </a:r>
          </a:p>
          <a:p>
            <a:pPr marL="228600" indent="-214313">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	Three operations are now needed:</a:t>
            </a:r>
          </a:p>
          <a:p>
            <a:pPr marL="728663" lvl="1" indent="-271463">
              <a:buClr>
                <a:srgbClr val="FF0000"/>
              </a:buClr>
              <a:buFont typeface="Times New Roman" pitchFamily="16" charset="0"/>
              <a:buChar char="–"/>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read_lock(X): transaction T requests a read (shared) lock on item X</a:t>
            </a:r>
          </a:p>
          <a:p>
            <a:pPr marL="728663" lvl="1" indent="-271463">
              <a:buClr>
                <a:srgbClr val="FF0000"/>
              </a:buClr>
              <a:buFont typeface="Times New Roman" pitchFamily="16" charset="0"/>
              <a:buChar char="–"/>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write_lock(X): transaction T requests a write (exclusive) lock on item X</a:t>
            </a:r>
          </a:p>
          <a:p>
            <a:pPr marL="728663" lvl="1" indent="-271463">
              <a:buClr>
                <a:srgbClr val="FF0000"/>
              </a:buClr>
              <a:buFont typeface="Times New Roman" pitchFamily="16" charset="0"/>
              <a:buChar char="–"/>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unlock(X): transaction T unlocks an item that it holds a lock on (shared or exclusive)</a:t>
            </a:r>
          </a:p>
          <a:p>
            <a:pPr marL="728663" lvl="1" indent="-271463" algn="just">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Transaction can be blocked (forced to wait) if the item is held by other transactions </a:t>
            </a:r>
            <a:r>
              <a:rPr lang="en-US" sz="2000" b="1"/>
              <a:t>in conflicting lock mode</a:t>
            </a:r>
          </a:p>
          <a:p>
            <a:pPr marL="728663" lvl="1" indent="-271463" algn="just">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Conflicts are write-write or read-write (read-read is not conflicting)</a:t>
            </a:r>
          </a:p>
          <a:p>
            <a:pPr marL="728663" lvl="1" indent="-271463" algn="just">
              <a:lnSpc>
                <a:spcPct val="90000"/>
              </a:lnSpc>
              <a:spcBef>
                <a:spcPts val="12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r>
              <a:rPr lang="en-US" sz="2000"/>
              <a:t>Next slide gives outline of these three operations</a:t>
            </a:r>
          </a:p>
          <a:p>
            <a:pPr marL="728663" lvl="1" indent="-271463" algn="ctr">
              <a:lnSpc>
                <a:spcPct val="90000"/>
              </a:lnSpc>
              <a:spcBef>
                <a:spcPts val="750"/>
              </a:spcBef>
              <a:buClrTx/>
              <a:buFontTx/>
              <a:buNone/>
              <a:tabLst>
                <a:tab pos="228600" algn="l"/>
                <a:tab pos="341313" algn="l"/>
                <a:tab pos="798513" algn="l"/>
                <a:tab pos="1255713" algn="l"/>
                <a:tab pos="1712913" algn="l"/>
                <a:tab pos="2170113" algn="l"/>
                <a:tab pos="2627313" algn="l"/>
                <a:tab pos="3084513" algn="l"/>
                <a:tab pos="3541713" algn="l"/>
                <a:tab pos="3998913" algn="l"/>
                <a:tab pos="4456113" algn="l"/>
                <a:tab pos="4913313" algn="l"/>
                <a:tab pos="5370513" algn="l"/>
                <a:tab pos="5827713" algn="l"/>
                <a:tab pos="6284913" algn="l"/>
                <a:tab pos="6742113" algn="l"/>
                <a:tab pos="7199313" algn="l"/>
                <a:tab pos="7656513" algn="l"/>
                <a:tab pos="8113713" algn="l"/>
                <a:tab pos="8570913" algn="l"/>
                <a:tab pos="9028113" algn="l"/>
              </a:tabLst>
            </a:pPr>
            <a:endParaRPr lang="en-US" sz="200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3"/>
          <a:srcRect/>
          <a:stretch>
            <a:fillRect/>
          </a:stretch>
        </p:blipFill>
        <p:spPr bwMode="auto">
          <a:xfrm>
            <a:off x="914400" y="1676400"/>
            <a:ext cx="7086600" cy="4946650"/>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0" y="0"/>
            <a:ext cx="86868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15362" name="Rectangle 2"/>
          <p:cNvSpPr>
            <a:spLocks noGrp="1" noChangeArrowheads="1"/>
          </p:cNvSpPr>
          <p:nvPr>
            <p:ph type="body" idx="1"/>
          </p:nvPr>
        </p:nvSpPr>
        <p:spPr>
          <a:xfrm>
            <a:off x="152400" y="1600200"/>
            <a:ext cx="8416925" cy="4114800"/>
          </a:xfrm>
          <a:ln/>
        </p:spPr>
        <p:txBody>
          <a:bodyPr lIns="90000" tIns="46800" rIns="90000" bIns="46800"/>
          <a:lstStyle/>
          <a:p>
            <a:pPr marL="571500" indent="-557213">
              <a:spcBef>
                <a:spcPts val="600"/>
              </a:spcBef>
              <a:buClrTx/>
              <a:buFontTx/>
              <a:buNone/>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b="1">
                <a:cs typeface="Times New Roman" pitchFamily="16" charset="0"/>
              </a:rPr>
              <a:t>Two-Phase Locking Techniques: E</a:t>
            </a:r>
            <a:r>
              <a:rPr lang="en-US" sz="2400" b="1"/>
              <a:t>ssential components</a:t>
            </a:r>
          </a:p>
          <a:p>
            <a:pPr marL="685800" lvl="1" indent="0" algn="just">
              <a:spcBef>
                <a:spcPts val="600"/>
              </a:spcBef>
              <a:buClrTx/>
              <a:buFontTx/>
              <a:buNone/>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b="1">
                <a:cs typeface="Times New Roman" pitchFamily="16" charset="0"/>
              </a:rPr>
              <a:t>Lock Manager:</a:t>
            </a:r>
            <a:r>
              <a:rPr lang="en-US" sz="2400">
                <a:cs typeface="Times New Roman" pitchFamily="16" charset="0"/>
              </a:rPr>
              <a:t> Subsystem of DBMS that manages locks on data items.</a:t>
            </a:r>
          </a:p>
          <a:p>
            <a:pPr marL="685800" lvl="1" indent="0" algn="just">
              <a:spcBef>
                <a:spcPts val="600"/>
              </a:spcBef>
              <a:buClrTx/>
              <a:buFontTx/>
              <a:buNone/>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b="1">
                <a:cs typeface="Times New Roman" pitchFamily="16" charset="0"/>
              </a:rPr>
              <a:t>Lock table:</a:t>
            </a:r>
            <a:r>
              <a:rPr lang="en-US" sz="2400">
                <a:cs typeface="Times New Roman" pitchFamily="16" charset="0"/>
              </a:rPr>
              <a:t> Lock manager uses it to store information about </a:t>
            </a:r>
            <a:r>
              <a:rPr lang="en-US" sz="2400" i="1">
                <a:cs typeface="Times New Roman" pitchFamily="16" charset="0"/>
              </a:rPr>
              <a:t>locked data items</a:t>
            </a:r>
            <a:r>
              <a:rPr lang="en-US" sz="2400">
                <a:cs typeface="Times New Roman" pitchFamily="16" charset="0"/>
              </a:rPr>
              <a:t>, such as: data item id, transaction id, lock mode, list of waiting transaction ids, etc. One simple way to implement a lock table is through linked list (shown). Alternatively, a </a:t>
            </a:r>
            <a:r>
              <a:rPr lang="en-US" sz="2400" b="1">
                <a:cs typeface="Times New Roman" pitchFamily="16" charset="0"/>
              </a:rPr>
              <a:t>hash table</a:t>
            </a:r>
            <a:r>
              <a:rPr lang="en-US" sz="2400">
                <a:cs typeface="Times New Roman" pitchFamily="16" charset="0"/>
              </a:rPr>
              <a:t> with item id as hash key can be used.</a:t>
            </a:r>
          </a:p>
        </p:txBody>
      </p:sp>
      <p:graphicFrame>
        <p:nvGraphicFramePr>
          <p:cNvPr id="15363" name="Object 3"/>
          <p:cNvGraphicFramePr>
            <a:graphicFrameLocks noChangeAspect="1"/>
          </p:cNvGraphicFramePr>
          <p:nvPr/>
        </p:nvGraphicFramePr>
        <p:xfrm>
          <a:off x="1447800" y="5257800"/>
          <a:ext cx="6653213" cy="720725"/>
        </p:xfrm>
        <a:graphic>
          <a:graphicData uri="http://schemas.openxmlformats.org/presentationml/2006/ole">
            <mc:AlternateContent xmlns:mc="http://schemas.openxmlformats.org/markup-compatibility/2006">
              <mc:Choice xmlns:v="urn:schemas-microsoft-com:vml" Requires="v">
                <p:oleObj spid="_x0000_s2082" r:id="rId4" imgW="5879880" imgH="636480" progId="">
                  <p:embed/>
                </p:oleObj>
              </mc:Choice>
              <mc:Fallback>
                <p:oleObj r:id="rId4" imgW="5879880" imgH="63648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5257800"/>
                        <a:ext cx="6653213" cy="72072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a:xfrm>
            <a:off x="0" y="0"/>
            <a:ext cx="86868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16386" name="Rectangle 2"/>
          <p:cNvSpPr>
            <a:spLocks noGrp="1" noChangeArrowheads="1"/>
          </p:cNvSpPr>
          <p:nvPr>
            <p:ph type="body" idx="1"/>
          </p:nvPr>
        </p:nvSpPr>
        <p:spPr>
          <a:xfrm>
            <a:off x="-21771" y="1295400"/>
            <a:ext cx="3276600" cy="1343025"/>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dirty="0"/>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dirty="0">
                <a:cs typeface="Times New Roman" pitchFamily="16" charset="0"/>
              </a:rPr>
              <a:t>Rules for locking:</a:t>
            </a: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dirty="0">
              <a:cs typeface="Times New Roman" pitchFamily="16" charset="0"/>
            </a:endParaRPr>
          </a:p>
        </p:txBody>
      </p:sp>
      <p:sp>
        <p:nvSpPr>
          <p:cNvPr id="16387" name="Rectangle 3"/>
          <p:cNvSpPr>
            <a:spLocks noChangeArrowheads="1"/>
          </p:cNvSpPr>
          <p:nvPr/>
        </p:nvSpPr>
        <p:spPr bwMode="auto">
          <a:xfrm>
            <a:off x="609600" y="2438400"/>
            <a:ext cx="7848600" cy="2679837"/>
          </a:xfrm>
          <a:prstGeom prst="rect">
            <a:avLst/>
          </a:prstGeom>
          <a:noFill/>
          <a:ln w="9525">
            <a:noFill/>
            <a:round/>
            <a:headEnd/>
            <a:tailEnd/>
          </a:ln>
          <a:effectLst/>
        </p:spPr>
        <p:txBody>
          <a:bodyPr wrap="square" lIns="90000" tIns="46800" rIns="90000" bIns="46800">
            <a:spAutoFit/>
          </a:bodyPr>
          <a:lstStyle/>
          <a:p>
            <a:pPr marL="328613" indent="-328613">
              <a:buFont typeface="Times New Roman" pitchFamily="16" charset="0"/>
              <a:buChar char="•"/>
              <a:tabLst>
                <a:tab pos="328613" algn="l"/>
                <a:tab pos="785813" algn="l"/>
                <a:tab pos="1243013" algn="l"/>
                <a:tab pos="1700213" algn="l"/>
                <a:tab pos="2157413" algn="l"/>
                <a:tab pos="2614613" algn="l"/>
                <a:tab pos="3071813" algn="l"/>
                <a:tab pos="3529013" algn="l"/>
                <a:tab pos="3986213" algn="l"/>
                <a:tab pos="4443413" algn="l"/>
                <a:tab pos="4900613" algn="l"/>
                <a:tab pos="5357813" algn="l"/>
                <a:tab pos="5815013" algn="l"/>
                <a:tab pos="6272213" algn="l"/>
                <a:tab pos="6729413" algn="l"/>
                <a:tab pos="7186613" algn="l"/>
                <a:tab pos="7643813" algn="l"/>
                <a:tab pos="8101013" algn="l"/>
                <a:tab pos="8558213" algn="l"/>
                <a:tab pos="9015413" algn="l"/>
                <a:tab pos="9472613" algn="l"/>
              </a:tabLst>
            </a:pPr>
            <a:r>
              <a:rPr lang="en-US" sz="2400" dirty="0">
                <a:solidFill>
                  <a:srgbClr val="000000"/>
                </a:solidFill>
              </a:rPr>
              <a:t>Transaction must request appropriate lock on a data item X before it reads or writes X.</a:t>
            </a:r>
          </a:p>
          <a:p>
            <a:pPr marL="328613" indent="-328613">
              <a:buFont typeface="Times New Roman" pitchFamily="16" charset="0"/>
              <a:buChar char="•"/>
              <a:tabLst>
                <a:tab pos="328613" algn="l"/>
                <a:tab pos="785813" algn="l"/>
                <a:tab pos="1243013" algn="l"/>
                <a:tab pos="1700213" algn="l"/>
                <a:tab pos="2157413" algn="l"/>
                <a:tab pos="2614613" algn="l"/>
                <a:tab pos="3071813" algn="l"/>
                <a:tab pos="3529013" algn="l"/>
                <a:tab pos="3986213" algn="l"/>
                <a:tab pos="4443413" algn="l"/>
                <a:tab pos="4900613" algn="l"/>
                <a:tab pos="5357813" algn="l"/>
                <a:tab pos="5815013" algn="l"/>
                <a:tab pos="6272213" algn="l"/>
                <a:tab pos="6729413" algn="l"/>
                <a:tab pos="7186613" algn="l"/>
                <a:tab pos="7643813" algn="l"/>
                <a:tab pos="8101013" algn="l"/>
                <a:tab pos="8558213" algn="l"/>
                <a:tab pos="9015413" algn="l"/>
                <a:tab pos="9472613" algn="l"/>
              </a:tabLst>
            </a:pPr>
            <a:r>
              <a:rPr lang="en-US" sz="2400" dirty="0">
                <a:solidFill>
                  <a:srgbClr val="000000"/>
                </a:solidFill>
              </a:rPr>
              <a:t>If T holds a write (exclusive) lock on X, it can both read and write X.</a:t>
            </a:r>
          </a:p>
          <a:p>
            <a:pPr marL="328613" indent="-328613">
              <a:buFont typeface="Times New Roman" pitchFamily="16" charset="0"/>
              <a:buChar char="•"/>
              <a:tabLst>
                <a:tab pos="328613" algn="l"/>
                <a:tab pos="785813" algn="l"/>
                <a:tab pos="1243013" algn="l"/>
                <a:tab pos="1700213" algn="l"/>
                <a:tab pos="2157413" algn="l"/>
                <a:tab pos="2614613" algn="l"/>
                <a:tab pos="3071813" algn="l"/>
                <a:tab pos="3529013" algn="l"/>
                <a:tab pos="3986213" algn="l"/>
                <a:tab pos="4443413" algn="l"/>
                <a:tab pos="4900613" algn="l"/>
                <a:tab pos="5357813" algn="l"/>
                <a:tab pos="5815013" algn="l"/>
                <a:tab pos="6272213" algn="l"/>
                <a:tab pos="6729413" algn="l"/>
                <a:tab pos="7186613" algn="l"/>
                <a:tab pos="7643813" algn="l"/>
                <a:tab pos="8101013" algn="l"/>
                <a:tab pos="8558213" algn="l"/>
                <a:tab pos="9015413" algn="l"/>
                <a:tab pos="9472613" algn="l"/>
              </a:tabLst>
            </a:pPr>
            <a:r>
              <a:rPr lang="en-US" sz="2400" dirty="0">
                <a:solidFill>
                  <a:srgbClr val="000000"/>
                </a:solidFill>
              </a:rPr>
              <a:t>If T holds a read lock on X, it can only read X.</a:t>
            </a:r>
          </a:p>
          <a:p>
            <a:pPr marL="328613" indent="-328613">
              <a:buFont typeface="Times New Roman" pitchFamily="16" charset="0"/>
              <a:buChar char="•"/>
              <a:tabLst>
                <a:tab pos="328613" algn="l"/>
                <a:tab pos="785813" algn="l"/>
                <a:tab pos="1243013" algn="l"/>
                <a:tab pos="1700213" algn="l"/>
                <a:tab pos="2157413" algn="l"/>
                <a:tab pos="2614613" algn="l"/>
                <a:tab pos="3071813" algn="l"/>
                <a:tab pos="3529013" algn="l"/>
                <a:tab pos="3986213" algn="l"/>
                <a:tab pos="4443413" algn="l"/>
                <a:tab pos="4900613" algn="l"/>
                <a:tab pos="5357813" algn="l"/>
                <a:tab pos="5815013" algn="l"/>
                <a:tab pos="6272213" algn="l"/>
                <a:tab pos="6729413" algn="l"/>
                <a:tab pos="7186613" algn="l"/>
                <a:tab pos="7643813" algn="l"/>
                <a:tab pos="8101013" algn="l"/>
                <a:tab pos="8558213" algn="l"/>
                <a:tab pos="9015413" algn="l"/>
                <a:tab pos="9472613" algn="l"/>
              </a:tabLst>
            </a:pPr>
            <a:r>
              <a:rPr lang="en-US" sz="2400" dirty="0">
                <a:solidFill>
                  <a:srgbClr val="000000"/>
                </a:solidFill>
              </a:rPr>
              <a:t>T must unlock all items that it holds before terminating</a:t>
            </a:r>
          </a:p>
          <a:p>
            <a:pPr marL="328613" indent="-328613">
              <a:buFont typeface="Times New Roman" pitchFamily="16" charset="0"/>
              <a:buChar char="•"/>
              <a:tabLst>
                <a:tab pos="328613" algn="l"/>
                <a:tab pos="785813" algn="l"/>
                <a:tab pos="1243013" algn="l"/>
                <a:tab pos="1700213" algn="l"/>
                <a:tab pos="2157413" algn="l"/>
                <a:tab pos="2614613" algn="l"/>
                <a:tab pos="3071813" algn="l"/>
                <a:tab pos="3529013" algn="l"/>
                <a:tab pos="3986213" algn="l"/>
                <a:tab pos="4443413" algn="l"/>
                <a:tab pos="4900613" algn="l"/>
                <a:tab pos="5357813" algn="l"/>
                <a:tab pos="5815013" algn="l"/>
                <a:tab pos="6272213" algn="l"/>
                <a:tab pos="6729413" algn="l"/>
                <a:tab pos="7186613" algn="l"/>
                <a:tab pos="7643813" algn="l"/>
                <a:tab pos="8101013" algn="l"/>
                <a:tab pos="8558213" algn="l"/>
                <a:tab pos="9015413" algn="l"/>
                <a:tab pos="9472613" algn="l"/>
              </a:tabLst>
            </a:pPr>
            <a:r>
              <a:rPr lang="en-US" sz="2400" dirty="0">
                <a:solidFill>
                  <a:srgbClr val="000000"/>
                </a:solidFill>
              </a:rPr>
              <a:t>(also T cannot unlock X unless it holds a lock on X).</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p:nvPr>
        </p:nvSpPr>
        <p:spPr>
          <a:xfrm>
            <a:off x="0" y="0"/>
            <a:ext cx="86868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17410"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17411" name="Rectangle 3"/>
          <p:cNvSpPr>
            <a:spLocks noChangeArrowheads="1"/>
          </p:cNvSpPr>
          <p:nvPr/>
        </p:nvSpPr>
        <p:spPr bwMode="auto">
          <a:xfrm>
            <a:off x="0" y="1600200"/>
            <a:ext cx="8686800" cy="4953000"/>
          </a:xfrm>
          <a:prstGeom prst="rect">
            <a:avLst/>
          </a:prstGeom>
          <a:noFill/>
          <a:ln w="9525">
            <a:noFill/>
            <a:round/>
            <a:headEnd/>
            <a:tailEnd/>
          </a:ln>
          <a:effectLst/>
        </p:spPr>
        <p:txBody>
          <a:bodyPr lIns="90000" tIns="46800" rIns="90000" bIns="46800"/>
          <a:lstStyle/>
          <a:p>
            <a:pPr marL="685800">
              <a:lnSpc>
                <a:spcPct val="95000"/>
              </a:lnSpc>
              <a:spcBef>
                <a:spcPts val="225"/>
              </a:spcBef>
              <a:buClr>
                <a:srgbClr val="FFFFFF"/>
              </a:buClr>
              <a:buFont typeface="Times New Roman" pitchFamily="16" charset="0"/>
              <a:buChar char="•"/>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sz="2400" b="1" dirty="0">
                <a:solidFill>
                  <a:srgbClr val="000000"/>
                </a:solidFill>
                <a:cs typeface="Times New Roman" pitchFamily="16" charset="0"/>
              </a:rPr>
              <a:t>Lock conversion</a:t>
            </a:r>
          </a:p>
          <a:p>
            <a:pPr marL="685800" algn="just">
              <a:lnSpc>
                <a:spcPct val="95000"/>
              </a:lnSpc>
              <a:spcBef>
                <a:spcPts val="225"/>
              </a:spcBef>
              <a:buClr>
                <a:srgbClr val="FFFFFF"/>
              </a:buClr>
              <a:buFont typeface="Times New Roman" pitchFamily="16" charset="0"/>
              <a:buChar char="•"/>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sz="2400" b="1" dirty="0">
                <a:solidFill>
                  <a:srgbClr val="000000"/>
                </a:solidFill>
                <a:cs typeface="Times New Roman" pitchFamily="16" charset="0"/>
              </a:rPr>
              <a:t>Lock upgrade: existing read lock to write lock</a:t>
            </a:r>
          </a:p>
          <a:p>
            <a:pPr marL="685800" algn="just">
              <a:lnSpc>
                <a:spcPct val="95000"/>
              </a:lnSpc>
              <a:spcBef>
                <a:spcPts val="225"/>
              </a:spcBef>
              <a:buClr>
                <a:srgbClr val="FFFFFF"/>
              </a:buClr>
              <a:buFont typeface="Times New Roman" pitchFamily="16" charset="0"/>
              <a:buChar char="•"/>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if </a:t>
            </a:r>
            <a:r>
              <a:rPr lang="en-US" dirty="0" err="1">
                <a:solidFill>
                  <a:srgbClr val="000000"/>
                </a:solidFill>
                <a:cs typeface="Times New Roman" pitchFamily="16" charset="0"/>
              </a:rPr>
              <a:t>Ti</a:t>
            </a:r>
            <a:r>
              <a:rPr lang="en-US" dirty="0">
                <a:solidFill>
                  <a:srgbClr val="000000"/>
                </a:solidFill>
                <a:cs typeface="Times New Roman" pitchFamily="16" charset="0"/>
              </a:rPr>
              <a:t> holds a read-lock on X, and no other </a:t>
            </a:r>
            <a:r>
              <a:rPr lang="en-US" dirty="0" err="1">
                <a:solidFill>
                  <a:srgbClr val="000000"/>
                </a:solidFill>
                <a:cs typeface="Times New Roman" pitchFamily="16" charset="0"/>
              </a:rPr>
              <a:t>Tj</a:t>
            </a:r>
            <a:r>
              <a:rPr lang="en-US" dirty="0">
                <a:solidFill>
                  <a:srgbClr val="000000"/>
                </a:solidFill>
                <a:cs typeface="Times New Roman" pitchFamily="16" charset="0"/>
              </a:rPr>
              <a:t> holds a read-lock on X (i </a:t>
            </a:r>
            <a:r>
              <a:rPr lang="en-US" dirty="0">
                <a:solidFill>
                  <a:srgbClr val="000000"/>
                </a:solidFill>
                <a:latin typeface="Symbol" pitchFamily="16" charset="2"/>
                <a:cs typeface="Times New Roman" pitchFamily="16" charset="0"/>
              </a:rPr>
              <a:t></a:t>
            </a:r>
            <a:r>
              <a:rPr lang="en-US" dirty="0">
                <a:solidFill>
                  <a:srgbClr val="000000"/>
                </a:solidFill>
                <a:cs typeface="Times New Roman" pitchFamily="16" charset="0"/>
              </a:rPr>
              <a:t> j), then</a:t>
            </a:r>
          </a:p>
          <a:p>
            <a:pPr marL="685800" algn="just">
              <a:lnSpc>
                <a:spcPct val="95000"/>
              </a:lnSpc>
              <a:spcBef>
                <a:spcPts val="225"/>
              </a:spcBef>
              <a:buClr>
                <a:srgbClr val="FFFFFF"/>
              </a:buClr>
              <a:buFont typeface="Times New Roman" pitchFamily="16" charset="0"/>
              <a:buChar char="•"/>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it is possible to convert (</a:t>
            </a:r>
            <a:r>
              <a:rPr lang="en-US" b="1" dirty="0">
                <a:solidFill>
                  <a:srgbClr val="000000"/>
                </a:solidFill>
                <a:cs typeface="Times New Roman" pitchFamily="16" charset="0"/>
              </a:rPr>
              <a:t>upgrade</a:t>
            </a:r>
            <a:r>
              <a:rPr lang="en-US" dirty="0">
                <a:solidFill>
                  <a:srgbClr val="000000"/>
                </a:solidFill>
                <a:cs typeface="Times New Roman" pitchFamily="16" charset="0"/>
              </a:rPr>
              <a:t>) read-lock(X) to write-lock(X)</a:t>
            </a:r>
          </a:p>
          <a:p>
            <a:pPr marL="685800" lvl="1" indent="0" algn="just">
              <a:lnSpc>
                <a:spcPct val="95000"/>
              </a:lnSpc>
              <a:spcBef>
                <a:spcPts val="225"/>
              </a:spcBef>
              <a:buClrTx/>
              <a:buFontTx/>
              <a:buNone/>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    else</a:t>
            </a:r>
          </a:p>
          <a:p>
            <a:pPr marL="685800" lvl="1" indent="0" algn="just">
              <a:lnSpc>
                <a:spcPct val="95000"/>
              </a:lnSpc>
              <a:spcBef>
                <a:spcPts val="225"/>
              </a:spcBef>
              <a:buClrTx/>
              <a:buFontTx/>
              <a:buNone/>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	force </a:t>
            </a:r>
            <a:r>
              <a:rPr lang="en-US" dirty="0" err="1">
                <a:solidFill>
                  <a:srgbClr val="000000"/>
                </a:solidFill>
                <a:cs typeface="Times New Roman" pitchFamily="16" charset="0"/>
              </a:rPr>
              <a:t>Ti</a:t>
            </a:r>
            <a:r>
              <a:rPr lang="en-US" dirty="0">
                <a:solidFill>
                  <a:srgbClr val="000000"/>
                </a:solidFill>
                <a:cs typeface="Times New Roman" pitchFamily="16" charset="0"/>
              </a:rPr>
              <a:t> to wait until all other transactions </a:t>
            </a:r>
            <a:r>
              <a:rPr lang="en-US" dirty="0" err="1">
                <a:solidFill>
                  <a:srgbClr val="000000"/>
                </a:solidFill>
                <a:cs typeface="Times New Roman" pitchFamily="16" charset="0"/>
              </a:rPr>
              <a:t>Tj</a:t>
            </a:r>
            <a:r>
              <a:rPr lang="en-US" dirty="0">
                <a:solidFill>
                  <a:srgbClr val="000000"/>
                </a:solidFill>
                <a:cs typeface="Times New Roman" pitchFamily="16" charset="0"/>
              </a:rPr>
              <a:t> that hold read locks on X release their locks</a:t>
            </a:r>
          </a:p>
          <a:p>
            <a:pPr marL="685800" lvl="1" indent="0" algn="just">
              <a:lnSpc>
                <a:spcPct val="95000"/>
              </a:lnSpc>
              <a:spcBef>
                <a:spcPts val="3000"/>
              </a:spcBef>
              <a:buClrTx/>
              <a:buFontTx/>
              <a:buNone/>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sz="2400" b="1" dirty="0">
                <a:solidFill>
                  <a:srgbClr val="000000"/>
                </a:solidFill>
                <a:cs typeface="Times New Roman" pitchFamily="16" charset="0"/>
              </a:rPr>
              <a:t>Lock downgrade: existing write lock to read lock</a:t>
            </a:r>
          </a:p>
          <a:p>
            <a:pPr marL="685800">
              <a:lnSpc>
                <a:spcPct val="95000"/>
              </a:lnSpc>
              <a:spcBef>
                <a:spcPts val="1350"/>
              </a:spcBef>
              <a:buClrTx/>
              <a:buFontTx/>
              <a:buNone/>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	   if </a:t>
            </a:r>
            <a:r>
              <a:rPr lang="en-US" dirty="0" err="1">
                <a:solidFill>
                  <a:srgbClr val="000000"/>
                </a:solidFill>
                <a:cs typeface="Times New Roman" pitchFamily="16" charset="0"/>
              </a:rPr>
              <a:t>Ti</a:t>
            </a:r>
            <a:r>
              <a:rPr lang="en-US" dirty="0">
                <a:solidFill>
                  <a:srgbClr val="000000"/>
                </a:solidFill>
                <a:cs typeface="Times New Roman" pitchFamily="16" charset="0"/>
              </a:rPr>
              <a:t> holds a write-lock on X </a:t>
            </a:r>
          </a:p>
          <a:p>
            <a:pPr marL="1371600" lvl="3" indent="0">
              <a:lnSpc>
                <a:spcPct val="95000"/>
              </a:lnSpc>
              <a:spcBef>
                <a:spcPts val="1350"/>
              </a:spcBef>
              <a:buClr>
                <a:srgbClr val="FFFFFF"/>
              </a:buClr>
              <a:buFont typeface="Times New Roman" pitchFamily="16" charset="0"/>
              <a:buChar char="•"/>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(*this implies that no other transaction can have any lock on X*)</a:t>
            </a:r>
          </a:p>
          <a:p>
            <a:pPr marL="685800" lvl="1" indent="0" algn="just">
              <a:lnSpc>
                <a:spcPct val="95000"/>
              </a:lnSpc>
              <a:spcBef>
                <a:spcPts val="225"/>
              </a:spcBef>
              <a:buClrTx/>
              <a:buFontTx/>
              <a:buNone/>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	     then it is possible to convert (</a:t>
            </a:r>
            <a:r>
              <a:rPr lang="en-US" b="1" dirty="0">
                <a:solidFill>
                  <a:srgbClr val="000000"/>
                </a:solidFill>
                <a:cs typeface="Times New Roman" pitchFamily="16" charset="0"/>
              </a:rPr>
              <a:t>downgrade</a:t>
            </a:r>
            <a:r>
              <a:rPr lang="en-US" dirty="0">
                <a:solidFill>
                  <a:srgbClr val="000000"/>
                </a:solidFill>
                <a:cs typeface="Times New Roman" pitchFamily="16" charset="0"/>
              </a:rPr>
              <a:t>) write-lock(X) to read-lock(X)</a:t>
            </a:r>
          </a:p>
          <a:p>
            <a:pPr marL="685800" lvl="1" indent="0" algn="just">
              <a:lnSpc>
                <a:spcPct val="95000"/>
              </a:lnSpc>
              <a:spcBef>
                <a:spcPts val="225"/>
              </a:spcBef>
              <a:buClrTx/>
              <a:buFontTx/>
              <a:buNone/>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    </a:t>
            </a:r>
          </a:p>
          <a:p>
            <a:pPr marL="685800" lvl="1" indent="0" algn="just">
              <a:lnSpc>
                <a:spcPct val="95000"/>
              </a:lnSpc>
              <a:spcBef>
                <a:spcPts val="225"/>
              </a:spcBef>
              <a:buClrTx/>
              <a:buFontTx/>
              <a:buNone/>
              <a:tabLst>
                <a:tab pos="685800" algn="l"/>
                <a:tab pos="1143000" algn="l"/>
                <a:tab pos="1600200" algn="l"/>
                <a:tab pos="2057400" algn="l"/>
                <a:tab pos="2514600" algn="l"/>
                <a:tab pos="2971800" algn="l"/>
                <a:tab pos="3429000" algn="l"/>
                <a:tab pos="3886200" algn="l"/>
                <a:tab pos="4343400" algn="l"/>
                <a:tab pos="4800600" algn="l"/>
                <a:tab pos="5257800" algn="l"/>
                <a:tab pos="5715000" algn="l"/>
                <a:tab pos="6172200" algn="l"/>
                <a:tab pos="6629400" algn="l"/>
                <a:tab pos="7086600" algn="l"/>
                <a:tab pos="7543800" algn="l"/>
                <a:tab pos="8001000" algn="l"/>
                <a:tab pos="8458200" algn="l"/>
                <a:tab pos="8915400" algn="l"/>
                <a:tab pos="9372600" algn="l"/>
                <a:tab pos="9829800" algn="l"/>
              </a:tabLst>
            </a:pPr>
            <a:r>
              <a:rPr lang="en-US" dirty="0">
                <a:solidFill>
                  <a:srgbClr val="000000"/>
                </a:solidFill>
                <a:cs typeface="Times New Roman" pitchFamily="16"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Grp="1" noChangeArrowheads="1"/>
          </p:cNvSpPr>
          <p:nvPr>
            <p:ph type="title"/>
          </p:nvPr>
        </p:nvSpPr>
        <p:spPr>
          <a:xfrm>
            <a:off x="207963" y="117475"/>
            <a:ext cx="8088312"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18434" name="Rectangle 2"/>
          <p:cNvSpPr>
            <a:spLocks noGrp="1" noChangeArrowheads="1"/>
          </p:cNvSpPr>
          <p:nvPr>
            <p:ph type="body" idx="1"/>
          </p:nvPr>
        </p:nvSpPr>
        <p:spPr>
          <a:xfrm>
            <a:off x="311150" y="20574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18435" name="Rectangle 3"/>
          <p:cNvSpPr>
            <a:spLocks noChangeArrowheads="1"/>
          </p:cNvSpPr>
          <p:nvPr/>
        </p:nvSpPr>
        <p:spPr bwMode="auto">
          <a:xfrm>
            <a:off x="685800" y="1524000"/>
            <a:ext cx="7772400" cy="4953000"/>
          </a:xfrm>
          <a:prstGeom prst="rect">
            <a:avLst/>
          </a:prstGeom>
          <a:noFill/>
          <a:ln w="9525">
            <a:noFill/>
            <a:round/>
            <a:headEnd/>
            <a:tailEnd/>
          </a:ln>
          <a:effectLst/>
        </p:spPr>
        <p:txBody>
          <a:bodyPr lIns="90000" tIns="46800" rIns="90000" bIns="46800"/>
          <a:lstStyle/>
          <a:p>
            <a:pPr marL="457200" indent="-442913">
              <a:spcBef>
                <a:spcPts val="600"/>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sz="2400" b="1" dirty="0">
                <a:solidFill>
                  <a:srgbClr val="000000"/>
                </a:solidFill>
                <a:cs typeface="Times New Roman" pitchFamily="16" charset="0"/>
              </a:rPr>
              <a:t>Two-Phase Locking Rule:</a:t>
            </a:r>
          </a:p>
          <a:p>
            <a:pPr marL="457200" indent="-442913">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a:t>
            </a:r>
          </a:p>
          <a:p>
            <a:pPr marL="457200" indent="-442913">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Each transaction should have </a:t>
            </a:r>
            <a:r>
              <a:rPr lang="en-US" b="1" dirty="0">
                <a:solidFill>
                  <a:srgbClr val="000000"/>
                </a:solidFill>
                <a:cs typeface="Times New Roman" pitchFamily="16" charset="0"/>
              </a:rPr>
              <a:t>two phases</a:t>
            </a:r>
            <a:r>
              <a:rPr lang="en-US" dirty="0">
                <a:solidFill>
                  <a:srgbClr val="000000"/>
                </a:solidFill>
                <a:cs typeface="Times New Roman" pitchFamily="16" charset="0"/>
              </a:rPr>
              <a:t>:  (a) Locking (Growing) phase, and (b) Unlocking (Shrinking) Phase.</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Locking (Growing) Phase</a:t>
            </a:r>
            <a:r>
              <a:rPr lang="en-US" dirty="0">
                <a:solidFill>
                  <a:srgbClr val="000000"/>
                </a:solidFill>
                <a:cs typeface="Times New Roman" pitchFamily="16" charset="0"/>
              </a:rPr>
              <a:t>:  A transaction applies locks (read or write) on desired data items one at a time. Can also try to upgrade a lock.</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Unlocking (Shrinking) Phase</a:t>
            </a:r>
            <a:r>
              <a:rPr lang="en-US" dirty="0">
                <a:solidFill>
                  <a:srgbClr val="000000"/>
                </a:solidFill>
                <a:cs typeface="Times New Roman" pitchFamily="16" charset="0"/>
              </a:rPr>
              <a:t>: A transaction unlocks its locked data items one at a time. Can also downgrade a lock.</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a:t>
            </a:r>
            <a:r>
              <a:rPr lang="en-US" b="1" dirty="0">
                <a:solidFill>
                  <a:srgbClr val="000000"/>
                </a:solidFill>
                <a:cs typeface="Times New Roman" pitchFamily="16" charset="0"/>
              </a:rPr>
              <a:t>Requirement:</a:t>
            </a:r>
            <a:r>
              <a:rPr lang="en-US" dirty="0">
                <a:solidFill>
                  <a:srgbClr val="000000"/>
                </a:solidFill>
                <a:cs typeface="Times New Roman" pitchFamily="16" charset="0"/>
              </a:rPr>
              <a:t>  For a transaction these two phases must be mutually exclusively, that is, during locking phase no unlocking or downgrading of locks can occur, and during unlocking phase no new locking or upgrading operations are allowed.</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p:nvPr>
        </p:nvSpPr>
        <p:spPr>
          <a:xfrm>
            <a:off x="207963" y="117475"/>
            <a:ext cx="8088312"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19458"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19459" name="Rectangle 3"/>
          <p:cNvSpPr>
            <a:spLocks noChangeArrowheads="1"/>
          </p:cNvSpPr>
          <p:nvPr/>
        </p:nvSpPr>
        <p:spPr bwMode="auto">
          <a:xfrm>
            <a:off x="685800" y="1600200"/>
            <a:ext cx="7772400" cy="4953000"/>
          </a:xfrm>
          <a:prstGeom prst="rect">
            <a:avLst/>
          </a:prstGeom>
          <a:noFill/>
          <a:ln w="9525">
            <a:noFill/>
            <a:round/>
            <a:headEnd/>
            <a:tailEnd/>
          </a:ln>
          <a:effectLst/>
        </p:spPr>
        <p:txBody>
          <a:bodyPr lIns="90000" tIns="46800" rIns="90000" bIns="46800"/>
          <a:lstStyle/>
          <a:p>
            <a:pPr marL="457200" indent="-442913">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sz="2400" b="1">
                <a:solidFill>
                  <a:srgbClr val="000000"/>
                </a:solidFill>
                <a:cs typeface="Times New Roman" pitchFamily="16" charset="0"/>
              </a:rPr>
              <a:t>Basic Two Phase Locking:</a:t>
            </a:r>
          </a:p>
          <a:p>
            <a:pPr marL="457200" indent="-442913">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When transaction starts executing, it is in the </a:t>
            </a:r>
            <a:r>
              <a:rPr lang="en-US" b="1">
                <a:solidFill>
                  <a:srgbClr val="000000"/>
                </a:solidFill>
                <a:cs typeface="Times New Roman" pitchFamily="16" charset="0"/>
              </a:rPr>
              <a:t>locking phase, </a:t>
            </a:r>
            <a:r>
              <a:rPr lang="en-US">
                <a:solidFill>
                  <a:srgbClr val="000000"/>
                </a:solidFill>
                <a:cs typeface="Times New Roman" pitchFamily="16" charset="0"/>
              </a:rPr>
              <a:t>and it can request locks on new items or upgrade locks. A transaction may be blocked (forced to wait) if a lock request is not granted. (This may lead to several transactions being in a </a:t>
            </a:r>
            <a:r>
              <a:rPr lang="en-US" i="1">
                <a:solidFill>
                  <a:srgbClr val="000000"/>
                </a:solidFill>
                <a:cs typeface="Times New Roman" pitchFamily="16" charset="0"/>
              </a:rPr>
              <a:t>state of deadlock</a:t>
            </a:r>
            <a:r>
              <a:rPr lang="en-US">
                <a:solidFill>
                  <a:srgbClr val="000000"/>
                </a:solidFill>
                <a:cs typeface="Times New Roman" pitchFamily="16" charset="0"/>
              </a:rPr>
              <a:t> – see later)</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a:solidFill>
                  <a:srgbClr val="000000"/>
                </a:solidFill>
                <a:cs typeface="Times New Roman" pitchFamily="16" charset="0"/>
              </a:rPr>
              <a:t>	</a:t>
            </a:r>
            <a:r>
              <a:rPr lang="en-US">
                <a:solidFill>
                  <a:srgbClr val="000000"/>
                </a:solidFill>
                <a:cs typeface="Times New Roman" pitchFamily="16" charset="0"/>
              </a:rPr>
              <a:t>Once the transaction unlocks an item (or downgrades a lock), it starts its </a:t>
            </a:r>
            <a:r>
              <a:rPr lang="en-US" b="1">
                <a:solidFill>
                  <a:srgbClr val="000000"/>
                </a:solidFill>
                <a:cs typeface="Times New Roman" pitchFamily="16" charset="0"/>
              </a:rPr>
              <a:t>shrinking phase </a:t>
            </a:r>
            <a:r>
              <a:rPr lang="en-US">
                <a:solidFill>
                  <a:srgbClr val="000000"/>
                </a:solidFill>
                <a:cs typeface="Times New Roman" pitchFamily="16" charset="0"/>
              </a:rPr>
              <a:t>and can no longer upgrade locks or request new locks.</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a:solidFill>
                  <a:srgbClr val="000000"/>
                </a:solidFill>
                <a:cs typeface="Times New Roman" pitchFamily="16" charset="0"/>
              </a:rPr>
              <a:t>	The combination of locking rules and 2-phase rule</a:t>
            </a:r>
            <a:r>
              <a:rPr lang="en-US" b="1" i="1">
                <a:solidFill>
                  <a:srgbClr val="000000"/>
                </a:solidFill>
                <a:cs typeface="Times New Roman" pitchFamily="16" charset="0"/>
              </a:rPr>
              <a:t> ensures serializable schedules</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a:t>
            </a:r>
            <a:r>
              <a:rPr lang="en-US" b="1">
                <a:solidFill>
                  <a:srgbClr val="000000"/>
                </a:solidFill>
                <a:cs typeface="Times New Roman" pitchFamily="16" charset="0"/>
              </a:rPr>
              <a:t>Theorem:</a:t>
            </a:r>
            <a:r>
              <a:rPr lang="en-US">
                <a:solidFill>
                  <a:srgbClr val="000000"/>
                </a:solidFill>
                <a:cs typeface="Times New Roman" pitchFamily="16" charset="0"/>
              </a:rPr>
              <a:t>  If </a:t>
            </a:r>
            <a:r>
              <a:rPr lang="en-US" i="1">
                <a:solidFill>
                  <a:srgbClr val="000000"/>
                </a:solidFill>
                <a:cs typeface="Times New Roman" pitchFamily="16" charset="0"/>
              </a:rPr>
              <a:t>every transaction</a:t>
            </a:r>
            <a:r>
              <a:rPr lang="en-US">
                <a:solidFill>
                  <a:srgbClr val="000000"/>
                </a:solidFill>
                <a:cs typeface="Times New Roman" pitchFamily="16" charset="0"/>
              </a:rPr>
              <a:t> in a schedule follows the 2PL rules, the schedule must be serializable. (Proof is by contradiction.)</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p:nvPr>
        </p:nvSpPr>
        <p:spPr>
          <a:xfrm>
            <a:off x="207963" y="117475"/>
            <a:ext cx="8088312"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20482"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0483" name="Rectangle 3"/>
          <p:cNvSpPr>
            <a:spLocks noChangeArrowheads="1"/>
          </p:cNvSpPr>
          <p:nvPr/>
        </p:nvSpPr>
        <p:spPr bwMode="auto">
          <a:xfrm>
            <a:off x="685800" y="1524000"/>
            <a:ext cx="7772400" cy="4953000"/>
          </a:xfrm>
          <a:prstGeom prst="rect">
            <a:avLst/>
          </a:prstGeom>
          <a:noFill/>
          <a:ln w="9525">
            <a:noFill/>
            <a:round/>
            <a:headEnd/>
            <a:tailEnd/>
          </a:ln>
          <a:effectLst/>
        </p:spPr>
        <p:txBody>
          <a:bodyPr lIns="90000" tIns="46800" rIns="90000" bIns="46800"/>
          <a:lstStyle/>
          <a:p>
            <a:pPr marL="457200" indent="-442913">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sz="2400" b="1" dirty="0">
                <a:solidFill>
                  <a:srgbClr val="000000"/>
                </a:solidFill>
                <a:cs typeface="Times New Roman" pitchFamily="16" charset="0"/>
              </a:rPr>
              <a:t>Some Examples:</a:t>
            </a:r>
          </a:p>
          <a:p>
            <a:pPr marL="457200" indent="-442913">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Rules of locking alone do not enforce serializability – Figure 22.3(c) shows a schedule that follows locking rules but </a:t>
            </a:r>
            <a:r>
              <a:rPr lang="en-US" i="1" dirty="0">
                <a:solidFill>
                  <a:srgbClr val="000000"/>
                </a:solidFill>
                <a:cs typeface="Times New Roman" pitchFamily="16" charset="0"/>
              </a:rPr>
              <a:t>is not serializable</a:t>
            </a:r>
            <a:r>
              <a:rPr lang="en-US" dirty="0">
                <a:solidFill>
                  <a:srgbClr val="000000"/>
                </a:solidFill>
                <a:cs typeface="Times New Roman" pitchFamily="16" charset="0"/>
              </a:rPr>
              <a:t> </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a:t>
            </a:r>
            <a:r>
              <a:rPr lang="en-US" dirty="0">
                <a:solidFill>
                  <a:srgbClr val="000000"/>
                </a:solidFill>
                <a:cs typeface="Times New Roman" pitchFamily="16" charset="0"/>
              </a:rPr>
              <a:t>Figure 22.4 shows how the transactions in Figure 22.3(a) can be modified to follow the two-phase rule (by delaying the first unlock operation till all locking is completed).</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The schedule in 22.3(c) would not be allowed if the transactions are changed as in 22.4 – a state of deadlock would occur instead because T2 would try to lock Y (which is locked by T1 in conflicting mode) and forced to wait, then T1 would try to lock X (which is locked by T2 in conflicting mode) and forced to wait – neither transaction can continue to unlock the item they hold as they are both blocked (waiting) – see Figure 22.5 </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p:cNvPicPr>
            <a:picLocks noChangeAspect="1" noChangeArrowheads="1"/>
          </p:cNvPicPr>
          <p:nvPr/>
        </p:nvPicPr>
        <p:blipFill>
          <a:blip r:embed="rId3"/>
          <a:srcRect/>
          <a:stretch>
            <a:fillRect/>
          </a:stretch>
        </p:blipFill>
        <p:spPr bwMode="auto">
          <a:xfrm>
            <a:off x="838200" y="1905000"/>
            <a:ext cx="7616825" cy="4719638"/>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1"/>
          <p:cNvPicPr>
            <a:picLocks noChangeAspect="1" noChangeArrowheads="1"/>
          </p:cNvPicPr>
          <p:nvPr/>
        </p:nvPicPr>
        <p:blipFill>
          <a:blip r:embed="rId3"/>
          <a:srcRect/>
          <a:stretch>
            <a:fillRect/>
          </a:stretch>
        </p:blipFill>
        <p:spPr bwMode="auto">
          <a:xfrm>
            <a:off x="304800" y="1524000"/>
            <a:ext cx="8226425" cy="2568575"/>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
          <p:cNvPicPr>
            <a:picLocks noChangeAspect="1" noChangeArrowheads="1"/>
          </p:cNvPicPr>
          <p:nvPr/>
        </p:nvPicPr>
        <p:blipFill>
          <a:blip r:embed="rId3"/>
          <a:srcRect/>
          <a:stretch>
            <a:fillRect/>
          </a:stretch>
        </p:blipFill>
        <p:spPr bwMode="auto">
          <a:xfrm>
            <a:off x="0" y="1752600"/>
            <a:ext cx="8610600" cy="2787650"/>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Grp="1" noChangeArrowheads="1"/>
          </p:cNvSpPr>
          <p:nvPr>
            <p:ph type="title"/>
          </p:nvPr>
        </p:nvSpPr>
        <p:spPr>
          <a:xfrm>
            <a:off x="0" y="0"/>
            <a:ext cx="86868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24578" name="Rectangle 2"/>
          <p:cNvSpPr>
            <a:spLocks noGrp="1" noChangeArrowheads="1"/>
          </p:cNvSpPr>
          <p:nvPr>
            <p:ph type="body" idx="1"/>
          </p:nvPr>
        </p:nvSpPr>
        <p:spPr>
          <a:xfrm>
            <a:off x="0" y="1905000"/>
            <a:ext cx="8521700" cy="44196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4579" name="Rectangle 3"/>
          <p:cNvSpPr>
            <a:spLocks noChangeArrowheads="1"/>
          </p:cNvSpPr>
          <p:nvPr/>
        </p:nvSpPr>
        <p:spPr bwMode="auto">
          <a:xfrm>
            <a:off x="685800" y="1524000"/>
            <a:ext cx="7772400" cy="4953000"/>
          </a:xfrm>
          <a:prstGeom prst="rect">
            <a:avLst/>
          </a:prstGeom>
          <a:noFill/>
          <a:ln w="9525">
            <a:noFill/>
            <a:round/>
            <a:headEnd/>
            <a:tailEnd/>
          </a:ln>
          <a:effectLst/>
        </p:spPr>
        <p:txBody>
          <a:bodyPr lIns="90000" tIns="46800" rIns="90000" bIns="46800"/>
          <a:lstStyle/>
          <a:p>
            <a:pPr marL="457200" indent="-442913">
              <a:spcBef>
                <a:spcPts val="600"/>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sz="2400" b="1" dirty="0">
                <a:solidFill>
                  <a:srgbClr val="000000"/>
                </a:solidFill>
                <a:cs typeface="Times New Roman" pitchFamily="16" charset="0"/>
              </a:rPr>
              <a:t>Other Variations of Two-Phase Locking:</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Conservative 2PL:  </a:t>
            </a:r>
            <a:r>
              <a:rPr lang="en-US" dirty="0">
                <a:solidFill>
                  <a:srgbClr val="000000"/>
                </a:solidFill>
                <a:cs typeface="Times New Roman" pitchFamily="16" charset="0"/>
              </a:rPr>
              <a:t>A transaction must </a:t>
            </a:r>
            <a:r>
              <a:rPr lang="en-US" i="1" dirty="0">
                <a:solidFill>
                  <a:srgbClr val="000000"/>
                </a:solidFill>
                <a:cs typeface="Times New Roman" pitchFamily="16" charset="0"/>
              </a:rPr>
              <a:t>lock all its items before starting execution</a:t>
            </a:r>
            <a:r>
              <a:rPr lang="en-US" dirty="0">
                <a:solidFill>
                  <a:srgbClr val="000000"/>
                </a:solidFill>
                <a:cs typeface="Times New Roman" pitchFamily="16" charset="0"/>
              </a:rPr>
              <a:t>. If any item it needs is not available, it locks no items and tries again later. Conservative 2PL </a:t>
            </a:r>
            <a:r>
              <a:rPr lang="en-US" i="1" dirty="0">
                <a:solidFill>
                  <a:srgbClr val="000000"/>
                </a:solidFill>
                <a:cs typeface="Times New Roman" pitchFamily="16" charset="0"/>
              </a:rPr>
              <a:t>has no deadlocks</a:t>
            </a:r>
            <a:r>
              <a:rPr lang="en-US" dirty="0">
                <a:solidFill>
                  <a:srgbClr val="000000"/>
                </a:solidFill>
                <a:cs typeface="Times New Roman" pitchFamily="16" charset="0"/>
              </a:rPr>
              <a:t> since no lock requests are issued once transaction execution starts.</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Strict 2PL: </a:t>
            </a:r>
            <a:r>
              <a:rPr lang="en-US" dirty="0">
                <a:solidFill>
                  <a:srgbClr val="000000"/>
                </a:solidFill>
                <a:cs typeface="Times New Roman" pitchFamily="16" charset="0"/>
              </a:rPr>
              <a:t>All items that are </a:t>
            </a:r>
            <a:r>
              <a:rPr lang="en-US" i="1" dirty="0" err="1">
                <a:solidFill>
                  <a:srgbClr val="000000"/>
                </a:solidFill>
                <a:cs typeface="Times New Roman" pitchFamily="16" charset="0"/>
              </a:rPr>
              <a:t>writelocked</a:t>
            </a:r>
            <a:r>
              <a:rPr lang="en-US" dirty="0">
                <a:solidFill>
                  <a:srgbClr val="000000"/>
                </a:solidFill>
                <a:cs typeface="Times New Roman" pitchFamily="16" charset="0"/>
              </a:rPr>
              <a:t> by a transaction are not released (unlocked) until </a:t>
            </a:r>
            <a:r>
              <a:rPr lang="en-US" i="1" dirty="0">
                <a:solidFill>
                  <a:srgbClr val="000000"/>
                </a:solidFill>
                <a:cs typeface="Times New Roman" pitchFamily="16" charset="0"/>
              </a:rPr>
              <a:t>after the transaction commits</a:t>
            </a:r>
            <a:r>
              <a:rPr lang="en-US" dirty="0">
                <a:solidFill>
                  <a:srgbClr val="000000"/>
                </a:solidFill>
                <a:cs typeface="Times New Roman" pitchFamily="16" charset="0"/>
              </a:rPr>
              <a:t>. This is the most commonly used two-phase locking algorithm, and ensures strict schedules (for recoverability).</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dirty="0">
                <a:solidFill>
                  <a:srgbClr val="000000"/>
                </a:solidFill>
                <a:cs typeface="Times New Roman" pitchFamily="16" charset="0"/>
              </a:rPr>
              <a:t>    Rigorous 2PL: </a:t>
            </a:r>
            <a:r>
              <a:rPr lang="en-US" dirty="0">
                <a:solidFill>
                  <a:srgbClr val="000000"/>
                </a:solidFill>
                <a:cs typeface="Times New Roman" pitchFamily="16" charset="0"/>
              </a:rPr>
              <a:t>All items that are </a:t>
            </a:r>
            <a:r>
              <a:rPr lang="en-US" i="1" dirty="0" err="1">
                <a:solidFill>
                  <a:srgbClr val="000000"/>
                </a:solidFill>
                <a:cs typeface="Times New Roman" pitchFamily="16" charset="0"/>
              </a:rPr>
              <a:t>writelocked</a:t>
            </a:r>
            <a:r>
              <a:rPr lang="en-US" i="1" dirty="0">
                <a:solidFill>
                  <a:srgbClr val="000000"/>
                </a:solidFill>
                <a:cs typeface="Times New Roman" pitchFamily="16" charset="0"/>
              </a:rPr>
              <a:t> or </a:t>
            </a:r>
            <a:r>
              <a:rPr lang="en-US" i="1" dirty="0" err="1">
                <a:solidFill>
                  <a:srgbClr val="000000"/>
                </a:solidFill>
                <a:cs typeface="Times New Roman" pitchFamily="16" charset="0"/>
              </a:rPr>
              <a:t>readlocked</a:t>
            </a:r>
            <a:r>
              <a:rPr lang="en-US" dirty="0">
                <a:solidFill>
                  <a:srgbClr val="000000"/>
                </a:solidFill>
                <a:cs typeface="Times New Roman" pitchFamily="16" charset="0"/>
              </a:rPr>
              <a:t> by a transaction are not released (unlocked) until </a:t>
            </a:r>
            <a:r>
              <a:rPr lang="en-US" i="1" dirty="0">
                <a:solidFill>
                  <a:srgbClr val="000000"/>
                </a:solidFill>
                <a:cs typeface="Times New Roman" pitchFamily="16" charset="0"/>
              </a:rPr>
              <a:t>after the transaction commits</a:t>
            </a:r>
            <a:r>
              <a:rPr lang="en-US" dirty="0">
                <a:solidFill>
                  <a:srgbClr val="000000"/>
                </a:solidFill>
                <a:cs typeface="Times New Roman" pitchFamily="16" charset="0"/>
              </a:rPr>
              <a:t>. Also guarantees strict schedules.</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dirty="0">
                <a:solidFill>
                  <a:srgbClr val="000000"/>
                </a:solidFill>
                <a:cs typeface="Times New Roman" pitchFamily="16" charset="0"/>
              </a:rPr>
              <a:t>	</a:t>
            </a:r>
          </a:p>
        </p:txBody>
      </p:sp>
      <p:sp>
        <p:nvSpPr>
          <p:cNvPr id="24580"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Grp="1" noChangeArrowheads="1"/>
          </p:cNvSpPr>
          <p:nvPr>
            <p:ph type="title"/>
          </p:nvPr>
        </p:nvSpPr>
        <p:spPr>
          <a:xfrm>
            <a:off x="0" y="0"/>
            <a:ext cx="86868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25602"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5603" name="Rectangle 3"/>
          <p:cNvSpPr>
            <a:spLocks noChangeArrowheads="1"/>
          </p:cNvSpPr>
          <p:nvPr/>
        </p:nvSpPr>
        <p:spPr bwMode="auto">
          <a:xfrm>
            <a:off x="685800" y="1020763"/>
            <a:ext cx="7772400" cy="4953000"/>
          </a:xfrm>
          <a:prstGeom prst="rect">
            <a:avLst/>
          </a:prstGeom>
          <a:noFill/>
          <a:ln w="9525">
            <a:noFill/>
            <a:round/>
            <a:headEnd/>
            <a:tailEnd/>
          </a:ln>
          <a:effectLst/>
        </p:spPr>
        <p:txBody>
          <a:bodyPr lIns="90000" tIns="46800" rIns="90000" bIns="46800"/>
          <a:lstStyle/>
          <a:p>
            <a:pPr marL="457200" indent="-442913">
              <a:spcBef>
                <a:spcPts val="600"/>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endParaRPr lang="en-US" sz="2400" b="1">
              <a:solidFill>
                <a:srgbClr val="000000"/>
              </a:solidFill>
              <a:cs typeface="Times New Roman" pitchFamily="16" charset="0"/>
            </a:endParaRPr>
          </a:p>
          <a:p>
            <a:pPr marL="457200" indent="-442913">
              <a:spcBef>
                <a:spcPts val="600"/>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sz="2400" b="1">
                <a:solidFill>
                  <a:srgbClr val="000000"/>
                </a:solidFill>
                <a:cs typeface="Times New Roman" pitchFamily="16" charset="0"/>
              </a:rPr>
              <a:t>	</a:t>
            </a:r>
          </a:p>
          <a:p>
            <a:pPr marL="457200" indent="-442913">
              <a:spcBef>
                <a:spcPts val="600"/>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sz="2400" b="1">
                <a:solidFill>
                  <a:srgbClr val="000000"/>
                </a:solidFill>
                <a:cs typeface="Times New Roman" pitchFamily="16" charset="0"/>
              </a:rPr>
              <a:t>	Deadlock Example (see Figure 22.5)</a:t>
            </a:r>
          </a:p>
          <a:p>
            <a:pPr marL="457200" indent="-442913" algn="just">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b="1">
                <a:solidFill>
                  <a:srgbClr val="000000"/>
                </a:solidFill>
                <a:cs typeface="Times New Roman" pitchFamily="16" charset="0"/>
              </a:rPr>
              <a:t>	</a:t>
            </a:r>
            <a:r>
              <a:rPr lang="en-US" b="1" u="sng">
                <a:solidFill>
                  <a:srgbClr val="000000"/>
                </a:solidFill>
                <a:cs typeface="Times New Roman" pitchFamily="16" charset="0"/>
              </a:rPr>
              <a:t>T1'</a:t>
            </a:r>
            <a:r>
              <a:rPr lang="en-US" b="1">
                <a:solidFill>
                  <a:srgbClr val="000000"/>
                </a:solidFill>
                <a:cs typeface="Times New Roman" pitchFamily="16" charset="0"/>
              </a:rPr>
              <a:t>			</a:t>
            </a:r>
            <a:r>
              <a:rPr lang="en-US" b="1" u="sng">
                <a:solidFill>
                  <a:srgbClr val="000000"/>
                </a:solidFill>
                <a:cs typeface="Times New Roman" pitchFamily="16" charset="0"/>
              </a:rPr>
              <a:t>T2'</a:t>
            </a:r>
            <a:r>
              <a:rPr lang="en-US" b="1">
                <a:solidFill>
                  <a:srgbClr val="000000"/>
                </a:solidFill>
                <a:cs typeface="Times New Roman" pitchFamily="16" charset="0"/>
              </a:rPr>
              <a:t>		</a:t>
            </a:r>
          </a:p>
          <a:p>
            <a:pPr marL="457200" indent="-442913">
              <a:spcBef>
                <a:spcPts val="11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read_lock (Y);				T1' and T2' did follow two-phase</a:t>
            </a:r>
          </a:p>
          <a:p>
            <a:pPr marL="457200" indent="-442913">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read_item (Y);				policy but they are deadlock</a:t>
            </a:r>
          </a:p>
          <a:p>
            <a:pPr marL="457200" indent="-442913">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read_lock (X);	</a:t>
            </a:r>
          </a:p>
          <a:p>
            <a:pPr marL="457200" indent="-442913">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read_item (Y);			    </a:t>
            </a:r>
          </a:p>
          <a:p>
            <a:pPr marL="457200" indent="-442913">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write_lock (X);		</a:t>
            </a:r>
          </a:p>
          <a:p>
            <a:pPr marL="457200" indent="-442913">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(waits for X)	write_lock (Y);</a:t>
            </a:r>
          </a:p>
          <a:p>
            <a:pPr marL="457200" indent="-442913">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(waits for Y)</a:t>
            </a:r>
          </a:p>
          <a:p>
            <a:pPr marL="457200" indent="-442913">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a:t>
            </a:r>
            <a:r>
              <a:rPr lang="en-US" b="1">
                <a:solidFill>
                  <a:srgbClr val="000000"/>
                </a:solidFill>
                <a:cs typeface="Times New Roman" pitchFamily="16" charset="0"/>
              </a:rPr>
              <a:t>Deadlock (T1' and T2')</a:t>
            </a:r>
          </a:p>
          <a:p>
            <a:pPr marL="7581900" lvl="1" indent="0" algn="just">
              <a:lnSpc>
                <a:spcPct val="95000"/>
              </a:lnSpc>
              <a:spcBef>
                <a:spcPts val="225"/>
              </a:spcBef>
              <a:buClr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US">
                <a:solidFill>
                  <a:srgbClr val="000000"/>
                </a:solidFill>
                <a:cs typeface="Times New Roman" pitchFamily="16" charset="0"/>
              </a:rPr>
              <a:t>	</a:t>
            </a:r>
          </a:p>
        </p:txBody>
      </p:sp>
      <p:sp>
        <p:nvSpPr>
          <p:cNvPr id="25604"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p:nvPr>
        </p:nvSpPr>
        <p:spPr>
          <a:xfrm>
            <a:off x="228600" y="0"/>
            <a:ext cx="82296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26626" name="Rectangle 2"/>
          <p:cNvSpPr>
            <a:spLocks noGrp="1" noChangeArrowheads="1"/>
          </p:cNvSpPr>
          <p:nvPr>
            <p:ph type="body" idx="1"/>
          </p:nvPr>
        </p:nvSpPr>
        <p:spPr>
          <a:xfrm>
            <a:off x="311150" y="20574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6627" name="Rectangle 3"/>
          <p:cNvSpPr>
            <a:spLocks noChangeArrowheads="1"/>
          </p:cNvSpPr>
          <p:nvPr/>
        </p:nvSpPr>
        <p:spPr bwMode="auto">
          <a:xfrm>
            <a:off x="457200" y="1524000"/>
            <a:ext cx="7772400" cy="4953000"/>
          </a:xfrm>
          <a:prstGeom prst="rect">
            <a:avLst/>
          </a:prstGeom>
          <a:noFill/>
          <a:ln w="9525">
            <a:noFill/>
            <a:round/>
            <a:headEnd/>
            <a:tailEnd/>
          </a:ln>
          <a:effectLst/>
        </p:spPr>
        <p:txBody>
          <a:bodyPr lIns="90000" tIns="46800" rIns="90000" bIns="46800"/>
          <a:lstStyle/>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dirty="0">
                <a:solidFill>
                  <a:srgbClr val="000000"/>
                </a:solidFill>
                <a:cs typeface="Times New Roman" pitchFamily="16" charset="0"/>
              </a:rPr>
              <a:t>Dealing with Deadlock</a:t>
            </a:r>
          </a:p>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dirty="0">
                <a:solidFill>
                  <a:srgbClr val="000000"/>
                </a:solidFill>
                <a:cs typeface="Times New Roman" pitchFamily="16" charset="0"/>
              </a:rPr>
              <a:t>	</a:t>
            </a:r>
          </a:p>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dirty="0">
                <a:solidFill>
                  <a:srgbClr val="000000"/>
                </a:solidFill>
                <a:cs typeface="Times New Roman" pitchFamily="16" charset="0"/>
              </a:rPr>
              <a:t>     Deadlock prevention</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	System enforces additional rules (deadlock prevention protocol) to ensure deadlock do not occur – many protocols (see later for some examples)</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endParaRPr lang="en-US" dirty="0">
              <a:solidFill>
                <a:srgbClr val="000000"/>
              </a:solidFill>
              <a:cs typeface="Times New Roman" pitchFamily="16" charset="0"/>
            </a:endParaRPr>
          </a:p>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dirty="0">
                <a:solidFill>
                  <a:srgbClr val="000000"/>
                </a:solidFill>
                <a:latin typeface="Times New Roman" pitchFamily="16" charset="0"/>
                <a:cs typeface="Times New Roman" pitchFamily="16" charset="0"/>
              </a:rPr>
              <a:t>     </a:t>
            </a:r>
            <a:r>
              <a:rPr lang="en-US" sz="2400" b="1" dirty="0">
                <a:solidFill>
                  <a:srgbClr val="000000"/>
                </a:solidFill>
                <a:cs typeface="Times New Roman" pitchFamily="16" charset="0"/>
              </a:rPr>
              <a:t>Deadlock detection and resolution</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	System checks for a state of deadlock – if a deadlock exists, one of the transactions involved in the deadlock is aborted</a:t>
            </a:r>
          </a:p>
          <a:p>
            <a:pPr marL="7581900" lvl="1" indent="0" algn="just">
              <a:lnSpc>
                <a:spcPct val="95000"/>
              </a:lnSpc>
              <a:spcBef>
                <a:spcPts val="2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dirty="0">
                <a:solidFill>
                  <a:srgbClr val="000000"/>
                </a:solidFill>
                <a:cs typeface="Times New Roman" pitchFamily="16" charset="0"/>
              </a:rPr>
              <a:t>	</a:t>
            </a:r>
          </a:p>
        </p:txBody>
      </p:sp>
      <p:sp>
        <p:nvSpPr>
          <p:cNvPr id="26628"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xfrm>
            <a:off x="228600" y="0"/>
            <a:ext cx="82296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27650"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7651" name="Rectangle 3"/>
          <p:cNvSpPr>
            <a:spLocks noChangeArrowheads="1"/>
          </p:cNvSpPr>
          <p:nvPr/>
        </p:nvSpPr>
        <p:spPr bwMode="auto">
          <a:xfrm>
            <a:off x="685800" y="1020763"/>
            <a:ext cx="7772400" cy="4953000"/>
          </a:xfrm>
          <a:prstGeom prst="rect">
            <a:avLst/>
          </a:prstGeom>
          <a:noFill/>
          <a:ln w="9525">
            <a:noFill/>
            <a:round/>
            <a:headEnd/>
            <a:tailEnd/>
          </a:ln>
          <a:effectLst/>
        </p:spPr>
        <p:txBody>
          <a:bodyPr lIns="90000" tIns="46800" rIns="90000" bIns="46800"/>
          <a:lstStyle/>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endParaRPr lang="en-US" sz="2400" b="1">
              <a:solidFill>
                <a:srgbClr val="000000"/>
              </a:solidFill>
              <a:cs typeface="Times New Roman" pitchFamily="16" charset="0"/>
            </a:endParaRPr>
          </a:p>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a:solidFill>
                  <a:srgbClr val="000000"/>
                </a:solidFill>
                <a:cs typeface="Times New Roman" pitchFamily="16" charset="0"/>
              </a:rPr>
              <a:t>	</a:t>
            </a:r>
          </a:p>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a:solidFill>
                  <a:srgbClr val="000000"/>
                </a:solidFill>
                <a:cs typeface="Times New Roman" pitchFamily="16" charset="0"/>
              </a:rPr>
              <a:t>     1. Deadlock detection and resolution</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	</a:t>
            </a:r>
            <a:r>
              <a:rPr lang="en-US">
                <a:solidFill>
                  <a:srgbClr val="000000"/>
                </a:solidFill>
                <a:cs typeface="Times New Roman" pitchFamily="16" charset="0"/>
              </a:rPr>
              <a:t>In this approach, deadlocks are allowed to happen. The system maintains a </a:t>
            </a:r>
            <a:r>
              <a:rPr lang="en-US" i="1">
                <a:solidFill>
                  <a:srgbClr val="000000"/>
                </a:solidFill>
                <a:cs typeface="Times New Roman" pitchFamily="16" charset="0"/>
              </a:rPr>
              <a:t>wait-for graph</a:t>
            </a:r>
            <a:r>
              <a:rPr lang="en-US">
                <a:solidFill>
                  <a:srgbClr val="000000"/>
                </a:solidFill>
                <a:cs typeface="Times New Roman" pitchFamily="16" charset="0"/>
              </a:rPr>
              <a:t> for detecting cycles. If a cycle exists, then one transaction involved in the cycle is selected (victim) and rolled-back (aborted).</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a:solidFill>
                  <a:srgbClr val="000000"/>
                </a:solidFill>
                <a:cs typeface="Times New Roman" pitchFamily="16" charset="0"/>
              </a:rPr>
              <a:t>	A </a:t>
            </a:r>
            <a:r>
              <a:rPr lang="en-US" b="1">
                <a:solidFill>
                  <a:srgbClr val="000000"/>
                </a:solidFill>
                <a:cs typeface="Times New Roman" pitchFamily="16" charset="0"/>
              </a:rPr>
              <a:t>wait-for graph</a:t>
            </a:r>
            <a:r>
              <a:rPr lang="en-US">
                <a:solidFill>
                  <a:srgbClr val="000000"/>
                </a:solidFill>
                <a:cs typeface="Times New Roman" pitchFamily="16" charset="0"/>
              </a:rPr>
              <a:t> contains a node for each transaction. When a transaction (say Ti) is blocked because it requests an item X held by another transaction Tj in conflicting mode, a directed edge is created from Ti to Tj (Ti is waiting on Tj to unlock the item). The system checks for cycles; if a cycle exists, a state of deadlock is detected (see Figure 22.5).</a:t>
            </a:r>
          </a:p>
          <a:p>
            <a:pPr marL="7581900" lvl="1" indent="0" algn="just">
              <a:lnSpc>
                <a:spcPct val="95000"/>
              </a:lnSpc>
              <a:spcBef>
                <a:spcPts val="2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a:solidFill>
                  <a:srgbClr val="000000"/>
                </a:solidFill>
                <a:cs typeface="Times New Roman" pitchFamily="16" charset="0"/>
              </a:rPr>
              <a:t>	</a:t>
            </a:r>
          </a:p>
        </p:txBody>
      </p:sp>
      <p:sp>
        <p:nvSpPr>
          <p:cNvPr id="27652"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p:nvPr>
        </p:nvSpPr>
        <p:spPr>
          <a:xfrm>
            <a:off x="0" y="30163"/>
            <a:ext cx="8485188"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28674"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8675" name="Rectangle 3"/>
          <p:cNvSpPr>
            <a:spLocks noChangeArrowheads="1"/>
          </p:cNvSpPr>
          <p:nvPr/>
        </p:nvSpPr>
        <p:spPr bwMode="auto">
          <a:xfrm>
            <a:off x="685800" y="1020763"/>
            <a:ext cx="7772400" cy="4953000"/>
          </a:xfrm>
          <a:prstGeom prst="rect">
            <a:avLst/>
          </a:prstGeom>
          <a:noFill/>
          <a:ln w="9525">
            <a:noFill/>
            <a:round/>
            <a:headEnd/>
            <a:tailEnd/>
          </a:ln>
          <a:effectLst/>
        </p:spPr>
        <p:txBody>
          <a:bodyPr lIns="90000" tIns="46800" rIns="90000" bIns="46800"/>
          <a:lstStyle/>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endParaRPr lang="en-US" sz="2400" b="1">
              <a:solidFill>
                <a:srgbClr val="000000"/>
              </a:solidFill>
              <a:cs typeface="Times New Roman" pitchFamily="16" charset="0"/>
            </a:endParaRPr>
          </a:p>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a:solidFill>
                  <a:srgbClr val="000000"/>
                </a:solidFill>
                <a:cs typeface="Times New Roman" pitchFamily="16" charset="0"/>
              </a:rPr>
              <a:t>2. Deadlock prevention</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	There are several protocols. Some of them are:</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1. Conservative 2PL, as we discussed earlier.</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2. No-waiting protocol: A transaction never waits; if Ti requests an item that is held by Tj in conflicting mode, Ti is aborted. Can result in </a:t>
            </a:r>
            <a:r>
              <a:rPr lang="en-US" b="1" i="1">
                <a:solidFill>
                  <a:srgbClr val="000000"/>
                </a:solidFill>
                <a:cs typeface="Times New Roman" pitchFamily="16" charset="0"/>
              </a:rPr>
              <a:t>needless transaction aborts</a:t>
            </a:r>
            <a:r>
              <a:rPr lang="en-US" b="1">
                <a:solidFill>
                  <a:srgbClr val="000000"/>
                </a:solidFill>
                <a:cs typeface="Times New Roman" pitchFamily="16" charset="0"/>
              </a:rPr>
              <a:t> because deadlock might have never occurred</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3. Cautious waiting protocol: If Ti requests an item that is held by Tj in conflicting mode, the system checks the status of Tj; if Tj is </a:t>
            </a:r>
            <a:r>
              <a:rPr lang="en-US" b="1" i="1">
                <a:solidFill>
                  <a:srgbClr val="000000"/>
                </a:solidFill>
                <a:cs typeface="Times New Roman" pitchFamily="16" charset="0"/>
              </a:rPr>
              <a:t>not blocked, </a:t>
            </a:r>
            <a:r>
              <a:rPr lang="en-US" b="1">
                <a:solidFill>
                  <a:srgbClr val="000000"/>
                </a:solidFill>
                <a:cs typeface="Times New Roman" pitchFamily="16" charset="0"/>
              </a:rPr>
              <a:t>then Ti waits – if Tj </a:t>
            </a:r>
            <a:r>
              <a:rPr lang="en-US" b="1" i="1">
                <a:solidFill>
                  <a:srgbClr val="000000"/>
                </a:solidFill>
                <a:cs typeface="Times New Roman" pitchFamily="16" charset="0"/>
              </a:rPr>
              <a:t>is blocked, </a:t>
            </a:r>
            <a:r>
              <a:rPr lang="en-US" b="1">
                <a:solidFill>
                  <a:srgbClr val="000000"/>
                </a:solidFill>
                <a:cs typeface="Times New Roman" pitchFamily="16" charset="0"/>
              </a:rPr>
              <a:t>then Ti aborts. Reduces the number of needlessly aborted transactions</a:t>
            </a:r>
          </a:p>
        </p:txBody>
      </p:sp>
      <p:sp>
        <p:nvSpPr>
          <p:cNvPr id="28676"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p:nvPr>
        </p:nvSpPr>
        <p:spPr>
          <a:xfrm>
            <a:off x="0" y="30163"/>
            <a:ext cx="8485188"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29698" name="Rectangle 2"/>
          <p:cNvSpPr>
            <a:spLocks noGrp="1" noChangeArrowheads="1"/>
          </p:cNvSpPr>
          <p:nvPr>
            <p:ph type="body" idx="1"/>
          </p:nvPr>
        </p:nvSpPr>
        <p:spPr>
          <a:xfrm>
            <a:off x="311150" y="22098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9699" name="Rectangle 3"/>
          <p:cNvSpPr>
            <a:spLocks noChangeArrowheads="1"/>
          </p:cNvSpPr>
          <p:nvPr/>
        </p:nvSpPr>
        <p:spPr bwMode="auto">
          <a:xfrm>
            <a:off x="685800" y="1524000"/>
            <a:ext cx="7772400" cy="4953000"/>
          </a:xfrm>
          <a:prstGeom prst="rect">
            <a:avLst/>
          </a:prstGeom>
          <a:noFill/>
          <a:ln w="9525">
            <a:noFill/>
            <a:round/>
            <a:headEnd/>
            <a:tailEnd/>
          </a:ln>
          <a:effectLst/>
        </p:spPr>
        <p:txBody>
          <a:bodyPr lIns="90000" tIns="46800" rIns="90000" bIns="46800"/>
          <a:lstStyle/>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dirty="0">
                <a:solidFill>
                  <a:srgbClr val="000000"/>
                </a:solidFill>
                <a:cs typeface="Times New Roman" pitchFamily="16" charset="0"/>
              </a:rPr>
              <a:t>2. Deadlock prevention (cont.)</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4. Wound-wait and wait-die: Both use transaction timestamp TS(T), which is a monotonically increasing unique id given to each transaction based on their starting time</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TS(T1) &lt; TS(T2) means that T1 started before T2 (T1 </a:t>
            </a:r>
            <a:r>
              <a:rPr lang="en-US" b="1" i="1" dirty="0">
                <a:solidFill>
                  <a:srgbClr val="000000"/>
                </a:solidFill>
                <a:cs typeface="Times New Roman" pitchFamily="16" charset="0"/>
              </a:rPr>
              <a:t>older than </a:t>
            </a:r>
            <a:r>
              <a:rPr lang="en-US" b="1" dirty="0">
                <a:solidFill>
                  <a:srgbClr val="000000"/>
                </a:solidFill>
                <a:cs typeface="Times New Roman" pitchFamily="16" charset="0"/>
              </a:rPr>
              <a:t>T2)</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(Can also say T2 </a:t>
            </a:r>
            <a:r>
              <a:rPr lang="en-US" b="1" i="1" dirty="0">
                <a:solidFill>
                  <a:srgbClr val="000000"/>
                </a:solidFill>
                <a:cs typeface="Times New Roman" pitchFamily="16" charset="0"/>
              </a:rPr>
              <a:t>younger than </a:t>
            </a:r>
            <a:r>
              <a:rPr lang="en-US" b="1" dirty="0">
                <a:solidFill>
                  <a:srgbClr val="000000"/>
                </a:solidFill>
                <a:cs typeface="Times New Roman" pitchFamily="16" charset="0"/>
              </a:rPr>
              <a:t>T1)</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u="sng" dirty="0">
                <a:solidFill>
                  <a:srgbClr val="000000"/>
                </a:solidFill>
                <a:cs typeface="Times New Roman" pitchFamily="16" charset="0"/>
              </a:rPr>
              <a:t>Wait-die:</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If Ti requests an item X that is held by </a:t>
            </a:r>
            <a:r>
              <a:rPr lang="en-US" b="1" dirty="0" err="1">
                <a:solidFill>
                  <a:srgbClr val="000000"/>
                </a:solidFill>
                <a:cs typeface="Times New Roman" pitchFamily="16" charset="0"/>
              </a:rPr>
              <a:t>Tj</a:t>
            </a:r>
            <a:r>
              <a:rPr lang="en-US" b="1" dirty="0">
                <a:solidFill>
                  <a:srgbClr val="000000"/>
                </a:solidFill>
                <a:cs typeface="Times New Roman" pitchFamily="16" charset="0"/>
              </a:rPr>
              <a:t> in conflicting mode, then</a:t>
            </a:r>
          </a:p>
          <a:p>
            <a:pPr marL="1655763" lvl="1" indent="-1184275"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if TS(Ti) &lt; TS(</a:t>
            </a:r>
            <a:r>
              <a:rPr lang="en-US" b="1" dirty="0" err="1">
                <a:solidFill>
                  <a:srgbClr val="000000"/>
                </a:solidFill>
                <a:cs typeface="Times New Roman" pitchFamily="16" charset="0"/>
              </a:rPr>
              <a:t>Tj</a:t>
            </a:r>
            <a:r>
              <a:rPr lang="en-US" b="1" dirty="0">
                <a:solidFill>
                  <a:srgbClr val="000000"/>
                </a:solidFill>
                <a:cs typeface="Times New Roman" pitchFamily="16" charset="0"/>
              </a:rPr>
              <a:t>) then Ti waits (on a younger transaction </a:t>
            </a:r>
            <a:r>
              <a:rPr lang="en-US" b="1" dirty="0" err="1">
                <a:solidFill>
                  <a:srgbClr val="000000"/>
                </a:solidFill>
                <a:cs typeface="Times New Roman" pitchFamily="16" charset="0"/>
              </a:rPr>
              <a:t>Tj</a:t>
            </a:r>
            <a:r>
              <a:rPr lang="en-US" b="1" dirty="0">
                <a:solidFill>
                  <a:srgbClr val="000000"/>
                </a:solidFill>
                <a:cs typeface="Times New Roman" pitchFamily="16" charset="0"/>
              </a:rPr>
              <a:t>)</a:t>
            </a:r>
          </a:p>
          <a:p>
            <a:pPr marL="2057400" lvl="2" indent="-11287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dirty="0">
                <a:solidFill>
                  <a:srgbClr val="000000"/>
                </a:solidFill>
                <a:cs typeface="Times New Roman" pitchFamily="16" charset="0"/>
              </a:rPr>
              <a:t>else Ti dies (if Ti is younger than </a:t>
            </a:r>
            <a:r>
              <a:rPr lang="en-US" b="1" dirty="0" err="1">
                <a:solidFill>
                  <a:srgbClr val="000000"/>
                </a:solidFill>
                <a:cs typeface="Times New Roman" pitchFamily="16" charset="0"/>
              </a:rPr>
              <a:t>Tj</a:t>
            </a:r>
            <a:r>
              <a:rPr lang="en-US" b="1" dirty="0">
                <a:solidFill>
                  <a:srgbClr val="000000"/>
                </a:solidFill>
                <a:cs typeface="Times New Roman" pitchFamily="16" charset="0"/>
              </a:rPr>
              <a:t>, it aborts)</a:t>
            </a:r>
          </a:p>
          <a:p>
            <a:pPr marL="2057400" lvl="2" indent="-1128713">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dirty="0">
                <a:solidFill>
                  <a:srgbClr val="000000"/>
                </a:solidFill>
              </a:rPr>
              <a:t>[In wait-die, transactions only wait on </a:t>
            </a:r>
            <a:r>
              <a:rPr lang="en-US" i="1" dirty="0">
                <a:solidFill>
                  <a:srgbClr val="000000"/>
                </a:solidFill>
              </a:rPr>
              <a:t>younger transactions</a:t>
            </a:r>
            <a:r>
              <a:rPr lang="en-US" dirty="0">
                <a:solidFill>
                  <a:srgbClr val="000000"/>
                </a:solidFill>
              </a:rPr>
              <a:t> that started later, so no cycle ever occurs in wait-for graph – if transaction requesting lock is younger than that holding the lock, requesting transaction aborts (dies)]</a:t>
            </a:r>
          </a:p>
        </p:txBody>
      </p:sp>
      <p:sp>
        <p:nvSpPr>
          <p:cNvPr id="29700"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Grp="1" noChangeArrowheads="1"/>
          </p:cNvSpPr>
          <p:nvPr>
            <p:ph type="title"/>
          </p:nvPr>
        </p:nvSpPr>
        <p:spPr>
          <a:xfrm>
            <a:off x="0" y="30163"/>
            <a:ext cx="8485188"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2PL Concurrency Control (cont.)</a:t>
            </a:r>
          </a:p>
        </p:txBody>
      </p:sp>
      <p:sp>
        <p:nvSpPr>
          <p:cNvPr id="30722"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30723" name="Rectangle 3"/>
          <p:cNvSpPr>
            <a:spLocks noChangeArrowheads="1"/>
          </p:cNvSpPr>
          <p:nvPr/>
        </p:nvSpPr>
        <p:spPr bwMode="auto">
          <a:xfrm>
            <a:off x="685800" y="1600200"/>
            <a:ext cx="7772400" cy="4953000"/>
          </a:xfrm>
          <a:prstGeom prst="rect">
            <a:avLst/>
          </a:prstGeom>
          <a:noFill/>
          <a:ln w="9525">
            <a:noFill/>
            <a:round/>
            <a:headEnd/>
            <a:tailEnd/>
          </a:ln>
          <a:effectLst/>
        </p:spPr>
        <p:txBody>
          <a:bodyPr lIns="90000" tIns="46800" rIns="90000" bIns="46800"/>
          <a:lstStyle/>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a:solidFill>
                  <a:srgbClr val="000000"/>
                </a:solidFill>
                <a:cs typeface="Times New Roman" pitchFamily="16" charset="0"/>
              </a:rPr>
              <a:t>2. Deadlock prevention (cont.)</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4. Wound-wait and wait-die (cont.):</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u="sng">
                <a:solidFill>
                  <a:srgbClr val="000000"/>
                </a:solidFill>
                <a:cs typeface="Times New Roman" pitchFamily="16" charset="0"/>
              </a:rPr>
              <a:t>Wound-wait:</a:t>
            </a:r>
          </a:p>
          <a:p>
            <a:pPr marL="914400" indent="-9001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If Ti requests an item X that is held by Tj in conflicting mode, then</a:t>
            </a:r>
          </a:p>
          <a:p>
            <a:pPr marL="1655763" lvl="1" indent="-1184275"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if TS(Ti) &lt; TS(Tj) then Tj is aborted (Ti wounds younger Tj)</a:t>
            </a:r>
          </a:p>
          <a:p>
            <a:pPr marL="2057400" lvl="2" indent="-1128713" algn="just">
              <a:spcBef>
                <a:spcPts val="125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else Ti waits (on an older transaction Tj)</a:t>
            </a:r>
          </a:p>
          <a:p>
            <a:pPr marL="2057400" lvl="2" indent="-1128713">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a:solidFill>
                  <a:srgbClr val="000000"/>
                </a:solidFill>
              </a:rPr>
              <a:t>[In wound-wait, transactions only wait on older</a:t>
            </a:r>
            <a:r>
              <a:rPr lang="en-US" i="1">
                <a:solidFill>
                  <a:srgbClr val="000000"/>
                </a:solidFill>
              </a:rPr>
              <a:t> transactions</a:t>
            </a:r>
            <a:r>
              <a:rPr lang="en-US">
                <a:solidFill>
                  <a:srgbClr val="000000"/>
                </a:solidFill>
              </a:rPr>
              <a:t> that started earlier, so no cycle ever occurs in wait-for graph – if transaction requesting lock is older than that holding the lock, transaction holding the lock is preemptively aborted]</a:t>
            </a:r>
          </a:p>
        </p:txBody>
      </p:sp>
      <p:sp>
        <p:nvSpPr>
          <p:cNvPr id="30724"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ChangeArrowheads="1"/>
          </p:cNvSpPr>
          <p:nvPr>
            <p:ph type="title"/>
          </p:nvPr>
        </p:nvSpPr>
        <p:spPr>
          <a:xfrm>
            <a:off x="1284288" y="190500"/>
            <a:ext cx="7173912"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Database Concurrency Control</a:t>
            </a:r>
          </a:p>
        </p:txBody>
      </p:sp>
      <p:sp>
        <p:nvSpPr>
          <p:cNvPr id="31746" name="Rectangle 2"/>
          <p:cNvSpPr>
            <a:spLocks noGrp="1" noChangeArrowheads="1"/>
          </p:cNvSpPr>
          <p:nvPr>
            <p:ph type="body" idx="1"/>
          </p:nvPr>
        </p:nvSpPr>
        <p:spPr>
          <a:xfrm>
            <a:off x="311150" y="19812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31747" name="Rectangle 3"/>
          <p:cNvSpPr>
            <a:spLocks noChangeArrowheads="1"/>
          </p:cNvSpPr>
          <p:nvPr/>
        </p:nvSpPr>
        <p:spPr bwMode="auto">
          <a:xfrm>
            <a:off x="685800" y="1524000"/>
            <a:ext cx="7772400" cy="4953000"/>
          </a:xfrm>
          <a:prstGeom prst="rect">
            <a:avLst/>
          </a:prstGeom>
          <a:noFill/>
          <a:ln w="9525">
            <a:noFill/>
            <a:round/>
            <a:headEnd/>
            <a:tailEnd/>
          </a:ln>
          <a:effectLst/>
        </p:spPr>
        <p:txBody>
          <a:bodyPr lIns="90000" tIns="46800" rIns="90000" bIns="46800"/>
          <a:lstStyle/>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a:solidFill>
                  <a:srgbClr val="000000"/>
                </a:solidFill>
                <a:cs typeface="Times New Roman" pitchFamily="16" charset="0"/>
              </a:rPr>
              <a:t>Dealing With Starvation</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	Starvation</a:t>
            </a:r>
            <a:r>
              <a:rPr lang="en-US">
                <a:solidFill>
                  <a:srgbClr val="000000"/>
                </a:solidFill>
                <a:cs typeface="Times New Roman" pitchFamily="16" charset="0"/>
              </a:rPr>
              <a:t> occurs when a particular transaction consistently waits or gets restarted and never gets a chance to proceed further. Solution is to use a </a:t>
            </a:r>
            <a:r>
              <a:rPr lang="en-US" i="1">
                <a:solidFill>
                  <a:srgbClr val="000000"/>
                </a:solidFill>
                <a:cs typeface="Times New Roman" pitchFamily="16" charset="0"/>
              </a:rPr>
              <a:t>fair priority-based scheme</a:t>
            </a:r>
            <a:r>
              <a:rPr lang="en-US">
                <a:solidFill>
                  <a:srgbClr val="000000"/>
                </a:solidFill>
                <a:cs typeface="Times New Roman" pitchFamily="16" charset="0"/>
              </a:rPr>
              <a:t> that increases the priority for transaction the longer they wait.</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b="1">
                <a:solidFill>
                  <a:srgbClr val="000000"/>
                </a:solidFill>
                <a:cs typeface="Times New Roman" pitchFamily="16" charset="0"/>
              </a:rPr>
              <a:t>Examples of Starvation:</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a:solidFill>
                  <a:srgbClr val="000000"/>
                </a:solidFill>
                <a:cs typeface="Times New Roman" pitchFamily="16" charset="0"/>
              </a:rPr>
              <a:t>1. In deadlock detection/resolution it is possible that the same transaction may consistently be selected as victim and rolled-back.</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a:solidFill>
                  <a:srgbClr val="000000"/>
                </a:solidFill>
                <a:cs typeface="Times New Roman" pitchFamily="16" charset="0"/>
              </a:rPr>
              <a:t>2. In conservative 2PL, a transaction may never get started because all the items needed are never available at the same time.</a:t>
            </a:r>
          </a:p>
          <a:p>
            <a:pPr marL="914400" indent="-900113" algn="just">
              <a:spcBef>
                <a:spcPts val="1125"/>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a:solidFill>
                  <a:srgbClr val="000000"/>
                </a:solidFill>
                <a:cs typeface="Times New Roman" pitchFamily="16" charset="0"/>
              </a:rPr>
              <a:t>3. In Wound-Wait scheme a younger transaction may always be wounded (aborted) by a long running older transaction which may create starvation.</a:t>
            </a:r>
          </a:p>
        </p:txBody>
      </p:sp>
      <p:sp>
        <p:nvSpPr>
          <p:cNvPr id="31748"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Grp="1" noChangeArrowheads="1"/>
          </p:cNvSpPr>
          <p:nvPr>
            <p:ph type="title"/>
          </p:nvPr>
        </p:nvSpPr>
        <p:spPr>
          <a:xfrm>
            <a:off x="228600" y="0"/>
            <a:ext cx="82296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Other Concurrency Control Methods</a:t>
            </a:r>
          </a:p>
        </p:txBody>
      </p:sp>
      <p:sp>
        <p:nvSpPr>
          <p:cNvPr id="32770" name="Rectangle 2"/>
          <p:cNvSpPr>
            <a:spLocks noGrp="1" noChangeArrowheads="1"/>
          </p:cNvSpPr>
          <p:nvPr>
            <p:ph type="body" idx="1"/>
          </p:nvPr>
        </p:nvSpPr>
        <p:spPr>
          <a:xfrm>
            <a:off x="381000" y="1752600"/>
            <a:ext cx="8521700" cy="37719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32771" name="Rectangle 3"/>
          <p:cNvSpPr>
            <a:spLocks noChangeArrowheads="1"/>
          </p:cNvSpPr>
          <p:nvPr/>
        </p:nvSpPr>
        <p:spPr bwMode="auto">
          <a:xfrm>
            <a:off x="685800" y="1524000"/>
            <a:ext cx="7772400" cy="4953000"/>
          </a:xfrm>
          <a:prstGeom prst="rect">
            <a:avLst/>
          </a:prstGeom>
          <a:noFill/>
          <a:ln w="9525">
            <a:noFill/>
            <a:round/>
            <a:headEnd/>
            <a:tailEnd/>
          </a:ln>
          <a:effectLst/>
        </p:spPr>
        <p:txBody>
          <a:bodyPr lIns="90000" tIns="46800" rIns="90000" bIns="46800"/>
          <a:lstStyle/>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b="1">
                <a:solidFill>
                  <a:srgbClr val="000000"/>
                </a:solidFill>
                <a:cs typeface="Times New Roman" pitchFamily="16" charset="0"/>
              </a:rPr>
              <a:t>Some CCMs other than 2PL:</a:t>
            </a:r>
          </a:p>
          <a:p>
            <a:pPr marL="914400" indent="-900113">
              <a:spcBef>
                <a:spcPts val="600"/>
              </a:spcBef>
              <a:buClrTx/>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endParaRPr lang="en-US" sz="2400" b="1">
              <a:solidFill>
                <a:srgbClr val="000000"/>
              </a:solidFill>
              <a:cs typeface="Times New Roman" pitchFamily="16" charset="0"/>
            </a:endParaRPr>
          </a:p>
          <a:p>
            <a:pPr marL="1649413" lvl="1" indent="-1184275">
              <a:spcBef>
                <a:spcPts val="600"/>
              </a:spcBef>
              <a:buSzPct val="45000"/>
              <a:buFont typeface="Wingdings" charset="2"/>
              <a:buChar char=""/>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a:solidFill>
                  <a:srgbClr val="000000"/>
                </a:solidFill>
                <a:cs typeface="Times New Roman" pitchFamily="16" charset="0"/>
              </a:rPr>
              <a:t>Timestamp Ordering (TO) CCM</a:t>
            </a:r>
          </a:p>
          <a:p>
            <a:pPr marL="1649413" lvl="1" indent="-1184275">
              <a:spcBef>
                <a:spcPts val="600"/>
              </a:spcBef>
              <a:buClrTx/>
              <a:buSzPct val="45000"/>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endParaRPr lang="en-US" sz="2400" b="1">
              <a:solidFill>
                <a:srgbClr val="000000"/>
              </a:solidFill>
              <a:cs typeface="Times New Roman" pitchFamily="16" charset="0"/>
            </a:endParaRPr>
          </a:p>
          <a:p>
            <a:pPr marL="1649413" lvl="1" indent="-1184275">
              <a:spcBef>
                <a:spcPts val="600"/>
              </a:spcBef>
              <a:buSzPct val="45000"/>
              <a:buFont typeface="Wingdings" charset="2"/>
              <a:buChar char=""/>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a:solidFill>
                  <a:srgbClr val="000000"/>
                </a:solidFill>
                <a:cs typeface="Times New Roman" pitchFamily="16" charset="0"/>
              </a:rPr>
              <a:t>Optimistic (Validation-Based) CCMs</a:t>
            </a:r>
          </a:p>
          <a:p>
            <a:pPr marL="1649413" lvl="1" indent="-1184275">
              <a:spcBef>
                <a:spcPts val="600"/>
              </a:spcBef>
              <a:buClrTx/>
              <a:buSzPct val="45000"/>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endParaRPr lang="en-US" sz="2400" b="1">
              <a:solidFill>
                <a:srgbClr val="000000"/>
              </a:solidFill>
              <a:cs typeface="Times New Roman" pitchFamily="16" charset="0"/>
            </a:endParaRPr>
          </a:p>
          <a:p>
            <a:pPr marL="1649413" lvl="1" indent="-1184275">
              <a:spcBef>
                <a:spcPts val="600"/>
              </a:spcBef>
              <a:buSzPct val="45000"/>
              <a:buFont typeface="Wingdings" charset="2"/>
              <a:buChar char=""/>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a:solidFill>
                  <a:srgbClr val="000000"/>
                </a:solidFill>
                <a:cs typeface="Times New Roman" pitchFamily="16" charset="0"/>
              </a:rPr>
              <a:t>Multi-version CCMs:</a:t>
            </a:r>
          </a:p>
          <a:p>
            <a:pPr marL="2057400" lvl="2" indent="-1135063">
              <a:spcBef>
                <a:spcPts val="600"/>
              </a:spcBef>
              <a:buSzPct val="45000"/>
              <a:buFont typeface="Wingdings" charset="2"/>
              <a:buChar char=""/>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a:solidFill>
                  <a:srgbClr val="000000"/>
                </a:solidFill>
                <a:cs typeface="Times New Roman" pitchFamily="16" charset="0"/>
              </a:rPr>
              <a:t>Multiversion 2PL with Certify Locks</a:t>
            </a:r>
          </a:p>
          <a:p>
            <a:pPr marL="2057400" lvl="2" indent="-1135063">
              <a:spcBef>
                <a:spcPts val="600"/>
              </a:spcBef>
              <a:buSzPct val="45000"/>
              <a:buFont typeface="Wingdings" charset="2"/>
              <a:buChar char=""/>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r>
              <a:rPr lang="en-US" sz="2400">
                <a:solidFill>
                  <a:srgbClr val="000000"/>
                </a:solidFill>
                <a:cs typeface="Times New Roman" pitchFamily="16" charset="0"/>
              </a:rPr>
              <a:t>Multiversion TO</a:t>
            </a:r>
          </a:p>
          <a:p>
            <a:pPr marL="2057400" lvl="2" indent="-1135063">
              <a:spcBef>
                <a:spcPts val="600"/>
              </a:spcBef>
              <a:buClrTx/>
              <a:buSzPct val="45000"/>
              <a:buFontTx/>
              <a:buNone/>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pPr>
            <a:endParaRPr lang="en-US" sz="2400">
              <a:solidFill>
                <a:srgbClr val="000000"/>
              </a:solidFill>
              <a:cs typeface="Times New Roman" pitchFamily="16" charset="0"/>
            </a:endParaRPr>
          </a:p>
        </p:txBody>
      </p:sp>
      <p:sp>
        <p:nvSpPr>
          <p:cNvPr id="32772" name="Line 4"/>
          <p:cNvSpPr>
            <a:spLocks noChangeShapeType="1"/>
          </p:cNvSpPr>
          <p:nvPr/>
        </p:nvSpPr>
        <p:spPr bwMode="auto">
          <a:xfrm>
            <a:off x="885825" y="2800350"/>
            <a:ext cx="1588" cy="1143000"/>
          </a:xfrm>
          <a:prstGeom prst="line">
            <a:avLst/>
          </a:prstGeom>
          <a:noFill/>
          <a:ln w="9360">
            <a:solidFill>
              <a:srgbClr val="FFFFFF"/>
            </a:solidFill>
            <a:miter lim="800000"/>
            <a:headEnd/>
            <a:tailEnd/>
          </a:ln>
          <a:effectLst/>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827088" y="228600"/>
            <a:ext cx="7173912"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Purpose of Database Recovery</a:t>
            </a:r>
          </a:p>
        </p:txBody>
      </p:sp>
      <p:sp>
        <p:nvSpPr>
          <p:cNvPr id="7170" name="Rectangle 2"/>
          <p:cNvSpPr>
            <a:spLocks noGrp="1" noChangeArrowheads="1"/>
          </p:cNvSpPr>
          <p:nvPr>
            <p:ph type="body" idx="1"/>
          </p:nvPr>
        </p:nvSpPr>
        <p:spPr>
          <a:xfrm>
            <a:off x="214313" y="1358900"/>
            <a:ext cx="7988300" cy="4794250"/>
          </a:xfrm>
          <a:ln/>
        </p:spPr>
        <p:txBody>
          <a:bodyPr lIns="90000" tIns="46800" rIns="90000" bIns="46800"/>
          <a:lstStyle/>
          <a:p>
            <a:pPr marL="0" indent="0">
              <a:lnSpc>
                <a:spcPct val="80000"/>
              </a:lnSpc>
              <a:spcBef>
                <a:spcPts val="1800"/>
              </a:spcBef>
              <a:spcAft>
                <a:spcPts val="1800"/>
              </a:spcAft>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914400" lvl="2" indent="-342900" algn="just">
              <a:lnSpc>
                <a:spcPct val="8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To bring the database into a consistent state after a failure occurs.</a:t>
            </a:r>
          </a:p>
          <a:p>
            <a:pPr marL="914400" lvl="2" indent="-342900" algn="just">
              <a:lnSpc>
                <a:spcPct val="8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To ensure the transaction properties of </a:t>
            </a:r>
            <a:r>
              <a:rPr lang="en-US" b="1">
                <a:cs typeface="Times New Roman" pitchFamily="16" charset="0"/>
              </a:rPr>
              <a:t>Atomicity</a:t>
            </a:r>
            <a:r>
              <a:rPr lang="en-US">
                <a:cs typeface="Times New Roman" pitchFamily="16" charset="0"/>
              </a:rPr>
              <a:t> (a transaction must be done in its entirety; otherwise, it has to be rolled back) and </a:t>
            </a:r>
            <a:r>
              <a:rPr lang="en-US" b="1">
                <a:cs typeface="Times New Roman" pitchFamily="16" charset="0"/>
              </a:rPr>
              <a:t>Durability</a:t>
            </a:r>
            <a:r>
              <a:rPr lang="en-US">
                <a:cs typeface="Times New Roman" pitchFamily="16" charset="0"/>
              </a:rPr>
              <a:t> (a committed transaction cannot be canceled and all its updates must be applied permanently to the database).</a:t>
            </a:r>
          </a:p>
          <a:p>
            <a:pPr marL="914400" lvl="2" indent="-342900" algn="just">
              <a:lnSpc>
                <a:spcPct val="80000"/>
              </a:lnSpc>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cs typeface="Times New Roman" pitchFamily="16" charset="0"/>
              </a:rPr>
              <a:t>After a failure, the </a:t>
            </a:r>
            <a:r>
              <a:rPr lang="en-US" b="1">
                <a:cs typeface="Times New Roman" pitchFamily="16" charset="0"/>
              </a:rPr>
              <a:t>DBMS recovery manager</a:t>
            </a:r>
            <a:r>
              <a:rPr lang="en-US">
                <a:cs typeface="Times New Roman" pitchFamily="16" charset="0"/>
              </a:rPr>
              <a:t> is responsible for bringing the system into a consistent state before transactions can resume.</a:t>
            </a:r>
          </a:p>
          <a:p>
            <a:pPr marL="457200" lvl="1" indent="0" algn="just">
              <a:lnSpc>
                <a:spcPct val="80000"/>
              </a:lnSpc>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457200" lvl="1" indent="0" algn="just">
              <a:lnSpc>
                <a:spcPct val="80000"/>
              </a:lnSpc>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  </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a:xfrm>
            <a:off x="685800" y="258763"/>
            <a:ext cx="7772400" cy="766762"/>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Types of Failure</a:t>
            </a:r>
          </a:p>
        </p:txBody>
      </p:sp>
      <p:sp>
        <p:nvSpPr>
          <p:cNvPr id="8194" name="Rectangle 2"/>
          <p:cNvSpPr>
            <a:spLocks noGrp="1" noChangeArrowheads="1"/>
          </p:cNvSpPr>
          <p:nvPr>
            <p:ph type="body" idx="1"/>
          </p:nvPr>
        </p:nvSpPr>
        <p:spPr>
          <a:xfrm>
            <a:off x="123825" y="1143000"/>
            <a:ext cx="8105775" cy="41148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1023938" lvl="1" indent="-338138" algn="just">
              <a:spcBef>
                <a:spcPts val="600"/>
              </a:spcBef>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Transaction failure:  Transactions may fail because of errors, incorrect input, deadlock, incorrect synchronization, etc.</a:t>
            </a:r>
          </a:p>
          <a:p>
            <a:pPr marL="1023938" lvl="1" indent="-338138" algn="just">
              <a:spcBef>
                <a:spcPts val="600"/>
              </a:spcBef>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System failure:  System may fail because of application error, operating system fault, RAM failure, etc.</a:t>
            </a:r>
          </a:p>
          <a:p>
            <a:pPr marL="1023938" lvl="1" indent="-338138" algn="just">
              <a:spcBef>
                <a:spcPts val="600"/>
              </a:spcBef>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Media failure:  Disk head crash, power disruption, etc.</a:t>
            </a:r>
          </a:p>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a:xfrm>
            <a:off x="685800" y="258763"/>
            <a:ext cx="7772400" cy="766762"/>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t>The Log File</a:t>
            </a:r>
          </a:p>
        </p:txBody>
      </p:sp>
      <p:sp>
        <p:nvSpPr>
          <p:cNvPr id="9218" name="Rectangle 2"/>
          <p:cNvSpPr>
            <a:spLocks noGrp="1" noChangeArrowheads="1"/>
          </p:cNvSpPr>
          <p:nvPr>
            <p:ph type="body" idx="1"/>
          </p:nvPr>
        </p:nvSpPr>
        <p:spPr>
          <a:xfrm>
            <a:off x="123825" y="1143000"/>
            <a:ext cx="8105775" cy="411480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1023938" lvl="1" indent="-338138" algn="just">
              <a:spcBef>
                <a:spcPts val="600"/>
              </a:spcBef>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Holds the information that is necessary for the recovery process</a:t>
            </a:r>
          </a:p>
          <a:p>
            <a:pPr marL="1023938" lvl="1" indent="-338138" algn="just">
              <a:spcBef>
                <a:spcPts val="600"/>
              </a:spcBef>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Records all relevant operations in the order in which they occur (looks like a </a:t>
            </a:r>
            <a:r>
              <a:rPr lang="en-US" sz="2400" i="1">
                <a:cs typeface="Times New Roman" pitchFamily="16" charset="0"/>
              </a:rPr>
              <a:t>schedule of transactions</a:t>
            </a:r>
            <a:r>
              <a:rPr lang="en-US" sz="2400">
                <a:cs typeface="Times New Roman" pitchFamily="16" charset="0"/>
              </a:rPr>
              <a:t>, see Chapter 21)</a:t>
            </a:r>
          </a:p>
          <a:p>
            <a:pPr marL="1023938" lvl="1" indent="-338138" algn="just">
              <a:spcBef>
                <a:spcPts val="600"/>
              </a:spcBef>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Is an append-only file.</a:t>
            </a:r>
          </a:p>
          <a:p>
            <a:pPr marL="1023938" lvl="1" indent="-338138" algn="just">
              <a:spcBef>
                <a:spcPts val="600"/>
              </a:spcBef>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Holds various types of log records (or log entries).</a:t>
            </a:r>
          </a:p>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p:nvPr>
        </p:nvSpPr>
        <p:spPr>
          <a:xfrm>
            <a:off x="457200" y="101600"/>
            <a:ext cx="7947025" cy="11430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a:cs typeface="Times New Roman" pitchFamily="16" charset="0"/>
              </a:rPr>
              <a:t>Log File Entries (from Chapter 21)</a:t>
            </a:r>
          </a:p>
        </p:txBody>
      </p:sp>
      <p:sp>
        <p:nvSpPr>
          <p:cNvPr id="10242" name="Rectangle 2"/>
          <p:cNvSpPr>
            <a:spLocks noGrp="1" noChangeArrowheads="1"/>
          </p:cNvSpPr>
          <p:nvPr>
            <p:ph type="body" idx="1"/>
          </p:nvPr>
        </p:nvSpPr>
        <p:spPr>
          <a:xfrm>
            <a:off x="347662" y="1691855"/>
            <a:ext cx="8166100" cy="4881562"/>
          </a:xfrm>
          <a:ln/>
        </p:spPr>
        <p:txBody>
          <a:bodyPr lIns="90000" tIns="46800" rIns="90000" bIns="46800"/>
          <a:lstStyle/>
          <a:p>
            <a:pPr marL="533400" indent="-517525">
              <a:lnSpc>
                <a:spcPct val="90000"/>
              </a:lnSpc>
              <a:spcBef>
                <a:spcPts val="700"/>
              </a:spcBef>
              <a:buClrTx/>
              <a:buFontTx/>
              <a:buNone/>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b="1" dirty="0">
                <a:latin typeface="Palatino" charset="0"/>
                <a:cs typeface="Times New Roman" pitchFamily="16" charset="0"/>
              </a:rPr>
              <a:t>Types of records (entries) in log file: </a:t>
            </a:r>
          </a:p>
          <a:p>
            <a:pPr marL="533400" indent="-517525">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latin typeface="Palatino" charset="0"/>
                <a:cs typeface="Times New Roman" pitchFamily="16" charset="0"/>
              </a:rPr>
              <a:t>[</a:t>
            </a:r>
            <a:r>
              <a:rPr lang="en-US" sz="2400" dirty="0" err="1">
                <a:latin typeface="Palatino" charset="0"/>
                <a:cs typeface="Times New Roman" pitchFamily="16" charset="0"/>
              </a:rPr>
              <a:t>start_transaction,T</a:t>
            </a:r>
            <a:r>
              <a:rPr lang="en-US" sz="2400" dirty="0">
                <a:latin typeface="Palatino" charset="0"/>
                <a:cs typeface="Times New Roman" pitchFamily="16" charset="0"/>
              </a:rPr>
              <a:t>]: Records that transaction T has started execution.</a:t>
            </a:r>
          </a:p>
          <a:p>
            <a:pPr marL="533400" indent="-517525">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latin typeface="Palatino" charset="0"/>
                <a:cs typeface="Times New Roman" pitchFamily="16" charset="0"/>
              </a:rPr>
              <a:t>[</a:t>
            </a:r>
            <a:r>
              <a:rPr lang="en-US" sz="2400" dirty="0" err="1">
                <a:latin typeface="Palatino" charset="0"/>
                <a:cs typeface="Times New Roman" pitchFamily="16" charset="0"/>
              </a:rPr>
              <a:t>write_item,T,X,old_value,new_value</a:t>
            </a:r>
            <a:r>
              <a:rPr lang="en-US" sz="2400" dirty="0">
                <a:latin typeface="Palatino" charset="0"/>
                <a:cs typeface="Times New Roman" pitchFamily="16" charset="0"/>
              </a:rPr>
              <a:t>]: T has changed the value of item X from </a:t>
            </a:r>
            <a:r>
              <a:rPr lang="en-US" sz="2400" dirty="0" err="1">
                <a:latin typeface="Palatino" charset="0"/>
                <a:cs typeface="Times New Roman" pitchFamily="16" charset="0"/>
              </a:rPr>
              <a:t>old_value</a:t>
            </a:r>
            <a:r>
              <a:rPr lang="en-US" sz="2400" dirty="0">
                <a:latin typeface="Palatino" charset="0"/>
                <a:cs typeface="Times New Roman" pitchFamily="16" charset="0"/>
              </a:rPr>
              <a:t> to </a:t>
            </a:r>
            <a:r>
              <a:rPr lang="en-US" sz="2400" dirty="0" err="1">
                <a:latin typeface="Palatino" charset="0"/>
                <a:cs typeface="Times New Roman" pitchFamily="16" charset="0"/>
              </a:rPr>
              <a:t>new_value</a:t>
            </a:r>
            <a:r>
              <a:rPr lang="en-US" sz="2400" dirty="0">
                <a:latin typeface="Palatino" charset="0"/>
                <a:cs typeface="Times New Roman" pitchFamily="16" charset="0"/>
              </a:rPr>
              <a:t>.</a:t>
            </a:r>
          </a:p>
          <a:p>
            <a:pPr marL="533400" indent="-517525">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latin typeface="Palatino" charset="0"/>
                <a:cs typeface="Times New Roman" pitchFamily="16" charset="0"/>
              </a:rPr>
              <a:t>[</a:t>
            </a:r>
            <a:r>
              <a:rPr lang="en-US" sz="2400" dirty="0" err="1">
                <a:latin typeface="Palatino" charset="0"/>
                <a:cs typeface="Times New Roman" pitchFamily="16" charset="0"/>
              </a:rPr>
              <a:t>read_item,T,X</a:t>
            </a:r>
            <a:r>
              <a:rPr lang="en-US" sz="2400" dirty="0">
                <a:latin typeface="Palatino" charset="0"/>
                <a:cs typeface="Times New Roman" pitchFamily="16" charset="0"/>
              </a:rPr>
              <a:t>]: T  has read the value of item X (not needed in many cases).</a:t>
            </a:r>
          </a:p>
          <a:p>
            <a:pPr marL="533400" indent="-517525">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latin typeface="Palatino" charset="0"/>
                <a:cs typeface="Times New Roman" pitchFamily="16" charset="0"/>
              </a:rPr>
              <a:t>[</a:t>
            </a:r>
            <a:r>
              <a:rPr lang="en-US" sz="2400" dirty="0" err="1">
                <a:latin typeface="Palatino" charset="0"/>
                <a:cs typeface="Times New Roman" pitchFamily="16" charset="0"/>
              </a:rPr>
              <a:t>end_transaction,T</a:t>
            </a:r>
            <a:r>
              <a:rPr lang="en-US" sz="2400" dirty="0">
                <a:latin typeface="Palatino" charset="0"/>
                <a:cs typeface="Times New Roman" pitchFamily="16" charset="0"/>
              </a:rPr>
              <a:t>]: T has ended execution</a:t>
            </a:r>
          </a:p>
          <a:p>
            <a:pPr marL="533400" indent="-517525">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latin typeface="Palatino" charset="0"/>
                <a:cs typeface="Times New Roman" pitchFamily="16" charset="0"/>
              </a:rPr>
              <a:t>[</a:t>
            </a:r>
            <a:r>
              <a:rPr lang="en-US" sz="2400" dirty="0" err="1">
                <a:latin typeface="Palatino" charset="0"/>
                <a:cs typeface="Times New Roman" pitchFamily="16" charset="0"/>
              </a:rPr>
              <a:t>commit,T</a:t>
            </a:r>
            <a:r>
              <a:rPr lang="en-US" sz="2400" dirty="0">
                <a:latin typeface="Palatino" charset="0"/>
                <a:cs typeface="Times New Roman" pitchFamily="16" charset="0"/>
              </a:rPr>
              <a:t>]: T has completed successfully, and committed.</a:t>
            </a:r>
          </a:p>
          <a:p>
            <a:pPr marL="533400" indent="-517525">
              <a:lnSpc>
                <a:spcPct val="90000"/>
              </a:lnSpc>
              <a:spcBef>
                <a:spcPts val="600"/>
              </a:spcBef>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pPr>
            <a:r>
              <a:rPr lang="en-US" sz="2400" dirty="0">
                <a:latin typeface="Palatino" charset="0"/>
                <a:cs typeface="Times New Roman" pitchFamily="16" charset="0"/>
              </a:rPr>
              <a:t>[</a:t>
            </a:r>
            <a:r>
              <a:rPr lang="en-US" sz="2400" dirty="0" err="1">
                <a:latin typeface="Palatino" charset="0"/>
                <a:cs typeface="Times New Roman" pitchFamily="16" charset="0"/>
              </a:rPr>
              <a:t>abort,T</a:t>
            </a:r>
            <a:r>
              <a:rPr lang="en-US" sz="2400" dirty="0">
                <a:latin typeface="Palatino" charset="0"/>
                <a:cs typeface="Times New Roman" pitchFamily="16" charset="0"/>
              </a:rPr>
              <a:t>]: T has been aborted. </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xfrm>
            <a:off x="827088" y="228600"/>
            <a:ext cx="7173912"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The Log File (cont.)</a:t>
            </a:r>
          </a:p>
        </p:txBody>
      </p:sp>
      <p:sp>
        <p:nvSpPr>
          <p:cNvPr id="11266" name="Rectangle 2"/>
          <p:cNvSpPr>
            <a:spLocks noGrp="1" noChangeArrowheads="1"/>
          </p:cNvSpPr>
          <p:nvPr>
            <p:ph type="body" idx="1"/>
          </p:nvPr>
        </p:nvSpPr>
        <p:spPr>
          <a:xfrm>
            <a:off x="457200" y="1282700"/>
            <a:ext cx="7772400" cy="4660900"/>
          </a:xfrm>
          <a:ln/>
        </p:spPr>
        <p:txBody>
          <a:bodyPr lIns="90000" tIns="46800" rIns="90000" bIns="46800"/>
          <a:lstStyle/>
          <a:p>
            <a:pPr marL="571500" indent="-566738">
              <a:lnSpc>
                <a:spcPct val="90000"/>
              </a:lnSpc>
              <a:spcBef>
                <a:spcPts val="600"/>
              </a:spcBef>
              <a:buClrTx/>
              <a:buFontTx/>
              <a:buNone/>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endParaRPr lang="en-US" sz="2400" b="1" dirty="0">
              <a:cs typeface="Times New Roman" pitchFamily="16" charset="0"/>
            </a:endParaRPr>
          </a:p>
          <a:p>
            <a:pPr marL="685800" lvl="1" indent="0" algn="just">
              <a:lnSpc>
                <a:spcPct val="90000"/>
              </a:lnSpc>
              <a:spcBef>
                <a:spcPts val="500"/>
              </a:spcBef>
              <a:buClrTx/>
              <a:buFontTx/>
              <a:buNone/>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000" dirty="0"/>
              <a:t>For </a:t>
            </a:r>
            <a:r>
              <a:rPr lang="en-US" sz="2000" b="1" dirty="0"/>
              <a:t>write_item </a:t>
            </a:r>
            <a:r>
              <a:rPr lang="en-US" sz="2000" dirty="0"/>
              <a:t>log entry, </a:t>
            </a:r>
            <a:r>
              <a:rPr lang="en-US" sz="2000" i="1" dirty="0"/>
              <a:t>old value</a:t>
            </a:r>
            <a:r>
              <a:rPr lang="en-US" sz="2000" dirty="0"/>
              <a:t> of item before modification (</a:t>
            </a:r>
            <a:r>
              <a:rPr lang="en-US" sz="2000" b="1" dirty="0"/>
              <a:t>BFIM</a:t>
            </a:r>
            <a:r>
              <a:rPr lang="en-US" sz="2000" dirty="0"/>
              <a:t> - </a:t>
            </a:r>
            <a:r>
              <a:rPr lang="en-US" sz="2000" dirty="0" err="1"/>
              <a:t>BeFore</a:t>
            </a:r>
            <a:r>
              <a:rPr lang="en-US" sz="2000" dirty="0"/>
              <a:t> Image) and the </a:t>
            </a:r>
            <a:r>
              <a:rPr lang="en-US" sz="2000" i="1" dirty="0"/>
              <a:t>new value</a:t>
            </a:r>
            <a:r>
              <a:rPr lang="en-US" sz="2000" dirty="0"/>
              <a:t> after modification (</a:t>
            </a:r>
            <a:r>
              <a:rPr lang="en-US" sz="2000" b="1" dirty="0"/>
              <a:t>AFIM</a:t>
            </a:r>
            <a:r>
              <a:rPr lang="en-US" sz="2000" dirty="0"/>
              <a:t> – </a:t>
            </a:r>
            <a:r>
              <a:rPr lang="en-US" sz="2000" dirty="0" err="1"/>
              <a:t>AFter</a:t>
            </a:r>
            <a:r>
              <a:rPr lang="en-US" sz="2000" dirty="0"/>
              <a:t> Image) are stored. BFIM needed for UNDO, AFIM needed for REDO.  A sample log is given below.  </a:t>
            </a:r>
            <a:r>
              <a:rPr lang="en-US" sz="2000" b="1" dirty="0"/>
              <a:t>Back P</a:t>
            </a:r>
            <a:r>
              <a:rPr lang="en-US" sz="2000" dirty="0"/>
              <a:t> and </a:t>
            </a:r>
            <a:r>
              <a:rPr lang="en-US" sz="2000" b="1" dirty="0"/>
              <a:t>Next P</a:t>
            </a:r>
            <a:r>
              <a:rPr lang="en-US" sz="2000" dirty="0"/>
              <a:t> point to the previous and next log records of the same transaction.</a:t>
            </a:r>
          </a:p>
        </p:txBody>
      </p:sp>
      <p:graphicFrame>
        <p:nvGraphicFramePr>
          <p:cNvPr id="11267" name="Object 3"/>
          <p:cNvGraphicFramePr>
            <a:graphicFrameLocks noChangeAspect="1"/>
          </p:cNvGraphicFramePr>
          <p:nvPr/>
        </p:nvGraphicFramePr>
        <p:xfrm>
          <a:off x="1476375" y="3838575"/>
          <a:ext cx="6858000" cy="2222500"/>
        </p:xfrm>
        <a:graphic>
          <a:graphicData uri="http://schemas.openxmlformats.org/presentationml/2006/ole">
            <mc:AlternateContent xmlns:mc="http://schemas.openxmlformats.org/markup-compatibility/2006">
              <mc:Choice xmlns:v="urn:schemas-microsoft-com:vml" Requires="v">
                <p:oleObj spid="_x0000_s3105" r:id="rId4" imgW="4511880" imgH="1461960" progId="">
                  <p:embed/>
                </p:oleObj>
              </mc:Choice>
              <mc:Fallback>
                <p:oleObj r:id="rId4" imgW="4511880" imgH="146196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3838575"/>
                        <a:ext cx="6858000" cy="22225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935038" y="166688"/>
            <a:ext cx="7173912"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Database Cache</a:t>
            </a:r>
          </a:p>
        </p:txBody>
      </p:sp>
      <p:sp>
        <p:nvSpPr>
          <p:cNvPr id="12290" name="Rectangle 2"/>
          <p:cNvSpPr>
            <a:spLocks noGrp="1" noChangeArrowheads="1"/>
          </p:cNvSpPr>
          <p:nvPr>
            <p:ph type="body" idx="1"/>
          </p:nvPr>
        </p:nvSpPr>
        <p:spPr>
          <a:xfrm>
            <a:off x="457200" y="1143000"/>
            <a:ext cx="7772400" cy="559435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a:cs typeface="Times New Roman" pitchFamily="16" charset="0"/>
              </a:rPr>
              <a:t>Database Cache:</a:t>
            </a:r>
            <a:r>
              <a:rPr lang="en-US" sz="2400">
                <a:cs typeface="Times New Roman" pitchFamily="16" charset="0"/>
              </a:rPr>
              <a:t> A set of </a:t>
            </a:r>
            <a:r>
              <a:rPr lang="en-US" sz="2400" i="1">
                <a:cs typeface="Times New Roman" pitchFamily="16" charset="0"/>
              </a:rPr>
              <a:t>main memory </a:t>
            </a:r>
            <a:r>
              <a:rPr lang="en-US" sz="2400">
                <a:cs typeface="Times New Roman" pitchFamily="16" charset="0"/>
              </a:rPr>
              <a:t>buffers; each buffer typically holds contents of one disk block. Stores the disk blocks that contain the data items being read and written by the database transactions.</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a:cs typeface="Times New Roman" pitchFamily="16" charset="0"/>
              </a:rPr>
              <a:t>Data Item Address: </a:t>
            </a:r>
            <a:r>
              <a:rPr lang="en-US" sz="2400">
                <a:cs typeface="Times New Roman" pitchFamily="16" charset="0"/>
              </a:rPr>
              <a:t>(disk block address, offset, size in bytes).</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a:cs typeface="Times New Roman" pitchFamily="16" charset="0"/>
              </a:rPr>
              <a:t>Cache Table:</a:t>
            </a:r>
            <a:r>
              <a:rPr lang="en-US" sz="2400">
                <a:cs typeface="Times New Roman" pitchFamily="16" charset="0"/>
              </a:rPr>
              <a:t>Table of entries of the form (buffer addr, disk block addr, modified bit, pin/unpin bit, ...) to indicate which disk blocks are currently in the cache buffers.</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1143000" y="228600"/>
            <a:ext cx="7173913"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Database Cache (cont.)</a:t>
            </a:r>
          </a:p>
        </p:txBody>
      </p:sp>
      <p:sp>
        <p:nvSpPr>
          <p:cNvPr id="13314" name="Rectangle 2"/>
          <p:cNvSpPr>
            <a:spLocks noGrp="1" noChangeArrowheads="1"/>
          </p:cNvSpPr>
          <p:nvPr>
            <p:ph type="body" idx="1"/>
          </p:nvPr>
        </p:nvSpPr>
        <p:spPr>
          <a:xfrm>
            <a:off x="228600" y="1309688"/>
            <a:ext cx="7772400" cy="4862512"/>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Data items to be modified are first copied into database cache by the Cache Manager (CM) and after modification they are flushed (written) back to the disk.  The flushing is controlled by </a:t>
            </a:r>
            <a:r>
              <a:rPr lang="en-US" sz="2400" b="1">
                <a:cs typeface="Times New Roman" pitchFamily="16" charset="0"/>
              </a:rPr>
              <a:t>Modified</a:t>
            </a:r>
            <a:r>
              <a:rPr lang="en-US" sz="2400">
                <a:cs typeface="Times New Roman" pitchFamily="16" charset="0"/>
              </a:rPr>
              <a:t> and </a:t>
            </a:r>
            <a:r>
              <a:rPr lang="en-US" sz="2400" b="1">
                <a:cs typeface="Times New Roman" pitchFamily="16" charset="0"/>
              </a:rPr>
              <a:t>Pin-Unpin</a:t>
            </a:r>
            <a:r>
              <a:rPr lang="en-US" sz="2400">
                <a:cs typeface="Times New Roman" pitchFamily="16" charset="0"/>
              </a:rPr>
              <a:t> bits.</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a:cs typeface="Times New Roman" pitchFamily="16" charset="0"/>
              </a:rPr>
              <a:t>Pin-Unpin</a:t>
            </a:r>
            <a:r>
              <a:rPr lang="en-US" sz="2400">
                <a:cs typeface="Times New Roman" pitchFamily="16" charset="0"/>
              </a:rPr>
              <a:t>: If a buffer is pinned, it cannot be written back to disk until it is unpinned.</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a:cs typeface="Times New Roman" pitchFamily="16" charset="0"/>
              </a:rPr>
              <a:t>Modified</a:t>
            </a:r>
            <a:r>
              <a:rPr lang="en-US" sz="2400">
                <a:cs typeface="Times New Roman" pitchFamily="16" charset="0"/>
              </a:rPr>
              <a:t>: Indicates that one or more data items in the buffer have been changed.</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a:cs typeface="Times New Roman" pitchFamily="1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a:xfrm>
            <a:off x="914400" y="228600"/>
            <a:ext cx="7173913"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Data Update</a:t>
            </a:r>
          </a:p>
        </p:txBody>
      </p:sp>
      <p:sp>
        <p:nvSpPr>
          <p:cNvPr id="14338" name="Rectangle 2"/>
          <p:cNvSpPr>
            <a:spLocks noGrp="1" noChangeArrowheads="1"/>
          </p:cNvSpPr>
          <p:nvPr>
            <p:ph type="body" idx="1"/>
          </p:nvPr>
        </p:nvSpPr>
        <p:spPr>
          <a:xfrm>
            <a:off x="430213" y="1184275"/>
            <a:ext cx="7772400" cy="4324350"/>
          </a:xfrm>
          <a:ln/>
        </p:spPr>
        <p:txBody>
          <a:bodyPr lIns="90000" tIns="46800" rIns="90000" bIns="46800"/>
          <a:lstStyle/>
          <a:p>
            <a:pPr marL="571500" indent="-566738">
              <a:lnSpc>
                <a:spcPct val="80000"/>
              </a:lnSpc>
              <a:spcBef>
                <a:spcPts val="600"/>
              </a:spcBef>
              <a:buClrTx/>
              <a:buFontTx/>
              <a:buNone/>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a:cs typeface="Times New Roman" pitchFamily="16" charset="0"/>
              </a:rPr>
              <a:t> </a:t>
            </a:r>
          </a:p>
          <a:p>
            <a:pPr marL="1023938" lvl="1" indent="-338138" algn="just">
              <a:lnSpc>
                <a:spcPct val="80000"/>
              </a:lnSpc>
              <a:spcBef>
                <a:spcPts val="600"/>
              </a:spcBef>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b="1">
                <a:cs typeface="Times New Roman" pitchFamily="16" charset="0"/>
              </a:rPr>
              <a:t>Immediate Update</a:t>
            </a:r>
            <a:r>
              <a:rPr lang="en-US" sz="2400">
                <a:cs typeface="Times New Roman" pitchFamily="16" charset="0"/>
              </a:rPr>
              <a:t>:  A data item modified in cache can be written back to disk </a:t>
            </a:r>
            <a:r>
              <a:rPr lang="en-US" sz="2400" i="1">
                <a:cs typeface="Times New Roman" pitchFamily="16" charset="0"/>
              </a:rPr>
              <a:t>before the transaction commits</a:t>
            </a:r>
            <a:r>
              <a:rPr lang="en-US" sz="2400">
                <a:cs typeface="Times New Roman" pitchFamily="16" charset="0"/>
              </a:rPr>
              <a:t>.</a:t>
            </a:r>
          </a:p>
          <a:p>
            <a:pPr marL="1023938" lvl="1" indent="-338138" algn="just">
              <a:lnSpc>
                <a:spcPct val="80000"/>
              </a:lnSpc>
              <a:spcBef>
                <a:spcPts val="600"/>
              </a:spcBef>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b="1">
                <a:cs typeface="Times New Roman" pitchFamily="16" charset="0"/>
              </a:rPr>
              <a:t>Deferred Update</a:t>
            </a:r>
            <a:r>
              <a:rPr lang="en-US" sz="2400">
                <a:cs typeface="Times New Roman" pitchFamily="16" charset="0"/>
              </a:rPr>
              <a:t>:  A modified data item in the cache cannot be written back to disk till </a:t>
            </a:r>
            <a:r>
              <a:rPr lang="en-US" sz="2400" i="1">
                <a:cs typeface="Times New Roman" pitchFamily="16" charset="0"/>
              </a:rPr>
              <a:t>after the transaction commits </a:t>
            </a:r>
            <a:r>
              <a:rPr lang="en-US" sz="2400">
                <a:cs typeface="Times New Roman" pitchFamily="16" charset="0"/>
              </a:rPr>
              <a:t>(buffer is </a:t>
            </a:r>
            <a:r>
              <a:rPr lang="en-US" sz="2400" b="1">
                <a:cs typeface="Times New Roman" pitchFamily="16" charset="0"/>
              </a:rPr>
              <a:t>pinned</a:t>
            </a:r>
            <a:r>
              <a:rPr lang="en-US" sz="2400">
                <a:cs typeface="Times New Roman" pitchFamily="16" charset="0"/>
              </a:rPr>
              <a:t>).</a:t>
            </a:r>
          </a:p>
          <a:p>
            <a:pPr marL="1023938" lvl="1" indent="-338138" algn="just">
              <a:lnSpc>
                <a:spcPct val="80000"/>
              </a:lnSpc>
              <a:spcBef>
                <a:spcPts val="600"/>
              </a:spcBef>
              <a:buClrTx/>
              <a:buFontTx/>
              <a:buNone/>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endParaRPr lang="en-US" sz="2400">
              <a:cs typeface="Times New Roman" pitchFamily="16" charset="0"/>
            </a:endParaRPr>
          </a:p>
          <a:p>
            <a:pPr marL="1023938" lvl="1" indent="-338138" algn="just">
              <a:lnSpc>
                <a:spcPct val="80000"/>
              </a:lnSpc>
              <a:spcBef>
                <a:spcPts val="600"/>
              </a:spcBef>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b="1">
                <a:cs typeface="Times New Roman" pitchFamily="16" charset="0"/>
              </a:rPr>
              <a:t>Shadow update</a:t>
            </a:r>
            <a:r>
              <a:rPr lang="en-US" sz="2400">
                <a:cs typeface="Times New Roman" pitchFamily="16" charset="0"/>
              </a:rPr>
              <a:t>:  The modified version of a data item does not overwrite its disk copy but is written at a separate disk location (new version).</a:t>
            </a:r>
          </a:p>
          <a:p>
            <a:pPr marL="1023938" lvl="1" indent="-338138" algn="just">
              <a:lnSpc>
                <a:spcPct val="80000"/>
              </a:lnSpc>
              <a:spcBef>
                <a:spcPts val="600"/>
              </a:spcBef>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pPr>
            <a:r>
              <a:rPr lang="en-US" sz="2400" b="1">
                <a:cs typeface="Times New Roman" pitchFamily="16" charset="0"/>
              </a:rPr>
              <a:t>In-place update</a:t>
            </a:r>
            <a:r>
              <a:rPr lang="en-US" sz="2400">
                <a:cs typeface="Times New Roman" pitchFamily="16" charset="0"/>
              </a:rPr>
              <a:t>: The disk version of the data item is overwritten by the cache version.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457200" y="228600"/>
            <a:ext cx="8229600" cy="9144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UNDO and REDO Recovery Actions</a:t>
            </a:r>
          </a:p>
        </p:txBody>
      </p:sp>
      <p:sp>
        <p:nvSpPr>
          <p:cNvPr id="15362" name="Rectangle 2"/>
          <p:cNvSpPr>
            <a:spLocks noGrp="1" noChangeArrowheads="1"/>
          </p:cNvSpPr>
          <p:nvPr>
            <p:ph type="body" idx="1"/>
          </p:nvPr>
        </p:nvSpPr>
        <p:spPr>
          <a:xfrm>
            <a:off x="197757" y="1828800"/>
            <a:ext cx="8521700" cy="551815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dirty="0">
                <a:cs typeface="Times New Roman" pitchFamily="16" charset="0"/>
              </a:rPr>
              <a:t>To maintain atomicity and durability, some transaction’s may have their operations </a:t>
            </a:r>
            <a:r>
              <a:rPr lang="en-US" sz="2400" b="1" dirty="0">
                <a:cs typeface="Times New Roman" pitchFamily="16" charset="0"/>
              </a:rPr>
              <a:t>redone</a:t>
            </a:r>
            <a:r>
              <a:rPr lang="en-US" sz="2400" dirty="0">
                <a:cs typeface="Times New Roman" pitchFamily="16" charset="0"/>
              </a:rPr>
              <a:t> or </a:t>
            </a:r>
            <a:r>
              <a:rPr lang="en-US" sz="2400" b="1" dirty="0">
                <a:cs typeface="Times New Roman" pitchFamily="16" charset="0"/>
              </a:rPr>
              <a:t>undone</a:t>
            </a:r>
            <a:r>
              <a:rPr lang="en-US" sz="2400" dirty="0">
                <a:cs typeface="Times New Roman" pitchFamily="16" charset="0"/>
              </a:rPr>
              <a:t> during recovery. UNDO (roll-back) is needed for transactions that are not committed yet. REDO (roll-forward) is needed for committed transactions whose writes may have not yet been flushed from cache to disk.</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dirty="0">
                <a:cs typeface="Times New Roman" pitchFamily="16" charset="0"/>
              </a:rPr>
              <a:t>Undo</a:t>
            </a:r>
            <a:r>
              <a:rPr lang="en-US" sz="2400" dirty="0">
                <a:cs typeface="Times New Roman" pitchFamily="16" charset="0"/>
              </a:rPr>
              <a:t>: Restore all BFIMs from log to database on disk. UNDO proceeds backward in log (from most recent to oldest UNDO).</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dirty="0">
                <a:cs typeface="Times New Roman" pitchFamily="16" charset="0"/>
              </a:rPr>
              <a:t>Redo</a:t>
            </a:r>
            <a:r>
              <a:rPr lang="en-US" sz="2400" dirty="0">
                <a:cs typeface="Times New Roman" pitchFamily="16" charset="0"/>
              </a:rPr>
              <a:t>: Restore all AFIMs from log to database on disk. REDO proceeds forward in log (from oldest to most recent REDO).</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dirty="0">
              <a:cs typeface="Times New Roman" pitchFamily="16" charset="0"/>
            </a:endParaRPr>
          </a:p>
          <a:p>
            <a:pPr marL="685800" lvl="1"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dirty="0">
              <a:cs typeface="Times New Roman" pitchFamily="1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a:xfrm>
            <a:off x="457200" y="593725"/>
            <a:ext cx="8001000" cy="64135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Write-ahead Logging Protocol</a:t>
            </a:r>
          </a:p>
        </p:txBody>
      </p:sp>
      <p:sp>
        <p:nvSpPr>
          <p:cNvPr id="16386" name="Rectangle 2"/>
          <p:cNvSpPr>
            <a:spLocks noGrp="1" noChangeArrowheads="1"/>
          </p:cNvSpPr>
          <p:nvPr>
            <p:ph type="body" idx="1"/>
          </p:nvPr>
        </p:nvSpPr>
        <p:spPr>
          <a:xfrm>
            <a:off x="0" y="1143000"/>
            <a:ext cx="8521700" cy="5086350"/>
          </a:xfrm>
          <a:ln/>
        </p:spPr>
        <p:txBody>
          <a:bodyPr lIns="90000" tIns="46800" rIns="90000" bIns="46800"/>
          <a:lstStyle/>
          <a:p>
            <a:pPr marL="0" indent="0">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sz="2400" b="1">
              <a:cs typeface="Times New Roman" pitchFamily="16" charset="0"/>
            </a:endParaRP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a:cs typeface="Times New Roman" pitchFamily="16" charset="0"/>
              </a:rPr>
              <a:t>The information needed for recovery must be written to the log file on disk before changes are made to the database on disk. </a:t>
            </a:r>
            <a:r>
              <a:rPr lang="en-US" sz="2400" b="1">
                <a:cs typeface="Times New Roman" pitchFamily="16" charset="0"/>
              </a:rPr>
              <a:t>Write-Ahead Logging</a:t>
            </a:r>
            <a:r>
              <a:rPr lang="en-US" sz="2400">
                <a:cs typeface="Times New Roman" pitchFamily="16" charset="0"/>
              </a:rPr>
              <a:t> (WAL) protocol consists of two rules:</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a:cs typeface="Times New Roman" pitchFamily="16" charset="0"/>
              </a:rPr>
              <a:t>For Undo</a:t>
            </a:r>
            <a:r>
              <a:rPr lang="en-US" sz="2400">
                <a:cs typeface="Times New Roman" pitchFamily="16" charset="0"/>
              </a:rPr>
              <a:t>: Before a data item’s AFIM is flushed to the database on disk (overwriting the BFIM) its BFIM must be written to the log and the log must be saved to disk.</a:t>
            </a:r>
          </a:p>
          <a:p>
            <a:pPr marL="685800" lvl="1" indent="0" algn="just">
              <a:spcBef>
                <a:spcPts val="600"/>
              </a:spcBef>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sz="2400" b="1">
                <a:cs typeface="Times New Roman" pitchFamily="16" charset="0"/>
              </a:rPr>
              <a:t>For Redo</a:t>
            </a:r>
            <a:r>
              <a:rPr lang="en-US" sz="2400">
                <a:cs typeface="Times New Roman" pitchFamily="16" charset="0"/>
              </a:rPr>
              <a:t>: Before a transaction executes its commit operation, all its AFIMs must be written to the log and the log must be saved on a stable store.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p:nvPr>
        </p:nvSpPr>
        <p:spPr>
          <a:xfrm>
            <a:off x="0" y="228600"/>
            <a:ext cx="8686800" cy="1066800"/>
          </a:xfrm>
          <a:ln/>
        </p:spPr>
        <p:txBody>
          <a:bodyPr lIns="92160" tIns="46080" rIns="92160" bIns="46080">
            <a:normAutofit fontScale="90000"/>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a:cs typeface="Times New Roman" pitchFamily="16" charset="0"/>
              </a:rPr>
              <a:t>Deferred Update (NO-UNDO/REDO) Recovery Protocol</a:t>
            </a:r>
          </a:p>
        </p:txBody>
      </p:sp>
      <p:sp>
        <p:nvSpPr>
          <p:cNvPr id="20482" name="Rectangle 2"/>
          <p:cNvSpPr>
            <a:spLocks noChangeArrowheads="1"/>
          </p:cNvSpPr>
          <p:nvPr/>
        </p:nvSpPr>
        <p:spPr bwMode="auto">
          <a:xfrm>
            <a:off x="666750" y="1123950"/>
            <a:ext cx="7600950" cy="460375"/>
          </a:xfrm>
          <a:prstGeom prst="rect">
            <a:avLst/>
          </a:prstGeom>
          <a:noFill/>
          <a:ln w="9525">
            <a:noFill/>
            <a:round/>
            <a:headEnd/>
            <a:tailEnd/>
          </a:ln>
          <a:effectLst/>
        </p:spPr>
        <p:txBody>
          <a:bodyPr wrap="none" anchor="ctr"/>
          <a:lstStyle/>
          <a:p>
            <a:endParaRPr lang="en-US"/>
          </a:p>
        </p:txBody>
      </p:sp>
      <p:sp>
        <p:nvSpPr>
          <p:cNvPr id="20483" name="Rectangle 3"/>
          <p:cNvSpPr>
            <a:spLocks noChangeArrowheads="1"/>
          </p:cNvSpPr>
          <p:nvPr/>
        </p:nvSpPr>
        <p:spPr bwMode="auto">
          <a:xfrm>
            <a:off x="228600" y="1581150"/>
            <a:ext cx="7745413" cy="4362450"/>
          </a:xfrm>
          <a:prstGeom prst="rect">
            <a:avLst/>
          </a:prstGeom>
          <a:noFill/>
          <a:ln w="9525">
            <a:noFill/>
            <a:round/>
            <a:headEnd/>
            <a:tailEnd/>
          </a:ln>
          <a:effectLst/>
        </p:spPr>
        <p:txBody>
          <a:bodyPr lIns="90000" tIns="46800" rIns="90000" bIns="46800">
            <a:spAutoFit/>
          </a:bodyPr>
          <a:lstStyle/>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dirty="0">
                <a:solidFill>
                  <a:srgbClr val="000000"/>
                </a:solidFill>
              </a:rPr>
              <a:t>System must impose </a:t>
            </a:r>
            <a:r>
              <a:rPr lang="en-US" sz="2000" b="1" dirty="0">
                <a:solidFill>
                  <a:srgbClr val="000000"/>
                </a:solidFill>
              </a:rPr>
              <a:t>NO-STEAL </a:t>
            </a:r>
            <a:r>
              <a:rPr lang="en-US" sz="2000" dirty="0">
                <a:solidFill>
                  <a:srgbClr val="000000"/>
                </a:solidFill>
              </a:rPr>
              <a:t>rule. Recovery subsystem analyzes the log, and creates two lists:</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000" dirty="0">
              <a:solidFill>
                <a:srgbClr val="000000"/>
              </a:solidFill>
            </a:endParaRP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b="1" dirty="0">
                <a:solidFill>
                  <a:srgbClr val="000000"/>
                </a:solidFill>
              </a:rPr>
              <a:t>Active Transaction list</a:t>
            </a:r>
            <a:r>
              <a:rPr lang="en-US" sz="2000" dirty="0">
                <a:solidFill>
                  <a:srgbClr val="000000"/>
                </a:solidFill>
              </a:rPr>
              <a:t>:  All active (uncommitted) transaction ids are entered in this list.</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b="1" dirty="0">
                <a:solidFill>
                  <a:srgbClr val="000000"/>
                </a:solidFill>
              </a:rPr>
              <a:t>Committed Transaction list</a:t>
            </a:r>
            <a:r>
              <a:rPr lang="en-US" sz="2000" dirty="0">
                <a:solidFill>
                  <a:srgbClr val="000000"/>
                </a:solidFill>
              </a:rPr>
              <a:t>: Transactions committed after the last checkpoint are entered in this table.</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000" dirty="0">
              <a:solidFill>
                <a:srgbClr val="000000"/>
              </a:solidFill>
            </a:endParaRP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dirty="0">
                <a:solidFill>
                  <a:srgbClr val="000000"/>
                </a:solidFill>
              </a:rPr>
              <a:t>During recovery, transactions in </a:t>
            </a:r>
            <a:r>
              <a:rPr lang="en-US" sz="2000" b="1" dirty="0">
                <a:solidFill>
                  <a:srgbClr val="000000"/>
                </a:solidFill>
              </a:rPr>
              <a:t>commit</a:t>
            </a:r>
            <a:r>
              <a:rPr lang="en-US" sz="2000" dirty="0">
                <a:solidFill>
                  <a:srgbClr val="000000"/>
                </a:solidFill>
              </a:rPr>
              <a:t> list are </a:t>
            </a:r>
            <a:r>
              <a:rPr lang="en-US" sz="2000" b="1" dirty="0">
                <a:solidFill>
                  <a:srgbClr val="000000"/>
                </a:solidFill>
              </a:rPr>
              <a:t>redone</a:t>
            </a:r>
            <a:r>
              <a:rPr lang="en-US" sz="2000" dirty="0">
                <a:solidFill>
                  <a:srgbClr val="000000"/>
                </a:solidFill>
              </a:rPr>
              <a:t>;  transactions in </a:t>
            </a:r>
            <a:r>
              <a:rPr lang="en-US" sz="2000" b="1" dirty="0">
                <a:solidFill>
                  <a:srgbClr val="000000"/>
                </a:solidFill>
              </a:rPr>
              <a:t>active</a:t>
            </a:r>
            <a:r>
              <a:rPr lang="en-US" sz="2000" dirty="0">
                <a:solidFill>
                  <a:srgbClr val="000000"/>
                </a:solidFill>
              </a:rPr>
              <a:t> list are </a:t>
            </a:r>
            <a:r>
              <a:rPr lang="en-US" sz="2000" i="1" dirty="0">
                <a:solidFill>
                  <a:srgbClr val="000000"/>
                </a:solidFill>
              </a:rPr>
              <a:t>ignored</a:t>
            </a:r>
            <a:r>
              <a:rPr lang="en-US" sz="2000" dirty="0">
                <a:solidFill>
                  <a:srgbClr val="000000"/>
                </a:solidFill>
              </a:rPr>
              <a:t> (because of NO-STEAL rule, none of their writes have been applied to the database on disk).  Some transactions may be </a:t>
            </a:r>
            <a:r>
              <a:rPr lang="en-US" sz="2000" b="1" dirty="0">
                <a:solidFill>
                  <a:srgbClr val="000000"/>
                </a:solidFill>
              </a:rPr>
              <a:t>redone</a:t>
            </a:r>
            <a:r>
              <a:rPr lang="en-US" sz="2000" dirty="0">
                <a:solidFill>
                  <a:srgbClr val="000000"/>
                </a:solidFill>
              </a:rPr>
              <a:t> twice; this does not create inconsistency because </a:t>
            </a:r>
            <a:r>
              <a:rPr lang="en-US" sz="2000" b="1" dirty="0">
                <a:solidFill>
                  <a:srgbClr val="000000"/>
                </a:solidFill>
              </a:rPr>
              <a:t>REDO</a:t>
            </a:r>
            <a:r>
              <a:rPr lang="en-US" sz="2000" dirty="0">
                <a:solidFill>
                  <a:srgbClr val="000000"/>
                </a:solidFill>
              </a:rPr>
              <a:t> is “</a:t>
            </a:r>
            <a:r>
              <a:rPr lang="en-US" sz="2000" b="1" dirty="0">
                <a:solidFill>
                  <a:srgbClr val="000000"/>
                </a:solidFill>
              </a:rPr>
              <a:t>idempotent</a:t>
            </a:r>
            <a:r>
              <a:rPr lang="en-US" sz="2000" dirty="0">
                <a:solidFill>
                  <a:srgbClr val="000000"/>
                </a:solidFill>
              </a:rPr>
              <a:t>”, that is, one REDO for an AFIM is equivalent to multiple REDO for the same AFIM.  </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title"/>
          </p:nvPr>
        </p:nvSpPr>
        <p:spPr>
          <a:xfrm>
            <a:off x="0" y="228600"/>
            <a:ext cx="8686800" cy="1066800"/>
          </a:xfrm>
          <a:ln/>
        </p:spPr>
        <p:txBody>
          <a:bodyPr lIns="92160" tIns="46080" rIns="92160" bIns="46080">
            <a:normAutofit fontScale="90000"/>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b="1">
                <a:cs typeface="Times New Roman" pitchFamily="16" charset="0"/>
              </a:rPr>
              <a:t>Deferred Update (NO-UNDO/REDO) Recovery Protocol (cont.)</a:t>
            </a:r>
          </a:p>
        </p:txBody>
      </p:sp>
      <p:sp>
        <p:nvSpPr>
          <p:cNvPr id="21506" name="Rectangle 2"/>
          <p:cNvSpPr>
            <a:spLocks noChangeArrowheads="1"/>
          </p:cNvSpPr>
          <p:nvPr/>
        </p:nvSpPr>
        <p:spPr bwMode="auto">
          <a:xfrm>
            <a:off x="666750" y="1123950"/>
            <a:ext cx="7600950" cy="460375"/>
          </a:xfrm>
          <a:prstGeom prst="rect">
            <a:avLst/>
          </a:prstGeom>
          <a:noFill/>
          <a:ln w="9525">
            <a:noFill/>
            <a:round/>
            <a:headEnd/>
            <a:tailEnd/>
          </a:ln>
          <a:effectLst/>
        </p:spPr>
        <p:txBody>
          <a:bodyPr wrap="none" anchor="ctr"/>
          <a:lstStyle/>
          <a:p>
            <a:endParaRPr lang="en-US"/>
          </a:p>
        </p:txBody>
      </p:sp>
      <p:sp>
        <p:nvSpPr>
          <p:cNvPr id="21507" name="Rectangle 3"/>
          <p:cNvSpPr>
            <a:spLocks noChangeArrowheads="1"/>
          </p:cNvSpPr>
          <p:nvPr/>
        </p:nvSpPr>
        <p:spPr bwMode="auto">
          <a:xfrm>
            <a:off x="228600" y="1581150"/>
            <a:ext cx="7745413" cy="1619250"/>
          </a:xfrm>
          <a:prstGeom prst="rect">
            <a:avLst/>
          </a:prstGeom>
          <a:noFill/>
          <a:ln w="9525">
            <a:noFill/>
            <a:round/>
            <a:headEnd/>
            <a:tailEnd/>
          </a:ln>
          <a:effectLst/>
        </p:spPr>
        <p:txBody>
          <a:bodyPr lIns="90000" tIns="46800" rIns="90000" bIns="46800">
            <a:spAutoFit/>
          </a:bodyPr>
          <a:lstStyle/>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u="sng">
                <a:solidFill>
                  <a:srgbClr val="000000"/>
                </a:solidFill>
              </a:rPr>
              <a:t>Advantage:</a:t>
            </a:r>
            <a:r>
              <a:rPr lang="en-US" sz="2000">
                <a:solidFill>
                  <a:srgbClr val="000000"/>
                </a:solidFill>
              </a:rPr>
              <a:t> Only </a:t>
            </a:r>
            <a:r>
              <a:rPr lang="en-US" sz="2000" b="1">
                <a:solidFill>
                  <a:srgbClr val="000000"/>
                </a:solidFill>
              </a:rPr>
              <a:t>REDO</a:t>
            </a:r>
            <a:r>
              <a:rPr lang="en-US" sz="2000">
                <a:solidFill>
                  <a:srgbClr val="000000"/>
                </a:solidFill>
              </a:rPr>
              <a:t> is needed during recovery.</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000">
              <a:solidFill>
                <a:srgbClr val="000000"/>
              </a:solidFill>
            </a:endParaRP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u="sng">
                <a:solidFill>
                  <a:srgbClr val="000000"/>
                </a:solidFill>
              </a:rPr>
              <a:t>Disadvantage:</a:t>
            </a:r>
            <a:r>
              <a:rPr lang="en-US" sz="2000">
                <a:solidFill>
                  <a:srgbClr val="000000"/>
                </a:solidFill>
              </a:rPr>
              <a:t> Many buffers may be pinned while waiting for transactions that updated them to commit, so system may run out of cache buffers when requests are made by new transactions.   </a:t>
            </a:r>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p:nvPr>
        </p:nvSpPr>
        <p:spPr>
          <a:xfrm>
            <a:off x="228600" y="419100"/>
            <a:ext cx="8229600" cy="7239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UNDO/NO-REDO Recovery Protocol</a:t>
            </a:r>
          </a:p>
        </p:txBody>
      </p:sp>
      <p:sp>
        <p:nvSpPr>
          <p:cNvPr id="22530" name="Rectangle 2"/>
          <p:cNvSpPr>
            <a:spLocks noChangeArrowheads="1"/>
          </p:cNvSpPr>
          <p:nvPr/>
        </p:nvSpPr>
        <p:spPr bwMode="auto">
          <a:xfrm>
            <a:off x="538163" y="1352550"/>
            <a:ext cx="6877050" cy="460375"/>
          </a:xfrm>
          <a:prstGeom prst="rect">
            <a:avLst/>
          </a:prstGeom>
          <a:noFill/>
          <a:ln w="9525">
            <a:noFill/>
            <a:round/>
            <a:headEnd/>
            <a:tailEnd/>
          </a:ln>
          <a:effectLst/>
        </p:spPr>
        <p:txBody>
          <a:bodyPr wrap="none" anchor="ctr"/>
          <a:lstStyle/>
          <a:p>
            <a:endParaRPr lang="en-US"/>
          </a:p>
        </p:txBody>
      </p:sp>
      <p:sp>
        <p:nvSpPr>
          <p:cNvPr id="22531" name="Rectangle 3"/>
          <p:cNvSpPr>
            <a:spLocks noChangeArrowheads="1"/>
          </p:cNvSpPr>
          <p:nvPr/>
        </p:nvSpPr>
        <p:spPr bwMode="auto">
          <a:xfrm>
            <a:off x="255588" y="1600200"/>
            <a:ext cx="7745412" cy="4667250"/>
          </a:xfrm>
          <a:prstGeom prst="rect">
            <a:avLst/>
          </a:prstGeom>
          <a:noFill/>
          <a:ln w="9525">
            <a:noFill/>
            <a:round/>
            <a:headEnd/>
            <a:tailEnd/>
          </a:ln>
          <a:effectLst/>
        </p:spPr>
        <p:txBody>
          <a:bodyPr lIns="90000" tIns="46800" rIns="90000" bIns="46800">
            <a:spAutoFit/>
          </a:bodyPr>
          <a:lstStyle/>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a:solidFill>
                  <a:srgbClr val="000000"/>
                </a:solidFill>
              </a:rPr>
              <a:t>In this method, </a:t>
            </a:r>
            <a:r>
              <a:rPr lang="en-US" sz="2000" b="1">
                <a:solidFill>
                  <a:srgbClr val="000000"/>
                </a:solidFill>
              </a:rPr>
              <a:t>FORCE</a:t>
            </a:r>
            <a:r>
              <a:rPr lang="en-US" sz="2000">
                <a:solidFill>
                  <a:srgbClr val="000000"/>
                </a:solidFill>
              </a:rPr>
              <a:t> rule is imposed by system (AFIMs of a transaction are flushed to the database on disk under Write Ahead Logging </a:t>
            </a:r>
            <a:r>
              <a:rPr lang="en-US" sz="2000" i="1">
                <a:solidFill>
                  <a:srgbClr val="000000"/>
                </a:solidFill>
              </a:rPr>
              <a:t>before the transaction commits</a:t>
            </a:r>
            <a:r>
              <a:rPr lang="en-US" sz="2000">
                <a:solidFill>
                  <a:srgbClr val="000000"/>
                </a:solidFill>
              </a:rPr>
              <a:t>).  </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000">
              <a:solidFill>
                <a:srgbClr val="000000"/>
              </a:solidFill>
            </a:endParaRP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a:solidFill>
                  <a:srgbClr val="000000"/>
                </a:solidFill>
              </a:rPr>
              <a:t>Transactions in active list are </a:t>
            </a:r>
            <a:r>
              <a:rPr lang="en-US" sz="2000" b="1">
                <a:solidFill>
                  <a:srgbClr val="000000"/>
                </a:solidFill>
              </a:rPr>
              <a:t>undone</a:t>
            </a:r>
            <a:r>
              <a:rPr lang="en-US" sz="2000">
                <a:solidFill>
                  <a:srgbClr val="000000"/>
                </a:solidFill>
              </a:rPr>
              <a:t>; transactions in committed list are ignored (because based on FORCE rule, all their changes are already written to the database on disk).</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000">
              <a:solidFill>
                <a:srgbClr val="000000"/>
              </a:solidFill>
            </a:endParaRP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u="sng">
                <a:solidFill>
                  <a:srgbClr val="000000"/>
                </a:solidFill>
              </a:rPr>
              <a:t>Advantage:</a:t>
            </a:r>
            <a:r>
              <a:rPr lang="en-US" sz="2000">
                <a:solidFill>
                  <a:srgbClr val="000000"/>
                </a:solidFill>
              </a:rPr>
              <a:t> During recovery, only </a:t>
            </a:r>
            <a:r>
              <a:rPr lang="en-US" sz="2000" b="1">
                <a:solidFill>
                  <a:srgbClr val="000000"/>
                </a:solidFill>
              </a:rPr>
              <a:t>UNDO</a:t>
            </a:r>
            <a:r>
              <a:rPr lang="en-US" sz="2000">
                <a:solidFill>
                  <a:srgbClr val="000000"/>
                </a:solidFill>
              </a:rPr>
              <a:t> is needed.</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000">
              <a:solidFill>
                <a:srgbClr val="000000"/>
              </a:solidFill>
            </a:endParaRP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u="sng">
                <a:solidFill>
                  <a:srgbClr val="000000"/>
                </a:solidFill>
              </a:rPr>
              <a:t>Disadvantages:</a:t>
            </a:r>
            <a:r>
              <a:rPr lang="en-US" sz="2000">
                <a:solidFill>
                  <a:srgbClr val="000000"/>
                </a:solidFill>
              </a:rPr>
              <a:t> 1. Commit of a transaction is delayed until all its changes are force-written to disk. 2. Some buffers may be written to disk multiple times if they are updated by several transactions.</a:t>
            </a: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000">
              <a:solidFill>
                <a:srgbClr val="000000"/>
              </a:solidFill>
            </a:endParaRPr>
          </a:p>
          <a:p>
            <a:pPr algn="just">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a:solidFill>
                  <a:srgbClr val="000000"/>
                </a:solidFill>
              </a:rPr>
              <a:t> </a:t>
            </a:r>
          </a:p>
        </p:txBody>
      </p:sp>
      <p:sp>
        <p:nvSpPr>
          <p:cNvPr id="22532" name="Rectangle 4"/>
          <p:cNvSpPr>
            <a:spLocks noChangeArrowheads="1"/>
          </p:cNvSpPr>
          <p:nvPr/>
        </p:nvSpPr>
        <p:spPr bwMode="auto">
          <a:xfrm>
            <a:off x="920750" y="2182813"/>
            <a:ext cx="3690938" cy="460375"/>
          </a:xfrm>
          <a:prstGeom prst="rect">
            <a:avLst/>
          </a:prstGeom>
          <a:noFill/>
          <a:ln w="9525">
            <a:noFill/>
            <a:round/>
            <a:headEnd/>
            <a:tailEnd/>
          </a:ln>
          <a:effectLst/>
        </p:spPr>
        <p:txBody>
          <a:bodyPr wrap="none" anchor="ctr"/>
          <a:lstStyle/>
          <a:p>
            <a:endParaRPr lang="en-US"/>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p:nvPr>
        </p:nvSpPr>
        <p:spPr>
          <a:xfrm>
            <a:off x="0" y="228600"/>
            <a:ext cx="8686800" cy="723900"/>
          </a:xfrm>
          <a:ln/>
        </p:spPr>
        <p:txBody>
          <a:bodyPr lIns="92160" tIns="46080" rIns="92160" bIns="46080"/>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1">
                <a:cs typeface="Times New Roman" pitchFamily="16" charset="0"/>
              </a:rPr>
              <a:t>UNDO/REDO Recovery Protocol </a:t>
            </a:r>
          </a:p>
        </p:txBody>
      </p:sp>
      <p:sp>
        <p:nvSpPr>
          <p:cNvPr id="23554" name="Rectangle 2"/>
          <p:cNvSpPr>
            <a:spLocks noChangeArrowheads="1"/>
          </p:cNvSpPr>
          <p:nvPr/>
        </p:nvSpPr>
        <p:spPr bwMode="auto">
          <a:xfrm>
            <a:off x="538163" y="1123950"/>
            <a:ext cx="6877050" cy="460375"/>
          </a:xfrm>
          <a:prstGeom prst="rect">
            <a:avLst/>
          </a:prstGeom>
          <a:noFill/>
          <a:ln w="9525">
            <a:noFill/>
            <a:round/>
            <a:headEnd/>
            <a:tailEnd/>
          </a:ln>
          <a:effectLst/>
        </p:spPr>
        <p:txBody>
          <a:bodyPr wrap="none" anchor="ctr"/>
          <a:lstStyle/>
          <a:p>
            <a:endParaRPr lang="en-US"/>
          </a:p>
        </p:txBody>
      </p:sp>
      <p:sp>
        <p:nvSpPr>
          <p:cNvPr id="23555" name="Rectangle 3"/>
          <p:cNvSpPr>
            <a:spLocks noChangeArrowheads="1"/>
          </p:cNvSpPr>
          <p:nvPr/>
        </p:nvSpPr>
        <p:spPr bwMode="auto">
          <a:xfrm>
            <a:off x="255588" y="1600200"/>
            <a:ext cx="7745412" cy="2838450"/>
          </a:xfrm>
          <a:prstGeom prst="rect">
            <a:avLst/>
          </a:prstGeom>
          <a:noFill/>
          <a:ln w="9525">
            <a:noFill/>
            <a:round/>
            <a:headEnd/>
            <a:tailEnd/>
          </a:ln>
          <a:effectLst/>
        </p:spPr>
        <p:txBody>
          <a:bodyPr lIns="90000" tIns="46800" rIns="90000" bIns="46800">
            <a:spAutoFit/>
          </a:bodyPr>
          <a:lstStyle/>
          <a:p>
            <a:pPr marL="114300" lvl="1" indent="0" algn="just">
              <a:buClrTx/>
              <a:buFontTx/>
              <a:buNone/>
              <a:tabLst>
                <a:tab pos="114300" algn="l"/>
                <a:tab pos="571500" algn="l"/>
                <a:tab pos="1028700" algn="l"/>
                <a:tab pos="1485900" algn="l"/>
                <a:tab pos="1943100" algn="l"/>
                <a:tab pos="2400300" algn="l"/>
                <a:tab pos="2857500" algn="l"/>
                <a:tab pos="3314700" algn="l"/>
                <a:tab pos="3771900" algn="l"/>
                <a:tab pos="4229100" algn="l"/>
                <a:tab pos="4686300" algn="l"/>
                <a:tab pos="5143500" algn="l"/>
                <a:tab pos="5600700" algn="l"/>
                <a:tab pos="6057900" algn="l"/>
                <a:tab pos="6515100" algn="l"/>
                <a:tab pos="6972300" algn="l"/>
                <a:tab pos="7429500" algn="l"/>
                <a:tab pos="7886700" algn="l"/>
                <a:tab pos="8343900" algn="l"/>
                <a:tab pos="8801100" algn="l"/>
                <a:tab pos="9258300" algn="l"/>
              </a:tabLst>
            </a:pPr>
            <a:r>
              <a:rPr lang="en-US" sz="2000">
                <a:solidFill>
                  <a:srgbClr val="000000"/>
                </a:solidFill>
              </a:rPr>
              <a:t>Recovery can require both UNDO of some transactions and REDO of other transactions (Corresponds to STEAL/NO-FORCE). Used most often in practice because of disadvantages of the other two methods. To minimize REDO, checkpointing is used.  The recovery performs:</a:t>
            </a:r>
          </a:p>
          <a:p>
            <a:pPr algn="just">
              <a:buClrTx/>
              <a:buFontTx/>
              <a:buNone/>
              <a:tabLst>
                <a:tab pos="114300" algn="l"/>
                <a:tab pos="571500" algn="l"/>
                <a:tab pos="1028700" algn="l"/>
                <a:tab pos="1485900" algn="l"/>
                <a:tab pos="1943100" algn="l"/>
                <a:tab pos="2400300" algn="l"/>
                <a:tab pos="2857500" algn="l"/>
                <a:tab pos="3314700" algn="l"/>
                <a:tab pos="3771900" algn="l"/>
                <a:tab pos="4229100" algn="l"/>
                <a:tab pos="4686300" algn="l"/>
                <a:tab pos="5143500" algn="l"/>
                <a:tab pos="5600700" algn="l"/>
                <a:tab pos="6057900" algn="l"/>
                <a:tab pos="6515100" algn="l"/>
                <a:tab pos="6972300" algn="l"/>
                <a:tab pos="7429500" algn="l"/>
                <a:tab pos="7886700" algn="l"/>
                <a:tab pos="8343900" algn="l"/>
                <a:tab pos="8801100" algn="l"/>
                <a:tab pos="9258300" algn="l"/>
              </a:tabLst>
            </a:pPr>
            <a:endParaRPr lang="en-US" sz="2000">
              <a:solidFill>
                <a:srgbClr val="000000"/>
              </a:solidFill>
            </a:endParaRPr>
          </a:p>
          <a:p>
            <a:pPr marL="114300" lvl="1" indent="0" algn="just">
              <a:buFont typeface="Times New Roman" pitchFamily="16" charset="0"/>
              <a:buAutoNum type="arabicPeriod"/>
              <a:tabLst>
                <a:tab pos="114300" algn="l"/>
                <a:tab pos="571500" algn="l"/>
                <a:tab pos="1028700" algn="l"/>
                <a:tab pos="1485900" algn="l"/>
                <a:tab pos="1943100" algn="l"/>
                <a:tab pos="2400300" algn="l"/>
                <a:tab pos="2857500" algn="l"/>
                <a:tab pos="3314700" algn="l"/>
                <a:tab pos="3771900" algn="l"/>
                <a:tab pos="4229100" algn="l"/>
                <a:tab pos="4686300" algn="l"/>
                <a:tab pos="5143500" algn="l"/>
                <a:tab pos="5600700" algn="l"/>
                <a:tab pos="6057900" algn="l"/>
                <a:tab pos="6515100" algn="l"/>
                <a:tab pos="6972300" algn="l"/>
                <a:tab pos="7429500" algn="l"/>
                <a:tab pos="7886700" algn="l"/>
                <a:tab pos="8343900" algn="l"/>
                <a:tab pos="8801100" algn="l"/>
                <a:tab pos="9258300" algn="l"/>
              </a:tabLst>
            </a:pPr>
            <a:r>
              <a:rPr lang="en-US" sz="2000">
                <a:solidFill>
                  <a:srgbClr val="000000"/>
                </a:solidFill>
              </a:rPr>
              <a:t>  </a:t>
            </a:r>
            <a:r>
              <a:rPr lang="en-US" sz="2000" b="1">
                <a:solidFill>
                  <a:srgbClr val="000000"/>
                </a:solidFill>
              </a:rPr>
              <a:t>Undo</a:t>
            </a:r>
            <a:r>
              <a:rPr lang="en-US" sz="2000">
                <a:solidFill>
                  <a:srgbClr val="000000"/>
                </a:solidFill>
              </a:rPr>
              <a:t> of a transaction if it is in the active transaction list.</a:t>
            </a:r>
          </a:p>
          <a:p>
            <a:pPr marL="114300" lvl="1" indent="0" algn="just">
              <a:buFont typeface="Times New Roman" pitchFamily="16" charset="0"/>
              <a:buAutoNum type="arabicPeriod"/>
              <a:tabLst>
                <a:tab pos="114300" algn="l"/>
                <a:tab pos="571500" algn="l"/>
                <a:tab pos="1028700" algn="l"/>
                <a:tab pos="1485900" algn="l"/>
                <a:tab pos="1943100" algn="l"/>
                <a:tab pos="2400300" algn="l"/>
                <a:tab pos="2857500" algn="l"/>
                <a:tab pos="3314700" algn="l"/>
                <a:tab pos="3771900" algn="l"/>
                <a:tab pos="4229100" algn="l"/>
                <a:tab pos="4686300" algn="l"/>
                <a:tab pos="5143500" algn="l"/>
                <a:tab pos="5600700" algn="l"/>
                <a:tab pos="6057900" algn="l"/>
                <a:tab pos="6515100" algn="l"/>
                <a:tab pos="6972300" algn="l"/>
                <a:tab pos="7429500" algn="l"/>
                <a:tab pos="7886700" algn="l"/>
                <a:tab pos="8343900" algn="l"/>
                <a:tab pos="8801100" algn="l"/>
                <a:tab pos="9258300" algn="l"/>
              </a:tabLst>
            </a:pPr>
            <a:r>
              <a:rPr lang="en-US" sz="2000">
                <a:solidFill>
                  <a:srgbClr val="000000"/>
                </a:solidFill>
              </a:rPr>
              <a:t>  </a:t>
            </a:r>
            <a:r>
              <a:rPr lang="en-US" sz="2000" b="1">
                <a:solidFill>
                  <a:srgbClr val="000000"/>
                </a:solidFill>
              </a:rPr>
              <a:t>Redo</a:t>
            </a:r>
            <a:r>
              <a:rPr lang="en-US" sz="2000">
                <a:solidFill>
                  <a:srgbClr val="000000"/>
                </a:solidFill>
              </a:rPr>
              <a:t> of a transaction if it is in the list of transactions that committed since the last checkpoint.</a:t>
            </a:r>
          </a:p>
        </p:txBody>
      </p:sp>
      <p:sp>
        <p:nvSpPr>
          <p:cNvPr id="23556" name="Rectangle 4"/>
          <p:cNvSpPr>
            <a:spLocks noChangeArrowheads="1"/>
          </p:cNvSpPr>
          <p:nvPr/>
        </p:nvSpPr>
        <p:spPr bwMode="auto">
          <a:xfrm>
            <a:off x="920750" y="1725613"/>
            <a:ext cx="6829425" cy="460375"/>
          </a:xfrm>
          <a:prstGeom prst="rect">
            <a:avLst/>
          </a:prstGeom>
          <a:noFill/>
          <a:ln w="9525">
            <a:noFill/>
            <a:round/>
            <a:headEnd/>
            <a:tailEnd/>
          </a:ln>
          <a:effectLst/>
        </p:spPr>
        <p:txBody>
          <a:bodyPr wrap="none" anchor="ctr"/>
          <a:lstStyle/>
          <a:p>
            <a:endParaRPr lang="en-US"/>
          </a:p>
        </p:txBody>
      </p:sp>
      <p:sp>
        <p:nvSpPr>
          <p:cNvPr id="2" name="Footer Placeholder 1"/>
          <p:cNvSpPr>
            <a:spLocks noGrp="1"/>
          </p:cNvSpPr>
          <p:nvPr>
            <p:ph type="ftr" sz="quarter" idx="11"/>
          </p:nvPr>
        </p:nvSpPr>
        <p:spPr/>
        <p:txBody>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NoSQL? </a:t>
            </a:r>
            <a:endParaRPr lang="en-IN" dirty="0"/>
          </a:p>
        </p:txBody>
      </p:sp>
      <p:sp>
        <p:nvSpPr>
          <p:cNvPr id="4" name="Content Placeholder 3"/>
          <p:cNvSpPr>
            <a:spLocks noGrp="1"/>
          </p:cNvSpPr>
          <p:nvPr>
            <p:ph sz="quarter" idx="1"/>
          </p:nvPr>
        </p:nvSpPr>
        <p:spPr>
          <a:xfrm>
            <a:off x="612648" y="1600200"/>
            <a:ext cx="8153400" cy="4724400"/>
          </a:xfrm>
        </p:spPr>
        <p:txBody>
          <a:bodyPr>
            <a:normAutofit fontScale="77500" lnSpcReduction="20000"/>
          </a:bodyPr>
          <a:lstStyle/>
          <a:p>
            <a:r>
              <a:rPr lang="en-US" b="1" dirty="0"/>
              <a:t>Flexibility:</a:t>
            </a:r>
            <a:r>
              <a:rPr lang="en-US" dirty="0"/>
              <a:t> In general, NoSQL databases have flexible structures that allow for rapid and much more iterative improvement. Because of its flexible data format, NoSQL databases are suitable for semi-structured and unstructured information.</a:t>
            </a:r>
          </a:p>
          <a:p>
            <a:r>
              <a:rPr lang="en-US" b="1" dirty="0"/>
              <a:t>Scalability:</a:t>
            </a:r>
            <a:r>
              <a:rPr lang="en-US" dirty="0"/>
              <a:t> NoSQL databases are usually designed to expand by employing dispersed hardware groups rather than expanding higher by introducing costly and resilient servers. Like a service software, several cloud services perform these activities behind the lines.</a:t>
            </a:r>
          </a:p>
          <a:p>
            <a:r>
              <a:rPr lang="en-US" b="1" dirty="0"/>
              <a:t>High-performance:</a:t>
            </a:r>
            <a:r>
              <a:rPr lang="en-US" dirty="0"/>
              <a:t> NoSQL databases are designed for specific data structures and associated metadata, resulting in faster responsiveness than attempting to provide equivalent functionality using relational databases.</a:t>
            </a:r>
          </a:p>
          <a:p>
            <a:r>
              <a:rPr lang="en-US" b="1" dirty="0"/>
              <a:t>Enhanced functionality:</a:t>
            </a:r>
            <a:r>
              <a:rPr lang="en-US" dirty="0"/>
              <a:t> NoSQL databases offer purpose-built data types which offer distinct data models and also a highly functioning Interfaces</a:t>
            </a:r>
            <a:r>
              <a:rPr lang="en-US" dirty="0" smtClean="0"/>
              <a:t>.</a:t>
            </a:r>
            <a:endParaRPr lang="en-US" dirty="0"/>
          </a:p>
        </p:txBody>
      </p:sp>
    </p:spTree>
    <p:extLst>
      <p:ext uri="{BB962C8B-B14F-4D97-AF65-F5344CB8AC3E}">
        <p14:creationId xmlns:p14="http://schemas.microsoft.com/office/powerpoint/2010/main" val="13990604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Characteristics of NoSQL</a:t>
            </a:r>
          </a:p>
        </p:txBody>
      </p:sp>
      <p:sp>
        <p:nvSpPr>
          <p:cNvPr id="3" name="Footer Placeholder 2"/>
          <p:cNvSpPr>
            <a:spLocks noGrp="1"/>
          </p:cNvSpPr>
          <p:nvPr>
            <p:ph type="ftr" sz="quarter" idx="11"/>
          </p:nvPr>
        </p:nvSpPr>
        <p:spPr/>
        <p:txBody>
          <a:bodyPr/>
          <a:lstStyle/>
          <a:p>
            <a:endParaRPr lang="en-US"/>
          </a:p>
        </p:txBody>
      </p:sp>
      <p:sp>
        <p:nvSpPr>
          <p:cNvPr id="4" name="Content Placeholder 3"/>
          <p:cNvSpPr>
            <a:spLocks noGrp="1"/>
          </p:cNvSpPr>
          <p:nvPr>
            <p:ph sz="quarter" idx="1"/>
          </p:nvPr>
        </p:nvSpPr>
        <p:spPr/>
        <p:txBody>
          <a:bodyPr>
            <a:normAutofit fontScale="62500" lnSpcReduction="20000"/>
          </a:bodyPr>
          <a:lstStyle/>
          <a:p>
            <a:r>
              <a:rPr lang="en-US" dirty="0" smtClean="0"/>
              <a:t>it’s </a:t>
            </a:r>
            <a:r>
              <a:rPr lang="en-US" dirty="0"/>
              <a:t>more than rows in tables—NoSQL systems store and retrieve data from many formats: key-value stores, graph databases, column-family (</a:t>
            </a:r>
            <a:r>
              <a:rPr lang="en-US" dirty="0" err="1"/>
              <a:t>Bigtable</a:t>
            </a:r>
            <a:r>
              <a:rPr lang="en-US" dirty="0"/>
              <a:t>) stores, document stores, and even rows in tables.</a:t>
            </a:r>
          </a:p>
          <a:p>
            <a:r>
              <a:rPr lang="en-US" dirty="0"/>
              <a:t>It’s free of joins—NoSQL systems allow you to extract your data using simple interfaces without joins.</a:t>
            </a:r>
          </a:p>
          <a:p>
            <a:r>
              <a:rPr lang="en-US" dirty="0"/>
              <a:t>It’s schema-free—NoSQL systems allow you to drag-and-drop your data into a folder and then query it without creating an entity-relational model.</a:t>
            </a:r>
          </a:p>
          <a:p>
            <a:r>
              <a:rPr lang="en-US" dirty="0"/>
              <a:t>It works on many processors—NoSQL systems allow you to store your database on multiple processors and maintain high-speed performance.</a:t>
            </a:r>
          </a:p>
          <a:p>
            <a:r>
              <a:rPr lang="en-US" dirty="0"/>
              <a:t>It uses shared-nothing commodity computers—Most (but not all) NoSQL systems leverage low-cost commodity processors that have separate RAM and disk.</a:t>
            </a:r>
          </a:p>
          <a:p>
            <a:r>
              <a:rPr lang="en-US" dirty="0"/>
              <a:t>It supports linear scalability—When you add more processors, you get a consistent increase in performance.</a:t>
            </a:r>
          </a:p>
          <a:p>
            <a:r>
              <a:rPr lang="en-US" dirty="0"/>
              <a:t>It’s innovative—NoSQL offers options to a single way of storing, retrieving, and manipulating data. NoSQL supporters (also known as </a:t>
            </a:r>
            <a:r>
              <a:rPr lang="en-US" dirty="0" err="1"/>
              <a:t>NoSQLers</a:t>
            </a:r>
            <a:r>
              <a:rPr lang="en-US" dirty="0"/>
              <a:t>) have an inclusive</a:t>
            </a:r>
          </a:p>
          <a:p>
            <a:r>
              <a:rPr lang="en-US" dirty="0"/>
              <a:t>attitude about NoSQL and recognize SQL solutions as viable options. To the NoSQL community, NoSQL means “Not only SQL.”</a:t>
            </a:r>
          </a:p>
          <a:p>
            <a:endParaRPr lang="en-IN" dirty="0"/>
          </a:p>
        </p:txBody>
      </p:sp>
    </p:spTree>
    <p:extLst>
      <p:ext uri="{BB962C8B-B14F-4D97-AF65-F5344CB8AC3E}">
        <p14:creationId xmlns:p14="http://schemas.microsoft.com/office/powerpoint/2010/main" val="1713007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of NoSQL in industry</a:t>
            </a:r>
            <a:endParaRPr lang="en-IN" dirty="0"/>
          </a:p>
        </p:txBody>
      </p:sp>
      <p:sp>
        <p:nvSpPr>
          <p:cNvPr id="4" name="Content Placeholder 3"/>
          <p:cNvSpPr>
            <a:spLocks noGrp="1"/>
          </p:cNvSpPr>
          <p:nvPr>
            <p:ph sz="quarter" idx="1"/>
          </p:nvPr>
        </p:nvSpPr>
        <p:spPr/>
        <p:txBody>
          <a:bodyPr>
            <a:normAutofit fontScale="70000" lnSpcReduction="20000"/>
          </a:bodyPr>
          <a:lstStyle/>
          <a:p>
            <a:r>
              <a:rPr lang="en-US" b="1" dirty="0"/>
              <a:t>Session </a:t>
            </a:r>
            <a:r>
              <a:rPr lang="en-US" b="1" dirty="0" smtClean="0"/>
              <a:t>Store: </a:t>
            </a:r>
            <a:r>
              <a:rPr lang="en-US" dirty="0" smtClean="0"/>
              <a:t>Managing </a:t>
            </a:r>
            <a:r>
              <a:rPr lang="en-US" dirty="0"/>
              <a:t>session data using relational database is very difficult, especially in case where applications are grown very much.</a:t>
            </a:r>
          </a:p>
          <a:p>
            <a:r>
              <a:rPr lang="en-US" b="1" dirty="0"/>
              <a:t>User Profile </a:t>
            </a:r>
            <a:r>
              <a:rPr lang="en-US" b="1" dirty="0" smtClean="0"/>
              <a:t>Store: </a:t>
            </a:r>
            <a:r>
              <a:rPr lang="en-US" dirty="0" smtClean="0"/>
              <a:t>To </a:t>
            </a:r>
            <a:r>
              <a:rPr lang="en-US" dirty="0"/>
              <a:t>enable online transactions, user preferences, authentication of user and more, it is required to store the user profile by web and mobile application</a:t>
            </a:r>
            <a:r>
              <a:rPr lang="en-US" dirty="0" smtClean="0"/>
              <a:t>.</a:t>
            </a:r>
          </a:p>
          <a:p>
            <a:r>
              <a:rPr lang="en-US" b="1" dirty="0"/>
              <a:t>Content and Metadata </a:t>
            </a:r>
            <a:r>
              <a:rPr lang="en-US" b="1" dirty="0" smtClean="0"/>
              <a:t>Store: </a:t>
            </a:r>
            <a:r>
              <a:rPr lang="en-US" dirty="0" smtClean="0"/>
              <a:t>Many </a:t>
            </a:r>
            <a:r>
              <a:rPr lang="en-US" dirty="0"/>
              <a:t>companies like publication houses require a place where they can store large amount of data, which include articles, digital content and e-books, in order to merge various tools for learning in single platform</a:t>
            </a:r>
          </a:p>
          <a:p>
            <a:r>
              <a:rPr lang="en-US" b="1" dirty="0"/>
              <a:t>Mobile </a:t>
            </a:r>
            <a:r>
              <a:rPr lang="en-US" b="1" dirty="0" smtClean="0"/>
              <a:t>Applications: </a:t>
            </a:r>
            <a:r>
              <a:rPr lang="en-US" dirty="0" smtClean="0"/>
              <a:t>Since </a:t>
            </a:r>
            <a:r>
              <a:rPr lang="en-US" dirty="0"/>
              <a:t>the smartphone users are increasing very rapidly, mobile applications face problems related to growth and volume.</a:t>
            </a:r>
          </a:p>
          <a:p>
            <a:r>
              <a:rPr lang="en-US" b="1" dirty="0"/>
              <a:t>Third-Party Data </a:t>
            </a:r>
            <a:r>
              <a:rPr lang="en-US" b="1" dirty="0" smtClean="0"/>
              <a:t>Aggregation: </a:t>
            </a:r>
            <a:r>
              <a:rPr lang="en-US" dirty="0" smtClean="0"/>
              <a:t>Frequently </a:t>
            </a:r>
            <a:r>
              <a:rPr lang="en-US" dirty="0"/>
              <a:t>a business require to access data produced by third party. For instance, a consumer packaged goods company may require to get sales data from stores as well as shopper’s purchase history.</a:t>
            </a:r>
          </a:p>
          <a:p>
            <a:endParaRPr lang="en-US" dirty="0"/>
          </a:p>
          <a:p>
            <a:endParaRPr lang="en-IN" dirty="0"/>
          </a:p>
        </p:txBody>
      </p:sp>
    </p:spTree>
    <p:extLst>
      <p:ext uri="{BB962C8B-B14F-4D97-AF65-F5344CB8AC3E}">
        <p14:creationId xmlns:p14="http://schemas.microsoft.com/office/powerpoint/2010/main" val="10920791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of NoSQL in industry</a:t>
            </a:r>
            <a:endParaRPr lang="en-IN" dirty="0"/>
          </a:p>
        </p:txBody>
      </p:sp>
      <p:sp>
        <p:nvSpPr>
          <p:cNvPr id="4" name="Content Placeholder 3"/>
          <p:cNvSpPr>
            <a:spLocks noGrp="1"/>
          </p:cNvSpPr>
          <p:nvPr>
            <p:ph sz="quarter" idx="1"/>
          </p:nvPr>
        </p:nvSpPr>
        <p:spPr/>
        <p:txBody>
          <a:bodyPr>
            <a:normAutofit fontScale="70000" lnSpcReduction="20000"/>
          </a:bodyPr>
          <a:lstStyle/>
          <a:p>
            <a:r>
              <a:rPr lang="en-US" b="1" dirty="0"/>
              <a:t>Internet of </a:t>
            </a:r>
            <a:r>
              <a:rPr lang="en-US" b="1" dirty="0" smtClean="0"/>
              <a:t>Things: </a:t>
            </a:r>
            <a:r>
              <a:rPr lang="en-US" dirty="0" smtClean="0"/>
              <a:t>Today</a:t>
            </a:r>
            <a:r>
              <a:rPr lang="en-US" dirty="0"/>
              <a:t>, billions of devices are connected to internet, such as smartphones, tablets, home appliances, systems installed in hospitals, cars and warehouses. For such devices large volume and variety of data is generated and keep on generating</a:t>
            </a:r>
            <a:r>
              <a:rPr lang="en-US" dirty="0" smtClean="0"/>
              <a:t>.</a:t>
            </a:r>
          </a:p>
          <a:p>
            <a:pPr fontAlgn="base"/>
            <a:r>
              <a:rPr lang="en-US" b="1" dirty="0"/>
              <a:t>E-Commerce</a:t>
            </a:r>
            <a:endParaRPr lang="en-US" dirty="0"/>
          </a:p>
          <a:p>
            <a:pPr lvl="1" fontAlgn="base"/>
            <a:r>
              <a:rPr lang="en-US" dirty="0"/>
              <a:t>E-commerce companies use NoSQL for store huge volume of data and large amount of request from user.</a:t>
            </a:r>
          </a:p>
          <a:p>
            <a:r>
              <a:rPr lang="en-US" b="1" dirty="0"/>
              <a:t>Social </a:t>
            </a:r>
            <a:r>
              <a:rPr lang="en-US" b="1" dirty="0" err="1"/>
              <a:t>Gaming</a:t>
            </a:r>
            <a:r>
              <a:rPr lang="en-US" dirty="0" err="1"/>
              <a:t>Data</a:t>
            </a:r>
            <a:r>
              <a:rPr lang="en-US" dirty="0"/>
              <a:t>-intensive applications such as social games which can grow users to millions. Such a growth in number of users as well as amount of data requires a database system which can store such data and can be scaled to incorporate number of growing users NOSQL is suitable for such applications.</a:t>
            </a:r>
          </a:p>
          <a:p>
            <a:r>
              <a:rPr lang="en-US" b="1" dirty="0"/>
              <a:t>Ad </a:t>
            </a:r>
            <a:r>
              <a:rPr lang="en-US" b="1" dirty="0" err="1"/>
              <a:t>Targeting</a:t>
            </a:r>
            <a:r>
              <a:rPr lang="en-US" dirty="0" err="1"/>
              <a:t>Displaying</a:t>
            </a:r>
            <a:r>
              <a:rPr lang="en-US" dirty="0"/>
              <a:t> ads or offers on the current web page is a decision with direct income To determine what group of users to target, on web page where to display ads, the platforms gathers behavioral and demographic characteristics of users.</a:t>
            </a:r>
          </a:p>
          <a:p>
            <a:endParaRPr lang="en-US" dirty="0"/>
          </a:p>
          <a:p>
            <a:endParaRPr lang="en-US" dirty="0"/>
          </a:p>
          <a:p>
            <a:endParaRPr lang="en-IN" dirty="0"/>
          </a:p>
        </p:txBody>
      </p:sp>
    </p:spTree>
    <p:extLst>
      <p:ext uri="{BB962C8B-B14F-4D97-AF65-F5344CB8AC3E}">
        <p14:creationId xmlns:p14="http://schemas.microsoft.com/office/powerpoint/2010/main" val="12246854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VS NoSQL</a:t>
            </a:r>
            <a:endParaRPr lang="en-IN"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334729412"/>
              </p:ext>
            </p:extLst>
          </p:nvPr>
        </p:nvGraphicFramePr>
        <p:xfrm>
          <a:off x="612648" y="1601558"/>
          <a:ext cx="7921752" cy="5033878"/>
        </p:xfrm>
        <a:graphic>
          <a:graphicData uri="http://schemas.openxmlformats.org/drawingml/2006/table">
            <a:tbl>
              <a:tblPr/>
              <a:tblGrid>
                <a:gridCol w="530352">
                  <a:extLst>
                    <a:ext uri="{9D8B030D-6E8A-4147-A177-3AD203B41FA5}">
                      <a16:colId xmlns:a16="http://schemas.microsoft.com/office/drawing/2014/main" val="3908591072"/>
                    </a:ext>
                  </a:extLst>
                </a:gridCol>
                <a:gridCol w="3810000">
                  <a:extLst>
                    <a:ext uri="{9D8B030D-6E8A-4147-A177-3AD203B41FA5}">
                      <a16:colId xmlns:a16="http://schemas.microsoft.com/office/drawing/2014/main" val="3430908708"/>
                    </a:ext>
                  </a:extLst>
                </a:gridCol>
                <a:gridCol w="3581400">
                  <a:extLst>
                    <a:ext uri="{9D8B030D-6E8A-4147-A177-3AD203B41FA5}">
                      <a16:colId xmlns:a16="http://schemas.microsoft.com/office/drawing/2014/main" val="2169469697"/>
                    </a:ext>
                  </a:extLst>
                </a:gridCol>
              </a:tblGrid>
              <a:tr h="197219">
                <a:tc>
                  <a:txBody>
                    <a:bodyPr/>
                    <a:lstStyle/>
                    <a:p>
                      <a:pPr algn="l" fontAlgn="t"/>
                      <a:r>
                        <a:rPr lang="en-IN" sz="1400">
                          <a:solidFill>
                            <a:srgbClr val="000000"/>
                          </a:solidFill>
                          <a:effectLst/>
                          <a:latin typeface="times new roman" panose="02020603050405020304" pitchFamily="18" charset="0"/>
                        </a:rPr>
                        <a:t>Index</a:t>
                      </a:r>
                    </a:p>
                  </a:txBody>
                  <a:tcPr marL="38014" marR="38014" marT="38014" marB="38014">
                    <a:lnL w="9525" cap="flat" cmpd="sng" algn="ctr">
                      <a:solidFill>
                        <a:srgbClr val="C0AA38"/>
                      </a:solidFill>
                      <a:prstDash val="solid"/>
                      <a:round/>
                      <a:headEnd type="none" w="med" len="med"/>
                      <a:tailEnd type="none" w="med" len="med"/>
                    </a:lnL>
                    <a:lnR w="9525" cap="flat" cmpd="sng" algn="ctr">
                      <a:solidFill>
                        <a:srgbClr val="C0AA38"/>
                      </a:solidFill>
                      <a:prstDash val="solid"/>
                      <a:round/>
                      <a:headEnd type="none" w="med" len="med"/>
                      <a:tailEnd type="none" w="med" len="med"/>
                    </a:lnR>
                    <a:lnT w="9525" cap="flat" cmpd="sng" algn="ctr">
                      <a:solidFill>
                        <a:srgbClr val="C0AA3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SQL</a:t>
                      </a:r>
                    </a:p>
                  </a:txBody>
                  <a:tcPr marL="38014" marR="38014" marT="38014" marB="38014">
                    <a:lnL w="9525" cap="flat" cmpd="sng" algn="ctr">
                      <a:solidFill>
                        <a:srgbClr val="C0AA38"/>
                      </a:solidFill>
                      <a:prstDash val="solid"/>
                      <a:round/>
                      <a:headEnd type="none" w="med" len="med"/>
                      <a:tailEnd type="none" w="med" len="med"/>
                    </a:lnL>
                    <a:lnR w="9525" cap="flat" cmpd="sng" algn="ctr">
                      <a:solidFill>
                        <a:srgbClr val="C0AA38"/>
                      </a:solidFill>
                      <a:prstDash val="solid"/>
                      <a:round/>
                      <a:headEnd type="none" w="med" len="med"/>
                      <a:tailEnd type="none" w="med" len="med"/>
                    </a:lnR>
                    <a:lnT w="9525" cap="flat" cmpd="sng" algn="ctr">
                      <a:solidFill>
                        <a:srgbClr val="C0AA3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dirty="0">
                          <a:solidFill>
                            <a:srgbClr val="000000"/>
                          </a:solidFill>
                          <a:effectLst/>
                          <a:latin typeface="times new roman" panose="02020603050405020304" pitchFamily="18" charset="0"/>
                        </a:rPr>
                        <a:t>NoSQL</a:t>
                      </a:r>
                    </a:p>
                  </a:txBody>
                  <a:tcPr marL="38014" marR="38014" marT="38014" marB="38014">
                    <a:lnL w="9525" cap="flat" cmpd="sng" algn="ctr">
                      <a:solidFill>
                        <a:srgbClr val="C0AA38"/>
                      </a:solidFill>
                      <a:prstDash val="solid"/>
                      <a:round/>
                      <a:headEnd type="none" w="med" len="med"/>
                      <a:tailEnd type="none" w="med" len="med"/>
                    </a:lnL>
                    <a:lnR w="9525" cap="flat" cmpd="sng" algn="ctr">
                      <a:solidFill>
                        <a:srgbClr val="C0AA38"/>
                      </a:solidFill>
                      <a:prstDash val="solid"/>
                      <a:round/>
                      <a:headEnd type="none" w="med" len="med"/>
                      <a:tailEnd type="none" w="med" len="med"/>
                    </a:lnR>
                    <a:lnT w="9525" cap="flat" cmpd="sng" algn="ctr">
                      <a:solidFill>
                        <a:srgbClr val="C0AA3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665122693"/>
                  </a:ext>
                </a:extLst>
              </a:tr>
              <a:tr h="495911">
                <a:tc>
                  <a:txBody>
                    <a:bodyPr/>
                    <a:lstStyle/>
                    <a:p>
                      <a:pPr algn="just" fontAlgn="t"/>
                      <a:r>
                        <a:rPr lang="en-IN" sz="1400">
                          <a:solidFill>
                            <a:srgbClr val="333333"/>
                          </a:solidFill>
                          <a:effectLst/>
                          <a:latin typeface="inter-regular"/>
                        </a:rPr>
                        <a:t>1)</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Databases are categorized as Relational Database Management System (RDBMS).</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NoSQL databases are categorized as Non-relational or distributed database system.</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58234015"/>
                  </a:ext>
                </a:extLst>
              </a:tr>
              <a:tr h="317343">
                <a:tc>
                  <a:txBody>
                    <a:bodyPr/>
                    <a:lstStyle/>
                    <a:p>
                      <a:pPr algn="just" fontAlgn="t"/>
                      <a:r>
                        <a:rPr lang="en-IN" sz="1400">
                          <a:solidFill>
                            <a:srgbClr val="333333"/>
                          </a:solidFill>
                          <a:effectLst/>
                          <a:latin typeface="inter-regular"/>
                        </a:rPr>
                        <a:t>2)</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SQL databases have fixed or static or predefined schema.</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NoSQL databases have dynamic schema.</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34729332"/>
                  </a:ext>
                </a:extLst>
              </a:tr>
              <a:tr h="674478">
                <a:tc>
                  <a:txBody>
                    <a:bodyPr/>
                    <a:lstStyle/>
                    <a:p>
                      <a:pPr algn="just" fontAlgn="t"/>
                      <a:r>
                        <a:rPr lang="en-IN" sz="1400">
                          <a:solidFill>
                            <a:srgbClr val="333333"/>
                          </a:solidFill>
                          <a:effectLst/>
                          <a:latin typeface="inter-regular"/>
                        </a:rPr>
                        <a:t>3)</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SQL databases display data in form of tables so it is known as table-based database.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NoSQL databases display data as collection of key-value pair, documents, graph databases or wide-column stores.</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28459840"/>
                  </a:ext>
                </a:extLst>
              </a:tr>
              <a:tr h="317343">
                <a:tc>
                  <a:txBody>
                    <a:bodyPr/>
                    <a:lstStyle/>
                    <a:p>
                      <a:pPr algn="just" fontAlgn="t"/>
                      <a:r>
                        <a:rPr lang="en-IN" sz="1400">
                          <a:solidFill>
                            <a:srgbClr val="333333"/>
                          </a:solidFill>
                          <a:effectLst/>
                          <a:latin typeface="inter-regular"/>
                        </a:rPr>
                        <a:t>4)</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SQL databases are vertically scalable.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NoSQL databases are horizontally scalable.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80561215"/>
                  </a:ext>
                </a:extLst>
              </a:tr>
              <a:tr h="853048">
                <a:tc>
                  <a:txBody>
                    <a:bodyPr/>
                    <a:lstStyle/>
                    <a:p>
                      <a:pPr algn="just" fontAlgn="t"/>
                      <a:r>
                        <a:rPr lang="en-IN" sz="1400">
                          <a:solidFill>
                            <a:srgbClr val="333333"/>
                          </a:solidFill>
                          <a:effectLst/>
                          <a:latin typeface="inter-regular"/>
                        </a:rPr>
                        <a:t>5)</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SQL databases use a powerful language "Structured Query Language" to define and manipulate the data.</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In NoSQL databases, collection of documents are used to query the data. It is also called unstructured query language. It varies from database to database.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93993210"/>
                  </a:ext>
                </a:extLst>
              </a:tr>
              <a:tr h="585195">
                <a:tc>
                  <a:txBody>
                    <a:bodyPr/>
                    <a:lstStyle/>
                    <a:p>
                      <a:pPr algn="just" fontAlgn="t"/>
                      <a:r>
                        <a:rPr lang="en-IN" sz="1400">
                          <a:solidFill>
                            <a:srgbClr val="333333"/>
                          </a:solidFill>
                          <a:effectLst/>
                          <a:latin typeface="inter-regular"/>
                        </a:rPr>
                        <a:t>6)</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SQL databases are best suited for complex queries.</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dirty="0">
                          <a:solidFill>
                            <a:srgbClr val="333333"/>
                          </a:solidFill>
                          <a:effectLst/>
                          <a:latin typeface="inter-regular"/>
                        </a:rPr>
                        <a:t>NoSQL databases are not so good for complex queries because these are not as powerful as SQL queries.</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65976556"/>
                  </a:ext>
                </a:extLst>
              </a:tr>
              <a:tr h="406627">
                <a:tc>
                  <a:txBody>
                    <a:bodyPr/>
                    <a:lstStyle/>
                    <a:p>
                      <a:pPr algn="just" fontAlgn="t"/>
                      <a:r>
                        <a:rPr lang="en-IN" sz="1400">
                          <a:solidFill>
                            <a:srgbClr val="333333"/>
                          </a:solidFill>
                          <a:effectLst/>
                          <a:latin typeface="inter-regular"/>
                        </a:rPr>
                        <a:t>7)</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SQL databases are not best suited for hierarchical data storage.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NoSQL databases are best suited for hierarchical data storage.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522778208"/>
                  </a:ext>
                </a:extLst>
              </a:tr>
              <a:tr h="585195">
                <a:tc>
                  <a:txBody>
                    <a:bodyPr/>
                    <a:lstStyle/>
                    <a:p>
                      <a:pPr algn="just" fontAlgn="t"/>
                      <a:r>
                        <a:rPr lang="en-IN" sz="1400">
                          <a:solidFill>
                            <a:srgbClr val="333333"/>
                          </a:solidFill>
                          <a:effectLst/>
                          <a:latin typeface="inter-regular"/>
                        </a:rPr>
                        <a:t>8)</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MySQL, Oracle, Sqlite, PostgreSQL and MS-SQL etc. are the example of SQL database.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MongoDB, </a:t>
                      </a:r>
                      <a:r>
                        <a:rPr lang="en-IN" sz="1400" dirty="0" err="1">
                          <a:solidFill>
                            <a:srgbClr val="333333"/>
                          </a:solidFill>
                          <a:effectLst/>
                          <a:latin typeface="inter-regular"/>
                        </a:rPr>
                        <a:t>BigTable</a:t>
                      </a:r>
                      <a:r>
                        <a:rPr lang="en-IN" sz="1400" dirty="0">
                          <a:solidFill>
                            <a:srgbClr val="333333"/>
                          </a:solidFill>
                          <a:effectLst/>
                          <a:latin typeface="inter-regular"/>
                        </a:rPr>
                        <a:t>, </a:t>
                      </a:r>
                      <a:r>
                        <a:rPr lang="en-IN" sz="1400" dirty="0" err="1">
                          <a:solidFill>
                            <a:srgbClr val="333333"/>
                          </a:solidFill>
                          <a:effectLst/>
                          <a:latin typeface="inter-regular"/>
                        </a:rPr>
                        <a:t>Redis</a:t>
                      </a:r>
                      <a:r>
                        <a:rPr lang="en-IN" sz="1400" dirty="0">
                          <a:solidFill>
                            <a:srgbClr val="333333"/>
                          </a:solidFill>
                          <a:effectLst/>
                          <a:latin typeface="inter-regular"/>
                        </a:rPr>
                        <a:t>, </a:t>
                      </a:r>
                      <a:r>
                        <a:rPr lang="en-IN" sz="1400" dirty="0" err="1">
                          <a:solidFill>
                            <a:srgbClr val="333333"/>
                          </a:solidFill>
                          <a:effectLst/>
                          <a:latin typeface="inter-regular"/>
                        </a:rPr>
                        <a:t>RavenDB</a:t>
                      </a:r>
                      <a:r>
                        <a:rPr lang="en-IN" sz="1400" dirty="0">
                          <a:solidFill>
                            <a:srgbClr val="333333"/>
                          </a:solidFill>
                          <a:effectLst/>
                          <a:latin typeface="inter-regular"/>
                        </a:rPr>
                        <a:t>, Cassandra, </a:t>
                      </a:r>
                      <a:r>
                        <a:rPr lang="en-IN" sz="1400" dirty="0" err="1">
                          <a:solidFill>
                            <a:srgbClr val="333333"/>
                          </a:solidFill>
                          <a:effectLst/>
                          <a:latin typeface="inter-regular"/>
                        </a:rPr>
                        <a:t>Hbase</a:t>
                      </a:r>
                      <a:r>
                        <a:rPr lang="en-IN" sz="1400" dirty="0">
                          <a:solidFill>
                            <a:srgbClr val="333333"/>
                          </a:solidFill>
                          <a:effectLst/>
                          <a:latin typeface="inter-regular"/>
                        </a:rPr>
                        <a:t>, Neo4j, </a:t>
                      </a:r>
                      <a:r>
                        <a:rPr lang="en-IN" sz="1400" dirty="0" err="1">
                          <a:solidFill>
                            <a:srgbClr val="333333"/>
                          </a:solidFill>
                          <a:effectLst/>
                          <a:latin typeface="inter-regular"/>
                        </a:rPr>
                        <a:t>CouchDB</a:t>
                      </a:r>
                      <a:r>
                        <a:rPr lang="en-IN" sz="1400" dirty="0">
                          <a:solidFill>
                            <a:srgbClr val="333333"/>
                          </a:solidFill>
                          <a:effectLst/>
                          <a:latin typeface="inter-regular"/>
                        </a:rPr>
                        <a:t> etc. are the example of </a:t>
                      </a:r>
                      <a:r>
                        <a:rPr lang="en-IN" sz="1400" dirty="0" err="1">
                          <a:solidFill>
                            <a:srgbClr val="333333"/>
                          </a:solidFill>
                          <a:effectLst/>
                          <a:latin typeface="inter-regular"/>
                        </a:rPr>
                        <a:t>nosql</a:t>
                      </a:r>
                      <a:r>
                        <a:rPr lang="en-IN" sz="1400" dirty="0">
                          <a:solidFill>
                            <a:srgbClr val="333333"/>
                          </a:solidFill>
                          <a:effectLst/>
                          <a:latin typeface="inter-regular"/>
                        </a:rPr>
                        <a:t> database</a:t>
                      </a:r>
                    </a:p>
                  </a:txBody>
                  <a:tcPr marL="25343" marR="25343" marT="25343" marB="2534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620267692"/>
                  </a:ext>
                </a:extLst>
              </a:tr>
            </a:tbl>
          </a:graphicData>
        </a:graphic>
      </p:graphicFrame>
    </p:spTree>
    <p:extLst>
      <p:ext uri="{BB962C8B-B14F-4D97-AF65-F5344CB8AC3E}">
        <p14:creationId xmlns:p14="http://schemas.microsoft.com/office/powerpoint/2010/main" val="14132063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MongoDB</a:t>
            </a:r>
            <a:endParaRPr lang="en-IN" dirty="0"/>
          </a:p>
        </p:txBody>
      </p:sp>
      <p:sp>
        <p:nvSpPr>
          <p:cNvPr id="3" name="Footer Placeholder 2"/>
          <p:cNvSpPr>
            <a:spLocks noGrp="1"/>
          </p:cNvSpPr>
          <p:nvPr>
            <p:ph type="ftr" sz="quarter" idx="11"/>
          </p:nvPr>
        </p:nvSpPr>
        <p:spPr/>
        <p:txBody>
          <a:bodyPr/>
          <a:lstStyle/>
          <a:p>
            <a:endParaRPr lang="en-US"/>
          </a:p>
        </p:txBody>
      </p:sp>
      <p:sp>
        <p:nvSpPr>
          <p:cNvPr id="4" name="Content Placeholder 3"/>
          <p:cNvSpPr>
            <a:spLocks noGrp="1"/>
          </p:cNvSpPr>
          <p:nvPr>
            <p:ph sz="quarter" idx="1"/>
          </p:nvPr>
        </p:nvSpPr>
        <p:spPr/>
        <p:txBody>
          <a:bodyPr/>
          <a:lstStyle/>
          <a:p>
            <a:r>
              <a:rPr lang="en-US" dirty="0"/>
              <a:t>MongoDB is a document database with the scalability and flexibility that you want with the querying and indexing that you </a:t>
            </a:r>
            <a:r>
              <a:rPr lang="en-US" dirty="0" smtClean="0"/>
              <a:t>need.</a:t>
            </a:r>
          </a:p>
          <a:p>
            <a:r>
              <a:rPr lang="en-US" dirty="0"/>
              <a:t>The MongoDB database has a flexible data model that enables you to store unstructured data, and it provides full indexing support, and replication with rich and intuitive APIs.</a:t>
            </a:r>
            <a:endParaRPr lang="en-IN" dirty="0"/>
          </a:p>
        </p:txBody>
      </p:sp>
    </p:spTree>
    <p:extLst>
      <p:ext uri="{BB962C8B-B14F-4D97-AF65-F5344CB8AC3E}">
        <p14:creationId xmlns:p14="http://schemas.microsoft.com/office/powerpoint/2010/main" val="18504891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a:t>
            </a:r>
            <a:r>
              <a:rPr lang="en-IN" dirty="0" err="1"/>
              <a:t>mongodb</a:t>
            </a:r>
            <a:endParaRPr lang="en-IN" dirty="0"/>
          </a:p>
        </p:txBody>
      </p:sp>
      <p:sp>
        <p:nvSpPr>
          <p:cNvPr id="4" name="Content Placeholder 3"/>
          <p:cNvSpPr>
            <a:spLocks noGrp="1"/>
          </p:cNvSpPr>
          <p:nvPr>
            <p:ph sz="quarter" idx="1"/>
          </p:nvPr>
        </p:nvSpPr>
        <p:spPr/>
        <p:txBody>
          <a:bodyPr>
            <a:normAutofit fontScale="32500" lnSpcReduction="20000"/>
          </a:bodyPr>
          <a:lstStyle/>
          <a:p>
            <a:pPr marL="0" indent="0">
              <a:buNone/>
            </a:pPr>
            <a:r>
              <a:rPr lang="en-US" sz="5500" dirty="0"/>
              <a:t>here are four major reasons why MongoDB is being deployed more often. They are:</a:t>
            </a:r>
          </a:p>
          <a:p>
            <a:pPr marL="0" indent="0">
              <a:buNone/>
            </a:pPr>
            <a:r>
              <a:rPr lang="en-US" sz="5500" dirty="0"/>
              <a:t>1. Flexibility:</a:t>
            </a:r>
          </a:p>
          <a:p>
            <a:pPr marL="320040" lvl="1" indent="0">
              <a:buNone/>
            </a:pPr>
            <a:r>
              <a:rPr lang="en-US" sz="5500" dirty="0"/>
              <a:t>MongoDB uses documents that can contain sub-documents in complex hierarchies making it expressive and flexible. MongoDB can map objects from any programming language, ensuring easy implementation and maintenance.</a:t>
            </a:r>
          </a:p>
          <a:p>
            <a:pPr marL="0" indent="0">
              <a:buNone/>
            </a:pPr>
            <a:r>
              <a:rPr lang="en-US" sz="5500" dirty="0"/>
              <a:t>2. Flexible Query Model:</a:t>
            </a:r>
          </a:p>
          <a:p>
            <a:pPr marL="320040" lvl="1" indent="0">
              <a:buNone/>
            </a:pPr>
            <a:r>
              <a:rPr lang="en-US" sz="5500" dirty="0"/>
              <a:t>The user can selectively index some parts of each document or a query based on regular expressions, ranges, or attribute values, and have as many properties per object as needed by the application layer.</a:t>
            </a:r>
          </a:p>
          <a:p>
            <a:pPr marL="0" indent="0">
              <a:buNone/>
            </a:pPr>
            <a:r>
              <a:rPr lang="en-US" sz="5500" dirty="0"/>
              <a:t>3. Native Aggregation:</a:t>
            </a:r>
          </a:p>
          <a:p>
            <a:pPr marL="320040" lvl="1" indent="0">
              <a:buNone/>
            </a:pPr>
            <a:r>
              <a:rPr lang="en-US" sz="5500" dirty="0"/>
              <a:t>Native aggregation allows users to extract and transform data from the database. The data can either be loaded into a new format or exported to other data sources. </a:t>
            </a:r>
          </a:p>
          <a:p>
            <a:pPr marL="0" indent="0">
              <a:buNone/>
            </a:pPr>
            <a:r>
              <a:rPr lang="en-US" sz="5500" dirty="0"/>
              <a:t>4. Schema-less model:</a:t>
            </a:r>
          </a:p>
          <a:p>
            <a:pPr marL="320040" lvl="1" indent="0">
              <a:buNone/>
            </a:pPr>
            <a:r>
              <a:rPr lang="en-US" sz="5500" dirty="0"/>
              <a:t>Applications get the power and responsibility to interpret different properties found in a collection's documents. </a:t>
            </a:r>
          </a:p>
          <a:p>
            <a:endParaRPr lang="en-IN" dirty="0"/>
          </a:p>
        </p:txBody>
      </p:sp>
    </p:spTree>
    <p:extLst>
      <p:ext uri="{BB962C8B-B14F-4D97-AF65-F5344CB8AC3E}">
        <p14:creationId xmlns:p14="http://schemas.microsoft.com/office/powerpoint/2010/main" val="35768931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3771</TotalTime>
  <Words>5071</Words>
  <Application>Microsoft Office PowerPoint</Application>
  <PresentationFormat>On-screen Show (4:3)</PresentationFormat>
  <Paragraphs>523</Paragraphs>
  <Slides>78</Slides>
  <Notes>70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0</vt:i4>
      </vt:variant>
      <vt:variant>
        <vt:lpstr>Slide Titles</vt:lpstr>
      </vt:variant>
      <vt:variant>
        <vt:i4>78</vt:i4>
      </vt:variant>
    </vt:vector>
  </HeadingPairs>
  <TitlesOfParts>
    <vt:vector size="89" baseType="lpstr">
      <vt:lpstr>Arial</vt:lpstr>
      <vt:lpstr>Calibri</vt:lpstr>
      <vt:lpstr>inter-regular</vt:lpstr>
      <vt:lpstr>Palatino</vt:lpstr>
      <vt:lpstr>Symbol</vt:lpstr>
      <vt:lpstr>Times New Roman</vt:lpstr>
      <vt:lpstr>Times New Roman</vt:lpstr>
      <vt:lpstr>Tw Cen MT</vt:lpstr>
      <vt:lpstr>Wingdings</vt:lpstr>
      <vt:lpstr>Wingdings 2</vt:lpstr>
      <vt:lpstr>Median</vt:lpstr>
      <vt:lpstr>MODULE – 5  TRANSACTION PROCESSING </vt:lpstr>
      <vt:lpstr>Introduction to Transaction Processing</vt:lpstr>
      <vt:lpstr>Introduction to Transaction Processing (cont.)</vt:lpstr>
      <vt:lpstr>Introduction to Transaction Processing (cont.)</vt:lpstr>
      <vt:lpstr>PowerPoint Presentation</vt:lpstr>
      <vt:lpstr>Introduction to Transaction Processing (cont.)</vt:lpstr>
      <vt:lpstr>Introduction to Transaction Processing (cont.)</vt:lpstr>
      <vt:lpstr>Introduction to Transaction Processing (cont.)</vt:lpstr>
      <vt:lpstr>Transaction Notation</vt:lpstr>
      <vt:lpstr>PowerPoint Presentation</vt:lpstr>
      <vt:lpstr>Why we need concurrency control</vt:lpstr>
      <vt:lpstr>PowerPoint Presentation</vt:lpstr>
      <vt:lpstr>Why we need concurrency control (cont.)</vt:lpstr>
      <vt:lpstr>PowerPoint Presentation</vt:lpstr>
      <vt:lpstr>Why we need concurrency control (cont.)</vt:lpstr>
      <vt:lpstr>Why recovery is needed</vt:lpstr>
      <vt:lpstr>Why recovery is needed (cont.)</vt:lpstr>
      <vt:lpstr>Why recovery is needed (cont.)</vt:lpstr>
      <vt:lpstr>Transaction and System Concepts</vt:lpstr>
      <vt:lpstr>PowerPoint Presentation</vt:lpstr>
      <vt:lpstr>Transaction and System Concepts (cont.)</vt:lpstr>
      <vt:lpstr>Transaction and System Concepts (cont.)</vt:lpstr>
      <vt:lpstr>Transaction and System Concepts (cont.)</vt:lpstr>
      <vt:lpstr>Transaction and System Concepts (cont.)</vt:lpstr>
      <vt:lpstr>Transaction and System Concepts (cont.)</vt:lpstr>
      <vt:lpstr>Transaction and System Concepts (cont.)</vt:lpstr>
      <vt:lpstr>Transaction and System Concepts (cont.)</vt:lpstr>
      <vt:lpstr>Transaction and System Concepts (cont.)</vt:lpstr>
      <vt:lpstr>Desirable Properties of Transactions</vt:lpstr>
      <vt:lpstr>Desirable Properties of Transactions (cont.)</vt:lpstr>
      <vt:lpstr>Desirable Properties of Transactions (cont.)</vt:lpstr>
      <vt:lpstr>Purpose of Concurrency Control</vt:lpstr>
      <vt:lpstr>Concurrency Control Protocols (CCPs)</vt:lpstr>
      <vt:lpstr>2PL Concurrency Control Protocol</vt:lpstr>
      <vt:lpstr>2PL Concurrency Control Protocol</vt:lpstr>
      <vt:lpstr>PowerPoint Presentation</vt:lpstr>
      <vt:lpstr>2PL Concurrency Control (cont.)</vt:lpstr>
      <vt:lpstr>2PL Concurrency Control (cont.)</vt:lpstr>
      <vt:lpstr>PowerPoint Presentation</vt:lpstr>
      <vt:lpstr>2PL Concurrency Control (cont.)</vt:lpstr>
      <vt:lpstr>2PL Concurrency Control (cont.)</vt:lpstr>
      <vt:lpstr>2PL Concurrency Control (cont.)</vt:lpstr>
      <vt:lpstr>2PL Concurrency Control (cont.)</vt:lpstr>
      <vt:lpstr>2PL Concurrency Control (cont.)</vt:lpstr>
      <vt:lpstr>2PL Concurrency Control (cont.)</vt:lpstr>
      <vt:lpstr>PowerPoint Presentation</vt:lpstr>
      <vt:lpstr>PowerPoint Presentation</vt:lpstr>
      <vt:lpstr>PowerPoint Presentation</vt:lpstr>
      <vt:lpstr>2PL Concurrency Control (cont.)</vt:lpstr>
      <vt:lpstr>2PL Concurrency Control (cont.)</vt:lpstr>
      <vt:lpstr>2PL Concurrency Control (cont.)</vt:lpstr>
      <vt:lpstr>2PL Concurrency Control (cont.)</vt:lpstr>
      <vt:lpstr>2PL Concurrency Control (cont.)</vt:lpstr>
      <vt:lpstr>2PL Concurrency Control (cont.)</vt:lpstr>
      <vt:lpstr>2PL Concurrency Control (cont.)</vt:lpstr>
      <vt:lpstr>Database Concurrency Control</vt:lpstr>
      <vt:lpstr>Other Concurrency Control Methods</vt:lpstr>
      <vt:lpstr>Purpose of Database Recovery</vt:lpstr>
      <vt:lpstr>Types of Failure</vt:lpstr>
      <vt:lpstr>The Log File</vt:lpstr>
      <vt:lpstr>Log File Entries (from Chapter 21)</vt:lpstr>
      <vt:lpstr>The Log File (cont.)</vt:lpstr>
      <vt:lpstr>Database Cache</vt:lpstr>
      <vt:lpstr>Database Cache (cont.)</vt:lpstr>
      <vt:lpstr>Data Update</vt:lpstr>
      <vt:lpstr>UNDO and REDO Recovery Actions</vt:lpstr>
      <vt:lpstr>Write-ahead Logging Protocol</vt:lpstr>
      <vt:lpstr>Deferred Update (NO-UNDO/REDO) Recovery Protocol</vt:lpstr>
      <vt:lpstr>Deferred Update (NO-UNDO/REDO) Recovery Protocol (cont.)</vt:lpstr>
      <vt:lpstr>UNDO/NO-REDO Recovery Protocol</vt:lpstr>
      <vt:lpstr>UNDO/REDO Recovery Protocol </vt:lpstr>
      <vt:lpstr>Why NoSQL? </vt:lpstr>
      <vt:lpstr>Characteristics of NoSQL</vt:lpstr>
      <vt:lpstr>Use of NoSQL in industry</vt:lpstr>
      <vt:lpstr>Use of NoSQL in industry</vt:lpstr>
      <vt:lpstr>SQL VS NoSQL</vt:lpstr>
      <vt:lpstr>MongoDB</vt:lpstr>
      <vt:lpstr>why is mongodb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TRANSACTION PROCESSING</dc:title>
  <dc:creator>Manjunatha</dc:creator>
  <cp:lastModifiedBy>Mushtaq</cp:lastModifiedBy>
  <cp:revision>45</cp:revision>
  <dcterms:created xsi:type="dcterms:W3CDTF">2017-10-19T06:14:05Z</dcterms:created>
  <dcterms:modified xsi:type="dcterms:W3CDTF">2025-06-13T03:59:38Z</dcterms:modified>
</cp:coreProperties>
</file>