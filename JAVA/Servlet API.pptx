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72" r:id="rId14"/>
    <p:sldId id="273" r:id="rId15"/>
    <p:sldId id="298" r:id="rId16"/>
    <p:sldId id="274" r:id="rId17"/>
    <p:sldId id="299"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300" r:id="rId31"/>
    <p:sldId id="301" r:id="rId32"/>
    <p:sldId id="287" r:id="rId33"/>
    <p:sldId id="288" r:id="rId34"/>
    <p:sldId id="289" r:id="rId35"/>
    <p:sldId id="290" r:id="rId36"/>
    <p:sldId id="302" r:id="rId37"/>
    <p:sldId id="291" r:id="rId38"/>
    <p:sldId id="292" r:id="rId39"/>
    <p:sldId id="293" r:id="rId40"/>
    <p:sldId id="294" r:id="rId41"/>
    <p:sldId id="295" r:id="rId42"/>
    <p:sldId id="296" r:id="rId43"/>
    <p:sldId id="297" r:id="rId44"/>
  </p:sldIdLst>
  <p:sldSz cx="9144000" cy="5143500" type="screen16x9"/>
  <p:notesSz cx="6858000" cy="9144000"/>
  <p:embeddedFontLst>
    <p:embeddedFont>
      <p:font typeface="Nunito" panose="020B0604020202020204" charset="0"/>
      <p:regular r:id="rId46"/>
      <p:bold r:id="rId47"/>
      <p:italic r:id="rId48"/>
      <p:boldItalic r:id="rId49"/>
    </p:embeddedFont>
    <p:embeddedFont>
      <p:font typeface="Roboto" panose="020B0604020202020204" charset="0"/>
      <p:regular r:id="rId50"/>
      <p:bold r:id="rId51"/>
      <p:italic r:id="rId52"/>
      <p:boldItalic r:id="rId53"/>
    </p:embeddedFont>
    <p:embeddedFont>
      <p:font typeface="Century Gothic" panose="020B0502020202020204" pitchFamily="34" charset="0"/>
      <p:regular r:id="rId54"/>
      <p:bold r:id="rId55"/>
      <p:italic r:id="rId56"/>
      <p:boldItalic r:id="rId57"/>
    </p:embeddedFont>
    <p:embeddedFont>
      <p:font typeface="Roboto Mono" panose="020B0604020202020204" charset="0"/>
      <p:regular r:id="rId58"/>
      <p:bold r:id="rId59"/>
      <p:italic r:id="rId60"/>
      <p:boldItalic r:id="rId61"/>
    </p:embeddedFont>
    <p:embeddedFont>
      <p:font typeface="Georgia" panose="02040502050405020303" pitchFamily="18"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99C172-248C-4A17-A9F2-33A0C7DFAAA3}">
  <a:tblStyle styleId="{D999C172-248C-4A17-A9F2-33A0C7DFAAA3}" styleName="Table_0">
    <a:wholeTbl>
      <a:tcTxStyle b="off" i="off">
        <a:font>
          <a:latin typeface="Century Gothic"/>
          <a:ea typeface="Century Gothic"/>
          <a:cs typeface="Century Gothic"/>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E7F6F8"/>
          </a:solidFill>
        </a:fill>
      </a:tcStyle>
    </a:wholeTbl>
    <a:band1H>
      <a:tcTxStyle/>
      <a:tcStyle>
        <a:tcBdr/>
        <a:fill>
          <a:solidFill>
            <a:srgbClr val="CBEDF0"/>
          </a:solidFill>
        </a:fill>
      </a:tcStyle>
    </a:band1H>
    <a:band2H>
      <a:tcTxStyle/>
      <a:tcStyle>
        <a:tcBdr/>
      </a:tcStyle>
    </a:band2H>
    <a:band1V>
      <a:tcTxStyle/>
      <a:tcStyle>
        <a:tcBdr/>
        <a:fill>
          <a:solidFill>
            <a:srgbClr val="CBEDF0"/>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rgbClr val="E7F6F8"/>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6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2.fntdata"/><Relationship Id="rId63" Type="http://schemas.openxmlformats.org/officeDocument/2006/relationships/font" Target="fonts/font18.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64" Type="http://schemas.openxmlformats.org/officeDocument/2006/relationships/font" Target="fonts/font19.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font" Target="fonts/font14.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font" Target="fonts/font15.fntdata"/><Relationship Id="rId65"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5.fntdata"/><Relationship Id="rId55"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73d975deb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73d975de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3d975deb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3d975deb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73d975deb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g273d975debf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73d975deb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73d975deb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73d975debf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73d975deb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73d975debf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73d975debf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73d975debf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73d975debf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73d975debf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73d975debf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73d975debf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73d975debf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73d975debf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73d975debf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e8123e2dd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e8123e2dd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8123e2dd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8123e2dd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e8123e2dd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e8123e2dd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e8123e2dd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e8123e2dd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e8123e2dd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e8123e2dd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e8123e2dd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e8123e2dd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e8123e2ddb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8123e2dd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e8123e2ddb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8123e2ddb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e8123e2dd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e8123e2ddb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e8123e2ddb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e8123e2ddb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e8123e2dd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e8123e2ddb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e8123e2ddb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e8123e2ddb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e8123e2dd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e8123e2dd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e8123e2ddb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e8123e2ddb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e8123e2dd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2e8123e2dd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e8123e2ddb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e8123e2ddb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74bbbebc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74bbbebc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74bbbebc6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74bbbebc6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74bbbebc6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74bbbebc6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74bbbebc6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74bbbebc6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4bbbebc63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74bbbebc6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74bbbebc63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74bbbebc63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74bbbebc63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74bbbebc63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74bbbebc63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74bbbebc63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74bbbebc63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274bbbebc63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74bbbebc63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74bbbebc63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e879587e2a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e879587e2a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rgbClr val="262626"/>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800100" y="1577340"/>
            <a:ext cx="7543800" cy="2949000"/>
          </a:xfrm>
          <a:prstGeom prst="rect">
            <a:avLst/>
          </a:prstGeom>
          <a:noFill/>
          <a:ln>
            <a:noFill/>
          </a:ln>
        </p:spPr>
        <p:txBody>
          <a:bodyPr spcFirstLastPara="1" wrap="square" lIns="68575" tIns="34275" rIns="68575" bIns="34275" anchor="t" anchorCtr="0">
            <a:normAutofit/>
          </a:bodyPr>
          <a:lstStyle>
            <a:lvl1pPr marL="457200" lvl="0" indent="-317500" algn="l" rtl="0">
              <a:lnSpc>
                <a:spcPct val="100000"/>
              </a:lnSpc>
              <a:spcBef>
                <a:spcPts val="700"/>
              </a:spcBef>
              <a:spcAft>
                <a:spcPts val="0"/>
              </a:spcAft>
              <a:buSzPts val="1400"/>
              <a:buChar char="●"/>
              <a:defRPr/>
            </a:lvl1pPr>
            <a:lvl2pPr marL="914400" lvl="1" indent="-317500" algn="l" rtl="0">
              <a:lnSpc>
                <a:spcPct val="100000"/>
              </a:lnSpc>
              <a:spcBef>
                <a:spcPts val="400"/>
              </a:spcBef>
              <a:spcAft>
                <a:spcPts val="0"/>
              </a:spcAft>
              <a:buSzPts val="1400"/>
              <a:buChar char="○"/>
              <a:defRPr/>
            </a:lvl2pPr>
            <a:lvl3pPr marL="1371600" lvl="2" indent="-317500" algn="l" rtl="0">
              <a:lnSpc>
                <a:spcPct val="100000"/>
              </a:lnSpc>
              <a:spcBef>
                <a:spcPts val="1200"/>
              </a:spcBef>
              <a:spcAft>
                <a:spcPts val="0"/>
              </a:spcAft>
              <a:buSzPts val="1400"/>
              <a:buChar char="■"/>
              <a:defRPr/>
            </a:lvl3pPr>
            <a:lvl4pPr marL="1828800" lvl="3" indent="-317500" algn="l" rtl="0">
              <a:lnSpc>
                <a:spcPct val="100000"/>
              </a:lnSpc>
              <a:spcBef>
                <a:spcPts val="1200"/>
              </a:spcBef>
              <a:spcAft>
                <a:spcPts val="0"/>
              </a:spcAft>
              <a:buSzPts val="1400"/>
              <a:buChar char="●"/>
              <a:defRPr/>
            </a:lvl4pPr>
            <a:lvl5pPr marL="2286000" lvl="4" indent="-317500" algn="l" rtl="0">
              <a:lnSpc>
                <a:spcPct val="100000"/>
              </a:lnSpc>
              <a:spcBef>
                <a:spcPts val="1200"/>
              </a:spcBef>
              <a:spcAft>
                <a:spcPts val="0"/>
              </a:spcAft>
              <a:buSzPts val="1400"/>
              <a:buChar char="○"/>
              <a:defRPr/>
            </a:lvl5pPr>
            <a:lvl6pPr marL="2743200" lvl="5" indent="-317500" algn="l" rtl="0">
              <a:lnSpc>
                <a:spcPct val="100000"/>
              </a:lnSpc>
              <a:spcBef>
                <a:spcPts val="1200"/>
              </a:spcBef>
              <a:spcAft>
                <a:spcPts val="0"/>
              </a:spcAft>
              <a:buSzPts val="1400"/>
              <a:buChar char="■"/>
              <a:defRPr/>
            </a:lvl6pPr>
            <a:lvl7pPr marL="3200400" lvl="6" indent="-317500" algn="l" rtl="0">
              <a:lnSpc>
                <a:spcPct val="100000"/>
              </a:lnSpc>
              <a:spcBef>
                <a:spcPts val="1200"/>
              </a:spcBef>
              <a:spcAft>
                <a:spcPts val="0"/>
              </a:spcAft>
              <a:buSzPts val="1400"/>
              <a:buChar char="●"/>
              <a:defRPr/>
            </a:lvl7pPr>
            <a:lvl8pPr marL="3657600" lvl="7" indent="-317500" algn="l" rtl="0">
              <a:lnSpc>
                <a:spcPct val="100000"/>
              </a:lnSpc>
              <a:spcBef>
                <a:spcPts val="1200"/>
              </a:spcBef>
              <a:spcAft>
                <a:spcPts val="0"/>
              </a:spcAft>
              <a:buSzPts val="1400"/>
              <a:buChar char="○"/>
              <a:defRPr/>
            </a:lvl8pPr>
            <a:lvl9pPr marL="4114800" lvl="8" indent="-317500" algn="l" rtl="0">
              <a:lnSpc>
                <a:spcPct val="100000"/>
              </a:lnSpc>
              <a:spcBef>
                <a:spcPts val="1200"/>
              </a:spcBef>
              <a:spcAft>
                <a:spcPts val="1200"/>
              </a:spcAft>
              <a:buSzPts val="1400"/>
              <a:buChar char="■"/>
              <a:defRPr/>
            </a:lvl9pPr>
          </a:lstStyle>
          <a:p>
            <a:endParaRPr/>
          </a:p>
        </p:txBody>
      </p:sp>
      <p:sp>
        <p:nvSpPr>
          <p:cNvPr id="53" name="Google Shape;53;p13"/>
          <p:cNvSpPr txBox="1">
            <a:spLocks noGrp="1"/>
          </p:cNvSpPr>
          <p:nvPr>
            <p:ph type="dt" idx="10"/>
          </p:nvPr>
        </p:nvSpPr>
        <p:spPr>
          <a:xfrm>
            <a:off x="205740" y="4730754"/>
            <a:ext cx="2057400" cy="205800"/>
          </a:xfrm>
          <a:prstGeom prst="rect">
            <a:avLst/>
          </a:prstGeom>
          <a:noFill/>
          <a:ln>
            <a:noFill/>
          </a:ln>
        </p:spPr>
        <p:txBody>
          <a:bodyPr spcFirstLastPara="1" wrap="square" lIns="68575" tIns="34275" rIns="68575" bIns="34275" anchor="b"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2617470" y="4730754"/>
            <a:ext cx="3909300" cy="205800"/>
          </a:xfrm>
          <a:prstGeom prst="rect">
            <a:avLst/>
          </a:prstGeom>
          <a:noFill/>
          <a:ln>
            <a:noFill/>
          </a:ln>
        </p:spPr>
        <p:txBody>
          <a:bodyPr spcFirstLastPara="1" wrap="square" lIns="68575" tIns="34275" rIns="68575" bIns="34275" anchor="b"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7852410" y="4730754"/>
            <a:ext cx="1097400" cy="205800"/>
          </a:xfrm>
          <a:prstGeom prst="rect">
            <a:avLst/>
          </a:prstGeom>
          <a:noFill/>
          <a:ln>
            <a:noFill/>
          </a:ln>
        </p:spPr>
        <p:txBody>
          <a:bodyPr spcFirstLastPara="1" wrap="square" lIns="68575" tIns="34275" rIns="68575" bIns="34275" anchor="b" anchorCtr="0">
            <a:normAutofit lnSpcReduction="10000"/>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docs.oracle.com/javase/7/docs/api/java/lang/String.html?is-external=true"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docs.oracle.com/javaee/7/api/javax/servlet/ServletContext.html"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introduction-java-servlets/"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hyperlink" Target="https://tomcat.apache.org/tomcat-11.0-doc/servletapi/jakarta/servlet/ServletInputStream.html" TargetMode="External"/><Relationship Id="rId3" Type="http://schemas.openxmlformats.org/officeDocument/2006/relationships/hyperlink" Target="https://tomcat.apache.org/tomcat-11.0-doc/servletapi/jakarta/servlet/ServletInputStream.html#readLine(byte%5B%5D,int,int)" TargetMode="External"/><Relationship Id="rId7" Type="http://schemas.openxmlformats.org/officeDocument/2006/relationships/hyperlink" Target="https://tomcat.apache.org/tomcat-11.0-doc/servletapi/jakarta/servlet/ReadListener.html"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tomcat.apache.org/tomcat-11.0-doc/servletapi/jakarta/servlet/ServletInputStream.html#setReadListener(jakarta.servlet.ReadListener)" TargetMode="External"/><Relationship Id="rId5" Type="http://schemas.openxmlformats.org/officeDocument/2006/relationships/hyperlink" Target="https://tomcat.apache.org/tomcat-11.0-doc/servletapi/jakarta/servlet/ServletInputStream.html#isReady()" TargetMode="External"/><Relationship Id="rId4" Type="http://schemas.openxmlformats.org/officeDocument/2006/relationships/hyperlink" Target="https://tomcat.apache.org/tomcat-11.0-doc/servletapi/jakarta/servlet/ServletInputStream.html#isFinishe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hyperlink" Target="https://docs.oracle.com/cd/E17802_01/products/products/servlet/2.3/javadoc/javax/servlet/Filter.html#init(javax.servlet.FilterConfig)" TargetMode="External"/><Relationship Id="rId3" Type="http://schemas.openxmlformats.org/officeDocument/2006/relationships/hyperlink" Target="https://docs.oracle.com/cd/E17802_01/products/products/servlet/2.3/javadoc/javax/servlet/Filter.html#destroy()" TargetMode="External"/><Relationship Id="rId7" Type="http://schemas.openxmlformats.org/officeDocument/2006/relationships/hyperlink" Target="https://docs.oracle.com/cd/E17802_01/products/products/servlet/2.3/javadoc/javax/servlet/FilterChain.html"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hyperlink" Target="https://docs.oracle.com/cd/E17802_01/products/products/servlet/2.3/javadoc/javax/servlet/ServletResponse.html" TargetMode="External"/><Relationship Id="rId5" Type="http://schemas.openxmlformats.org/officeDocument/2006/relationships/hyperlink" Target="https://docs.oracle.com/cd/E17802_01/products/products/servlet/2.3/javadoc/javax/servlet/ServletRequest.html" TargetMode="External"/><Relationship Id="rId4" Type="http://schemas.openxmlformats.org/officeDocument/2006/relationships/hyperlink" Target="https://docs.oracle.com/cd/E17802_01/products/products/servlet/2.3/javadoc/javax/servlet/Filter.html#doFilter(javax.servlet.ServletRequest,%20javax.servlet.ServletResponse,%20javax.servlet.FilterChain)" TargetMode="External"/><Relationship Id="rId9" Type="http://schemas.openxmlformats.org/officeDocument/2006/relationships/hyperlink" Target="https://docs.oracle.com/cd/E17802_01/products/products/servlet/2.3/javadoc/javax/servlet/FilterConfig.ht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docs.oracle.com/javaee/6/api/javax/servlet/FilterChain.html#doFilter(javax.servlet.ServletRequest,%20javax.servlet.ServletResponse)"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hyperlink" Target="https://docs.oracle.com/javaee/6/api/javax/servlet/ServletResponse.html" TargetMode="External"/><Relationship Id="rId4" Type="http://schemas.openxmlformats.org/officeDocument/2006/relationships/hyperlink" Target="https://docs.oracle.com/javaee/6/api/javax/servlet/ServletRequest.html"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docs.oracle.com/javaee/7/api/javax/servlet/ReadListener.html#onAllDataRead--" TargetMode="External"/><Relationship Id="rId7" Type="http://schemas.openxmlformats.org/officeDocument/2006/relationships/hyperlink" Target="http://docs.oracle.com/javase/7/docs/api/java/lang/Throwable.html?is-external=true"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docs.oracle.com/javaee/7/api/javax/servlet/ReadListener.html#onError-java.lang.Throwable-" TargetMode="External"/><Relationship Id="rId5" Type="http://schemas.openxmlformats.org/officeDocument/2006/relationships/hyperlink" Target="https://docs.oracle.com/javaee/7/api/javax/servlet/ServletInputStream.html" TargetMode="External"/><Relationship Id="rId4" Type="http://schemas.openxmlformats.org/officeDocument/2006/relationships/hyperlink" Target="https://docs.oracle.com/javaee/7/api/javax/servlet/ReadListener.html#onDataAvailable--"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docs.oracle.com/javaee/7/api/javax/servlet/WriteListener.html#onError-java.lang.Throwable-"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hyperlink" Target="https://docs.oracle.com/javaee/7/api/javax/servlet/ServletOutputStream.html" TargetMode="External"/><Relationship Id="rId5" Type="http://schemas.openxmlformats.org/officeDocument/2006/relationships/hyperlink" Target="https://docs.oracle.com/javaee/7/api/javax/servlet/WriteListener.html#onWritePossible--" TargetMode="External"/><Relationship Id="rId4" Type="http://schemas.openxmlformats.org/officeDocument/2006/relationships/hyperlink" Target="http://docs.oracle.com/javase/7/docs/api/java/lang/Throwable.html?is-external=true"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docs.oracle.com/javaee/6/api/javax/servlet/http/HttpServletRequest.html#getContextPath()"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hyperlink" Target="https://docs.oracle.com/javaee/6/api/javax/servlet/http/HttpServletRequest.html#getRequestURL()" TargetMode="External"/><Relationship Id="rId4" Type="http://schemas.openxmlformats.org/officeDocument/2006/relationships/hyperlink" Target="https://docs.oracle.com/javaee/6/api/javax/servlet/http/HttpServletRequest.html#getMethod()"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cs.oracle.com/javaee/6/api/javax/servlet/http/HttpServletRequest.html#login(java.lang.String,%20java.lang.String)"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hyperlink" Target="https://docs.oracle.com/javaee/6/api/javax/servlet/http/HttpServletRequest.html#getPart(java.lang.String)" TargetMode="External"/><Relationship Id="rId5" Type="http://schemas.openxmlformats.org/officeDocument/2006/relationships/hyperlink" Target="https://docs.oracle.com/javaee/6/api/javax/servlet/http/HttpServletRequest.html#getAuthType()" TargetMode="External"/><Relationship Id="rId4" Type="http://schemas.openxmlformats.org/officeDocument/2006/relationships/hyperlink" Target="https://docs.oracle.com/javaee/6/api/javax/servlet/http/HttpServletRequest.html#logou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8" Type="http://schemas.openxmlformats.org/officeDocument/2006/relationships/hyperlink" Target="https://docs.oracle.com/javaee/7/api/javax/servlet/http/Cookie.html#getPath--" TargetMode="External"/><Relationship Id="rId3" Type="http://schemas.openxmlformats.org/officeDocument/2006/relationships/hyperlink" Target="https://docs.oracle.com/javaee/7/api/javax/servlet/http/Cookie.html#clone--" TargetMode="External"/><Relationship Id="rId7" Type="http://schemas.openxmlformats.org/officeDocument/2006/relationships/hyperlink" Target="https://docs.oracle.com/javaee/7/api/javax/servlet/http/Cookie.html#getName--"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hyperlink" Target="https://docs.oracle.com/javaee/7/api/javax/servlet/http/Cookie.html#getMaxAge--" TargetMode="External"/><Relationship Id="rId11" Type="http://schemas.openxmlformats.org/officeDocument/2006/relationships/hyperlink" Target="https://docs.oracle.com/javaee/7/api/javax/servlet/http/Cookie.html#getVersion--" TargetMode="External"/><Relationship Id="rId5" Type="http://schemas.openxmlformats.org/officeDocument/2006/relationships/hyperlink" Target="https://docs.oracle.com/javaee/7/api/javax/servlet/http/Cookie.html#getDomain--" TargetMode="External"/><Relationship Id="rId10" Type="http://schemas.openxmlformats.org/officeDocument/2006/relationships/hyperlink" Target="https://docs.oracle.com/javaee/7/api/javax/servlet/http/Cookie.html#getValue--" TargetMode="External"/><Relationship Id="rId4" Type="http://schemas.openxmlformats.org/officeDocument/2006/relationships/hyperlink" Target="https://docs.oracle.com/javaee/7/api/javax/servlet/http/Cookie.html#getComment--" TargetMode="External"/><Relationship Id="rId9" Type="http://schemas.openxmlformats.org/officeDocument/2006/relationships/hyperlink" Target="https://docs.oracle.com/javaee/7/api/javax/servlet/http/Cookie.html#getSecure--"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tomcat.apache.org/tomcat-7.0-doc/servletapi/javax/servlet/http/Part.html#getContentType()" TargetMode="External"/><Relationship Id="rId7" Type="http://schemas.openxmlformats.org/officeDocument/2006/relationships/hyperlink" Target="https://tomcat.apache.org/tomcat-7.0-doc/servletapi/javax/servlet/http/Part.html#getSize()"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hyperlink" Target="https://tomcat.apache.org/tomcat-7.0-doc/servletapi/javax/servlet/http/Part.html#getName()" TargetMode="External"/><Relationship Id="rId5" Type="http://schemas.openxmlformats.org/officeDocument/2006/relationships/hyperlink" Target="https://tomcat.apache.org/tomcat-7.0-doc/servletapi/javax/servlet/http/Part.html#getHeaders(java.lang.String)" TargetMode="External"/><Relationship Id="rId4" Type="http://schemas.openxmlformats.org/officeDocument/2006/relationships/hyperlink" Target="https://tomcat.apache.org/tomcat-7.0-doc/servletapi/javax/servlet/http/Part.html#getHeader(java.lang.String)"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Servlet API</a:t>
            </a:r>
            <a:endParaRPr/>
          </a:p>
        </p:txBody>
      </p:sp>
      <p:sp>
        <p:nvSpPr>
          <p:cNvPr id="61" name="Google Shape;61;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 API</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just" rtl="0">
              <a:spcBef>
                <a:spcPts val="0"/>
              </a:spcBef>
              <a:spcAft>
                <a:spcPts val="0"/>
              </a:spcAft>
              <a:buNone/>
            </a:pPr>
            <a:r>
              <a:rPr lang="en" dirty="0"/>
              <a:t>Class library for implementing servlets</a:t>
            </a:r>
            <a:endParaRPr dirty="0"/>
          </a:p>
          <a:p>
            <a:pPr marL="0" lvl="0" indent="0" algn="just" rtl="0">
              <a:spcBef>
                <a:spcPts val="1200"/>
              </a:spcBef>
              <a:spcAft>
                <a:spcPts val="0"/>
              </a:spcAft>
              <a:buNone/>
            </a:pPr>
            <a:r>
              <a:rPr lang="en" dirty="0"/>
              <a:t>Servlets can access entire family of Java APIs</a:t>
            </a:r>
            <a:endParaRPr dirty="0"/>
          </a:p>
          <a:p>
            <a:pPr marL="0" lvl="0" indent="0" algn="just" rtl="0">
              <a:spcBef>
                <a:spcPts val="1200"/>
              </a:spcBef>
              <a:spcAft>
                <a:spcPts val="0"/>
              </a:spcAft>
              <a:buNone/>
            </a:pPr>
            <a:r>
              <a:rPr lang="en" dirty="0"/>
              <a:t>In Java Servlet API, request can be processed and responses can be constructed dynamically. </a:t>
            </a:r>
            <a:endParaRPr dirty="0"/>
          </a:p>
          <a:p>
            <a:pPr marL="0" lvl="0" indent="0" algn="just" rtl="0">
              <a:spcBef>
                <a:spcPts val="1200"/>
              </a:spcBef>
              <a:spcAft>
                <a:spcPts val="0"/>
              </a:spcAft>
              <a:buNone/>
            </a:pPr>
            <a:r>
              <a:rPr lang="en" dirty="0"/>
              <a:t>javax.servlet.GenericServlet has two packages </a:t>
            </a:r>
            <a:r>
              <a:rPr lang="en" b="1" dirty="0"/>
              <a:t>javax.servlet and java.servlet.http</a:t>
            </a:r>
            <a:endParaRPr b="1" dirty="0"/>
          </a:p>
          <a:p>
            <a:pPr marL="0" lvl="0" indent="0" algn="just" rtl="0">
              <a:spcBef>
                <a:spcPts val="1200"/>
              </a:spcBef>
              <a:spcAft>
                <a:spcPts val="0"/>
              </a:spcAft>
              <a:buNone/>
            </a:pPr>
            <a:r>
              <a:rPr lang="en" dirty="0"/>
              <a:t>Javax.servlet has 5 interfaces : Servlet, ServletRequest, ServletResponse, ServletConfig and ServletContext and 3 classes: GenericServlet, ServletInputstream, ServletOutputStream</a:t>
            </a:r>
            <a:endParaRPr dirty="0"/>
          </a:p>
          <a:p>
            <a:pPr marL="0" lvl="0" indent="0" algn="just" rtl="0">
              <a:spcBef>
                <a:spcPts val="1200"/>
              </a:spcBef>
              <a:spcAft>
                <a:spcPts val="0"/>
              </a:spcAft>
              <a:buNone/>
            </a:pPr>
            <a:r>
              <a:rPr lang="en" dirty="0"/>
              <a:t>Javax.servlet.http has 5 interfaces : HttpServletRequest, HttpServletResponse, HttpSession, HttpSessionBindingListener, HttpSessionContext and 3 classes: Cookie, HttpServlet, HttpSessionBindingEvent</a:t>
            </a:r>
            <a:endParaRPr dirty="0"/>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javax.servlet</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It is the core of Servlet API</a:t>
            </a:r>
            <a:endParaRPr dirty="0"/>
          </a:p>
          <a:p>
            <a:pPr marL="0" lvl="0" indent="0" algn="l" rtl="0">
              <a:spcBef>
                <a:spcPts val="1200"/>
              </a:spcBef>
              <a:spcAft>
                <a:spcPts val="0"/>
              </a:spcAft>
              <a:buNone/>
            </a:pPr>
            <a:r>
              <a:rPr lang="en" dirty="0"/>
              <a:t>Has </a:t>
            </a:r>
            <a:r>
              <a:rPr lang="en" b="1" dirty="0"/>
              <a:t>basic Servlet interface </a:t>
            </a:r>
            <a:r>
              <a:rPr lang="en" dirty="0"/>
              <a:t>which all Servlets must implement in one form or the other and </a:t>
            </a:r>
            <a:r>
              <a:rPr lang="en" b="1" dirty="0"/>
              <a:t>abstract GenericServlet class </a:t>
            </a:r>
            <a:r>
              <a:rPr lang="en" dirty="0"/>
              <a:t>for developing basic servlets</a:t>
            </a:r>
            <a:endParaRPr dirty="0"/>
          </a:p>
          <a:p>
            <a:pPr marL="0" lvl="0" indent="0" algn="l" rtl="0">
              <a:spcBef>
                <a:spcPts val="1200"/>
              </a:spcBef>
              <a:spcAft>
                <a:spcPts val="0"/>
              </a:spcAft>
              <a:buNone/>
            </a:pPr>
            <a:r>
              <a:rPr lang="en" dirty="0"/>
              <a:t>This package has classes for</a:t>
            </a:r>
            <a:endParaRPr dirty="0"/>
          </a:p>
          <a:p>
            <a:pPr marL="0" lvl="0" indent="0" algn="l" rtl="0">
              <a:spcBef>
                <a:spcPts val="1200"/>
              </a:spcBef>
              <a:spcAft>
                <a:spcPts val="0"/>
              </a:spcAft>
              <a:buNone/>
            </a:pPr>
            <a:r>
              <a:rPr lang="en" dirty="0"/>
              <a:t>Communicating with host server and client: </a:t>
            </a:r>
            <a:r>
              <a:rPr lang="en" b="1" dirty="0"/>
              <a:t>ServeltRequest and ServletResponse</a:t>
            </a:r>
            <a:endParaRPr b="1" dirty="0"/>
          </a:p>
          <a:p>
            <a:pPr marL="0" lvl="0" indent="0" algn="l" rtl="0">
              <a:spcBef>
                <a:spcPts val="1200"/>
              </a:spcBef>
              <a:spcAft>
                <a:spcPts val="1200"/>
              </a:spcAft>
              <a:buNone/>
            </a:pPr>
            <a:r>
              <a:rPr lang="en" dirty="0"/>
              <a:t>Communicating with the client: </a:t>
            </a:r>
            <a:r>
              <a:rPr lang="en" b="1" dirty="0"/>
              <a:t>ServletInputStream and ServletOutputStream</a:t>
            </a:r>
            <a:endParaRPr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262626"/>
              </a:buClr>
              <a:buSzPts val="3600"/>
              <a:buFont typeface="Arial"/>
              <a:buNone/>
            </a:pPr>
            <a:r>
              <a:rPr lang="en"/>
              <a:t>javax.servlet</a:t>
            </a:r>
            <a:endParaRPr/>
          </a:p>
        </p:txBody>
      </p:sp>
      <p:graphicFrame>
        <p:nvGraphicFramePr>
          <p:cNvPr id="79" name="Google Shape;79;p17"/>
          <p:cNvGraphicFramePr/>
          <p:nvPr/>
        </p:nvGraphicFramePr>
        <p:xfrm>
          <a:off x="413112" y="1254273"/>
          <a:ext cx="8365150" cy="3546340"/>
        </p:xfrm>
        <a:graphic>
          <a:graphicData uri="http://schemas.openxmlformats.org/drawingml/2006/table">
            <a:tbl>
              <a:tblPr>
                <a:noFill/>
                <a:tableStyleId>{D999C172-248C-4A17-A9F2-33A0C7DFAAA3}</a:tableStyleId>
              </a:tblPr>
              <a:tblGrid>
                <a:gridCol w="2467250">
                  <a:extLst>
                    <a:ext uri="{9D8B030D-6E8A-4147-A177-3AD203B41FA5}">
                      <a16:colId xmlns:a16="http://schemas.microsoft.com/office/drawing/2014/main" val="20000"/>
                    </a:ext>
                  </a:extLst>
                </a:gridCol>
                <a:gridCol w="5897900">
                  <a:extLst>
                    <a:ext uri="{9D8B030D-6E8A-4147-A177-3AD203B41FA5}">
                      <a16:colId xmlns:a16="http://schemas.microsoft.com/office/drawing/2014/main" val="20001"/>
                    </a:ext>
                  </a:extLst>
                </a:gridCol>
              </a:tblGrid>
              <a:tr h="302725">
                <a:tc>
                  <a:txBody>
                    <a:bodyPr/>
                    <a:lstStyle/>
                    <a:p>
                      <a:pPr marL="0" marR="0" lvl="0" indent="0" algn="ctr" rtl="0">
                        <a:spcBef>
                          <a:spcPts val="0"/>
                        </a:spcBef>
                        <a:spcAft>
                          <a:spcPts val="0"/>
                        </a:spcAft>
                        <a:buNone/>
                      </a:pPr>
                      <a:r>
                        <a:rPr lang="en" sz="1800" b="1" u="none" strike="noStrike" cap="none"/>
                        <a:t>Interface Name</a:t>
                      </a:r>
                      <a:endParaRPr sz="1800"/>
                    </a:p>
                  </a:txBody>
                  <a:tcPr marL="8375" marR="8375" marT="4175" marB="4175" anchor="ctr"/>
                </a:tc>
                <a:tc>
                  <a:txBody>
                    <a:bodyPr/>
                    <a:lstStyle/>
                    <a:p>
                      <a:pPr marL="0" marR="0" lvl="0" indent="0" algn="ctr" rtl="0">
                        <a:spcBef>
                          <a:spcPts val="0"/>
                        </a:spcBef>
                        <a:spcAft>
                          <a:spcPts val="0"/>
                        </a:spcAft>
                        <a:buNone/>
                      </a:pPr>
                      <a:r>
                        <a:rPr lang="en" sz="1800" b="1" u="none" strike="noStrike" cap="none"/>
                        <a:t>Description</a:t>
                      </a:r>
                      <a:endParaRPr sz="1800"/>
                    </a:p>
                  </a:txBody>
                  <a:tcPr marL="8375" marR="8375" marT="4175" marB="4175" anchor="ctr"/>
                </a:tc>
                <a:extLst>
                  <a:ext uri="{0D108BD9-81ED-4DB2-BD59-A6C34878D82A}">
                    <a16:rowId xmlns:a16="http://schemas.microsoft.com/office/drawing/2014/main" val="10000"/>
                  </a:ext>
                </a:extLst>
              </a:tr>
              <a:tr h="302725">
                <a:tc>
                  <a:txBody>
                    <a:bodyPr/>
                    <a:lstStyle/>
                    <a:p>
                      <a:pPr marL="0" marR="0" lvl="0" indent="0" algn="l" rtl="0">
                        <a:spcBef>
                          <a:spcPts val="0"/>
                        </a:spcBef>
                        <a:spcAft>
                          <a:spcPts val="0"/>
                        </a:spcAft>
                        <a:buNone/>
                      </a:pPr>
                      <a:r>
                        <a:rPr lang="en" sz="1800" u="none" strike="noStrike" cap="none"/>
                        <a:t>Servlet</a:t>
                      </a:r>
                      <a:endParaRPr sz="1800"/>
                    </a:p>
                  </a:txBody>
                  <a:tcPr marL="8375" marR="8375" marT="4175" marB="4175" anchor="ctr"/>
                </a:tc>
                <a:tc>
                  <a:txBody>
                    <a:bodyPr/>
                    <a:lstStyle/>
                    <a:p>
                      <a:pPr marL="0" marR="0" lvl="0" indent="0" algn="l" rtl="0">
                        <a:spcBef>
                          <a:spcPts val="0"/>
                        </a:spcBef>
                        <a:spcAft>
                          <a:spcPts val="0"/>
                        </a:spcAft>
                        <a:buNone/>
                      </a:pPr>
                      <a:r>
                        <a:rPr lang="en" sz="1800" u="none" strike="noStrike" cap="none"/>
                        <a:t>Defines the methods that all servlets must implement.</a:t>
                      </a:r>
                      <a:endParaRPr sz="1800"/>
                    </a:p>
                  </a:txBody>
                  <a:tcPr marL="8375" marR="8375" marT="4175" marB="4175" anchor="ctr"/>
                </a:tc>
                <a:extLst>
                  <a:ext uri="{0D108BD9-81ED-4DB2-BD59-A6C34878D82A}">
                    <a16:rowId xmlns:a16="http://schemas.microsoft.com/office/drawing/2014/main" val="10001"/>
                  </a:ext>
                </a:extLst>
              </a:tr>
              <a:tr h="591125">
                <a:tc>
                  <a:txBody>
                    <a:bodyPr/>
                    <a:lstStyle/>
                    <a:p>
                      <a:pPr marL="0" marR="0" lvl="0" indent="0" algn="l" rtl="0">
                        <a:spcBef>
                          <a:spcPts val="0"/>
                        </a:spcBef>
                        <a:spcAft>
                          <a:spcPts val="0"/>
                        </a:spcAft>
                        <a:buNone/>
                      </a:pPr>
                      <a:r>
                        <a:rPr lang="en" sz="1800" u="none" strike="noStrike" cap="none"/>
                        <a:t>ServletConfig</a:t>
                      </a:r>
                      <a:endParaRPr sz="1800" u="none" strike="noStrike" cap="none"/>
                    </a:p>
                  </a:txBody>
                  <a:tcPr marL="8375" marR="8375" marT="4175" marB="4175" anchor="ctr"/>
                </a:tc>
                <a:tc>
                  <a:txBody>
                    <a:bodyPr/>
                    <a:lstStyle/>
                    <a:p>
                      <a:pPr marL="0" marR="0" lvl="0" indent="0" algn="l" rtl="0">
                        <a:spcBef>
                          <a:spcPts val="0"/>
                        </a:spcBef>
                        <a:spcAft>
                          <a:spcPts val="0"/>
                        </a:spcAft>
                        <a:buNone/>
                      </a:pPr>
                      <a:r>
                        <a:rPr lang="en" sz="1800" u="none" strike="noStrike" cap="none"/>
                        <a:t>It’s object is used by the servlet container to pass start-up information to a servlet during initialization.</a:t>
                      </a:r>
                      <a:endParaRPr sz="1800"/>
                    </a:p>
                  </a:txBody>
                  <a:tcPr marL="8375" marR="8375" marT="4175" marB="4175" anchor="ctr"/>
                </a:tc>
                <a:extLst>
                  <a:ext uri="{0D108BD9-81ED-4DB2-BD59-A6C34878D82A}">
                    <a16:rowId xmlns:a16="http://schemas.microsoft.com/office/drawing/2014/main" val="10002"/>
                  </a:ext>
                </a:extLst>
              </a:tr>
              <a:tr h="394675">
                <a:tc>
                  <a:txBody>
                    <a:bodyPr/>
                    <a:lstStyle/>
                    <a:p>
                      <a:pPr marL="0" marR="0" lvl="0" indent="0" algn="l" rtl="0">
                        <a:spcBef>
                          <a:spcPts val="0"/>
                        </a:spcBef>
                        <a:spcAft>
                          <a:spcPts val="0"/>
                        </a:spcAft>
                        <a:buNone/>
                      </a:pPr>
                      <a:r>
                        <a:rPr lang="en" sz="1800" u="none" strike="noStrike" cap="none"/>
                        <a:t>ServletContext</a:t>
                      </a:r>
                      <a:endParaRPr sz="1800" u="none" strike="noStrike" cap="none"/>
                    </a:p>
                  </a:txBody>
                  <a:tcPr marL="8375" marR="8375" marT="4175" marB="4175" anchor="ctr"/>
                </a:tc>
                <a:tc>
                  <a:txBody>
                    <a:bodyPr/>
                    <a:lstStyle/>
                    <a:p>
                      <a:pPr marL="0" marR="0" lvl="0" indent="0" algn="l" rtl="0">
                        <a:spcBef>
                          <a:spcPts val="0"/>
                        </a:spcBef>
                        <a:spcAft>
                          <a:spcPts val="0"/>
                        </a:spcAft>
                        <a:buNone/>
                      </a:pPr>
                      <a:r>
                        <a:rPr lang="en" sz="1800" u="none" strike="noStrike" cap="none"/>
                        <a:t>Contains a set of methods that a servlet uses to communicate with its servlet container.</a:t>
                      </a:r>
                      <a:endParaRPr sz="1800"/>
                    </a:p>
                  </a:txBody>
                  <a:tcPr marL="8375" marR="8375" marT="4175" marB="4175" anchor="ctr"/>
                </a:tc>
                <a:extLst>
                  <a:ext uri="{0D108BD9-81ED-4DB2-BD59-A6C34878D82A}">
                    <a16:rowId xmlns:a16="http://schemas.microsoft.com/office/drawing/2014/main" val="10003"/>
                  </a:ext>
                </a:extLst>
              </a:tr>
              <a:tr h="404475">
                <a:tc>
                  <a:txBody>
                    <a:bodyPr/>
                    <a:lstStyle/>
                    <a:p>
                      <a:pPr marL="0" marR="0" lvl="0" indent="0" algn="l" rtl="0">
                        <a:spcBef>
                          <a:spcPts val="0"/>
                        </a:spcBef>
                        <a:spcAft>
                          <a:spcPts val="0"/>
                        </a:spcAft>
                        <a:buNone/>
                      </a:pPr>
                      <a:r>
                        <a:rPr lang="en" sz="1800" u="none" strike="noStrike" cap="none"/>
                        <a:t>ServletRequest</a:t>
                      </a:r>
                      <a:endParaRPr sz="1800" u="none" strike="noStrike" cap="none"/>
                    </a:p>
                  </a:txBody>
                  <a:tcPr marL="8375" marR="8375" marT="4175" marB="4175" anchor="ctr"/>
                </a:tc>
                <a:tc>
                  <a:txBody>
                    <a:bodyPr/>
                    <a:lstStyle/>
                    <a:p>
                      <a:pPr marL="0" marR="0" lvl="0" indent="0" algn="l" rtl="0">
                        <a:spcBef>
                          <a:spcPts val="0"/>
                        </a:spcBef>
                        <a:spcAft>
                          <a:spcPts val="0"/>
                        </a:spcAft>
                        <a:buNone/>
                      </a:pPr>
                      <a:r>
                        <a:rPr lang="en" sz="1800" u="none" strike="noStrike" cap="none"/>
                        <a:t>Contains client’s request information to a servlet.</a:t>
                      </a:r>
                      <a:endParaRPr sz="1800"/>
                    </a:p>
                  </a:txBody>
                  <a:tcPr marL="8375" marR="8375" marT="4175" marB="4175" anchor="ctr"/>
                </a:tc>
                <a:extLst>
                  <a:ext uri="{0D108BD9-81ED-4DB2-BD59-A6C34878D82A}">
                    <a16:rowId xmlns:a16="http://schemas.microsoft.com/office/drawing/2014/main" val="10004"/>
                  </a:ext>
                </a:extLst>
              </a:tr>
              <a:tr h="388350">
                <a:tc>
                  <a:txBody>
                    <a:bodyPr/>
                    <a:lstStyle/>
                    <a:p>
                      <a:pPr marL="0" marR="0" lvl="0" indent="0" algn="l" rtl="0">
                        <a:spcBef>
                          <a:spcPts val="0"/>
                        </a:spcBef>
                        <a:spcAft>
                          <a:spcPts val="0"/>
                        </a:spcAft>
                        <a:buNone/>
                      </a:pPr>
                      <a:r>
                        <a:rPr lang="en" sz="1800" u="none" strike="noStrike" cap="none"/>
                        <a:t>ServletResponse</a:t>
                      </a:r>
                      <a:endParaRPr sz="1800" u="none" strike="noStrike" cap="none"/>
                    </a:p>
                  </a:txBody>
                  <a:tcPr marL="8375" marR="8375" marT="4175" marB="4175" anchor="ctr"/>
                </a:tc>
                <a:tc>
                  <a:txBody>
                    <a:bodyPr/>
                    <a:lstStyle/>
                    <a:p>
                      <a:pPr marL="0" marR="0" lvl="0" indent="0" algn="l" rtl="0">
                        <a:spcBef>
                          <a:spcPts val="0"/>
                        </a:spcBef>
                        <a:spcAft>
                          <a:spcPts val="0"/>
                        </a:spcAft>
                        <a:buNone/>
                      </a:pPr>
                      <a:r>
                        <a:rPr lang="en" sz="1800" u="none" strike="noStrike" cap="none"/>
                        <a:t>Contains servlet’s response information back to the client.</a:t>
                      </a:r>
                      <a:endParaRPr sz="1800"/>
                    </a:p>
                  </a:txBody>
                  <a:tcPr marL="8375" marR="8375" marT="4175" marB="4175" anchor="ctr"/>
                </a:tc>
                <a:extLst>
                  <a:ext uri="{0D108BD9-81ED-4DB2-BD59-A6C34878D82A}">
                    <a16:rowId xmlns:a16="http://schemas.microsoft.com/office/drawing/2014/main" val="10005"/>
                  </a:ext>
                </a:extLst>
              </a:tr>
              <a:tr h="591125">
                <a:tc>
                  <a:txBody>
                    <a:bodyPr/>
                    <a:lstStyle/>
                    <a:p>
                      <a:pPr marL="0" marR="0" lvl="0" indent="0" algn="l" rtl="0">
                        <a:spcBef>
                          <a:spcPts val="0"/>
                        </a:spcBef>
                        <a:spcAft>
                          <a:spcPts val="0"/>
                        </a:spcAft>
                        <a:buNone/>
                      </a:pPr>
                      <a:r>
                        <a:rPr lang="en" sz="1800" u="none" strike="noStrike" cap="none"/>
                        <a:t>RequestDispatcher</a:t>
                      </a:r>
                      <a:endParaRPr sz="1800"/>
                    </a:p>
                  </a:txBody>
                  <a:tcPr marL="8375" marR="8375" marT="4175" marB="4175" anchor="ctr"/>
                </a:tc>
                <a:tc>
                  <a:txBody>
                    <a:bodyPr/>
                    <a:lstStyle/>
                    <a:p>
                      <a:pPr marL="0" marR="0" lvl="0" indent="0" algn="l" rtl="0">
                        <a:spcBef>
                          <a:spcPts val="0"/>
                        </a:spcBef>
                        <a:spcAft>
                          <a:spcPts val="0"/>
                        </a:spcAft>
                        <a:buNone/>
                      </a:pPr>
                      <a:r>
                        <a:rPr lang="en" sz="1800" u="none" strike="noStrike" cap="none"/>
                        <a:t>It defines an object that receive requests from the client and sends them to a particular resource like HTML file, JSP file or a servlet.</a:t>
                      </a:r>
                      <a:endParaRPr sz="1800"/>
                    </a:p>
                  </a:txBody>
                  <a:tcPr marL="8375" marR="8375" marT="4175" marB="4175" anchor="ct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 Interface</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dirty="0"/>
              <a:t>Servlet will implement the Servlet interface either directly or indirectly</a:t>
            </a:r>
            <a:endParaRPr dirty="0"/>
          </a:p>
          <a:p>
            <a:pPr marL="0" lvl="0" indent="0" algn="l" rtl="0">
              <a:spcBef>
                <a:spcPts val="1200"/>
              </a:spcBef>
              <a:spcAft>
                <a:spcPts val="0"/>
              </a:spcAft>
              <a:buNone/>
            </a:pPr>
            <a:r>
              <a:rPr lang="en" dirty="0"/>
              <a:t>The methods here deal with initializing a servlet, handling client request and destroying a servlet</a:t>
            </a:r>
            <a:endParaRPr dirty="0"/>
          </a:p>
          <a:p>
            <a:pPr marL="0" marR="0" lvl="0" indent="0" algn="l" rtl="0">
              <a:lnSpc>
                <a:spcPct val="115000"/>
              </a:lnSpc>
              <a:spcBef>
                <a:spcPts val="1200"/>
              </a:spcBef>
              <a:spcAft>
                <a:spcPts val="0"/>
              </a:spcAft>
              <a:buNone/>
            </a:pPr>
            <a:r>
              <a:rPr lang="en" b="1" dirty="0"/>
              <a:t>public void init(ServletConfig config)</a:t>
            </a:r>
            <a:r>
              <a:rPr lang="en" dirty="0"/>
              <a:t> : initializes the servlet. It is the life cycle method of servlet and invoked by the web container only once.</a:t>
            </a:r>
            <a:endParaRPr dirty="0"/>
          </a:p>
          <a:p>
            <a:pPr marL="0" marR="0" lvl="0" indent="0" algn="l" rtl="0">
              <a:lnSpc>
                <a:spcPct val="115000"/>
              </a:lnSpc>
              <a:spcBef>
                <a:spcPts val="1200"/>
              </a:spcBef>
              <a:spcAft>
                <a:spcPts val="0"/>
              </a:spcAft>
              <a:buNone/>
            </a:pPr>
            <a:r>
              <a:rPr lang="en" b="1" dirty="0"/>
              <a:t>public void service(ServletRequest request,ServletResponse response)</a:t>
            </a:r>
            <a:r>
              <a:rPr lang="en" dirty="0"/>
              <a:t>: provides response for the incoming request. It is invoked at each request by the web container.</a:t>
            </a:r>
            <a:endParaRPr dirty="0"/>
          </a:p>
          <a:p>
            <a:pPr marL="0" marR="0" lvl="0" indent="0" algn="l" rtl="0">
              <a:lnSpc>
                <a:spcPct val="115000"/>
              </a:lnSpc>
              <a:spcBef>
                <a:spcPts val="1200"/>
              </a:spcBef>
              <a:spcAft>
                <a:spcPts val="1200"/>
              </a:spcAft>
              <a:buNone/>
            </a:pPr>
            <a:r>
              <a:rPr lang="en" b="1" dirty="0"/>
              <a:t>public void destroy()</a:t>
            </a:r>
            <a:r>
              <a:rPr lang="en" dirty="0"/>
              <a:t>: is invoked only once and indicates that servlet is being destroyed</a:t>
            </a:r>
            <a:r>
              <a:rPr lang="en" sz="1200" dirty="0">
                <a:solidFill>
                  <a:srgbClr val="333333"/>
                </a:solidFill>
                <a:highlight>
                  <a:srgbClr val="FFFFFF"/>
                </a:highlight>
                <a:latin typeface="Roboto"/>
                <a:ea typeface="Roboto"/>
                <a:cs typeface="Roboto"/>
                <a:sym typeface="Roboto"/>
              </a:rPr>
              <a:t>.</a:t>
            </a:r>
            <a:endParaRPr sz="1200" dirty="0">
              <a:solidFill>
                <a:srgbClr val="333333"/>
              </a:solidFill>
              <a:highlight>
                <a:srgbClr val="EFF1EB"/>
              </a:highlight>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Servlet Interface</a:t>
            </a: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en" b="1" dirty="0"/>
              <a:t>public ServletConfig getServletConfig(): </a:t>
            </a:r>
            <a:r>
              <a:rPr lang="en" dirty="0"/>
              <a:t>returns the object of ServletConfig.</a:t>
            </a:r>
            <a:endParaRPr dirty="0"/>
          </a:p>
          <a:p>
            <a:pPr marL="0" marR="0" lvl="0" indent="0" algn="l" rtl="0">
              <a:lnSpc>
                <a:spcPct val="115000"/>
              </a:lnSpc>
              <a:spcBef>
                <a:spcPts val="1200"/>
              </a:spcBef>
              <a:spcAft>
                <a:spcPts val="1200"/>
              </a:spcAft>
              <a:buNone/>
            </a:pPr>
            <a:r>
              <a:rPr lang="en" b="1" dirty="0"/>
              <a:t>public String getServletInfo(): </a:t>
            </a:r>
            <a:r>
              <a:rPr lang="en" dirty="0"/>
              <a:t>returns information about servlet such as writer, copyright, version etc.</a:t>
            </a:r>
            <a:endParaRP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ServletContext</a:t>
            </a:r>
            <a:endParaRPr/>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33333"/>
                </a:solidFill>
                <a:highlight>
                  <a:srgbClr val="FFFFFF"/>
                </a:highlight>
                <a:latin typeface="Roboto"/>
                <a:ea typeface="Roboto"/>
                <a:cs typeface="Roboto"/>
                <a:sym typeface="Roboto"/>
              </a:rPr>
              <a:t>Easy to maintain</a:t>
            </a:r>
            <a:r>
              <a:rPr lang="en" dirty="0">
                <a:solidFill>
                  <a:srgbClr val="333333"/>
                </a:solidFill>
                <a:highlight>
                  <a:srgbClr val="FFFFFF"/>
                </a:highlight>
                <a:latin typeface="Roboto"/>
                <a:ea typeface="Roboto"/>
                <a:cs typeface="Roboto"/>
                <a:sym typeface="Roboto"/>
              </a:rPr>
              <a:t> if any information is shared to all the servlet, it is better to make it available for all the servlet. We provide this information from the web.xml file, so if the information is changed, we don't need to modify the servlet. Thus it removes maintenance problem.</a:t>
            </a:r>
            <a:endParaRPr dirty="0">
              <a:solidFill>
                <a:srgbClr val="333333"/>
              </a:solidFill>
              <a:highlight>
                <a:srgbClr val="FFFFFF"/>
              </a:highlight>
              <a:latin typeface="Roboto"/>
              <a:ea typeface="Roboto"/>
              <a:cs typeface="Roboto"/>
              <a:sym typeface="Roboto"/>
            </a:endParaRPr>
          </a:p>
          <a:p>
            <a:pPr marL="457200" lvl="0" indent="-331835" algn="l" rtl="0">
              <a:lnSpc>
                <a:spcPct val="156250"/>
              </a:lnSpc>
              <a:spcBef>
                <a:spcPts val="1500"/>
              </a:spcBef>
              <a:spcAft>
                <a:spcPts val="0"/>
              </a:spcAft>
              <a:buClr>
                <a:schemeClr val="dk1"/>
              </a:buClr>
              <a:buSzPts val="1626"/>
              <a:buFont typeface="Roboto"/>
              <a:buAutoNum type="arabicPeriod"/>
            </a:pPr>
            <a:r>
              <a:rPr lang="en" sz="1625" b="1" dirty="0">
                <a:solidFill>
                  <a:schemeClr val="dk1"/>
                </a:solidFill>
                <a:highlight>
                  <a:srgbClr val="FFFFFF"/>
                </a:highlight>
                <a:latin typeface="Roboto"/>
                <a:ea typeface="Roboto"/>
                <a:cs typeface="Roboto"/>
                <a:sym typeface="Roboto"/>
              </a:rPr>
              <a:t>public String getInitParameter(String name):</a:t>
            </a:r>
            <a:r>
              <a:rPr lang="en" sz="1625" dirty="0">
                <a:solidFill>
                  <a:schemeClr val="dk1"/>
                </a:solidFill>
                <a:highlight>
                  <a:srgbClr val="FFFFFF"/>
                </a:highlight>
                <a:latin typeface="Roboto"/>
                <a:ea typeface="Roboto"/>
                <a:cs typeface="Roboto"/>
                <a:sym typeface="Roboto"/>
              </a:rPr>
              <a:t>Returns the parameter value for the specified parameter name.</a:t>
            </a:r>
            <a:endParaRPr sz="1625" dirty="0">
              <a:solidFill>
                <a:schemeClr val="dk1"/>
              </a:solidFill>
              <a:highlight>
                <a:srgbClr val="FFFFFF"/>
              </a:highlight>
              <a:latin typeface="Roboto"/>
              <a:ea typeface="Roboto"/>
              <a:cs typeface="Roboto"/>
              <a:sym typeface="Roboto"/>
            </a:endParaRPr>
          </a:p>
          <a:p>
            <a:pPr marL="457200" lvl="0" indent="-331835" algn="l" rtl="0">
              <a:lnSpc>
                <a:spcPct val="156250"/>
              </a:lnSpc>
              <a:spcBef>
                <a:spcPts val="0"/>
              </a:spcBef>
              <a:spcAft>
                <a:spcPts val="0"/>
              </a:spcAft>
              <a:buClr>
                <a:schemeClr val="dk1"/>
              </a:buClr>
              <a:buSzPts val="1626"/>
              <a:buFont typeface="Roboto"/>
              <a:buAutoNum type="arabicPeriod"/>
            </a:pPr>
            <a:r>
              <a:rPr lang="en" sz="1625" b="1" dirty="0">
                <a:solidFill>
                  <a:schemeClr val="dk1"/>
                </a:solidFill>
                <a:highlight>
                  <a:srgbClr val="FFFFFF"/>
                </a:highlight>
                <a:latin typeface="Roboto"/>
                <a:ea typeface="Roboto"/>
                <a:cs typeface="Roboto"/>
                <a:sym typeface="Roboto"/>
              </a:rPr>
              <a:t>public Enumeration getInitParameterNames():</a:t>
            </a:r>
            <a:r>
              <a:rPr lang="en" sz="1625" dirty="0">
                <a:solidFill>
                  <a:schemeClr val="dk1"/>
                </a:solidFill>
                <a:highlight>
                  <a:srgbClr val="FFFFFF"/>
                </a:highlight>
                <a:latin typeface="Roboto"/>
                <a:ea typeface="Roboto"/>
                <a:cs typeface="Roboto"/>
                <a:sym typeface="Roboto"/>
              </a:rPr>
              <a:t>Returns the names of the context's initialization parameters.</a:t>
            </a:r>
            <a:endParaRPr sz="1625" dirty="0">
              <a:solidFill>
                <a:schemeClr val="dk1"/>
              </a:solidFill>
              <a:highlight>
                <a:srgbClr val="FFFFFF"/>
              </a:highlight>
              <a:latin typeface="Roboto"/>
              <a:ea typeface="Roboto"/>
              <a:cs typeface="Roboto"/>
              <a:sym typeface="Roboto"/>
            </a:endParaRPr>
          </a:p>
          <a:p>
            <a:pPr marL="0" lvl="0" indent="0" algn="l" rtl="0">
              <a:spcBef>
                <a:spcPts val="1200"/>
              </a:spcBef>
              <a:spcAft>
                <a:spcPts val="1200"/>
              </a:spcAft>
              <a:buNone/>
            </a:pPr>
            <a:endParaRPr dirty="0">
              <a:solidFill>
                <a:srgbClr val="333333"/>
              </a:solidFill>
              <a:highlight>
                <a:srgbClr val="FFFFFF"/>
              </a:highlight>
              <a:latin typeface="Roboto"/>
              <a:ea typeface="Roboto"/>
              <a:cs typeface="Roboto"/>
              <a:sym typeface="Roboto"/>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ServletContext</a:t>
            </a:r>
            <a:endParaRPr/>
          </a:p>
        </p:txBody>
      </p:sp>
      <p:sp>
        <p:nvSpPr>
          <p:cNvPr id="103" name="Google Shape;103;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25000" lnSpcReduction="20000"/>
          </a:bodyPr>
          <a:lstStyle/>
          <a:p>
            <a:pPr marL="0" lvl="0" indent="0" algn="l" rtl="0">
              <a:lnSpc>
                <a:spcPct val="156250"/>
              </a:lnSpc>
              <a:spcBef>
                <a:spcPts val="1500"/>
              </a:spcBef>
              <a:spcAft>
                <a:spcPts val="0"/>
              </a:spcAft>
              <a:buNone/>
            </a:pPr>
            <a:r>
              <a:rPr lang="en" sz="6150" b="1" dirty="0">
                <a:solidFill>
                  <a:schemeClr val="dk1"/>
                </a:solidFill>
                <a:highlight>
                  <a:srgbClr val="FFFFFF"/>
                </a:highlight>
                <a:latin typeface="Roboto"/>
                <a:ea typeface="Roboto"/>
                <a:cs typeface="Roboto"/>
                <a:sym typeface="Roboto"/>
              </a:rPr>
              <a:t>public void setAttribute(String name,Object object):</a:t>
            </a:r>
            <a:r>
              <a:rPr lang="en" sz="6150" dirty="0">
                <a:solidFill>
                  <a:schemeClr val="dk1"/>
                </a:solidFill>
                <a:highlight>
                  <a:srgbClr val="FFFFFF"/>
                </a:highlight>
                <a:latin typeface="Roboto"/>
                <a:ea typeface="Roboto"/>
                <a:cs typeface="Roboto"/>
                <a:sym typeface="Roboto"/>
              </a:rPr>
              <a:t>sets the given object in the application scope.</a:t>
            </a:r>
            <a:endParaRPr sz="6150" dirty="0">
              <a:solidFill>
                <a:schemeClr val="dk1"/>
              </a:solidFill>
              <a:highlight>
                <a:srgbClr val="FFFFFF"/>
              </a:highlight>
              <a:latin typeface="Roboto"/>
              <a:ea typeface="Roboto"/>
              <a:cs typeface="Roboto"/>
              <a:sym typeface="Roboto"/>
            </a:endParaRPr>
          </a:p>
          <a:p>
            <a:pPr marL="0" lvl="0" indent="0" algn="l" rtl="0">
              <a:lnSpc>
                <a:spcPct val="156250"/>
              </a:lnSpc>
              <a:spcBef>
                <a:spcPts val="1500"/>
              </a:spcBef>
              <a:spcAft>
                <a:spcPts val="0"/>
              </a:spcAft>
              <a:buNone/>
            </a:pPr>
            <a:r>
              <a:rPr lang="en" sz="6150" b="1" dirty="0">
                <a:solidFill>
                  <a:schemeClr val="dk1"/>
                </a:solidFill>
                <a:highlight>
                  <a:srgbClr val="FFFFFF"/>
                </a:highlight>
                <a:latin typeface="Roboto"/>
                <a:ea typeface="Roboto"/>
                <a:cs typeface="Roboto"/>
                <a:sym typeface="Roboto"/>
              </a:rPr>
              <a:t>public Object getAttribute(String name):</a:t>
            </a:r>
            <a:r>
              <a:rPr lang="en" sz="6150" dirty="0">
                <a:solidFill>
                  <a:schemeClr val="dk1"/>
                </a:solidFill>
                <a:highlight>
                  <a:srgbClr val="FFFFFF"/>
                </a:highlight>
                <a:latin typeface="Roboto"/>
                <a:ea typeface="Roboto"/>
                <a:cs typeface="Roboto"/>
                <a:sym typeface="Roboto"/>
              </a:rPr>
              <a:t>Returns the attribute for the specified name.</a:t>
            </a:r>
            <a:endParaRPr sz="6150" dirty="0">
              <a:solidFill>
                <a:schemeClr val="dk1"/>
              </a:solidFill>
              <a:highlight>
                <a:srgbClr val="FFFFFF"/>
              </a:highlight>
              <a:latin typeface="Roboto"/>
              <a:ea typeface="Roboto"/>
              <a:cs typeface="Roboto"/>
              <a:sym typeface="Roboto"/>
            </a:endParaRPr>
          </a:p>
          <a:p>
            <a:pPr marL="0" lvl="0" indent="0" algn="l" rtl="0">
              <a:lnSpc>
                <a:spcPct val="156250"/>
              </a:lnSpc>
              <a:spcBef>
                <a:spcPts val="1500"/>
              </a:spcBef>
              <a:spcAft>
                <a:spcPts val="0"/>
              </a:spcAft>
              <a:buNone/>
            </a:pPr>
            <a:r>
              <a:rPr lang="en" sz="6150" b="1" dirty="0">
                <a:solidFill>
                  <a:schemeClr val="dk1"/>
                </a:solidFill>
                <a:highlight>
                  <a:srgbClr val="FFFFFF"/>
                </a:highlight>
                <a:latin typeface="Roboto"/>
                <a:ea typeface="Roboto"/>
                <a:cs typeface="Roboto"/>
                <a:sym typeface="Roboto"/>
              </a:rPr>
              <a:t>public void removeAttribute(String name):Removes the attribute with the given name from the servlet context.</a:t>
            </a:r>
            <a:endParaRPr sz="6150" b="1" dirty="0">
              <a:solidFill>
                <a:schemeClr val="dk1"/>
              </a:solidFill>
              <a:highlight>
                <a:srgbClr val="FFFFFF"/>
              </a:highlight>
              <a:latin typeface="Roboto"/>
              <a:ea typeface="Roboto"/>
              <a:cs typeface="Roboto"/>
              <a:sym typeface="Roboto"/>
            </a:endParaRPr>
          </a:p>
          <a:p>
            <a:pPr marL="0" lvl="0" indent="0" algn="l" rtl="0">
              <a:lnSpc>
                <a:spcPct val="156250"/>
              </a:lnSpc>
              <a:spcBef>
                <a:spcPts val="1500"/>
              </a:spcBef>
              <a:spcAft>
                <a:spcPts val="0"/>
              </a:spcAft>
              <a:buNone/>
            </a:pPr>
            <a:r>
              <a:rPr lang="en" sz="6150" b="1" dirty="0">
                <a:solidFill>
                  <a:srgbClr val="4A6782"/>
                </a:solidFill>
                <a:uFill>
                  <a:noFill/>
                </a:uFill>
                <a:latin typeface="Courier New"/>
                <a:ea typeface="Courier New"/>
                <a:cs typeface="Courier New"/>
                <a:sym typeface="Courier New"/>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String</a:t>
            </a:r>
            <a:r>
              <a:rPr lang="en" sz="6150" b="1" dirty="0">
                <a:solidFill>
                  <a:srgbClr val="353833"/>
                </a:solidFill>
                <a:latin typeface="Courier New"/>
                <a:ea typeface="Courier New"/>
                <a:cs typeface="Courier New"/>
                <a:sym typeface="Courier New"/>
              </a:rPr>
              <a:t> getContextPath()</a:t>
            </a:r>
            <a:r>
              <a:rPr lang="en" sz="6150" dirty="0">
                <a:solidFill>
                  <a:srgbClr val="353833"/>
                </a:solidFill>
                <a:latin typeface="Courier New"/>
                <a:ea typeface="Courier New"/>
                <a:cs typeface="Courier New"/>
                <a:sym typeface="Courier New"/>
              </a:rPr>
              <a:t> </a:t>
            </a:r>
            <a:r>
              <a:rPr lang="en" sz="6150" dirty="0">
                <a:solidFill>
                  <a:srgbClr val="474747"/>
                </a:solidFill>
                <a:latin typeface="Georgia"/>
                <a:ea typeface="Georgia"/>
                <a:cs typeface="Georgia"/>
                <a:sym typeface="Georgia"/>
              </a:rPr>
              <a:t>Returns the context path of the web application.</a:t>
            </a:r>
            <a:endParaRPr sz="6150" dirty="0">
              <a:solidFill>
                <a:srgbClr val="474747"/>
              </a:solidFill>
              <a:latin typeface="Georgia"/>
              <a:ea typeface="Georgia"/>
              <a:cs typeface="Georgia"/>
              <a:sym typeface="Georgia"/>
            </a:endParaRPr>
          </a:p>
          <a:p>
            <a:pPr marL="0" lvl="0" indent="0" algn="l" rtl="0">
              <a:lnSpc>
                <a:spcPct val="156250"/>
              </a:lnSpc>
              <a:spcBef>
                <a:spcPts val="1500"/>
              </a:spcBef>
              <a:spcAft>
                <a:spcPts val="0"/>
              </a:spcAft>
              <a:buNone/>
            </a:pPr>
            <a:r>
              <a:rPr lang="en" sz="6150" b="1" dirty="0">
                <a:solidFill>
                  <a:srgbClr val="4A6782"/>
                </a:solidFill>
                <a:uFill>
                  <a:noFill/>
                </a:uFill>
                <a:latin typeface="Courier New"/>
                <a:ea typeface="Courier New"/>
                <a:cs typeface="Courier New"/>
                <a:sym typeface="Courier New"/>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ServletContext</a:t>
            </a:r>
            <a:r>
              <a:rPr lang="en" sz="6150" b="1" dirty="0">
                <a:solidFill>
                  <a:srgbClr val="353833"/>
                </a:solidFill>
                <a:latin typeface="Courier New"/>
                <a:ea typeface="Courier New"/>
                <a:cs typeface="Courier New"/>
                <a:sym typeface="Courier New"/>
              </a:rPr>
              <a:t> getContext(</a:t>
            </a:r>
            <a:r>
              <a:rPr lang="en" sz="6150" b="1" dirty="0">
                <a:solidFill>
                  <a:srgbClr val="4A6782"/>
                </a:solidFill>
                <a:uFill>
                  <a:noFill/>
                </a:uFill>
                <a:latin typeface="Courier New"/>
                <a:ea typeface="Courier New"/>
                <a:cs typeface="Courier New"/>
                <a:sym typeface="Courier New"/>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String</a:t>
            </a:r>
            <a:r>
              <a:rPr lang="en" sz="6150" b="1" dirty="0">
                <a:solidFill>
                  <a:srgbClr val="353833"/>
                </a:solidFill>
                <a:latin typeface="Courier New"/>
                <a:ea typeface="Courier New"/>
                <a:cs typeface="Courier New"/>
                <a:sym typeface="Courier New"/>
              </a:rPr>
              <a:t> uripath)</a:t>
            </a:r>
            <a:r>
              <a:rPr lang="en" sz="6150" dirty="0">
                <a:solidFill>
                  <a:srgbClr val="353833"/>
                </a:solidFill>
                <a:latin typeface="Courier New"/>
                <a:ea typeface="Courier New"/>
                <a:cs typeface="Courier New"/>
                <a:sym typeface="Courier New"/>
              </a:rPr>
              <a:t>:</a:t>
            </a:r>
            <a:r>
              <a:rPr lang="en" sz="6150" dirty="0">
                <a:solidFill>
                  <a:srgbClr val="474747"/>
                </a:solidFill>
                <a:latin typeface="Georgia"/>
                <a:ea typeface="Georgia"/>
                <a:cs typeface="Georgia"/>
                <a:sym typeface="Georgia"/>
              </a:rPr>
              <a:t>Returns a </a:t>
            </a:r>
            <a:r>
              <a:rPr lang="en" sz="6150" dirty="0">
                <a:solidFill>
                  <a:srgbClr val="474747"/>
                </a:solidFill>
                <a:latin typeface="Courier New"/>
                <a:ea typeface="Courier New"/>
                <a:cs typeface="Courier New"/>
                <a:sym typeface="Courier New"/>
              </a:rPr>
              <a:t>ServletContext</a:t>
            </a:r>
            <a:r>
              <a:rPr lang="en" sz="6150" dirty="0">
                <a:solidFill>
                  <a:srgbClr val="474747"/>
                </a:solidFill>
                <a:latin typeface="Georgia"/>
                <a:ea typeface="Georgia"/>
                <a:cs typeface="Georgia"/>
                <a:sym typeface="Georgia"/>
              </a:rPr>
              <a:t> object that corresponds to a specified URL on the server.</a:t>
            </a:r>
            <a:endParaRPr sz="6150" dirty="0">
              <a:solidFill>
                <a:srgbClr val="474747"/>
              </a:solidFill>
              <a:latin typeface="Georgia"/>
              <a:ea typeface="Georgia"/>
              <a:cs typeface="Georgia"/>
              <a:sym typeface="Georgia"/>
            </a:endParaRPr>
          </a:p>
          <a:p>
            <a:pPr marL="0" lvl="0" indent="0" algn="l" rtl="0">
              <a:lnSpc>
                <a:spcPct val="156250"/>
              </a:lnSpc>
              <a:spcBef>
                <a:spcPts val="1500"/>
              </a:spcBef>
              <a:spcAft>
                <a:spcPts val="0"/>
              </a:spcAft>
              <a:buNone/>
            </a:pPr>
            <a:r>
              <a:rPr lang="en" sz="6150" b="1" dirty="0">
                <a:solidFill>
                  <a:srgbClr val="474747"/>
                </a:solidFill>
                <a:latin typeface="Georgia"/>
                <a:ea typeface="Georgia"/>
                <a:cs typeface="Georgia"/>
                <a:sym typeface="Georgia"/>
              </a:rPr>
              <a:t>getServletInfo()</a:t>
            </a:r>
            <a:r>
              <a:rPr lang="en" sz="6150" dirty="0">
                <a:solidFill>
                  <a:srgbClr val="474747"/>
                </a:solidFill>
                <a:latin typeface="Georgia"/>
                <a:ea typeface="Georgia"/>
                <a:cs typeface="Georgia"/>
                <a:sym typeface="Georgia"/>
              </a:rPr>
              <a:t>: Returns the name and version of servlet container on which the servlet is running.</a:t>
            </a:r>
            <a:endParaRPr sz="6150" dirty="0">
              <a:solidFill>
                <a:srgbClr val="474747"/>
              </a:solidFill>
              <a:latin typeface="Georgia"/>
              <a:ea typeface="Georgia"/>
              <a:cs typeface="Georgia"/>
              <a:sym typeface="Georgia"/>
            </a:endParaRPr>
          </a:p>
          <a:p>
            <a:pPr marL="0" lvl="0" indent="0" algn="l" rtl="0">
              <a:lnSpc>
                <a:spcPct val="156250"/>
              </a:lnSpc>
              <a:spcBef>
                <a:spcPts val="1500"/>
              </a:spcBef>
              <a:spcAft>
                <a:spcPts val="0"/>
              </a:spcAft>
              <a:buNone/>
            </a:pPr>
            <a:endParaRPr sz="1050" dirty="0">
              <a:solidFill>
                <a:srgbClr val="474747"/>
              </a:solidFill>
              <a:latin typeface="Georgia"/>
              <a:ea typeface="Georgia"/>
              <a:cs typeface="Georgia"/>
              <a:sym typeface="Georgia"/>
            </a:endParaRPr>
          </a:p>
          <a:p>
            <a:pPr marL="0" lvl="0" indent="0" algn="l" rtl="0">
              <a:lnSpc>
                <a:spcPct val="156250"/>
              </a:lnSpc>
              <a:spcBef>
                <a:spcPts val="1500"/>
              </a:spcBef>
              <a:spcAft>
                <a:spcPts val="0"/>
              </a:spcAft>
              <a:buNone/>
            </a:pPr>
            <a:endParaRPr sz="1050" dirty="0">
              <a:solidFill>
                <a:srgbClr val="474747"/>
              </a:solidFill>
              <a:latin typeface="Georgia"/>
              <a:ea typeface="Georgia"/>
              <a:cs typeface="Georgia"/>
              <a:sym typeface="Georgia"/>
            </a:endParaRPr>
          </a:p>
          <a:p>
            <a:pPr marL="0" lvl="0" indent="0" algn="l" rtl="0">
              <a:lnSpc>
                <a:spcPct val="156250"/>
              </a:lnSpc>
              <a:spcBef>
                <a:spcPts val="1500"/>
              </a:spcBef>
              <a:spcAft>
                <a:spcPts val="0"/>
              </a:spcAft>
              <a:buClr>
                <a:schemeClr val="dk1"/>
              </a:buClr>
              <a:buSzPct val="104761"/>
              <a:buFont typeface="Arial"/>
              <a:buNone/>
            </a:pPr>
            <a:endParaRPr sz="1050" dirty="0">
              <a:solidFill>
                <a:srgbClr val="474747"/>
              </a:solidFill>
              <a:latin typeface="Georgia"/>
              <a:ea typeface="Georgia"/>
              <a:cs typeface="Georgia"/>
              <a:sym typeface="Georgia"/>
            </a:endParaRPr>
          </a:p>
          <a:p>
            <a:pPr marL="0" lvl="0" indent="0" algn="l" rtl="0">
              <a:lnSpc>
                <a:spcPct val="156250"/>
              </a:lnSpc>
              <a:spcBef>
                <a:spcPts val="1500"/>
              </a:spcBef>
              <a:spcAft>
                <a:spcPts val="0"/>
              </a:spcAft>
              <a:buNone/>
            </a:pPr>
            <a:endParaRPr sz="1625" b="1" dirty="0">
              <a:solidFill>
                <a:schemeClr val="dk1"/>
              </a:solidFill>
              <a:highlight>
                <a:srgbClr val="FFFFFF"/>
              </a:highlight>
              <a:latin typeface="Roboto"/>
              <a:ea typeface="Roboto"/>
              <a:cs typeface="Roboto"/>
              <a:sym typeface="Roboto"/>
            </a:endParaRPr>
          </a:p>
          <a:p>
            <a:pPr marL="0" lvl="0" indent="0" algn="l" rtl="0">
              <a:lnSpc>
                <a:spcPct val="156250"/>
              </a:lnSpc>
              <a:spcBef>
                <a:spcPts val="1500"/>
              </a:spcBef>
              <a:spcAft>
                <a:spcPts val="0"/>
              </a:spcAft>
              <a:buNone/>
            </a:pPr>
            <a:endParaRPr sz="1625" dirty="0">
              <a:solidFill>
                <a:schemeClr val="dk1"/>
              </a:solidFill>
              <a:highlight>
                <a:srgbClr val="FFFFFF"/>
              </a:highlight>
              <a:latin typeface="Roboto"/>
              <a:ea typeface="Roboto"/>
              <a:cs typeface="Roboto"/>
              <a:sym typeface="Roboto"/>
            </a:endParaRPr>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ServletConfig Interface</a:t>
            </a:r>
            <a:endParaRPr/>
          </a:p>
        </p:txBody>
      </p:sp>
      <p:sp>
        <p:nvSpPr>
          <p:cNvPr id="109" name="Google Shape;109;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Help Servers pass initialization and context information to Servlets like series of initialization parameters, ServletContext object that gives information about the server environment</a:t>
            </a:r>
            <a:endParaRPr dirty="0"/>
          </a:p>
          <a:p>
            <a:pPr marL="0" lvl="0" indent="0" algn="l" rtl="0">
              <a:spcBef>
                <a:spcPts val="1200"/>
              </a:spcBef>
              <a:spcAft>
                <a:spcPts val="0"/>
              </a:spcAft>
              <a:buNone/>
            </a:pPr>
            <a:r>
              <a:rPr lang="en" dirty="0"/>
              <a:t>getServletName(): Returns name of the Servlet instance</a:t>
            </a:r>
            <a:endParaRPr dirty="0"/>
          </a:p>
          <a:p>
            <a:pPr marL="0" lvl="0" indent="0" algn="l" rtl="0">
              <a:spcBef>
                <a:spcPts val="1200"/>
              </a:spcBef>
              <a:spcAft>
                <a:spcPts val="0"/>
              </a:spcAft>
              <a:buNone/>
            </a:pPr>
            <a:r>
              <a:rPr lang="en" dirty="0"/>
              <a:t>getInitParameter(): Returns values of Servlet initialization parameter</a:t>
            </a:r>
            <a:endParaRPr dirty="0"/>
          </a:p>
          <a:p>
            <a:pPr marL="0" lvl="0" indent="0" algn="l" rtl="0">
              <a:spcBef>
                <a:spcPts val="1200"/>
              </a:spcBef>
              <a:spcAft>
                <a:spcPts val="0"/>
              </a:spcAft>
              <a:buNone/>
            </a:pPr>
            <a:r>
              <a:rPr lang="en" dirty="0"/>
              <a:t>getInitParameterNames(): Returns all Servlet’s initialization parameter names as Enumeration of String objects</a:t>
            </a:r>
            <a:endParaRPr dirty="0"/>
          </a:p>
          <a:p>
            <a:pPr marL="0" lvl="0" indent="0" algn="l" rtl="0">
              <a:spcBef>
                <a:spcPts val="1200"/>
              </a:spcBef>
              <a:spcAft>
                <a:spcPts val="0"/>
              </a:spcAft>
              <a:buNone/>
            </a:pPr>
            <a:r>
              <a:rPr lang="en" dirty="0"/>
              <a:t>getServletContext(): Returns a reference to Servletcontext in which caller is executing</a:t>
            </a:r>
            <a:endParaRPr dirty="0"/>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Difference between ServletContext &amp; ServletConfig</a:t>
            </a:r>
            <a:endParaRPr/>
          </a:p>
        </p:txBody>
      </p:sp>
      <p:sp>
        <p:nvSpPr>
          <p:cNvPr id="115" name="Google Shape;115;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50" b="1" dirty="0">
                <a:solidFill>
                  <a:srgbClr val="273239"/>
                </a:solidFill>
                <a:highlight>
                  <a:srgbClr val="FFFFFF"/>
                </a:highlight>
                <a:latin typeface="Nunito"/>
                <a:ea typeface="Nunito"/>
                <a:cs typeface="Nunito"/>
                <a:sym typeface="Nunito"/>
              </a:rPr>
              <a:t>ServletConfig</a:t>
            </a:r>
            <a:r>
              <a:rPr lang="en" sz="1650" dirty="0">
                <a:solidFill>
                  <a:srgbClr val="273239"/>
                </a:solidFill>
                <a:highlight>
                  <a:srgbClr val="FFFFFF"/>
                </a:highlight>
                <a:latin typeface="Nunito"/>
                <a:ea typeface="Nunito"/>
                <a:cs typeface="Nunito"/>
                <a:sym typeface="Nunito"/>
              </a:rPr>
              <a:t> and </a:t>
            </a:r>
            <a:r>
              <a:rPr lang="en" sz="1650" b="1" dirty="0">
                <a:solidFill>
                  <a:srgbClr val="273239"/>
                </a:solidFill>
                <a:highlight>
                  <a:srgbClr val="FFFFFF"/>
                </a:highlight>
                <a:latin typeface="Nunito"/>
                <a:ea typeface="Nunito"/>
                <a:cs typeface="Nunito"/>
                <a:sym typeface="Nunito"/>
              </a:rPr>
              <a:t>ServletContext</a:t>
            </a:r>
            <a:r>
              <a:rPr lang="en" sz="1650" dirty="0">
                <a:solidFill>
                  <a:srgbClr val="273239"/>
                </a:solidFill>
                <a:highlight>
                  <a:srgbClr val="FFFFFF"/>
                </a:highlight>
                <a:latin typeface="Nunito"/>
                <a:ea typeface="Nunito"/>
                <a:cs typeface="Nunito"/>
                <a:sym typeface="Nunito"/>
              </a:rPr>
              <a:t>, both are objects created at the time of </a:t>
            </a:r>
            <a:r>
              <a:rPr lang="en" sz="1650" u="sng" dirty="0">
                <a:solidFill>
                  <a:schemeClr val="hlink"/>
                </a:solidFill>
                <a:highlight>
                  <a:srgbClr val="FFFFFF"/>
                </a:highlight>
                <a:latin typeface="Nunito"/>
                <a:ea typeface="Nunito"/>
                <a:cs typeface="Nunito"/>
                <a:sym typeface="Nunito"/>
                <a:hlinkClick r:id="rId3"/>
              </a:rPr>
              <a:t>servlet</a:t>
            </a:r>
            <a:r>
              <a:rPr lang="en" sz="1650" dirty="0">
                <a:solidFill>
                  <a:srgbClr val="273239"/>
                </a:solidFill>
                <a:highlight>
                  <a:srgbClr val="FFFFFF"/>
                </a:highlight>
                <a:latin typeface="Nunito"/>
                <a:ea typeface="Nunito"/>
                <a:cs typeface="Nunito"/>
                <a:sym typeface="Nunito"/>
              </a:rPr>
              <a:t> initialization and used to provide some initial parameters or configuration information to the servlet. But, the difference lies in the fact that </a:t>
            </a:r>
            <a:r>
              <a:rPr lang="en" sz="1650" b="1" dirty="0">
                <a:solidFill>
                  <a:srgbClr val="273239"/>
                </a:solidFill>
                <a:highlight>
                  <a:srgbClr val="FFFFFF"/>
                </a:highlight>
                <a:latin typeface="Nunito"/>
                <a:ea typeface="Nunito"/>
                <a:cs typeface="Nunito"/>
                <a:sym typeface="Nunito"/>
              </a:rPr>
              <a:t>information shared by ServletConfig is for a specific servlet, while information shared by ServletContext is available for all servlets in the web application.</a:t>
            </a:r>
            <a:endParaRPr sz="1650" b="1" dirty="0">
              <a:solidFill>
                <a:srgbClr val="273239"/>
              </a:solidFill>
              <a:highlight>
                <a:srgbClr val="FFFFFF"/>
              </a:highlight>
              <a:latin typeface="Nunito"/>
              <a:ea typeface="Nunito"/>
              <a:cs typeface="Nunito"/>
              <a:sym typeface="Nunito"/>
            </a:endParaRPr>
          </a:p>
          <a:p>
            <a:pPr marL="0" lvl="0" indent="0" algn="l" rtl="0">
              <a:lnSpc>
                <a:spcPct val="158000"/>
              </a:lnSpc>
              <a:spcBef>
                <a:spcPts val="1200"/>
              </a:spcBef>
              <a:spcAft>
                <a:spcPts val="0"/>
              </a:spcAft>
              <a:buNone/>
            </a:pPr>
            <a:r>
              <a:rPr lang="en" sz="1650" dirty="0">
                <a:solidFill>
                  <a:srgbClr val="273239"/>
                </a:solidFill>
                <a:highlight>
                  <a:srgbClr val="FFFFFF"/>
                </a:highlight>
                <a:latin typeface="Nunito"/>
                <a:ea typeface="Nunito"/>
                <a:cs typeface="Nunito"/>
                <a:sym typeface="Nunito"/>
              </a:rPr>
              <a:t>ServletConfig is an object containing some initial parameters or configuration information created by Servlet Container and passed to the servlet during initialization.</a:t>
            </a:r>
            <a:endParaRPr sz="1650" dirty="0">
              <a:solidFill>
                <a:srgbClr val="273239"/>
              </a:solidFill>
              <a:highlight>
                <a:srgbClr val="FFFFFF"/>
              </a:highlight>
              <a:latin typeface="Nunito"/>
              <a:ea typeface="Nunito"/>
              <a:cs typeface="Nunito"/>
              <a:sym typeface="Nunito"/>
            </a:endParaRPr>
          </a:p>
          <a:p>
            <a:pPr marL="0" lvl="0" indent="0" algn="l" rtl="0">
              <a:spcBef>
                <a:spcPts val="1800"/>
              </a:spcBef>
              <a:spcAft>
                <a:spcPts val="1200"/>
              </a:spcAft>
              <a:buNone/>
            </a:pPr>
            <a:endParaRPr sz="1350" dirty="0">
              <a:solidFill>
                <a:srgbClr val="273239"/>
              </a:solidFill>
              <a:highlight>
                <a:srgbClr val="FFFFFF"/>
              </a:highlight>
              <a:latin typeface="Nunito"/>
              <a:ea typeface="Nunito"/>
              <a:cs typeface="Nunito"/>
              <a:sym typeface="Nunito"/>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1" name="Google Shape;121;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2" name="Google Shape;122;p24"/>
          <p:cNvPicPr preferRelativeResize="0"/>
          <p:nvPr/>
        </p:nvPicPr>
        <p:blipFill>
          <a:blip r:embed="rId3">
            <a:alphaModFix/>
          </a:blip>
          <a:stretch>
            <a:fillRect/>
          </a:stretch>
        </p:blipFill>
        <p:spPr>
          <a:xfrm>
            <a:off x="66975" y="0"/>
            <a:ext cx="9019350" cy="514350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ServletRequest &amp; ServletResponse</a:t>
            </a:r>
            <a:endParaRPr/>
          </a:p>
        </p:txBody>
      </p:sp>
      <p:sp>
        <p:nvSpPr>
          <p:cNvPr id="153" name="Google Shape;15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When Servlet accepts call from client, it receives two objects ServletRequest and ServletResponse</a:t>
            </a:r>
            <a:endParaRPr dirty="0"/>
          </a:p>
          <a:p>
            <a:pPr marL="0" lvl="0" indent="0" algn="l" rtl="0">
              <a:spcBef>
                <a:spcPts val="1200"/>
              </a:spcBef>
              <a:spcAft>
                <a:spcPts val="0"/>
              </a:spcAft>
              <a:buNone/>
            </a:pPr>
            <a:r>
              <a:rPr lang="en" dirty="0"/>
              <a:t>Communication from client to server encapsulated in ServletRequest object</a:t>
            </a:r>
            <a:endParaRPr dirty="0"/>
          </a:p>
          <a:p>
            <a:pPr marL="0" lvl="0" indent="0" algn="l" rtl="0">
              <a:spcBef>
                <a:spcPts val="1200"/>
              </a:spcBef>
              <a:spcAft>
                <a:spcPts val="0"/>
              </a:spcAft>
              <a:buNone/>
            </a:pPr>
            <a:r>
              <a:rPr lang="en" dirty="0"/>
              <a:t>Communication from Servlet back to client encapsulated in ServletResponse object</a:t>
            </a:r>
            <a:endParaRPr dirty="0"/>
          </a:p>
          <a:p>
            <a:pPr marL="0" lvl="0" indent="0" algn="l" rtl="0">
              <a:spcBef>
                <a:spcPts val="1200"/>
              </a:spcBef>
              <a:spcAft>
                <a:spcPts val="1200"/>
              </a:spcAft>
              <a:buNone/>
            </a:pPr>
            <a:r>
              <a:rPr lang="en" b="1" dirty="0"/>
              <a:t>ServletRequest enables servlet to know names of parameters passed by client, protocols (POST / PUT), names of remote host who made the request, server that received it and input stream for reading binary data from request </a:t>
            </a:r>
            <a:endParaRPr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ServletRequest &amp; ServletResponse</a:t>
            </a:r>
            <a:endParaRPr/>
          </a:p>
        </p:txBody>
      </p:sp>
      <p:sp>
        <p:nvSpPr>
          <p:cNvPr id="159" name="Google Shape;159;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HttpServletRequest is subclass of ServletRequest; Contains methods for accessing specific HTTP header information</a:t>
            </a:r>
            <a:endParaRPr dirty="0"/>
          </a:p>
          <a:p>
            <a:pPr marL="0" lvl="0" indent="0" algn="l" rtl="0">
              <a:spcBef>
                <a:spcPts val="1200"/>
              </a:spcBef>
              <a:spcAft>
                <a:spcPts val="0"/>
              </a:spcAft>
              <a:buNone/>
            </a:pPr>
            <a:r>
              <a:rPr lang="en" dirty="0"/>
              <a:t>getAttribute() / getAttributeNames() / getParameter() / getParameterNames()</a:t>
            </a:r>
            <a:endParaRPr dirty="0"/>
          </a:p>
          <a:p>
            <a:pPr marL="0" lvl="0" indent="0" algn="l" rtl="0">
              <a:spcBef>
                <a:spcPts val="1200"/>
              </a:spcBef>
              <a:spcAft>
                <a:spcPts val="0"/>
              </a:spcAft>
              <a:buNone/>
            </a:pPr>
            <a:r>
              <a:rPr lang="en" dirty="0"/>
              <a:t>removeAttribute() / setAttribute()</a:t>
            </a:r>
            <a:endParaRPr dirty="0"/>
          </a:p>
          <a:p>
            <a:pPr marL="0" lvl="0" indent="0" algn="l" rtl="0">
              <a:spcBef>
                <a:spcPts val="1200"/>
              </a:spcBef>
              <a:spcAft>
                <a:spcPts val="0"/>
              </a:spcAft>
              <a:buNone/>
            </a:pPr>
            <a:r>
              <a:rPr lang="en" dirty="0"/>
              <a:t>getServerName() / getServerPort()</a:t>
            </a:r>
            <a:endParaRPr dirty="0"/>
          </a:p>
          <a:p>
            <a:pPr marL="0" lvl="0" indent="0" algn="l" rtl="0">
              <a:spcBef>
                <a:spcPts val="1200"/>
              </a:spcBef>
              <a:spcAft>
                <a:spcPts val="0"/>
              </a:spcAft>
              <a:buNone/>
            </a:pPr>
            <a:r>
              <a:rPr lang="en" dirty="0"/>
              <a:t>ServletResponse enables servlet to set content length and mime type of reply; provides output stream and writer</a:t>
            </a:r>
            <a:endParaRPr dirty="0"/>
          </a:p>
          <a:p>
            <a:pPr marL="0" lvl="0" indent="0" algn="l" rtl="0">
              <a:spcBef>
                <a:spcPts val="1200"/>
              </a:spcBef>
              <a:spcAft>
                <a:spcPts val="0"/>
              </a:spcAft>
              <a:buNone/>
            </a:pPr>
            <a:r>
              <a:rPr lang="en" dirty="0"/>
              <a:t>HttpServletResponse is the subclass of ServletResponse</a:t>
            </a:r>
            <a:endParaRPr dirty="0"/>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ServletRequest &amp; ServletResponse</a:t>
            </a:r>
            <a:endParaRPr/>
          </a:p>
        </p:txBody>
      </p:sp>
      <p:sp>
        <p:nvSpPr>
          <p:cNvPr id="165" name="Google Shape;165;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900" dirty="0">
                <a:solidFill>
                  <a:srgbClr val="188038"/>
                </a:solidFill>
                <a:latin typeface="Roboto Mono"/>
                <a:ea typeface="Roboto Mono"/>
                <a:cs typeface="Roboto Mono"/>
                <a:sym typeface="Roboto Mono"/>
              </a:rPr>
              <a:t>void setContentLength(int len)</a:t>
            </a:r>
            <a:r>
              <a:rPr lang="en" sz="1900" dirty="0">
                <a:solidFill>
                  <a:schemeClr val="dk1"/>
                </a:solidFill>
              </a:rPr>
              <a:t>: It sets the length of the response body.</a:t>
            </a:r>
            <a:endParaRPr sz="1900" dirty="0">
              <a:solidFill>
                <a:schemeClr val="dk1"/>
              </a:solidFill>
            </a:endParaRPr>
          </a:p>
          <a:p>
            <a:pPr marL="0" lvl="0" indent="0" algn="l" rtl="0">
              <a:spcBef>
                <a:spcPts val="1200"/>
              </a:spcBef>
              <a:spcAft>
                <a:spcPts val="0"/>
              </a:spcAft>
              <a:buNone/>
            </a:pPr>
            <a:r>
              <a:rPr lang="en" sz="1900" dirty="0">
                <a:solidFill>
                  <a:srgbClr val="188038"/>
                </a:solidFill>
                <a:latin typeface="Roboto Mono"/>
                <a:ea typeface="Roboto Mono"/>
                <a:cs typeface="Roboto Mono"/>
                <a:sym typeface="Roboto Mono"/>
              </a:rPr>
              <a:t>void reset()</a:t>
            </a:r>
            <a:r>
              <a:rPr lang="en" sz="1900" dirty="0">
                <a:solidFill>
                  <a:schemeClr val="dk1"/>
                </a:solidFill>
              </a:rPr>
              <a:t>: Clears the data of the buffer along with the headers and status code.</a:t>
            </a:r>
            <a:endParaRPr sz="1900" dirty="0">
              <a:solidFill>
                <a:schemeClr val="dk1"/>
              </a:solidFill>
            </a:endParaRPr>
          </a:p>
          <a:p>
            <a:pPr marL="0" lvl="0" indent="0" algn="l" rtl="0">
              <a:spcBef>
                <a:spcPts val="1200"/>
              </a:spcBef>
              <a:spcAft>
                <a:spcPts val="0"/>
              </a:spcAft>
              <a:buNone/>
            </a:pPr>
            <a:r>
              <a:rPr lang="en" sz="1900" dirty="0">
                <a:solidFill>
                  <a:srgbClr val="188038"/>
                </a:solidFill>
                <a:latin typeface="Roboto Mono"/>
                <a:ea typeface="Roboto Mono"/>
                <a:cs typeface="Roboto Mono"/>
                <a:sym typeface="Roboto Mono"/>
              </a:rPr>
              <a:t>java.io.PrintWriter getWriter()</a:t>
            </a:r>
            <a:r>
              <a:rPr lang="en" sz="1900" dirty="0">
                <a:solidFill>
                  <a:schemeClr val="dk1"/>
                </a:solidFill>
              </a:rPr>
              <a:t>: Returns the PrintWriter object.</a:t>
            </a:r>
            <a:endParaRPr sz="1900" dirty="0">
              <a:solidFill>
                <a:schemeClr val="dk1"/>
              </a:solidFill>
            </a:endParaRPr>
          </a:p>
          <a:p>
            <a:pPr marL="0" lvl="0" indent="0" algn="l" rtl="0">
              <a:spcBef>
                <a:spcPts val="1200"/>
              </a:spcBef>
              <a:spcAft>
                <a:spcPts val="0"/>
              </a:spcAft>
              <a:buNone/>
            </a:pPr>
            <a:r>
              <a:rPr lang="en" sz="1900" dirty="0">
                <a:solidFill>
                  <a:schemeClr val="dk1"/>
                </a:solidFill>
              </a:rPr>
              <a:t>getLocale() Returns locale assigned to response</a:t>
            </a:r>
            <a:endParaRPr sz="1900" dirty="0">
              <a:solidFill>
                <a:schemeClr val="dk1"/>
              </a:solidFill>
            </a:endParaRPr>
          </a:p>
          <a:p>
            <a:pPr marL="0" lvl="0" indent="0" algn="l" rtl="0">
              <a:spcBef>
                <a:spcPts val="1200"/>
              </a:spcBef>
              <a:spcAft>
                <a:spcPts val="1200"/>
              </a:spcAft>
              <a:buNone/>
            </a:pPr>
            <a:r>
              <a:rPr lang="en" sz="1900" dirty="0">
                <a:solidFill>
                  <a:schemeClr val="dk1"/>
                </a:solidFill>
              </a:rPr>
              <a:t>setLocale() Sets locale of the response</a:t>
            </a:r>
            <a:endParaRPr sz="1900" dirty="0">
              <a:solidFill>
                <a:schemeClr val="dk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52400"/>
            <a:ext cx="8520600" cy="4416475"/>
          </a:xfrm>
        </p:spPr>
        <p:txBody>
          <a:bodyPr>
            <a:noAutofit/>
          </a:bodyPr>
          <a:lstStyle/>
          <a:p>
            <a:pPr marL="114300" indent="0">
              <a:buNone/>
            </a:pPr>
            <a:r>
              <a:rPr lang="en-IN" sz="1300" b="1" dirty="0"/>
              <a:t>import java.io.*;</a:t>
            </a:r>
          </a:p>
          <a:p>
            <a:pPr marL="114300" indent="0">
              <a:buNone/>
            </a:pPr>
            <a:r>
              <a:rPr lang="en-IN" sz="1300" b="1" dirty="0"/>
              <a:t>import </a:t>
            </a:r>
            <a:r>
              <a:rPr lang="en-IN" sz="1300" b="1" dirty="0" err="1"/>
              <a:t>java.util.Enumeration</a:t>
            </a:r>
            <a:r>
              <a:rPr lang="en-IN" sz="1300" b="1" dirty="0"/>
              <a:t>;</a:t>
            </a:r>
          </a:p>
          <a:p>
            <a:pPr marL="114300" indent="0">
              <a:buNone/>
            </a:pPr>
            <a:r>
              <a:rPr lang="en-IN" sz="1300" b="1" dirty="0"/>
              <a:t>import </a:t>
            </a:r>
            <a:r>
              <a:rPr lang="en-IN" sz="1300" b="1" dirty="0" err="1"/>
              <a:t>javax.servlet</a:t>
            </a:r>
            <a:r>
              <a:rPr lang="en-IN" sz="1300" b="1" dirty="0"/>
              <a:t>.*;</a:t>
            </a:r>
          </a:p>
          <a:p>
            <a:pPr marL="114300" indent="0">
              <a:buNone/>
            </a:pPr>
            <a:r>
              <a:rPr lang="en-IN" sz="1300" b="1" dirty="0"/>
              <a:t>import </a:t>
            </a:r>
            <a:r>
              <a:rPr lang="en-IN" sz="1300" b="1" dirty="0" err="1"/>
              <a:t>javax.servlet.http</a:t>
            </a:r>
            <a:r>
              <a:rPr lang="en-IN" sz="1300" b="1" dirty="0"/>
              <a:t>.*;</a:t>
            </a:r>
          </a:p>
          <a:p>
            <a:pPr marL="114300" indent="0">
              <a:buNone/>
            </a:pPr>
            <a:r>
              <a:rPr lang="en-IN" sz="1300" b="1" dirty="0" smtClean="0"/>
              <a:t>public </a:t>
            </a:r>
            <a:r>
              <a:rPr lang="en-IN" sz="1300" b="1" dirty="0"/>
              <a:t>class </a:t>
            </a:r>
            <a:r>
              <a:rPr lang="en-IN" sz="1300" b="1" dirty="0" err="1"/>
              <a:t>SimpleServlet</a:t>
            </a:r>
            <a:r>
              <a:rPr lang="en-IN" sz="1300" b="1" dirty="0"/>
              <a:t> extends </a:t>
            </a:r>
            <a:r>
              <a:rPr lang="en-IN" sz="1300" b="1" dirty="0" err="1"/>
              <a:t>HttpServlet</a:t>
            </a:r>
            <a:r>
              <a:rPr lang="en-IN" sz="1300" b="1" dirty="0"/>
              <a:t> </a:t>
            </a:r>
            <a:r>
              <a:rPr lang="en-IN" sz="1300" b="1" dirty="0" smtClean="0"/>
              <a:t>{</a:t>
            </a:r>
            <a:endParaRPr lang="en-IN" sz="1300" b="1" dirty="0"/>
          </a:p>
          <a:p>
            <a:pPr marL="114300" indent="0">
              <a:buNone/>
            </a:pPr>
            <a:r>
              <a:rPr lang="en-IN" sz="1300" b="1" dirty="0"/>
              <a:t>    protected void </a:t>
            </a:r>
            <a:r>
              <a:rPr lang="en-IN" sz="1300" b="1" dirty="0" err="1"/>
              <a:t>doGet</a:t>
            </a:r>
            <a:r>
              <a:rPr lang="en-IN" sz="1300" b="1" dirty="0"/>
              <a:t>(</a:t>
            </a:r>
            <a:r>
              <a:rPr lang="en-IN" sz="1300" b="1" dirty="0" err="1"/>
              <a:t>HttpServletRequest</a:t>
            </a:r>
            <a:r>
              <a:rPr lang="en-IN" sz="1300" b="1" dirty="0"/>
              <a:t> request, </a:t>
            </a:r>
            <a:r>
              <a:rPr lang="en-IN" sz="1300" b="1" dirty="0" err="1"/>
              <a:t>HttpServletResponse</a:t>
            </a:r>
            <a:r>
              <a:rPr lang="en-IN" sz="1300" b="1" dirty="0"/>
              <a:t> response</a:t>
            </a:r>
            <a:r>
              <a:rPr lang="en-IN" sz="1300" b="1" dirty="0" smtClean="0"/>
              <a:t>)             </a:t>
            </a:r>
            <a:r>
              <a:rPr lang="en-IN" sz="1300" b="1" dirty="0"/>
              <a:t>throws </a:t>
            </a:r>
            <a:r>
              <a:rPr lang="en-IN" sz="1300" b="1" dirty="0" err="1"/>
              <a:t>ServletException</a:t>
            </a:r>
            <a:r>
              <a:rPr lang="en-IN" sz="1300" b="1" dirty="0"/>
              <a:t>, </a:t>
            </a:r>
            <a:r>
              <a:rPr lang="en-IN" sz="1300" b="1" dirty="0" err="1"/>
              <a:t>IOException</a:t>
            </a:r>
            <a:r>
              <a:rPr lang="en-IN" sz="1300" b="1" dirty="0"/>
              <a:t> </a:t>
            </a:r>
            <a:r>
              <a:rPr lang="en-IN" sz="1300" b="1" dirty="0" smtClean="0"/>
              <a:t>{</a:t>
            </a:r>
            <a:endParaRPr lang="en-IN" sz="1300" b="1" dirty="0"/>
          </a:p>
          <a:p>
            <a:pPr marL="114300" indent="0">
              <a:buNone/>
            </a:pPr>
            <a:r>
              <a:rPr lang="en-IN" sz="1300" b="1" dirty="0"/>
              <a:t>        </a:t>
            </a:r>
            <a:r>
              <a:rPr lang="en-IN" sz="1300" b="1" dirty="0" err="1"/>
              <a:t>response.setContentType</a:t>
            </a:r>
            <a:r>
              <a:rPr lang="en-IN" sz="1300" b="1" dirty="0"/>
              <a:t>("text/html</a:t>
            </a:r>
            <a:r>
              <a:rPr lang="en-IN" sz="1300" b="1" dirty="0" smtClean="0"/>
              <a:t>"); </a:t>
            </a:r>
            <a:r>
              <a:rPr lang="en-IN" sz="1300" b="1" dirty="0" err="1"/>
              <a:t>PrintWriter</a:t>
            </a:r>
            <a:r>
              <a:rPr lang="en-IN" sz="1300" b="1" dirty="0"/>
              <a:t> out = </a:t>
            </a:r>
            <a:r>
              <a:rPr lang="en-IN" sz="1300" b="1" dirty="0" err="1"/>
              <a:t>response.getWriter</a:t>
            </a:r>
            <a:r>
              <a:rPr lang="en-IN" sz="1300" b="1" dirty="0" smtClean="0"/>
              <a:t>();</a:t>
            </a:r>
            <a:endParaRPr lang="en-IN" sz="1300" b="1" dirty="0"/>
          </a:p>
          <a:p>
            <a:pPr marL="114300" indent="0">
              <a:buNone/>
            </a:pPr>
            <a:r>
              <a:rPr lang="en-IN" sz="1300" b="1" dirty="0"/>
              <a:t>        </a:t>
            </a:r>
            <a:r>
              <a:rPr lang="en-IN" sz="1300" b="1" dirty="0" err="1"/>
              <a:t>request.setAttribute</a:t>
            </a:r>
            <a:r>
              <a:rPr lang="en-IN" sz="1300" b="1" dirty="0"/>
              <a:t>("username", "</a:t>
            </a:r>
            <a:r>
              <a:rPr lang="en-IN" sz="1300" b="1" dirty="0" err="1"/>
              <a:t>JohnDoe</a:t>
            </a:r>
            <a:r>
              <a:rPr lang="en-IN" sz="1300" b="1" dirty="0"/>
              <a:t>");</a:t>
            </a:r>
          </a:p>
          <a:p>
            <a:pPr marL="114300" indent="0">
              <a:buNone/>
            </a:pPr>
            <a:r>
              <a:rPr lang="en-IN" sz="1300" b="1" dirty="0"/>
              <a:t>        String username = (String) </a:t>
            </a:r>
            <a:r>
              <a:rPr lang="en-IN" sz="1300" b="1" dirty="0" err="1"/>
              <a:t>request.getAttribute</a:t>
            </a:r>
            <a:r>
              <a:rPr lang="en-IN" sz="1300" b="1" dirty="0"/>
              <a:t>("username</a:t>
            </a:r>
            <a:r>
              <a:rPr lang="en-IN" sz="1300" b="1" dirty="0" smtClean="0"/>
              <a:t>"); </a:t>
            </a:r>
            <a:r>
              <a:rPr lang="en-IN" sz="1300" b="1" dirty="0" err="1" smtClean="0"/>
              <a:t>out.println</a:t>
            </a:r>
            <a:r>
              <a:rPr lang="en-IN" sz="1300" b="1" dirty="0"/>
              <a:t>("&lt;h3&gt;Attributes:&lt;/h3</a:t>
            </a:r>
            <a:r>
              <a:rPr lang="en-IN" sz="1300" b="1" dirty="0" smtClean="0"/>
              <a:t>&gt;");</a:t>
            </a:r>
          </a:p>
          <a:p>
            <a:pPr marL="114300" indent="0">
              <a:buNone/>
            </a:pPr>
            <a:r>
              <a:rPr lang="en-IN" sz="1300" b="1" dirty="0" smtClean="0"/>
              <a:t>      Enumeration&lt;String</a:t>
            </a:r>
            <a:r>
              <a:rPr lang="en-IN" sz="1300" b="1" dirty="0"/>
              <a:t>&gt; </a:t>
            </a:r>
            <a:r>
              <a:rPr lang="en-IN" sz="1300" b="1" dirty="0" err="1"/>
              <a:t>attrNames</a:t>
            </a:r>
            <a:r>
              <a:rPr lang="en-IN" sz="1300" b="1" dirty="0"/>
              <a:t> </a:t>
            </a:r>
            <a:r>
              <a:rPr lang="en-IN" sz="1300" b="1" dirty="0" smtClean="0"/>
              <a:t>= </a:t>
            </a:r>
            <a:r>
              <a:rPr lang="en-IN" sz="1300" b="1" dirty="0" err="1" smtClean="0"/>
              <a:t>request.getAttributeNames</a:t>
            </a:r>
            <a:r>
              <a:rPr lang="en-IN" sz="1300" b="1" dirty="0"/>
              <a:t>();</a:t>
            </a:r>
          </a:p>
          <a:p>
            <a:pPr marL="114300" indent="0">
              <a:buNone/>
            </a:pPr>
            <a:r>
              <a:rPr lang="en-IN" sz="1300" b="1" dirty="0"/>
              <a:t>        while (</a:t>
            </a:r>
            <a:r>
              <a:rPr lang="en-IN" sz="1300" b="1" dirty="0" err="1"/>
              <a:t>attrNames.hasMoreElements</a:t>
            </a:r>
            <a:r>
              <a:rPr lang="en-IN" sz="1300" b="1" dirty="0"/>
              <a:t>()) </a:t>
            </a:r>
            <a:r>
              <a:rPr lang="en-IN" sz="1300" b="1" dirty="0" smtClean="0"/>
              <a:t>{ String </a:t>
            </a:r>
            <a:r>
              <a:rPr lang="en-IN" sz="1300" b="1" dirty="0" err="1"/>
              <a:t>attrName</a:t>
            </a:r>
            <a:r>
              <a:rPr lang="en-IN" sz="1300" b="1" dirty="0"/>
              <a:t> = </a:t>
            </a:r>
            <a:r>
              <a:rPr lang="en-IN" sz="1300" b="1" dirty="0" err="1"/>
              <a:t>attrNames.nextElement</a:t>
            </a:r>
            <a:r>
              <a:rPr lang="en-IN" sz="1300" b="1" dirty="0"/>
              <a:t>();</a:t>
            </a:r>
          </a:p>
          <a:p>
            <a:pPr marL="114300" indent="0">
              <a:buNone/>
            </a:pPr>
            <a:r>
              <a:rPr lang="en-IN" sz="1300" b="1" dirty="0"/>
              <a:t>            </a:t>
            </a:r>
            <a:r>
              <a:rPr lang="en-IN" sz="1300" b="1" dirty="0" err="1"/>
              <a:t>out.println</a:t>
            </a:r>
            <a:r>
              <a:rPr lang="en-IN" sz="1300" b="1" dirty="0"/>
              <a:t>(</a:t>
            </a:r>
            <a:r>
              <a:rPr lang="en-IN" sz="1300" b="1" dirty="0" err="1"/>
              <a:t>attrName</a:t>
            </a:r>
            <a:r>
              <a:rPr lang="en-IN" sz="1300" b="1" dirty="0"/>
              <a:t> + " = " + </a:t>
            </a:r>
            <a:r>
              <a:rPr lang="en-IN" sz="1300" b="1" dirty="0" err="1"/>
              <a:t>request.getAttribute</a:t>
            </a:r>
            <a:r>
              <a:rPr lang="en-IN" sz="1300" b="1" dirty="0"/>
              <a:t>(</a:t>
            </a:r>
            <a:r>
              <a:rPr lang="en-IN" sz="1300" b="1" dirty="0" err="1"/>
              <a:t>attrName</a:t>
            </a:r>
            <a:r>
              <a:rPr lang="en-IN" sz="1300" b="1" dirty="0"/>
              <a:t>) + "&lt;</a:t>
            </a:r>
            <a:r>
              <a:rPr lang="en-IN" sz="1300" b="1" dirty="0" err="1"/>
              <a:t>br</a:t>
            </a:r>
            <a:r>
              <a:rPr lang="en-IN" sz="1300" b="1" dirty="0" smtClean="0"/>
              <a:t>&gt;");        </a:t>
            </a:r>
            <a:r>
              <a:rPr lang="en-IN" sz="1300" b="1" dirty="0"/>
              <a:t>}</a:t>
            </a:r>
          </a:p>
          <a:p>
            <a:pPr marL="114300" indent="0">
              <a:buNone/>
            </a:pPr>
            <a:r>
              <a:rPr lang="en-IN" sz="1300" b="1" dirty="0" err="1" smtClean="0"/>
              <a:t>request.removeAttribute</a:t>
            </a:r>
            <a:r>
              <a:rPr lang="en-IN" sz="1300" b="1" dirty="0"/>
              <a:t>("username</a:t>
            </a:r>
            <a:r>
              <a:rPr lang="en-IN" sz="1300" b="1" dirty="0" smtClean="0"/>
              <a:t>");String </a:t>
            </a:r>
            <a:r>
              <a:rPr lang="en-IN" sz="1300" b="1" dirty="0" err="1"/>
              <a:t>nameParam</a:t>
            </a:r>
            <a:r>
              <a:rPr lang="en-IN" sz="1300" b="1" dirty="0"/>
              <a:t> = </a:t>
            </a:r>
            <a:r>
              <a:rPr lang="en-IN" sz="1300" b="1" dirty="0" err="1"/>
              <a:t>request.getParameter</a:t>
            </a:r>
            <a:r>
              <a:rPr lang="en-IN" sz="1300" b="1" dirty="0"/>
              <a:t>("name</a:t>
            </a:r>
            <a:r>
              <a:rPr lang="en-IN" sz="1300" b="1" dirty="0" smtClean="0"/>
              <a:t>");</a:t>
            </a:r>
            <a:endParaRPr lang="en-IN" sz="1300" b="1" dirty="0"/>
          </a:p>
          <a:p>
            <a:pPr marL="114300" indent="0">
              <a:buNone/>
            </a:pPr>
            <a:r>
              <a:rPr lang="en-IN" sz="1300" b="1" dirty="0"/>
              <a:t>        </a:t>
            </a:r>
            <a:r>
              <a:rPr lang="en-IN" sz="1300" b="1" dirty="0" err="1"/>
              <a:t>out.println</a:t>
            </a:r>
            <a:r>
              <a:rPr lang="en-IN" sz="1300" b="1" dirty="0"/>
              <a:t>("&lt;h3&gt;Parameters:&lt;/h3</a:t>
            </a:r>
            <a:r>
              <a:rPr lang="en-IN" sz="1300" b="1" dirty="0" smtClean="0"/>
              <a:t>&gt;");  </a:t>
            </a:r>
            <a:r>
              <a:rPr lang="en-IN" sz="1300" b="1" dirty="0" err="1"/>
              <a:t>out.println</a:t>
            </a:r>
            <a:r>
              <a:rPr lang="en-IN" sz="1300" b="1" dirty="0"/>
              <a:t>("name = " + </a:t>
            </a:r>
            <a:r>
              <a:rPr lang="en-IN" sz="1300" b="1" dirty="0" err="1"/>
              <a:t>nameParam</a:t>
            </a:r>
            <a:r>
              <a:rPr lang="en-IN" sz="1300" b="1" dirty="0"/>
              <a:t> + "&lt;</a:t>
            </a:r>
            <a:r>
              <a:rPr lang="en-IN" sz="1300" b="1" dirty="0" err="1"/>
              <a:t>br</a:t>
            </a:r>
            <a:r>
              <a:rPr lang="en-IN" sz="1300" b="1" dirty="0" smtClean="0"/>
              <a:t>&gt;");</a:t>
            </a:r>
            <a:endParaRPr lang="en-IN" sz="1300" b="1" dirty="0"/>
          </a:p>
          <a:p>
            <a:pPr marL="114300" indent="0">
              <a:buNone/>
            </a:pPr>
            <a:r>
              <a:rPr lang="en-IN" sz="1300" b="1" dirty="0" smtClean="0"/>
              <a:t>Enumeration&lt;String</a:t>
            </a:r>
            <a:r>
              <a:rPr lang="en-IN" sz="1300" b="1" dirty="0"/>
              <a:t>&gt; </a:t>
            </a:r>
            <a:r>
              <a:rPr lang="en-IN" sz="1300" b="1" dirty="0" err="1"/>
              <a:t>paramNames</a:t>
            </a:r>
            <a:r>
              <a:rPr lang="en-IN" sz="1300" b="1" dirty="0"/>
              <a:t> = </a:t>
            </a:r>
            <a:r>
              <a:rPr lang="en-IN" sz="1300" b="1" dirty="0" err="1"/>
              <a:t>request.getParameterNames</a:t>
            </a:r>
            <a:r>
              <a:rPr lang="en-IN" sz="1300" b="1" dirty="0"/>
              <a:t>();</a:t>
            </a:r>
          </a:p>
          <a:p>
            <a:pPr marL="114300" indent="0">
              <a:buNone/>
            </a:pPr>
            <a:r>
              <a:rPr lang="en-IN" sz="1300" b="1" dirty="0"/>
              <a:t>        while (</a:t>
            </a:r>
            <a:r>
              <a:rPr lang="en-IN" sz="1300" b="1" dirty="0" err="1"/>
              <a:t>paramNames.hasMoreElements</a:t>
            </a:r>
            <a:r>
              <a:rPr lang="en-IN" sz="1300" b="1" dirty="0"/>
              <a:t>()) </a:t>
            </a:r>
            <a:r>
              <a:rPr lang="en-IN" sz="1300" b="1" dirty="0" smtClean="0"/>
              <a:t>{ </a:t>
            </a:r>
            <a:r>
              <a:rPr lang="en-IN" sz="1300" b="1" dirty="0"/>
              <a:t>String </a:t>
            </a:r>
            <a:r>
              <a:rPr lang="en-IN" sz="1300" b="1" dirty="0" err="1"/>
              <a:t>paramName</a:t>
            </a:r>
            <a:r>
              <a:rPr lang="en-IN" sz="1300" b="1" dirty="0"/>
              <a:t> = </a:t>
            </a:r>
            <a:r>
              <a:rPr lang="en-IN" sz="1300" b="1" dirty="0" err="1"/>
              <a:t>paramNames.nextElement</a:t>
            </a:r>
            <a:r>
              <a:rPr lang="en-IN" sz="1300" b="1" dirty="0"/>
              <a:t>();</a:t>
            </a:r>
          </a:p>
          <a:p>
            <a:pPr marL="114300" indent="0">
              <a:buNone/>
            </a:pPr>
            <a:r>
              <a:rPr lang="en-IN" sz="1300" b="1" dirty="0"/>
              <a:t>            </a:t>
            </a:r>
            <a:r>
              <a:rPr lang="en-IN" sz="1300" b="1" dirty="0" err="1"/>
              <a:t>out.println</a:t>
            </a:r>
            <a:r>
              <a:rPr lang="en-IN" sz="1300" b="1" dirty="0"/>
              <a:t>(</a:t>
            </a:r>
            <a:r>
              <a:rPr lang="en-IN" sz="1300" b="1" dirty="0" err="1"/>
              <a:t>paramName</a:t>
            </a:r>
            <a:r>
              <a:rPr lang="en-IN" sz="1300" b="1" dirty="0"/>
              <a:t> + " = " + </a:t>
            </a:r>
            <a:r>
              <a:rPr lang="en-IN" sz="1300" b="1" dirty="0" err="1"/>
              <a:t>request.getParameter</a:t>
            </a:r>
            <a:r>
              <a:rPr lang="en-IN" sz="1300" b="1" dirty="0"/>
              <a:t>(</a:t>
            </a:r>
            <a:r>
              <a:rPr lang="en-IN" sz="1300" b="1" dirty="0" err="1"/>
              <a:t>paramName</a:t>
            </a:r>
            <a:r>
              <a:rPr lang="en-IN" sz="1300" b="1" dirty="0"/>
              <a:t>) + "&lt;</a:t>
            </a:r>
            <a:r>
              <a:rPr lang="en-IN" sz="1300" b="1" dirty="0" err="1"/>
              <a:t>br</a:t>
            </a:r>
            <a:r>
              <a:rPr lang="en-IN" sz="1300" b="1" dirty="0" smtClean="0"/>
              <a:t>&gt;");        }</a:t>
            </a:r>
            <a:endParaRPr lang="en-IN" sz="1300" b="1" dirty="0"/>
          </a:p>
          <a:p>
            <a:pPr marL="114300" indent="0">
              <a:buNone/>
            </a:pPr>
            <a:r>
              <a:rPr lang="en-IN" sz="1300" b="1" dirty="0" err="1" smtClean="0"/>
              <a:t>out.println</a:t>
            </a:r>
            <a:r>
              <a:rPr lang="en-IN" sz="1300" b="1" dirty="0"/>
              <a:t>("&lt;h3&gt;Server Info:&lt;/h3</a:t>
            </a:r>
            <a:r>
              <a:rPr lang="en-IN" sz="1300" b="1" dirty="0" smtClean="0"/>
              <a:t>&gt;");  </a:t>
            </a:r>
            <a:r>
              <a:rPr lang="en-IN" sz="1300" b="1" dirty="0" err="1"/>
              <a:t>out.println</a:t>
            </a:r>
            <a:r>
              <a:rPr lang="en-IN" sz="1300" b="1" dirty="0"/>
              <a:t>("Server Name: " + </a:t>
            </a:r>
            <a:r>
              <a:rPr lang="en-IN" sz="1300" b="1" dirty="0" err="1"/>
              <a:t>request.getServerName</a:t>
            </a:r>
            <a:r>
              <a:rPr lang="en-IN" sz="1300" b="1" dirty="0"/>
              <a:t>() + "&lt;</a:t>
            </a:r>
            <a:r>
              <a:rPr lang="en-IN" sz="1300" b="1" dirty="0" err="1"/>
              <a:t>br</a:t>
            </a:r>
            <a:r>
              <a:rPr lang="en-IN" sz="1300" b="1" dirty="0"/>
              <a:t>&gt;");</a:t>
            </a:r>
          </a:p>
          <a:p>
            <a:pPr marL="114300" indent="0">
              <a:buNone/>
            </a:pPr>
            <a:r>
              <a:rPr lang="en-IN" sz="1300" b="1" dirty="0"/>
              <a:t>        </a:t>
            </a:r>
            <a:r>
              <a:rPr lang="en-IN" sz="1300" b="1" dirty="0" err="1"/>
              <a:t>out.println</a:t>
            </a:r>
            <a:r>
              <a:rPr lang="en-IN" sz="1300" b="1" dirty="0"/>
              <a:t>("Server Port: " + </a:t>
            </a:r>
            <a:r>
              <a:rPr lang="en-IN" sz="1300" b="1" dirty="0" err="1"/>
              <a:t>request.getServerPort</a:t>
            </a:r>
            <a:r>
              <a:rPr lang="en-IN" sz="1300" b="1" dirty="0"/>
              <a:t>() + "&lt;</a:t>
            </a:r>
            <a:r>
              <a:rPr lang="en-IN" sz="1300" b="1" dirty="0" err="1"/>
              <a:t>br</a:t>
            </a:r>
            <a:r>
              <a:rPr lang="en-IN" sz="1300" b="1" dirty="0"/>
              <a:t>&gt;");</a:t>
            </a:r>
          </a:p>
          <a:p>
            <a:pPr marL="114300" indent="0">
              <a:buNone/>
            </a:pPr>
            <a:r>
              <a:rPr lang="en-IN" sz="1300" b="1" dirty="0"/>
              <a:t>    </a:t>
            </a:r>
            <a:r>
              <a:rPr lang="en-IN" sz="1300" b="1" dirty="0" smtClean="0"/>
              <a:t>}}</a:t>
            </a:r>
            <a:endParaRPr lang="en-IN" sz="1300" b="1" dirty="0"/>
          </a:p>
          <a:p>
            <a:pPr marL="114300" indent="0">
              <a:buNone/>
            </a:pPr>
            <a:endParaRPr lang="en-IN" sz="1300" b="1" dirty="0"/>
          </a:p>
        </p:txBody>
      </p:sp>
    </p:spTree>
    <p:extLst>
      <p:ext uri="{BB962C8B-B14F-4D97-AF65-F5344CB8AC3E}">
        <p14:creationId xmlns:p14="http://schemas.microsoft.com/office/powerpoint/2010/main" val="33741684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Generic Servlet Class &amp; ServletInput/Output Stream</a:t>
            </a:r>
            <a:endParaRPr/>
          </a:p>
        </p:txBody>
      </p:sp>
      <p:sp>
        <p:nvSpPr>
          <p:cNvPr id="171" name="Google Shape;171;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929" dirty="0"/>
              <a:t>Provides basic implementation of Servlet interface. Implements ServletConfig.</a:t>
            </a:r>
            <a:endParaRPr sz="1929" dirty="0"/>
          </a:p>
          <a:p>
            <a:pPr marL="0" lvl="0" indent="0" algn="l" rtl="0">
              <a:lnSpc>
                <a:spcPct val="95000"/>
              </a:lnSpc>
              <a:spcBef>
                <a:spcPts val="1200"/>
              </a:spcBef>
              <a:spcAft>
                <a:spcPts val="0"/>
              </a:spcAft>
              <a:buSzPts val="935"/>
              <a:buNone/>
            </a:pPr>
            <a:r>
              <a:rPr lang="en" sz="1929" dirty="0"/>
              <a:t>Can be extended directly by Servlet</a:t>
            </a:r>
            <a:endParaRPr sz="1929" dirty="0"/>
          </a:p>
          <a:p>
            <a:pPr marL="0" lvl="0" indent="0" algn="l" rtl="0">
              <a:lnSpc>
                <a:spcPct val="95000"/>
              </a:lnSpc>
              <a:spcBef>
                <a:spcPts val="1200"/>
              </a:spcBef>
              <a:spcAft>
                <a:spcPts val="0"/>
              </a:spcAft>
              <a:buSzPts val="935"/>
              <a:buNone/>
            </a:pPr>
            <a:r>
              <a:rPr lang="en" sz="1929" dirty="0"/>
              <a:t>ServletInputStream : Provides input stream for reading binary data from a client request. Returned by getInputStream() of ServletRequest.</a:t>
            </a:r>
            <a:endParaRPr sz="1929" dirty="0"/>
          </a:p>
          <a:p>
            <a:pPr marL="0" lvl="0" indent="0" algn="l" rtl="0">
              <a:lnSpc>
                <a:spcPct val="95000"/>
              </a:lnSpc>
              <a:spcBef>
                <a:spcPts val="1200"/>
              </a:spcBef>
              <a:spcAft>
                <a:spcPts val="0"/>
              </a:spcAft>
              <a:buClr>
                <a:schemeClr val="dk1"/>
              </a:buClr>
              <a:buSzPts val="935"/>
              <a:buFont typeface="Arial"/>
              <a:buNone/>
            </a:pPr>
            <a:r>
              <a:rPr lang="en" sz="1335" u="sng" dirty="0">
                <a:solidFill>
                  <a:schemeClr val="hlink"/>
                </a:solidFill>
                <a:latin typeface="Roboto Mono"/>
                <a:ea typeface="Roboto Mono"/>
                <a:cs typeface="Roboto Mono"/>
                <a:sym typeface="Roboto Mono"/>
                <a:hlinkClick r:id="rId3"/>
              </a:rPr>
              <a:t>readLine</a:t>
            </a:r>
            <a:r>
              <a:rPr lang="en" sz="1335" dirty="0">
                <a:solidFill>
                  <a:srgbClr val="188038"/>
                </a:solidFill>
                <a:latin typeface="Roboto Mono"/>
                <a:ea typeface="Roboto Mono"/>
                <a:cs typeface="Roboto Mono"/>
                <a:sym typeface="Roboto Mono"/>
              </a:rPr>
              <a:t>(byte[] b, int off, int len) : </a:t>
            </a:r>
            <a:r>
              <a:rPr lang="en" sz="1335" dirty="0">
                <a:solidFill>
                  <a:schemeClr val="dk1"/>
                </a:solidFill>
              </a:rPr>
              <a:t>Reads the input stream, one line at a time.</a:t>
            </a:r>
            <a:endParaRPr sz="1335" dirty="0">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 sz="1335" u="sng" dirty="0">
                <a:solidFill>
                  <a:schemeClr val="hlink"/>
                </a:solidFill>
                <a:latin typeface="Roboto Mono"/>
                <a:ea typeface="Roboto Mono"/>
                <a:cs typeface="Roboto Mono"/>
                <a:sym typeface="Roboto Mono"/>
                <a:hlinkClick r:id="rId4"/>
              </a:rPr>
              <a:t>isFinished</a:t>
            </a:r>
            <a:r>
              <a:rPr lang="en" sz="1335" dirty="0">
                <a:solidFill>
                  <a:srgbClr val="188038"/>
                </a:solidFill>
                <a:latin typeface="Roboto Mono"/>
                <a:ea typeface="Roboto Mono"/>
                <a:cs typeface="Roboto Mono"/>
                <a:sym typeface="Roboto Mono"/>
              </a:rPr>
              <a:t>(): </a:t>
            </a:r>
            <a:r>
              <a:rPr lang="en" sz="1335" dirty="0">
                <a:solidFill>
                  <a:schemeClr val="dk1"/>
                </a:solidFill>
              </a:rPr>
              <a:t>Has the end of this InputStream been reached?</a:t>
            </a:r>
            <a:endParaRPr sz="1335" dirty="0">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 sz="1335" u="sng" dirty="0">
                <a:solidFill>
                  <a:schemeClr val="hlink"/>
                </a:solidFill>
                <a:latin typeface="Roboto Mono"/>
                <a:ea typeface="Roboto Mono"/>
                <a:cs typeface="Roboto Mono"/>
                <a:sym typeface="Roboto Mono"/>
                <a:hlinkClick r:id="rId5"/>
              </a:rPr>
              <a:t>isReady</a:t>
            </a:r>
            <a:r>
              <a:rPr lang="en" sz="1335" dirty="0">
                <a:solidFill>
                  <a:srgbClr val="188038"/>
                </a:solidFill>
                <a:latin typeface="Roboto Mono"/>
                <a:ea typeface="Roboto Mono"/>
                <a:cs typeface="Roboto Mono"/>
                <a:sym typeface="Roboto Mono"/>
              </a:rPr>
              <a:t>(): </a:t>
            </a:r>
            <a:r>
              <a:rPr lang="en" sz="1335" dirty="0">
                <a:solidFill>
                  <a:schemeClr val="dk1"/>
                </a:solidFill>
              </a:rPr>
              <a:t>Returns </a:t>
            </a:r>
            <a:r>
              <a:rPr lang="en" sz="1335" dirty="0">
                <a:solidFill>
                  <a:srgbClr val="188038"/>
                </a:solidFill>
                <a:latin typeface="Roboto Mono"/>
                <a:ea typeface="Roboto Mono"/>
                <a:cs typeface="Roboto Mono"/>
                <a:sym typeface="Roboto Mono"/>
              </a:rPr>
              <a:t>true</a:t>
            </a:r>
            <a:r>
              <a:rPr lang="en" sz="1335" dirty="0">
                <a:solidFill>
                  <a:schemeClr val="dk1"/>
                </a:solidFill>
              </a:rPr>
              <a:t> if it is allowable to call a </a:t>
            </a:r>
            <a:r>
              <a:rPr lang="en" sz="1335" dirty="0">
                <a:solidFill>
                  <a:srgbClr val="188038"/>
                </a:solidFill>
                <a:latin typeface="Roboto Mono"/>
                <a:ea typeface="Roboto Mono"/>
                <a:cs typeface="Roboto Mono"/>
                <a:sym typeface="Roboto Mono"/>
              </a:rPr>
              <a:t>read()</a:t>
            </a:r>
            <a:r>
              <a:rPr lang="en" sz="1335" dirty="0">
                <a:solidFill>
                  <a:schemeClr val="dk1"/>
                </a:solidFill>
              </a:rPr>
              <a:t> method.</a:t>
            </a:r>
            <a:endParaRPr sz="1335" dirty="0">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 sz="1335" u="sng" dirty="0">
                <a:solidFill>
                  <a:schemeClr val="hlink"/>
                </a:solidFill>
                <a:latin typeface="Roboto Mono"/>
                <a:ea typeface="Roboto Mono"/>
                <a:cs typeface="Roboto Mono"/>
                <a:sym typeface="Roboto Mono"/>
                <a:hlinkClick r:id="rId6"/>
              </a:rPr>
              <a:t>setReadListener</a:t>
            </a:r>
            <a:r>
              <a:rPr lang="en" sz="1335" dirty="0">
                <a:solidFill>
                  <a:srgbClr val="188038"/>
                </a:solidFill>
                <a:latin typeface="Roboto Mono"/>
                <a:ea typeface="Roboto Mono"/>
                <a:cs typeface="Roboto Mono"/>
                <a:sym typeface="Roboto Mono"/>
              </a:rPr>
              <a:t>(</a:t>
            </a:r>
            <a:r>
              <a:rPr lang="en" sz="1335" u="sng" dirty="0">
                <a:solidFill>
                  <a:schemeClr val="hlink"/>
                </a:solidFill>
                <a:latin typeface="Roboto Mono"/>
                <a:ea typeface="Roboto Mono"/>
                <a:cs typeface="Roboto Mono"/>
                <a:sym typeface="Roboto Mono"/>
                <a:hlinkClick r:id="rId7"/>
              </a:rPr>
              <a:t>ReadListener</a:t>
            </a:r>
            <a:r>
              <a:rPr lang="en" sz="1335" dirty="0">
                <a:solidFill>
                  <a:srgbClr val="188038"/>
                </a:solidFill>
                <a:latin typeface="Roboto Mono"/>
                <a:ea typeface="Roboto Mono"/>
                <a:cs typeface="Roboto Mono"/>
                <a:sym typeface="Roboto Mono"/>
              </a:rPr>
              <a:t> listener): </a:t>
            </a:r>
            <a:r>
              <a:rPr lang="en" sz="1335" dirty="0">
                <a:solidFill>
                  <a:schemeClr val="dk1"/>
                </a:solidFill>
              </a:rPr>
              <a:t>Sets the</a:t>
            </a:r>
            <a:r>
              <a:rPr lang="en" sz="1335" dirty="0">
                <a:solidFill>
                  <a:schemeClr val="dk1"/>
                </a:solidFill>
                <a:uFill>
                  <a:noFill/>
                </a:uFill>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335" u="sng" dirty="0">
                <a:solidFill>
                  <a:srgbClr val="0000EE"/>
                </a:solidFill>
                <a:latin typeface="Roboto Mono"/>
                <a:ea typeface="Roboto Mono"/>
                <a:cs typeface="Roboto Mono"/>
                <a:sym typeface="Roboto Mon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ReadListener</a:t>
            </a:r>
            <a:r>
              <a:rPr lang="en" sz="1335" dirty="0">
                <a:solidFill>
                  <a:schemeClr val="dk1"/>
                </a:solidFill>
              </a:rPr>
              <a:t> for this</a:t>
            </a:r>
            <a:r>
              <a:rPr lang="en" sz="1335" dirty="0">
                <a:solidFill>
                  <a:schemeClr val="dk1"/>
                </a:solidFill>
                <a:uFill>
                  <a:noFill/>
                </a:uFill>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335" u="sng" dirty="0">
                <a:solidFill>
                  <a:srgbClr val="0000EE"/>
                </a:solidFill>
                <a:latin typeface="Roboto Mono"/>
                <a:ea typeface="Roboto Mono"/>
                <a:cs typeface="Roboto Mono"/>
                <a:sym typeface="Roboto Mono"/>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ServletInputStream</a:t>
            </a:r>
            <a:r>
              <a:rPr lang="en" sz="1335" dirty="0">
                <a:solidFill>
                  <a:schemeClr val="dk1"/>
                </a:solidFill>
              </a:rPr>
              <a:t> and thereby switches to non-blocking IO.</a:t>
            </a:r>
            <a:endParaRPr sz="1335" dirty="0">
              <a:solidFill>
                <a:schemeClr val="dk1"/>
              </a:solidFill>
            </a:endParaRPr>
          </a:p>
          <a:p>
            <a:pPr marL="0" lvl="0" indent="0" algn="l" rtl="0">
              <a:lnSpc>
                <a:spcPct val="95000"/>
              </a:lnSpc>
              <a:spcBef>
                <a:spcPts val="1200"/>
              </a:spcBef>
              <a:spcAft>
                <a:spcPts val="0"/>
              </a:spcAft>
              <a:buSzPts val="935"/>
              <a:buNone/>
            </a:pPr>
            <a:endParaRPr sz="1929" dirty="0"/>
          </a:p>
          <a:p>
            <a:pPr marL="0" lvl="0" indent="0" algn="l" rtl="0">
              <a:lnSpc>
                <a:spcPct val="95000"/>
              </a:lnSpc>
              <a:spcBef>
                <a:spcPts val="1200"/>
              </a:spcBef>
              <a:spcAft>
                <a:spcPts val="1200"/>
              </a:spcAft>
              <a:buSzPts val="935"/>
              <a:buNone/>
            </a:pPr>
            <a:endParaRPr sz="1929"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body" idx="1"/>
          </p:nvPr>
        </p:nvSpPr>
        <p:spPr>
          <a:xfrm>
            <a:off x="338859" y="160049"/>
            <a:ext cx="8521700" cy="4291012"/>
          </a:xfrm>
        </p:spPr>
        <p:txBody>
          <a:bodyPr>
            <a:noAutofit/>
          </a:bodyPr>
          <a:lstStyle/>
          <a:p>
            <a:pPr marL="114300" indent="0">
              <a:buNone/>
            </a:pPr>
            <a:r>
              <a:rPr lang="en-IN" sz="1400" b="1" dirty="0"/>
              <a:t>import java.io.*;</a:t>
            </a:r>
          </a:p>
          <a:p>
            <a:pPr marL="114300" indent="0">
              <a:buNone/>
            </a:pPr>
            <a:r>
              <a:rPr lang="en-IN" sz="1400" b="1" dirty="0"/>
              <a:t>import </a:t>
            </a:r>
            <a:r>
              <a:rPr lang="en-IN" sz="1400" b="1" dirty="0" err="1"/>
              <a:t>javax.servlet</a:t>
            </a:r>
            <a:r>
              <a:rPr lang="en-IN" sz="1400" b="1" dirty="0"/>
              <a:t>.*;</a:t>
            </a:r>
          </a:p>
          <a:p>
            <a:pPr marL="114300" indent="0">
              <a:buNone/>
            </a:pPr>
            <a:r>
              <a:rPr lang="en-IN" sz="1400" b="1" dirty="0"/>
              <a:t>import </a:t>
            </a:r>
            <a:r>
              <a:rPr lang="en-IN" sz="1400" b="1" dirty="0" err="1"/>
              <a:t>javax.servlet.http</a:t>
            </a:r>
            <a:r>
              <a:rPr lang="en-IN" sz="1400" b="1" dirty="0" smtClean="0"/>
              <a:t>.*;</a:t>
            </a:r>
            <a:endParaRPr lang="en-IN" sz="1400" b="1" dirty="0"/>
          </a:p>
          <a:p>
            <a:pPr marL="114300" indent="0">
              <a:buNone/>
            </a:pPr>
            <a:r>
              <a:rPr lang="en-IN" sz="1400" b="1" dirty="0"/>
              <a:t>public class </a:t>
            </a:r>
            <a:r>
              <a:rPr lang="en-IN" sz="1400" b="1" dirty="0" err="1"/>
              <a:t>ReadLineGetServlet</a:t>
            </a:r>
            <a:r>
              <a:rPr lang="en-IN" sz="1400" b="1" dirty="0"/>
              <a:t> extends </a:t>
            </a:r>
            <a:r>
              <a:rPr lang="en-IN" sz="1400" b="1" dirty="0" err="1"/>
              <a:t>HttpServlet</a:t>
            </a:r>
            <a:r>
              <a:rPr lang="en-IN" sz="1400" b="1" dirty="0"/>
              <a:t> </a:t>
            </a:r>
            <a:r>
              <a:rPr lang="en-IN" sz="1400" b="1" dirty="0" smtClean="0"/>
              <a:t>{</a:t>
            </a:r>
            <a:endParaRPr lang="en-IN" sz="1400" b="1" dirty="0"/>
          </a:p>
          <a:p>
            <a:pPr marL="114300" indent="0">
              <a:buNone/>
            </a:pPr>
            <a:r>
              <a:rPr lang="en-IN" sz="1400" b="1" dirty="0"/>
              <a:t>    protected void </a:t>
            </a:r>
            <a:r>
              <a:rPr lang="en-IN" sz="1400" b="1" dirty="0" err="1"/>
              <a:t>doGet</a:t>
            </a:r>
            <a:r>
              <a:rPr lang="en-IN" sz="1400" b="1" dirty="0"/>
              <a:t>(</a:t>
            </a:r>
            <a:r>
              <a:rPr lang="en-IN" sz="1400" b="1" dirty="0" err="1"/>
              <a:t>HttpServletRequest</a:t>
            </a:r>
            <a:r>
              <a:rPr lang="en-IN" sz="1400" b="1" dirty="0"/>
              <a:t> request, </a:t>
            </a:r>
            <a:r>
              <a:rPr lang="en-IN" sz="1400" b="1" dirty="0" err="1"/>
              <a:t>HttpServletResponse</a:t>
            </a:r>
            <a:r>
              <a:rPr lang="en-IN" sz="1400" b="1" dirty="0"/>
              <a:t> response)</a:t>
            </a:r>
          </a:p>
          <a:p>
            <a:pPr marL="114300" indent="0">
              <a:buNone/>
            </a:pPr>
            <a:r>
              <a:rPr lang="en-IN" sz="1400" b="1" dirty="0"/>
              <a:t>            throws </a:t>
            </a:r>
            <a:r>
              <a:rPr lang="en-IN" sz="1400" b="1" dirty="0" err="1"/>
              <a:t>ServletException</a:t>
            </a:r>
            <a:r>
              <a:rPr lang="en-IN" sz="1400" b="1" dirty="0"/>
              <a:t>, </a:t>
            </a:r>
            <a:r>
              <a:rPr lang="en-IN" sz="1400" b="1" dirty="0" err="1"/>
              <a:t>IOException</a:t>
            </a:r>
            <a:r>
              <a:rPr lang="en-IN" sz="1400" b="1" dirty="0"/>
              <a:t> </a:t>
            </a:r>
            <a:r>
              <a:rPr lang="en-IN" sz="1400" b="1" dirty="0" smtClean="0"/>
              <a:t>{</a:t>
            </a:r>
            <a:endParaRPr lang="en-IN" sz="1400" b="1" dirty="0"/>
          </a:p>
          <a:p>
            <a:pPr marL="114300" indent="0">
              <a:buNone/>
            </a:pPr>
            <a:r>
              <a:rPr lang="en-IN" sz="1400" b="1" dirty="0"/>
              <a:t>        </a:t>
            </a:r>
            <a:r>
              <a:rPr lang="en-IN" sz="1400" b="1" dirty="0" err="1"/>
              <a:t>response.setContentType</a:t>
            </a:r>
            <a:r>
              <a:rPr lang="en-IN" sz="1400" b="1" dirty="0"/>
              <a:t>("text/plain</a:t>
            </a:r>
            <a:r>
              <a:rPr lang="en-IN" sz="1400" b="1" dirty="0" smtClean="0"/>
              <a:t>"); </a:t>
            </a:r>
            <a:r>
              <a:rPr lang="en-IN" sz="1400" b="1" dirty="0" err="1" smtClean="0"/>
              <a:t>PrintWriter</a:t>
            </a:r>
            <a:r>
              <a:rPr lang="en-IN" sz="1400" b="1" dirty="0" smtClean="0"/>
              <a:t> </a:t>
            </a:r>
            <a:r>
              <a:rPr lang="en-IN" sz="1400" b="1" dirty="0"/>
              <a:t>out = </a:t>
            </a:r>
            <a:r>
              <a:rPr lang="en-IN" sz="1400" b="1" dirty="0" err="1"/>
              <a:t>response.getWriter</a:t>
            </a:r>
            <a:r>
              <a:rPr lang="en-IN" sz="1400" b="1" dirty="0" smtClean="0"/>
              <a:t>();</a:t>
            </a:r>
            <a:endParaRPr lang="en-IN" sz="1400" b="1" dirty="0"/>
          </a:p>
          <a:p>
            <a:pPr marL="114300" indent="0">
              <a:buNone/>
            </a:pPr>
            <a:r>
              <a:rPr lang="en-IN" sz="1400" b="1" dirty="0"/>
              <a:t>        </a:t>
            </a:r>
            <a:r>
              <a:rPr lang="en-IN" sz="1400" b="1" dirty="0" err="1"/>
              <a:t>ServletInputStream</a:t>
            </a:r>
            <a:r>
              <a:rPr lang="en-IN" sz="1400" b="1" dirty="0"/>
              <a:t> </a:t>
            </a:r>
            <a:r>
              <a:rPr lang="en-IN" sz="1400" b="1" dirty="0" err="1"/>
              <a:t>inputStream</a:t>
            </a:r>
            <a:r>
              <a:rPr lang="en-IN" sz="1400" b="1" dirty="0"/>
              <a:t> = </a:t>
            </a:r>
            <a:r>
              <a:rPr lang="en-IN" sz="1400" b="1" dirty="0" err="1"/>
              <a:t>request.getInputStream</a:t>
            </a:r>
            <a:r>
              <a:rPr lang="en-IN" sz="1400" b="1" dirty="0" smtClean="0"/>
              <a:t>();</a:t>
            </a:r>
            <a:endParaRPr lang="en-IN" sz="1400" b="1" dirty="0"/>
          </a:p>
          <a:p>
            <a:pPr marL="114300" indent="0">
              <a:buNone/>
            </a:pPr>
            <a:r>
              <a:rPr lang="en-IN" sz="1400" b="1" dirty="0"/>
              <a:t>        if (</a:t>
            </a:r>
            <a:r>
              <a:rPr lang="en-IN" sz="1400" b="1" dirty="0" err="1"/>
              <a:t>inputStream.isReady</a:t>
            </a:r>
            <a:r>
              <a:rPr lang="en-IN" sz="1400" b="1" dirty="0"/>
              <a:t>()) {</a:t>
            </a:r>
          </a:p>
          <a:p>
            <a:pPr marL="114300" indent="0">
              <a:buNone/>
            </a:pPr>
            <a:r>
              <a:rPr lang="en-IN" sz="1400" b="1" dirty="0"/>
              <a:t>            byte[] buffer = new byte[1024</a:t>
            </a:r>
            <a:r>
              <a:rPr lang="en-IN" sz="1400" b="1" dirty="0" smtClean="0"/>
              <a:t>];      </a:t>
            </a:r>
            <a:r>
              <a:rPr lang="en-IN" sz="1400" b="1" dirty="0" err="1"/>
              <a:t>int</a:t>
            </a:r>
            <a:r>
              <a:rPr lang="en-IN" sz="1400" b="1" dirty="0"/>
              <a:t> </a:t>
            </a:r>
            <a:r>
              <a:rPr lang="en-IN" sz="1400" b="1" dirty="0" err="1"/>
              <a:t>bytesRead</a:t>
            </a:r>
            <a:r>
              <a:rPr lang="en-IN" sz="1400" b="1" dirty="0" smtClean="0"/>
              <a:t>;</a:t>
            </a:r>
            <a:endParaRPr lang="en-IN" sz="1400" b="1" dirty="0"/>
          </a:p>
          <a:p>
            <a:pPr marL="114300" indent="0">
              <a:buNone/>
            </a:pPr>
            <a:r>
              <a:rPr lang="en-IN" sz="1400" b="1" dirty="0"/>
              <a:t>            while (!</a:t>
            </a:r>
            <a:r>
              <a:rPr lang="en-IN" sz="1400" b="1" dirty="0" err="1"/>
              <a:t>inputStream.isFinished</a:t>
            </a:r>
            <a:r>
              <a:rPr lang="en-IN" sz="1400" b="1" dirty="0"/>
              <a:t>() &amp;&amp;</a:t>
            </a:r>
          </a:p>
          <a:p>
            <a:pPr marL="114300" indent="0">
              <a:buNone/>
            </a:pPr>
            <a:r>
              <a:rPr lang="en-IN" sz="1400" b="1" dirty="0"/>
              <a:t>                    (</a:t>
            </a:r>
            <a:r>
              <a:rPr lang="en-IN" sz="1400" b="1" dirty="0" err="1"/>
              <a:t>bytesRead</a:t>
            </a:r>
            <a:r>
              <a:rPr lang="en-IN" sz="1400" b="1" dirty="0"/>
              <a:t> = </a:t>
            </a:r>
            <a:r>
              <a:rPr lang="en-IN" sz="1400" b="1" dirty="0" err="1"/>
              <a:t>inputStream.readLine</a:t>
            </a:r>
            <a:r>
              <a:rPr lang="en-IN" sz="1400" b="1" dirty="0"/>
              <a:t>(buffer, 0, </a:t>
            </a:r>
            <a:r>
              <a:rPr lang="en-IN" sz="1400" b="1" dirty="0" err="1"/>
              <a:t>buffer.length</a:t>
            </a:r>
            <a:r>
              <a:rPr lang="en-IN" sz="1400" b="1" dirty="0"/>
              <a:t>)) != -1) {</a:t>
            </a:r>
          </a:p>
          <a:p>
            <a:pPr marL="114300" indent="0">
              <a:buNone/>
            </a:pPr>
            <a:r>
              <a:rPr lang="en-IN" sz="1400" b="1" dirty="0"/>
              <a:t>                // Use charset name directly</a:t>
            </a:r>
          </a:p>
          <a:p>
            <a:pPr marL="114300" indent="0">
              <a:buNone/>
            </a:pPr>
            <a:r>
              <a:rPr lang="en-IN" sz="1400" b="1" dirty="0"/>
              <a:t>                String line = new String(buffer, 0, </a:t>
            </a:r>
            <a:r>
              <a:rPr lang="en-IN" sz="1400" b="1" dirty="0" err="1"/>
              <a:t>bytesRead</a:t>
            </a:r>
            <a:r>
              <a:rPr lang="en-IN" sz="1400" b="1" dirty="0"/>
              <a:t>, "UTF-8");</a:t>
            </a:r>
          </a:p>
          <a:p>
            <a:pPr marL="114300" indent="0">
              <a:buNone/>
            </a:pPr>
            <a:r>
              <a:rPr lang="en-IN" sz="1400" b="1" dirty="0"/>
              <a:t>                </a:t>
            </a:r>
            <a:r>
              <a:rPr lang="en-IN" sz="1400" b="1" dirty="0" err="1"/>
              <a:t>out.println</a:t>
            </a:r>
            <a:r>
              <a:rPr lang="en-IN" sz="1400" b="1" dirty="0"/>
              <a:t>("Line: " + line</a:t>
            </a:r>
            <a:r>
              <a:rPr lang="en-IN" sz="1400" b="1" dirty="0" smtClean="0"/>
              <a:t>);            </a:t>
            </a:r>
            <a:r>
              <a:rPr lang="en-IN" sz="1400" b="1" dirty="0"/>
              <a:t>}</a:t>
            </a:r>
          </a:p>
          <a:p>
            <a:pPr marL="114300" indent="0">
              <a:buNone/>
            </a:pPr>
            <a:r>
              <a:rPr lang="en-IN" sz="1400" b="1" dirty="0"/>
              <a:t>        } else {</a:t>
            </a:r>
          </a:p>
          <a:p>
            <a:pPr marL="114300" indent="0">
              <a:buNone/>
            </a:pPr>
            <a:r>
              <a:rPr lang="en-IN" sz="1400" b="1" dirty="0"/>
              <a:t>            </a:t>
            </a:r>
            <a:r>
              <a:rPr lang="en-IN" sz="1400" b="1" dirty="0" err="1"/>
              <a:t>out.println</a:t>
            </a:r>
            <a:r>
              <a:rPr lang="en-IN" sz="1400" b="1" dirty="0"/>
              <a:t>("</a:t>
            </a:r>
            <a:r>
              <a:rPr lang="en-IN" sz="1400" b="1" dirty="0" err="1"/>
              <a:t>InputStream</a:t>
            </a:r>
            <a:r>
              <a:rPr lang="en-IN" sz="1400" b="1" dirty="0"/>
              <a:t> is not ready.");</a:t>
            </a:r>
          </a:p>
          <a:p>
            <a:pPr marL="114300" indent="0">
              <a:buNone/>
            </a:pPr>
            <a:r>
              <a:rPr lang="en-IN" sz="1400" b="1" dirty="0"/>
              <a:t>        </a:t>
            </a:r>
            <a:r>
              <a:rPr lang="en-IN" sz="1400" b="1" dirty="0" smtClean="0"/>
              <a:t>}    }}</a:t>
            </a:r>
            <a:endParaRPr lang="en-IN" sz="1400" b="1" dirty="0"/>
          </a:p>
          <a:p>
            <a:pPr marL="114300" indent="0">
              <a:buNone/>
            </a:pPr>
            <a:endParaRPr lang="en-IN" sz="1400" b="1" dirty="0"/>
          </a:p>
        </p:txBody>
      </p:sp>
    </p:spTree>
    <p:extLst>
      <p:ext uri="{BB962C8B-B14F-4D97-AF65-F5344CB8AC3E}">
        <p14:creationId xmlns:p14="http://schemas.microsoft.com/office/powerpoint/2010/main" val="22453753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ServletInput/Output Stream</a:t>
            </a:r>
            <a:endParaRPr/>
          </a:p>
          <a:p>
            <a:pPr marL="0" lvl="0" indent="0" algn="l" rtl="0">
              <a:spcBef>
                <a:spcPts val="0"/>
              </a:spcBef>
              <a:spcAft>
                <a:spcPts val="0"/>
              </a:spcAft>
              <a:buNone/>
            </a:pPr>
            <a:endParaRPr/>
          </a:p>
        </p:txBody>
      </p:sp>
      <p:sp>
        <p:nvSpPr>
          <p:cNvPr id="177" name="Google Shape;177;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000" dirty="0"/>
              <a:t>ServletOutputStream provides output stream  for sending binary data back to client</a:t>
            </a:r>
            <a:endParaRPr sz="2000" dirty="0"/>
          </a:p>
          <a:p>
            <a:pPr marL="0" lvl="0" indent="0" algn="l" rtl="0">
              <a:lnSpc>
                <a:spcPct val="95000"/>
              </a:lnSpc>
              <a:spcBef>
                <a:spcPts val="1200"/>
              </a:spcBef>
              <a:spcAft>
                <a:spcPts val="0"/>
              </a:spcAft>
              <a:buNone/>
            </a:pPr>
            <a:r>
              <a:rPr lang="en" sz="2000" dirty="0"/>
              <a:t>setWriteListener(WriteListener writeListener): setWriteListener(WriteListener writeListener) method is used  to instructs the ServletOutputStream to invoke the provided WriteListener when it is possible to write.</a:t>
            </a:r>
            <a:endParaRPr sz="2000" dirty="0"/>
          </a:p>
          <a:p>
            <a:pPr marL="0" lvl="0" indent="0" algn="l" rtl="0">
              <a:lnSpc>
                <a:spcPct val="95000"/>
              </a:lnSpc>
              <a:spcBef>
                <a:spcPts val="1200"/>
              </a:spcBef>
              <a:spcAft>
                <a:spcPts val="0"/>
              </a:spcAft>
              <a:buNone/>
            </a:pPr>
            <a:r>
              <a:rPr lang="en" sz="2000" dirty="0"/>
              <a:t>isReady(): isReady() method is used to determine if data can be written without blocking.</a:t>
            </a:r>
            <a:endParaRPr sz="2000" dirty="0"/>
          </a:p>
          <a:p>
            <a:pPr marL="0" lvl="0" indent="0" algn="l" rtl="0">
              <a:lnSpc>
                <a:spcPct val="95000"/>
              </a:lnSpc>
              <a:spcBef>
                <a:spcPts val="1200"/>
              </a:spcBef>
              <a:spcAft>
                <a:spcPts val="0"/>
              </a:spcAft>
              <a:buNone/>
            </a:pPr>
            <a:r>
              <a:rPr lang="en" sz="1300" b="1" dirty="0">
                <a:solidFill>
                  <a:schemeClr val="dk1"/>
                </a:solidFill>
              </a:rPr>
              <a:t>println(): println() method is used to write a CR character at the end.</a:t>
            </a:r>
            <a:endParaRPr sz="1300" b="1" dirty="0">
              <a:solidFill>
                <a:schemeClr val="dk1"/>
              </a:solidFill>
            </a:endParaRPr>
          </a:p>
          <a:p>
            <a:pPr marL="0" lvl="0" indent="0" algn="l" rtl="0">
              <a:lnSpc>
                <a:spcPct val="95000"/>
              </a:lnSpc>
              <a:spcBef>
                <a:spcPts val="1200"/>
              </a:spcBef>
              <a:spcAft>
                <a:spcPts val="0"/>
              </a:spcAft>
              <a:buNone/>
            </a:pPr>
            <a:r>
              <a:rPr lang="en" sz="1300" b="1" dirty="0">
                <a:solidFill>
                  <a:schemeClr val="dk1"/>
                </a:solidFill>
              </a:rPr>
              <a:t>print() method is used to write a character to the client with no CR character at the end.</a:t>
            </a:r>
            <a:endParaRPr sz="1300" b="1" dirty="0">
              <a:solidFill>
                <a:schemeClr val="dk1"/>
              </a:solidFill>
            </a:endParaRPr>
          </a:p>
          <a:p>
            <a:pPr marL="0" lvl="0" indent="0" algn="l" rtl="0">
              <a:lnSpc>
                <a:spcPct val="95000"/>
              </a:lnSpc>
              <a:spcBef>
                <a:spcPts val="1200"/>
              </a:spcBef>
              <a:spcAft>
                <a:spcPts val="1200"/>
              </a:spcAft>
              <a:buNone/>
            </a:pPr>
            <a:endParaRPr sz="2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RequestDispatcher</a:t>
            </a:r>
            <a:endParaRPr/>
          </a:p>
        </p:txBody>
      </p:sp>
      <p:sp>
        <p:nvSpPr>
          <p:cNvPr id="183" name="Google Shape;183;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Defines an object that receives request from client and sends them to any resource like Servlet, HTML or JSP</a:t>
            </a:r>
            <a:endParaRPr dirty="0"/>
          </a:p>
          <a:p>
            <a:pPr marL="0" lvl="0" indent="0" algn="l" rtl="0">
              <a:spcBef>
                <a:spcPts val="1200"/>
              </a:spcBef>
              <a:spcAft>
                <a:spcPts val="0"/>
              </a:spcAft>
              <a:buNone/>
            </a:pPr>
            <a:r>
              <a:rPr lang="en" dirty="0"/>
              <a:t>Servlet container creates RequestDispatcher object that wraps around a server resource located at a particular path or by a particular name</a:t>
            </a:r>
            <a:endParaRPr dirty="0"/>
          </a:p>
          <a:p>
            <a:pPr marL="0" lvl="0" indent="0" algn="l" rtl="0">
              <a:spcBef>
                <a:spcPts val="1200"/>
              </a:spcBef>
              <a:spcAft>
                <a:spcPts val="0"/>
              </a:spcAft>
              <a:buNone/>
            </a:pPr>
            <a:r>
              <a:rPr lang="en" b="1" dirty="0"/>
              <a:t>void forward(ServletRequest request,ServletResponse response) throws ServletException,IOException: </a:t>
            </a:r>
            <a:r>
              <a:rPr lang="en" dirty="0"/>
              <a:t>This method is used to forward a request from a servlet to another resource (servlet, JSP file, or HTML file) on the server.</a:t>
            </a:r>
            <a:endParaRPr dirty="0"/>
          </a:p>
          <a:p>
            <a:pPr marL="0" lvl="0" indent="0" algn="l" rtl="0">
              <a:spcBef>
                <a:spcPts val="1200"/>
              </a:spcBef>
              <a:spcAft>
                <a:spcPts val="1200"/>
              </a:spcAft>
              <a:buNone/>
            </a:pPr>
            <a:r>
              <a:rPr lang="en" b="1" dirty="0"/>
              <a:t>void include(ServletRequest request,ServletResponse response) throws ServletException,IOException: </a:t>
            </a:r>
            <a:r>
              <a:rPr lang="en" dirty="0"/>
              <a:t>This method is used to include the response of resource(for which the request passed servlet, JSP page, HTML file) in the current servlet response.</a:t>
            </a:r>
            <a:endParaRP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Filter</a:t>
            </a:r>
            <a:endParaRPr/>
          </a:p>
        </p:txBody>
      </p:sp>
      <p:sp>
        <p:nvSpPr>
          <p:cNvPr id="189" name="Google Shape;189;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Performs filtering tasks on request to resource or response from resource</a:t>
            </a:r>
            <a:endParaRPr dirty="0"/>
          </a:p>
          <a:p>
            <a:pPr marL="0" marR="0" lvl="0" indent="0" algn="l" rtl="0">
              <a:lnSpc>
                <a:spcPct val="115000"/>
              </a:lnSpc>
              <a:spcBef>
                <a:spcPts val="1200"/>
              </a:spcBef>
              <a:spcAft>
                <a:spcPts val="0"/>
              </a:spcAft>
              <a:buNone/>
            </a:pPr>
            <a:r>
              <a:rPr lang="en" b="1" dirty="0">
                <a:uFill>
                  <a:noFill/>
                </a:uFill>
                <a:hlinkClick r:id="rId3"/>
              </a:rPr>
              <a:t>destroy</a:t>
            </a:r>
            <a:r>
              <a:rPr lang="en" b="1" dirty="0"/>
              <a:t>():  </a:t>
            </a:r>
            <a:r>
              <a:rPr lang="en" dirty="0"/>
              <a:t>Called by the web container to indicate to a filter that it is being taken out of service.</a:t>
            </a:r>
            <a:endParaRPr dirty="0"/>
          </a:p>
          <a:p>
            <a:pPr marL="0" marR="0" lvl="0" indent="0" algn="l" rtl="0">
              <a:lnSpc>
                <a:spcPct val="115000"/>
              </a:lnSpc>
              <a:spcBef>
                <a:spcPts val="1200"/>
              </a:spcBef>
              <a:spcAft>
                <a:spcPts val="0"/>
              </a:spcAft>
              <a:buNone/>
            </a:pPr>
            <a:r>
              <a:rPr lang="en" b="1" dirty="0">
                <a:uFill>
                  <a:noFill/>
                </a:uFill>
                <a:hlinkClick r:id="rId4"/>
              </a:rPr>
              <a:t>doFilter</a:t>
            </a:r>
            <a:r>
              <a:rPr lang="en" b="1" dirty="0"/>
              <a:t>(</a:t>
            </a:r>
            <a:r>
              <a:rPr lang="en" b="1" dirty="0">
                <a:uFill>
                  <a:noFill/>
                </a:uFill>
                <a:hlinkClick r:id="rId5"/>
              </a:rPr>
              <a:t>ServletRequest</a:t>
            </a:r>
            <a:r>
              <a:rPr lang="en" b="1" dirty="0"/>
              <a:t> request,</a:t>
            </a:r>
            <a:r>
              <a:rPr lang="en" b="1" dirty="0">
                <a:uFill>
                  <a:noFill/>
                </a:uFill>
                <a:hlinkClick r:id="rId6"/>
              </a:rPr>
              <a:t> ServletResponse</a:t>
            </a:r>
            <a:r>
              <a:rPr lang="en" b="1" dirty="0"/>
              <a:t> response,</a:t>
            </a:r>
            <a:r>
              <a:rPr lang="en" b="1" dirty="0">
                <a:uFill>
                  <a:noFill/>
                </a:uFill>
                <a:hlinkClick r:id="rId7"/>
              </a:rPr>
              <a:t> FilterChain</a:t>
            </a:r>
            <a:r>
              <a:rPr lang="en" b="1" dirty="0"/>
              <a:t> chain) : </a:t>
            </a:r>
            <a:r>
              <a:rPr lang="en" dirty="0"/>
              <a:t>The doFilter method of the Filter is called by the container each time a request/response pair is passed through the chain due to a client request for a resource at the end of the chain.</a:t>
            </a:r>
            <a:endParaRPr dirty="0"/>
          </a:p>
          <a:p>
            <a:pPr marL="0" marR="0" lvl="0" indent="0" algn="l" rtl="0">
              <a:lnSpc>
                <a:spcPct val="115000"/>
              </a:lnSpc>
              <a:spcBef>
                <a:spcPts val="1200"/>
              </a:spcBef>
              <a:spcAft>
                <a:spcPts val="1200"/>
              </a:spcAft>
              <a:buNone/>
            </a:pPr>
            <a:r>
              <a:rPr lang="en" b="1" dirty="0">
                <a:uFill>
                  <a:noFill/>
                </a:uFill>
                <a:hlinkClick r:id="rId8"/>
              </a:rPr>
              <a:t>init</a:t>
            </a:r>
            <a:r>
              <a:rPr lang="en" b="1" dirty="0"/>
              <a:t>(</a:t>
            </a:r>
            <a:r>
              <a:rPr lang="en" b="1" dirty="0">
                <a:uFill>
                  <a:noFill/>
                </a:uFill>
                <a:hlinkClick r:id="rId9"/>
              </a:rPr>
              <a:t>FilterConfig</a:t>
            </a:r>
            <a:r>
              <a:rPr lang="en" b="1" dirty="0"/>
              <a:t> filterConfig):  </a:t>
            </a:r>
            <a:r>
              <a:rPr lang="en" dirty="0"/>
              <a:t>Called by the web container to indicate to a filter that it is being placed into service.</a:t>
            </a:r>
            <a:endParaRPr sz="1100" dirty="0">
              <a:solidFill>
                <a:schemeClr val="dk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FilterChain</a:t>
            </a:r>
            <a:endParaRPr/>
          </a:p>
        </p:txBody>
      </p:sp>
      <p:sp>
        <p:nvSpPr>
          <p:cNvPr id="195" name="Google Shape;195;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Gives a view into the invocation chain of a filtered request for a resource.</a:t>
            </a:r>
            <a:endParaRPr dirty="0"/>
          </a:p>
          <a:p>
            <a:pPr marL="0" lvl="0" indent="0" algn="l" rtl="0">
              <a:spcBef>
                <a:spcPts val="1200"/>
              </a:spcBef>
              <a:spcAft>
                <a:spcPts val="0"/>
              </a:spcAft>
              <a:buNone/>
            </a:pPr>
            <a:r>
              <a:rPr lang="en" dirty="0"/>
              <a:t>Filter uses FilterChain to invoke next filter in the chain</a:t>
            </a:r>
            <a:endParaRPr dirty="0"/>
          </a:p>
          <a:p>
            <a:pPr marL="0" marR="0" lvl="0" indent="0" algn="l" rtl="0">
              <a:lnSpc>
                <a:spcPct val="115000"/>
              </a:lnSpc>
              <a:spcBef>
                <a:spcPts val="1200"/>
              </a:spcBef>
              <a:spcAft>
                <a:spcPts val="0"/>
              </a:spcAft>
              <a:buNone/>
            </a:pPr>
            <a:r>
              <a:rPr lang="en" dirty="0">
                <a:uFill>
                  <a:noFill/>
                </a:uFill>
                <a:hlinkClick r:id="rId3"/>
              </a:rPr>
              <a:t>doFilter</a:t>
            </a:r>
            <a:r>
              <a:rPr lang="en" dirty="0"/>
              <a:t>(</a:t>
            </a:r>
            <a:r>
              <a:rPr lang="en" dirty="0">
                <a:uFill>
                  <a:noFill/>
                </a:uFill>
                <a:hlinkClick r:id="rId4"/>
              </a:rPr>
              <a:t>ServletRequest</a:t>
            </a:r>
            <a:r>
              <a:rPr lang="en" dirty="0"/>
              <a:t> request,</a:t>
            </a:r>
            <a:r>
              <a:rPr lang="en" dirty="0">
                <a:uFill>
                  <a:noFill/>
                </a:uFill>
                <a:hlinkClick r:id="rId5"/>
              </a:rPr>
              <a:t> ServletResponse</a:t>
            </a:r>
            <a:r>
              <a:rPr lang="en" dirty="0"/>
              <a:t> response)</a:t>
            </a:r>
            <a:endParaRPr dirty="0"/>
          </a:p>
          <a:p>
            <a:pPr marL="0" marR="0" lvl="0" indent="0" algn="l" rtl="0">
              <a:lnSpc>
                <a:spcPct val="115000"/>
              </a:lnSpc>
              <a:spcBef>
                <a:spcPts val="1200"/>
              </a:spcBef>
              <a:spcAft>
                <a:spcPts val="0"/>
              </a:spcAft>
              <a:buNone/>
            </a:pPr>
            <a:r>
              <a:rPr lang="en" dirty="0"/>
              <a:t>          Causes the next filter in the chain to be invoked, or if the calling filter is the last filter in the chain, causes the resource at the end of the chain to be invoked.</a:t>
            </a:r>
            <a:endParaRPr dirty="0"/>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FilterConfig</a:t>
            </a:r>
            <a:endParaRPr/>
          </a:p>
        </p:txBody>
      </p:sp>
      <p:sp>
        <p:nvSpPr>
          <p:cNvPr id="201" name="Google Shape;201;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t>Passes information to filter during initialization</a:t>
            </a:r>
            <a:endParaRPr sz="2500" dirty="0"/>
          </a:p>
          <a:p>
            <a:pPr marL="457200" lvl="0" indent="-342900" algn="l" rtl="0">
              <a:spcBef>
                <a:spcPts val="1200"/>
              </a:spcBef>
              <a:spcAft>
                <a:spcPts val="0"/>
              </a:spcAft>
              <a:buClr>
                <a:schemeClr val="dk1"/>
              </a:buClr>
              <a:buSzPts val="1800"/>
              <a:buAutoNum type="arabicPeriod"/>
            </a:pPr>
            <a:r>
              <a:rPr lang="en" b="1" dirty="0">
                <a:solidFill>
                  <a:schemeClr val="dk1"/>
                </a:solidFill>
              </a:rPr>
              <a:t>getFilterName():</a:t>
            </a:r>
            <a:r>
              <a:rPr lang="en" dirty="0">
                <a:solidFill>
                  <a:schemeClr val="dk1"/>
                </a:solidFill>
              </a:rPr>
              <a:t> Returns name of the filter as given in deployment descriptor.</a:t>
            </a:r>
            <a:endParaRPr dirty="0">
              <a:solidFill>
                <a:schemeClr val="dk1"/>
              </a:solidFill>
            </a:endParaRPr>
          </a:p>
          <a:p>
            <a:pPr marL="457200" lvl="0" indent="-342900" algn="l" rtl="0">
              <a:spcBef>
                <a:spcPts val="0"/>
              </a:spcBef>
              <a:spcAft>
                <a:spcPts val="0"/>
              </a:spcAft>
              <a:buClr>
                <a:schemeClr val="dk1"/>
              </a:buClr>
              <a:buSzPts val="1800"/>
              <a:buAutoNum type="arabicPeriod"/>
            </a:pPr>
            <a:r>
              <a:rPr lang="en" b="1" dirty="0">
                <a:solidFill>
                  <a:schemeClr val="dk1"/>
                </a:solidFill>
              </a:rPr>
              <a:t>public String getInitParameter(String parameterName):</a:t>
            </a:r>
            <a:r>
              <a:rPr lang="en" dirty="0">
                <a:solidFill>
                  <a:schemeClr val="dk1"/>
                </a:solidFill>
              </a:rPr>
              <a:t> Returns the parameter value for the specified parameter name.</a:t>
            </a:r>
            <a:endParaRPr dirty="0">
              <a:solidFill>
                <a:schemeClr val="dk1"/>
              </a:solidFill>
            </a:endParaRPr>
          </a:p>
          <a:p>
            <a:pPr marL="457200" lvl="0" indent="-342900" algn="l" rtl="0">
              <a:spcBef>
                <a:spcPts val="0"/>
              </a:spcBef>
              <a:spcAft>
                <a:spcPts val="0"/>
              </a:spcAft>
              <a:buClr>
                <a:schemeClr val="dk1"/>
              </a:buClr>
              <a:buSzPts val="1800"/>
              <a:buAutoNum type="arabicPeriod"/>
            </a:pPr>
            <a:r>
              <a:rPr lang="en" b="1" dirty="0">
                <a:solidFill>
                  <a:schemeClr val="dk1"/>
                </a:solidFill>
              </a:rPr>
              <a:t>public java.util.Enumeration getInitParameterNames():</a:t>
            </a:r>
            <a:r>
              <a:rPr lang="en" dirty="0">
                <a:solidFill>
                  <a:schemeClr val="dk1"/>
                </a:solidFill>
              </a:rPr>
              <a:t> Returns an enumeration containing all the parameter names.</a:t>
            </a:r>
            <a:endParaRPr dirty="0">
              <a:solidFill>
                <a:schemeClr val="dk1"/>
              </a:solidFill>
            </a:endParaRPr>
          </a:p>
          <a:p>
            <a:pPr marL="457200" lvl="0" indent="-342900" algn="l" rtl="0">
              <a:spcBef>
                <a:spcPts val="0"/>
              </a:spcBef>
              <a:spcAft>
                <a:spcPts val="0"/>
              </a:spcAft>
              <a:buClr>
                <a:schemeClr val="dk1"/>
              </a:buClr>
              <a:buSzPts val="1800"/>
              <a:buAutoNum type="arabicPeriod"/>
            </a:pPr>
            <a:r>
              <a:rPr lang="en" b="1" dirty="0">
                <a:solidFill>
                  <a:schemeClr val="dk1"/>
                </a:solidFill>
              </a:rPr>
              <a:t>public ServletContext getServletContext():</a:t>
            </a:r>
            <a:r>
              <a:rPr lang="en" dirty="0">
                <a:solidFill>
                  <a:schemeClr val="dk1"/>
                </a:solidFill>
              </a:rPr>
              <a:t> Returns the ServletContext object.</a:t>
            </a:r>
            <a:endParaRPr dirty="0">
              <a:solidFill>
                <a:schemeClr val="dk1"/>
              </a:solidFill>
            </a:endParaRPr>
          </a:p>
          <a:p>
            <a:pPr marL="0" lvl="0" indent="0" algn="l" rtl="0">
              <a:spcBef>
                <a:spcPts val="1200"/>
              </a:spcBef>
              <a:spcAft>
                <a:spcPts val="0"/>
              </a:spcAft>
              <a:buNone/>
            </a:pPr>
            <a:endParaRPr sz="2500" dirty="0"/>
          </a:p>
          <a:p>
            <a:pPr marL="0" lvl="0" indent="0" algn="l" rtl="0">
              <a:spcBef>
                <a:spcPts val="1200"/>
              </a:spcBef>
              <a:spcAft>
                <a:spcPts val="1200"/>
              </a:spcAft>
              <a:buNone/>
            </a:pPr>
            <a:endParaRPr sz="25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ReadListener &amp; WriteListener</a:t>
            </a:r>
            <a:endParaRPr dirty="0"/>
          </a:p>
        </p:txBody>
      </p:sp>
      <p:sp>
        <p:nvSpPr>
          <p:cNvPr id="207" name="Google Shape;207;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ReadListener</a:t>
            </a:r>
            <a:r>
              <a:rPr lang="en" sz="2800" dirty="0">
                <a:solidFill>
                  <a:schemeClr val="dk1"/>
                </a:solidFill>
              </a:rPr>
              <a:t> </a:t>
            </a:r>
            <a:r>
              <a:rPr lang="en" dirty="0"/>
              <a:t>class represents a call-back mechanism that will notify implementations as HTTP request data becomes available to be read without blocking. </a:t>
            </a:r>
            <a:endParaRPr dirty="0"/>
          </a:p>
          <a:p>
            <a:pPr marL="0" marR="0" lvl="0" indent="0" algn="l" rtl="0">
              <a:lnSpc>
                <a:spcPct val="115000"/>
              </a:lnSpc>
              <a:spcBef>
                <a:spcPts val="1200"/>
              </a:spcBef>
              <a:spcAft>
                <a:spcPts val="0"/>
              </a:spcAft>
              <a:buNone/>
            </a:pPr>
            <a:r>
              <a:rPr lang="en" dirty="0">
                <a:uFill>
                  <a:noFill/>
                </a:uFill>
                <a:hlinkClick r:id="rId3"/>
              </a:rPr>
              <a:t>onAllDataRead</a:t>
            </a:r>
            <a:r>
              <a:rPr lang="en" dirty="0"/>
              <a:t>(): Invoked when all data for the current request has been read.</a:t>
            </a:r>
            <a:endParaRPr dirty="0"/>
          </a:p>
          <a:p>
            <a:pPr marL="0" marR="0" lvl="0" indent="0" algn="l" rtl="0">
              <a:lnSpc>
                <a:spcPct val="115000"/>
              </a:lnSpc>
              <a:spcBef>
                <a:spcPts val="1200"/>
              </a:spcBef>
              <a:spcAft>
                <a:spcPts val="0"/>
              </a:spcAft>
              <a:buNone/>
            </a:pPr>
            <a:r>
              <a:rPr lang="en" dirty="0">
                <a:uFill>
                  <a:noFill/>
                </a:uFill>
                <a:hlinkClick r:id="rId4"/>
              </a:rPr>
              <a:t>onDataAvailable</a:t>
            </a:r>
            <a:r>
              <a:rPr lang="en" dirty="0"/>
              <a:t>(): When an instance of the ReadListener is registered with a</a:t>
            </a:r>
            <a:r>
              <a:rPr lang="en" dirty="0">
                <a:uFill>
                  <a:noFill/>
                </a:uFill>
                <a:hlinkClick r:id="rId5"/>
              </a:rPr>
              <a:t> ServletInputStream</a:t>
            </a:r>
            <a:r>
              <a:rPr lang="en" dirty="0"/>
              <a:t>, this method will be invoked by the container the first time when it is possible to read data.</a:t>
            </a:r>
            <a:endParaRPr dirty="0"/>
          </a:p>
          <a:p>
            <a:pPr marL="0" marR="0" lvl="0" indent="0" algn="l" rtl="0">
              <a:lnSpc>
                <a:spcPct val="115000"/>
              </a:lnSpc>
              <a:spcBef>
                <a:spcPts val="1200"/>
              </a:spcBef>
              <a:spcAft>
                <a:spcPts val="0"/>
              </a:spcAft>
              <a:buNone/>
            </a:pPr>
            <a:r>
              <a:rPr lang="en" dirty="0">
                <a:uFill>
                  <a:noFill/>
                </a:uFill>
                <a:hlinkClick r:id="rId6"/>
              </a:rPr>
              <a:t>onError</a:t>
            </a:r>
            <a:r>
              <a:rPr lang="en" dirty="0"/>
              <a:t>(</a:t>
            </a:r>
            <a:r>
              <a:rPr lang="en" dirty="0">
                <a:uFill>
                  <a:noFill/>
                </a:uFill>
                <a:hlinkClick r:id="rId7"/>
              </a:rPr>
              <a:t>Throwable</a:t>
            </a:r>
            <a:r>
              <a:rPr lang="en" dirty="0"/>
              <a:t> t): Invoked when an error occurs processing the request.</a:t>
            </a:r>
            <a:endParaRPr sz="1100" dirty="0">
              <a:solidFill>
                <a:schemeClr val="dk1"/>
              </a:solidFill>
            </a:endParaRPr>
          </a:p>
          <a:p>
            <a:pPr marL="0" lvl="0" indent="0" algn="l" rtl="0">
              <a:spcBef>
                <a:spcPts val="1200"/>
              </a:spcBef>
              <a:spcAft>
                <a:spcPts val="0"/>
              </a:spcAft>
              <a:buNone/>
            </a:pPr>
            <a:endParaRPr sz="1100" dirty="0">
              <a:solidFill>
                <a:schemeClr val="dk1"/>
              </a:solidFill>
            </a:endParaRPr>
          </a:p>
          <a:p>
            <a:pPr marL="0" lvl="0" indent="0" algn="l" rtl="0">
              <a:spcBef>
                <a:spcPts val="1200"/>
              </a:spcBef>
              <a:spcAft>
                <a:spcPts val="0"/>
              </a:spcAft>
              <a:buClr>
                <a:schemeClr val="dk1"/>
              </a:buClr>
              <a:buSzPct val="100000"/>
              <a:buFont typeface="Arial"/>
              <a:buNone/>
            </a:pPr>
            <a:endParaRPr sz="1100" dirty="0">
              <a:solidFill>
                <a:schemeClr val="dk1"/>
              </a:solidFill>
            </a:endParaRPr>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ReadListener &amp; WriteListener</a:t>
            </a:r>
            <a:endParaRPr/>
          </a:p>
        </p:txBody>
      </p:sp>
      <p:sp>
        <p:nvSpPr>
          <p:cNvPr id="213" name="Google Shape;213;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en" dirty="0"/>
              <a:t>Callback notification mechanism that signals to the developer it's possible to write content without blocking.</a:t>
            </a:r>
            <a:endParaRPr dirty="0"/>
          </a:p>
          <a:p>
            <a:pPr marL="0" marR="0" lvl="0" indent="0" algn="l" rtl="0">
              <a:lnSpc>
                <a:spcPct val="115000"/>
              </a:lnSpc>
              <a:spcBef>
                <a:spcPts val="1200"/>
              </a:spcBef>
              <a:spcAft>
                <a:spcPts val="0"/>
              </a:spcAft>
              <a:buNone/>
            </a:pPr>
            <a:r>
              <a:rPr lang="en" dirty="0">
                <a:uFill>
                  <a:noFill/>
                </a:uFill>
                <a:hlinkClick r:id="rId3"/>
              </a:rPr>
              <a:t>onError</a:t>
            </a:r>
            <a:r>
              <a:rPr lang="en" dirty="0"/>
              <a:t>(</a:t>
            </a:r>
            <a:r>
              <a:rPr lang="en" dirty="0">
                <a:uFill>
                  <a:noFill/>
                </a:uFill>
                <a:hlinkClick r:id="rId4"/>
              </a:rPr>
              <a:t>Throwable</a:t>
            </a:r>
            <a:r>
              <a:rPr lang="en" dirty="0"/>
              <a:t> t): Invoked when an error occurs while processing request</a:t>
            </a:r>
            <a:endParaRPr dirty="0"/>
          </a:p>
          <a:p>
            <a:pPr marL="0" marR="0" lvl="0" indent="0" algn="l" rtl="0">
              <a:lnSpc>
                <a:spcPct val="115000"/>
              </a:lnSpc>
              <a:spcBef>
                <a:spcPts val="1200"/>
              </a:spcBef>
              <a:spcAft>
                <a:spcPts val="0"/>
              </a:spcAft>
              <a:buNone/>
            </a:pPr>
            <a:r>
              <a:rPr lang="en" dirty="0">
                <a:uFill>
                  <a:noFill/>
                </a:uFill>
                <a:hlinkClick r:id="rId5"/>
              </a:rPr>
              <a:t>onWritePossible</a:t>
            </a:r>
            <a:r>
              <a:rPr lang="en" dirty="0"/>
              <a:t>(): When an instance of the WriteListener is registered with a</a:t>
            </a:r>
            <a:r>
              <a:rPr lang="en" dirty="0">
                <a:uFill>
                  <a:noFill/>
                </a:uFill>
                <a:hlinkClick r:id="rId6"/>
              </a:rPr>
              <a:t> ServletOutputStream</a:t>
            </a:r>
            <a:r>
              <a:rPr lang="en" dirty="0"/>
              <a:t>, this method will be invoked by the container the first time when it is possible to write data.</a:t>
            </a:r>
            <a:endParaRPr sz="1100" dirty="0">
              <a:solidFill>
                <a:schemeClr val="dk1"/>
              </a:solidFill>
            </a:endParaRPr>
          </a:p>
          <a:p>
            <a:pPr marL="0" lvl="0" indent="0" algn="l" rtl="0">
              <a:spcBef>
                <a:spcPts val="1200"/>
              </a:spcBef>
              <a:spcAft>
                <a:spcPts val="0"/>
              </a:spcAft>
              <a:buClr>
                <a:schemeClr val="dk1"/>
              </a:buClr>
              <a:buSzPts val="1100"/>
              <a:buFont typeface="Arial"/>
              <a:buNone/>
            </a:pPr>
            <a:endParaRPr sz="1100" dirty="0">
              <a:solidFill>
                <a:schemeClr val="dk1"/>
              </a:solidFill>
            </a:endParaRPr>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javax.servlet.http package</a:t>
            </a:r>
            <a:endParaRPr/>
          </a:p>
        </p:txBody>
      </p:sp>
      <p:sp>
        <p:nvSpPr>
          <p:cNvPr id="219" name="Google Shape;219;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HttpServlet class with HTTP request methods &amp; headers</a:t>
            </a:r>
            <a:endParaRPr dirty="0"/>
          </a:p>
          <a:p>
            <a:pPr marL="0" lvl="0" indent="0" algn="l" rtl="0">
              <a:spcBef>
                <a:spcPts val="1200"/>
              </a:spcBef>
              <a:spcAft>
                <a:spcPts val="0"/>
              </a:spcAft>
              <a:buNone/>
            </a:pPr>
            <a:r>
              <a:rPr lang="en" dirty="0"/>
              <a:t>HttpServletRequest and HttpServletResponse allows client interaction with web server</a:t>
            </a:r>
            <a:endParaRPr dirty="0"/>
          </a:p>
          <a:p>
            <a:pPr marL="0" lvl="0" indent="0" algn="l" rtl="0">
              <a:spcBef>
                <a:spcPts val="1200"/>
              </a:spcBef>
              <a:spcAft>
                <a:spcPts val="0"/>
              </a:spcAft>
              <a:buNone/>
            </a:pPr>
            <a:r>
              <a:rPr lang="en" dirty="0"/>
              <a:t>HttpSession provides session tracking functionality</a:t>
            </a:r>
            <a:endParaRPr dirty="0"/>
          </a:p>
          <a:p>
            <a:pPr marL="0" lvl="0" indent="0" algn="l" rtl="0">
              <a:spcBef>
                <a:spcPts val="1200"/>
              </a:spcBef>
              <a:spcAft>
                <a:spcPts val="0"/>
              </a:spcAft>
              <a:buNone/>
            </a:pPr>
            <a:r>
              <a:rPr lang="en" dirty="0"/>
              <a:t>Cookie allows setting up and processing HTTP cookies</a:t>
            </a:r>
            <a:endParaRPr dirty="0"/>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HttpServlet Class</a:t>
            </a:r>
            <a:endParaRPr/>
          </a:p>
        </p:txBody>
      </p:sp>
      <p:sp>
        <p:nvSpPr>
          <p:cNvPr id="225" name="Google Shape;225;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dk1"/>
                </a:solidFill>
              </a:rPr>
              <a:t>public void service(ServletRequest req,ServletResponse res)</a:t>
            </a:r>
            <a:r>
              <a:rPr lang="en" sz="1300" dirty="0">
                <a:solidFill>
                  <a:schemeClr val="dk1"/>
                </a:solidFill>
              </a:rPr>
              <a:t> dispatches the request to the protected service method by converting the request and response object into http type.</a:t>
            </a:r>
            <a:endParaRPr sz="1300" dirty="0">
              <a:solidFill>
                <a:schemeClr val="dk1"/>
              </a:solidFill>
            </a:endParaRPr>
          </a:p>
          <a:p>
            <a:pPr marL="0" lvl="0" indent="0" algn="l" rtl="0">
              <a:spcBef>
                <a:spcPts val="1200"/>
              </a:spcBef>
              <a:spcAft>
                <a:spcPts val="0"/>
              </a:spcAft>
              <a:buNone/>
            </a:pPr>
            <a:r>
              <a:rPr lang="en" sz="1300" b="1" dirty="0">
                <a:solidFill>
                  <a:schemeClr val="dk1"/>
                </a:solidFill>
              </a:rPr>
              <a:t>protected void doGet(HttpServletRequest req, HttpServletResponse res)</a:t>
            </a:r>
            <a:r>
              <a:rPr lang="en" sz="1300" dirty="0">
                <a:solidFill>
                  <a:schemeClr val="dk1"/>
                </a:solidFill>
              </a:rPr>
              <a:t> handles the GET request. It is invoked by the web container.</a:t>
            </a:r>
            <a:endParaRPr sz="1300" dirty="0">
              <a:solidFill>
                <a:schemeClr val="dk1"/>
              </a:solidFill>
            </a:endParaRPr>
          </a:p>
          <a:p>
            <a:pPr marL="0" lvl="0" indent="0" algn="l" rtl="0">
              <a:spcBef>
                <a:spcPts val="1200"/>
              </a:spcBef>
              <a:spcAft>
                <a:spcPts val="0"/>
              </a:spcAft>
              <a:buNone/>
            </a:pPr>
            <a:r>
              <a:rPr lang="en" sz="1300" b="1" dirty="0">
                <a:solidFill>
                  <a:schemeClr val="dk1"/>
                </a:solidFill>
              </a:rPr>
              <a:t>protected void doPost(HttpServletRequest req, HttpServletResponse res)</a:t>
            </a:r>
            <a:r>
              <a:rPr lang="en" sz="1300" dirty="0">
                <a:solidFill>
                  <a:schemeClr val="dk1"/>
                </a:solidFill>
              </a:rPr>
              <a:t> handles the POST request. It is invoked by the web container.</a:t>
            </a:r>
            <a:endParaRPr sz="1300" dirty="0">
              <a:solidFill>
                <a:schemeClr val="dk1"/>
              </a:solidFill>
            </a:endParaRPr>
          </a:p>
          <a:p>
            <a:pPr marL="0" lvl="0" indent="0" algn="l" rtl="0">
              <a:spcBef>
                <a:spcPts val="1200"/>
              </a:spcBef>
              <a:spcAft>
                <a:spcPts val="0"/>
              </a:spcAft>
              <a:buNone/>
            </a:pPr>
            <a:r>
              <a:rPr lang="en" sz="1300" b="1" dirty="0">
                <a:solidFill>
                  <a:schemeClr val="dk1"/>
                </a:solidFill>
              </a:rPr>
              <a:t>protected void doHead(HttpServletRequest req, HttpServletResponse res)</a:t>
            </a:r>
            <a:r>
              <a:rPr lang="en" sz="1300" dirty="0">
                <a:solidFill>
                  <a:schemeClr val="dk1"/>
                </a:solidFill>
              </a:rPr>
              <a:t> handles the HEAD request. It is invoked by the web container.</a:t>
            </a:r>
            <a:endParaRPr sz="1300" dirty="0">
              <a:solidFill>
                <a:schemeClr val="dk1"/>
              </a:solidFill>
            </a:endParaRPr>
          </a:p>
          <a:p>
            <a:pPr marL="0" lvl="0" indent="0" algn="l" rtl="0">
              <a:spcBef>
                <a:spcPts val="1200"/>
              </a:spcBef>
              <a:spcAft>
                <a:spcPts val="0"/>
              </a:spcAft>
              <a:buNone/>
            </a:pPr>
            <a:r>
              <a:rPr lang="en" sz="1300" b="1" dirty="0">
                <a:solidFill>
                  <a:schemeClr val="dk1"/>
                </a:solidFill>
              </a:rPr>
              <a:t>protected void doOptions(HttpServletRequest req, HttpServletResponse res)</a:t>
            </a:r>
            <a:r>
              <a:rPr lang="en" sz="1300" dirty="0">
                <a:solidFill>
                  <a:schemeClr val="dk1"/>
                </a:solidFill>
              </a:rPr>
              <a:t> handles the OPTIONS request. It is invoked by the web container.</a:t>
            </a:r>
            <a:endParaRPr sz="1300" dirty="0">
              <a:solidFill>
                <a:schemeClr val="dk1"/>
              </a:solidFill>
            </a:endParaRPr>
          </a:p>
          <a:p>
            <a:pPr marL="0" lvl="0" indent="0" algn="l" rtl="0">
              <a:spcBef>
                <a:spcPts val="1200"/>
              </a:spcBef>
              <a:spcAft>
                <a:spcPts val="1200"/>
              </a:spcAft>
              <a:buNone/>
            </a:pPr>
            <a:endParaRPr sz="1300" dirty="0">
              <a:solidFill>
                <a:schemeClr val="dk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HttpServlet Class</a:t>
            </a:r>
            <a:endParaRPr/>
          </a:p>
        </p:txBody>
      </p:sp>
      <p:sp>
        <p:nvSpPr>
          <p:cNvPr id="231" name="Google Shape;231;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500" b="1" dirty="0">
                <a:solidFill>
                  <a:schemeClr val="dk1"/>
                </a:solidFill>
              </a:rPr>
              <a:t>protected void doPut(HttpServletRequest req, HttpServletResponse res)</a:t>
            </a:r>
            <a:r>
              <a:rPr lang="en" sz="1500" dirty="0">
                <a:solidFill>
                  <a:schemeClr val="dk1"/>
                </a:solidFill>
              </a:rPr>
              <a:t> handles the PUT request. It is invoked by the web container.</a:t>
            </a:r>
            <a:endParaRPr sz="1500" dirty="0">
              <a:solidFill>
                <a:schemeClr val="dk1"/>
              </a:solidFill>
            </a:endParaRPr>
          </a:p>
          <a:p>
            <a:pPr marL="0" lvl="0" indent="0" algn="l" rtl="0">
              <a:spcBef>
                <a:spcPts val="1200"/>
              </a:spcBef>
              <a:spcAft>
                <a:spcPts val="0"/>
              </a:spcAft>
              <a:buNone/>
            </a:pPr>
            <a:r>
              <a:rPr lang="en" sz="1500" b="1" dirty="0">
                <a:solidFill>
                  <a:schemeClr val="dk1"/>
                </a:solidFill>
              </a:rPr>
              <a:t>protected void doDelete(HttpServletRequest req, HttpServletResponse res)</a:t>
            </a:r>
            <a:r>
              <a:rPr lang="en" sz="1500" dirty="0">
                <a:solidFill>
                  <a:schemeClr val="dk1"/>
                </a:solidFill>
              </a:rPr>
              <a:t> handles the DELETE request. It is invoked by the web container.</a:t>
            </a:r>
            <a:endParaRPr sz="1500" dirty="0">
              <a:solidFill>
                <a:schemeClr val="dk1"/>
              </a:solidFill>
            </a:endParaRPr>
          </a:p>
          <a:p>
            <a:pPr marL="0" lvl="0" indent="0" algn="l" rtl="0">
              <a:spcBef>
                <a:spcPts val="1200"/>
              </a:spcBef>
              <a:spcAft>
                <a:spcPts val="0"/>
              </a:spcAft>
              <a:buNone/>
            </a:pPr>
            <a:r>
              <a:rPr lang="en" sz="1500" b="1" dirty="0">
                <a:solidFill>
                  <a:schemeClr val="dk1"/>
                </a:solidFill>
              </a:rPr>
              <a:t>protected long getLastModified(HttpServletRequest req)</a:t>
            </a:r>
            <a:r>
              <a:rPr lang="en" sz="1500" dirty="0">
                <a:solidFill>
                  <a:schemeClr val="dk1"/>
                </a:solidFill>
              </a:rPr>
              <a:t> returns the time when HttpServletRequest was last modified since midnight January 1, 1970 GMT.</a:t>
            </a:r>
            <a:endParaRPr sz="1500" dirty="0">
              <a:solidFill>
                <a:schemeClr val="dk1"/>
              </a:solidFill>
            </a:endParaRPr>
          </a:p>
          <a:p>
            <a:pPr marL="0" lvl="0" indent="0" algn="l" rtl="0">
              <a:spcBef>
                <a:spcPts val="1200"/>
              </a:spcBef>
              <a:spcAft>
                <a:spcPts val="1200"/>
              </a:spcAft>
              <a:buNone/>
            </a:pPr>
            <a:endParaRPr sz="22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HttpServletRequest</a:t>
            </a:r>
            <a:endParaRPr/>
          </a:p>
          <a:p>
            <a:pPr marL="0" lvl="0" indent="0" algn="l" rtl="0">
              <a:spcBef>
                <a:spcPts val="0"/>
              </a:spcBef>
              <a:spcAft>
                <a:spcPts val="0"/>
              </a:spcAft>
              <a:buNone/>
            </a:pPr>
            <a:endParaRPr/>
          </a:p>
        </p:txBody>
      </p:sp>
      <p:sp>
        <p:nvSpPr>
          <p:cNvPr id="237" name="Google Shape;237;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dirty="0"/>
              <a:t>Provides support for Cookies &amp; Session Tracking; Access to Http header information</a:t>
            </a:r>
            <a:endParaRPr dirty="0"/>
          </a:p>
          <a:p>
            <a:pPr marL="0" lvl="0" indent="0" algn="l" rtl="0">
              <a:spcBef>
                <a:spcPts val="1200"/>
              </a:spcBef>
              <a:spcAft>
                <a:spcPts val="0"/>
              </a:spcAft>
              <a:buNone/>
            </a:pPr>
            <a:r>
              <a:rPr lang="en" dirty="0"/>
              <a:t>HttpServletRequest parses incoming HTTP form data and stores it as Servlet parameters.</a:t>
            </a:r>
            <a:endParaRPr dirty="0"/>
          </a:p>
          <a:p>
            <a:pPr marL="0" lvl="0" indent="0" algn="l" rtl="0">
              <a:spcBef>
                <a:spcPts val="1200"/>
              </a:spcBef>
              <a:spcAft>
                <a:spcPts val="0"/>
              </a:spcAft>
              <a:buNone/>
            </a:pPr>
            <a:r>
              <a:rPr lang="en" dirty="0"/>
              <a:t>getCookies() - Returns an array of Cookie objects the client sent with request</a:t>
            </a:r>
            <a:endParaRPr dirty="0"/>
          </a:p>
          <a:p>
            <a:pPr marL="0" marR="0" lvl="0" indent="0" algn="l" rtl="0">
              <a:lnSpc>
                <a:spcPct val="115000"/>
              </a:lnSpc>
              <a:spcBef>
                <a:spcPts val="1200"/>
              </a:spcBef>
              <a:spcAft>
                <a:spcPts val="0"/>
              </a:spcAft>
              <a:buNone/>
            </a:pPr>
            <a:r>
              <a:rPr lang="en" dirty="0">
                <a:uFill>
                  <a:noFill/>
                </a:uFill>
                <a:hlinkClick r:id="rId3"/>
              </a:rPr>
              <a:t>getContextPath</a:t>
            </a:r>
            <a:r>
              <a:rPr lang="en" dirty="0"/>
              <a:t>()-  Returns the portion of the request URI that indicates the context of the request.</a:t>
            </a:r>
            <a:endParaRPr dirty="0"/>
          </a:p>
          <a:p>
            <a:pPr marL="0" marR="0" lvl="0" indent="0" algn="l" rtl="0">
              <a:lnSpc>
                <a:spcPct val="115000"/>
              </a:lnSpc>
              <a:spcBef>
                <a:spcPts val="1200"/>
              </a:spcBef>
              <a:spcAft>
                <a:spcPts val="0"/>
              </a:spcAft>
              <a:buNone/>
            </a:pPr>
            <a:r>
              <a:rPr lang="en" dirty="0">
                <a:uFill>
                  <a:noFill/>
                </a:uFill>
                <a:hlinkClick r:id="rId4"/>
              </a:rPr>
              <a:t>getMethod</a:t>
            </a:r>
            <a:r>
              <a:rPr lang="en" dirty="0"/>
              <a:t>() -  Returns the name of the HTTP method with which this request was made, for example, GET, POST, or PUT.</a:t>
            </a:r>
            <a:endParaRPr dirty="0"/>
          </a:p>
          <a:p>
            <a:pPr marL="0" marR="0" lvl="0" indent="0" algn="l" rtl="0">
              <a:lnSpc>
                <a:spcPct val="115000"/>
              </a:lnSpc>
              <a:spcBef>
                <a:spcPts val="1200"/>
              </a:spcBef>
              <a:spcAft>
                <a:spcPts val="1200"/>
              </a:spcAft>
              <a:buNone/>
            </a:pPr>
            <a:r>
              <a:rPr lang="en" dirty="0">
                <a:uFill>
                  <a:noFill/>
                </a:uFill>
                <a:hlinkClick r:id="rId5"/>
              </a:rPr>
              <a:t>getRequestURL</a:t>
            </a:r>
            <a:r>
              <a:rPr lang="en" dirty="0"/>
              <a:t>() -  Reconstructs the URL the client used to make the request.</a:t>
            </a:r>
            <a:endParaRPr sz="1100" dirty="0">
              <a:solidFill>
                <a:schemeClr val="dk1"/>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HttpServletRequest</a:t>
            </a:r>
            <a:endParaRPr/>
          </a:p>
        </p:txBody>
      </p:sp>
      <p:sp>
        <p:nvSpPr>
          <p:cNvPr id="243" name="Google Shape;243;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275"/>
              <a:buNone/>
            </a:pPr>
            <a:r>
              <a:rPr lang="en" sz="1528" dirty="0">
                <a:uFill>
                  <a:noFill/>
                </a:uFill>
                <a:hlinkClick r:id="rId3"/>
              </a:rPr>
              <a:t>login</a:t>
            </a:r>
            <a:r>
              <a:rPr lang="en" sz="1528" dirty="0"/>
              <a:t>(java.lang.String username, java.lang.String password) : </a:t>
            </a:r>
            <a:endParaRPr sz="1528" dirty="0"/>
          </a:p>
          <a:p>
            <a:pPr marL="0" marR="0" lvl="0" indent="0" algn="l" rtl="0">
              <a:lnSpc>
                <a:spcPct val="115000"/>
              </a:lnSpc>
              <a:spcBef>
                <a:spcPts val="1200"/>
              </a:spcBef>
              <a:spcAft>
                <a:spcPts val="0"/>
              </a:spcAft>
              <a:buSzPts val="275"/>
              <a:buNone/>
            </a:pPr>
            <a:r>
              <a:rPr lang="en" sz="1528" dirty="0"/>
              <a:t>          Validate the provided username and password in the password validation realm used by the web container login mechanism configured for the ServletContext.</a:t>
            </a:r>
            <a:endParaRPr sz="1528" dirty="0"/>
          </a:p>
          <a:p>
            <a:pPr marL="0" marR="0" lvl="0" indent="0" algn="l" rtl="0">
              <a:lnSpc>
                <a:spcPct val="115000"/>
              </a:lnSpc>
              <a:spcBef>
                <a:spcPts val="1200"/>
              </a:spcBef>
              <a:spcAft>
                <a:spcPts val="0"/>
              </a:spcAft>
              <a:buSzPts val="275"/>
              <a:buNone/>
            </a:pPr>
            <a:r>
              <a:rPr lang="en" sz="1528" dirty="0">
                <a:uFill>
                  <a:noFill/>
                </a:uFill>
                <a:hlinkClick r:id="rId4"/>
              </a:rPr>
              <a:t>logout</a:t>
            </a:r>
            <a:r>
              <a:rPr lang="en" sz="1528" dirty="0"/>
              <a:t>():           Establish null as the value returned when getUserPrincipal, getRemoteUser, and getAuthType is called on the request.</a:t>
            </a:r>
            <a:endParaRPr sz="1528" dirty="0"/>
          </a:p>
          <a:p>
            <a:pPr marL="0" marR="0" lvl="0" indent="0" algn="l" rtl="0">
              <a:lnSpc>
                <a:spcPct val="115000"/>
              </a:lnSpc>
              <a:spcBef>
                <a:spcPts val="1200"/>
              </a:spcBef>
              <a:spcAft>
                <a:spcPts val="0"/>
              </a:spcAft>
              <a:buSzPts val="275"/>
              <a:buNone/>
            </a:pPr>
            <a:r>
              <a:rPr lang="en" sz="1528" dirty="0">
                <a:uFill>
                  <a:noFill/>
                </a:uFill>
                <a:hlinkClick r:id="rId5"/>
              </a:rPr>
              <a:t>getAuthType</a:t>
            </a:r>
            <a:r>
              <a:rPr lang="en" sz="1528" dirty="0"/>
              <a:t>():           Returns the name of the authentication scheme used to protect the servlet.</a:t>
            </a:r>
            <a:endParaRPr sz="1528" dirty="0"/>
          </a:p>
          <a:p>
            <a:pPr marL="0" marR="0" lvl="0" indent="0" algn="l" rtl="0">
              <a:lnSpc>
                <a:spcPct val="115000"/>
              </a:lnSpc>
              <a:spcBef>
                <a:spcPts val="1200"/>
              </a:spcBef>
              <a:spcAft>
                <a:spcPts val="0"/>
              </a:spcAft>
              <a:buSzPts val="275"/>
              <a:buNone/>
            </a:pPr>
            <a:r>
              <a:rPr lang="en" sz="1528" dirty="0">
                <a:uFill>
                  <a:noFill/>
                </a:uFill>
                <a:hlinkClick r:id="rId6"/>
              </a:rPr>
              <a:t>getPart</a:t>
            </a:r>
            <a:r>
              <a:rPr lang="en" sz="1528" dirty="0"/>
              <a:t>(java.lang.String name):           Gets the Part with the given name.</a:t>
            </a:r>
            <a:endParaRPr sz="1353" dirty="0">
              <a:solidFill>
                <a:schemeClr val="dk1"/>
              </a:solidFill>
            </a:endParaRPr>
          </a:p>
          <a:p>
            <a:pPr marL="0" lvl="0" indent="0" algn="l" rtl="0">
              <a:lnSpc>
                <a:spcPct val="100000"/>
              </a:lnSpc>
              <a:spcBef>
                <a:spcPts val="1200"/>
              </a:spcBef>
              <a:spcAft>
                <a:spcPts val="0"/>
              </a:spcAft>
              <a:buSzPts val="275"/>
              <a:buNone/>
            </a:pPr>
            <a:endParaRPr sz="775" dirty="0">
              <a:solidFill>
                <a:schemeClr val="dk1"/>
              </a:solidFill>
            </a:endParaRPr>
          </a:p>
          <a:p>
            <a:pPr marL="0" lvl="0" indent="0" algn="l" rtl="0">
              <a:lnSpc>
                <a:spcPct val="100000"/>
              </a:lnSpc>
              <a:spcBef>
                <a:spcPts val="0"/>
              </a:spcBef>
              <a:spcAft>
                <a:spcPts val="0"/>
              </a:spcAft>
              <a:buSzPts val="275"/>
              <a:buNone/>
            </a:pPr>
            <a:endParaRPr sz="775" dirty="0">
              <a:solidFill>
                <a:schemeClr val="dk1"/>
              </a:solidFill>
            </a:endParaRPr>
          </a:p>
          <a:p>
            <a:pPr marL="0" lvl="0" indent="0" algn="l" rtl="0">
              <a:spcBef>
                <a:spcPts val="0"/>
              </a:spcBef>
              <a:spcAft>
                <a:spcPts val="1200"/>
              </a:spcAft>
              <a:buSzPts val="275"/>
              <a:buNone/>
            </a:pPr>
            <a:endParaRPr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HTML File</a:t>
            </a:r>
            <a:endParaRPr lang="en-IN" dirty="0"/>
          </a:p>
        </p:txBody>
      </p:sp>
      <p:sp>
        <p:nvSpPr>
          <p:cNvPr id="3" name="Text Placeholder 2"/>
          <p:cNvSpPr>
            <a:spLocks noGrp="1"/>
          </p:cNvSpPr>
          <p:nvPr>
            <p:ph type="body" idx="1"/>
          </p:nvPr>
        </p:nvSpPr>
        <p:spPr/>
        <p:txBody>
          <a:bodyPr>
            <a:normAutofit lnSpcReduction="10000"/>
          </a:bodyPr>
          <a:lstStyle/>
          <a:p>
            <a:pPr marL="114300" indent="0">
              <a:buNone/>
            </a:pPr>
            <a:r>
              <a:rPr lang="en-IN" dirty="0"/>
              <a:t>&lt;!DOCTYPE html&gt;</a:t>
            </a:r>
          </a:p>
          <a:p>
            <a:pPr marL="114300" indent="0">
              <a:buNone/>
            </a:pPr>
            <a:r>
              <a:rPr lang="en-IN" dirty="0"/>
              <a:t>&lt;html&gt;</a:t>
            </a:r>
          </a:p>
          <a:p>
            <a:pPr marL="114300" indent="0">
              <a:buNone/>
            </a:pPr>
            <a:r>
              <a:rPr lang="en-IN" dirty="0"/>
              <a:t>&lt;body&gt;</a:t>
            </a:r>
          </a:p>
          <a:p>
            <a:pPr marL="114300" indent="0">
              <a:buNone/>
            </a:pPr>
            <a:r>
              <a:rPr lang="en-IN" dirty="0"/>
              <a:t>    &lt;form action="</a:t>
            </a:r>
            <a:r>
              <a:rPr lang="en-IN" dirty="0" err="1"/>
              <a:t>loginServlet</a:t>
            </a:r>
            <a:r>
              <a:rPr lang="en-IN" dirty="0"/>
              <a:t>" method="post" </a:t>
            </a:r>
            <a:r>
              <a:rPr lang="en-IN" dirty="0" err="1"/>
              <a:t>enctype</a:t>
            </a:r>
            <a:r>
              <a:rPr lang="en-IN" dirty="0"/>
              <a:t>="multipart/form-data"&gt;</a:t>
            </a:r>
          </a:p>
          <a:p>
            <a:pPr marL="114300" indent="0">
              <a:buNone/>
            </a:pPr>
            <a:r>
              <a:rPr lang="en-IN" dirty="0"/>
              <a:t>        Username: &lt;input type="text" name="username" /&gt;&lt;</a:t>
            </a:r>
            <a:r>
              <a:rPr lang="en-IN" dirty="0" err="1"/>
              <a:t>br</a:t>
            </a:r>
            <a:r>
              <a:rPr lang="en-IN" dirty="0"/>
              <a:t>/&gt;</a:t>
            </a:r>
          </a:p>
          <a:p>
            <a:pPr marL="114300" indent="0">
              <a:buNone/>
            </a:pPr>
            <a:r>
              <a:rPr lang="en-IN" dirty="0"/>
              <a:t>        Password: &lt;input type="password" name="password" /&gt;&lt;</a:t>
            </a:r>
            <a:r>
              <a:rPr lang="en-IN" dirty="0" err="1"/>
              <a:t>br</a:t>
            </a:r>
            <a:r>
              <a:rPr lang="en-IN" dirty="0"/>
              <a:t>/&gt;</a:t>
            </a:r>
          </a:p>
          <a:p>
            <a:pPr marL="114300" indent="0">
              <a:buNone/>
            </a:pPr>
            <a:r>
              <a:rPr lang="en-IN" dirty="0"/>
              <a:t>        Upload File: &lt;input type="file" name="</a:t>
            </a:r>
            <a:r>
              <a:rPr lang="en-IN" dirty="0" err="1"/>
              <a:t>fileUpload</a:t>
            </a:r>
            <a:r>
              <a:rPr lang="en-IN" dirty="0"/>
              <a:t>" /&gt;&lt;</a:t>
            </a:r>
            <a:r>
              <a:rPr lang="en-IN" dirty="0" err="1"/>
              <a:t>br</a:t>
            </a:r>
            <a:r>
              <a:rPr lang="en-IN" dirty="0"/>
              <a:t>/&gt;</a:t>
            </a:r>
          </a:p>
          <a:p>
            <a:pPr marL="114300" indent="0">
              <a:buNone/>
            </a:pPr>
            <a:r>
              <a:rPr lang="en-IN" dirty="0"/>
              <a:t>        &lt;input type="submit" value="Login &amp; Upload" /&gt;</a:t>
            </a:r>
          </a:p>
          <a:p>
            <a:pPr marL="114300" indent="0">
              <a:buNone/>
            </a:pPr>
            <a:r>
              <a:rPr lang="en-IN" dirty="0"/>
              <a:t>    &lt;/form&gt;</a:t>
            </a:r>
          </a:p>
          <a:p>
            <a:pPr marL="114300" indent="0">
              <a:buNone/>
            </a:pPr>
            <a:r>
              <a:rPr lang="en-IN" dirty="0"/>
              <a:t>&lt;/body&gt;</a:t>
            </a:r>
          </a:p>
          <a:p>
            <a:pPr marL="114300" indent="0">
              <a:buNone/>
            </a:pPr>
            <a:r>
              <a:rPr lang="en-IN" dirty="0"/>
              <a:t>&lt;/html&gt;</a:t>
            </a:r>
          </a:p>
          <a:p>
            <a:pPr marL="114300" indent="0">
              <a:buNone/>
            </a:pPr>
            <a:endParaRPr lang="en-IN" dirty="0"/>
          </a:p>
        </p:txBody>
      </p:sp>
    </p:spTree>
    <p:extLst>
      <p:ext uri="{BB962C8B-B14F-4D97-AF65-F5344CB8AC3E}">
        <p14:creationId xmlns:p14="http://schemas.microsoft.com/office/powerpoint/2010/main" val="252972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Servlet Code</a:t>
            </a:r>
            <a:endParaRPr lang="en-IN" dirty="0"/>
          </a:p>
        </p:txBody>
      </p:sp>
      <p:sp>
        <p:nvSpPr>
          <p:cNvPr id="3" name="Text Placeholder 2"/>
          <p:cNvSpPr>
            <a:spLocks noGrp="1"/>
          </p:cNvSpPr>
          <p:nvPr>
            <p:ph type="body" idx="1"/>
          </p:nvPr>
        </p:nvSpPr>
        <p:spPr>
          <a:xfrm>
            <a:off x="311700" y="951584"/>
            <a:ext cx="8520600" cy="3416400"/>
          </a:xfrm>
        </p:spPr>
        <p:txBody>
          <a:bodyPr>
            <a:noAutofit/>
          </a:bodyPr>
          <a:lstStyle/>
          <a:p>
            <a:pPr marL="114300" indent="0">
              <a:buNone/>
            </a:pPr>
            <a:r>
              <a:rPr lang="en-IN" sz="1200" b="1" dirty="0"/>
              <a:t>import </a:t>
            </a:r>
            <a:r>
              <a:rPr lang="en-IN" sz="1200" b="1" dirty="0" err="1"/>
              <a:t>java.io.IOException</a:t>
            </a:r>
            <a:r>
              <a:rPr lang="en-IN" sz="1200" b="1" dirty="0"/>
              <a:t>;</a:t>
            </a:r>
          </a:p>
          <a:p>
            <a:pPr marL="114300" indent="0">
              <a:buNone/>
            </a:pPr>
            <a:r>
              <a:rPr lang="en-IN" sz="1200" b="1" dirty="0"/>
              <a:t>import </a:t>
            </a:r>
            <a:r>
              <a:rPr lang="en-IN" sz="1200" b="1" dirty="0" err="1"/>
              <a:t>java.io.PrintWriter</a:t>
            </a:r>
            <a:r>
              <a:rPr lang="en-IN" sz="1200" b="1" dirty="0"/>
              <a:t>;</a:t>
            </a:r>
          </a:p>
          <a:p>
            <a:pPr marL="114300" indent="0">
              <a:buNone/>
            </a:pPr>
            <a:r>
              <a:rPr lang="en-IN" sz="1200" b="1" dirty="0"/>
              <a:t>import </a:t>
            </a:r>
            <a:r>
              <a:rPr lang="en-IN" sz="1200" b="1" dirty="0" err="1"/>
              <a:t>javax.servlet.ServletException</a:t>
            </a:r>
            <a:r>
              <a:rPr lang="en-IN" sz="1200" b="1" dirty="0"/>
              <a:t>;</a:t>
            </a:r>
          </a:p>
          <a:p>
            <a:pPr marL="114300" indent="0">
              <a:buNone/>
            </a:pPr>
            <a:r>
              <a:rPr lang="en-IN" sz="1200" b="1" dirty="0"/>
              <a:t>import </a:t>
            </a:r>
            <a:r>
              <a:rPr lang="en-IN" sz="1200" b="1" dirty="0" err="1"/>
              <a:t>javax.servlet.annotation.MultipartConfig</a:t>
            </a:r>
            <a:r>
              <a:rPr lang="en-IN" sz="1200" b="1" dirty="0"/>
              <a:t>;</a:t>
            </a:r>
          </a:p>
          <a:p>
            <a:pPr marL="114300" indent="0">
              <a:buNone/>
            </a:pPr>
            <a:r>
              <a:rPr lang="en-IN" sz="1200" b="1" dirty="0"/>
              <a:t>import </a:t>
            </a:r>
            <a:r>
              <a:rPr lang="en-IN" sz="1200" b="1" dirty="0" err="1"/>
              <a:t>javax.servlet.annotation.WebServlet</a:t>
            </a:r>
            <a:r>
              <a:rPr lang="en-IN" sz="1200" b="1" dirty="0"/>
              <a:t>;</a:t>
            </a:r>
          </a:p>
          <a:p>
            <a:pPr marL="114300" indent="0">
              <a:buNone/>
            </a:pPr>
            <a:r>
              <a:rPr lang="en-IN" sz="1200" b="1" dirty="0"/>
              <a:t>import </a:t>
            </a:r>
            <a:r>
              <a:rPr lang="en-IN" sz="1200" b="1" dirty="0" err="1"/>
              <a:t>javax.servlet.http</a:t>
            </a:r>
            <a:r>
              <a:rPr lang="en-IN" sz="1200" b="1" dirty="0"/>
              <a:t>.*;</a:t>
            </a:r>
          </a:p>
          <a:p>
            <a:pPr marL="114300" indent="0">
              <a:buNone/>
            </a:pPr>
            <a:r>
              <a:rPr lang="en-IN" sz="1200" b="1" dirty="0" smtClean="0"/>
              <a:t>@</a:t>
            </a:r>
            <a:r>
              <a:rPr lang="en-IN" sz="1200" b="1" dirty="0" err="1"/>
              <a:t>WebServlet</a:t>
            </a:r>
            <a:r>
              <a:rPr lang="en-IN" sz="1200" b="1" dirty="0"/>
              <a:t>("/</a:t>
            </a:r>
            <a:r>
              <a:rPr lang="en-IN" sz="1200" b="1" dirty="0" err="1"/>
              <a:t>loginServlet</a:t>
            </a:r>
            <a:r>
              <a:rPr lang="en-IN" sz="1200" b="1" dirty="0"/>
              <a:t>")</a:t>
            </a:r>
          </a:p>
          <a:p>
            <a:pPr marL="114300" indent="0">
              <a:buNone/>
            </a:pPr>
            <a:r>
              <a:rPr lang="en-IN" sz="1200" b="1" dirty="0"/>
              <a:t>@</a:t>
            </a:r>
            <a:r>
              <a:rPr lang="en-IN" sz="1200" b="1" dirty="0" err="1"/>
              <a:t>MultipartConfig</a:t>
            </a:r>
            <a:endParaRPr lang="en-IN" sz="1200" b="1" dirty="0"/>
          </a:p>
          <a:p>
            <a:pPr marL="114300" indent="0">
              <a:buNone/>
            </a:pPr>
            <a:r>
              <a:rPr lang="en-IN" sz="1200" b="1" dirty="0"/>
              <a:t>public class </a:t>
            </a:r>
            <a:r>
              <a:rPr lang="en-IN" sz="1200" b="1" dirty="0" err="1"/>
              <a:t>LoginServlet</a:t>
            </a:r>
            <a:r>
              <a:rPr lang="en-IN" sz="1200" b="1" dirty="0"/>
              <a:t> extends </a:t>
            </a:r>
            <a:r>
              <a:rPr lang="en-IN" sz="1200" b="1" dirty="0" err="1"/>
              <a:t>HttpServlet</a:t>
            </a:r>
            <a:r>
              <a:rPr lang="en-IN" sz="1200" b="1" dirty="0"/>
              <a:t> </a:t>
            </a:r>
            <a:r>
              <a:rPr lang="en-IN" sz="1200" b="1" dirty="0" smtClean="0"/>
              <a:t>{</a:t>
            </a:r>
            <a:endParaRPr lang="en-IN" sz="1200" b="1" dirty="0"/>
          </a:p>
          <a:p>
            <a:pPr marL="114300" indent="0">
              <a:buNone/>
            </a:pPr>
            <a:r>
              <a:rPr lang="en-IN" sz="1200" b="1" dirty="0" smtClean="0"/>
              <a:t>protected </a:t>
            </a:r>
            <a:r>
              <a:rPr lang="en-IN" sz="1200" b="1" dirty="0"/>
              <a:t>void </a:t>
            </a:r>
            <a:r>
              <a:rPr lang="en-IN" sz="1200" b="1" dirty="0" err="1"/>
              <a:t>doPost</a:t>
            </a:r>
            <a:r>
              <a:rPr lang="en-IN" sz="1200" b="1" dirty="0"/>
              <a:t>(</a:t>
            </a:r>
            <a:r>
              <a:rPr lang="en-IN" sz="1200" b="1" dirty="0" err="1"/>
              <a:t>HttpServletRequest</a:t>
            </a:r>
            <a:r>
              <a:rPr lang="en-IN" sz="1200" b="1" dirty="0"/>
              <a:t> request, </a:t>
            </a:r>
            <a:r>
              <a:rPr lang="en-IN" sz="1200" b="1" dirty="0" err="1"/>
              <a:t>HttpServletResponse</a:t>
            </a:r>
            <a:r>
              <a:rPr lang="en-IN" sz="1200" b="1" dirty="0"/>
              <a:t> response</a:t>
            </a:r>
            <a:r>
              <a:rPr lang="en-IN" sz="1200" b="1" dirty="0" smtClean="0"/>
              <a:t>) throws </a:t>
            </a:r>
            <a:r>
              <a:rPr lang="en-IN" sz="1200" b="1" dirty="0" err="1"/>
              <a:t>ServletException</a:t>
            </a:r>
            <a:r>
              <a:rPr lang="en-IN" sz="1200" b="1" dirty="0"/>
              <a:t>, </a:t>
            </a:r>
            <a:r>
              <a:rPr lang="en-IN" sz="1200" b="1" dirty="0" err="1"/>
              <a:t>IOException</a:t>
            </a:r>
            <a:r>
              <a:rPr lang="en-IN" sz="1200" b="1" dirty="0"/>
              <a:t> </a:t>
            </a:r>
            <a:r>
              <a:rPr lang="en-IN" sz="1200" b="1" dirty="0" smtClean="0"/>
              <a:t>{       </a:t>
            </a:r>
            <a:r>
              <a:rPr lang="en-IN" sz="1200" b="1" dirty="0" err="1"/>
              <a:t>response.setContentType</a:t>
            </a:r>
            <a:r>
              <a:rPr lang="en-IN" sz="1200" b="1" dirty="0"/>
              <a:t>("text/html</a:t>
            </a:r>
            <a:r>
              <a:rPr lang="en-IN" sz="1200" b="1" dirty="0" smtClean="0"/>
              <a:t>"); </a:t>
            </a:r>
            <a:r>
              <a:rPr lang="en-IN" sz="1200" b="1" dirty="0" err="1" smtClean="0"/>
              <a:t>PrintWriter</a:t>
            </a:r>
            <a:r>
              <a:rPr lang="en-IN" sz="1200" b="1" dirty="0" smtClean="0"/>
              <a:t> </a:t>
            </a:r>
            <a:r>
              <a:rPr lang="en-IN" sz="1200" b="1" dirty="0"/>
              <a:t>out = </a:t>
            </a:r>
            <a:r>
              <a:rPr lang="en-IN" sz="1200" b="1" dirty="0" err="1"/>
              <a:t>response.getWriter</a:t>
            </a:r>
            <a:r>
              <a:rPr lang="en-IN" sz="1200" b="1" dirty="0"/>
              <a:t>();</a:t>
            </a:r>
          </a:p>
          <a:p>
            <a:pPr marL="114300" indent="0">
              <a:buNone/>
            </a:pPr>
            <a:r>
              <a:rPr lang="en-IN" sz="1200" b="1" dirty="0" smtClean="0"/>
              <a:t>        String </a:t>
            </a:r>
            <a:r>
              <a:rPr lang="en-IN" sz="1200" b="1" dirty="0"/>
              <a:t>username = </a:t>
            </a:r>
            <a:r>
              <a:rPr lang="en-IN" sz="1200" b="1" dirty="0" err="1"/>
              <a:t>request.getParameter</a:t>
            </a:r>
            <a:r>
              <a:rPr lang="en-IN" sz="1200" b="1" dirty="0"/>
              <a:t>("username</a:t>
            </a:r>
            <a:r>
              <a:rPr lang="en-IN" sz="1200" b="1" dirty="0" smtClean="0"/>
              <a:t>");String </a:t>
            </a:r>
            <a:r>
              <a:rPr lang="en-IN" sz="1200" b="1" dirty="0"/>
              <a:t>password = </a:t>
            </a:r>
            <a:r>
              <a:rPr lang="en-IN" sz="1200" b="1" dirty="0" err="1"/>
              <a:t>request.getParameter</a:t>
            </a:r>
            <a:r>
              <a:rPr lang="en-IN" sz="1200" b="1" dirty="0"/>
              <a:t>("password");</a:t>
            </a:r>
          </a:p>
          <a:p>
            <a:pPr marL="114300" indent="0">
              <a:buNone/>
            </a:pPr>
            <a:r>
              <a:rPr lang="en-IN" sz="1200" b="1" dirty="0"/>
              <a:t>        try </a:t>
            </a:r>
            <a:r>
              <a:rPr lang="en-IN" sz="1200" b="1" dirty="0" smtClean="0"/>
              <a:t>{ </a:t>
            </a:r>
            <a:r>
              <a:rPr lang="en-IN" sz="1200" b="1" dirty="0" err="1" smtClean="0"/>
              <a:t>request.login</a:t>
            </a:r>
            <a:r>
              <a:rPr lang="en-IN" sz="1200" b="1" dirty="0" smtClean="0"/>
              <a:t>(username</a:t>
            </a:r>
            <a:r>
              <a:rPr lang="en-IN" sz="1200" b="1" dirty="0"/>
              <a:t>, password); </a:t>
            </a:r>
            <a:r>
              <a:rPr lang="en-IN" sz="1200" b="1" dirty="0" err="1" smtClean="0"/>
              <a:t>out.println</a:t>
            </a:r>
            <a:r>
              <a:rPr lang="en-IN" sz="1200" b="1" dirty="0"/>
              <a:t>("&lt;p&gt;Login successful!&lt;/p</a:t>
            </a:r>
            <a:r>
              <a:rPr lang="en-IN" sz="1200" b="1" dirty="0" smtClean="0"/>
              <a:t>&gt;"); } </a:t>
            </a:r>
          </a:p>
          <a:p>
            <a:pPr marL="114300" indent="0">
              <a:buNone/>
            </a:pPr>
            <a:r>
              <a:rPr lang="en-IN" sz="1200" b="1" dirty="0"/>
              <a:t> </a:t>
            </a:r>
            <a:r>
              <a:rPr lang="en-IN" sz="1200" b="1" dirty="0" smtClean="0"/>
              <a:t>       catch </a:t>
            </a:r>
            <a:r>
              <a:rPr lang="en-IN" sz="1200" b="1" dirty="0"/>
              <a:t>(</a:t>
            </a:r>
            <a:r>
              <a:rPr lang="en-IN" sz="1200" b="1" dirty="0" err="1"/>
              <a:t>ServletException</a:t>
            </a:r>
            <a:r>
              <a:rPr lang="en-IN" sz="1200" b="1" dirty="0"/>
              <a:t> e) </a:t>
            </a:r>
            <a:r>
              <a:rPr lang="en-IN" sz="1200" b="1" dirty="0" smtClean="0"/>
              <a:t>{ </a:t>
            </a:r>
            <a:r>
              <a:rPr lang="en-IN" sz="1200" b="1" dirty="0" err="1" smtClean="0"/>
              <a:t>out.println</a:t>
            </a:r>
            <a:r>
              <a:rPr lang="en-IN" sz="1200" b="1" dirty="0"/>
              <a:t>("&lt;p&gt;Login failed: " + </a:t>
            </a:r>
            <a:r>
              <a:rPr lang="en-IN" sz="1200" b="1" dirty="0" err="1"/>
              <a:t>e.getMessage</a:t>
            </a:r>
            <a:r>
              <a:rPr lang="en-IN" sz="1200" b="1" dirty="0"/>
              <a:t>() + "&lt;/p</a:t>
            </a:r>
            <a:r>
              <a:rPr lang="en-IN" sz="1200" b="1" dirty="0" smtClean="0"/>
              <a:t>&gt;"); return;      </a:t>
            </a:r>
            <a:r>
              <a:rPr lang="en-IN" sz="1200" b="1" dirty="0"/>
              <a:t>}</a:t>
            </a:r>
          </a:p>
          <a:p>
            <a:pPr marL="114300" indent="0">
              <a:buNone/>
            </a:pPr>
            <a:r>
              <a:rPr lang="en-IN" sz="1200" b="1" dirty="0" smtClean="0"/>
              <a:t>        String </a:t>
            </a:r>
            <a:r>
              <a:rPr lang="en-IN" sz="1200" b="1" dirty="0" err="1"/>
              <a:t>authType</a:t>
            </a:r>
            <a:r>
              <a:rPr lang="en-IN" sz="1200" b="1" dirty="0"/>
              <a:t> = </a:t>
            </a:r>
            <a:r>
              <a:rPr lang="en-IN" sz="1200" b="1" dirty="0" err="1"/>
              <a:t>request.getAuthType</a:t>
            </a:r>
            <a:r>
              <a:rPr lang="en-IN" sz="1200" b="1" dirty="0" smtClean="0"/>
              <a:t>(); </a:t>
            </a:r>
            <a:r>
              <a:rPr lang="en-IN" sz="1200" b="1" dirty="0" err="1" smtClean="0"/>
              <a:t>out.println</a:t>
            </a:r>
            <a:r>
              <a:rPr lang="en-IN" sz="1200" b="1" dirty="0"/>
              <a:t>("&lt;p&gt;</a:t>
            </a:r>
            <a:r>
              <a:rPr lang="en-IN" sz="1200" b="1" dirty="0" err="1"/>
              <a:t>Auth</a:t>
            </a:r>
            <a:r>
              <a:rPr lang="en-IN" sz="1200" b="1" dirty="0"/>
              <a:t> Type: " + </a:t>
            </a:r>
            <a:r>
              <a:rPr lang="en-IN" sz="1200" b="1" dirty="0" err="1"/>
              <a:t>authType</a:t>
            </a:r>
            <a:r>
              <a:rPr lang="en-IN" sz="1200" b="1" dirty="0"/>
              <a:t> + "&lt;/p&gt;");</a:t>
            </a:r>
          </a:p>
          <a:p>
            <a:pPr marL="114300" indent="0">
              <a:buNone/>
            </a:pPr>
            <a:r>
              <a:rPr lang="en-IN" sz="1200" b="1" dirty="0" smtClean="0"/>
              <a:t>        Part </a:t>
            </a:r>
            <a:r>
              <a:rPr lang="en-IN" sz="1200" b="1" dirty="0" err="1"/>
              <a:t>filePart</a:t>
            </a:r>
            <a:r>
              <a:rPr lang="en-IN" sz="1200" b="1" dirty="0"/>
              <a:t> = </a:t>
            </a:r>
            <a:r>
              <a:rPr lang="en-IN" sz="1200" b="1" dirty="0" err="1"/>
              <a:t>request.getPart</a:t>
            </a:r>
            <a:r>
              <a:rPr lang="en-IN" sz="1200" b="1" dirty="0"/>
              <a:t>("</a:t>
            </a:r>
            <a:r>
              <a:rPr lang="en-IN" sz="1200" b="1" dirty="0" err="1"/>
              <a:t>fileUpload</a:t>
            </a:r>
            <a:r>
              <a:rPr lang="en-IN" sz="1200" b="1" dirty="0"/>
              <a:t>");</a:t>
            </a:r>
          </a:p>
          <a:p>
            <a:pPr marL="114300" indent="0">
              <a:buNone/>
            </a:pPr>
            <a:r>
              <a:rPr lang="en-IN" sz="1200" b="1" dirty="0"/>
              <a:t>        if (</a:t>
            </a:r>
            <a:r>
              <a:rPr lang="en-IN" sz="1200" b="1" dirty="0" err="1"/>
              <a:t>filePart</a:t>
            </a:r>
            <a:r>
              <a:rPr lang="en-IN" sz="1200" b="1" dirty="0"/>
              <a:t> != null) </a:t>
            </a:r>
            <a:r>
              <a:rPr lang="en-IN" sz="1200" b="1" dirty="0" smtClean="0"/>
              <a:t>{ </a:t>
            </a:r>
            <a:r>
              <a:rPr lang="en-IN" sz="1200" b="1" dirty="0" err="1" smtClean="0"/>
              <a:t>out.println</a:t>
            </a:r>
            <a:r>
              <a:rPr lang="en-IN" sz="1200" b="1" dirty="0"/>
              <a:t>("&lt;p&gt;Uploaded File Name: " + </a:t>
            </a:r>
            <a:r>
              <a:rPr lang="en-IN" sz="1200" b="1" dirty="0" err="1"/>
              <a:t>filePart.getSubmittedFileName</a:t>
            </a:r>
            <a:r>
              <a:rPr lang="en-IN" sz="1200" b="1" dirty="0"/>
              <a:t>() + "&lt;/p</a:t>
            </a:r>
            <a:r>
              <a:rPr lang="en-IN" sz="1200" b="1" dirty="0" smtClean="0"/>
              <a:t>&gt;“ }</a:t>
            </a:r>
            <a:endParaRPr lang="en-IN" sz="1200" b="1" dirty="0"/>
          </a:p>
          <a:p>
            <a:pPr marL="114300" indent="0">
              <a:buNone/>
            </a:pPr>
            <a:r>
              <a:rPr lang="en-IN" sz="1200" b="1" dirty="0" smtClean="0"/>
              <a:t>        </a:t>
            </a:r>
            <a:r>
              <a:rPr lang="en-IN" sz="1200" b="1" dirty="0" err="1" smtClean="0"/>
              <a:t>request.logout</a:t>
            </a:r>
            <a:r>
              <a:rPr lang="en-IN" sz="1200" b="1" dirty="0" smtClean="0"/>
              <a:t>(); </a:t>
            </a:r>
            <a:r>
              <a:rPr lang="en-IN" sz="1200" b="1" dirty="0" err="1"/>
              <a:t>out.println</a:t>
            </a:r>
            <a:r>
              <a:rPr lang="en-IN" sz="1200" b="1" dirty="0"/>
              <a:t>("&lt;p&gt;User has been logged out.&lt;/p</a:t>
            </a:r>
            <a:r>
              <a:rPr lang="en-IN" sz="1200" b="1" dirty="0" smtClean="0"/>
              <a:t>&gt;");    }}</a:t>
            </a:r>
            <a:endParaRPr lang="en-IN" sz="1200" b="1" dirty="0"/>
          </a:p>
          <a:p>
            <a:pPr marL="114300" indent="0">
              <a:buNone/>
            </a:pPr>
            <a:endParaRPr lang="en-IN" sz="1200" b="1" dirty="0"/>
          </a:p>
        </p:txBody>
      </p:sp>
    </p:spTree>
    <p:extLst>
      <p:ext uri="{BB962C8B-B14F-4D97-AF65-F5344CB8AC3E}">
        <p14:creationId xmlns:p14="http://schemas.microsoft.com/office/powerpoint/2010/main" val="38484576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HttpServletResponse</a:t>
            </a:r>
            <a:endParaRPr/>
          </a:p>
        </p:txBody>
      </p:sp>
      <p:sp>
        <p:nvSpPr>
          <p:cNvPr id="249" name="Google Shape;249;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770"/>
              <a:buFont typeface="Arial"/>
              <a:buNone/>
            </a:pPr>
            <a:r>
              <a:rPr lang="en" sz="2160" dirty="0"/>
              <a:t>void	addCookie(Cookie cookie): Adds the specified cookie to the response.</a:t>
            </a:r>
            <a:endParaRPr sz="2160" dirty="0"/>
          </a:p>
          <a:p>
            <a:pPr marL="0" lvl="0" indent="0" algn="l" rtl="0">
              <a:lnSpc>
                <a:spcPct val="95000"/>
              </a:lnSpc>
              <a:spcBef>
                <a:spcPts val="1200"/>
              </a:spcBef>
              <a:spcAft>
                <a:spcPts val="0"/>
              </a:spcAft>
              <a:buClr>
                <a:schemeClr val="dk1"/>
              </a:buClr>
              <a:buSzPts val="770"/>
              <a:buFont typeface="Arial"/>
              <a:buNone/>
            </a:pPr>
            <a:r>
              <a:rPr lang="en" sz="2160" dirty="0"/>
              <a:t> void	addDateHeader(java.lang.String name, long date):         Adds a response header with the given name and date-value.</a:t>
            </a:r>
            <a:endParaRPr sz="2160" dirty="0"/>
          </a:p>
          <a:p>
            <a:pPr marL="0" lvl="0" indent="0" algn="l" rtl="0">
              <a:lnSpc>
                <a:spcPct val="95000"/>
              </a:lnSpc>
              <a:spcBef>
                <a:spcPts val="1200"/>
              </a:spcBef>
              <a:spcAft>
                <a:spcPts val="0"/>
              </a:spcAft>
              <a:buClr>
                <a:schemeClr val="dk1"/>
              </a:buClr>
              <a:buSzPts val="770"/>
              <a:buFont typeface="Arial"/>
              <a:buNone/>
            </a:pPr>
            <a:r>
              <a:rPr lang="en" sz="2160" dirty="0"/>
              <a:t> java.lang.String	getHeader(java.lang.String name): Gets the value of the response header with the given name.</a:t>
            </a:r>
            <a:endParaRPr sz="2160" dirty="0"/>
          </a:p>
          <a:p>
            <a:pPr marL="0" lvl="0" indent="0" algn="l" rtl="0">
              <a:lnSpc>
                <a:spcPct val="95000"/>
              </a:lnSpc>
              <a:spcBef>
                <a:spcPts val="1200"/>
              </a:spcBef>
              <a:spcAft>
                <a:spcPts val="0"/>
              </a:spcAft>
              <a:buClr>
                <a:schemeClr val="dk1"/>
              </a:buClr>
              <a:buSzPts val="770"/>
              <a:buFont typeface="Arial"/>
              <a:buNone/>
            </a:pPr>
            <a:r>
              <a:rPr lang="en" sz="2160" dirty="0"/>
              <a:t> java.util.Collection&lt;java.lang.String&gt;	getHeaderNames():           Gets the names of the headers of this response.</a:t>
            </a:r>
            <a:endParaRPr sz="2160" dirty="0"/>
          </a:p>
          <a:p>
            <a:pPr marL="0" lvl="0" indent="0" algn="l" rtl="0">
              <a:lnSpc>
                <a:spcPct val="95000"/>
              </a:lnSpc>
              <a:spcBef>
                <a:spcPts val="1200"/>
              </a:spcBef>
              <a:spcAft>
                <a:spcPts val="1200"/>
              </a:spcAft>
              <a:buSzPts val="770"/>
              <a:buNone/>
            </a:pPr>
            <a:endParaRPr sz="21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HttpServletResponse</a:t>
            </a:r>
            <a:endParaRPr/>
          </a:p>
        </p:txBody>
      </p:sp>
      <p:sp>
        <p:nvSpPr>
          <p:cNvPr id="255" name="Google Shape;255;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dirty="0"/>
              <a:t>java.util.Collection&lt;java.lang.String&gt;	getHeaders(java.lang.String name):  Gets the values of the response header with the given name.</a:t>
            </a:r>
            <a:endParaRPr dirty="0"/>
          </a:p>
          <a:p>
            <a:pPr marL="0" lvl="0" indent="0" algn="l" rtl="0">
              <a:spcBef>
                <a:spcPts val="1200"/>
              </a:spcBef>
              <a:spcAft>
                <a:spcPts val="0"/>
              </a:spcAft>
              <a:buClr>
                <a:schemeClr val="dk1"/>
              </a:buClr>
              <a:buSzPts val="1100"/>
              <a:buFont typeface="Arial"/>
              <a:buNone/>
            </a:pPr>
            <a:r>
              <a:rPr lang="en" dirty="0"/>
              <a:t> int	getStatus():   Gets the current status code of this response.</a:t>
            </a:r>
            <a:endParaRPr dirty="0"/>
          </a:p>
          <a:p>
            <a:pPr marL="0" lvl="0" indent="0" algn="l" rtl="0">
              <a:spcBef>
                <a:spcPts val="1200"/>
              </a:spcBef>
              <a:spcAft>
                <a:spcPts val="0"/>
              </a:spcAft>
              <a:buClr>
                <a:schemeClr val="dk1"/>
              </a:buClr>
              <a:buSzPts val="1100"/>
              <a:buFont typeface="Arial"/>
              <a:buNone/>
            </a:pPr>
            <a:r>
              <a:rPr lang="en" dirty="0"/>
              <a:t> void	setStatus(int sc):  Sets the status code for this response.</a:t>
            </a:r>
            <a:endParaRPr dirty="0"/>
          </a:p>
          <a:p>
            <a:pPr marL="0" lvl="0" indent="0" algn="l" rtl="0">
              <a:spcBef>
                <a:spcPts val="1200"/>
              </a:spcBef>
              <a:spcAft>
                <a:spcPts val="0"/>
              </a:spcAft>
              <a:buClr>
                <a:schemeClr val="dk1"/>
              </a:buClr>
              <a:buSzPts val="1100"/>
              <a:buFont typeface="Arial"/>
              <a:buNone/>
            </a:pPr>
            <a:r>
              <a:rPr lang="en" dirty="0"/>
              <a:t> void	setIntHeader(java.lang.String name, int value):   Sets a response header with the given name and integer value.</a:t>
            </a:r>
            <a:endParaRPr dirty="0"/>
          </a:p>
          <a:p>
            <a:pPr marL="0" lvl="0" indent="0" algn="l" rtl="0">
              <a:spcBef>
                <a:spcPts val="1200"/>
              </a:spcBef>
              <a:spcAft>
                <a:spcPts val="1200"/>
              </a:spcAft>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HttpSession</a:t>
            </a:r>
            <a:endParaRPr/>
          </a:p>
        </p:txBody>
      </p:sp>
      <p:sp>
        <p:nvSpPr>
          <p:cNvPr id="261" name="Google Shape;261;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Identify user across more than one page request / visit to website and store information about that user</a:t>
            </a:r>
            <a:endParaRPr dirty="0"/>
          </a:p>
          <a:p>
            <a:pPr marL="0" lvl="0" indent="0" algn="l" rtl="0">
              <a:spcBef>
                <a:spcPts val="1200"/>
              </a:spcBef>
              <a:spcAft>
                <a:spcPts val="0"/>
              </a:spcAft>
              <a:buNone/>
            </a:pPr>
            <a:r>
              <a:rPr lang="en" dirty="0"/>
              <a:t>Using HttpSession interface, a session can be created between Http client and Http server.  Session can persist for a specified period of time, across more than one connection / page request from user.</a:t>
            </a:r>
            <a:endParaRPr dirty="0"/>
          </a:p>
          <a:p>
            <a:pPr marL="0" lvl="0" indent="0" algn="l" rtl="0">
              <a:spcBef>
                <a:spcPts val="1200"/>
              </a:spcBef>
              <a:spcAft>
                <a:spcPts val="0"/>
              </a:spcAft>
              <a:buNone/>
            </a:pPr>
            <a:r>
              <a:rPr lang="en" dirty="0"/>
              <a:t>One can view / manipulate session information like session identifier, creation time and last accessed time. Bind objects to sessions.</a:t>
            </a:r>
            <a:endParaRPr dirty="0"/>
          </a:p>
          <a:p>
            <a:pPr marL="0" lvl="0" indent="0" algn="l" rtl="0">
              <a:spcBef>
                <a:spcPts val="1200"/>
              </a:spcBef>
              <a:spcAft>
                <a:spcPts val="0"/>
              </a:spcAft>
              <a:buNone/>
            </a:pPr>
            <a:r>
              <a:rPr lang="en" dirty="0"/>
              <a:t>With getSession() of HttpSession,  session details of servlet can be obtained</a:t>
            </a:r>
            <a:endParaRPr dirty="0"/>
          </a:p>
          <a:p>
            <a:pPr marL="0" lvl="0" indent="0" algn="l" rtl="0">
              <a:spcBef>
                <a:spcPts val="1200"/>
              </a:spcBef>
              <a:spcAft>
                <a:spcPts val="1200"/>
              </a:spcAft>
              <a:buNone/>
            </a:pP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HttpSession</a:t>
            </a:r>
            <a:endParaRPr/>
          </a:p>
        </p:txBody>
      </p:sp>
      <p:sp>
        <p:nvSpPr>
          <p:cNvPr id="267" name="Google Shape;267;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marR="0" lvl="0" indent="0" algn="l" rtl="0">
              <a:lnSpc>
                <a:spcPct val="115000"/>
              </a:lnSpc>
              <a:spcBef>
                <a:spcPts val="0"/>
              </a:spcBef>
              <a:spcAft>
                <a:spcPts val="0"/>
              </a:spcAft>
              <a:buNone/>
            </a:pPr>
            <a:r>
              <a:rPr lang="en" dirty="0"/>
              <a:t>public String getId():Returns a string containing the unique identifier value.</a:t>
            </a:r>
            <a:endParaRPr dirty="0"/>
          </a:p>
          <a:p>
            <a:pPr marL="0" marR="0" lvl="0" indent="0" algn="l" rtl="0">
              <a:lnSpc>
                <a:spcPct val="115000"/>
              </a:lnSpc>
              <a:spcBef>
                <a:spcPts val="1200"/>
              </a:spcBef>
              <a:spcAft>
                <a:spcPts val="0"/>
              </a:spcAft>
              <a:buNone/>
            </a:pPr>
            <a:r>
              <a:rPr lang="en" dirty="0"/>
              <a:t>public long getCreationTime():Returns the time when this session was created, measured in milliseconds since midnight January 1, 1970 GMT.</a:t>
            </a:r>
            <a:endParaRPr dirty="0"/>
          </a:p>
          <a:p>
            <a:pPr marL="0" marR="0" lvl="0" indent="0" algn="l" rtl="0">
              <a:lnSpc>
                <a:spcPct val="115000"/>
              </a:lnSpc>
              <a:spcBef>
                <a:spcPts val="1200"/>
              </a:spcBef>
              <a:spcAft>
                <a:spcPts val="0"/>
              </a:spcAft>
              <a:buNone/>
            </a:pPr>
            <a:r>
              <a:rPr lang="en" dirty="0"/>
              <a:t>public long getLastAccessedTime():Returns the last time the client sent a request associated with this session, as the number of milliseconds since midnight January 1, 1970 GMT.</a:t>
            </a:r>
            <a:endParaRPr dirty="0"/>
          </a:p>
          <a:p>
            <a:pPr marL="0" marR="0" lvl="0" indent="0" algn="l" rtl="0">
              <a:lnSpc>
                <a:spcPct val="115000"/>
              </a:lnSpc>
              <a:spcBef>
                <a:spcPts val="1200"/>
              </a:spcBef>
              <a:spcAft>
                <a:spcPts val="0"/>
              </a:spcAft>
              <a:buNone/>
            </a:pPr>
            <a:r>
              <a:rPr lang="en" dirty="0"/>
              <a:t>public void invalidate():Invalidates this session then unbinds any objects bound to it.</a:t>
            </a:r>
            <a:endParaRPr dirty="0"/>
          </a:p>
          <a:p>
            <a:pPr marL="0" marR="0" lvl="0" indent="0" algn="l" rtl="0">
              <a:lnSpc>
                <a:spcPct val="115000"/>
              </a:lnSpc>
              <a:spcBef>
                <a:spcPts val="1200"/>
              </a:spcBef>
              <a:spcAft>
                <a:spcPts val="0"/>
              </a:spcAft>
              <a:buNone/>
            </a:pPr>
            <a:r>
              <a:rPr lang="en" dirty="0"/>
              <a:t>setMaxInactiveInterval() getMaxInactiveInterval()</a:t>
            </a:r>
            <a:endParaRPr dirty="0"/>
          </a:p>
          <a:p>
            <a:pPr marL="0" lvl="0" indent="0" algn="l" rtl="0">
              <a:spcBef>
                <a:spcPts val="1200"/>
              </a:spcBef>
              <a:spcAft>
                <a:spcPts val="1200"/>
              </a:spcAft>
              <a:buNone/>
            </a:pP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8628" y="96981"/>
            <a:ext cx="8686827" cy="4208657"/>
          </a:xfrm>
        </p:spPr>
        <p:txBody>
          <a:bodyPr>
            <a:noAutofit/>
          </a:bodyPr>
          <a:lstStyle/>
          <a:p>
            <a:pPr marL="114300" indent="0">
              <a:buNone/>
            </a:pPr>
            <a:r>
              <a:rPr lang="en-IN" sz="1400" b="1" dirty="0"/>
              <a:t>import </a:t>
            </a:r>
            <a:r>
              <a:rPr lang="en-IN" sz="1400" b="1" dirty="0" err="1"/>
              <a:t>java.io.IOException</a:t>
            </a:r>
            <a:r>
              <a:rPr lang="en-IN" sz="1400" b="1" dirty="0"/>
              <a:t>;</a:t>
            </a:r>
          </a:p>
          <a:p>
            <a:pPr marL="114300" indent="0">
              <a:buNone/>
            </a:pPr>
            <a:r>
              <a:rPr lang="en-IN" sz="1400" b="1" dirty="0"/>
              <a:t>import </a:t>
            </a:r>
            <a:r>
              <a:rPr lang="en-IN" sz="1400" b="1" dirty="0" err="1"/>
              <a:t>java.io.PrintWriter</a:t>
            </a:r>
            <a:r>
              <a:rPr lang="en-IN" sz="1400" b="1" dirty="0"/>
              <a:t>;</a:t>
            </a:r>
          </a:p>
          <a:p>
            <a:pPr marL="114300" indent="0">
              <a:buNone/>
            </a:pPr>
            <a:r>
              <a:rPr lang="en-IN" sz="1400" b="1" dirty="0"/>
              <a:t>import </a:t>
            </a:r>
            <a:r>
              <a:rPr lang="en-IN" sz="1400" b="1" dirty="0" err="1"/>
              <a:t>java.util.Date</a:t>
            </a:r>
            <a:r>
              <a:rPr lang="en-IN" sz="1400" b="1" dirty="0"/>
              <a:t>;</a:t>
            </a:r>
          </a:p>
          <a:p>
            <a:pPr marL="114300" indent="0">
              <a:buNone/>
            </a:pPr>
            <a:r>
              <a:rPr lang="en-IN" sz="1400" b="1" dirty="0"/>
              <a:t>import </a:t>
            </a:r>
            <a:r>
              <a:rPr lang="en-IN" sz="1400" b="1" dirty="0" err="1"/>
              <a:t>javax.servlet.ServletException</a:t>
            </a:r>
            <a:r>
              <a:rPr lang="en-IN" sz="1400" b="1" dirty="0"/>
              <a:t>;</a:t>
            </a:r>
          </a:p>
          <a:p>
            <a:pPr marL="114300" indent="0">
              <a:buNone/>
            </a:pPr>
            <a:r>
              <a:rPr lang="en-IN" sz="1400" b="1" dirty="0"/>
              <a:t>import </a:t>
            </a:r>
            <a:r>
              <a:rPr lang="en-IN" sz="1400" b="1" dirty="0" err="1"/>
              <a:t>javax.servlet.annotation.WebServlet</a:t>
            </a:r>
            <a:r>
              <a:rPr lang="en-IN" sz="1400" b="1" dirty="0"/>
              <a:t>;</a:t>
            </a:r>
          </a:p>
          <a:p>
            <a:pPr marL="114300" indent="0">
              <a:buNone/>
            </a:pPr>
            <a:r>
              <a:rPr lang="en-IN" sz="1400" b="1" dirty="0"/>
              <a:t>import </a:t>
            </a:r>
            <a:r>
              <a:rPr lang="en-IN" sz="1400" b="1" dirty="0" err="1"/>
              <a:t>javax.servlet.http</a:t>
            </a:r>
            <a:r>
              <a:rPr lang="en-IN" sz="1400" b="1" dirty="0" smtClean="0"/>
              <a:t>.*;</a:t>
            </a:r>
            <a:endParaRPr lang="en-IN" sz="1400" b="1" dirty="0"/>
          </a:p>
          <a:p>
            <a:pPr marL="114300" indent="0">
              <a:buNone/>
            </a:pPr>
            <a:r>
              <a:rPr lang="en-IN" sz="1400" b="1" dirty="0"/>
              <a:t>@</a:t>
            </a:r>
            <a:r>
              <a:rPr lang="en-IN" sz="1400" b="1" dirty="0" err="1"/>
              <a:t>WebServlet</a:t>
            </a:r>
            <a:r>
              <a:rPr lang="en-IN" sz="1400" b="1" dirty="0"/>
              <a:t>("/</a:t>
            </a:r>
            <a:r>
              <a:rPr lang="en-IN" sz="1400" b="1" dirty="0" err="1"/>
              <a:t>sessionDemo</a:t>
            </a:r>
            <a:r>
              <a:rPr lang="en-IN" sz="1400" b="1" dirty="0"/>
              <a:t>")</a:t>
            </a:r>
          </a:p>
          <a:p>
            <a:pPr marL="114300" indent="0">
              <a:buNone/>
            </a:pPr>
            <a:r>
              <a:rPr lang="en-IN" sz="1400" b="1" dirty="0"/>
              <a:t>public class </a:t>
            </a:r>
            <a:r>
              <a:rPr lang="en-IN" sz="1400" b="1" dirty="0" err="1"/>
              <a:t>SessionDemoServlet</a:t>
            </a:r>
            <a:r>
              <a:rPr lang="en-IN" sz="1400" b="1" dirty="0"/>
              <a:t> extends </a:t>
            </a:r>
            <a:r>
              <a:rPr lang="en-IN" sz="1400" b="1" dirty="0" err="1"/>
              <a:t>HttpServlet</a:t>
            </a:r>
            <a:r>
              <a:rPr lang="en-IN" sz="1400" b="1" dirty="0"/>
              <a:t> {</a:t>
            </a:r>
          </a:p>
          <a:p>
            <a:pPr marL="114300" indent="0">
              <a:buNone/>
            </a:pPr>
            <a:r>
              <a:rPr lang="en-IN" sz="1400" b="1" dirty="0" smtClean="0"/>
              <a:t>protected </a:t>
            </a:r>
            <a:r>
              <a:rPr lang="en-IN" sz="1400" b="1" dirty="0"/>
              <a:t>void </a:t>
            </a:r>
            <a:r>
              <a:rPr lang="en-IN" sz="1400" b="1" dirty="0" err="1"/>
              <a:t>doGet</a:t>
            </a:r>
            <a:r>
              <a:rPr lang="en-IN" sz="1400" b="1" dirty="0"/>
              <a:t>(</a:t>
            </a:r>
            <a:r>
              <a:rPr lang="en-IN" sz="1400" b="1" dirty="0" err="1"/>
              <a:t>HttpServletRequest</a:t>
            </a:r>
            <a:r>
              <a:rPr lang="en-IN" sz="1400" b="1" dirty="0"/>
              <a:t> request, </a:t>
            </a:r>
            <a:r>
              <a:rPr lang="en-IN" sz="1400" b="1" dirty="0" err="1"/>
              <a:t>HttpServletResponse</a:t>
            </a:r>
            <a:r>
              <a:rPr lang="en-IN" sz="1400" b="1" dirty="0"/>
              <a:t> response)</a:t>
            </a:r>
          </a:p>
          <a:p>
            <a:pPr marL="114300" indent="0">
              <a:buNone/>
            </a:pPr>
            <a:r>
              <a:rPr lang="en-IN" sz="1400" b="1" dirty="0"/>
              <a:t>            throws </a:t>
            </a:r>
            <a:r>
              <a:rPr lang="en-IN" sz="1400" b="1" dirty="0" err="1"/>
              <a:t>ServletException</a:t>
            </a:r>
            <a:r>
              <a:rPr lang="en-IN" sz="1400" b="1" dirty="0"/>
              <a:t>, </a:t>
            </a:r>
            <a:r>
              <a:rPr lang="en-IN" sz="1400" b="1" dirty="0" err="1"/>
              <a:t>IOException</a:t>
            </a:r>
            <a:r>
              <a:rPr lang="en-IN" sz="1400" b="1" dirty="0"/>
              <a:t> {</a:t>
            </a:r>
          </a:p>
          <a:p>
            <a:pPr marL="114300" indent="0">
              <a:buNone/>
            </a:pPr>
            <a:r>
              <a:rPr lang="en-IN" sz="1400" b="1" dirty="0"/>
              <a:t>        </a:t>
            </a:r>
            <a:r>
              <a:rPr lang="en-IN" sz="1400" b="1" dirty="0" err="1"/>
              <a:t>HttpSession</a:t>
            </a:r>
            <a:r>
              <a:rPr lang="en-IN" sz="1400" b="1" dirty="0"/>
              <a:t> session = </a:t>
            </a:r>
            <a:r>
              <a:rPr lang="en-IN" sz="1400" b="1" dirty="0" err="1"/>
              <a:t>request.getSession</a:t>
            </a:r>
            <a:r>
              <a:rPr lang="en-IN" sz="1400" b="1" dirty="0"/>
              <a:t>(); // get or create session</a:t>
            </a:r>
          </a:p>
          <a:p>
            <a:pPr marL="114300" indent="0">
              <a:buNone/>
            </a:pPr>
            <a:r>
              <a:rPr lang="en-IN" sz="1400" b="1" dirty="0"/>
              <a:t>        </a:t>
            </a:r>
            <a:r>
              <a:rPr lang="en-IN" sz="1400" b="1" dirty="0" err="1"/>
              <a:t>response.setContentType</a:t>
            </a:r>
            <a:r>
              <a:rPr lang="en-IN" sz="1400" b="1" dirty="0"/>
              <a:t>("text/html</a:t>
            </a:r>
            <a:r>
              <a:rPr lang="en-IN" sz="1400" b="1" dirty="0" smtClean="0"/>
              <a:t>");</a:t>
            </a:r>
            <a:r>
              <a:rPr lang="en-IN" sz="1400" b="1" dirty="0" err="1" smtClean="0"/>
              <a:t>PrintWriter</a:t>
            </a:r>
            <a:r>
              <a:rPr lang="en-IN" sz="1400" b="1" dirty="0" smtClean="0"/>
              <a:t> </a:t>
            </a:r>
            <a:r>
              <a:rPr lang="en-IN" sz="1400" b="1" dirty="0"/>
              <a:t>out = </a:t>
            </a:r>
            <a:r>
              <a:rPr lang="en-IN" sz="1400" b="1" dirty="0" err="1"/>
              <a:t>response.getWriter</a:t>
            </a:r>
            <a:r>
              <a:rPr lang="en-IN" sz="1400" b="1" dirty="0"/>
              <a:t>();</a:t>
            </a:r>
          </a:p>
          <a:p>
            <a:pPr marL="114300" indent="0">
              <a:buNone/>
            </a:pPr>
            <a:r>
              <a:rPr lang="en-IN" sz="1400" b="1" dirty="0" smtClean="0"/>
              <a:t>        </a:t>
            </a:r>
            <a:r>
              <a:rPr lang="en-IN" sz="1400" b="1" dirty="0" err="1" smtClean="0"/>
              <a:t>session.setMaxInactiveInterval</a:t>
            </a:r>
            <a:r>
              <a:rPr lang="en-IN" sz="1400" b="1" dirty="0" smtClean="0"/>
              <a:t>(300);</a:t>
            </a:r>
            <a:r>
              <a:rPr lang="en-IN" sz="1400" b="1" dirty="0" err="1" smtClean="0"/>
              <a:t>out.println</a:t>
            </a:r>
            <a:r>
              <a:rPr lang="en-IN" sz="1400" b="1" dirty="0"/>
              <a:t>("&lt;h3&gt;Session Information&lt;/h3&gt;");</a:t>
            </a:r>
          </a:p>
          <a:p>
            <a:pPr marL="114300" indent="0">
              <a:buNone/>
            </a:pPr>
            <a:r>
              <a:rPr lang="en-IN" sz="1400" b="1" dirty="0"/>
              <a:t>        </a:t>
            </a:r>
            <a:r>
              <a:rPr lang="en-IN" sz="1400" b="1" dirty="0" err="1"/>
              <a:t>out.println</a:t>
            </a:r>
            <a:r>
              <a:rPr lang="en-IN" sz="1400" b="1" dirty="0"/>
              <a:t>("&lt;p&gt;Session ID: " + </a:t>
            </a:r>
            <a:r>
              <a:rPr lang="en-IN" sz="1400" b="1" dirty="0" err="1"/>
              <a:t>session.getId</a:t>
            </a:r>
            <a:r>
              <a:rPr lang="en-IN" sz="1400" b="1" dirty="0"/>
              <a:t>() + "&lt;/p&gt;");</a:t>
            </a:r>
          </a:p>
          <a:p>
            <a:pPr marL="114300" indent="0">
              <a:buNone/>
            </a:pPr>
            <a:r>
              <a:rPr lang="en-IN" sz="1400" b="1" dirty="0"/>
              <a:t>        </a:t>
            </a:r>
            <a:r>
              <a:rPr lang="en-IN" sz="1400" b="1" dirty="0" err="1"/>
              <a:t>out.println</a:t>
            </a:r>
            <a:r>
              <a:rPr lang="en-IN" sz="1400" b="1" dirty="0"/>
              <a:t>("&lt;p&gt;Creation Time: " + new Date(</a:t>
            </a:r>
            <a:r>
              <a:rPr lang="en-IN" sz="1400" b="1" dirty="0" err="1"/>
              <a:t>session.getCreationTime</a:t>
            </a:r>
            <a:r>
              <a:rPr lang="en-IN" sz="1400" b="1" dirty="0"/>
              <a:t>()) + "&lt;/p&gt;");</a:t>
            </a:r>
          </a:p>
          <a:p>
            <a:pPr marL="114300" indent="0">
              <a:buNone/>
            </a:pPr>
            <a:r>
              <a:rPr lang="en-IN" sz="1400" b="1" dirty="0"/>
              <a:t>        </a:t>
            </a:r>
            <a:r>
              <a:rPr lang="en-IN" sz="1400" b="1" dirty="0" err="1"/>
              <a:t>out.println</a:t>
            </a:r>
            <a:r>
              <a:rPr lang="en-IN" sz="1400" b="1" dirty="0"/>
              <a:t>("&lt;p&gt;Last Accessed Time: " + new Date(</a:t>
            </a:r>
            <a:r>
              <a:rPr lang="en-IN" sz="1400" b="1" dirty="0" err="1"/>
              <a:t>session.getLastAccessedTime</a:t>
            </a:r>
            <a:r>
              <a:rPr lang="en-IN" sz="1400" b="1" dirty="0"/>
              <a:t>()) + "&lt;/p&gt;");</a:t>
            </a:r>
          </a:p>
          <a:p>
            <a:pPr marL="114300" indent="0">
              <a:buNone/>
            </a:pPr>
            <a:r>
              <a:rPr lang="en-IN" sz="1400" b="1" dirty="0"/>
              <a:t>        </a:t>
            </a:r>
            <a:r>
              <a:rPr lang="en-IN" sz="1400" b="1" dirty="0" err="1"/>
              <a:t>out.println</a:t>
            </a:r>
            <a:r>
              <a:rPr lang="en-IN" sz="1400" b="1" dirty="0"/>
              <a:t>("&lt;p&gt;Max Inactive Interval (seconds): " + </a:t>
            </a:r>
            <a:r>
              <a:rPr lang="en-IN" sz="1400" b="1" dirty="0" err="1"/>
              <a:t>session.getMaxInactiveInterval</a:t>
            </a:r>
            <a:r>
              <a:rPr lang="en-IN" sz="1400" b="1" dirty="0"/>
              <a:t>() + "&lt;/p</a:t>
            </a:r>
            <a:r>
              <a:rPr lang="en-IN" sz="1400" b="1" dirty="0" smtClean="0"/>
              <a:t>&gt;");</a:t>
            </a:r>
            <a:endParaRPr lang="en-IN" sz="1400" b="1" dirty="0"/>
          </a:p>
          <a:p>
            <a:pPr marL="114300" indent="0">
              <a:buNone/>
            </a:pPr>
            <a:r>
              <a:rPr lang="en-IN" sz="1400" b="1" dirty="0"/>
              <a:t>        // Optional: To invalidate the session (e.g., logout)</a:t>
            </a:r>
          </a:p>
          <a:p>
            <a:pPr marL="114300" indent="0">
              <a:buNone/>
            </a:pPr>
            <a:r>
              <a:rPr lang="en-IN" sz="1400" b="1" dirty="0"/>
              <a:t>        // </a:t>
            </a:r>
            <a:r>
              <a:rPr lang="en-IN" sz="1400" b="1" dirty="0" err="1"/>
              <a:t>session.invalidate</a:t>
            </a:r>
            <a:r>
              <a:rPr lang="en-IN" sz="1400" b="1" dirty="0" smtClean="0"/>
              <a:t>();         </a:t>
            </a:r>
            <a:r>
              <a:rPr lang="en-IN" sz="1400" b="1" dirty="0"/>
              <a:t>// </a:t>
            </a:r>
            <a:r>
              <a:rPr lang="en-IN" sz="1400" b="1" dirty="0" err="1"/>
              <a:t>out.println</a:t>
            </a:r>
            <a:r>
              <a:rPr lang="en-IN" sz="1400" b="1" dirty="0"/>
              <a:t>("&lt;p&gt;Session invalidated.&lt;/p</a:t>
            </a:r>
            <a:r>
              <a:rPr lang="en-IN" sz="1400" b="1" dirty="0" smtClean="0"/>
              <a:t>&gt;");    }}</a:t>
            </a:r>
            <a:endParaRPr lang="en-IN" sz="1400" b="1" dirty="0"/>
          </a:p>
          <a:p>
            <a:pPr marL="114300" indent="0">
              <a:buNone/>
            </a:pPr>
            <a:endParaRPr lang="en-IN" sz="1400" b="1" dirty="0"/>
          </a:p>
        </p:txBody>
      </p:sp>
    </p:spTree>
    <p:extLst>
      <p:ext uri="{BB962C8B-B14F-4D97-AF65-F5344CB8AC3E}">
        <p14:creationId xmlns:p14="http://schemas.microsoft.com/office/powerpoint/2010/main" val="1129946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Cookie</a:t>
            </a:r>
            <a:endParaRPr/>
          </a:p>
        </p:txBody>
      </p:sp>
      <p:sp>
        <p:nvSpPr>
          <p:cNvPr id="273" name="Google Shape;273;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Cookie are used for session management / where it is required to uniquely identify a client</a:t>
            </a:r>
            <a:endParaRPr/>
          </a:p>
          <a:p>
            <a:pPr marL="0" lvl="0" indent="0" algn="l" rtl="0">
              <a:spcBef>
                <a:spcPts val="1200"/>
              </a:spcBef>
              <a:spcAft>
                <a:spcPts val="0"/>
              </a:spcAft>
              <a:buNone/>
            </a:pPr>
            <a:r>
              <a:rPr lang="en"/>
              <a:t>Cookie allows Servlet to read, create and manipulate HTTP style cookies; store small amounts of data on the client</a:t>
            </a:r>
            <a:endParaRPr/>
          </a:p>
          <a:p>
            <a:pPr marL="0" lvl="0" indent="0" algn="l" rtl="0">
              <a:spcBef>
                <a:spcPts val="1200"/>
              </a:spcBef>
              <a:spcAft>
                <a:spcPts val="0"/>
              </a:spcAft>
              <a:buNone/>
            </a:pPr>
            <a:r>
              <a:rPr lang="en"/>
              <a:t>getCookies() of HttpServletRequest is used to retrieve cookies as part of client request</a:t>
            </a:r>
            <a:endParaRPr/>
          </a:p>
          <a:p>
            <a:pPr marL="0" lvl="0" indent="0" algn="l" rtl="0">
              <a:spcBef>
                <a:spcPts val="1200"/>
              </a:spcBef>
              <a:spcAft>
                <a:spcPts val="1200"/>
              </a:spcAft>
              <a:buNone/>
            </a:pPr>
            <a:r>
              <a:rPr lang="en"/>
              <a:t>addCookie() of HttpServletResponse can be used to add a new cookie to Web browser.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Cookie</a:t>
            </a:r>
            <a:endParaRPr/>
          </a:p>
        </p:txBody>
      </p:sp>
      <p:sp>
        <p:nvSpPr>
          <p:cNvPr id="279" name="Google Shape;279;p50"/>
          <p:cNvSpPr txBox="1">
            <a:spLocks noGrp="1"/>
          </p:cNvSpPr>
          <p:nvPr>
            <p:ph type="body" idx="1"/>
          </p:nvPr>
        </p:nvSpPr>
        <p:spPr>
          <a:xfrm>
            <a:off x="311700" y="863550"/>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688"/>
              <a:buFont typeface="Arial"/>
              <a:buNone/>
            </a:pPr>
            <a:r>
              <a:rPr lang="en" sz="1556" b="1">
                <a:solidFill>
                  <a:srgbClr val="4A6782"/>
                </a:solidFill>
                <a:highlight>
                  <a:srgbClr val="FFFFFF"/>
                </a:highlight>
                <a:uFill>
                  <a:noFill/>
                </a:uFill>
                <a:latin typeface="Courier New"/>
                <a:ea typeface="Courier New"/>
                <a:cs typeface="Courier New"/>
                <a:sym typeface="Courier New"/>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clone</a:t>
            </a:r>
            <a:r>
              <a:rPr lang="en" sz="1556">
                <a:solidFill>
                  <a:srgbClr val="353833"/>
                </a:solidFill>
                <a:highlight>
                  <a:srgbClr val="FFFFFF"/>
                </a:highlight>
                <a:latin typeface="Courier New"/>
                <a:ea typeface="Courier New"/>
                <a:cs typeface="Courier New"/>
                <a:sym typeface="Courier New"/>
              </a:rPr>
              <a:t>(): </a:t>
            </a:r>
            <a:r>
              <a:rPr lang="en" sz="1556">
                <a:solidFill>
                  <a:srgbClr val="474747"/>
                </a:solidFill>
                <a:highlight>
                  <a:srgbClr val="FFFFFF"/>
                </a:highlight>
                <a:latin typeface="Georgia"/>
                <a:ea typeface="Georgia"/>
                <a:cs typeface="Georgia"/>
                <a:sym typeface="Georgia"/>
              </a:rPr>
              <a:t>Overrides the standard </a:t>
            </a:r>
            <a:r>
              <a:rPr lang="en" sz="1556">
                <a:solidFill>
                  <a:srgbClr val="474747"/>
                </a:solidFill>
                <a:highlight>
                  <a:srgbClr val="FFFFFF"/>
                </a:highlight>
                <a:latin typeface="Courier New"/>
                <a:ea typeface="Courier New"/>
                <a:cs typeface="Courier New"/>
                <a:sym typeface="Courier New"/>
              </a:rPr>
              <a:t>java.lang.Object.clone</a:t>
            </a:r>
            <a:r>
              <a:rPr lang="en" sz="1556">
                <a:solidFill>
                  <a:srgbClr val="474747"/>
                </a:solidFill>
                <a:highlight>
                  <a:srgbClr val="FFFFFF"/>
                </a:highlight>
                <a:latin typeface="Georgia"/>
                <a:ea typeface="Georgia"/>
                <a:cs typeface="Georgia"/>
                <a:sym typeface="Georgia"/>
              </a:rPr>
              <a:t> method to return a copy of this Cookie.</a:t>
            </a:r>
            <a:endParaRPr sz="1556">
              <a:solidFill>
                <a:srgbClr val="474747"/>
              </a:solidFill>
              <a:highlight>
                <a:srgbClr val="FFFFFF"/>
              </a:highlight>
              <a:latin typeface="Georgia"/>
              <a:ea typeface="Georgia"/>
              <a:cs typeface="Georgia"/>
              <a:sym typeface="Georgia"/>
            </a:endParaRPr>
          </a:p>
          <a:p>
            <a:pPr marL="0" lvl="0" indent="0" algn="l" rtl="0">
              <a:lnSpc>
                <a:spcPct val="95000"/>
              </a:lnSpc>
              <a:spcBef>
                <a:spcPts val="1200"/>
              </a:spcBef>
              <a:spcAft>
                <a:spcPts val="0"/>
              </a:spcAft>
              <a:buClr>
                <a:schemeClr val="dk1"/>
              </a:buClr>
              <a:buSzPts val="688"/>
              <a:buFont typeface="Arial"/>
              <a:buNone/>
            </a:pPr>
            <a:r>
              <a:rPr lang="en" sz="1556" b="1">
                <a:solidFill>
                  <a:srgbClr val="4A6782"/>
                </a:solidFill>
                <a:highlight>
                  <a:srgbClr val="EEEEEF"/>
                </a:highlight>
                <a:uFill>
                  <a:noFill/>
                </a:uFill>
                <a:latin typeface="Courier New"/>
                <a:ea typeface="Courier New"/>
                <a:cs typeface="Courier New"/>
                <a:sym typeface="Courier New"/>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getComment</a:t>
            </a:r>
            <a:r>
              <a:rPr lang="en" sz="1556">
                <a:solidFill>
                  <a:srgbClr val="353833"/>
                </a:solidFill>
                <a:highlight>
                  <a:srgbClr val="EEEEEF"/>
                </a:highlight>
                <a:latin typeface="Courier New"/>
                <a:ea typeface="Courier New"/>
                <a:cs typeface="Courier New"/>
                <a:sym typeface="Courier New"/>
              </a:rPr>
              <a:t>(): </a:t>
            </a:r>
            <a:r>
              <a:rPr lang="en" sz="1556">
                <a:solidFill>
                  <a:srgbClr val="474747"/>
                </a:solidFill>
                <a:highlight>
                  <a:srgbClr val="EEEEEF"/>
                </a:highlight>
                <a:latin typeface="Georgia"/>
                <a:ea typeface="Georgia"/>
                <a:cs typeface="Georgia"/>
                <a:sym typeface="Georgia"/>
              </a:rPr>
              <a:t>Returns the comment describing the purpose of this cookie, or </a:t>
            </a:r>
            <a:r>
              <a:rPr lang="en" sz="1556">
                <a:solidFill>
                  <a:srgbClr val="474747"/>
                </a:solidFill>
                <a:highlight>
                  <a:srgbClr val="EEEEEF"/>
                </a:highlight>
                <a:latin typeface="Courier New"/>
                <a:ea typeface="Courier New"/>
                <a:cs typeface="Courier New"/>
                <a:sym typeface="Courier New"/>
              </a:rPr>
              <a:t>null</a:t>
            </a:r>
            <a:r>
              <a:rPr lang="en" sz="1556">
                <a:solidFill>
                  <a:srgbClr val="474747"/>
                </a:solidFill>
                <a:highlight>
                  <a:srgbClr val="EEEEEF"/>
                </a:highlight>
                <a:latin typeface="Georgia"/>
                <a:ea typeface="Georgia"/>
                <a:cs typeface="Georgia"/>
                <a:sym typeface="Georgia"/>
              </a:rPr>
              <a:t> if the cookie has no comment.</a:t>
            </a:r>
            <a:endParaRPr sz="1556">
              <a:solidFill>
                <a:srgbClr val="474747"/>
              </a:solidFill>
              <a:highlight>
                <a:srgbClr val="EEEEEF"/>
              </a:highlight>
              <a:latin typeface="Georgia"/>
              <a:ea typeface="Georgia"/>
              <a:cs typeface="Georgia"/>
              <a:sym typeface="Georgia"/>
            </a:endParaRPr>
          </a:p>
          <a:p>
            <a:pPr marL="0" lvl="0" indent="0" algn="l" rtl="0">
              <a:lnSpc>
                <a:spcPct val="95000"/>
              </a:lnSpc>
              <a:spcBef>
                <a:spcPts val="1200"/>
              </a:spcBef>
              <a:spcAft>
                <a:spcPts val="0"/>
              </a:spcAft>
              <a:buClr>
                <a:schemeClr val="dk1"/>
              </a:buClr>
              <a:buSzPts val="688"/>
              <a:buFont typeface="Arial"/>
              <a:buNone/>
            </a:pPr>
            <a:r>
              <a:rPr lang="en" sz="1556" b="1">
                <a:solidFill>
                  <a:srgbClr val="BB7A2A"/>
                </a:solidFill>
                <a:highlight>
                  <a:srgbClr val="FFFFFF"/>
                </a:highlight>
                <a:uFill>
                  <a:noFill/>
                </a:uFill>
                <a:latin typeface="Courier New"/>
                <a:ea typeface="Courier New"/>
                <a:cs typeface="Courier New"/>
                <a:sym typeface="Courier New"/>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getDomain</a:t>
            </a:r>
            <a:r>
              <a:rPr lang="en" sz="1556">
                <a:solidFill>
                  <a:srgbClr val="353833"/>
                </a:solidFill>
                <a:highlight>
                  <a:srgbClr val="FFFFFF"/>
                </a:highlight>
                <a:latin typeface="Courier New"/>
                <a:ea typeface="Courier New"/>
                <a:cs typeface="Courier New"/>
                <a:sym typeface="Courier New"/>
              </a:rPr>
              <a:t>(): </a:t>
            </a:r>
            <a:r>
              <a:rPr lang="en" sz="1556">
                <a:solidFill>
                  <a:srgbClr val="474747"/>
                </a:solidFill>
                <a:highlight>
                  <a:srgbClr val="FFFFFF"/>
                </a:highlight>
                <a:latin typeface="Georgia"/>
                <a:ea typeface="Georgia"/>
                <a:cs typeface="Georgia"/>
                <a:sym typeface="Georgia"/>
              </a:rPr>
              <a:t>Gets the domain name of this Cookie.</a:t>
            </a:r>
            <a:endParaRPr sz="1556">
              <a:solidFill>
                <a:srgbClr val="474747"/>
              </a:solidFill>
              <a:highlight>
                <a:srgbClr val="FFFFFF"/>
              </a:highlight>
              <a:latin typeface="Georgia"/>
              <a:ea typeface="Georgia"/>
              <a:cs typeface="Georgia"/>
              <a:sym typeface="Georgia"/>
            </a:endParaRPr>
          </a:p>
          <a:p>
            <a:pPr marL="0" lvl="0" indent="0" algn="l" rtl="0">
              <a:lnSpc>
                <a:spcPct val="95000"/>
              </a:lnSpc>
              <a:spcBef>
                <a:spcPts val="1200"/>
              </a:spcBef>
              <a:spcAft>
                <a:spcPts val="0"/>
              </a:spcAft>
              <a:buClr>
                <a:schemeClr val="dk1"/>
              </a:buClr>
              <a:buSzPts val="688"/>
              <a:buFont typeface="Arial"/>
              <a:buNone/>
            </a:pPr>
            <a:r>
              <a:rPr lang="en" sz="1556" b="1">
                <a:solidFill>
                  <a:srgbClr val="4A6782"/>
                </a:solidFill>
                <a:highlight>
                  <a:srgbClr val="EEEEEF"/>
                </a:highlight>
                <a:uFill>
                  <a:noFill/>
                </a:uFill>
                <a:latin typeface="Courier New"/>
                <a:ea typeface="Courier New"/>
                <a:cs typeface="Courier New"/>
                <a:sym typeface="Courier New"/>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getMaxAge</a:t>
            </a:r>
            <a:r>
              <a:rPr lang="en" sz="1556">
                <a:solidFill>
                  <a:srgbClr val="353833"/>
                </a:solidFill>
                <a:highlight>
                  <a:srgbClr val="EEEEEF"/>
                </a:highlight>
                <a:latin typeface="Courier New"/>
                <a:ea typeface="Courier New"/>
                <a:cs typeface="Courier New"/>
                <a:sym typeface="Courier New"/>
              </a:rPr>
              <a:t>(): </a:t>
            </a:r>
            <a:r>
              <a:rPr lang="en" sz="1556">
                <a:solidFill>
                  <a:srgbClr val="474747"/>
                </a:solidFill>
                <a:highlight>
                  <a:srgbClr val="EEEEEF"/>
                </a:highlight>
                <a:latin typeface="Georgia"/>
                <a:ea typeface="Georgia"/>
                <a:cs typeface="Georgia"/>
                <a:sym typeface="Georgia"/>
              </a:rPr>
              <a:t>Gets the maximum age in seconds of this Cookie.</a:t>
            </a:r>
            <a:endParaRPr sz="1556">
              <a:solidFill>
                <a:srgbClr val="474747"/>
              </a:solidFill>
              <a:highlight>
                <a:srgbClr val="EEEEEF"/>
              </a:highlight>
              <a:latin typeface="Georgia"/>
              <a:ea typeface="Georgia"/>
              <a:cs typeface="Georgia"/>
              <a:sym typeface="Georgia"/>
            </a:endParaRPr>
          </a:p>
          <a:p>
            <a:pPr marL="0" lvl="0" indent="0" algn="l" rtl="0">
              <a:lnSpc>
                <a:spcPct val="95000"/>
              </a:lnSpc>
              <a:spcBef>
                <a:spcPts val="1200"/>
              </a:spcBef>
              <a:spcAft>
                <a:spcPts val="0"/>
              </a:spcAft>
              <a:buClr>
                <a:schemeClr val="dk1"/>
              </a:buClr>
              <a:buSzPts val="688"/>
              <a:buFont typeface="Arial"/>
              <a:buNone/>
            </a:pPr>
            <a:r>
              <a:rPr lang="en" sz="1556" b="1">
                <a:solidFill>
                  <a:srgbClr val="4A6782"/>
                </a:solidFill>
                <a:highlight>
                  <a:srgbClr val="FFFFFF"/>
                </a:highlight>
                <a:uFill>
                  <a:noFill/>
                </a:uFill>
                <a:latin typeface="Courier New"/>
                <a:ea typeface="Courier New"/>
                <a:cs typeface="Courier New"/>
                <a:sym typeface="Courier New"/>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getName</a:t>
            </a:r>
            <a:r>
              <a:rPr lang="en" sz="1556">
                <a:solidFill>
                  <a:srgbClr val="353833"/>
                </a:solidFill>
                <a:highlight>
                  <a:srgbClr val="FFFFFF"/>
                </a:highlight>
                <a:latin typeface="Courier New"/>
                <a:ea typeface="Courier New"/>
                <a:cs typeface="Courier New"/>
                <a:sym typeface="Courier New"/>
              </a:rPr>
              <a:t>(): </a:t>
            </a:r>
            <a:r>
              <a:rPr lang="en" sz="1556">
                <a:solidFill>
                  <a:srgbClr val="474747"/>
                </a:solidFill>
                <a:highlight>
                  <a:srgbClr val="FFFFFF"/>
                </a:highlight>
                <a:latin typeface="Georgia"/>
                <a:ea typeface="Georgia"/>
                <a:cs typeface="Georgia"/>
                <a:sym typeface="Georgia"/>
              </a:rPr>
              <a:t>Returns the name of the cookie.</a:t>
            </a:r>
            <a:endParaRPr sz="1556">
              <a:solidFill>
                <a:srgbClr val="474747"/>
              </a:solidFill>
              <a:highlight>
                <a:srgbClr val="FFFFFF"/>
              </a:highlight>
              <a:latin typeface="Georgia"/>
              <a:ea typeface="Georgia"/>
              <a:cs typeface="Georgia"/>
              <a:sym typeface="Georgia"/>
            </a:endParaRPr>
          </a:p>
          <a:p>
            <a:pPr marL="0" lvl="0" indent="0" algn="l" rtl="0">
              <a:lnSpc>
                <a:spcPct val="95000"/>
              </a:lnSpc>
              <a:spcBef>
                <a:spcPts val="1200"/>
              </a:spcBef>
              <a:spcAft>
                <a:spcPts val="0"/>
              </a:spcAft>
              <a:buSzPts val="688"/>
              <a:buNone/>
            </a:pPr>
            <a:r>
              <a:rPr lang="en" sz="1556" b="1">
                <a:solidFill>
                  <a:srgbClr val="4A6782"/>
                </a:solidFill>
                <a:highlight>
                  <a:srgbClr val="EEEEEF"/>
                </a:highlight>
                <a:uFill>
                  <a:noFill/>
                </a:uFill>
                <a:latin typeface="Courier New"/>
                <a:ea typeface="Courier New"/>
                <a:cs typeface="Courier New"/>
                <a:sym typeface="Courier New"/>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getPath</a:t>
            </a:r>
            <a:r>
              <a:rPr lang="en" sz="1556">
                <a:solidFill>
                  <a:srgbClr val="353833"/>
                </a:solidFill>
                <a:highlight>
                  <a:srgbClr val="EEEEEF"/>
                </a:highlight>
                <a:latin typeface="Courier New"/>
                <a:ea typeface="Courier New"/>
                <a:cs typeface="Courier New"/>
                <a:sym typeface="Courier New"/>
              </a:rPr>
              <a:t>(): </a:t>
            </a:r>
            <a:r>
              <a:rPr lang="en" sz="1556">
                <a:solidFill>
                  <a:srgbClr val="474747"/>
                </a:solidFill>
                <a:highlight>
                  <a:srgbClr val="EEEEEF"/>
                </a:highlight>
                <a:latin typeface="Georgia"/>
                <a:ea typeface="Georgia"/>
                <a:cs typeface="Georgia"/>
                <a:sym typeface="Georgia"/>
              </a:rPr>
              <a:t>Returns the path on the server to which the browser returns this cookie.</a:t>
            </a:r>
            <a:endParaRPr sz="1556">
              <a:solidFill>
                <a:srgbClr val="474747"/>
              </a:solidFill>
              <a:highlight>
                <a:srgbClr val="EEEEEF"/>
              </a:highlight>
              <a:latin typeface="Georgia"/>
              <a:ea typeface="Georgia"/>
              <a:cs typeface="Georgia"/>
              <a:sym typeface="Georgia"/>
            </a:endParaRPr>
          </a:p>
          <a:p>
            <a:pPr marL="0" lvl="0" indent="0" algn="l" rtl="0">
              <a:lnSpc>
                <a:spcPct val="95000"/>
              </a:lnSpc>
              <a:spcBef>
                <a:spcPts val="1200"/>
              </a:spcBef>
              <a:spcAft>
                <a:spcPts val="0"/>
              </a:spcAft>
              <a:buSzPts val="688"/>
              <a:buNone/>
            </a:pPr>
            <a:r>
              <a:rPr lang="en" sz="1556" b="1">
                <a:solidFill>
                  <a:srgbClr val="4A6782"/>
                </a:solidFill>
                <a:highlight>
                  <a:srgbClr val="FFFFFF"/>
                </a:highlight>
                <a:uFill>
                  <a:noFill/>
                </a:uFill>
                <a:latin typeface="Courier New"/>
                <a:ea typeface="Courier New"/>
                <a:cs typeface="Courier New"/>
                <a:sym typeface="Courier New"/>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getSecure</a:t>
            </a:r>
            <a:r>
              <a:rPr lang="en" sz="1556">
                <a:solidFill>
                  <a:srgbClr val="353833"/>
                </a:solidFill>
                <a:highlight>
                  <a:srgbClr val="FFFFFF"/>
                </a:highlight>
                <a:latin typeface="Courier New"/>
                <a:ea typeface="Courier New"/>
                <a:cs typeface="Courier New"/>
                <a:sym typeface="Courier New"/>
              </a:rPr>
              <a:t>(): </a:t>
            </a:r>
            <a:r>
              <a:rPr lang="en" sz="1556">
                <a:solidFill>
                  <a:srgbClr val="474747"/>
                </a:solidFill>
                <a:highlight>
                  <a:srgbClr val="FFFFFF"/>
                </a:highlight>
                <a:latin typeface="Georgia"/>
                <a:ea typeface="Georgia"/>
                <a:cs typeface="Georgia"/>
                <a:sym typeface="Georgia"/>
              </a:rPr>
              <a:t>Returns </a:t>
            </a:r>
            <a:r>
              <a:rPr lang="en" sz="1556">
                <a:solidFill>
                  <a:srgbClr val="474747"/>
                </a:solidFill>
                <a:highlight>
                  <a:srgbClr val="FFFFFF"/>
                </a:highlight>
                <a:latin typeface="Courier New"/>
                <a:ea typeface="Courier New"/>
                <a:cs typeface="Courier New"/>
                <a:sym typeface="Courier New"/>
              </a:rPr>
              <a:t>true</a:t>
            </a:r>
            <a:r>
              <a:rPr lang="en" sz="1556">
                <a:solidFill>
                  <a:srgbClr val="474747"/>
                </a:solidFill>
                <a:highlight>
                  <a:srgbClr val="FFFFFF"/>
                </a:highlight>
                <a:latin typeface="Georgia"/>
                <a:ea typeface="Georgia"/>
                <a:cs typeface="Georgia"/>
                <a:sym typeface="Georgia"/>
              </a:rPr>
              <a:t> if the browser is sending cookies only over a secure protocol, or </a:t>
            </a:r>
            <a:r>
              <a:rPr lang="en" sz="1556">
                <a:solidFill>
                  <a:srgbClr val="474747"/>
                </a:solidFill>
                <a:highlight>
                  <a:srgbClr val="FFFFFF"/>
                </a:highlight>
                <a:latin typeface="Courier New"/>
                <a:ea typeface="Courier New"/>
                <a:cs typeface="Courier New"/>
                <a:sym typeface="Courier New"/>
              </a:rPr>
              <a:t>false</a:t>
            </a:r>
            <a:r>
              <a:rPr lang="en" sz="1556">
                <a:solidFill>
                  <a:srgbClr val="474747"/>
                </a:solidFill>
                <a:highlight>
                  <a:srgbClr val="FFFFFF"/>
                </a:highlight>
                <a:latin typeface="Georgia"/>
                <a:ea typeface="Georgia"/>
                <a:cs typeface="Georgia"/>
                <a:sym typeface="Georgia"/>
              </a:rPr>
              <a:t> if the browser can send cookies using any protocol.</a:t>
            </a:r>
            <a:endParaRPr sz="1556">
              <a:solidFill>
                <a:srgbClr val="474747"/>
              </a:solidFill>
              <a:highlight>
                <a:srgbClr val="FFFFFF"/>
              </a:highlight>
              <a:latin typeface="Georgia"/>
              <a:ea typeface="Georgia"/>
              <a:cs typeface="Georgia"/>
              <a:sym typeface="Georgia"/>
            </a:endParaRPr>
          </a:p>
          <a:p>
            <a:pPr marL="0" lvl="0" indent="0" algn="l" rtl="0">
              <a:lnSpc>
                <a:spcPct val="95000"/>
              </a:lnSpc>
              <a:spcBef>
                <a:spcPts val="1200"/>
              </a:spcBef>
              <a:spcAft>
                <a:spcPts val="0"/>
              </a:spcAft>
              <a:buSzPts val="688"/>
              <a:buNone/>
            </a:pPr>
            <a:r>
              <a:rPr lang="en" sz="1556" b="1">
                <a:solidFill>
                  <a:srgbClr val="4A6782"/>
                </a:solidFill>
                <a:highlight>
                  <a:srgbClr val="EEEEEF"/>
                </a:highlight>
                <a:uFill>
                  <a:noFill/>
                </a:uFill>
                <a:latin typeface="Courier New"/>
                <a:ea typeface="Courier New"/>
                <a:cs typeface="Courier New"/>
                <a:sym typeface="Courier New"/>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getValue</a:t>
            </a:r>
            <a:r>
              <a:rPr lang="en" sz="1556">
                <a:solidFill>
                  <a:srgbClr val="353833"/>
                </a:solidFill>
                <a:highlight>
                  <a:srgbClr val="EEEEEF"/>
                </a:highlight>
                <a:latin typeface="Courier New"/>
                <a:ea typeface="Courier New"/>
                <a:cs typeface="Courier New"/>
                <a:sym typeface="Courier New"/>
              </a:rPr>
              <a:t>(): </a:t>
            </a:r>
            <a:r>
              <a:rPr lang="en" sz="1556">
                <a:solidFill>
                  <a:srgbClr val="474747"/>
                </a:solidFill>
                <a:highlight>
                  <a:srgbClr val="EEEEEF"/>
                </a:highlight>
                <a:latin typeface="Georgia"/>
                <a:ea typeface="Georgia"/>
                <a:cs typeface="Georgia"/>
                <a:sym typeface="Georgia"/>
              </a:rPr>
              <a:t>Gets the current value of this Cookie.</a:t>
            </a:r>
            <a:endParaRPr sz="1556">
              <a:solidFill>
                <a:srgbClr val="474747"/>
              </a:solidFill>
              <a:highlight>
                <a:srgbClr val="EEEEEF"/>
              </a:highlight>
              <a:latin typeface="Georgia"/>
              <a:ea typeface="Georgia"/>
              <a:cs typeface="Georgia"/>
              <a:sym typeface="Georgia"/>
            </a:endParaRPr>
          </a:p>
          <a:p>
            <a:pPr marL="0" lvl="0" indent="0" algn="l" rtl="0">
              <a:lnSpc>
                <a:spcPct val="95000"/>
              </a:lnSpc>
              <a:spcBef>
                <a:spcPts val="1200"/>
              </a:spcBef>
              <a:spcAft>
                <a:spcPts val="0"/>
              </a:spcAft>
              <a:buSzPts val="688"/>
              <a:buNone/>
            </a:pPr>
            <a:r>
              <a:rPr lang="en" sz="1556" b="1">
                <a:solidFill>
                  <a:srgbClr val="4A6782"/>
                </a:solidFill>
                <a:highlight>
                  <a:srgbClr val="FFFFFF"/>
                </a:highlight>
                <a:uFill>
                  <a:noFill/>
                </a:uFill>
                <a:latin typeface="Courier New"/>
                <a:ea typeface="Courier New"/>
                <a:cs typeface="Courier New"/>
                <a:sym typeface="Courier New"/>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getVersion</a:t>
            </a:r>
            <a:r>
              <a:rPr lang="en" sz="1556">
                <a:solidFill>
                  <a:srgbClr val="353833"/>
                </a:solidFill>
                <a:highlight>
                  <a:srgbClr val="FFFFFF"/>
                </a:highlight>
                <a:latin typeface="Courier New"/>
                <a:ea typeface="Courier New"/>
                <a:cs typeface="Courier New"/>
                <a:sym typeface="Courier New"/>
              </a:rPr>
              <a:t>(): </a:t>
            </a:r>
            <a:r>
              <a:rPr lang="en" sz="1556">
                <a:solidFill>
                  <a:srgbClr val="474747"/>
                </a:solidFill>
                <a:highlight>
                  <a:srgbClr val="FFFFFF"/>
                </a:highlight>
                <a:latin typeface="Georgia"/>
                <a:ea typeface="Georgia"/>
                <a:cs typeface="Georgia"/>
                <a:sym typeface="Georgia"/>
              </a:rPr>
              <a:t>Returns the version of the protocol this cookie complies with.</a:t>
            </a:r>
            <a:endParaRPr sz="1556">
              <a:solidFill>
                <a:srgbClr val="474747"/>
              </a:solidFill>
              <a:highlight>
                <a:srgbClr val="FFFFFF"/>
              </a:highlight>
              <a:latin typeface="Georgia"/>
              <a:ea typeface="Georgia"/>
              <a:cs typeface="Georgia"/>
              <a:sym typeface="Georgia"/>
            </a:endParaRPr>
          </a:p>
          <a:p>
            <a:pPr marL="0" lvl="0" indent="0" algn="l" rtl="0">
              <a:lnSpc>
                <a:spcPct val="95000"/>
              </a:lnSpc>
              <a:spcBef>
                <a:spcPts val="1200"/>
              </a:spcBef>
              <a:spcAft>
                <a:spcPts val="0"/>
              </a:spcAft>
              <a:buSzPts val="688"/>
              <a:buNone/>
            </a:pPr>
            <a:endParaRPr sz="1556">
              <a:solidFill>
                <a:srgbClr val="474747"/>
              </a:solidFill>
              <a:highlight>
                <a:srgbClr val="EEEEEF"/>
              </a:highlight>
              <a:latin typeface="Georgia"/>
              <a:ea typeface="Georgia"/>
              <a:cs typeface="Georgia"/>
              <a:sym typeface="Georgia"/>
            </a:endParaRPr>
          </a:p>
          <a:p>
            <a:pPr marL="0" lvl="0" indent="0" algn="l" rtl="0">
              <a:lnSpc>
                <a:spcPct val="95000"/>
              </a:lnSpc>
              <a:spcBef>
                <a:spcPts val="1200"/>
              </a:spcBef>
              <a:spcAft>
                <a:spcPts val="0"/>
              </a:spcAft>
              <a:buSzPts val="688"/>
              <a:buNone/>
            </a:pPr>
            <a:endParaRPr sz="1556">
              <a:solidFill>
                <a:srgbClr val="474747"/>
              </a:solidFill>
              <a:highlight>
                <a:srgbClr val="FFFFFF"/>
              </a:highlight>
              <a:latin typeface="Georgia"/>
              <a:ea typeface="Georgia"/>
              <a:cs typeface="Georgia"/>
              <a:sym typeface="Georgia"/>
            </a:endParaRPr>
          </a:p>
          <a:p>
            <a:pPr marL="0" lvl="0" indent="0" algn="l" rtl="0">
              <a:lnSpc>
                <a:spcPct val="95000"/>
              </a:lnSpc>
              <a:spcBef>
                <a:spcPts val="1200"/>
              </a:spcBef>
              <a:spcAft>
                <a:spcPts val="0"/>
              </a:spcAft>
              <a:buClr>
                <a:schemeClr val="dk1"/>
              </a:buClr>
              <a:buSzPts val="688"/>
              <a:buFont typeface="Arial"/>
              <a:buNone/>
            </a:pPr>
            <a:endParaRPr sz="1556">
              <a:solidFill>
                <a:srgbClr val="474747"/>
              </a:solidFill>
              <a:highlight>
                <a:srgbClr val="EEEEEF"/>
              </a:highlight>
              <a:latin typeface="Georgia"/>
              <a:ea typeface="Georgia"/>
              <a:cs typeface="Georgia"/>
              <a:sym typeface="Georgia"/>
            </a:endParaRPr>
          </a:p>
          <a:p>
            <a:pPr marL="0" lvl="0" indent="0" algn="l" rtl="0">
              <a:lnSpc>
                <a:spcPct val="95000"/>
              </a:lnSpc>
              <a:spcBef>
                <a:spcPts val="1200"/>
              </a:spcBef>
              <a:spcAft>
                <a:spcPts val="1200"/>
              </a:spcAft>
              <a:buSzPts val="688"/>
              <a:buNone/>
            </a:pPr>
            <a:endParaRPr sz="2025"/>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a:t>
            </a:r>
            <a:endParaRPr/>
          </a:p>
        </p:txBody>
      </p:sp>
      <p:sp>
        <p:nvSpPr>
          <p:cNvPr id="285" name="Google Shape;285;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852"/>
              <a:buNone/>
            </a:pPr>
            <a:r>
              <a:rPr lang="en" sz="2095"/>
              <a:t>Represents a part or form item received within multipart / form data POST request</a:t>
            </a:r>
            <a:endParaRPr sz="2095"/>
          </a:p>
          <a:p>
            <a:pPr marL="0" lvl="0" indent="0" algn="l" rtl="0">
              <a:lnSpc>
                <a:spcPct val="95000"/>
              </a:lnSpc>
              <a:spcBef>
                <a:spcPts val="1200"/>
              </a:spcBef>
              <a:spcAft>
                <a:spcPts val="0"/>
              </a:spcAft>
              <a:buClr>
                <a:schemeClr val="dk1"/>
              </a:buClr>
              <a:buSzPts val="852"/>
              <a:buFont typeface="Arial"/>
              <a:buNone/>
            </a:pPr>
            <a:r>
              <a:rPr lang="en" sz="1707" b="1">
                <a:solidFill>
                  <a:srgbClr val="BB7A2A"/>
                </a:solidFill>
                <a:highlight>
                  <a:srgbClr val="FFFFFF"/>
                </a:highlight>
                <a:uFill>
                  <a:noFill/>
                </a:uFill>
                <a:latin typeface="Roboto Mono"/>
                <a:ea typeface="Roboto Mono"/>
                <a:cs typeface="Roboto Mono"/>
                <a:sym typeface="Roboto Mon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getContentType</a:t>
            </a:r>
            <a:r>
              <a:rPr lang="en" sz="1707">
                <a:solidFill>
                  <a:srgbClr val="353833"/>
                </a:solidFill>
                <a:highlight>
                  <a:srgbClr val="FFFFFF"/>
                </a:highlight>
                <a:latin typeface="Roboto Mono"/>
                <a:ea typeface="Roboto Mono"/>
                <a:cs typeface="Roboto Mono"/>
                <a:sym typeface="Roboto Mono"/>
              </a:rPr>
              <a:t>(): </a:t>
            </a:r>
            <a:r>
              <a:rPr lang="en" sz="1397">
                <a:solidFill>
                  <a:srgbClr val="353833"/>
                </a:solidFill>
                <a:highlight>
                  <a:srgbClr val="FFFFFF"/>
                </a:highlight>
              </a:rPr>
              <a:t>Obtain the content type passed by the browser.</a:t>
            </a:r>
            <a:endParaRPr sz="1397">
              <a:solidFill>
                <a:srgbClr val="353833"/>
              </a:solidFill>
              <a:highlight>
                <a:srgbClr val="FFFFFF"/>
              </a:highlight>
            </a:endParaRPr>
          </a:p>
          <a:p>
            <a:pPr marL="0" lvl="0" indent="0" algn="l" rtl="0">
              <a:lnSpc>
                <a:spcPct val="95000"/>
              </a:lnSpc>
              <a:spcBef>
                <a:spcPts val="1200"/>
              </a:spcBef>
              <a:spcAft>
                <a:spcPts val="0"/>
              </a:spcAft>
              <a:buSzPts val="852"/>
              <a:buNone/>
            </a:pPr>
            <a:r>
              <a:rPr lang="en" sz="1707" b="1">
                <a:solidFill>
                  <a:srgbClr val="4C6B87"/>
                </a:solidFill>
                <a:highlight>
                  <a:srgbClr val="EEEEEF"/>
                </a:highlight>
                <a:uFill>
                  <a:noFill/>
                </a:uFill>
                <a:latin typeface="Roboto Mono"/>
                <a:ea typeface="Roboto Mono"/>
                <a:cs typeface="Roboto Mono"/>
                <a:sym typeface="Roboto Mon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getHeader</a:t>
            </a:r>
            <a:r>
              <a:rPr lang="en" sz="1707">
                <a:solidFill>
                  <a:srgbClr val="353833"/>
                </a:solidFill>
                <a:highlight>
                  <a:srgbClr val="EEEEEF"/>
                </a:highlight>
                <a:latin typeface="Roboto Mono"/>
                <a:ea typeface="Roboto Mono"/>
                <a:cs typeface="Roboto Mono"/>
                <a:sym typeface="Roboto Mono"/>
              </a:rPr>
              <a:t>(java.lang.String name) : </a:t>
            </a:r>
            <a:r>
              <a:rPr lang="en" sz="1397">
                <a:solidFill>
                  <a:srgbClr val="353833"/>
                </a:solidFill>
                <a:highlight>
                  <a:srgbClr val="EEEEEF"/>
                </a:highlight>
              </a:rPr>
              <a:t>Obtains the value of the specified part header as a String</a:t>
            </a:r>
            <a:endParaRPr sz="1397">
              <a:solidFill>
                <a:srgbClr val="353833"/>
              </a:solidFill>
              <a:highlight>
                <a:srgbClr val="EEEEEF"/>
              </a:highlight>
            </a:endParaRPr>
          </a:p>
          <a:p>
            <a:pPr marL="0" lvl="0" indent="0" algn="l" rtl="0">
              <a:lnSpc>
                <a:spcPct val="95000"/>
              </a:lnSpc>
              <a:spcBef>
                <a:spcPts val="1200"/>
              </a:spcBef>
              <a:spcAft>
                <a:spcPts val="0"/>
              </a:spcAft>
              <a:buSzPts val="852"/>
              <a:buNone/>
            </a:pPr>
            <a:r>
              <a:rPr lang="en" sz="1707" b="1">
                <a:solidFill>
                  <a:srgbClr val="4C6B87"/>
                </a:solidFill>
                <a:highlight>
                  <a:srgbClr val="EEEEEF"/>
                </a:highlight>
                <a:uFill>
                  <a:noFill/>
                </a:uFill>
                <a:latin typeface="Roboto Mono"/>
                <a:ea typeface="Roboto Mono"/>
                <a:cs typeface="Roboto Mono"/>
                <a:sym typeface="Roboto Mon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getHeaders</a:t>
            </a:r>
            <a:r>
              <a:rPr lang="en" sz="1707">
                <a:solidFill>
                  <a:srgbClr val="353833"/>
                </a:solidFill>
                <a:highlight>
                  <a:srgbClr val="EEEEEF"/>
                </a:highlight>
                <a:latin typeface="Roboto Mono"/>
                <a:ea typeface="Roboto Mono"/>
                <a:cs typeface="Roboto Mono"/>
                <a:sym typeface="Roboto Mono"/>
              </a:rPr>
              <a:t>(java.lang.String name) : </a:t>
            </a:r>
            <a:r>
              <a:rPr lang="en" sz="1397">
                <a:solidFill>
                  <a:srgbClr val="353833"/>
                </a:solidFill>
                <a:highlight>
                  <a:srgbClr val="EEEEEF"/>
                </a:highlight>
              </a:rPr>
              <a:t>Obtain all the values of the specified part header</a:t>
            </a:r>
            <a:endParaRPr sz="1397">
              <a:solidFill>
                <a:srgbClr val="353833"/>
              </a:solidFill>
              <a:highlight>
                <a:srgbClr val="EEEEEF"/>
              </a:highlight>
            </a:endParaRPr>
          </a:p>
          <a:p>
            <a:pPr marL="0" lvl="0" indent="0" algn="l" rtl="0">
              <a:lnSpc>
                <a:spcPct val="95000"/>
              </a:lnSpc>
              <a:spcBef>
                <a:spcPts val="1200"/>
              </a:spcBef>
              <a:spcAft>
                <a:spcPts val="0"/>
              </a:spcAft>
              <a:buSzPts val="852"/>
              <a:buNone/>
            </a:pPr>
            <a:r>
              <a:rPr lang="en" sz="1707" b="1">
                <a:solidFill>
                  <a:srgbClr val="4C6B87"/>
                </a:solidFill>
                <a:highlight>
                  <a:srgbClr val="EEEEEF"/>
                </a:highlight>
                <a:uFill>
                  <a:noFill/>
                </a:uFill>
                <a:latin typeface="Roboto Mono"/>
                <a:ea typeface="Roboto Mono"/>
                <a:cs typeface="Roboto Mono"/>
                <a:sym typeface="Roboto Mono"/>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getName</a:t>
            </a:r>
            <a:r>
              <a:rPr lang="en" sz="1707">
                <a:solidFill>
                  <a:srgbClr val="353833"/>
                </a:solidFill>
                <a:highlight>
                  <a:srgbClr val="EEEEEF"/>
                </a:highlight>
                <a:latin typeface="Roboto Mono"/>
                <a:ea typeface="Roboto Mono"/>
                <a:cs typeface="Roboto Mono"/>
                <a:sym typeface="Roboto Mono"/>
              </a:rPr>
              <a:t>() : </a:t>
            </a:r>
            <a:r>
              <a:rPr lang="en" sz="1397">
                <a:solidFill>
                  <a:srgbClr val="353833"/>
                </a:solidFill>
                <a:highlight>
                  <a:srgbClr val="EEEEEF"/>
                </a:highlight>
              </a:rPr>
              <a:t>Obtain the name of the field in the multipart form corresponding to this part</a:t>
            </a:r>
            <a:endParaRPr sz="1397">
              <a:solidFill>
                <a:srgbClr val="353833"/>
              </a:solidFill>
              <a:highlight>
                <a:srgbClr val="EEEEEF"/>
              </a:highlight>
            </a:endParaRPr>
          </a:p>
          <a:p>
            <a:pPr marL="0" lvl="0" indent="0" algn="l" rtl="0">
              <a:lnSpc>
                <a:spcPct val="95000"/>
              </a:lnSpc>
              <a:spcBef>
                <a:spcPts val="1200"/>
              </a:spcBef>
              <a:spcAft>
                <a:spcPts val="0"/>
              </a:spcAft>
              <a:buSzPts val="852"/>
              <a:buNone/>
            </a:pPr>
            <a:r>
              <a:rPr lang="en" sz="1707" b="1">
                <a:solidFill>
                  <a:srgbClr val="4C6B87"/>
                </a:solidFill>
                <a:highlight>
                  <a:srgbClr val="FFFFFF"/>
                </a:highlight>
                <a:uFill>
                  <a:noFill/>
                </a:uFill>
                <a:latin typeface="Roboto Mono"/>
                <a:ea typeface="Roboto Mono"/>
                <a:cs typeface="Roboto Mono"/>
                <a:sym typeface="Roboto Mon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getSize</a:t>
            </a:r>
            <a:r>
              <a:rPr lang="en" sz="1707">
                <a:solidFill>
                  <a:srgbClr val="353833"/>
                </a:solidFill>
                <a:highlight>
                  <a:srgbClr val="FFFFFF"/>
                </a:highlight>
                <a:latin typeface="Roboto Mono"/>
                <a:ea typeface="Roboto Mono"/>
                <a:cs typeface="Roboto Mono"/>
                <a:sym typeface="Roboto Mono"/>
              </a:rPr>
              <a:t>(): </a:t>
            </a:r>
            <a:r>
              <a:rPr lang="en" sz="1397">
                <a:solidFill>
                  <a:srgbClr val="353833"/>
                </a:solidFill>
                <a:highlight>
                  <a:srgbClr val="FFFFFF"/>
                </a:highlight>
              </a:rPr>
              <a:t>Obtain the size of this part.</a:t>
            </a:r>
            <a:endParaRPr sz="1397">
              <a:solidFill>
                <a:srgbClr val="353833"/>
              </a:solidFill>
              <a:highlight>
                <a:srgbClr val="FFFFFF"/>
              </a:highlight>
            </a:endParaRPr>
          </a:p>
          <a:p>
            <a:pPr marL="0" lvl="0" indent="0" algn="l" rtl="0">
              <a:lnSpc>
                <a:spcPct val="95000"/>
              </a:lnSpc>
              <a:spcBef>
                <a:spcPts val="1200"/>
              </a:spcBef>
              <a:spcAft>
                <a:spcPts val="0"/>
              </a:spcAft>
              <a:buSzPts val="852"/>
              <a:buNone/>
            </a:pPr>
            <a:endParaRPr sz="1397">
              <a:solidFill>
                <a:srgbClr val="353833"/>
              </a:solidFill>
              <a:highlight>
                <a:srgbClr val="EEEEEF"/>
              </a:highlight>
            </a:endParaRPr>
          </a:p>
          <a:p>
            <a:pPr marL="0" lvl="0" indent="0" algn="l" rtl="0">
              <a:lnSpc>
                <a:spcPct val="95000"/>
              </a:lnSpc>
              <a:spcBef>
                <a:spcPts val="1200"/>
              </a:spcBef>
              <a:spcAft>
                <a:spcPts val="0"/>
              </a:spcAft>
              <a:buSzPts val="852"/>
              <a:buNone/>
            </a:pPr>
            <a:endParaRPr sz="1397">
              <a:solidFill>
                <a:srgbClr val="353833"/>
              </a:solidFill>
              <a:highlight>
                <a:srgbClr val="EEEEEF"/>
              </a:highlight>
            </a:endParaRPr>
          </a:p>
          <a:p>
            <a:pPr marL="0" lvl="0" indent="0" algn="l" rtl="0">
              <a:lnSpc>
                <a:spcPct val="95000"/>
              </a:lnSpc>
              <a:spcBef>
                <a:spcPts val="1200"/>
              </a:spcBef>
              <a:spcAft>
                <a:spcPts val="0"/>
              </a:spcAft>
              <a:buClr>
                <a:schemeClr val="dk1"/>
              </a:buClr>
              <a:buSzPts val="852"/>
              <a:buFont typeface="Arial"/>
              <a:buNone/>
            </a:pPr>
            <a:endParaRPr sz="1397">
              <a:solidFill>
                <a:srgbClr val="353833"/>
              </a:solidFill>
              <a:highlight>
                <a:srgbClr val="EEEEEF"/>
              </a:highlight>
            </a:endParaRPr>
          </a:p>
          <a:p>
            <a:pPr marL="0" lvl="0" indent="0" algn="l" rtl="0">
              <a:lnSpc>
                <a:spcPct val="95000"/>
              </a:lnSpc>
              <a:spcBef>
                <a:spcPts val="1200"/>
              </a:spcBef>
              <a:spcAft>
                <a:spcPts val="0"/>
              </a:spcAft>
              <a:buSzPts val="852"/>
              <a:buNone/>
            </a:pPr>
            <a:endParaRPr sz="2095"/>
          </a:p>
          <a:p>
            <a:pPr marL="0" lvl="0" indent="0" algn="l" rtl="0">
              <a:lnSpc>
                <a:spcPct val="95000"/>
              </a:lnSpc>
              <a:spcBef>
                <a:spcPts val="1200"/>
              </a:spcBef>
              <a:spcAft>
                <a:spcPts val="1200"/>
              </a:spcAft>
              <a:buSzPts val="852"/>
              <a:buNone/>
            </a:pPr>
            <a:endParaRPr sz="2095"/>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WebConnection</a:t>
            </a:r>
            <a:endParaRPr/>
          </a:p>
        </p:txBody>
      </p:sp>
      <p:sp>
        <p:nvSpPr>
          <p:cNvPr id="291" name="Google Shape;291;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Encapsulates connection for upgrade request</a:t>
            </a:r>
            <a:endParaRPr/>
          </a:p>
          <a:p>
            <a:pPr marL="0" lvl="0" indent="0" algn="l" rtl="0">
              <a:spcBef>
                <a:spcPts val="1200"/>
              </a:spcBef>
              <a:spcAft>
                <a:spcPts val="0"/>
              </a:spcAft>
              <a:buNone/>
            </a:pPr>
            <a:r>
              <a:rPr lang="en"/>
              <a:t>Allows protocol handler to send service requests and status queries to container</a:t>
            </a:r>
            <a:endParaRPr/>
          </a:p>
          <a:p>
            <a:pPr marL="0" lvl="0" indent="0" algn="l" rtl="0">
              <a:spcBef>
                <a:spcPts val="1200"/>
              </a:spcBef>
              <a:spcAft>
                <a:spcPts val="0"/>
              </a:spcAft>
              <a:buNone/>
            </a:pPr>
            <a:r>
              <a:rPr lang="en"/>
              <a:t>getInputStream() - Returns input stream for web connection</a:t>
            </a:r>
            <a:endParaRPr/>
          </a:p>
          <a:p>
            <a:pPr marL="0" lvl="0" indent="0" algn="l" rtl="0">
              <a:spcBef>
                <a:spcPts val="1200"/>
              </a:spcBef>
              <a:spcAft>
                <a:spcPts val="1200"/>
              </a:spcAft>
              <a:buNone/>
            </a:pPr>
            <a:r>
              <a:rPr lang="en"/>
              <a:t>getOutputStream() - Returns output stream for web connection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javax.servlet.annotation</a:t>
            </a:r>
            <a:endParaRPr/>
          </a:p>
        </p:txBody>
      </p:sp>
      <p:sp>
        <p:nvSpPr>
          <p:cNvPr id="297" name="Google Shape;297;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a:t>Users can annotate servlets, filters &amp; listeners; specify metadata for the declared component</a:t>
            </a:r>
            <a:endParaRPr/>
          </a:p>
          <a:p>
            <a:pPr marL="0" lvl="0" indent="0" algn="l" rtl="0">
              <a:spcBef>
                <a:spcPts val="1200"/>
              </a:spcBef>
              <a:spcAft>
                <a:spcPts val="0"/>
              </a:spcAft>
              <a:buNone/>
            </a:pPr>
            <a:r>
              <a:rPr lang="en"/>
              <a:t>WebServletAnnotation used to declare servlet</a:t>
            </a:r>
            <a:endParaRPr/>
          </a:p>
          <a:p>
            <a:pPr marL="0" lvl="0" indent="0" algn="l" rtl="0">
              <a:spcBef>
                <a:spcPts val="1200"/>
              </a:spcBef>
              <a:spcAft>
                <a:spcPts val="0"/>
              </a:spcAft>
              <a:buNone/>
            </a:pPr>
            <a:r>
              <a:rPr lang="en"/>
              <a:t>WebFilter Annotation used to declare a Servlet Filter</a:t>
            </a:r>
            <a:endParaRPr/>
          </a:p>
          <a:p>
            <a:pPr marL="0" lvl="0" indent="0" algn="l" rtl="0">
              <a:spcBef>
                <a:spcPts val="1200"/>
              </a:spcBef>
              <a:spcAft>
                <a:spcPts val="0"/>
              </a:spcAft>
              <a:buNone/>
            </a:pPr>
            <a:r>
              <a:rPr lang="en"/>
              <a:t>description, displayName, name, initParams, urlPatterns,largeIcon, smallIcon, value are the elements of servlet.</a:t>
            </a:r>
            <a:endParaRPr/>
          </a:p>
          <a:p>
            <a:pPr marL="0" lvl="0" indent="0" algn="l" rtl="0">
              <a:spcBef>
                <a:spcPts val="1200"/>
              </a:spcBef>
              <a:spcAft>
                <a:spcPts val="1200"/>
              </a:spcAft>
              <a:buNone/>
            </a:pPr>
            <a:r>
              <a:rPr lang="en"/>
              <a:t>WebListener Annotation used to declare a WebListener. It must implement ServletContextListener, ServletRequestListener, HttpSessionListener, ServletRequestAttributeListener, HttpSessionAttributeListener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WebInitParam &amp; MultipartConfig</a:t>
            </a:r>
            <a:endParaRPr/>
          </a:p>
        </p:txBody>
      </p:sp>
      <p:sp>
        <p:nvSpPr>
          <p:cNvPr id="303" name="Google Shape;303;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WebInitParam annotation is used on Servlet / Filter implementation class to specify initialization parameter</a:t>
            </a:r>
            <a:endParaRPr/>
          </a:p>
          <a:p>
            <a:pPr marL="0" lvl="0" indent="0" algn="l" rtl="0">
              <a:spcBef>
                <a:spcPts val="1200"/>
              </a:spcBef>
              <a:spcAft>
                <a:spcPts val="0"/>
              </a:spcAft>
              <a:buNone/>
            </a:pPr>
            <a:r>
              <a:rPr lang="en"/>
              <a:t>name, value and description are the elements</a:t>
            </a:r>
            <a:endParaRPr/>
          </a:p>
          <a:p>
            <a:pPr marL="0" lvl="0" indent="0" algn="l" rtl="0">
              <a:spcBef>
                <a:spcPts val="1200"/>
              </a:spcBef>
              <a:spcAft>
                <a:spcPts val="0"/>
              </a:spcAft>
              <a:buNone/>
            </a:pPr>
            <a:r>
              <a:rPr lang="en"/>
              <a:t>MultipartConfig is annotation specified on Servlet class, indicating instances of Servlet requests that conform to multipart / form-data MIME type.</a:t>
            </a:r>
            <a:endParaRPr/>
          </a:p>
          <a:p>
            <a:pPr marL="0" lvl="0" indent="0" algn="l" rtl="0">
              <a:spcBef>
                <a:spcPts val="1200"/>
              </a:spcBef>
              <a:spcAft>
                <a:spcPts val="0"/>
              </a:spcAft>
              <a:buNone/>
            </a:pPr>
            <a:r>
              <a:rPr lang="en"/>
              <a:t>fileSizeThreshold, location, maxFileSize, maxRequestSize are the elements</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 Skeleton</a:t>
            </a:r>
            <a:endParaRPr/>
          </a:p>
        </p:txBody>
      </p:sp>
      <p:sp>
        <p:nvSpPr>
          <p:cNvPr id="309" name="Google Shape;309;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public class ServletSkeleton extends HttpServlet</a:t>
            </a:r>
            <a:endParaRPr/>
          </a:p>
          <a:p>
            <a:pPr marL="0" lvl="0" indent="0" algn="l" rtl="0">
              <a:spcBef>
                <a:spcPts val="1200"/>
              </a:spcBef>
              <a:spcAft>
                <a:spcPts val="0"/>
              </a:spcAft>
              <a:buNone/>
            </a:pPr>
            <a:r>
              <a:rPr lang="en"/>
              <a:t>{</a:t>
            </a:r>
            <a:endParaRPr/>
          </a:p>
          <a:p>
            <a:pPr marL="0" lvl="0" indent="0" algn="l" rtl="0">
              <a:spcBef>
                <a:spcPts val="1200"/>
              </a:spcBef>
              <a:spcAft>
                <a:spcPts val="0"/>
              </a:spcAft>
              <a:buNone/>
            </a:pPr>
            <a:r>
              <a:rPr lang="en"/>
              <a:t>public void init(){/*Initialization*/}</a:t>
            </a:r>
            <a:endParaRPr/>
          </a:p>
          <a:p>
            <a:pPr marL="0" lvl="0" indent="0" algn="l" rtl="0">
              <a:spcBef>
                <a:spcPts val="1200"/>
              </a:spcBef>
              <a:spcAft>
                <a:spcPts val="0"/>
              </a:spcAft>
              <a:buNone/>
            </a:pPr>
            <a:r>
              <a:rPr lang="en"/>
              <a:t>public void service(){/*Work*/}</a:t>
            </a:r>
            <a:endParaRPr/>
          </a:p>
          <a:p>
            <a:pPr marL="0" lvl="0" indent="0" algn="l" rtl="0">
              <a:spcBef>
                <a:spcPts val="1200"/>
              </a:spcBef>
              <a:spcAft>
                <a:spcPts val="0"/>
              </a:spcAft>
              <a:buNone/>
            </a:pPr>
            <a:r>
              <a:rPr lang="en"/>
              <a:t>public void destroy(){/*Free resources*/}</a:t>
            </a:r>
            <a:endParaRPr/>
          </a:p>
          <a:p>
            <a:pPr marL="0" lvl="0" indent="0" algn="l" rtl="0">
              <a:spcBef>
                <a:spcPts val="1200"/>
              </a:spcBef>
              <a:spcAft>
                <a:spcPts val="1200"/>
              </a:spcAft>
              <a:buNone/>
            </a:pPr>
            <a:r>
              <a:rPr lang="en"/>
              <a:t>}</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1338</TotalTime>
  <Words>3374</Words>
  <Application>Microsoft Office PowerPoint</Application>
  <PresentationFormat>On-screen Show (16:9)</PresentationFormat>
  <Paragraphs>313</Paragraphs>
  <Slides>43</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Nunito</vt:lpstr>
      <vt:lpstr>Arial</vt:lpstr>
      <vt:lpstr>Courier New</vt:lpstr>
      <vt:lpstr>Roboto</vt:lpstr>
      <vt:lpstr>Century Gothic</vt:lpstr>
      <vt:lpstr>Roboto Mono</vt:lpstr>
      <vt:lpstr>Georgia</vt:lpstr>
      <vt:lpstr>Simple Light</vt:lpstr>
      <vt:lpstr>Servlet API</vt:lpstr>
      <vt:lpstr>Servlet API</vt:lpstr>
      <vt:lpstr>javax.servlet</vt:lpstr>
      <vt:lpstr>javax.servlet</vt:lpstr>
      <vt:lpstr>Servlet Interface</vt:lpstr>
      <vt:lpstr>Servlet Interface</vt:lpstr>
      <vt:lpstr>ServletContext</vt:lpstr>
      <vt:lpstr>ServletContext</vt:lpstr>
      <vt:lpstr>ServletConfig Interface</vt:lpstr>
      <vt:lpstr>Difference between ServletContext &amp; ServletConfig</vt:lpstr>
      <vt:lpstr>PowerPoint Presentation</vt:lpstr>
      <vt:lpstr>ServletRequest &amp; ServletResponse</vt:lpstr>
      <vt:lpstr>ServletRequest &amp; ServletResponse</vt:lpstr>
      <vt:lpstr>ServletRequest &amp; ServletResponse</vt:lpstr>
      <vt:lpstr>PowerPoint Presentation</vt:lpstr>
      <vt:lpstr>Generic Servlet Class &amp; ServletInput/Output Stream</vt:lpstr>
      <vt:lpstr>PowerPoint Presentation</vt:lpstr>
      <vt:lpstr>ServletInput/Output Stream </vt:lpstr>
      <vt:lpstr>RequestDispatcher</vt:lpstr>
      <vt:lpstr>Filter</vt:lpstr>
      <vt:lpstr>FilterChain</vt:lpstr>
      <vt:lpstr>FilterConfig</vt:lpstr>
      <vt:lpstr>ReadListener &amp; WriteListener</vt:lpstr>
      <vt:lpstr>ReadListener &amp; WriteListener</vt:lpstr>
      <vt:lpstr>javax.servlet.http package</vt:lpstr>
      <vt:lpstr>HttpServlet Class</vt:lpstr>
      <vt:lpstr>HttpServlet Class</vt:lpstr>
      <vt:lpstr>HttpServletRequest </vt:lpstr>
      <vt:lpstr>HttpServletRequest</vt:lpstr>
      <vt:lpstr>HTML File</vt:lpstr>
      <vt:lpstr>Servlet Code</vt:lpstr>
      <vt:lpstr>HttpServletResponse</vt:lpstr>
      <vt:lpstr>HttpServletResponse</vt:lpstr>
      <vt:lpstr>HttpSession</vt:lpstr>
      <vt:lpstr>HttpSession</vt:lpstr>
      <vt:lpstr>PowerPoint Presentation</vt:lpstr>
      <vt:lpstr>Cookie</vt:lpstr>
      <vt:lpstr>Cookie</vt:lpstr>
      <vt:lpstr>Part</vt:lpstr>
      <vt:lpstr>WebConnection</vt:lpstr>
      <vt:lpstr>javax.servlet.annotation</vt:lpstr>
      <vt:lpstr>WebInitParam &amp; MultipartConfig</vt:lpstr>
      <vt:lpstr>Servlet Skeleton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Servlet API</dc:title>
  <cp:lastModifiedBy>ADMIN</cp:lastModifiedBy>
  <cp:revision>13</cp:revision>
  <dcterms:modified xsi:type="dcterms:W3CDTF">2026-05-21T16:29:45Z</dcterms:modified>
</cp:coreProperties>
</file>