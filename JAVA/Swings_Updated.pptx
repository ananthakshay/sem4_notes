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12" r:id="rId15"/>
    <p:sldId id="269" r:id="rId16"/>
    <p:sldId id="270" r:id="rId17"/>
    <p:sldId id="271" r:id="rId18"/>
    <p:sldId id="272" r:id="rId19"/>
    <p:sldId id="273" r:id="rId20"/>
    <p:sldId id="274" r:id="rId21"/>
    <p:sldId id="313" r:id="rId22"/>
    <p:sldId id="31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jZSXUFDknjElheqtbyXLs5x9id9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9" name="Google Shape;13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58128505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58128505b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8128505b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128505b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8128505b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58128505b8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8128505b8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128505b8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5" name="Google Shape;20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8128505b8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358128505b8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58128505b8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58128505b8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3" name="Google Shape;22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58128505b8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58128505b8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8128505b8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58128505b8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1" name="Google Shape;24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58128505b8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358128505b8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58128505b8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58128505b8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5" name="Google Shape;26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58128505b8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g358128505b8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58128505b8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g358128505b8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9" name="Google Shape;28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5" name="Google Shape;29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58128505b8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358128505b8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58128505b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g358128505b8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58342fc1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58342fc1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58342fc1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58342fc1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58342fc1f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58342fc1f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42fc1f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42fc1f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58342fc1f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58342fc1f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58342fc1f7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58342fc1f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
        <p:cNvGrpSpPr/>
        <p:nvPr/>
      </p:nvGrpSpPr>
      <p:grpSpPr>
        <a:xfrm>
          <a:off x="0" y="0"/>
          <a:ext cx="0" cy="0"/>
          <a:chOff x="0" y="0"/>
          <a:chExt cx="0" cy="0"/>
        </a:xfrm>
      </p:grpSpPr>
      <p:sp>
        <p:nvSpPr>
          <p:cNvPr id="13" name="Google Shape;13;p25"/>
          <p:cNvSpPr/>
          <p:nvPr/>
        </p:nvSpPr>
        <p:spPr>
          <a:xfrm>
            <a:off x="0" y="0"/>
            <a:ext cx="12192000" cy="4572001"/>
          </a:xfrm>
          <a:prstGeom prst="rect">
            <a:avLst/>
          </a:prstGeom>
          <a:solidFill>
            <a:srgbClr val="1482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5"/>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5"/>
          <p:cNvSpPr txBox="1">
            <a:spLocks noGrp="1"/>
          </p:cNvSpPr>
          <p:nvPr>
            <p:ph type="ctrTitle"/>
          </p:nvPr>
        </p:nvSpPr>
        <p:spPr>
          <a:xfrm>
            <a:off x="457200" y="4960137"/>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subTitle"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a:endParaRPr/>
          </a:p>
        </p:txBody>
      </p:sp>
      <p:sp>
        <p:nvSpPr>
          <p:cNvPr id="17" name="Google Shape;17;p25"/>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20" name="Google Shape;20;p25"/>
          <p:cNvCxnSpPr/>
          <p:nvPr/>
        </p:nvCxnSpPr>
        <p:spPr>
          <a:xfrm rot="10800000">
            <a:off x="8386843"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6"/>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4" name="Google Shape;24;p26"/>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7"/>
        <p:cNvGrpSpPr/>
        <p:nvPr/>
      </p:nvGrpSpPr>
      <p:grpSpPr>
        <a:xfrm>
          <a:off x="0" y="0"/>
          <a:ext cx="0" cy="0"/>
          <a:chOff x="0" y="0"/>
          <a:chExt cx="0" cy="0"/>
        </a:xfrm>
      </p:grpSpPr>
      <p:sp>
        <p:nvSpPr>
          <p:cNvPr id="28" name="Google Shape;28;p27"/>
          <p:cNvSpPr/>
          <p:nvPr/>
        </p:nvSpPr>
        <p:spPr>
          <a:xfrm>
            <a:off x="0" y="0"/>
            <a:ext cx="12192000" cy="4572001"/>
          </a:xfrm>
          <a:prstGeom prst="rect">
            <a:avLst/>
          </a:prstGeom>
          <a:solidFill>
            <a:srgbClr val="1D9AA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7"/>
          <p:cNvSpPr/>
          <p:nvPr/>
        </p:nvSpPr>
        <p:spPr>
          <a:xfrm>
            <a:off x="-1" y="0"/>
            <a:ext cx="12192000" cy="4572001"/>
          </a:xfrm>
          <a:custGeom>
            <a:avLst/>
            <a:gdLst/>
            <a:ahLst/>
            <a:cxnLst/>
            <a:rect l="l" t="t" r="r" b="b"/>
            <a:pathLst>
              <a:path w="12192000" h="4572001" extrusionOk="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7"/>
          <p:cNvSpPr txBox="1">
            <a:spLocks noGrp="1"/>
          </p:cNvSpPr>
          <p:nvPr>
            <p:ph type="title"/>
          </p:nvPr>
        </p:nvSpPr>
        <p:spPr>
          <a:xfrm>
            <a:off x="457200" y="4960137"/>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body"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2" name="Google Shape;32;p27"/>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7"/>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7"/>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35" name="Google Shape;35;p27"/>
          <p:cNvCxnSpPr/>
          <p:nvPr/>
        </p:nvCxnSpPr>
        <p:spPr>
          <a:xfrm rot="10800000">
            <a:off x="8386843"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8"/>
          <p:cNvSpPr txBox="1">
            <a:spLocks noGrp="1"/>
          </p:cNvSpPr>
          <p:nvPr>
            <p:ph type="body" idx="1"/>
          </p:nvPr>
        </p:nvSpPr>
        <p:spPr>
          <a:xfrm>
            <a:off x="1024127" y="2286000"/>
            <a:ext cx="475488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9" name="Google Shape;39;p28"/>
          <p:cNvSpPr txBox="1">
            <a:spLocks noGrp="1"/>
          </p:cNvSpPr>
          <p:nvPr>
            <p:ph type="body" idx="2"/>
          </p:nvPr>
        </p:nvSpPr>
        <p:spPr>
          <a:xfrm>
            <a:off x="5989320" y="2286000"/>
            <a:ext cx="475488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0" name="Google Shape;40;p28"/>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8"/>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9"/>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9"/>
          <p:cNvSpPr txBox="1">
            <a:spLocks noGrp="1"/>
          </p:cNvSpPr>
          <p:nvPr>
            <p:ph type="body" idx="1"/>
          </p:nvPr>
        </p:nvSpPr>
        <p:spPr>
          <a:xfrm>
            <a:off x="1024128" y="2179636"/>
            <a:ext cx="475488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300"/>
              <a:buNone/>
              <a:defRPr sz="23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6" name="Google Shape;46;p29"/>
          <p:cNvSpPr txBox="1">
            <a:spLocks noGrp="1"/>
          </p:cNvSpPr>
          <p:nvPr>
            <p:ph type="body" idx="2"/>
          </p:nvPr>
        </p:nvSpPr>
        <p:spPr>
          <a:xfrm>
            <a:off x="1024128" y="2967788"/>
            <a:ext cx="475488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7" name="Google Shape;47;p29"/>
          <p:cNvSpPr txBox="1">
            <a:spLocks noGrp="1"/>
          </p:cNvSpPr>
          <p:nvPr>
            <p:ph type="body" idx="3"/>
          </p:nvPr>
        </p:nvSpPr>
        <p:spPr>
          <a:xfrm>
            <a:off x="5990888" y="2179636"/>
            <a:ext cx="475488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300"/>
              <a:buNone/>
              <a:defRPr sz="23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29"/>
          <p:cNvSpPr txBox="1">
            <a:spLocks noGrp="1"/>
          </p:cNvSpPr>
          <p:nvPr>
            <p:ph type="body" idx="4"/>
          </p:nvPr>
        </p:nvSpPr>
        <p:spPr>
          <a:xfrm>
            <a:off x="5990888" y="2967788"/>
            <a:ext cx="475488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29"/>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3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0"/>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0"/>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0"/>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7"/>
        <p:cNvGrpSpPr/>
        <p:nvPr/>
      </p:nvGrpSpPr>
      <p:grpSpPr>
        <a:xfrm>
          <a:off x="0" y="0"/>
          <a:ext cx="0" cy="0"/>
          <a:chOff x="0" y="0"/>
          <a:chExt cx="0" cy="0"/>
        </a:xfrm>
      </p:grpSpPr>
      <p:sp>
        <p:nvSpPr>
          <p:cNvPr id="58" name="Google Shape;58;p31"/>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1024128" y="471509"/>
            <a:ext cx="4389120" cy="173736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2"/>
          <p:cNvSpPr txBox="1">
            <a:spLocks noGrp="1"/>
          </p:cNvSpPr>
          <p:nvPr>
            <p:ph type="body" idx="1"/>
          </p:nvPr>
        </p:nvSpPr>
        <p:spPr>
          <a:xfrm>
            <a:off x="5715000" y="822960"/>
            <a:ext cx="5678424" cy="5184648"/>
          </a:xfrm>
          <a:prstGeom prst="rect">
            <a:avLst/>
          </a:prstGeom>
          <a:noFill/>
          <a:ln>
            <a:noFill/>
          </a:ln>
        </p:spPr>
        <p:txBody>
          <a:bodyPr spcFirstLastPara="1" wrap="square" lIns="45700" tIns="45700" rIns="45700" bIns="45700" anchor="t" anchorCtr="0">
            <a:normAutofit/>
          </a:bodyPr>
          <a:lstStyle>
            <a:lvl1pPr marL="457200" lvl="0" indent="-381000" algn="l">
              <a:lnSpc>
                <a:spcPct val="90000"/>
              </a:lnSpc>
              <a:spcBef>
                <a:spcPts val="1200"/>
              </a:spcBef>
              <a:spcAft>
                <a:spcPts val="0"/>
              </a:spcAft>
              <a:buSzPts val="2400"/>
              <a:buChar char=" "/>
              <a:defRPr sz="2400"/>
            </a:lvl1pPr>
            <a:lvl2pPr marL="914400" lvl="1" indent="-355600" algn="l">
              <a:lnSpc>
                <a:spcPct val="90000"/>
              </a:lnSpc>
              <a:spcBef>
                <a:spcPts val="200"/>
              </a:spcBef>
              <a:spcAft>
                <a:spcPts val="0"/>
              </a:spcAft>
              <a:buSzPts val="2000"/>
              <a:buChar char="?"/>
              <a:defRPr sz="2000"/>
            </a:lvl2pPr>
            <a:lvl3pPr marL="1371600" lvl="2" indent="-330200" algn="l">
              <a:lnSpc>
                <a:spcPct val="90000"/>
              </a:lnSpc>
              <a:spcBef>
                <a:spcPts val="400"/>
              </a:spcBef>
              <a:spcAft>
                <a:spcPts val="0"/>
              </a:spcAft>
              <a:buSzPts val="1600"/>
              <a:buChar char="?"/>
              <a:defRPr sz="1600"/>
            </a:lvl3pPr>
            <a:lvl4pPr marL="1828800" lvl="3" indent="-330200" algn="l">
              <a:lnSpc>
                <a:spcPct val="90000"/>
              </a:lnSpc>
              <a:spcBef>
                <a:spcPts val="400"/>
              </a:spcBef>
              <a:spcAft>
                <a:spcPts val="0"/>
              </a:spcAft>
              <a:buSzPts val="1600"/>
              <a:buChar char="?"/>
              <a:defRPr sz="1600"/>
            </a:lvl4pPr>
            <a:lvl5pPr marL="2286000" lvl="4" indent="-330200" algn="l">
              <a:lnSpc>
                <a:spcPct val="90000"/>
              </a:lnSpc>
              <a:spcBef>
                <a:spcPts val="400"/>
              </a:spcBef>
              <a:spcAft>
                <a:spcPts val="0"/>
              </a:spcAft>
              <a:buSzPts val="1600"/>
              <a:buChar char="?"/>
              <a:defRPr sz="1600"/>
            </a:lvl5pPr>
            <a:lvl6pPr marL="2743200" lvl="5" indent="-330200" algn="l">
              <a:lnSpc>
                <a:spcPct val="90000"/>
              </a:lnSpc>
              <a:spcBef>
                <a:spcPts val="400"/>
              </a:spcBef>
              <a:spcAft>
                <a:spcPts val="0"/>
              </a:spcAft>
              <a:buSzPts val="1600"/>
              <a:buChar char="?"/>
              <a:defRPr sz="1600"/>
            </a:lvl6pPr>
            <a:lvl7pPr marL="3200400" lvl="6" indent="-330200" algn="l">
              <a:lnSpc>
                <a:spcPct val="90000"/>
              </a:lnSpc>
              <a:spcBef>
                <a:spcPts val="400"/>
              </a:spcBef>
              <a:spcAft>
                <a:spcPts val="0"/>
              </a:spcAft>
              <a:buSzPts val="1600"/>
              <a:buChar char="?"/>
              <a:defRPr sz="1600"/>
            </a:lvl7pPr>
            <a:lvl8pPr marL="3657600" lvl="7" indent="-330200" algn="l">
              <a:lnSpc>
                <a:spcPct val="90000"/>
              </a:lnSpc>
              <a:spcBef>
                <a:spcPts val="400"/>
              </a:spcBef>
              <a:spcAft>
                <a:spcPts val="0"/>
              </a:spcAft>
              <a:buSzPts val="1600"/>
              <a:buChar char="?"/>
              <a:defRPr sz="1600"/>
            </a:lvl8pPr>
            <a:lvl9pPr marL="4114800" lvl="8" indent="-330200" algn="l">
              <a:lnSpc>
                <a:spcPct val="90000"/>
              </a:lnSpc>
              <a:spcBef>
                <a:spcPts val="400"/>
              </a:spcBef>
              <a:spcAft>
                <a:spcPts val="400"/>
              </a:spcAft>
              <a:buSzPts val="1600"/>
              <a:buChar char="?"/>
              <a:defRPr sz="1600"/>
            </a:lvl9pPr>
          </a:lstStyle>
          <a:p>
            <a:endParaRPr/>
          </a:p>
        </p:txBody>
      </p:sp>
      <p:sp>
        <p:nvSpPr>
          <p:cNvPr id="64" name="Google Shape;64;p32"/>
          <p:cNvSpPr txBox="1">
            <a:spLocks noGrp="1"/>
          </p:cNvSpPr>
          <p:nvPr>
            <p:ph type="body" idx="2"/>
          </p:nvPr>
        </p:nvSpPr>
        <p:spPr>
          <a:xfrm>
            <a:off x="1024128" y="2257506"/>
            <a:ext cx="4389120" cy="3762294"/>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600"/>
              </a:spcBef>
              <a:spcAft>
                <a:spcPts val="0"/>
              </a:spcAft>
              <a:buSzPts val="1600"/>
              <a:buNone/>
              <a:defRPr sz="1600"/>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5" name="Google Shape;65;p32"/>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457200" y="4960138"/>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3"/>
          <p:cNvSpPr>
            <a:spLocks noGrp="1"/>
          </p:cNvSpPr>
          <p:nvPr>
            <p:ph type="pic" idx="2"/>
          </p:nvPr>
        </p:nvSpPr>
        <p:spPr>
          <a:xfrm>
            <a:off x="0" y="-1"/>
            <a:ext cx="12188952" cy="4572000"/>
          </a:xfrm>
          <a:prstGeom prst="rect">
            <a:avLst/>
          </a:prstGeom>
          <a:solidFill>
            <a:srgbClr val="76CEEF"/>
          </a:solidFill>
          <a:ln>
            <a:noFill/>
          </a:ln>
        </p:spPr>
      </p:sp>
      <p:sp>
        <p:nvSpPr>
          <p:cNvPr id="71" name="Google Shape;71;p33"/>
          <p:cNvSpPr txBox="1">
            <a:spLocks noGrp="1"/>
          </p:cNvSpPr>
          <p:nvPr>
            <p:ph type="body" idx="1"/>
          </p:nvPr>
        </p:nvSpPr>
        <p:spPr>
          <a:xfrm>
            <a:off x="8610600" y="4960138"/>
            <a:ext cx="32004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400"/>
              <a:buNone/>
              <a:defRPr sz="1400"/>
            </a:lvl2pPr>
            <a:lvl3pPr marL="1371600" lvl="2" indent="-228600" algn="l">
              <a:lnSpc>
                <a:spcPct val="90000"/>
              </a:lnSpc>
              <a:spcBef>
                <a:spcPts val="400"/>
              </a:spcBef>
              <a:spcAft>
                <a:spcPts val="0"/>
              </a:spcAft>
              <a:buSzPts val="1200"/>
              <a:buNone/>
              <a:defRPr sz="1200"/>
            </a:lvl3pPr>
            <a:lvl4pPr marL="1828800" lvl="3" indent="-228600" algn="l">
              <a:lnSpc>
                <a:spcPct val="90000"/>
              </a:lnSpc>
              <a:spcBef>
                <a:spcPts val="400"/>
              </a:spcBef>
              <a:spcAft>
                <a:spcPts val="0"/>
              </a:spcAft>
              <a:buSzPts val="1000"/>
              <a:buNone/>
              <a:defRPr sz="1000"/>
            </a:lvl4pPr>
            <a:lvl5pPr marL="2286000" lvl="4" indent="-228600" algn="l">
              <a:lnSpc>
                <a:spcPct val="90000"/>
              </a:lnSpc>
              <a:spcBef>
                <a:spcPts val="400"/>
              </a:spcBef>
              <a:spcAft>
                <a:spcPts val="0"/>
              </a:spcAft>
              <a:buSzPts val="1000"/>
              <a:buNone/>
              <a:defRPr sz="1000"/>
            </a:lvl5pPr>
            <a:lvl6pPr marL="2743200" lvl="5" indent="-228600" algn="l">
              <a:lnSpc>
                <a:spcPct val="90000"/>
              </a:lnSpc>
              <a:spcBef>
                <a:spcPts val="400"/>
              </a:spcBef>
              <a:spcAft>
                <a:spcPts val="0"/>
              </a:spcAft>
              <a:buSzPts val="1000"/>
              <a:buNone/>
              <a:defRPr sz="1000"/>
            </a:lvl6pPr>
            <a:lvl7pPr marL="3200400" lvl="6" indent="-228600" algn="l">
              <a:lnSpc>
                <a:spcPct val="90000"/>
              </a:lnSpc>
              <a:spcBef>
                <a:spcPts val="400"/>
              </a:spcBef>
              <a:spcAft>
                <a:spcPts val="0"/>
              </a:spcAft>
              <a:buSzPts val="1000"/>
              <a:buNone/>
              <a:defRPr sz="1000"/>
            </a:lvl7pPr>
            <a:lvl8pPr marL="3657600" lvl="7" indent="-228600" algn="l">
              <a:lnSpc>
                <a:spcPct val="90000"/>
              </a:lnSpc>
              <a:spcBef>
                <a:spcPts val="400"/>
              </a:spcBef>
              <a:spcAft>
                <a:spcPts val="0"/>
              </a:spcAft>
              <a:buSzPts val="1000"/>
              <a:buNone/>
              <a:defRPr sz="1000"/>
            </a:lvl8pPr>
            <a:lvl9pPr marL="4114800" lvl="8" indent="-228600" algn="l">
              <a:lnSpc>
                <a:spcPct val="90000"/>
              </a:lnSpc>
              <a:spcBef>
                <a:spcPts val="400"/>
              </a:spcBef>
              <a:spcAft>
                <a:spcPts val="400"/>
              </a:spcAft>
              <a:buSzPts val="1000"/>
              <a:buNone/>
              <a:defRPr sz="1000"/>
            </a:lvl9pPr>
          </a:lstStyle>
          <a:p>
            <a:endParaRPr/>
          </a:p>
        </p:txBody>
      </p:sp>
      <p:sp>
        <p:nvSpPr>
          <p:cNvPr id="72" name="Google Shape;72;p33"/>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3"/>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3"/>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75" name="Google Shape;75;p33"/>
          <p:cNvCxnSpPr/>
          <p:nvPr/>
        </p:nvCxnSpPr>
        <p:spPr>
          <a:xfrm rot="10800000">
            <a:off x="8386843" y="5264106"/>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4"/>
          <p:cNvSpPr txBox="1">
            <a:spLocks noGrp="1"/>
          </p:cNvSpPr>
          <p:nvPr>
            <p:ph type="body" idx="1"/>
          </p:nvPr>
        </p:nvSpPr>
        <p:spPr>
          <a:xfrm rot="5400000">
            <a:off x="3872485" y="-562356"/>
            <a:ext cx="4023360" cy="9720073"/>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9" name="Google Shape;79;p34"/>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4"/>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4"/>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5"/>
          <p:cNvSpPr txBox="1">
            <a:spLocks noGrp="1"/>
          </p:cNvSpPr>
          <p:nvPr>
            <p:ph type="title"/>
          </p:nvPr>
        </p:nvSpPr>
        <p:spPr>
          <a:xfrm rot="5400000">
            <a:off x="7334251" y="2152650"/>
            <a:ext cx="5410200" cy="2628900"/>
          </a:xfrm>
          <a:prstGeom prst="rect">
            <a:avLst/>
          </a:prstGeom>
          <a:noFill/>
          <a:ln>
            <a:noFill/>
          </a:ln>
        </p:spPr>
        <p:txBody>
          <a:bodyPr spcFirstLastPara="1" wrap="square" lIns="45700" tIns="91425" rIns="45700" bIns="91425" anchor="ctr" anchorCtr="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5"/>
          <p:cNvSpPr txBox="1">
            <a:spLocks noGrp="1"/>
          </p:cNvSpPr>
          <p:nvPr>
            <p:ph type="body" idx="1"/>
          </p:nvPr>
        </p:nvSpPr>
        <p:spPr>
          <a:xfrm rot="5400000">
            <a:off x="2076451" y="-323850"/>
            <a:ext cx="5410200" cy="758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5" name="Google Shape;85;p35"/>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5"/>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5"/>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88" name="Google Shape;88;p35"/>
          <p:cNvCxnSpPr/>
          <p:nvPr/>
        </p:nvCxnSpPr>
        <p:spPr>
          <a:xfrm rot="10800000">
            <a:off x="10058400" y="59263"/>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marR="0" lvl="0" algn="l" rtl="0">
              <a:lnSpc>
                <a:spcPct val="80000"/>
              </a:lnSpc>
              <a:spcBef>
                <a:spcPts val="0"/>
              </a:spcBef>
              <a:spcAft>
                <a:spcPts val="0"/>
              </a:spcAft>
              <a:buClr>
                <a:srgbClr val="0C0C0C"/>
              </a:buClr>
              <a:buSzPts val="50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lvl1pPr marL="457200" marR="0" lvl="0" indent="-368300" algn="l" rtl="0">
              <a:lnSpc>
                <a:spcPct val="90000"/>
              </a:lnSpc>
              <a:spcBef>
                <a:spcPts val="1200"/>
              </a:spcBef>
              <a:spcAft>
                <a:spcPts val="0"/>
              </a:spcAft>
              <a:buClr>
                <a:schemeClr val="accent1"/>
              </a:buClr>
              <a:buSzPts val="22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8" name="Google Shape;8;p24"/>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9" name="Google Shape;9;p24"/>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0" name="Google Shape;10;p24"/>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11" name="Google Shape;11;p24"/>
          <p:cNvCxnSpPr/>
          <p:nvPr/>
        </p:nvCxnSpPr>
        <p:spPr>
          <a:xfrm rot="10800000">
            <a:off x="762000" y="826324"/>
            <a:ext cx="0" cy="914400"/>
          </a:xfrm>
          <a:prstGeom prst="straightConnector1">
            <a:avLst/>
          </a:prstGeom>
          <a:noFill/>
          <a:ln w="19050" cap="flat" cmpd="sng">
            <a:solidFill>
              <a:schemeClr val="accent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ctrTitle"/>
          </p:nvPr>
        </p:nvSpPr>
        <p:spPr>
          <a:xfrm>
            <a:off x="457200" y="4960137"/>
            <a:ext cx="7772400" cy="1463040"/>
          </a:xfrm>
          <a:prstGeom prst="rect">
            <a:avLst/>
          </a:prstGeom>
          <a:noFill/>
          <a:ln>
            <a:noFill/>
          </a:ln>
        </p:spPr>
        <p:txBody>
          <a:bodyPr spcFirstLastPara="1" wrap="square" lIns="91425" tIns="45700" rIns="91425" bIns="45700" anchor="ctr" anchorCtr="0">
            <a:normAutofit/>
          </a:bodyPr>
          <a:lstStyle/>
          <a:p>
            <a:pPr marL="0" lvl="0" indent="0" algn="r" rtl="0">
              <a:lnSpc>
                <a:spcPct val="80000"/>
              </a:lnSpc>
              <a:spcBef>
                <a:spcPts val="0"/>
              </a:spcBef>
              <a:spcAft>
                <a:spcPts val="0"/>
              </a:spcAft>
              <a:buClr>
                <a:srgbClr val="0C0C0C"/>
              </a:buClr>
              <a:buSzPts val="5000"/>
              <a:buFont typeface="Twentieth Century"/>
              <a:buNone/>
            </a:pPr>
            <a:r>
              <a:rPr lang="en-US"/>
              <a:t>JAVA  SWINGS</a:t>
            </a:r>
            <a:endParaRPr/>
          </a:p>
        </p:txBody>
      </p:sp>
      <p:sp>
        <p:nvSpPr>
          <p:cNvPr id="94" name="Google Shape;94;p1"/>
          <p:cNvSpPr txBox="1">
            <a:spLocks noGrp="1"/>
          </p:cNvSpPr>
          <p:nvPr>
            <p:ph type="subTitle"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r>
              <a:rPr lang="en-US"/>
              <a:t>UNIT-4</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INTRODUCTION</a:t>
            </a:r>
            <a:endParaRPr/>
          </a:p>
        </p:txBody>
      </p:sp>
      <p:sp>
        <p:nvSpPr>
          <p:cNvPr id="100" name="Google Shape;100;p2"/>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lnSpcReduction="10000"/>
          </a:bodyPr>
          <a:lstStyle/>
          <a:p>
            <a:pPr marL="91440" lvl="0" indent="-91440" algn="just" rtl="0">
              <a:lnSpc>
                <a:spcPct val="90000"/>
              </a:lnSpc>
              <a:spcBef>
                <a:spcPts val="0"/>
              </a:spcBef>
              <a:spcAft>
                <a:spcPts val="0"/>
              </a:spcAft>
              <a:buSzPts val="2400"/>
              <a:buFont typeface="Arial"/>
              <a:buChar char="•"/>
            </a:pPr>
            <a:r>
              <a:rPr lang="en-US" sz="2400" dirty="0"/>
              <a:t>Swing did not exist in the early days of Java. Rather, it was a response to deficiencies present in Java’s original GUI subsystem: the Abstract Window Toolkit. </a:t>
            </a:r>
            <a:endParaRPr sz="2400" dirty="0"/>
          </a:p>
          <a:p>
            <a:pPr marL="91440" lvl="0" indent="-91440" algn="just" rtl="0">
              <a:lnSpc>
                <a:spcPct val="90000"/>
              </a:lnSpc>
              <a:spcBef>
                <a:spcPts val="1400"/>
              </a:spcBef>
              <a:spcAft>
                <a:spcPts val="0"/>
              </a:spcAft>
              <a:buSzPts val="2400"/>
              <a:buFont typeface="Arial"/>
              <a:buChar char="•"/>
            </a:pPr>
            <a:r>
              <a:rPr lang="en-US" sz="2400" dirty="0"/>
              <a:t>The AWT defines a basic set of controls, windows, and dialog boxes that support a usable, but </a:t>
            </a:r>
            <a:r>
              <a:rPr lang="en-US" sz="2400" b="1" dirty="0"/>
              <a:t>limited graphical interface</a:t>
            </a:r>
            <a:r>
              <a:rPr lang="en-US" sz="2400" dirty="0"/>
              <a:t>. </a:t>
            </a:r>
            <a:endParaRPr sz="2400" dirty="0"/>
          </a:p>
          <a:p>
            <a:pPr marL="91440" lvl="0" indent="-91440" algn="just" rtl="0">
              <a:lnSpc>
                <a:spcPct val="90000"/>
              </a:lnSpc>
              <a:spcBef>
                <a:spcPts val="1400"/>
              </a:spcBef>
              <a:spcAft>
                <a:spcPts val="0"/>
              </a:spcAft>
              <a:buSzPts val="2400"/>
              <a:buFont typeface="Arial"/>
              <a:buChar char="•"/>
            </a:pPr>
            <a:r>
              <a:rPr lang="en-US" sz="2400" dirty="0"/>
              <a:t>One reason for the limited nature of the AWT is that it translates its various visual components into their corresponding, </a:t>
            </a:r>
            <a:r>
              <a:rPr lang="en-US" sz="2400" b="1" dirty="0"/>
              <a:t>platform-specific</a:t>
            </a:r>
            <a:r>
              <a:rPr lang="en-US" sz="2400" dirty="0"/>
              <a:t> equivalents, or peers. This means that the look and feel of a component is defined by the platform, not by Java. Because the AWT components use native code resources, they are referred to as </a:t>
            </a:r>
            <a:r>
              <a:rPr lang="en-US" sz="2400" b="1" dirty="0"/>
              <a:t>heavyweight</a:t>
            </a:r>
            <a:r>
              <a:rPr lang="en-US" sz="2400" dirty="0"/>
              <a:t>. </a:t>
            </a:r>
            <a:endParaRPr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INTRODUCTION</a:t>
            </a:r>
            <a:endParaRPr/>
          </a:p>
        </p:txBody>
      </p:sp>
      <p:sp>
        <p:nvSpPr>
          <p:cNvPr id="106" name="Google Shape;106;p3"/>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lnSpcReduction="10000"/>
          </a:bodyPr>
          <a:lstStyle/>
          <a:p>
            <a:pPr marL="91440" lvl="0" indent="-91440" algn="just" rtl="0">
              <a:lnSpc>
                <a:spcPct val="90000"/>
              </a:lnSpc>
              <a:spcBef>
                <a:spcPts val="0"/>
              </a:spcBef>
              <a:spcAft>
                <a:spcPts val="0"/>
              </a:spcAft>
              <a:buSzPts val="2400"/>
              <a:buChar char=" "/>
            </a:pPr>
            <a:r>
              <a:rPr lang="en-US" sz="2400" dirty="0"/>
              <a:t>The use of native peers led to several problems. First, because of variations between operating systems, a component might look, or </a:t>
            </a:r>
            <a:r>
              <a:rPr lang="en-US" sz="2400" b="1" dirty="0"/>
              <a:t>even act, differently on different platforms</a:t>
            </a:r>
            <a:r>
              <a:rPr lang="en-US" sz="2400" dirty="0"/>
              <a:t>. </a:t>
            </a:r>
            <a:endParaRPr sz="2400" dirty="0"/>
          </a:p>
          <a:p>
            <a:pPr marL="91440" lvl="0" indent="-91440" algn="just" rtl="0">
              <a:lnSpc>
                <a:spcPct val="90000"/>
              </a:lnSpc>
              <a:spcBef>
                <a:spcPts val="1400"/>
              </a:spcBef>
              <a:spcAft>
                <a:spcPts val="0"/>
              </a:spcAft>
              <a:buSzPts val="2400"/>
              <a:buChar char=" "/>
            </a:pPr>
            <a:r>
              <a:rPr lang="en-US" sz="2400" dirty="0"/>
              <a:t>Second, the look and feel of each component was </a:t>
            </a:r>
            <a:r>
              <a:rPr lang="en-US" sz="2400" b="1" dirty="0"/>
              <a:t>fixed</a:t>
            </a:r>
            <a:r>
              <a:rPr lang="en-US" sz="2400" dirty="0"/>
              <a:t> (because it is defined by the platform) and could not be (easily) changed. Third, the use of heavyweight components caused some </a:t>
            </a:r>
            <a:r>
              <a:rPr lang="en-US" sz="2400" b="1" dirty="0"/>
              <a:t>frustrating restrictions</a:t>
            </a:r>
            <a:r>
              <a:rPr lang="en-US" sz="2400" dirty="0"/>
              <a:t>. For example, </a:t>
            </a:r>
            <a:r>
              <a:rPr lang="en-US" sz="2400" dirty="0" smtClean="0"/>
              <a:t>a heavyweight component was always opaque.</a:t>
            </a:r>
            <a:endParaRPr dirty="0"/>
          </a:p>
          <a:p>
            <a:pPr marL="91440" lvl="0" indent="-91440" algn="just" rtl="0">
              <a:lnSpc>
                <a:spcPct val="90000"/>
              </a:lnSpc>
              <a:spcBef>
                <a:spcPts val="1400"/>
              </a:spcBef>
              <a:spcAft>
                <a:spcPts val="0"/>
              </a:spcAft>
              <a:buSzPts val="2400"/>
              <a:buChar char=" "/>
            </a:pPr>
            <a:r>
              <a:rPr lang="en-US" sz="2400" dirty="0"/>
              <a:t>Introduced in 1997, Swing was included as part of the Java Foundation Classes (JFC). Swing was initially available for use with Java 1.1 as a separate library. However, beginning with Java 1.2, Swing (and the rest of the JFC) was fully integrated into Java.</a:t>
            </a:r>
            <a:endParaRPr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SWING FEATURES</a:t>
            </a:r>
            <a:endParaRPr/>
          </a:p>
        </p:txBody>
      </p:sp>
      <p:sp>
        <p:nvSpPr>
          <p:cNvPr id="112" name="Google Shape;112;p4"/>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0"/>
              </a:spcBef>
              <a:spcAft>
                <a:spcPts val="0"/>
              </a:spcAft>
              <a:buSzPts val="2400"/>
              <a:buChar char=" "/>
            </a:pPr>
            <a:r>
              <a:rPr lang="en-US" sz="2400" dirty="0"/>
              <a:t>Swing Components Are </a:t>
            </a:r>
            <a:r>
              <a:rPr lang="en-US" sz="2400" dirty="0" smtClean="0"/>
              <a:t>Lightweight</a:t>
            </a:r>
          </a:p>
          <a:p>
            <a:pPr marL="457200" lvl="1" indent="0" eaLnBrk="0" fontAlgn="base" hangingPunct="0">
              <a:lnSpc>
                <a:spcPct val="100000"/>
              </a:lnSpc>
              <a:spcBef>
                <a:spcPct val="0"/>
              </a:spcBef>
              <a:spcAft>
                <a:spcPct val="0"/>
              </a:spcAft>
              <a:buClrTx/>
              <a:buSzTx/>
              <a:buFontTx/>
              <a:buChar char="•"/>
            </a:pPr>
            <a:r>
              <a:rPr lang="en-US" altLang="en-US" sz="2400" dirty="0">
                <a:solidFill>
                  <a:schemeClr val="tx1"/>
                </a:solidFill>
                <a:latin typeface="Arial" panose="020B0604020202020204" pitchFamily="34" charset="0"/>
              </a:rPr>
              <a:t>Consistent look across all platforms </a:t>
            </a:r>
          </a:p>
          <a:p>
            <a:pPr marL="457200" lvl="1" indent="0" eaLnBrk="0" fontAlgn="base" hangingPunct="0">
              <a:lnSpc>
                <a:spcPct val="100000"/>
              </a:lnSpc>
              <a:spcBef>
                <a:spcPct val="0"/>
              </a:spcBef>
              <a:spcAft>
                <a:spcPct val="0"/>
              </a:spcAft>
              <a:buClrTx/>
              <a:buSzTx/>
              <a:buFontTx/>
              <a:buChar char="•"/>
            </a:pPr>
            <a:r>
              <a:rPr lang="en-US" altLang="en-US" sz="2400" dirty="0">
                <a:solidFill>
                  <a:schemeClr val="tx1"/>
                </a:solidFill>
                <a:latin typeface="Arial" panose="020B0604020202020204" pitchFamily="34" charset="0"/>
              </a:rPr>
              <a:t>Supports advanced UI features (transparency, layering) </a:t>
            </a:r>
          </a:p>
          <a:p>
            <a:pPr marL="457200" lvl="1" indent="0" eaLnBrk="0" fontAlgn="base" hangingPunct="0">
              <a:lnSpc>
                <a:spcPct val="100000"/>
              </a:lnSpc>
              <a:spcBef>
                <a:spcPct val="0"/>
              </a:spcBef>
              <a:spcAft>
                <a:spcPct val="0"/>
              </a:spcAft>
              <a:buClrTx/>
              <a:buSzTx/>
              <a:buFontTx/>
              <a:buChar char="•"/>
            </a:pPr>
            <a:r>
              <a:rPr lang="en-US" altLang="en-US" sz="2400" dirty="0">
                <a:solidFill>
                  <a:schemeClr val="tx1"/>
                </a:solidFill>
                <a:latin typeface="Arial" panose="020B0604020202020204" pitchFamily="34" charset="0"/>
              </a:rPr>
              <a:t>More control over appearance and behavior </a:t>
            </a:r>
          </a:p>
          <a:p>
            <a:pPr marL="0" lvl="0" indent="0" algn="l" rtl="0">
              <a:lnSpc>
                <a:spcPct val="90000"/>
              </a:lnSpc>
              <a:spcBef>
                <a:spcPts val="0"/>
              </a:spcBef>
              <a:spcAft>
                <a:spcPts val="0"/>
              </a:spcAft>
              <a:buSzPts val="2400"/>
              <a:buNone/>
            </a:pPr>
            <a:endParaRPr sz="2400" dirty="0"/>
          </a:p>
          <a:p>
            <a:pPr marL="91440" lvl="0" indent="-91440" algn="l" rtl="0">
              <a:lnSpc>
                <a:spcPct val="90000"/>
              </a:lnSpc>
              <a:spcBef>
                <a:spcPts val="1400"/>
              </a:spcBef>
              <a:spcAft>
                <a:spcPts val="0"/>
              </a:spcAft>
              <a:buSzPts val="2400"/>
              <a:buChar char=" "/>
            </a:pPr>
            <a:r>
              <a:rPr lang="en-US" sz="2400" dirty="0"/>
              <a:t>Swing Supports a Pluggable Look and </a:t>
            </a:r>
            <a:r>
              <a:rPr lang="en-US" sz="2400" dirty="0" smtClean="0"/>
              <a:t>Feel</a:t>
            </a:r>
            <a:endParaRPr lang="en-US" sz="2400" dirty="0"/>
          </a:p>
          <a:p>
            <a:pPr marL="457200" lvl="1" indent="0" eaLnBrk="0" fontAlgn="base" hangingPunct="0">
              <a:lnSpc>
                <a:spcPct val="100000"/>
              </a:lnSpc>
              <a:spcBef>
                <a:spcPct val="0"/>
              </a:spcBef>
              <a:spcAft>
                <a:spcPct val="0"/>
              </a:spcAft>
              <a:buClrTx/>
              <a:buSzTx/>
              <a:buFontTx/>
              <a:buChar char="•"/>
            </a:pPr>
            <a:r>
              <a:rPr lang="en-US" altLang="en-US" sz="2400" dirty="0">
                <a:solidFill>
                  <a:schemeClr val="tx1"/>
                </a:solidFill>
                <a:latin typeface="Arial" panose="020B0604020202020204" pitchFamily="34" charset="0"/>
              </a:rPr>
              <a:t>Your program is the same </a:t>
            </a:r>
            <a:endParaRPr lang="en-US" altLang="en-US" sz="2400" dirty="0" smtClean="0">
              <a:solidFill>
                <a:schemeClr val="tx1"/>
              </a:solidFill>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lang="en-US" altLang="en-US" sz="2400" dirty="0" smtClean="0">
                <a:solidFill>
                  <a:schemeClr val="tx1"/>
                </a:solidFill>
                <a:latin typeface="Arial" panose="020B0604020202020204" pitchFamily="34" charset="0"/>
              </a:rPr>
              <a:t>Only </a:t>
            </a:r>
            <a:r>
              <a:rPr lang="en-US" altLang="en-US" sz="2400" dirty="0">
                <a:solidFill>
                  <a:schemeClr val="tx1"/>
                </a:solidFill>
                <a:latin typeface="Arial" panose="020B0604020202020204" pitchFamily="34" charset="0"/>
              </a:rPr>
              <a:t>the style (colors, buttons, design) changes </a:t>
            </a:r>
          </a:p>
          <a:p>
            <a:pPr marL="457200" lvl="1" indent="0" eaLnBrk="0" fontAlgn="base" hangingPunct="0">
              <a:lnSpc>
                <a:spcPct val="100000"/>
              </a:lnSpc>
              <a:spcBef>
                <a:spcPct val="0"/>
              </a:spcBef>
              <a:spcAft>
                <a:spcPct val="0"/>
              </a:spcAft>
              <a:buClrTx/>
              <a:buSzTx/>
              <a:buFontTx/>
              <a:buChar char="•"/>
            </a:pPr>
            <a:r>
              <a:rPr lang="en-US" sz="2400" dirty="0" smtClean="0"/>
              <a:t>A </a:t>
            </a:r>
            <a:r>
              <a:rPr lang="en-US" sz="2400" dirty="0"/>
              <a:t>button can </a:t>
            </a:r>
            <a:r>
              <a:rPr lang="en-US" sz="2400" dirty="0" err="1" smtClean="0"/>
              <a:t>look:Like</a:t>
            </a:r>
            <a:r>
              <a:rPr lang="en-US" sz="2400" dirty="0" smtClean="0"/>
              <a:t> </a:t>
            </a:r>
            <a:r>
              <a:rPr lang="en-US" sz="2400" dirty="0"/>
              <a:t>Windows </a:t>
            </a:r>
            <a:r>
              <a:rPr lang="en-US" sz="2400" dirty="0" smtClean="0"/>
              <a:t>style, </a:t>
            </a:r>
            <a:r>
              <a:rPr lang="en-US" sz="2400" dirty="0" err="1" smtClean="0"/>
              <a:t>macOS</a:t>
            </a:r>
            <a:r>
              <a:rPr lang="en-US" sz="2400" dirty="0" smtClean="0"/>
              <a:t> </a:t>
            </a:r>
            <a:r>
              <a:rPr lang="en-US" sz="2400" dirty="0"/>
              <a:t>style </a:t>
            </a:r>
            <a:r>
              <a:rPr lang="en-US" sz="2400" dirty="0" smtClean="0"/>
              <a:t>Or </a:t>
            </a:r>
            <a:r>
              <a:rPr lang="en-US" sz="2400" dirty="0"/>
              <a:t>a custom modern style (Nimbus</a:t>
            </a:r>
            <a:r>
              <a:rPr lang="en-US" sz="2400" dirty="0" smtClean="0"/>
              <a:t>). But </a:t>
            </a:r>
            <a:r>
              <a:rPr lang="en-US" sz="2400" dirty="0"/>
              <a:t>it still works the same when you click it</a:t>
            </a:r>
          </a:p>
          <a:p>
            <a:pPr marL="457200" lvl="1" indent="0" eaLnBrk="0" fontAlgn="base" hangingPunct="0">
              <a:lnSpc>
                <a:spcPct val="100000"/>
              </a:lnSpc>
              <a:spcBef>
                <a:spcPct val="0"/>
              </a:spcBef>
              <a:spcAft>
                <a:spcPct val="0"/>
              </a:spcAft>
              <a:buClrTx/>
              <a:buSzTx/>
              <a:buFontTx/>
              <a:buChar char="•"/>
            </a:pPr>
            <a:endParaRPr lang="en-US" altLang="en-US" sz="2400" dirty="0">
              <a:solidFill>
                <a:schemeClr val="tx1"/>
              </a:solidFill>
              <a:latin typeface="Arial" panose="020B0604020202020204" pitchFamily="34" charset="0"/>
            </a:endParaRPr>
          </a:p>
          <a:p>
            <a:pPr marL="91440" lvl="0" indent="-91440" algn="l" rtl="0">
              <a:lnSpc>
                <a:spcPct val="90000"/>
              </a:lnSpc>
              <a:spcBef>
                <a:spcPts val="1400"/>
              </a:spcBef>
              <a:spcAft>
                <a:spcPts val="0"/>
              </a:spcAft>
              <a:buSzPts val="2400"/>
              <a:buChar char=" "/>
            </a:pPr>
            <a:r>
              <a:rPr lang="en-US" sz="2400" dirty="0" smtClean="0"/>
              <a:t> </a:t>
            </a:r>
          </a:p>
          <a:p>
            <a:pPr marL="91440" lvl="0" indent="-91440" algn="l" rtl="0">
              <a:lnSpc>
                <a:spcPct val="90000"/>
              </a:lnSpc>
              <a:spcBef>
                <a:spcPts val="1400"/>
              </a:spcBef>
              <a:spcAft>
                <a:spcPts val="0"/>
              </a:spcAft>
              <a:buSzPts val="2400"/>
              <a:buChar char=" "/>
            </a:pPr>
            <a:endParaRPr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AWT VS SWING</a:t>
            </a:r>
            <a:endParaRPr/>
          </a:p>
        </p:txBody>
      </p:sp>
      <p:pic>
        <p:nvPicPr>
          <p:cNvPr id="118" name="Google Shape;118;p5"/>
          <p:cNvPicPr preferRelativeResize="0">
            <a:picLocks noGrp="1"/>
          </p:cNvPicPr>
          <p:nvPr>
            <p:ph type="body" idx="1"/>
          </p:nvPr>
        </p:nvPicPr>
        <p:blipFill rotWithShape="1">
          <a:blip r:embed="rId3">
            <a:alphaModFix/>
          </a:blip>
          <a:srcRect/>
          <a:stretch/>
        </p:blipFill>
        <p:spPr>
          <a:xfrm>
            <a:off x="845479" y="1741533"/>
            <a:ext cx="9535138" cy="4516644"/>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
          <p:cNvSpPr txBox="1">
            <a:spLocks noGrp="1"/>
          </p:cNvSpPr>
          <p:nvPr>
            <p:ph type="title"/>
          </p:nvPr>
        </p:nvSpPr>
        <p:spPr>
          <a:xfrm>
            <a:off x="1024128" y="197289"/>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dirty="0"/>
              <a:t>MVC CONNECTION</a:t>
            </a:r>
            <a:endParaRPr dirty="0"/>
          </a:p>
        </p:txBody>
      </p:sp>
      <p:sp>
        <p:nvSpPr>
          <p:cNvPr id="124" name="Google Shape;124;p6"/>
          <p:cNvSpPr txBox="1">
            <a:spLocks noGrp="1"/>
          </p:cNvSpPr>
          <p:nvPr>
            <p:ph type="body" idx="1"/>
          </p:nvPr>
        </p:nvSpPr>
        <p:spPr>
          <a:xfrm>
            <a:off x="1024127" y="1335024"/>
            <a:ext cx="9720073" cy="4023360"/>
          </a:xfrm>
          <a:prstGeom prst="rect">
            <a:avLst/>
          </a:prstGeom>
          <a:noFill/>
          <a:ln>
            <a:noFill/>
          </a:ln>
        </p:spPr>
        <p:txBody>
          <a:bodyPr spcFirstLastPara="1" wrap="square" lIns="45700" tIns="45700" rIns="45700" bIns="45700" anchor="t" anchorCtr="0">
            <a:noAutofit/>
          </a:bodyPr>
          <a:lstStyle/>
          <a:p>
            <a:pPr marL="91440" lvl="0" indent="-91440" algn="just" rtl="0">
              <a:lnSpc>
                <a:spcPct val="90000"/>
              </a:lnSpc>
              <a:spcBef>
                <a:spcPts val="0"/>
              </a:spcBef>
              <a:spcAft>
                <a:spcPts val="0"/>
              </a:spcAft>
              <a:buSzPts val="2400"/>
              <a:buChar char=" "/>
            </a:pPr>
            <a:r>
              <a:rPr lang="en-US" sz="2300" dirty="0"/>
              <a:t>In general, a visual component is a composite of three distinct aspects: </a:t>
            </a:r>
            <a:endParaRPr sz="2300" dirty="0"/>
          </a:p>
          <a:p>
            <a:pPr marL="91440" lvl="0" indent="-91440" algn="just" rtl="0">
              <a:lnSpc>
                <a:spcPct val="90000"/>
              </a:lnSpc>
              <a:spcBef>
                <a:spcPts val="1400"/>
              </a:spcBef>
              <a:spcAft>
                <a:spcPts val="0"/>
              </a:spcAft>
              <a:buSzPts val="2400"/>
              <a:buFont typeface="Arial"/>
              <a:buChar char="•"/>
            </a:pPr>
            <a:r>
              <a:rPr lang="en-US" sz="2300" dirty="0"/>
              <a:t>The way that the component looks when rendered on the screen </a:t>
            </a:r>
            <a:endParaRPr sz="2300" dirty="0"/>
          </a:p>
          <a:p>
            <a:pPr marL="91440" lvl="0" indent="-91440" algn="just" rtl="0">
              <a:lnSpc>
                <a:spcPct val="90000"/>
              </a:lnSpc>
              <a:spcBef>
                <a:spcPts val="1400"/>
              </a:spcBef>
              <a:spcAft>
                <a:spcPts val="0"/>
              </a:spcAft>
              <a:buSzPts val="2400"/>
              <a:buFont typeface="Arial"/>
              <a:buChar char="•"/>
            </a:pPr>
            <a:r>
              <a:rPr lang="en-US" sz="2300" dirty="0"/>
              <a:t>The way that the component reacts to the user </a:t>
            </a:r>
            <a:endParaRPr sz="2300" dirty="0"/>
          </a:p>
          <a:p>
            <a:pPr marL="91440" lvl="0" indent="-91440" algn="just" rtl="0">
              <a:lnSpc>
                <a:spcPct val="90000"/>
              </a:lnSpc>
              <a:spcBef>
                <a:spcPts val="1400"/>
              </a:spcBef>
              <a:spcAft>
                <a:spcPts val="0"/>
              </a:spcAft>
              <a:buSzPts val="2400"/>
              <a:buFont typeface="Arial"/>
              <a:buChar char="•"/>
            </a:pPr>
            <a:r>
              <a:rPr lang="en-US" sz="2300" dirty="0"/>
              <a:t>The state information associated with the component</a:t>
            </a:r>
            <a:endParaRPr sz="2300" dirty="0"/>
          </a:p>
          <a:p>
            <a:pPr marL="0" lvl="0" indent="0" algn="just" rtl="0">
              <a:lnSpc>
                <a:spcPct val="90000"/>
              </a:lnSpc>
              <a:spcBef>
                <a:spcPts val="1400"/>
              </a:spcBef>
              <a:spcAft>
                <a:spcPts val="0"/>
              </a:spcAft>
              <a:buSzPts val="2400"/>
              <a:buNone/>
            </a:pPr>
            <a:r>
              <a:rPr lang="en-US" sz="2300" dirty="0"/>
              <a:t>In MVC terminology, the model corresponds to the </a:t>
            </a:r>
            <a:r>
              <a:rPr lang="en-US" sz="2300" b="1" dirty="0"/>
              <a:t>state information associated with the component</a:t>
            </a:r>
            <a:r>
              <a:rPr lang="en-US" sz="2300" dirty="0"/>
              <a:t>. The view determines </a:t>
            </a:r>
            <a:r>
              <a:rPr lang="en-US" sz="2300" b="1" dirty="0"/>
              <a:t>how the component is displayed on the screen</a:t>
            </a:r>
            <a:r>
              <a:rPr lang="en-US" sz="2300" dirty="0"/>
              <a:t>, including any aspects of the view that are affected by the current state of the model. </a:t>
            </a:r>
            <a:r>
              <a:rPr lang="en-US" sz="2300" dirty="0" smtClean="0"/>
              <a:t>The </a:t>
            </a:r>
            <a:r>
              <a:rPr lang="en-US" sz="2300" dirty="0"/>
              <a:t>controller determines </a:t>
            </a:r>
            <a:r>
              <a:rPr lang="en-US" sz="2300" b="1" dirty="0"/>
              <a:t>how the component reacts to the user</a:t>
            </a:r>
            <a:r>
              <a:rPr lang="en-US" sz="2300" dirty="0"/>
              <a:t>. </a:t>
            </a:r>
            <a:endParaRPr lang="en-US" sz="2300" dirty="0" smtClean="0"/>
          </a:p>
          <a:p>
            <a:pPr marL="0" lvl="0" indent="0" algn="just" rtl="0">
              <a:lnSpc>
                <a:spcPct val="90000"/>
              </a:lnSpc>
              <a:spcBef>
                <a:spcPts val="1400"/>
              </a:spcBef>
              <a:spcAft>
                <a:spcPts val="0"/>
              </a:spcAft>
              <a:buSzPts val="2400"/>
              <a:buNone/>
            </a:pPr>
            <a:r>
              <a:rPr lang="en-US" sz="2300" dirty="0" smtClean="0"/>
              <a:t>For </a:t>
            </a:r>
            <a:r>
              <a:rPr lang="en-US" sz="2300" dirty="0"/>
              <a:t>example, when the user clicks a check box, the controller reacts by changing the model to reflect the user’s choice (checked or unchecked). This then results in the view being updated. By separating a component into a model, a view, and a controller, the specific implementation of each can be changed without affecting the other two. </a:t>
            </a:r>
            <a:endParaRPr sz="23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7"/>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MVC CONNECTION</a:t>
            </a:r>
            <a:endParaRPr/>
          </a:p>
        </p:txBody>
      </p:sp>
      <p:sp>
        <p:nvSpPr>
          <p:cNvPr id="130" name="Google Shape;130;p7"/>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just" rtl="0">
              <a:lnSpc>
                <a:spcPct val="90000"/>
              </a:lnSpc>
              <a:spcBef>
                <a:spcPts val="0"/>
              </a:spcBef>
              <a:spcAft>
                <a:spcPts val="0"/>
              </a:spcAft>
              <a:buSzPts val="2400"/>
              <a:buFont typeface="Arial"/>
              <a:buChar char="•"/>
            </a:pPr>
            <a:r>
              <a:rPr lang="en-US" sz="2400" dirty="0"/>
              <a:t>Swing uses a modified version of MVC that combines </a:t>
            </a:r>
            <a:r>
              <a:rPr lang="en-US" sz="2400" b="1" dirty="0"/>
              <a:t>the view and the controller</a:t>
            </a:r>
            <a:r>
              <a:rPr lang="en-US" sz="2400" dirty="0"/>
              <a:t> into a single logical entity called the </a:t>
            </a:r>
            <a:r>
              <a:rPr lang="en-US" sz="2400" b="1" dirty="0"/>
              <a:t>UI delegate</a:t>
            </a:r>
            <a:r>
              <a:rPr lang="en-US" sz="2400" dirty="0"/>
              <a:t>. For this reason, Swing’s approach is called either the Model-Delegate architecture or the Separable Model architecture. </a:t>
            </a:r>
            <a:endParaRPr sz="2400" dirty="0"/>
          </a:p>
          <a:p>
            <a:pPr marL="91440" lvl="0" indent="0" algn="just" rtl="0">
              <a:lnSpc>
                <a:spcPct val="90000"/>
              </a:lnSpc>
              <a:spcBef>
                <a:spcPts val="1400"/>
              </a:spcBef>
              <a:spcAft>
                <a:spcPts val="0"/>
              </a:spcAft>
              <a:buSzPts val="2400"/>
              <a:buFont typeface="Arial"/>
              <a:buNone/>
            </a:pPr>
            <a:endParaRPr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CONTAINERS AND COMPONENTS</a:t>
            </a:r>
            <a:endParaRPr/>
          </a:p>
        </p:txBody>
      </p:sp>
      <p:sp>
        <p:nvSpPr>
          <p:cNvPr id="136" name="Google Shape;136;p8"/>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just" rtl="0">
              <a:lnSpc>
                <a:spcPct val="90000"/>
              </a:lnSpc>
              <a:spcBef>
                <a:spcPts val="0"/>
              </a:spcBef>
              <a:spcAft>
                <a:spcPts val="0"/>
              </a:spcAft>
              <a:buSzPts val="2400"/>
              <a:buFont typeface="Arial"/>
              <a:buChar char="•"/>
            </a:pPr>
            <a:r>
              <a:rPr lang="en-US" sz="2400" dirty="0"/>
              <a:t>A Swing GUI consists of two key items: components and containers.</a:t>
            </a:r>
            <a:endParaRPr dirty="0"/>
          </a:p>
          <a:p>
            <a:pPr marL="91440" lvl="0" indent="-91440" algn="just" rtl="0">
              <a:lnSpc>
                <a:spcPct val="90000"/>
              </a:lnSpc>
              <a:spcBef>
                <a:spcPts val="1400"/>
              </a:spcBef>
              <a:spcAft>
                <a:spcPts val="0"/>
              </a:spcAft>
              <a:buSzPts val="2400"/>
              <a:buFont typeface="Arial"/>
              <a:buChar char="•"/>
            </a:pPr>
            <a:r>
              <a:rPr lang="en-US" sz="2400" dirty="0"/>
              <a:t>A</a:t>
            </a:r>
            <a:r>
              <a:rPr lang="en-US" sz="2400" b="1" dirty="0"/>
              <a:t> component </a:t>
            </a:r>
            <a:r>
              <a:rPr lang="en-US" sz="2400" dirty="0"/>
              <a:t>is an independent visual control, such as a push button or slider. A </a:t>
            </a:r>
            <a:r>
              <a:rPr lang="en-US" sz="2400" b="1" dirty="0"/>
              <a:t>container holds a group of components</a:t>
            </a:r>
            <a:r>
              <a:rPr lang="en-US" sz="2400" dirty="0"/>
              <a:t>. Thus, a container is a special type of component that is designed to hold other components. </a:t>
            </a:r>
            <a:endParaRPr sz="2400" dirty="0"/>
          </a:p>
          <a:p>
            <a:pPr marL="91440" lvl="0" indent="-91440" algn="just" rtl="0">
              <a:lnSpc>
                <a:spcPct val="90000"/>
              </a:lnSpc>
              <a:spcBef>
                <a:spcPts val="1400"/>
              </a:spcBef>
              <a:spcAft>
                <a:spcPts val="0"/>
              </a:spcAft>
              <a:buSzPts val="2400"/>
              <a:buFont typeface="Arial"/>
              <a:buChar char="•"/>
            </a:pPr>
            <a:r>
              <a:rPr lang="en-US" sz="2400" dirty="0"/>
              <a:t>All Swing GUIs will have at least one container. Because containers are components, a container can also hold other containers. This enables Swing to define what is called a containment hierarchy, at the top of which must be a top-level container.</a:t>
            </a:r>
            <a:endParaRPr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CONTAINERS AND COMPONENTS</a:t>
            </a:r>
            <a:endParaRPr/>
          </a:p>
        </p:txBody>
      </p:sp>
      <p:sp>
        <p:nvSpPr>
          <p:cNvPr id="142" name="Google Shape;142;p9"/>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fontScale="92500" lnSpcReduction="20000"/>
          </a:bodyPr>
          <a:lstStyle/>
          <a:p>
            <a:pPr marL="91440" lvl="0" indent="-140970" algn="just" rtl="0">
              <a:lnSpc>
                <a:spcPct val="90000"/>
              </a:lnSpc>
              <a:spcBef>
                <a:spcPts val="0"/>
              </a:spcBef>
              <a:spcAft>
                <a:spcPts val="0"/>
              </a:spcAft>
              <a:buSzPct val="100000"/>
              <a:buFont typeface="Arial"/>
              <a:buChar char="•"/>
            </a:pPr>
            <a:r>
              <a:rPr lang="en-US" sz="2400" dirty="0"/>
              <a:t>In general, Swing components are derived from the </a:t>
            </a:r>
            <a:r>
              <a:rPr lang="en-US" sz="2400" b="1" dirty="0" err="1"/>
              <a:t>JComponent</a:t>
            </a:r>
            <a:r>
              <a:rPr lang="en-US" sz="2400" b="1" dirty="0"/>
              <a:t> class</a:t>
            </a:r>
            <a:r>
              <a:rPr lang="en-US" sz="2400" dirty="0"/>
              <a:t>. </a:t>
            </a:r>
            <a:r>
              <a:rPr lang="en-US" sz="2400" dirty="0" err="1"/>
              <a:t>JComponent</a:t>
            </a:r>
            <a:r>
              <a:rPr lang="en-US" sz="2400" dirty="0"/>
              <a:t> provides the functionality that is common to all components. </a:t>
            </a:r>
            <a:r>
              <a:rPr lang="en-US" sz="2400" dirty="0" err="1"/>
              <a:t>JComponent</a:t>
            </a:r>
            <a:r>
              <a:rPr lang="en-US" sz="2400" dirty="0"/>
              <a:t> inherits the AWT classes Container and Component. </a:t>
            </a:r>
            <a:endParaRPr sz="2400" dirty="0"/>
          </a:p>
          <a:p>
            <a:pPr marL="91440" lvl="0" indent="-140970" algn="just" rtl="0">
              <a:lnSpc>
                <a:spcPct val="90000"/>
              </a:lnSpc>
              <a:spcBef>
                <a:spcPts val="1400"/>
              </a:spcBef>
              <a:spcAft>
                <a:spcPts val="0"/>
              </a:spcAft>
              <a:buSzPct val="100000"/>
              <a:buFont typeface="Arial"/>
              <a:buChar char="•"/>
            </a:pPr>
            <a:r>
              <a:rPr lang="en-US" sz="2400" dirty="0"/>
              <a:t>Swing defines two types of containers. The first are </a:t>
            </a:r>
            <a:r>
              <a:rPr lang="en-US" sz="2400" b="1" dirty="0"/>
              <a:t>top-level containers</a:t>
            </a:r>
            <a:r>
              <a:rPr lang="en-US" sz="2400" dirty="0"/>
              <a:t>: </a:t>
            </a:r>
            <a:r>
              <a:rPr lang="en-US" sz="2400" dirty="0" err="1"/>
              <a:t>JFrame</a:t>
            </a:r>
            <a:r>
              <a:rPr lang="en-US" sz="2400" dirty="0"/>
              <a:t>, </a:t>
            </a:r>
            <a:r>
              <a:rPr lang="en-US" sz="2400" dirty="0" err="1"/>
              <a:t>JApplet</a:t>
            </a:r>
            <a:r>
              <a:rPr lang="en-US" sz="2400" dirty="0"/>
              <a:t>, </a:t>
            </a:r>
            <a:r>
              <a:rPr lang="en-US" sz="2400" dirty="0" err="1"/>
              <a:t>JWindow</a:t>
            </a:r>
            <a:r>
              <a:rPr lang="en-US" sz="2400" dirty="0"/>
              <a:t>, and </a:t>
            </a:r>
            <a:r>
              <a:rPr lang="en-US" sz="2400" dirty="0" err="1"/>
              <a:t>JDialog</a:t>
            </a:r>
            <a:r>
              <a:rPr lang="en-US" sz="2400" dirty="0"/>
              <a:t>. These containers do not inherit </a:t>
            </a:r>
            <a:r>
              <a:rPr lang="en-US" sz="2400" dirty="0" err="1"/>
              <a:t>JComponent</a:t>
            </a:r>
            <a:r>
              <a:rPr lang="en-US" sz="2400" dirty="0"/>
              <a:t>. They do, however, inherit the AWT classes Component and Container. </a:t>
            </a:r>
            <a:endParaRPr sz="2400" dirty="0"/>
          </a:p>
          <a:p>
            <a:pPr marL="91440" lvl="0" indent="-140970" algn="just" rtl="0">
              <a:lnSpc>
                <a:spcPct val="90000"/>
              </a:lnSpc>
              <a:spcBef>
                <a:spcPts val="1400"/>
              </a:spcBef>
              <a:spcAft>
                <a:spcPts val="0"/>
              </a:spcAft>
              <a:buSzPct val="100000"/>
              <a:buFont typeface="Arial"/>
              <a:buChar char="•"/>
            </a:pPr>
            <a:r>
              <a:rPr lang="en-US" sz="2400" dirty="0"/>
              <a:t>The one most commonly used for applications is </a:t>
            </a:r>
            <a:r>
              <a:rPr lang="en-US" sz="2400" b="1" dirty="0" err="1"/>
              <a:t>JFrame</a:t>
            </a:r>
            <a:r>
              <a:rPr lang="en-US" sz="2400" b="1" dirty="0"/>
              <a:t>. </a:t>
            </a:r>
            <a:endParaRPr sz="2400" b="1" dirty="0"/>
          </a:p>
          <a:p>
            <a:pPr marL="91440" lvl="0" indent="-140970" algn="just" rtl="0">
              <a:lnSpc>
                <a:spcPct val="90000"/>
              </a:lnSpc>
              <a:spcBef>
                <a:spcPts val="1400"/>
              </a:spcBef>
              <a:spcAft>
                <a:spcPts val="0"/>
              </a:spcAft>
              <a:buSzPct val="100000"/>
              <a:buFont typeface="Arial"/>
              <a:buChar char="•"/>
            </a:pPr>
            <a:r>
              <a:rPr lang="en-US" sz="2400" b="1" dirty="0"/>
              <a:t>Lightweight containers </a:t>
            </a:r>
            <a:r>
              <a:rPr lang="en-US" sz="2400" dirty="0"/>
              <a:t>do inherit </a:t>
            </a:r>
            <a:r>
              <a:rPr lang="en-US" sz="2400" dirty="0" err="1"/>
              <a:t>JComponent</a:t>
            </a:r>
            <a:r>
              <a:rPr lang="en-US" sz="2400" dirty="0"/>
              <a:t>. An example of a lightweight container is </a:t>
            </a:r>
            <a:r>
              <a:rPr lang="en-US" sz="2400" b="1" dirty="0" err="1"/>
              <a:t>JPanel</a:t>
            </a:r>
            <a:r>
              <a:rPr lang="en-US" sz="2400" b="1" dirty="0"/>
              <a:t>, </a:t>
            </a:r>
            <a:r>
              <a:rPr lang="en-US" sz="2400" dirty="0"/>
              <a:t>which is a general-purpose container. Lightweight containers are often used to organize and manage groups of related components because a lightweight container can be contained within another container.</a:t>
            </a:r>
            <a:endParaRPr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SIMPLE CODE</a:t>
            </a:r>
            <a:endParaRPr/>
          </a:p>
        </p:txBody>
      </p:sp>
      <p:sp>
        <p:nvSpPr>
          <p:cNvPr id="148" name="Google Shape;148;p10"/>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0"/>
              </a:spcBef>
              <a:spcAft>
                <a:spcPts val="0"/>
              </a:spcAft>
              <a:buSzPts val="2000"/>
              <a:buChar char=" "/>
            </a:pPr>
            <a:r>
              <a:rPr lang="en-US" sz="2000" dirty="0"/>
              <a:t>import </a:t>
            </a:r>
            <a:r>
              <a:rPr lang="en-US" sz="2000" dirty="0" err="1"/>
              <a:t>javax.swing</a:t>
            </a:r>
            <a:r>
              <a:rPr lang="en-US" sz="2000" dirty="0"/>
              <a:t>.*;</a:t>
            </a:r>
            <a:endParaRPr dirty="0"/>
          </a:p>
          <a:p>
            <a:pPr marL="91440" lvl="0" indent="-91440" algn="l" rtl="0">
              <a:lnSpc>
                <a:spcPct val="90000"/>
              </a:lnSpc>
              <a:spcBef>
                <a:spcPts val="1400"/>
              </a:spcBef>
              <a:spcAft>
                <a:spcPts val="0"/>
              </a:spcAft>
              <a:buSzPts val="2000"/>
              <a:buChar char=" "/>
            </a:pPr>
            <a:r>
              <a:rPr lang="en-US" sz="2000" dirty="0"/>
              <a:t>public class </a:t>
            </a:r>
            <a:r>
              <a:rPr lang="en-US" sz="2000" dirty="0" err="1"/>
              <a:t>HelloSwing</a:t>
            </a:r>
            <a:r>
              <a:rPr lang="en-US" sz="2000" dirty="0"/>
              <a:t> {</a:t>
            </a:r>
            <a:endParaRPr dirty="0"/>
          </a:p>
          <a:p>
            <a:pPr marL="91440" lvl="0" indent="-91440" algn="l" rtl="0">
              <a:lnSpc>
                <a:spcPct val="90000"/>
              </a:lnSpc>
              <a:spcBef>
                <a:spcPts val="1400"/>
              </a:spcBef>
              <a:spcAft>
                <a:spcPts val="0"/>
              </a:spcAft>
              <a:buSzPts val="2000"/>
              <a:buChar char=" "/>
            </a:pPr>
            <a:r>
              <a:rPr lang="en-US" sz="2000" dirty="0"/>
              <a:t>    public static void main(String[] </a:t>
            </a:r>
            <a:r>
              <a:rPr lang="en-US" sz="2000" dirty="0" err="1"/>
              <a:t>args</a:t>
            </a:r>
            <a:r>
              <a:rPr lang="en-US" sz="2000" dirty="0"/>
              <a:t>) {</a:t>
            </a:r>
            <a:endParaRPr dirty="0"/>
          </a:p>
          <a:p>
            <a:pPr marL="91440" lvl="0" indent="-91440" algn="l" rtl="0">
              <a:lnSpc>
                <a:spcPct val="90000"/>
              </a:lnSpc>
              <a:spcBef>
                <a:spcPts val="1400"/>
              </a:spcBef>
              <a:spcAft>
                <a:spcPts val="0"/>
              </a:spcAft>
              <a:buSzPts val="2000"/>
              <a:buChar char=" "/>
            </a:pPr>
            <a:r>
              <a:rPr lang="en-US" sz="2000" dirty="0"/>
              <a:t>        </a:t>
            </a:r>
            <a:r>
              <a:rPr lang="en-US" sz="2000" dirty="0" err="1" smtClean="0"/>
              <a:t>JFrame</a:t>
            </a:r>
            <a:r>
              <a:rPr lang="en-US" sz="2000" dirty="0" smtClean="0"/>
              <a:t> </a:t>
            </a:r>
            <a:r>
              <a:rPr lang="en-US" sz="2000" dirty="0"/>
              <a:t>frame = new </a:t>
            </a:r>
            <a:r>
              <a:rPr lang="en-US" sz="2000" dirty="0" err="1"/>
              <a:t>JFrame</a:t>
            </a:r>
            <a:r>
              <a:rPr lang="en-US" sz="2000" dirty="0"/>
              <a:t>("My First Swing App");</a:t>
            </a:r>
            <a:endParaRPr dirty="0"/>
          </a:p>
          <a:p>
            <a:pPr marL="91440" lvl="0" indent="-91440" algn="l" rtl="0">
              <a:lnSpc>
                <a:spcPct val="90000"/>
              </a:lnSpc>
              <a:spcBef>
                <a:spcPts val="1400"/>
              </a:spcBef>
              <a:spcAft>
                <a:spcPts val="0"/>
              </a:spcAft>
              <a:buSzPts val="2000"/>
              <a:buChar char=" "/>
            </a:pPr>
            <a:r>
              <a:rPr lang="en-US" sz="2000" dirty="0"/>
              <a:t>        </a:t>
            </a:r>
            <a:r>
              <a:rPr lang="en-US" sz="2000" dirty="0" err="1"/>
              <a:t>frame.setSize</a:t>
            </a:r>
            <a:r>
              <a:rPr lang="en-US" sz="2000" dirty="0"/>
              <a:t>(300, 200);                         </a:t>
            </a:r>
            <a:endParaRPr dirty="0"/>
          </a:p>
          <a:p>
            <a:pPr marL="91440" lvl="0" indent="-91440" algn="l" rtl="0">
              <a:lnSpc>
                <a:spcPct val="90000"/>
              </a:lnSpc>
              <a:spcBef>
                <a:spcPts val="1400"/>
              </a:spcBef>
              <a:spcAft>
                <a:spcPts val="0"/>
              </a:spcAft>
              <a:buSzPts val="2000"/>
              <a:buChar char=" "/>
            </a:pPr>
            <a:r>
              <a:rPr lang="en-US" sz="2000" dirty="0"/>
              <a:t>        </a:t>
            </a:r>
            <a:r>
              <a:rPr lang="en-US" sz="2000" dirty="0" err="1"/>
              <a:t>frame.setDefaultCloseOperation</a:t>
            </a:r>
            <a:r>
              <a:rPr lang="en-US" sz="2000" dirty="0"/>
              <a:t>(</a:t>
            </a:r>
            <a:r>
              <a:rPr lang="en-US" sz="2000" dirty="0" err="1"/>
              <a:t>JFrame.EXIT_ON_CLOSE</a:t>
            </a:r>
            <a:r>
              <a:rPr lang="en-US" sz="2000" dirty="0"/>
              <a:t>);         </a:t>
            </a:r>
            <a:endParaRPr dirty="0"/>
          </a:p>
          <a:p>
            <a:pPr marL="91440" lvl="0" indent="-91440" algn="l" rtl="0">
              <a:lnSpc>
                <a:spcPct val="90000"/>
              </a:lnSpc>
              <a:spcBef>
                <a:spcPts val="1400"/>
              </a:spcBef>
              <a:spcAft>
                <a:spcPts val="0"/>
              </a:spcAft>
              <a:buSzPts val="2000"/>
              <a:buChar char=" "/>
            </a:pPr>
            <a:r>
              <a:rPr lang="en-US" sz="2000" dirty="0"/>
              <a:t>        </a:t>
            </a:r>
            <a:r>
              <a:rPr lang="en-US" sz="2000" dirty="0" err="1"/>
              <a:t>frame.setLayout</a:t>
            </a:r>
            <a:r>
              <a:rPr lang="en-US" sz="2000" dirty="0"/>
              <a:t>(null);</a:t>
            </a:r>
            <a:endParaRPr dirty="0"/>
          </a:p>
          <a:p>
            <a:pPr marL="0" lvl="0" indent="0" algn="l" rtl="0">
              <a:lnSpc>
                <a:spcPct val="90000"/>
              </a:lnSpc>
              <a:spcBef>
                <a:spcPts val="1400"/>
              </a:spcBef>
              <a:spcAft>
                <a:spcPts val="0"/>
              </a:spcAft>
              <a:buSzPts val="2000"/>
              <a:buNone/>
            </a:pPr>
            <a:r>
              <a:rPr lang="en-US" sz="2000" dirty="0"/>
              <a:t>          </a:t>
            </a:r>
            <a:r>
              <a:rPr lang="en-US" sz="2000" dirty="0" err="1" smtClean="0"/>
              <a:t>JLabel</a:t>
            </a:r>
            <a:r>
              <a:rPr lang="en-US" sz="2000" dirty="0" smtClean="0"/>
              <a:t> </a:t>
            </a:r>
            <a:r>
              <a:rPr lang="en-US" sz="2000" dirty="0"/>
              <a:t>label = new </a:t>
            </a:r>
            <a:r>
              <a:rPr lang="en-US" sz="2000" dirty="0" err="1"/>
              <a:t>JLabel</a:t>
            </a:r>
            <a:r>
              <a:rPr lang="en-US" sz="2000" dirty="0"/>
              <a:t>("Hello, Swing!");        </a:t>
            </a:r>
            <a:endParaRPr sz="2000" dirty="0"/>
          </a:p>
          <a:p>
            <a:pPr marL="91440" lvl="0" indent="-91440" algn="l" rtl="0">
              <a:lnSpc>
                <a:spcPct val="90000"/>
              </a:lnSpc>
              <a:spcBef>
                <a:spcPts val="1400"/>
              </a:spcBef>
              <a:spcAft>
                <a:spcPts val="0"/>
              </a:spcAft>
              <a:buSzPts val="2000"/>
              <a:buChar char=" "/>
            </a:pPr>
            <a:r>
              <a:rPr lang="en-US" sz="2000" dirty="0"/>
              <a:t>          </a:t>
            </a:r>
            <a:r>
              <a:rPr lang="en-US" sz="2000" dirty="0" err="1"/>
              <a:t>frame.add</a:t>
            </a:r>
            <a:r>
              <a:rPr lang="en-US" sz="2000" dirty="0"/>
              <a:t>(label); </a:t>
            </a:r>
            <a:r>
              <a:rPr lang="en-US" sz="2000" dirty="0" err="1"/>
              <a:t>frame.setVisible</a:t>
            </a:r>
            <a:r>
              <a:rPr lang="en-US" sz="2000" dirty="0"/>
              <a:t>(true);</a:t>
            </a:r>
            <a:endParaRPr dirty="0"/>
          </a:p>
          <a:p>
            <a:pPr marL="91440" lvl="0" indent="-91440" algn="l" rtl="0">
              <a:lnSpc>
                <a:spcPct val="90000"/>
              </a:lnSpc>
              <a:spcBef>
                <a:spcPts val="1400"/>
              </a:spcBef>
              <a:spcAft>
                <a:spcPts val="0"/>
              </a:spcAft>
              <a:buSzPts val="2000"/>
              <a:buChar char=" "/>
            </a:pPr>
            <a:r>
              <a:rPr lang="en-US" sz="2000" dirty="0"/>
              <a:t>    }}</a:t>
            </a:r>
            <a:endParaRPr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EVENT HANDLING</a:t>
            </a:r>
            <a:endParaRPr/>
          </a:p>
        </p:txBody>
      </p:sp>
      <p:sp>
        <p:nvSpPr>
          <p:cNvPr id="154" name="Google Shape;154;p11"/>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400"/>
              <a:buChar char=" "/>
            </a:pPr>
            <a:r>
              <a:rPr lang="en-US" sz="2400"/>
              <a:t>Event handling is the mechanism that controls the event and decides what should happen if an event occurs. In </a:t>
            </a:r>
            <a:r>
              <a:rPr lang="en-US" sz="2400" b="1"/>
              <a:t>Java Swing</a:t>
            </a:r>
            <a:r>
              <a:rPr lang="en-US" sz="2400"/>
              <a:t>, when a user interacts with a GUI component (like a button), an event is generated, and it's handled by event listeners.</a:t>
            </a:r>
            <a:endParaRPr sz="24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SIMPLE JAVA CODE</a:t>
            </a:r>
            <a:endParaRPr/>
          </a:p>
        </p:txBody>
      </p:sp>
      <p:sp>
        <p:nvSpPr>
          <p:cNvPr id="160" name="Google Shape;160;p12"/>
          <p:cNvSpPr txBox="1">
            <a:spLocks noGrp="1"/>
          </p:cNvSpPr>
          <p:nvPr>
            <p:ph type="body" idx="1"/>
          </p:nvPr>
        </p:nvSpPr>
        <p:spPr>
          <a:xfrm>
            <a:off x="1024128" y="2286000"/>
            <a:ext cx="10854363" cy="4023360"/>
          </a:xfrm>
          <a:prstGeom prst="rect">
            <a:avLst/>
          </a:prstGeom>
          <a:noFill/>
          <a:ln>
            <a:noFill/>
          </a:ln>
        </p:spPr>
        <p:txBody>
          <a:bodyPr spcFirstLastPara="1" wrap="square" lIns="45700" tIns="45700" rIns="45700" bIns="45700" anchor="t" anchorCtr="0">
            <a:noAutofit/>
          </a:bodyPr>
          <a:lstStyle/>
          <a:p>
            <a:pPr marL="91440" lvl="0" indent="-91440" algn="l" rtl="0">
              <a:lnSpc>
                <a:spcPct val="90000"/>
              </a:lnSpc>
              <a:spcBef>
                <a:spcPts val="0"/>
              </a:spcBef>
              <a:spcAft>
                <a:spcPts val="0"/>
              </a:spcAft>
              <a:buSzPts val="2000"/>
              <a:buChar char=" "/>
            </a:pPr>
            <a:r>
              <a:rPr lang="en-US" sz="2000"/>
              <a:t>import javax.swing.*;</a:t>
            </a:r>
            <a:endParaRPr/>
          </a:p>
          <a:p>
            <a:pPr marL="91440" lvl="0" indent="-91440" algn="l" rtl="0">
              <a:lnSpc>
                <a:spcPct val="90000"/>
              </a:lnSpc>
              <a:spcBef>
                <a:spcPts val="1400"/>
              </a:spcBef>
              <a:spcAft>
                <a:spcPts val="0"/>
              </a:spcAft>
              <a:buSzPts val="2000"/>
              <a:buChar char=" "/>
            </a:pPr>
            <a:r>
              <a:rPr lang="en-US" sz="2000"/>
              <a:t>import java.awt.event.*;</a:t>
            </a:r>
            <a:endParaRPr/>
          </a:p>
          <a:p>
            <a:pPr marL="91440" lvl="0" indent="-91440" algn="l" rtl="0">
              <a:lnSpc>
                <a:spcPct val="90000"/>
              </a:lnSpc>
              <a:spcBef>
                <a:spcPts val="1400"/>
              </a:spcBef>
              <a:spcAft>
                <a:spcPts val="0"/>
              </a:spcAft>
              <a:buSzPts val="2000"/>
              <a:buChar char=" "/>
            </a:pPr>
            <a:r>
              <a:rPr lang="en-US" sz="2000"/>
              <a:t>public class ButtonExample {</a:t>
            </a:r>
            <a:endParaRPr/>
          </a:p>
          <a:p>
            <a:pPr marL="91440" lvl="0" indent="-91440" algn="l" rtl="0">
              <a:lnSpc>
                <a:spcPct val="90000"/>
              </a:lnSpc>
              <a:spcBef>
                <a:spcPts val="1400"/>
              </a:spcBef>
              <a:spcAft>
                <a:spcPts val="0"/>
              </a:spcAft>
              <a:buSzPts val="2000"/>
              <a:buChar char=" "/>
            </a:pPr>
            <a:r>
              <a:rPr lang="en-US" sz="2000"/>
              <a:t>    public static void main(String[] args) {</a:t>
            </a:r>
            <a:endParaRPr/>
          </a:p>
          <a:p>
            <a:pPr marL="91440" lvl="0" indent="-91440" algn="l" rtl="0">
              <a:lnSpc>
                <a:spcPct val="90000"/>
              </a:lnSpc>
              <a:spcBef>
                <a:spcPts val="1400"/>
              </a:spcBef>
              <a:spcAft>
                <a:spcPts val="0"/>
              </a:spcAft>
              <a:buSzPts val="2000"/>
              <a:buChar char=" "/>
            </a:pPr>
            <a:r>
              <a:rPr lang="en-US" sz="2000"/>
              <a:t>        JFrame frame = new JFrame("Button Event Example");</a:t>
            </a:r>
            <a:endParaRPr/>
          </a:p>
          <a:p>
            <a:pPr marL="91440" lvl="0" indent="-91440" algn="l" rtl="0">
              <a:lnSpc>
                <a:spcPct val="90000"/>
              </a:lnSpc>
              <a:spcBef>
                <a:spcPts val="1400"/>
              </a:spcBef>
              <a:spcAft>
                <a:spcPts val="0"/>
              </a:spcAft>
              <a:buSzPts val="2000"/>
              <a:buChar char=" "/>
            </a:pPr>
            <a:r>
              <a:rPr lang="en-US" sz="2000"/>
              <a:t>        JButton button = new JButton("Click Me"); button.setBounds(100, 100, 140, 40);</a:t>
            </a:r>
            <a:endParaRPr/>
          </a:p>
          <a:p>
            <a:pPr marL="91440" lvl="0" indent="-91440" algn="l" rtl="0">
              <a:lnSpc>
                <a:spcPct val="90000"/>
              </a:lnSpc>
              <a:spcBef>
                <a:spcPts val="1400"/>
              </a:spcBef>
              <a:spcAft>
                <a:spcPts val="0"/>
              </a:spcAft>
              <a:buSzPts val="2000"/>
              <a:buChar char=" "/>
            </a:pPr>
            <a:r>
              <a:rPr lang="en-US" sz="2000"/>
              <a:t>        button.addActionListener(new ActionListener() {</a:t>
            </a:r>
            <a:endParaRPr/>
          </a:p>
          <a:p>
            <a:pPr marL="91440" lvl="0" indent="-91440" algn="l" rtl="0">
              <a:lnSpc>
                <a:spcPct val="90000"/>
              </a:lnSpc>
              <a:spcBef>
                <a:spcPts val="1400"/>
              </a:spcBef>
              <a:spcAft>
                <a:spcPts val="0"/>
              </a:spcAft>
              <a:buSzPts val="2000"/>
              <a:buChar char=" "/>
            </a:pPr>
            <a:r>
              <a:rPr lang="en-US" sz="2000"/>
              <a:t>            public void actionPerformed(ActionEvent e) {</a:t>
            </a:r>
            <a:endParaRPr/>
          </a:p>
          <a:p>
            <a:pPr marL="91440" lvl="0" indent="-91440" algn="l" rtl="0">
              <a:lnSpc>
                <a:spcPct val="90000"/>
              </a:lnSpc>
              <a:spcBef>
                <a:spcPts val="1400"/>
              </a:spcBef>
              <a:spcAft>
                <a:spcPts val="0"/>
              </a:spcAft>
              <a:buSzPts val="2000"/>
              <a:buChar char=" "/>
            </a:pPr>
            <a:r>
              <a:rPr lang="en-US" sz="2000"/>
              <a:t>                System.out.println("Button was clicked!");            }        });</a:t>
            </a:r>
            <a:endParaRPr sz="2000"/>
          </a:p>
          <a:p>
            <a:pPr marL="91440" lvl="0" indent="-91440" algn="l" rtl="0">
              <a:lnSpc>
                <a:spcPct val="90000"/>
              </a:lnSpc>
              <a:spcBef>
                <a:spcPts val="1400"/>
              </a:spcBef>
              <a:spcAft>
                <a:spcPts val="0"/>
              </a:spcAft>
              <a:buSzPts val="2000"/>
              <a:buChar char=" "/>
            </a:pPr>
            <a:r>
              <a:rPr lang="en-US" sz="2000"/>
              <a:t>        frame.add(button); frame.setSize(300, 300);frame.setLayout(null); frame.setVisible(true);</a:t>
            </a:r>
            <a:endParaRPr/>
          </a:p>
          <a:p>
            <a:pPr marL="91440" lvl="0" indent="-91440" algn="l" rtl="0">
              <a:lnSpc>
                <a:spcPct val="90000"/>
              </a:lnSpc>
              <a:spcBef>
                <a:spcPts val="1400"/>
              </a:spcBef>
              <a:spcAft>
                <a:spcPts val="0"/>
              </a:spcAft>
              <a:buSzPts val="2000"/>
              <a:buChar char=" "/>
            </a:pPr>
            <a:r>
              <a:rPr lang="en-US" sz="2000"/>
              <a:t>        frame.setDefaultCloseOperation(JFrame.EXIT_ON_CLOSE); }}</a:t>
            </a:r>
            <a:endParaRPr sz="2000"/>
          </a:p>
          <a:p>
            <a:pPr marL="91440" lvl="0" indent="0" algn="l" rtl="0">
              <a:lnSpc>
                <a:spcPct val="90000"/>
              </a:lnSpc>
              <a:spcBef>
                <a:spcPts val="1400"/>
              </a:spcBef>
              <a:spcAft>
                <a:spcPts val="0"/>
              </a:spcAft>
              <a:buSzPts val="2000"/>
              <a:buNone/>
            </a:pPr>
            <a:endParaRPr sz="20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3"/>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QUESTIONS</a:t>
            </a:r>
            <a:endParaRPr/>
          </a:p>
        </p:txBody>
      </p:sp>
      <p:sp>
        <p:nvSpPr>
          <p:cNvPr id="166" name="Google Shape;166;p13"/>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a:t>Create a GUI with a button labeled "Click Me". Each time it's clicked, increment a counter and display the total number of clicks in a label. </a:t>
            </a:r>
            <a:endParaRPr/>
          </a:p>
          <a:p>
            <a:pPr marL="91440" lvl="0" indent="-91440" algn="l" rtl="0">
              <a:lnSpc>
                <a:spcPct val="90000"/>
              </a:lnSpc>
              <a:spcBef>
                <a:spcPts val="1400"/>
              </a:spcBef>
              <a:spcAft>
                <a:spcPts val="0"/>
              </a:spcAft>
              <a:buSzPts val="2200"/>
              <a:buChar char=" "/>
            </a:pPr>
            <a:r>
              <a:rPr lang="en-US"/>
              <a:t>Create a form with a JTextField and a JButton. When the button is clicked, display the text entered in the console.</a:t>
            </a:r>
            <a:endParaRPr/>
          </a:p>
          <a:p>
            <a:pPr marL="91440" lvl="0" indent="-91440" algn="l" rtl="0">
              <a:lnSpc>
                <a:spcPct val="90000"/>
              </a:lnSpc>
              <a:spcBef>
                <a:spcPts val="1400"/>
              </a:spcBef>
              <a:spcAft>
                <a:spcPts val="0"/>
              </a:spcAft>
              <a:buSzPts val="2200"/>
              <a:buChar char=" "/>
            </a:pPr>
            <a:r>
              <a:rPr lang="en-US"/>
              <a:t>Create a GUI with two JTextFields, a JButton, and a JLabel. When the button is clicked, show the sum of the numbers entered in the label.</a:t>
            </a:r>
            <a:endParaRPr/>
          </a:p>
          <a:p>
            <a:pPr marL="91440" lvl="0" indent="-91440" algn="l" rtl="0">
              <a:lnSpc>
                <a:spcPct val="90000"/>
              </a:lnSpc>
              <a:spcBef>
                <a:spcPts val="1400"/>
              </a:spcBef>
              <a:spcAft>
                <a:spcPts val="0"/>
              </a:spcAft>
              <a:buSzPts val="2200"/>
              <a:buChar char=" "/>
            </a:pPr>
            <a:r>
              <a:rPr lang="en-US"/>
              <a:t>Make a button that toggles its label between </a:t>
            </a:r>
            <a:r>
              <a:rPr lang="en-US" b="1"/>
              <a:t>"ON"</a:t>
            </a:r>
            <a:r>
              <a:rPr lang="en-US"/>
              <a:t> and </a:t>
            </a:r>
            <a:r>
              <a:rPr lang="en-US" b="1"/>
              <a:t>"OFF"</a:t>
            </a:r>
            <a:r>
              <a:rPr lang="en-US"/>
              <a:t> every time it's clicked.</a:t>
            </a:r>
            <a:endParaRPr/>
          </a:p>
          <a:p>
            <a:pPr marL="91440" lvl="0" indent="0" algn="l" rtl="0">
              <a:lnSpc>
                <a:spcPct val="90000"/>
              </a:lnSpc>
              <a:spcBef>
                <a:spcPts val="1400"/>
              </a:spcBef>
              <a:spcAft>
                <a:spcPts val="0"/>
              </a:spcAft>
              <a:buSzPts val="2200"/>
              <a:buNone/>
            </a:pP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JFRAME</a:t>
            </a:r>
            <a:endParaRPr lang="en-IN" dirty="0"/>
          </a:p>
        </p:txBody>
      </p:sp>
      <p:sp>
        <p:nvSpPr>
          <p:cNvPr id="3" name="Text Placeholder 2"/>
          <p:cNvSpPr>
            <a:spLocks noGrp="1"/>
          </p:cNvSpPr>
          <p:nvPr>
            <p:ph type="body" idx="1"/>
          </p:nvPr>
        </p:nvSpPr>
        <p:spPr/>
        <p:txBody>
          <a:bodyPr>
            <a:normAutofit fontScale="92500" lnSpcReduction="20000"/>
          </a:bodyPr>
          <a:lstStyle/>
          <a:p>
            <a:pPr marL="114300" indent="0">
              <a:buNone/>
            </a:pPr>
            <a:r>
              <a:rPr lang="en-US" dirty="0" smtClean="0"/>
              <a:t>Two constructors</a:t>
            </a:r>
          </a:p>
          <a:p>
            <a:r>
              <a:rPr lang="en-IN" dirty="0" err="1"/>
              <a:t>JFrame</a:t>
            </a:r>
            <a:r>
              <a:rPr lang="en-IN" dirty="0"/>
              <a:t> frame = new </a:t>
            </a:r>
            <a:r>
              <a:rPr lang="en-IN" dirty="0" err="1"/>
              <a:t>JFrame</a:t>
            </a:r>
            <a:r>
              <a:rPr lang="en-IN" dirty="0"/>
              <a:t>();</a:t>
            </a:r>
          </a:p>
          <a:p>
            <a:r>
              <a:rPr lang="en-IN" dirty="0" err="1"/>
              <a:t>JFrame</a:t>
            </a:r>
            <a:r>
              <a:rPr lang="en-IN" dirty="0"/>
              <a:t> frame = new </a:t>
            </a:r>
            <a:r>
              <a:rPr lang="en-IN" dirty="0" err="1" smtClean="0"/>
              <a:t>JFrame</a:t>
            </a:r>
            <a:r>
              <a:rPr lang="en-IN" dirty="0" smtClean="0"/>
              <a:t>(String </a:t>
            </a:r>
            <a:r>
              <a:rPr lang="en-IN" dirty="0" err="1" smtClean="0"/>
              <a:t>str</a:t>
            </a:r>
            <a:r>
              <a:rPr lang="en-IN" dirty="0" smtClean="0"/>
              <a:t>);</a:t>
            </a:r>
            <a:endParaRPr lang="en-IN" dirty="0"/>
          </a:p>
          <a:p>
            <a:pPr marL="114300" indent="0">
              <a:buNone/>
            </a:pPr>
            <a:r>
              <a:rPr lang="en-US" dirty="0" smtClean="0"/>
              <a:t>Common methods</a:t>
            </a:r>
          </a:p>
          <a:p>
            <a:r>
              <a:rPr lang="en-IN" dirty="0" err="1"/>
              <a:t>frame.setSize</a:t>
            </a:r>
            <a:r>
              <a:rPr lang="en-IN" dirty="0"/>
              <a:t>(</a:t>
            </a:r>
            <a:r>
              <a:rPr lang="en-IN" dirty="0" err="1"/>
              <a:t>int</a:t>
            </a:r>
            <a:r>
              <a:rPr lang="en-IN" dirty="0"/>
              <a:t> width, </a:t>
            </a:r>
            <a:r>
              <a:rPr lang="en-IN" dirty="0" err="1"/>
              <a:t>int</a:t>
            </a:r>
            <a:r>
              <a:rPr lang="en-IN" dirty="0"/>
              <a:t> height</a:t>
            </a:r>
            <a:r>
              <a:rPr lang="en-IN" dirty="0" smtClean="0"/>
              <a:t>);</a:t>
            </a:r>
          </a:p>
          <a:p>
            <a:r>
              <a:rPr lang="en-IN" dirty="0" err="1"/>
              <a:t>frame.setTitle</a:t>
            </a:r>
            <a:r>
              <a:rPr lang="en-IN" dirty="0"/>
              <a:t>(String title</a:t>
            </a:r>
            <a:r>
              <a:rPr lang="en-IN" dirty="0" smtClean="0"/>
              <a:t>);</a:t>
            </a:r>
          </a:p>
          <a:p>
            <a:r>
              <a:rPr lang="en-IN" dirty="0" err="1"/>
              <a:t>frame.setVisible</a:t>
            </a:r>
            <a:r>
              <a:rPr lang="en-IN" dirty="0"/>
              <a:t>(</a:t>
            </a:r>
            <a:r>
              <a:rPr lang="en-IN" dirty="0" err="1"/>
              <a:t>boolean</a:t>
            </a:r>
            <a:r>
              <a:rPr lang="en-IN" dirty="0"/>
              <a:t> b</a:t>
            </a:r>
            <a:r>
              <a:rPr lang="en-IN" dirty="0" smtClean="0"/>
              <a:t>);</a:t>
            </a:r>
          </a:p>
          <a:p>
            <a:r>
              <a:rPr lang="en-IN" dirty="0" err="1"/>
              <a:t>frame.setDefaultCloseOperation</a:t>
            </a:r>
            <a:r>
              <a:rPr lang="en-IN" dirty="0"/>
              <a:t>(</a:t>
            </a:r>
            <a:r>
              <a:rPr lang="en-IN" dirty="0" err="1"/>
              <a:t>JFrame.EXIT_ON_CLOSE</a:t>
            </a:r>
            <a:r>
              <a:rPr lang="en-IN" dirty="0" smtClean="0"/>
              <a:t>);</a:t>
            </a:r>
          </a:p>
          <a:p>
            <a:r>
              <a:rPr lang="en-IN" dirty="0" err="1"/>
              <a:t>frame.add</a:t>
            </a:r>
            <a:r>
              <a:rPr lang="en-IN" dirty="0"/>
              <a:t>(Component c</a:t>
            </a:r>
            <a:r>
              <a:rPr lang="en-IN" dirty="0" smtClean="0"/>
              <a:t>);</a:t>
            </a:r>
          </a:p>
          <a:p>
            <a:r>
              <a:rPr lang="en-IN" dirty="0" err="1"/>
              <a:t>frame.setLayout</a:t>
            </a:r>
            <a:r>
              <a:rPr lang="en-IN" dirty="0"/>
              <a:t>(</a:t>
            </a:r>
            <a:r>
              <a:rPr lang="en-IN" dirty="0" err="1"/>
              <a:t>LayoutManager</a:t>
            </a:r>
            <a:r>
              <a:rPr lang="en-IN" dirty="0"/>
              <a:t> lm);</a:t>
            </a:r>
          </a:p>
        </p:txBody>
      </p:sp>
    </p:spTree>
    <p:extLst>
      <p:ext uri="{BB962C8B-B14F-4D97-AF65-F5344CB8AC3E}">
        <p14:creationId xmlns:p14="http://schemas.microsoft.com/office/powerpoint/2010/main" val="17764852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JLABEL</a:t>
            </a:r>
            <a:endParaRPr/>
          </a:p>
        </p:txBody>
      </p:sp>
      <p:sp>
        <p:nvSpPr>
          <p:cNvPr id="172" name="Google Shape;172;p14"/>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lnSpcReduction="10000"/>
          </a:bodyPr>
          <a:lstStyle/>
          <a:p>
            <a:pPr marL="91440" lvl="0" indent="-91440" algn="l" rtl="0">
              <a:lnSpc>
                <a:spcPct val="90000"/>
              </a:lnSpc>
              <a:spcBef>
                <a:spcPts val="0"/>
              </a:spcBef>
              <a:spcAft>
                <a:spcPts val="0"/>
              </a:spcAft>
              <a:buSzPts val="2200"/>
              <a:buChar char=" "/>
            </a:pPr>
            <a:r>
              <a:rPr lang="en-US" dirty="0" err="1"/>
              <a:t>JLabel</a:t>
            </a:r>
            <a:r>
              <a:rPr lang="en-US" dirty="0"/>
              <a:t> can be used to display text and/or an icon. It is a passive component in that it does not respond to user input. </a:t>
            </a:r>
            <a:r>
              <a:rPr lang="en-US" dirty="0" err="1"/>
              <a:t>JLabel</a:t>
            </a:r>
            <a:r>
              <a:rPr lang="en-US" dirty="0"/>
              <a:t> defines several constructors. Here are three of them: </a:t>
            </a:r>
            <a:endParaRPr dirty="0"/>
          </a:p>
          <a:p>
            <a:pPr marL="91440" lvl="0" indent="-91440" algn="l" rtl="0">
              <a:lnSpc>
                <a:spcPct val="90000"/>
              </a:lnSpc>
              <a:spcBef>
                <a:spcPts val="1400"/>
              </a:spcBef>
              <a:spcAft>
                <a:spcPts val="0"/>
              </a:spcAft>
              <a:buSzPts val="2200"/>
              <a:buChar char=" "/>
            </a:pPr>
            <a:r>
              <a:rPr lang="en-US" dirty="0" err="1"/>
              <a:t>JLabel</a:t>
            </a:r>
            <a:r>
              <a:rPr lang="en-US" dirty="0"/>
              <a:t>(Icon icon) </a:t>
            </a:r>
            <a:endParaRPr dirty="0"/>
          </a:p>
          <a:p>
            <a:pPr marL="91440" lvl="0" indent="-91440" algn="l" rtl="0">
              <a:lnSpc>
                <a:spcPct val="90000"/>
              </a:lnSpc>
              <a:spcBef>
                <a:spcPts val="1400"/>
              </a:spcBef>
              <a:spcAft>
                <a:spcPts val="0"/>
              </a:spcAft>
              <a:buSzPts val="2200"/>
              <a:buChar char=" "/>
            </a:pPr>
            <a:r>
              <a:rPr lang="en-US" dirty="0" err="1"/>
              <a:t>JLabel</a:t>
            </a:r>
            <a:r>
              <a:rPr lang="en-US" dirty="0"/>
              <a:t>(String </a:t>
            </a:r>
            <a:r>
              <a:rPr lang="en-US" dirty="0" err="1"/>
              <a:t>str</a:t>
            </a:r>
            <a:r>
              <a:rPr lang="en-US" dirty="0"/>
              <a:t>) </a:t>
            </a:r>
            <a:endParaRPr dirty="0"/>
          </a:p>
          <a:p>
            <a:pPr marL="91440" lvl="0" indent="-91440" algn="l" rtl="0">
              <a:lnSpc>
                <a:spcPct val="90000"/>
              </a:lnSpc>
              <a:spcBef>
                <a:spcPts val="1400"/>
              </a:spcBef>
              <a:spcAft>
                <a:spcPts val="0"/>
              </a:spcAft>
              <a:buSzPts val="2200"/>
              <a:buChar char=" "/>
            </a:pPr>
            <a:r>
              <a:rPr lang="en-US" dirty="0" err="1"/>
              <a:t>JLabel</a:t>
            </a:r>
            <a:r>
              <a:rPr lang="en-US" dirty="0"/>
              <a:t>(String </a:t>
            </a:r>
            <a:r>
              <a:rPr lang="en-US" dirty="0" err="1"/>
              <a:t>str</a:t>
            </a:r>
            <a:r>
              <a:rPr lang="en-US" dirty="0"/>
              <a:t>, Icon </a:t>
            </a:r>
            <a:r>
              <a:rPr lang="en-US" dirty="0" err="1"/>
              <a:t>icon</a:t>
            </a:r>
            <a:r>
              <a:rPr lang="en-US" dirty="0"/>
              <a:t>, </a:t>
            </a:r>
            <a:r>
              <a:rPr lang="en-US" dirty="0" err="1"/>
              <a:t>int</a:t>
            </a:r>
            <a:r>
              <a:rPr lang="en-US" dirty="0"/>
              <a:t> align)</a:t>
            </a:r>
            <a:endParaRPr dirty="0"/>
          </a:p>
          <a:p>
            <a:pPr marL="91440" lvl="0" indent="-91440" algn="l" rtl="0">
              <a:lnSpc>
                <a:spcPct val="90000"/>
              </a:lnSpc>
              <a:spcBef>
                <a:spcPts val="1400"/>
              </a:spcBef>
              <a:spcAft>
                <a:spcPts val="0"/>
              </a:spcAft>
              <a:buSzPts val="2200"/>
              <a:buChar char=" "/>
            </a:pPr>
            <a:r>
              <a:rPr lang="en-US" dirty="0"/>
              <a:t>Here, </a:t>
            </a:r>
            <a:r>
              <a:rPr lang="en-US" dirty="0" err="1"/>
              <a:t>str</a:t>
            </a:r>
            <a:r>
              <a:rPr lang="en-US" dirty="0"/>
              <a:t> and icon are the text and icon used for the label. The align argument specifies the horizontal alignment of the text and/or icon within the dimensions of the label. It must be one of the following values: </a:t>
            </a:r>
            <a:r>
              <a:rPr lang="en-US" b="1" dirty="0"/>
              <a:t>LEFT, RIGHT, CENTER, LEADING, or TRAILING</a:t>
            </a:r>
            <a:r>
              <a:rPr lang="en-US" dirty="0"/>
              <a:t>. These constants are defined in the </a:t>
            </a:r>
            <a:r>
              <a:rPr lang="en-US" dirty="0" err="1"/>
              <a:t>SwingConstants</a:t>
            </a:r>
            <a:r>
              <a:rPr lang="en-US" dirty="0"/>
              <a:t> interface, along with several others used by the Swing classes.</a:t>
            </a:r>
            <a:endParaRP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58128505b8_0_0"/>
          <p:cNvSpPr txBox="1">
            <a:spLocks noGrp="1"/>
          </p:cNvSpPr>
          <p:nvPr>
            <p:ph type="body" idx="1"/>
          </p:nvPr>
        </p:nvSpPr>
        <p:spPr>
          <a:xfrm>
            <a:off x="1024125" y="182725"/>
            <a:ext cx="9720000" cy="6126600"/>
          </a:xfrm>
          <a:prstGeom prst="rect">
            <a:avLst/>
          </a:prstGeom>
          <a:noFill/>
          <a:ln>
            <a:noFill/>
          </a:ln>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package</a:t>
            </a:r>
            <a:r>
              <a:rPr lang="en-US" sz="1500" dirty="0">
                <a:highlight>
                  <a:srgbClr val="FFFFFF"/>
                </a:highlight>
                <a:latin typeface="Courier New"/>
                <a:ea typeface="Courier New"/>
                <a:cs typeface="Courier New"/>
                <a:sym typeface="Courier New"/>
              </a:rPr>
              <a:t> temp;</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javax.swing</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java.awt</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public</a:t>
            </a:r>
            <a:r>
              <a:rPr lang="en-US" sz="1500"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class</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JLabelExample</a:t>
            </a:r>
            <a:r>
              <a:rPr lang="en-US" sz="1500" dirty="0">
                <a:highlight>
                  <a:srgbClr val="FFFFFF"/>
                </a:highlight>
                <a:latin typeface="Courier New"/>
                <a:ea typeface="Courier New"/>
                <a:cs typeface="Courier New"/>
                <a:sym typeface="Courier New"/>
              </a:rPr>
              <a:t> {</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static</a:t>
            </a:r>
            <a:r>
              <a:rPr lang="en-US" sz="1500"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dirty="0">
                <a:highlight>
                  <a:srgbClr val="FFFFFF"/>
                </a:highlight>
                <a:latin typeface="Courier New"/>
                <a:ea typeface="Courier New"/>
                <a:cs typeface="Courier New"/>
                <a:sym typeface="Courier New"/>
              </a:rPr>
              <a:t> main(String[] </a:t>
            </a:r>
            <a:r>
              <a:rPr lang="en-US" sz="1500" dirty="0" err="1">
                <a:solidFill>
                  <a:srgbClr val="6A3E3E"/>
                </a:solidFill>
                <a:highlight>
                  <a:srgbClr val="FFFFFF"/>
                </a:highlight>
                <a:latin typeface="Courier New"/>
                <a:ea typeface="Courier New"/>
                <a:cs typeface="Courier New"/>
                <a:sym typeface="Courier New"/>
              </a:rPr>
              <a:t>args</a:t>
            </a:r>
            <a:r>
              <a:rPr lang="en-US" sz="1500" dirty="0">
                <a:highlight>
                  <a:srgbClr val="FFFFFF"/>
                </a:highlight>
                <a:latin typeface="Courier New"/>
                <a:ea typeface="Courier New"/>
                <a:cs typeface="Courier New"/>
                <a:sym typeface="Courier New"/>
              </a:rPr>
              <a:t>) {</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a:solidFill>
                  <a:srgbClr val="3F7F5F"/>
                </a:solidFill>
                <a:highlight>
                  <a:srgbClr val="FFFFFF"/>
                </a:highlight>
                <a:latin typeface="Courier New"/>
                <a:ea typeface="Courier New"/>
                <a:cs typeface="Courier New"/>
                <a:sym typeface="Courier New"/>
              </a:rPr>
              <a:t>// Create a </a:t>
            </a:r>
            <a:r>
              <a:rPr lang="en-US" sz="1500" dirty="0" err="1">
                <a:solidFill>
                  <a:srgbClr val="3F7F5F"/>
                </a:solidFill>
                <a:highlight>
                  <a:srgbClr val="FFFFFF"/>
                </a:highlight>
                <a:latin typeface="Courier New"/>
                <a:ea typeface="Courier New"/>
                <a:cs typeface="Courier New"/>
                <a:sym typeface="Courier New"/>
              </a:rPr>
              <a:t>JFrame</a:t>
            </a:r>
            <a:r>
              <a:rPr lang="en-US" sz="1500" dirty="0">
                <a:solidFill>
                  <a:srgbClr val="3F7F5F"/>
                </a:solidFill>
                <a:highlight>
                  <a:srgbClr val="FFFFFF"/>
                </a:highlight>
                <a:latin typeface="Courier New"/>
                <a:ea typeface="Courier New"/>
                <a:cs typeface="Courier New"/>
                <a:sym typeface="Courier New"/>
              </a:rPr>
              <a:t> to display the </a:t>
            </a:r>
            <a:r>
              <a:rPr lang="en-US" sz="1500" dirty="0" err="1">
                <a:solidFill>
                  <a:srgbClr val="3F7F5F"/>
                </a:solidFill>
                <a:highlight>
                  <a:srgbClr val="FFFFFF"/>
                </a:highlight>
                <a:latin typeface="Courier New"/>
                <a:ea typeface="Courier New"/>
                <a:cs typeface="Courier New"/>
                <a:sym typeface="Courier New"/>
              </a:rPr>
              <a:t>JLabel</a:t>
            </a:r>
            <a:r>
              <a:rPr lang="en-US" sz="1500" dirty="0">
                <a:solidFill>
                  <a:srgbClr val="3F7F5F"/>
                </a:solidFill>
                <a:highlight>
                  <a:srgbClr val="FFFFFF"/>
                </a:highlight>
                <a:latin typeface="Courier New"/>
                <a:ea typeface="Courier New"/>
                <a:cs typeface="Courier New"/>
                <a:sym typeface="Courier New"/>
              </a:rPr>
              <a:t> components</a:t>
            </a:r>
            <a:endParaRPr sz="1500"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JFrame</a:t>
            </a:r>
            <a:r>
              <a:rPr lang="en-US" sz="1500" dirty="0">
                <a:highlight>
                  <a:srgbClr val="FFFFFF"/>
                </a:highlight>
                <a:latin typeface="Courier New"/>
                <a:ea typeface="Courier New"/>
                <a:cs typeface="Courier New"/>
                <a:sym typeface="Courier New"/>
              </a:rPr>
              <a:t> </a:t>
            </a:r>
            <a:r>
              <a:rPr lang="en-US" sz="1500" dirty="0">
                <a:solidFill>
                  <a:srgbClr val="6A3E3E"/>
                </a:solidFill>
                <a:highlight>
                  <a:srgbClr val="FFFFFF"/>
                </a:highlight>
                <a:latin typeface="Courier New"/>
                <a:ea typeface="Courier New"/>
                <a:cs typeface="Courier New"/>
                <a:sym typeface="Courier New"/>
              </a:rPr>
              <a:t>frame</a:t>
            </a:r>
            <a:r>
              <a:rPr lang="en-US" sz="1500"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JFrame</a:t>
            </a:r>
            <a:r>
              <a:rPr lang="en-US" sz="1500" dirty="0">
                <a:highlight>
                  <a:srgbClr val="FFFFFF"/>
                </a:highlight>
                <a:latin typeface="Courier New"/>
                <a:ea typeface="Courier New"/>
                <a:cs typeface="Courier New"/>
                <a:sym typeface="Courier New"/>
              </a:rPr>
              <a:t>(</a:t>
            </a:r>
            <a:r>
              <a:rPr lang="en-US" sz="1500" dirty="0">
                <a:solidFill>
                  <a:srgbClr val="2A00FF"/>
                </a:solidFill>
                <a:highlight>
                  <a:srgbClr val="FFFFFF"/>
                </a:highlight>
                <a:latin typeface="Courier New"/>
                <a:ea typeface="Courier New"/>
                <a:cs typeface="Courier New"/>
                <a:sym typeface="Courier New"/>
              </a:rPr>
              <a:t>"</a:t>
            </a:r>
            <a:r>
              <a:rPr lang="en-US" sz="1500" dirty="0" err="1">
                <a:solidFill>
                  <a:srgbClr val="2A00FF"/>
                </a:solidFill>
                <a:highlight>
                  <a:srgbClr val="FFFFFF"/>
                </a:highlight>
                <a:latin typeface="Courier New"/>
                <a:ea typeface="Courier New"/>
                <a:cs typeface="Courier New"/>
                <a:sym typeface="Courier New"/>
              </a:rPr>
              <a:t>JLabel</a:t>
            </a:r>
            <a:r>
              <a:rPr lang="en-US" sz="1500" dirty="0">
                <a:solidFill>
                  <a:srgbClr val="2A00FF"/>
                </a:solidFill>
                <a:highlight>
                  <a:srgbClr val="FFFFFF"/>
                </a:highlight>
                <a:latin typeface="Courier New"/>
                <a:ea typeface="Courier New"/>
                <a:cs typeface="Courier New"/>
                <a:sym typeface="Courier New"/>
              </a:rPr>
              <a:t> Constructor Example"</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frame</a:t>
            </a:r>
            <a:r>
              <a:rPr lang="en-US" sz="1500" dirty="0" err="1">
                <a:highlight>
                  <a:srgbClr val="FFFFFF"/>
                </a:highlight>
                <a:latin typeface="Courier New"/>
                <a:ea typeface="Courier New"/>
                <a:cs typeface="Courier New"/>
                <a:sym typeface="Courier New"/>
              </a:rPr>
              <a:t>.setSize</a:t>
            </a:r>
            <a:r>
              <a:rPr lang="en-US" sz="1500" dirty="0">
                <a:highlight>
                  <a:srgbClr val="FFFFFF"/>
                </a:highlight>
                <a:latin typeface="Courier New"/>
                <a:ea typeface="Courier New"/>
                <a:cs typeface="Courier New"/>
                <a:sym typeface="Courier New"/>
              </a:rPr>
              <a:t>(400, 300);</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a:solidFill>
                  <a:srgbClr val="3F7F5F"/>
                </a:solidFill>
                <a:highlight>
                  <a:srgbClr val="FFFFFF"/>
                </a:highlight>
                <a:latin typeface="Courier New"/>
                <a:ea typeface="Courier New"/>
                <a:cs typeface="Courier New"/>
                <a:sym typeface="Courier New"/>
              </a:rPr>
              <a:t>// Panel to hold the labels</a:t>
            </a:r>
            <a:endParaRPr sz="1500"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JPanel</a:t>
            </a:r>
            <a:r>
              <a:rPr lang="en-US" sz="1500" dirty="0">
                <a:highlight>
                  <a:srgbClr val="FFFFFF"/>
                </a:highlight>
                <a:latin typeface="Courier New"/>
                <a:ea typeface="Courier New"/>
                <a:cs typeface="Courier New"/>
                <a:sym typeface="Courier New"/>
              </a:rPr>
              <a:t> </a:t>
            </a:r>
            <a:r>
              <a:rPr lang="en-US" sz="1500" dirty="0">
                <a:solidFill>
                  <a:srgbClr val="6A3E3E"/>
                </a:solidFill>
                <a:highlight>
                  <a:srgbClr val="FFFFFF"/>
                </a:highlight>
                <a:latin typeface="Courier New"/>
                <a:ea typeface="Courier New"/>
                <a:cs typeface="Courier New"/>
                <a:sym typeface="Courier New"/>
              </a:rPr>
              <a:t>panel</a:t>
            </a:r>
            <a:r>
              <a:rPr lang="en-US" sz="1500"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JPanel</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frame</a:t>
            </a:r>
            <a:r>
              <a:rPr lang="en-US" sz="1500" dirty="0" err="1">
                <a:highlight>
                  <a:srgbClr val="FFFFFF"/>
                </a:highlight>
                <a:latin typeface="Courier New"/>
                <a:ea typeface="Courier New"/>
                <a:cs typeface="Courier New"/>
                <a:sym typeface="Courier New"/>
              </a:rPr>
              <a:t>.add</a:t>
            </a:r>
            <a:r>
              <a:rPr lang="en-US" sz="1500" dirty="0">
                <a:highlight>
                  <a:srgbClr val="FFFFFF"/>
                </a:highlight>
                <a:latin typeface="Courier New"/>
                <a:ea typeface="Courier New"/>
                <a:cs typeface="Courier New"/>
                <a:sym typeface="Courier New"/>
              </a:rPr>
              <a:t>(</a:t>
            </a:r>
            <a:r>
              <a:rPr lang="en-US" sz="1500" dirty="0">
                <a:solidFill>
                  <a:srgbClr val="6A3E3E"/>
                </a:solidFill>
                <a:highlight>
                  <a:srgbClr val="FFFFFF"/>
                </a:highlight>
                <a:latin typeface="Courier New"/>
                <a:ea typeface="Courier New"/>
                <a:cs typeface="Courier New"/>
                <a:sym typeface="Courier New"/>
              </a:rPr>
              <a:t>panel</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a:solidFill>
                  <a:srgbClr val="3F7F5F"/>
                </a:solidFill>
                <a:highlight>
                  <a:srgbClr val="FFFFFF"/>
                </a:highlight>
                <a:latin typeface="Courier New"/>
                <a:ea typeface="Courier New"/>
                <a:cs typeface="Courier New"/>
                <a:sym typeface="Courier New"/>
              </a:rPr>
              <a:t>// </a:t>
            </a:r>
            <a:r>
              <a:rPr lang="en-US" sz="1500" dirty="0" err="1" smtClean="0">
                <a:solidFill>
                  <a:srgbClr val="3F7F5F"/>
                </a:solidFill>
                <a:highlight>
                  <a:srgbClr val="FFFFFF"/>
                </a:highlight>
                <a:latin typeface="Courier New"/>
                <a:ea typeface="Courier New"/>
                <a:cs typeface="Courier New"/>
                <a:sym typeface="Courier New"/>
              </a:rPr>
              <a:t>JLabel</a:t>
            </a:r>
            <a:r>
              <a:rPr lang="en-US" sz="1500" dirty="0" smtClean="0">
                <a:solidFill>
                  <a:srgbClr val="3F7F5F"/>
                </a:solidFill>
                <a:highlight>
                  <a:srgbClr val="FFFFFF"/>
                </a:highlight>
                <a:latin typeface="Courier New"/>
                <a:ea typeface="Courier New"/>
                <a:cs typeface="Courier New"/>
                <a:sym typeface="Courier New"/>
              </a:rPr>
              <a:t>(Icon </a:t>
            </a:r>
            <a:r>
              <a:rPr lang="en-US" sz="1500" dirty="0">
                <a:solidFill>
                  <a:srgbClr val="3F7F5F"/>
                </a:solidFill>
                <a:highlight>
                  <a:srgbClr val="FFFFFF"/>
                </a:highlight>
                <a:latin typeface="Courier New"/>
                <a:ea typeface="Courier New"/>
                <a:cs typeface="Courier New"/>
                <a:sym typeface="Courier New"/>
              </a:rPr>
              <a:t>icon) constructor example</a:t>
            </a:r>
            <a:endParaRPr sz="1500"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SzPts val="1800"/>
              <a:buNone/>
            </a:pPr>
            <a:r>
              <a:rPr lang="en-US" sz="1500"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ImageIcon</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icon</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ImageIcon</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"/home/student/sun.jpg"</a:t>
            </a:r>
            <a:r>
              <a:rPr lang="en-US" sz="1500" b="1" dirty="0">
                <a:highlight>
                  <a:srgbClr val="FFFFFF"/>
                </a:highlight>
                <a:latin typeface="Courier New"/>
                <a:ea typeface="Courier New"/>
                <a:cs typeface="Courier New"/>
                <a:sym typeface="Courier New"/>
              </a:rPr>
              <a:t>); </a:t>
            </a:r>
            <a:r>
              <a:rPr lang="en-US" sz="1500" dirty="0">
                <a:highlight>
                  <a:srgbClr val="FFFFFF"/>
                </a:highlight>
                <a:latin typeface="Courier New"/>
                <a:ea typeface="Courier New"/>
                <a:cs typeface="Courier New"/>
                <a:sym typeface="Courier New"/>
              </a:rPr>
              <a:t> 	                   </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a:t>
            </a: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labelWithIcon</a:t>
            </a:r>
            <a:r>
              <a:rPr lang="en-US" sz="1500"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a:t>
            </a:r>
            <a:r>
              <a:rPr lang="en-US" sz="1500" dirty="0">
                <a:highlight>
                  <a:srgbClr val="FFFFFF"/>
                </a:highlight>
                <a:latin typeface="Courier New"/>
                <a:ea typeface="Courier New"/>
                <a:cs typeface="Courier New"/>
                <a:sym typeface="Courier New"/>
              </a:rPr>
              <a:t>(</a:t>
            </a:r>
            <a:r>
              <a:rPr lang="en-US" sz="1500" dirty="0">
                <a:solidFill>
                  <a:srgbClr val="6A3E3E"/>
                </a:solidFill>
                <a:highlight>
                  <a:srgbClr val="FFFFFF"/>
                </a:highlight>
                <a:latin typeface="Courier New"/>
                <a:ea typeface="Courier New"/>
                <a:cs typeface="Courier New"/>
                <a:sym typeface="Courier New"/>
              </a:rPr>
              <a:t>icon</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panel</a:t>
            </a:r>
            <a:r>
              <a:rPr lang="en-US" sz="1500" dirty="0" err="1">
                <a:highlight>
                  <a:srgbClr val="FFFFFF"/>
                </a:highlight>
                <a:latin typeface="Courier New"/>
                <a:ea typeface="Courier New"/>
                <a:cs typeface="Courier New"/>
                <a:sym typeface="Courier New"/>
              </a:rPr>
              <a:t>.add</a:t>
            </a:r>
            <a:r>
              <a:rPr lang="en-US" sz="1500" dirty="0">
                <a:highlight>
                  <a:srgbClr val="FFFFFF"/>
                </a:highlight>
                <a:latin typeface="Courier New"/>
                <a:ea typeface="Courier New"/>
                <a:cs typeface="Courier New"/>
                <a:sym typeface="Courier New"/>
              </a:rPr>
              <a:t>(</a:t>
            </a:r>
            <a:r>
              <a:rPr lang="en-US" sz="1500" dirty="0" err="1">
                <a:solidFill>
                  <a:srgbClr val="6A3E3E"/>
                </a:solidFill>
                <a:highlight>
                  <a:srgbClr val="FFFFFF"/>
                </a:highlight>
                <a:latin typeface="Courier New"/>
                <a:ea typeface="Courier New"/>
                <a:cs typeface="Courier New"/>
                <a:sym typeface="Courier New"/>
              </a:rPr>
              <a:t>labelWithIcon</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a:solidFill>
                  <a:srgbClr val="3F7F5F"/>
                </a:solidFill>
                <a:highlight>
                  <a:srgbClr val="FFFFFF"/>
                </a:highlight>
                <a:latin typeface="Courier New"/>
                <a:ea typeface="Courier New"/>
                <a:cs typeface="Courier New"/>
                <a:sym typeface="Courier New"/>
              </a:rPr>
              <a:t>// </a:t>
            </a:r>
            <a:r>
              <a:rPr lang="en-US" sz="1500" dirty="0" err="1" smtClean="0">
                <a:solidFill>
                  <a:srgbClr val="3F7F5F"/>
                </a:solidFill>
                <a:highlight>
                  <a:srgbClr val="FFFFFF"/>
                </a:highlight>
                <a:latin typeface="Courier New"/>
                <a:ea typeface="Courier New"/>
                <a:cs typeface="Courier New"/>
                <a:sym typeface="Courier New"/>
              </a:rPr>
              <a:t>JLabel</a:t>
            </a:r>
            <a:r>
              <a:rPr lang="en-US" sz="1500" dirty="0" smtClean="0">
                <a:solidFill>
                  <a:srgbClr val="3F7F5F"/>
                </a:solidFill>
                <a:highlight>
                  <a:srgbClr val="FFFFFF"/>
                </a:highlight>
                <a:latin typeface="Courier New"/>
                <a:ea typeface="Courier New"/>
                <a:cs typeface="Courier New"/>
                <a:sym typeface="Courier New"/>
              </a:rPr>
              <a:t>(String </a:t>
            </a:r>
            <a:r>
              <a:rPr lang="en-US" sz="1500" u="sng" dirty="0" err="1">
                <a:solidFill>
                  <a:srgbClr val="3F7F5F"/>
                </a:solidFill>
                <a:highlight>
                  <a:srgbClr val="FFFFFF"/>
                </a:highlight>
                <a:latin typeface="Courier New"/>
                <a:ea typeface="Courier New"/>
                <a:cs typeface="Courier New"/>
                <a:sym typeface="Courier New"/>
              </a:rPr>
              <a:t>str</a:t>
            </a:r>
            <a:r>
              <a:rPr lang="en-US" sz="1500" dirty="0">
                <a:solidFill>
                  <a:srgbClr val="3F7F5F"/>
                </a:solidFill>
                <a:highlight>
                  <a:srgbClr val="FFFFFF"/>
                </a:highlight>
                <a:latin typeface="Courier New"/>
                <a:ea typeface="Courier New"/>
                <a:cs typeface="Courier New"/>
                <a:sym typeface="Courier New"/>
              </a:rPr>
              <a:t>) constructor example</a:t>
            </a:r>
            <a:endParaRPr sz="1500"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a:t>
            </a: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labelWithText</a:t>
            </a:r>
            <a:r>
              <a:rPr lang="en-US" sz="1500"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a:t>
            </a:r>
            <a:r>
              <a:rPr lang="en-US" sz="1500" dirty="0">
                <a:highlight>
                  <a:srgbClr val="FFFFFF"/>
                </a:highlight>
                <a:latin typeface="Courier New"/>
                <a:ea typeface="Courier New"/>
                <a:cs typeface="Courier New"/>
                <a:sym typeface="Courier New"/>
              </a:rPr>
              <a:t>(</a:t>
            </a:r>
            <a:r>
              <a:rPr lang="en-US" sz="1500" dirty="0">
                <a:solidFill>
                  <a:srgbClr val="2A00FF"/>
                </a:solidFill>
                <a:highlight>
                  <a:srgbClr val="FFFFFF"/>
                </a:highlight>
                <a:latin typeface="Courier New"/>
                <a:ea typeface="Courier New"/>
                <a:cs typeface="Courier New"/>
                <a:sym typeface="Courier New"/>
              </a:rPr>
              <a:t>"This is a text label"</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panel</a:t>
            </a:r>
            <a:r>
              <a:rPr lang="en-US" sz="1500" dirty="0" err="1">
                <a:highlight>
                  <a:srgbClr val="FFFFFF"/>
                </a:highlight>
                <a:latin typeface="Courier New"/>
                <a:ea typeface="Courier New"/>
                <a:cs typeface="Courier New"/>
                <a:sym typeface="Courier New"/>
              </a:rPr>
              <a:t>.add</a:t>
            </a:r>
            <a:r>
              <a:rPr lang="en-US" sz="1500" dirty="0">
                <a:highlight>
                  <a:srgbClr val="FFFFFF"/>
                </a:highlight>
                <a:latin typeface="Courier New"/>
                <a:ea typeface="Courier New"/>
                <a:cs typeface="Courier New"/>
                <a:sym typeface="Courier New"/>
              </a:rPr>
              <a:t>(</a:t>
            </a:r>
            <a:r>
              <a:rPr lang="en-US" sz="1500" dirty="0" err="1">
                <a:solidFill>
                  <a:srgbClr val="6A3E3E"/>
                </a:solidFill>
                <a:highlight>
                  <a:srgbClr val="FFFFFF"/>
                </a:highlight>
                <a:latin typeface="Courier New"/>
                <a:ea typeface="Courier New"/>
                <a:cs typeface="Courier New"/>
                <a:sym typeface="Courier New"/>
              </a:rPr>
              <a:t>labelWithText</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a:solidFill>
                  <a:srgbClr val="3F7F5F"/>
                </a:solidFill>
                <a:highlight>
                  <a:srgbClr val="FFFFFF"/>
                </a:highlight>
                <a:latin typeface="Courier New"/>
                <a:ea typeface="Courier New"/>
                <a:cs typeface="Courier New"/>
                <a:sym typeface="Courier New"/>
              </a:rPr>
              <a:t>// </a:t>
            </a:r>
            <a:r>
              <a:rPr lang="en-US" sz="1500" dirty="0" err="1" smtClean="0">
                <a:solidFill>
                  <a:srgbClr val="3F7F5F"/>
                </a:solidFill>
                <a:highlight>
                  <a:srgbClr val="FFFFFF"/>
                </a:highlight>
                <a:latin typeface="Courier New"/>
                <a:ea typeface="Courier New"/>
                <a:cs typeface="Courier New"/>
                <a:sym typeface="Courier New"/>
              </a:rPr>
              <a:t>JLabel</a:t>
            </a:r>
            <a:r>
              <a:rPr lang="en-US" sz="1500" dirty="0" smtClean="0">
                <a:solidFill>
                  <a:srgbClr val="3F7F5F"/>
                </a:solidFill>
                <a:highlight>
                  <a:srgbClr val="FFFFFF"/>
                </a:highlight>
                <a:latin typeface="Courier New"/>
                <a:ea typeface="Courier New"/>
                <a:cs typeface="Courier New"/>
                <a:sym typeface="Courier New"/>
              </a:rPr>
              <a:t>(String </a:t>
            </a:r>
            <a:r>
              <a:rPr lang="en-US" sz="1500" u="sng" dirty="0" err="1">
                <a:solidFill>
                  <a:srgbClr val="3F7F5F"/>
                </a:solidFill>
                <a:highlight>
                  <a:srgbClr val="FFFFFF"/>
                </a:highlight>
                <a:latin typeface="Courier New"/>
                <a:ea typeface="Courier New"/>
                <a:cs typeface="Courier New"/>
                <a:sym typeface="Courier New"/>
              </a:rPr>
              <a:t>str</a:t>
            </a:r>
            <a:r>
              <a:rPr lang="en-US" sz="1500" dirty="0">
                <a:solidFill>
                  <a:srgbClr val="3F7F5F"/>
                </a:solidFill>
                <a:highlight>
                  <a:srgbClr val="FFFFFF"/>
                </a:highlight>
                <a:latin typeface="Courier New"/>
                <a:ea typeface="Courier New"/>
                <a:cs typeface="Courier New"/>
                <a:sym typeface="Courier New"/>
              </a:rPr>
              <a:t>, Icon </a:t>
            </a:r>
            <a:r>
              <a:rPr lang="en-US" sz="1500" dirty="0" err="1">
                <a:solidFill>
                  <a:srgbClr val="3F7F5F"/>
                </a:solidFill>
                <a:highlight>
                  <a:srgbClr val="FFFFFF"/>
                </a:highlight>
                <a:latin typeface="Courier New"/>
                <a:ea typeface="Courier New"/>
                <a:cs typeface="Courier New"/>
                <a:sym typeface="Courier New"/>
              </a:rPr>
              <a:t>icon</a:t>
            </a:r>
            <a:r>
              <a:rPr lang="en-US" sz="1500" dirty="0">
                <a:solidFill>
                  <a:srgbClr val="3F7F5F"/>
                </a:solidFill>
                <a:highlight>
                  <a:srgbClr val="FFFFFF"/>
                </a:highlight>
                <a:latin typeface="Courier New"/>
                <a:ea typeface="Courier New"/>
                <a:cs typeface="Courier New"/>
                <a:sym typeface="Courier New"/>
              </a:rPr>
              <a:t>, </a:t>
            </a:r>
            <a:r>
              <a:rPr lang="en-US" sz="1500" u="sng" dirty="0" err="1">
                <a:solidFill>
                  <a:srgbClr val="3F7F5F"/>
                </a:solidFill>
                <a:highlight>
                  <a:srgbClr val="FFFFFF"/>
                </a:highlight>
                <a:latin typeface="Courier New"/>
                <a:ea typeface="Courier New"/>
                <a:cs typeface="Courier New"/>
                <a:sym typeface="Courier New"/>
              </a:rPr>
              <a:t>int</a:t>
            </a:r>
            <a:r>
              <a:rPr lang="en-US" sz="1500" dirty="0">
                <a:solidFill>
                  <a:srgbClr val="3F7F5F"/>
                </a:solidFill>
                <a:highlight>
                  <a:srgbClr val="FFFFFF"/>
                </a:highlight>
                <a:latin typeface="Courier New"/>
                <a:ea typeface="Courier New"/>
                <a:cs typeface="Courier New"/>
                <a:sym typeface="Courier New"/>
              </a:rPr>
              <a:t> align) constructor example</a:t>
            </a:r>
            <a:endParaRPr sz="1500"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a:t>
            </a: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labelWithTextAndIcon</a:t>
            </a:r>
            <a:r>
              <a:rPr lang="en-US" sz="1500"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JLabel</a:t>
            </a:r>
            <a:r>
              <a:rPr lang="en-US" sz="1500" dirty="0">
                <a:highlight>
                  <a:srgbClr val="FFFFFF"/>
                </a:highlight>
                <a:latin typeface="Courier New"/>
                <a:ea typeface="Courier New"/>
                <a:cs typeface="Courier New"/>
                <a:sym typeface="Courier New"/>
              </a:rPr>
              <a:t>(</a:t>
            </a:r>
            <a:r>
              <a:rPr lang="en-US" sz="1500" dirty="0">
                <a:solidFill>
                  <a:srgbClr val="2A00FF"/>
                </a:solidFill>
                <a:highlight>
                  <a:srgbClr val="FFFFFF"/>
                </a:highlight>
                <a:latin typeface="Courier New"/>
                <a:ea typeface="Courier New"/>
                <a:cs typeface="Courier New"/>
                <a:sym typeface="Courier New"/>
              </a:rPr>
              <a:t>"Label with text and icon"</a:t>
            </a:r>
            <a:r>
              <a:rPr lang="en-US" sz="1500" dirty="0">
                <a:highlight>
                  <a:srgbClr val="FFFFFF"/>
                </a:highlight>
                <a:latin typeface="Courier New"/>
                <a:ea typeface="Courier New"/>
                <a:cs typeface="Courier New"/>
                <a:sym typeface="Courier New"/>
              </a:rPr>
              <a:t>, </a:t>
            </a:r>
            <a:r>
              <a:rPr lang="en-US" sz="1500" dirty="0">
                <a:solidFill>
                  <a:srgbClr val="6A3E3E"/>
                </a:solidFill>
                <a:highlight>
                  <a:srgbClr val="FFFFFF"/>
                </a:highlight>
                <a:latin typeface="Courier New"/>
                <a:ea typeface="Courier New"/>
                <a:cs typeface="Courier New"/>
                <a:sym typeface="Courier New"/>
              </a:rPr>
              <a:t>icon</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SwingConstants.</a:t>
            </a:r>
            <a:r>
              <a:rPr lang="en-US" sz="1500" b="1" i="1" dirty="0" err="1">
                <a:solidFill>
                  <a:srgbClr val="0000C0"/>
                </a:solidFill>
                <a:highlight>
                  <a:srgbClr val="FFFFFF"/>
                </a:highlight>
                <a:latin typeface="Courier New"/>
                <a:ea typeface="Courier New"/>
                <a:cs typeface="Courier New"/>
                <a:sym typeface="Courier New"/>
              </a:rPr>
              <a:t>CENTER</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panel</a:t>
            </a:r>
            <a:r>
              <a:rPr lang="en-US" sz="1500" dirty="0" err="1">
                <a:highlight>
                  <a:srgbClr val="FFFFFF"/>
                </a:highlight>
                <a:latin typeface="Courier New"/>
                <a:ea typeface="Courier New"/>
                <a:cs typeface="Courier New"/>
                <a:sym typeface="Courier New"/>
              </a:rPr>
              <a:t>.add</a:t>
            </a:r>
            <a:r>
              <a:rPr lang="en-US" sz="1500" dirty="0">
                <a:highlight>
                  <a:srgbClr val="FFFFFF"/>
                </a:highlight>
                <a:latin typeface="Courier New"/>
                <a:ea typeface="Courier New"/>
                <a:cs typeface="Courier New"/>
                <a:sym typeface="Courier New"/>
              </a:rPr>
              <a:t>(</a:t>
            </a:r>
            <a:r>
              <a:rPr lang="en-US" sz="1500" dirty="0" err="1">
                <a:solidFill>
                  <a:srgbClr val="6A3E3E"/>
                </a:solidFill>
                <a:highlight>
                  <a:srgbClr val="FFFFFF"/>
                </a:highlight>
                <a:latin typeface="Courier New"/>
                <a:ea typeface="Courier New"/>
                <a:cs typeface="Courier New"/>
                <a:sym typeface="Courier New"/>
              </a:rPr>
              <a:t>labelWithTextAndIcon</a:t>
            </a:r>
            <a:r>
              <a:rPr lang="en-US" sz="1500" dirty="0">
                <a:highlight>
                  <a:srgbClr val="FFFFFF"/>
                </a:highlight>
                <a:latin typeface="Courier New"/>
                <a:ea typeface="Courier New"/>
                <a:cs typeface="Courier New"/>
                <a:sym typeface="Courier New"/>
              </a:rPr>
              <a:t>);</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panel</a:t>
            </a:r>
            <a:r>
              <a:rPr lang="en-US" sz="1500" dirty="0" err="1">
                <a:highlight>
                  <a:srgbClr val="FFFFFF"/>
                </a:highlight>
                <a:latin typeface="Courier New"/>
                <a:ea typeface="Courier New"/>
                <a:cs typeface="Courier New"/>
                <a:sym typeface="Courier New"/>
              </a:rPr>
              <a:t>.setLayout</a:t>
            </a:r>
            <a:r>
              <a:rPr lang="en-US" sz="1500"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new</a:t>
            </a:r>
            <a:r>
              <a:rPr lang="en-US" sz="1500" dirty="0">
                <a:highlight>
                  <a:srgbClr val="FFFFFF"/>
                </a:highlight>
                <a:latin typeface="Courier New"/>
                <a:ea typeface="Courier New"/>
                <a:cs typeface="Courier New"/>
                <a:sym typeface="Courier New"/>
              </a:rPr>
              <a:t> </a:t>
            </a:r>
            <a:r>
              <a:rPr lang="en-US" sz="1500" dirty="0" err="1">
                <a:highlight>
                  <a:srgbClr val="FFFFFF"/>
                </a:highlight>
                <a:latin typeface="Courier New"/>
                <a:ea typeface="Courier New"/>
                <a:cs typeface="Courier New"/>
                <a:sym typeface="Courier New"/>
              </a:rPr>
              <a:t>GridLayout</a:t>
            </a:r>
            <a:r>
              <a:rPr lang="en-US" sz="1500" dirty="0">
                <a:highlight>
                  <a:srgbClr val="FFFFFF"/>
                </a:highlight>
                <a:latin typeface="Courier New"/>
                <a:ea typeface="Courier New"/>
                <a:cs typeface="Courier New"/>
                <a:sym typeface="Courier New"/>
              </a:rPr>
              <a:t>(3,1));</a:t>
            </a:r>
            <a:endParaRPr sz="1500"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a:solidFill>
                  <a:srgbClr val="3F7F5F"/>
                </a:solidFill>
                <a:highlight>
                  <a:srgbClr val="FFFFFF"/>
                </a:highlight>
                <a:latin typeface="Courier New"/>
                <a:ea typeface="Courier New"/>
                <a:cs typeface="Courier New"/>
                <a:sym typeface="Courier New"/>
              </a:rPr>
              <a:t>// Make the frame visible</a:t>
            </a:r>
            <a:endParaRPr sz="1500"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dirty="0">
                <a:highlight>
                  <a:srgbClr val="FFFFFF"/>
                </a:highlight>
                <a:latin typeface="Courier New"/>
                <a:ea typeface="Courier New"/>
                <a:cs typeface="Courier New"/>
                <a:sym typeface="Courier New"/>
              </a:rPr>
              <a:t>	        </a:t>
            </a:r>
            <a:r>
              <a:rPr lang="en-US" sz="1500" dirty="0" err="1">
                <a:solidFill>
                  <a:srgbClr val="6A3E3E"/>
                </a:solidFill>
                <a:highlight>
                  <a:srgbClr val="FFFFFF"/>
                </a:highlight>
                <a:latin typeface="Courier New"/>
                <a:ea typeface="Courier New"/>
                <a:cs typeface="Courier New"/>
                <a:sym typeface="Courier New"/>
              </a:rPr>
              <a:t>frame</a:t>
            </a:r>
            <a:r>
              <a:rPr lang="en-US" sz="1500" dirty="0" err="1">
                <a:highlight>
                  <a:srgbClr val="FFFFFF"/>
                </a:highlight>
                <a:latin typeface="Courier New"/>
                <a:ea typeface="Courier New"/>
                <a:cs typeface="Courier New"/>
                <a:sym typeface="Courier New"/>
              </a:rPr>
              <a:t>.setVisible</a:t>
            </a:r>
            <a:r>
              <a:rPr lang="en-US" sz="1500"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true</a:t>
            </a:r>
            <a:r>
              <a:rPr lang="en-US" sz="1500" dirty="0">
                <a:highlight>
                  <a:srgbClr val="FFFFFF"/>
                </a:highlight>
                <a:latin typeface="Courier New"/>
                <a:ea typeface="Courier New"/>
                <a:cs typeface="Courier New"/>
                <a:sym typeface="Courier New"/>
              </a:rPr>
              <a:t>);	    }	}</a:t>
            </a:r>
            <a:endParaRPr sz="1500" dirty="0">
              <a:highlight>
                <a:srgbClr val="FFFFFF"/>
              </a:highlight>
              <a:latin typeface="Courier New"/>
              <a:ea typeface="Courier New"/>
              <a:cs typeface="Courier New"/>
              <a:sym typeface="Courier New"/>
            </a:endParaRPr>
          </a:p>
          <a:p>
            <a:pPr marL="0" lvl="0" indent="0" algn="l" rtl="0">
              <a:lnSpc>
                <a:spcPct val="90000"/>
              </a:lnSpc>
              <a:spcBef>
                <a:spcPts val="1200"/>
              </a:spcBef>
              <a:spcAft>
                <a:spcPts val="200"/>
              </a:spcAft>
              <a:buSzPts val="1800"/>
              <a:buNone/>
            </a:pPr>
            <a:endParaRPr sz="27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58128505b8_0_6"/>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r>
              <a:rPr lang="en-US"/>
              <a:t>OUTPUT</a:t>
            </a:r>
            <a:endParaRPr/>
          </a:p>
        </p:txBody>
      </p:sp>
      <p:sp>
        <p:nvSpPr>
          <p:cNvPr id="183" name="Google Shape;183;g358128505b8_0_6"/>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184" name="Google Shape;184;g358128505b8_0_6"/>
          <p:cNvPicPr preferRelativeResize="0"/>
          <p:nvPr/>
        </p:nvPicPr>
        <p:blipFill rotWithShape="1">
          <a:blip r:embed="rId3">
            <a:alphaModFix/>
          </a:blip>
          <a:srcRect l="-4438" t="4433" r="59373" b="38724"/>
          <a:stretch/>
        </p:blipFill>
        <p:spPr>
          <a:xfrm>
            <a:off x="3362550" y="2229150"/>
            <a:ext cx="4945025" cy="3897974"/>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5"/>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JLABEL</a:t>
            </a:r>
            <a:endParaRPr/>
          </a:p>
        </p:txBody>
      </p:sp>
      <p:sp>
        <p:nvSpPr>
          <p:cNvPr id="190" name="Google Shape;190;p15"/>
          <p:cNvSpPr txBox="1">
            <a:spLocks noGrp="1"/>
          </p:cNvSpPr>
          <p:nvPr>
            <p:ph type="body" idx="1"/>
          </p:nvPr>
        </p:nvSpPr>
        <p:spPr>
          <a:xfrm>
            <a:off x="1024128" y="1759131"/>
            <a:ext cx="9720073" cy="4998720"/>
          </a:xfrm>
          <a:prstGeom prst="rect">
            <a:avLst/>
          </a:prstGeom>
          <a:noFill/>
          <a:ln>
            <a:noFill/>
          </a:ln>
        </p:spPr>
        <p:txBody>
          <a:bodyPr spcFirstLastPara="1" wrap="square" lIns="45700" tIns="45700" rIns="45700" bIns="45700" anchor="t" anchorCtr="0">
            <a:normAutofit fontScale="92500"/>
          </a:bodyPr>
          <a:lstStyle/>
          <a:p>
            <a:pPr marL="91440" lvl="0" indent="-91440" algn="l" rtl="0">
              <a:lnSpc>
                <a:spcPct val="90000"/>
              </a:lnSpc>
              <a:spcBef>
                <a:spcPts val="0"/>
              </a:spcBef>
              <a:spcAft>
                <a:spcPts val="0"/>
              </a:spcAft>
              <a:buSzPct val="108108"/>
              <a:buChar char=" "/>
            </a:pPr>
            <a:r>
              <a:rPr lang="en-US" dirty="0"/>
              <a:t>The easiest way to obtain an icon is to use the </a:t>
            </a:r>
            <a:r>
              <a:rPr lang="en-US" dirty="0" err="1"/>
              <a:t>ImageIcon</a:t>
            </a:r>
            <a:r>
              <a:rPr lang="en-US" dirty="0"/>
              <a:t> class. </a:t>
            </a:r>
            <a:r>
              <a:rPr lang="en-US" dirty="0" err="1"/>
              <a:t>ImageIcon</a:t>
            </a:r>
            <a:r>
              <a:rPr lang="en-US" dirty="0"/>
              <a:t> implements Icon and encapsulates an image. Thus, an object of type </a:t>
            </a:r>
            <a:r>
              <a:rPr lang="en-US" dirty="0" err="1"/>
              <a:t>ImageIcon</a:t>
            </a:r>
            <a:r>
              <a:rPr lang="en-US" dirty="0"/>
              <a:t> can be passed as an argument to the Icon parameter of </a:t>
            </a:r>
            <a:r>
              <a:rPr lang="en-US" dirty="0" err="1"/>
              <a:t>JLabel’s</a:t>
            </a:r>
            <a:r>
              <a:rPr lang="en-US" dirty="0"/>
              <a:t> constructor. </a:t>
            </a:r>
            <a:endParaRPr dirty="0"/>
          </a:p>
          <a:p>
            <a:pPr marL="91440" lvl="0" indent="-91440" algn="l" rtl="0">
              <a:lnSpc>
                <a:spcPct val="90000"/>
              </a:lnSpc>
              <a:spcBef>
                <a:spcPts val="1400"/>
              </a:spcBef>
              <a:spcAft>
                <a:spcPts val="0"/>
              </a:spcAft>
              <a:buSzPct val="108108"/>
              <a:buChar char=" "/>
            </a:pPr>
            <a:r>
              <a:rPr lang="en-US" dirty="0" err="1"/>
              <a:t>ImageIcon</a:t>
            </a:r>
            <a:r>
              <a:rPr lang="en-US" dirty="0"/>
              <a:t> constructor used by the example in this section: </a:t>
            </a:r>
            <a:r>
              <a:rPr lang="en-US" b="1" dirty="0" err="1"/>
              <a:t>ImageIcon</a:t>
            </a:r>
            <a:r>
              <a:rPr lang="en-US" b="1" dirty="0"/>
              <a:t>(String filename) </a:t>
            </a:r>
            <a:r>
              <a:rPr lang="en-US" dirty="0"/>
              <a:t>It obtains the image in the file named filename. The icon and text associated with the label can be obtained by the following methods: </a:t>
            </a:r>
            <a:endParaRPr dirty="0"/>
          </a:p>
          <a:p>
            <a:pPr marL="91440" lvl="0" indent="-91440" algn="l" rtl="0">
              <a:lnSpc>
                <a:spcPct val="90000"/>
              </a:lnSpc>
              <a:spcBef>
                <a:spcPts val="1400"/>
              </a:spcBef>
              <a:spcAft>
                <a:spcPts val="0"/>
              </a:spcAft>
              <a:buSzPct val="108108"/>
              <a:buChar char=" "/>
            </a:pPr>
            <a:r>
              <a:rPr lang="en-US" b="1" dirty="0"/>
              <a:t>Icon </a:t>
            </a:r>
            <a:r>
              <a:rPr lang="en-US" b="1" dirty="0" err="1"/>
              <a:t>getIcon</a:t>
            </a:r>
            <a:r>
              <a:rPr lang="en-US" b="1" dirty="0"/>
              <a:t>( ) </a:t>
            </a:r>
            <a:endParaRPr b="1" dirty="0"/>
          </a:p>
          <a:p>
            <a:pPr marL="91440" lvl="0" indent="-91440" algn="l" rtl="0">
              <a:lnSpc>
                <a:spcPct val="90000"/>
              </a:lnSpc>
              <a:spcBef>
                <a:spcPts val="1400"/>
              </a:spcBef>
              <a:spcAft>
                <a:spcPts val="0"/>
              </a:spcAft>
              <a:buSzPct val="108108"/>
              <a:buChar char=" "/>
            </a:pPr>
            <a:r>
              <a:rPr lang="en-US" b="1" dirty="0"/>
              <a:t>String </a:t>
            </a:r>
            <a:r>
              <a:rPr lang="en-US" b="1" dirty="0" err="1"/>
              <a:t>getText</a:t>
            </a:r>
            <a:r>
              <a:rPr lang="en-US" b="1" dirty="0"/>
              <a:t>( ) </a:t>
            </a:r>
            <a:endParaRPr b="1" dirty="0"/>
          </a:p>
          <a:p>
            <a:pPr marL="91440" lvl="0" indent="-91440" algn="l" rtl="0">
              <a:lnSpc>
                <a:spcPct val="90000"/>
              </a:lnSpc>
              <a:spcBef>
                <a:spcPts val="1400"/>
              </a:spcBef>
              <a:spcAft>
                <a:spcPts val="0"/>
              </a:spcAft>
              <a:buSzPct val="108108"/>
              <a:buChar char=" "/>
            </a:pPr>
            <a:r>
              <a:rPr lang="en-US" dirty="0"/>
              <a:t>The icon and text associated with a label can be set by these methods: </a:t>
            </a:r>
            <a:endParaRPr dirty="0"/>
          </a:p>
          <a:p>
            <a:pPr marL="91440" lvl="0" indent="-91440" algn="l" rtl="0">
              <a:lnSpc>
                <a:spcPct val="90000"/>
              </a:lnSpc>
              <a:spcBef>
                <a:spcPts val="1400"/>
              </a:spcBef>
              <a:spcAft>
                <a:spcPts val="0"/>
              </a:spcAft>
              <a:buSzPct val="108108"/>
              <a:buChar char=" "/>
            </a:pPr>
            <a:r>
              <a:rPr lang="en-US" b="1" dirty="0"/>
              <a:t>void </a:t>
            </a:r>
            <a:r>
              <a:rPr lang="en-US" b="1" dirty="0" err="1"/>
              <a:t>setIcon</a:t>
            </a:r>
            <a:r>
              <a:rPr lang="en-US" b="1" dirty="0"/>
              <a:t>(Icon icon) </a:t>
            </a:r>
            <a:endParaRPr b="1" dirty="0"/>
          </a:p>
          <a:p>
            <a:pPr marL="91440" lvl="0" indent="-91440" algn="l" rtl="0">
              <a:lnSpc>
                <a:spcPct val="90000"/>
              </a:lnSpc>
              <a:spcBef>
                <a:spcPts val="1400"/>
              </a:spcBef>
              <a:spcAft>
                <a:spcPts val="0"/>
              </a:spcAft>
              <a:buSzPct val="108108"/>
              <a:buChar char=" "/>
            </a:pPr>
            <a:r>
              <a:rPr lang="en-US" b="1" dirty="0"/>
              <a:t>void </a:t>
            </a:r>
            <a:r>
              <a:rPr lang="en-US" b="1" dirty="0" err="1"/>
              <a:t>setText</a:t>
            </a:r>
            <a:r>
              <a:rPr lang="en-US" b="1" dirty="0"/>
              <a:t>(String </a:t>
            </a:r>
            <a:r>
              <a:rPr lang="en-US" b="1" dirty="0" err="1"/>
              <a:t>str</a:t>
            </a:r>
            <a:r>
              <a:rPr lang="en-US" b="1" dirty="0"/>
              <a:t>) </a:t>
            </a:r>
            <a:endParaRPr b="1" dirty="0"/>
          </a:p>
          <a:p>
            <a:pPr marL="91440" lvl="0" indent="-91440" algn="l" rtl="0">
              <a:lnSpc>
                <a:spcPct val="90000"/>
              </a:lnSpc>
              <a:spcBef>
                <a:spcPts val="1400"/>
              </a:spcBef>
              <a:spcAft>
                <a:spcPts val="0"/>
              </a:spcAft>
              <a:buSzPct val="108108"/>
              <a:buChar char=" "/>
            </a:pPr>
            <a:r>
              <a:rPr lang="en-US" dirty="0"/>
              <a:t>Here, icon and </a:t>
            </a:r>
            <a:r>
              <a:rPr lang="en-US" dirty="0" err="1"/>
              <a:t>str</a:t>
            </a:r>
            <a:r>
              <a:rPr lang="en-US" dirty="0"/>
              <a:t> are the icon and text, respectively. Therefore, using </a:t>
            </a:r>
            <a:r>
              <a:rPr lang="en-US" dirty="0" err="1"/>
              <a:t>setText</a:t>
            </a:r>
            <a:r>
              <a:rPr lang="en-US" dirty="0"/>
              <a:t>( ) it is possible to change the text inside a label during program execution.</a:t>
            </a:r>
            <a:endParaRP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58128505b8_0_20"/>
          <p:cNvSpPr txBox="1">
            <a:spLocks noGrp="1"/>
          </p:cNvSpPr>
          <p:nvPr>
            <p:ph type="body" idx="1"/>
          </p:nvPr>
        </p:nvSpPr>
        <p:spPr>
          <a:xfrm>
            <a:off x="829225" y="702450"/>
            <a:ext cx="9720000" cy="5802300"/>
          </a:xfrm>
          <a:prstGeom prst="rect">
            <a:avLst/>
          </a:prstGeom>
          <a:noFill/>
          <a:ln>
            <a:noFill/>
          </a:ln>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400" b="1">
                <a:solidFill>
                  <a:srgbClr val="7F0055"/>
                </a:solidFill>
                <a:highlight>
                  <a:srgbClr val="FFFFFF"/>
                </a:highlight>
                <a:latin typeface="Courier New"/>
                <a:ea typeface="Courier New"/>
                <a:cs typeface="Courier New"/>
                <a:sym typeface="Courier New"/>
              </a:rPr>
              <a:t>package</a:t>
            </a:r>
            <a:r>
              <a:rPr lang="en-US" sz="1400" b="1">
                <a:highlight>
                  <a:srgbClr val="FFFFFF"/>
                </a:highlight>
                <a:latin typeface="Courier New"/>
                <a:ea typeface="Courier New"/>
                <a:cs typeface="Courier New"/>
                <a:sym typeface="Courier New"/>
              </a:rPr>
              <a:t> temp;</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solidFill>
                  <a:srgbClr val="7F0055"/>
                </a:solidFill>
                <a:highlight>
                  <a:srgbClr val="FFFFFF"/>
                </a:highlight>
                <a:latin typeface="Courier New"/>
                <a:ea typeface="Courier New"/>
                <a:cs typeface="Courier New"/>
                <a:sym typeface="Courier New"/>
              </a:rPr>
              <a:t>import</a:t>
            </a:r>
            <a:r>
              <a:rPr lang="en-US" sz="1400" b="1">
                <a:highlight>
                  <a:srgbClr val="FFFFFF"/>
                </a:highlight>
                <a:latin typeface="Courier New"/>
                <a:ea typeface="Courier New"/>
                <a:cs typeface="Courier New"/>
                <a:sym typeface="Courier New"/>
              </a:rPr>
              <a:t> javax.swing.*;</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solidFill>
                  <a:srgbClr val="7F0055"/>
                </a:solidFill>
                <a:highlight>
                  <a:srgbClr val="FFFFFF"/>
                </a:highlight>
                <a:latin typeface="Courier New"/>
                <a:ea typeface="Courier New"/>
                <a:cs typeface="Courier New"/>
                <a:sym typeface="Courier New"/>
              </a:rPr>
              <a:t>import</a:t>
            </a:r>
            <a:r>
              <a:rPr lang="en-US" sz="1400" b="1">
                <a:highlight>
                  <a:srgbClr val="FFFFFF"/>
                </a:highlight>
                <a:latin typeface="Courier New"/>
                <a:ea typeface="Courier New"/>
                <a:cs typeface="Courier New"/>
                <a:sym typeface="Courier New"/>
              </a:rPr>
              <a:t> java.awt.*;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solidFill>
                  <a:srgbClr val="7F0055"/>
                </a:solidFill>
                <a:highlight>
                  <a:srgbClr val="FFFFFF"/>
                </a:highlight>
                <a:latin typeface="Courier New"/>
                <a:ea typeface="Courier New"/>
                <a:cs typeface="Courier New"/>
                <a:sym typeface="Courier New"/>
              </a:rPr>
              <a:t>public</a:t>
            </a:r>
            <a:r>
              <a:rPr lang="en-US" sz="1400" b="1">
                <a:highlight>
                  <a:srgbClr val="FFFFFF"/>
                </a:highlight>
                <a:latin typeface="Courier New"/>
                <a:ea typeface="Courier New"/>
                <a:cs typeface="Courier New"/>
                <a:sym typeface="Courier New"/>
              </a:rPr>
              <a:t> </a:t>
            </a:r>
            <a:r>
              <a:rPr lang="en-US" sz="1400" b="1">
                <a:solidFill>
                  <a:srgbClr val="7F0055"/>
                </a:solidFill>
                <a:highlight>
                  <a:srgbClr val="FFFFFF"/>
                </a:highlight>
                <a:latin typeface="Courier New"/>
                <a:ea typeface="Courier New"/>
                <a:cs typeface="Courier New"/>
                <a:sym typeface="Courier New"/>
              </a:rPr>
              <a:t>class</a:t>
            </a:r>
            <a:r>
              <a:rPr lang="en-US" sz="1400" b="1">
                <a:highlight>
                  <a:srgbClr val="FFFFFF"/>
                </a:highlight>
                <a:latin typeface="Courier New"/>
                <a:ea typeface="Courier New"/>
                <a:cs typeface="Courier New"/>
                <a:sym typeface="Courier New"/>
              </a:rPr>
              <a:t> JLabelExample2 {</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7F0055"/>
                </a:solidFill>
                <a:highlight>
                  <a:srgbClr val="FFFFFF"/>
                </a:highlight>
                <a:latin typeface="Courier New"/>
                <a:ea typeface="Courier New"/>
                <a:cs typeface="Courier New"/>
                <a:sym typeface="Courier New"/>
              </a:rPr>
              <a:t>public</a:t>
            </a:r>
            <a:r>
              <a:rPr lang="en-US" sz="1400" b="1">
                <a:highlight>
                  <a:srgbClr val="FFFFFF"/>
                </a:highlight>
                <a:latin typeface="Courier New"/>
                <a:ea typeface="Courier New"/>
                <a:cs typeface="Courier New"/>
                <a:sym typeface="Courier New"/>
              </a:rPr>
              <a:t> </a:t>
            </a:r>
            <a:r>
              <a:rPr lang="en-US" sz="1400" b="1">
                <a:solidFill>
                  <a:srgbClr val="7F0055"/>
                </a:solidFill>
                <a:highlight>
                  <a:srgbClr val="FFFFFF"/>
                </a:highlight>
                <a:latin typeface="Courier New"/>
                <a:ea typeface="Courier New"/>
                <a:cs typeface="Courier New"/>
                <a:sym typeface="Courier New"/>
              </a:rPr>
              <a:t>static</a:t>
            </a:r>
            <a:r>
              <a:rPr lang="en-US" sz="1400" b="1">
                <a:highlight>
                  <a:srgbClr val="FFFFFF"/>
                </a:highlight>
                <a:latin typeface="Courier New"/>
                <a:ea typeface="Courier New"/>
                <a:cs typeface="Courier New"/>
                <a:sym typeface="Courier New"/>
              </a:rPr>
              <a:t> </a:t>
            </a:r>
            <a:r>
              <a:rPr lang="en-US" sz="1400" b="1">
                <a:solidFill>
                  <a:srgbClr val="7F0055"/>
                </a:solidFill>
                <a:highlight>
                  <a:srgbClr val="FFFFFF"/>
                </a:highlight>
                <a:latin typeface="Courier New"/>
                <a:ea typeface="Courier New"/>
                <a:cs typeface="Courier New"/>
                <a:sym typeface="Courier New"/>
              </a:rPr>
              <a:t>void</a:t>
            </a:r>
            <a:r>
              <a:rPr lang="en-US" sz="1400" b="1">
                <a:highlight>
                  <a:srgbClr val="FFFFFF"/>
                </a:highlight>
                <a:latin typeface="Courier New"/>
                <a:ea typeface="Courier New"/>
                <a:cs typeface="Courier New"/>
                <a:sym typeface="Courier New"/>
              </a:rPr>
              <a:t> main(String[] </a:t>
            </a:r>
            <a:r>
              <a:rPr lang="en-US" sz="1400" b="1">
                <a:solidFill>
                  <a:srgbClr val="6A3E3E"/>
                </a:solidFill>
                <a:highlight>
                  <a:srgbClr val="FFFFFF"/>
                </a:highlight>
                <a:latin typeface="Courier New"/>
                <a:ea typeface="Courier New"/>
                <a:cs typeface="Courier New"/>
                <a:sym typeface="Courier New"/>
              </a:rPr>
              <a:t>args</a:t>
            </a:r>
            <a:r>
              <a:rPr lang="en-US" sz="1400" b="1">
                <a:highlight>
                  <a:srgbClr val="FFFFFF"/>
                </a:highlight>
                <a:latin typeface="Courier New"/>
                <a:ea typeface="Courier New"/>
                <a:cs typeface="Courier New"/>
                <a:sym typeface="Courier New"/>
              </a:rPr>
              <a:t>) {</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3F7F5F"/>
                </a:solidFill>
                <a:highlight>
                  <a:srgbClr val="FFFFFF"/>
                </a:highlight>
                <a:latin typeface="Courier New"/>
                <a:ea typeface="Courier New"/>
                <a:cs typeface="Courier New"/>
                <a:sym typeface="Courier New"/>
              </a:rPr>
              <a:t>// Create a new JLabel</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JLabel </a:t>
            </a:r>
            <a:r>
              <a:rPr lang="en-US" sz="1400" b="1">
                <a:solidFill>
                  <a:srgbClr val="6A3E3E"/>
                </a:solidFill>
                <a:highlight>
                  <a:srgbClr val="FFFFFF"/>
                </a:highlight>
                <a:latin typeface="Courier New"/>
                <a:ea typeface="Courier New"/>
                <a:cs typeface="Courier New"/>
                <a:sym typeface="Courier New"/>
              </a:rPr>
              <a:t>label</a:t>
            </a:r>
            <a:r>
              <a:rPr lang="en-US" sz="1400" b="1">
                <a:highlight>
                  <a:srgbClr val="FFFFFF"/>
                </a:highlight>
                <a:latin typeface="Courier New"/>
                <a:ea typeface="Courier New"/>
                <a:cs typeface="Courier New"/>
                <a:sym typeface="Courier New"/>
              </a:rPr>
              <a:t> = </a:t>
            </a:r>
            <a:r>
              <a:rPr lang="en-US" sz="1400" b="1">
                <a:solidFill>
                  <a:srgbClr val="7F0055"/>
                </a:solidFill>
                <a:highlight>
                  <a:srgbClr val="FFFFFF"/>
                </a:highlight>
                <a:latin typeface="Courier New"/>
                <a:ea typeface="Courier New"/>
                <a:cs typeface="Courier New"/>
                <a:sym typeface="Courier New"/>
              </a:rPr>
              <a:t>new</a:t>
            </a:r>
            <a:r>
              <a:rPr lang="en-US" sz="1400" b="1">
                <a:highlight>
                  <a:srgbClr val="FFFFFF"/>
                </a:highlight>
                <a:latin typeface="Courier New"/>
                <a:ea typeface="Courier New"/>
                <a:cs typeface="Courier New"/>
                <a:sym typeface="Courier New"/>
              </a:rPr>
              <a:t> JLabel();</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3F7F5F"/>
                </a:solidFill>
                <a:highlight>
                  <a:srgbClr val="FFFFFF"/>
                </a:highlight>
                <a:latin typeface="Courier New"/>
                <a:ea typeface="Courier New"/>
                <a:cs typeface="Courier New"/>
                <a:sym typeface="Courier New"/>
              </a:rPr>
              <a:t>// Set text and icon for the label</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6A3E3E"/>
                </a:solidFill>
                <a:highlight>
                  <a:srgbClr val="FFFFFF"/>
                </a:highlight>
                <a:latin typeface="Courier New"/>
                <a:ea typeface="Courier New"/>
                <a:cs typeface="Courier New"/>
                <a:sym typeface="Courier New"/>
              </a:rPr>
              <a:t>label</a:t>
            </a:r>
            <a:r>
              <a:rPr lang="en-US" sz="1400" b="1">
                <a:highlight>
                  <a:srgbClr val="FFFFFF"/>
                </a:highlight>
                <a:latin typeface="Courier New"/>
                <a:ea typeface="Courier New"/>
                <a:cs typeface="Courier New"/>
                <a:sym typeface="Courier New"/>
              </a:rPr>
              <a:t>.setText(</a:t>
            </a:r>
            <a:r>
              <a:rPr lang="en-US" sz="1400" b="1">
                <a:solidFill>
                  <a:srgbClr val="2A00FF"/>
                </a:solidFill>
                <a:highlight>
                  <a:srgbClr val="FFFFFF"/>
                </a:highlight>
                <a:latin typeface="Courier New"/>
                <a:ea typeface="Courier New"/>
                <a:cs typeface="Courier New"/>
                <a:sym typeface="Courier New"/>
              </a:rPr>
              <a:t>"Welcome to Java!"</a:t>
            </a: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SzPts val="1800"/>
              <a:buNone/>
            </a:pPr>
            <a:r>
              <a:rPr lang="en-US" sz="1400" b="1">
                <a:highlight>
                  <a:srgbClr val="FFFFFF"/>
                </a:highlight>
                <a:latin typeface="Courier New"/>
                <a:ea typeface="Courier New"/>
                <a:cs typeface="Courier New"/>
                <a:sym typeface="Courier New"/>
              </a:rPr>
              <a:t>       ImageIcon </a:t>
            </a:r>
            <a:r>
              <a:rPr lang="en-US" sz="1400" b="1">
                <a:solidFill>
                  <a:srgbClr val="6A3E3E"/>
                </a:solidFill>
                <a:highlight>
                  <a:srgbClr val="FFFFFF"/>
                </a:highlight>
                <a:latin typeface="Courier New"/>
                <a:ea typeface="Courier New"/>
                <a:cs typeface="Courier New"/>
                <a:sym typeface="Courier New"/>
              </a:rPr>
              <a:t>icon</a:t>
            </a:r>
            <a:r>
              <a:rPr lang="en-US" sz="1400" b="1">
                <a:highlight>
                  <a:srgbClr val="FFFFFF"/>
                </a:highlight>
                <a:latin typeface="Courier New"/>
                <a:ea typeface="Courier New"/>
                <a:cs typeface="Courier New"/>
                <a:sym typeface="Courier New"/>
              </a:rPr>
              <a:t> = </a:t>
            </a:r>
            <a:r>
              <a:rPr lang="en-US" sz="1400" b="1">
                <a:solidFill>
                  <a:srgbClr val="7F0055"/>
                </a:solidFill>
                <a:highlight>
                  <a:srgbClr val="FFFFFF"/>
                </a:highlight>
                <a:latin typeface="Courier New"/>
                <a:ea typeface="Courier New"/>
                <a:cs typeface="Courier New"/>
                <a:sym typeface="Courier New"/>
              </a:rPr>
              <a:t>new</a:t>
            </a:r>
            <a:r>
              <a:rPr lang="en-US" sz="1400" b="1">
                <a:highlight>
                  <a:srgbClr val="FFFFFF"/>
                </a:highlight>
                <a:latin typeface="Courier New"/>
                <a:ea typeface="Courier New"/>
                <a:cs typeface="Courier New"/>
                <a:sym typeface="Courier New"/>
              </a:rPr>
              <a:t> ImageIcon(</a:t>
            </a:r>
            <a:r>
              <a:rPr lang="en-US" sz="1400" b="1">
                <a:solidFill>
                  <a:srgbClr val="2A00FF"/>
                </a:solidFill>
                <a:highlight>
                  <a:srgbClr val="FFFFFF"/>
                </a:highlight>
                <a:latin typeface="Courier New"/>
                <a:ea typeface="Courier New"/>
                <a:cs typeface="Courier New"/>
                <a:sym typeface="Courier New"/>
              </a:rPr>
              <a:t>"/home/student/sun.jpg"</a:t>
            </a:r>
            <a:r>
              <a:rPr lang="en-US" sz="1400" b="1">
                <a:highlight>
                  <a:srgbClr val="FFFFFF"/>
                </a:highlight>
                <a:latin typeface="Courier New"/>
                <a:ea typeface="Courier New"/>
                <a:cs typeface="Courier New"/>
                <a:sym typeface="Courier New"/>
              </a:rPr>
              <a:t>);          </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solidFill>
                  <a:srgbClr val="6A3E3E"/>
                </a:solidFill>
                <a:highlight>
                  <a:srgbClr val="FFFFFF"/>
                </a:highlight>
                <a:latin typeface="Courier New"/>
                <a:ea typeface="Courier New"/>
                <a:cs typeface="Courier New"/>
                <a:sym typeface="Courier New"/>
              </a:rPr>
              <a:t>       label</a:t>
            </a:r>
            <a:r>
              <a:rPr lang="en-US" sz="1400" b="1">
                <a:highlight>
                  <a:srgbClr val="FFFFFF"/>
                </a:highlight>
                <a:latin typeface="Courier New"/>
                <a:ea typeface="Courier New"/>
                <a:cs typeface="Courier New"/>
                <a:sym typeface="Courier New"/>
              </a:rPr>
              <a:t>.setIcon(</a:t>
            </a:r>
            <a:r>
              <a:rPr lang="en-US" sz="1400" b="1">
                <a:solidFill>
                  <a:srgbClr val="6A3E3E"/>
                </a:solidFill>
                <a:highlight>
                  <a:srgbClr val="FFFFFF"/>
                </a:highlight>
                <a:latin typeface="Courier New"/>
                <a:ea typeface="Courier New"/>
                <a:cs typeface="Courier New"/>
                <a:sym typeface="Courier New"/>
              </a:rPr>
              <a:t>icon</a:t>
            </a: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3F7F5F"/>
                </a:solidFill>
                <a:highlight>
                  <a:srgbClr val="FFFFFF"/>
                </a:highlight>
                <a:latin typeface="Courier New"/>
                <a:ea typeface="Courier New"/>
                <a:cs typeface="Courier New"/>
                <a:sym typeface="Courier New"/>
              </a:rPr>
              <a:t>// Get the text and icon associated with the label</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String </a:t>
            </a:r>
            <a:r>
              <a:rPr lang="en-US" sz="1400" b="1">
                <a:solidFill>
                  <a:srgbClr val="6A3E3E"/>
                </a:solidFill>
                <a:highlight>
                  <a:srgbClr val="FFFFFF"/>
                </a:highlight>
                <a:latin typeface="Courier New"/>
                <a:ea typeface="Courier New"/>
                <a:cs typeface="Courier New"/>
                <a:sym typeface="Courier New"/>
              </a:rPr>
              <a:t>labelText</a:t>
            </a:r>
            <a:r>
              <a:rPr lang="en-US" sz="1400" b="1">
                <a:highlight>
                  <a:srgbClr val="FFFFFF"/>
                </a:highlight>
                <a:latin typeface="Courier New"/>
                <a:ea typeface="Courier New"/>
                <a:cs typeface="Courier New"/>
                <a:sym typeface="Courier New"/>
              </a:rPr>
              <a:t> = </a:t>
            </a:r>
            <a:r>
              <a:rPr lang="en-US" sz="1400" b="1">
                <a:solidFill>
                  <a:srgbClr val="6A3E3E"/>
                </a:solidFill>
                <a:highlight>
                  <a:srgbClr val="FFFFFF"/>
                </a:highlight>
                <a:latin typeface="Courier New"/>
                <a:ea typeface="Courier New"/>
                <a:cs typeface="Courier New"/>
                <a:sym typeface="Courier New"/>
              </a:rPr>
              <a:t>label</a:t>
            </a:r>
            <a:r>
              <a:rPr lang="en-US" sz="1400" b="1">
                <a:highlight>
                  <a:srgbClr val="FFFFFF"/>
                </a:highlight>
                <a:latin typeface="Courier New"/>
                <a:ea typeface="Courier New"/>
                <a:cs typeface="Courier New"/>
                <a:sym typeface="Courier New"/>
              </a:rPr>
              <a:t>.getText();  </a:t>
            </a:r>
            <a:r>
              <a:rPr lang="en-US" sz="1400" b="1">
                <a:solidFill>
                  <a:srgbClr val="3F7F5F"/>
                </a:solidFill>
                <a:highlight>
                  <a:srgbClr val="FFFFFF"/>
                </a:highlight>
                <a:latin typeface="Courier New"/>
                <a:ea typeface="Courier New"/>
                <a:cs typeface="Courier New"/>
                <a:sym typeface="Courier New"/>
              </a:rPr>
              <a:t>// Get the text from the label</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Icon </a:t>
            </a:r>
            <a:r>
              <a:rPr lang="en-US" sz="1400" b="1">
                <a:solidFill>
                  <a:srgbClr val="6A3E3E"/>
                </a:solidFill>
                <a:highlight>
                  <a:srgbClr val="FFFFFF"/>
                </a:highlight>
                <a:latin typeface="Courier New"/>
                <a:ea typeface="Courier New"/>
                <a:cs typeface="Courier New"/>
                <a:sym typeface="Courier New"/>
              </a:rPr>
              <a:t>labelIcon</a:t>
            </a:r>
            <a:r>
              <a:rPr lang="en-US" sz="1400" b="1">
                <a:highlight>
                  <a:srgbClr val="FFFFFF"/>
                </a:highlight>
                <a:latin typeface="Courier New"/>
                <a:ea typeface="Courier New"/>
                <a:cs typeface="Courier New"/>
                <a:sym typeface="Courier New"/>
              </a:rPr>
              <a:t> = </a:t>
            </a:r>
            <a:r>
              <a:rPr lang="en-US" sz="1400" b="1">
                <a:solidFill>
                  <a:srgbClr val="6A3E3E"/>
                </a:solidFill>
                <a:highlight>
                  <a:srgbClr val="FFFFFF"/>
                </a:highlight>
                <a:latin typeface="Courier New"/>
                <a:ea typeface="Courier New"/>
                <a:cs typeface="Courier New"/>
                <a:sym typeface="Courier New"/>
              </a:rPr>
              <a:t>label</a:t>
            </a:r>
            <a:r>
              <a:rPr lang="en-US" sz="1400" b="1">
                <a:highlight>
                  <a:srgbClr val="FFFFFF"/>
                </a:highlight>
                <a:latin typeface="Courier New"/>
                <a:ea typeface="Courier New"/>
                <a:cs typeface="Courier New"/>
                <a:sym typeface="Courier New"/>
              </a:rPr>
              <a:t>.getIcon();   </a:t>
            </a:r>
            <a:r>
              <a:rPr lang="en-US" sz="1400" b="1">
                <a:solidFill>
                  <a:srgbClr val="3F7F5F"/>
                </a:solidFill>
                <a:highlight>
                  <a:srgbClr val="FFFFFF"/>
                </a:highlight>
                <a:latin typeface="Courier New"/>
                <a:ea typeface="Courier New"/>
                <a:cs typeface="Courier New"/>
                <a:sym typeface="Courier New"/>
              </a:rPr>
              <a:t>// Get the icon from the label</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3F7F5F"/>
                </a:solidFill>
                <a:highlight>
                  <a:srgbClr val="FFFFFF"/>
                </a:highlight>
                <a:latin typeface="Courier New"/>
                <a:ea typeface="Courier New"/>
                <a:cs typeface="Courier New"/>
                <a:sym typeface="Courier New"/>
              </a:rPr>
              <a:t>// Print out the label's text and icon</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System.</a:t>
            </a:r>
            <a:r>
              <a:rPr lang="en-US" sz="1400" b="1" i="1">
                <a:solidFill>
                  <a:srgbClr val="0000C0"/>
                </a:solidFill>
                <a:highlight>
                  <a:srgbClr val="FFFFFF"/>
                </a:highlight>
                <a:latin typeface="Courier New"/>
                <a:ea typeface="Courier New"/>
                <a:cs typeface="Courier New"/>
                <a:sym typeface="Courier New"/>
              </a:rPr>
              <a:t>out</a:t>
            </a:r>
            <a:r>
              <a:rPr lang="en-US" sz="1400" b="1">
                <a:highlight>
                  <a:srgbClr val="FFFFFF"/>
                </a:highlight>
                <a:latin typeface="Courier New"/>
                <a:ea typeface="Courier New"/>
                <a:cs typeface="Courier New"/>
                <a:sym typeface="Courier New"/>
              </a:rPr>
              <a:t>.println(</a:t>
            </a:r>
            <a:r>
              <a:rPr lang="en-US" sz="1400" b="1">
                <a:solidFill>
                  <a:srgbClr val="2A00FF"/>
                </a:solidFill>
                <a:highlight>
                  <a:srgbClr val="FFFFFF"/>
                </a:highlight>
                <a:latin typeface="Courier New"/>
                <a:ea typeface="Courier New"/>
                <a:cs typeface="Courier New"/>
                <a:sym typeface="Courier New"/>
              </a:rPr>
              <a:t>"Label Text: "</a:t>
            </a:r>
            <a:r>
              <a:rPr lang="en-US" sz="1400" b="1">
                <a:highlight>
                  <a:srgbClr val="FFFFFF"/>
                </a:highlight>
                <a:latin typeface="Courier New"/>
                <a:ea typeface="Courier New"/>
                <a:cs typeface="Courier New"/>
                <a:sym typeface="Courier New"/>
              </a:rPr>
              <a:t> + </a:t>
            </a:r>
            <a:r>
              <a:rPr lang="en-US" sz="1400" b="1">
                <a:solidFill>
                  <a:srgbClr val="6A3E3E"/>
                </a:solidFill>
                <a:highlight>
                  <a:srgbClr val="FFFFFF"/>
                </a:highlight>
                <a:latin typeface="Courier New"/>
                <a:ea typeface="Courier New"/>
                <a:cs typeface="Courier New"/>
                <a:sym typeface="Courier New"/>
              </a:rPr>
              <a:t>labelText</a:t>
            </a: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System.</a:t>
            </a:r>
            <a:r>
              <a:rPr lang="en-US" sz="1400" b="1" i="1">
                <a:solidFill>
                  <a:srgbClr val="0000C0"/>
                </a:solidFill>
                <a:highlight>
                  <a:srgbClr val="FFFFFF"/>
                </a:highlight>
                <a:latin typeface="Courier New"/>
                <a:ea typeface="Courier New"/>
                <a:cs typeface="Courier New"/>
                <a:sym typeface="Courier New"/>
              </a:rPr>
              <a:t>out</a:t>
            </a:r>
            <a:r>
              <a:rPr lang="en-US" sz="1400" b="1">
                <a:highlight>
                  <a:srgbClr val="FFFFFF"/>
                </a:highlight>
                <a:latin typeface="Courier New"/>
                <a:ea typeface="Courier New"/>
                <a:cs typeface="Courier New"/>
                <a:sym typeface="Courier New"/>
              </a:rPr>
              <a:t>.println(</a:t>
            </a:r>
            <a:r>
              <a:rPr lang="en-US" sz="1400" b="1">
                <a:solidFill>
                  <a:srgbClr val="2A00FF"/>
                </a:solidFill>
                <a:highlight>
                  <a:srgbClr val="FFFFFF"/>
                </a:highlight>
                <a:latin typeface="Courier New"/>
                <a:ea typeface="Courier New"/>
                <a:cs typeface="Courier New"/>
                <a:sym typeface="Courier New"/>
              </a:rPr>
              <a:t>"Label Icon: "</a:t>
            </a:r>
            <a:r>
              <a:rPr lang="en-US" sz="1400" b="1">
                <a:highlight>
                  <a:srgbClr val="FFFFFF"/>
                </a:highlight>
                <a:latin typeface="Courier New"/>
                <a:ea typeface="Courier New"/>
                <a:cs typeface="Courier New"/>
                <a:sym typeface="Courier New"/>
              </a:rPr>
              <a:t> + </a:t>
            </a:r>
            <a:r>
              <a:rPr lang="en-US" sz="1400" b="1">
                <a:solidFill>
                  <a:srgbClr val="6A3E3E"/>
                </a:solidFill>
                <a:highlight>
                  <a:srgbClr val="FFFFFF"/>
                </a:highlight>
                <a:latin typeface="Courier New"/>
                <a:ea typeface="Courier New"/>
                <a:cs typeface="Courier New"/>
                <a:sym typeface="Courier New"/>
              </a:rPr>
              <a:t>labelIcon</a:t>
            </a: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3F7F5F"/>
                </a:solidFill>
                <a:highlight>
                  <a:srgbClr val="FFFFFF"/>
                </a:highlight>
                <a:latin typeface="Courier New"/>
                <a:ea typeface="Courier New"/>
                <a:cs typeface="Courier New"/>
                <a:sym typeface="Courier New"/>
              </a:rPr>
              <a:t>// Set up the frame to display the label</a:t>
            </a:r>
            <a:endParaRPr sz="1400" b="1">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JFrame </a:t>
            </a:r>
            <a:r>
              <a:rPr lang="en-US" sz="1400" b="1">
                <a:solidFill>
                  <a:srgbClr val="6A3E3E"/>
                </a:solidFill>
                <a:highlight>
                  <a:srgbClr val="FFFFFF"/>
                </a:highlight>
                <a:latin typeface="Courier New"/>
                <a:ea typeface="Courier New"/>
                <a:cs typeface="Courier New"/>
                <a:sym typeface="Courier New"/>
              </a:rPr>
              <a:t>frame</a:t>
            </a:r>
            <a:r>
              <a:rPr lang="en-US" sz="1400" b="1">
                <a:highlight>
                  <a:srgbClr val="FFFFFF"/>
                </a:highlight>
                <a:latin typeface="Courier New"/>
                <a:ea typeface="Courier New"/>
                <a:cs typeface="Courier New"/>
                <a:sym typeface="Courier New"/>
              </a:rPr>
              <a:t> = </a:t>
            </a:r>
            <a:r>
              <a:rPr lang="en-US" sz="1400" b="1">
                <a:solidFill>
                  <a:srgbClr val="7F0055"/>
                </a:solidFill>
                <a:highlight>
                  <a:srgbClr val="FFFFFF"/>
                </a:highlight>
                <a:latin typeface="Courier New"/>
                <a:ea typeface="Courier New"/>
                <a:cs typeface="Courier New"/>
                <a:sym typeface="Courier New"/>
              </a:rPr>
              <a:t>new</a:t>
            </a:r>
            <a:r>
              <a:rPr lang="en-US" sz="1400" b="1">
                <a:highlight>
                  <a:srgbClr val="FFFFFF"/>
                </a:highlight>
                <a:latin typeface="Courier New"/>
                <a:ea typeface="Courier New"/>
                <a:cs typeface="Courier New"/>
                <a:sym typeface="Courier New"/>
              </a:rPr>
              <a:t> JFrame(</a:t>
            </a:r>
            <a:r>
              <a:rPr lang="en-US" sz="1400" b="1">
                <a:solidFill>
                  <a:srgbClr val="2A00FF"/>
                </a:solidFill>
                <a:highlight>
                  <a:srgbClr val="FFFFFF"/>
                </a:highlight>
                <a:latin typeface="Courier New"/>
                <a:ea typeface="Courier New"/>
                <a:cs typeface="Courier New"/>
                <a:sym typeface="Courier New"/>
              </a:rPr>
              <a:t>"Label Example"</a:t>
            </a: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6A3E3E"/>
                </a:solidFill>
                <a:highlight>
                  <a:srgbClr val="FFFFFF"/>
                </a:highlight>
                <a:latin typeface="Courier New"/>
                <a:ea typeface="Courier New"/>
                <a:cs typeface="Courier New"/>
                <a:sym typeface="Courier New"/>
              </a:rPr>
              <a:t>frame</a:t>
            </a:r>
            <a:r>
              <a:rPr lang="en-US" sz="1400" b="1">
                <a:highlight>
                  <a:srgbClr val="FFFFFF"/>
                </a:highlight>
                <a:latin typeface="Courier New"/>
                <a:ea typeface="Courier New"/>
                <a:cs typeface="Courier New"/>
                <a:sym typeface="Courier New"/>
              </a:rPr>
              <a:t>.setSize(300, 200);</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6A3E3E"/>
                </a:solidFill>
                <a:highlight>
                  <a:srgbClr val="FFFFFF"/>
                </a:highlight>
                <a:latin typeface="Courier New"/>
                <a:ea typeface="Courier New"/>
                <a:cs typeface="Courier New"/>
                <a:sym typeface="Courier New"/>
              </a:rPr>
              <a:t>frame</a:t>
            </a:r>
            <a:r>
              <a:rPr lang="en-US" sz="1400" b="1">
                <a:highlight>
                  <a:srgbClr val="FFFFFF"/>
                </a:highlight>
                <a:latin typeface="Courier New"/>
                <a:ea typeface="Courier New"/>
                <a:cs typeface="Courier New"/>
                <a:sym typeface="Courier New"/>
              </a:rPr>
              <a:t>.setLayout(</a:t>
            </a:r>
            <a:r>
              <a:rPr lang="en-US" sz="1400" b="1">
                <a:solidFill>
                  <a:srgbClr val="7F0055"/>
                </a:solidFill>
                <a:highlight>
                  <a:srgbClr val="FFFFFF"/>
                </a:highlight>
                <a:latin typeface="Courier New"/>
                <a:ea typeface="Courier New"/>
                <a:cs typeface="Courier New"/>
                <a:sym typeface="Courier New"/>
              </a:rPr>
              <a:t>new</a:t>
            </a:r>
            <a:r>
              <a:rPr lang="en-US" sz="1400" b="1">
                <a:highlight>
                  <a:srgbClr val="FFFFFF"/>
                </a:highlight>
                <a:latin typeface="Courier New"/>
                <a:ea typeface="Courier New"/>
                <a:cs typeface="Courier New"/>
                <a:sym typeface="Courier New"/>
              </a:rPr>
              <a:t> FlowLayout());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6A3E3E"/>
                </a:solidFill>
                <a:highlight>
                  <a:srgbClr val="FFFFFF"/>
                </a:highlight>
                <a:latin typeface="Courier New"/>
                <a:ea typeface="Courier New"/>
                <a:cs typeface="Courier New"/>
                <a:sym typeface="Courier New"/>
              </a:rPr>
              <a:t>frame</a:t>
            </a:r>
            <a:r>
              <a:rPr lang="en-US" sz="1400" b="1">
                <a:highlight>
                  <a:srgbClr val="FFFFFF"/>
                </a:highlight>
                <a:latin typeface="Courier New"/>
                <a:ea typeface="Courier New"/>
                <a:cs typeface="Courier New"/>
                <a:sym typeface="Courier New"/>
              </a:rPr>
              <a:t>.add(</a:t>
            </a:r>
            <a:r>
              <a:rPr lang="en-US" sz="1400" b="1">
                <a:solidFill>
                  <a:srgbClr val="6A3E3E"/>
                </a:solidFill>
                <a:highlight>
                  <a:srgbClr val="FFFFFF"/>
                </a:highlight>
                <a:latin typeface="Courier New"/>
                <a:ea typeface="Courier New"/>
                <a:cs typeface="Courier New"/>
                <a:sym typeface="Courier New"/>
              </a:rPr>
              <a:t>label</a:t>
            </a: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       </a:t>
            </a:r>
            <a:r>
              <a:rPr lang="en-US" sz="1400" b="1">
                <a:solidFill>
                  <a:srgbClr val="6A3E3E"/>
                </a:solidFill>
                <a:highlight>
                  <a:srgbClr val="FFFFFF"/>
                </a:highlight>
                <a:latin typeface="Courier New"/>
                <a:ea typeface="Courier New"/>
                <a:cs typeface="Courier New"/>
                <a:sym typeface="Courier New"/>
              </a:rPr>
              <a:t>frame</a:t>
            </a:r>
            <a:r>
              <a:rPr lang="en-US" sz="1400" b="1">
                <a:highlight>
                  <a:srgbClr val="FFFFFF"/>
                </a:highlight>
                <a:latin typeface="Courier New"/>
                <a:ea typeface="Courier New"/>
                <a:cs typeface="Courier New"/>
                <a:sym typeface="Courier New"/>
              </a:rPr>
              <a:t>.setVisible(</a:t>
            </a:r>
            <a:r>
              <a:rPr lang="en-US" sz="1400" b="1">
                <a:solidFill>
                  <a:srgbClr val="7F0055"/>
                </a:solidFill>
                <a:highlight>
                  <a:srgbClr val="FFFFFF"/>
                </a:highlight>
                <a:latin typeface="Courier New"/>
                <a:ea typeface="Courier New"/>
                <a:cs typeface="Courier New"/>
                <a:sym typeface="Courier New"/>
              </a:rPr>
              <a:t>true</a:t>
            </a:r>
            <a:r>
              <a:rPr lang="en-US" sz="1400" b="1">
                <a:highlight>
                  <a:srgbClr val="FFFFFF"/>
                </a:highlight>
                <a:latin typeface="Courier New"/>
                <a:ea typeface="Courier New"/>
                <a:cs typeface="Courier New"/>
                <a:sym typeface="Courier New"/>
              </a:rPr>
              <a:t>);   }</a:t>
            </a:r>
            <a:endParaRPr sz="1400" b="1">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400" b="1">
                <a:highlight>
                  <a:srgbClr val="FFFFFF"/>
                </a:highlight>
                <a:latin typeface="Courier New"/>
                <a:ea typeface="Courier New"/>
                <a:cs typeface="Courier New"/>
                <a:sym typeface="Courier New"/>
              </a:rPr>
              <a:t>}</a:t>
            </a:r>
            <a:endParaRPr sz="1400" b="1">
              <a:highlight>
                <a:srgbClr val="FFFFFF"/>
              </a:highlight>
              <a:latin typeface="Courier New"/>
              <a:ea typeface="Courier New"/>
              <a:cs typeface="Courier New"/>
              <a:sym typeface="Courier New"/>
            </a:endParaRPr>
          </a:p>
          <a:p>
            <a:pPr marL="0" lvl="0" indent="0" algn="l" rtl="0">
              <a:lnSpc>
                <a:spcPct val="90000"/>
              </a:lnSpc>
              <a:spcBef>
                <a:spcPts val="1200"/>
              </a:spcBef>
              <a:spcAft>
                <a:spcPts val="200"/>
              </a:spcAft>
              <a:buSzPts val="1800"/>
              <a:buNone/>
            </a:pPr>
            <a:endParaRPr sz="2600" b="1"/>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58128505b8_0_14"/>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endParaRPr/>
          </a:p>
        </p:txBody>
      </p:sp>
      <p:sp>
        <p:nvSpPr>
          <p:cNvPr id="201" name="Google Shape;201;g358128505b8_0_14"/>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202" name="Google Shape;202;g358128505b8_0_14"/>
          <p:cNvPicPr preferRelativeResize="0"/>
          <p:nvPr/>
        </p:nvPicPr>
        <p:blipFill rotWithShape="1">
          <a:blip r:embed="rId3">
            <a:alphaModFix/>
          </a:blip>
          <a:srcRect/>
          <a:stretch/>
        </p:blipFill>
        <p:spPr>
          <a:xfrm>
            <a:off x="609600" y="0"/>
            <a:ext cx="10972800" cy="6858000"/>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JTEXTFIELD</a:t>
            </a:r>
            <a:endParaRPr lang="en-IN" dirty="0"/>
          </a:p>
        </p:txBody>
      </p:sp>
      <p:sp>
        <p:nvSpPr>
          <p:cNvPr id="3" name="Text Placeholder 2"/>
          <p:cNvSpPr>
            <a:spLocks noGrp="1"/>
          </p:cNvSpPr>
          <p:nvPr>
            <p:ph type="body" idx="1"/>
          </p:nvPr>
        </p:nvSpPr>
        <p:spPr/>
        <p:txBody>
          <a:bodyPr/>
          <a:lstStyle/>
          <a:p>
            <a:r>
              <a:rPr lang="en-US" dirty="0" smtClean="0"/>
              <a:t>Constructors</a:t>
            </a:r>
          </a:p>
          <a:p>
            <a:pPr marL="571500" indent="-457200">
              <a:buFont typeface="+mj-lt"/>
              <a:buAutoNum type="arabicPeriod"/>
            </a:pPr>
            <a:r>
              <a:rPr lang="en-IN" dirty="0" err="1"/>
              <a:t>JTextField</a:t>
            </a:r>
            <a:r>
              <a:rPr lang="en-IN" dirty="0" smtClean="0"/>
              <a:t>()</a:t>
            </a:r>
          </a:p>
          <a:p>
            <a:pPr marL="571500" indent="-457200">
              <a:buFont typeface="+mj-lt"/>
              <a:buAutoNum type="arabicPeriod"/>
            </a:pPr>
            <a:r>
              <a:rPr lang="en-IN" dirty="0" err="1"/>
              <a:t>JTextField</a:t>
            </a:r>
            <a:r>
              <a:rPr lang="en-IN" dirty="0"/>
              <a:t>(</a:t>
            </a:r>
            <a:r>
              <a:rPr lang="en-IN" dirty="0" err="1"/>
              <a:t>int</a:t>
            </a:r>
            <a:r>
              <a:rPr lang="en-IN" dirty="0"/>
              <a:t> columns</a:t>
            </a:r>
            <a:r>
              <a:rPr lang="en-IN" dirty="0" smtClean="0"/>
              <a:t>)</a:t>
            </a:r>
          </a:p>
          <a:p>
            <a:pPr marL="571500" indent="-457200">
              <a:buFont typeface="+mj-lt"/>
              <a:buAutoNum type="arabicPeriod"/>
            </a:pPr>
            <a:r>
              <a:rPr lang="en-IN" dirty="0" err="1"/>
              <a:t>JTextField</a:t>
            </a:r>
            <a:r>
              <a:rPr lang="en-IN" dirty="0"/>
              <a:t>(String text</a:t>
            </a:r>
            <a:r>
              <a:rPr lang="en-IN" dirty="0" smtClean="0"/>
              <a:t>)</a:t>
            </a:r>
          </a:p>
          <a:p>
            <a:pPr marL="571500" indent="-457200">
              <a:buFont typeface="+mj-lt"/>
              <a:buAutoNum type="arabicPeriod"/>
            </a:pPr>
            <a:r>
              <a:rPr lang="en-IN" dirty="0" err="1"/>
              <a:t>JTextField</a:t>
            </a:r>
            <a:r>
              <a:rPr lang="en-IN" dirty="0"/>
              <a:t>(String text, </a:t>
            </a:r>
            <a:r>
              <a:rPr lang="en-IN" dirty="0" err="1"/>
              <a:t>int</a:t>
            </a:r>
            <a:r>
              <a:rPr lang="en-IN" dirty="0"/>
              <a:t> columns</a:t>
            </a:r>
            <a:r>
              <a:rPr lang="en-IN" dirty="0" smtClean="0"/>
              <a:t>)</a:t>
            </a:r>
          </a:p>
          <a:p>
            <a:r>
              <a:rPr lang="en-US" dirty="0" smtClean="0"/>
              <a:t>Common methods</a:t>
            </a:r>
          </a:p>
          <a:p>
            <a:pPr marL="571500" indent="-457200">
              <a:buFont typeface="+mj-lt"/>
              <a:buAutoNum type="arabicPeriod"/>
            </a:pPr>
            <a:r>
              <a:rPr lang="en-IN" dirty="0"/>
              <a:t>void </a:t>
            </a:r>
            <a:r>
              <a:rPr lang="en-IN" dirty="0" err="1"/>
              <a:t>setText</a:t>
            </a:r>
            <a:r>
              <a:rPr lang="en-IN" dirty="0"/>
              <a:t>(String text</a:t>
            </a:r>
            <a:r>
              <a:rPr lang="en-IN" dirty="0" smtClean="0"/>
              <a:t>);</a:t>
            </a:r>
          </a:p>
          <a:p>
            <a:pPr marL="571500" indent="-457200">
              <a:buFont typeface="+mj-lt"/>
              <a:buAutoNum type="arabicPeriod"/>
            </a:pPr>
            <a:r>
              <a:rPr lang="en-IN" dirty="0"/>
              <a:t>String </a:t>
            </a:r>
            <a:r>
              <a:rPr lang="en-IN" dirty="0" err="1"/>
              <a:t>getText</a:t>
            </a:r>
            <a:r>
              <a:rPr lang="en-IN" dirty="0"/>
              <a:t>();</a:t>
            </a:r>
          </a:p>
        </p:txBody>
      </p:sp>
    </p:spTree>
    <p:extLst>
      <p:ext uri="{BB962C8B-B14F-4D97-AF65-F5344CB8AC3E}">
        <p14:creationId xmlns:p14="http://schemas.microsoft.com/office/powerpoint/2010/main" val="18743591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14892" y="254000"/>
            <a:ext cx="9720073" cy="4023360"/>
          </a:xfrm>
        </p:spPr>
        <p:txBody>
          <a:bodyPr>
            <a:noAutofit/>
          </a:bodyPr>
          <a:lstStyle/>
          <a:p>
            <a:r>
              <a:rPr lang="en-US" sz="1600" b="1" dirty="0"/>
              <a:t>import </a:t>
            </a:r>
            <a:r>
              <a:rPr lang="en-US" sz="1600" b="1" dirty="0" err="1"/>
              <a:t>javax.swing</a:t>
            </a:r>
            <a:r>
              <a:rPr lang="en-US" sz="1600" b="1" dirty="0"/>
              <a:t>.*;</a:t>
            </a:r>
          </a:p>
          <a:p>
            <a:r>
              <a:rPr lang="en-US" sz="1600" b="1" dirty="0"/>
              <a:t>import </a:t>
            </a:r>
            <a:r>
              <a:rPr lang="en-US" sz="1600" b="1" dirty="0" err="1"/>
              <a:t>java.awt</a:t>
            </a:r>
            <a:r>
              <a:rPr lang="en-US" sz="1600" b="1" dirty="0"/>
              <a:t>.*;</a:t>
            </a:r>
          </a:p>
          <a:p>
            <a:r>
              <a:rPr lang="en-US" sz="1600" b="1" dirty="0" smtClean="0"/>
              <a:t>public </a:t>
            </a:r>
            <a:r>
              <a:rPr lang="en-US" sz="1600" b="1" dirty="0"/>
              <a:t>class </a:t>
            </a:r>
            <a:r>
              <a:rPr lang="en-US" sz="1600" b="1" dirty="0" err="1"/>
              <a:t>TextFieldDemo</a:t>
            </a:r>
            <a:r>
              <a:rPr lang="en-US" sz="1600" b="1" dirty="0"/>
              <a:t> {</a:t>
            </a:r>
          </a:p>
          <a:p>
            <a:r>
              <a:rPr lang="en-US" sz="1600" b="1" dirty="0"/>
              <a:t>    public static void main(String[] </a:t>
            </a:r>
            <a:r>
              <a:rPr lang="en-US" sz="1600" b="1" dirty="0" err="1"/>
              <a:t>args</a:t>
            </a:r>
            <a:r>
              <a:rPr lang="en-US" sz="1600" b="1" dirty="0"/>
              <a:t>) {</a:t>
            </a:r>
          </a:p>
          <a:p>
            <a:r>
              <a:rPr lang="en-US" sz="1600" b="1" dirty="0"/>
              <a:t>        </a:t>
            </a:r>
            <a:r>
              <a:rPr lang="en-US" sz="1600" b="1" dirty="0" err="1"/>
              <a:t>JFrame</a:t>
            </a:r>
            <a:r>
              <a:rPr lang="en-US" sz="1600" b="1" dirty="0"/>
              <a:t> frame = new </a:t>
            </a:r>
            <a:r>
              <a:rPr lang="en-US" sz="1600" b="1" dirty="0" err="1"/>
              <a:t>JFrame</a:t>
            </a:r>
            <a:r>
              <a:rPr lang="en-US" sz="1600" b="1" dirty="0"/>
              <a:t>("</a:t>
            </a:r>
            <a:r>
              <a:rPr lang="en-US" sz="1600" b="1" dirty="0" err="1"/>
              <a:t>JTextField</a:t>
            </a:r>
            <a:r>
              <a:rPr lang="en-US" sz="1600" b="1" dirty="0"/>
              <a:t> Constructors</a:t>
            </a:r>
            <a:r>
              <a:rPr lang="en-US" sz="1600" b="1" dirty="0" smtClean="0"/>
              <a:t>");</a:t>
            </a:r>
            <a:endParaRPr lang="en-US" sz="1600" b="1" dirty="0"/>
          </a:p>
          <a:p>
            <a:r>
              <a:rPr lang="en-US" sz="1600" b="1" dirty="0"/>
              <a:t>        </a:t>
            </a:r>
            <a:r>
              <a:rPr lang="en-US" sz="1600" b="1" dirty="0" err="1"/>
              <a:t>frame.setLayout</a:t>
            </a:r>
            <a:r>
              <a:rPr lang="en-US" sz="1600" b="1" dirty="0"/>
              <a:t>(new </a:t>
            </a:r>
            <a:r>
              <a:rPr lang="en-US" sz="1600" b="1" dirty="0" err="1"/>
              <a:t>FlowLayout</a:t>
            </a:r>
            <a:r>
              <a:rPr lang="en-US" sz="1600" b="1" dirty="0" smtClean="0"/>
              <a:t>());</a:t>
            </a:r>
            <a:endParaRPr lang="en-US" sz="1600" b="1" dirty="0"/>
          </a:p>
          <a:p>
            <a:r>
              <a:rPr lang="en-US" sz="1600" b="1" dirty="0"/>
              <a:t>        // </a:t>
            </a:r>
            <a:r>
              <a:rPr lang="en-US" sz="1600" b="1" dirty="0" smtClean="0"/>
              <a:t> </a:t>
            </a:r>
            <a:r>
              <a:rPr lang="en-US" sz="1600" b="1" dirty="0"/>
              <a:t>Empty text field</a:t>
            </a:r>
          </a:p>
          <a:p>
            <a:r>
              <a:rPr lang="en-US" sz="1600" b="1" dirty="0"/>
              <a:t>        </a:t>
            </a:r>
            <a:r>
              <a:rPr lang="en-US" sz="1600" b="1" dirty="0" err="1"/>
              <a:t>JTextField</a:t>
            </a:r>
            <a:r>
              <a:rPr lang="en-US" sz="1600" b="1" dirty="0"/>
              <a:t> tf1 = new </a:t>
            </a:r>
            <a:r>
              <a:rPr lang="en-US" sz="1600" b="1" dirty="0" err="1"/>
              <a:t>JTextField</a:t>
            </a:r>
            <a:r>
              <a:rPr lang="en-US" sz="1600" b="1" dirty="0" smtClean="0"/>
              <a:t>();</a:t>
            </a:r>
            <a:endParaRPr lang="en-US" sz="1600" b="1" dirty="0"/>
          </a:p>
          <a:p>
            <a:r>
              <a:rPr lang="en-US" sz="1600" b="1" dirty="0"/>
              <a:t>        // </a:t>
            </a:r>
            <a:r>
              <a:rPr lang="en-US" sz="1600" b="1" dirty="0" smtClean="0"/>
              <a:t>Text </a:t>
            </a:r>
            <a:r>
              <a:rPr lang="en-US" sz="1600" b="1" dirty="0"/>
              <a:t>field with columns</a:t>
            </a:r>
          </a:p>
          <a:p>
            <a:r>
              <a:rPr lang="en-US" sz="1600" b="1" dirty="0"/>
              <a:t>        </a:t>
            </a:r>
            <a:r>
              <a:rPr lang="en-US" sz="1600" b="1" dirty="0" err="1"/>
              <a:t>JTextField</a:t>
            </a:r>
            <a:r>
              <a:rPr lang="en-US" sz="1600" b="1" dirty="0"/>
              <a:t> tf2 = new </a:t>
            </a:r>
            <a:r>
              <a:rPr lang="en-US" sz="1600" b="1" dirty="0" err="1"/>
              <a:t>JTextField</a:t>
            </a:r>
            <a:r>
              <a:rPr lang="en-US" sz="1600" b="1" dirty="0"/>
              <a:t>(15</a:t>
            </a:r>
            <a:r>
              <a:rPr lang="en-US" sz="1600" b="1" dirty="0" smtClean="0"/>
              <a:t>);</a:t>
            </a:r>
            <a:endParaRPr lang="en-US" sz="1600" b="1" dirty="0"/>
          </a:p>
          <a:p>
            <a:r>
              <a:rPr lang="en-US" sz="1600" b="1" dirty="0"/>
              <a:t>        </a:t>
            </a:r>
            <a:r>
              <a:rPr lang="en-US" sz="1600" b="1" dirty="0" smtClean="0"/>
              <a:t>// </a:t>
            </a:r>
            <a:r>
              <a:rPr lang="en-US" sz="1600" b="1" dirty="0"/>
              <a:t>Text field with initial text</a:t>
            </a:r>
          </a:p>
          <a:p>
            <a:r>
              <a:rPr lang="en-US" sz="1600" b="1" dirty="0"/>
              <a:t>        </a:t>
            </a:r>
            <a:r>
              <a:rPr lang="en-US" sz="1600" b="1" dirty="0" err="1"/>
              <a:t>JTextField</a:t>
            </a:r>
            <a:r>
              <a:rPr lang="en-US" sz="1600" b="1" dirty="0"/>
              <a:t> tf3 = new </a:t>
            </a:r>
            <a:r>
              <a:rPr lang="en-US" sz="1600" b="1" dirty="0" err="1"/>
              <a:t>JTextField</a:t>
            </a:r>
            <a:r>
              <a:rPr lang="en-US" sz="1600" b="1" dirty="0"/>
              <a:t>("Hello</a:t>
            </a:r>
            <a:r>
              <a:rPr lang="en-US" sz="1600" b="1" dirty="0" smtClean="0"/>
              <a:t>");</a:t>
            </a:r>
            <a:endParaRPr lang="en-US" sz="1600" b="1" dirty="0"/>
          </a:p>
          <a:p>
            <a:r>
              <a:rPr lang="en-US" sz="1600" b="1" dirty="0"/>
              <a:t>        // </a:t>
            </a:r>
            <a:r>
              <a:rPr lang="en-US" sz="1600" b="1" dirty="0" smtClean="0"/>
              <a:t>Text </a:t>
            </a:r>
            <a:r>
              <a:rPr lang="en-US" sz="1600" b="1" dirty="0"/>
              <a:t>field with text + columns</a:t>
            </a:r>
          </a:p>
          <a:p>
            <a:r>
              <a:rPr lang="en-US" sz="1600" b="1" dirty="0"/>
              <a:t>        </a:t>
            </a:r>
            <a:r>
              <a:rPr lang="en-US" sz="1600" b="1" dirty="0" err="1"/>
              <a:t>JTextField</a:t>
            </a:r>
            <a:r>
              <a:rPr lang="en-US" sz="1600" b="1" dirty="0"/>
              <a:t> tf4 = new </a:t>
            </a:r>
            <a:r>
              <a:rPr lang="en-US" sz="1600" b="1" dirty="0" err="1"/>
              <a:t>JTextField</a:t>
            </a:r>
            <a:r>
              <a:rPr lang="en-US" sz="1600" b="1" dirty="0"/>
              <a:t>("Welcome", 20</a:t>
            </a:r>
            <a:r>
              <a:rPr lang="en-US" sz="1600" b="1" dirty="0" smtClean="0"/>
              <a:t>);</a:t>
            </a:r>
            <a:endParaRPr lang="en-US" sz="1600" b="1" dirty="0"/>
          </a:p>
          <a:p>
            <a:r>
              <a:rPr lang="en-US" sz="1600" b="1" dirty="0"/>
              <a:t>        </a:t>
            </a:r>
            <a:r>
              <a:rPr lang="en-US" sz="1600" b="1" dirty="0" err="1"/>
              <a:t>frame.add</a:t>
            </a:r>
            <a:r>
              <a:rPr lang="en-US" sz="1600" b="1" dirty="0"/>
              <a:t>(tf1</a:t>
            </a:r>
            <a:r>
              <a:rPr lang="en-US" sz="1600" b="1" dirty="0" smtClean="0"/>
              <a:t>);        </a:t>
            </a:r>
            <a:r>
              <a:rPr lang="en-US" sz="1600" b="1" dirty="0" err="1"/>
              <a:t>frame.add</a:t>
            </a:r>
            <a:r>
              <a:rPr lang="en-US" sz="1600" b="1" dirty="0"/>
              <a:t>(tf2</a:t>
            </a:r>
            <a:r>
              <a:rPr lang="en-US" sz="1600" b="1" dirty="0" smtClean="0"/>
              <a:t>);        </a:t>
            </a:r>
            <a:r>
              <a:rPr lang="en-US" sz="1600" b="1" dirty="0" err="1"/>
              <a:t>frame.add</a:t>
            </a:r>
            <a:r>
              <a:rPr lang="en-US" sz="1600" b="1" dirty="0"/>
              <a:t>(tf3</a:t>
            </a:r>
            <a:r>
              <a:rPr lang="en-US" sz="1600" b="1" dirty="0" smtClean="0"/>
              <a:t>);        </a:t>
            </a:r>
            <a:r>
              <a:rPr lang="en-US" sz="1600" b="1" dirty="0" err="1"/>
              <a:t>frame.add</a:t>
            </a:r>
            <a:r>
              <a:rPr lang="en-US" sz="1600" b="1" dirty="0"/>
              <a:t>(tf4</a:t>
            </a:r>
            <a:r>
              <a:rPr lang="en-US" sz="1600" b="1" dirty="0" smtClean="0"/>
              <a:t>);</a:t>
            </a:r>
            <a:endParaRPr lang="en-US" sz="1600" b="1" dirty="0"/>
          </a:p>
          <a:p>
            <a:r>
              <a:rPr lang="en-US" sz="1600" b="1" dirty="0"/>
              <a:t>        </a:t>
            </a:r>
            <a:r>
              <a:rPr lang="en-US" sz="1600" b="1" dirty="0" err="1"/>
              <a:t>frame.setSize</a:t>
            </a:r>
            <a:r>
              <a:rPr lang="en-US" sz="1600" b="1" dirty="0"/>
              <a:t>(400, 200</a:t>
            </a:r>
            <a:r>
              <a:rPr lang="en-US" sz="1600" b="1" dirty="0" smtClean="0"/>
              <a:t>);        </a:t>
            </a:r>
            <a:r>
              <a:rPr lang="en-US" sz="1600" b="1" dirty="0" err="1"/>
              <a:t>frame.setDefaultCloseOperation</a:t>
            </a:r>
            <a:r>
              <a:rPr lang="en-US" sz="1600" b="1" dirty="0"/>
              <a:t>(</a:t>
            </a:r>
            <a:r>
              <a:rPr lang="en-US" sz="1600" b="1" dirty="0" err="1"/>
              <a:t>JFrame.EXIT_ON_CLOSE</a:t>
            </a:r>
            <a:r>
              <a:rPr lang="en-US" sz="1600" b="1" dirty="0"/>
              <a:t>);</a:t>
            </a:r>
          </a:p>
          <a:p>
            <a:r>
              <a:rPr lang="en-US" sz="1600" b="1" dirty="0"/>
              <a:t>        </a:t>
            </a:r>
            <a:r>
              <a:rPr lang="en-US" sz="1600" b="1" dirty="0" err="1"/>
              <a:t>frame.setVisible</a:t>
            </a:r>
            <a:r>
              <a:rPr lang="en-US" sz="1600" b="1" dirty="0"/>
              <a:t>(true</a:t>
            </a:r>
            <a:r>
              <a:rPr lang="en-US" sz="1600" b="1" dirty="0" smtClean="0"/>
              <a:t>);    }}</a:t>
            </a:r>
            <a:endParaRPr lang="en-IN" sz="1600" b="1" dirty="0"/>
          </a:p>
        </p:txBody>
      </p:sp>
    </p:spTree>
    <p:extLst>
      <p:ext uri="{BB962C8B-B14F-4D97-AF65-F5344CB8AC3E}">
        <p14:creationId xmlns:p14="http://schemas.microsoft.com/office/powerpoint/2010/main" val="17862645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JBUTTON</a:t>
            </a:r>
            <a:endParaRPr/>
          </a:p>
        </p:txBody>
      </p:sp>
      <p:sp>
        <p:nvSpPr>
          <p:cNvPr id="208" name="Google Shape;208;p16"/>
          <p:cNvSpPr txBox="1">
            <a:spLocks noGrp="1"/>
          </p:cNvSpPr>
          <p:nvPr>
            <p:ph type="body" idx="1"/>
          </p:nvPr>
        </p:nvSpPr>
        <p:spPr>
          <a:xfrm>
            <a:off x="1024128" y="1759131"/>
            <a:ext cx="9720073" cy="499872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dirty="0"/>
              <a:t>The </a:t>
            </a:r>
            <a:r>
              <a:rPr lang="en-US" dirty="0" err="1"/>
              <a:t>JButton</a:t>
            </a:r>
            <a:r>
              <a:rPr lang="en-US" dirty="0"/>
              <a:t> class provides the functionality of a push button. </a:t>
            </a:r>
            <a:endParaRPr dirty="0"/>
          </a:p>
          <a:p>
            <a:pPr marL="91440" lvl="0" indent="-91440" algn="l" rtl="0">
              <a:lnSpc>
                <a:spcPct val="90000"/>
              </a:lnSpc>
              <a:spcBef>
                <a:spcPts val="1400"/>
              </a:spcBef>
              <a:spcAft>
                <a:spcPts val="0"/>
              </a:spcAft>
              <a:buSzPts val="2200"/>
              <a:buChar char=" "/>
            </a:pPr>
            <a:r>
              <a:rPr lang="en-US" dirty="0" err="1"/>
              <a:t>JButton</a:t>
            </a:r>
            <a:r>
              <a:rPr lang="en-US" dirty="0"/>
              <a:t> allows an icon, a string, or both to be associated with the push button. Three of its constructors are shown here: </a:t>
            </a:r>
            <a:endParaRPr dirty="0"/>
          </a:p>
          <a:p>
            <a:pPr marL="91440" lvl="0" indent="-91440" algn="l" rtl="0">
              <a:lnSpc>
                <a:spcPct val="90000"/>
              </a:lnSpc>
              <a:spcBef>
                <a:spcPts val="1400"/>
              </a:spcBef>
              <a:spcAft>
                <a:spcPts val="0"/>
              </a:spcAft>
              <a:buSzPts val="2200"/>
              <a:buChar char=" "/>
            </a:pPr>
            <a:r>
              <a:rPr lang="en-US" b="1" dirty="0" err="1"/>
              <a:t>JButton</a:t>
            </a:r>
            <a:r>
              <a:rPr lang="en-US" b="1" dirty="0"/>
              <a:t>(Icon icon) </a:t>
            </a:r>
            <a:endParaRPr b="1" dirty="0"/>
          </a:p>
          <a:p>
            <a:pPr marL="91440" lvl="0" indent="-91440" algn="l" rtl="0">
              <a:lnSpc>
                <a:spcPct val="90000"/>
              </a:lnSpc>
              <a:spcBef>
                <a:spcPts val="1400"/>
              </a:spcBef>
              <a:spcAft>
                <a:spcPts val="0"/>
              </a:spcAft>
              <a:buSzPts val="2200"/>
              <a:buChar char=" "/>
            </a:pPr>
            <a:r>
              <a:rPr lang="en-US" b="1" dirty="0" err="1"/>
              <a:t>JButton</a:t>
            </a:r>
            <a:r>
              <a:rPr lang="en-US" b="1" dirty="0"/>
              <a:t>(String </a:t>
            </a:r>
            <a:r>
              <a:rPr lang="en-US" b="1" dirty="0" err="1"/>
              <a:t>str</a:t>
            </a:r>
            <a:r>
              <a:rPr lang="en-US" b="1" dirty="0"/>
              <a:t>) </a:t>
            </a:r>
            <a:endParaRPr lang="en-US" b="1" dirty="0" smtClean="0"/>
          </a:p>
          <a:p>
            <a:pPr marL="91440" lvl="0" indent="-91440" algn="l" rtl="0">
              <a:lnSpc>
                <a:spcPct val="90000"/>
              </a:lnSpc>
              <a:spcBef>
                <a:spcPts val="1400"/>
              </a:spcBef>
              <a:spcAft>
                <a:spcPts val="0"/>
              </a:spcAft>
              <a:buSzPts val="2200"/>
              <a:buChar char=" "/>
            </a:pPr>
            <a:r>
              <a:rPr lang="en-US" b="1" dirty="0" err="1" smtClean="0"/>
              <a:t>JButton</a:t>
            </a:r>
            <a:r>
              <a:rPr lang="en-US" b="1" dirty="0" smtClean="0"/>
              <a:t>(String </a:t>
            </a:r>
            <a:r>
              <a:rPr lang="en-US" b="1" dirty="0" err="1"/>
              <a:t>str</a:t>
            </a:r>
            <a:r>
              <a:rPr lang="en-US" b="1" dirty="0"/>
              <a:t>, Icon icon) </a:t>
            </a:r>
            <a:endParaRPr b="1" dirty="0"/>
          </a:p>
          <a:p>
            <a:pPr marL="91440" lvl="0" indent="-91440" algn="l" rtl="0">
              <a:lnSpc>
                <a:spcPct val="90000"/>
              </a:lnSpc>
              <a:spcBef>
                <a:spcPts val="1400"/>
              </a:spcBef>
              <a:spcAft>
                <a:spcPts val="0"/>
              </a:spcAft>
              <a:buSzPts val="2200"/>
              <a:buChar char=" "/>
            </a:pPr>
            <a:r>
              <a:rPr lang="en-US" dirty="0"/>
              <a:t>Here, </a:t>
            </a:r>
            <a:r>
              <a:rPr lang="en-US" dirty="0" err="1"/>
              <a:t>str</a:t>
            </a:r>
            <a:r>
              <a:rPr lang="en-US" dirty="0"/>
              <a:t> and icon are the string and icon used for the button.</a:t>
            </a:r>
            <a:endParaRP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358128505b8_0_26"/>
          <p:cNvSpPr txBox="1">
            <a:spLocks noGrp="1"/>
          </p:cNvSpPr>
          <p:nvPr>
            <p:ph type="body" idx="1"/>
          </p:nvPr>
        </p:nvSpPr>
        <p:spPr>
          <a:xfrm>
            <a:off x="1024125" y="645600"/>
            <a:ext cx="9720000" cy="5663700"/>
          </a:xfrm>
          <a:prstGeom prst="rect">
            <a:avLst/>
          </a:prstGeom>
          <a:noFill/>
          <a:ln>
            <a:noFill/>
          </a:ln>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package</a:t>
            </a:r>
            <a:r>
              <a:rPr lang="en-US" sz="1500" b="1" dirty="0">
                <a:highlight>
                  <a:srgbClr val="FFFFFF"/>
                </a:highlight>
                <a:latin typeface="Courier New"/>
                <a:ea typeface="Courier New"/>
                <a:cs typeface="Courier New"/>
                <a:sym typeface="Courier New"/>
              </a:rPr>
              <a:t> temp;</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javax.swing</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java.awt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class</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JButtonExample</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static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main(String[] </a:t>
            </a:r>
            <a:r>
              <a:rPr lang="en-US" sz="1500" b="1" dirty="0" err="1">
                <a:solidFill>
                  <a:srgbClr val="6A3E3E"/>
                </a:solidFill>
                <a:highlight>
                  <a:srgbClr val="FFFFFF"/>
                </a:highlight>
                <a:latin typeface="Courier New"/>
                <a:ea typeface="Courier New"/>
                <a:cs typeface="Courier New"/>
                <a:sym typeface="Courier New"/>
              </a:rPr>
              <a:t>args</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3F7F5F"/>
                </a:solidFill>
                <a:highlight>
                  <a:srgbClr val="FFFFFF"/>
                </a:highlight>
                <a:latin typeface="Courier New"/>
                <a:ea typeface="Courier New"/>
                <a:cs typeface="Courier New"/>
                <a:sym typeface="Courier New"/>
              </a:rPr>
              <a:t>// Create a </a:t>
            </a:r>
            <a:r>
              <a:rPr lang="en-US" sz="1500" b="1" dirty="0" err="1">
                <a:solidFill>
                  <a:srgbClr val="3F7F5F"/>
                </a:solidFill>
                <a:highlight>
                  <a:srgbClr val="FFFFFF"/>
                </a:highlight>
                <a:latin typeface="Courier New"/>
                <a:ea typeface="Courier New"/>
                <a:cs typeface="Courier New"/>
                <a:sym typeface="Courier New"/>
              </a:rPr>
              <a:t>JFrame</a:t>
            </a:r>
            <a:r>
              <a:rPr lang="en-US" sz="1500" b="1" dirty="0">
                <a:solidFill>
                  <a:srgbClr val="3F7F5F"/>
                </a:solidFill>
                <a:highlight>
                  <a:srgbClr val="FFFFFF"/>
                </a:highlight>
                <a:latin typeface="Courier New"/>
                <a:ea typeface="Courier New"/>
                <a:cs typeface="Courier New"/>
                <a:sym typeface="Courier New"/>
              </a:rPr>
              <a:t> to display the buttons</a:t>
            </a:r>
            <a:endParaRPr sz="15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JFrame</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frame</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JFrame</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a:t>
            </a:r>
            <a:r>
              <a:rPr lang="en-US" sz="1500" b="1" dirty="0" err="1">
                <a:solidFill>
                  <a:srgbClr val="2A00FF"/>
                </a:solidFill>
                <a:highlight>
                  <a:srgbClr val="FFFFFF"/>
                </a:highlight>
                <a:latin typeface="Courier New"/>
                <a:ea typeface="Courier New"/>
                <a:cs typeface="Courier New"/>
                <a:sym typeface="Courier New"/>
              </a:rPr>
              <a:t>JButton</a:t>
            </a:r>
            <a:r>
              <a:rPr lang="en-US" sz="1500" b="1" dirty="0">
                <a:solidFill>
                  <a:srgbClr val="2A00FF"/>
                </a:solidFill>
                <a:highlight>
                  <a:srgbClr val="FFFFFF"/>
                </a:highlight>
                <a:latin typeface="Courier New"/>
                <a:ea typeface="Courier New"/>
                <a:cs typeface="Courier New"/>
                <a:sym typeface="Courier New"/>
              </a:rPr>
              <a:t> Example"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.setSize</a:t>
            </a:r>
            <a:r>
              <a:rPr lang="en-US" sz="1500" b="1" dirty="0">
                <a:highlight>
                  <a:srgbClr val="FFFFFF"/>
                </a:highlight>
                <a:latin typeface="Courier New"/>
                <a:ea typeface="Courier New"/>
                <a:cs typeface="Courier New"/>
                <a:sym typeface="Courier New"/>
              </a:rPr>
              <a:t>(400, 200);</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.setLayout</a:t>
            </a:r>
            <a:r>
              <a:rPr lang="en-US" sz="1500" b="1"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FlowLayout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3F7F5F"/>
                </a:solidFill>
                <a:highlight>
                  <a:srgbClr val="FFFFFF"/>
                </a:highlight>
                <a:latin typeface="Courier New"/>
                <a:ea typeface="Courier New"/>
                <a:cs typeface="Courier New"/>
                <a:sym typeface="Courier New"/>
              </a:rPr>
              <a:t>// Create a button with just text</a:t>
            </a:r>
            <a:endParaRPr sz="15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a:t>
            </a: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buttonText</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"Click Me!"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SzPts val="1800"/>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ImageIcon</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icon</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ImageIcon</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"/home/student/sun.jpg"</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3F7F5F"/>
                </a:solidFill>
                <a:highlight>
                  <a:srgbClr val="FFFFFF"/>
                </a:highlight>
                <a:latin typeface="Courier New"/>
                <a:ea typeface="Courier New"/>
                <a:cs typeface="Courier New"/>
                <a:sym typeface="Courier New"/>
              </a:rPr>
              <a:t>// Create a button with just an icon</a:t>
            </a:r>
            <a:endParaRPr sz="15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a:t>
            </a: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buttonIcon</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a:t>
            </a:r>
            <a:r>
              <a:rPr lang="en-US" sz="1500" b="1" dirty="0">
                <a:highlight>
                  <a:srgbClr val="FFFFFF"/>
                </a:highlight>
                <a:latin typeface="Courier New"/>
                <a:ea typeface="Courier New"/>
                <a:cs typeface="Courier New"/>
                <a:sym typeface="Courier New"/>
              </a:rPr>
              <a:t>(</a:t>
            </a:r>
            <a:r>
              <a:rPr lang="en-US" sz="1500" b="1" dirty="0">
                <a:solidFill>
                  <a:srgbClr val="6A3E3E"/>
                </a:solidFill>
                <a:highlight>
                  <a:srgbClr val="FFFFFF"/>
                </a:highlight>
                <a:latin typeface="Courier New"/>
                <a:ea typeface="Courier New"/>
                <a:cs typeface="Courier New"/>
                <a:sym typeface="Courier New"/>
              </a:rPr>
              <a:t>icon</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3F7F5F"/>
                </a:solidFill>
                <a:highlight>
                  <a:srgbClr val="FFFFFF"/>
                </a:highlight>
                <a:latin typeface="Courier New"/>
                <a:ea typeface="Courier New"/>
                <a:cs typeface="Courier New"/>
                <a:sym typeface="Courier New"/>
              </a:rPr>
              <a:t>// Create a button with both text and an icon</a:t>
            </a:r>
            <a:endParaRPr sz="15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a:t>
            </a: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buttonTextIcon</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JButton</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"Click Here!"</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icon</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3F7F5F"/>
                </a:solidFill>
                <a:highlight>
                  <a:srgbClr val="FFFFFF"/>
                </a:highlight>
                <a:latin typeface="Courier New"/>
                <a:ea typeface="Courier New"/>
                <a:cs typeface="Courier New"/>
                <a:sym typeface="Courier New"/>
              </a:rPr>
              <a:t>// Add the buttons to the frame</a:t>
            </a:r>
            <a:endParaRPr sz="15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buttonText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buttonIcon</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buttonTextIcon</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3F7F5F"/>
                </a:solidFill>
                <a:highlight>
                  <a:srgbClr val="FFFFFF"/>
                </a:highlight>
                <a:latin typeface="Courier New"/>
                <a:ea typeface="Courier New"/>
                <a:cs typeface="Courier New"/>
                <a:sym typeface="Courier New"/>
              </a:rPr>
              <a:t>// Display the frame</a:t>
            </a:r>
            <a:endParaRPr sz="15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.setVisible</a:t>
            </a:r>
            <a:r>
              <a:rPr lang="en-US" sz="1500" b="1"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true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 }</a:t>
            </a:r>
            <a:endParaRPr sz="1500" b="1" dirty="0">
              <a:highlight>
                <a:srgbClr val="FFFFFF"/>
              </a:highlight>
              <a:latin typeface="Courier New"/>
              <a:ea typeface="Courier New"/>
              <a:cs typeface="Courier New"/>
              <a:sym typeface="Courier New"/>
            </a:endParaRPr>
          </a:p>
          <a:p>
            <a:pPr marL="0" lvl="0" indent="0" algn="l" rtl="0">
              <a:lnSpc>
                <a:spcPct val="90000"/>
              </a:lnSpc>
              <a:spcBef>
                <a:spcPts val="1200"/>
              </a:spcBef>
              <a:spcAft>
                <a:spcPts val="200"/>
              </a:spcAft>
              <a:buSzPts val="1800"/>
              <a:buNone/>
            </a:pPr>
            <a:endParaRPr sz="2700"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58128505b8_0_32"/>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r>
              <a:rPr lang="en-US"/>
              <a:t>OUTPUT</a:t>
            </a:r>
            <a:endParaRPr/>
          </a:p>
        </p:txBody>
      </p:sp>
      <p:sp>
        <p:nvSpPr>
          <p:cNvPr id="219" name="Google Shape;219;g358128505b8_0_32"/>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220" name="Google Shape;220;g358128505b8_0_32"/>
          <p:cNvPicPr preferRelativeResize="0"/>
          <p:nvPr/>
        </p:nvPicPr>
        <p:blipFill rotWithShape="1">
          <a:blip r:embed="rId3">
            <a:alphaModFix/>
          </a:blip>
          <a:srcRect/>
          <a:stretch/>
        </p:blipFill>
        <p:spPr>
          <a:xfrm>
            <a:off x="923925" y="1747838"/>
            <a:ext cx="10344150" cy="3362325"/>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JBUTTON</a:t>
            </a:r>
            <a:endParaRPr/>
          </a:p>
        </p:txBody>
      </p:sp>
      <p:sp>
        <p:nvSpPr>
          <p:cNvPr id="226" name="Google Shape;226;p17"/>
          <p:cNvSpPr txBox="1">
            <a:spLocks noGrp="1"/>
          </p:cNvSpPr>
          <p:nvPr>
            <p:ph type="body" idx="1"/>
          </p:nvPr>
        </p:nvSpPr>
        <p:spPr>
          <a:xfrm>
            <a:off x="1024128" y="1759131"/>
            <a:ext cx="9720073" cy="499872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dirty="0"/>
              <a:t>When the button is pressed, an </a:t>
            </a:r>
            <a:r>
              <a:rPr lang="en-US" dirty="0" err="1"/>
              <a:t>ActionEvent</a:t>
            </a:r>
            <a:r>
              <a:rPr lang="en-US" dirty="0"/>
              <a:t> is generated. Using the </a:t>
            </a:r>
            <a:r>
              <a:rPr lang="en-US" dirty="0" err="1"/>
              <a:t>ActionEvent</a:t>
            </a:r>
            <a:r>
              <a:rPr lang="en-US" dirty="0"/>
              <a:t> object passed to the </a:t>
            </a:r>
            <a:r>
              <a:rPr lang="en-US" b="1" dirty="0" err="1"/>
              <a:t>actionPerformed</a:t>
            </a:r>
            <a:r>
              <a:rPr lang="en-US" b="1" dirty="0"/>
              <a:t>( ) </a:t>
            </a:r>
            <a:r>
              <a:rPr lang="en-US" dirty="0"/>
              <a:t>method of the registered </a:t>
            </a:r>
            <a:r>
              <a:rPr lang="en-US" b="1" dirty="0" err="1"/>
              <a:t>ActionListener</a:t>
            </a:r>
            <a:r>
              <a:rPr lang="en-US" dirty="0"/>
              <a:t>, you can obtain the action command string associated with the button. </a:t>
            </a:r>
            <a:endParaRPr dirty="0"/>
          </a:p>
          <a:p>
            <a:pPr marL="91440" lvl="0" indent="-91440" algn="l" rtl="0">
              <a:lnSpc>
                <a:spcPct val="90000"/>
              </a:lnSpc>
              <a:spcBef>
                <a:spcPts val="1400"/>
              </a:spcBef>
              <a:spcAft>
                <a:spcPts val="0"/>
              </a:spcAft>
              <a:buSzPts val="2200"/>
              <a:buChar char=" "/>
            </a:pPr>
            <a:r>
              <a:rPr lang="en-US" dirty="0"/>
              <a:t>By default, this is the string displayed inside the button. However, you can set the action command by calling </a:t>
            </a:r>
            <a:r>
              <a:rPr lang="en-US" b="1" dirty="0" err="1"/>
              <a:t>setActionCommand</a:t>
            </a:r>
            <a:r>
              <a:rPr lang="en-US" b="1" dirty="0"/>
              <a:t>( ) </a:t>
            </a:r>
            <a:r>
              <a:rPr lang="en-US" dirty="0"/>
              <a:t>on the button. You can obtain the action command by calling </a:t>
            </a:r>
            <a:r>
              <a:rPr lang="en-US" dirty="0" err="1"/>
              <a:t>getActionCommand</a:t>
            </a:r>
            <a:r>
              <a:rPr lang="en-US" dirty="0"/>
              <a:t>( ) on the event object. It is declared like this: </a:t>
            </a:r>
            <a:endParaRPr dirty="0"/>
          </a:p>
          <a:p>
            <a:pPr marL="91440" lvl="0" indent="-91440" algn="l" rtl="0">
              <a:lnSpc>
                <a:spcPct val="90000"/>
              </a:lnSpc>
              <a:spcBef>
                <a:spcPts val="1400"/>
              </a:spcBef>
              <a:spcAft>
                <a:spcPts val="0"/>
              </a:spcAft>
              <a:buSzPts val="2200"/>
              <a:buChar char=" "/>
            </a:pPr>
            <a:r>
              <a:rPr lang="en-US" b="1" dirty="0"/>
              <a:t>String </a:t>
            </a:r>
            <a:r>
              <a:rPr lang="en-US" b="1" dirty="0" err="1"/>
              <a:t>getActionCommand</a:t>
            </a:r>
            <a:r>
              <a:rPr lang="en-US" b="1" dirty="0"/>
              <a:t>( ) </a:t>
            </a:r>
            <a:endParaRPr b="1" dirty="0"/>
          </a:p>
          <a:p>
            <a:pPr marL="91440" lvl="0" indent="-91440" algn="l" rtl="0">
              <a:lnSpc>
                <a:spcPct val="90000"/>
              </a:lnSpc>
              <a:spcBef>
                <a:spcPts val="1400"/>
              </a:spcBef>
              <a:spcAft>
                <a:spcPts val="0"/>
              </a:spcAft>
              <a:buSzPts val="2200"/>
              <a:buChar char=" "/>
            </a:pPr>
            <a:r>
              <a:rPr lang="en-US" dirty="0"/>
              <a:t>The action command identifies the button. Thus, when using two or more buttons within the same application, the action command gives you an easy way to determine which button was pressed.</a:t>
            </a:r>
            <a:endParaRP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358128505b8_0_38"/>
          <p:cNvSpPr txBox="1">
            <a:spLocks noGrp="1"/>
          </p:cNvSpPr>
          <p:nvPr>
            <p:ph type="body" idx="1"/>
          </p:nvPr>
        </p:nvSpPr>
        <p:spPr>
          <a:xfrm>
            <a:off x="1024125" y="231450"/>
            <a:ext cx="9720000" cy="6078000"/>
          </a:xfrm>
          <a:prstGeom prst="rect">
            <a:avLst/>
          </a:prstGeom>
          <a:noFill/>
          <a:ln>
            <a:noFill/>
          </a:ln>
        </p:spPr>
        <p:txBody>
          <a:bodyPr spcFirstLastPara="1" wrap="square" lIns="45700" tIns="45700" rIns="45700" bIns="45700" anchor="t" anchorCtr="0">
            <a:noAutofit/>
          </a:bodyPr>
          <a:lstStyle/>
          <a:p>
            <a:pPr marL="25400" lvl="0" indent="0" algn="l" rtl="0">
              <a:lnSpc>
                <a:spcPct val="95000"/>
              </a:lnSpc>
              <a:spcBef>
                <a:spcPts val="0"/>
              </a:spcBef>
              <a:spcAft>
                <a:spcPts val="0"/>
              </a:spcAft>
              <a:buClr>
                <a:schemeClr val="dk1"/>
              </a:buClr>
              <a:buSzPts val="1018"/>
              <a:buFont typeface="Arial"/>
              <a:buNone/>
            </a:pPr>
            <a:r>
              <a:rPr lang="en-US" sz="1500" b="1">
                <a:solidFill>
                  <a:srgbClr val="7F0055"/>
                </a:solidFill>
                <a:highlight>
                  <a:srgbClr val="FFFFFF"/>
                </a:highlight>
                <a:latin typeface="Courier New"/>
                <a:ea typeface="Courier New"/>
                <a:cs typeface="Courier New"/>
                <a:sym typeface="Courier New"/>
              </a:rPr>
              <a:t>package</a:t>
            </a:r>
            <a:r>
              <a:rPr lang="en-US" sz="1500" b="1">
                <a:highlight>
                  <a:srgbClr val="FFFFFF"/>
                </a:highlight>
                <a:latin typeface="Courier New"/>
                <a:ea typeface="Courier New"/>
                <a:cs typeface="Courier New"/>
                <a:sym typeface="Courier New"/>
              </a:rPr>
              <a:t> temp;</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solidFill>
                  <a:srgbClr val="7F0055"/>
                </a:solidFill>
                <a:highlight>
                  <a:srgbClr val="FFFFFF"/>
                </a:highlight>
                <a:latin typeface="Courier New"/>
                <a:ea typeface="Courier New"/>
                <a:cs typeface="Courier New"/>
                <a:sym typeface="Courier New"/>
              </a:rPr>
              <a:t>import</a:t>
            </a:r>
            <a:r>
              <a:rPr lang="en-US" sz="1500" b="1">
                <a:highlight>
                  <a:srgbClr val="FFFFFF"/>
                </a:highlight>
                <a:latin typeface="Courier New"/>
                <a:ea typeface="Courier New"/>
                <a:cs typeface="Courier New"/>
                <a:sym typeface="Courier New"/>
              </a:rPr>
              <a:t> javax.swing.*;</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solidFill>
                  <a:srgbClr val="7F0055"/>
                </a:solidFill>
                <a:highlight>
                  <a:srgbClr val="FFFFFF"/>
                </a:highlight>
                <a:latin typeface="Courier New"/>
                <a:ea typeface="Courier New"/>
                <a:cs typeface="Courier New"/>
                <a:sym typeface="Courier New"/>
              </a:rPr>
              <a:t>import</a:t>
            </a:r>
            <a:r>
              <a:rPr lang="en-US" sz="1500" b="1">
                <a:highlight>
                  <a:srgbClr val="FFFFFF"/>
                </a:highlight>
                <a:latin typeface="Courier New"/>
                <a:ea typeface="Courier New"/>
                <a:cs typeface="Courier New"/>
                <a:sym typeface="Courier New"/>
              </a:rPr>
              <a:t> java.awt.event.*;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solidFill>
                  <a:srgbClr val="7F0055"/>
                </a:solidFill>
                <a:highlight>
                  <a:srgbClr val="FFFFFF"/>
                </a:highlight>
                <a:latin typeface="Courier New"/>
                <a:ea typeface="Courier New"/>
                <a:cs typeface="Courier New"/>
                <a:sym typeface="Courier New"/>
              </a:rPr>
              <a:t>import</a:t>
            </a:r>
            <a:r>
              <a:rPr lang="en-US" sz="1500" b="1">
                <a:highlight>
                  <a:srgbClr val="FFFFFF"/>
                </a:highlight>
                <a:latin typeface="Courier New"/>
                <a:ea typeface="Courier New"/>
                <a:cs typeface="Courier New"/>
                <a:sym typeface="Courier New"/>
              </a:rPr>
              <a:t> java.awt.*;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solidFill>
                  <a:srgbClr val="7F0055"/>
                </a:solidFill>
                <a:highlight>
                  <a:srgbClr val="FFFFFF"/>
                </a:highlight>
                <a:latin typeface="Courier New"/>
                <a:ea typeface="Courier New"/>
                <a:cs typeface="Courier New"/>
                <a:sym typeface="Courier New"/>
              </a:rPr>
              <a:t>public</a:t>
            </a: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class</a:t>
            </a:r>
            <a:r>
              <a:rPr lang="en-US" sz="1500" b="1">
                <a:highlight>
                  <a:srgbClr val="FFFFFF"/>
                </a:highlight>
                <a:latin typeface="Courier New"/>
                <a:ea typeface="Courier New"/>
                <a:cs typeface="Courier New"/>
                <a:sym typeface="Courier New"/>
              </a:rPr>
              <a:t> JButtonExample2 </a:t>
            </a:r>
            <a:r>
              <a:rPr lang="en-US" sz="1500" b="1">
                <a:solidFill>
                  <a:srgbClr val="7F0055"/>
                </a:solidFill>
                <a:highlight>
                  <a:srgbClr val="FFFFFF"/>
                </a:highlight>
                <a:latin typeface="Courier New"/>
                <a:ea typeface="Courier New"/>
                <a:cs typeface="Courier New"/>
                <a:sym typeface="Courier New"/>
              </a:rPr>
              <a:t>implements</a:t>
            </a:r>
            <a:r>
              <a:rPr lang="en-US" sz="1500" b="1">
                <a:highlight>
                  <a:srgbClr val="FFFFFF"/>
                </a:highlight>
                <a:latin typeface="Courier New"/>
                <a:ea typeface="Courier New"/>
                <a:cs typeface="Courier New"/>
                <a:sym typeface="Courier New"/>
              </a:rPr>
              <a:t> ActionListener{</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private</a:t>
            </a:r>
            <a:r>
              <a:rPr lang="en-US" sz="1500" b="1">
                <a:highlight>
                  <a:srgbClr val="FFFFFF"/>
                </a:highlight>
                <a:latin typeface="Courier New"/>
                <a:ea typeface="Courier New"/>
                <a:cs typeface="Courier New"/>
                <a:sym typeface="Courier New"/>
              </a:rPr>
              <a:t> JButton </a:t>
            </a:r>
            <a:r>
              <a:rPr lang="en-US" sz="1500" b="1">
                <a:solidFill>
                  <a:srgbClr val="0000C0"/>
                </a:solidFill>
                <a:highlight>
                  <a:srgbClr val="FFFFFF"/>
                </a:highlight>
                <a:latin typeface="Courier New"/>
                <a:ea typeface="Courier New"/>
                <a:cs typeface="Courier New"/>
                <a:sym typeface="Courier New"/>
              </a:rPr>
              <a:t>button1</a:t>
            </a:r>
            <a:r>
              <a:rPr lang="en-US" sz="1500" b="1">
                <a:highlight>
                  <a:srgbClr val="FFFFFF"/>
                </a:highlight>
                <a:latin typeface="Courier New"/>
                <a:ea typeface="Courier New"/>
                <a:cs typeface="Courier New"/>
                <a:sym typeface="Courier New"/>
              </a:rPr>
              <a: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private</a:t>
            </a:r>
            <a:r>
              <a:rPr lang="en-US" sz="1500" b="1">
                <a:highlight>
                  <a:srgbClr val="FFFFFF"/>
                </a:highlight>
                <a:latin typeface="Courier New"/>
                <a:ea typeface="Courier New"/>
                <a:cs typeface="Courier New"/>
                <a:sym typeface="Courier New"/>
              </a:rPr>
              <a:t> JButton </a:t>
            </a:r>
            <a:r>
              <a:rPr lang="en-US" sz="1500" b="1">
                <a:solidFill>
                  <a:srgbClr val="0000C0"/>
                </a:solidFill>
                <a:highlight>
                  <a:srgbClr val="F0D8A8"/>
                </a:highlight>
                <a:latin typeface="Courier New"/>
                <a:ea typeface="Courier New"/>
                <a:cs typeface="Courier New"/>
                <a:sym typeface="Courier New"/>
              </a:rPr>
              <a:t>button2</a:t>
            </a:r>
            <a:r>
              <a:rPr lang="en-US" sz="1500" b="1">
                <a:highlight>
                  <a:srgbClr val="FFFFFF"/>
                </a:highlight>
                <a:latin typeface="Courier New"/>
                <a:ea typeface="Courier New"/>
                <a:cs typeface="Courier New"/>
                <a:sym typeface="Courier New"/>
              </a:rPr>
              <a: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public</a:t>
            </a: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static</a:t>
            </a: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void</a:t>
            </a:r>
            <a:r>
              <a:rPr lang="en-US" sz="1500" b="1">
                <a:highlight>
                  <a:srgbClr val="FFFFFF"/>
                </a:highlight>
                <a:latin typeface="Courier New"/>
                <a:ea typeface="Courier New"/>
                <a:cs typeface="Courier New"/>
                <a:sym typeface="Courier New"/>
              </a:rPr>
              <a:t> main(String[] </a:t>
            </a:r>
            <a:r>
              <a:rPr lang="en-US" sz="1500" b="1">
                <a:solidFill>
                  <a:srgbClr val="6A3E3E"/>
                </a:solidFill>
                <a:highlight>
                  <a:srgbClr val="FFFFFF"/>
                </a:highlight>
                <a:latin typeface="Courier New"/>
                <a:ea typeface="Courier New"/>
                <a:cs typeface="Courier New"/>
                <a:sym typeface="Courier New"/>
              </a:rPr>
              <a:t>args</a:t>
            </a:r>
            <a:r>
              <a:rPr lang="en-US" sz="1500" b="1">
                <a:highlight>
                  <a:srgbClr val="FFFFFF"/>
                </a:highlight>
                <a:latin typeface="Courier New"/>
                <a:ea typeface="Courier New"/>
                <a:cs typeface="Courier New"/>
                <a:sym typeface="Courier New"/>
              </a:rPr>
              <a:t>)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3F7F5F"/>
                </a:solidFill>
                <a:highlight>
                  <a:srgbClr val="FFFFFF"/>
                </a:highlight>
                <a:latin typeface="Courier New"/>
                <a:ea typeface="Courier New"/>
                <a:cs typeface="Courier New"/>
                <a:sym typeface="Courier New"/>
              </a:rPr>
              <a:t>// Create an instance of the class and call the setup method</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JButtonExample2 </a:t>
            </a:r>
            <a:r>
              <a:rPr lang="en-US" sz="1500" b="1">
                <a:solidFill>
                  <a:srgbClr val="6A3E3E"/>
                </a:solidFill>
                <a:highlight>
                  <a:srgbClr val="FFFFFF"/>
                </a:highlight>
                <a:latin typeface="Courier New"/>
                <a:ea typeface="Courier New"/>
                <a:cs typeface="Courier New"/>
                <a:sym typeface="Courier New"/>
              </a:rPr>
              <a:t>example</a:t>
            </a:r>
            <a:r>
              <a:rPr lang="en-US" sz="1500" b="1">
                <a:highlight>
                  <a:srgbClr val="FFFFFF"/>
                </a:highlight>
                <a:latin typeface="Courier New"/>
                <a:ea typeface="Courier New"/>
                <a:cs typeface="Courier New"/>
                <a:sym typeface="Courier New"/>
              </a:rPr>
              <a:t> = </a:t>
            </a:r>
            <a:r>
              <a:rPr lang="en-US" sz="1500" b="1">
                <a:solidFill>
                  <a:srgbClr val="7F0055"/>
                </a:solidFill>
                <a:highlight>
                  <a:srgbClr val="FFFFFF"/>
                </a:highlight>
                <a:latin typeface="Courier New"/>
                <a:ea typeface="Courier New"/>
                <a:cs typeface="Courier New"/>
                <a:sym typeface="Courier New"/>
              </a:rPr>
              <a:t>new</a:t>
            </a:r>
            <a:r>
              <a:rPr lang="en-US" sz="1500" b="1">
                <a:highlight>
                  <a:srgbClr val="FFFFFF"/>
                </a:highlight>
                <a:latin typeface="Courier New"/>
                <a:ea typeface="Courier New"/>
                <a:cs typeface="Courier New"/>
                <a:sym typeface="Courier New"/>
              </a:rPr>
              <a:t> JButtonExample2();</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6A3E3E"/>
                </a:solidFill>
                <a:highlight>
                  <a:srgbClr val="FFFFFF"/>
                </a:highlight>
                <a:latin typeface="Courier New"/>
                <a:ea typeface="Courier New"/>
                <a:cs typeface="Courier New"/>
                <a:sym typeface="Courier New"/>
              </a:rPr>
              <a:t>example</a:t>
            </a:r>
            <a:r>
              <a:rPr lang="en-US" sz="1500" b="1">
                <a:highlight>
                  <a:srgbClr val="FFFFFF"/>
                </a:highlight>
                <a:latin typeface="Courier New"/>
                <a:ea typeface="Courier New"/>
                <a:cs typeface="Courier New"/>
                <a:sym typeface="Courier New"/>
              </a:rPr>
              <a:t>.setupUI();</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public</a:t>
            </a: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void</a:t>
            </a:r>
            <a:r>
              <a:rPr lang="en-US" sz="1500" b="1">
                <a:highlight>
                  <a:srgbClr val="FFFFFF"/>
                </a:highlight>
                <a:latin typeface="Courier New"/>
                <a:ea typeface="Courier New"/>
                <a:cs typeface="Courier New"/>
                <a:sym typeface="Courier New"/>
              </a:rPr>
              <a:t> setupUI()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JFrame </a:t>
            </a:r>
            <a:r>
              <a:rPr lang="en-US" sz="1500" b="1">
                <a:solidFill>
                  <a:srgbClr val="6A3E3E"/>
                </a:solidFill>
                <a:highlight>
                  <a:srgbClr val="FFFFFF"/>
                </a:highlight>
                <a:latin typeface="Courier New"/>
                <a:ea typeface="Courier New"/>
                <a:cs typeface="Courier New"/>
                <a:sym typeface="Courier New"/>
              </a:rPr>
              <a:t>frame</a:t>
            </a:r>
            <a:r>
              <a:rPr lang="en-US" sz="1500" b="1">
                <a:highlight>
                  <a:srgbClr val="FFFFFF"/>
                </a:highlight>
                <a:latin typeface="Courier New"/>
                <a:ea typeface="Courier New"/>
                <a:cs typeface="Courier New"/>
                <a:sym typeface="Courier New"/>
              </a:rPr>
              <a:t> = </a:t>
            </a:r>
            <a:r>
              <a:rPr lang="en-US" sz="1500" b="1">
                <a:solidFill>
                  <a:srgbClr val="7F0055"/>
                </a:solidFill>
                <a:highlight>
                  <a:srgbClr val="FFFFFF"/>
                </a:highlight>
                <a:latin typeface="Courier New"/>
                <a:ea typeface="Courier New"/>
                <a:cs typeface="Courier New"/>
                <a:sym typeface="Courier New"/>
              </a:rPr>
              <a:t>new</a:t>
            </a:r>
            <a:r>
              <a:rPr lang="en-US" sz="1500" b="1">
                <a:highlight>
                  <a:srgbClr val="FFFFFF"/>
                </a:highlight>
                <a:latin typeface="Courier New"/>
                <a:ea typeface="Courier New"/>
                <a:cs typeface="Courier New"/>
                <a:sym typeface="Courier New"/>
              </a:rPr>
              <a:t> JFrame(</a:t>
            </a:r>
            <a:r>
              <a:rPr lang="en-US" sz="1500" b="1">
                <a:solidFill>
                  <a:srgbClr val="2A00FF"/>
                </a:solidFill>
                <a:highlight>
                  <a:srgbClr val="FFFFFF"/>
                </a:highlight>
                <a:latin typeface="Courier New"/>
                <a:ea typeface="Courier New"/>
                <a:cs typeface="Courier New"/>
                <a:sym typeface="Courier New"/>
              </a:rPr>
              <a:t>"ActionCommand Example"</a:t>
            </a:r>
            <a:r>
              <a:rPr lang="en-US" sz="1500" b="1">
                <a:highlight>
                  <a:srgbClr val="FFFFFF"/>
                </a:highlight>
                <a:latin typeface="Courier New"/>
                <a:ea typeface="Courier New"/>
                <a:cs typeface="Courier New"/>
                <a:sym typeface="Courier New"/>
              </a:rPr>
              <a:t>);</a:t>
            </a:r>
            <a:r>
              <a:rPr lang="en-US" sz="1500" b="1">
                <a:solidFill>
                  <a:srgbClr val="6A3E3E"/>
                </a:solidFill>
                <a:highlight>
                  <a:srgbClr val="FFFFFF"/>
                </a:highlight>
                <a:latin typeface="Courier New"/>
                <a:ea typeface="Courier New"/>
                <a:cs typeface="Courier New"/>
                <a:sym typeface="Courier New"/>
              </a:rPr>
              <a:t>frame</a:t>
            </a:r>
            <a:r>
              <a:rPr lang="en-US" sz="1500" b="1">
                <a:highlight>
                  <a:srgbClr val="FFFFFF"/>
                </a:highlight>
                <a:latin typeface="Courier New"/>
                <a:ea typeface="Courier New"/>
                <a:cs typeface="Courier New"/>
                <a:sym typeface="Courier New"/>
              </a:rPr>
              <a:t>.setSize(300, 200);</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0000C0"/>
                </a:solidFill>
                <a:highlight>
                  <a:srgbClr val="FFFFFF"/>
                </a:highlight>
                <a:latin typeface="Courier New"/>
                <a:ea typeface="Courier New"/>
                <a:cs typeface="Courier New"/>
                <a:sym typeface="Courier New"/>
              </a:rPr>
              <a:t>button1</a:t>
            </a:r>
            <a:r>
              <a:rPr lang="en-US" sz="1500" b="1">
                <a:highlight>
                  <a:srgbClr val="FFFFFF"/>
                </a:highlight>
                <a:latin typeface="Courier New"/>
                <a:ea typeface="Courier New"/>
                <a:cs typeface="Courier New"/>
                <a:sym typeface="Courier New"/>
              </a:rPr>
              <a:t> = </a:t>
            </a:r>
            <a:r>
              <a:rPr lang="en-US" sz="1500" b="1">
                <a:solidFill>
                  <a:srgbClr val="7F0055"/>
                </a:solidFill>
                <a:highlight>
                  <a:srgbClr val="FFFFFF"/>
                </a:highlight>
                <a:latin typeface="Courier New"/>
                <a:ea typeface="Courier New"/>
                <a:cs typeface="Courier New"/>
                <a:sym typeface="Courier New"/>
              </a:rPr>
              <a:t>new</a:t>
            </a:r>
            <a:r>
              <a:rPr lang="en-US" sz="1500" b="1">
                <a:highlight>
                  <a:srgbClr val="FFFFFF"/>
                </a:highlight>
                <a:latin typeface="Courier New"/>
                <a:ea typeface="Courier New"/>
                <a:cs typeface="Courier New"/>
                <a:sym typeface="Courier New"/>
              </a:rPr>
              <a:t> JButton(</a:t>
            </a:r>
            <a:r>
              <a:rPr lang="en-US" sz="1500" b="1">
                <a:solidFill>
                  <a:srgbClr val="2A00FF"/>
                </a:solidFill>
                <a:highlight>
                  <a:srgbClr val="FFFFFF"/>
                </a:highlight>
                <a:latin typeface="Courier New"/>
                <a:ea typeface="Courier New"/>
                <a:cs typeface="Courier New"/>
                <a:sym typeface="Courier New"/>
              </a:rPr>
              <a:t>"Button 1"</a:t>
            </a:r>
            <a:r>
              <a:rPr lang="en-US" sz="1500" b="1">
                <a:highlight>
                  <a:srgbClr val="FFFFFF"/>
                </a:highlight>
                <a:latin typeface="Courier New"/>
                <a:ea typeface="Courier New"/>
                <a:cs typeface="Courier New"/>
                <a:sym typeface="Courier New"/>
              </a:rPr>
              <a:t>); </a:t>
            </a:r>
            <a:r>
              <a:rPr lang="en-US" sz="1500" b="1">
                <a:solidFill>
                  <a:srgbClr val="0000C0"/>
                </a:solidFill>
                <a:highlight>
                  <a:srgbClr val="F0D8A8"/>
                </a:highlight>
                <a:latin typeface="Courier New"/>
                <a:ea typeface="Courier New"/>
                <a:cs typeface="Courier New"/>
                <a:sym typeface="Courier New"/>
              </a:rPr>
              <a:t>button2</a:t>
            </a:r>
            <a:r>
              <a:rPr lang="en-US" sz="1500" b="1">
                <a:highlight>
                  <a:srgbClr val="FFFFFF"/>
                </a:highlight>
                <a:latin typeface="Courier New"/>
                <a:ea typeface="Courier New"/>
                <a:cs typeface="Courier New"/>
                <a:sym typeface="Courier New"/>
              </a:rPr>
              <a:t> = </a:t>
            </a:r>
            <a:r>
              <a:rPr lang="en-US" sz="1500" b="1">
                <a:solidFill>
                  <a:srgbClr val="7F0055"/>
                </a:solidFill>
                <a:highlight>
                  <a:srgbClr val="FFFFFF"/>
                </a:highlight>
                <a:latin typeface="Courier New"/>
                <a:ea typeface="Courier New"/>
                <a:cs typeface="Courier New"/>
                <a:sym typeface="Courier New"/>
              </a:rPr>
              <a:t>new</a:t>
            </a:r>
            <a:r>
              <a:rPr lang="en-US" sz="1500" b="1">
                <a:highlight>
                  <a:srgbClr val="FFFFFF"/>
                </a:highlight>
                <a:latin typeface="Courier New"/>
                <a:ea typeface="Courier New"/>
                <a:cs typeface="Courier New"/>
                <a:sym typeface="Courier New"/>
              </a:rPr>
              <a:t> JButton(</a:t>
            </a:r>
            <a:r>
              <a:rPr lang="en-US" sz="1500" b="1">
                <a:solidFill>
                  <a:srgbClr val="2A00FF"/>
                </a:solidFill>
                <a:highlight>
                  <a:srgbClr val="FFFFFF"/>
                </a:highlight>
                <a:latin typeface="Courier New"/>
                <a:ea typeface="Courier New"/>
                <a:cs typeface="Courier New"/>
                <a:sym typeface="Courier New"/>
              </a:rPr>
              <a:t>"Button 2"</a:t>
            </a:r>
            <a:r>
              <a:rPr lang="en-US" sz="1500" b="1">
                <a:highlight>
                  <a:srgbClr val="FFFFFF"/>
                </a:highlight>
                <a:latin typeface="Courier New"/>
                <a:ea typeface="Courier New"/>
                <a:cs typeface="Courier New"/>
                <a:sym typeface="Courier New"/>
              </a:rPr>
              <a:t>);</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SzPts val="1018"/>
              <a:buNone/>
            </a:pPr>
            <a:r>
              <a:rPr lang="en-US" sz="1500" b="1">
                <a:highlight>
                  <a:srgbClr val="FFFFFF"/>
                </a:highlight>
                <a:latin typeface="Courier New"/>
                <a:ea typeface="Courier New"/>
                <a:cs typeface="Courier New"/>
                <a:sym typeface="Courier New"/>
              </a:rPr>
              <a:t>       </a:t>
            </a:r>
            <a:r>
              <a:rPr lang="en-US" sz="1500" b="1">
                <a:solidFill>
                  <a:srgbClr val="0000C0"/>
                </a:solidFill>
                <a:highlight>
                  <a:srgbClr val="FFFFFF"/>
                </a:highlight>
                <a:latin typeface="Courier New"/>
                <a:ea typeface="Courier New"/>
                <a:cs typeface="Courier New"/>
                <a:sym typeface="Courier New"/>
              </a:rPr>
              <a:t>button1</a:t>
            </a:r>
            <a:r>
              <a:rPr lang="en-US" sz="1500" b="1">
                <a:highlight>
                  <a:srgbClr val="FFFFFF"/>
                </a:highlight>
                <a:latin typeface="Courier New"/>
                <a:ea typeface="Courier New"/>
                <a:cs typeface="Courier New"/>
                <a:sym typeface="Courier New"/>
              </a:rPr>
              <a:t>.setActionCommand(</a:t>
            </a:r>
            <a:r>
              <a:rPr lang="en-US" sz="1500" b="1">
                <a:solidFill>
                  <a:srgbClr val="2A00FF"/>
                </a:solidFill>
                <a:highlight>
                  <a:srgbClr val="FFFFFF"/>
                </a:highlight>
                <a:latin typeface="Courier New"/>
                <a:ea typeface="Courier New"/>
                <a:cs typeface="Courier New"/>
                <a:sym typeface="Courier New"/>
              </a:rPr>
              <a:t>"button1Clicked"</a:t>
            </a:r>
            <a:r>
              <a:rPr lang="en-US" sz="1500" b="1">
                <a:highlight>
                  <a:srgbClr val="FFFFFF"/>
                </a:highlight>
                <a:latin typeface="Courier New"/>
                <a:ea typeface="Courier New"/>
                <a:cs typeface="Courier New"/>
                <a:sym typeface="Courier New"/>
              </a:rPr>
              <a:t>);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solidFill>
                  <a:srgbClr val="0000C0"/>
                </a:solidFill>
                <a:highlight>
                  <a:srgbClr val="D4D4D4"/>
                </a:highlight>
                <a:latin typeface="Courier New"/>
                <a:ea typeface="Courier New"/>
                <a:cs typeface="Courier New"/>
                <a:sym typeface="Courier New"/>
              </a:rPr>
              <a:t>       button2</a:t>
            </a:r>
            <a:r>
              <a:rPr lang="en-US" sz="1500" b="1">
                <a:highlight>
                  <a:srgbClr val="FFFFFF"/>
                </a:highlight>
                <a:latin typeface="Courier New"/>
                <a:ea typeface="Courier New"/>
                <a:cs typeface="Courier New"/>
                <a:sym typeface="Courier New"/>
              </a:rPr>
              <a:t>.setActionCommand(</a:t>
            </a:r>
            <a:r>
              <a:rPr lang="en-US" sz="1500" b="1">
                <a:solidFill>
                  <a:srgbClr val="2A00FF"/>
                </a:solidFill>
                <a:highlight>
                  <a:srgbClr val="FFFFFF"/>
                </a:highlight>
                <a:latin typeface="Courier New"/>
                <a:ea typeface="Courier New"/>
                <a:cs typeface="Courier New"/>
                <a:sym typeface="Courier New"/>
              </a:rPr>
              <a:t>"button2Clicked"</a:t>
            </a:r>
            <a:r>
              <a:rPr lang="en-US" sz="1500" b="1">
                <a:highlight>
                  <a:srgbClr val="FFFFFF"/>
                </a:highlight>
                <a:latin typeface="Courier New"/>
                <a:ea typeface="Courier New"/>
                <a:cs typeface="Courier New"/>
                <a:sym typeface="Courier New"/>
              </a:rPr>
              <a:t>);</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0000C0"/>
                </a:solidFill>
                <a:highlight>
                  <a:srgbClr val="FFFFFF"/>
                </a:highlight>
                <a:latin typeface="Courier New"/>
                <a:ea typeface="Courier New"/>
                <a:cs typeface="Courier New"/>
                <a:sym typeface="Courier New"/>
              </a:rPr>
              <a:t>button1</a:t>
            </a:r>
            <a:r>
              <a:rPr lang="en-US" sz="1500" b="1">
                <a:highlight>
                  <a:srgbClr val="FFFFFF"/>
                </a:highlight>
                <a:latin typeface="Courier New"/>
                <a:ea typeface="Courier New"/>
                <a:cs typeface="Courier New"/>
                <a:sym typeface="Courier New"/>
              </a:rPr>
              <a:t>.addActionListener(</a:t>
            </a:r>
            <a:r>
              <a:rPr lang="en-US" sz="1500" b="1">
                <a:solidFill>
                  <a:srgbClr val="7F0055"/>
                </a:solidFill>
                <a:highlight>
                  <a:srgbClr val="FFFFFF"/>
                </a:highlight>
                <a:latin typeface="Courier New"/>
                <a:ea typeface="Courier New"/>
                <a:cs typeface="Courier New"/>
                <a:sym typeface="Courier New"/>
              </a:rPr>
              <a:t>this</a:t>
            </a:r>
            <a:r>
              <a:rPr lang="en-US" sz="1500" b="1">
                <a:highlight>
                  <a:srgbClr val="FFFFFF"/>
                </a:highlight>
                <a:latin typeface="Courier New"/>
                <a:ea typeface="Courier New"/>
                <a:cs typeface="Courier New"/>
                <a:sym typeface="Courier New"/>
              </a:rPr>
              <a:t>);</a:t>
            </a:r>
            <a:r>
              <a:rPr lang="en-US" sz="1500" b="1">
                <a:solidFill>
                  <a:srgbClr val="0000C0"/>
                </a:solidFill>
                <a:highlight>
                  <a:srgbClr val="D4D4D4"/>
                </a:highlight>
                <a:latin typeface="Courier New"/>
                <a:ea typeface="Courier New"/>
                <a:cs typeface="Courier New"/>
                <a:sym typeface="Courier New"/>
              </a:rPr>
              <a:t>button2</a:t>
            </a:r>
            <a:r>
              <a:rPr lang="en-US" sz="1500" b="1">
                <a:highlight>
                  <a:srgbClr val="FFFFFF"/>
                </a:highlight>
                <a:latin typeface="Courier New"/>
                <a:ea typeface="Courier New"/>
                <a:cs typeface="Courier New"/>
                <a:sym typeface="Courier New"/>
              </a:rPr>
              <a:t>.addActionListener(</a:t>
            </a:r>
            <a:r>
              <a:rPr lang="en-US" sz="1500" b="1">
                <a:solidFill>
                  <a:srgbClr val="7F0055"/>
                </a:solidFill>
                <a:highlight>
                  <a:srgbClr val="FFFFFF"/>
                </a:highlight>
                <a:latin typeface="Courier New"/>
                <a:ea typeface="Courier New"/>
                <a:cs typeface="Courier New"/>
                <a:sym typeface="Courier New"/>
              </a:rPr>
              <a:t>this</a:t>
            </a:r>
            <a:r>
              <a:rPr lang="en-US" sz="1500" b="1">
                <a:highlight>
                  <a:srgbClr val="FFFFFF"/>
                </a:highlight>
                <a:latin typeface="Courier New"/>
                <a:ea typeface="Courier New"/>
                <a:cs typeface="Courier New"/>
                <a:sym typeface="Courier New"/>
              </a:rPr>
              <a:t>);</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6A3E3E"/>
                </a:solidFill>
                <a:highlight>
                  <a:srgbClr val="FFFFFF"/>
                </a:highlight>
                <a:latin typeface="Courier New"/>
                <a:ea typeface="Courier New"/>
                <a:cs typeface="Courier New"/>
                <a:sym typeface="Courier New"/>
              </a:rPr>
              <a:t>frame</a:t>
            </a:r>
            <a:r>
              <a:rPr lang="en-US" sz="1500" b="1">
                <a:highlight>
                  <a:srgbClr val="FFFFFF"/>
                </a:highlight>
                <a:latin typeface="Courier New"/>
                <a:ea typeface="Courier New"/>
                <a:cs typeface="Courier New"/>
                <a:sym typeface="Courier New"/>
              </a:rPr>
              <a:t>.setLayout(</a:t>
            </a:r>
            <a:r>
              <a:rPr lang="en-US" sz="1500" b="1">
                <a:solidFill>
                  <a:srgbClr val="7F0055"/>
                </a:solidFill>
                <a:highlight>
                  <a:srgbClr val="FFFFFF"/>
                </a:highlight>
                <a:latin typeface="Courier New"/>
                <a:ea typeface="Courier New"/>
                <a:cs typeface="Courier New"/>
                <a:sym typeface="Courier New"/>
              </a:rPr>
              <a:t>new</a:t>
            </a:r>
            <a:r>
              <a:rPr lang="en-US" sz="1500" b="1">
                <a:highlight>
                  <a:srgbClr val="FFFFFF"/>
                </a:highlight>
                <a:latin typeface="Courier New"/>
                <a:ea typeface="Courier New"/>
                <a:cs typeface="Courier New"/>
                <a:sym typeface="Courier New"/>
              </a:rPr>
              <a:t> FlowLayout());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6A3E3E"/>
                </a:solidFill>
                <a:highlight>
                  <a:srgbClr val="FFFFFF"/>
                </a:highlight>
                <a:latin typeface="Courier New"/>
                <a:ea typeface="Courier New"/>
                <a:cs typeface="Courier New"/>
                <a:sym typeface="Courier New"/>
              </a:rPr>
              <a:t>frame</a:t>
            </a:r>
            <a:r>
              <a:rPr lang="en-US" sz="1500" b="1">
                <a:highlight>
                  <a:srgbClr val="FFFFFF"/>
                </a:highlight>
                <a:latin typeface="Courier New"/>
                <a:ea typeface="Courier New"/>
                <a:cs typeface="Courier New"/>
                <a:sym typeface="Courier New"/>
              </a:rPr>
              <a:t>.add(</a:t>
            </a:r>
            <a:r>
              <a:rPr lang="en-US" sz="1500" b="1">
                <a:solidFill>
                  <a:srgbClr val="0000C0"/>
                </a:solidFill>
                <a:highlight>
                  <a:srgbClr val="FFFFFF"/>
                </a:highlight>
                <a:latin typeface="Courier New"/>
                <a:ea typeface="Courier New"/>
                <a:cs typeface="Courier New"/>
                <a:sym typeface="Courier New"/>
              </a:rPr>
              <a:t>button1</a:t>
            </a:r>
            <a:r>
              <a:rPr lang="en-US" sz="1500" b="1">
                <a:highlight>
                  <a:srgbClr val="FFFFFF"/>
                </a:highlight>
                <a:latin typeface="Courier New"/>
                <a:ea typeface="Courier New"/>
                <a:cs typeface="Courier New"/>
                <a:sym typeface="Courier New"/>
              </a:rPr>
              <a:t>);</a:t>
            </a:r>
            <a:r>
              <a:rPr lang="en-US" sz="1500" b="1">
                <a:solidFill>
                  <a:srgbClr val="6A3E3E"/>
                </a:solidFill>
                <a:highlight>
                  <a:srgbClr val="FFFFFF"/>
                </a:highlight>
                <a:latin typeface="Courier New"/>
                <a:ea typeface="Courier New"/>
                <a:cs typeface="Courier New"/>
                <a:sym typeface="Courier New"/>
              </a:rPr>
              <a:t>frame</a:t>
            </a:r>
            <a:r>
              <a:rPr lang="en-US" sz="1500" b="1">
                <a:highlight>
                  <a:srgbClr val="FFFFFF"/>
                </a:highlight>
                <a:latin typeface="Courier New"/>
                <a:ea typeface="Courier New"/>
                <a:cs typeface="Courier New"/>
                <a:sym typeface="Courier New"/>
              </a:rPr>
              <a:t>.add(</a:t>
            </a:r>
            <a:r>
              <a:rPr lang="en-US" sz="1500" b="1">
                <a:solidFill>
                  <a:srgbClr val="0000C0"/>
                </a:solidFill>
                <a:highlight>
                  <a:srgbClr val="D4D4D4"/>
                </a:highlight>
                <a:latin typeface="Courier New"/>
                <a:ea typeface="Courier New"/>
                <a:cs typeface="Courier New"/>
                <a:sym typeface="Courier New"/>
              </a:rPr>
              <a:t>button2</a:t>
            </a:r>
            <a:r>
              <a:rPr lang="en-US" sz="1500" b="1">
                <a:highlight>
                  <a:srgbClr val="FFFFFF"/>
                </a:highlight>
                <a:latin typeface="Courier New"/>
                <a:ea typeface="Courier New"/>
                <a:cs typeface="Courier New"/>
                <a:sym typeface="Courier New"/>
              </a:rPr>
              <a:t>);</a:t>
            </a:r>
            <a:r>
              <a:rPr lang="en-US" sz="1500" b="1">
                <a:solidFill>
                  <a:srgbClr val="6A3E3E"/>
                </a:solidFill>
                <a:highlight>
                  <a:srgbClr val="FFFFFF"/>
                </a:highlight>
                <a:latin typeface="Courier New"/>
                <a:ea typeface="Courier New"/>
                <a:cs typeface="Courier New"/>
                <a:sym typeface="Courier New"/>
              </a:rPr>
              <a:t>frame</a:t>
            </a:r>
            <a:r>
              <a:rPr lang="en-US" sz="1500" b="1">
                <a:highlight>
                  <a:srgbClr val="FFFFFF"/>
                </a:highlight>
                <a:latin typeface="Courier New"/>
                <a:ea typeface="Courier New"/>
                <a:cs typeface="Courier New"/>
                <a:sym typeface="Courier New"/>
              </a:rPr>
              <a:t>.setVisible(</a:t>
            </a:r>
            <a:r>
              <a:rPr lang="en-US" sz="1500" b="1">
                <a:solidFill>
                  <a:srgbClr val="7F0055"/>
                </a:solidFill>
                <a:highlight>
                  <a:srgbClr val="FFFFFF"/>
                </a:highlight>
                <a:latin typeface="Courier New"/>
                <a:ea typeface="Courier New"/>
                <a:cs typeface="Courier New"/>
                <a:sym typeface="Courier New"/>
              </a:rPr>
              <a:t>true</a:t>
            </a:r>
            <a:r>
              <a:rPr lang="en-US" sz="1500" b="1">
                <a:highlight>
                  <a:srgbClr val="FFFFFF"/>
                </a:highlight>
                <a:latin typeface="Courier New"/>
                <a:ea typeface="Courier New"/>
                <a:cs typeface="Courier New"/>
                <a:sym typeface="Courier New"/>
              </a:rPr>
              <a:t>);   }</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public</a:t>
            </a: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void</a:t>
            </a:r>
            <a:r>
              <a:rPr lang="en-US" sz="1500" b="1">
                <a:highlight>
                  <a:srgbClr val="FFFFFF"/>
                </a:highlight>
                <a:latin typeface="Courier New"/>
                <a:ea typeface="Courier New"/>
                <a:cs typeface="Courier New"/>
                <a:sym typeface="Courier New"/>
              </a:rPr>
              <a:t> actionPerformed(ActionEvent </a:t>
            </a:r>
            <a:r>
              <a:rPr lang="en-US" sz="1500" b="1">
                <a:solidFill>
                  <a:srgbClr val="6A3E3E"/>
                </a:solidFill>
                <a:highlight>
                  <a:srgbClr val="FFFFFF"/>
                </a:highlight>
                <a:latin typeface="Courier New"/>
                <a:ea typeface="Courier New"/>
                <a:cs typeface="Courier New"/>
                <a:sym typeface="Courier New"/>
              </a:rPr>
              <a:t>e</a:t>
            </a:r>
            <a:r>
              <a:rPr lang="en-US" sz="1500" b="1">
                <a:highlight>
                  <a:srgbClr val="FFFFFF"/>
                </a:highlight>
                <a:latin typeface="Courier New"/>
                <a:ea typeface="Courier New"/>
                <a:cs typeface="Courier New"/>
                <a:sym typeface="Courier New"/>
              </a:rPr>
              <a:t>)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String </a:t>
            </a:r>
            <a:r>
              <a:rPr lang="en-US" sz="1500" b="1">
                <a:solidFill>
                  <a:srgbClr val="6A3E3E"/>
                </a:solidFill>
                <a:highlight>
                  <a:srgbClr val="FFFFFF"/>
                </a:highlight>
                <a:latin typeface="Courier New"/>
                <a:ea typeface="Courier New"/>
                <a:cs typeface="Courier New"/>
                <a:sym typeface="Courier New"/>
              </a:rPr>
              <a:t>command</a:t>
            </a:r>
            <a:r>
              <a:rPr lang="en-US" sz="1500" b="1">
                <a:highlight>
                  <a:srgbClr val="FFFFFF"/>
                </a:highlight>
                <a:latin typeface="Courier New"/>
                <a:ea typeface="Courier New"/>
                <a:cs typeface="Courier New"/>
                <a:sym typeface="Courier New"/>
              </a:rPr>
              <a:t> = </a:t>
            </a:r>
            <a:r>
              <a:rPr lang="en-US" sz="1500" b="1">
                <a:solidFill>
                  <a:srgbClr val="6A3E3E"/>
                </a:solidFill>
                <a:highlight>
                  <a:srgbClr val="FFFFFF"/>
                </a:highlight>
                <a:latin typeface="Courier New"/>
                <a:ea typeface="Courier New"/>
                <a:cs typeface="Courier New"/>
                <a:sym typeface="Courier New"/>
              </a:rPr>
              <a:t>e</a:t>
            </a:r>
            <a:r>
              <a:rPr lang="en-US" sz="1500" b="1">
                <a:highlight>
                  <a:srgbClr val="FFFFFF"/>
                </a:highlight>
                <a:latin typeface="Courier New"/>
                <a:ea typeface="Courier New"/>
                <a:cs typeface="Courier New"/>
                <a:sym typeface="Courier New"/>
              </a:rPr>
              <a:t>.getActionCommand();</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System.</a:t>
            </a:r>
            <a:r>
              <a:rPr lang="en-US" sz="1500" b="1" i="1">
                <a:solidFill>
                  <a:srgbClr val="0000C0"/>
                </a:solidFill>
                <a:highlight>
                  <a:srgbClr val="FFFFFF"/>
                </a:highlight>
                <a:latin typeface="Courier New"/>
                <a:ea typeface="Courier New"/>
                <a:cs typeface="Courier New"/>
                <a:sym typeface="Courier New"/>
              </a:rPr>
              <a:t>out</a:t>
            </a:r>
            <a:r>
              <a:rPr lang="en-US" sz="1500" b="1">
                <a:highlight>
                  <a:srgbClr val="FFFFFF"/>
                </a:highlight>
                <a:latin typeface="Courier New"/>
                <a:ea typeface="Courier New"/>
                <a:cs typeface="Courier New"/>
                <a:sym typeface="Courier New"/>
              </a:rPr>
              <a:t>.println(</a:t>
            </a:r>
            <a:r>
              <a:rPr lang="en-US" sz="1500" b="1">
                <a:solidFill>
                  <a:srgbClr val="2A00FF"/>
                </a:solidFill>
                <a:highlight>
                  <a:srgbClr val="FFFFFF"/>
                </a:highlight>
                <a:latin typeface="Courier New"/>
                <a:ea typeface="Courier New"/>
                <a:cs typeface="Courier New"/>
                <a:sym typeface="Courier New"/>
              </a:rPr>
              <a:t>"Action Command: "</a:t>
            </a:r>
            <a:r>
              <a:rPr lang="en-US" sz="1500" b="1">
                <a:highlight>
                  <a:srgbClr val="FFFFFF"/>
                </a:highlight>
                <a:latin typeface="Courier New"/>
                <a:ea typeface="Courier New"/>
                <a:cs typeface="Courier New"/>
                <a:sym typeface="Courier New"/>
              </a:rPr>
              <a:t> + </a:t>
            </a:r>
            <a:r>
              <a:rPr lang="en-US" sz="1500" b="1">
                <a:solidFill>
                  <a:srgbClr val="6A3E3E"/>
                </a:solidFill>
                <a:highlight>
                  <a:srgbClr val="FFFFFF"/>
                </a:highlight>
                <a:latin typeface="Courier New"/>
                <a:ea typeface="Courier New"/>
                <a:cs typeface="Courier New"/>
                <a:sym typeface="Courier New"/>
              </a:rPr>
              <a:t>command</a:t>
            </a:r>
            <a:r>
              <a:rPr lang="en-US" sz="1500" b="1">
                <a:highlight>
                  <a:srgbClr val="FFFFFF"/>
                </a:highlight>
                <a:latin typeface="Courier New"/>
                <a:ea typeface="Courier New"/>
                <a:cs typeface="Courier New"/>
                <a:sym typeface="Courier New"/>
              </a:rPr>
              <a:t>);</a:t>
            </a:r>
            <a:endParaRPr sz="1500" b="1">
              <a:solidFill>
                <a:srgbClr val="3F7F5F"/>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if</a:t>
            </a:r>
            <a:r>
              <a:rPr lang="en-US" sz="1500" b="1">
                <a:highlight>
                  <a:srgbClr val="FFFFFF"/>
                </a:highlight>
                <a:latin typeface="Courier New"/>
                <a:ea typeface="Courier New"/>
                <a:cs typeface="Courier New"/>
                <a:sym typeface="Courier New"/>
              </a:rPr>
              <a:t> (</a:t>
            </a:r>
            <a:r>
              <a:rPr lang="en-US" sz="1500" b="1">
                <a:solidFill>
                  <a:srgbClr val="6A3E3E"/>
                </a:solidFill>
                <a:highlight>
                  <a:srgbClr val="FFFFFF"/>
                </a:highlight>
                <a:latin typeface="Courier New"/>
                <a:ea typeface="Courier New"/>
                <a:cs typeface="Courier New"/>
                <a:sym typeface="Courier New"/>
              </a:rPr>
              <a:t>command</a:t>
            </a:r>
            <a:r>
              <a:rPr lang="en-US" sz="1500" b="1">
                <a:highlight>
                  <a:srgbClr val="FFFFFF"/>
                </a:highlight>
                <a:latin typeface="Courier New"/>
                <a:ea typeface="Courier New"/>
                <a:cs typeface="Courier New"/>
                <a:sym typeface="Courier New"/>
              </a:rPr>
              <a:t>.equals(</a:t>
            </a:r>
            <a:r>
              <a:rPr lang="en-US" sz="1500" b="1">
                <a:solidFill>
                  <a:srgbClr val="2A00FF"/>
                </a:solidFill>
                <a:highlight>
                  <a:srgbClr val="FFFFFF"/>
                </a:highlight>
                <a:latin typeface="Courier New"/>
                <a:ea typeface="Courier New"/>
                <a:cs typeface="Courier New"/>
                <a:sym typeface="Courier New"/>
              </a:rPr>
              <a:t>"button1Clicked"</a:t>
            </a:r>
            <a:r>
              <a:rPr lang="en-US" sz="1500" b="1">
                <a:highlight>
                  <a:srgbClr val="FFFFFF"/>
                </a:highlight>
                <a:latin typeface="Courier New"/>
                <a:ea typeface="Courier New"/>
                <a:cs typeface="Courier New"/>
                <a:sym typeface="Courier New"/>
              </a:rPr>
              <a:t>))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System.</a:t>
            </a:r>
            <a:r>
              <a:rPr lang="en-US" sz="1500" b="1" i="1">
                <a:solidFill>
                  <a:srgbClr val="0000C0"/>
                </a:solidFill>
                <a:highlight>
                  <a:srgbClr val="FFFFFF"/>
                </a:highlight>
                <a:latin typeface="Courier New"/>
                <a:ea typeface="Courier New"/>
                <a:cs typeface="Courier New"/>
                <a:sym typeface="Courier New"/>
              </a:rPr>
              <a:t>out</a:t>
            </a:r>
            <a:r>
              <a:rPr lang="en-US" sz="1500" b="1">
                <a:highlight>
                  <a:srgbClr val="FFFFFF"/>
                </a:highlight>
                <a:latin typeface="Courier New"/>
                <a:ea typeface="Courier New"/>
                <a:cs typeface="Courier New"/>
                <a:sym typeface="Courier New"/>
              </a:rPr>
              <a:t>.println(</a:t>
            </a:r>
            <a:r>
              <a:rPr lang="en-US" sz="1500" b="1">
                <a:solidFill>
                  <a:srgbClr val="2A00FF"/>
                </a:solidFill>
                <a:highlight>
                  <a:srgbClr val="FFFFFF"/>
                </a:highlight>
                <a:latin typeface="Courier New"/>
                <a:ea typeface="Courier New"/>
                <a:cs typeface="Courier New"/>
                <a:sym typeface="Courier New"/>
              </a:rPr>
              <a:t>"Button 1 was clicked!"</a:t>
            </a:r>
            <a:r>
              <a:rPr lang="en-US" sz="1500" b="1">
                <a:highlight>
                  <a:srgbClr val="FFFFFF"/>
                </a:highlight>
                <a:latin typeface="Courier New"/>
                <a:ea typeface="Courier New"/>
                <a:cs typeface="Courier New"/>
                <a:sym typeface="Courier New"/>
              </a:rPr>
              <a: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 </a:t>
            </a:r>
            <a:r>
              <a:rPr lang="en-US" sz="1500" b="1">
                <a:solidFill>
                  <a:srgbClr val="7F0055"/>
                </a:solidFill>
                <a:highlight>
                  <a:srgbClr val="FFFFFF"/>
                </a:highlight>
                <a:latin typeface="Courier New"/>
                <a:ea typeface="Courier New"/>
                <a:cs typeface="Courier New"/>
                <a:sym typeface="Courier New"/>
              </a:rPr>
              <a:t>else</a:t>
            </a:r>
            <a:r>
              <a:rPr lang="en-US" sz="1500" b="1">
                <a:highlight>
                  <a:srgbClr val="FFFFFF"/>
                </a:highlight>
                <a:latin typeface="Courier New"/>
                <a:ea typeface="Courier New"/>
                <a:cs typeface="Courier New"/>
                <a:sym typeface="Courier New"/>
              </a:rPr>
              <a:t> </a:t>
            </a:r>
            <a:r>
              <a:rPr lang="en-US" sz="1500" b="1">
                <a:solidFill>
                  <a:srgbClr val="7F0055"/>
                </a:solidFill>
                <a:highlight>
                  <a:srgbClr val="FFFFFF"/>
                </a:highlight>
                <a:latin typeface="Courier New"/>
                <a:ea typeface="Courier New"/>
                <a:cs typeface="Courier New"/>
                <a:sym typeface="Courier New"/>
              </a:rPr>
              <a:t>if</a:t>
            </a:r>
            <a:r>
              <a:rPr lang="en-US" sz="1500" b="1">
                <a:highlight>
                  <a:srgbClr val="FFFFFF"/>
                </a:highlight>
                <a:latin typeface="Courier New"/>
                <a:ea typeface="Courier New"/>
                <a:cs typeface="Courier New"/>
                <a:sym typeface="Courier New"/>
              </a:rPr>
              <a:t> (</a:t>
            </a:r>
            <a:r>
              <a:rPr lang="en-US" sz="1500" b="1">
                <a:solidFill>
                  <a:srgbClr val="6A3E3E"/>
                </a:solidFill>
                <a:highlight>
                  <a:srgbClr val="FFFFFF"/>
                </a:highlight>
                <a:latin typeface="Courier New"/>
                <a:ea typeface="Courier New"/>
                <a:cs typeface="Courier New"/>
                <a:sym typeface="Courier New"/>
              </a:rPr>
              <a:t>command</a:t>
            </a:r>
            <a:r>
              <a:rPr lang="en-US" sz="1500" b="1">
                <a:highlight>
                  <a:srgbClr val="FFFFFF"/>
                </a:highlight>
                <a:latin typeface="Courier New"/>
                <a:ea typeface="Courier New"/>
                <a:cs typeface="Courier New"/>
                <a:sym typeface="Courier New"/>
              </a:rPr>
              <a:t>.equals(</a:t>
            </a:r>
            <a:r>
              <a:rPr lang="en-US" sz="1500" b="1">
                <a:solidFill>
                  <a:srgbClr val="2A00FF"/>
                </a:solidFill>
                <a:highlight>
                  <a:srgbClr val="FFFFFF"/>
                </a:highlight>
                <a:latin typeface="Courier New"/>
                <a:ea typeface="Courier New"/>
                <a:cs typeface="Courier New"/>
                <a:sym typeface="Courier New"/>
              </a:rPr>
              <a:t>"button2Clicked"</a:t>
            </a:r>
            <a:r>
              <a:rPr lang="en-US" sz="1500" b="1">
                <a:highlight>
                  <a:srgbClr val="FFFFFF"/>
                </a:highlight>
                <a:latin typeface="Courier New"/>
                <a:ea typeface="Courier New"/>
                <a:cs typeface="Courier New"/>
                <a:sym typeface="Courier New"/>
              </a:rPr>
              <a:t>)) {</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System.</a:t>
            </a:r>
            <a:r>
              <a:rPr lang="en-US" sz="1500" b="1" i="1">
                <a:solidFill>
                  <a:srgbClr val="0000C0"/>
                </a:solidFill>
                <a:highlight>
                  <a:srgbClr val="FFFFFF"/>
                </a:highlight>
                <a:latin typeface="Courier New"/>
                <a:ea typeface="Courier New"/>
                <a:cs typeface="Courier New"/>
                <a:sym typeface="Courier New"/>
              </a:rPr>
              <a:t>out</a:t>
            </a:r>
            <a:r>
              <a:rPr lang="en-US" sz="1500" b="1">
                <a:highlight>
                  <a:srgbClr val="FFFFFF"/>
                </a:highlight>
                <a:latin typeface="Courier New"/>
                <a:ea typeface="Courier New"/>
                <a:cs typeface="Courier New"/>
                <a:sym typeface="Courier New"/>
              </a:rPr>
              <a:t>.println(</a:t>
            </a:r>
            <a:r>
              <a:rPr lang="en-US" sz="1500" b="1">
                <a:solidFill>
                  <a:srgbClr val="2A00FF"/>
                </a:solidFill>
                <a:highlight>
                  <a:srgbClr val="FFFFFF"/>
                </a:highlight>
                <a:latin typeface="Courier New"/>
                <a:ea typeface="Courier New"/>
                <a:cs typeface="Courier New"/>
                <a:sym typeface="Courier New"/>
              </a:rPr>
              <a:t>"Button 2 was clicked!"</a:t>
            </a:r>
            <a:r>
              <a:rPr lang="en-US" sz="1500" b="1">
                <a:highlight>
                  <a:srgbClr val="FFFFFF"/>
                </a:highlight>
                <a:latin typeface="Courier New"/>
                <a:ea typeface="Courier New"/>
                <a:cs typeface="Courier New"/>
                <a:sym typeface="Courier New"/>
              </a:rPr>
              <a:t>);</a:t>
            </a:r>
            <a:endParaRPr sz="1500" b="1">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018"/>
              <a:buFont typeface="Arial"/>
              <a:buNone/>
            </a:pPr>
            <a:r>
              <a:rPr lang="en-US" sz="1500" b="1">
                <a:highlight>
                  <a:srgbClr val="FFFFFF"/>
                </a:highlight>
                <a:latin typeface="Courier New"/>
                <a:ea typeface="Courier New"/>
                <a:cs typeface="Courier New"/>
                <a:sym typeface="Courier New"/>
              </a:rPr>
              <a:t>       }   } }</a:t>
            </a:r>
            <a:endParaRPr sz="1500" b="1">
              <a:highlight>
                <a:srgbClr val="FFFFFF"/>
              </a:highlight>
              <a:latin typeface="Courier New"/>
              <a:ea typeface="Courier New"/>
              <a:cs typeface="Courier New"/>
              <a:sym typeface="Courier New"/>
            </a:endParaRPr>
          </a:p>
          <a:p>
            <a:pPr marL="0" lvl="0" indent="0" algn="l" rtl="0">
              <a:lnSpc>
                <a:spcPct val="70000"/>
              </a:lnSpc>
              <a:spcBef>
                <a:spcPts val="1200"/>
              </a:spcBef>
              <a:spcAft>
                <a:spcPts val="200"/>
              </a:spcAft>
              <a:buSzPts val="1018"/>
              <a:buNone/>
            </a:pPr>
            <a:endParaRPr sz="1500" b="1"/>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58128505b8_0_44"/>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r>
              <a:rPr lang="en-US"/>
              <a:t>OUTPUT</a:t>
            </a:r>
            <a:endParaRPr/>
          </a:p>
        </p:txBody>
      </p:sp>
      <p:sp>
        <p:nvSpPr>
          <p:cNvPr id="237" name="Google Shape;237;g358128505b8_0_44"/>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238" name="Google Shape;238;g358128505b8_0_44"/>
          <p:cNvPicPr preferRelativeResize="0"/>
          <p:nvPr/>
        </p:nvPicPr>
        <p:blipFill rotWithShape="1">
          <a:blip r:embed="rId3">
            <a:alphaModFix/>
          </a:blip>
          <a:srcRect/>
          <a:stretch/>
        </p:blipFill>
        <p:spPr>
          <a:xfrm>
            <a:off x="1852456" y="1758006"/>
            <a:ext cx="5139550" cy="5425875"/>
          </a:xfrm>
          <a:prstGeom prst="rect">
            <a:avLst/>
          </a:prstGeom>
          <a:noFill/>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JTOGGLEBUTTON</a:t>
            </a:r>
            <a:endParaRPr/>
          </a:p>
        </p:txBody>
      </p:sp>
      <p:sp>
        <p:nvSpPr>
          <p:cNvPr id="244" name="Google Shape;244;p18"/>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lnSpcReduction="10000"/>
          </a:bodyPr>
          <a:lstStyle/>
          <a:p>
            <a:pPr marL="91440" lvl="0" indent="-91440" algn="l" rtl="0">
              <a:lnSpc>
                <a:spcPct val="90000"/>
              </a:lnSpc>
              <a:spcBef>
                <a:spcPts val="0"/>
              </a:spcBef>
              <a:spcAft>
                <a:spcPts val="0"/>
              </a:spcAft>
              <a:buSzPts val="2200"/>
              <a:buChar char=" "/>
            </a:pPr>
            <a:r>
              <a:rPr lang="en-US" dirty="0"/>
              <a:t>A useful variation on the push button is called a toggle button. A toggle button looks just like a push button, but it acts differently because it has two states: pushed and released. </a:t>
            </a:r>
            <a:endParaRPr dirty="0"/>
          </a:p>
          <a:p>
            <a:pPr marL="91440" lvl="0" indent="-91440" algn="l" rtl="0">
              <a:lnSpc>
                <a:spcPct val="90000"/>
              </a:lnSpc>
              <a:spcBef>
                <a:spcPts val="1400"/>
              </a:spcBef>
              <a:spcAft>
                <a:spcPts val="0"/>
              </a:spcAft>
              <a:buSzPts val="2200"/>
              <a:buChar char=" "/>
            </a:pPr>
            <a:r>
              <a:rPr lang="en-US" dirty="0"/>
              <a:t>That is, when you press a toggle button, it stays pressed rather than popping back up as a regular push button does. </a:t>
            </a:r>
            <a:endParaRPr dirty="0"/>
          </a:p>
          <a:p>
            <a:pPr marL="91440" lvl="0" indent="-91440" algn="l" rtl="0">
              <a:lnSpc>
                <a:spcPct val="90000"/>
              </a:lnSpc>
              <a:spcBef>
                <a:spcPts val="1400"/>
              </a:spcBef>
              <a:spcAft>
                <a:spcPts val="0"/>
              </a:spcAft>
              <a:buSzPts val="2200"/>
              <a:buChar char=" "/>
            </a:pPr>
            <a:r>
              <a:rPr lang="en-US" dirty="0"/>
              <a:t>When you press the toggle button a second time, it releases (pops up). Therefore, each time a toggle button is pushed, it toggles between its two states. The constructor is:</a:t>
            </a:r>
            <a:endParaRPr dirty="0"/>
          </a:p>
          <a:p>
            <a:pPr marL="91440" lvl="0" indent="-91440" algn="l" rtl="0">
              <a:lnSpc>
                <a:spcPct val="90000"/>
              </a:lnSpc>
              <a:spcBef>
                <a:spcPts val="1400"/>
              </a:spcBef>
              <a:spcAft>
                <a:spcPts val="0"/>
              </a:spcAft>
              <a:buSzPts val="2200"/>
              <a:buChar char=" "/>
            </a:pPr>
            <a:r>
              <a:rPr lang="en-US" b="1" dirty="0" err="1"/>
              <a:t>JToggleButton</a:t>
            </a:r>
            <a:r>
              <a:rPr lang="en-US" b="1" dirty="0"/>
              <a:t>(String </a:t>
            </a:r>
            <a:r>
              <a:rPr lang="en-US" b="1" dirty="0" err="1"/>
              <a:t>str</a:t>
            </a:r>
            <a:r>
              <a:rPr lang="en-US" b="1" dirty="0"/>
              <a:t>) </a:t>
            </a:r>
            <a:r>
              <a:rPr lang="en-US" dirty="0"/>
              <a:t>This creates a toggle button that contains the text passed in str. By default, the button is in the off position. Other constructors enable you to create toggle buttons that contain images, or images and text.</a:t>
            </a:r>
            <a:endParaRP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9"/>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JTOGGLEBUTTON</a:t>
            </a:r>
            <a:endParaRPr/>
          </a:p>
        </p:txBody>
      </p:sp>
      <p:sp>
        <p:nvSpPr>
          <p:cNvPr id="250" name="Google Shape;250;p19"/>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dirty="0"/>
              <a:t>The easiest way to determine a toggle button’s state is by calling the </a:t>
            </a:r>
            <a:r>
              <a:rPr lang="en-US" dirty="0" err="1"/>
              <a:t>isSelected</a:t>
            </a:r>
            <a:r>
              <a:rPr lang="en-US" dirty="0"/>
              <a:t>( ) method (inherited from </a:t>
            </a:r>
            <a:r>
              <a:rPr lang="en-US" dirty="0" err="1"/>
              <a:t>AbstractButton</a:t>
            </a:r>
            <a:r>
              <a:rPr lang="en-US" dirty="0"/>
              <a:t>) on the button that generated the event. It is shown here: </a:t>
            </a:r>
            <a:endParaRPr dirty="0"/>
          </a:p>
          <a:p>
            <a:pPr marL="91440" lvl="0" indent="-91440" algn="l" rtl="0">
              <a:lnSpc>
                <a:spcPct val="90000"/>
              </a:lnSpc>
              <a:spcBef>
                <a:spcPts val="1400"/>
              </a:spcBef>
              <a:spcAft>
                <a:spcPts val="0"/>
              </a:spcAft>
              <a:buSzPts val="2200"/>
              <a:buChar char=" "/>
            </a:pPr>
            <a:r>
              <a:rPr lang="en-US" b="1" dirty="0" err="1"/>
              <a:t>boolean</a:t>
            </a:r>
            <a:r>
              <a:rPr lang="en-US" b="1" dirty="0"/>
              <a:t> </a:t>
            </a:r>
            <a:r>
              <a:rPr lang="en-US" b="1" dirty="0" err="1"/>
              <a:t>isSelected</a:t>
            </a:r>
            <a:r>
              <a:rPr lang="en-US" b="1" dirty="0"/>
              <a:t>( ) </a:t>
            </a:r>
            <a:endParaRPr b="1" dirty="0"/>
          </a:p>
          <a:p>
            <a:pPr marL="91440" lvl="0" indent="-91440" algn="l" rtl="0">
              <a:lnSpc>
                <a:spcPct val="90000"/>
              </a:lnSpc>
              <a:spcBef>
                <a:spcPts val="1400"/>
              </a:spcBef>
              <a:spcAft>
                <a:spcPts val="0"/>
              </a:spcAft>
              <a:buSzPts val="2200"/>
              <a:buChar char=" "/>
            </a:pPr>
            <a:r>
              <a:rPr lang="en-US" dirty="0"/>
              <a:t>It returns true if the button is selected and false otherwise</a:t>
            </a:r>
            <a:endParaRP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358128505b8_0_50"/>
          <p:cNvSpPr txBox="1">
            <a:spLocks noGrp="1"/>
          </p:cNvSpPr>
          <p:nvPr>
            <p:ph type="body" idx="1"/>
          </p:nvPr>
        </p:nvSpPr>
        <p:spPr>
          <a:xfrm>
            <a:off x="1024125" y="401975"/>
            <a:ext cx="9720000" cy="5907300"/>
          </a:xfrm>
          <a:prstGeom prst="rect">
            <a:avLst/>
          </a:prstGeom>
          <a:noFill/>
          <a:ln>
            <a:noFill/>
          </a:ln>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package</a:t>
            </a:r>
            <a:r>
              <a:rPr lang="en-US" sz="1600" b="1" dirty="0">
                <a:highlight>
                  <a:srgbClr val="FFFFFF"/>
                </a:highlight>
                <a:latin typeface="Courier New"/>
                <a:ea typeface="Courier New"/>
                <a:cs typeface="Courier New"/>
                <a:sym typeface="Courier New"/>
              </a:rPr>
              <a:t> temp;</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javax.swing</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java.awt.event</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u="sng" dirty="0" err="1">
                <a:highlight>
                  <a:srgbClr val="FFFFFF"/>
                </a:highlight>
                <a:latin typeface="Courier New"/>
                <a:ea typeface="Courier New"/>
                <a:cs typeface="Courier New"/>
                <a:sym typeface="Courier New"/>
              </a:rPr>
              <a:t>java.awt</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class</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JToggleButtonExample</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implements</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ActionListener</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private</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JToggleButton</a:t>
            </a: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toggleButton</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static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void</a:t>
            </a:r>
            <a:r>
              <a:rPr lang="en-US" sz="1600" b="1" dirty="0">
                <a:highlight>
                  <a:srgbClr val="FFFFFF"/>
                </a:highlight>
                <a:latin typeface="Courier New"/>
                <a:ea typeface="Courier New"/>
                <a:cs typeface="Courier New"/>
                <a:sym typeface="Courier New"/>
              </a:rPr>
              <a:t> main(String[] </a:t>
            </a:r>
            <a:r>
              <a:rPr lang="en-US" sz="1600" b="1" dirty="0" err="1">
                <a:solidFill>
                  <a:srgbClr val="6A3E3E"/>
                </a:solidFill>
                <a:highlight>
                  <a:srgbClr val="FFFFFF"/>
                </a:highlight>
                <a:latin typeface="Courier New"/>
                <a:ea typeface="Courier New"/>
                <a:cs typeface="Courier New"/>
                <a:sym typeface="Courier New"/>
              </a:rPr>
              <a:t>args</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JToggleButtonExample</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example</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JToggleButtonExample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example</a:t>
            </a:r>
            <a:r>
              <a:rPr lang="en-US" sz="1600" b="1" dirty="0" err="1">
                <a:highlight>
                  <a:srgbClr val="FFFFFF"/>
                </a:highlight>
                <a:latin typeface="Courier New"/>
                <a:ea typeface="Courier New"/>
                <a:cs typeface="Courier New"/>
                <a:sym typeface="Courier New"/>
              </a:rPr>
              <a:t>.setupUI</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void</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setupUI</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JFrame</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frame</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JFrame</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a:t>
            </a:r>
            <a:r>
              <a:rPr lang="en-US" sz="1600" b="1" dirty="0" err="1">
                <a:solidFill>
                  <a:srgbClr val="2A00FF"/>
                </a:solidFill>
                <a:highlight>
                  <a:srgbClr val="FFFFFF"/>
                </a:highlight>
                <a:latin typeface="Courier New"/>
                <a:ea typeface="Courier New"/>
                <a:cs typeface="Courier New"/>
                <a:sym typeface="Courier New"/>
              </a:rPr>
              <a:t>JToggleButton</a:t>
            </a:r>
            <a:r>
              <a:rPr lang="en-US" sz="1600" b="1" dirty="0">
                <a:solidFill>
                  <a:srgbClr val="2A00FF"/>
                </a:solidFill>
                <a:highlight>
                  <a:srgbClr val="FFFFFF"/>
                </a:highlight>
                <a:latin typeface="Courier New"/>
                <a:ea typeface="Courier New"/>
                <a:cs typeface="Courier New"/>
                <a:sym typeface="Courier New"/>
              </a:rPr>
              <a:t> Example"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frame</a:t>
            </a:r>
            <a:r>
              <a:rPr lang="en-US" sz="1600" b="1" dirty="0" err="1">
                <a:highlight>
                  <a:srgbClr val="FFFFFF"/>
                </a:highlight>
                <a:latin typeface="Courier New"/>
                <a:ea typeface="Courier New"/>
                <a:cs typeface="Courier New"/>
                <a:sym typeface="Courier New"/>
              </a:rPr>
              <a:t>.setSize</a:t>
            </a:r>
            <a:r>
              <a:rPr lang="en-US" sz="1600" b="1" dirty="0">
                <a:highlight>
                  <a:srgbClr val="FFFFFF"/>
                </a:highlight>
                <a:latin typeface="Courier New"/>
                <a:ea typeface="Courier New"/>
                <a:cs typeface="Courier New"/>
                <a:sym typeface="Courier New"/>
              </a:rPr>
              <a:t>(300, 200);</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toggleButton</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JToggleButton</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"Toggle Me"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toggleButton</a:t>
            </a:r>
            <a:r>
              <a:rPr lang="en-US" sz="1600" b="1" dirty="0" err="1">
                <a:highlight>
                  <a:srgbClr val="FFFFFF"/>
                </a:highlight>
                <a:latin typeface="Courier New"/>
                <a:ea typeface="Courier New"/>
                <a:cs typeface="Courier New"/>
                <a:sym typeface="Courier New"/>
              </a:rPr>
              <a:t>.addActionListener</a:t>
            </a:r>
            <a:r>
              <a:rPr lang="en-US" sz="1600" b="1" dirty="0">
                <a:highlight>
                  <a:srgbClr val="FFFFFF"/>
                </a:highlight>
                <a:latin typeface="Courier New"/>
                <a:ea typeface="Courier New"/>
                <a:cs typeface="Courier New"/>
                <a:sym typeface="Courier New"/>
              </a:rPr>
              <a:t>(</a:t>
            </a:r>
            <a:r>
              <a:rPr lang="en-US" sz="1600" b="1" dirty="0">
                <a:solidFill>
                  <a:srgbClr val="7F0055"/>
                </a:solidFill>
                <a:highlight>
                  <a:srgbClr val="FFFFFF"/>
                </a:highlight>
                <a:latin typeface="Courier New"/>
                <a:ea typeface="Courier New"/>
                <a:cs typeface="Courier New"/>
                <a:sym typeface="Courier New"/>
              </a:rPr>
              <a:t>this</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frame</a:t>
            </a:r>
            <a:r>
              <a:rPr lang="en-US" sz="1600" b="1" dirty="0" err="1">
                <a:highlight>
                  <a:srgbClr val="FFFFFF"/>
                </a:highlight>
                <a:latin typeface="Courier New"/>
                <a:ea typeface="Courier New"/>
                <a:cs typeface="Courier New"/>
                <a:sym typeface="Courier New"/>
              </a:rPr>
              <a:t>.add</a:t>
            </a:r>
            <a:r>
              <a:rPr lang="en-US" sz="1600" b="1" dirty="0">
                <a:highlight>
                  <a:srgbClr val="FFFFFF"/>
                </a:highlight>
                <a:latin typeface="Courier New"/>
                <a:ea typeface="Courier New"/>
                <a:cs typeface="Courier New"/>
                <a:sym typeface="Courier New"/>
              </a:rPr>
              <a:t>(</a:t>
            </a:r>
            <a:r>
              <a:rPr lang="en-US" sz="1600" b="1" dirty="0" err="1">
                <a:solidFill>
                  <a:srgbClr val="0000C0"/>
                </a:solidFill>
                <a:highlight>
                  <a:srgbClr val="FFFFFF"/>
                </a:highlight>
                <a:latin typeface="Courier New"/>
                <a:ea typeface="Courier New"/>
                <a:cs typeface="Courier New"/>
                <a:sym typeface="Courier New"/>
              </a:rPr>
              <a:t>toggleButton</a:t>
            </a:r>
            <a:r>
              <a:rPr lang="en-US" sz="1600" b="1" dirty="0" smtClean="0">
                <a:highlight>
                  <a:srgbClr val="FFFFFF"/>
                </a:highlight>
                <a:latin typeface="Courier New"/>
                <a:ea typeface="Courier New"/>
                <a:cs typeface="Courier New"/>
                <a:sym typeface="Courier New"/>
              </a:rPr>
              <a:t>);</a:t>
            </a: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frame</a:t>
            </a:r>
            <a:r>
              <a:rPr lang="en-US" sz="1600" b="1" dirty="0" err="1">
                <a:highlight>
                  <a:srgbClr val="FFFFFF"/>
                </a:highlight>
                <a:latin typeface="Courier New"/>
                <a:ea typeface="Courier New"/>
                <a:cs typeface="Courier New"/>
                <a:sym typeface="Courier New"/>
              </a:rPr>
              <a:t>.setVisible</a:t>
            </a:r>
            <a:r>
              <a:rPr lang="en-US" sz="1600" b="1" dirty="0">
                <a:highlight>
                  <a:srgbClr val="FFFFFF"/>
                </a:highlight>
                <a:latin typeface="Courier New"/>
                <a:ea typeface="Courier New"/>
                <a:cs typeface="Courier New"/>
                <a:sym typeface="Courier New"/>
              </a:rPr>
              <a:t>(</a:t>
            </a:r>
            <a:r>
              <a:rPr lang="en-US" sz="1600" b="1" dirty="0">
                <a:solidFill>
                  <a:srgbClr val="7F0055"/>
                </a:solidFill>
                <a:highlight>
                  <a:srgbClr val="FFFFFF"/>
                </a:highlight>
                <a:latin typeface="Courier New"/>
                <a:ea typeface="Courier New"/>
                <a:cs typeface="Courier New"/>
                <a:sym typeface="Courier New"/>
              </a:rPr>
              <a:t>true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void</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actionPerformed</a:t>
            </a:r>
            <a:r>
              <a:rPr lang="en-US" sz="1600" b="1" dirty="0">
                <a:highlight>
                  <a:srgbClr val="FFFFFF"/>
                </a:highlight>
                <a:latin typeface="Courier New"/>
                <a:ea typeface="Courier New"/>
                <a:cs typeface="Courier New"/>
                <a:sym typeface="Courier New"/>
              </a:rPr>
              <a:t>(</a:t>
            </a:r>
            <a:r>
              <a:rPr lang="en-US" sz="1600" b="1" dirty="0" err="1">
                <a:highlight>
                  <a:srgbClr val="FFFFFF"/>
                </a:highlight>
                <a:latin typeface="Courier New"/>
                <a:ea typeface="Courier New"/>
                <a:cs typeface="Courier New"/>
                <a:sym typeface="Courier New"/>
              </a:rPr>
              <a:t>ActionEvent</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ae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if</a:t>
            </a: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toggleButton</a:t>
            </a:r>
            <a:r>
              <a:rPr lang="en-US" sz="1600" b="1" dirty="0" err="1">
                <a:highlight>
                  <a:srgbClr val="FFFFFF"/>
                </a:highlight>
                <a:latin typeface="Courier New"/>
                <a:ea typeface="Courier New"/>
                <a:cs typeface="Courier New"/>
                <a:sym typeface="Courier New"/>
              </a:rPr>
              <a:t>.isSelected</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System.</a:t>
            </a:r>
            <a:r>
              <a:rPr lang="en-US" sz="1600" b="1" i="1" dirty="0" err="1">
                <a:solidFill>
                  <a:srgbClr val="0000C0"/>
                </a:solidFill>
                <a:highlight>
                  <a:srgbClr val="FFFFFF"/>
                </a:highlight>
                <a:latin typeface="Courier New"/>
                <a:ea typeface="Courier New"/>
                <a:cs typeface="Courier New"/>
                <a:sym typeface="Courier New"/>
              </a:rPr>
              <a:t>out</a:t>
            </a:r>
            <a:r>
              <a:rPr lang="en-US" sz="1600" b="1" dirty="0" err="1">
                <a:highlight>
                  <a:srgbClr val="FFFFFF"/>
                </a:highlight>
                <a:latin typeface="Courier New"/>
                <a:ea typeface="Courier New"/>
                <a:cs typeface="Courier New"/>
                <a:sym typeface="Courier New"/>
              </a:rPr>
              <a:t>.println</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"The button is selected."</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else</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System.</a:t>
            </a:r>
            <a:r>
              <a:rPr lang="en-US" sz="1600" b="1" i="1" dirty="0" err="1">
                <a:solidFill>
                  <a:srgbClr val="0000C0"/>
                </a:solidFill>
                <a:highlight>
                  <a:srgbClr val="FFFFFF"/>
                </a:highlight>
                <a:latin typeface="Courier New"/>
                <a:ea typeface="Courier New"/>
                <a:cs typeface="Courier New"/>
                <a:sym typeface="Courier New"/>
              </a:rPr>
              <a:t>out</a:t>
            </a:r>
            <a:r>
              <a:rPr lang="en-US" sz="1600" b="1" dirty="0" err="1">
                <a:highlight>
                  <a:srgbClr val="FFFFFF"/>
                </a:highlight>
                <a:latin typeface="Courier New"/>
                <a:ea typeface="Courier New"/>
                <a:cs typeface="Courier New"/>
                <a:sym typeface="Courier New"/>
              </a:rPr>
              <a:t>.println</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"The button is not selected</a:t>
            </a:r>
            <a:r>
              <a:rPr lang="en-US" sz="1600" b="1" dirty="0" smtClean="0">
                <a:solidFill>
                  <a:srgbClr val="2A00FF"/>
                </a:solidFill>
                <a:highlight>
                  <a:srgbClr val="FFFFFF"/>
                </a:highlight>
                <a:latin typeface="Courier New"/>
                <a:ea typeface="Courier New"/>
                <a:cs typeface="Courier New"/>
                <a:sym typeface="Courier New"/>
              </a:rPr>
              <a:t>."</a:t>
            </a:r>
            <a:r>
              <a:rPr lang="en-US" sz="1600" b="1" dirty="0" smtClean="0">
                <a:highlight>
                  <a:srgbClr val="FFFFFF"/>
                </a:highlight>
                <a:latin typeface="Courier New"/>
                <a:ea typeface="Courier New"/>
                <a:cs typeface="Courier New"/>
                <a:sym typeface="Courier New"/>
              </a:rPr>
              <a:t>);       </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0" lvl="0" indent="0" algn="l" rtl="0">
              <a:lnSpc>
                <a:spcPct val="90000"/>
              </a:lnSpc>
              <a:spcBef>
                <a:spcPts val="1200"/>
              </a:spcBef>
              <a:spcAft>
                <a:spcPts val="200"/>
              </a:spcAft>
              <a:buSzPts val="1800"/>
              <a:buNone/>
            </a:pPr>
            <a:endParaRPr sz="1600"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58128505b8_0_56"/>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r>
              <a:rPr lang="en-US"/>
              <a:t>OUTPUT</a:t>
            </a:r>
            <a:endParaRPr/>
          </a:p>
        </p:txBody>
      </p:sp>
      <p:sp>
        <p:nvSpPr>
          <p:cNvPr id="261" name="Google Shape;261;g358128505b8_0_56"/>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262" name="Google Shape;262;g358128505b8_0_56"/>
          <p:cNvPicPr preferRelativeResize="0"/>
          <p:nvPr/>
        </p:nvPicPr>
        <p:blipFill rotWithShape="1">
          <a:blip r:embed="rId3">
            <a:alphaModFix/>
          </a:blip>
          <a:srcRect/>
          <a:stretch/>
        </p:blipFill>
        <p:spPr>
          <a:xfrm>
            <a:off x="1247550" y="2286000"/>
            <a:ext cx="5111025" cy="4572250"/>
          </a:xfrm>
          <a:prstGeom prst="rect">
            <a:avLst/>
          </a:prstGeom>
          <a:noFill/>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CHECKBOXES</a:t>
            </a:r>
            <a:endParaRPr/>
          </a:p>
        </p:txBody>
      </p:sp>
      <p:sp>
        <p:nvSpPr>
          <p:cNvPr id="268" name="Google Shape;268;p20"/>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lnSpcReduction="10000"/>
          </a:bodyPr>
          <a:lstStyle/>
          <a:p>
            <a:pPr marL="91440" lvl="0" indent="-91440" algn="l" rtl="0">
              <a:lnSpc>
                <a:spcPct val="90000"/>
              </a:lnSpc>
              <a:spcBef>
                <a:spcPts val="0"/>
              </a:spcBef>
              <a:spcAft>
                <a:spcPts val="0"/>
              </a:spcAft>
              <a:buSzPts val="2200"/>
              <a:buChar char=" "/>
            </a:pPr>
            <a:r>
              <a:rPr lang="en-US" dirty="0"/>
              <a:t>The </a:t>
            </a:r>
            <a:r>
              <a:rPr lang="en-US" dirty="0" err="1"/>
              <a:t>JCheckBox</a:t>
            </a:r>
            <a:r>
              <a:rPr lang="en-US" dirty="0"/>
              <a:t> class provides the functionality of a check box. Its </a:t>
            </a:r>
            <a:r>
              <a:rPr lang="en-US" b="1" dirty="0"/>
              <a:t>immediate superclass is </a:t>
            </a:r>
            <a:r>
              <a:rPr lang="en-US" b="1" dirty="0" err="1"/>
              <a:t>JToggleButton</a:t>
            </a:r>
            <a:r>
              <a:rPr lang="en-US" b="1" dirty="0"/>
              <a:t>, </a:t>
            </a:r>
            <a:r>
              <a:rPr lang="en-US" dirty="0"/>
              <a:t>which provides support for two-state buttons, as just described. </a:t>
            </a:r>
            <a:r>
              <a:rPr lang="en-US" dirty="0" err="1"/>
              <a:t>JCheckBox</a:t>
            </a:r>
            <a:r>
              <a:rPr lang="en-US" dirty="0"/>
              <a:t> defines several constructors. </a:t>
            </a:r>
            <a:endParaRPr dirty="0"/>
          </a:p>
          <a:p>
            <a:pPr marL="91440" lvl="0" indent="-91440" algn="l" rtl="0">
              <a:lnSpc>
                <a:spcPct val="90000"/>
              </a:lnSpc>
              <a:spcBef>
                <a:spcPts val="1400"/>
              </a:spcBef>
              <a:spcAft>
                <a:spcPts val="0"/>
              </a:spcAft>
              <a:buSzPts val="2200"/>
              <a:buChar char=" "/>
            </a:pPr>
            <a:r>
              <a:rPr lang="en-US" b="1" dirty="0" err="1"/>
              <a:t>JCheckBox</a:t>
            </a:r>
            <a:r>
              <a:rPr lang="en-US" b="1" dirty="0"/>
              <a:t>(String </a:t>
            </a:r>
            <a:r>
              <a:rPr lang="en-US" b="1" dirty="0" err="1"/>
              <a:t>str</a:t>
            </a:r>
            <a:r>
              <a:rPr lang="en-US" b="1" dirty="0"/>
              <a:t>) </a:t>
            </a:r>
            <a:endParaRPr b="1" dirty="0"/>
          </a:p>
          <a:p>
            <a:pPr marL="91440" lvl="0" indent="-91440" algn="l" rtl="0">
              <a:lnSpc>
                <a:spcPct val="90000"/>
              </a:lnSpc>
              <a:spcBef>
                <a:spcPts val="1400"/>
              </a:spcBef>
              <a:spcAft>
                <a:spcPts val="0"/>
              </a:spcAft>
              <a:buSzPts val="2200"/>
              <a:buChar char=" "/>
            </a:pPr>
            <a:r>
              <a:rPr lang="en-US" dirty="0"/>
              <a:t>It creates a check box that has the text specified by </a:t>
            </a:r>
            <a:r>
              <a:rPr lang="en-US" dirty="0" err="1"/>
              <a:t>str</a:t>
            </a:r>
            <a:r>
              <a:rPr lang="en-US" dirty="0"/>
              <a:t> as a label. Other constructors let you specify the initial selection state of the button and specify an icon.</a:t>
            </a:r>
            <a:endParaRPr dirty="0"/>
          </a:p>
          <a:p>
            <a:pPr marL="91440" lvl="0" indent="-91440" algn="l" rtl="0">
              <a:lnSpc>
                <a:spcPct val="90000"/>
              </a:lnSpc>
              <a:spcBef>
                <a:spcPts val="1400"/>
              </a:spcBef>
              <a:spcAft>
                <a:spcPts val="0"/>
              </a:spcAft>
              <a:buSzPts val="2200"/>
              <a:buChar char=" "/>
            </a:pPr>
            <a:r>
              <a:rPr lang="en-US" dirty="0"/>
              <a:t>When the user selects or deselects a check box, an </a:t>
            </a:r>
            <a:r>
              <a:rPr lang="en-US" dirty="0" err="1"/>
              <a:t>ItemEvent</a:t>
            </a:r>
            <a:r>
              <a:rPr lang="en-US" dirty="0"/>
              <a:t> is generated. You can obtain a reference to the </a:t>
            </a:r>
            <a:r>
              <a:rPr lang="en-US" dirty="0" err="1"/>
              <a:t>JCheckBox</a:t>
            </a:r>
            <a:r>
              <a:rPr lang="en-US" dirty="0"/>
              <a:t> that generated the event by calling </a:t>
            </a:r>
            <a:r>
              <a:rPr lang="en-US" b="1" dirty="0" err="1"/>
              <a:t>getItem</a:t>
            </a:r>
            <a:r>
              <a:rPr lang="en-US" b="1" dirty="0"/>
              <a:t>( ) </a:t>
            </a:r>
            <a:r>
              <a:rPr lang="en-US" dirty="0"/>
              <a:t>on the </a:t>
            </a:r>
            <a:r>
              <a:rPr lang="en-US" dirty="0" err="1"/>
              <a:t>ItemEvent</a:t>
            </a:r>
            <a:r>
              <a:rPr lang="en-US" dirty="0"/>
              <a:t> passed to the </a:t>
            </a:r>
            <a:r>
              <a:rPr lang="en-US" b="1" dirty="0" err="1"/>
              <a:t>itemStateChanged</a:t>
            </a:r>
            <a:r>
              <a:rPr lang="en-US" b="1" dirty="0"/>
              <a:t>( ) </a:t>
            </a:r>
            <a:r>
              <a:rPr lang="en-US" dirty="0"/>
              <a:t>method defined by </a:t>
            </a:r>
            <a:r>
              <a:rPr lang="en-US" dirty="0" err="1"/>
              <a:t>ItemListener</a:t>
            </a:r>
            <a:r>
              <a:rPr lang="en-US" dirty="0"/>
              <a:t>. The easiest way to determine the selected state of a check box is to call </a:t>
            </a:r>
            <a:r>
              <a:rPr lang="en-US" b="1" dirty="0" err="1"/>
              <a:t>isSelected</a:t>
            </a:r>
            <a:r>
              <a:rPr lang="en-US" b="1" dirty="0"/>
              <a:t>( ) </a:t>
            </a:r>
            <a:r>
              <a:rPr lang="en-US" dirty="0"/>
              <a:t>on the </a:t>
            </a:r>
            <a:r>
              <a:rPr lang="en-US" dirty="0" err="1"/>
              <a:t>JCheckBox</a:t>
            </a:r>
            <a:r>
              <a:rPr lang="en-US" dirty="0"/>
              <a:t> instance.</a:t>
            </a:r>
            <a:endParaRP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58128505b8_0_62"/>
          <p:cNvSpPr txBox="1">
            <a:spLocks noGrp="1"/>
          </p:cNvSpPr>
          <p:nvPr>
            <p:ph type="body" idx="1"/>
          </p:nvPr>
        </p:nvSpPr>
        <p:spPr>
          <a:xfrm>
            <a:off x="1024125" y="255800"/>
            <a:ext cx="9720000" cy="6053400"/>
          </a:xfrm>
          <a:prstGeom prst="rect">
            <a:avLst/>
          </a:prstGeom>
          <a:noFill/>
          <a:ln>
            <a:noFill/>
          </a:ln>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package</a:t>
            </a:r>
            <a:r>
              <a:rPr lang="en-US" sz="1500" b="1" dirty="0">
                <a:highlight>
                  <a:srgbClr val="FFFFFF"/>
                </a:highlight>
                <a:latin typeface="Courier New"/>
                <a:ea typeface="Courier New"/>
                <a:cs typeface="Courier New"/>
                <a:sym typeface="Courier New"/>
              </a:rPr>
              <a:t> temp;</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javax.swing</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java.awt.event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u="sng" dirty="0" err="1">
                <a:highlight>
                  <a:srgbClr val="FFFFFF"/>
                </a:highlight>
                <a:latin typeface="Courier New"/>
                <a:ea typeface="Courier New"/>
                <a:cs typeface="Courier New"/>
                <a:sym typeface="Courier New"/>
              </a:rPr>
              <a:t>java.awt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class</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JCheckBoxExample</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implements</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ItemListener</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private</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JCheckBox</a:t>
            </a:r>
            <a:r>
              <a:rPr lang="en-US" sz="1500" b="1" dirty="0">
                <a:highlight>
                  <a:srgbClr val="FFFFFF"/>
                </a:highlight>
                <a:latin typeface="Courier New"/>
                <a:ea typeface="Courier New"/>
                <a:cs typeface="Courier New"/>
                <a:sym typeface="Courier New"/>
              </a:rPr>
              <a:t> </a:t>
            </a:r>
            <a:r>
              <a:rPr lang="en-US" sz="1500" b="1" dirty="0" err="1">
                <a:solidFill>
                  <a:srgbClr val="0000C0"/>
                </a:solidFill>
                <a:highlight>
                  <a:srgbClr val="FFFFFF"/>
                </a:highlight>
                <a:latin typeface="Courier New"/>
                <a:ea typeface="Courier New"/>
                <a:cs typeface="Courier New"/>
                <a:sym typeface="Courier New"/>
              </a:rPr>
              <a:t>checkBox</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static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main(String[] </a:t>
            </a:r>
            <a:r>
              <a:rPr lang="en-US" sz="1500" b="1" dirty="0" err="1">
                <a:solidFill>
                  <a:srgbClr val="6A3E3E"/>
                </a:solidFill>
                <a:highlight>
                  <a:srgbClr val="FFFFFF"/>
                </a:highlight>
                <a:latin typeface="Courier New"/>
                <a:ea typeface="Courier New"/>
                <a:cs typeface="Courier New"/>
                <a:sym typeface="Courier New"/>
              </a:rPr>
              <a:t>args</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JCheckBoxExample</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example</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JCheckBoxExample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example</a:t>
            </a:r>
            <a:r>
              <a:rPr lang="en-US" sz="1500" b="1" dirty="0" err="1">
                <a:highlight>
                  <a:srgbClr val="FFFFFF"/>
                </a:highlight>
                <a:latin typeface="Courier New"/>
                <a:ea typeface="Courier New"/>
                <a:cs typeface="Courier New"/>
                <a:sym typeface="Courier New"/>
              </a:rPr>
              <a:t>.setupUI</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setupUI</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JFrame</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frame</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JFrame</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a:t>
            </a:r>
            <a:r>
              <a:rPr lang="en-US" sz="1500" b="1" dirty="0" err="1">
                <a:solidFill>
                  <a:srgbClr val="2A00FF"/>
                </a:solidFill>
                <a:highlight>
                  <a:srgbClr val="FFFFFF"/>
                </a:highlight>
                <a:latin typeface="Courier New"/>
                <a:ea typeface="Courier New"/>
                <a:cs typeface="Courier New"/>
                <a:sym typeface="Courier New"/>
              </a:rPr>
              <a:t>JCheckBox</a:t>
            </a:r>
            <a:r>
              <a:rPr lang="en-US" sz="1500" b="1" dirty="0">
                <a:solidFill>
                  <a:srgbClr val="2A00FF"/>
                </a:solidFill>
                <a:highlight>
                  <a:srgbClr val="FFFFFF"/>
                </a:highlight>
                <a:latin typeface="Courier New"/>
                <a:ea typeface="Courier New"/>
                <a:cs typeface="Courier New"/>
                <a:sym typeface="Courier New"/>
              </a:rPr>
              <a:t> Example"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.setSize</a:t>
            </a:r>
            <a:r>
              <a:rPr lang="en-US" sz="1500" b="1" dirty="0">
                <a:highlight>
                  <a:srgbClr val="FFFFFF"/>
                </a:highlight>
                <a:latin typeface="Courier New"/>
                <a:ea typeface="Courier New"/>
                <a:cs typeface="Courier New"/>
                <a:sym typeface="Courier New"/>
              </a:rPr>
              <a:t>(300, 200);</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0000C0"/>
                </a:solidFill>
                <a:highlight>
                  <a:srgbClr val="FFFFFF"/>
                </a:highlight>
                <a:latin typeface="Courier New"/>
                <a:ea typeface="Courier New"/>
                <a:cs typeface="Courier New"/>
                <a:sym typeface="Courier New"/>
              </a:rPr>
              <a:t>checkBox</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JCheckBox</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"Check Me"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0000C0"/>
                </a:solidFill>
                <a:highlight>
                  <a:srgbClr val="FFFFFF"/>
                </a:highlight>
                <a:latin typeface="Courier New"/>
                <a:ea typeface="Courier New"/>
                <a:cs typeface="Courier New"/>
                <a:sym typeface="Courier New"/>
              </a:rPr>
              <a:t>checkBox</a:t>
            </a:r>
            <a:r>
              <a:rPr lang="en-US" sz="1500" b="1" dirty="0" err="1">
                <a:highlight>
                  <a:srgbClr val="FFFFFF"/>
                </a:highlight>
                <a:latin typeface="Courier New"/>
                <a:ea typeface="Courier New"/>
                <a:cs typeface="Courier New"/>
                <a:sym typeface="Courier New"/>
              </a:rPr>
              <a:t>.addItemListener</a:t>
            </a:r>
            <a:r>
              <a:rPr lang="en-US" sz="1500" b="1"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this</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err="1">
                <a:solidFill>
                  <a:srgbClr val="0000C0"/>
                </a:solidFill>
                <a:highlight>
                  <a:srgbClr val="FFFFFF"/>
                </a:highlight>
                <a:latin typeface="Courier New"/>
                <a:ea typeface="Courier New"/>
                <a:cs typeface="Courier New"/>
                <a:sym typeface="Courier New"/>
              </a:rPr>
              <a:t>checkBox</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.setVisible</a:t>
            </a:r>
            <a:r>
              <a:rPr lang="en-US" sz="1500" b="1"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true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itemStateChanged</a:t>
            </a:r>
            <a:r>
              <a:rPr lang="en-US" sz="1500" b="1" dirty="0">
                <a:highlight>
                  <a:srgbClr val="FFFFFF"/>
                </a:highlight>
                <a:latin typeface="Courier New"/>
                <a:ea typeface="Courier New"/>
                <a:cs typeface="Courier New"/>
                <a:sym typeface="Courier New"/>
              </a:rPr>
              <a:t>(</a:t>
            </a:r>
            <a:r>
              <a:rPr lang="en-US" sz="1500" b="1" dirty="0" err="1">
                <a:highlight>
                  <a:srgbClr val="FFFFFF"/>
                </a:highlight>
                <a:latin typeface="Courier New"/>
                <a:ea typeface="Courier New"/>
                <a:cs typeface="Courier New"/>
                <a:sym typeface="Courier New"/>
              </a:rPr>
              <a:t>ItemEvent</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e</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String </a:t>
            </a:r>
            <a:r>
              <a:rPr lang="en-US" sz="1500" b="1" dirty="0" err="1">
                <a:solidFill>
                  <a:srgbClr val="6A3E3E"/>
                </a:solidFill>
                <a:highlight>
                  <a:srgbClr val="FFFFFF"/>
                </a:highlight>
                <a:latin typeface="Courier New"/>
                <a:ea typeface="Courier New"/>
                <a:cs typeface="Courier New"/>
                <a:sym typeface="Courier New"/>
              </a:rPr>
              <a:t>itemText</a:t>
            </a:r>
            <a:r>
              <a:rPr lang="en-US" sz="1500" b="1" dirty="0">
                <a:highlight>
                  <a:srgbClr val="FFFFFF"/>
                </a:highlight>
                <a:latin typeface="Courier New"/>
                <a:ea typeface="Courier New"/>
                <a:cs typeface="Courier New"/>
                <a:sym typeface="Courier New"/>
              </a:rPr>
              <a:t> = </a:t>
            </a:r>
            <a:r>
              <a:rPr lang="en-US" sz="1500" b="1" dirty="0" err="1">
                <a:solidFill>
                  <a:srgbClr val="0000C0"/>
                </a:solidFill>
                <a:highlight>
                  <a:srgbClr val="FFFFFF"/>
                </a:highlight>
                <a:latin typeface="Courier New"/>
                <a:ea typeface="Courier New"/>
                <a:cs typeface="Courier New"/>
                <a:sym typeface="Courier New"/>
              </a:rPr>
              <a:t>checkBox</a:t>
            </a:r>
            <a:r>
              <a:rPr lang="en-US" sz="1500" b="1" dirty="0" err="1">
                <a:highlight>
                  <a:srgbClr val="FFFFFF"/>
                </a:highlight>
                <a:latin typeface="Courier New"/>
                <a:ea typeface="Courier New"/>
                <a:cs typeface="Courier New"/>
                <a:sym typeface="Courier New"/>
              </a:rPr>
              <a:t>.getText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if</a:t>
            </a:r>
            <a:r>
              <a:rPr lang="en-US" sz="1500" b="1" dirty="0">
                <a:highlight>
                  <a:srgbClr val="FFFFFF"/>
                </a:highlight>
                <a:latin typeface="Courier New"/>
                <a:ea typeface="Courier New"/>
                <a:cs typeface="Courier New"/>
                <a:sym typeface="Courier New"/>
              </a:rPr>
              <a:t> (</a:t>
            </a:r>
            <a:r>
              <a:rPr lang="en-US" sz="1500" b="1" dirty="0" err="1">
                <a:solidFill>
                  <a:srgbClr val="0000C0"/>
                </a:solidFill>
                <a:highlight>
                  <a:srgbClr val="FFFFFF"/>
                </a:highlight>
                <a:latin typeface="Courier New"/>
                <a:ea typeface="Courier New"/>
                <a:cs typeface="Courier New"/>
                <a:sym typeface="Courier New"/>
              </a:rPr>
              <a:t>checkBox</a:t>
            </a:r>
            <a:r>
              <a:rPr lang="en-US" sz="1500" b="1" dirty="0" err="1">
                <a:highlight>
                  <a:srgbClr val="FFFFFF"/>
                </a:highlight>
                <a:latin typeface="Courier New"/>
                <a:ea typeface="Courier New"/>
                <a:cs typeface="Courier New"/>
                <a:sym typeface="Courier New"/>
              </a:rPr>
              <a:t>.isSelected</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System.</a:t>
            </a:r>
            <a:r>
              <a:rPr lang="en-US" sz="1500" b="1" i="1" dirty="0" err="1">
                <a:solidFill>
                  <a:srgbClr val="0000C0"/>
                </a:solidFill>
                <a:highlight>
                  <a:srgbClr val="FFFFFF"/>
                </a:highlight>
                <a:latin typeface="Courier New"/>
                <a:ea typeface="Courier New"/>
                <a:cs typeface="Courier New"/>
                <a:sym typeface="Courier New"/>
              </a:rPr>
              <a:t>out</a:t>
            </a:r>
            <a:r>
              <a:rPr lang="en-US" sz="1500" b="1" dirty="0" err="1">
                <a:highlight>
                  <a:srgbClr val="FFFFFF"/>
                </a:highlight>
                <a:latin typeface="Courier New"/>
                <a:ea typeface="Courier New"/>
                <a:cs typeface="Courier New"/>
                <a:sym typeface="Courier New"/>
              </a:rPr>
              <a:t>.println</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itemText</a:t>
            </a:r>
            <a:r>
              <a:rPr lang="en-US" sz="1500" b="1" dirty="0">
                <a:highlight>
                  <a:srgbClr val="FFFFFF"/>
                </a:highlight>
                <a:latin typeface="Courier New"/>
                <a:ea typeface="Courier New"/>
                <a:cs typeface="Courier New"/>
                <a:sym typeface="Courier New"/>
              </a:rPr>
              <a:t> + </a:t>
            </a:r>
            <a:r>
              <a:rPr lang="en-US" sz="1500" b="1" dirty="0">
                <a:solidFill>
                  <a:srgbClr val="2A00FF"/>
                </a:solidFill>
                <a:highlight>
                  <a:srgbClr val="FFFFFF"/>
                </a:highlight>
                <a:latin typeface="Courier New"/>
                <a:ea typeface="Courier New"/>
                <a:cs typeface="Courier New"/>
                <a:sym typeface="Courier New"/>
              </a:rPr>
              <a:t>" is selected."</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else</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System.</a:t>
            </a:r>
            <a:r>
              <a:rPr lang="en-US" sz="1500" b="1" i="1" dirty="0" err="1">
                <a:solidFill>
                  <a:srgbClr val="0000C0"/>
                </a:solidFill>
                <a:highlight>
                  <a:srgbClr val="FFFFFF"/>
                </a:highlight>
                <a:latin typeface="Courier New"/>
                <a:ea typeface="Courier New"/>
                <a:cs typeface="Courier New"/>
                <a:sym typeface="Courier New"/>
              </a:rPr>
              <a:t>out</a:t>
            </a:r>
            <a:r>
              <a:rPr lang="en-US" sz="1500" b="1" dirty="0" err="1">
                <a:highlight>
                  <a:srgbClr val="FFFFFF"/>
                </a:highlight>
                <a:latin typeface="Courier New"/>
                <a:ea typeface="Courier New"/>
                <a:cs typeface="Courier New"/>
                <a:sym typeface="Courier New"/>
              </a:rPr>
              <a:t>.println</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itemText</a:t>
            </a:r>
            <a:r>
              <a:rPr lang="en-US" sz="1500" b="1" dirty="0">
                <a:highlight>
                  <a:srgbClr val="FFFFFF"/>
                </a:highlight>
                <a:latin typeface="Courier New"/>
                <a:ea typeface="Courier New"/>
                <a:cs typeface="Courier New"/>
                <a:sym typeface="Courier New"/>
              </a:rPr>
              <a:t> + </a:t>
            </a:r>
            <a:r>
              <a:rPr lang="en-US" sz="1500" b="1" dirty="0">
                <a:solidFill>
                  <a:srgbClr val="2A00FF"/>
                </a:solidFill>
                <a:highlight>
                  <a:srgbClr val="FFFFFF"/>
                </a:highlight>
                <a:latin typeface="Courier New"/>
                <a:ea typeface="Courier New"/>
                <a:cs typeface="Courier New"/>
                <a:sym typeface="Courier New"/>
              </a:rPr>
              <a:t>" is not selected."</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	    }}</a:t>
            </a:r>
            <a:endParaRPr sz="1500" b="1" dirty="0">
              <a:highlight>
                <a:srgbClr val="FFFFFF"/>
              </a:highlight>
              <a:latin typeface="Courier New"/>
              <a:ea typeface="Courier New"/>
              <a:cs typeface="Courier New"/>
              <a:sym typeface="Courier New"/>
            </a:endParaRPr>
          </a:p>
          <a:p>
            <a:pPr marL="0" lvl="0" indent="0" algn="l" rtl="0">
              <a:lnSpc>
                <a:spcPct val="90000"/>
              </a:lnSpc>
              <a:spcBef>
                <a:spcPts val="1200"/>
              </a:spcBef>
              <a:spcAft>
                <a:spcPts val="200"/>
              </a:spcAft>
              <a:buSzPts val="1800"/>
              <a:buNone/>
            </a:pPr>
            <a:endParaRPr sz="2700" b="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58128505b8_0_68"/>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r>
              <a:rPr lang="en-US"/>
              <a:t>OUTPUT</a:t>
            </a:r>
            <a:endParaRPr/>
          </a:p>
        </p:txBody>
      </p:sp>
      <p:sp>
        <p:nvSpPr>
          <p:cNvPr id="279" name="Google Shape;279;g358128505b8_0_68"/>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280" name="Google Shape;280;g358128505b8_0_68"/>
          <p:cNvPicPr preferRelativeResize="0"/>
          <p:nvPr/>
        </p:nvPicPr>
        <p:blipFill rotWithShape="1">
          <a:blip r:embed="rId3">
            <a:alphaModFix/>
          </a:blip>
          <a:srcRect/>
          <a:stretch/>
        </p:blipFill>
        <p:spPr>
          <a:xfrm>
            <a:off x="1085025" y="2286005"/>
            <a:ext cx="4216110" cy="4023300"/>
          </a:xfrm>
          <a:prstGeom prst="rect">
            <a:avLst/>
          </a:prstGeom>
          <a:noFill/>
          <a:ln>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1"/>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RADIOBUTTONS</a:t>
            </a:r>
            <a:endParaRPr/>
          </a:p>
        </p:txBody>
      </p:sp>
      <p:sp>
        <p:nvSpPr>
          <p:cNvPr id="286" name="Google Shape;286;p21"/>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dirty="0"/>
              <a:t>Radio buttons are a group of mutually exclusive buttons, in which only one button can be selected at any one time. They are supported by the </a:t>
            </a:r>
            <a:r>
              <a:rPr lang="en-US" b="1" dirty="0" err="1"/>
              <a:t>JRadioButton</a:t>
            </a:r>
            <a:r>
              <a:rPr lang="en-US" b="1" dirty="0"/>
              <a:t> class, which extends </a:t>
            </a:r>
            <a:r>
              <a:rPr lang="en-US" b="1" dirty="0" err="1"/>
              <a:t>JToggleButton</a:t>
            </a:r>
            <a:r>
              <a:rPr lang="en-US" dirty="0"/>
              <a:t>. </a:t>
            </a:r>
            <a:r>
              <a:rPr lang="en-US" dirty="0" err="1"/>
              <a:t>JRadioButton</a:t>
            </a:r>
            <a:r>
              <a:rPr lang="en-US" dirty="0"/>
              <a:t> provides several constructors. The one used in the example is shown here:</a:t>
            </a:r>
            <a:endParaRPr dirty="0"/>
          </a:p>
          <a:p>
            <a:pPr marL="91440" lvl="0" indent="-91440" algn="l" rtl="0">
              <a:lnSpc>
                <a:spcPct val="90000"/>
              </a:lnSpc>
              <a:spcBef>
                <a:spcPts val="1400"/>
              </a:spcBef>
              <a:spcAft>
                <a:spcPts val="0"/>
              </a:spcAft>
              <a:buSzPts val="2200"/>
              <a:buChar char=" "/>
            </a:pPr>
            <a:r>
              <a:rPr lang="en-US" dirty="0"/>
              <a:t> </a:t>
            </a:r>
            <a:r>
              <a:rPr lang="en-US" b="1" dirty="0" err="1"/>
              <a:t>JRadioButton</a:t>
            </a:r>
            <a:r>
              <a:rPr lang="en-US" b="1" dirty="0"/>
              <a:t>(String </a:t>
            </a:r>
            <a:r>
              <a:rPr lang="en-US" b="1" dirty="0" err="1"/>
              <a:t>str</a:t>
            </a:r>
            <a:r>
              <a:rPr lang="en-US" b="1" dirty="0"/>
              <a:t>)</a:t>
            </a:r>
            <a:endParaRPr b="1" dirty="0"/>
          </a:p>
          <a:p>
            <a:pPr marL="91440" lvl="0" indent="-91440" algn="l" rtl="0">
              <a:lnSpc>
                <a:spcPct val="90000"/>
              </a:lnSpc>
              <a:spcBef>
                <a:spcPts val="1400"/>
              </a:spcBef>
              <a:spcAft>
                <a:spcPts val="0"/>
              </a:spcAft>
              <a:buSzPts val="2200"/>
              <a:buChar char=" "/>
            </a:pPr>
            <a:r>
              <a:rPr lang="en-US" dirty="0"/>
              <a:t> Here, </a:t>
            </a:r>
            <a:r>
              <a:rPr lang="en-US" dirty="0" err="1"/>
              <a:t>str</a:t>
            </a:r>
            <a:r>
              <a:rPr lang="en-US" dirty="0"/>
              <a:t> is the label for the button. Other constructors let you specify the initial selection state of the button and specify an icon</a:t>
            </a:r>
            <a:endParaRP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RADIOBUTTONS</a:t>
            </a:r>
            <a:endParaRPr/>
          </a:p>
        </p:txBody>
      </p:sp>
      <p:sp>
        <p:nvSpPr>
          <p:cNvPr id="292" name="Google Shape;292;p22"/>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dirty="0"/>
              <a:t>In order for their mutually exclusive nature to be activated, radio buttons must be configured into a group. Only one of the buttons in the group can be selected at any time. </a:t>
            </a:r>
            <a:endParaRPr dirty="0"/>
          </a:p>
          <a:p>
            <a:pPr marL="91440" lvl="0" indent="-91440" algn="l" rtl="0">
              <a:lnSpc>
                <a:spcPct val="90000"/>
              </a:lnSpc>
              <a:spcBef>
                <a:spcPts val="1400"/>
              </a:spcBef>
              <a:spcAft>
                <a:spcPts val="0"/>
              </a:spcAft>
              <a:buSzPts val="2200"/>
              <a:buChar char=" "/>
            </a:pPr>
            <a:r>
              <a:rPr lang="en-US" dirty="0"/>
              <a:t>For example, if a user presses a radio button that is in a group, any previously selected button in that group is automatically deselected. </a:t>
            </a:r>
            <a:endParaRPr dirty="0"/>
          </a:p>
          <a:p>
            <a:pPr marL="91440" lvl="0" indent="-91440" algn="l" rtl="0">
              <a:lnSpc>
                <a:spcPct val="90000"/>
              </a:lnSpc>
              <a:spcBef>
                <a:spcPts val="1400"/>
              </a:spcBef>
              <a:spcAft>
                <a:spcPts val="0"/>
              </a:spcAft>
              <a:buSzPts val="2200"/>
              <a:buChar char=" "/>
            </a:pPr>
            <a:r>
              <a:rPr lang="en-US" dirty="0"/>
              <a:t>A button group is created by the </a:t>
            </a:r>
            <a:r>
              <a:rPr lang="en-US" b="1" dirty="0" err="1"/>
              <a:t>ButtonGroup</a:t>
            </a:r>
            <a:r>
              <a:rPr lang="en-US" b="1" dirty="0"/>
              <a:t> class</a:t>
            </a:r>
            <a:r>
              <a:rPr lang="en-US" dirty="0"/>
              <a:t>. Its default constructor is invoked for this purpose. </a:t>
            </a:r>
            <a:endParaRPr dirty="0"/>
          </a:p>
          <a:p>
            <a:pPr marL="91440" lvl="0" indent="-91440" algn="l" rtl="0">
              <a:lnSpc>
                <a:spcPct val="90000"/>
              </a:lnSpc>
              <a:spcBef>
                <a:spcPts val="1400"/>
              </a:spcBef>
              <a:spcAft>
                <a:spcPts val="0"/>
              </a:spcAft>
              <a:buSzPts val="2200"/>
              <a:buChar char=" "/>
            </a:pPr>
            <a:r>
              <a:rPr lang="en-US" dirty="0"/>
              <a:t>Elements are then added to the button group via the following method: </a:t>
            </a:r>
            <a:endParaRPr dirty="0"/>
          </a:p>
          <a:p>
            <a:pPr marL="91440" lvl="0" indent="-91440" algn="l" rtl="0">
              <a:lnSpc>
                <a:spcPct val="90000"/>
              </a:lnSpc>
              <a:spcBef>
                <a:spcPts val="1400"/>
              </a:spcBef>
              <a:spcAft>
                <a:spcPts val="0"/>
              </a:spcAft>
              <a:buSzPts val="2200"/>
              <a:buChar char=" "/>
            </a:pPr>
            <a:r>
              <a:rPr lang="en-US" b="1" dirty="0"/>
              <a:t>void add(</a:t>
            </a:r>
            <a:r>
              <a:rPr lang="en-US" b="1" dirty="0" err="1"/>
              <a:t>AbstractButton</a:t>
            </a:r>
            <a:r>
              <a:rPr lang="en-US" b="1" dirty="0"/>
              <a:t> ab) </a:t>
            </a:r>
            <a:endParaRPr b="1" dirty="0"/>
          </a:p>
          <a:p>
            <a:pPr marL="91440" lvl="0" indent="-91440" algn="l" rtl="0">
              <a:lnSpc>
                <a:spcPct val="90000"/>
              </a:lnSpc>
              <a:spcBef>
                <a:spcPts val="1400"/>
              </a:spcBef>
              <a:spcAft>
                <a:spcPts val="0"/>
              </a:spcAft>
              <a:buSzPts val="2200"/>
              <a:buChar char=" "/>
            </a:pPr>
            <a:r>
              <a:rPr lang="en-US" dirty="0"/>
              <a:t>Here, ab is a reference to the button to be added to the group.</a:t>
            </a:r>
            <a:endParaRP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3"/>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5000"/>
              <a:buFont typeface="Twentieth Century"/>
              <a:buNone/>
            </a:pPr>
            <a:r>
              <a:rPr lang="en-US"/>
              <a:t>RADIOBUTTONS</a:t>
            </a:r>
            <a:endParaRPr/>
          </a:p>
        </p:txBody>
      </p:sp>
      <p:sp>
        <p:nvSpPr>
          <p:cNvPr id="298" name="Google Shape;298;p23"/>
          <p:cNvSpPr txBox="1">
            <a:spLocks noGrp="1"/>
          </p:cNvSpPr>
          <p:nvPr>
            <p:ph type="body" idx="1"/>
          </p:nvPr>
        </p:nvSpPr>
        <p:spPr>
          <a:xfrm>
            <a:off x="1024128" y="2286000"/>
            <a:ext cx="10035758"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200"/>
              <a:buChar char=" "/>
            </a:pPr>
            <a:r>
              <a:rPr lang="en-US" dirty="0"/>
              <a:t>A </a:t>
            </a:r>
            <a:r>
              <a:rPr lang="en-US" dirty="0" err="1"/>
              <a:t>JRadioButton</a:t>
            </a:r>
            <a:r>
              <a:rPr lang="en-US" dirty="0"/>
              <a:t> generates action events, item events, and change events each time the button selection changes. Most often, it is the action event that is handled, which means that you will normally implement the </a:t>
            </a:r>
            <a:r>
              <a:rPr lang="en-US" b="1" dirty="0" err="1"/>
              <a:t>ActionListener</a:t>
            </a:r>
            <a:r>
              <a:rPr lang="en-US" b="1" dirty="0"/>
              <a:t> </a:t>
            </a:r>
            <a:r>
              <a:rPr lang="en-US" dirty="0"/>
              <a:t>interface and define </a:t>
            </a:r>
            <a:r>
              <a:rPr lang="en-US" b="1" dirty="0" err="1"/>
              <a:t>actionPerformed</a:t>
            </a:r>
            <a:r>
              <a:rPr lang="en-US" b="1" dirty="0"/>
              <a:t>( ). </a:t>
            </a:r>
            <a:endParaRPr b="1" dirty="0"/>
          </a:p>
          <a:p>
            <a:pPr marL="91440" lvl="0" indent="-91440" algn="l" rtl="0">
              <a:lnSpc>
                <a:spcPct val="90000"/>
              </a:lnSpc>
              <a:spcBef>
                <a:spcPts val="1400"/>
              </a:spcBef>
              <a:spcAft>
                <a:spcPts val="0"/>
              </a:spcAft>
              <a:buSzPts val="2200"/>
              <a:buChar char=" "/>
            </a:pPr>
            <a:r>
              <a:rPr lang="en-US" dirty="0"/>
              <a:t>Inside this method, you can use a number of different ways to determine which button was selected. First, you can check its action command by calling </a:t>
            </a:r>
            <a:r>
              <a:rPr lang="en-US" b="1" dirty="0" err="1"/>
              <a:t>getActionCommand</a:t>
            </a:r>
            <a:r>
              <a:rPr lang="en-US" b="1" dirty="0"/>
              <a:t>( ).</a:t>
            </a:r>
            <a:endParaRPr b="1" dirty="0"/>
          </a:p>
          <a:p>
            <a:pPr marL="91440" lvl="0" indent="-91440" algn="l" rtl="0">
              <a:lnSpc>
                <a:spcPct val="90000"/>
              </a:lnSpc>
              <a:spcBef>
                <a:spcPts val="1400"/>
              </a:spcBef>
              <a:spcAft>
                <a:spcPts val="0"/>
              </a:spcAft>
              <a:buSzPts val="2200"/>
              <a:buChar char=" "/>
            </a:pPr>
            <a:r>
              <a:rPr lang="en-US" dirty="0"/>
              <a:t>Second, you can call </a:t>
            </a:r>
            <a:r>
              <a:rPr lang="en-US" b="1" dirty="0" err="1"/>
              <a:t>getSource</a:t>
            </a:r>
            <a:r>
              <a:rPr lang="en-US" b="1" dirty="0"/>
              <a:t>( ) </a:t>
            </a:r>
            <a:r>
              <a:rPr lang="en-US" dirty="0"/>
              <a:t>on the </a:t>
            </a:r>
            <a:r>
              <a:rPr lang="en-US" dirty="0" err="1"/>
              <a:t>ActionEvent</a:t>
            </a:r>
            <a:r>
              <a:rPr lang="en-US" dirty="0"/>
              <a:t> object and check that reference against the buttons. </a:t>
            </a:r>
            <a:endParaRPr dirty="0"/>
          </a:p>
          <a:p>
            <a:pPr marL="91440" lvl="0" indent="-91440" algn="l" rtl="0">
              <a:lnSpc>
                <a:spcPct val="90000"/>
              </a:lnSpc>
              <a:spcBef>
                <a:spcPts val="1400"/>
              </a:spcBef>
              <a:spcAft>
                <a:spcPts val="0"/>
              </a:spcAft>
              <a:buSzPts val="2200"/>
              <a:buChar char=" "/>
            </a:pPr>
            <a:r>
              <a:rPr lang="en-US" dirty="0"/>
              <a:t>Third, you can check each radio button to find out which one is currently selected by calling </a:t>
            </a:r>
            <a:r>
              <a:rPr lang="en-US" b="1" dirty="0" err="1" smtClean="0"/>
              <a:t>isSelected</a:t>
            </a:r>
            <a:r>
              <a:rPr lang="en-US" b="1" dirty="0" smtClean="0"/>
              <a:t>( ) </a:t>
            </a:r>
            <a:r>
              <a:rPr lang="en-US" dirty="0" smtClean="0"/>
              <a:t>on </a:t>
            </a:r>
            <a:r>
              <a:rPr lang="en-US" dirty="0"/>
              <a:t>each button.</a:t>
            </a:r>
            <a:endParaRP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58128505b8_0_74"/>
          <p:cNvSpPr txBox="1">
            <a:spLocks noGrp="1"/>
          </p:cNvSpPr>
          <p:nvPr>
            <p:ph type="body" idx="1"/>
          </p:nvPr>
        </p:nvSpPr>
        <p:spPr>
          <a:xfrm>
            <a:off x="1024125" y="255800"/>
            <a:ext cx="10730700" cy="6053400"/>
          </a:xfrm>
          <a:prstGeom prst="rect">
            <a:avLst/>
          </a:prstGeom>
          <a:noFill/>
          <a:ln>
            <a:noFill/>
          </a:ln>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package</a:t>
            </a:r>
            <a:r>
              <a:rPr lang="en-US" sz="1500" b="1" dirty="0">
                <a:highlight>
                  <a:srgbClr val="FFFFFF"/>
                </a:highlight>
                <a:latin typeface="Courier New"/>
                <a:ea typeface="Courier New"/>
                <a:cs typeface="Courier New"/>
                <a:sym typeface="Courier New"/>
              </a:rPr>
              <a:t> temp;</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javax.swing</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java.awt.event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import</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java.awt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class</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JRadioButtonExample</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implements</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ActionListener</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private</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a:t>
            </a: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smtClean="0">
                <a:highlight>
                  <a:srgbClr val="FFFFFF"/>
                </a:highlight>
                <a:latin typeface="Courier New"/>
                <a:ea typeface="Courier New"/>
                <a:cs typeface="Courier New"/>
                <a:sym typeface="Courier New"/>
              </a:rPr>
              <a:t>;</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private</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a:t>
            </a: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F0D8A8"/>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static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main(String[] </a:t>
            </a:r>
            <a:r>
              <a:rPr lang="en-US" sz="1500" b="1" dirty="0" err="1">
                <a:solidFill>
                  <a:srgbClr val="6A3E3E"/>
                </a:solidFill>
                <a:highlight>
                  <a:srgbClr val="FFFFFF"/>
                </a:highlight>
                <a:latin typeface="Courier New"/>
                <a:ea typeface="Courier New"/>
                <a:cs typeface="Courier New"/>
                <a:sym typeface="Courier New"/>
              </a:rPr>
              <a:t>args</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JRadioButtonExample</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example</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JRadioButtonExample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example</a:t>
            </a:r>
            <a:r>
              <a:rPr lang="en-US" sz="1500" b="1" dirty="0" err="1">
                <a:highlight>
                  <a:srgbClr val="FFFFFF"/>
                </a:highlight>
                <a:latin typeface="Courier New"/>
                <a:ea typeface="Courier New"/>
                <a:cs typeface="Courier New"/>
                <a:sym typeface="Courier New"/>
              </a:rPr>
              <a:t>.setupUI</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setupUI</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JFrame</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frame</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JFrame</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a:t>
            </a:r>
            <a:r>
              <a:rPr lang="en-US" sz="1500" b="1" dirty="0" err="1">
                <a:solidFill>
                  <a:srgbClr val="2A00FF"/>
                </a:solidFill>
                <a:highlight>
                  <a:srgbClr val="FFFFFF"/>
                </a:highlight>
                <a:latin typeface="Courier New"/>
                <a:ea typeface="Courier New"/>
                <a:cs typeface="Courier New"/>
                <a:sym typeface="Courier New"/>
              </a:rPr>
              <a:t>JRadioButton</a:t>
            </a:r>
            <a:r>
              <a:rPr lang="en-US" sz="1500" b="1" dirty="0">
                <a:solidFill>
                  <a:srgbClr val="2A00FF"/>
                </a:solidFill>
                <a:highlight>
                  <a:srgbClr val="FFFFFF"/>
                </a:highlight>
                <a:latin typeface="Courier New"/>
                <a:ea typeface="Courier New"/>
                <a:cs typeface="Courier New"/>
                <a:sym typeface="Courier New"/>
              </a:rPr>
              <a:t> Example"</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.setSize</a:t>
            </a:r>
            <a:r>
              <a:rPr lang="en-US" sz="1500" b="1" dirty="0">
                <a:highlight>
                  <a:srgbClr val="FFFFFF"/>
                </a:highlight>
                <a:latin typeface="Courier New"/>
                <a:ea typeface="Courier New"/>
                <a:cs typeface="Courier New"/>
                <a:sym typeface="Courier New"/>
              </a:rPr>
              <a:t>(300, 200);</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"Option 1"</a:t>
            </a: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F0D8A8"/>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JRadioButton</a:t>
            </a:r>
            <a:r>
              <a:rPr lang="en-US" sz="1500" b="1" dirty="0">
                <a:highlight>
                  <a:srgbClr val="FFFFFF"/>
                </a:highlight>
                <a:latin typeface="Courier New"/>
                <a:ea typeface="Courier New"/>
                <a:cs typeface="Courier New"/>
                <a:sym typeface="Courier New"/>
              </a:rPr>
              <a:t>(</a:t>
            </a:r>
            <a:r>
              <a:rPr lang="en-US" sz="1500" b="1" dirty="0">
                <a:solidFill>
                  <a:srgbClr val="2A00FF"/>
                </a:solidFill>
                <a:highlight>
                  <a:srgbClr val="FFFFFF"/>
                </a:highlight>
                <a:latin typeface="Courier New"/>
                <a:ea typeface="Courier New"/>
                <a:cs typeface="Courier New"/>
                <a:sym typeface="Courier New"/>
              </a:rPr>
              <a:t>"Option 2"</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.setActionCommand(</a:t>
            </a:r>
            <a:r>
              <a:rPr lang="en-US" sz="1500" b="1" dirty="0">
                <a:solidFill>
                  <a:srgbClr val="2A00FF"/>
                </a:solidFill>
                <a:highlight>
                  <a:srgbClr val="FFFFFF"/>
                </a:highlight>
                <a:latin typeface="Courier New"/>
                <a:ea typeface="Courier New"/>
                <a:cs typeface="Courier New"/>
                <a:sym typeface="Courier New"/>
              </a:rPr>
              <a:t>"Option 1 Selected"</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.setActionCommand(</a:t>
            </a:r>
            <a:r>
              <a:rPr lang="en-US" sz="1500" b="1" dirty="0">
                <a:solidFill>
                  <a:srgbClr val="2A00FF"/>
                </a:solidFill>
                <a:highlight>
                  <a:srgbClr val="FFFFFF"/>
                </a:highlight>
                <a:latin typeface="Courier New"/>
                <a:ea typeface="Courier New"/>
                <a:cs typeface="Courier New"/>
                <a:sym typeface="Courier New"/>
              </a:rPr>
              <a:t>"Option 2 Selected"</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ButtonGroup</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group</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ButtonGroup</a:t>
            </a: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group</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group</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.addActionListener(</a:t>
            </a:r>
            <a:r>
              <a:rPr lang="en-US" sz="1500" b="1" dirty="0">
                <a:solidFill>
                  <a:srgbClr val="7F0055"/>
                </a:solidFill>
                <a:highlight>
                  <a:srgbClr val="FFFFFF"/>
                </a:highlight>
                <a:latin typeface="Courier New"/>
                <a:ea typeface="Courier New"/>
                <a:cs typeface="Courier New"/>
                <a:sym typeface="Courier New"/>
              </a:rPr>
              <a:t>this</a:t>
            </a:r>
            <a:r>
              <a:rPr lang="en-US" sz="1500" b="1" dirty="0">
                <a:highlight>
                  <a:srgbClr val="FFFFFF"/>
                </a:highlight>
                <a:latin typeface="Courier New"/>
                <a:ea typeface="Courier New"/>
                <a:cs typeface="Courier New"/>
                <a:sym typeface="Courier New"/>
              </a:rPr>
              <a:t>); </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.addActionListener(</a:t>
            </a:r>
            <a:r>
              <a:rPr lang="en-US" sz="1500" b="1" dirty="0">
                <a:solidFill>
                  <a:srgbClr val="7F0055"/>
                </a:solidFill>
                <a:highlight>
                  <a:srgbClr val="FFFFFF"/>
                </a:highlight>
                <a:latin typeface="Courier New"/>
                <a:ea typeface="Courier New"/>
                <a:cs typeface="Courier New"/>
                <a:sym typeface="Courier New"/>
              </a:rPr>
              <a:t>this</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.setLayout</a:t>
            </a:r>
            <a:r>
              <a:rPr lang="en-US" sz="1500" b="1"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new</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FlowLayout</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.add</a:t>
            </a:r>
            <a:r>
              <a:rPr lang="en-US" sz="1500" b="1" dirty="0">
                <a:highlight>
                  <a:srgbClr val="FFFFFF"/>
                </a:highlight>
                <a:latin typeface="Courier New"/>
                <a:ea typeface="Courier New"/>
                <a:cs typeface="Courier New"/>
                <a:sym typeface="Courier New"/>
              </a:rPr>
              <a:t>(</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  </a:t>
            </a:r>
            <a:r>
              <a:rPr lang="en-US" sz="1500" b="1" dirty="0" err="1">
                <a:solidFill>
                  <a:srgbClr val="6A3E3E"/>
                </a:solidFill>
                <a:highlight>
                  <a:srgbClr val="FFFFFF"/>
                </a:highlight>
                <a:latin typeface="Courier New"/>
                <a:ea typeface="Courier New"/>
                <a:cs typeface="Courier New"/>
                <a:sym typeface="Courier New"/>
              </a:rPr>
              <a:t>frame</a:t>
            </a:r>
            <a:r>
              <a:rPr lang="en-US" sz="1500" b="1" dirty="0" err="1">
                <a:highlight>
                  <a:srgbClr val="FFFFFF"/>
                </a:highlight>
                <a:latin typeface="Courier New"/>
                <a:ea typeface="Courier New"/>
                <a:cs typeface="Courier New"/>
                <a:sym typeface="Courier New"/>
              </a:rPr>
              <a:t>.setVisible</a:t>
            </a:r>
            <a:r>
              <a:rPr lang="en-US" sz="1500" b="1" dirty="0">
                <a:highlight>
                  <a:srgbClr val="FFFFFF"/>
                </a:highlight>
                <a:latin typeface="Courier New"/>
                <a:ea typeface="Courier New"/>
                <a:cs typeface="Courier New"/>
                <a:sym typeface="Courier New"/>
              </a:rPr>
              <a:t>(</a:t>
            </a:r>
            <a:r>
              <a:rPr lang="en-US" sz="1500" b="1" dirty="0">
                <a:solidFill>
                  <a:srgbClr val="7F0055"/>
                </a:solidFill>
                <a:highlight>
                  <a:srgbClr val="FFFFFF"/>
                </a:highlight>
                <a:latin typeface="Courier New"/>
                <a:ea typeface="Courier New"/>
                <a:cs typeface="Courier New"/>
                <a:sym typeface="Courier New"/>
              </a:rPr>
              <a:t>true</a:t>
            </a:r>
            <a:r>
              <a:rPr lang="en-US" sz="1500" b="1" dirty="0" smtClean="0">
                <a:highlight>
                  <a:srgbClr val="FFFFFF"/>
                </a:highlight>
                <a:latin typeface="Courier New"/>
                <a:ea typeface="Courier New"/>
                <a:cs typeface="Courier New"/>
                <a:sym typeface="Courier New"/>
              </a:rPr>
              <a:t>);   </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public</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void</a:t>
            </a: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actionPerformed</a:t>
            </a:r>
            <a:r>
              <a:rPr lang="en-US" sz="1500" b="1" dirty="0">
                <a:highlight>
                  <a:srgbClr val="FFFFFF"/>
                </a:highlight>
                <a:latin typeface="Courier New"/>
                <a:ea typeface="Courier New"/>
                <a:cs typeface="Courier New"/>
                <a:sym typeface="Courier New"/>
              </a:rPr>
              <a:t>(</a:t>
            </a:r>
            <a:r>
              <a:rPr lang="en-US" sz="1500" b="1" dirty="0" err="1">
                <a:highlight>
                  <a:srgbClr val="FFFFFF"/>
                </a:highlight>
                <a:latin typeface="Courier New"/>
                <a:ea typeface="Courier New"/>
                <a:cs typeface="Courier New"/>
                <a:sym typeface="Courier New"/>
              </a:rPr>
              <a:t>ActionEvent</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e</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Object </a:t>
            </a:r>
            <a:r>
              <a:rPr lang="en-US" sz="1500" b="1" dirty="0">
                <a:solidFill>
                  <a:srgbClr val="6A3E3E"/>
                </a:solidFill>
                <a:highlight>
                  <a:srgbClr val="FFFFFF"/>
                </a:highlight>
                <a:latin typeface="Courier New"/>
                <a:ea typeface="Courier New"/>
                <a:cs typeface="Courier New"/>
                <a:sym typeface="Courier New"/>
              </a:rPr>
              <a:t>source</a:t>
            </a:r>
            <a:r>
              <a:rPr lang="en-US" sz="1500" b="1" dirty="0">
                <a:highlight>
                  <a:srgbClr val="FFFFFF"/>
                </a:highlight>
                <a:latin typeface="Courier New"/>
                <a:ea typeface="Courier New"/>
                <a:cs typeface="Courier New"/>
                <a:sym typeface="Courier New"/>
              </a:rPr>
              <a:t> = </a:t>
            </a:r>
            <a:r>
              <a:rPr lang="en-US" sz="1500" b="1" dirty="0" err="1">
                <a:solidFill>
                  <a:srgbClr val="6A3E3E"/>
                </a:solidFill>
                <a:highlight>
                  <a:srgbClr val="FFFFFF"/>
                </a:highlight>
                <a:latin typeface="Courier New"/>
                <a:ea typeface="Courier New"/>
                <a:cs typeface="Courier New"/>
                <a:sym typeface="Courier New"/>
              </a:rPr>
              <a:t>e</a:t>
            </a:r>
            <a:r>
              <a:rPr lang="en-US" sz="1500" b="1" dirty="0" err="1">
                <a:highlight>
                  <a:srgbClr val="FFFFFF"/>
                </a:highlight>
                <a:latin typeface="Courier New"/>
                <a:ea typeface="Courier New"/>
                <a:cs typeface="Courier New"/>
                <a:sym typeface="Courier New"/>
              </a:rPr>
              <a:t>.getSource</a:t>
            </a:r>
            <a:r>
              <a:rPr lang="en-US" sz="1500" b="1" dirty="0">
                <a:highlight>
                  <a:srgbClr val="FFFFFF"/>
                </a:highlight>
                <a:latin typeface="Courier New"/>
                <a:ea typeface="Courier New"/>
                <a:cs typeface="Courier New"/>
                <a:sym typeface="Courier New"/>
              </a:rPr>
              <a:t>();</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if</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source</a:t>
            </a:r>
            <a:r>
              <a:rPr lang="en-US" sz="1500" b="1" dirty="0">
                <a:highlight>
                  <a:srgbClr val="FFFFFF"/>
                </a:highlight>
                <a:latin typeface="Courier New"/>
                <a:ea typeface="Courier New"/>
                <a:cs typeface="Courier New"/>
                <a:sym typeface="Courier New"/>
              </a:rPr>
              <a:t> == </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System.</a:t>
            </a:r>
            <a:r>
              <a:rPr lang="en-US" sz="1500" b="1" i="1" dirty="0" err="1">
                <a:solidFill>
                  <a:srgbClr val="0000C0"/>
                </a:solidFill>
                <a:highlight>
                  <a:srgbClr val="FFFFFF"/>
                </a:highlight>
                <a:latin typeface="Courier New"/>
                <a:ea typeface="Courier New"/>
                <a:cs typeface="Courier New"/>
                <a:sym typeface="Courier New"/>
              </a:rPr>
              <a:t>out</a:t>
            </a:r>
            <a:r>
              <a:rPr lang="en-US" sz="1500" b="1" dirty="0" err="1">
                <a:highlight>
                  <a:srgbClr val="FFFFFF"/>
                </a:highlight>
                <a:latin typeface="Courier New"/>
                <a:ea typeface="Courier New"/>
                <a:cs typeface="Courier New"/>
                <a:sym typeface="Courier New"/>
              </a:rPr>
              <a:t>.println</a:t>
            </a:r>
            <a:r>
              <a:rPr lang="en-US" sz="1500" b="1" dirty="0">
                <a:highlight>
                  <a:srgbClr val="FFFFFF"/>
                </a:highlight>
                <a:latin typeface="Courier New"/>
                <a:ea typeface="Courier New"/>
                <a:cs typeface="Courier New"/>
                <a:sym typeface="Courier New"/>
              </a:rPr>
              <a:t>(</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.getActionCommand() + </a:t>
            </a:r>
            <a:r>
              <a:rPr lang="en-US" sz="1500" b="1" dirty="0">
                <a:solidFill>
                  <a:srgbClr val="2A00FF"/>
                </a:solidFill>
                <a:highlight>
                  <a:srgbClr val="FFFFFF"/>
                </a:highlight>
                <a:latin typeface="Courier New"/>
                <a:ea typeface="Courier New"/>
                <a:cs typeface="Courier New"/>
                <a:sym typeface="Courier New"/>
              </a:rPr>
              <a:t>" - Selected: "</a:t>
            </a:r>
            <a:r>
              <a:rPr lang="en-US" sz="1500" b="1" dirty="0">
                <a:highlight>
                  <a:srgbClr val="FFFFFF"/>
                </a:highlight>
                <a:latin typeface="Courier New"/>
                <a:ea typeface="Courier New"/>
                <a:cs typeface="Courier New"/>
                <a:sym typeface="Courier New"/>
              </a:rPr>
              <a:t> + </a:t>
            </a:r>
            <a:r>
              <a:rPr lang="en-US" sz="1500" b="1" dirty="0">
                <a:solidFill>
                  <a:srgbClr val="0000C0"/>
                </a:solidFill>
                <a:highlight>
                  <a:srgbClr val="FFFFFF"/>
                </a:highlight>
                <a:latin typeface="Courier New"/>
                <a:ea typeface="Courier New"/>
                <a:cs typeface="Courier New"/>
                <a:sym typeface="Courier New"/>
              </a:rPr>
              <a:t>radioButton1</a:t>
            </a:r>
            <a:r>
              <a:rPr lang="en-US" sz="1500" b="1" dirty="0">
                <a:highlight>
                  <a:srgbClr val="FFFFFF"/>
                </a:highlight>
                <a:latin typeface="Courier New"/>
                <a:ea typeface="Courier New"/>
                <a:cs typeface="Courier New"/>
                <a:sym typeface="Courier New"/>
              </a:rPr>
              <a:t>.isSelected</a:t>
            </a:r>
            <a:r>
              <a:rPr lang="en-US" sz="1500" b="1" dirty="0" smtClean="0">
                <a:highlight>
                  <a:srgbClr val="FFFFFF"/>
                </a:highlight>
                <a:latin typeface="Courier New"/>
                <a:ea typeface="Courier New"/>
                <a:cs typeface="Courier New"/>
                <a:sym typeface="Courier New"/>
              </a:rPr>
              <a:t>());</a:t>
            </a:r>
            <a:r>
              <a:rPr lang="en-US" sz="1500" b="1" dirty="0">
                <a:highlight>
                  <a:srgbClr val="FFFFFF"/>
                </a:highlight>
                <a:latin typeface="Courier New"/>
                <a:ea typeface="Courier New"/>
                <a:cs typeface="Courier New"/>
                <a:sym typeface="Courier New"/>
              </a:rPr>
              <a:t>	        } </a:t>
            </a:r>
            <a:r>
              <a:rPr lang="en-US" sz="1500" b="1" dirty="0">
                <a:solidFill>
                  <a:srgbClr val="7F0055"/>
                </a:solidFill>
                <a:highlight>
                  <a:srgbClr val="FFFFFF"/>
                </a:highlight>
                <a:latin typeface="Courier New"/>
                <a:ea typeface="Courier New"/>
                <a:cs typeface="Courier New"/>
                <a:sym typeface="Courier New"/>
              </a:rPr>
              <a:t>else</a:t>
            </a:r>
            <a:r>
              <a:rPr lang="en-US" sz="1500" b="1" dirty="0">
                <a:highlight>
                  <a:srgbClr val="FFFFFF"/>
                </a:highlight>
                <a:latin typeface="Courier New"/>
                <a:ea typeface="Courier New"/>
                <a:cs typeface="Courier New"/>
                <a:sym typeface="Courier New"/>
              </a:rPr>
              <a:t> </a:t>
            </a:r>
            <a:r>
              <a:rPr lang="en-US" sz="1500" b="1" dirty="0">
                <a:solidFill>
                  <a:srgbClr val="7F0055"/>
                </a:solidFill>
                <a:highlight>
                  <a:srgbClr val="FFFFFF"/>
                </a:highlight>
                <a:latin typeface="Courier New"/>
                <a:ea typeface="Courier New"/>
                <a:cs typeface="Courier New"/>
                <a:sym typeface="Courier New"/>
              </a:rPr>
              <a:t>if</a:t>
            </a:r>
            <a:r>
              <a:rPr lang="en-US" sz="1500" b="1" dirty="0">
                <a:highlight>
                  <a:srgbClr val="FFFFFF"/>
                </a:highlight>
                <a:latin typeface="Courier New"/>
                <a:ea typeface="Courier New"/>
                <a:cs typeface="Courier New"/>
                <a:sym typeface="Courier New"/>
              </a:rPr>
              <a:t> (</a:t>
            </a:r>
            <a:r>
              <a:rPr lang="en-US" sz="1500" b="1" dirty="0">
                <a:solidFill>
                  <a:srgbClr val="6A3E3E"/>
                </a:solidFill>
                <a:highlight>
                  <a:srgbClr val="FFFFFF"/>
                </a:highlight>
                <a:latin typeface="Courier New"/>
                <a:ea typeface="Courier New"/>
                <a:cs typeface="Courier New"/>
                <a:sym typeface="Courier New"/>
              </a:rPr>
              <a:t>source</a:t>
            </a:r>
            <a:r>
              <a:rPr lang="en-US" sz="1500" b="1" dirty="0">
                <a:highlight>
                  <a:srgbClr val="FFFFFF"/>
                </a:highlight>
                <a:latin typeface="Courier New"/>
                <a:ea typeface="Courier New"/>
                <a:cs typeface="Courier New"/>
                <a:sym typeface="Courier New"/>
              </a:rPr>
              <a:t> == </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 {</a:t>
            </a:r>
            <a:endParaRPr sz="15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500" b="1" dirty="0">
                <a:highlight>
                  <a:srgbClr val="FFFFFF"/>
                </a:highlight>
                <a:latin typeface="Courier New"/>
                <a:ea typeface="Courier New"/>
                <a:cs typeface="Courier New"/>
                <a:sym typeface="Courier New"/>
              </a:rPr>
              <a:t>	            </a:t>
            </a:r>
            <a:r>
              <a:rPr lang="en-US" sz="1500" b="1" dirty="0" err="1">
                <a:highlight>
                  <a:srgbClr val="FFFFFF"/>
                </a:highlight>
                <a:latin typeface="Courier New"/>
                <a:ea typeface="Courier New"/>
                <a:cs typeface="Courier New"/>
                <a:sym typeface="Courier New"/>
              </a:rPr>
              <a:t>System.</a:t>
            </a:r>
            <a:r>
              <a:rPr lang="en-US" sz="1500" b="1" i="1" dirty="0" err="1">
                <a:solidFill>
                  <a:srgbClr val="0000C0"/>
                </a:solidFill>
                <a:highlight>
                  <a:srgbClr val="FFFFFF"/>
                </a:highlight>
                <a:latin typeface="Courier New"/>
                <a:ea typeface="Courier New"/>
                <a:cs typeface="Courier New"/>
                <a:sym typeface="Courier New"/>
              </a:rPr>
              <a:t>out</a:t>
            </a:r>
            <a:r>
              <a:rPr lang="en-US" sz="1500" b="1" dirty="0" err="1">
                <a:highlight>
                  <a:srgbClr val="FFFFFF"/>
                </a:highlight>
                <a:latin typeface="Courier New"/>
                <a:ea typeface="Courier New"/>
                <a:cs typeface="Courier New"/>
                <a:sym typeface="Courier New"/>
              </a:rPr>
              <a:t>.println</a:t>
            </a:r>
            <a:r>
              <a:rPr lang="en-US" sz="1500" b="1" dirty="0">
                <a:highlight>
                  <a:srgbClr val="FFFFFF"/>
                </a:highlight>
                <a:latin typeface="Courier New"/>
                <a:ea typeface="Courier New"/>
                <a:cs typeface="Courier New"/>
                <a:sym typeface="Courier New"/>
              </a:rPr>
              <a:t>(</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.getActionCommand() + </a:t>
            </a:r>
            <a:r>
              <a:rPr lang="en-US" sz="1500" b="1" dirty="0">
                <a:solidFill>
                  <a:srgbClr val="2A00FF"/>
                </a:solidFill>
                <a:highlight>
                  <a:srgbClr val="FFFFFF"/>
                </a:highlight>
                <a:latin typeface="Courier New"/>
                <a:ea typeface="Courier New"/>
                <a:cs typeface="Courier New"/>
                <a:sym typeface="Courier New"/>
              </a:rPr>
              <a:t>" - Selected: "</a:t>
            </a:r>
            <a:r>
              <a:rPr lang="en-US" sz="1500" b="1" dirty="0">
                <a:highlight>
                  <a:srgbClr val="FFFFFF"/>
                </a:highlight>
                <a:latin typeface="Courier New"/>
                <a:ea typeface="Courier New"/>
                <a:cs typeface="Courier New"/>
                <a:sym typeface="Courier New"/>
              </a:rPr>
              <a:t> + </a:t>
            </a:r>
            <a:r>
              <a:rPr lang="en-US" sz="1500" b="1" dirty="0">
                <a:solidFill>
                  <a:srgbClr val="0000C0"/>
                </a:solidFill>
                <a:highlight>
                  <a:srgbClr val="D4D4D4"/>
                </a:highlight>
                <a:latin typeface="Courier New"/>
                <a:ea typeface="Courier New"/>
                <a:cs typeface="Courier New"/>
                <a:sym typeface="Courier New"/>
              </a:rPr>
              <a:t>radioButton2</a:t>
            </a:r>
            <a:r>
              <a:rPr lang="en-US" sz="1500" b="1" dirty="0">
                <a:highlight>
                  <a:srgbClr val="FFFFFF"/>
                </a:highlight>
                <a:latin typeface="Courier New"/>
                <a:ea typeface="Courier New"/>
                <a:cs typeface="Courier New"/>
                <a:sym typeface="Courier New"/>
              </a:rPr>
              <a:t>.isSelected());	        }	    }}</a:t>
            </a:r>
            <a:endParaRPr sz="1500" b="1" dirty="0">
              <a:highlight>
                <a:srgbClr val="FFFFFF"/>
              </a:highlight>
              <a:latin typeface="Courier New"/>
              <a:ea typeface="Courier New"/>
              <a:cs typeface="Courier New"/>
              <a:sym typeface="Courier New"/>
            </a:endParaRPr>
          </a:p>
          <a:p>
            <a:pPr marL="0" lvl="0" indent="0" algn="l" rtl="0">
              <a:lnSpc>
                <a:spcPct val="90000"/>
              </a:lnSpc>
              <a:spcBef>
                <a:spcPts val="1200"/>
              </a:spcBef>
              <a:spcAft>
                <a:spcPts val="200"/>
              </a:spcAft>
              <a:buSzPts val="1800"/>
              <a:buNone/>
            </a:pPr>
            <a:endParaRPr sz="1500" b="1"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58128505b8_0_80"/>
          <p:cNvSpPr txBox="1">
            <a:spLocks noGrp="1"/>
          </p:cNvSpPr>
          <p:nvPr>
            <p:ph type="title"/>
          </p:nvPr>
        </p:nvSpPr>
        <p:spPr>
          <a:xfrm>
            <a:off x="1024128" y="585216"/>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SzPts val="1800"/>
              <a:buNone/>
            </a:pPr>
            <a:r>
              <a:rPr lang="en-US"/>
              <a:t>OUTPUT</a:t>
            </a:r>
            <a:endParaRPr/>
          </a:p>
        </p:txBody>
      </p:sp>
      <p:sp>
        <p:nvSpPr>
          <p:cNvPr id="309" name="Google Shape;309;g358128505b8_0_80"/>
          <p:cNvSpPr txBox="1">
            <a:spLocks noGrp="1"/>
          </p:cNvSpPr>
          <p:nvPr>
            <p:ph type="body" idx="1"/>
          </p:nvPr>
        </p:nvSpPr>
        <p:spPr>
          <a:xfrm>
            <a:off x="1024128" y="2286000"/>
            <a:ext cx="9720000" cy="40233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1200"/>
              </a:spcBef>
              <a:spcAft>
                <a:spcPts val="200"/>
              </a:spcAft>
              <a:buSzPts val="1800"/>
              <a:buNone/>
            </a:pPr>
            <a:endParaRPr/>
          </a:p>
        </p:txBody>
      </p:sp>
      <p:pic>
        <p:nvPicPr>
          <p:cNvPr id="310" name="Google Shape;310;g358128505b8_0_80"/>
          <p:cNvPicPr preferRelativeResize="0"/>
          <p:nvPr/>
        </p:nvPicPr>
        <p:blipFill rotWithShape="1">
          <a:blip r:embed="rId3">
            <a:alphaModFix/>
          </a:blip>
          <a:srcRect/>
          <a:stretch/>
        </p:blipFill>
        <p:spPr>
          <a:xfrm>
            <a:off x="1024131" y="2286000"/>
            <a:ext cx="5687700" cy="4185025"/>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JTABBEDPANE</a:t>
            </a:r>
            <a:endParaRPr/>
          </a:p>
        </p:txBody>
      </p:sp>
      <p:sp>
        <p:nvSpPr>
          <p:cNvPr id="316" name="Google Shape;316;p36"/>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fontScale="92500"/>
          </a:bodyPr>
          <a:lstStyle/>
          <a:p>
            <a:pPr marL="114300" lvl="0" indent="0" algn="l" rtl="0">
              <a:lnSpc>
                <a:spcPct val="90000"/>
              </a:lnSpc>
              <a:spcBef>
                <a:spcPts val="1200"/>
              </a:spcBef>
              <a:spcAft>
                <a:spcPts val="0"/>
              </a:spcAft>
              <a:buSzPct val="88452"/>
              <a:buNone/>
            </a:pPr>
            <a:r>
              <a:rPr lang="en-US" b="1" dirty="0" err="1"/>
              <a:t>JTabbedPane</a:t>
            </a:r>
            <a:r>
              <a:rPr lang="en-US" dirty="0"/>
              <a:t> encapsulates a tabbed pane. It manages a set of components by linking them with tabs. Selecting a tab causes the component associated with that tab to come to the forefront. Tabbed panes are very common in the modern GUI.</a:t>
            </a:r>
            <a:endParaRPr dirty="0"/>
          </a:p>
          <a:p>
            <a:pPr marL="114300" lvl="0" indent="0" algn="l" rtl="0">
              <a:lnSpc>
                <a:spcPct val="90000"/>
              </a:lnSpc>
              <a:spcBef>
                <a:spcPts val="1200"/>
              </a:spcBef>
              <a:spcAft>
                <a:spcPts val="0"/>
              </a:spcAft>
              <a:buSzPct val="88452"/>
              <a:buNone/>
            </a:pPr>
            <a:r>
              <a:rPr lang="en-US" dirty="0" err="1"/>
              <a:t>JTabbedPane</a:t>
            </a:r>
            <a:r>
              <a:rPr lang="en-US" dirty="0"/>
              <a:t> defines three constructors. We will use its default constructor, which creates an empty control with the tabs positioned across the top of the pane. The </a:t>
            </a:r>
            <a:r>
              <a:rPr lang="en-US" b="1" dirty="0"/>
              <a:t>other two constructors let you specify the location of the tabs</a:t>
            </a:r>
            <a:r>
              <a:rPr lang="en-US" dirty="0"/>
              <a:t>, which can be along any of the four sides. </a:t>
            </a:r>
            <a:endParaRPr dirty="0"/>
          </a:p>
          <a:p>
            <a:pPr marL="114300" lvl="0" indent="0" algn="l" rtl="0">
              <a:lnSpc>
                <a:spcPct val="90000"/>
              </a:lnSpc>
              <a:spcBef>
                <a:spcPts val="1200"/>
              </a:spcBef>
              <a:spcAft>
                <a:spcPts val="0"/>
              </a:spcAft>
              <a:buSzPct val="88452"/>
              <a:buNone/>
            </a:pPr>
            <a:r>
              <a:rPr lang="en-US" dirty="0"/>
              <a:t>Tabs are added by calling </a:t>
            </a:r>
            <a:r>
              <a:rPr lang="en-US" dirty="0" err="1"/>
              <a:t>addTab</a:t>
            </a:r>
            <a:r>
              <a:rPr lang="en-US" dirty="0"/>
              <a:t>( ). Here is one of its forms: </a:t>
            </a:r>
            <a:endParaRPr dirty="0"/>
          </a:p>
          <a:p>
            <a:pPr marL="114300" lvl="0" indent="0" algn="l" rtl="0">
              <a:lnSpc>
                <a:spcPct val="90000"/>
              </a:lnSpc>
              <a:spcBef>
                <a:spcPts val="1200"/>
              </a:spcBef>
              <a:spcAft>
                <a:spcPts val="0"/>
              </a:spcAft>
              <a:buSzPct val="88452"/>
              <a:buNone/>
            </a:pPr>
            <a:r>
              <a:rPr lang="en-US" b="1" dirty="0"/>
              <a:t>void </a:t>
            </a:r>
            <a:r>
              <a:rPr lang="en-US" b="1" dirty="0" err="1"/>
              <a:t>addTab</a:t>
            </a:r>
            <a:r>
              <a:rPr lang="en-US" b="1" dirty="0"/>
              <a:t>(String name, Component comp) </a:t>
            </a:r>
            <a:endParaRPr b="1" dirty="0"/>
          </a:p>
          <a:p>
            <a:pPr marL="114300" lvl="0" indent="0" algn="l" rtl="0">
              <a:lnSpc>
                <a:spcPct val="90000"/>
              </a:lnSpc>
              <a:spcBef>
                <a:spcPts val="1200"/>
              </a:spcBef>
              <a:spcAft>
                <a:spcPts val="0"/>
              </a:spcAft>
              <a:buSzPct val="88452"/>
              <a:buNone/>
            </a:pPr>
            <a:r>
              <a:rPr lang="en-US" dirty="0"/>
              <a:t>Here, name is the name for the tab, and comp is the component that should be added to the tab.</a:t>
            </a:r>
            <a:endParaRP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JTABBEDPANE</a:t>
            </a:r>
            <a:endParaRPr/>
          </a:p>
        </p:txBody>
      </p:sp>
      <p:sp>
        <p:nvSpPr>
          <p:cNvPr id="322" name="Google Shape;322;p37"/>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a:t>The general procedure to use a tabbed pane is outlined here: </a:t>
            </a:r>
            <a:endParaRPr dirty="0"/>
          </a:p>
          <a:p>
            <a:pPr marL="571500" lvl="0" indent="-457200" algn="l" rtl="0">
              <a:lnSpc>
                <a:spcPct val="90000"/>
              </a:lnSpc>
              <a:spcBef>
                <a:spcPts val="1200"/>
              </a:spcBef>
              <a:spcAft>
                <a:spcPts val="0"/>
              </a:spcAft>
              <a:buSzPts val="1800"/>
              <a:buAutoNum type="arabicPeriod"/>
            </a:pPr>
            <a:r>
              <a:rPr lang="en-US" dirty="0"/>
              <a:t>Create an instance of </a:t>
            </a:r>
            <a:r>
              <a:rPr lang="en-US" dirty="0" err="1"/>
              <a:t>JTabbedPane</a:t>
            </a:r>
            <a:r>
              <a:rPr lang="en-US" dirty="0"/>
              <a:t>.</a:t>
            </a:r>
            <a:endParaRPr dirty="0"/>
          </a:p>
          <a:p>
            <a:pPr marL="571500" lvl="0" indent="-457200" algn="l" rtl="0">
              <a:lnSpc>
                <a:spcPct val="90000"/>
              </a:lnSpc>
              <a:spcBef>
                <a:spcPts val="1200"/>
              </a:spcBef>
              <a:spcAft>
                <a:spcPts val="0"/>
              </a:spcAft>
              <a:buSzPts val="1800"/>
              <a:buAutoNum type="arabicPeriod"/>
            </a:pPr>
            <a:r>
              <a:rPr lang="en-US" dirty="0"/>
              <a:t>Add each tab by calling </a:t>
            </a:r>
            <a:r>
              <a:rPr lang="en-US" dirty="0" err="1"/>
              <a:t>addTab</a:t>
            </a:r>
            <a:r>
              <a:rPr lang="en-US" dirty="0"/>
              <a:t>( ).</a:t>
            </a:r>
            <a:endParaRPr dirty="0"/>
          </a:p>
          <a:p>
            <a:pPr marL="571500" lvl="0" indent="-457200" algn="l" rtl="0">
              <a:lnSpc>
                <a:spcPct val="90000"/>
              </a:lnSpc>
              <a:spcBef>
                <a:spcPts val="1200"/>
              </a:spcBef>
              <a:spcAft>
                <a:spcPts val="0"/>
              </a:spcAft>
              <a:buSzPts val="1800"/>
              <a:buAutoNum type="arabicPeriod"/>
            </a:pPr>
            <a:r>
              <a:rPr lang="en-US" dirty="0"/>
              <a:t>Add the tabbed pane to the content pane.</a:t>
            </a:r>
            <a:endParaRPr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358342fc1f7_0_0"/>
          <p:cNvSpPr txBox="1">
            <a:spLocks noGrp="1"/>
          </p:cNvSpPr>
          <p:nvPr>
            <p:ph type="body" idx="1"/>
          </p:nvPr>
        </p:nvSpPr>
        <p:spPr>
          <a:xfrm>
            <a:off x="1036300" y="258618"/>
            <a:ext cx="9720000" cy="6002082"/>
          </a:xfrm>
          <a:prstGeom prst="rect">
            <a:avLst/>
          </a:prstGeom>
        </p:spPr>
        <p:txBody>
          <a:bodyPr spcFirstLastPara="1" wrap="square" lIns="45700" tIns="45700" rIns="45700" bIns="45700" anchor="t" anchorCtr="0">
            <a:noAutofit/>
          </a:bodyPr>
          <a:lstStyle/>
          <a:p>
            <a:pPr marL="25400" lvl="0" indent="0" algn="l" rtl="0">
              <a:lnSpc>
                <a:spcPct val="9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package</a:t>
            </a:r>
            <a:r>
              <a:rPr lang="en-US" sz="1600" b="1" dirty="0">
                <a:highlight>
                  <a:srgbClr val="FFFFFF"/>
                </a:highlight>
                <a:latin typeface="Courier New"/>
                <a:ea typeface="Courier New"/>
                <a:cs typeface="Courier New"/>
                <a:sym typeface="Courier New"/>
              </a:rPr>
              <a:t> temp;</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javax.swing</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java.awt</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java.awt.event.ActionEvent</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import</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java.awt.event.ActionListener</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class</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JTabbedPaneExample</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implements</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ActionListener</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private</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JFrame</a:t>
            </a:r>
            <a:r>
              <a:rPr lang="en-US" sz="1600" b="1" dirty="0">
                <a:highlight>
                  <a:srgbClr val="FFFFFF"/>
                </a:highlight>
                <a:latin typeface="Courier New"/>
                <a:ea typeface="Courier New"/>
                <a:cs typeface="Courier New"/>
                <a:sym typeface="Courier New"/>
              </a:rPr>
              <a:t> </a:t>
            </a:r>
            <a:r>
              <a:rPr lang="en-US" sz="1600" b="1" dirty="0">
                <a:solidFill>
                  <a:srgbClr val="0000C0"/>
                </a:solidFill>
                <a:highlight>
                  <a:srgbClr val="FFFFFF"/>
                </a:highlight>
                <a:latin typeface="Courier New"/>
                <a:ea typeface="Courier New"/>
                <a:cs typeface="Courier New"/>
                <a:sym typeface="Courier New"/>
              </a:rPr>
              <a:t>frame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private</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JTabbedPane</a:t>
            </a: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tabbedPane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static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void</a:t>
            </a:r>
            <a:r>
              <a:rPr lang="en-US" sz="1600" b="1" dirty="0">
                <a:highlight>
                  <a:srgbClr val="FFFFFF"/>
                </a:highlight>
                <a:latin typeface="Courier New"/>
                <a:ea typeface="Courier New"/>
                <a:cs typeface="Courier New"/>
                <a:sym typeface="Courier New"/>
              </a:rPr>
              <a:t> main(String[] </a:t>
            </a:r>
            <a:r>
              <a:rPr lang="en-US" sz="1600" b="1" dirty="0" err="1">
                <a:solidFill>
                  <a:srgbClr val="6A3E3E"/>
                </a:solidFill>
                <a:highlight>
                  <a:srgbClr val="FFFFFF"/>
                </a:highlight>
                <a:latin typeface="Courier New"/>
                <a:ea typeface="Courier New"/>
                <a:cs typeface="Courier New"/>
                <a:sym typeface="Courier New"/>
              </a:rPr>
              <a:t>args</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smtClean="0">
                <a:highlight>
                  <a:srgbClr val="FFFFFF"/>
                </a:highlight>
                <a:latin typeface="Courier New"/>
                <a:ea typeface="Courier New"/>
                <a:cs typeface="Courier New"/>
                <a:sym typeface="Courier New"/>
              </a:rPr>
              <a:t>{</a:t>
            </a:r>
            <a:r>
              <a:rPr lang="en-US" sz="1600" b="1" dirty="0" err="1" smtClean="0">
                <a:highlight>
                  <a:srgbClr val="FFFFFF"/>
                </a:highlight>
                <a:latin typeface="Courier New"/>
                <a:ea typeface="Courier New"/>
                <a:cs typeface="Courier New"/>
                <a:sym typeface="Courier New"/>
              </a:rPr>
              <a:t>JTabbedPaneExample</a:t>
            </a:r>
            <a:r>
              <a:rPr lang="en-US" sz="1600" b="1" dirty="0" smtClean="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jt</a:t>
            </a:r>
            <a:r>
              <a:rPr lang="en-US" sz="1600" b="1" dirty="0">
                <a:highlight>
                  <a:srgbClr val="FFFFFF"/>
                </a:highlight>
                <a:latin typeface="Courier New"/>
                <a:ea typeface="Courier New"/>
                <a:cs typeface="Courier New"/>
                <a:sym typeface="Courier New"/>
              </a:rPr>
              <a:t>=</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JTabbedPaneExample</a:t>
            </a:r>
            <a:r>
              <a:rPr lang="en-US" sz="1600" b="1" dirty="0" smtClean="0">
                <a:highlight>
                  <a:srgbClr val="FFFFFF"/>
                </a:highlight>
                <a:latin typeface="Courier New"/>
                <a:ea typeface="Courier New"/>
                <a:cs typeface="Courier New"/>
                <a:sym typeface="Courier New"/>
              </a:rPr>
              <a:t>();</a:t>
            </a: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jt</a:t>
            </a:r>
            <a:r>
              <a:rPr lang="en-US" sz="1600" b="1" dirty="0" err="1">
                <a:highlight>
                  <a:srgbClr val="FFFFFF"/>
                </a:highlight>
                <a:latin typeface="Courier New"/>
                <a:ea typeface="Courier New"/>
                <a:cs typeface="Courier New"/>
                <a:sym typeface="Courier New"/>
              </a:rPr>
              <a:t>.setupUI</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void</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setupUI</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0000C0"/>
                </a:solidFill>
                <a:highlight>
                  <a:srgbClr val="FFFFFF"/>
                </a:highlight>
                <a:latin typeface="Courier New"/>
                <a:ea typeface="Courier New"/>
                <a:cs typeface="Courier New"/>
                <a:sym typeface="Courier New"/>
              </a:rPr>
              <a:t>frame</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JFrame</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a:t>
            </a:r>
            <a:r>
              <a:rPr lang="en-US" sz="1600" b="1" dirty="0" err="1">
                <a:solidFill>
                  <a:srgbClr val="2A00FF"/>
                </a:solidFill>
                <a:highlight>
                  <a:srgbClr val="FFFFFF"/>
                </a:highlight>
                <a:latin typeface="Courier New"/>
                <a:ea typeface="Courier New"/>
                <a:cs typeface="Courier New"/>
                <a:sym typeface="Courier New"/>
              </a:rPr>
              <a:t>JTabbedPane</a:t>
            </a:r>
            <a:r>
              <a:rPr lang="en-US" sz="1600" b="1" dirty="0">
                <a:solidFill>
                  <a:srgbClr val="2A00FF"/>
                </a:solidFill>
                <a:highlight>
                  <a:srgbClr val="FFFFFF"/>
                </a:highlight>
                <a:latin typeface="Courier New"/>
                <a:ea typeface="Courier New"/>
                <a:cs typeface="Courier New"/>
                <a:sym typeface="Courier New"/>
              </a:rPr>
              <a:t> Example"</a:t>
            </a:r>
            <a:r>
              <a:rPr lang="en-US" sz="1600" b="1" dirty="0">
                <a:highlight>
                  <a:srgbClr val="FFFFFF"/>
                </a:highlight>
                <a:latin typeface="Courier New"/>
                <a:ea typeface="Courier New"/>
                <a:cs typeface="Courier New"/>
                <a:sym typeface="Courier New"/>
              </a:rPr>
              <a:t>);</a:t>
            </a:r>
            <a:r>
              <a:rPr lang="en-US" sz="1600" b="1" dirty="0" err="1">
                <a:solidFill>
                  <a:srgbClr val="0000C0"/>
                </a:solidFill>
                <a:highlight>
                  <a:srgbClr val="FFFFFF"/>
                </a:highlight>
                <a:latin typeface="Courier New"/>
                <a:ea typeface="Courier New"/>
                <a:cs typeface="Courier New"/>
                <a:sym typeface="Courier New"/>
              </a:rPr>
              <a:t>frame</a:t>
            </a:r>
            <a:r>
              <a:rPr lang="en-US" sz="1600" b="1" dirty="0" err="1">
                <a:highlight>
                  <a:srgbClr val="FFFFFF"/>
                </a:highlight>
                <a:latin typeface="Courier New"/>
                <a:ea typeface="Courier New"/>
                <a:cs typeface="Courier New"/>
                <a:sym typeface="Courier New"/>
              </a:rPr>
              <a:t>.setSize</a:t>
            </a:r>
            <a:r>
              <a:rPr lang="en-US" sz="1600" b="1" dirty="0">
                <a:highlight>
                  <a:srgbClr val="FFFFFF"/>
                </a:highlight>
                <a:latin typeface="Courier New"/>
                <a:ea typeface="Courier New"/>
                <a:cs typeface="Courier New"/>
                <a:sym typeface="Courier New"/>
              </a:rPr>
              <a:t>(400, 300);</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tabbedPane</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JTabbedPane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JPanel</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panel1</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JPanel</a:t>
            </a:r>
            <a:r>
              <a:rPr lang="en-US" sz="1600" b="1" dirty="0">
                <a:highlight>
                  <a:srgbClr val="FFFFFF"/>
                </a:highlight>
                <a:latin typeface="Courier New"/>
                <a:ea typeface="Courier New"/>
                <a:cs typeface="Courier New"/>
                <a:sym typeface="Courier New"/>
              </a:rPr>
              <a:t>();</a:t>
            </a:r>
            <a:r>
              <a:rPr lang="en-US" sz="1600" b="1" dirty="0" err="1">
                <a:highlight>
                  <a:srgbClr val="FFFFFF"/>
                </a:highlight>
                <a:latin typeface="Courier New"/>
                <a:ea typeface="Courier New"/>
                <a:cs typeface="Courier New"/>
                <a:sym typeface="Courier New"/>
              </a:rPr>
              <a:t>JPanel</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panel2</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JPanel</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JButton</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button1</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JButton</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"Click me (Tab 1)"</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JButton</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button2</a:t>
            </a:r>
            <a:r>
              <a:rPr lang="en-US" sz="1600" b="1" dirty="0">
                <a:highlight>
                  <a:srgbClr val="FFFFFF"/>
                </a:highlight>
                <a:latin typeface="Courier New"/>
                <a:ea typeface="Courier New"/>
                <a:cs typeface="Courier New"/>
                <a:sym typeface="Courier New"/>
              </a:rPr>
              <a:t> = </a:t>
            </a:r>
            <a:r>
              <a:rPr lang="en-US" sz="1600" b="1" dirty="0">
                <a:solidFill>
                  <a:srgbClr val="7F0055"/>
                </a:solidFill>
                <a:highlight>
                  <a:srgbClr val="FFFFFF"/>
                </a:highlight>
                <a:latin typeface="Courier New"/>
                <a:ea typeface="Courier New"/>
                <a:cs typeface="Courier New"/>
                <a:sym typeface="Courier New"/>
              </a:rPr>
              <a:t>new</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JButton</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"Click me (Tab 2)"</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button1</a:t>
            </a:r>
            <a:r>
              <a:rPr lang="en-US" sz="1600" b="1" dirty="0">
                <a:highlight>
                  <a:srgbClr val="FFFFFF"/>
                </a:highlight>
                <a:latin typeface="Courier New"/>
                <a:ea typeface="Courier New"/>
                <a:cs typeface="Courier New"/>
                <a:sym typeface="Courier New"/>
              </a:rPr>
              <a:t>.addActionListener(</a:t>
            </a:r>
            <a:r>
              <a:rPr lang="en-US" sz="1600" b="1" dirty="0">
                <a:solidFill>
                  <a:srgbClr val="7F0055"/>
                </a:solidFill>
                <a:highlight>
                  <a:srgbClr val="FFFFFF"/>
                </a:highlight>
                <a:latin typeface="Courier New"/>
                <a:ea typeface="Courier New"/>
                <a:cs typeface="Courier New"/>
                <a:sym typeface="Courier New"/>
              </a:rPr>
              <a:t>this</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button2</a:t>
            </a:r>
            <a:r>
              <a:rPr lang="en-US" sz="1600" b="1" dirty="0">
                <a:highlight>
                  <a:srgbClr val="FFFFFF"/>
                </a:highlight>
                <a:latin typeface="Courier New"/>
                <a:ea typeface="Courier New"/>
                <a:cs typeface="Courier New"/>
                <a:sym typeface="Courier New"/>
              </a:rPr>
              <a:t>.addActionListener(</a:t>
            </a:r>
            <a:r>
              <a:rPr lang="en-US" sz="1600" b="1" dirty="0">
                <a:solidFill>
                  <a:srgbClr val="7F0055"/>
                </a:solidFill>
                <a:highlight>
                  <a:srgbClr val="FFFFFF"/>
                </a:highlight>
                <a:latin typeface="Courier New"/>
                <a:ea typeface="Courier New"/>
                <a:cs typeface="Courier New"/>
                <a:sym typeface="Courier New"/>
              </a:rPr>
              <a:t>this</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panel1</a:t>
            </a:r>
            <a:r>
              <a:rPr lang="en-US" sz="1600" b="1" dirty="0">
                <a:highlight>
                  <a:srgbClr val="FFFFFF"/>
                </a:highlight>
                <a:latin typeface="Courier New"/>
                <a:ea typeface="Courier New"/>
                <a:cs typeface="Courier New"/>
                <a:sym typeface="Courier New"/>
              </a:rPr>
              <a:t>.add(</a:t>
            </a:r>
            <a:r>
              <a:rPr lang="en-US" sz="1600" b="1" dirty="0">
                <a:solidFill>
                  <a:srgbClr val="6A3E3E"/>
                </a:solidFill>
                <a:highlight>
                  <a:srgbClr val="FFFFFF"/>
                </a:highlight>
                <a:latin typeface="Courier New"/>
                <a:ea typeface="Courier New"/>
                <a:cs typeface="Courier New"/>
                <a:sym typeface="Courier New"/>
              </a:rPr>
              <a:t>button1</a:t>
            </a:r>
            <a:r>
              <a:rPr lang="en-US" sz="1600" b="1" dirty="0">
                <a:highlight>
                  <a:srgbClr val="FFFFFF"/>
                </a:highlight>
                <a:latin typeface="Courier New"/>
                <a:ea typeface="Courier New"/>
                <a:cs typeface="Courier New"/>
                <a:sym typeface="Courier New"/>
              </a:rPr>
              <a:t>);</a:t>
            </a:r>
            <a:r>
              <a:rPr lang="en-US" sz="1600" b="1" dirty="0">
                <a:solidFill>
                  <a:srgbClr val="6A3E3E"/>
                </a:solidFill>
                <a:highlight>
                  <a:srgbClr val="FFFFFF"/>
                </a:highlight>
                <a:latin typeface="Courier New"/>
                <a:ea typeface="Courier New"/>
                <a:cs typeface="Courier New"/>
                <a:sym typeface="Courier New"/>
              </a:rPr>
              <a:t>panel2</a:t>
            </a:r>
            <a:r>
              <a:rPr lang="en-US" sz="1600" b="1" dirty="0">
                <a:highlight>
                  <a:srgbClr val="FFFFFF"/>
                </a:highlight>
                <a:latin typeface="Courier New"/>
                <a:ea typeface="Courier New"/>
                <a:cs typeface="Courier New"/>
                <a:sym typeface="Courier New"/>
              </a:rPr>
              <a:t>.add(</a:t>
            </a:r>
            <a:r>
              <a:rPr lang="en-US" sz="1600" b="1" dirty="0">
                <a:solidFill>
                  <a:srgbClr val="6A3E3E"/>
                </a:solidFill>
                <a:highlight>
                  <a:srgbClr val="FFFFFF"/>
                </a:highlight>
                <a:latin typeface="Courier New"/>
                <a:ea typeface="Courier New"/>
                <a:cs typeface="Courier New"/>
                <a:sym typeface="Courier New"/>
              </a:rPr>
              <a:t>button2</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tabbedPane</a:t>
            </a:r>
            <a:r>
              <a:rPr lang="en-US" sz="1600" b="1" dirty="0" err="1">
                <a:highlight>
                  <a:srgbClr val="FFFFFF"/>
                </a:highlight>
                <a:latin typeface="Courier New"/>
                <a:ea typeface="Courier New"/>
                <a:cs typeface="Courier New"/>
                <a:sym typeface="Courier New"/>
              </a:rPr>
              <a:t>.addTab</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"Tab 1"</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panel1</a:t>
            </a:r>
            <a:r>
              <a:rPr lang="en-US" sz="1600" b="1" dirty="0">
                <a:highlight>
                  <a:srgbClr val="FFFFFF"/>
                </a:highlight>
                <a:latin typeface="Courier New"/>
                <a:ea typeface="Courier New"/>
                <a:cs typeface="Courier New"/>
                <a:sym typeface="Courier New"/>
              </a:rPr>
              <a:t>);</a:t>
            </a:r>
            <a:r>
              <a:rPr lang="en-US" sz="1600" b="1" dirty="0" err="1">
                <a:solidFill>
                  <a:srgbClr val="0000C0"/>
                </a:solidFill>
                <a:highlight>
                  <a:srgbClr val="FFFFFF"/>
                </a:highlight>
                <a:latin typeface="Courier New"/>
                <a:ea typeface="Courier New"/>
                <a:cs typeface="Courier New"/>
                <a:sym typeface="Courier New"/>
              </a:rPr>
              <a:t>tabbedPane</a:t>
            </a:r>
            <a:r>
              <a:rPr lang="en-US" sz="1600" b="1" dirty="0" err="1">
                <a:highlight>
                  <a:srgbClr val="FFFFFF"/>
                </a:highlight>
                <a:latin typeface="Courier New"/>
                <a:ea typeface="Courier New"/>
                <a:cs typeface="Courier New"/>
                <a:sym typeface="Courier New"/>
              </a:rPr>
              <a:t>.addTab</a:t>
            </a:r>
            <a:r>
              <a:rPr lang="en-US" sz="1600" b="1" dirty="0">
                <a:highlight>
                  <a:srgbClr val="FFFFFF"/>
                </a:highlight>
                <a:latin typeface="Courier New"/>
                <a:ea typeface="Courier New"/>
                <a:cs typeface="Courier New"/>
                <a:sym typeface="Courier New"/>
              </a:rPr>
              <a:t>(</a:t>
            </a:r>
            <a:r>
              <a:rPr lang="en-US" sz="1600" b="1" dirty="0">
                <a:solidFill>
                  <a:srgbClr val="2A00FF"/>
                </a:solidFill>
                <a:highlight>
                  <a:srgbClr val="FFFFFF"/>
                </a:highlight>
                <a:latin typeface="Courier New"/>
                <a:ea typeface="Courier New"/>
                <a:cs typeface="Courier New"/>
                <a:sym typeface="Courier New"/>
              </a:rPr>
              <a:t>"Tab 2"</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panel2</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frame</a:t>
            </a:r>
            <a:r>
              <a:rPr lang="en-US" sz="1600" b="1" dirty="0" err="1">
                <a:highlight>
                  <a:srgbClr val="FFFFFF"/>
                </a:highlight>
                <a:latin typeface="Courier New"/>
                <a:ea typeface="Courier New"/>
                <a:cs typeface="Courier New"/>
                <a:sym typeface="Courier New"/>
              </a:rPr>
              <a:t>.add</a:t>
            </a:r>
            <a:r>
              <a:rPr lang="en-US" sz="1600" b="1" dirty="0">
                <a:highlight>
                  <a:srgbClr val="FFFFFF"/>
                </a:highlight>
                <a:latin typeface="Courier New"/>
                <a:ea typeface="Courier New"/>
                <a:cs typeface="Courier New"/>
                <a:sym typeface="Courier New"/>
              </a:rPr>
              <a:t>(</a:t>
            </a:r>
            <a:r>
              <a:rPr lang="en-US" sz="1600" b="1" dirty="0" err="1">
                <a:solidFill>
                  <a:srgbClr val="0000C0"/>
                </a:solidFill>
                <a:highlight>
                  <a:srgbClr val="FFFFFF"/>
                </a:highlight>
                <a:latin typeface="Courier New"/>
                <a:ea typeface="Courier New"/>
                <a:cs typeface="Courier New"/>
                <a:sym typeface="Courier New"/>
              </a:rPr>
              <a:t>tabbedPane</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BorderLayout.</a:t>
            </a:r>
            <a:r>
              <a:rPr lang="en-US" sz="1600" b="1" i="1" dirty="0" err="1">
                <a:solidFill>
                  <a:srgbClr val="0000C0"/>
                </a:solidFill>
                <a:highlight>
                  <a:srgbClr val="FFFFFF"/>
                </a:highlight>
                <a:latin typeface="Courier New"/>
                <a:ea typeface="Courier New"/>
                <a:cs typeface="Courier New"/>
                <a:sym typeface="Courier New"/>
              </a:rPr>
              <a:t>CENTER</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solidFill>
                  <a:srgbClr val="0000C0"/>
                </a:solidFill>
                <a:highlight>
                  <a:srgbClr val="FFFFFF"/>
                </a:highlight>
                <a:latin typeface="Courier New"/>
                <a:ea typeface="Courier New"/>
                <a:cs typeface="Courier New"/>
                <a:sym typeface="Courier New"/>
              </a:rPr>
              <a:t>frame</a:t>
            </a:r>
            <a:r>
              <a:rPr lang="en-US" sz="1600" b="1" dirty="0" err="1">
                <a:highlight>
                  <a:srgbClr val="FFFFFF"/>
                </a:highlight>
                <a:latin typeface="Courier New"/>
                <a:ea typeface="Courier New"/>
                <a:cs typeface="Courier New"/>
                <a:sym typeface="Courier New"/>
              </a:rPr>
              <a:t>.setVisible</a:t>
            </a:r>
            <a:r>
              <a:rPr lang="en-US" sz="1600" b="1" dirty="0">
                <a:highlight>
                  <a:srgbClr val="FFFFFF"/>
                </a:highlight>
                <a:latin typeface="Courier New"/>
                <a:ea typeface="Courier New"/>
                <a:cs typeface="Courier New"/>
                <a:sym typeface="Courier New"/>
              </a:rPr>
              <a:t>(</a:t>
            </a:r>
            <a:r>
              <a:rPr lang="en-US" sz="1600" b="1" dirty="0">
                <a:solidFill>
                  <a:srgbClr val="7F0055"/>
                </a:solidFill>
                <a:highlight>
                  <a:srgbClr val="FFFFFF"/>
                </a:highlight>
                <a:latin typeface="Courier New"/>
                <a:ea typeface="Courier New"/>
                <a:cs typeface="Courier New"/>
                <a:sym typeface="Courier New"/>
              </a:rPr>
              <a:t>true</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public</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void</a:t>
            </a: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actionPerformed</a:t>
            </a:r>
            <a:r>
              <a:rPr lang="en-US" sz="1600" b="1" dirty="0">
                <a:highlight>
                  <a:srgbClr val="FFFFFF"/>
                </a:highlight>
                <a:latin typeface="Courier New"/>
                <a:ea typeface="Courier New"/>
                <a:cs typeface="Courier New"/>
                <a:sym typeface="Courier New"/>
              </a:rPr>
              <a:t>(</a:t>
            </a:r>
            <a:r>
              <a:rPr lang="en-US" sz="1600" b="1" dirty="0" err="1">
                <a:highlight>
                  <a:srgbClr val="FFFFFF"/>
                </a:highlight>
                <a:latin typeface="Courier New"/>
                <a:ea typeface="Courier New"/>
                <a:cs typeface="Courier New"/>
                <a:sym typeface="Courier New"/>
              </a:rPr>
              <a:t>ActionEvent</a:t>
            </a:r>
            <a:r>
              <a:rPr lang="en-US" sz="1600" b="1" dirty="0">
                <a:highlight>
                  <a:srgbClr val="FFFFFF"/>
                </a:highlight>
                <a:latin typeface="Courier New"/>
                <a:ea typeface="Courier New"/>
                <a:cs typeface="Courier New"/>
                <a:sym typeface="Courier New"/>
              </a:rPr>
              <a:t> </a:t>
            </a:r>
            <a:r>
              <a:rPr lang="en-US" sz="1600" b="1" dirty="0">
                <a:solidFill>
                  <a:srgbClr val="6A3E3E"/>
                </a:solidFill>
                <a:highlight>
                  <a:srgbClr val="FFFFFF"/>
                </a:highlight>
                <a:latin typeface="Courier New"/>
                <a:ea typeface="Courier New"/>
                <a:cs typeface="Courier New"/>
                <a:sym typeface="Courier New"/>
              </a:rPr>
              <a:t>e</a:t>
            </a:r>
            <a:r>
              <a:rPr lang="en-US" sz="1600" b="1" dirty="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smtClean="0">
                <a:highlight>
                  <a:srgbClr val="FFFFFF"/>
                </a:highlight>
                <a:latin typeface="Courier New"/>
                <a:ea typeface="Courier New"/>
                <a:cs typeface="Courier New"/>
                <a:sym typeface="Courier New"/>
              </a:rPr>
              <a:t>{</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if</a:t>
            </a: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e</a:t>
            </a:r>
            <a:r>
              <a:rPr lang="en-US" sz="1600" b="1" dirty="0" err="1">
                <a:highlight>
                  <a:srgbClr val="FFFFFF"/>
                </a:highlight>
                <a:latin typeface="Courier New"/>
                <a:ea typeface="Courier New"/>
                <a:cs typeface="Courier New"/>
                <a:sym typeface="Courier New"/>
              </a:rPr>
              <a:t>.getActionCommand</a:t>
            </a:r>
            <a:r>
              <a:rPr lang="en-US" sz="1600" b="1" dirty="0">
                <a:highlight>
                  <a:srgbClr val="FFFFFF"/>
                </a:highlight>
                <a:latin typeface="Courier New"/>
                <a:ea typeface="Courier New"/>
                <a:cs typeface="Courier New"/>
                <a:sym typeface="Courier New"/>
              </a:rPr>
              <a:t>().equals(</a:t>
            </a:r>
            <a:r>
              <a:rPr lang="en-US" sz="1600" b="1" dirty="0">
                <a:solidFill>
                  <a:srgbClr val="2A00FF"/>
                </a:solidFill>
                <a:highlight>
                  <a:srgbClr val="FFFFFF"/>
                </a:highlight>
                <a:latin typeface="Courier New"/>
                <a:ea typeface="Courier New"/>
                <a:cs typeface="Courier New"/>
                <a:sym typeface="Courier New"/>
              </a:rPr>
              <a:t>"Click me (Tab 1)"</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JOptionPane.</a:t>
            </a:r>
            <a:r>
              <a:rPr lang="en-US" sz="1600" b="1" i="1" dirty="0" err="1">
                <a:highlight>
                  <a:srgbClr val="FFFFFF"/>
                </a:highlight>
                <a:latin typeface="Courier New"/>
                <a:ea typeface="Courier New"/>
                <a:cs typeface="Courier New"/>
                <a:sym typeface="Courier New"/>
              </a:rPr>
              <a:t>showMessageDialog</a:t>
            </a:r>
            <a:r>
              <a:rPr lang="en-US" sz="1600" b="1" dirty="0">
                <a:highlight>
                  <a:srgbClr val="FFFFFF"/>
                </a:highlight>
                <a:latin typeface="Courier New"/>
                <a:ea typeface="Courier New"/>
                <a:cs typeface="Courier New"/>
                <a:sym typeface="Courier New"/>
              </a:rPr>
              <a:t>(</a:t>
            </a:r>
            <a:r>
              <a:rPr lang="en-US" sz="1600" b="1" dirty="0">
                <a:solidFill>
                  <a:srgbClr val="0000C0"/>
                </a:solidFill>
                <a:highlight>
                  <a:srgbClr val="FFFFFF"/>
                </a:highlight>
                <a:latin typeface="Courier New"/>
                <a:ea typeface="Courier New"/>
                <a:cs typeface="Courier New"/>
                <a:sym typeface="Courier New"/>
              </a:rPr>
              <a:t>frame</a:t>
            </a:r>
            <a:r>
              <a:rPr lang="en-US" sz="1600" b="1" dirty="0">
                <a:highlight>
                  <a:srgbClr val="FFFFFF"/>
                </a:highlight>
                <a:latin typeface="Courier New"/>
                <a:ea typeface="Courier New"/>
                <a:cs typeface="Courier New"/>
                <a:sym typeface="Courier New"/>
              </a:rPr>
              <a:t>, </a:t>
            </a:r>
            <a:r>
              <a:rPr lang="en-US" sz="1600" b="1" dirty="0">
                <a:solidFill>
                  <a:srgbClr val="2A00FF"/>
                </a:solidFill>
                <a:highlight>
                  <a:srgbClr val="FFFFFF"/>
                </a:highlight>
                <a:latin typeface="Courier New"/>
                <a:ea typeface="Courier New"/>
                <a:cs typeface="Courier New"/>
                <a:sym typeface="Courier New"/>
              </a:rPr>
              <a:t>"Button 1 in Tab 1 clicked</a:t>
            </a:r>
            <a:r>
              <a:rPr lang="en-US" sz="1600" b="1" dirty="0" smtClean="0">
                <a:solidFill>
                  <a:srgbClr val="2A00FF"/>
                </a:solidFill>
                <a:highlight>
                  <a:srgbClr val="FFFFFF"/>
                </a:highlight>
                <a:latin typeface="Courier New"/>
                <a:ea typeface="Courier New"/>
                <a:cs typeface="Courier New"/>
                <a:sym typeface="Courier New"/>
              </a:rPr>
              <a:t>!"</a:t>
            </a:r>
            <a:r>
              <a:rPr lang="en-US" sz="1600" b="1" dirty="0" smtClean="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else</a:t>
            </a:r>
            <a:r>
              <a:rPr lang="en-US" sz="1600" b="1" dirty="0">
                <a:highlight>
                  <a:srgbClr val="FFFFFF"/>
                </a:highlight>
                <a:latin typeface="Courier New"/>
                <a:ea typeface="Courier New"/>
                <a:cs typeface="Courier New"/>
                <a:sym typeface="Courier New"/>
              </a:rPr>
              <a:t> </a:t>
            </a:r>
            <a:r>
              <a:rPr lang="en-US" sz="1600" b="1" dirty="0">
                <a:solidFill>
                  <a:srgbClr val="7F0055"/>
                </a:solidFill>
                <a:highlight>
                  <a:srgbClr val="FFFFFF"/>
                </a:highlight>
                <a:latin typeface="Courier New"/>
                <a:ea typeface="Courier New"/>
                <a:cs typeface="Courier New"/>
                <a:sym typeface="Courier New"/>
              </a:rPr>
              <a:t>if</a:t>
            </a:r>
            <a:r>
              <a:rPr lang="en-US" sz="1600" b="1" dirty="0">
                <a:highlight>
                  <a:srgbClr val="FFFFFF"/>
                </a:highlight>
                <a:latin typeface="Courier New"/>
                <a:ea typeface="Courier New"/>
                <a:cs typeface="Courier New"/>
                <a:sym typeface="Courier New"/>
              </a:rPr>
              <a:t> (</a:t>
            </a:r>
            <a:r>
              <a:rPr lang="en-US" sz="1600" b="1" dirty="0" err="1">
                <a:solidFill>
                  <a:srgbClr val="6A3E3E"/>
                </a:solidFill>
                <a:highlight>
                  <a:srgbClr val="FFFFFF"/>
                </a:highlight>
                <a:latin typeface="Courier New"/>
                <a:ea typeface="Courier New"/>
                <a:cs typeface="Courier New"/>
                <a:sym typeface="Courier New"/>
              </a:rPr>
              <a:t>e</a:t>
            </a:r>
            <a:r>
              <a:rPr lang="en-US" sz="1600" b="1" dirty="0" err="1">
                <a:highlight>
                  <a:srgbClr val="FFFFFF"/>
                </a:highlight>
                <a:latin typeface="Courier New"/>
                <a:ea typeface="Courier New"/>
                <a:cs typeface="Courier New"/>
                <a:sym typeface="Courier New"/>
              </a:rPr>
              <a:t>.getActionCommand</a:t>
            </a:r>
            <a:r>
              <a:rPr lang="en-US" sz="1600" b="1" dirty="0">
                <a:highlight>
                  <a:srgbClr val="FFFFFF"/>
                </a:highlight>
                <a:latin typeface="Courier New"/>
                <a:ea typeface="Courier New"/>
                <a:cs typeface="Courier New"/>
                <a:sym typeface="Courier New"/>
              </a:rPr>
              <a:t>().equals(</a:t>
            </a:r>
            <a:r>
              <a:rPr lang="en-US" sz="1600" b="1" dirty="0">
                <a:solidFill>
                  <a:srgbClr val="2A00FF"/>
                </a:solidFill>
                <a:highlight>
                  <a:srgbClr val="FFFFFF"/>
                </a:highlight>
                <a:latin typeface="Courier New"/>
                <a:ea typeface="Courier New"/>
                <a:cs typeface="Courier New"/>
                <a:sym typeface="Courier New"/>
              </a:rPr>
              <a:t>"Click me (Tab 2)"</a:t>
            </a:r>
            <a:r>
              <a:rPr lang="en-US" sz="1600" b="1" dirty="0">
                <a:highlight>
                  <a:srgbClr val="FFFFFF"/>
                </a:highlight>
                <a:latin typeface="Courier New"/>
                <a:ea typeface="Courier New"/>
                <a:cs typeface="Courier New"/>
                <a:sym typeface="Courier New"/>
              </a:rPr>
              <a:t>)) {</a:t>
            </a:r>
            <a:endParaRPr sz="16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600" b="1" dirty="0">
                <a:highlight>
                  <a:srgbClr val="FFFFFF"/>
                </a:highlight>
                <a:latin typeface="Courier New"/>
                <a:ea typeface="Courier New"/>
                <a:cs typeface="Courier New"/>
                <a:sym typeface="Courier New"/>
              </a:rPr>
              <a:t>	            </a:t>
            </a:r>
            <a:r>
              <a:rPr lang="en-US" sz="1600" b="1" dirty="0" err="1">
                <a:highlight>
                  <a:srgbClr val="FFFFFF"/>
                </a:highlight>
                <a:latin typeface="Courier New"/>
                <a:ea typeface="Courier New"/>
                <a:cs typeface="Courier New"/>
                <a:sym typeface="Courier New"/>
              </a:rPr>
              <a:t>JOptionPane.</a:t>
            </a:r>
            <a:r>
              <a:rPr lang="en-US" sz="1600" b="1" i="1" dirty="0" err="1">
                <a:highlight>
                  <a:srgbClr val="FFFFFF"/>
                </a:highlight>
                <a:latin typeface="Courier New"/>
                <a:ea typeface="Courier New"/>
                <a:cs typeface="Courier New"/>
                <a:sym typeface="Courier New"/>
              </a:rPr>
              <a:t>showMessageDialog</a:t>
            </a:r>
            <a:r>
              <a:rPr lang="en-US" sz="1600" b="1" dirty="0">
                <a:highlight>
                  <a:srgbClr val="FFFFFF"/>
                </a:highlight>
                <a:latin typeface="Courier New"/>
                <a:ea typeface="Courier New"/>
                <a:cs typeface="Courier New"/>
                <a:sym typeface="Courier New"/>
              </a:rPr>
              <a:t>(</a:t>
            </a:r>
            <a:r>
              <a:rPr lang="en-US" sz="1600" b="1" dirty="0">
                <a:solidFill>
                  <a:srgbClr val="0000C0"/>
                </a:solidFill>
                <a:highlight>
                  <a:srgbClr val="FFFFFF"/>
                </a:highlight>
                <a:latin typeface="Courier New"/>
                <a:ea typeface="Courier New"/>
                <a:cs typeface="Courier New"/>
                <a:sym typeface="Courier New"/>
              </a:rPr>
              <a:t>frame</a:t>
            </a:r>
            <a:r>
              <a:rPr lang="en-US" sz="1600" b="1" dirty="0">
                <a:highlight>
                  <a:srgbClr val="FFFFFF"/>
                </a:highlight>
                <a:latin typeface="Courier New"/>
                <a:ea typeface="Courier New"/>
                <a:cs typeface="Courier New"/>
                <a:sym typeface="Courier New"/>
              </a:rPr>
              <a:t>, </a:t>
            </a:r>
            <a:r>
              <a:rPr lang="en-US" sz="1600" b="1" dirty="0">
                <a:solidFill>
                  <a:srgbClr val="2A00FF"/>
                </a:solidFill>
                <a:highlight>
                  <a:srgbClr val="FFFFFF"/>
                </a:highlight>
                <a:latin typeface="Courier New"/>
                <a:ea typeface="Courier New"/>
                <a:cs typeface="Courier New"/>
                <a:sym typeface="Courier New"/>
              </a:rPr>
              <a:t>"Button 2 in Tab 2 clicked</a:t>
            </a:r>
            <a:r>
              <a:rPr lang="en-US" sz="1600" b="1" dirty="0" smtClean="0">
                <a:solidFill>
                  <a:srgbClr val="2A00FF"/>
                </a:solidFill>
                <a:highlight>
                  <a:srgbClr val="FFFFFF"/>
                </a:highlight>
                <a:latin typeface="Courier New"/>
                <a:ea typeface="Courier New"/>
                <a:cs typeface="Courier New"/>
                <a:sym typeface="Courier New"/>
              </a:rPr>
              <a:t>!"</a:t>
            </a:r>
            <a:r>
              <a:rPr lang="en-US" sz="1600" b="1" dirty="0" smtClean="0">
                <a:highlight>
                  <a:srgbClr val="FFFFFF"/>
                </a:highlight>
                <a:latin typeface="Courier New"/>
                <a:ea typeface="Courier New"/>
                <a:cs typeface="Courier New"/>
                <a:sym typeface="Courier New"/>
              </a:rPr>
              <a:t>)}}}</a:t>
            </a:r>
            <a:endParaRPr sz="1600" b="1" dirty="0">
              <a:highlight>
                <a:srgbClr val="FFFFFF"/>
              </a:highlight>
              <a:latin typeface="Courier New"/>
              <a:ea typeface="Courier New"/>
              <a:cs typeface="Courier New"/>
              <a:sym typeface="Courier New"/>
            </a:endParaRPr>
          </a:p>
          <a:p>
            <a:pPr marL="0" lvl="0" indent="0" algn="l" rtl="0">
              <a:lnSpc>
                <a:spcPct val="70000"/>
              </a:lnSpc>
              <a:spcBef>
                <a:spcPts val="1200"/>
              </a:spcBef>
              <a:spcAft>
                <a:spcPts val="0"/>
              </a:spcAft>
              <a:buNone/>
            </a:pPr>
            <a:endParaRPr sz="1600"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358342fc1f7_0_6"/>
          <p:cNvSpPr txBox="1">
            <a:spLocks noGrp="1"/>
          </p:cNvSpPr>
          <p:nvPr>
            <p:ph type="title"/>
          </p:nvPr>
        </p:nvSpPr>
        <p:spPr>
          <a:xfrm>
            <a:off x="1024128" y="585216"/>
            <a:ext cx="9720000" cy="1499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OUTPUT</a:t>
            </a:r>
            <a:endParaRPr/>
          </a:p>
        </p:txBody>
      </p:sp>
      <p:sp>
        <p:nvSpPr>
          <p:cNvPr id="333" name="Google Shape;333;g358342fc1f7_0_6"/>
          <p:cNvSpPr txBox="1">
            <a:spLocks noGrp="1"/>
          </p:cNvSpPr>
          <p:nvPr>
            <p:ph type="body" idx="1"/>
          </p:nvPr>
        </p:nvSpPr>
        <p:spPr>
          <a:xfrm>
            <a:off x="1024128" y="2286000"/>
            <a:ext cx="9720000" cy="4023300"/>
          </a:xfrm>
          <a:prstGeom prst="rect">
            <a:avLst/>
          </a:prstGeom>
        </p:spPr>
        <p:txBody>
          <a:bodyPr spcFirstLastPara="1" wrap="square" lIns="45700" tIns="45700" rIns="45700" bIns="45700" anchor="t" anchorCtr="0">
            <a:normAutofit/>
          </a:bodyPr>
          <a:lstStyle/>
          <a:p>
            <a:pPr marL="0" lvl="0" indent="0" algn="l" rtl="0">
              <a:spcBef>
                <a:spcPts val="1200"/>
              </a:spcBef>
              <a:spcAft>
                <a:spcPts val="0"/>
              </a:spcAft>
              <a:buNone/>
            </a:pPr>
            <a:endParaRPr b="1"/>
          </a:p>
        </p:txBody>
      </p:sp>
      <p:pic>
        <p:nvPicPr>
          <p:cNvPr id="334" name="Google Shape;334;g358342fc1f7_0_6"/>
          <p:cNvPicPr preferRelativeResize="0"/>
          <p:nvPr/>
        </p:nvPicPr>
        <p:blipFill>
          <a:blip r:embed="rId3">
            <a:alphaModFix/>
          </a:blip>
          <a:stretch>
            <a:fillRect/>
          </a:stretch>
        </p:blipFill>
        <p:spPr>
          <a:xfrm>
            <a:off x="1146279" y="2385825"/>
            <a:ext cx="5032300" cy="3802200"/>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JSCROLLPANE</a:t>
            </a:r>
            <a:endParaRPr/>
          </a:p>
        </p:txBody>
      </p:sp>
      <p:sp>
        <p:nvSpPr>
          <p:cNvPr id="340" name="Google Shape;340;p38"/>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err="1"/>
              <a:t>JScrollPane</a:t>
            </a:r>
            <a:r>
              <a:rPr lang="en-US" dirty="0"/>
              <a:t> is a lightweight container that automatically handles the scrolling of another component. The component being scrolled can be either an individual component, such as a table, or a group of components contained within another lightweight container, such as a </a:t>
            </a:r>
            <a:r>
              <a:rPr lang="en-US" dirty="0" err="1"/>
              <a:t>JPanel</a:t>
            </a:r>
            <a:r>
              <a:rPr lang="en-US" dirty="0"/>
              <a:t>. </a:t>
            </a:r>
            <a:endParaRPr dirty="0"/>
          </a:p>
          <a:p>
            <a:pPr marL="114300" lvl="0" indent="0" algn="l" rtl="0">
              <a:lnSpc>
                <a:spcPct val="90000"/>
              </a:lnSpc>
              <a:spcBef>
                <a:spcPts val="1200"/>
              </a:spcBef>
              <a:spcAft>
                <a:spcPts val="0"/>
              </a:spcAft>
              <a:buSzPts val="1800"/>
              <a:buNone/>
            </a:pPr>
            <a:r>
              <a:rPr lang="en-US" dirty="0"/>
              <a:t>In either case, if the object being scrolled is larger than the viewable area, horizontal and/or vertical scroll bars are automatically provided, and the component can be scrolled through the pane. </a:t>
            </a:r>
            <a:endParaRPr dirty="0"/>
          </a:p>
          <a:p>
            <a:pPr marL="114300" lvl="0" indent="0" algn="l" rtl="0">
              <a:lnSpc>
                <a:spcPct val="90000"/>
              </a:lnSpc>
              <a:spcBef>
                <a:spcPts val="1200"/>
              </a:spcBef>
              <a:spcAft>
                <a:spcPts val="0"/>
              </a:spcAft>
              <a:buSzPts val="1800"/>
              <a:buNone/>
            </a:pPr>
            <a:r>
              <a:rPr lang="en-US" dirty="0"/>
              <a:t>Because </a:t>
            </a:r>
            <a:r>
              <a:rPr lang="en-US" dirty="0" err="1"/>
              <a:t>JScrollPane</a:t>
            </a:r>
            <a:r>
              <a:rPr lang="en-US" dirty="0"/>
              <a:t> automates scrolling, it usually eliminates the need to manage individual scroll bars.</a:t>
            </a:r>
            <a:endParaRPr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9"/>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JSCROLLPANE</a:t>
            </a:r>
            <a:endParaRPr/>
          </a:p>
        </p:txBody>
      </p:sp>
      <p:sp>
        <p:nvSpPr>
          <p:cNvPr id="346" name="Google Shape;346;p39"/>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a:t>The viewable area of a scroll pane is called the viewport. It is a window in which the component being scrolled is displayed. Thus, the viewport displays the visible portion of the component being scrolled. The scroll bars scroll the component through the viewport. In its default behavior, a </a:t>
            </a:r>
            <a:r>
              <a:rPr lang="en-US" dirty="0" err="1"/>
              <a:t>JScrollPane</a:t>
            </a:r>
            <a:r>
              <a:rPr lang="en-US" dirty="0"/>
              <a:t> will dynamically add or remove a scroll bar as needed. </a:t>
            </a:r>
            <a:endParaRPr dirty="0"/>
          </a:p>
          <a:p>
            <a:pPr marL="114300" lvl="0" indent="0" algn="l" rtl="0">
              <a:lnSpc>
                <a:spcPct val="90000"/>
              </a:lnSpc>
              <a:spcBef>
                <a:spcPts val="1200"/>
              </a:spcBef>
              <a:spcAft>
                <a:spcPts val="0"/>
              </a:spcAft>
              <a:buSzPts val="1800"/>
              <a:buNone/>
            </a:pPr>
            <a:r>
              <a:rPr lang="en-US" dirty="0" err="1"/>
              <a:t>JScrollPane</a:t>
            </a:r>
            <a:r>
              <a:rPr lang="en-US" dirty="0"/>
              <a:t> defines several constructors. The one used in this chapter is shown here: </a:t>
            </a:r>
            <a:endParaRPr dirty="0"/>
          </a:p>
          <a:p>
            <a:pPr marL="114300" lvl="0" indent="0" algn="l" rtl="0">
              <a:lnSpc>
                <a:spcPct val="90000"/>
              </a:lnSpc>
              <a:spcBef>
                <a:spcPts val="1200"/>
              </a:spcBef>
              <a:spcAft>
                <a:spcPts val="0"/>
              </a:spcAft>
              <a:buSzPts val="1800"/>
              <a:buNone/>
            </a:pPr>
            <a:r>
              <a:rPr lang="en-US" dirty="0" err="1"/>
              <a:t>JScrollPane</a:t>
            </a:r>
            <a:r>
              <a:rPr lang="en-US" dirty="0"/>
              <a:t>(Component comp)</a:t>
            </a:r>
            <a:endParaRPr dirty="0"/>
          </a:p>
          <a:p>
            <a:pPr marL="114300" lvl="0" indent="0" algn="l" rtl="0">
              <a:lnSpc>
                <a:spcPct val="90000"/>
              </a:lnSpc>
              <a:spcBef>
                <a:spcPts val="1200"/>
              </a:spcBef>
              <a:spcAft>
                <a:spcPts val="0"/>
              </a:spcAft>
              <a:buSzPts val="1800"/>
              <a:buNone/>
            </a:pPr>
            <a:r>
              <a:rPr lang="en-US" dirty="0"/>
              <a:t>Scroll bars are automatically displayed when the content of the pane exceeds the dimensions of the viewport.</a:t>
            </a:r>
            <a:endParaRPr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JSCROLLPANE</a:t>
            </a:r>
            <a:endParaRPr/>
          </a:p>
        </p:txBody>
      </p:sp>
      <p:sp>
        <p:nvSpPr>
          <p:cNvPr id="352" name="Google Shape;352;p40"/>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a:t>Here are the steps to follow to use a scroll pane: </a:t>
            </a:r>
            <a:endParaRPr/>
          </a:p>
          <a:p>
            <a:pPr marL="571500" lvl="0" indent="-457200" algn="l" rtl="0">
              <a:lnSpc>
                <a:spcPct val="90000"/>
              </a:lnSpc>
              <a:spcBef>
                <a:spcPts val="1200"/>
              </a:spcBef>
              <a:spcAft>
                <a:spcPts val="0"/>
              </a:spcAft>
              <a:buSzPts val="1800"/>
              <a:buAutoNum type="arabicPeriod"/>
            </a:pPr>
            <a:r>
              <a:rPr lang="en-US"/>
              <a:t>Create the component to be scrolled. </a:t>
            </a:r>
            <a:endParaRPr/>
          </a:p>
          <a:p>
            <a:pPr marL="571500" lvl="0" indent="-457200" algn="l" rtl="0">
              <a:lnSpc>
                <a:spcPct val="90000"/>
              </a:lnSpc>
              <a:spcBef>
                <a:spcPts val="1200"/>
              </a:spcBef>
              <a:spcAft>
                <a:spcPts val="0"/>
              </a:spcAft>
              <a:buSzPts val="1800"/>
              <a:buAutoNum type="arabicPeriod"/>
            </a:pPr>
            <a:r>
              <a:rPr lang="en-US"/>
              <a:t>Create an instance of JScrollPane, passing to it the object to scroll. </a:t>
            </a:r>
            <a:endParaRPr/>
          </a:p>
          <a:p>
            <a:pPr marL="571500" lvl="0" indent="-457200" algn="l" rtl="0">
              <a:lnSpc>
                <a:spcPct val="90000"/>
              </a:lnSpc>
              <a:spcBef>
                <a:spcPts val="1200"/>
              </a:spcBef>
              <a:spcAft>
                <a:spcPts val="0"/>
              </a:spcAft>
              <a:buSzPts val="1800"/>
              <a:buAutoNum type="arabicPeriod"/>
            </a:pPr>
            <a:r>
              <a:rPr lang="en-US"/>
              <a:t>Add the scroll pane to the content pane.</a:t>
            </a:r>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58342fc1f7_0_12"/>
          <p:cNvSpPr txBox="1">
            <a:spLocks noGrp="1"/>
          </p:cNvSpPr>
          <p:nvPr>
            <p:ph type="body" idx="1"/>
          </p:nvPr>
        </p:nvSpPr>
        <p:spPr>
          <a:xfrm>
            <a:off x="1024125" y="353250"/>
            <a:ext cx="9720000" cy="5955900"/>
          </a:xfrm>
          <a:prstGeom prst="rect">
            <a:avLst/>
          </a:prstGeom>
        </p:spPr>
        <p:txBody>
          <a:bodyPr spcFirstLastPara="1" wrap="square" lIns="45700" tIns="45700" rIns="45700" bIns="45700" anchor="t" anchorCtr="0">
            <a:noAutofit/>
          </a:bodyPr>
          <a:lstStyle/>
          <a:p>
            <a:pPr marL="25400" lvl="0" indent="0" algn="l" rtl="0">
              <a:lnSpc>
                <a:spcPct val="115000"/>
              </a:lnSpc>
              <a:spcBef>
                <a:spcPts val="0"/>
              </a:spcBef>
              <a:spcAft>
                <a:spcPts val="0"/>
              </a:spcAft>
              <a:buClr>
                <a:schemeClr val="dk1"/>
              </a:buClr>
              <a:buSzPts val="1100"/>
              <a:buFont typeface="Arial"/>
              <a:buNone/>
            </a:pPr>
            <a:r>
              <a:rPr lang="en-US" sz="1800" b="1" dirty="0">
                <a:solidFill>
                  <a:srgbClr val="7F0055"/>
                </a:solidFill>
                <a:highlight>
                  <a:srgbClr val="FFFFFF"/>
                </a:highlight>
                <a:latin typeface="Courier New"/>
                <a:ea typeface="Courier New"/>
                <a:cs typeface="Courier New"/>
                <a:sym typeface="Courier New"/>
              </a:rPr>
              <a:t>package</a:t>
            </a:r>
            <a:r>
              <a:rPr lang="en-US" sz="1800" b="1" dirty="0">
                <a:highlight>
                  <a:srgbClr val="FFFFFF"/>
                </a:highlight>
                <a:latin typeface="Courier New"/>
                <a:ea typeface="Courier New"/>
                <a:cs typeface="Courier New"/>
                <a:sym typeface="Courier New"/>
              </a:rPr>
              <a:t> temp;</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solidFill>
                  <a:srgbClr val="7F0055"/>
                </a:solidFill>
                <a:highlight>
                  <a:srgbClr val="FFFFFF"/>
                </a:highlight>
                <a:latin typeface="Courier New"/>
                <a:ea typeface="Courier New"/>
                <a:cs typeface="Courier New"/>
                <a:sym typeface="Courier New"/>
              </a:rPr>
              <a:t>import</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javax.swing</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solidFill>
                  <a:srgbClr val="7F0055"/>
                </a:solidFill>
                <a:highlight>
                  <a:srgbClr val="FFFFFF"/>
                </a:highlight>
                <a:latin typeface="Courier New"/>
                <a:ea typeface="Courier New"/>
                <a:cs typeface="Courier New"/>
                <a:sym typeface="Courier New"/>
              </a:rPr>
              <a:t>import</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java.awt</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solidFill>
                  <a:srgbClr val="7F0055"/>
                </a:solidFill>
                <a:highlight>
                  <a:srgbClr val="FFFFFF"/>
                </a:highlight>
                <a:latin typeface="Courier New"/>
                <a:ea typeface="Courier New"/>
                <a:cs typeface="Courier New"/>
                <a:sym typeface="Courier New"/>
              </a:rPr>
              <a:t>public</a:t>
            </a: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class</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JScrollPaneExample</a:t>
            </a:r>
            <a:r>
              <a:rPr lang="en-US" sz="1800" b="1" dirty="0">
                <a:highlight>
                  <a:srgbClr val="FFFFFF"/>
                </a:highlight>
                <a:latin typeface="Courier New"/>
                <a:ea typeface="Courier New"/>
                <a:cs typeface="Courier New"/>
                <a:sym typeface="Courier New"/>
              </a:rPr>
              <a:t> {</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private</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JTextArea</a:t>
            </a:r>
            <a:r>
              <a:rPr lang="en-US" sz="1800" b="1" dirty="0">
                <a:highlight>
                  <a:srgbClr val="FFFFFF"/>
                </a:highlight>
                <a:latin typeface="Courier New"/>
                <a:ea typeface="Courier New"/>
                <a:cs typeface="Courier New"/>
                <a:sym typeface="Courier New"/>
              </a:rPr>
              <a:t> </a:t>
            </a:r>
            <a:r>
              <a:rPr lang="en-US" sz="1800" b="1" u="sng" dirty="0" err="1">
                <a:solidFill>
                  <a:srgbClr val="0000C0"/>
                </a:solidFill>
                <a:highlight>
                  <a:srgbClr val="FFFFFF"/>
                </a:highlight>
                <a:latin typeface="Courier New"/>
                <a:ea typeface="Courier New"/>
                <a:cs typeface="Courier New"/>
                <a:sym typeface="Courier New"/>
              </a:rPr>
              <a:t>textArea</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public</a:t>
            </a: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static</a:t>
            </a: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void</a:t>
            </a:r>
            <a:r>
              <a:rPr lang="en-US" sz="1800" b="1" dirty="0">
                <a:highlight>
                  <a:srgbClr val="FFFFFF"/>
                </a:highlight>
                <a:latin typeface="Courier New"/>
                <a:ea typeface="Courier New"/>
                <a:cs typeface="Courier New"/>
                <a:sym typeface="Courier New"/>
              </a:rPr>
              <a:t> main(String[] </a:t>
            </a:r>
            <a:r>
              <a:rPr lang="en-US" sz="1800" b="1" dirty="0" err="1">
                <a:solidFill>
                  <a:srgbClr val="6A3E3E"/>
                </a:solidFill>
                <a:highlight>
                  <a:srgbClr val="FFFFFF"/>
                </a:highlight>
                <a:latin typeface="Courier New"/>
                <a:ea typeface="Courier New"/>
                <a:cs typeface="Courier New"/>
                <a:sym typeface="Courier New"/>
              </a:rPr>
              <a:t>args</a:t>
            </a:r>
            <a:r>
              <a:rPr lang="en-US" sz="1800" b="1" dirty="0">
                <a:highlight>
                  <a:srgbClr val="FFFFFF"/>
                </a:highlight>
                <a:latin typeface="Courier New"/>
                <a:ea typeface="Courier New"/>
                <a:cs typeface="Courier New"/>
                <a:sym typeface="Courier New"/>
              </a:rPr>
              <a:t>) {</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JScrollPaneExample</a:t>
            </a: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js</a:t>
            </a:r>
            <a:r>
              <a:rPr lang="en-US" sz="1800" b="1" dirty="0">
                <a:highlight>
                  <a:srgbClr val="FFFFFF"/>
                </a:highlight>
                <a:latin typeface="Courier New"/>
                <a:ea typeface="Courier New"/>
                <a:cs typeface="Courier New"/>
                <a:sym typeface="Courier New"/>
              </a:rPr>
              <a:t>=</a:t>
            </a:r>
            <a:r>
              <a:rPr lang="en-US" sz="1800" b="1" dirty="0">
                <a:solidFill>
                  <a:srgbClr val="7F0055"/>
                </a:solidFill>
                <a:highlight>
                  <a:srgbClr val="FFFFFF"/>
                </a:highlight>
                <a:latin typeface="Courier New"/>
                <a:ea typeface="Courier New"/>
                <a:cs typeface="Courier New"/>
                <a:sym typeface="Courier New"/>
              </a:rPr>
              <a:t>new</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JScrollPaneExample</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js</a:t>
            </a:r>
            <a:r>
              <a:rPr lang="en-US" sz="1800" b="1" dirty="0" err="1">
                <a:highlight>
                  <a:srgbClr val="FFFFFF"/>
                </a:highlight>
                <a:latin typeface="Courier New"/>
                <a:ea typeface="Courier New"/>
                <a:cs typeface="Courier New"/>
                <a:sym typeface="Courier New"/>
              </a:rPr>
              <a:t>.setupUI</a:t>
            </a:r>
            <a:r>
              <a:rPr lang="en-US" sz="1800" b="1" dirty="0" smtClean="0">
                <a:highlight>
                  <a:srgbClr val="FFFFFF"/>
                </a:highlight>
                <a:latin typeface="Courier New"/>
                <a:ea typeface="Courier New"/>
                <a:cs typeface="Courier New"/>
                <a:sym typeface="Courier New"/>
              </a:rPr>
              <a:t>();   </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public</a:t>
            </a:r>
            <a:r>
              <a:rPr lang="en-US" sz="1800" b="1" dirty="0">
                <a:highlight>
                  <a:srgbClr val="FFFFFF"/>
                </a:highlight>
                <a:latin typeface="Courier New"/>
                <a:ea typeface="Courier New"/>
                <a:cs typeface="Courier New"/>
                <a:sym typeface="Courier New"/>
              </a:rPr>
              <a:t> </a:t>
            </a:r>
            <a:r>
              <a:rPr lang="en-US" sz="1800" b="1" dirty="0">
                <a:solidFill>
                  <a:srgbClr val="7F0055"/>
                </a:solidFill>
                <a:highlight>
                  <a:srgbClr val="FFFFFF"/>
                </a:highlight>
                <a:latin typeface="Courier New"/>
                <a:ea typeface="Courier New"/>
                <a:cs typeface="Courier New"/>
                <a:sym typeface="Courier New"/>
              </a:rPr>
              <a:t>void</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setupUI</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smtClean="0">
                <a:highlight>
                  <a:srgbClr val="FFFFFF"/>
                </a:highlight>
                <a:latin typeface="Courier New"/>
                <a:ea typeface="Courier New"/>
                <a:cs typeface="Courier New"/>
                <a:sym typeface="Courier New"/>
              </a:rPr>
              <a:t>{</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JFrame</a:t>
            </a:r>
            <a:r>
              <a:rPr lang="en-US" sz="1800" b="1" dirty="0">
                <a:highlight>
                  <a:srgbClr val="FFFFFF"/>
                </a:highlight>
                <a:latin typeface="Courier New"/>
                <a:ea typeface="Courier New"/>
                <a:cs typeface="Courier New"/>
                <a:sym typeface="Courier New"/>
              </a:rPr>
              <a:t> </a:t>
            </a:r>
            <a:r>
              <a:rPr lang="en-US" sz="1800" b="1" dirty="0">
                <a:solidFill>
                  <a:srgbClr val="6A3E3E"/>
                </a:solidFill>
                <a:highlight>
                  <a:srgbClr val="FFFFFF"/>
                </a:highlight>
                <a:latin typeface="Courier New"/>
                <a:ea typeface="Courier New"/>
                <a:cs typeface="Courier New"/>
                <a:sym typeface="Courier New"/>
              </a:rPr>
              <a:t>frame</a:t>
            </a:r>
            <a:r>
              <a:rPr lang="en-US" sz="1800" b="1" dirty="0">
                <a:highlight>
                  <a:srgbClr val="FFFFFF"/>
                </a:highlight>
                <a:latin typeface="Courier New"/>
                <a:ea typeface="Courier New"/>
                <a:cs typeface="Courier New"/>
                <a:sym typeface="Courier New"/>
              </a:rPr>
              <a:t> = </a:t>
            </a:r>
            <a:r>
              <a:rPr lang="en-US" sz="1800" b="1" dirty="0">
                <a:solidFill>
                  <a:srgbClr val="7F0055"/>
                </a:solidFill>
                <a:highlight>
                  <a:srgbClr val="FFFFFF"/>
                </a:highlight>
                <a:latin typeface="Courier New"/>
                <a:ea typeface="Courier New"/>
                <a:cs typeface="Courier New"/>
                <a:sym typeface="Courier New"/>
              </a:rPr>
              <a:t>new</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JFrame</a:t>
            </a:r>
            <a:r>
              <a:rPr lang="en-US" sz="1800" b="1" dirty="0">
                <a:highlight>
                  <a:srgbClr val="FFFFFF"/>
                </a:highlight>
                <a:latin typeface="Courier New"/>
                <a:ea typeface="Courier New"/>
                <a:cs typeface="Courier New"/>
                <a:sym typeface="Courier New"/>
              </a:rPr>
              <a:t>(</a:t>
            </a:r>
            <a:r>
              <a:rPr lang="en-US" sz="1800" b="1" dirty="0">
                <a:solidFill>
                  <a:srgbClr val="2A00FF"/>
                </a:solidFill>
                <a:highlight>
                  <a:srgbClr val="FFFFFF"/>
                </a:highlight>
                <a:latin typeface="Courier New"/>
                <a:ea typeface="Courier New"/>
                <a:cs typeface="Courier New"/>
                <a:sym typeface="Courier New"/>
              </a:rPr>
              <a:t>"</a:t>
            </a:r>
            <a:r>
              <a:rPr lang="en-US" sz="1800" b="1" dirty="0" err="1">
                <a:solidFill>
                  <a:srgbClr val="2A00FF"/>
                </a:solidFill>
                <a:highlight>
                  <a:srgbClr val="FFFFFF"/>
                </a:highlight>
                <a:latin typeface="Courier New"/>
                <a:ea typeface="Courier New"/>
                <a:cs typeface="Courier New"/>
                <a:sym typeface="Courier New"/>
              </a:rPr>
              <a:t>JScrollPane</a:t>
            </a:r>
            <a:r>
              <a:rPr lang="en-US" sz="1800" b="1" dirty="0">
                <a:solidFill>
                  <a:srgbClr val="2A00FF"/>
                </a:solidFill>
                <a:highlight>
                  <a:srgbClr val="FFFFFF"/>
                </a:highlight>
                <a:latin typeface="Courier New"/>
                <a:ea typeface="Courier New"/>
                <a:cs typeface="Courier New"/>
                <a:sym typeface="Courier New"/>
              </a:rPr>
              <a:t> Example"</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frame</a:t>
            </a:r>
            <a:r>
              <a:rPr lang="en-US" sz="1800" b="1" dirty="0" err="1">
                <a:highlight>
                  <a:srgbClr val="FFFFFF"/>
                </a:highlight>
                <a:latin typeface="Courier New"/>
                <a:ea typeface="Courier New"/>
                <a:cs typeface="Courier New"/>
                <a:sym typeface="Courier New"/>
              </a:rPr>
              <a:t>.setSize</a:t>
            </a:r>
            <a:r>
              <a:rPr lang="en-US" sz="1800" b="1" dirty="0">
                <a:highlight>
                  <a:srgbClr val="FFFFFF"/>
                </a:highlight>
                <a:latin typeface="Courier New"/>
                <a:ea typeface="Courier New"/>
                <a:cs typeface="Courier New"/>
                <a:sym typeface="Courier New"/>
              </a:rPr>
              <a:t>(400, 300);</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JTextArea</a:t>
            </a: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textArea</a:t>
            </a:r>
            <a:r>
              <a:rPr lang="en-US" sz="1800" b="1" dirty="0">
                <a:highlight>
                  <a:srgbClr val="FFFFFF"/>
                </a:highlight>
                <a:latin typeface="Courier New"/>
                <a:ea typeface="Courier New"/>
                <a:cs typeface="Courier New"/>
                <a:sym typeface="Courier New"/>
              </a:rPr>
              <a:t> = </a:t>
            </a:r>
            <a:r>
              <a:rPr lang="en-US" sz="1800" b="1" dirty="0">
                <a:solidFill>
                  <a:srgbClr val="7F0055"/>
                </a:solidFill>
                <a:highlight>
                  <a:srgbClr val="FFFFFF"/>
                </a:highlight>
                <a:latin typeface="Courier New"/>
                <a:ea typeface="Courier New"/>
                <a:cs typeface="Courier New"/>
                <a:sym typeface="Courier New"/>
              </a:rPr>
              <a:t>new</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JTextArea</a:t>
            </a:r>
            <a:r>
              <a:rPr lang="en-US" sz="1800" b="1" dirty="0">
                <a:highlight>
                  <a:srgbClr val="FFFFFF"/>
                </a:highlight>
                <a:latin typeface="Courier New"/>
                <a:ea typeface="Courier New"/>
                <a:cs typeface="Courier New"/>
                <a:sym typeface="Courier New"/>
              </a:rPr>
              <a:t>(10, 30); </a:t>
            </a:r>
            <a:r>
              <a:rPr lang="en-US" sz="1800" b="1" dirty="0">
                <a:solidFill>
                  <a:srgbClr val="3F7F5F"/>
                </a:solidFill>
                <a:highlight>
                  <a:srgbClr val="FFFFFF"/>
                </a:highlight>
                <a:latin typeface="Courier New"/>
                <a:ea typeface="Courier New"/>
                <a:cs typeface="Courier New"/>
                <a:sym typeface="Courier New"/>
              </a:rPr>
              <a:t>// 10 rows, 30 </a:t>
            </a:r>
            <a:r>
              <a:rPr lang="en-US" sz="1800" b="1" dirty="0" smtClean="0">
                <a:solidFill>
                  <a:srgbClr val="3F7F5F"/>
                </a:solidFill>
                <a:highlight>
                  <a:srgbClr val="FFFFFF"/>
                </a:highlight>
                <a:latin typeface="Courier New"/>
                <a:ea typeface="Courier New"/>
                <a:cs typeface="Courier New"/>
                <a:sym typeface="Courier New"/>
              </a:rPr>
              <a:t>cols</a:t>
            </a:r>
            <a:endParaRPr sz="1800" b="1" dirty="0">
              <a:solidFill>
                <a:srgbClr val="3F7F5F"/>
              </a:solidFill>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textArea</a:t>
            </a:r>
            <a:r>
              <a:rPr lang="en-US" sz="1800" b="1" dirty="0" err="1">
                <a:highlight>
                  <a:srgbClr val="FFFFFF"/>
                </a:highlight>
                <a:latin typeface="Courier New"/>
                <a:ea typeface="Courier New"/>
                <a:cs typeface="Courier New"/>
                <a:sym typeface="Courier New"/>
              </a:rPr>
              <a:t>.setText</a:t>
            </a:r>
            <a:r>
              <a:rPr lang="en-US" sz="1800" b="1" dirty="0">
                <a:highlight>
                  <a:srgbClr val="FFFFFF"/>
                </a:highlight>
                <a:latin typeface="Courier New"/>
                <a:ea typeface="Courier New"/>
                <a:cs typeface="Courier New"/>
                <a:sym typeface="Courier New"/>
              </a:rPr>
              <a:t>(</a:t>
            </a:r>
            <a:r>
              <a:rPr lang="en-US" sz="1800" b="1" dirty="0">
                <a:solidFill>
                  <a:srgbClr val="2A00FF"/>
                </a:solidFill>
                <a:highlight>
                  <a:srgbClr val="FFFFFF"/>
                </a:highlight>
                <a:latin typeface="Courier New"/>
                <a:ea typeface="Courier New"/>
                <a:cs typeface="Courier New"/>
                <a:sym typeface="Courier New"/>
              </a:rPr>
              <a:t>"This is a simple example of </a:t>
            </a:r>
            <a:r>
              <a:rPr lang="en-US" sz="1800" b="1" dirty="0" err="1">
                <a:solidFill>
                  <a:srgbClr val="2A00FF"/>
                </a:solidFill>
                <a:highlight>
                  <a:srgbClr val="FFFFFF"/>
                </a:highlight>
                <a:latin typeface="Courier New"/>
                <a:ea typeface="Courier New"/>
                <a:cs typeface="Courier New"/>
                <a:sym typeface="Courier New"/>
              </a:rPr>
              <a:t>JScrollPane</a:t>
            </a:r>
            <a:r>
              <a:rPr lang="en-US" sz="1800" b="1" dirty="0">
                <a:solidFill>
                  <a:srgbClr val="2A00FF"/>
                </a:solidFill>
                <a:highlight>
                  <a:srgbClr val="FFFFFF"/>
                </a:highlight>
                <a:latin typeface="Courier New"/>
                <a:ea typeface="Courier New"/>
                <a:cs typeface="Courier New"/>
                <a:sym typeface="Courier New"/>
              </a:rPr>
              <a:t> with </a:t>
            </a:r>
            <a:r>
              <a:rPr lang="en-US" sz="1800" b="1" dirty="0" err="1">
                <a:solidFill>
                  <a:srgbClr val="2A00FF"/>
                </a:solidFill>
                <a:highlight>
                  <a:srgbClr val="FFFFFF"/>
                </a:highlight>
                <a:latin typeface="Courier New"/>
                <a:ea typeface="Courier New"/>
                <a:cs typeface="Courier New"/>
                <a:sym typeface="Courier New"/>
              </a:rPr>
              <a:t>JTextArea</a:t>
            </a:r>
            <a:r>
              <a:rPr lang="en-US" sz="1800" b="1" dirty="0">
                <a:solidFill>
                  <a:srgbClr val="2A00FF"/>
                </a:solidFill>
                <a:highlight>
                  <a:srgbClr val="FFFFFF"/>
                </a:highlight>
                <a:latin typeface="Courier New"/>
                <a:ea typeface="Courier New"/>
                <a:cs typeface="Courier New"/>
                <a:sym typeface="Courier New"/>
              </a:rPr>
              <a:t>.\</a:t>
            </a:r>
            <a:r>
              <a:rPr lang="en-US" sz="1800" b="1" dirty="0" err="1">
                <a:solidFill>
                  <a:srgbClr val="2A00FF"/>
                </a:solidFill>
                <a:highlight>
                  <a:srgbClr val="FFFFFF"/>
                </a:highlight>
                <a:latin typeface="Courier New"/>
                <a:ea typeface="Courier New"/>
                <a:cs typeface="Courier New"/>
                <a:sym typeface="Courier New"/>
              </a:rPr>
              <a:t>nYou</a:t>
            </a:r>
            <a:r>
              <a:rPr lang="en-US" sz="1800" b="1" dirty="0">
                <a:solidFill>
                  <a:srgbClr val="2A00FF"/>
                </a:solidFill>
                <a:highlight>
                  <a:srgbClr val="FFFFFF"/>
                </a:highlight>
                <a:latin typeface="Courier New"/>
                <a:ea typeface="Courier New"/>
                <a:cs typeface="Courier New"/>
                <a:sym typeface="Courier New"/>
              </a:rPr>
              <a:t> can scroll when the text overflows.\</a:t>
            </a:r>
            <a:r>
              <a:rPr lang="en-US" sz="1800" b="1" dirty="0" err="1">
                <a:solidFill>
                  <a:srgbClr val="2A00FF"/>
                </a:solidFill>
                <a:highlight>
                  <a:srgbClr val="FFFFFF"/>
                </a:highlight>
                <a:latin typeface="Courier New"/>
                <a:ea typeface="Courier New"/>
                <a:cs typeface="Courier New"/>
                <a:sym typeface="Courier New"/>
              </a:rPr>
              <a:t>nTry</a:t>
            </a:r>
            <a:r>
              <a:rPr lang="en-US" sz="1800" b="1" dirty="0">
                <a:solidFill>
                  <a:srgbClr val="2A00FF"/>
                </a:solidFill>
                <a:highlight>
                  <a:srgbClr val="FFFFFF"/>
                </a:highlight>
                <a:latin typeface="Courier New"/>
                <a:ea typeface="Courier New"/>
                <a:cs typeface="Courier New"/>
                <a:sym typeface="Courier New"/>
              </a:rPr>
              <a:t> adding more text!"</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JScrollPane</a:t>
            </a: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scrollPane</a:t>
            </a:r>
            <a:r>
              <a:rPr lang="en-US" sz="1800" b="1" dirty="0">
                <a:highlight>
                  <a:srgbClr val="FFFFFF"/>
                </a:highlight>
                <a:latin typeface="Courier New"/>
                <a:ea typeface="Courier New"/>
                <a:cs typeface="Courier New"/>
                <a:sym typeface="Courier New"/>
              </a:rPr>
              <a:t> = </a:t>
            </a:r>
            <a:r>
              <a:rPr lang="en-US" sz="1800" b="1" dirty="0">
                <a:solidFill>
                  <a:srgbClr val="7F0055"/>
                </a:solidFill>
                <a:highlight>
                  <a:srgbClr val="FFFFFF"/>
                </a:highlight>
                <a:latin typeface="Courier New"/>
                <a:ea typeface="Courier New"/>
                <a:cs typeface="Courier New"/>
                <a:sym typeface="Courier New"/>
              </a:rPr>
              <a:t>new</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JScrollPane</a:t>
            </a:r>
            <a:r>
              <a:rPr lang="en-US" sz="1800" b="1" dirty="0">
                <a:highlight>
                  <a:srgbClr val="FFFFFF"/>
                </a:highlight>
                <a:latin typeface="Courier New"/>
                <a:ea typeface="Courier New"/>
                <a:cs typeface="Courier New"/>
                <a:sym typeface="Courier New"/>
              </a:rPr>
              <a:t>(</a:t>
            </a:r>
            <a:r>
              <a:rPr lang="en-US" sz="1800" b="1" dirty="0" err="1">
                <a:solidFill>
                  <a:srgbClr val="6A3E3E"/>
                </a:solidFill>
                <a:highlight>
                  <a:srgbClr val="FFFFFF"/>
                </a:highlight>
                <a:latin typeface="Courier New"/>
                <a:ea typeface="Courier New"/>
                <a:cs typeface="Courier New"/>
                <a:sym typeface="Courier New"/>
              </a:rPr>
              <a:t>textArea</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err="1" smtClean="0">
                <a:solidFill>
                  <a:srgbClr val="6A3E3E"/>
                </a:solidFill>
                <a:highlight>
                  <a:srgbClr val="FFFFFF"/>
                </a:highlight>
                <a:latin typeface="Courier New"/>
                <a:ea typeface="Courier New"/>
                <a:cs typeface="Courier New"/>
                <a:sym typeface="Courier New"/>
              </a:rPr>
              <a:t>scrollPane</a:t>
            </a:r>
            <a:r>
              <a:rPr lang="en-US" sz="1800" b="1" dirty="0" err="1" smtClean="0">
                <a:highlight>
                  <a:srgbClr val="FFFFFF"/>
                </a:highlight>
                <a:latin typeface="Courier New"/>
                <a:ea typeface="Courier New"/>
                <a:cs typeface="Courier New"/>
                <a:sym typeface="Courier New"/>
              </a:rPr>
              <a:t>.setHorizontalScrollBarPolicy</a:t>
            </a:r>
            <a:r>
              <a:rPr lang="en-US" sz="1800" b="1" dirty="0" smtClean="0">
                <a:highlight>
                  <a:srgbClr val="FFFFFF"/>
                </a:highlight>
                <a:latin typeface="Courier New"/>
                <a:ea typeface="Courier New"/>
                <a:cs typeface="Courier New"/>
                <a:sym typeface="Courier New"/>
              </a:rPr>
              <a:t>(</a:t>
            </a:r>
            <a:r>
              <a:rPr lang="en-US" sz="1800" b="1" dirty="0" err="1" smtClean="0">
                <a:highlight>
                  <a:srgbClr val="FFFFFF"/>
                </a:highlight>
                <a:latin typeface="Courier New"/>
                <a:ea typeface="Courier New"/>
                <a:cs typeface="Courier New"/>
                <a:sym typeface="Courier New"/>
              </a:rPr>
              <a:t>JScrollPane.</a:t>
            </a:r>
            <a:r>
              <a:rPr lang="en-US" sz="1800" b="1" i="1" dirty="0" err="1" smtClean="0">
                <a:solidFill>
                  <a:srgbClr val="0000C0"/>
                </a:solidFill>
                <a:highlight>
                  <a:srgbClr val="FFFFFF"/>
                </a:highlight>
                <a:latin typeface="Courier New"/>
                <a:ea typeface="Courier New"/>
                <a:cs typeface="Courier New"/>
                <a:sym typeface="Courier New"/>
              </a:rPr>
              <a:t>HORIZONTAL_SCROLLBAR_ALWAYS</a:t>
            </a:r>
            <a:r>
              <a:rPr lang="en-US" sz="1800" b="1" dirty="0" smtClean="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scrollPane</a:t>
            </a:r>
            <a:r>
              <a:rPr lang="en-US" sz="1800" b="1" dirty="0" err="1">
                <a:highlight>
                  <a:srgbClr val="FFFFFF"/>
                </a:highlight>
                <a:latin typeface="Courier New"/>
                <a:ea typeface="Courier New"/>
                <a:cs typeface="Courier New"/>
                <a:sym typeface="Courier New"/>
              </a:rPr>
              <a:t>.setVerticalScrollBarPolicy</a:t>
            </a:r>
            <a:r>
              <a:rPr lang="en-US" sz="1800" b="1" dirty="0">
                <a:highlight>
                  <a:srgbClr val="FFFFFF"/>
                </a:highlight>
                <a:latin typeface="Courier New"/>
                <a:ea typeface="Courier New"/>
                <a:cs typeface="Courier New"/>
                <a:sym typeface="Courier New"/>
              </a:rPr>
              <a:t>(</a:t>
            </a:r>
            <a:r>
              <a:rPr lang="en-US" sz="1800" b="1" dirty="0" err="1">
                <a:highlight>
                  <a:srgbClr val="FFFFFF"/>
                </a:highlight>
                <a:latin typeface="Courier New"/>
                <a:ea typeface="Courier New"/>
                <a:cs typeface="Courier New"/>
                <a:sym typeface="Courier New"/>
              </a:rPr>
              <a:t>JScrollPane.</a:t>
            </a:r>
            <a:r>
              <a:rPr lang="en-US" sz="1800" b="1" i="1" dirty="0" err="1">
                <a:solidFill>
                  <a:srgbClr val="0000C0"/>
                </a:solidFill>
                <a:highlight>
                  <a:srgbClr val="FFFFFF"/>
                </a:highlight>
                <a:latin typeface="Courier New"/>
                <a:ea typeface="Courier New"/>
                <a:cs typeface="Courier New"/>
                <a:sym typeface="Courier New"/>
              </a:rPr>
              <a:t>VERTICAL_SCROLLBAR_ALWAYS</a:t>
            </a:r>
            <a:r>
              <a:rPr lang="en-US" sz="1800" b="1" dirty="0" smtClean="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frame</a:t>
            </a:r>
            <a:r>
              <a:rPr lang="en-US" sz="1800" b="1" dirty="0" err="1">
                <a:highlight>
                  <a:srgbClr val="FFFFFF"/>
                </a:highlight>
                <a:latin typeface="Courier New"/>
                <a:ea typeface="Courier New"/>
                <a:cs typeface="Courier New"/>
                <a:sym typeface="Courier New"/>
              </a:rPr>
              <a:t>.add</a:t>
            </a:r>
            <a:r>
              <a:rPr lang="en-US" sz="1800" b="1" dirty="0">
                <a:highlight>
                  <a:srgbClr val="FFFFFF"/>
                </a:highlight>
                <a:latin typeface="Courier New"/>
                <a:ea typeface="Courier New"/>
                <a:cs typeface="Courier New"/>
                <a:sym typeface="Courier New"/>
              </a:rPr>
              <a:t>(</a:t>
            </a:r>
            <a:r>
              <a:rPr lang="en-US" sz="1800" b="1" dirty="0" err="1">
                <a:solidFill>
                  <a:srgbClr val="6A3E3E"/>
                </a:solidFill>
                <a:highlight>
                  <a:srgbClr val="FFFFFF"/>
                </a:highlight>
                <a:latin typeface="Courier New"/>
                <a:ea typeface="Courier New"/>
                <a:cs typeface="Courier New"/>
                <a:sym typeface="Courier New"/>
              </a:rPr>
              <a:t>scrollPane</a:t>
            </a:r>
            <a:r>
              <a:rPr lang="en-US" sz="1800" b="1" dirty="0">
                <a:highlight>
                  <a:srgbClr val="FFFFFF"/>
                </a:highlight>
                <a:latin typeface="Courier New"/>
                <a:ea typeface="Courier New"/>
                <a:cs typeface="Courier New"/>
                <a:sym typeface="Courier New"/>
              </a:rPr>
              <a:t>, </a:t>
            </a:r>
            <a:r>
              <a:rPr lang="en-US" sz="1800" b="1" dirty="0" err="1">
                <a:highlight>
                  <a:srgbClr val="FFFFFF"/>
                </a:highlight>
                <a:latin typeface="Courier New"/>
                <a:ea typeface="Courier New"/>
                <a:cs typeface="Courier New"/>
                <a:sym typeface="Courier New"/>
              </a:rPr>
              <a:t>BorderLayout.</a:t>
            </a:r>
            <a:r>
              <a:rPr lang="en-US" sz="1800" b="1" i="1" dirty="0" err="1">
                <a:solidFill>
                  <a:srgbClr val="0000C0"/>
                </a:solidFill>
                <a:highlight>
                  <a:srgbClr val="FFFFFF"/>
                </a:highlight>
                <a:latin typeface="Courier New"/>
                <a:ea typeface="Courier New"/>
                <a:cs typeface="Courier New"/>
                <a:sym typeface="Courier New"/>
              </a:rPr>
              <a:t>CENTER</a:t>
            </a:r>
            <a:r>
              <a:rPr lang="en-US" sz="1800" b="1" dirty="0">
                <a:highlight>
                  <a:srgbClr val="FFFFFF"/>
                </a:highlight>
                <a:latin typeface="Courier New"/>
                <a:ea typeface="Courier New"/>
                <a:cs typeface="Courier New"/>
                <a:sym typeface="Courier New"/>
              </a:rPr>
              <a:t>);</a:t>
            </a:r>
            <a:endParaRPr sz="1800" b="1" dirty="0">
              <a:highlight>
                <a:srgbClr val="FFFFFF"/>
              </a:highlight>
              <a:latin typeface="Courier New"/>
              <a:ea typeface="Courier New"/>
              <a:cs typeface="Courier New"/>
              <a:sym typeface="Courier New"/>
            </a:endParaRPr>
          </a:p>
          <a:p>
            <a:pPr marL="25400" lvl="0" indent="0" algn="l" rtl="0">
              <a:lnSpc>
                <a:spcPct val="115000"/>
              </a:lnSpc>
              <a:spcBef>
                <a:spcPts val="0"/>
              </a:spcBef>
              <a:spcAft>
                <a:spcPts val="0"/>
              </a:spcAft>
              <a:buClr>
                <a:schemeClr val="dk1"/>
              </a:buClr>
              <a:buSzPts val="1100"/>
              <a:buFont typeface="Arial"/>
              <a:buNone/>
            </a:pPr>
            <a:r>
              <a:rPr lang="en-US" sz="1800" b="1" dirty="0">
                <a:highlight>
                  <a:srgbClr val="FFFFFF"/>
                </a:highlight>
                <a:latin typeface="Courier New"/>
                <a:ea typeface="Courier New"/>
                <a:cs typeface="Courier New"/>
                <a:sym typeface="Courier New"/>
              </a:rPr>
              <a:t>       </a:t>
            </a:r>
            <a:r>
              <a:rPr lang="en-US" sz="1800" b="1" dirty="0" err="1">
                <a:solidFill>
                  <a:srgbClr val="6A3E3E"/>
                </a:solidFill>
                <a:highlight>
                  <a:srgbClr val="FFFFFF"/>
                </a:highlight>
                <a:latin typeface="Courier New"/>
                <a:ea typeface="Courier New"/>
                <a:cs typeface="Courier New"/>
                <a:sym typeface="Courier New"/>
              </a:rPr>
              <a:t>frame</a:t>
            </a:r>
            <a:r>
              <a:rPr lang="en-US" sz="1800" b="1" dirty="0" err="1">
                <a:highlight>
                  <a:srgbClr val="FFFFFF"/>
                </a:highlight>
                <a:latin typeface="Courier New"/>
                <a:ea typeface="Courier New"/>
                <a:cs typeface="Courier New"/>
                <a:sym typeface="Courier New"/>
              </a:rPr>
              <a:t>.setVisible</a:t>
            </a:r>
            <a:r>
              <a:rPr lang="en-US" sz="1800" b="1" dirty="0">
                <a:highlight>
                  <a:srgbClr val="FFFFFF"/>
                </a:highlight>
                <a:latin typeface="Courier New"/>
                <a:ea typeface="Courier New"/>
                <a:cs typeface="Courier New"/>
                <a:sym typeface="Courier New"/>
              </a:rPr>
              <a:t>(</a:t>
            </a:r>
            <a:r>
              <a:rPr lang="en-US" sz="1800" b="1" dirty="0">
                <a:solidFill>
                  <a:srgbClr val="7F0055"/>
                </a:solidFill>
                <a:highlight>
                  <a:srgbClr val="FFFFFF"/>
                </a:highlight>
                <a:latin typeface="Courier New"/>
                <a:ea typeface="Courier New"/>
                <a:cs typeface="Courier New"/>
                <a:sym typeface="Courier New"/>
              </a:rPr>
              <a:t>true</a:t>
            </a:r>
            <a:r>
              <a:rPr lang="en-US" sz="1800" b="1" dirty="0">
                <a:highlight>
                  <a:srgbClr val="FFFFFF"/>
                </a:highlight>
                <a:latin typeface="Courier New"/>
                <a:ea typeface="Courier New"/>
                <a:cs typeface="Courier New"/>
                <a:sym typeface="Courier New"/>
              </a:rPr>
              <a:t>);		}}</a:t>
            </a:r>
            <a:endParaRPr sz="1800" b="1" dirty="0">
              <a:highlight>
                <a:srgbClr val="FFFFFF"/>
              </a:highlight>
              <a:latin typeface="Courier New"/>
              <a:ea typeface="Courier New"/>
              <a:cs typeface="Courier New"/>
              <a:sym typeface="Courier New"/>
            </a:endParaRPr>
          </a:p>
          <a:p>
            <a:pPr marL="0" lvl="0" indent="0" algn="l" rtl="0">
              <a:spcBef>
                <a:spcPts val="1200"/>
              </a:spcBef>
              <a:spcAft>
                <a:spcPts val="0"/>
              </a:spcAft>
              <a:buNone/>
            </a:pPr>
            <a:endParaRPr sz="1800" b="1"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g358342fc1f7_0_18"/>
          <p:cNvSpPr txBox="1">
            <a:spLocks noGrp="1"/>
          </p:cNvSpPr>
          <p:nvPr>
            <p:ph type="title"/>
          </p:nvPr>
        </p:nvSpPr>
        <p:spPr>
          <a:xfrm>
            <a:off x="1024128" y="585216"/>
            <a:ext cx="9720000" cy="1499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OUTPUT</a:t>
            </a:r>
            <a:endParaRPr/>
          </a:p>
        </p:txBody>
      </p:sp>
      <p:sp>
        <p:nvSpPr>
          <p:cNvPr id="363" name="Google Shape;363;g358342fc1f7_0_18"/>
          <p:cNvSpPr txBox="1">
            <a:spLocks noGrp="1"/>
          </p:cNvSpPr>
          <p:nvPr>
            <p:ph type="body" idx="1"/>
          </p:nvPr>
        </p:nvSpPr>
        <p:spPr>
          <a:xfrm>
            <a:off x="1024128" y="2286000"/>
            <a:ext cx="9720000" cy="4023300"/>
          </a:xfrm>
          <a:prstGeom prst="rect">
            <a:avLst/>
          </a:prstGeom>
        </p:spPr>
        <p:txBody>
          <a:bodyPr spcFirstLastPara="1" wrap="square" lIns="45700" tIns="45700" rIns="45700" bIns="45700" anchor="t" anchorCtr="0">
            <a:normAutofit/>
          </a:bodyPr>
          <a:lstStyle/>
          <a:p>
            <a:pPr marL="0" lvl="0" indent="0" algn="l" rtl="0">
              <a:spcBef>
                <a:spcPts val="1200"/>
              </a:spcBef>
              <a:spcAft>
                <a:spcPts val="0"/>
              </a:spcAft>
              <a:buNone/>
            </a:pPr>
            <a:endParaRPr/>
          </a:p>
        </p:txBody>
      </p:sp>
      <p:pic>
        <p:nvPicPr>
          <p:cNvPr id="364" name="Google Shape;364;g358342fc1f7_0_18"/>
          <p:cNvPicPr preferRelativeResize="0"/>
          <p:nvPr/>
        </p:nvPicPr>
        <p:blipFill>
          <a:blip r:embed="rId3">
            <a:alphaModFix/>
          </a:blip>
          <a:stretch>
            <a:fillRect/>
          </a:stretch>
        </p:blipFill>
        <p:spPr>
          <a:xfrm>
            <a:off x="1143600" y="2347202"/>
            <a:ext cx="6737625" cy="4230625"/>
          </a:xfrm>
          <a:prstGeom prst="rect">
            <a:avLst/>
          </a:prstGeom>
          <a:noFill/>
          <a:ln>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1"/>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JLIST</a:t>
            </a:r>
            <a:endParaRPr/>
          </a:p>
        </p:txBody>
      </p:sp>
      <p:sp>
        <p:nvSpPr>
          <p:cNvPr id="370" name="Google Shape;370;p41"/>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a:t>In Swing, the basic list class is called JList. It supports the selection of one or more items from a list. Although the list often consists of strings, it is possible to create a list of just about any object that can be displayed.</a:t>
            </a:r>
            <a:endParaRPr/>
          </a:p>
          <a:p>
            <a:pPr marL="114300" lvl="0" indent="0" algn="l" rtl="0">
              <a:lnSpc>
                <a:spcPct val="90000"/>
              </a:lnSpc>
              <a:spcBef>
                <a:spcPts val="1200"/>
              </a:spcBef>
              <a:spcAft>
                <a:spcPts val="0"/>
              </a:spcAft>
              <a:buSzPts val="1800"/>
              <a:buNone/>
            </a:pPr>
            <a:r>
              <a:rPr lang="en-US"/>
              <a:t>beginning with JDK 7, JList was made generic and is now declared like this: class JList Here, E represents the type of the items in the list. JList provides several constructors. The one used here is </a:t>
            </a:r>
            <a:endParaRPr/>
          </a:p>
          <a:p>
            <a:pPr marL="114300" lvl="0" indent="0" algn="l" rtl="0">
              <a:lnSpc>
                <a:spcPct val="90000"/>
              </a:lnSpc>
              <a:spcBef>
                <a:spcPts val="1200"/>
              </a:spcBef>
              <a:spcAft>
                <a:spcPts val="0"/>
              </a:spcAft>
              <a:buSzPts val="1800"/>
              <a:buNone/>
            </a:pPr>
            <a:r>
              <a:rPr lang="en-US"/>
              <a:t>JList(E[ ] items) </a:t>
            </a:r>
            <a:endParaRPr/>
          </a:p>
          <a:p>
            <a:pPr marL="114300" lvl="0" indent="0" algn="l" rtl="0">
              <a:lnSpc>
                <a:spcPct val="90000"/>
              </a:lnSpc>
              <a:spcBef>
                <a:spcPts val="1200"/>
              </a:spcBef>
              <a:spcAft>
                <a:spcPts val="0"/>
              </a:spcAft>
              <a:buSzPts val="1800"/>
              <a:buNone/>
            </a:pPr>
            <a:r>
              <a:rPr lang="en-US"/>
              <a:t>This creates a JList that contains the items in the array specified by items</a:t>
            </a:r>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JLIST</a:t>
            </a:r>
            <a:endParaRPr/>
          </a:p>
        </p:txBody>
      </p:sp>
      <p:sp>
        <p:nvSpPr>
          <p:cNvPr id="376" name="Google Shape;376;p42"/>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a:t>A </a:t>
            </a:r>
            <a:r>
              <a:rPr lang="en-US" dirty="0" err="1"/>
              <a:t>JList</a:t>
            </a:r>
            <a:r>
              <a:rPr lang="en-US" dirty="0"/>
              <a:t> generates a </a:t>
            </a:r>
            <a:r>
              <a:rPr lang="en-US" b="1" dirty="0" err="1"/>
              <a:t>ListSelectionEvent</a:t>
            </a:r>
            <a:r>
              <a:rPr lang="en-US" dirty="0"/>
              <a:t> when the user makes or changes a selection. This event is also generated when the user deselects an item. It is handled by implementing </a:t>
            </a:r>
            <a:r>
              <a:rPr lang="en-US" b="1" dirty="0" err="1"/>
              <a:t>ListSelectionListener</a:t>
            </a:r>
            <a:r>
              <a:rPr lang="en-US" b="1" dirty="0"/>
              <a:t>. </a:t>
            </a:r>
            <a:r>
              <a:rPr lang="en-US" dirty="0"/>
              <a:t>This listener specifies only one method, called </a:t>
            </a:r>
            <a:r>
              <a:rPr lang="en-US" b="1" dirty="0" err="1"/>
              <a:t>valueChanged</a:t>
            </a:r>
            <a:r>
              <a:rPr lang="en-US" b="1" dirty="0"/>
              <a:t>( ), </a:t>
            </a:r>
            <a:r>
              <a:rPr lang="en-US" dirty="0"/>
              <a:t>which is shown here: </a:t>
            </a:r>
            <a:endParaRPr dirty="0"/>
          </a:p>
          <a:p>
            <a:pPr marL="114300" lvl="0" indent="0" algn="l" rtl="0">
              <a:lnSpc>
                <a:spcPct val="90000"/>
              </a:lnSpc>
              <a:spcBef>
                <a:spcPts val="1200"/>
              </a:spcBef>
              <a:spcAft>
                <a:spcPts val="0"/>
              </a:spcAft>
              <a:buSzPts val="1800"/>
              <a:buNone/>
            </a:pPr>
            <a:r>
              <a:rPr lang="en-US" dirty="0"/>
              <a:t>void </a:t>
            </a:r>
            <a:r>
              <a:rPr lang="en-US" dirty="0" err="1"/>
              <a:t>valueChanged</a:t>
            </a:r>
            <a:r>
              <a:rPr lang="en-US" dirty="0"/>
              <a:t>(</a:t>
            </a:r>
            <a:r>
              <a:rPr lang="en-US" dirty="0" err="1"/>
              <a:t>ListSelectionEvent</a:t>
            </a:r>
            <a:r>
              <a:rPr lang="en-US" dirty="0"/>
              <a:t> le)</a:t>
            </a:r>
            <a:endParaRPr dirty="0"/>
          </a:p>
          <a:p>
            <a:pPr marL="114300" lvl="0" indent="0" algn="l" rtl="0">
              <a:lnSpc>
                <a:spcPct val="90000"/>
              </a:lnSpc>
              <a:spcBef>
                <a:spcPts val="1200"/>
              </a:spcBef>
              <a:spcAft>
                <a:spcPts val="0"/>
              </a:spcAft>
              <a:buSzPts val="1800"/>
              <a:buNone/>
            </a:pPr>
            <a:r>
              <a:rPr lang="en-US" dirty="0"/>
              <a:t> Here, le is a reference to the event. Although </a:t>
            </a:r>
            <a:r>
              <a:rPr lang="en-US" dirty="0" err="1"/>
              <a:t>ListSelectionEvent</a:t>
            </a:r>
            <a:r>
              <a:rPr lang="en-US" dirty="0"/>
              <a:t> does provide some methods of its own, normally you will interrogate the </a:t>
            </a:r>
            <a:r>
              <a:rPr lang="en-US" dirty="0" err="1"/>
              <a:t>JList</a:t>
            </a:r>
            <a:r>
              <a:rPr lang="en-US" dirty="0"/>
              <a:t> object itself to determine what has occurred. Both </a:t>
            </a:r>
            <a:r>
              <a:rPr lang="en-US" dirty="0" err="1"/>
              <a:t>ListSelectionEvent</a:t>
            </a:r>
            <a:r>
              <a:rPr lang="en-US" dirty="0"/>
              <a:t> and </a:t>
            </a:r>
            <a:r>
              <a:rPr lang="en-US" dirty="0" err="1"/>
              <a:t>ListSelectionListener</a:t>
            </a:r>
            <a:r>
              <a:rPr lang="en-US" dirty="0"/>
              <a:t> are packaged in </a:t>
            </a:r>
            <a:r>
              <a:rPr lang="en-US" dirty="0" err="1"/>
              <a:t>javax.swing.event</a:t>
            </a:r>
            <a:r>
              <a:rPr lang="en-US" dirty="0"/>
              <a:t>.</a:t>
            </a:r>
            <a:endParaRPr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3"/>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JLIST</a:t>
            </a:r>
            <a:endParaRPr/>
          </a:p>
        </p:txBody>
      </p:sp>
      <p:sp>
        <p:nvSpPr>
          <p:cNvPr id="382" name="Google Shape;382;p43"/>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a:t>By default, a </a:t>
            </a:r>
            <a:r>
              <a:rPr lang="en-US" dirty="0" err="1"/>
              <a:t>JList</a:t>
            </a:r>
            <a:r>
              <a:rPr lang="en-US" dirty="0"/>
              <a:t> allows the user to select multiple ranges of items within the list, but you can change this behavior by calling </a:t>
            </a:r>
            <a:r>
              <a:rPr lang="en-US" b="1" dirty="0" err="1"/>
              <a:t>setSelectionMode</a:t>
            </a:r>
            <a:r>
              <a:rPr lang="en-US" b="1" dirty="0"/>
              <a:t>( ), </a:t>
            </a:r>
            <a:r>
              <a:rPr lang="en-US" dirty="0"/>
              <a:t>which is defined by </a:t>
            </a:r>
            <a:r>
              <a:rPr lang="en-US" dirty="0" err="1"/>
              <a:t>JList</a:t>
            </a:r>
            <a:r>
              <a:rPr lang="en-US" dirty="0"/>
              <a:t>. It is shown here: </a:t>
            </a:r>
            <a:endParaRPr dirty="0"/>
          </a:p>
          <a:p>
            <a:pPr marL="114300" lvl="0" indent="0" algn="l" rtl="0">
              <a:lnSpc>
                <a:spcPct val="90000"/>
              </a:lnSpc>
              <a:spcBef>
                <a:spcPts val="1200"/>
              </a:spcBef>
              <a:spcAft>
                <a:spcPts val="0"/>
              </a:spcAft>
              <a:buSzPts val="1800"/>
              <a:buNone/>
            </a:pPr>
            <a:r>
              <a:rPr lang="en-US" b="1" dirty="0"/>
              <a:t>void </a:t>
            </a:r>
            <a:r>
              <a:rPr lang="en-US" b="1" dirty="0" err="1"/>
              <a:t>setSelectionMode</a:t>
            </a:r>
            <a:r>
              <a:rPr lang="en-US" b="1" dirty="0"/>
              <a:t>(</a:t>
            </a:r>
            <a:r>
              <a:rPr lang="en-US" b="1" dirty="0" err="1"/>
              <a:t>int</a:t>
            </a:r>
            <a:r>
              <a:rPr lang="en-US" b="1" dirty="0"/>
              <a:t> mode) </a:t>
            </a:r>
            <a:endParaRPr b="1" dirty="0"/>
          </a:p>
          <a:p>
            <a:pPr marL="114300" lvl="0" indent="0" algn="l" rtl="0">
              <a:lnSpc>
                <a:spcPct val="90000"/>
              </a:lnSpc>
              <a:spcBef>
                <a:spcPts val="1200"/>
              </a:spcBef>
              <a:spcAft>
                <a:spcPts val="0"/>
              </a:spcAft>
              <a:buSzPts val="1800"/>
              <a:buNone/>
            </a:pPr>
            <a:r>
              <a:rPr lang="en-US" dirty="0"/>
              <a:t>Here, mode specifies the selection mode. </a:t>
            </a:r>
            <a:endParaRPr dirty="0"/>
          </a:p>
          <a:p>
            <a:pPr marL="114300" lvl="0" indent="0" algn="l" rtl="0">
              <a:lnSpc>
                <a:spcPct val="90000"/>
              </a:lnSpc>
              <a:spcBef>
                <a:spcPts val="1200"/>
              </a:spcBef>
              <a:spcAft>
                <a:spcPts val="0"/>
              </a:spcAft>
              <a:buSzPts val="1800"/>
              <a:buNone/>
            </a:pPr>
            <a:r>
              <a:rPr lang="en-US" dirty="0"/>
              <a:t>You can obtain the index of the first item selected, which will also be the index of the only selected item when using single-selection mode, by calling </a:t>
            </a:r>
            <a:r>
              <a:rPr lang="en-US" b="1" dirty="0" err="1"/>
              <a:t>getSelectedIndex</a:t>
            </a:r>
            <a:r>
              <a:rPr lang="en-US" b="1" dirty="0"/>
              <a:t>( ), </a:t>
            </a:r>
            <a:r>
              <a:rPr lang="en-US" dirty="0"/>
              <a:t>shown here: </a:t>
            </a:r>
            <a:endParaRPr dirty="0"/>
          </a:p>
          <a:p>
            <a:pPr marL="114300" lvl="0" indent="0" algn="l" rtl="0">
              <a:lnSpc>
                <a:spcPct val="90000"/>
              </a:lnSpc>
              <a:spcBef>
                <a:spcPts val="1200"/>
              </a:spcBef>
              <a:spcAft>
                <a:spcPts val="0"/>
              </a:spcAft>
              <a:buSzPts val="1800"/>
              <a:buNone/>
            </a:pPr>
            <a:r>
              <a:rPr lang="en-US" b="1" dirty="0" err="1"/>
              <a:t>int</a:t>
            </a:r>
            <a:r>
              <a:rPr lang="en-US" b="1" dirty="0"/>
              <a:t> </a:t>
            </a:r>
            <a:r>
              <a:rPr lang="en-US" b="1" dirty="0" err="1"/>
              <a:t>getSelectedIndex</a:t>
            </a:r>
            <a:r>
              <a:rPr lang="en-US" b="1" dirty="0"/>
              <a:t>( )</a:t>
            </a:r>
            <a:endParaRPr b="1" dirty="0"/>
          </a:p>
          <a:p>
            <a:pPr marL="114300" lvl="0" indent="0" algn="l" rtl="0">
              <a:lnSpc>
                <a:spcPct val="90000"/>
              </a:lnSpc>
              <a:spcBef>
                <a:spcPts val="1200"/>
              </a:spcBef>
              <a:spcAft>
                <a:spcPts val="0"/>
              </a:spcAft>
              <a:buSzPts val="1800"/>
              <a:buNone/>
            </a:pPr>
            <a:r>
              <a:rPr lang="en-US" dirty="0"/>
              <a:t> Indexing begins at zero. </a:t>
            </a:r>
            <a:endParaRPr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JLIST</a:t>
            </a:r>
            <a:endParaRPr/>
          </a:p>
        </p:txBody>
      </p:sp>
      <p:sp>
        <p:nvSpPr>
          <p:cNvPr id="388" name="Google Shape;388;p44"/>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a:t>Instead of obtaining the index of a selection, you can obtain the value associated with the selection by calling </a:t>
            </a:r>
            <a:r>
              <a:rPr lang="en-US" dirty="0" err="1"/>
              <a:t>getSelectedValue</a:t>
            </a:r>
            <a:r>
              <a:rPr lang="en-US" dirty="0"/>
              <a:t>( ): </a:t>
            </a:r>
            <a:endParaRPr dirty="0"/>
          </a:p>
          <a:p>
            <a:pPr marL="114300" lvl="0" indent="0" algn="l" rtl="0">
              <a:lnSpc>
                <a:spcPct val="90000"/>
              </a:lnSpc>
              <a:spcBef>
                <a:spcPts val="1200"/>
              </a:spcBef>
              <a:spcAft>
                <a:spcPts val="0"/>
              </a:spcAft>
              <a:buSzPts val="1800"/>
              <a:buNone/>
            </a:pPr>
            <a:r>
              <a:rPr lang="en-US" b="1" dirty="0"/>
              <a:t>E </a:t>
            </a:r>
            <a:r>
              <a:rPr lang="en-US" b="1" dirty="0" err="1"/>
              <a:t>getSelectedValue</a:t>
            </a:r>
            <a:r>
              <a:rPr lang="en-US" b="1" dirty="0"/>
              <a:t>( )</a:t>
            </a:r>
            <a:endParaRPr b="1" dirty="0"/>
          </a:p>
          <a:p>
            <a:pPr marL="114300" lvl="0" indent="0" algn="l" rtl="0">
              <a:lnSpc>
                <a:spcPct val="90000"/>
              </a:lnSpc>
              <a:spcBef>
                <a:spcPts val="1200"/>
              </a:spcBef>
              <a:spcAft>
                <a:spcPts val="0"/>
              </a:spcAft>
              <a:buSzPts val="1800"/>
              <a:buNone/>
            </a:pPr>
            <a:r>
              <a:rPr lang="en-US" dirty="0"/>
              <a:t> It returns a reference to the first selected value. If no value has been selected, it returns null.</a:t>
            </a:r>
            <a:endParaRPr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358342fc1f7_0_24"/>
          <p:cNvSpPr txBox="1">
            <a:spLocks noGrp="1"/>
          </p:cNvSpPr>
          <p:nvPr>
            <p:ph type="body" idx="1"/>
          </p:nvPr>
        </p:nvSpPr>
        <p:spPr>
          <a:xfrm>
            <a:off x="1024125" y="147782"/>
            <a:ext cx="9720000" cy="6161643"/>
          </a:xfrm>
          <a:prstGeom prst="rect">
            <a:avLst/>
          </a:prstGeom>
        </p:spPr>
        <p:txBody>
          <a:bodyPr spcFirstLastPara="1" wrap="square" lIns="45700" tIns="45700" rIns="45700" bIns="45700" anchor="t" anchorCtr="0">
            <a:noAutofit/>
          </a:bodyPr>
          <a:lstStyle/>
          <a:p>
            <a:pPr marL="25400" lvl="0" indent="0" algn="l" rtl="0">
              <a:lnSpc>
                <a:spcPct val="95000"/>
              </a:lnSpc>
              <a:spcBef>
                <a:spcPts val="0"/>
              </a:spcBef>
              <a:spcAft>
                <a:spcPts val="0"/>
              </a:spcAft>
              <a:buClr>
                <a:schemeClr val="dk1"/>
              </a:buClr>
              <a:buSzPts val="1100"/>
              <a:buFont typeface="Arial"/>
              <a:buNone/>
            </a:pPr>
            <a:r>
              <a:rPr lang="en-US" sz="1700" b="1" dirty="0">
                <a:solidFill>
                  <a:srgbClr val="7F0055"/>
                </a:solidFill>
                <a:highlight>
                  <a:srgbClr val="FFFFFF"/>
                </a:highlight>
                <a:latin typeface="Courier New"/>
                <a:ea typeface="Courier New"/>
                <a:cs typeface="Courier New"/>
                <a:sym typeface="Courier New"/>
              </a:rPr>
              <a:t>package</a:t>
            </a:r>
            <a:r>
              <a:rPr lang="en-US" sz="1700" b="1" dirty="0">
                <a:highlight>
                  <a:srgbClr val="FFFFFF"/>
                </a:highlight>
                <a:latin typeface="Courier New"/>
                <a:ea typeface="Courier New"/>
                <a:cs typeface="Courier New"/>
                <a:sym typeface="Courier New"/>
              </a:rPr>
              <a:t> temp;</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solidFill>
                  <a:srgbClr val="7F0055"/>
                </a:solidFill>
                <a:highlight>
                  <a:srgbClr val="FFFFFF"/>
                </a:highlight>
                <a:latin typeface="Courier New"/>
                <a:ea typeface="Courier New"/>
                <a:cs typeface="Courier New"/>
                <a:sym typeface="Courier New"/>
              </a:rPr>
              <a:t>import</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javax.swing</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solidFill>
                  <a:srgbClr val="7F0055"/>
                </a:solidFill>
                <a:highlight>
                  <a:srgbClr val="FFFFFF"/>
                </a:highlight>
                <a:latin typeface="Courier New"/>
                <a:ea typeface="Courier New"/>
                <a:cs typeface="Courier New"/>
                <a:sym typeface="Courier New"/>
              </a:rPr>
              <a:t>import</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javax.swing.event.ListSelectionEvent</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solidFill>
                  <a:srgbClr val="7F0055"/>
                </a:solidFill>
                <a:highlight>
                  <a:srgbClr val="FFFFFF"/>
                </a:highlight>
                <a:latin typeface="Courier New"/>
                <a:ea typeface="Courier New"/>
                <a:cs typeface="Courier New"/>
                <a:sym typeface="Courier New"/>
              </a:rPr>
              <a:t>import</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javax.swing.event.ListSelectionListener</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solidFill>
                  <a:srgbClr val="7F0055"/>
                </a:solidFill>
                <a:highlight>
                  <a:srgbClr val="FFFFFF"/>
                </a:highlight>
                <a:latin typeface="Courier New"/>
                <a:ea typeface="Courier New"/>
                <a:cs typeface="Courier New"/>
                <a:sym typeface="Courier New"/>
              </a:rPr>
              <a:t>import</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java.awt</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solidFill>
                  <a:srgbClr val="7F0055"/>
                </a:solidFill>
                <a:highlight>
                  <a:srgbClr val="FFFFFF"/>
                </a:highlight>
                <a:latin typeface="Courier New"/>
                <a:ea typeface="Courier New"/>
                <a:cs typeface="Courier New"/>
                <a:sym typeface="Courier New"/>
              </a:rPr>
              <a:t>public</a:t>
            </a: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class</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JListExample</a:t>
            </a: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implements</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ListSelectionListener</a:t>
            </a:r>
            <a:r>
              <a:rPr lang="en-US" sz="1700" b="1" dirty="0">
                <a:highlight>
                  <a:srgbClr val="FFFFFF"/>
                </a:highlight>
                <a:latin typeface="Courier New"/>
                <a:ea typeface="Courier New"/>
                <a:cs typeface="Courier New"/>
                <a:sym typeface="Courier New"/>
              </a:rPr>
              <a:t>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private</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JFrame</a:t>
            </a:r>
            <a:r>
              <a:rPr lang="en-US" sz="1700" b="1" dirty="0">
                <a:highlight>
                  <a:srgbClr val="FFFFFF"/>
                </a:highlight>
                <a:latin typeface="Courier New"/>
                <a:ea typeface="Courier New"/>
                <a:cs typeface="Courier New"/>
                <a:sym typeface="Courier New"/>
              </a:rPr>
              <a:t> </a:t>
            </a:r>
            <a:r>
              <a:rPr lang="en-US" sz="1700" b="1" dirty="0">
                <a:solidFill>
                  <a:srgbClr val="0000C0"/>
                </a:solidFill>
                <a:highlight>
                  <a:srgbClr val="FFFFFF"/>
                </a:highlight>
                <a:latin typeface="Courier New"/>
                <a:ea typeface="Courier New"/>
                <a:cs typeface="Courier New"/>
                <a:sym typeface="Courier New"/>
              </a:rPr>
              <a:t>frame</a:t>
            </a:r>
            <a:r>
              <a:rPr lang="en-US" sz="1700" b="1" dirty="0" smtClean="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private</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JList</a:t>
            </a:r>
            <a:r>
              <a:rPr lang="en-US" sz="1700" b="1" dirty="0">
                <a:highlight>
                  <a:srgbClr val="FFFFFF"/>
                </a:highlight>
                <a:latin typeface="Courier New"/>
                <a:ea typeface="Courier New"/>
                <a:cs typeface="Courier New"/>
                <a:sym typeface="Courier New"/>
              </a:rPr>
              <a:t>&lt;String&gt; </a:t>
            </a:r>
            <a:r>
              <a:rPr lang="en-US" sz="1700" b="1" dirty="0">
                <a:solidFill>
                  <a:srgbClr val="0000C0"/>
                </a:solidFill>
                <a:highlight>
                  <a:srgbClr val="FFFFFF"/>
                </a:highlight>
                <a:latin typeface="Courier New"/>
                <a:ea typeface="Courier New"/>
                <a:cs typeface="Courier New"/>
                <a:sym typeface="Courier New"/>
              </a:rPr>
              <a:t>list</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public</a:t>
            </a: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static</a:t>
            </a: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void</a:t>
            </a:r>
            <a:r>
              <a:rPr lang="en-US" sz="1700" b="1" dirty="0">
                <a:highlight>
                  <a:srgbClr val="FFFFFF"/>
                </a:highlight>
                <a:latin typeface="Courier New"/>
                <a:ea typeface="Courier New"/>
                <a:cs typeface="Courier New"/>
                <a:sym typeface="Courier New"/>
              </a:rPr>
              <a:t> main(String[] </a:t>
            </a:r>
            <a:r>
              <a:rPr lang="en-US" sz="1700" b="1" dirty="0" err="1">
                <a:solidFill>
                  <a:srgbClr val="6A3E3E"/>
                </a:solidFill>
                <a:highlight>
                  <a:srgbClr val="FFFFFF"/>
                </a:highlight>
                <a:latin typeface="Courier New"/>
                <a:ea typeface="Courier New"/>
                <a:cs typeface="Courier New"/>
                <a:sym typeface="Courier New"/>
              </a:rPr>
              <a:t>args</a:t>
            </a:r>
            <a:r>
              <a:rPr lang="en-US" sz="1700" b="1" dirty="0">
                <a:highlight>
                  <a:srgbClr val="FFFFFF"/>
                </a:highlight>
                <a:latin typeface="Courier New"/>
                <a:ea typeface="Courier New"/>
                <a:cs typeface="Courier New"/>
                <a:sym typeface="Courier New"/>
              </a:rPr>
              <a:t>)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JListExample</a:t>
            </a:r>
            <a:r>
              <a:rPr lang="en-US" sz="1700" b="1" dirty="0">
                <a:highlight>
                  <a:srgbClr val="FFFFFF"/>
                </a:highlight>
                <a:latin typeface="Courier New"/>
                <a:ea typeface="Courier New"/>
                <a:cs typeface="Courier New"/>
                <a:sym typeface="Courier New"/>
              </a:rPr>
              <a:t> </a:t>
            </a:r>
            <a:r>
              <a:rPr lang="en-US" sz="1700" b="1" dirty="0" err="1">
                <a:solidFill>
                  <a:srgbClr val="6A3E3E"/>
                </a:solidFill>
                <a:highlight>
                  <a:srgbClr val="FFFFFF"/>
                </a:highlight>
                <a:latin typeface="Courier New"/>
                <a:ea typeface="Courier New"/>
                <a:cs typeface="Courier New"/>
                <a:sym typeface="Courier New"/>
              </a:rPr>
              <a:t>jl</a:t>
            </a:r>
            <a:r>
              <a:rPr lang="en-US" sz="1700" b="1" dirty="0">
                <a:highlight>
                  <a:srgbClr val="FFFFFF"/>
                </a:highlight>
                <a:latin typeface="Courier New"/>
                <a:ea typeface="Courier New"/>
                <a:cs typeface="Courier New"/>
                <a:sym typeface="Courier New"/>
              </a:rPr>
              <a:t>=</a:t>
            </a:r>
            <a:r>
              <a:rPr lang="en-US" sz="1700" b="1" dirty="0">
                <a:solidFill>
                  <a:srgbClr val="7F0055"/>
                </a:solidFill>
                <a:highlight>
                  <a:srgbClr val="FFFFFF"/>
                </a:highlight>
                <a:latin typeface="Courier New"/>
                <a:ea typeface="Courier New"/>
                <a:cs typeface="Courier New"/>
                <a:sym typeface="Courier New"/>
              </a:rPr>
              <a:t>new</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JListExample</a:t>
            </a:r>
            <a:r>
              <a:rPr lang="en-US" sz="1700" b="1" dirty="0">
                <a:highlight>
                  <a:srgbClr val="FFFFFF"/>
                </a:highlight>
                <a:latin typeface="Courier New"/>
                <a:ea typeface="Courier New"/>
                <a:cs typeface="Courier New"/>
                <a:sym typeface="Courier New"/>
              </a:rPr>
              <a:t>(); </a:t>
            </a:r>
            <a:r>
              <a:rPr lang="en-US" sz="1700" b="1" dirty="0" err="1">
                <a:solidFill>
                  <a:srgbClr val="6A3E3E"/>
                </a:solidFill>
                <a:highlight>
                  <a:srgbClr val="FFFFFF"/>
                </a:highlight>
                <a:latin typeface="Courier New"/>
                <a:ea typeface="Courier New"/>
                <a:cs typeface="Courier New"/>
                <a:sym typeface="Courier New"/>
              </a:rPr>
              <a:t>jl</a:t>
            </a:r>
            <a:r>
              <a:rPr lang="en-US" sz="1700" b="1" dirty="0" err="1">
                <a:highlight>
                  <a:srgbClr val="FFFFFF"/>
                </a:highlight>
                <a:latin typeface="Courier New"/>
                <a:ea typeface="Courier New"/>
                <a:cs typeface="Courier New"/>
                <a:sym typeface="Courier New"/>
              </a:rPr>
              <a:t>.createAndShowGUI</a:t>
            </a:r>
            <a:r>
              <a:rPr lang="en-US" sz="1700" b="1" dirty="0">
                <a:highlight>
                  <a:srgbClr val="FFFFFF"/>
                </a:highlight>
                <a:latin typeface="Courier New"/>
                <a:ea typeface="Courier New"/>
                <a:cs typeface="Courier New"/>
                <a:sym typeface="Courier New"/>
              </a:rPr>
              <a:t>();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public</a:t>
            </a: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void</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createAndShowGUI</a:t>
            </a:r>
            <a:r>
              <a:rPr lang="en-US" sz="1700" b="1" dirty="0">
                <a:highlight>
                  <a:srgbClr val="FFFFFF"/>
                </a:highlight>
                <a:latin typeface="Courier New"/>
                <a:ea typeface="Courier New"/>
                <a:cs typeface="Courier New"/>
                <a:sym typeface="Courier New"/>
              </a:rPr>
              <a:t>()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0000C0"/>
                </a:solidFill>
                <a:highlight>
                  <a:srgbClr val="FFFFFF"/>
                </a:highlight>
                <a:latin typeface="Courier New"/>
                <a:ea typeface="Courier New"/>
                <a:cs typeface="Courier New"/>
                <a:sym typeface="Courier New"/>
              </a:rPr>
              <a:t>frame</a:t>
            </a:r>
            <a:r>
              <a:rPr lang="en-US" sz="1700" b="1" dirty="0">
                <a:highlight>
                  <a:srgbClr val="FFFFFF"/>
                </a:highlight>
                <a:latin typeface="Courier New"/>
                <a:ea typeface="Courier New"/>
                <a:cs typeface="Courier New"/>
                <a:sym typeface="Courier New"/>
              </a:rPr>
              <a:t> = </a:t>
            </a:r>
            <a:r>
              <a:rPr lang="en-US" sz="1700" b="1" dirty="0">
                <a:solidFill>
                  <a:srgbClr val="7F0055"/>
                </a:solidFill>
                <a:highlight>
                  <a:srgbClr val="FFFFFF"/>
                </a:highlight>
                <a:latin typeface="Courier New"/>
                <a:ea typeface="Courier New"/>
                <a:cs typeface="Courier New"/>
                <a:sym typeface="Courier New"/>
              </a:rPr>
              <a:t>new</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JFrame</a:t>
            </a:r>
            <a:r>
              <a:rPr lang="en-US" sz="1700" b="1" dirty="0">
                <a:highlight>
                  <a:srgbClr val="FFFFFF"/>
                </a:highlight>
                <a:latin typeface="Courier New"/>
                <a:ea typeface="Courier New"/>
                <a:cs typeface="Courier New"/>
                <a:sym typeface="Courier New"/>
              </a:rPr>
              <a:t>(</a:t>
            </a:r>
            <a:r>
              <a:rPr lang="en-US" sz="1700" b="1" dirty="0">
                <a:solidFill>
                  <a:srgbClr val="2A00FF"/>
                </a:solidFill>
                <a:highlight>
                  <a:srgbClr val="FFFFFF"/>
                </a:highlight>
                <a:latin typeface="Courier New"/>
                <a:ea typeface="Courier New"/>
                <a:cs typeface="Courier New"/>
                <a:sym typeface="Courier New"/>
              </a:rPr>
              <a:t>"</a:t>
            </a:r>
            <a:r>
              <a:rPr lang="en-US" sz="1700" b="1" dirty="0" err="1">
                <a:solidFill>
                  <a:srgbClr val="2A00FF"/>
                </a:solidFill>
                <a:highlight>
                  <a:srgbClr val="FFFFFF"/>
                </a:highlight>
                <a:latin typeface="Courier New"/>
                <a:ea typeface="Courier New"/>
                <a:cs typeface="Courier New"/>
                <a:sym typeface="Courier New"/>
              </a:rPr>
              <a:t>JList</a:t>
            </a:r>
            <a:r>
              <a:rPr lang="en-US" sz="1700" b="1" dirty="0">
                <a:solidFill>
                  <a:srgbClr val="2A00FF"/>
                </a:solidFill>
                <a:highlight>
                  <a:srgbClr val="FFFFFF"/>
                </a:highlight>
                <a:latin typeface="Courier New"/>
                <a:ea typeface="Courier New"/>
                <a:cs typeface="Courier New"/>
                <a:sym typeface="Courier New"/>
              </a:rPr>
              <a:t> Example with </a:t>
            </a:r>
            <a:r>
              <a:rPr lang="en-US" sz="1700" b="1" dirty="0" err="1">
                <a:solidFill>
                  <a:srgbClr val="2A00FF"/>
                </a:solidFill>
                <a:highlight>
                  <a:srgbClr val="FFFFFF"/>
                </a:highlight>
                <a:latin typeface="Courier New"/>
                <a:ea typeface="Courier New"/>
                <a:cs typeface="Courier New"/>
                <a:sym typeface="Courier New"/>
              </a:rPr>
              <a:t>ListSelectionListener</a:t>
            </a:r>
            <a:r>
              <a:rPr lang="en-US" sz="1700" b="1" dirty="0">
                <a:solidFill>
                  <a:srgbClr val="2A00FF"/>
                </a:solidFill>
                <a:highlight>
                  <a:srgbClr val="FFFFFF"/>
                </a:highlight>
                <a:latin typeface="Courier New"/>
                <a:ea typeface="Courier New"/>
                <a:cs typeface="Courier New"/>
                <a:sym typeface="Courier New"/>
              </a:rPr>
              <a:t>"</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solidFill>
                  <a:srgbClr val="0000C0"/>
                </a:solidFill>
                <a:highlight>
                  <a:srgbClr val="FFFFFF"/>
                </a:highlight>
                <a:latin typeface="Courier New"/>
                <a:ea typeface="Courier New"/>
                <a:cs typeface="Courier New"/>
                <a:sym typeface="Courier New"/>
              </a:rPr>
              <a:t>frame</a:t>
            </a:r>
            <a:r>
              <a:rPr lang="en-US" sz="1700" b="1" dirty="0" err="1">
                <a:highlight>
                  <a:srgbClr val="FFFFFF"/>
                </a:highlight>
                <a:latin typeface="Courier New"/>
                <a:ea typeface="Courier New"/>
                <a:cs typeface="Courier New"/>
                <a:sym typeface="Courier New"/>
              </a:rPr>
              <a:t>.setSize</a:t>
            </a:r>
            <a:r>
              <a:rPr lang="en-US" sz="1700" b="1" dirty="0">
                <a:highlight>
                  <a:srgbClr val="FFFFFF"/>
                </a:highlight>
                <a:latin typeface="Courier New"/>
                <a:ea typeface="Courier New"/>
                <a:cs typeface="Courier New"/>
                <a:sym typeface="Courier New"/>
              </a:rPr>
              <a:t>(400, 300);</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String[] </a:t>
            </a:r>
            <a:r>
              <a:rPr lang="en-US" sz="1700" b="1" dirty="0">
                <a:solidFill>
                  <a:srgbClr val="6A3E3E"/>
                </a:solidFill>
                <a:highlight>
                  <a:srgbClr val="FFFFFF"/>
                </a:highlight>
                <a:latin typeface="Courier New"/>
                <a:ea typeface="Courier New"/>
                <a:cs typeface="Courier New"/>
                <a:sym typeface="Courier New"/>
              </a:rPr>
              <a:t>items</a:t>
            </a:r>
            <a:r>
              <a:rPr lang="en-US" sz="1700" b="1" dirty="0">
                <a:highlight>
                  <a:srgbClr val="FFFFFF"/>
                </a:highlight>
                <a:latin typeface="Courier New"/>
                <a:ea typeface="Courier New"/>
                <a:cs typeface="Courier New"/>
                <a:sym typeface="Courier New"/>
              </a:rPr>
              <a:t> = {</a:t>
            </a:r>
            <a:r>
              <a:rPr lang="en-US" sz="1700" b="1" dirty="0">
                <a:solidFill>
                  <a:srgbClr val="2A00FF"/>
                </a:solidFill>
                <a:highlight>
                  <a:srgbClr val="FFFFFF"/>
                </a:highlight>
                <a:latin typeface="Courier New"/>
                <a:ea typeface="Courier New"/>
                <a:cs typeface="Courier New"/>
                <a:sym typeface="Courier New"/>
              </a:rPr>
              <a:t>"Apple"</a:t>
            </a: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"Banana"</a:t>
            </a: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"Cherry"</a:t>
            </a: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"Date"</a:t>
            </a: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"Elderberry"</a:t>
            </a: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"Fig"</a:t>
            </a: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"Grape</a:t>
            </a:r>
            <a:r>
              <a:rPr lang="en-US" sz="1700" b="1" dirty="0" smtClean="0">
                <a:solidFill>
                  <a:srgbClr val="2A00FF"/>
                </a:solidFill>
                <a:highlight>
                  <a:srgbClr val="FFFFFF"/>
                </a:highlight>
                <a:latin typeface="Courier New"/>
                <a:ea typeface="Courier New"/>
                <a:cs typeface="Courier New"/>
                <a:sym typeface="Courier New"/>
              </a:rPr>
              <a:t>"</a:t>
            </a:r>
            <a:r>
              <a:rPr lang="en-US" sz="1700" b="1" dirty="0" smtClean="0">
                <a:highlight>
                  <a:srgbClr val="FFFFFF"/>
                </a:highlight>
                <a:latin typeface="Courier New"/>
                <a:ea typeface="Courier New"/>
                <a:cs typeface="Courier New"/>
                <a:sym typeface="Courier New"/>
              </a:rPr>
              <a:t>};       </a:t>
            </a:r>
            <a:r>
              <a:rPr lang="en-US" sz="1700" b="1" dirty="0">
                <a:solidFill>
                  <a:srgbClr val="0000C0"/>
                </a:solidFill>
                <a:highlight>
                  <a:srgbClr val="FFFFFF"/>
                </a:highlight>
                <a:latin typeface="Courier New"/>
                <a:ea typeface="Courier New"/>
                <a:cs typeface="Courier New"/>
                <a:sym typeface="Courier New"/>
              </a:rPr>
              <a:t>list</a:t>
            </a:r>
            <a:r>
              <a:rPr lang="en-US" sz="1700" b="1" dirty="0">
                <a:highlight>
                  <a:srgbClr val="FFFFFF"/>
                </a:highlight>
                <a:latin typeface="Courier New"/>
                <a:ea typeface="Courier New"/>
                <a:cs typeface="Courier New"/>
                <a:sym typeface="Courier New"/>
              </a:rPr>
              <a:t> = </a:t>
            </a:r>
            <a:r>
              <a:rPr lang="en-US" sz="1700" b="1" dirty="0">
                <a:solidFill>
                  <a:srgbClr val="7F0055"/>
                </a:solidFill>
                <a:highlight>
                  <a:srgbClr val="FFFFFF"/>
                </a:highlight>
                <a:latin typeface="Courier New"/>
                <a:ea typeface="Courier New"/>
                <a:cs typeface="Courier New"/>
                <a:sym typeface="Courier New"/>
              </a:rPr>
              <a:t>new</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JList</a:t>
            </a:r>
            <a:r>
              <a:rPr lang="en-US" sz="1700" b="1" dirty="0">
                <a:highlight>
                  <a:srgbClr val="FFFFFF"/>
                </a:highlight>
                <a:latin typeface="Courier New"/>
                <a:ea typeface="Courier New"/>
                <a:cs typeface="Courier New"/>
                <a:sym typeface="Courier New"/>
              </a:rPr>
              <a:t>&lt;&gt;(</a:t>
            </a:r>
            <a:r>
              <a:rPr lang="en-US" sz="1700" b="1" dirty="0">
                <a:solidFill>
                  <a:srgbClr val="6A3E3E"/>
                </a:solidFill>
                <a:highlight>
                  <a:srgbClr val="FFFFFF"/>
                </a:highlight>
                <a:latin typeface="Courier New"/>
                <a:ea typeface="Courier New"/>
                <a:cs typeface="Courier New"/>
                <a:sym typeface="Courier New"/>
              </a:rPr>
              <a:t>items</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solidFill>
                  <a:srgbClr val="0000C0"/>
                </a:solidFill>
                <a:highlight>
                  <a:srgbClr val="FFFFFF"/>
                </a:highlight>
                <a:latin typeface="Courier New"/>
                <a:ea typeface="Courier New"/>
                <a:cs typeface="Courier New"/>
                <a:sym typeface="Courier New"/>
              </a:rPr>
              <a:t>list</a:t>
            </a:r>
            <a:r>
              <a:rPr lang="en-US" sz="1700" b="1" dirty="0" err="1">
                <a:highlight>
                  <a:srgbClr val="FFFFFF"/>
                </a:highlight>
                <a:latin typeface="Courier New"/>
                <a:ea typeface="Courier New"/>
                <a:cs typeface="Courier New"/>
                <a:sym typeface="Courier New"/>
              </a:rPr>
              <a:t>.setSelectionMode</a:t>
            </a:r>
            <a:r>
              <a:rPr lang="en-US" sz="1700" b="1" dirty="0">
                <a:highlight>
                  <a:srgbClr val="FFFFFF"/>
                </a:highlight>
                <a:latin typeface="Courier New"/>
                <a:ea typeface="Courier New"/>
                <a:cs typeface="Courier New"/>
                <a:sym typeface="Courier New"/>
              </a:rPr>
              <a:t>(</a:t>
            </a:r>
            <a:r>
              <a:rPr lang="en-US" sz="1700" b="1" dirty="0" err="1">
                <a:highlight>
                  <a:srgbClr val="FFFFFF"/>
                </a:highlight>
                <a:latin typeface="Courier New"/>
                <a:ea typeface="Courier New"/>
                <a:cs typeface="Courier New"/>
                <a:sym typeface="Courier New"/>
              </a:rPr>
              <a:t>ListSelectionModel.</a:t>
            </a:r>
            <a:r>
              <a:rPr lang="en-US" sz="1700" b="1" i="1" dirty="0" err="1">
                <a:solidFill>
                  <a:srgbClr val="0000C0"/>
                </a:solidFill>
                <a:highlight>
                  <a:srgbClr val="FFFFFF"/>
                </a:highlight>
                <a:latin typeface="Courier New"/>
                <a:ea typeface="Courier New"/>
                <a:cs typeface="Courier New"/>
                <a:sym typeface="Courier New"/>
              </a:rPr>
              <a:t>SINGLE_SELECTION</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solidFill>
                  <a:srgbClr val="0000C0"/>
                </a:solidFill>
                <a:highlight>
                  <a:srgbClr val="FFFFFF"/>
                </a:highlight>
                <a:latin typeface="Courier New"/>
                <a:ea typeface="Courier New"/>
                <a:cs typeface="Courier New"/>
                <a:sym typeface="Courier New"/>
              </a:rPr>
              <a:t>list</a:t>
            </a:r>
            <a:r>
              <a:rPr lang="en-US" sz="1700" b="1" dirty="0" err="1">
                <a:highlight>
                  <a:srgbClr val="FFFFFF"/>
                </a:highlight>
                <a:latin typeface="Courier New"/>
                <a:ea typeface="Courier New"/>
                <a:cs typeface="Courier New"/>
                <a:sym typeface="Courier New"/>
              </a:rPr>
              <a:t>.addListSelectionListener</a:t>
            </a:r>
            <a:r>
              <a:rPr lang="en-US" sz="1700" b="1" dirty="0">
                <a:highlight>
                  <a:srgbClr val="FFFFFF"/>
                </a:highlight>
                <a:latin typeface="Courier New"/>
                <a:ea typeface="Courier New"/>
                <a:cs typeface="Courier New"/>
                <a:sym typeface="Courier New"/>
              </a:rPr>
              <a:t>(</a:t>
            </a:r>
            <a:r>
              <a:rPr lang="en-US" sz="1700" b="1" dirty="0">
                <a:solidFill>
                  <a:srgbClr val="7F0055"/>
                </a:solidFill>
                <a:highlight>
                  <a:srgbClr val="FFFFFF"/>
                </a:highlight>
                <a:latin typeface="Courier New"/>
                <a:ea typeface="Courier New"/>
                <a:cs typeface="Courier New"/>
                <a:sym typeface="Courier New"/>
              </a:rPr>
              <a:t>this</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JScrollPane</a:t>
            </a:r>
            <a:r>
              <a:rPr lang="en-US" sz="1700" b="1" dirty="0">
                <a:highlight>
                  <a:srgbClr val="FFFFFF"/>
                </a:highlight>
                <a:latin typeface="Courier New"/>
                <a:ea typeface="Courier New"/>
                <a:cs typeface="Courier New"/>
                <a:sym typeface="Courier New"/>
              </a:rPr>
              <a:t> </a:t>
            </a:r>
            <a:r>
              <a:rPr lang="en-US" sz="1700" b="1" dirty="0" err="1">
                <a:solidFill>
                  <a:srgbClr val="6A3E3E"/>
                </a:solidFill>
                <a:highlight>
                  <a:srgbClr val="FFFFFF"/>
                </a:highlight>
                <a:latin typeface="Courier New"/>
                <a:ea typeface="Courier New"/>
                <a:cs typeface="Courier New"/>
                <a:sym typeface="Courier New"/>
              </a:rPr>
              <a:t>scrollPane</a:t>
            </a:r>
            <a:r>
              <a:rPr lang="en-US" sz="1700" b="1" dirty="0">
                <a:highlight>
                  <a:srgbClr val="FFFFFF"/>
                </a:highlight>
                <a:latin typeface="Courier New"/>
                <a:ea typeface="Courier New"/>
                <a:cs typeface="Courier New"/>
                <a:sym typeface="Courier New"/>
              </a:rPr>
              <a:t> = </a:t>
            </a:r>
            <a:r>
              <a:rPr lang="en-US" sz="1700" b="1" dirty="0">
                <a:solidFill>
                  <a:srgbClr val="7F0055"/>
                </a:solidFill>
                <a:highlight>
                  <a:srgbClr val="FFFFFF"/>
                </a:highlight>
                <a:latin typeface="Courier New"/>
                <a:ea typeface="Courier New"/>
                <a:cs typeface="Courier New"/>
                <a:sym typeface="Courier New"/>
              </a:rPr>
              <a:t>new</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JScrollPane</a:t>
            </a:r>
            <a:r>
              <a:rPr lang="en-US" sz="1700" b="1" dirty="0">
                <a:highlight>
                  <a:srgbClr val="FFFFFF"/>
                </a:highlight>
                <a:latin typeface="Courier New"/>
                <a:ea typeface="Courier New"/>
                <a:cs typeface="Courier New"/>
                <a:sym typeface="Courier New"/>
              </a:rPr>
              <a:t>(</a:t>
            </a:r>
            <a:r>
              <a:rPr lang="en-US" sz="1700" b="1" dirty="0">
                <a:solidFill>
                  <a:srgbClr val="0000C0"/>
                </a:solidFill>
                <a:highlight>
                  <a:srgbClr val="FFFFFF"/>
                </a:highlight>
                <a:latin typeface="Courier New"/>
                <a:ea typeface="Courier New"/>
                <a:cs typeface="Courier New"/>
                <a:sym typeface="Courier New"/>
              </a:rPr>
              <a:t>list</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solidFill>
                  <a:srgbClr val="0000C0"/>
                </a:solidFill>
                <a:highlight>
                  <a:srgbClr val="FFFFFF"/>
                </a:highlight>
                <a:latin typeface="Courier New"/>
                <a:ea typeface="Courier New"/>
                <a:cs typeface="Courier New"/>
                <a:sym typeface="Courier New"/>
              </a:rPr>
              <a:t>frame</a:t>
            </a:r>
            <a:r>
              <a:rPr lang="en-US" sz="1700" b="1" dirty="0" err="1">
                <a:highlight>
                  <a:srgbClr val="FFFFFF"/>
                </a:highlight>
                <a:latin typeface="Courier New"/>
                <a:ea typeface="Courier New"/>
                <a:cs typeface="Courier New"/>
                <a:sym typeface="Courier New"/>
              </a:rPr>
              <a:t>.add</a:t>
            </a:r>
            <a:r>
              <a:rPr lang="en-US" sz="1700" b="1" dirty="0">
                <a:highlight>
                  <a:srgbClr val="FFFFFF"/>
                </a:highlight>
                <a:latin typeface="Courier New"/>
                <a:ea typeface="Courier New"/>
                <a:cs typeface="Courier New"/>
                <a:sym typeface="Courier New"/>
              </a:rPr>
              <a:t>(</a:t>
            </a:r>
            <a:r>
              <a:rPr lang="en-US" sz="1700" b="1" dirty="0" err="1">
                <a:solidFill>
                  <a:srgbClr val="6A3E3E"/>
                </a:solidFill>
                <a:highlight>
                  <a:srgbClr val="FFFFFF"/>
                </a:highlight>
                <a:latin typeface="Courier New"/>
                <a:ea typeface="Courier New"/>
                <a:cs typeface="Courier New"/>
                <a:sym typeface="Courier New"/>
              </a:rPr>
              <a:t>scrollPane</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BorderLayout.</a:t>
            </a:r>
            <a:r>
              <a:rPr lang="en-US" sz="1700" b="1" i="1" dirty="0" err="1">
                <a:solidFill>
                  <a:srgbClr val="0000C0"/>
                </a:solidFill>
                <a:highlight>
                  <a:srgbClr val="FFFFFF"/>
                </a:highlight>
                <a:latin typeface="Courier New"/>
                <a:ea typeface="Courier New"/>
                <a:cs typeface="Courier New"/>
                <a:sym typeface="Courier New"/>
              </a:rPr>
              <a:t>CENTER</a:t>
            </a:r>
            <a:r>
              <a:rPr lang="en-US" sz="1700" b="1" dirty="0">
                <a:highlight>
                  <a:srgbClr val="FFFFFF"/>
                </a:highlight>
                <a:latin typeface="Courier New"/>
                <a:ea typeface="Courier New"/>
                <a:cs typeface="Courier New"/>
                <a:sym typeface="Courier New"/>
              </a:rPr>
              <a:t>);  </a:t>
            </a:r>
            <a:r>
              <a:rPr lang="en-US" sz="1700" b="1" dirty="0" err="1">
                <a:solidFill>
                  <a:srgbClr val="0000C0"/>
                </a:solidFill>
                <a:highlight>
                  <a:srgbClr val="FFFFFF"/>
                </a:highlight>
                <a:latin typeface="Courier New"/>
                <a:ea typeface="Courier New"/>
                <a:cs typeface="Courier New"/>
                <a:sym typeface="Courier New"/>
              </a:rPr>
              <a:t>frame</a:t>
            </a:r>
            <a:r>
              <a:rPr lang="en-US" sz="1700" b="1" dirty="0" err="1">
                <a:highlight>
                  <a:srgbClr val="FFFFFF"/>
                </a:highlight>
                <a:latin typeface="Courier New"/>
                <a:ea typeface="Courier New"/>
                <a:cs typeface="Courier New"/>
                <a:sym typeface="Courier New"/>
              </a:rPr>
              <a:t>.setVisible</a:t>
            </a:r>
            <a:r>
              <a:rPr lang="en-US" sz="1700" b="1" dirty="0">
                <a:highlight>
                  <a:srgbClr val="FFFFFF"/>
                </a:highlight>
                <a:latin typeface="Courier New"/>
                <a:ea typeface="Courier New"/>
                <a:cs typeface="Courier New"/>
                <a:sym typeface="Courier New"/>
              </a:rPr>
              <a:t>(</a:t>
            </a:r>
            <a:r>
              <a:rPr lang="en-US" sz="1700" b="1" dirty="0">
                <a:solidFill>
                  <a:srgbClr val="7F0055"/>
                </a:solidFill>
                <a:highlight>
                  <a:srgbClr val="FFFFFF"/>
                </a:highlight>
                <a:latin typeface="Courier New"/>
                <a:ea typeface="Courier New"/>
                <a:cs typeface="Courier New"/>
                <a:sym typeface="Courier New"/>
              </a:rPr>
              <a:t>true</a:t>
            </a:r>
            <a:r>
              <a:rPr lang="en-US" sz="1700" b="1" dirty="0" smtClean="0">
                <a:highlight>
                  <a:srgbClr val="FFFFFF"/>
                </a:highlight>
                <a:latin typeface="Courier New"/>
                <a:ea typeface="Courier New"/>
                <a:cs typeface="Courier New"/>
                <a:sym typeface="Courier New"/>
              </a:rPr>
              <a:t>);  </a:t>
            </a:r>
            <a:r>
              <a:rPr lang="en-US" sz="1700" b="1" dirty="0">
                <a:highlight>
                  <a:srgbClr val="FFFFFF"/>
                </a:highlight>
                <a:latin typeface="Courier New"/>
                <a:ea typeface="Courier New"/>
                <a:cs typeface="Courier New"/>
                <a:sym typeface="Courier New"/>
              </a:rPr>
              <a:t>}</a:t>
            </a:r>
            <a:endParaRPr sz="1700" b="1" dirty="0">
              <a:solidFill>
                <a:srgbClr val="646464"/>
              </a:solidFill>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public</a:t>
            </a: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void</a:t>
            </a: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valueChanged</a:t>
            </a:r>
            <a:r>
              <a:rPr lang="en-US" sz="1700" b="1" dirty="0">
                <a:highlight>
                  <a:srgbClr val="FFFFFF"/>
                </a:highlight>
                <a:latin typeface="Courier New"/>
                <a:ea typeface="Courier New"/>
                <a:cs typeface="Courier New"/>
                <a:sym typeface="Courier New"/>
              </a:rPr>
              <a:t>(</a:t>
            </a:r>
            <a:r>
              <a:rPr lang="en-US" sz="1700" b="1" dirty="0" err="1">
                <a:highlight>
                  <a:srgbClr val="FFFFFF"/>
                </a:highlight>
                <a:latin typeface="Courier New"/>
                <a:ea typeface="Courier New"/>
                <a:cs typeface="Courier New"/>
                <a:sym typeface="Courier New"/>
              </a:rPr>
              <a:t>ListSelectionEvent</a:t>
            </a:r>
            <a:r>
              <a:rPr lang="en-US" sz="1700" b="1" dirty="0">
                <a:highlight>
                  <a:srgbClr val="FFFFFF"/>
                </a:highlight>
                <a:latin typeface="Courier New"/>
                <a:ea typeface="Courier New"/>
                <a:cs typeface="Courier New"/>
                <a:sym typeface="Courier New"/>
              </a:rPr>
              <a:t> </a:t>
            </a:r>
            <a:r>
              <a:rPr lang="en-US" sz="1700" b="1" dirty="0">
                <a:solidFill>
                  <a:srgbClr val="6A3E3E"/>
                </a:solidFill>
                <a:highlight>
                  <a:srgbClr val="FFFFFF"/>
                </a:highlight>
                <a:latin typeface="Courier New"/>
                <a:ea typeface="Courier New"/>
                <a:cs typeface="Courier New"/>
                <a:sym typeface="Courier New"/>
              </a:rPr>
              <a:t>le</a:t>
            </a:r>
            <a:r>
              <a:rPr lang="en-US" sz="1700" b="1" dirty="0">
                <a:highlight>
                  <a:srgbClr val="FFFFFF"/>
                </a:highlight>
                <a:latin typeface="Courier New"/>
                <a:ea typeface="Courier New"/>
                <a:cs typeface="Courier New"/>
                <a:sym typeface="Courier New"/>
              </a:rPr>
              <a:t>)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if</a:t>
            </a:r>
            <a:r>
              <a:rPr lang="en-US" sz="1700" b="1" dirty="0">
                <a:highlight>
                  <a:srgbClr val="FFFFFF"/>
                </a:highlight>
                <a:latin typeface="Courier New"/>
                <a:ea typeface="Courier New"/>
                <a:cs typeface="Courier New"/>
                <a:sym typeface="Courier New"/>
              </a:rPr>
              <a:t> (!</a:t>
            </a:r>
            <a:r>
              <a:rPr lang="en-US" sz="1700" b="1" dirty="0" err="1">
                <a:solidFill>
                  <a:srgbClr val="6A3E3E"/>
                </a:solidFill>
                <a:highlight>
                  <a:srgbClr val="FFFFFF"/>
                </a:highlight>
                <a:latin typeface="Courier New"/>
                <a:ea typeface="Courier New"/>
                <a:cs typeface="Courier New"/>
                <a:sym typeface="Courier New"/>
              </a:rPr>
              <a:t>le</a:t>
            </a:r>
            <a:r>
              <a:rPr lang="en-US" sz="1700" b="1" dirty="0" err="1">
                <a:highlight>
                  <a:srgbClr val="FFFFFF"/>
                </a:highlight>
                <a:latin typeface="Courier New"/>
                <a:ea typeface="Courier New"/>
                <a:cs typeface="Courier New"/>
                <a:sym typeface="Courier New"/>
              </a:rPr>
              <a:t>.getValueIsAdjusting</a:t>
            </a:r>
            <a:r>
              <a:rPr lang="en-US" sz="1700" b="1" dirty="0">
                <a:highlight>
                  <a:srgbClr val="FFFFFF"/>
                </a:highlight>
                <a:latin typeface="Courier New"/>
                <a:ea typeface="Courier New"/>
                <a:cs typeface="Courier New"/>
                <a:sym typeface="Courier New"/>
              </a:rPr>
              <a:t>())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solidFill>
                  <a:srgbClr val="7F0055"/>
                </a:solidFill>
                <a:highlight>
                  <a:srgbClr val="FFFFFF"/>
                </a:highlight>
                <a:latin typeface="Courier New"/>
                <a:ea typeface="Courier New"/>
                <a:cs typeface="Courier New"/>
                <a:sym typeface="Courier New"/>
              </a:rPr>
              <a:t>int</a:t>
            </a:r>
            <a:r>
              <a:rPr lang="en-US" sz="1700" b="1" dirty="0">
                <a:highlight>
                  <a:srgbClr val="FFFFFF"/>
                </a:highlight>
                <a:latin typeface="Courier New"/>
                <a:ea typeface="Courier New"/>
                <a:cs typeface="Courier New"/>
                <a:sym typeface="Courier New"/>
              </a:rPr>
              <a:t> </a:t>
            </a:r>
            <a:r>
              <a:rPr lang="en-US" sz="1700" b="1" dirty="0" err="1">
                <a:solidFill>
                  <a:srgbClr val="6A3E3E"/>
                </a:solidFill>
                <a:highlight>
                  <a:srgbClr val="FFFFFF"/>
                </a:highlight>
                <a:latin typeface="Courier New"/>
                <a:ea typeface="Courier New"/>
                <a:cs typeface="Courier New"/>
                <a:sym typeface="Courier New"/>
              </a:rPr>
              <a:t>selectedIndex</a:t>
            </a:r>
            <a:r>
              <a:rPr lang="en-US" sz="1700" b="1" dirty="0">
                <a:highlight>
                  <a:srgbClr val="FFFFFF"/>
                </a:highlight>
                <a:latin typeface="Courier New"/>
                <a:ea typeface="Courier New"/>
                <a:cs typeface="Courier New"/>
                <a:sym typeface="Courier New"/>
              </a:rPr>
              <a:t> = </a:t>
            </a:r>
            <a:r>
              <a:rPr lang="en-US" sz="1700" b="1" dirty="0" err="1">
                <a:solidFill>
                  <a:srgbClr val="0000C0"/>
                </a:solidFill>
                <a:highlight>
                  <a:srgbClr val="FFFFFF"/>
                </a:highlight>
                <a:latin typeface="Courier New"/>
                <a:ea typeface="Courier New"/>
                <a:cs typeface="Courier New"/>
                <a:sym typeface="Courier New"/>
              </a:rPr>
              <a:t>list</a:t>
            </a:r>
            <a:r>
              <a:rPr lang="en-US" sz="1700" b="1" dirty="0" err="1">
                <a:highlight>
                  <a:srgbClr val="FFFFFF"/>
                </a:highlight>
                <a:latin typeface="Courier New"/>
                <a:ea typeface="Courier New"/>
                <a:cs typeface="Courier New"/>
                <a:sym typeface="Courier New"/>
              </a:rPr>
              <a:t>.getSelectedIndex</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String </a:t>
            </a:r>
            <a:r>
              <a:rPr lang="en-US" sz="1700" b="1" dirty="0" err="1">
                <a:solidFill>
                  <a:srgbClr val="6A3E3E"/>
                </a:solidFill>
                <a:highlight>
                  <a:srgbClr val="FFFFFF"/>
                </a:highlight>
                <a:latin typeface="Courier New"/>
                <a:ea typeface="Courier New"/>
                <a:cs typeface="Courier New"/>
                <a:sym typeface="Courier New"/>
              </a:rPr>
              <a:t>selectedItem</a:t>
            </a:r>
            <a:r>
              <a:rPr lang="en-US" sz="1700" b="1" dirty="0">
                <a:highlight>
                  <a:srgbClr val="FFFFFF"/>
                </a:highlight>
                <a:latin typeface="Courier New"/>
                <a:ea typeface="Courier New"/>
                <a:cs typeface="Courier New"/>
                <a:sym typeface="Courier New"/>
              </a:rPr>
              <a:t> = </a:t>
            </a:r>
            <a:r>
              <a:rPr lang="en-US" sz="1700" b="1" dirty="0" err="1">
                <a:solidFill>
                  <a:srgbClr val="0000C0"/>
                </a:solidFill>
                <a:highlight>
                  <a:srgbClr val="FFFFFF"/>
                </a:highlight>
                <a:latin typeface="Courier New"/>
                <a:ea typeface="Courier New"/>
                <a:cs typeface="Courier New"/>
                <a:sym typeface="Courier New"/>
              </a:rPr>
              <a:t>list</a:t>
            </a:r>
            <a:r>
              <a:rPr lang="en-US" sz="1700" b="1" dirty="0" err="1">
                <a:highlight>
                  <a:srgbClr val="FFFFFF"/>
                </a:highlight>
                <a:latin typeface="Courier New"/>
                <a:ea typeface="Courier New"/>
                <a:cs typeface="Courier New"/>
                <a:sym typeface="Courier New"/>
              </a:rPr>
              <a:t>.getSelectedValue</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7F0055"/>
                </a:solidFill>
                <a:highlight>
                  <a:srgbClr val="FFFFFF"/>
                </a:highlight>
                <a:latin typeface="Courier New"/>
                <a:ea typeface="Courier New"/>
                <a:cs typeface="Courier New"/>
                <a:sym typeface="Courier New"/>
              </a:rPr>
              <a:t>if</a:t>
            </a:r>
            <a:r>
              <a:rPr lang="en-US" sz="1700" b="1" dirty="0">
                <a:highlight>
                  <a:srgbClr val="FFFFFF"/>
                </a:highlight>
                <a:latin typeface="Courier New"/>
                <a:ea typeface="Courier New"/>
                <a:cs typeface="Courier New"/>
                <a:sym typeface="Courier New"/>
              </a:rPr>
              <a:t> (</a:t>
            </a:r>
            <a:r>
              <a:rPr lang="en-US" sz="1700" b="1" dirty="0" err="1">
                <a:solidFill>
                  <a:srgbClr val="6A3E3E"/>
                </a:solidFill>
                <a:highlight>
                  <a:srgbClr val="FFFFFF"/>
                </a:highlight>
                <a:latin typeface="Courier New"/>
                <a:ea typeface="Courier New"/>
                <a:cs typeface="Courier New"/>
                <a:sym typeface="Courier New"/>
              </a:rPr>
              <a:t>selectedIndex</a:t>
            </a:r>
            <a:r>
              <a:rPr lang="en-US" sz="1700" b="1" dirty="0">
                <a:highlight>
                  <a:srgbClr val="FFFFFF"/>
                </a:highlight>
                <a:latin typeface="Courier New"/>
                <a:ea typeface="Courier New"/>
                <a:cs typeface="Courier New"/>
                <a:sym typeface="Courier New"/>
              </a:rPr>
              <a:t> != -1) {</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err="1">
                <a:highlight>
                  <a:srgbClr val="FFFFFF"/>
                </a:highlight>
                <a:latin typeface="Courier New"/>
                <a:ea typeface="Courier New"/>
                <a:cs typeface="Courier New"/>
                <a:sym typeface="Courier New"/>
              </a:rPr>
              <a:t>JOptionPane.</a:t>
            </a:r>
            <a:r>
              <a:rPr lang="en-US" sz="1700" b="1" i="1" dirty="0" err="1">
                <a:highlight>
                  <a:srgbClr val="FFFFFF"/>
                </a:highlight>
                <a:latin typeface="Courier New"/>
                <a:ea typeface="Courier New"/>
                <a:cs typeface="Courier New"/>
                <a:sym typeface="Courier New"/>
              </a:rPr>
              <a:t>showMessageDialog</a:t>
            </a:r>
            <a:r>
              <a:rPr lang="en-US" sz="1700" b="1" dirty="0">
                <a:highlight>
                  <a:srgbClr val="FFFFFF"/>
                </a:highlight>
                <a:latin typeface="Courier New"/>
                <a:ea typeface="Courier New"/>
                <a:cs typeface="Courier New"/>
                <a:sym typeface="Courier New"/>
              </a:rPr>
              <a:t>(</a:t>
            </a:r>
            <a:r>
              <a:rPr lang="en-US" sz="1700" b="1" dirty="0">
                <a:solidFill>
                  <a:srgbClr val="0000C0"/>
                </a:solidFill>
                <a:highlight>
                  <a:srgbClr val="FFFFFF"/>
                </a:highlight>
                <a:latin typeface="Courier New"/>
                <a:ea typeface="Courier New"/>
                <a:cs typeface="Courier New"/>
                <a:sym typeface="Courier New"/>
              </a:rPr>
              <a:t>frame</a:t>
            </a:r>
            <a:r>
              <a:rPr lang="en-US" sz="1700" b="1" dirty="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25400" lvl="0" indent="0" algn="l" rtl="0">
              <a:lnSpc>
                <a:spcPct val="95000"/>
              </a:lnSpc>
              <a:spcBef>
                <a:spcPts val="0"/>
              </a:spcBef>
              <a:spcAft>
                <a:spcPts val="0"/>
              </a:spcAft>
              <a:buClr>
                <a:schemeClr val="dk1"/>
              </a:buClr>
              <a:buSzPts val="1100"/>
              <a:buFont typeface="Arial"/>
              <a:buNone/>
            </a:pPr>
            <a:r>
              <a:rPr lang="en-US" sz="1700" b="1" dirty="0">
                <a:highlight>
                  <a:srgbClr val="FFFFFF"/>
                </a:highlight>
                <a:latin typeface="Courier New"/>
                <a:ea typeface="Courier New"/>
                <a:cs typeface="Courier New"/>
                <a:sym typeface="Courier New"/>
              </a:rPr>
              <a:t>                       </a:t>
            </a:r>
            <a:r>
              <a:rPr lang="en-US" sz="1700" b="1" dirty="0">
                <a:solidFill>
                  <a:srgbClr val="2A00FF"/>
                </a:solidFill>
                <a:highlight>
                  <a:srgbClr val="FFFFFF"/>
                </a:highlight>
                <a:latin typeface="Courier New"/>
                <a:ea typeface="Courier New"/>
                <a:cs typeface="Courier New"/>
                <a:sym typeface="Courier New"/>
              </a:rPr>
              <a:t>"Selected Item: "</a:t>
            </a:r>
            <a:r>
              <a:rPr lang="en-US" sz="1700" b="1" dirty="0">
                <a:highlight>
                  <a:srgbClr val="FFFFFF"/>
                </a:highlight>
                <a:latin typeface="Courier New"/>
                <a:ea typeface="Courier New"/>
                <a:cs typeface="Courier New"/>
                <a:sym typeface="Courier New"/>
              </a:rPr>
              <a:t> + </a:t>
            </a:r>
            <a:r>
              <a:rPr lang="en-US" sz="1700" b="1" dirty="0" err="1">
                <a:solidFill>
                  <a:srgbClr val="6A3E3E"/>
                </a:solidFill>
                <a:highlight>
                  <a:srgbClr val="FFFFFF"/>
                </a:highlight>
                <a:latin typeface="Courier New"/>
                <a:ea typeface="Courier New"/>
                <a:cs typeface="Courier New"/>
                <a:sym typeface="Courier New"/>
              </a:rPr>
              <a:t>selectedItem</a:t>
            </a:r>
            <a:r>
              <a:rPr lang="en-US" sz="1700" b="1" dirty="0">
                <a:highlight>
                  <a:srgbClr val="FFFFFF"/>
                </a:highlight>
                <a:latin typeface="Courier New"/>
                <a:ea typeface="Courier New"/>
                <a:cs typeface="Courier New"/>
                <a:sym typeface="Courier New"/>
              </a:rPr>
              <a:t> + </a:t>
            </a:r>
            <a:r>
              <a:rPr lang="en-US" sz="1700" b="1" dirty="0">
                <a:solidFill>
                  <a:srgbClr val="2A00FF"/>
                </a:solidFill>
                <a:highlight>
                  <a:srgbClr val="FFFFFF"/>
                </a:highlight>
                <a:latin typeface="Courier New"/>
                <a:ea typeface="Courier New"/>
                <a:cs typeface="Courier New"/>
                <a:sym typeface="Courier New"/>
              </a:rPr>
              <a:t>"\</a:t>
            </a:r>
            <a:r>
              <a:rPr lang="en-US" sz="1700" b="1" dirty="0" err="1">
                <a:solidFill>
                  <a:srgbClr val="2A00FF"/>
                </a:solidFill>
                <a:highlight>
                  <a:srgbClr val="FFFFFF"/>
                </a:highlight>
                <a:latin typeface="Courier New"/>
                <a:ea typeface="Courier New"/>
                <a:cs typeface="Courier New"/>
                <a:sym typeface="Courier New"/>
              </a:rPr>
              <a:t>nIndex</a:t>
            </a:r>
            <a:r>
              <a:rPr lang="en-US" sz="1700" b="1" dirty="0">
                <a:solidFill>
                  <a:srgbClr val="2A00FF"/>
                </a:solidFill>
                <a:highlight>
                  <a:srgbClr val="FFFFFF"/>
                </a:highlight>
                <a:latin typeface="Courier New"/>
                <a:ea typeface="Courier New"/>
                <a:cs typeface="Courier New"/>
                <a:sym typeface="Courier New"/>
              </a:rPr>
              <a:t>: "</a:t>
            </a:r>
            <a:r>
              <a:rPr lang="en-US" sz="1700" b="1" dirty="0">
                <a:highlight>
                  <a:srgbClr val="FFFFFF"/>
                </a:highlight>
                <a:latin typeface="Courier New"/>
                <a:ea typeface="Courier New"/>
                <a:cs typeface="Courier New"/>
                <a:sym typeface="Courier New"/>
              </a:rPr>
              <a:t> + </a:t>
            </a:r>
            <a:r>
              <a:rPr lang="en-US" sz="1700" b="1" dirty="0" err="1">
                <a:solidFill>
                  <a:srgbClr val="6A3E3E"/>
                </a:solidFill>
                <a:highlight>
                  <a:srgbClr val="FFFFFF"/>
                </a:highlight>
                <a:latin typeface="Courier New"/>
                <a:ea typeface="Courier New"/>
                <a:cs typeface="Courier New"/>
                <a:sym typeface="Courier New"/>
              </a:rPr>
              <a:t>selectedIndex</a:t>
            </a:r>
            <a:r>
              <a:rPr lang="en-US" sz="1700" b="1" dirty="0" smtClean="0">
                <a:highlight>
                  <a:srgbClr val="FFFFFF"/>
                </a:highlight>
                <a:latin typeface="Courier New"/>
                <a:ea typeface="Courier New"/>
                <a:cs typeface="Courier New"/>
                <a:sym typeface="Courier New"/>
              </a:rPr>
              <a:t>);           </a:t>
            </a:r>
            <a:r>
              <a:rPr lang="en-US" sz="1700" b="1" dirty="0">
                <a:highlight>
                  <a:srgbClr val="FFFFFF"/>
                </a:highlight>
                <a:latin typeface="Courier New"/>
                <a:ea typeface="Courier New"/>
                <a:cs typeface="Courier New"/>
                <a:sym typeface="Courier New"/>
              </a:rPr>
              <a:t>}        }    </a:t>
            </a:r>
            <a:r>
              <a:rPr lang="en-US" sz="1700" b="1" dirty="0" smtClean="0">
                <a:highlight>
                  <a:srgbClr val="FFFFFF"/>
                </a:highlight>
                <a:latin typeface="Courier New"/>
                <a:ea typeface="Courier New"/>
                <a:cs typeface="Courier New"/>
                <a:sym typeface="Courier New"/>
              </a:rPr>
              <a:t>}}</a:t>
            </a:r>
            <a:endParaRPr sz="1700" b="1" dirty="0">
              <a:highlight>
                <a:srgbClr val="FFFFFF"/>
              </a:highlight>
              <a:latin typeface="Courier New"/>
              <a:ea typeface="Courier New"/>
              <a:cs typeface="Courier New"/>
              <a:sym typeface="Courier New"/>
            </a:endParaRPr>
          </a:p>
          <a:p>
            <a:pPr marL="0" lvl="0" indent="0" algn="l" rtl="0">
              <a:lnSpc>
                <a:spcPct val="70000"/>
              </a:lnSpc>
              <a:spcBef>
                <a:spcPts val="1200"/>
              </a:spcBef>
              <a:spcAft>
                <a:spcPts val="0"/>
              </a:spcAft>
              <a:buNone/>
            </a:pPr>
            <a:endParaRPr sz="1700" b="1"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g358342fc1f7_0_30"/>
          <p:cNvSpPr txBox="1">
            <a:spLocks noGrp="1"/>
          </p:cNvSpPr>
          <p:nvPr>
            <p:ph type="title"/>
          </p:nvPr>
        </p:nvSpPr>
        <p:spPr>
          <a:xfrm>
            <a:off x="1024128" y="585216"/>
            <a:ext cx="9720000" cy="1499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OUTPUT</a:t>
            </a:r>
            <a:endParaRPr/>
          </a:p>
        </p:txBody>
      </p:sp>
      <p:sp>
        <p:nvSpPr>
          <p:cNvPr id="399" name="Google Shape;399;g358342fc1f7_0_30"/>
          <p:cNvSpPr txBox="1">
            <a:spLocks noGrp="1"/>
          </p:cNvSpPr>
          <p:nvPr>
            <p:ph type="body" idx="1"/>
          </p:nvPr>
        </p:nvSpPr>
        <p:spPr>
          <a:xfrm>
            <a:off x="1024128" y="2286000"/>
            <a:ext cx="9720000" cy="4023300"/>
          </a:xfrm>
          <a:prstGeom prst="rect">
            <a:avLst/>
          </a:prstGeom>
        </p:spPr>
        <p:txBody>
          <a:bodyPr spcFirstLastPara="1" wrap="square" lIns="45700" tIns="45700" rIns="45700" bIns="45700" anchor="t" anchorCtr="0">
            <a:normAutofit/>
          </a:bodyPr>
          <a:lstStyle/>
          <a:p>
            <a:pPr marL="0" lvl="0" indent="0" algn="l" rtl="0">
              <a:spcBef>
                <a:spcPts val="1200"/>
              </a:spcBef>
              <a:spcAft>
                <a:spcPts val="0"/>
              </a:spcAft>
              <a:buNone/>
            </a:pPr>
            <a:endParaRPr/>
          </a:p>
        </p:txBody>
      </p:sp>
      <p:pic>
        <p:nvPicPr>
          <p:cNvPr id="400" name="Google Shape;400;g358342fc1f7_0_30"/>
          <p:cNvPicPr preferRelativeResize="0"/>
          <p:nvPr/>
        </p:nvPicPr>
        <p:blipFill>
          <a:blip r:embed="rId3">
            <a:alphaModFix/>
          </a:blip>
          <a:stretch>
            <a:fillRect/>
          </a:stretch>
        </p:blipFill>
        <p:spPr>
          <a:xfrm>
            <a:off x="1227875" y="2084925"/>
            <a:ext cx="6421900" cy="4338150"/>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5"/>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JCOMBOBOX</a:t>
            </a:r>
            <a:endParaRPr/>
          </a:p>
        </p:txBody>
      </p:sp>
      <p:sp>
        <p:nvSpPr>
          <p:cNvPr id="406" name="Google Shape;406;p45"/>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fontScale="92500"/>
          </a:bodyPr>
          <a:lstStyle/>
          <a:p>
            <a:pPr marL="114300" lvl="0" indent="0" algn="l" rtl="0">
              <a:lnSpc>
                <a:spcPct val="90000"/>
              </a:lnSpc>
              <a:spcBef>
                <a:spcPts val="1200"/>
              </a:spcBef>
              <a:spcAft>
                <a:spcPts val="0"/>
              </a:spcAft>
              <a:buSzPct val="88452"/>
              <a:buNone/>
            </a:pPr>
            <a:r>
              <a:rPr lang="en-US" dirty="0"/>
              <a:t>Swing provides a </a:t>
            </a:r>
            <a:r>
              <a:rPr lang="en-US" b="1" dirty="0"/>
              <a:t>combo box (a combination of a text field and a drop-down list) </a:t>
            </a:r>
            <a:r>
              <a:rPr lang="en-US" dirty="0"/>
              <a:t>through the </a:t>
            </a:r>
            <a:r>
              <a:rPr lang="en-US" dirty="0" err="1"/>
              <a:t>JComboBox</a:t>
            </a:r>
            <a:r>
              <a:rPr lang="en-US" dirty="0"/>
              <a:t> class. A combo box normally displays one entry, but it will also display a drop down list that allows a user to select a different entry. You can also create a combo box that lets the user enter a selection into the text field. </a:t>
            </a:r>
            <a:endParaRPr dirty="0"/>
          </a:p>
          <a:p>
            <a:pPr marL="114300" lvl="0" indent="0" algn="l" rtl="0">
              <a:lnSpc>
                <a:spcPct val="90000"/>
              </a:lnSpc>
              <a:spcBef>
                <a:spcPts val="1200"/>
              </a:spcBef>
              <a:spcAft>
                <a:spcPts val="0"/>
              </a:spcAft>
              <a:buSzPct val="88452"/>
              <a:buNone/>
            </a:pPr>
            <a:r>
              <a:rPr lang="en-US" dirty="0"/>
              <a:t>Beginning with JDK 7, </a:t>
            </a:r>
            <a:r>
              <a:rPr lang="en-US" dirty="0" err="1"/>
              <a:t>JComboBox</a:t>
            </a:r>
            <a:r>
              <a:rPr lang="en-US" dirty="0"/>
              <a:t> was made generic and is now declared like this: </a:t>
            </a:r>
            <a:endParaRPr dirty="0"/>
          </a:p>
          <a:p>
            <a:pPr marL="114300" lvl="0" indent="0" algn="l" rtl="0">
              <a:lnSpc>
                <a:spcPct val="90000"/>
              </a:lnSpc>
              <a:spcBef>
                <a:spcPts val="1200"/>
              </a:spcBef>
              <a:spcAft>
                <a:spcPts val="0"/>
              </a:spcAft>
              <a:buSzPct val="88452"/>
              <a:buNone/>
            </a:pPr>
            <a:r>
              <a:rPr lang="en-US" dirty="0"/>
              <a:t>class </a:t>
            </a:r>
            <a:r>
              <a:rPr lang="en-US" dirty="0" err="1"/>
              <a:t>JComboBox</a:t>
            </a:r>
            <a:endParaRPr dirty="0"/>
          </a:p>
          <a:p>
            <a:pPr marL="114300" lvl="0" indent="0" algn="l" rtl="0">
              <a:lnSpc>
                <a:spcPct val="90000"/>
              </a:lnSpc>
              <a:spcBef>
                <a:spcPts val="1200"/>
              </a:spcBef>
              <a:spcAft>
                <a:spcPts val="0"/>
              </a:spcAft>
              <a:buSzPct val="88452"/>
              <a:buNone/>
            </a:pPr>
            <a:r>
              <a:rPr lang="en-US" dirty="0"/>
              <a:t> Here, E represents the type of the items in the combo box. The </a:t>
            </a:r>
            <a:r>
              <a:rPr lang="en-US" dirty="0" err="1"/>
              <a:t>JComboBox</a:t>
            </a:r>
            <a:r>
              <a:rPr lang="en-US" dirty="0"/>
              <a:t> constructor used by the example is shown here: </a:t>
            </a:r>
            <a:endParaRPr dirty="0"/>
          </a:p>
          <a:p>
            <a:pPr marL="114300" lvl="0" indent="0" algn="l" rtl="0">
              <a:lnSpc>
                <a:spcPct val="90000"/>
              </a:lnSpc>
              <a:spcBef>
                <a:spcPts val="1200"/>
              </a:spcBef>
              <a:spcAft>
                <a:spcPts val="0"/>
              </a:spcAft>
              <a:buSzPct val="88452"/>
              <a:buNone/>
            </a:pPr>
            <a:r>
              <a:rPr lang="en-US" b="1" dirty="0" err="1"/>
              <a:t>JComboBox</a:t>
            </a:r>
            <a:r>
              <a:rPr lang="en-US" b="1" dirty="0"/>
              <a:t>(E[ ] items) </a:t>
            </a:r>
            <a:endParaRPr b="1" dirty="0"/>
          </a:p>
          <a:p>
            <a:pPr marL="114300" lvl="0" indent="0" algn="l" rtl="0">
              <a:lnSpc>
                <a:spcPct val="90000"/>
              </a:lnSpc>
              <a:spcBef>
                <a:spcPts val="1200"/>
              </a:spcBef>
              <a:spcAft>
                <a:spcPts val="0"/>
              </a:spcAft>
              <a:buSzPct val="88452"/>
              <a:buNone/>
            </a:pPr>
            <a:r>
              <a:rPr lang="en-US" dirty="0"/>
              <a:t>Here, items is an array that initializes the combo box. Other constructors are available.</a:t>
            </a:r>
            <a:endParaRPr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1800"/>
              <a:buNone/>
            </a:pPr>
            <a:r>
              <a:rPr lang="en-US"/>
              <a:t>JCOMBOBOX</a:t>
            </a:r>
            <a:endParaRPr/>
          </a:p>
        </p:txBody>
      </p:sp>
      <p:sp>
        <p:nvSpPr>
          <p:cNvPr id="412" name="Google Shape;412;p46"/>
          <p:cNvSpPr txBox="1">
            <a:spLocks noGrp="1"/>
          </p:cNvSpPr>
          <p:nvPr>
            <p:ph type="body" idx="1"/>
          </p:nvPr>
        </p:nvSpPr>
        <p:spPr>
          <a:xfrm>
            <a:off x="1024128" y="2286000"/>
            <a:ext cx="9720073" cy="4023360"/>
          </a:xfrm>
          <a:prstGeom prst="rect">
            <a:avLst/>
          </a:prstGeom>
          <a:noFill/>
          <a:ln>
            <a:noFill/>
          </a:ln>
        </p:spPr>
        <p:txBody>
          <a:bodyPr spcFirstLastPara="1" wrap="square" lIns="45700" tIns="45700" rIns="45700" bIns="45700" anchor="t" anchorCtr="0">
            <a:normAutofit/>
          </a:bodyPr>
          <a:lstStyle/>
          <a:p>
            <a:pPr marL="114300" lvl="0" indent="0" algn="l" rtl="0">
              <a:lnSpc>
                <a:spcPct val="90000"/>
              </a:lnSpc>
              <a:spcBef>
                <a:spcPts val="1200"/>
              </a:spcBef>
              <a:spcAft>
                <a:spcPts val="0"/>
              </a:spcAft>
              <a:buSzPts val="1800"/>
              <a:buNone/>
            </a:pPr>
            <a:r>
              <a:rPr lang="en-US" dirty="0"/>
              <a:t>In addition to passing an array of items to be displayed in the drop-down list, items can be dynamically added to the list of choices via the </a:t>
            </a:r>
            <a:r>
              <a:rPr lang="en-US" dirty="0" err="1"/>
              <a:t>addItem</a:t>
            </a:r>
            <a:r>
              <a:rPr lang="en-US" dirty="0"/>
              <a:t>( ) method, shown here: </a:t>
            </a:r>
            <a:endParaRPr dirty="0"/>
          </a:p>
          <a:p>
            <a:pPr marL="114300" lvl="0" indent="0" algn="l" rtl="0">
              <a:lnSpc>
                <a:spcPct val="90000"/>
              </a:lnSpc>
              <a:spcBef>
                <a:spcPts val="1200"/>
              </a:spcBef>
              <a:spcAft>
                <a:spcPts val="0"/>
              </a:spcAft>
              <a:buSzPts val="1800"/>
              <a:buNone/>
            </a:pPr>
            <a:r>
              <a:rPr lang="en-US" b="1" dirty="0"/>
              <a:t>void </a:t>
            </a:r>
            <a:r>
              <a:rPr lang="en-US" b="1" dirty="0" err="1"/>
              <a:t>addItem</a:t>
            </a:r>
            <a:r>
              <a:rPr lang="en-US" b="1" dirty="0"/>
              <a:t>(E </a:t>
            </a:r>
            <a:r>
              <a:rPr lang="en-US" b="1" dirty="0" err="1"/>
              <a:t>obj</a:t>
            </a:r>
            <a:r>
              <a:rPr lang="en-US" b="1" dirty="0"/>
              <a:t>) </a:t>
            </a:r>
            <a:endParaRPr b="1" dirty="0"/>
          </a:p>
          <a:p>
            <a:pPr marL="114300" lvl="0" indent="0" algn="l" rtl="0">
              <a:lnSpc>
                <a:spcPct val="90000"/>
              </a:lnSpc>
              <a:spcBef>
                <a:spcPts val="1200"/>
              </a:spcBef>
              <a:spcAft>
                <a:spcPts val="0"/>
              </a:spcAft>
              <a:buSzPts val="1800"/>
              <a:buNone/>
            </a:pPr>
            <a:r>
              <a:rPr lang="en-US" dirty="0"/>
              <a:t>Here, </a:t>
            </a:r>
            <a:r>
              <a:rPr lang="en-US" dirty="0" err="1"/>
              <a:t>obj</a:t>
            </a:r>
            <a:r>
              <a:rPr lang="en-US" dirty="0"/>
              <a:t> is the object to be added to the combo box. This method must be used only with mutable combo boxes. One way to obtain the item selected in the list is to call </a:t>
            </a:r>
            <a:r>
              <a:rPr lang="en-US" dirty="0" err="1"/>
              <a:t>getSelectedItem</a:t>
            </a:r>
            <a:r>
              <a:rPr lang="en-US" dirty="0"/>
              <a:t>( ) on the combo box. It is shown here: </a:t>
            </a:r>
            <a:r>
              <a:rPr lang="en-US" b="1" dirty="0"/>
              <a:t>Object </a:t>
            </a:r>
            <a:r>
              <a:rPr lang="en-US" b="1" dirty="0" err="1"/>
              <a:t>getSelectedItem</a:t>
            </a:r>
            <a:r>
              <a:rPr lang="en-US" b="1" dirty="0"/>
              <a:t>( ) </a:t>
            </a:r>
            <a:endParaRPr b="1" dirty="0"/>
          </a:p>
          <a:p>
            <a:pPr marL="114300" lvl="0" indent="0" algn="l" rtl="0">
              <a:lnSpc>
                <a:spcPct val="90000"/>
              </a:lnSpc>
              <a:spcBef>
                <a:spcPts val="1200"/>
              </a:spcBef>
              <a:spcAft>
                <a:spcPts val="0"/>
              </a:spcAft>
              <a:buSzPts val="1800"/>
              <a:buNone/>
            </a:pPr>
            <a:r>
              <a:rPr lang="en-US" dirty="0"/>
              <a:t>You will need to cast the returned value into the type of object stored in the list.</a:t>
            </a:r>
            <a:endParaRPr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51837" y="0"/>
            <a:ext cx="9720073" cy="5623560"/>
          </a:xfrm>
        </p:spPr>
        <p:txBody>
          <a:bodyPr>
            <a:noAutofit/>
          </a:bodyPr>
          <a:lstStyle/>
          <a:p>
            <a:pPr>
              <a:lnSpc>
                <a:spcPct val="100000"/>
              </a:lnSpc>
            </a:pPr>
            <a:r>
              <a:rPr lang="en-IN" sz="1700" b="1" dirty="0"/>
              <a:t>package temp;</a:t>
            </a:r>
          </a:p>
          <a:p>
            <a:pPr>
              <a:lnSpc>
                <a:spcPct val="100000"/>
              </a:lnSpc>
            </a:pPr>
            <a:r>
              <a:rPr lang="en-IN" sz="1700" b="1" dirty="0"/>
              <a:t>import </a:t>
            </a:r>
            <a:r>
              <a:rPr lang="en-IN" sz="1700" b="1" dirty="0" err="1"/>
              <a:t>javax.swing</a:t>
            </a:r>
            <a:r>
              <a:rPr lang="en-IN" sz="1700" b="1" dirty="0"/>
              <a:t>.*;</a:t>
            </a:r>
          </a:p>
          <a:p>
            <a:pPr>
              <a:lnSpc>
                <a:spcPct val="100000"/>
              </a:lnSpc>
            </a:pPr>
            <a:r>
              <a:rPr lang="en-IN" sz="1700" b="1" dirty="0"/>
              <a:t>import </a:t>
            </a:r>
            <a:r>
              <a:rPr lang="en-IN" sz="1700" b="1" dirty="0" err="1"/>
              <a:t>java.awt.event</a:t>
            </a:r>
            <a:r>
              <a:rPr lang="en-IN" sz="1700" b="1" dirty="0"/>
              <a:t>.*;</a:t>
            </a:r>
          </a:p>
          <a:p>
            <a:pPr>
              <a:lnSpc>
                <a:spcPct val="100000"/>
              </a:lnSpc>
            </a:pPr>
            <a:r>
              <a:rPr lang="en-IN" sz="1700" b="1" dirty="0"/>
              <a:t>public class </a:t>
            </a:r>
            <a:r>
              <a:rPr lang="en-IN" sz="1700" b="1" dirty="0" err="1"/>
              <a:t>JComboBoxExample</a:t>
            </a:r>
            <a:r>
              <a:rPr lang="en-IN" sz="1700" b="1" dirty="0"/>
              <a:t> implements </a:t>
            </a:r>
            <a:r>
              <a:rPr lang="en-IN" sz="1700" b="1" dirty="0" err="1"/>
              <a:t>ActionListener</a:t>
            </a:r>
            <a:r>
              <a:rPr lang="en-IN" sz="1700" b="1" dirty="0"/>
              <a:t>{</a:t>
            </a:r>
          </a:p>
          <a:p>
            <a:pPr>
              <a:lnSpc>
                <a:spcPct val="100000"/>
              </a:lnSpc>
            </a:pPr>
            <a:r>
              <a:rPr lang="en-IN" sz="1700" b="1" dirty="0"/>
              <a:t>private </a:t>
            </a:r>
            <a:r>
              <a:rPr lang="en-IN" sz="1700" b="1" dirty="0" err="1"/>
              <a:t>JComboBox</a:t>
            </a:r>
            <a:r>
              <a:rPr lang="en-IN" sz="1700" b="1" dirty="0"/>
              <a:t>&lt;String&gt; </a:t>
            </a:r>
            <a:r>
              <a:rPr lang="en-IN" sz="1700" b="1" dirty="0" err="1"/>
              <a:t>comboBox</a:t>
            </a:r>
            <a:r>
              <a:rPr lang="en-IN" sz="1700" b="1" dirty="0" smtClean="0"/>
              <a:t>;</a:t>
            </a:r>
            <a:r>
              <a:rPr lang="en-IN" sz="1700" b="1" dirty="0"/>
              <a:t>    private </a:t>
            </a:r>
            <a:r>
              <a:rPr lang="en-IN" sz="1700" b="1" dirty="0" err="1"/>
              <a:t>JLabel</a:t>
            </a:r>
            <a:r>
              <a:rPr lang="en-IN" sz="1700" b="1" dirty="0"/>
              <a:t> label;</a:t>
            </a:r>
          </a:p>
          <a:p>
            <a:pPr>
              <a:lnSpc>
                <a:spcPct val="100000"/>
              </a:lnSpc>
            </a:pPr>
            <a:r>
              <a:rPr lang="en-IN" sz="1700" b="1" dirty="0"/>
              <a:t>    public </a:t>
            </a:r>
            <a:r>
              <a:rPr lang="en-IN" sz="1700" b="1" dirty="0" err="1"/>
              <a:t>JComboBoxExample</a:t>
            </a:r>
            <a:r>
              <a:rPr lang="en-IN" sz="1700" b="1" dirty="0"/>
              <a:t>() {</a:t>
            </a:r>
          </a:p>
          <a:p>
            <a:pPr>
              <a:lnSpc>
                <a:spcPct val="100000"/>
              </a:lnSpc>
            </a:pPr>
            <a:r>
              <a:rPr lang="en-IN" sz="1700" b="1" dirty="0"/>
              <a:t>        </a:t>
            </a:r>
            <a:r>
              <a:rPr lang="en-IN" sz="1700" b="1" dirty="0" err="1"/>
              <a:t>JFrame</a:t>
            </a:r>
            <a:r>
              <a:rPr lang="en-IN" sz="1700" b="1" dirty="0"/>
              <a:t> frame = new </a:t>
            </a:r>
            <a:r>
              <a:rPr lang="en-IN" sz="1700" b="1" dirty="0" err="1"/>
              <a:t>JFrame</a:t>
            </a:r>
            <a:r>
              <a:rPr lang="en-IN" sz="1700" b="1" dirty="0"/>
              <a:t>("</a:t>
            </a:r>
            <a:r>
              <a:rPr lang="en-IN" sz="1700" b="1" dirty="0" err="1"/>
              <a:t>JComboBox</a:t>
            </a:r>
            <a:r>
              <a:rPr lang="en-IN" sz="1700" b="1" dirty="0"/>
              <a:t> Example</a:t>
            </a:r>
            <a:r>
              <a:rPr lang="en-IN" sz="1700" b="1" dirty="0" smtClean="0"/>
              <a:t>"); </a:t>
            </a:r>
            <a:r>
              <a:rPr lang="en-IN" sz="1700" b="1" dirty="0" err="1"/>
              <a:t>frame.setSize</a:t>
            </a:r>
            <a:r>
              <a:rPr lang="en-IN" sz="1700" b="1" dirty="0"/>
              <a:t>(300, 150);</a:t>
            </a:r>
          </a:p>
          <a:p>
            <a:pPr>
              <a:lnSpc>
                <a:spcPct val="100000"/>
              </a:lnSpc>
            </a:pPr>
            <a:r>
              <a:rPr lang="en-IN" sz="1700" b="1" dirty="0"/>
              <a:t>        String[] languages = { "Java", "Python", "C++", "JavaScript" };</a:t>
            </a:r>
          </a:p>
          <a:p>
            <a:pPr>
              <a:lnSpc>
                <a:spcPct val="100000"/>
              </a:lnSpc>
            </a:pPr>
            <a:r>
              <a:rPr lang="en-IN" sz="1700" b="1" dirty="0"/>
              <a:t>        </a:t>
            </a:r>
            <a:r>
              <a:rPr lang="en-IN" sz="1700" b="1" dirty="0" err="1"/>
              <a:t>comboBox</a:t>
            </a:r>
            <a:r>
              <a:rPr lang="en-IN" sz="1700" b="1" dirty="0"/>
              <a:t> = new </a:t>
            </a:r>
            <a:r>
              <a:rPr lang="en-IN" sz="1700" b="1" dirty="0" err="1"/>
              <a:t>JComboBox</a:t>
            </a:r>
            <a:r>
              <a:rPr lang="en-IN" sz="1700" b="1" dirty="0"/>
              <a:t>&lt;&gt;(languages</a:t>
            </a:r>
            <a:r>
              <a:rPr lang="en-IN" sz="1700" b="1" dirty="0" smtClean="0"/>
              <a:t>);</a:t>
            </a:r>
            <a:r>
              <a:rPr lang="en-IN" sz="1700" b="1" dirty="0" err="1" smtClean="0"/>
              <a:t>JButton</a:t>
            </a:r>
            <a:r>
              <a:rPr lang="en-IN" sz="1700" b="1" dirty="0" smtClean="0"/>
              <a:t> </a:t>
            </a:r>
            <a:r>
              <a:rPr lang="en-IN" sz="1700" b="1" dirty="0"/>
              <a:t>button = new </a:t>
            </a:r>
            <a:r>
              <a:rPr lang="en-IN" sz="1700" b="1" dirty="0" err="1"/>
              <a:t>JButton</a:t>
            </a:r>
            <a:r>
              <a:rPr lang="en-IN" sz="1700" b="1" dirty="0"/>
              <a:t>("Show Selected</a:t>
            </a:r>
            <a:r>
              <a:rPr lang="en-IN" sz="1700" b="1" dirty="0" smtClean="0"/>
              <a:t>");</a:t>
            </a:r>
            <a:r>
              <a:rPr lang="en-IN" sz="1700" b="1" dirty="0"/>
              <a:t>        </a:t>
            </a:r>
            <a:r>
              <a:rPr lang="en-IN" sz="1700" b="1" dirty="0" err="1"/>
              <a:t>button.addActionListener</a:t>
            </a:r>
            <a:r>
              <a:rPr lang="en-IN" sz="1700" b="1" dirty="0"/>
              <a:t>(this</a:t>
            </a:r>
            <a:r>
              <a:rPr lang="en-IN" sz="1700" b="1" dirty="0" smtClean="0"/>
              <a:t>);label </a:t>
            </a:r>
            <a:r>
              <a:rPr lang="en-IN" sz="1700" b="1" dirty="0"/>
              <a:t>= new </a:t>
            </a:r>
            <a:r>
              <a:rPr lang="en-IN" sz="1700" b="1" dirty="0" err="1"/>
              <a:t>JLabel</a:t>
            </a:r>
            <a:r>
              <a:rPr lang="en-IN" sz="1700" b="1" dirty="0"/>
              <a:t>("Selected: ");</a:t>
            </a:r>
          </a:p>
          <a:p>
            <a:pPr>
              <a:lnSpc>
                <a:spcPct val="100000"/>
              </a:lnSpc>
            </a:pPr>
            <a:r>
              <a:rPr lang="en-IN" sz="1700" b="1" dirty="0"/>
              <a:t>        </a:t>
            </a:r>
            <a:r>
              <a:rPr lang="en-IN" sz="1700" b="1" dirty="0" err="1"/>
              <a:t>JPanel</a:t>
            </a:r>
            <a:r>
              <a:rPr lang="en-IN" sz="1700" b="1" dirty="0"/>
              <a:t> panel = new </a:t>
            </a:r>
            <a:r>
              <a:rPr lang="en-IN" sz="1700" b="1" dirty="0" err="1"/>
              <a:t>JPanel</a:t>
            </a:r>
            <a:r>
              <a:rPr lang="en-IN" sz="1700" b="1" dirty="0" smtClean="0"/>
              <a:t>(); </a:t>
            </a:r>
            <a:r>
              <a:rPr lang="en-IN" sz="1700" b="1" dirty="0" err="1" smtClean="0"/>
              <a:t>panel.add</a:t>
            </a:r>
            <a:r>
              <a:rPr lang="en-IN" sz="1700" b="1" dirty="0" smtClean="0"/>
              <a:t>(</a:t>
            </a:r>
            <a:r>
              <a:rPr lang="en-IN" sz="1700" b="1" dirty="0" err="1" smtClean="0"/>
              <a:t>comboBox</a:t>
            </a:r>
            <a:r>
              <a:rPr lang="en-IN" sz="1700" b="1" dirty="0"/>
              <a:t>);</a:t>
            </a:r>
            <a:r>
              <a:rPr lang="en-IN" sz="1700" b="1" dirty="0" err="1"/>
              <a:t>panel.add</a:t>
            </a:r>
            <a:r>
              <a:rPr lang="en-IN" sz="1700" b="1" dirty="0"/>
              <a:t>(button);</a:t>
            </a:r>
            <a:r>
              <a:rPr lang="en-IN" sz="1700" b="1" dirty="0" err="1"/>
              <a:t>panel.add</a:t>
            </a:r>
            <a:r>
              <a:rPr lang="en-IN" sz="1700" b="1" dirty="0"/>
              <a:t>(label</a:t>
            </a:r>
            <a:r>
              <a:rPr lang="en-IN" sz="1700" b="1" dirty="0" smtClean="0"/>
              <a:t>);</a:t>
            </a:r>
            <a:r>
              <a:rPr lang="en-IN" sz="1700" b="1" dirty="0"/>
              <a:t>        </a:t>
            </a:r>
            <a:r>
              <a:rPr lang="en-IN" sz="1700" b="1" dirty="0" err="1"/>
              <a:t>frame.add</a:t>
            </a:r>
            <a:r>
              <a:rPr lang="en-IN" sz="1700" b="1" dirty="0"/>
              <a:t>(panel);</a:t>
            </a:r>
            <a:r>
              <a:rPr lang="en-IN" sz="1700" b="1" dirty="0" err="1"/>
              <a:t>frame.setVisible</a:t>
            </a:r>
            <a:r>
              <a:rPr lang="en-IN" sz="1700" b="1" dirty="0"/>
              <a:t>(true</a:t>
            </a:r>
            <a:r>
              <a:rPr lang="en-IN" sz="1700" b="1" dirty="0" smtClean="0"/>
              <a:t>);</a:t>
            </a:r>
            <a:r>
              <a:rPr lang="en-IN" sz="1700" b="1" dirty="0"/>
              <a:t>    }</a:t>
            </a:r>
          </a:p>
          <a:p>
            <a:pPr>
              <a:lnSpc>
                <a:spcPct val="100000"/>
              </a:lnSpc>
            </a:pPr>
            <a:r>
              <a:rPr lang="en-IN" sz="1700" b="1" dirty="0"/>
              <a:t>    public void </a:t>
            </a:r>
            <a:r>
              <a:rPr lang="en-IN" sz="1700" b="1" dirty="0" err="1"/>
              <a:t>actionPerformed</a:t>
            </a:r>
            <a:r>
              <a:rPr lang="en-IN" sz="1700" b="1" dirty="0"/>
              <a:t>(</a:t>
            </a:r>
            <a:r>
              <a:rPr lang="en-IN" sz="1700" b="1" dirty="0" err="1"/>
              <a:t>ActionEvent</a:t>
            </a:r>
            <a:r>
              <a:rPr lang="en-IN" sz="1700" b="1" dirty="0"/>
              <a:t> e) {</a:t>
            </a:r>
          </a:p>
          <a:p>
            <a:pPr>
              <a:lnSpc>
                <a:spcPct val="100000"/>
              </a:lnSpc>
            </a:pPr>
            <a:r>
              <a:rPr lang="en-IN" sz="1700" b="1" dirty="0"/>
              <a:t>        String selected = (String) </a:t>
            </a:r>
            <a:r>
              <a:rPr lang="en-IN" sz="1700" b="1" dirty="0" err="1"/>
              <a:t>comboBox.getSelectedItem</a:t>
            </a:r>
            <a:r>
              <a:rPr lang="en-IN" sz="1700" b="1" dirty="0" smtClean="0"/>
              <a:t>();</a:t>
            </a:r>
            <a:r>
              <a:rPr lang="en-IN" sz="1700" b="1" dirty="0" err="1" smtClean="0"/>
              <a:t>label.setText</a:t>
            </a:r>
            <a:r>
              <a:rPr lang="en-IN" sz="1700" b="1" dirty="0"/>
              <a:t>("Selected: " + selected</a:t>
            </a:r>
            <a:r>
              <a:rPr lang="en-IN" sz="1700" b="1" dirty="0" smtClean="0"/>
              <a:t>);</a:t>
            </a:r>
            <a:r>
              <a:rPr lang="en-IN" sz="1700" b="1" dirty="0"/>
              <a:t>    }</a:t>
            </a:r>
          </a:p>
          <a:p>
            <a:pPr>
              <a:lnSpc>
                <a:spcPct val="100000"/>
              </a:lnSpc>
            </a:pPr>
            <a:r>
              <a:rPr lang="en-IN" sz="1700" b="1" dirty="0"/>
              <a:t>    public static void main(String[] </a:t>
            </a:r>
            <a:r>
              <a:rPr lang="en-IN" sz="1700" b="1" dirty="0" err="1"/>
              <a:t>args</a:t>
            </a:r>
            <a:r>
              <a:rPr lang="en-IN" sz="1700" b="1" dirty="0"/>
              <a:t>) </a:t>
            </a:r>
            <a:r>
              <a:rPr lang="en-IN" sz="1700" b="1" dirty="0" smtClean="0"/>
              <a:t>{ </a:t>
            </a:r>
            <a:r>
              <a:rPr lang="en-IN" sz="1700" b="1" dirty="0"/>
              <a:t>new </a:t>
            </a:r>
            <a:r>
              <a:rPr lang="en-IN" sz="1700" b="1" dirty="0" err="1"/>
              <a:t>JComboBoxExample</a:t>
            </a:r>
            <a:r>
              <a:rPr lang="en-IN" sz="1700" b="1" dirty="0"/>
              <a:t>();     </a:t>
            </a:r>
            <a:r>
              <a:rPr lang="en-IN" sz="1700" b="1" dirty="0" smtClean="0"/>
              <a:t>}}</a:t>
            </a:r>
            <a:endParaRPr lang="en-IN" sz="1700" b="1" dirty="0"/>
          </a:p>
          <a:p>
            <a:pPr>
              <a:lnSpc>
                <a:spcPct val="100000"/>
              </a:lnSpc>
            </a:pPr>
            <a:r>
              <a:rPr lang="en-IN" sz="1700" b="1" dirty="0"/>
              <a:t/>
            </a:r>
            <a:br>
              <a:rPr lang="en-IN" sz="1700" b="1" dirty="0"/>
            </a:br>
            <a:endParaRPr lang="en-IN" sz="1700" b="1" dirty="0"/>
          </a:p>
        </p:txBody>
      </p:sp>
    </p:spTree>
    <p:extLst>
      <p:ext uri="{BB962C8B-B14F-4D97-AF65-F5344CB8AC3E}">
        <p14:creationId xmlns:p14="http://schemas.microsoft.com/office/powerpoint/2010/main" val="26466874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IN" dirty="0"/>
          </a:p>
        </p:txBody>
      </p:sp>
      <p:sp>
        <p:nvSpPr>
          <p:cNvPr id="3" name="Text Placeholder 2"/>
          <p:cNvSpPr>
            <a:spLocks noGrp="1"/>
          </p:cNvSpPr>
          <p:nvPr>
            <p:ph type="body" idx="1"/>
          </p:nvPr>
        </p:nvSpPr>
        <p:spPr/>
        <p:txBody>
          <a:bodyPr/>
          <a:lstStyle/>
          <a:p>
            <a:endParaRPr lang="en-IN" dirty="0"/>
          </a:p>
        </p:txBody>
      </p:sp>
      <p:pic>
        <p:nvPicPr>
          <p:cNvPr id="5" name="Picture 2" descr="https://lh7-rt.googleusercontent.com/docsz/AD_4nXdwRgxfa2FTLg69TvxIES5AyEW509KrToY6xmIWIhwwQ5jK7lBoPRQe4OSgK5bWIacYFqEEnzUXvc2KHjI9c78wqC8qf4rYiiSBCgaeyoyYk9hS4pw1jSdgKhjp1bzHoXdRGD0-?key=_74qPF_W3zy5TN23aBAEy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0" y="2664142"/>
            <a:ext cx="4946650" cy="2415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508897"/>
      </p:ext>
    </p:extLst>
  </p:cSld>
  <p:clrMapOvr>
    <a:masterClrMapping/>
  </p:clrMapOvr>
  <p:timing>
    <p:tnLst>
      <p:par>
        <p:cTn id="1" dur="indefinite" restart="never" nodeType="tmRoot"/>
      </p:par>
    </p:tnLst>
  </p:timing>
</p:sld>
</file>

<file path=ppt/theme/theme1.xml><?xml version="1.0" encoding="utf-8"?>
<a:theme xmlns:a="http://schemas.openxmlformats.org/drawingml/2006/main"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TotalTime>
  <Words>3609</Words>
  <Application>Microsoft Office PowerPoint</Application>
  <PresentationFormat>Widescreen</PresentationFormat>
  <Paragraphs>482</Paragraphs>
  <Slides>59</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Courier New</vt:lpstr>
      <vt:lpstr>Noto Sans Symbols</vt:lpstr>
      <vt:lpstr>Twentieth Century</vt:lpstr>
      <vt:lpstr>Integral</vt:lpstr>
      <vt:lpstr>JAVA  SWINGS</vt:lpstr>
      <vt:lpstr>INTRODUCTION</vt:lpstr>
      <vt:lpstr>INTRODUCTION</vt:lpstr>
      <vt:lpstr>SWING FEATURES</vt:lpstr>
      <vt:lpstr>AWT VS SWING</vt:lpstr>
      <vt:lpstr>MVC CONNECTION</vt:lpstr>
      <vt:lpstr>MVC CONNECTION</vt:lpstr>
      <vt:lpstr>CONTAINERS AND COMPONENTS</vt:lpstr>
      <vt:lpstr>CONTAINERS AND COMPONENTS</vt:lpstr>
      <vt:lpstr>SIMPLE CODE</vt:lpstr>
      <vt:lpstr>EVENT HANDLING</vt:lpstr>
      <vt:lpstr>SIMPLE JAVA CODE</vt:lpstr>
      <vt:lpstr>QUESTIONS</vt:lpstr>
      <vt:lpstr>JFRAME</vt:lpstr>
      <vt:lpstr>JLABEL</vt:lpstr>
      <vt:lpstr>PowerPoint Presentation</vt:lpstr>
      <vt:lpstr>OUTPUT</vt:lpstr>
      <vt:lpstr>JLABEL</vt:lpstr>
      <vt:lpstr>PowerPoint Presentation</vt:lpstr>
      <vt:lpstr>PowerPoint Presentation</vt:lpstr>
      <vt:lpstr>JTEXTFIELD</vt:lpstr>
      <vt:lpstr>PowerPoint Presentation</vt:lpstr>
      <vt:lpstr>JBUTTON</vt:lpstr>
      <vt:lpstr>PowerPoint Presentation</vt:lpstr>
      <vt:lpstr>OUTPUT</vt:lpstr>
      <vt:lpstr>JBUTTON</vt:lpstr>
      <vt:lpstr>PowerPoint Presentation</vt:lpstr>
      <vt:lpstr>OUTPUT</vt:lpstr>
      <vt:lpstr>JTOGGLEBUTTON</vt:lpstr>
      <vt:lpstr>JTOGGLEBUTTON</vt:lpstr>
      <vt:lpstr>PowerPoint Presentation</vt:lpstr>
      <vt:lpstr>OUTPUT</vt:lpstr>
      <vt:lpstr>CHECKBOXES</vt:lpstr>
      <vt:lpstr>PowerPoint Presentation</vt:lpstr>
      <vt:lpstr>OUTPUT</vt:lpstr>
      <vt:lpstr>RADIOBUTTONS</vt:lpstr>
      <vt:lpstr>RADIOBUTTONS</vt:lpstr>
      <vt:lpstr>RADIOBUTTONS</vt:lpstr>
      <vt:lpstr>PowerPoint Presentation</vt:lpstr>
      <vt:lpstr>OUTPUT</vt:lpstr>
      <vt:lpstr>JTABBEDPANE</vt:lpstr>
      <vt:lpstr>JTABBEDPANE</vt:lpstr>
      <vt:lpstr>PowerPoint Presentation</vt:lpstr>
      <vt:lpstr>OUTPUT</vt:lpstr>
      <vt:lpstr>JSCROLLPANE</vt:lpstr>
      <vt:lpstr>JSCROLLPANE</vt:lpstr>
      <vt:lpstr>JSCROLLPANE</vt:lpstr>
      <vt:lpstr>PowerPoint Presentation</vt:lpstr>
      <vt:lpstr>OUTPUT</vt:lpstr>
      <vt:lpstr>JLIST</vt:lpstr>
      <vt:lpstr>JLIST</vt:lpstr>
      <vt:lpstr>JLIST</vt:lpstr>
      <vt:lpstr>JLIST</vt:lpstr>
      <vt:lpstr>PowerPoint Presentation</vt:lpstr>
      <vt:lpstr>OUTPUT</vt:lpstr>
      <vt:lpstr>JCOMBOBOX</vt:lpstr>
      <vt:lpstr>JCOMBOBOX</vt:lpstr>
      <vt:lpstr>PowerPoint Presentation</vt:lpstr>
      <vt:lpstr>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SWINGS</dc:title>
  <dc:creator>ADMIN</dc:creator>
  <cp:lastModifiedBy>ADMIN</cp:lastModifiedBy>
  <cp:revision>24</cp:revision>
  <dcterms:created xsi:type="dcterms:W3CDTF">2025-05-06T03:42:48Z</dcterms:created>
  <dcterms:modified xsi:type="dcterms:W3CDTF">2026-05-08T04:15:00Z</dcterms:modified>
</cp:coreProperties>
</file>