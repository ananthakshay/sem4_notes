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735ac3451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735ac3451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35ac3451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35ac3451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735ac3451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735ac3451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735ac3451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735ac3451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735ac3451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735ac3451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735ac3451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735ac3451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735ac3451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735ac3451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735ac3451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735ac3451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735ac3451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735ac3451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735ac3451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735ac3451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735ac3451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735ac3451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735ac3451a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735ac3451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735ac3451a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735ac3451a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735ac3451a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735ac3451a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735ac3451a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735ac3451a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735ac3451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735ac3451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735ac3451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2735ac3451a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735ac3451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2735ac3451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735ac3451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2735ac3451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735ac3451a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2735ac3451a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735ac3451a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2735ac3451a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735ac3451a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2735ac3451a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735ac3451a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735ac3451a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735ac3451a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735ac3451a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735ac3451a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2735ac3451a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735ac3451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2735ac3451a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735ac3451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735ac3451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rgbClr val="262626"/>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lvl1pPr marL="457200" lvl="0" indent="-317500" algn="l" rtl="0">
              <a:lnSpc>
                <a:spcPct val="100000"/>
              </a:lnSpc>
              <a:spcBef>
                <a:spcPts val="700"/>
              </a:spcBef>
              <a:spcAft>
                <a:spcPts val="0"/>
              </a:spcAft>
              <a:buSzPts val="1400"/>
              <a:buChar char="●"/>
              <a:defRPr/>
            </a:lvl1pPr>
            <a:lvl2pPr marL="914400" lvl="1" indent="-317500" algn="l" rtl="0">
              <a:lnSpc>
                <a:spcPct val="100000"/>
              </a:lnSpc>
              <a:spcBef>
                <a:spcPts val="400"/>
              </a:spcBef>
              <a:spcAft>
                <a:spcPts val="0"/>
              </a:spcAft>
              <a:buSzPts val="1400"/>
              <a:buChar char="○"/>
              <a:defRPr/>
            </a:lvl2pPr>
            <a:lvl3pPr marL="1371600" lvl="2" indent="-317500" algn="l" rtl="0">
              <a:lnSpc>
                <a:spcPct val="100000"/>
              </a:lnSpc>
              <a:spcBef>
                <a:spcPts val="1200"/>
              </a:spcBef>
              <a:spcAft>
                <a:spcPts val="0"/>
              </a:spcAft>
              <a:buSzPts val="1400"/>
              <a:buChar char="■"/>
              <a:defRPr/>
            </a:lvl3pPr>
            <a:lvl4pPr marL="1828800" lvl="3" indent="-317500" algn="l" rtl="0">
              <a:lnSpc>
                <a:spcPct val="100000"/>
              </a:lnSpc>
              <a:spcBef>
                <a:spcPts val="1200"/>
              </a:spcBef>
              <a:spcAft>
                <a:spcPts val="0"/>
              </a:spcAft>
              <a:buSzPts val="1400"/>
              <a:buChar char="●"/>
              <a:defRPr/>
            </a:lvl4pPr>
            <a:lvl5pPr marL="2286000" lvl="4" indent="-317500" algn="l" rtl="0">
              <a:lnSpc>
                <a:spcPct val="100000"/>
              </a:lnSpc>
              <a:spcBef>
                <a:spcPts val="1200"/>
              </a:spcBef>
              <a:spcAft>
                <a:spcPts val="0"/>
              </a:spcAft>
              <a:buSzPts val="1400"/>
              <a:buChar char="○"/>
              <a:defRPr/>
            </a:lvl5pPr>
            <a:lvl6pPr marL="2743200" lvl="5" indent="-317500" algn="l" rtl="0">
              <a:lnSpc>
                <a:spcPct val="100000"/>
              </a:lnSpc>
              <a:spcBef>
                <a:spcPts val="1200"/>
              </a:spcBef>
              <a:spcAft>
                <a:spcPts val="0"/>
              </a:spcAft>
              <a:buSzPts val="1400"/>
              <a:buChar char="■"/>
              <a:defRPr/>
            </a:lvl6pPr>
            <a:lvl7pPr marL="3200400" lvl="6" indent="-317500" algn="l" rtl="0">
              <a:lnSpc>
                <a:spcPct val="100000"/>
              </a:lnSpc>
              <a:spcBef>
                <a:spcPts val="1200"/>
              </a:spcBef>
              <a:spcAft>
                <a:spcPts val="0"/>
              </a:spcAft>
              <a:buSzPts val="1400"/>
              <a:buChar char="●"/>
              <a:defRPr/>
            </a:lvl7pPr>
            <a:lvl8pPr marL="3657600" lvl="7" indent="-317500" algn="l" rtl="0">
              <a:lnSpc>
                <a:spcPct val="100000"/>
              </a:lnSpc>
              <a:spcBef>
                <a:spcPts val="1200"/>
              </a:spcBef>
              <a:spcAft>
                <a:spcPts val="0"/>
              </a:spcAft>
              <a:buSzPts val="1400"/>
              <a:buChar char="○"/>
              <a:defRPr/>
            </a:lvl8pPr>
            <a:lvl9pPr marL="4114800" lvl="8" indent="-317500" algn="l" rtl="0">
              <a:lnSpc>
                <a:spcPct val="100000"/>
              </a:lnSpc>
              <a:spcBef>
                <a:spcPts val="1200"/>
              </a:spcBef>
              <a:spcAft>
                <a:spcPts val="1200"/>
              </a:spcAft>
              <a:buSzPts val="1400"/>
              <a:buChar char="■"/>
              <a:defRPr/>
            </a:lvl9pPr>
          </a:lstStyle>
          <a:p>
            <a:endParaRPr/>
          </a:p>
        </p:txBody>
      </p:sp>
      <p:sp>
        <p:nvSpPr>
          <p:cNvPr id="53" name="Google Shape;53;p13"/>
          <p:cNvSpPr txBox="1">
            <a:spLocks noGrp="1"/>
          </p:cNvSpPr>
          <p:nvPr>
            <p:ph type="dt" idx="10"/>
          </p:nvPr>
        </p:nvSpPr>
        <p:spPr>
          <a:xfrm>
            <a:off x="205740" y="4730754"/>
            <a:ext cx="2057400" cy="2058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2617470" y="4730754"/>
            <a:ext cx="3909300" cy="205800"/>
          </a:xfrm>
          <a:prstGeom prst="rect">
            <a:avLst/>
          </a:prstGeom>
          <a:noFill/>
          <a:ln>
            <a:noFill/>
          </a:ln>
        </p:spPr>
        <p:txBody>
          <a:bodyPr spcFirstLastPara="1" wrap="square" lIns="68575" tIns="34275" rIns="68575" bIns="34275" anchor="b"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7852410" y="4730754"/>
            <a:ext cx="1097400" cy="205800"/>
          </a:xfrm>
          <a:prstGeom prst="rect">
            <a:avLst/>
          </a:prstGeom>
          <a:noFill/>
          <a:ln>
            <a:noFill/>
          </a:ln>
        </p:spPr>
        <p:txBody>
          <a:bodyPr spcFirstLastPara="1" wrap="square" lIns="68575" tIns="34275" rIns="68575" bIns="34275" anchor="b" anchorCtr="0">
            <a:normAutofit lnSpcReduction="10000"/>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SERVLETS</a:t>
            </a:r>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Static vs Dynamic content</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In the early days, web pages were only static. User sends request and receives response from server.</a:t>
            </a:r>
            <a:endParaRPr dirty="0"/>
          </a:p>
          <a:p>
            <a:pPr marL="0" lvl="0" indent="0" algn="l" rtl="0">
              <a:spcBef>
                <a:spcPts val="1200"/>
              </a:spcBef>
              <a:spcAft>
                <a:spcPts val="0"/>
              </a:spcAft>
              <a:buNone/>
            </a:pPr>
            <a:r>
              <a:rPr lang="en" dirty="0"/>
              <a:t>With advent of World Wide Web, people used dynamic content for the betterment of lives like updation of bank balance after transactions, ticket booking, weather updates, news headlines, etc.,</a:t>
            </a:r>
            <a:endParaRPr dirty="0"/>
          </a:p>
          <a:p>
            <a:pPr marL="0" lvl="0" indent="0" algn="l" rtl="0">
              <a:spcBef>
                <a:spcPts val="1200"/>
              </a:spcBef>
              <a:spcAft>
                <a:spcPts val="0"/>
              </a:spcAft>
              <a:buNone/>
            </a:pPr>
            <a:r>
              <a:rPr lang="en" dirty="0"/>
              <a:t>Common Gateway Interface (CGI) was the first solution for the same. </a:t>
            </a:r>
            <a:r>
              <a:rPr lang="en" dirty="0" smtClean="0"/>
              <a:t>Helps </a:t>
            </a:r>
            <a:r>
              <a:rPr lang="en" dirty="0"/>
              <a:t>accept user input, query database and return response on web browser.</a:t>
            </a:r>
            <a:endParaRPr dirty="0"/>
          </a:p>
          <a:p>
            <a:pPr marL="0" lvl="0" indent="0" algn="l" rtl="0">
              <a:spcBef>
                <a:spcPts val="1200"/>
              </a:spcBef>
              <a:spcAft>
                <a:spcPts val="1200"/>
              </a:spcAft>
              <a:buNone/>
            </a:pPr>
            <a:r>
              <a:rPr lang="en" dirty="0"/>
              <a:t>It can be programmed in  C, C++, VBScript, TCL, Python, Icon, AppleScript, Perl, etc.,</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Disadvantages of CGI</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Lack of scalability and reduced speed.</a:t>
            </a:r>
            <a:endParaRPr/>
          </a:p>
          <a:p>
            <a:pPr marL="0" lvl="0" indent="0" algn="l" rtl="0">
              <a:spcBef>
                <a:spcPts val="1200"/>
              </a:spcBef>
              <a:spcAft>
                <a:spcPts val="0"/>
              </a:spcAft>
              <a:buNone/>
            </a:pPr>
            <a:r>
              <a:rPr lang="en"/>
              <a:t>Platform dependent</a:t>
            </a:r>
            <a:endParaRPr/>
          </a:p>
          <a:p>
            <a:pPr marL="0" lvl="0" indent="0" algn="l" rtl="0">
              <a:spcBef>
                <a:spcPts val="1200"/>
              </a:spcBef>
              <a:spcAft>
                <a:spcPts val="0"/>
              </a:spcAft>
              <a:buNone/>
            </a:pPr>
            <a:r>
              <a:rPr lang="en"/>
              <a:t>Consumes lot of server side resources in multi-server situation</a:t>
            </a:r>
            <a:endParaRPr/>
          </a:p>
          <a:p>
            <a:pPr marL="0" lvl="0" indent="0" algn="l" rtl="0">
              <a:spcBef>
                <a:spcPts val="1200"/>
              </a:spcBef>
              <a:spcAft>
                <a:spcPts val="0"/>
              </a:spcAft>
              <a:buNone/>
            </a:pPr>
            <a:r>
              <a:rPr lang="en"/>
              <a:t>Difficult for beginners to program modules in this environment</a:t>
            </a:r>
            <a:endParaRPr/>
          </a:p>
          <a:p>
            <a:pPr marL="0" lvl="0" indent="0" algn="l" rtl="0">
              <a:spcBef>
                <a:spcPts val="1200"/>
              </a:spcBef>
              <a:spcAft>
                <a:spcPts val="0"/>
              </a:spcAft>
              <a:buNone/>
            </a:pPr>
            <a:r>
              <a:rPr lang="en"/>
              <a:t>Sharing resources is not available</a:t>
            </a:r>
            <a:endParaRPr/>
          </a:p>
          <a:p>
            <a:pPr marL="0" lvl="0" indent="0" algn="l" rtl="0">
              <a:spcBef>
                <a:spcPts val="1200"/>
              </a:spcBef>
              <a:spcAft>
                <a:spcPts val="1200"/>
              </a:spcAft>
              <a:buNone/>
            </a:pPr>
            <a:r>
              <a:rPr lang="en"/>
              <a:t>Alternatives are FastCGI, mod_perl,NSAPI, ISAPI, Java servlets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 Servlets</a:t>
            </a: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Server-side program that services HTTP requests and returns results as HTTP Responses.</a:t>
            </a:r>
            <a:endParaRPr dirty="0"/>
          </a:p>
          <a:p>
            <a:pPr marL="0" lvl="0" indent="0" algn="l" rtl="0">
              <a:spcBef>
                <a:spcPts val="1200"/>
              </a:spcBef>
              <a:spcAft>
                <a:spcPts val="0"/>
              </a:spcAft>
              <a:buNone/>
            </a:pPr>
            <a:r>
              <a:rPr lang="en" dirty="0"/>
              <a:t>Lifecycle similar to that of applet and runs inside JVM at the web server.</a:t>
            </a:r>
            <a:endParaRPr dirty="0"/>
          </a:p>
          <a:p>
            <a:pPr marL="0" lvl="0" indent="0" algn="l" rtl="0">
              <a:spcBef>
                <a:spcPts val="1200"/>
              </a:spcBef>
              <a:spcAft>
                <a:spcPts val="0"/>
              </a:spcAft>
              <a:buNone/>
            </a:pPr>
            <a:r>
              <a:rPr lang="en" dirty="0"/>
              <a:t>Module written in Java and runs in a server application. Used with HTTP.</a:t>
            </a:r>
            <a:endParaRPr dirty="0"/>
          </a:p>
          <a:p>
            <a:pPr marL="0" lvl="0" indent="0" algn="l" rtl="0">
              <a:spcBef>
                <a:spcPts val="1200"/>
              </a:spcBef>
              <a:spcAft>
                <a:spcPts val="0"/>
              </a:spcAft>
              <a:buNone/>
            </a:pPr>
            <a:r>
              <a:rPr lang="en" dirty="0"/>
              <a:t>Executes all requests; shares resources; can be ported to other platforms that support Java.</a:t>
            </a:r>
            <a:endParaRPr dirty="0"/>
          </a:p>
          <a:p>
            <a:pPr marL="0" lvl="0" indent="0" algn="l" rtl="0">
              <a:spcBef>
                <a:spcPts val="1200"/>
              </a:spcBef>
              <a:spcAft>
                <a:spcPts val="120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Java Servlets</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82880" lvl="0" indent="-182880" algn="just" rtl="0">
              <a:lnSpc>
                <a:spcPct val="100000"/>
              </a:lnSpc>
              <a:spcBef>
                <a:spcPts val="0"/>
              </a:spcBef>
              <a:spcAft>
                <a:spcPts val="0"/>
              </a:spcAft>
              <a:buClr>
                <a:srgbClr val="262626"/>
              </a:buClr>
              <a:buSzPts val="2000"/>
              <a:buChar char="◦"/>
            </a:pPr>
            <a:r>
              <a:rPr lang="en" sz="2000" dirty="0">
                <a:solidFill>
                  <a:schemeClr val="dk1"/>
                </a:solidFill>
              </a:rPr>
              <a:t>Servlet is a technology which is used to create a web application.</a:t>
            </a:r>
            <a:endParaRPr dirty="0">
              <a:solidFill>
                <a:schemeClr val="dk1"/>
              </a:solidFill>
            </a:endParaRPr>
          </a:p>
          <a:p>
            <a:pPr marL="182880" lvl="0" indent="-182880" algn="just" rtl="0">
              <a:lnSpc>
                <a:spcPct val="100000"/>
              </a:lnSpc>
              <a:spcBef>
                <a:spcPts val="900"/>
              </a:spcBef>
              <a:spcAft>
                <a:spcPts val="0"/>
              </a:spcAft>
              <a:buClr>
                <a:srgbClr val="262626"/>
              </a:buClr>
              <a:buSzPts val="2000"/>
              <a:buChar char="◦"/>
            </a:pPr>
            <a:r>
              <a:rPr lang="en" sz="2000" dirty="0">
                <a:solidFill>
                  <a:schemeClr val="dk1"/>
                </a:solidFill>
              </a:rPr>
              <a:t>Servlet is an API that provides many interfaces and classes including documentation.</a:t>
            </a:r>
            <a:endParaRPr dirty="0">
              <a:solidFill>
                <a:schemeClr val="dk1"/>
              </a:solidFill>
            </a:endParaRPr>
          </a:p>
          <a:p>
            <a:pPr marL="182880" lvl="0" indent="-182880" algn="just" rtl="0">
              <a:lnSpc>
                <a:spcPct val="100000"/>
              </a:lnSpc>
              <a:spcBef>
                <a:spcPts val="900"/>
              </a:spcBef>
              <a:spcAft>
                <a:spcPts val="0"/>
              </a:spcAft>
              <a:buClr>
                <a:srgbClr val="262626"/>
              </a:buClr>
              <a:buSzPts val="2000"/>
              <a:buChar char="◦"/>
            </a:pPr>
            <a:r>
              <a:rPr lang="en" sz="2000" dirty="0">
                <a:solidFill>
                  <a:schemeClr val="dk1"/>
                </a:solidFill>
              </a:rPr>
              <a:t>Servlet is an interface that must be implemented for creating any Servlet.</a:t>
            </a:r>
            <a:endParaRPr dirty="0">
              <a:solidFill>
                <a:schemeClr val="dk1"/>
              </a:solidFill>
            </a:endParaRPr>
          </a:p>
          <a:p>
            <a:pPr marL="182880" lvl="0" indent="-182880" algn="just" rtl="0">
              <a:lnSpc>
                <a:spcPct val="100000"/>
              </a:lnSpc>
              <a:spcBef>
                <a:spcPts val="900"/>
              </a:spcBef>
              <a:spcAft>
                <a:spcPts val="0"/>
              </a:spcAft>
              <a:buClr>
                <a:srgbClr val="262626"/>
              </a:buClr>
              <a:buSzPts val="2000"/>
              <a:buChar char="◦"/>
            </a:pPr>
            <a:r>
              <a:rPr lang="en" sz="2000" dirty="0">
                <a:solidFill>
                  <a:schemeClr val="dk1"/>
                </a:solidFill>
              </a:rPr>
              <a:t>Servlet is a class that extends the capabilities of the servers and responds to the incoming requests. It can respond to any requests.</a:t>
            </a:r>
            <a:endParaRPr dirty="0">
              <a:solidFill>
                <a:schemeClr val="dk1"/>
              </a:solidFill>
            </a:endParaRPr>
          </a:p>
          <a:p>
            <a:pPr marL="182880" lvl="0" indent="-182880" algn="just" rtl="0">
              <a:lnSpc>
                <a:spcPct val="100000"/>
              </a:lnSpc>
              <a:spcBef>
                <a:spcPts val="900"/>
              </a:spcBef>
              <a:spcAft>
                <a:spcPts val="0"/>
              </a:spcAft>
              <a:buClr>
                <a:srgbClr val="262626"/>
              </a:buClr>
              <a:buSzPts val="2000"/>
              <a:buChar char="◦"/>
            </a:pPr>
            <a:r>
              <a:rPr lang="en" sz="2000" dirty="0">
                <a:solidFill>
                  <a:schemeClr val="dk1"/>
                </a:solidFill>
              </a:rPr>
              <a:t>Servlet is a web component that is deployed on the server to create a dynamic web page.</a:t>
            </a:r>
            <a:endParaRPr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Java Servlets</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2" name="Google Shape;92;p19"/>
          <p:cNvPicPr preferRelativeResize="0"/>
          <p:nvPr/>
        </p:nvPicPr>
        <p:blipFill rotWithShape="1">
          <a:blip r:embed="rId3">
            <a:alphaModFix/>
          </a:blip>
          <a:srcRect/>
          <a:stretch/>
        </p:blipFill>
        <p:spPr>
          <a:xfrm>
            <a:off x="410399" y="1375199"/>
            <a:ext cx="8251775" cy="319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 Servlets</a:t>
            </a: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a:t>Efficient with automated threading model wherein each request is handled by a lightweight thread.</a:t>
            </a:r>
            <a:endParaRPr/>
          </a:p>
          <a:p>
            <a:pPr marL="0" lvl="0" indent="0" algn="l" rtl="0">
              <a:spcBef>
                <a:spcPts val="1200"/>
              </a:spcBef>
              <a:spcAft>
                <a:spcPts val="0"/>
              </a:spcAft>
              <a:buNone/>
            </a:pPr>
            <a:r>
              <a:rPr lang="en"/>
              <a:t>Platform-independent. They run using a set of standard interfaces and a JVM. </a:t>
            </a:r>
            <a:endParaRPr/>
          </a:p>
          <a:p>
            <a:pPr marL="0" lvl="0" indent="0" algn="l" rtl="0">
              <a:spcBef>
                <a:spcPts val="1200"/>
              </a:spcBef>
              <a:spcAft>
                <a:spcPts val="0"/>
              </a:spcAft>
              <a:buNone/>
            </a:pPr>
            <a:r>
              <a:rPr lang="en"/>
              <a:t>If JVM exists for platform A, servlet validated on platform B,C, etc., will run successfully on A.</a:t>
            </a:r>
            <a:endParaRPr/>
          </a:p>
          <a:p>
            <a:pPr marL="0" lvl="0" indent="0" algn="l" rtl="0">
              <a:spcBef>
                <a:spcPts val="1200"/>
              </a:spcBef>
              <a:spcAft>
                <a:spcPts val="0"/>
              </a:spcAft>
              <a:buNone/>
            </a:pPr>
            <a:r>
              <a:rPr lang="en"/>
              <a:t>Servlets provide an object oriented and extensible middle tier for Web server based applications.</a:t>
            </a:r>
            <a:endParaRPr/>
          </a:p>
          <a:p>
            <a:pPr marL="0" lvl="0" indent="0" algn="l" rtl="0">
              <a:spcBef>
                <a:spcPts val="1200"/>
              </a:spcBef>
              <a:spcAft>
                <a:spcPts val="1200"/>
              </a:spcAft>
              <a:buNone/>
            </a:pPr>
            <a:r>
              <a:rPr lang="en"/>
              <a:t>Web servers cannot communicate with databases. So, Servlets extend the functionality of web servers and deliver information to clients’ browser.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Clients &amp; Container</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Servlet clients are not necessarily written in Java. Servlets are used in middle tier of distributed application systems. Servlets can in turn be clients to other services, written in some other language.</a:t>
            </a:r>
            <a:endParaRPr dirty="0"/>
          </a:p>
          <a:p>
            <a:pPr marL="0" lvl="0" indent="0" algn="l" rtl="0">
              <a:spcBef>
                <a:spcPts val="1200"/>
              </a:spcBef>
              <a:spcAft>
                <a:spcPts val="0"/>
              </a:spcAft>
              <a:buNone/>
            </a:pPr>
            <a:r>
              <a:rPr lang="en" dirty="0"/>
              <a:t>Servlet container provides runtime environment in which the servlet executes. Servlet engine manages lifecycle of servlet from its creation to destruction.</a:t>
            </a:r>
            <a:endParaRPr dirty="0"/>
          </a:p>
          <a:p>
            <a:pPr marL="0" lvl="0" indent="0" algn="l" rtl="0">
              <a:spcBef>
                <a:spcPts val="1200"/>
              </a:spcBef>
              <a:spcAft>
                <a:spcPts val="0"/>
              </a:spcAft>
              <a:buNone/>
            </a:pPr>
            <a:r>
              <a:rPr lang="en" dirty="0"/>
              <a:t>Servlets are supported by servers like Apache, Netscape, Microsoft IIS, etc.,</a:t>
            </a:r>
            <a:endParaRPr dirty="0"/>
          </a:p>
          <a:p>
            <a:pPr marL="0" lvl="0" indent="0" algn="l" rtl="0">
              <a:spcBef>
                <a:spcPts val="1200"/>
              </a:spcBef>
              <a:spcAft>
                <a:spcPts val="1200"/>
              </a:spcAft>
              <a:buNone/>
            </a:pPr>
            <a:r>
              <a:rPr lang="en" dirty="0"/>
              <a:t>Servlet works behind the scene and displays its results on web browser after processing.</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Servlets?</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Loaded into memory once and run from memory thereafter</a:t>
            </a:r>
            <a:endParaRPr dirty="0"/>
          </a:p>
          <a:p>
            <a:pPr marL="0" lvl="0" indent="0" algn="l" rtl="0">
              <a:spcBef>
                <a:spcPts val="1200"/>
              </a:spcBef>
              <a:spcAft>
                <a:spcPts val="0"/>
              </a:spcAft>
              <a:buNone/>
            </a:pPr>
            <a:r>
              <a:rPr lang="en" dirty="0"/>
              <a:t>Spawned as a thread. Portable across multiple web servers and platforms.</a:t>
            </a:r>
            <a:endParaRPr dirty="0"/>
          </a:p>
          <a:p>
            <a:pPr marL="0" lvl="0" indent="0" algn="l" rtl="0">
              <a:spcBef>
                <a:spcPts val="1200"/>
              </a:spcBef>
              <a:spcAft>
                <a:spcPts val="0"/>
              </a:spcAft>
              <a:buNone/>
            </a:pPr>
            <a:r>
              <a:rPr lang="en" dirty="0"/>
              <a:t>Simple to design and implement. Tightly integrated with web server.</a:t>
            </a:r>
            <a:endParaRPr dirty="0"/>
          </a:p>
          <a:p>
            <a:pPr marL="0" lvl="0" indent="0" algn="l" rtl="0">
              <a:spcBef>
                <a:spcPts val="1200"/>
              </a:spcBef>
              <a:spcAft>
                <a:spcPts val="0"/>
              </a:spcAft>
              <a:buNone/>
            </a:pPr>
            <a:r>
              <a:rPr lang="en" dirty="0"/>
              <a:t>Services client requests efficiently. Runs within the secure scope of JVM. Complies with Servlet API.</a:t>
            </a:r>
            <a:endParaRPr dirty="0"/>
          </a:p>
          <a:p>
            <a:pPr marL="0" lvl="0" indent="0" algn="l" rtl="0">
              <a:spcBef>
                <a:spcPts val="1200"/>
              </a:spcBef>
              <a:spcAft>
                <a:spcPts val="0"/>
              </a:spcAft>
              <a:buNone/>
            </a:pPr>
            <a:r>
              <a:rPr lang="en" dirty="0"/>
              <a:t>Robust, scalable and secure CGI replacement. Provides database access using native and ODBC DB drivers. Supported by several web browsers.</a:t>
            </a:r>
            <a:endParaRPr dirty="0"/>
          </a:p>
          <a:p>
            <a:pPr marL="0" lvl="0" indent="0" algn="l" rtl="0">
              <a:spcBef>
                <a:spcPts val="1200"/>
              </a:spcBef>
              <a:spcAft>
                <a:spcPts val="1200"/>
              </a:spcAft>
              <a:buNone/>
            </a:pPr>
            <a:r>
              <a:rPr lang="en" dirty="0"/>
              <a:t>Gives code protection when on server-side.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can servlets do?</a:t>
            </a:r>
            <a:endParaRPr/>
          </a:p>
        </p:txBody>
      </p:sp>
      <p:sp>
        <p:nvSpPr>
          <p:cNvPr id="116" name="Google Shape;116;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t>Servlet is actually a piece of code executed at the Web Server in response to HTTP Request from clients’ browser. They perform the following:</a:t>
            </a:r>
            <a:endParaRPr dirty="0"/>
          </a:p>
          <a:p>
            <a:pPr marL="0" lvl="0" indent="0" algn="l" rtl="0">
              <a:spcBef>
                <a:spcPts val="1200"/>
              </a:spcBef>
              <a:spcAft>
                <a:spcPts val="0"/>
              </a:spcAft>
              <a:buNone/>
            </a:pPr>
            <a:r>
              <a:rPr lang="en" dirty="0"/>
              <a:t>Process and / or store data submitted by HTML form.</a:t>
            </a:r>
            <a:endParaRPr dirty="0"/>
          </a:p>
          <a:p>
            <a:pPr marL="0" lvl="0" indent="0" algn="l" rtl="0">
              <a:spcBef>
                <a:spcPts val="1200"/>
              </a:spcBef>
              <a:spcAft>
                <a:spcPts val="0"/>
              </a:spcAft>
              <a:buNone/>
            </a:pPr>
            <a:r>
              <a:rPr lang="en" dirty="0"/>
              <a:t>Can provide dynamic content like returning database query results to client.</a:t>
            </a:r>
            <a:endParaRPr dirty="0"/>
          </a:p>
          <a:p>
            <a:pPr marL="0" lvl="0" indent="0" algn="l" rtl="0">
              <a:spcBef>
                <a:spcPts val="1200"/>
              </a:spcBef>
              <a:spcAft>
                <a:spcPts val="0"/>
              </a:spcAft>
              <a:buNone/>
            </a:pPr>
            <a:r>
              <a:rPr lang="en" dirty="0"/>
              <a:t>Can manage state information on top of stateless HTTP. Can </a:t>
            </a:r>
            <a:r>
              <a:rPr lang="en" b="1" dirty="0"/>
              <a:t>handle multiple requests concurrently and these requests can be synchronized to support systems allowing collaboration between people.</a:t>
            </a:r>
            <a:endParaRPr b="1" dirty="0"/>
          </a:p>
          <a:p>
            <a:pPr marL="0" lvl="0" indent="0">
              <a:buNone/>
            </a:pPr>
            <a:r>
              <a:rPr lang="en" dirty="0" smtClean="0"/>
              <a:t>Can forward requests to other servers / servlets. </a:t>
            </a:r>
          </a:p>
          <a:p>
            <a:pPr marL="0" lvl="0" indent="0">
              <a:buNone/>
            </a:pPr>
            <a:endParaRPr lang="en" dirty="0"/>
          </a:p>
          <a:p>
            <a:pPr marL="0" lvl="0" indent="0">
              <a:buNone/>
            </a:pPr>
            <a:r>
              <a:rPr lang="en" dirty="0" smtClean="0"/>
              <a:t>Can be used to balance load among several servers that mirror same content.</a:t>
            </a:r>
            <a:r>
              <a:rPr lang="en-US" dirty="0"/>
              <a:t> Can maintain and track sessions. Servlets clean up session when session is terminated (log off / time out</a:t>
            </a:r>
            <a:r>
              <a:rPr lang="en-US" dirty="0" smtClean="0"/>
              <a:t>). Can </a:t>
            </a:r>
            <a:r>
              <a:rPr lang="en-US" dirty="0"/>
              <a:t>pass data by themselves</a:t>
            </a:r>
          </a:p>
          <a:p>
            <a:pPr marL="0" lvl="0" indent="0">
              <a:spcBef>
                <a:spcPts val="1200"/>
              </a:spcBef>
              <a:spcAft>
                <a:spcPts val="1200"/>
              </a:spcAft>
              <a:buNone/>
            </a:pPr>
            <a:r>
              <a:rPr lang="en-US" dirty="0"/>
              <a:t>Can be used to serve as HTTP </a:t>
            </a:r>
            <a:r>
              <a:rPr lang="en-US" dirty="0" smtClean="0"/>
              <a:t>as </a:t>
            </a:r>
            <a:r>
              <a:rPr lang="en-US" dirty="0"/>
              <a:t>middle tier between any kind of thin client and large enterprise services being made available via EJB’s</a:t>
            </a:r>
          </a:p>
          <a:p>
            <a:pPr marL="0" lvl="0" indent="0" algn="l" rtl="0">
              <a:spcBef>
                <a:spcPts val="1200"/>
              </a:spcBef>
              <a:spcAft>
                <a:spcPts val="12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Request-Response Paradigm</a:t>
            </a:r>
            <a:endParaRPr/>
          </a:p>
        </p:txBody>
      </p:sp>
      <p:sp>
        <p:nvSpPr>
          <p:cNvPr id="128" name="Google Shape;12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marR="0" lvl="0" indent="0" algn="l" rtl="0">
              <a:lnSpc>
                <a:spcPct val="105000"/>
              </a:lnSpc>
              <a:spcBef>
                <a:spcPts val="0"/>
              </a:spcBef>
              <a:spcAft>
                <a:spcPts val="0"/>
              </a:spcAft>
              <a:buSzPts val="688"/>
              <a:buNone/>
            </a:pPr>
            <a:r>
              <a:rPr lang="en" sz="1525"/>
              <a:t>Servlets are based on request-response paradigm where requests are accepted and responses are generated. Servlets work with web server software.</a:t>
            </a:r>
            <a:endParaRPr sz="1525"/>
          </a:p>
          <a:p>
            <a:pPr marL="0" marR="0" lvl="0" indent="0" algn="l" rtl="0">
              <a:lnSpc>
                <a:spcPct val="105000"/>
              </a:lnSpc>
              <a:spcBef>
                <a:spcPts val="1200"/>
              </a:spcBef>
              <a:spcAft>
                <a:spcPts val="0"/>
              </a:spcAft>
              <a:buSzPts val="688"/>
              <a:buNone/>
            </a:pPr>
            <a:r>
              <a:rPr lang="en" sz="1525"/>
              <a:t>Step 1 : Client i.e. web browser sends the request to the web server.</a:t>
            </a:r>
            <a:endParaRPr sz="1525"/>
          </a:p>
          <a:p>
            <a:pPr marL="0" marR="0" lvl="0" indent="0" algn="l" rtl="0">
              <a:lnSpc>
                <a:spcPct val="105000"/>
              </a:lnSpc>
              <a:spcBef>
                <a:spcPts val="1200"/>
              </a:spcBef>
              <a:spcAft>
                <a:spcPts val="0"/>
              </a:spcAft>
              <a:buSzPts val="688"/>
              <a:buNone/>
            </a:pPr>
            <a:r>
              <a:rPr lang="en" sz="1525"/>
              <a:t>Step 2 : Web server receives the request and sends it to the servlet container. Servlet container is also called web container or servlet engine. It is responsible for handling the life of a servlet.</a:t>
            </a:r>
            <a:endParaRPr sz="1525"/>
          </a:p>
          <a:p>
            <a:pPr marL="0" marR="0" lvl="0" indent="0" algn="l" rtl="0">
              <a:lnSpc>
                <a:spcPct val="105000"/>
              </a:lnSpc>
              <a:spcBef>
                <a:spcPts val="1200"/>
              </a:spcBef>
              <a:spcAft>
                <a:spcPts val="0"/>
              </a:spcAft>
              <a:buSzPts val="688"/>
              <a:buNone/>
            </a:pPr>
            <a:r>
              <a:rPr lang="en" sz="1525"/>
              <a:t>Step 3 : Servlet container understands the request’s URL and calls the particular servlet. Actually, it creates a thread for execution of that servlet. If there are multiple requests for the same servlet, then for each request, one thread will be created.</a:t>
            </a:r>
            <a:endParaRPr sz="1525"/>
          </a:p>
          <a:p>
            <a:pPr marL="0" marR="0" lvl="0" indent="0" algn="l" rtl="0">
              <a:lnSpc>
                <a:spcPct val="105000"/>
              </a:lnSpc>
              <a:spcBef>
                <a:spcPts val="1200"/>
              </a:spcBef>
              <a:spcAft>
                <a:spcPts val="0"/>
              </a:spcAft>
              <a:buSzPts val="688"/>
              <a:buNone/>
            </a:pPr>
            <a:r>
              <a:rPr lang="en" sz="1525"/>
              <a:t>Step 4 : Servlet processes the request object and prepares response object after interacting with the database or performing any other operations and sends the response object back to the web server.</a:t>
            </a:r>
            <a:endParaRPr sz="1525"/>
          </a:p>
          <a:p>
            <a:pPr marL="0" marR="0" lvl="0" indent="0" algn="l" rtl="0">
              <a:lnSpc>
                <a:spcPct val="105000"/>
              </a:lnSpc>
              <a:spcBef>
                <a:spcPts val="1200"/>
              </a:spcBef>
              <a:spcAft>
                <a:spcPts val="0"/>
              </a:spcAft>
              <a:buSzPts val="688"/>
              <a:buNone/>
            </a:pPr>
            <a:r>
              <a:rPr lang="en" sz="1525"/>
              <a:t>Step 5 : Then web server sends the response back to the client</a:t>
            </a:r>
            <a:endParaRPr sz="1525">
              <a:solidFill>
                <a:schemeClr val="dk1"/>
              </a:solidFill>
            </a:endParaRPr>
          </a:p>
          <a:p>
            <a:pPr marL="0" lvl="0" indent="0" algn="l" rtl="0">
              <a:lnSpc>
                <a:spcPct val="105000"/>
              </a:lnSpc>
              <a:spcBef>
                <a:spcPts val="1200"/>
              </a:spcBef>
              <a:spcAft>
                <a:spcPts val="0"/>
              </a:spcAft>
              <a:buSzPts val="688"/>
              <a:buNone/>
            </a:pPr>
            <a:endParaRPr sz="1525"/>
          </a:p>
          <a:p>
            <a:pPr marL="0" lvl="0" indent="0" algn="l" rtl="0">
              <a:lnSpc>
                <a:spcPct val="105000"/>
              </a:lnSpc>
              <a:spcBef>
                <a:spcPts val="1200"/>
              </a:spcBef>
              <a:spcAft>
                <a:spcPts val="1200"/>
              </a:spcAft>
              <a:buSzPts val="688"/>
              <a:buNone/>
            </a:pPr>
            <a:endParaRPr sz="152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Interface</a:t>
            </a:r>
            <a:endParaRPr/>
          </a:p>
        </p:txBody>
      </p:sp>
      <p:sp>
        <p:nvSpPr>
          <p:cNvPr id="134" name="Google Shape;134;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Servlets implement Servlet Interface.</a:t>
            </a:r>
            <a:endParaRPr dirty="0"/>
          </a:p>
          <a:p>
            <a:pPr marL="0" lvl="0" indent="0" algn="l" rtl="0">
              <a:spcBef>
                <a:spcPts val="1200"/>
              </a:spcBef>
              <a:spcAft>
                <a:spcPts val="0"/>
              </a:spcAft>
              <a:buNone/>
            </a:pPr>
            <a:r>
              <a:rPr lang="en" dirty="0"/>
              <a:t>service() has two arguments - Request and Response to encapsulate data sent by client, provide access to parameters and allow Servlets to report status.</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135" name="Google Shape;135;p26"/>
          <p:cNvPicPr preferRelativeResize="0"/>
          <p:nvPr/>
        </p:nvPicPr>
        <p:blipFill rotWithShape="1">
          <a:blip r:embed="rId3">
            <a:alphaModFix/>
          </a:blip>
          <a:srcRect/>
          <a:stretch/>
        </p:blipFill>
        <p:spPr>
          <a:xfrm>
            <a:off x="377462" y="2494775"/>
            <a:ext cx="8389075" cy="934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Example</a:t>
            </a:r>
            <a:endParaRPr/>
          </a:p>
        </p:txBody>
      </p:sp>
      <p:sp>
        <p:nvSpPr>
          <p:cNvPr id="141" name="Google Shape;14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82880" lvl="0" indent="-182880" algn="just" rtl="0">
              <a:lnSpc>
                <a:spcPct val="100000"/>
              </a:lnSpc>
              <a:spcBef>
                <a:spcPts val="0"/>
              </a:spcBef>
              <a:spcAft>
                <a:spcPts val="0"/>
              </a:spcAft>
              <a:buClr>
                <a:srgbClr val="262626"/>
              </a:buClr>
              <a:buSzPts val="2000"/>
              <a:buChar char="◦"/>
            </a:pPr>
            <a:r>
              <a:rPr lang="en" sz="2000" dirty="0">
                <a:solidFill>
                  <a:schemeClr val="dk1"/>
                </a:solidFill>
              </a:rPr>
              <a:t>The servlet example can be created by three ways:</a:t>
            </a:r>
            <a:endParaRPr dirty="0">
              <a:solidFill>
                <a:schemeClr val="dk1"/>
              </a:solidFill>
            </a:endParaRPr>
          </a:p>
          <a:p>
            <a:pPr marL="731520" lvl="2" indent="-182879" algn="just" rtl="0">
              <a:lnSpc>
                <a:spcPct val="100000"/>
              </a:lnSpc>
              <a:spcBef>
                <a:spcPts val="500"/>
              </a:spcBef>
              <a:spcAft>
                <a:spcPts val="0"/>
              </a:spcAft>
              <a:buClr>
                <a:srgbClr val="262626"/>
              </a:buClr>
              <a:buSzPts val="2000"/>
              <a:buChar char="◦"/>
            </a:pPr>
            <a:r>
              <a:rPr lang="en" sz="2000" dirty="0">
                <a:solidFill>
                  <a:schemeClr val="dk1"/>
                </a:solidFill>
              </a:rPr>
              <a:t>By implementing Servlet interface,</a:t>
            </a:r>
            <a:endParaRPr dirty="0">
              <a:solidFill>
                <a:schemeClr val="dk1"/>
              </a:solidFill>
            </a:endParaRPr>
          </a:p>
          <a:p>
            <a:pPr marL="731520" lvl="2" indent="-182879" algn="just" rtl="0">
              <a:lnSpc>
                <a:spcPct val="100000"/>
              </a:lnSpc>
              <a:spcBef>
                <a:spcPts val="500"/>
              </a:spcBef>
              <a:spcAft>
                <a:spcPts val="0"/>
              </a:spcAft>
              <a:buClr>
                <a:srgbClr val="262626"/>
              </a:buClr>
              <a:buSzPts val="2000"/>
              <a:buChar char="◦"/>
            </a:pPr>
            <a:r>
              <a:rPr lang="en" sz="2000" dirty="0">
                <a:solidFill>
                  <a:schemeClr val="dk1"/>
                </a:solidFill>
              </a:rPr>
              <a:t>By inheriting GenericServlet class, (or)</a:t>
            </a:r>
            <a:endParaRPr dirty="0">
              <a:solidFill>
                <a:schemeClr val="dk1"/>
              </a:solidFill>
            </a:endParaRPr>
          </a:p>
          <a:p>
            <a:pPr marL="731520" lvl="2" indent="-182879" algn="just" rtl="0">
              <a:lnSpc>
                <a:spcPct val="100000"/>
              </a:lnSpc>
              <a:spcBef>
                <a:spcPts val="500"/>
              </a:spcBef>
              <a:spcAft>
                <a:spcPts val="0"/>
              </a:spcAft>
              <a:buClr>
                <a:srgbClr val="262626"/>
              </a:buClr>
              <a:buSzPts val="2000"/>
              <a:buChar char="◦"/>
            </a:pPr>
            <a:r>
              <a:rPr lang="en" sz="2000" dirty="0">
                <a:solidFill>
                  <a:schemeClr val="dk1"/>
                </a:solidFill>
              </a:rPr>
              <a:t>By inheriting HttpServlet class</a:t>
            </a:r>
            <a:endParaRPr dirty="0">
              <a:solidFill>
                <a:schemeClr val="dk1"/>
              </a:solidFill>
            </a:endParaRPr>
          </a:p>
          <a:p>
            <a:pPr marL="182880" lvl="0" indent="-182880" algn="just" rtl="0">
              <a:lnSpc>
                <a:spcPct val="100000"/>
              </a:lnSpc>
              <a:spcBef>
                <a:spcPts val="900"/>
              </a:spcBef>
              <a:spcAft>
                <a:spcPts val="0"/>
              </a:spcAft>
              <a:buClr>
                <a:srgbClr val="262626"/>
              </a:buClr>
              <a:buSzPts val="2000"/>
              <a:buChar char="◦"/>
            </a:pPr>
            <a:r>
              <a:rPr lang="en" sz="2000" dirty="0">
                <a:solidFill>
                  <a:schemeClr val="dk1"/>
                </a:solidFill>
              </a:rPr>
              <a:t>The </a:t>
            </a:r>
            <a:r>
              <a:rPr lang="en" sz="2000" dirty="0" smtClean="0">
                <a:solidFill>
                  <a:schemeClr val="dk1"/>
                </a:solidFill>
              </a:rPr>
              <a:t>most widely </a:t>
            </a:r>
            <a:r>
              <a:rPr lang="en" sz="2000" dirty="0">
                <a:solidFill>
                  <a:schemeClr val="dk1"/>
                </a:solidFill>
              </a:rPr>
              <a:t>used approach is by extending HttpServlet because it provides http request specific method such as doGet(), doPost(), doHead() etc.</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Servlet Lifecycle</a:t>
            </a:r>
            <a:endParaRPr/>
          </a:p>
        </p:txBody>
      </p:sp>
      <p:sp>
        <p:nvSpPr>
          <p:cNvPr id="147" name="Google Shape;14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Load</a:t>
            </a:r>
            <a:endParaRPr dirty="0"/>
          </a:p>
          <a:p>
            <a:pPr marL="0" lvl="0" indent="0" algn="l" rtl="0">
              <a:spcBef>
                <a:spcPts val="1200"/>
              </a:spcBef>
              <a:spcAft>
                <a:spcPts val="0"/>
              </a:spcAft>
              <a:buNone/>
            </a:pPr>
            <a:r>
              <a:rPr lang="en" dirty="0"/>
              <a:t>Instantiate</a:t>
            </a:r>
            <a:endParaRPr dirty="0"/>
          </a:p>
          <a:p>
            <a:pPr marL="0" lvl="0" indent="0" algn="l" rtl="0">
              <a:spcBef>
                <a:spcPts val="1200"/>
              </a:spcBef>
              <a:spcAft>
                <a:spcPts val="0"/>
              </a:spcAft>
              <a:buNone/>
            </a:pPr>
            <a:r>
              <a:rPr lang="en" dirty="0"/>
              <a:t>Initialize</a:t>
            </a:r>
            <a:endParaRPr dirty="0"/>
          </a:p>
          <a:p>
            <a:pPr marL="0" lvl="0" indent="0" algn="l" rtl="0">
              <a:spcBef>
                <a:spcPts val="1200"/>
              </a:spcBef>
              <a:spcAft>
                <a:spcPts val="0"/>
              </a:spcAft>
              <a:buNone/>
            </a:pPr>
            <a:r>
              <a:rPr lang="en" dirty="0"/>
              <a:t>Service request</a:t>
            </a:r>
            <a:endParaRPr dirty="0"/>
          </a:p>
          <a:p>
            <a:pPr marL="0" lvl="0" indent="0" algn="l" rtl="0">
              <a:spcBef>
                <a:spcPts val="1200"/>
              </a:spcBef>
              <a:spcAft>
                <a:spcPts val="0"/>
              </a:spcAft>
              <a:buNone/>
            </a:pPr>
            <a:r>
              <a:rPr lang="en" dirty="0"/>
              <a:t>Destroy</a:t>
            </a:r>
            <a:endParaRPr dirty="0"/>
          </a:p>
          <a:p>
            <a:pPr marL="0" lvl="0" indent="0" algn="l" rtl="0">
              <a:spcBef>
                <a:spcPts val="1200"/>
              </a:spcBef>
              <a:spcAft>
                <a:spcPts val="1200"/>
              </a:spcAft>
              <a:buNone/>
            </a:pPr>
            <a:r>
              <a:rPr lang="en" dirty="0"/>
              <a:t>Garbage collection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First 3 Steps</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Servlet engine first locates the servlet class with the help of URL. Servlet class can be in local system / remote system / any system connected in network</a:t>
            </a:r>
            <a:endParaRPr dirty="0"/>
          </a:p>
          <a:p>
            <a:pPr marL="0" lvl="0" indent="0" algn="l" rtl="0">
              <a:spcBef>
                <a:spcPts val="1200"/>
              </a:spcBef>
              <a:spcAft>
                <a:spcPts val="0"/>
              </a:spcAft>
              <a:buNone/>
            </a:pPr>
            <a:r>
              <a:rPr lang="en" dirty="0"/>
              <a:t>Servlet engine loads servlet class into JVM. Once loaded, servlet engine instantiates instance of servlet class and calls init method. This method is invoked when server starts; servlet is requested or at the request of server administrator.</a:t>
            </a:r>
            <a:endParaRPr dirty="0"/>
          </a:p>
          <a:p>
            <a:pPr marL="0" lvl="0" indent="0" algn="l" rtl="0">
              <a:spcBef>
                <a:spcPts val="1200"/>
              </a:spcBef>
              <a:spcAft>
                <a:spcPts val="1200"/>
              </a:spcAft>
              <a:buNone/>
            </a:pPr>
            <a:endParaRPr dirty="0"/>
          </a:p>
        </p:txBody>
      </p:sp>
      <p:pic>
        <p:nvPicPr>
          <p:cNvPr id="154" name="Google Shape;154;p29"/>
          <p:cNvPicPr preferRelativeResize="0"/>
          <p:nvPr/>
        </p:nvPicPr>
        <p:blipFill rotWithShape="1">
          <a:blip r:embed="rId3">
            <a:alphaModFix/>
          </a:blip>
          <a:srcRect/>
          <a:stretch/>
        </p:blipFill>
        <p:spPr>
          <a:xfrm>
            <a:off x="261939" y="3186474"/>
            <a:ext cx="8315869" cy="6351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 vs init()</a:t>
            </a:r>
            <a:endParaRPr/>
          </a:p>
        </p:txBody>
      </p:sp>
      <p:sp>
        <p:nvSpPr>
          <p:cNvPr id="160" name="Google Shape;160;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JDK1.0, constructors for Servlets were incapable of accepting arguments. So, servlet does not understand its own environment.</a:t>
            </a:r>
            <a:endParaRPr/>
          </a:p>
          <a:p>
            <a:pPr marL="0" lvl="0" indent="0" algn="l" rtl="0">
              <a:spcBef>
                <a:spcPts val="1200"/>
              </a:spcBef>
              <a:spcAft>
                <a:spcPts val="0"/>
              </a:spcAft>
              <a:buNone/>
            </a:pPr>
            <a:r>
              <a:rPr lang="en"/>
              <a:t>Java does not permit interfaces to have constructors. Hence, we use init()</a:t>
            </a:r>
            <a:endParaRPr/>
          </a:p>
          <a:p>
            <a:pPr marL="0" lvl="0" indent="0" algn="l" rtl="0">
              <a:spcBef>
                <a:spcPts val="1200"/>
              </a:spcBef>
              <a:spcAft>
                <a:spcPts val="1200"/>
              </a:spcAft>
              <a:buNone/>
            </a:pPr>
            <a:r>
              <a:rPr lang="en"/>
              <a:t>Even if constructor is used, it cannot access ServletConfig object or throw Servlet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Simple Example</a:t>
            </a:r>
            <a:endParaRPr/>
          </a:p>
        </p:txBody>
      </p:sp>
      <p:sp>
        <p:nvSpPr>
          <p:cNvPr id="166" name="Google Shape;166;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7" name="Google Shape;167;p31"/>
          <p:cNvPicPr preferRelativeResize="0"/>
          <p:nvPr/>
        </p:nvPicPr>
        <p:blipFill rotWithShape="1">
          <a:blip r:embed="rId3">
            <a:alphaModFix/>
          </a:blip>
          <a:srcRect/>
          <a:stretch/>
        </p:blipFill>
        <p:spPr>
          <a:xfrm>
            <a:off x="374045" y="1071100"/>
            <a:ext cx="10094175" cy="4149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sp>
        <p:nvSpPr>
          <p:cNvPr id="173" name="Google Shape;173;p32"/>
          <p:cNvSpPr txBox="1">
            <a:spLocks noGrp="1"/>
          </p:cNvSpPr>
          <p:nvPr>
            <p:ph type="body" idx="1"/>
          </p:nvPr>
        </p:nvSpPr>
        <p:spPr>
          <a:xfrm>
            <a:off x="800100" y="1748790"/>
            <a:ext cx="7543800" cy="2949000"/>
          </a:xfrm>
          <a:prstGeom prst="rect">
            <a:avLst/>
          </a:prstGeom>
          <a:noFill/>
          <a:ln>
            <a:noFill/>
          </a:ln>
        </p:spPr>
        <p:txBody>
          <a:bodyPr spcFirstLastPara="1" wrap="square" lIns="68575" tIns="34275" rIns="68575" bIns="34275" anchor="t" anchorCtr="0">
            <a:normAutofit/>
          </a:bodyPr>
          <a:lstStyle/>
          <a:p>
            <a:pPr marL="139700" lvl="0" indent="-139700" algn="l" rtl="0">
              <a:lnSpc>
                <a:spcPct val="100000"/>
              </a:lnSpc>
              <a:spcBef>
                <a:spcPts val="0"/>
              </a:spcBef>
              <a:spcAft>
                <a:spcPts val="0"/>
              </a:spcAft>
              <a:buSzPts val="1400"/>
              <a:buChar char="●"/>
            </a:pPr>
            <a:r>
              <a:rPr lang="en"/>
              <a:t>Create the dynamic web project: For creating a dynamic web project </a:t>
            </a:r>
            <a:r>
              <a:rPr lang="en" b="1"/>
              <a:t>click on File Menu -&gt; New -&gt; Project..-&gt; Web -&gt; dynamic web project -&gt; write your project name e.g. first -&gt; Finish</a:t>
            </a:r>
            <a:r>
              <a:rPr lang="en"/>
              <a:t>.</a:t>
            </a:r>
            <a:endParaRPr/>
          </a:p>
          <a:p>
            <a:pPr marL="139700" lvl="0" indent="-50800" algn="l" rtl="0">
              <a:lnSpc>
                <a:spcPct val="100000"/>
              </a:lnSpc>
              <a:spcBef>
                <a:spcPts val="700"/>
              </a:spcBef>
              <a:spcAft>
                <a:spcPts val="0"/>
              </a:spcAft>
              <a:buSzPts val="1400"/>
              <a:buNone/>
            </a:pPr>
            <a:endParaRPr/>
          </a:p>
          <a:p>
            <a:pPr marL="139700" lvl="0" indent="-50800" algn="l" rtl="0">
              <a:lnSpc>
                <a:spcPct val="100000"/>
              </a:lnSpc>
              <a:spcBef>
                <a:spcPts val="700"/>
              </a:spcBef>
              <a:spcAft>
                <a:spcPts val="0"/>
              </a:spcAft>
              <a:buSzPts val="1400"/>
              <a:buNone/>
            </a:pPr>
            <a:endParaRPr/>
          </a:p>
        </p:txBody>
      </p:sp>
      <p:pic>
        <p:nvPicPr>
          <p:cNvPr id="174" name="Google Shape;174;p32"/>
          <p:cNvPicPr preferRelativeResize="0"/>
          <p:nvPr/>
        </p:nvPicPr>
        <p:blipFill rotWithShape="1">
          <a:blip r:embed="rId3">
            <a:alphaModFix/>
          </a:blip>
          <a:srcRect r="42436" b="51571"/>
          <a:stretch/>
        </p:blipFill>
        <p:spPr>
          <a:xfrm>
            <a:off x="1469572" y="2258241"/>
            <a:ext cx="6475912" cy="265704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800100" y="176349"/>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pic>
        <p:nvPicPr>
          <p:cNvPr id="180" name="Google Shape;180;p33"/>
          <p:cNvPicPr preferRelativeResize="0"/>
          <p:nvPr/>
        </p:nvPicPr>
        <p:blipFill rotWithShape="1">
          <a:blip r:embed="rId3">
            <a:alphaModFix/>
          </a:blip>
          <a:srcRect l="28498" r="28801" b="26073"/>
          <a:stretch/>
        </p:blipFill>
        <p:spPr>
          <a:xfrm>
            <a:off x="800100" y="1087483"/>
            <a:ext cx="7615648" cy="4056017"/>
          </a:xfrm>
          <a:prstGeom prst="rect">
            <a:avLst/>
          </a:prstGeom>
          <a:noFill/>
          <a:ln>
            <a:noFill/>
          </a:ln>
        </p:spPr>
      </p:pic>
      <p:sp>
        <p:nvSpPr>
          <p:cNvPr id="181" name="Google Shape;181;p33"/>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sp>
        <p:nvSpPr>
          <p:cNvPr id="187" name="Google Shape;187;p34"/>
          <p:cNvSpPr txBox="1">
            <a:spLocks noGrp="1"/>
          </p:cNvSpPr>
          <p:nvPr>
            <p:ph type="body" idx="1"/>
          </p:nvPr>
        </p:nvSpPr>
        <p:spPr>
          <a:xfrm>
            <a:off x="800100" y="1342209"/>
            <a:ext cx="7543800" cy="2949000"/>
          </a:xfrm>
          <a:prstGeom prst="rect">
            <a:avLst/>
          </a:prstGeom>
          <a:noFill/>
          <a:ln>
            <a:noFill/>
          </a:ln>
        </p:spPr>
        <p:txBody>
          <a:bodyPr spcFirstLastPara="1" wrap="square" lIns="68575" tIns="34275" rIns="68575" bIns="34275" anchor="t" anchorCtr="0">
            <a:normAutofit/>
          </a:bodyPr>
          <a:lstStyle/>
          <a:p>
            <a:pPr marL="139700" lvl="0" indent="-139700" algn="just" rtl="0">
              <a:lnSpc>
                <a:spcPct val="100000"/>
              </a:lnSpc>
              <a:spcBef>
                <a:spcPts val="0"/>
              </a:spcBef>
              <a:spcAft>
                <a:spcPts val="0"/>
              </a:spcAft>
              <a:buSzPts val="1400"/>
              <a:buChar char="●"/>
            </a:pPr>
            <a:r>
              <a:rPr lang="en"/>
              <a:t>Create the servlet in eclipse IDE: For creating a servlet, </a:t>
            </a:r>
            <a:r>
              <a:rPr lang="en" b="1"/>
              <a:t>explore the project by clicking the + icon -&gt; explore the Java Resources -&gt; right click on src -&gt; New -&gt; servlet -&gt; write your servlet name e.g. Hello -&gt; uncheck all the checkboxes except doGet() -&gt; next -&gt; Finish</a:t>
            </a:r>
            <a:r>
              <a:rPr lang="en"/>
              <a:t>.</a:t>
            </a:r>
            <a:endParaRPr/>
          </a:p>
          <a:p>
            <a:pPr marL="139700" lvl="0" indent="-50800" algn="l" rtl="0">
              <a:lnSpc>
                <a:spcPct val="100000"/>
              </a:lnSpc>
              <a:spcBef>
                <a:spcPts val="700"/>
              </a:spcBef>
              <a:spcAft>
                <a:spcPts val="0"/>
              </a:spcAft>
              <a:buSzPts val="1400"/>
              <a:buNone/>
            </a:pPr>
            <a:endParaRPr/>
          </a:p>
        </p:txBody>
      </p:sp>
      <p:pic>
        <p:nvPicPr>
          <p:cNvPr id="188" name="Google Shape;188;p34"/>
          <p:cNvPicPr preferRelativeResize="0"/>
          <p:nvPr/>
        </p:nvPicPr>
        <p:blipFill rotWithShape="1">
          <a:blip r:embed="rId3">
            <a:alphaModFix/>
          </a:blip>
          <a:srcRect t="35980" r="63411" b="12055"/>
          <a:stretch/>
        </p:blipFill>
        <p:spPr>
          <a:xfrm>
            <a:off x="2504599" y="2037806"/>
            <a:ext cx="3550036" cy="28509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5"/>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pic>
        <p:nvPicPr>
          <p:cNvPr id="194" name="Google Shape;194;p35"/>
          <p:cNvPicPr preferRelativeResize="0">
            <a:picLocks noGrp="1"/>
          </p:cNvPicPr>
          <p:nvPr>
            <p:ph type="body" idx="1"/>
          </p:nvPr>
        </p:nvPicPr>
        <p:blipFill rotWithShape="1">
          <a:blip r:embed="rId3">
            <a:alphaModFix/>
          </a:blip>
          <a:srcRect r="26215" b="22275"/>
          <a:stretch/>
        </p:blipFill>
        <p:spPr>
          <a:xfrm>
            <a:off x="1126269" y="1261275"/>
            <a:ext cx="6554700" cy="388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6"/>
          <p:cNvSpPr txBox="1">
            <a:spLocks noGrp="1"/>
          </p:cNvSpPr>
          <p:nvPr>
            <p:ph type="title"/>
          </p:nvPr>
        </p:nvSpPr>
        <p:spPr>
          <a:xfrm>
            <a:off x="800100" y="0"/>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sp>
        <p:nvSpPr>
          <p:cNvPr id="200" name="Google Shape;200;p36"/>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pic>
        <p:nvPicPr>
          <p:cNvPr id="201" name="Google Shape;201;p36"/>
          <p:cNvPicPr preferRelativeResize="0"/>
          <p:nvPr/>
        </p:nvPicPr>
        <p:blipFill rotWithShape="1">
          <a:blip r:embed="rId3">
            <a:alphaModFix/>
          </a:blip>
          <a:srcRect r="12922" b="23301"/>
          <a:stretch/>
        </p:blipFill>
        <p:spPr>
          <a:xfrm>
            <a:off x="323203" y="739684"/>
            <a:ext cx="8497592" cy="42078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sp>
        <p:nvSpPr>
          <p:cNvPr id="207" name="Google Shape;207;p37"/>
          <p:cNvSpPr txBox="1">
            <a:spLocks noGrp="1"/>
          </p:cNvSpPr>
          <p:nvPr>
            <p:ph type="body" idx="1"/>
          </p:nvPr>
        </p:nvSpPr>
        <p:spPr>
          <a:xfrm>
            <a:off x="800100" y="1342209"/>
            <a:ext cx="7543800" cy="2949000"/>
          </a:xfrm>
          <a:prstGeom prst="rect">
            <a:avLst/>
          </a:prstGeom>
          <a:noFill/>
          <a:ln>
            <a:noFill/>
          </a:ln>
        </p:spPr>
        <p:txBody>
          <a:bodyPr spcFirstLastPara="1" wrap="square" lIns="68575" tIns="34275" rIns="68575" bIns="34275" anchor="t" anchorCtr="0">
            <a:normAutofit/>
          </a:bodyPr>
          <a:lstStyle/>
          <a:p>
            <a:pPr marL="139700" lvl="0" indent="-139700" algn="just" rtl="0">
              <a:lnSpc>
                <a:spcPct val="100000"/>
              </a:lnSpc>
              <a:spcBef>
                <a:spcPts val="0"/>
              </a:spcBef>
              <a:spcAft>
                <a:spcPts val="0"/>
              </a:spcAft>
              <a:buSzPts val="1400"/>
              <a:buChar char="●"/>
            </a:pPr>
            <a:r>
              <a:rPr lang="en"/>
              <a:t>Add jar file to eclipse: For adding a jar file, </a:t>
            </a:r>
            <a:r>
              <a:rPr lang="en" b="1"/>
              <a:t>right click on your project -&gt; Build Path -&gt; Configure Build Path -&gt; click on Libraries tab in Java Build Path -&gt; click on Add External JARs button -&gt; select the servlet-api.jar file under tomcat/lib -&gt; ok.</a:t>
            </a:r>
            <a:endParaRPr/>
          </a:p>
          <a:p>
            <a:pPr marL="0" lvl="0" indent="0" algn="l" rtl="0">
              <a:lnSpc>
                <a:spcPct val="100000"/>
              </a:lnSpc>
              <a:spcBef>
                <a:spcPts val="700"/>
              </a:spcBef>
              <a:spcAft>
                <a:spcPts val="0"/>
              </a:spcAft>
              <a:buSzPts val="1400"/>
              <a:buNone/>
            </a:pPr>
            <a:endParaRPr/>
          </a:p>
        </p:txBody>
      </p:sp>
      <p:pic>
        <p:nvPicPr>
          <p:cNvPr id="208" name="Google Shape;208;p37"/>
          <p:cNvPicPr preferRelativeResize="0"/>
          <p:nvPr/>
        </p:nvPicPr>
        <p:blipFill rotWithShape="1">
          <a:blip r:embed="rId3">
            <a:alphaModFix/>
          </a:blip>
          <a:srcRect r="47758" b="47589"/>
          <a:stretch/>
        </p:blipFill>
        <p:spPr>
          <a:xfrm>
            <a:off x="1877581" y="2042704"/>
            <a:ext cx="5097984" cy="28754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8"/>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62626"/>
              </a:buClr>
              <a:buSzPts val="3600"/>
              <a:buFont typeface="Arial"/>
              <a:buNone/>
            </a:pPr>
            <a:endParaRPr/>
          </a:p>
        </p:txBody>
      </p:sp>
      <p:sp>
        <p:nvSpPr>
          <p:cNvPr id="214" name="Google Shape;214;p38"/>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pic>
        <p:nvPicPr>
          <p:cNvPr id="215" name="Google Shape;215;p38"/>
          <p:cNvPicPr preferRelativeResize="0"/>
          <p:nvPr/>
        </p:nvPicPr>
        <p:blipFill rotWithShape="1">
          <a:blip r:embed="rId3">
            <a:alphaModFix/>
          </a:blip>
          <a:srcRect r="21154" b="13299"/>
          <a:stretch/>
        </p:blipFill>
        <p:spPr>
          <a:xfrm>
            <a:off x="649673" y="151856"/>
            <a:ext cx="7694227" cy="47565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9"/>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262626"/>
              </a:buClr>
              <a:buSzPts val="3600"/>
              <a:buFont typeface="Arial"/>
              <a:buNone/>
            </a:pPr>
            <a:r>
              <a:rPr lang="en"/>
              <a:t>Running Servlet in Eclipse</a:t>
            </a:r>
            <a:endParaRPr/>
          </a:p>
        </p:txBody>
      </p:sp>
      <p:sp>
        <p:nvSpPr>
          <p:cNvPr id="221" name="Google Shape;221;p39"/>
          <p:cNvSpPr txBox="1">
            <a:spLocks noGrp="1"/>
          </p:cNvSpPr>
          <p:nvPr>
            <p:ph type="body" idx="1"/>
          </p:nvPr>
        </p:nvSpPr>
        <p:spPr>
          <a:xfrm>
            <a:off x="800100" y="1214846"/>
            <a:ext cx="7543800" cy="2949000"/>
          </a:xfrm>
          <a:prstGeom prst="rect">
            <a:avLst/>
          </a:prstGeom>
          <a:noFill/>
          <a:ln>
            <a:noFill/>
          </a:ln>
        </p:spPr>
        <p:txBody>
          <a:bodyPr spcFirstLastPara="1" wrap="square" lIns="68575" tIns="34275" rIns="68575" bIns="34275" anchor="t" anchorCtr="0">
            <a:normAutofit/>
          </a:bodyPr>
          <a:lstStyle/>
          <a:p>
            <a:pPr marL="139700" lvl="0" indent="-139700" algn="l" rtl="0">
              <a:lnSpc>
                <a:spcPct val="100000"/>
              </a:lnSpc>
              <a:spcBef>
                <a:spcPts val="0"/>
              </a:spcBef>
              <a:spcAft>
                <a:spcPts val="0"/>
              </a:spcAft>
              <a:buSzPts val="1400"/>
              <a:buChar char="●"/>
            </a:pPr>
            <a:r>
              <a:rPr lang="en"/>
              <a:t>Start the server and deploy the project: For starting the server and deploying the project in one step, </a:t>
            </a:r>
            <a:r>
              <a:rPr lang="en" b="1"/>
              <a:t>Right click on your project -&gt; Run As -&gt; Run on Server -&gt; choose tomcat server -&gt; next -&gt; addAll -&gt; finish.</a:t>
            </a:r>
            <a:endParaRPr/>
          </a:p>
          <a:p>
            <a:pPr marL="139700" lvl="0" indent="-50800" algn="l" rtl="0">
              <a:lnSpc>
                <a:spcPct val="100000"/>
              </a:lnSpc>
              <a:spcBef>
                <a:spcPts val="700"/>
              </a:spcBef>
              <a:spcAft>
                <a:spcPts val="0"/>
              </a:spcAft>
              <a:buSzPts val="1400"/>
              <a:buNone/>
            </a:pPr>
            <a:endParaRPr/>
          </a:p>
        </p:txBody>
      </p:sp>
      <p:pic>
        <p:nvPicPr>
          <p:cNvPr id="222" name="Google Shape;222;p39"/>
          <p:cNvPicPr preferRelativeResize="0"/>
          <p:nvPr/>
        </p:nvPicPr>
        <p:blipFill rotWithShape="1">
          <a:blip r:embed="rId3">
            <a:alphaModFix/>
          </a:blip>
          <a:srcRect t="28610" r="41633" b="17942"/>
          <a:stretch/>
        </p:blipFill>
        <p:spPr>
          <a:xfrm>
            <a:off x="1792775" y="1964458"/>
            <a:ext cx="5695612" cy="293222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0"/>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62626"/>
              </a:buClr>
              <a:buSzPts val="3600"/>
              <a:buFont typeface="Arial"/>
              <a:buNone/>
            </a:pPr>
            <a:endParaRPr/>
          </a:p>
        </p:txBody>
      </p:sp>
      <p:sp>
        <p:nvSpPr>
          <p:cNvPr id="228" name="Google Shape;228;p40"/>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pic>
        <p:nvPicPr>
          <p:cNvPr id="229" name="Google Shape;229;p40"/>
          <p:cNvPicPr preferRelativeResize="0"/>
          <p:nvPr/>
        </p:nvPicPr>
        <p:blipFill rotWithShape="1">
          <a:blip r:embed="rId3">
            <a:alphaModFix/>
          </a:blip>
          <a:srcRect r="17938" b="11878"/>
          <a:stretch/>
        </p:blipFill>
        <p:spPr>
          <a:xfrm>
            <a:off x="146957" y="142059"/>
            <a:ext cx="8837023" cy="483489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1"/>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62626"/>
              </a:buClr>
              <a:buSzPts val="3600"/>
              <a:buFont typeface="Arial"/>
              <a:buNone/>
            </a:pPr>
            <a:endParaRPr/>
          </a:p>
        </p:txBody>
      </p:sp>
      <p:sp>
        <p:nvSpPr>
          <p:cNvPr id="235" name="Google Shape;235;p41"/>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pic>
        <p:nvPicPr>
          <p:cNvPr id="236" name="Google Shape;236;p41"/>
          <p:cNvPicPr preferRelativeResize="0"/>
          <p:nvPr/>
        </p:nvPicPr>
        <p:blipFill rotWithShape="1">
          <a:blip r:embed="rId3">
            <a:alphaModFix/>
          </a:blip>
          <a:srcRect r="24161" b="10801"/>
          <a:stretch/>
        </p:blipFill>
        <p:spPr>
          <a:xfrm>
            <a:off x="195943" y="83276"/>
            <a:ext cx="8797836" cy="48936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xfrm>
            <a:off x="800100" y="481945"/>
            <a:ext cx="7543800" cy="1028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262626"/>
              </a:buClr>
              <a:buSzPts val="3600"/>
              <a:buFont typeface="Arial"/>
              <a:buNone/>
            </a:pPr>
            <a:endParaRPr/>
          </a:p>
        </p:txBody>
      </p:sp>
      <p:sp>
        <p:nvSpPr>
          <p:cNvPr id="242" name="Google Shape;242;p42"/>
          <p:cNvSpPr txBox="1">
            <a:spLocks noGrp="1"/>
          </p:cNvSpPr>
          <p:nvPr>
            <p:ph type="body" idx="1"/>
          </p:nvPr>
        </p:nvSpPr>
        <p:spPr>
          <a:xfrm>
            <a:off x="800100" y="1577340"/>
            <a:ext cx="7543800" cy="2949000"/>
          </a:xfrm>
          <a:prstGeom prst="rect">
            <a:avLst/>
          </a:prstGeom>
          <a:noFill/>
          <a:ln>
            <a:noFill/>
          </a:ln>
        </p:spPr>
        <p:txBody>
          <a:bodyPr spcFirstLastPara="1" wrap="square" lIns="68575" tIns="34275" rIns="68575" bIns="34275" anchor="t" anchorCtr="0">
            <a:normAutofit/>
          </a:bodyPr>
          <a:lstStyle/>
          <a:p>
            <a:pPr marL="139700" lvl="0" indent="-50800" algn="l" rtl="0">
              <a:lnSpc>
                <a:spcPct val="100000"/>
              </a:lnSpc>
              <a:spcBef>
                <a:spcPts val="0"/>
              </a:spcBef>
              <a:spcAft>
                <a:spcPts val="0"/>
              </a:spcAft>
              <a:buSzPts val="1400"/>
              <a:buNone/>
            </a:pPr>
            <a:endParaRPr/>
          </a:p>
        </p:txBody>
      </p:sp>
      <p:pic>
        <p:nvPicPr>
          <p:cNvPr id="243" name="Google Shape;243;p42"/>
          <p:cNvPicPr preferRelativeResize="0"/>
          <p:nvPr/>
        </p:nvPicPr>
        <p:blipFill rotWithShape="1">
          <a:blip r:embed="rId3">
            <a:alphaModFix/>
          </a:blip>
          <a:srcRect r="36712" b="57946"/>
          <a:stretch/>
        </p:blipFill>
        <p:spPr>
          <a:xfrm>
            <a:off x="186145" y="4896"/>
            <a:ext cx="8817428" cy="2307228"/>
          </a:xfrm>
          <a:prstGeom prst="rect">
            <a:avLst/>
          </a:prstGeom>
          <a:noFill/>
          <a:ln>
            <a:noFill/>
          </a:ln>
        </p:spPr>
      </p:pic>
      <p:pic>
        <p:nvPicPr>
          <p:cNvPr id="244" name="Google Shape;244;p42"/>
          <p:cNvPicPr preferRelativeResize="0"/>
          <p:nvPr/>
        </p:nvPicPr>
        <p:blipFill rotWithShape="1">
          <a:blip r:embed="rId4">
            <a:alphaModFix/>
          </a:blip>
          <a:srcRect l="637" t="180" r="30086" b="46695"/>
          <a:stretch/>
        </p:blipFill>
        <p:spPr>
          <a:xfrm>
            <a:off x="197576" y="2228850"/>
            <a:ext cx="8806001" cy="29146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1218</Words>
  <Application>Microsoft Office PowerPoint</Application>
  <PresentationFormat>On-screen Show (16:9)</PresentationFormat>
  <Paragraphs>94</Paragraphs>
  <Slides>28</Slides>
  <Notes>28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28</vt:i4>
      </vt:variant>
    </vt:vector>
  </HeadingPairs>
  <TitlesOfParts>
    <vt:vector size="30" baseType="lpstr">
      <vt:lpstr>Arial</vt:lpstr>
      <vt:lpstr>Simple Light</vt:lpstr>
      <vt:lpstr>SERVLETS</vt:lpstr>
      <vt:lpstr>Static vs Dynamic content</vt:lpstr>
      <vt:lpstr>Disadvantages of CGI</vt:lpstr>
      <vt:lpstr>Java Servlets</vt:lpstr>
      <vt:lpstr>Java Servlets</vt:lpstr>
      <vt:lpstr>Java Servlets</vt:lpstr>
      <vt:lpstr>Java Servlets</vt:lpstr>
      <vt:lpstr>Servlet Clients &amp; Container</vt:lpstr>
      <vt:lpstr>Why Servlets?</vt:lpstr>
      <vt:lpstr>What can servlets do?</vt:lpstr>
      <vt:lpstr>Request-Response Paradigm</vt:lpstr>
      <vt:lpstr>Servlet Interface</vt:lpstr>
      <vt:lpstr>Servlet Example</vt:lpstr>
      <vt:lpstr>Servlet Lifecycle</vt:lpstr>
      <vt:lpstr>First 3 Steps</vt:lpstr>
      <vt:lpstr>Constructor vs init()</vt:lpstr>
      <vt:lpstr>Simple Example</vt:lpstr>
      <vt:lpstr>Running Servlet in Eclipse</vt:lpstr>
      <vt:lpstr>Running Servlet in Eclipse</vt:lpstr>
      <vt:lpstr>Running Servlet in Eclipse</vt:lpstr>
      <vt:lpstr>Running Servlet in Eclipse</vt:lpstr>
      <vt:lpstr>Running Servlet in Eclipse</vt:lpstr>
      <vt:lpstr>Running Servlet in Eclipse</vt:lpstr>
      <vt:lpstr>PowerPoint Presentation</vt:lpstr>
      <vt:lpstr>Running Servlet in Eclipse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SERVLETS</dc:title>
  <cp:lastModifiedBy>ADMIN</cp:lastModifiedBy>
  <cp:revision>5</cp:revision>
  <dcterms:modified xsi:type="dcterms:W3CDTF">2026-05-20T10:24:28Z</dcterms:modified>
</cp:coreProperties>
</file>